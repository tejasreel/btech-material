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 id="2147483756" r:id="rId2"/>
    <p:sldMasterId id="2147483768" r:id="rId3"/>
    <p:sldMasterId id="2147483780" r:id="rId4"/>
    <p:sldMasterId id="2147483792" r:id="rId5"/>
    <p:sldMasterId id="2147483804" r:id="rId6"/>
    <p:sldMasterId id="2147483828" r:id="rId7"/>
    <p:sldMasterId id="2147483876" r:id="rId8"/>
  </p:sldMasterIdLst>
  <p:sldIdLst>
    <p:sldId id="256" r:id="rId9"/>
    <p:sldId id="300" r:id="rId10"/>
    <p:sldId id="301" r:id="rId11"/>
    <p:sldId id="302" r:id="rId12"/>
    <p:sldId id="303" r:id="rId13"/>
    <p:sldId id="304" r:id="rId14"/>
    <p:sldId id="290" r:id="rId15"/>
    <p:sldId id="289" r:id="rId16"/>
    <p:sldId id="305" r:id="rId17"/>
    <p:sldId id="306" r:id="rId18"/>
    <p:sldId id="307" r:id="rId19"/>
    <p:sldId id="308" r:id="rId20"/>
    <p:sldId id="309" r:id="rId21"/>
    <p:sldId id="310" r:id="rId22"/>
    <p:sldId id="311" r:id="rId23"/>
    <p:sldId id="312" r:id="rId24"/>
    <p:sldId id="313" r:id="rId25"/>
    <p:sldId id="314" r:id="rId26"/>
    <p:sldId id="315" r:id="rId27"/>
    <p:sldId id="316" r:id="rId28"/>
    <p:sldId id="317" r:id="rId29"/>
    <p:sldId id="318" r:id="rId30"/>
    <p:sldId id="319" r:id="rId31"/>
    <p:sldId id="320" r:id="rId32"/>
    <p:sldId id="321" r:id="rId33"/>
    <p:sldId id="322" r:id="rId34"/>
    <p:sldId id="257" r:id="rId35"/>
    <p:sldId id="258" r:id="rId36"/>
    <p:sldId id="262" r:id="rId37"/>
    <p:sldId id="261" r:id="rId38"/>
    <p:sldId id="260" r:id="rId39"/>
    <p:sldId id="259" r:id="rId40"/>
    <p:sldId id="263" r:id="rId41"/>
    <p:sldId id="264" r:id="rId42"/>
    <p:sldId id="265" r:id="rId43"/>
    <p:sldId id="266" r:id="rId44"/>
    <p:sldId id="269" r:id="rId45"/>
    <p:sldId id="268" r:id="rId46"/>
    <p:sldId id="267" r:id="rId47"/>
    <p:sldId id="270" r:id="rId48"/>
    <p:sldId id="271" r:id="rId49"/>
    <p:sldId id="272" r:id="rId50"/>
    <p:sldId id="273" r:id="rId51"/>
    <p:sldId id="274" r:id="rId52"/>
    <p:sldId id="275" r:id="rId53"/>
    <p:sldId id="276" r:id="rId54"/>
    <p:sldId id="277" r:id="rId55"/>
    <p:sldId id="278" r:id="rId56"/>
    <p:sldId id="279" r:id="rId57"/>
    <p:sldId id="280" r:id="rId58"/>
    <p:sldId id="282" r:id="rId59"/>
    <p:sldId id="281" r:id="rId60"/>
    <p:sldId id="283" r:id="rId61"/>
    <p:sldId id="284" r:id="rId62"/>
    <p:sldId id="285" r:id="rId63"/>
    <p:sldId id="286" r:id="rId64"/>
    <p:sldId id="287" r:id="rId65"/>
    <p:sldId id="288" r:id="rId66"/>
    <p:sldId id="291" r:id="rId67"/>
    <p:sldId id="292" r:id="rId68"/>
    <p:sldId id="293" r:id="rId69"/>
    <p:sldId id="294" r:id="rId70"/>
    <p:sldId id="295" r:id="rId71"/>
    <p:sldId id="296" r:id="rId72"/>
    <p:sldId id="297" r:id="rId73"/>
    <p:sldId id="298" r:id="rId74"/>
    <p:sldId id="299" r:id="rId75"/>
    <p:sldId id="323"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slide" Target="slides/slide55.xml"/><Relationship Id="rId68" Type="http://schemas.openxmlformats.org/officeDocument/2006/relationships/slide" Target="slides/slide60.xml"/><Relationship Id="rId76" Type="http://schemas.openxmlformats.org/officeDocument/2006/relationships/slide" Target="slides/slide68.xml"/><Relationship Id="rId7" Type="http://schemas.openxmlformats.org/officeDocument/2006/relationships/slideMaster" Target="slideMasters/slideMaster7.xml"/><Relationship Id="rId71" Type="http://schemas.openxmlformats.org/officeDocument/2006/relationships/slide" Target="slides/slide63.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74" Type="http://schemas.openxmlformats.org/officeDocument/2006/relationships/slide" Target="slides/slide66.xml"/><Relationship Id="rId79"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3.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B773A5-626B-1280-0B5D-2D890F1F20A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5BA982-96A0-BA46-EFA6-77DDA8A60C3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9D68924-99E4-8EFF-578A-E4F01138F6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54022218-5660-EE36-78DB-66BCAB51DE0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50C7BC63-C625-41A9-F5BF-3D678E3AC8D5}"/>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40390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71601-1726-74BD-2CEA-679ED624F1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36C0564-134E-DFAC-4A7E-ECBDECE13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D36AB4-3E0C-7D2D-E5DE-7729F23A7A3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AC0E0877-6458-655A-AD1E-952009FD2AC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7F11D360-A71A-68A5-D5DB-FFBAB9A49E6E}"/>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52945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097436-03A6-0012-3CE3-7C0F76BEBB14}"/>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953F05-94B8-E575-5658-AB057174FDAE}"/>
              </a:ext>
            </a:extLst>
          </p:cNvPr>
          <p:cNvSpPr>
            <a:spLocks noGrp="1"/>
          </p:cNvSpPr>
          <p:nvPr>
            <p:ph type="body" idx="1"/>
          </p:nvPr>
        </p:nvSpPr>
        <p:spPr>
          <a:xfrm>
            <a:off x="623887" y="458953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61B41BF-B967-BE9F-D29E-207C205F3242}"/>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1B1F2389-334F-D370-49F3-E818AA82441B}"/>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D96DCFD7-BCF7-ED37-A70E-ADECCF5F5706}"/>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66149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7C48B8-8AD6-9168-B64C-F88512334F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A80C10B-E692-B413-9F14-5C157AE7E6C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E439803-1714-0366-C6EA-2088E5C115D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52772B2-F035-E965-5E2E-1C9403130EB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F618CA5-711B-0FD8-C567-390EB5CB424F}"/>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9D2D44DE-A051-37C8-3C8B-DE8F456E87BF}"/>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016646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3A4107-DE95-7F52-3243-B6861567434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A34BDD9-FD68-7718-B793-144DEC5145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B306DF0-C717-B8F5-6EDE-F38DFB8B427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19B6A73-5FFB-6E11-E6FA-C19318AA50B3}"/>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DB38022-740F-62F4-BD56-BA8A4DF30268}"/>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213D5CB-7822-0C55-5829-5F748DFDB0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xmlns="" id="{C0E3AB23-4B28-7483-E1FC-3030C8D1722D}"/>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xmlns="" id="{00C622DF-2600-B173-81B6-43F75621A3C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55019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98E0F-6461-E0DF-A02C-66321B18FD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27AF44D-6960-5595-DBE4-1BDD132E211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xmlns="" id="{8C4C4B0D-838C-0699-462E-138390FF3F67}"/>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xmlns="" id="{0107972D-F23D-A00B-155A-B7001FD4A9E0}"/>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449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CFC433-B8BC-A9D5-CC78-5B46B11E797B}"/>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xmlns="" id="{6E5F6418-31B3-840F-021C-E68FFF23921D}"/>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xmlns="" id="{DDB3E3A2-4DB0-04CB-7731-EBCE49BD1E8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56452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F4FAB-0664-28A8-C7B3-3EC11ABCF4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EF49AE-5F33-A1BE-8F5D-5E5A5057DDD1}"/>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03EB926-68DB-B27B-55AE-54A97F5BA8A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975D7E-59E2-8F3F-F56E-DCF8078194E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7D4F968-7710-F9F1-B27B-0F39260BC22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38D95A4E-D7D7-B78E-9D90-B4533D6AC33C}"/>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168752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B28807-7AF1-E07C-9DA8-34140F5BFB30}"/>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451A79E-99A8-E2EF-1705-BE132C1AB8A8}"/>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B745CB75-2F92-0B84-C475-FD2527B435C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718034-6BAF-473E-75D5-F9A880CA55F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3DFD82CF-FE96-CEB2-F329-93CC0CAFA30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C33B1405-337A-6302-15B4-7ADF2D496A03}"/>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50849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BCBB4A-6589-A75A-B709-86B6C02FEB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3F4FFE2-2665-7BD6-7305-BA756D246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F34214E-369F-FCED-D39B-FA9C288EAC2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01E949AE-49DB-DC9D-0E73-8CDBA2D5769C}"/>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8EE80F29-5A32-3299-5138-08AB5E9ECD54}"/>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35674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0BDE9-5C03-48DF-E059-AD763A8D03C4}"/>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08AED84-40AD-19EE-AF7E-2FD49E865B89}"/>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F2A4186-2CBC-F432-7485-7E51E065E3B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D3DD9983-D06D-169A-6EC4-C6DF49C7D419}"/>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09299EC7-056C-0245-8B2F-3651499E3B18}"/>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797312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B773A5-626B-1280-0B5D-2D890F1F20A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5BA982-96A0-BA46-EFA6-77DDA8A60C3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9D68924-99E4-8EFF-578A-E4F01138F6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54022218-5660-EE36-78DB-66BCAB51DE0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50C7BC63-C625-41A9-F5BF-3D678E3AC8D5}"/>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10196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71601-1726-74BD-2CEA-679ED624F1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36C0564-134E-DFAC-4A7E-ECBDECE13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D36AB4-3E0C-7D2D-E5DE-7729F23A7A3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AC0E0877-6458-655A-AD1E-952009FD2AC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7F11D360-A71A-68A5-D5DB-FFBAB9A49E6E}"/>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82016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097436-03A6-0012-3CE3-7C0F76BEBB14}"/>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953F05-94B8-E575-5658-AB057174FDAE}"/>
              </a:ext>
            </a:extLst>
          </p:cNvPr>
          <p:cNvSpPr>
            <a:spLocks noGrp="1"/>
          </p:cNvSpPr>
          <p:nvPr>
            <p:ph type="body" idx="1"/>
          </p:nvPr>
        </p:nvSpPr>
        <p:spPr>
          <a:xfrm>
            <a:off x="623887" y="4589530"/>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61B41BF-B967-BE9F-D29E-207C205F3242}"/>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1B1F2389-334F-D370-49F3-E818AA82441B}"/>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D96DCFD7-BCF7-ED37-A70E-ADECCF5F5706}"/>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68935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7C48B8-8AD6-9168-B64C-F88512334F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A80C10B-E692-B413-9F14-5C157AE7E6C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E439803-1714-0366-C6EA-2088E5C115D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52772B2-F035-E965-5E2E-1C9403130EB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F618CA5-711B-0FD8-C567-390EB5CB424F}"/>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9D2D44DE-A051-37C8-3C8B-DE8F456E87BF}"/>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08076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3A4107-DE95-7F52-3243-B6861567434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A34BDD9-FD68-7718-B793-144DEC5145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B306DF0-C717-B8F5-6EDE-F38DFB8B427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19B6A73-5FFB-6E11-E6FA-C19318AA50B3}"/>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DB38022-740F-62F4-BD56-BA8A4DF30268}"/>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213D5CB-7822-0C55-5829-5F748DFDB0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xmlns="" id="{C0E3AB23-4B28-7483-E1FC-3030C8D1722D}"/>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xmlns="" id="{00C622DF-2600-B173-81B6-43F75621A3C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42764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98E0F-6461-E0DF-A02C-66321B18FD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27AF44D-6960-5595-DBE4-1BDD132E211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xmlns="" id="{8C4C4B0D-838C-0699-462E-138390FF3F67}"/>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xmlns="" id="{0107972D-F23D-A00B-155A-B7001FD4A9E0}"/>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658252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CFC433-B8BC-A9D5-CC78-5B46B11E797B}"/>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xmlns="" id="{6E5F6418-31B3-840F-021C-E68FFF23921D}"/>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xmlns="" id="{DDB3E3A2-4DB0-04CB-7731-EBCE49BD1E8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55362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F4FAB-0664-28A8-C7B3-3EC11ABCF4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EF49AE-5F33-A1BE-8F5D-5E5A5057DDD1}"/>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03EB926-68DB-B27B-55AE-54A97F5BA8A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975D7E-59E2-8F3F-F56E-DCF8078194E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7D4F968-7710-F9F1-B27B-0F39260BC22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38D95A4E-D7D7-B78E-9D90-B4533D6AC33C}"/>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1375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B28807-7AF1-E07C-9DA8-34140F5BFB30}"/>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451A79E-99A8-E2EF-1705-BE132C1AB8A8}"/>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B745CB75-2F92-0B84-C475-FD2527B435C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718034-6BAF-473E-75D5-F9A880CA55F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3DFD82CF-FE96-CEB2-F329-93CC0CAFA30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C33B1405-337A-6302-15B4-7ADF2D496A03}"/>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5226295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BCBB4A-6589-A75A-B709-86B6C02FEB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3F4FFE2-2665-7BD6-7305-BA756D246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F34214E-369F-FCED-D39B-FA9C288EAC2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01E949AE-49DB-DC9D-0E73-8CDBA2D5769C}"/>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8EE80F29-5A32-3299-5138-08AB5E9ECD54}"/>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778885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0BDE9-5C03-48DF-E059-AD763A8D03C4}"/>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08AED84-40AD-19EE-AF7E-2FD49E865B89}"/>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F2A4186-2CBC-F432-7485-7E51E065E3B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D3DD9983-D06D-169A-6EC4-C6DF49C7D419}"/>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09299EC7-056C-0245-8B2F-3651499E3B18}"/>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159302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B773A5-626B-1280-0B5D-2D890F1F20A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5BA982-96A0-BA46-EFA6-77DDA8A60C3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9D68924-99E4-8EFF-578A-E4F01138F6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54022218-5660-EE36-78DB-66BCAB51DE0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50C7BC63-C625-41A9-F5BF-3D678E3AC8D5}"/>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6884598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71601-1726-74BD-2CEA-679ED624F1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36C0564-134E-DFAC-4A7E-ECBDECE13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D36AB4-3E0C-7D2D-E5DE-7729F23A7A3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AC0E0877-6458-655A-AD1E-952009FD2AC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7F11D360-A71A-68A5-D5DB-FFBAB9A49E6E}"/>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092930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097436-03A6-0012-3CE3-7C0F76BEBB14}"/>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953F05-94B8-E575-5658-AB057174FDAE}"/>
              </a:ext>
            </a:extLst>
          </p:cNvPr>
          <p:cNvSpPr>
            <a:spLocks noGrp="1"/>
          </p:cNvSpPr>
          <p:nvPr>
            <p:ph type="body" idx="1"/>
          </p:nvPr>
        </p:nvSpPr>
        <p:spPr>
          <a:xfrm>
            <a:off x="623887" y="458952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61B41BF-B967-BE9F-D29E-207C205F3242}"/>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1B1F2389-334F-D370-49F3-E818AA82441B}"/>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D96DCFD7-BCF7-ED37-A70E-ADECCF5F5706}"/>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654079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7C48B8-8AD6-9168-B64C-F88512334F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A80C10B-E692-B413-9F14-5C157AE7E6C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E439803-1714-0366-C6EA-2088E5C115D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52772B2-F035-E965-5E2E-1C9403130EB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F618CA5-711B-0FD8-C567-390EB5CB424F}"/>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9D2D44DE-A051-37C8-3C8B-DE8F456E87BF}"/>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853488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3A4107-DE95-7F52-3243-B6861567434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A34BDD9-FD68-7718-B793-144DEC5145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B306DF0-C717-B8F5-6EDE-F38DFB8B427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19B6A73-5FFB-6E11-E6FA-C19318AA50B3}"/>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DB38022-740F-62F4-BD56-BA8A4DF30268}"/>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213D5CB-7822-0C55-5829-5F748DFDB0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xmlns="" id="{C0E3AB23-4B28-7483-E1FC-3030C8D1722D}"/>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xmlns="" id="{00C622DF-2600-B173-81B6-43F75621A3C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7728630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98E0F-6461-E0DF-A02C-66321B18FD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27AF44D-6960-5595-DBE4-1BDD132E211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xmlns="" id="{8C4C4B0D-838C-0699-462E-138390FF3F67}"/>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xmlns="" id="{0107972D-F23D-A00B-155A-B7001FD4A9E0}"/>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0595285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CFC433-B8BC-A9D5-CC78-5B46B11E797B}"/>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xmlns="" id="{6E5F6418-31B3-840F-021C-E68FFF23921D}"/>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xmlns="" id="{DDB3E3A2-4DB0-04CB-7731-EBCE49BD1E8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9885355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F4FAB-0664-28A8-C7B3-3EC11ABCF4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EF49AE-5F33-A1BE-8F5D-5E5A5057DDD1}"/>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03EB926-68DB-B27B-55AE-54A97F5BA8A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975D7E-59E2-8F3F-F56E-DCF8078194E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7D4F968-7710-F9F1-B27B-0F39260BC22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38D95A4E-D7D7-B78E-9D90-B4533D6AC33C}"/>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499112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B28807-7AF1-E07C-9DA8-34140F5BFB30}"/>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451A79E-99A8-E2EF-1705-BE132C1AB8A8}"/>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B745CB75-2F92-0B84-C475-FD2527B435C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718034-6BAF-473E-75D5-F9A880CA55F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3DFD82CF-FE96-CEB2-F329-93CC0CAFA30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C33B1405-337A-6302-15B4-7ADF2D496A03}"/>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9482437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BCBB4A-6589-A75A-B709-86B6C02FEB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3F4FFE2-2665-7BD6-7305-BA756D246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F34214E-369F-FCED-D39B-FA9C288EAC2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01E949AE-49DB-DC9D-0E73-8CDBA2D5769C}"/>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8EE80F29-5A32-3299-5138-08AB5E9ECD54}"/>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495037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0BDE9-5C03-48DF-E059-AD763A8D03C4}"/>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08AED84-40AD-19EE-AF7E-2FD49E865B89}"/>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F2A4186-2CBC-F432-7485-7E51E065E3B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D3DD9983-D06D-169A-6EC4-C6DF49C7D419}"/>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09299EC7-056C-0245-8B2F-3651499E3B18}"/>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4857447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B773A5-626B-1280-0B5D-2D890F1F20A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5BA982-96A0-BA46-EFA6-77DDA8A60C3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9D68924-99E4-8EFF-578A-E4F01138F6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54022218-5660-EE36-78DB-66BCAB51DE0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50C7BC63-C625-41A9-F5BF-3D678E3AC8D5}"/>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388949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71601-1726-74BD-2CEA-679ED624F1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36C0564-134E-DFAC-4A7E-ECBDECE13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D36AB4-3E0C-7D2D-E5DE-7729F23A7A3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AC0E0877-6458-655A-AD1E-952009FD2AC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7F11D360-A71A-68A5-D5DB-FFBAB9A49E6E}"/>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297023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097436-03A6-0012-3CE3-7C0F76BEBB14}"/>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953F05-94B8-E575-5658-AB057174FDAE}"/>
              </a:ext>
            </a:extLst>
          </p:cNvPr>
          <p:cNvSpPr>
            <a:spLocks noGrp="1"/>
          </p:cNvSpPr>
          <p:nvPr>
            <p:ph type="body" idx="1"/>
          </p:nvPr>
        </p:nvSpPr>
        <p:spPr>
          <a:xfrm>
            <a:off x="623887" y="4589516"/>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61B41BF-B967-BE9F-D29E-207C205F3242}"/>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1B1F2389-334F-D370-49F3-E818AA82441B}"/>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D96DCFD7-BCF7-ED37-A70E-ADECCF5F5706}"/>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03061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7C48B8-8AD6-9168-B64C-F88512334F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A80C10B-E692-B413-9F14-5C157AE7E6C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E439803-1714-0366-C6EA-2088E5C115D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52772B2-F035-E965-5E2E-1C9403130EB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F618CA5-711B-0FD8-C567-390EB5CB424F}"/>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9D2D44DE-A051-37C8-3C8B-DE8F456E87BF}"/>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671503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3A4107-DE95-7F52-3243-B6861567434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A34BDD9-FD68-7718-B793-144DEC5145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B306DF0-C717-B8F5-6EDE-F38DFB8B427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19B6A73-5FFB-6E11-E6FA-C19318AA50B3}"/>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DB38022-740F-62F4-BD56-BA8A4DF30268}"/>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213D5CB-7822-0C55-5829-5F748DFDB0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xmlns="" id="{C0E3AB23-4B28-7483-E1FC-3030C8D1722D}"/>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xmlns="" id="{00C622DF-2600-B173-81B6-43F75621A3C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144131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98E0F-6461-E0DF-A02C-66321B18FD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27AF44D-6960-5595-DBE4-1BDD132E211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xmlns="" id="{8C4C4B0D-838C-0699-462E-138390FF3F67}"/>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xmlns="" id="{0107972D-F23D-A00B-155A-B7001FD4A9E0}"/>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6488938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CFC433-B8BC-A9D5-CC78-5B46B11E797B}"/>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xmlns="" id="{6E5F6418-31B3-840F-021C-E68FFF23921D}"/>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xmlns="" id="{DDB3E3A2-4DB0-04CB-7731-EBCE49BD1E8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4890619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F4FAB-0664-28A8-C7B3-3EC11ABCF4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EF49AE-5F33-A1BE-8F5D-5E5A5057DDD1}"/>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03EB926-68DB-B27B-55AE-54A97F5BA8A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975D7E-59E2-8F3F-F56E-DCF8078194E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7D4F968-7710-F9F1-B27B-0F39260BC22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38D95A4E-D7D7-B78E-9D90-B4533D6AC33C}"/>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62914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B28807-7AF1-E07C-9DA8-34140F5BFB30}"/>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451A79E-99A8-E2EF-1705-BE132C1AB8A8}"/>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B745CB75-2F92-0B84-C475-FD2527B435C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718034-6BAF-473E-75D5-F9A880CA55F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3DFD82CF-FE96-CEB2-F329-93CC0CAFA30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C33B1405-337A-6302-15B4-7ADF2D496A03}"/>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80256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BCBB4A-6589-A75A-B709-86B6C02FEB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3F4FFE2-2665-7BD6-7305-BA756D246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F34214E-369F-FCED-D39B-FA9C288EAC2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01E949AE-49DB-DC9D-0E73-8CDBA2D5769C}"/>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8EE80F29-5A32-3299-5138-08AB5E9ECD54}"/>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557936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0BDE9-5C03-48DF-E059-AD763A8D03C4}"/>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08AED84-40AD-19EE-AF7E-2FD49E865B89}"/>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F2A4186-2CBC-F432-7485-7E51E065E3B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D3DD9983-D06D-169A-6EC4-C6DF49C7D419}"/>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09299EC7-056C-0245-8B2F-3651499E3B18}"/>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796936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B773A5-626B-1280-0B5D-2D890F1F20A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5BA982-96A0-BA46-EFA6-77DDA8A60C3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9D68924-99E4-8EFF-578A-E4F01138F6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54022218-5660-EE36-78DB-66BCAB51DE0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50C7BC63-C625-41A9-F5BF-3D678E3AC8D5}"/>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3242873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71601-1726-74BD-2CEA-679ED624F1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36C0564-134E-DFAC-4A7E-ECBDECE13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D36AB4-3E0C-7D2D-E5DE-7729F23A7A3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AC0E0877-6458-655A-AD1E-952009FD2AC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7F11D360-A71A-68A5-D5DB-FFBAB9A49E6E}"/>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0558495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097436-03A6-0012-3CE3-7C0F76BEBB14}"/>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953F05-94B8-E575-5658-AB057174FDAE}"/>
              </a:ext>
            </a:extLst>
          </p:cNvPr>
          <p:cNvSpPr>
            <a:spLocks noGrp="1"/>
          </p:cNvSpPr>
          <p:nvPr>
            <p:ph type="body" idx="1"/>
          </p:nvPr>
        </p:nvSpPr>
        <p:spPr>
          <a:xfrm>
            <a:off x="623887" y="4589506"/>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61B41BF-B967-BE9F-D29E-207C205F3242}"/>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1B1F2389-334F-D370-49F3-E818AA82441B}"/>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D96DCFD7-BCF7-ED37-A70E-ADECCF5F5706}"/>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0365436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7C48B8-8AD6-9168-B64C-F88512334F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A80C10B-E692-B413-9F14-5C157AE7E6C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E439803-1714-0366-C6EA-2088E5C115D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52772B2-F035-E965-5E2E-1C9403130EB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F618CA5-711B-0FD8-C567-390EB5CB424F}"/>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9D2D44DE-A051-37C8-3C8B-DE8F456E87BF}"/>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4757308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3A4107-DE95-7F52-3243-B6861567434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A34BDD9-FD68-7718-B793-144DEC5145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B306DF0-C717-B8F5-6EDE-F38DFB8B427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19B6A73-5FFB-6E11-E6FA-C19318AA50B3}"/>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DB38022-740F-62F4-BD56-BA8A4DF30268}"/>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213D5CB-7822-0C55-5829-5F748DFDB0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xmlns="" id="{C0E3AB23-4B28-7483-E1FC-3030C8D1722D}"/>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xmlns="" id="{00C622DF-2600-B173-81B6-43F75621A3C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700935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98E0F-6461-E0DF-A02C-66321B18FD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27AF44D-6960-5595-DBE4-1BDD132E211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xmlns="" id="{8C4C4B0D-838C-0699-462E-138390FF3F67}"/>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xmlns="" id="{0107972D-F23D-A00B-155A-B7001FD4A9E0}"/>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0354753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CFC433-B8BC-A9D5-CC78-5B46B11E797B}"/>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xmlns="" id="{6E5F6418-31B3-840F-021C-E68FFF23921D}"/>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xmlns="" id="{DDB3E3A2-4DB0-04CB-7731-EBCE49BD1E8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921158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F4FAB-0664-28A8-C7B3-3EC11ABCF4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EF49AE-5F33-A1BE-8F5D-5E5A5057DDD1}"/>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03EB926-68DB-B27B-55AE-54A97F5BA8A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975D7E-59E2-8F3F-F56E-DCF8078194E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7D4F968-7710-F9F1-B27B-0F39260BC22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38D95A4E-D7D7-B78E-9D90-B4533D6AC33C}"/>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9167584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B28807-7AF1-E07C-9DA8-34140F5BFB30}"/>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451A79E-99A8-E2EF-1705-BE132C1AB8A8}"/>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B745CB75-2F92-0B84-C475-FD2527B435C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718034-6BAF-473E-75D5-F9A880CA55F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3DFD82CF-FE96-CEB2-F329-93CC0CAFA30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C33B1405-337A-6302-15B4-7ADF2D496A03}"/>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204462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BCBB4A-6589-A75A-B709-86B6C02FEB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3F4FFE2-2665-7BD6-7305-BA756D246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F34214E-369F-FCED-D39B-FA9C288EAC2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01E949AE-49DB-DC9D-0E73-8CDBA2D5769C}"/>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8EE80F29-5A32-3299-5138-08AB5E9ECD54}"/>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19667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0BDE9-5C03-48DF-E059-AD763A8D03C4}"/>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08AED84-40AD-19EE-AF7E-2FD49E865B89}"/>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F2A4186-2CBC-F432-7485-7E51E065E3B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D3DD9983-D06D-169A-6EC4-C6DF49C7D419}"/>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09299EC7-056C-0245-8B2F-3651499E3B18}"/>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193024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B773A5-626B-1280-0B5D-2D890F1F20A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5BA982-96A0-BA46-EFA6-77DDA8A60C3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9D68924-99E4-8EFF-578A-E4F01138F6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54022218-5660-EE36-78DB-66BCAB51DE0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50C7BC63-C625-41A9-F5BF-3D678E3AC8D5}"/>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05069984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71601-1726-74BD-2CEA-679ED624F1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36C0564-134E-DFAC-4A7E-ECBDECE13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D36AB4-3E0C-7D2D-E5DE-7729F23A7A3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AC0E0877-6458-655A-AD1E-952009FD2AC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7F11D360-A71A-68A5-D5DB-FFBAB9A49E6E}"/>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808860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097436-03A6-0012-3CE3-7C0F76BEBB14}"/>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953F05-94B8-E575-5658-AB057174FDAE}"/>
              </a:ext>
            </a:extLst>
          </p:cNvPr>
          <p:cNvSpPr>
            <a:spLocks noGrp="1"/>
          </p:cNvSpPr>
          <p:nvPr>
            <p:ph type="body" idx="1"/>
          </p:nvPr>
        </p:nvSpPr>
        <p:spPr>
          <a:xfrm>
            <a:off x="623887" y="458949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61B41BF-B967-BE9F-D29E-207C205F3242}"/>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1B1F2389-334F-D370-49F3-E818AA82441B}"/>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D96DCFD7-BCF7-ED37-A70E-ADECCF5F5706}"/>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5203859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7C48B8-8AD6-9168-B64C-F88512334F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A80C10B-E692-B413-9F14-5C157AE7E6C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E439803-1714-0366-C6EA-2088E5C115D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52772B2-F035-E965-5E2E-1C9403130EB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F618CA5-711B-0FD8-C567-390EB5CB424F}"/>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9D2D44DE-A051-37C8-3C8B-DE8F456E87BF}"/>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553961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3A4107-DE95-7F52-3243-B6861567434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A34BDD9-FD68-7718-B793-144DEC5145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B306DF0-C717-B8F5-6EDE-F38DFB8B427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19B6A73-5FFB-6E11-E6FA-C19318AA50B3}"/>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DB38022-740F-62F4-BD56-BA8A4DF30268}"/>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213D5CB-7822-0C55-5829-5F748DFDB0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xmlns="" id="{C0E3AB23-4B28-7483-E1FC-3030C8D1722D}"/>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xmlns="" id="{00C622DF-2600-B173-81B6-43F75621A3C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1519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98E0F-6461-E0DF-A02C-66321B18FD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27AF44D-6960-5595-DBE4-1BDD132E211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xmlns="" id="{8C4C4B0D-838C-0699-462E-138390FF3F67}"/>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xmlns="" id="{0107972D-F23D-A00B-155A-B7001FD4A9E0}"/>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98189237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CFC433-B8BC-A9D5-CC78-5B46B11E797B}"/>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xmlns="" id="{6E5F6418-31B3-840F-021C-E68FFF23921D}"/>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xmlns="" id="{DDB3E3A2-4DB0-04CB-7731-EBCE49BD1E8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62381931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F4FAB-0664-28A8-C7B3-3EC11ABCF4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EF49AE-5F33-A1BE-8F5D-5E5A5057DDD1}"/>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03EB926-68DB-B27B-55AE-54A97F5BA8A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975D7E-59E2-8F3F-F56E-DCF8078194E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7D4F968-7710-F9F1-B27B-0F39260BC22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38D95A4E-D7D7-B78E-9D90-B4533D6AC33C}"/>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54932831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B28807-7AF1-E07C-9DA8-34140F5BFB30}"/>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451A79E-99A8-E2EF-1705-BE132C1AB8A8}"/>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B745CB75-2F92-0B84-C475-FD2527B435C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718034-6BAF-473E-75D5-F9A880CA55F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3DFD82CF-FE96-CEB2-F329-93CC0CAFA30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C33B1405-337A-6302-15B4-7ADF2D496A03}"/>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8224521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BCBB4A-6589-A75A-B709-86B6C02FEB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3F4FFE2-2665-7BD6-7305-BA756D246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F34214E-369F-FCED-D39B-FA9C288EAC2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01E949AE-49DB-DC9D-0E73-8CDBA2D5769C}"/>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8EE80F29-5A32-3299-5138-08AB5E9ECD54}"/>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36732014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0BDE9-5C03-48DF-E059-AD763A8D03C4}"/>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08AED84-40AD-19EE-AF7E-2FD49E865B89}"/>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F2A4186-2CBC-F432-7485-7E51E065E3B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D3DD9983-D06D-169A-6EC4-C6DF49C7D419}"/>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09299EC7-056C-0245-8B2F-3651499E3B18}"/>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68766411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B773A5-626B-1280-0B5D-2D890F1F20A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5BA982-96A0-BA46-EFA6-77DDA8A60C3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9D68924-99E4-8EFF-578A-E4F01138F6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54022218-5660-EE36-78DB-66BCAB51DE0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50C7BC63-C625-41A9-F5BF-3D678E3AC8D5}"/>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475831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71601-1726-74BD-2CEA-679ED624F1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36C0564-134E-DFAC-4A7E-ECBDECE13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D36AB4-3E0C-7D2D-E5DE-7729F23A7A3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AC0E0877-6458-655A-AD1E-952009FD2AC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7F11D360-A71A-68A5-D5DB-FFBAB9A49E6E}"/>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7058553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097436-03A6-0012-3CE3-7C0F76BEBB14}"/>
              </a:ext>
            </a:extLst>
          </p:cNvPr>
          <p:cNvSpPr>
            <a:spLocks noGrp="1"/>
          </p:cNvSpPr>
          <p:nvPr>
            <p:ph type="title"/>
          </p:nvPr>
        </p:nvSpPr>
        <p:spPr>
          <a:xfrm>
            <a:off x="623887"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953F05-94B8-E575-5658-AB057174FDAE}"/>
              </a:ext>
            </a:extLst>
          </p:cNvPr>
          <p:cNvSpPr>
            <a:spLocks noGrp="1"/>
          </p:cNvSpPr>
          <p:nvPr>
            <p:ph type="body" idx="1"/>
          </p:nvPr>
        </p:nvSpPr>
        <p:spPr>
          <a:xfrm>
            <a:off x="623887"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61B41BF-B967-BE9F-D29E-207C205F3242}"/>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1B1F2389-334F-D370-49F3-E818AA82441B}"/>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D96DCFD7-BCF7-ED37-A70E-ADECCF5F5706}"/>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4280388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7C48B8-8AD6-9168-B64C-F88512334F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A80C10B-E692-B413-9F14-5C157AE7E6C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E439803-1714-0366-C6EA-2088E5C115D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52772B2-F035-E965-5E2E-1C9403130EB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F618CA5-711B-0FD8-C567-390EB5CB424F}"/>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9D2D44DE-A051-37C8-3C8B-DE8F456E87BF}"/>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1855394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3A4107-DE95-7F52-3243-B6861567434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A34BDD9-FD68-7718-B793-144DEC5145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B306DF0-C717-B8F5-6EDE-F38DFB8B427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19B6A73-5FFB-6E11-E6FA-C19318AA50B3}"/>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DB38022-740F-62F4-BD56-BA8A4DF30268}"/>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213D5CB-7822-0C55-5829-5F748DFDB08C}"/>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xmlns="" id="{C0E3AB23-4B28-7483-E1FC-3030C8D1722D}"/>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xmlns="" id="{00C622DF-2600-B173-81B6-43F75621A3C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74265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98E0F-6461-E0DF-A02C-66321B18FD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27AF44D-6960-5595-DBE4-1BDD132E2113}"/>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xmlns="" id="{8C4C4B0D-838C-0699-462E-138390FF3F67}"/>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xmlns="" id="{0107972D-F23D-A00B-155A-B7001FD4A9E0}"/>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7616908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CFC433-B8BC-A9D5-CC78-5B46B11E797B}"/>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xmlns="" id="{6E5F6418-31B3-840F-021C-E68FFF23921D}"/>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xmlns="" id="{DDB3E3A2-4DB0-04CB-7731-EBCE49BD1E81}"/>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7327099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F4FAB-0664-28A8-C7B3-3EC11ABCF4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EF49AE-5F33-A1BE-8F5D-5E5A5057DDD1}"/>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03EB926-68DB-B27B-55AE-54A97F5BA8A1}"/>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975D7E-59E2-8F3F-F56E-DCF8078194EF}"/>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D7D4F968-7710-F9F1-B27B-0F39260BC22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38D95A4E-D7D7-B78E-9D90-B4533D6AC33C}"/>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059958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B28807-7AF1-E07C-9DA8-34140F5BFB30}"/>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451A79E-99A8-E2EF-1705-BE132C1AB8A8}"/>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B745CB75-2F92-0B84-C475-FD2527B435C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5718034-6BAF-473E-75D5-F9A880CA55F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3DFD82CF-FE96-CEB2-F329-93CC0CAFA30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C33B1405-337A-6302-15B4-7ADF2D496A03}"/>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35460681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BCBB4A-6589-A75A-B709-86B6C02FEB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3F4FFE2-2665-7BD6-7305-BA756D246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F34214E-369F-FCED-D39B-FA9C288EAC2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01E949AE-49DB-DC9D-0E73-8CDBA2D5769C}"/>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8EE80F29-5A32-3299-5138-08AB5E9ECD54}"/>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5717086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0BDE9-5C03-48DF-E059-AD763A8D03C4}"/>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08AED84-40AD-19EE-AF7E-2FD49E865B89}"/>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F2A4186-2CBC-F432-7485-7E51E065E3B1}"/>
              </a:ext>
            </a:extLst>
          </p:cNvPr>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D3DD9983-D06D-169A-6EC4-C6DF49C7D419}"/>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09299EC7-056C-0245-8B2F-3651499E3B18}"/>
              </a:ext>
            </a:extLst>
          </p:cNvPr>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8555939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a:xfrm>
            <a:off x="1921934" y="5054602"/>
            <a:ext cx="4064860" cy="279400"/>
          </a:xfrm>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a:xfrm>
            <a:off x="6817317" y="5054602"/>
            <a:ext cx="413483" cy="279400"/>
          </a:xfrm>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19810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5636421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979250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94317773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902777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250492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1002397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276253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3511474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67141950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41676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88473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97585561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492027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76067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599253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0637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theme" Target="../theme/theme8.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image" Target="../media/image4.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10" Type="http://schemas.openxmlformats.org/officeDocument/2006/relationships/slideLayout" Target="../slideLayouts/slideLayout87.xml"/><Relationship Id="rId19" Type="http://schemas.openxmlformats.org/officeDocument/2006/relationships/image" Target="../media/image3.png"/><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67BAEBF-D955-99E3-B8C0-5D5E875ECD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100D6A-9F95-D48D-1F00-3D6437565D5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7CED370-6902-4E49-439E-12487D204ECA}"/>
              </a:ext>
            </a:extLst>
          </p:cNvPr>
          <p:cNvSpPr>
            <a:spLocks noGrp="1"/>
          </p:cNvSpPr>
          <p:nvPr>
            <p:ph type="dt" sz="half" idx="2"/>
          </p:nvPr>
        </p:nvSpPr>
        <p:spPr>
          <a:xfrm>
            <a:off x="628650" y="635642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98F1862F-CDA4-D285-5427-26C0592CC619}"/>
              </a:ext>
            </a:extLst>
          </p:cNvPr>
          <p:cNvSpPr>
            <a:spLocks noGrp="1"/>
          </p:cNvSpPr>
          <p:nvPr>
            <p:ph type="ftr" sz="quarter" idx="3"/>
          </p:nvPr>
        </p:nvSpPr>
        <p:spPr>
          <a:xfrm>
            <a:off x="3028950" y="635642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64F86639-7303-26AD-272E-5970A4323306}"/>
              </a:ext>
            </a:extLst>
          </p:cNvPr>
          <p:cNvSpPr>
            <a:spLocks noGrp="1"/>
          </p:cNvSpPr>
          <p:nvPr>
            <p:ph type="sldNum" sz="quarter" idx="4"/>
          </p:nvPr>
        </p:nvSpPr>
        <p:spPr>
          <a:xfrm>
            <a:off x="6457950" y="635642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0519000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67BAEBF-D955-99E3-B8C0-5D5E875ECD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100D6A-9F95-D48D-1F00-3D6437565D5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7CED370-6902-4E49-439E-12487D204ECA}"/>
              </a:ext>
            </a:extLst>
          </p:cNvPr>
          <p:cNvSpPr>
            <a:spLocks noGrp="1"/>
          </p:cNvSpPr>
          <p:nvPr>
            <p:ph type="dt" sz="half" idx="2"/>
          </p:nvPr>
        </p:nvSpPr>
        <p:spPr>
          <a:xfrm>
            <a:off x="628650" y="6356417"/>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98F1862F-CDA4-D285-5427-26C0592CC619}"/>
              </a:ext>
            </a:extLst>
          </p:cNvPr>
          <p:cNvSpPr>
            <a:spLocks noGrp="1"/>
          </p:cNvSpPr>
          <p:nvPr>
            <p:ph type="ftr" sz="quarter" idx="3"/>
          </p:nvPr>
        </p:nvSpPr>
        <p:spPr>
          <a:xfrm>
            <a:off x="3028950" y="6356417"/>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64F86639-7303-26AD-272E-5970A4323306}"/>
              </a:ext>
            </a:extLst>
          </p:cNvPr>
          <p:cNvSpPr>
            <a:spLocks noGrp="1"/>
          </p:cNvSpPr>
          <p:nvPr>
            <p:ph type="sldNum" sz="quarter" idx="4"/>
          </p:nvPr>
        </p:nvSpPr>
        <p:spPr>
          <a:xfrm>
            <a:off x="6457950" y="6356417"/>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655231489"/>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67BAEBF-D955-99E3-B8C0-5D5E875ECD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100D6A-9F95-D48D-1F00-3D6437565D5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7CED370-6902-4E49-439E-12487D204ECA}"/>
              </a:ext>
            </a:extLst>
          </p:cNvPr>
          <p:cNvSpPr>
            <a:spLocks noGrp="1"/>
          </p:cNvSpPr>
          <p:nvPr>
            <p:ph type="dt" sz="half" idx="2"/>
          </p:nvPr>
        </p:nvSpPr>
        <p:spPr>
          <a:xfrm>
            <a:off x="628650" y="635641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98F1862F-CDA4-D285-5427-26C0592CC619}"/>
              </a:ext>
            </a:extLst>
          </p:cNvPr>
          <p:cNvSpPr>
            <a:spLocks noGrp="1"/>
          </p:cNvSpPr>
          <p:nvPr>
            <p:ph type="ftr" sz="quarter" idx="3"/>
          </p:nvPr>
        </p:nvSpPr>
        <p:spPr>
          <a:xfrm>
            <a:off x="3028950" y="635641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64F86639-7303-26AD-272E-5970A4323306}"/>
              </a:ext>
            </a:extLst>
          </p:cNvPr>
          <p:cNvSpPr>
            <a:spLocks noGrp="1"/>
          </p:cNvSpPr>
          <p:nvPr>
            <p:ph type="sldNum" sz="quarter" idx="4"/>
          </p:nvPr>
        </p:nvSpPr>
        <p:spPr>
          <a:xfrm>
            <a:off x="6457950" y="635641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44760238"/>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67BAEBF-D955-99E3-B8C0-5D5E875ECD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100D6A-9F95-D48D-1F00-3D6437565D5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7CED370-6902-4E49-439E-12487D204ECA}"/>
              </a:ext>
            </a:extLst>
          </p:cNvPr>
          <p:cNvSpPr>
            <a:spLocks noGrp="1"/>
          </p:cNvSpPr>
          <p:nvPr>
            <p:ph type="dt" sz="half" idx="2"/>
          </p:nvPr>
        </p:nvSpPr>
        <p:spPr>
          <a:xfrm>
            <a:off x="628650" y="635640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98F1862F-CDA4-D285-5427-26C0592CC619}"/>
              </a:ext>
            </a:extLst>
          </p:cNvPr>
          <p:cNvSpPr>
            <a:spLocks noGrp="1"/>
          </p:cNvSpPr>
          <p:nvPr>
            <p:ph type="ftr" sz="quarter" idx="3"/>
          </p:nvPr>
        </p:nvSpPr>
        <p:spPr>
          <a:xfrm>
            <a:off x="3028950" y="635640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64F86639-7303-26AD-272E-5970A4323306}"/>
              </a:ext>
            </a:extLst>
          </p:cNvPr>
          <p:cNvSpPr>
            <a:spLocks noGrp="1"/>
          </p:cNvSpPr>
          <p:nvPr>
            <p:ph type="sldNum" sz="quarter" idx="4"/>
          </p:nvPr>
        </p:nvSpPr>
        <p:spPr>
          <a:xfrm>
            <a:off x="6457950" y="635640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281619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67BAEBF-D955-99E3-B8C0-5D5E875ECD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100D6A-9F95-D48D-1F00-3D6437565D5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7CED370-6902-4E49-439E-12487D204ECA}"/>
              </a:ext>
            </a:extLst>
          </p:cNvPr>
          <p:cNvSpPr>
            <a:spLocks noGrp="1"/>
          </p:cNvSpPr>
          <p:nvPr>
            <p:ph type="dt" sz="half" idx="2"/>
          </p:nvPr>
        </p:nvSpPr>
        <p:spPr>
          <a:xfrm>
            <a:off x="628650" y="635639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98F1862F-CDA4-D285-5427-26C0592CC619}"/>
              </a:ext>
            </a:extLst>
          </p:cNvPr>
          <p:cNvSpPr>
            <a:spLocks noGrp="1"/>
          </p:cNvSpPr>
          <p:nvPr>
            <p:ph type="ftr" sz="quarter" idx="3"/>
          </p:nvPr>
        </p:nvSpPr>
        <p:spPr>
          <a:xfrm>
            <a:off x="3028950" y="635639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64F86639-7303-26AD-272E-5970A4323306}"/>
              </a:ext>
            </a:extLst>
          </p:cNvPr>
          <p:cNvSpPr>
            <a:spLocks noGrp="1"/>
          </p:cNvSpPr>
          <p:nvPr>
            <p:ph type="sldNum" sz="quarter" idx="4"/>
          </p:nvPr>
        </p:nvSpPr>
        <p:spPr>
          <a:xfrm>
            <a:off x="6457950" y="635639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5183459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67BAEBF-D955-99E3-B8C0-5D5E875ECD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100D6A-9F95-D48D-1F00-3D6437565D5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7CED370-6902-4E49-439E-12487D204ECA}"/>
              </a:ext>
            </a:extLst>
          </p:cNvPr>
          <p:cNvSpPr>
            <a:spLocks noGrp="1"/>
          </p:cNvSpPr>
          <p:nvPr>
            <p:ph type="dt" sz="half" idx="2"/>
          </p:nvPr>
        </p:nvSpPr>
        <p:spPr>
          <a:xfrm>
            <a:off x="628650" y="635638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98F1862F-CDA4-D285-5427-26C0592CC619}"/>
              </a:ext>
            </a:extLst>
          </p:cNvPr>
          <p:cNvSpPr>
            <a:spLocks noGrp="1"/>
          </p:cNvSpPr>
          <p:nvPr>
            <p:ph type="ftr" sz="quarter" idx="3"/>
          </p:nvPr>
        </p:nvSpPr>
        <p:spPr>
          <a:xfrm>
            <a:off x="3028950" y="635638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64F86639-7303-26AD-272E-5970A4323306}"/>
              </a:ext>
            </a:extLst>
          </p:cNvPr>
          <p:cNvSpPr>
            <a:spLocks noGrp="1"/>
          </p:cNvSpPr>
          <p:nvPr>
            <p:ph type="sldNum" sz="quarter" idx="4"/>
          </p:nvPr>
        </p:nvSpPr>
        <p:spPr>
          <a:xfrm>
            <a:off x="6457950" y="635638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346560"/>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67BAEBF-D955-99E3-B8C0-5D5E875ECD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100D6A-9F95-D48D-1F00-3D6437565D5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7CED370-6902-4E49-439E-12487D204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98F1862F-CDA4-D285-5427-26C0592CC61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64F86639-7303-26AD-272E-5970A4323306}"/>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79187918"/>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ECA005A-DFD3-44B4-AA0C-50677C5C2C59}" type="datetimeFigureOut">
              <a:rPr lang="en-IN" smtClean="0">
                <a:solidFill>
                  <a:prstClr val="black">
                    <a:tint val="75000"/>
                  </a:prstClr>
                </a:solidFill>
              </a:rPr>
              <a:pPr/>
              <a:t>04-12-2024</a:t>
            </a:fld>
            <a:endParaRPr lang="en-IN">
              <a:solidFill>
                <a:prstClr val="black">
                  <a:tint val="75000"/>
                </a:prstClr>
              </a:solidFill>
            </a:endParaRPr>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596C7B2-71EA-4326-B89D-72C36176846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9667549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9.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9.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6.xml"/></Relationships>
</file>

<file path=ppt/slides/_rels/slide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7.xml"/></Relationships>
</file>

<file path=ppt/slides/_rels/slide6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9.xml"/></Relationships>
</file>

<file path=ppt/slides/_rels/slide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UNIT – V</a:t>
            </a:r>
          </a:p>
        </p:txBody>
      </p:sp>
    </p:spTree>
    <p:extLst>
      <p:ext uri="{BB962C8B-B14F-4D97-AF65-F5344CB8AC3E}">
        <p14:creationId xmlns:p14="http://schemas.microsoft.com/office/powerpoint/2010/main" val="18465789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latin typeface="Bookman Old Style" pitchFamily="18" charset="0"/>
              </a:rPr>
              <a:t>Linear Time Series Models</a:t>
            </a:r>
          </a:p>
        </p:txBody>
      </p:sp>
      <p:sp>
        <p:nvSpPr>
          <p:cNvPr id="3" name="Content Placeholder 2"/>
          <p:cNvSpPr>
            <a:spLocks noGrp="1"/>
          </p:cNvSpPr>
          <p:nvPr>
            <p:ph idx="1"/>
          </p:nvPr>
        </p:nvSpPr>
        <p:spPr/>
        <p:txBody>
          <a:bodyPr>
            <a:normAutofit fontScale="85000" lnSpcReduction="20000"/>
          </a:bodyPr>
          <a:lstStyle/>
          <a:p>
            <a:r>
              <a:rPr lang="en-IN" sz="2000" b="1" dirty="0">
                <a:latin typeface="Bookman Old Style" pitchFamily="18" charset="0"/>
              </a:rPr>
              <a:t>Autoregressive:</a:t>
            </a:r>
          </a:p>
          <a:p>
            <a:pPr algn="just"/>
            <a:r>
              <a:rPr lang="en-US" sz="1600" dirty="0">
                <a:latin typeface="Bookman Old Style" pitchFamily="18" charset="0"/>
              </a:rPr>
              <a:t>Autoregressive (AR) is a type of statistical model that is used to describe time series data. </a:t>
            </a:r>
          </a:p>
          <a:p>
            <a:pPr algn="just"/>
            <a:r>
              <a:rPr lang="en-US" sz="1600" dirty="0">
                <a:latin typeface="Bookman Old Style" pitchFamily="18" charset="0"/>
              </a:rPr>
              <a:t>In an autoregressive model, the value of a variable at a particular time is assumed to be a linear function of its previous values and a random error term. </a:t>
            </a:r>
          </a:p>
          <a:p>
            <a:pPr algn="just"/>
            <a:r>
              <a:rPr lang="en-US" sz="1600" dirty="0">
                <a:latin typeface="Bookman Old Style" pitchFamily="18" charset="0"/>
              </a:rPr>
              <a:t>This model is based on the idea that past values of a variable have a significant influence on its future values.</a:t>
            </a:r>
          </a:p>
          <a:p>
            <a:pPr algn="just"/>
            <a:endParaRPr lang="en-US" sz="1600" dirty="0">
              <a:latin typeface="Bookman Old Style" pitchFamily="18" charset="0"/>
            </a:endParaRPr>
          </a:p>
          <a:p>
            <a:pPr algn="just"/>
            <a:r>
              <a:rPr lang="en-US" sz="1600" dirty="0">
                <a:latin typeface="Bookman Old Style" pitchFamily="18" charset="0"/>
              </a:rPr>
              <a:t>The general form of an autoregressive model of order p (AR(p)) is expressed as:</a:t>
            </a:r>
          </a:p>
          <a:p>
            <a:pPr algn="just"/>
            <a:endParaRPr lang="en-US" sz="1600" dirty="0">
              <a:latin typeface="Bookman Old Style" pitchFamily="18" charset="0"/>
            </a:endParaRPr>
          </a:p>
          <a:p>
            <a:pPr marL="114300" indent="0" algn="just">
              <a:buNone/>
            </a:pPr>
            <a:r>
              <a:rPr lang="en-IN" sz="1600" dirty="0">
                <a:solidFill>
                  <a:srgbClr val="0D0D0D"/>
                </a:solidFill>
                <a:latin typeface="KaTeX_Main"/>
              </a:rPr>
              <a:t/>
            </a:r>
            <a:br>
              <a:rPr lang="en-IN" sz="1600" dirty="0">
                <a:solidFill>
                  <a:srgbClr val="0D0D0D"/>
                </a:solidFill>
                <a:latin typeface="KaTeX_Main"/>
              </a:rPr>
            </a:br>
            <a:endParaRPr lang="en-IN" sz="1600" dirty="0">
              <a:latin typeface="Bookman Old Style" pitchFamily="18" charset="0"/>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8900" y="5157192"/>
            <a:ext cx="38862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17580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922868"/>
            <a:ext cx="7632848"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46643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Bookman Old Style" pitchFamily="18" charset="0"/>
              </a:rPr>
              <a:t>Moving Average</a:t>
            </a:r>
          </a:p>
        </p:txBody>
      </p:sp>
      <p:sp>
        <p:nvSpPr>
          <p:cNvPr id="3" name="Content Placeholder 2"/>
          <p:cNvSpPr>
            <a:spLocks noGrp="1"/>
          </p:cNvSpPr>
          <p:nvPr>
            <p:ph idx="1"/>
          </p:nvPr>
        </p:nvSpPr>
        <p:spPr/>
        <p:txBody>
          <a:bodyPr>
            <a:normAutofit/>
          </a:bodyPr>
          <a:lstStyle/>
          <a:p>
            <a:r>
              <a:rPr lang="en-US" sz="1800" dirty="0">
                <a:latin typeface="Bookman Old Style" pitchFamily="18" charset="0"/>
              </a:rPr>
              <a:t>The Moving Average (MA) model is a type of statistical model used to analyze time series data. </a:t>
            </a:r>
          </a:p>
          <a:p>
            <a:pPr algn="just"/>
            <a:r>
              <a:rPr lang="en-US" sz="1800" dirty="0">
                <a:latin typeface="Bookman Old Style" pitchFamily="18" charset="0"/>
              </a:rPr>
              <a:t>In a Moving Average model, the value of a variable at a particular time is assumed to be a linear combination of a specified number of past random error terms (white noise) plus a constant term.</a:t>
            </a:r>
          </a:p>
          <a:p>
            <a:pPr algn="just"/>
            <a:r>
              <a:rPr lang="en-US" sz="1800" dirty="0">
                <a:latin typeface="Bookman Old Style" pitchFamily="18" charset="0"/>
              </a:rPr>
              <a:t>This model is based on the assumption that the current value of the series is influenced by recent random shocks or noise in the data.</a:t>
            </a:r>
            <a:endParaRPr lang="en-IN" sz="1800" dirty="0">
              <a:latin typeface="Bookman Old Style" pitchFamily="18" charset="0"/>
            </a:endParaRPr>
          </a:p>
        </p:txBody>
      </p:sp>
    </p:spTree>
    <p:extLst>
      <p:ext uri="{BB962C8B-B14F-4D97-AF65-F5344CB8AC3E}">
        <p14:creationId xmlns:p14="http://schemas.microsoft.com/office/powerpoint/2010/main" val="32963875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908720"/>
            <a:ext cx="7704856"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07165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2632" y="1412776"/>
            <a:ext cx="6798736" cy="3444997"/>
          </a:xfrm>
        </p:spPr>
        <p:txBody>
          <a:bodyPr>
            <a:normAutofit fontScale="92500"/>
          </a:bodyPr>
          <a:lstStyle/>
          <a:p>
            <a:pPr algn="just"/>
            <a:r>
              <a:rPr lang="en-US" sz="1800" dirty="0">
                <a:latin typeface="Bookman Old Style" pitchFamily="18" charset="0"/>
              </a:rPr>
              <a:t>In practice, the Moving Average model is often used in conjunction with the Autoregressive model to form the Autoregressive Moving Average (ARMA) model. </a:t>
            </a:r>
          </a:p>
          <a:p>
            <a:pPr algn="just"/>
            <a:r>
              <a:rPr lang="en-US" sz="1800" dirty="0">
                <a:latin typeface="Bookman Old Style" pitchFamily="18" charset="0"/>
              </a:rPr>
              <a:t>This combination can be useful for capturing both the autocorrelation and the white noise components in the time series data.</a:t>
            </a:r>
          </a:p>
          <a:p>
            <a:pPr algn="just"/>
            <a:r>
              <a:rPr lang="en-US" sz="1800" dirty="0">
                <a:latin typeface="Bookman Old Style" pitchFamily="18" charset="0"/>
              </a:rPr>
              <a:t> Choosing the appropriate order (q) for the Moving Average model is important for achieving the best fit for the data. </a:t>
            </a:r>
          </a:p>
          <a:p>
            <a:pPr algn="just"/>
            <a:r>
              <a:rPr lang="en-US" sz="1800" dirty="0">
                <a:latin typeface="Bookman Old Style" pitchFamily="18" charset="0"/>
              </a:rPr>
              <a:t>Model selection criteria such as AIC (</a:t>
            </a:r>
            <a:r>
              <a:rPr lang="en-US" sz="1800" dirty="0" err="1">
                <a:latin typeface="Bookman Old Style" pitchFamily="18" charset="0"/>
              </a:rPr>
              <a:t>Akaike</a:t>
            </a:r>
            <a:r>
              <a:rPr lang="en-US" sz="1800" dirty="0">
                <a:latin typeface="Bookman Old Style" pitchFamily="18" charset="0"/>
              </a:rPr>
              <a:t> Information Criterion) or BIC (Bayesian Information Criterion) can help guide this choice.</a:t>
            </a:r>
            <a:endParaRPr lang="en-IN" sz="1800" dirty="0">
              <a:latin typeface="Bookman Old Style" pitchFamily="18" charset="0"/>
            </a:endParaRPr>
          </a:p>
        </p:txBody>
      </p:sp>
    </p:spTree>
    <p:extLst>
      <p:ext uri="{BB962C8B-B14F-4D97-AF65-F5344CB8AC3E}">
        <p14:creationId xmlns:p14="http://schemas.microsoft.com/office/powerpoint/2010/main" val="33561500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922868"/>
            <a:ext cx="7620000" cy="1282154"/>
          </a:xfrm>
        </p:spPr>
        <p:txBody>
          <a:bodyPr>
            <a:normAutofit fontScale="90000"/>
          </a:bodyPr>
          <a:lstStyle/>
          <a:p>
            <a:r>
              <a:rPr lang="en-US" sz="2800" b="1" dirty="0">
                <a:latin typeface="Bookman Old Style" pitchFamily="18" charset="0"/>
              </a:rPr>
              <a:t>Autoregressive Moving Average and Autoregressive Integrated Moving Average models</a:t>
            </a:r>
            <a:endParaRPr lang="en-IN" sz="2800" b="1" dirty="0">
              <a:latin typeface="Bookman Old Style" pitchFamily="18" charset="0"/>
            </a:endParaRPr>
          </a:p>
        </p:txBody>
      </p:sp>
      <p:sp>
        <p:nvSpPr>
          <p:cNvPr id="3" name="Content Placeholder 2"/>
          <p:cNvSpPr>
            <a:spLocks noGrp="1"/>
          </p:cNvSpPr>
          <p:nvPr>
            <p:ph idx="1"/>
          </p:nvPr>
        </p:nvSpPr>
        <p:spPr/>
        <p:txBody>
          <a:bodyPr>
            <a:normAutofit/>
          </a:bodyPr>
          <a:lstStyle/>
          <a:p>
            <a:pPr algn="just"/>
            <a:r>
              <a:rPr lang="en-US" sz="1800" dirty="0">
                <a:latin typeface="Bookman Old Style" pitchFamily="18" charset="0"/>
              </a:rPr>
              <a:t>Autoregressive Moving Average (ARMA) and Autoregressive Integrated Moving Average (ARIMA) are statistical models used for analyzing and forecasting time series data.</a:t>
            </a:r>
          </a:p>
          <a:p>
            <a:pPr algn="just"/>
            <a:r>
              <a:rPr lang="en-US" sz="1800" dirty="0">
                <a:latin typeface="Bookman Old Style" pitchFamily="18" charset="0"/>
              </a:rPr>
              <a:t> Both models combine autoregressive (AR) and moving average (MA) components, but ARIMA includes an additional integration (I) component for handling non-stationary time series data.</a:t>
            </a:r>
          </a:p>
        </p:txBody>
      </p:sp>
    </p:spTree>
    <p:extLst>
      <p:ext uri="{BB962C8B-B14F-4D97-AF65-F5344CB8AC3E}">
        <p14:creationId xmlns:p14="http://schemas.microsoft.com/office/powerpoint/2010/main" val="19115141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735695"/>
            <a:ext cx="7620000" cy="922114"/>
          </a:xfrm>
        </p:spPr>
        <p:txBody>
          <a:bodyPr>
            <a:normAutofit fontScale="90000"/>
          </a:bodyPr>
          <a:lstStyle/>
          <a:p>
            <a:r>
              <a:rPr lang="en-IN" sz="3200" b="1" dirty="0">
                <a:latin typeface="Bookman Old Style" pitchFamily="18" charset="0"/>
              </a:rPr>
              <a:t>Autoregressive Moving Average (ARMA)</a:t>
            </a:r>
            <a:r>
              <a:rPr lang="en-IN" dirty="0"/>
              <a:t/>
            </a:r>
            <a:br>
              <a:rPr lang="en-IN" dirty="0"/>
            </a:br>
            <a:endParaRPr lang="en-IN"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9341" y="1603169"/>
            <a:ext cx="6605317" cy="4519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58723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313770"/>
            <a:ext cx="6798734" cy="1454500"/>
          </a:xfrm>
        </p:spPr>
        <p:txBody>
          <a:bodyPr>
            <a:normAutofit/>
          </a:bodyPr>
          <a:lstStyle/>
          <a:p>
            <a:r>
              <a:rPr lang="en-IN" sz="3200" b="1" dirty="0">
                <a:latin typeface="Bookman Old Style" pitchFamily="18" charset="0"/>
              </a:rPr>
              <a:t>Autoregressive Integrated Moving Average (ARIMA)</a:t>
            </a:r>
          </a:p>
        </p:txBody>
      </p:sp>
      <p:sp>
        <p:nvSpPr>
          <p:cNvPr id="3" name="Content Placeholder 2"/>
          <p:cNvSpPr>
            <a:spLocks noGrp="1"/>
          </p:cNvSpPr>
          <p:nvPr>
            <p:ph idx="1"/>
          </p:nvPr>
        </p:nvSpPr>
        <p:spPr/>
        <p:txBody>
          <a:bodyPr/>
          <a:lstStyle/>
          <a:p>
            <a:endParaRPr lang="en-IN" dirty="0"/>
          </a:p>
        </p:txBody>
      </p:sp>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768270"/>
            <a:ext cx="7514765"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21602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After differencing the series d times, an ARMA(p, q) model is applied to the differenced data.</a:t>
            </a:r>
          </a:p>
          <a:p>
            <a:endParaRPr lang="en-US" dirty="0"/>
          </a:p>
          <a:p>
            <a:endParaRPr lang="en-IN"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356992"/>
            <a:ext cx="7906072" cy="2650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83444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a:latin typeface="Bookman Old Style" pitchFamily="18" charset="0"/>
              </a:rPr>
              <a:t>Estimation of ARMA models such as Yule-Walker estimation for AR Processes</a:t>
            </a:r>
            <a:endParaRPr lang="en-IN" sz="3200" b="1" dirty="0">
              <a:latin typeface="Bookman Old Style" pitchFamily="18" charset="0"/>
            </a:endParaRPr>
          </a:p>
        </p:txBody>
      </p:sp>
      <p:sp>
        <p:nvSpPr>
          <p:cNvPr id="3" name="Content Placeholder 2"/>
          <p:cNvSpPr>
            <a:spLocks noGrp="1"/>
          </p:cNvSpPr>
          <p:nvPr>
            <p:ph idx="1"/>
          </p:nvPr>
        </p:nvSpPr>
        <p:spPr>
          <a:xfrm>
            <a:off x="1229648" y="2490135"/>
            <a:ext cx="6798736" cy="3444997"/>
          </a:xfrm>
        </p:spPr>
        <p:txBody>
          <a:bodyPr>
            <a:normAutofit/>
          </a:bodyPr>
          <a:lstStyle/>
          <a:p>
            <a:pPr algn="just"/>
            <a:r>
              <a:rPr lang="en-US" sz="2000" dirty="0">
                <a:latin typeface="Bookman Old Style" pitchFamily="18" charset="0"/>
              </a:rPr>
              <a:t>Estimating ARMA models can be done using various methods, such as the Yule-Walker equations for autoregressive (AR) processes. </a:t>
            </a:r>
          </a:p>
          <a:p>
            <a:pPr algn="just"/>
            <a:r>
              <a:rPr lang="en-US" sz="2000" dirty="0">
                <a:latin typeface="Bookman Old Style" pitchFamily="18" charset="0"/>
              </a:rPr>
              <a:t>Here's an overview of how the Yule-Walker estimation is used for AR processes, as well as a brief discussion of estimation methods for ARMA models.</a:t>
            </a:r>
            <a:endParaRPr lang="en-IN" sz="2000" dirty="0">
              <a:latin typeface="Bookman Old Style" pitchFamily="18" charset="0"/>
            </a:endParaRPr>
          </a:p>
        </p:txBody>
      </p:sp>
    </p:spTree>
    <p:extLst>
      <p:ext uri="{BB962C8B-B14F-4D97-AF65-F5344CB8AC3E}">
        <p14:creationId xmlns:p14="http://schemas.microsoft.com/office/powerpoint/2010/main" val="27545597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7" y="643904"/>
            <a:ext cx="6798734" cy="1303867"/>
          </a:xfrm>
        </p:spPr>
        <p:txBody>
          <a:bodyPr>
            <a:normAutofit/>
          </a:bodyPr>
          <a:lstStyle/>
          <a:p>
            <a:r>
              <a:rPr lang="en-US" sz="3200" b="1" dirty="0">
                <a:latin typeface="Bookman Old Style" pitchFamily="18" charset="0"/>
              </a:rPr>
              <a:t>Yule-Walker Estimation for AR Processes</a:t>
            </a:r>
            <a:endParaRPr lang="en-IN" sz="3200" b="1" dirty="0">
              <a:latin typeface="Bookman Old Style" pitchFamily="18" charset="0"/>
            </a:endParaRP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546" y="1947771"/>
            <a:ext cx="7013401" cy="4244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5660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r>
              <a:rPr lang="en-US" sz="1800" dirty="0">
                <a:latin typeface="Bookman Old Style" pitchFamily="18" charset="0"/>
              </a:rPr>
              <a:t>Yule-Walker estimation provides an efficient way to estimate AR model parameters, especially for stationary time series data.</a:t>
            </a:r>
            <a:endParaRPr lang="en-IN" sz="1800" dirty="0">
              <a:latin typeface="Bookman Old Style" pitchFamily="18" charset="0"/>
            </a:endParaRPr>
          </a:p>
        </p:txBody>
      </p:sp>
    </p:spTree>
    <p:extLst>
      <p:ext uri="{BB962C8B-B14F-4D97-AF65-F5344CB8AC3E}">
        <p14:creationId xmlns:p14="http://schemas.microsoft.com/office/powerpoint/2010/main" val="2202527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7" y="375165"/>
            <a:ext cx="6798734" cy="1303867"/>
          </a:xfrm>
        </p:spPr>
        <p:txBody>
          <a:bodyPr/>
          <a:lstStyle/>
          <a:p>
            <a:r>
              <a:rPr lang="en-IN" sz="3200" b="1" dirty="0">
                <a:latin typeface="Bookman Old Style" pitchFamily="18" charset="0"/>
              </a:rPr>
              <a:t>Estimation of ARMA Models</a:t>
            </a:r>
          </a:p>
        </p:txBody>
      </p:sp>
      <p:sp>
        <p:nvSpPr>
          <p:cNvPr id="3" name="Content Placeholder 2"/>
          <p:cNvSpPr>
            <a:spLocks noGrp="1"/>
          </p:cNvSpPr>
          <p:nvPr>
            <p:ph idx="1"/>
          </p:nvPr>
        </p:nvSpPr>
        <p:spPr/>
        <p:txBody>
          <a:bodyPr/>
          <a:lstStyle/>
          <a:p>
            <a:endParaRPr lang="en-IN"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770" y="1484784"/>
            <a:ext cx="7958460"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0953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1800" dirty="0">
                <a:latin typeface="Bookman Old Style" pitchFamily="18" charset="0"/>
              </a:rPr>
              <a:t>Selecting the appropriate method depends on the data and the specific characteristics of the time series.</a:t>
            </a:r>
          </a:p>
          <a:p>
            <a:pPr algn="just"/>
            <a:r>
              <a:rPr lang="en-US" sz="1800" dirty="0">
                <a:latin typeface="Bookman Old Style" pitchFamily="18" charset="0"/>
              </a:rPr>
              <a:t> Model selection criteria such as </a:t>
            </a:r>
            <a:r>
              <a:rPr lang="en-US" sz="1800" dirty="0" err="1">
                <a:latin typeface="Bookman Old Style" pitchFamily="18" charset="0"/>
              </a:rPr>
              <a:t>Akaike</a:t>
            </a:r>
            <a:r>
              <a:rPr lang="en-US" sz="1800" dirty="0">
                <a:latin typeface="Bookman Old Style" pitchFamily="18" charset="0"/>
              </a:rPr>
              <a:t> Information Criterion (AIC) and Bayesian Information Criterion (BIC) can be used to assess model fit and complexity when choosing among different ARMA models.</a:t>
            </a:r>
            <a:endParaRPr lang="en-IN" sz="1800" dirty="0">
              <a:latin typeface="Bookman Old Style" pitchFamily="18" charset="0"/>
            </a:endParaRPr>
          </a:p>
        </p:txBody>
      </p:sp>
    </p:spTree>
    <p:extLst>
      <p:ext uri="{BB962C8B-B14F-4D97-AF65-F5344CB8AC3E}">
        <p14:creationId xmlns:p14="http://schemas.microsoft.com/office/powerpoint/2010/main" val="623569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sz="2800" b="1" dirty="0">
                <a:latin typeface="Bookman Old Style" pitchFamily="18" charset="0"/>
              </a:rPr>
              <a:t>Maximum likelihood and least squares estimation for ARMA Processes</a:t>
            </a:r>
            <a:endParaRPr lang="en-IN" sz="2800" b="1" dirty="0">
              <a:latin typeface="Bookman Old Style" pitchFamily="18" charset="0"/>
            </a:endParaRPr>
          </a:p>
        </p:txBody>
      </p:sp>
      <p:sp>
        <p:nvSpPr>
          <p:cNvPr id="3" name="Content Placeholder 2"/>
          <p:cNvSpPr>
            <a:spLocks noGrp="1"/>
          </p:cNvSpPr>
          <p:nvPr>
            <p:ph idx="1"/>
          </p:nvPr>
        </p:nvSpPr>
        <p:spPr/>
        <p:txBody>
          <a:bodyPr>
            <a:normAutofit/>
          </a:bodyPr>
          <a:lstStyle/>
          <a:p>
            <a:pPr algn="just"/>
            <a:r>
              <a:rPr lang="en-US" sz="1800" dirty="0">
                <a:latin typeface="Bookman Old Style" pitchFamily="18" charset="0"/>
              </a:rPr>
              <a:t>Estimating the parameters of Autoregressive Moving Average (ARMA) processes can be done using two main methods:</a:t>
            </a:r>
          </a:p>
          <a:p>
            <a:pPr algn="just"/>
            <a:r>
              <a:rPr lang="en-US" sz="1800" dirty="0">
                <a:latin typeface="Bookman Old Style" pitchFamily="18" charset="0"/>
              </a:rPr>
              <a:t> Maximum Likelihood Estimation (MLE) and Least Squares Estimation.</a:t>
            </a:r>
          </a:p>
          <a:p>
            <a:pPr algn="just"/>
            <a:r>
              <a:rPr lang="en-US" sz="1800" dirty="0">
                <a:latin typeface="Bookman Old Style" pitchFamily="18" charset="0"/>
              </a:rPr>
              <a:t> Both methods have their own strengths and applications in different scenarios.</a:t>
            </a:r>
            <a:endParaRPr lang="en-IN" sz="1800" dirty="0">
              <a:latin typeface="Bookman Old Style" pitchFamily="18" charset="0"/>
            </a:endParaRPr>
          </a:p>
        </p:txBody>
      </p:sp>
    </p:spTree>
    <p:extLst>
      <p:ext uri="{BB962C8B-B14F-4D97-AF65-F5344CB8AC3E}">
        <p14:creationId xmlns:p14="http://schemas.microsoft.com/office/powerpoint/2010/main" val="702726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Bookman Old Style" pitchFamily="18" charset="0"/>
              </a:rPr>
              <a:t>Maximum Likelihood Estimation (MLE)</a:t>
            </a:r>
          </a:p>
        </p:txBody>
      </p:sp>
      <p:sp>
        <p:nvSpPr>
          <p:cNvPr id="3" name="Content Placeholder 2"/>
          <p:cNvSpPr>
            <a:spLocks noGrp="1"/>
          </p:cNvSpPr>
          <p:nvPr>
            <p:ph idx="1"/>
          </p:nvPr>
        </p:nvSpPr>
        <p:spPr/>
        <p:txBody>
          <a:bodyPr>
            <a:normAutofit fontScale="85000" lnSpcReduction="20000"/>
          </a:bodyPr>
          <a:lstStyle/>
          <a:p>
            <a:pPr algn="just"/>
            <a:r>
              <a:rPr lang="en-US" sz="1800" dirty="0">
                <a:latin typeface="Bookman Old Style" pitchFamily="18" charset="0"/>
              </a:rPr>
              <a:t>Maximum Likelihood Estimation is a method for estimating the parameters of a statistical model by maximizing the likelihood function.</a:t>
            </a:r>
          </a:p>
          <a:p>
            <a:pPr algn="just"/>
            <a:r>
              <a:rPr lang="en-US" sz="1800" dirty="0">
                <a:latin typeface="Bookman Old Style" pitchFamily="18" charset="0"/>
              </a:rPr>
              <a:t> The likelihood function measures the probability of observing the data given the parameters of the model.</a:t>
            </a:r>
          </a:p>
          <a:p>
            <a:pPr algn="just"/>
            <a:r>
              <a:rPr lang="en-US" sz="1800" dirty="0">
                <a:latin typeface="Bookman Old Style" pitchFamily="18" charset="0"/>
              </a:rPr>
              <a:t> For an ARMA model, the likelihood function is typically based on the assumption that the innovations (errors) are normally distributed.</a:t>
            </a:r>
          </a:p>
          <a:p>
            <a:pPr algn="just"/>
            <a:r>
              <a:rPr lang="en-IN" sz="1800" b="1" dirty="0">
                <a:latin typeface="Bookman Old Style" pitchFamily="18" charset="0"/>
              </a:rPr>
              <a:t>Steps:</a:t>
            </a:r>
          </a:p>
          <a:p>
            <a:pPr algn="just"/>
            <a:r>
              <a:rPr lang="en-US" sz="1800" b="1" dirty="0">
                <a:latin typeface="Bookman Old Style" pitchFamily="18" charset="0"/>
              </a:rPr>
              <a:t>1.Define the likelihood function: </a:t>
            </a:r>
            <a:r>
              <a:rPr lang="en-US" sz="1800" dirty="0">
                <a:latin typeface="Bookman Old Style" pitchFamily="18" charset="0"/>
              </a:rPr>
              <a:t>The likelihood function for an ARMA model is based on the joint probability distribution of the time series data given the parameters. It involves expressing the model in terms of the likelihood of observing the data, which depends on the ARMA parameters and the variance of the noise.</a:t>
            </a:r>
            <a:endParaRPr lang="en-IN" sz="1800" dirty="0">
              <a:latin typeface="Bookman Old Style" pitchFamily="18" charset="0"/>
            </a:endParaRPr>
          </a:p>
        </p:txBody>
      </p:sp>
    </p:spTree>
    <p:extLst>
      <p:ext uri="{BB962C8B-B14F-4D97-AF65-F5344CB8AC3E}">
        <p14:creationId xmlns:p14="http://schemas.microsoft.com/office/powerpoint/2010/main" val="2307084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1800" b="1" dirty="0">
                <a:latin typeface="Bookman Old Style" pitchFamily="18" charset="0"/>
              </a:rPr>
              <a:t>2.Maximize the likelihood: </a:t>
            </a:r>
            <a:r>
              <a:rPr lang="en-US" sz="1800" dirty="0">
                <a:latin typeface="Bookman Old Style" pitchFamily="18" charset="0"/>
              </a:rPr>
              <a:t>Use numerical optimization methods (e.g., Newton-</a:t>
            </a:r>
            <a:r>
              <a:rPr lang="en-US" sz="1800" dirty="0" err="1">
                <a:latin typeface="Bookman Old Style" pitchFamily="18" charset="0"/>
              </a:rPr>
              <a:t>Raphson</a:t>
            </a:r>
            <a:r>
              <a:rPr lang="en-US" sz="1800" dirty="0">
                <a:latin typeface="Bookman Old Style" pitchFamily="18" charset="0"/>
              </a:rPr>
              <a:t>, BFGS) to find the parameters that maximize the likelihood function.</a:t>
            </a:r>
          </a:p>
          <a:p>
            <a:pPr algn="just"/>
            <a:r>
              <a:rPr lang="en-US" sz="1800" b="1" dirty="0">
                <a:latin typeface="Bookman Old Style" pitchFamily="18" charset="0"/>
              </a:rPr>
              <a:t>3.Compute standard errors: </a:t>
            </a:r>
            <a:r>
              <a:rPr lang="en-US" sz="1800" dirty="0">
                <a:latin typeface="Bookman Old Style" pitchFamily="18" charset="0"/>
              </a:rPr>
              <a:t>After estimating the parameters, standard errors can be calculated using the Fisher information matrix or other methods to assess the precision of the parameter estimates.</a:t>
            </a:r>
          </a:p>
          <a:p>
            <a:pPr algn="just"/>
            <a:r>
              <a:rPr lang="en-US" sz="1800" dirty="0">
                <a:latin typeface="Bookman Old Style" pitchFamily="18" charset="0"/>
              </a:rPr>
              <a:t>MLE is a powerful method for estimating ARMA models because it takes into account the full distribution of the data and provides asymptotically efficient estimates.</a:t>
            </a:r>
            <a:endParaRPr lang="en-IN" sz="1800" dirty="0">
              <a:latin typeface="Bookman Old Style" pitchFamily="18" charset="0"/>
            </a:endParaRPr>
          </a:p>
        </p:txBody>
      </p:sp>
    </p:spTree>
    <p:extLst>
      <p:ext uri="{BB962C8B-B14F-4D97-AF65-F5344CB8AC3E}">
        <p14:creationId xmlns:p14="http://schemas.microsoft.com/office/powerpoint/2010/main" val="2270421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Bookman Old Style" pitchFamily="18" charset="0"/>
              </a:rPr>
              <a:t>Least Squares Estimation</a:t>
            </a:r>
          </a:p>
        </p:txBody>
      </p:sp>
      <p:sp>
        <p:nvSpPr>
          <p:cNvPr id="3" name="Content Placeholder 2"/>
          <p:cNvSpPr>
            <a:spLocks noGrp="1"/>
          </p:cNvSpPr>
          <p:nvPr>
            <p:ph idx="1"/>
          </p:nvPr>
        </p:nvSpPr>
        <p:spPr/>
        <p:txBody>
          <a:bodyPr>
            <a:normAutofit fontScale="85000" lnSpcReduction="20000"/>
          </a:bodyPr>
          <a:lstStyle/>
          <a:p>
            <a:pPr algn="just"/>
            <a:r>
              <a:rPr lang="en-US" sz="1800" dirty="0">
                <a:latin typeface="Bookman Old Style" pitchFamily="18" charset="0"/>
              </a:rPr>
              <a:t>Least Squares Estimation is a simpler alternative to MLE, focusing on minimizing the sum of squared residuals (differences between observed and predicted values). </a:t>
            </a:r>
          </a:p>
          <a:p>
            <a:r>
              <a:rPr lang="en-US" sz="1800" dirty="0">
                <a:latin typeface="Bookman Old Style" pitchFamily="18" charset="0"/>
              </a:rPr>
              <a:t>For ARMA models, there are two main types of least squares estimation:</a:t>
            </a:r>
          </a:p>
          <a:p>
            <a:pPr algn="just"/>
            <a:r>
              <a:rPr lang="en-US" sz="1800" b="1" dirty="0">
                <a:latin typeface="Bookman Old Style" pitchFamily="18" charset="0"/>
              </a:rPr>
              <a:t>Conditional Least Squares: </a:t>
            </a:r>
            <a:r>
              <a:rPr lang="en-US" sz="1800" dirty="0">
                <a:latin typeface="Bookman Old Style" pitchFamily="18" charset="0"/>
              </a:rPr>
              <a:t>This method minimizes the sum of squared residuals for the model, conditioned on initial values of the time series. </a:t>
            </a:r>
          </a:p>
          <a:p>
            <a:pPr algn="just"/>
            <a:r>
              <a:rPr lang="en-US" sz="1800" dirty="0">
                <a:latin typeface="Bookman Old Style" pitchFamily="18" charset="0"/>
              </a:rPr>
              <a:t>It may not account for the effects of initial conditions but can be computationally simpler.</a:t>
            </a:r>
          </a:p>
          <a:p>
            <a:pPr algn="just"/>
            <a:r>
              <a:rPr lang="en-US" sz="1800" b="1" dirty="0">
                <a:latin typeface="Bookman Old Style" pitchFamily="18" charset="0"/>
              </a:rPr>
              <a:t>Exact Least Squares: </a:t>
            </a:r>
            <a:r>
              <a:rPr lang="en-US" sz="1800" dirty="0">
                <a:latin typeface="Bookman Old Style" pitchFamily="18" charset="0"/>
              </a:rPr>
              <a:t>In this method, the residuals are minimized over the entire series, taking into account the full dependence structure of the ARMA model.</a:t>
            </a:r>
          </a:p>
          <a:p>
            <a:pPr algn="just"/>
            <a:r>
              <a:rPr lang="en-US" sz="1800" dirty="0">
                <a:latin typeface="Bookman Old Style" pitchFamily="18" charset="0"/>
              </a:rPr>
              <a:t> This method is more complex and computationally demanding than conditional least squares.</a:t>
            </a:r>
            <a:endParaRPr lang="en-IN" sz="1800" dirty="0">
              <a:latin typeface="Bookman Old Style" pitchFamily="18" charset="0"/>
            </a:endParaRPr>
          </a:p>
        </p:txBody>
      </p:sp>
    </p:spTree>
    <p:extLst>
      <p:ext uri="{BB962C8B-B14F-4D97-AF65-F5344CB8AC3E}">
        <p14:creationId xmlns:p14="http://schemas.microsoft.com/office/powerpoint/2010/main" val="3252956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US" sz="1800" b="1" dirty="0">
                <a:latin typeface="Bookman Old Style" pitchFamily="18" charset="0"/>
              </a:rPr>
              <a:t>Steps:</a:t>
            </a:r>
          </a:p>
          <a:p>
            <a:r>
              <a:rPr lang="en-US" sz="1800" b="1" dirty="0">
                <a:latin typeface="Bookman Old Style" pitchFamily="18" charset="0"/>
              </a:rPr>
              <a:t>Define the residuals: </a:t>
            </a:r>
            <a:r>
              <a:rPr lang="en-US" sz="1800" dirty="0">
                <a:latin typeface="Bookman Old Style" pitchFamily="18" charset="0"/>
              </a:rPr>
              <a:t>Compute the residuals for the ARMA model, which are the differences between the observed data and the model's predictions.</a:t>
            </a:r>
          </a:p>
          <a:p>
            <a:r>
              <a:rPr lang="en-US" sz="1800" b="1" dirty="0">
                <a:latin typeface="Bookman Old Style" pitchFamily="18" charset="0"/>
              </a:rPr>
              <a:t>Minimize the sum of squared residuals: </a:t>
            </a:r>
            <a:r>
              <a:rPr lang="en-US" sz="1800" dirty="0">
                <a:latin typeface="Bookman Old Style" pitchFamily="18" charset="0"/>
              </a:rPr>
              <a:t>Use numerical optimization methods to find the parameters that minimize the sum of squared residuals.</a:t>
            </a:r>
          </a:p>
          <a:p>
            <a:r>
              <a:rPr lang="en-US" sz="1800" b="1" dirty="0">
                <a:latin typeface="Bookman Old Style" pitchFamily="18" charset="0"/>
              </a:rPr>
              <a:t>Assess the model: </a:t>
            </a:r>
            <a:r>
              <a:rPr lang="en-US" sz="1800" dirty="0">
                <a:latin typeface="Bookman Old Style" pitchFamily="18" charset="0"/>
              </a:rPr>
              <a:t>Evaluate the model using diagnostics such as residual plots and model selection criteria (e.g., AIC, BIC).</a:t>
            </a:r>
          </a:p>
          <a:p>
            <a:r>
              <a:rPr lang="en-US" sz="1800" dirty="0">
                <a:latin typeface="Bookman Old Style" pitchFamily="18" charset="0"/>
              </a:rPr>
              <a:t>Least Squares Estimation can be computationally simpler than MLE but may not account for the full distribution of the data, particularly in the case of exact least squares estimation.</a:t>
            </a:r>
            <a:endParaRPr lang="en-IN" sz="1800" dirty="0">
              <a:latin typeface="Bookman Old Style" pitchFamily="18" charset="0"/>
            </a:endParaRPr>
          </a:p>
        </p:txBody>
      </p:sp>
    </p:spTree>
    <p:extLst>
      <p:ext uri="{BB962C8B-B14F-4D97-AF65-F5344CB8AC3E}">
        <p14:creationId xmlns:p14="http://schemas.microsoft.com/office/powerpoint/2010/main" val="4209488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Bookman Old Style" pitchFamily="18" charset="0"/>
              </a:rPr>
              <a:t>Comparison</a:t>
            </a:r>
          </a:p>
        </p:txBody>
      </p:sp>
      <p:sp>
        <p:nvSpPr>
          <p:cNvPr id="3" name="Content Placeholder 2"/>
          <p:cNvSpPr>
            <a:spLocks noGrp="1"/>
          </p:cNvSpPr>
          <p:nvPr>
            <p:ph idx="1"/>
          </p:nvPr>
        </p:nvSpPr>
        <p:spPr/>
        <p:txBody>
          <a:bodyPr>
            <a:normAutofit lnSpcReduction="10000"/>
          </a:bodyPr>
          <a:lstStyle/>
          <a:p>
            <a:r>
              <a:rPr lang="en-US" sz="1800" b="1" dirty="0">
                <a:latin typeface="Bookman Old Style" pitchFamily="18" charset="0"/>
              </a:rPr>
              <a:t>MLE</a:t>
            </a:r>
            <a:r>
              <a:rPr lang="en-US" sz="1800" dirty="0">
                <a:latin typeface="Bookman Old Style" pitchFamily="18" charset="0"/>
              </a:rPr>
              <a:t> is often preferred for its statistical efficiency and robustness, especially in large datasets and complex models. It provides the best linear unbiased estimates and accounts for the distribution of the data.</a:t>
            </a:r>
          </a:p>
          <a:p>
            <a:r>
              <a:rPr lang="en-US" sz="1800" b="1" dirty="0">
                <a:latin typeface="Bookman Old Style" pitchFamily="18" charset="0"/>
              </a:rPr>
              <a:t>Least Squares Estimation </a:t>
            </a:r>
            <a:r>
              <a:rPr lang="en-US" sz="1800" dirty="0">
                <a:latin typeface="Bookman Old Style" pitchFamily="18" charset="0"/>
              </a:rPr>
              <a:t>is more straightforward and computationally simpler, making it a good choice when simplicity or computational speed is a priority. It may be a good option when the assumption of normally distributed residuals is not critical.</a:t>
            </a:r>
          </a:p>
          <a:p>
            <a:r>
              <a:rPr lang="en-US" sz="1800" dirty="0">
                <a:latin typeface="Bookman Old Style" pitchFamily="18" charset="0"/>
              </a:rPr>
              <a:t>In practice, the choice of estimation method depends on the specific application, the size and nature of the data, and the computational resources available.</a:t>
            </a:r>
            <a:endParaRPr lang="en-IN" sz="1800" dirty="0">
              <a:latin typeface="Bookman Old Style" pitchFamily="18" charset="0"/>
            </a:endParaRPr>
          </a:p>
        </p:txBody>
      </p:sp>
    </p:spTree>
    <p:extLst>
      <p:ext uri="{BB962C8B-B14F-4D97-AF65-F5344CB8AC3E}">
        <p14:creationId xmlns:p14="http://schemas.microsoft.com/office/powerpoint/2010/main" val="2651701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r>
              <a:rPr lang="en-IN" sz="3200" b="1" dirty="0">
                <a:latin typeface="Bookman Old Style" pitchFamily="18" charset="0"/>
              </a:rPr>
              <a:t>Forecasting using ARIMA models</a:t>
            </a:r>
          </a:p>
        </p:txBody>
      </p:sp>
      <p:sp>
        <p:nvSpPr>
          <p:cNvPr id="3" name="Content Placeholder 2"/>
          <p:cNvSpPr>
            <a:spLocks noGrp="1"/>
          </p:cNvSpPr>
          <p:nvPr>
            <p:ph idx="1"/>
          </p:nvPr>
        </p:nvSpPr>
        <p:spPr/>
        <p:txBody>
          <a:bodyPr>
            <a:normAutofit/>
          </a:bodyPr>
          <a:lstStyle/>
          <a:p>
            <a:r>
              <a:rPr lang="en-US" sz="1800" dirty="0">
                <a:latin typeface="Bookman Old Style" pitchFamily="18" charset="0"/>
              </a:rPr>
              <a:t>Forecasting using Autoregressive Integrated Moving Average (ARIMA) models involves using the ARIMA model to predict future values of a time series based on its past observations. </a:t>
            </a:r>
          </a:p>
          <a:p>
            <a:r>
              <a:rPr lang="en-US" sz="1800" dirty="0">
                <a:latin typeface="Bookman Old Style" pitchFamily="18" charset="0"/>
              </a:rPr>
              <a:t>ARIMA models are particularly well-suited for time series forecasting because they combine three components—autoregressive (AR), moving average (MA), and differencing (I)—to model different aspects of the data.</a:t>
            </a:r>
            <a:endParaRPr lang="en-IN" sz="1800" dirty="0">
              <a:latin typeface="Bookman Old Style" pitchFamily="18" charset="0"/>
            </a:endParaRPr>
          </a:p>
        </p:txBody>
      </p:sp>
    </p:spTree>
    <p:extLst>
      <p:ext uri="{BB962C8B-B14F-4D97-AF65-F5344CB8AC3E}">
        <p14:creationId xmlns:p14="http://schemas.microsoft.com/office/powerpoint/2010/main" val="4239044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4759" y="355872"/>
            <a:ext cx="6798734" cy="1303867"/>
          </a:xfrm>
        </p:spPr>
        <p:txBody>
          <a:bodyPr>
            <a:normAutofit/>
          </a:bodyPr>
          <a:lstStyle/>
          <a:p>
            <a:r>
              <a:rPr lang="en-US" sz="3200" b="1" dirty="0">
                <a:latin typeface="Bookman Old Style" pitchFamily="18" charset="0"/>
              </a:rPr>
              <a:t>Steps for Forecasting using ARIMA Models</a:t>
            </a:r>
            <a:endParaRPr lang="en-IN" sz="3200" b="1" dirty="0">
              <a:latin typeface="Bookman Old Style" pitchFamily="18" charset="0"/>
            </a:endParaRPr>
          </a:p>
        </p:txBody>
      </p:sp>
      <p:sp>
        <p:nvSpPr>
          <p:cNvPr id="3" name="Content Placeholder 2"/>
          <p:cNvSpPr>
            <a:spLocks noGrp="1"/>
          </p:cNvSpPr>
          <p:nvPr>
            <p:ph idx="1"/>
          </p:nvPr>
        </p:nvSpPr>
        <p:spPr/>
        <p:txBody>
          <a:bodyPr/>
          <a:lstStyle/>
          <a:p>
            <a:endParaRPr lang="en-IN"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7976" y="1772816"/>
            <a:ext cx="7051501" cy="4544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4269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648" y="1124744"/>
            <a:ext cx="6798736" cy="3837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2043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latin typeface="Bookman Old Style" pitchFamily="18" charset="0"/>
              </a:rPr>
              <a:t>Key Points for Effective Forecasting</a:t>
            </a:r>
            <a:endParaRPr lang="en-IN" sz="2800" b="1" dirty="0">
              <a:latin typeface="Bookman Old Style" pitchFamily="18" charset="0"/>
            </a:endParaRPr>
          </a:p>
        </p:txBody>
      </p:sp>
      <p:sp>
        <p:nvSpPr>
          <p:cNvPr id="3" name="Content Placeholder 2"/>
          <p:cNvSpPr>
            <a:spLocks noGrp="1"/>
          </p:cNvSpPr>
          <p:nvPr>
            <p:ph idx="1"/>
          </p:nvPr>
        </p:nvSpPr>
        <p:spPr/>
        <p:txBody>
          <a:bodyPr>
            <a:normAutofit fontScale="92500" lnSpcReduction="20000"/>
          </a:bodyPr>
          <a:lstStyle/>
          <a:p>
            <a:r>
              <a:rPr lang="en-US" sz="1800" b="1" dirty="0">
                <a:latin typeface="Bookman Old Style" pitchFamily="18" charset="0"/>
              </a:rPr>
              <a:t>Data Preparation: </a:t>
            </a:r>
            <a:r>
              <a:rPr lang="en-US" sz="1800" dirty="0">
                <a:latin typeface="Bookman Old Style" pitchFamily="18" charset="0"/>
              </a:rPr>
              <a:t>Properly preprocess the time series data, including handling missing values and transforming non-stationary data to stationary.</a:t>
            </a:r>
          </a:p>
          <a:p>
            <a:r>
              <a:rPr lang="en-US" sz="1800" b="1" dirty="0">
                <a:latin typeface="Bookman Old Style" pitchFamily="18" charset="0"/>
              </a:rPr>
              <a:t>Model Selection: </a:t>
            </a:r>
            <a:r>
              <a:rPr lang="en-US" sz="1800" dirty="0">
                <a:latin typeface="Bookman Old Style" pitchFamily="18" charset="0"/>
              </a:rPr>
              <a:t>Choose the ARIMA model order (p, d, q) carefully using model selection criteria such as AIC or BIC.</a:t>
            </a:r>
          </a:p>
          <a:p>
            <a:r>
              <a:rPr lang="en-US" sz="1800" b="1" dirty="0">
                <a:latin typeface="Bookman Old Style" pitchFamily="18" charset="0"/>
              </a:rPr>
              <a:t>Model Validation: </a:t>
            </a:r>
            <a:r>
              <a:rPr lang="en-US" sz="1800" dirty="0">
                <a:latin typeface="Bookman Old Style" pitchFamily="18" charset="0"/>
              </a:rPr>
              <a:t>Assess the model's fit and diagnostics (e.g., residual analysis) to ensure it accurately represents the data.</a:t>
            </a:r>
          </a:p>
          <a:p>
            <a:r>
              <a:rPr lang="en-US" sz="1800" b="1" dirty="0">
                <a:latin typeface="Bookman Old Style" pitchFamily="18" charset="0"/>
              </a:rPr>
              <a:t>Continuous Monitoring: </a:t>
            </a:r>
            <a:r>
              <a:rPr lang="en-US" sz="1800" dirty="0">
                <a:latin typeface="Bookman Old Style" pitchFamily="18" charset="0"/>
              </a:rPr>
              <a:t>Continuously monitor the model's performance and adjust the model as needed to maintain forecast accuracy.</a:t>
            </a:r>
          </a:p>
          <a:p>
            <a:r>
              <a:rPr lang="en-US" sz="1800" b="1" dirty="0">
                <a:latin typeface="Bookman Old Style" pitchFamily="18" charset="0"/>
              </a:rPr>
              <a:t>Uncertainty Estimation: </a:t>
            </a:r>
            <a:r>
              <a:rPr lang="en-US" sz="1800" dirty="0">
                <a:latin typeface="Bookman Old Style" pitchFamily="18" charset="0"/>
              </a:rPr>
              <a:t>Consider the uncertainty of forecasts and provide confidence intervals for future values.</a:t>
            </a:r>
            <a:endParaRPr lang="en-IN" sz="1800" dirty="0">
              <a:latin typeface="Bookman Old Style" pitchFamily="18" charset="0"/>
            </a:endParaRPr>
          </a:p>
        </p:txBody>
      </p:sp>
    </p:spTree>
    <p:extLst>
      <p:ext uri="{BB962C8B-B14F-4D97-AF65-F5344CB8AC3E}">
        <p14:creationId xmlns:p14="http://schemas.microsoft.com/office/powerpoint/2010/main" val="1206851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r>
              <a:rPr lang="en-US" sz="1800" dirty="0">
                <a:latin typeface="Bookman Old Style" pitchFamily="18" charset="0"/>
              </a:rPr>
              <a:t>ARIMA models are widely used for time series forecasting in finance, economics, and other fields.</a:t>
            </a:r>
          </a:p>
          <a:p>
            <a:pPr algn="just"/>
            <a:r>
              <a:rPr lang="en-US" sz="1800" dirty="0">
                <a:latin typeface="Bookman Old Style" pitchFamily="18" charset="0"/>
              </a:rPr>
              <a:t> By following the appropriate steps and best practices, ARIMA models can provide reliable and accurate forecasts for future values of time series data.</a:t>
            </a:r>
            <a:endParaRPr lang="en-IN" sz="1800" dirty="0">
              <a:latin typeface="Bookman Old Style" pitchFamily="18" charset="0"/>
            </a:endParaRPr>
          </a:p>
        </p:txBody>
      </p:sp>
    </p:spTree>
    <p:extLst>
      <p:ext uri="{BB962C8B-B14F-4D97-AF65-F5344CB8AC3E}">
        <p14:creationId xmlns:p14="http://schemas.microsoft.com/office/powerpoint/2010/main" val="838644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Bookman Old Style" pitchFamily="18" charset="0"/>
              </a:rPr>
              <a:t>CONTENTS</a:t>
            </a:r>
            <a:endParaRPr lang="en-IN" sz="3200" b="1" dirty="0">
              <a:latin typeface="Bookman Old Style" pitchFamily="18" charset="0"/>
            </a:endParaRPr>
          </a:p>
        </p:txBody>
      </p:sp>
      <p:sp>
        <p:nvSpPr>
          <p:cNvPr id="3" name="Content Placeholder 2"/>
          <p:cNvSpPr>
            <a:spLocks noGrp="1"/>
          </p:cNvSpPr>
          <p:nvPr>
            <p:ph idx="1"/>
          </p:nvPr>
        </p:nvSpPr>
        <p:spPr/>
        <p:txBody>
          <a:bodyPr>
            <a:normAutofit/>
          </a:bodyPr>
          <a:lstStyle/>
          <a:p>
            <a:r>
              <a:rPr lang="en-US" sz="1800" dirty="0">
                <a:latin typeface="Bookman Old Style" pitchFamily="18" charset="0"/>
              </a:rPr>
              <a:t>Prescriptive Analytics </a:t>
            </a:r>
          </a:p>
          <a:p>
            <a:r>
              <a:rPr lang="en-US" sz="1800" dirty="0">
                <a:latin typeface="Bookman Old Style" pitchFamily="18" charset="0"/>
              </a:rPr>
              <a:t>Mathematical optimization</a:t>
            </a:r>
          </a:p>
          <a:p>
            <a:r>
              <a:rPr lang="en-US" sz="1800" dirty="0">
                <a:latin typeface="Bookman Old Style" pitchFamily="18" charset="0"/>
              </a:rPr>
              <a:t> Networks modeling-Multi-objective optimization-Stochastic modeling</a:t>
            </a:r>
          </a:p>
          <a:p>
            <a:r>
              <a:rPr lang="en-US" sz="1800" dirty="0">
                <a:latin typeface="Bookman Old Style" pitchFamily="18" charset="0"/>
              </a:rPr>
              <a:t> Decision and Risk analysis</a:t>
            </a:r>
          </a:p>
          <a:p>
            <a:r>
              <a:rPr lang="en-US" sz="1800" dirty="0">
                <a:latin typeface="Bookman Old Style" pitchFamily="18" charset="0"/>
              </a:rPr>
              <a:t> Decision trees. </a:t>
            </a:r>
            <a:endParaRPr lang="en-IN" sz="1800" dirty="0">
              <a:latin typeface="Bookman Old Style" pitchFamily="18" charset="0"/>
            </a:endParaRPr>
          </a:p>
        </p:txBody>
      </p:sp>
    </p:spTree>
    <p:extLst>
      <p:ext uri="{BB962C8B-B14F-4D97-AF65-F5344CB8AC3E}">
        <p14:creationId xmlns:p14="http://schemas.microsoft.com/office/powerpoint/2010/main" val="4253478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8637" y="476672"/>
            <a:ext cx="6798734" cy="1303867"/>
          </a:xfrm>
        </p:spPr>
        <p:txBody>
          <a:bodyPr>
            <a:normAutofit/>
          </a:bodyPr>
          <a:lstStyle/>
          <a:p>
            <a:r>
              <a:rPr lang="en-IN" sz="3600" b="1" dirty="0">
                <a:latin typeface="Bookman Old Style" pitchFamily="18" charset="0"/>
              </a:rPr>
              <a:t>Prescriptive Analytics </a:t>
            </a:r>
            <a:r>
              <a:rPr lang="en-IN" dirty="0"/>
              <a:t/>
            </a:r>
            <a:br>
              <a:rPr lang="en-IN" dirty="0"/>
            </a:br>
            <a:endParaRPr lang="en-IN" dirty="0"/>
          </a:p>
        </p:txBody>
      </p:sp>
      <p:sp>
        <p:nvSpPr>
          <p:cNvPr id="3" name="Content Placeholder 2"/>
          <p:cNvSpPr>
            <a:spLocks noGrp="1"/>
          </p:cNvSpPr>
          <p:nvPr>
            <p:ph idx="1"/>
          </p:nvPr>
        </p:nvSpPr>
        <p:spPr>
          <a:xfrm>
            <a:off x="755576" y="1151565"/>
            <a:ext cx="7704856" cy="3444997"/>
          </a:xfrm>
        </p:spPr>
        <p:txBody>
          <a:bodyPr>
            <a:noAutofit/>
          </a:bodyPr>
          <a:lstStyle/>
          <a:p>
            <a:pPr algn="just">
              <a:lnSpc>
                <a:spcPct val="150000"/>
              </a:lnSpc>
            </a:pPr>
            <a:r>
              <a:rPr lang="en-US" sz="1400" dirty="0">
                <a:latin typeface="Bookman Old Style" pitchFamily="18" charset="0"/>
              </a:rPr>
              <a:t>Prescriptive analytics is a type of data analysis that goes beyond simply describing what has happened in the past (descriptive analytics) or predicting what might happen in the future (predictive analytics).</a:t>
            </a:r>
          </a:p>
          <a:p>
            <a:pPr algn="just">
              <a:lnSpc>
                <a:spcPct val="150000"/>
              </a:lnSpc>
            </a:pPr>
            <a:r>
              <a:rPr lang="en-US" sz="1400" dirty="0">
                <a:latin typeface="Bookman Old Style" pitchFamily="18" charset="0"/>
              </a:rPr>
              <a:t> Instead, prescriptive analytics focuses on providing recommendations and actions to achieve desired outcomes based on the analysis of data.</a:t>
            </a:r>
            <a:endParaRPr lang="en-IN" sz="1400" dirty="0">
              <a:latin typeface="Bookman Old Style" pitchFamily="18" charset="0"/>
            </a:endParaRPr>
          </a:p>
          <a:p>
            <a:pPr algn="just">
              <a:lnSpc>
                <a:spcPct val="150000"/>
              </a:lnSpc>
            </a:pPr>
            <a:r>
              <a:rPr lang="en-US" sz="1400" dirty="0">
                <a:latin typeface="Bookman Old Style" pitchFamily="18" charset="0"/>
              </a:rPr>
              <a:t>Here are some key features and aspects of prescriptive analytics:</a:t>
            </a:r>
          </a:p>
          <a:p>
            <a:pPr algn="just">
              <a:lnSpc>
                <a:spcPct val="150000"/>
              </a:lnSpc>
            </a:pPr>
            <a:r>
              <a:rPr lang="en-US" sz="1400" dirty="0">
                <a:latin typeface="Bookman Old Style" pitchFamily="18" charset="0"/>
              </a:rPr>
              <a:t>1.Decision-making support: Prescriptive analytics provides actionable insights and recommendations to help decision-makers choose the best course of action among several alternatives.</a:t>
            </a:r>
          </a:p>
          <a:p>
            <a:pPr algn="just">
              <a:lnSpc>
                <a:spcPct val="150000"/>
              </a:lnSpc>
            </a:pPr>
            <a:r>
              <a:rPr lang="en-US" sz="1400" dirty="0">
                <a:latin typeface="Bookman Old Style" pitchFamily="18" charset="0"/>
              </a:rPr>
              <a:t>2.Optimization: It often involves using mathematical models, optimization techniques, and algorithms to identify the most effective solutions or strategies to achieve specific goals.</a:t>
            </a:r>
          </a:p>
          <a:p>
            <a:pPr algn="just">
              <a:lnSpc>
                <a:spcPct val="150000"/>
              </a:lnSpc>
            </a:pPr>
            <a:r>
              <a:rPr lang="en-US" sz="1400" dirty="0">
                <a:latin typeface="Bookman Old Style" pitchFamily="18" charset="0"/>
              </a:rPr>
              <a:t>3.Scenario analysis: Prescriptive analytics can simulate different scenarios to understand potential outcomes and help organizations make more informed decisions.</a:t>
            </a:r>
            <a:endParaRPr lang="en-IN" sz="1400" dirty="0">
              <a:latin typeface="Bookman Old Style" pitchFamily="18" charset="0"/>
            </a:endParaRPr>
          </a:p>
        </p:txBody>
      </p:sp>
    </p:spTree>
    <p:extLst>
      <p:ext uri="{BB962C8B-B14F-4D97-AF65-F5344CB8AC3E}">
        <p14:creationId xmlns:p14="http://schemas.microsoft.com/office/powerpoint/2010/main" val="1167977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608" y="980728"/>
            <a:ext cx="6798736" cy="3444997"/>
          </a:xfrm>
        </p:spPr>
        <p:txBody>
          <a:bodyPr>
            <a:noAutofit/>
          </a:bodyPr>
          <a:lstStyle/>
          <a:p>
            <a:pPr>
              <a:lnSpc>
                <a:spcPct val="150000"/>
              </a:lnSpc>
            </a:pPr>
            <a:r>
              <a:rPr lang="en-US" sz="1800" dirty="0">
                <a:latin typeface="Bookman Old Style" pitchFamily="18" charset="0"/>
              </a:rPr>
              <a:t>4.Trade-offs </a:t>
            </a:r>
            <a:r>
              <a:rPr lang="en-US" sz="1600" dirty="0">
                <a:latin typeface="Bookman Old Style" pitchFamily="18" charset="0"/>
              </a:rPr>
              <a:t>and constraints: It takes into account various constraints and trade-offs, such as budget limitations, resource availability, and other operational restrictions.</a:t>
            </a:r>
          </a:p>
          <a:p>
            <a:pPr>
              <a:lnSpc>
                <a:spcPct val="150000"/>
              </a:lnSpc>
            </a:pPr>
            <a:r>
              <a:rPr lang="en-US" sz="1600" dirty="0">
                <a:latin typeface="Bookman Old Style" pitchFamily="18" charset="0"/>
              </a:rPr>
              <a:t>5.Feedback loops: It often includes continuous monitoring and feedback mechanisms to adapt and improve decisions over time as new data becomes available.</a:t>
            </a:r>
          </a:p>
          <a:p>
            <a:pPr>
              <a:lnSpc>
                <a:spcPct val="150000"/>
              </a:lnSpc>
            </a:pPr>
            <a:r>
              <a:rPr lang="en-US" sz="1600" dirty="0">
                <a:latin typeface="Bookman Old Style" pitchFamily="18" charset="0"/>
              </a:rPr>
              <a:t>6.Integration with other analytics types: Prescriptive analytics works alongside descriptive and predictive analytics to form a comprehensive approach to data-driven decision-making.</a:t>
            </a:r>
          </a:p>
          <a:p>
            <a:pPr>
              <a:lnSpc>
                <a:spcPct val="150000"/>
              </a:lnSpc>
            </a:pPr>
            <a:r>
              <a:rPr lang="en-US" sz="1600" dirty="0">
                <a:latin typeface="Bookman Old Style" pitchFamily="18" charset="0"/>
              </a:rPr>
              <a:t>7.Applications: Prescriptive analytics can be applied in various industries, such as supply chain management, finance, healthcare, marketing, and transportation, to name a few.</a:t>
            </a:r>
            <a:endParaRPr lang="en-IN" sz="1600" dirty="0">
              <a:latin typeface="Bookman Old Style" pitchFamily="18" charset="0"/>
            </a:endParaRPr>
          </a:p>
        </p:txBody>
      </p:sp>
    </p:spTree>
    <p:extLst>
      <p:ext uri="{BB962C8B-B14F-4D97-AF65-F5344CB8AC3E}">
        <p14:creationId xmlns:p14="http://schemas.microsoft.com/office/powerpoint/2010/main" val="3587523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2632" y="1268760"/>
            <a:ext cx="6798736" cy="3444997"/>
          </a:xfrm>
        </p:spPr>
        <p:txBody>
          <a:bodyPr>
            <a:normAutofit fontScale="77500" lnSpcReduction="20000"/>
          </a:bodyPr>
          <a:lstStyle/>
          <a:p>
            <a:pPr>
              <a:lnSpc>
                <a:spcPct val="150000"/>
              </a:lnSpc>
            </a:pPr>
            <a:r>
              <a:rPr lang="en-US" sz="1800" dirty="0">
                <a:latin typeface="Bookman Old Style" pitchFamily="18" charset="0"/>
              </a:rPr>
              <a:t>Examples of prescriptive analytics include</a:t>
            </a:r>
          </a:p>
          <a:p>
            <a:pPr>
              <a:lnSpc>
                <a:spcPct val="150000"/>
              </a:lnSpc>
            </a:pPr>
            <a:r>
              <a:rPr lang="en-US" sz="1800" b="1" dirty="0">
                <a:latin typeface="Bookman Old Style" pitchFamily="18" charset="0"/>
              </a:rPr>
              <a:t>Supply Chain Management: </a:t>
            </a:r>
            <a:r>
              <a:rPr lang="en-US" sz="1800" dirty="0">
                <a:latin typeface="Bookman Old Style" pitchFamily="18" charset="0"/>
              </a:rPr>
              <a:t>Determining the optimal inventory levels and reorder points to minimize costs while ensuring sufficient stock.</a:t>
            </a:r>
          </a:p>
          <a:p>
            <a:pPr>
              <a:lnSpc>
                <a:spcPct val="150000"/>
              </a:lnSpc>
            </a:pPr>
            <a:r>
              <a:rPr lang="en-US" sz="1800" b="1" dirty="0">
                <a:latin typeface="Bookman Old Style" pitchFamily="18" charset="0"/>
              </a:rPr>
              <a:t>Healthcare: </a:t>
            </a:r>
            <a:r>
              <a:rPr lang="en-US" sz="1800" dirty="0">
                <a:latin typeface="Bookman Old Style" pitchFamily="18" charset="0"/>
              </a:rPr>
              <a:t>Recommending the most effective treatment plans for patients based on their medical history and current conditions.</a:t>
            </a:r>
          </a:p>
          <a:p>
            <a:pPr>
              <a:lnSpc>
                <a:spcPct val="150000"/>
              </a:lnSpc>
            </a:pPr>
            <a:r>
              <a:rPr lang="en-US" sz="1800" b="1" dirty="0">
                <a:latin typeface="Bookman Old Style" pitchFamily="18" charset="0"/>
              </a:rPr>
              <a:t>Marketing: </a:t>
            </a:r>
            <a:r>
              <a:rPr lang="en-US" sz="1800" dirty="0">
                <a:latin typeface="Bookman Old Style" pitchFamily="18" charset="0"/>
              </a:rPr>
              <a:t>Identifying the best strategies for customer segmentation and targeting to maximize return on investment.</a:t>
            </a:r>
          </a:p>
          <a:p>
            <a:pPr>
              <a:lnSpc>
                <a:spcPct val="150000"/>
              </a:lnSpc>
            </a:pPr>
            <a:r>
              <a:rPr lang="en-US" sz="1800" b="1" dirty="0">
                <a:latin typeface="Bookman Old Style" pitchFamily="18" charset="0"/>
              </a:rPr>
              <a:t>Finance:</a:t>
            </a:r>
            <a:r>
              <a:rPr lang="en-US" sz="1800" dirty="0">
                <a:latin typeface="Bookman Old Style" pitchFamily="18" charset="0"/>
              </a:rPr>
              <a:t> Optimizing portfolio allocation to maximize returns while managing risk.</a:t>
            </a:r>
            <a:endParaRPr lang="en-IN" sz="1800" dirty="0">
              <a:latin typeface="Bookman Old Style" pitchFamily="18" charset="0"/>
            </a:endParaRPr>
          </a:p>
        </p:txBody>
      </p:sp>
    </p:spTree>
    <p:extLst>
      <p:ext uri="{BB962C8B-B14F-4D97-AF65-F5344CB8AC3E}">
        <p14:creationId xmlns:p14="http://schemas.microsoft.com/office/powerpoint/2010/main" val="3534526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Bookman Old Style" pitchFamily="18" charset="0"/>
              </a:rPr>
              <a:t>Mathematical Optimization</a:t>
            </a: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US" sz="1800" dirty="0">
                <a:latin typeface="Bookman Old Style" pitchFamily="18" charset="0"/>
              </a:rPr>
              <a:t>Mathematical optimization, also known as mathematical programming, is a branch of applied mathematics that focuses on finding the best solution from a set of feasible alternatives. </a:t>
            </a:r>
          </a:p>
          <a:p>
            <a:pPr algn="just">
              <a:lnSpc>
                <a:spcPct val="150000"/>
              </a:lnSpc>
            </a:pPr>
            <a:r>
              <a:rPr lang="en-US" sz="1800" dirty="0">
                <a:latin typeface="Bookman Old Style" pitchFamily="18" charset="0"/>
              </a:rPr>
              <a:t>This solution is typically one that either maximizes or minimizes an objective function while satisfying a set of constraints.</a:t>
            </a:r>
          </a:p>
          <a:p>
            <a:pPr algn="just">
              <a:lnSpc>
                <a:spcPct val="150000"/>
              </a:lnSpc>
            </a:pPr>
            <a:r>
              <a:rPr lang="en-US" sz="1800" dirty="0">
                <a:latin typeface="Bookman Old Style" pitchFamily="18" charset="0"/>
              </a:rPr>
              <a:t>Here are some key concepts and types of mathematical optimization:</a:t>
            </a:r>
          </a:p>
          <a:p>
            <a:pPr algn="just">
              <a:lnSpc>
                <a:spcPct val="150000"/>
              </a:lnSpc>
            </a:pPr>
            <a:endParaRPr lang="en-US" sz="1800" dirty="0">
              <a:latin typeface="Bookman Old Style"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4221088"/>
            <a:ext cx="7704856"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7686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1800" b="1" dirty="0">
                <a:latin typeface="Bookman Old Style" pitchFamily="18" charset="0"/>
              </a:rPr>
              <a:t>3.Decision variables: </a:t>
            </a:r>
            <a:r>
              <a:rPr lang="en-US" sz="1800" dirty="0">
                <a:latin typeface="Bookman Old Style" pitchFamily="18" charset="0"/>
              </a:rPr>
              <a:t>The variables that can be adjusted to optimize the objective function.</a:t>
            </a:r>
          </a:p>
          <a:p>
            <a:r>
              <a:rPr lang="en-US" sz="1800" b="1" dirty="0">
                <a:latin typeface="Bookman Old Style" pitchFamily="18" charset="0"/>
              </a:rPr>
              <a:t>4.Feasible region: </a:t>
            </a:r>
            <a:r>
              <a:rPr lang="en-US" sz="1800" dirty="0">
                <a:latin typeface="Bookman Old Style" pitchFamily="18" charset="0"/>
              </a:rPr>
              <a:t>The set of all possible solutions that satisfy the constraints.</a:t>
            </a:r>
          </a:p>
          <a:p>
            <a:r>
              <a:rPr lang="en-US" sz="1800" b="1" dirty="0">
                <a:latin typeface="Bookman Old Style" pitchFamily="18" charset="0"/>
              </a:rPr>
              <a:t>5.Optimal solution: </a:t>
            </a:r>
            <a:r>
              <a:rPr lang="en-US" sz="1800" dirty="0">
                <a:latin typeface="Bookman Old Style" pitchFamily="18" charset="0"/>
              </a:rPr>
              <a:t>The best solution within the feasible region that maximizes or minimizes the objective function.</a:t>
            </a:r>
            <a:endParaRPr lang="en-IN" sz="1800" dirty="0">
              <a:latin typeface="Bookman Old Style" pitchFamily="18" charset="0"/>
            </a:endParaRPr>
          </a:p>
        </p:txBody>
      </p:sp>
    </p:spTree>
    <p:extLst>
      <p:ext uri="{BB962C8B-B14F-4D97-AF65-F5344CB8AC3E}">
        <p14:creationId xmlns:p14="http://schemas.microsoft.com/office/powerpoint/2010/main" val="4155865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Bookman Old Style" pitchFamily="18" charset="0"/>
              </a:rPr>
              <a:t>Types of mathematical optimization</a:t>
            </a:r>
          </a:p>
        </p:txBody>
      </p:sp>
      <p:sp>
        <p:nvSpPr>
          <p:cNvPr id="3" name="Content Placeholder 2"/>
          <p:cNvSpPr>
            <a:spLocks noGrp="1"/>
          </p:cNvSpPr>
          <p:nvPr>
            <p:ph idx="1"/>
          </p:nvPr>
        </p:nvSpPr>
        <p:spPr/>
        <p:txBody>
          <a:bodyPr>
            <a:normAutofit fontScale="55000" lnSpcReduction="20000"/>
          </a:bodyPr>
          <a:lstStyle/>
          <a:p>
            <a:pPr algn="just">
              <a:lnSpc>
                <a:spcPct val="150000"/>
              </a:lnSpc>
            </a:pPr>
            <a:r>
              <a:rPr lang="en-US" sz="1800" dirty="0">
                <a:latin typeface="Bookman Old Style" pitchFamily="18" charset="0"/>
              </a:rPr>
              <a:t>1</a:t>
            </a:r>
            <a:r>
              <a:rPr lang="en-US" sz="2200" dirty="0">
                <a:latin typeface="Bookman Old Style" pitchFamily="18" charset="0"/>
              </a:rPr>
              <a:t>.Linear Programming (LP): Involves linear objective functions and linear constraints. It's a well-studied area with efficient algorithms such as the Simplex method and interior-point methods.</a:t>
            </a:r>
          </a:p>
          <a:p>
            <a:pPr algn="just">
              <a:lnSpc>
                <a:spcPct val="150000"/>
              </a:lnSpc>
            </a:pPr>
            <a:r>
              <a:rPr lang="en-US" sz="2200" dirty="0">
                <a:latin typeface="Bookman Old Style" pitchFamily="18" charset="0"/>
              </a:rPr>
              <a:t>2.Integer Programming (IP): A special case of linear programming where some or all decision variables must take integer values. It is commonly used in scheduling, resource allocation, and other combinatorial optimization problems.</a:t>
            </a:r>
          </a:p>
          <a:p>
            <a:pPr algn="just">
              <a:lnSpc>
                <a:spcPct val="150000"/>
              </a:lnSpc>
            </a:pPr>
            <a:r>
              <a:rPr lang="en-US" sz="2200" dirty="0">
                <a:latin typeface="Bookman Old Style" pitchFamily="18" charset="0"/>
              </a:rPr>
              <a:t>3.Nonlinear Programming (NLP): Deals with nonlinear objective functions and/or constraints. The problem is more complex than LP due to the non-convexity and potential for local optima.</a:t>
            </a:r>
          </a:p>
          <a:p>
            <a:pPr algn="just">
              <a:lnSpc>
                <a:spcPct val="150000"/>
              </a:lnSpc>
            </a:pPr>
            <a:r>
              <a:rPr lang="en-US" sz="2200" dirty="0">
                <a:latin typeface="Bookman Old Style" pitchFamily="18" charset="0"/>
              </a:rPr>
              <a:t>4.Quadratic Programming (QP): A special case of nonlinear programming with a quadratic objective function and linear constraints.</a:t>
            </a:r>
            <a:endParaRPr lang="en-IN" sz="2200" dirty="0">
              <a:latin typeface="Bookman Old Style" pitchFamily="18" charset="0"/>
            </a:endParaRPr>
          </a:p>
        </p:txBody>
      </p:sp>
    </p:spTree>
    <p:extLst>
      <p:ext uri="{BB962C8B-B14F-4D97-AF65-F5344CB8AC3E}">
        <p14:creationId xmlns:p14="http://schemas.microsoft.com/office/powerpoint/2010/main" val="648182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0108" y="1268760"/>
            <a:ext cx="7143784" cy="3444997"/>
          </a:xfrm>
        </p:spPr>
        <p:txBody>
          <a:bodyPr>
            <a:normAutofit fontScale="92500" lnSpcReduction="10000"/>
          </a:bodyPr>
          <a:lstStyle/>
          <a:p>
            <a:pPr algn="just"/>
            <a:r>
              <a:rPr lang="en-US" sz="1800" dirty="0">
                <a:latin typeface="Bookman Old Style" pitchFamily="18" charset="0"/>
              </a:rPr>
              <a:t>5.</a:t>
            </a:r>
            <a:r>
              <a:rPr lang="en-US" sz="1700" dirty="0">
                <a:latin typeface="Bookman Old Style" pitchFamily="18" charset="0"/>
              </a:rPr>
              <a:t>Mixed-Integer Programming (MIP): Combines integer and continuous variables, making it useful for modeling complex decision-making problems.</a:t>
            </a:r>
          </a:p>
          <a:p>
            <a:pPr algn="just"/>
            <a:r>
              <a:rPr lang="en-US" sz="1700" dirty="0">
                <a:latin typeface="Bookman Old Style" pitchFamily="18" charset="0"/>
              </a:rPr>
              <a:t>6.Dynamic Programming: A method for solving optimization problems by breaking them down into simpler </a:t>
            </a:r>
            <a:r>
              <a:rPr lang="en-US" sz="1700" dirty="0" err="1">
                <a:latin typeface="Bookman Old Style" pitchFamily="18" charset="0"/>
              </a:rPr>
              <a:t>subproblems</a:t>
            </a:r>
            <a:r>
              <a:rPr lang="en-US" sz="1700" dirty="0">
                <a:latin typeface="Bookman Old Style" pitchFamily="18" charset="0"/>
              </a:rPr>
              <a:t> and solving them recursively.</a:t>
            </a:r>
          </a:p>
          <a:p>
            <a:pPr algn="just"/>
            <a:r>
              <a:rPr lang="en-US" sz="1700" dirty="0">
                <a:latin typeface="Bookman Old Style" pitchFamily="18" charset="0"/>
              </a:rPr>
              <a:t>7.Stochastic Programming: Considers uncertainty in the data, such as uncertain future demands or prices, and optimizes decisions under uncertainty.</a:t>
            </a:r>
          </a:p>
          <a:p>
            <a:pPr algn="just"/>
            <a:r>
              <a:rPr lang="en-US" sz="1700" dirty="0">
                <a:latin typeface="Bookman Old Style" pitchFamily="18" charset="0"/>
              </a:rPr>
              <a:t>8.Metaheuristics: These are algorithmic approaches that find near-optimal solutions to complex optimization problems, especially when exact methods are infeasible. Examples include genetic algorithms, simulated annealing, and ant colony optimization.</a:t>
            </a:r>
            <a:endParaRPr lang="en-IN" sz="1700" dirty="0">
              <a:latin typeface="Bookman Old Style" pitchFamily="18" charset="0"/>
            </a:endParaRPr>
          </a:p>
        </p:txBody>
      </p:sp>
    </p:spTree>
    <p:extLst>
      <p:ext uri="{BB962C8B-B14F-4D97-AF65-F5344CB8AC3E}">
        <p14:creationId xmlns:p14="http://schemas.microsoft.com/office/powerpoint/2010/main" val="2472926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lnSpc>
                <a:spcPct val="150000"/>
              </a:lnSpc>
            </a:pPr>
            <a:r>
              <a:rPr lang="en-US" sz="1800" dirty="0">
                <a:latin typeface="Bookman Old Style" pitchFamily="18" charset="0"/>
              </a:rPr>
              <a:t>Applications of mathematical optimization can be found across various fields such as logistics and supply chain management, finance, engineering, operations research, and many more. </a:t>
            </a:r>
          </a:p>
          <a:p>
            <a:pPr algn="just">
              <a:lnSpc>
                <a:spcPct val="150000"/>
              </a:lnSpc>
            </a:pPr>
            <a:r>
              <a:rPr lang="en-US" sz="1800" dirty="0">
                <a:latin typeface="Bookman Old Style" pitchFamily="18" charset="0"/>
              </a:rPr>
              <a:t>The goal is always to improve decision-making and efficiency by finding the optimal solution to a given problem.</a:t>
            </a:r>
            <a:endParaRPr lang="en-IN" sz="1800" dirty="0">
              <a:latin typeface="Bookman Old Style" pitchFamily="18" charset="0"/>
            </a:endParaRPr>
          </a:p>
        </p:txBody>
      </p:sp>
    </p:spTree>
    <p:extLst>
      <p:ext uri="{BB962C8B-B14F-4D97-AF65-F5344CB8AC3E}">
        <p14:creationId xmlns:p14="http://schemas.microsoft.com/office/powerpoint/2010/main" val="1742602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2421" y="548680"/>
            <a:ext cx="6798734" cy="1303867"/>
          </a:xfrm>
        </p:spPr>
        <p:txBody>
          <a:bodyPr>
            <a:noAutofit/>
          </a:bodyPr>
          <a:lstStyle/>
          <a:p>
            <a:r>
              <a:rPr lang="en-IN" sz="2400" b="1" dirty="0">
                <a:latin typeface="Bookman Old Style" pitchFamily="18" charset="0"/>
              </a:rPr>
              <a:t>Networks modeling-Multi-objective</a:t>
            </a:r>
            <a:br>
              <a:rPr lang="en-IN" sz="2400" b="1" dirty="0">
                <a:latin typeface="Bookman Old Style" pitchFamily="18" charset="0"/>
              </a:rPr>
            </a:br>
            <a:r>
              <a:rPr lang="en-IN" sz="2400" b="1" dirty="0">
                <a:latin typeface="Bookman Old Style" pitchFamily="18" charset="0"/>
              </a:rPr>
              <a:t>optimization-Stochastic modeling (also refer my notes for problems)</a:t>
            </a:r>
          </a:p>
        </p:txBody>
      </p:sp>
      <p:sp>
        <p:nvSpPr>
          <p:cNvPr id="3" name="Content Placeholder 2"/>
          <p:cNvSpPr>
            <a:spLocks noGrp="1"/>
          </p:cNvSpPr>
          <p:nvPr>
            <p:ph idx="1"/>
          </p:nvPr>
        </p:nvSpPr>
        <p:spPr>
          <a:xfrm>
            <a:off x="1172632" y="1867714"/>
            <a:ext cx="7143784" cy="4009558"/>
          </a:xfrm>
        </p:spPr>
        <p:txBody>
          <a:bodyPr>
            <a:normAutofit fontScale="85000" lnSpcReduction="20000"/>
          </a:bodyPr>
          <a:lstStyle/>
          <a:p>
            <a:pPr algn="just">
              <a:lnSpc>
                <a:spcPct val="150000"/>
              </a:lnSpc>
            </a:pPr>
            <a:r>
              <a:rPr lang="en-US" sz="1400" dirty="0">
                <a:latin typeface="Bookman Old Style" pitchFamily="18" charset="0"/>
              </a:rPr>
              <a:t>Networks modeling involves the study and creation of abstract representations of systems in which various entities (nodes) are interconnected (by edges). </a:t>
            </a:r>
          </a:p>
          <a:p>
            <a:pPr algn="just">
              <a:lnSpc>
                <a:spcPct val="150000"/>
              </a:lnSpc>
            </a:pPr>
            <a:r>
              <a:rPr lang="en-US" sz="1400" dirty="0">
                <a:latin typeface="Bookman Old Style" pitchFamily="18" charset="0"/>
              </a:rPr>
              <a:t>These models are crucial for understanding, analyzing, and optimizing the structure and behavior of different types of networks. Here’s a more detailed look into networks modeling</a:t>
            </a:r>
          </a:p>
          <a:p>
            <a:pPr algn="just">
              <a:lnSpc>
                <a:spcPct val="150000"/>
              </a:lnSpc>
            </a:pPr>
            <a:r>
              <a:rPr lang="en-US" sz="1400" b="1" dirty="0">
                <a:latin typeface="Bookman Old Style" pitchFamily="18" charset="0"/>
              </a:rPr>
              <a:t>Key Concepts in Networks Modeling</a:t>
            </a:r>
          </a:p>
          <a:p>
            <a:pPr algn="just">
              <a:lnSpc>
                <a:spcPct val="150000"/>
              </a:lnSpc>
            </a:pPr>
            <a:r>
              <a:rPr lang="en-US" sz="1400" dirty="0">
                <a:latin typeface="Bookman Old Style" pitchFamily="18" charset="0"/>
              </a:rPr>
              <a:t>1.Graph Theory:</a:t>
            </a:r>
          </a:p>
          <a:p>
            <a:pPr algn="just">
              <a:lnSpc>
                <a:spcPct val="150000"/>
              </a:lnSpc>
            </a:pPr>
            <a:r>
              <a:rPr lang="en-US" sz="1400" dirty="0">
                <a:latin typeface="Bookman Old Style" pitchFamily="18" charset="0"/>
              </a:rPr>
              <a:t>Vertices (Nodes): Represent entities or objects within the network.</a:t>
            </a:r>
          </a:p>
          <a:p>
            <a:pPr algn="just">
              <a:lnSpc>
                <a:spcPct val="150000"/>
              </a:lnSpc>
            </a:pPr>
            <a:r>
              <a:rPr lang="en-US" sz="1400" dirty="0">
                <a:latin typeface="Bookman Old Style" pitchFamily="18" charset="0"/>
              </a:rPr>
              <a:t>Edges (Links): Represent connections or relationships between nodes.</a:t>
            </a:r>
          </a:p>
          <a:p>
            <a:pPr algn="just">
              <a:lnSpc>
                <a:spcPct val="150000"/>
              </a:lnSpc>
            </a:pPr>
            <a:r>
              <a:rPr lang="en-US" sz="1400" dirty="0">
                <a:latin typeface="Bookman Old Style" pitchFamily="18" charset="0"/>
              </a:rPr>
              <a:t>Directed vs. Undirected Graphs: Directed graphs have edges with a direction, indicating a one-way relationship. Undirected graphs have bidirectional edges.</a:t>
            </a:r>
          </a:p>
          <a:p>
            <a:pPr algn="just">
              <a:lnSpc>
                <a:spcPct val="150000"/>
              </a:lnSpc>
            </a:pPr>
            <a:r>
              <a:rPr lang="en-US" sz="1400" dirty="0">
                <a:latin typeface="Bookman Old Style" pitchFamily="18" charset="0"/>
              </a:rPr>
              <a:t>Weighted Graphs: Edges have weights representing the strength or capacity of the connection.</a:t>
            </a:r>
            <a:endParaRPr lang="en-IN" sz="1400" dirty="0">
              <a:latin typeface="Bookman Old Style" pitchFamily="18" charset="0"/>
            </a:endParaRPr>
          </a:p>
        </p:txBody>
      </p:sp>
    </p:spTree>
    <p:extLst>
      <p:ext uri="{BB962C8B-B14F-4D97-AF65-F5344CB8AC3E}">
        <p14:creationId xmlns:p14="http://schemas.microsoft.com/office/powerpoint/2010/main" val="1260772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IN" sz="1600" b="1" dirty="0">
                <a:latin typeface="Bookman Old Style" pitchFamily="18" charset="0"/>
              </a:rPr>
              <a:t>2. Types of Networks:</a:t>
            </a:r>
          </a:p>
          <a:p>
            <a:pPr algn="just">
              <a:lnSpc>
                <a:spcPct val="150000"/>
              </a:lnSpc>
            </a:pPr>
            <a:r>
              <a:rPr lang="en-US" sz="1600" dirty="0">
                <a:latin typeface="Bookman Old Style" pitchFamily="18" charset="0"/>
              </a:rPr>
              <a:t>Social Networks: Model relationships between individuals or organizations (e.g., friendships, professional connections).</a:t>
            </a:r>
          </a:p>
          <a:p>
            <a:pPr algn="just">
              <a:lnSpc>
                <a:spcPct val="150000"/>
              </a:lnSpc>
            </a:pPr>
            <a:r>
              <a:rPr lang="en-US" sz="1600" dirty="0">
                <a:latin typeface="Bookman Old Style" pitchFamily="18" charset="0"/>
              </a:rPr>
              <a:t>Computer Networks: Represent the interconnections between computers and devices (e.g., the internet, LANs).</a:t>
            </a:r>
          </a:p>
          <a:p>
            <a:pPr algn="just">
              <a:lnSpc>
                <a:spcPct val="150000"/>
              </a:lnSpc>
            </a:pPr>
            <a:r>
              <a:rPr lang="en-US" sz="1600" dirty="0">
                <a:latin typeface="Bookman Old Style" pitchFamily="18" charset="0"/>
              </a:rPr>
              <a:t>Transportation Networks: Model pathways and routes in transportation systems (e.g., roads, air routes).</a:t>
            </a:r>
          </a:p>
          <a:p>
            <a:pPr algn="just">
              <a:lnSpc>
                <a:spcPct val="150000"/>
              </a:lnSpc>
            </a:pPr>
            <a:r>
              <a:rPr lang="en-US" sz="1600" dirty="0">
                <a:latin typeface="Bookman Old Style" pitchFamily="18" charset="0"/>
              </a:rPr>
              <a:t>Biological Networks: Represent interactions within biological systems (e.g., protein-protein interaction networks, neural networks).</a:t>
            </a:r>
          </a:p>
          <a:p>
            <a:pPr algn="just">
              <a:lnSpc>
                <a:spcPct val="150000"/>
              </a:lnSpc>
            </a:pPr>
            <a:r>
              <a:rPr lang="en-US" sz="1600" dirty="0">
                <a:latin typeface="Bookman Old Style" pitchFamily="18" charset="0"/>
              </a:rPr>
              <a:t>Supply Chain Networks: Model the flow of goods, information, and finances within supply chains.</a:t>
            </a:r>
            <a:endParaRPr lang="en-IN" sz="1600" dirty="0">
              <a:latin typeface="Bookman Old Style" pitchFamily="18" charset="0"/>
            </a:endParaRPr>
          </a:p>
        </p:txBody>
      </p:sp>
    </p:spTree>
    <p:extLst>
      <p:ext uri="{BB962C8B-B14F-4D97-AF65-F5344CB8AC3E}">
        <p14:creationId xmlns:p14="http://schemas.microsoft.com/office/powerpoint/2010/main" val="961696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Methods and Techniques</a:t>
            </a:r>
          </a:p>
        </p:txBody>
      </p:sp>
      <p:sp>
        <p:nvSpPr>
          <p:cNvPr id="3" name="Content Placeholder 2"/>
          <p:cNvSpPr>
            <a:spLocks noGrp="1"/>
          </p:cNvSpPr>
          <p:nvPr>
            <p:ph idx="1"/>
          </p:nvPr>
        </p:nvSpPr>
        <p:spPr/>
        <p:txBody>
          <a:bodyPr>
            <a:normAutofit fontScale="92500" lnSpcReduction="10000"/>
          </a:bodyPr>
          <a:lstStyle/>
          <a:p>
            <a:r>
              <a:rPr lang="en-US" sz="1600" b="1" dirty="0">
                <a:latin typeface="Bookman Old Style" pitchFamily="18" charset="0"/>
              </a:rPr>
              <a:t>1.Network Analysis</a:t>
            </a:r>
            <a:r>
              <a:rPr lang="en-US" dirty="0"/>
              <a:t>:</a:t>
            </a:r>
          </a:p>
          <a:p>
            <a:pPr algn="just">
              <a:lnSpc>
                <a:spcPct val="150000"/>
              </a:lnSpc>
            </a:pPr>
            <a:r>
              <a:rPr lang="en-US" sz="1600" dirty="0">
                <a:latin typeface="Bookman Old Style" pitchFamily="18" charset="0"/>
              </a:rPr>
              <a:t>Centrality Measures: Identify the most important nodes within the network (e.g., degree centrality, </a:t>
            </a:r>
            <a:r>
              <a:rPr lang="en-US" sz="1600" dirty="0" err="1">
                <a:latin typeface="Bookman Old Style" pitchFamily="18" charset="0"/>
              </a:rPr>
              <a:t>betweenness</a:t>
            </a:r>
            <a:r>
              <a:rPr lang="en-US" sz="1600" dirty="0">
                <a:latin typeface="Bookman Old Style" pitchFamily="18" charset="0"/>
              </a:rPr>
              <a:t> centrality, closeness centrality).</a:t>
            </a:r>
          </a:p>
          <a:p>
            <a:pPr algn="just">
              <a:lnSpc>
                <a:spcPct val="150000"/>
              </a:lnSpc>
            </a:pPr>
            <a:r>
              <a:rPr lang="en-US" sz="1600" dirty="0">
                <a:latin typeface="Bookman Old Style" pitchFamily="18" charset="0"/>
              </a:rPr>
              <a:t>Community Detection: Identify clusters or groups of nodes that are more densely connected with each other than with the rest of the network.</a:t>
            </a:r>
          </a:p>
          <a:p>
            <a:pPr algn="just">
              <a:lnSpc>
                <a:spcPct val="150000"/>
              </a:lnSpc>
            </a:pPr>
            <a:r>
              <a:rPr lang="en-US" sz="1600" dirty="0">
                <a:latin typeface="Bookman Old Style" pitchFamily="18" charset="0"/>
              </a:rPr>
              <a:t>Path Analysis: Study the shortest or most efficient paths between nodes (e.g., shortest path algorithms, </a:t>
            </a:r>
            <a:r>
              <a:rPr lang="en-US" sz="1600" dirty="0" err="1">
                <a:latin typeface="Bookman Old Style" pitchFamily="18" charset="0"/>
              </a:rPr>
              <a:t>Dijkstra’s</a:t>
            </a:r>
            <a:r>
              <a:rPr lang="en-US" sz="1600" dirty="0">
                <a:latin typeface="Bookman Old Style" pitchFamily="18" charset="0"/>
              </a:rPr>
              <a:t> algorithm).</a:t>
            </a:r>
            <a:endParaRPr lang="en-IN" sz="1600" dirty="0">
              <a:latin typeface="Bookman Old Style" pitchFamily="18" charset="0"/>
            </a:endParaRPr>
          </a:p>
        </p:txBody>
      </p:sp>
    </p:spTree>
    <p:extLst>
      <p:ext uri="{BB962C8B-B14F-4D97-AF65-F5344CB8AC3E}">
        <p14:creationId xmlns:p14="http://schemas.microsoft.com/office/powerpoint/2010/main" val="2699327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IN" sz="1600" b="1" dirty="0">
                <a:latin typeface="Bookman Old Style" pitchFamily="18" charset="0"/>
              </a:rPr>
              <a:t>2.Network Simulation:</a:t>
            </a:r>
          </a:p>
          <a:p>
            <a:pPr>
              <a:lnSpc>
                <a:spcPct val="150000"/>
              </a:lnSpc>
            </a:pPr>
            <a:r>
              <a:rPr lang="en-US" sz="1600" dirty="0">
                <a:latin typeface="Bookman Old Style" pitchFamily="18" charset="0"/>
              </a:rPr>
              <a:t>Agent-Based Modeling: Simulate the actions and interactions of autonomous agents to assess their effects on the network as a whole.</a:t>
            </a:r>
          </a:p>
          <a:p>
            <a:pPr>
              <a:lnSpc>
                <a:spcPct val="150000"/>
              </a:lnSpc>
            </a:pPr>
            <a:r>
              <a:rPr lang="en-US" sz="1600" dirty="0">
                <a:latin typeface="Bookman Old Style" pitchFamily="18" charset="0"/>
              </a:rPr>
              <a:t>Monte Carlo Simulation: Use repeated random sampling to model and analyze complex networks and their behaviors</a:t>
            </a:r>
          </a:p>
          <a:p>
            <a:pPr>
              <a:lnSpc>
                <a:spcPct val="150000"/>
              </a:lnSpc>
            </a:pPr>
            <a:r>
              <a:rPr lang="en-US" sz="1600" b="1" dirty="0">
                <a:latin typeface="Bookman Old Style" pitchFamily="18" charset="0"/>
              </a:rPr>
              <a:t>3. Optimization in Networks:</a:t>
            </a:r>
          </a:p>
          <a:p>
            <a:pPr>
              <a:lnSpc>
                <a:spcPct val="150000"/>
              </a:lnSpc>
            </a:pPr>
            <a:r>
              <a:rPr lang="en-US" sz="1600" dirty="0">
                <a:latin typeface="Bookman Old Style" pitchFamily="18" charset="0"/>
              </a:rPr>
              <a:t>Flow Optimization: Maximize or minimize the flow through a network (e.g., maximizing data throughput in computer networks).</a:t>
            </a:r>
          </a:p>
          <a:p>
            <a:pPr>
              <a:lnSpc>
                <a:spcPct val="150000"/>
              </a:lnSpc>
            </a:pPr>
            <a:r>
              <a:rPr lang="en-US" sz="1600" dirty="0">
                <a:latin typeface="Bookman Old Style" pitchFamily="18" charset="0"/>
              </a:rPr>
              <a:t>Network Design: Optimize the structure of the network to achieve desired properties (e.g., robustness, cost-efficiency).</a:t>
            </a:r>
            <a:endParaRPr lang="en-IN" sz="1600" dirty="0">
              <a:latin typeface="Bookman Old Style" pitchFamily="18" charset="0"/>
            </a:endParaRPr>
          </a:p>
        </p:txBody>
      </p:sp>
    </p:spTree>
    <p:extLst>
      <p:ext uri="{BB962C8B-B14F-4D97-AF65-F5344CB8AC3E}">
        <p14:creationId xmlns:p14="http://schemas.microsoft.com/office/powerpoint/2010/main" val="31740548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a:t>
            </a:r>
          </a:p>
        </p:txBody>
      </p:sp>
      <p:sp>
        <p:nvSpPr>
          <p:cNvPr id="3" name="Content Placeholder 2"/>
          <p:cNvSpPr>
            <a:spLocks noGrp="1"/>
          </p:cNvSpPr>
          <p:nvPr>
            <p:ph idx="1"/>
          </p:nvPr>
        </p:nvSpPr>
        <p:spPr/>
        <p:txBody>
          <a:bodyPr>
            <a:normAutofit fontScale="92500" lnSpcReduction="20000"/>
          </a:bodyPr>
          <a:lstStyle/>
          <a:p>
            <a:r>
              <a:rPr lang="en-US" sz="1600" b="1" dirty="0">
                <a:latin typeface="Bookman Old Style" pitchFamily="18" charset="0"/>
              </a:rPr>
              <a:t>1.Internet and Telecommunications:</a:t>
            </a:r>
          </a:p>
          <a:p>
            <a:r>
              <a:rPr lang="en-US" sz="1600" dirty="0">
                <a:latin typeface="Bookman Old Style" pitchFamily="18" charset="0"/>
              </a:rPr>
              <a:t>Optimize routing protocols to improve data transfer efficiency and reduce </a:t>
            </a:r>
            <a:r>
              <a:rPr lang="en-US" sz="1600" dirty="0" err="1">
                <a:latin typeface="Bookman Old Style" pitchFamily="18" charset="0"/>
              </a:rPr>
              <a:t>latency.Design</a:t>
            </a:r>
            <a:r>
              <a:rPr lang="en-US" sz="1600" dirty="0">
                <a:latin typeface="Bookman Old Style" pitchFamily="18" charset="0"/>
              </a:rPr>
              <a:t> resilient network infrastructures to withstand failures and attacks.</a:t>
            </a:r>
          </a:p>
          <a:p>
            <a:r>
              <a:rPr lang="en-US" sz="1600" b="1" dirty="0">
                <a:latin typeface="Bookman Old Style" pitchFamily="18" charset="0"/>
              </a:rPr>
              <a:t>2.Transportation Systems:</a:t>
            </a:r>
          </a:p>
          <a:p>
            <a:r>
              <a:rPr lang="en-US" sz="1600" dirty="0">
                <a:latin typeface="Bookman Old Style" pitchFamily="18" charset="0"/>
              </a:rPr>
              <a:t>Plan and optimize routes for reducing travel time and </a:t>
            </a:r>
            <a:r>
              <a:rPr lang="en-US" sz="1600" dirty="0" err="1">
                <a:latin typeface="Bookman Old Style" pitchFamily="18" charset="0"/>
              </a:rPr>
              <a:t>congestion.Design</a:t>
            </a:r>
            <a:r>
              <a:rPr lang="en-US" sz="1600" dirty="0">
                <a:latin typeface="Bookman Old Style" pitchFamily="18" charset="0"/>
              </a:rPr>
              <a:t> efficient public transportation </a:t>
            </a:r>
            <a:r>
              <a:rPr lang="en-US" sz="1600" dirty="0" err="1">
                <a:latin typeface="Bookman Old Style" pitchFamily="18" charset="0"/>
              </a:rPr>
              <a:t>networks.Supply</a:t>
            </a:r>
            <a:r>
              <a:rPr lang="en-US" sz="1600" dirty="0">
                <a:latin typeface="Bookman Old Style" pitchFamily="18" charset="0"/>
              </a:rPr>
              <a:t> Chain </a:t>
            </a:r>
            <a:r>
              <a:rPr lang="en-US" sz="1600" dirty="0" err="1">
                <a:latin typeface="Bookman Old Style" pitchFamily="18" charset="0"/>
              </a:rPr>
              <a:t>Logistics:Optimize</a:t>
            </a:r>
            <a:r>
              <a:rPr lang="en-US" sz="1600" dirty="0">
                <a:latin typeface="Bookman Old Style" pitchFamily="18" charset="0"/>
              </a:rPr>
              <a:t> the flow of goods and materials to reduce costs and improve delivery </a:t>
            </a:r>
            <a:r>
              <a:rPr lang="en-US" sz="1600" dirty="0" err="1">
                <a:latin typeface="Bookman Old Style" pitchFamily="18" charset="0"/>
              </a:rPr>
              <a:t>times.Model</a:t>
            </a:r>
            <a:r>
              <a:rPr lang="en-US" sz="1600" dirty="0">
                <a:latin typeface="Bookman Old Style" pitchFamily="18" charset="0"/>
              </a:rPr>
              <a:t> and mitigate risks in the supply chain.</a:t>
            </a:r>
          </a:p>
          <a:p>
            <a:r>
              <a:rPr lang="en-US" sz="1600" b="1" dirty="0">
                <a:latin typeface="Bookman Old Style" pitchFamily="18" charset="0"/>
              </a:rPr>
              <a:t>3. Supply Chain Logistics:</a:t>
            </a:r>
          </a:p>
          <a:p>
            <a:r>
              <a:rPr lang="en-US" sz="1600" dirty="0">
                <a:latin typeface="Bookman Old Style" pitchFamily="18" charset="0"/>
              </a:rPr>
              <a:t>Optimize the flow of goods and materials to reduce costs and improve delivery times.</a:t>
            </a:r>
          </a:p>
          <a:p>
            <a:r>
              <a:rPr lang="en-US" sz="1600" dirty="0">
                <a:latin typeface="Bookman Old Style" pitchFamily="18" charset="0"/>
              </a:rPr>
              <a:t>Model and mitigate risks in the supply chain.</a:t>
            </a:r>
            <a:endParaRPr lang="en-IN" sz="1600" dirty="0">
              <a:latin typeface="Bookman Old Style" pitchFamily="18" charset="0"/>
            </a:endParaRPr>
          </a:p>
        </p:txBody>
      </p:sp>
    </p:spTree>
    <p:extLst>
      <p:ext uri="{BB962C8B-B14F-4D97-AF65-F5344CB8AC3E}">
        <p14:creationId xmlns:p14="http://schemas.microsoft.com/office/powerpoint/2010/main" val="24248062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r>
              <a:rPr lang="en-US" sz="1600" b="1" dirty="0">
                <a:latin typeface="Bookman Old Style" pitchFamily="18" charset="0"/>
              </a:rPr>
              <a:t>4.Social Network Analysis:</a:t>
            </a:r>
          </a:p>
          <a:p>
            <a:pPr algn="just"/>
            <a:r>
              <a:rPr lang="en-US" sz="1600" dirty="0">
                <a:latin typeface="Bookman Old Style" pitchFamily="18" charset="0"/>
              </a:rPr>
              <a:t>Study</a:t>
            </a:r>
            <a:r>
              <a:rPr lang="en-US" sz="1600" b="1" dirty="0">
                <a:latin typeface="Bookman Old Style" pitchFamily="18" charset="0"/>
              </a:rPr>
              <a:t> </a:t>
            </a:r>
            <a:r>
              <a:rPr lang="en-US" sz="1600" dirty="0">
                <a:latin typeface="Bookman Old Style" pitchFamily="18" charset="0"/>
              </a:rPr>
              <a:t>the spread of information, influence, and behaviors through social networks.</a:t>
            </a:r>
          </a:p>
          <a:p>
            <a:pPr algn="just"/>
            <a:r>
              <a:rPr lang="en-US" sz="1600" dirty="0">
                <a:latin typeface="Bookman Old Style" pitchFamily="18" charset="0"/>
              </a:rPr>
              <a:t>Detect and understand community structures and key influencers.</a:t>
            </a:r>
          </a:p>
          <a:p>
            <a:pPr algn="just"/>
            <a:r>
              <a:rPr lang="en-IN" sz="1600" b="1" dirty="0"/>
              <a:t>5.Biological Systems</a:t>
            </a:r>
            <a:r>
              <a:rPr lang="en-IN" sz="1600" dirty="0"/>
              <a:t>:</a:t>
            </a:r>
          </a:p>
          <a:p>
            <a:pPr algn="just"/>
            <a:r>
              <a:rPr lang="en-US" sz="1600" dirty="0">
                <a:latin typeface="Bookman Old Style" pitchFamily="18" charset="0"/>
              </a:rPr>
              <a:t>Model and analyze the interactions between different biological entities.</a:t>
            </a:r>
          </a:p>
          <a:p>
            <a:pPr algn="just"/>
            <a:r>
              <a:rPr lang="en-US" sz="1600" dirty="0">
                <a:latin typeface="Bookman Old Style" pitchFamily="18" charset="0"/>
              </a:rPr>
              <a:t>Understand the dynamics of disease spread and develop strategies for intervention.</a:t>
            </a:r>
            <a:endParaRPr lang="en-IN" sz="1600" dirty="0">
              <a:latin typeface="Bookman Old Style" pitchFamily="18" charset="0"/>
            </a:endParaRPr>
          </a:p>
        </p:txBody>
      </p:sp>
    </p:spTree>
    <p:extLst>
      <p:ext uri="{BB962C8B-B14F-4D97-AF65-F5344CB8AC3E}">
        <p14:creationId xmlns:p14="http://schemas.microsoft.com/office/powerpoint/2010/main" val="5662707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Tools and Software</a:t>
            </a:r>
          </a:p>
        </p:txBody>
      </p:sp>
      <p:sp>
        <p:nvSpPr>
          <p:cNvPr id="3" name="Content Placeholder 2"/>
          <p:cNvSpPr>
            <a:spLocks noGrp="1"/>
          </p:cNvSpPr>
          <p:nvPr>
            <p:ph idx="1"/>
          </p:nvPr>
        </p:nvSpPr>
        <p:spPr/>
        <p:txBody>
          <a:bodyPr>
            <a:normAutofit/>
          </a:bodyPr>
          <a:lstStyle/>
          <a:p>
            <a:pPr algn="just">
              <a:lnSpc>
                <a:spcPct val="150000"/>
              </a:lnSpc>
            </a:pPr>
            <a:r>
              <a:rPr lang="en-IN" sz="1400" dirty="0" err="1">
                <a:latin typeface="Bookman Old Style" pitchFamily="18" charset="0"/>
              </a:rPr>
              <a:t>NetworkX</a:t>
            </a:r>
            <a:r>
              <a:rPr lang="en-IN" sz="1400" dirty="0">
                <a:latin typeface="Bookman Old Style" pitchFamily="18" charset="0"/>
              </a:rPr>
              <a:t>: A Python library for the creation, manipulation, and study of complex networks.</a:t>
            </a:r>
          </a:p>
          <a:p>
            <a:pPr algn="just">
              <a:lnSpc>
                <a:spcPct val="150000"/>
              </a:lnSpc>
            </a:pPr>
            <a:r>
              <a:rPr lang="en-IN" sz="1400" dirty="0" err="1">
                <a:latin typeface="Bookman Old Style" pitchFamily="18" charset="0"/>
              </a:rPr>
              <a:t>Gephi</a:t>
            </a:r>
            <a:r>
              <a:rPr lang="en-IN" sz="1400" dirty="0">
                <a:latin typeface="Bookman Old Style" pitchFamily="18" charset="0"/>
              </a:rPr>
              <a:t>: An open-source software for network visualization and analysis.</a:t>
            </a:r>
          </a:p>
          <a:p>
            <a:pPr algn="just">
              <a:lnSpc>
                <a:spcPct val="150000"/>
              </a:lnSpc>
            </a:pPr>
            <a:r>
              <a:rPr lang="en-IN" sz="1400" dirty="0" err="1">
                <a:latin typeface="Bookman Old Style" pitchFamily="18" charset="0"/>
              </a:rPr>
              <a:t>Pajek</a:t>
            </a:r>
            <a:r>
              <a:rPr lang="en-IN" sz="1400" dirty="0">
                <a:latin typeface="Bookman Old Style" pitchFamily="18" charset="0"/>
              </a:rPr>
              <a:t>: A program for large network analysis.</a:t>
            </a:r>
          </a:p>
          <a:p>
            <a:pPr algn="just">
              <a:lnSpc>
                <a:spcPct val="150000"/>
              </a:lnSpc>
            </a:pPr>
            <a:r>
              <a:rPr lang="en-IN" sz="1400" dirty="0" err="1">
                <a:latin typeface="Bookman Old Style" pitchFamily="18" charset="0"/>
              </a:rPr>
              <a:t>Cytoscape</a:t>
            </a:r>
            <a:r>
              <a:rPr lang="en-IN" sz="1400" dirty="0">
                <a:latin typeface="Bookman Old Style" pitchFamily="18" charset="0"/>
              </a:rPr>
              <a:t>: An open-source platform for complex network analysis and visualization, especially used in bioinformatics.</a:t>
            </a:r>
          </a:p>
        </p:txBody>
      </p:sp>
    </p:spTree>
    <p:extLst>
      <p:ext uri="{BB962C8B-B14F-4D97-AF65-F5344CB8AC3E}">
        <p14:creationId xmlns:p14="http://schemas.microsoft.com/office/powerpoint/2010/main" val="2626446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Multi-objective optimization</a:t>
            </a:r>
          </a:p>
        </p:txBody>
      </p:sp>
      <p:sp>
        <p:nvSpPr>
          <p:cNvPr id="3" name="Content Placeholder 2"/>
          <p:cNvSpPr>
            <a:spLocks noGrp="1"/>
          </p:cNvSpPr>
          <p:nvPr>
            <p:ph idx="1"/>
          </p:nvPr>
        </p:nvSpPr>
        <p:spPr/>
        <p:txBody>
          <a:bodyPr>
            <a:normAutofit fontScale="85000" lnSpcReduction="20000"/>
          </a:bodyPr>
          <a:lstStyle/>
          <a:p>
            <a:pPr algn="just">
              <a:lnSpc>
                <a:spcPct val="150000"/>
              </a:lnSpc>
            </a:pPr>
            <a:r>
              <a:rPr lang="en-US" sz="1400" dirty="0">
                <a:latin typeface="Bookman Old Style" pitchFamily="18" charset="0"/>
              </a:rPr>
              <a:t>Multi-objective optimization is the process of simultaneously optimizing two or more conflicting objectives subject to certain constraints.</a:t>
            </a:r>
          </a:p>
          <a:p>
            <a:pPr algn="just">
              <a:lnSpc>
                <a:spcPct val="150000"/>
              </a:lnSpc>
            </a:pPr>
            <a:r>
              <a:rPr lang="en-US" sz="1400" dirty="0">
                <a:latin typeface="Bookman Old Style" pitchFamily="18" charset="0"/>
              </a:rPr>
              <a:t> This type of optimization is essential in many real-world applications where trade-offs between different goals must be considered.</a:t>
            </a:r>
          </a:p>
          <a:p>
            <a:pPr algn="just">
              <a:lnSpc>
                <a:spcPct val="150000"/>
              </a:lnSpc>
            </a:pPr>
            <a:r>
              <a:rPr lang="en-IN" sz="1400" b="1" dirty="0">
                <a:latin typeface="Bookman Old Style" pitchFamily="18" charset="0"/>
              </a:rPr>
              <a:t>Key Concepts</a:t>
            </a:r>
          </a:p>
          <a:p>
            <a:pPr algn="just">
              <a:lnSpc>
                <a:spcPct val="150000"/>
              </a:lnSpc>
            </a:pPr>
            <a:r>
              <a:rPr lang="en-US" sz="1400" dirty="0">
                <a:latin typeface="Bookman Old Style" pitchFamily="18" charset="0"/>
              </a:rPr>
              <a:t>1.Objectives:</a:t>
            </a:r>
          </a:p>
          <a:p>
            <a:pPr algn="just">
              <a:lnSpc>
                <a:spcPct val="150000"/>
              </a:lnSpc>
            </a:pPr>
            <a:r>
              <a:rPr lang="en-US" sz="1400" dirty="0">
                <a:latin typeface="Bookman Old Style" pitchFamily="18" charset="0"/>
              </a:rPr>
              <a:t>Functions to be optimized (minimized or maximized).Common examples include cost, quality, performance, and time.</a:t>
            </a:r>
          </a:p>
          <a:p>
            <a:pPr algn="just">
              <a:lnSpc>
                <a:spcPct val="150000"/>
              </a:lnSpc>
            </a:pPr>
            <a:r>
              <a:rPr lang="en-US" sz="1400" b="1" dirty="0">
                <a:latin typeface="Bookman Old Style" pitchFamily="18" charset="0"/>
              </a:rPr>
              <a:t>2.Pareto </a:t>
            </a:r>
            <a:r>
              <a:rPr lang="en-US" sz="1400" b="1" dirty="0" err="1">
                <a:latin typeface="Bookman Old Style" pitchFamily="18" charset="0"/>
              </a:rPr>
              <a:t>Optimality:A</a:t>
            </a:r>
            <a:r>
              <a:rPr lang="en-US" sz="1400" b="1" dirty="0">
                <a:latin typeface="Bookman Old Style" pitchFamily="18" charset="0"/>
              </a:rPr>
              <a:t> </a:t>
            </a:r>
            <a:r>
              <a:rPr lang="en-US" sz="1400" dirty="0">
                <a:latin typeface="Bookman Old Style" pitchFamily="18" charset="0"/>
              </a:rPr>
              <a:t>solution is Pareto optimal if no other solution can improve one objective without worsening another.</a:t>
            </a:r>
          </a:p>
          <a:p>
            <a:pPr algn="just">
              <a:lnSpc>
                <a:spcPct val="150000"/>
              </a:lnSpc>
            </a:pPr>
            <a:r>
              <a:rPr lang="en-US" sz="1400" dirty="0">
                <a:latin typeface="Bookman Old Style" pitchFamily="18" charset="0"/>
              </a:rPr>
              <a:t>The set of all Pareto optimal solutions forms the Pareto front or Pareto frontier</a:t>
            </a:r>
            <a:r>
              <a:rPr lang="en-US" sz="1400" b="1" dirty="0">
                <a:latin typeface="Bookman Old Style" pitchFamily="18" charset="0"/>
              </a:rPr>
              <a:t>.</a:t>
            </a:r>
            <a:endParaRPr lang="en-IN" sz="1400" b="1" dirty="0">
              <a:latin typeface="Bookman Old Style" pitchFamily="18" charset="0"/>
            </a:endParaRPr>
          </a:p>
        </p:txBody>
      </p:sp>
    </p:spTree>
    <p:extLst>
      <p:ext uri="{BB962C8B-B14F-4D97-AF65-F5344CB8AC3E}">
        <p14:creationId xmlns:p14="http://schemas.microsoft.com/office/powerpoint/2010/main" val="9584700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sz="1600" b="1" dirty="0">
                <a:latin typeface="Bookman Old Style" pitchFamily="18" charset="0"/>
              </a:rPr>
              <a:t>3.Trade-offs:</a:t>
            </a:r>
          </a:p>
          <a:p>
            <a:r>
              <a:rPr lang="en-US" sz="1600" dirty="0">
                <a:latin typeface="Bookman Old Style" pitchFamily="18" charset="0"/>
              </a:rPr>
              <a:t>Improving one objective often leads to the degradation of another.</a:t>
            </a:r>
          </a:p>
          <a:p>
            <a:r>
              <a:rPr lang="en-US" sz="1600" dirty="0">
                <a:latin typeface="Bookman Old Style" pitchFamily="18" charset="0"/>
              </a:rPr>
              <a:t>The goal is to find a balance or acceptable compromise between conflicting objectives.</a:t>
            </a:r>
          </a:p>
          <a:p>
            <a:r>
              <a:rPr lang="en-IN" sz="1600" b="1" dirty="0">
                <a:latin typeface="Bookman Old Style" pitchFamily="18" charset="0"/>
              </a:rPr>
              <a:t>Methods and Techniques</a:t>
            </a:r>
          </a:p>
          <a:p>
            <a:pPr algn="just"/>
            <a:r>
              <a:rPr lang="en-US" sz="1400" b="1" dirty="0">
                <a:latin typeface="Bookman Old Style" pitchFamily="18" charset="0"/>
              </a:rPr>
              <a:t>1.Weighted Sum Method:</a:t>
            </a:r>
          </a:p>
          <a:p>
            <a:pPr algn="just"/>
            <a:r>
              <a:rPr lang="en-US" sz="1400" dirty="0">
                <a:latin typeface="Bookman Old Style" pitchFamily="18" charset="0"/>
              </a:rPr>
              <a:t>Combine multiple objectives into a single objective by assigning weights to each objective and summing them.</a:t>
            </a:r>
          </a:p>
          <a:p>
            <a:pPr algn="just"/>
            <a:r>
              <a:rPr lang="en-US" sz="1400" dirty="0">
                <a:latin typeface="Bookman Old Style" pitchFamily="18" charset="0"/>
              </a:rPr>
              <a:t>Simple but requires proper weighting, which can be challenging.</a:t>
            </a:r>
          </a:p>
          <a:p>
            <a:pPr algn="just"/>
            <a:r>
              <a:rPr lang="en-IN" sz="1400" b="1" dirty="0">
                <a:latin typeface="Bookman Old Style" pitchFamily="18" charset="0"/>
              </a:rPr>
              <a:t>2.Pareto-based Methods:</a:t>
            </a:r>
          </a:p>
          <a:p>
            <a:pPr algn="just">
              <a:lnSpc>
                <a:spcPct val="150000"/>
              </a:lnSpc>
            </a:pPr>
            <a:r>
              <a:rPr lang="en-US" sz="1400" dirty="0">
                <a:latin typeface="Bookman Old Style" pitchFamily="18" charset="0"/>
              </a:rPr>
              <a:t>Genetic Algorithms (e.g., NSGA-II): Utilize evolutionary principles to find a diverse set of Pareto optimal solutions.</a:t>
            </a:r>
          </a:p>
          <a:p>
            <a:pPr algn="just">
              <a:lnSpc>
                <a:spcPct val="150000"/>
              </a:lnSpc>
            </a:pPr>
            <a:r>
              <a:rPr lang="en-US" sz="1400" dirty="0">
                <a:latin typeface="Bookman Old Style" pitchFamily="18" charset="0"/>
              </a:rPr>
              <a:t>Pareto Simulated Annealing: Integrates simulated annealing with Pareto principles to explore the solution space.</a:t>
            </a:r>
            <a:endParaRPr lang="en-IN" sz="1400" dirty="0">
              <a:latin typeface="Bookman Old Style" pitchFamily="18" charset="0"/>
            </a:endParaRPr>
          </a:p>
        </p:txBody>
      </p:sp>
    </p:spTree>
    <p:extLst>
      <p:ext uri="{BB962C8B-B14F-4D97-AF65-F5344CB8AC3E}">
        <p14:creationId xmlns:p14="http://schemas.microsoft.com/office/powerpoint/2010/main" val="10127164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sz="1600" b="1" dirty="0">
                <a:latin typeface="Bookman Old Style" pitchFamily="18" charset="0"/>
              </a:rPr>
              <a:t>3.Scalarization Techniques:</a:t>
            </a:r>
          </a:p>
          <a:p>
            <a:pPr>
              <a:lnSpc>
                <a:spcPct val="150000"/>
              </a:lnSpc>
            </a:pPr>
            <a:r>
              <a:rPr lang="en-US" sz="1600" dirty="0">
                <a:latin typeface="Bookman Old Style" pitchFamily="18" charset="0"/>
              </a:rPr>
              <a:t>Convert multiple objectives into a single objective.</a:t>
            </a:r>
          </a:p>
          <a:p>
            <a:pPr>
              <a:lnSpc>
                <a:spcPct val="150000"/>
              </a:lnSpc>
            </a:pPr>
            <a:r>
              <a:rPr lang="en-US" sz="1600" dirty="0">
                <a:latin typeface="Bookman Old Style" pitchFamily="18" charset="0"/>
              </a:rPr>
              <a:t>Epsilon-Constraint Method: Optimize one objective while treating others as constraints.</a:t>
            </a:r>
          </a:p>
          <a:p>
            <a:pPr>
              <a:lnSpc>
                <a:spcPct val="150000"/>
              </a:lnSpc>
            </a:pPr>
            <a:r>
              <a:rPr lang="en-US" sz="1600" b="1" dirty="0">
                <a:latin typeface="Bookman Old Style" pitchFamily="18" charset="0"/>
              </a:rPr>
              <a:t>4. Interactive Methods:</a:t>
            </a:r>
          </a:p>
          <a:p>
            <a:pPr>
              <a:lnSpc>
                <a:spcPct val="150000"/>
              </a:lnSpc>
            </a:pPr>
            <a:r>
              <a:rPr lang="en-US" sz="1600" dirty="0">
                <a:latin typeface="Bookman Old Style" pitchFamily="18" charset="0"/>
              </a:rPr>
              <a:t>Involve decision-makers during the optimization process to iteratively refine solutions.</a:t>
            </a:r>
          </a:p>
          <a:p>
            <a:pPr>
              <a:lnSpc>
                <a:spcPct val="150000"/>
              </a:lnSpc>
            </a:pPr>
            <a:r>
              <a:rPr lang="en-US" sz="1600" dirty="0">
                <a:latin typeface="Bookman Old Style" pitchFamily="18" charset="0"/>
              </a:rPr>
              <a:t>Examples include interactive evolutionary algorithms and reference point methods</a:t>
            </a:r>
            <a:r>
              <a:rPr lang="en-US" sz="1600" b="1" dirty="0">
                <a:latin typeface="Bookman Old Style" pitchFamily="18" charset="0"/>
              </a:rPr>
              <a:t>.</a:t>
            </a:r>
            <a:endParaRPr lang="en-IN" sz="1600" b="1" dirty="0">
              <a:latin typeface="Bookman Old Style" pitchFamily="18" charset="0"/>
            </a:endParaRPr>
          </a:p>
        </p:txBody>
      </p:sp>
    </p:spTree>
    <p:extLst>
      <p:ext uri="{BB962C8B-B14F-4D97-AF65-F5344CB8AC3E}">
        <p14:creationId xmlns:p14="http://schemas.microsoft.com/office/powerpoint/2010/main" val="9523965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a:t>
            </a:r>
          </a:p>
        </p:txBody>
      </p:sp>
      <p:sp>
        <p:nvSpPr>
          <p:cNvPr id="3" name="Content Placeholder 2"/>
          <p:cNvSpPr>
            <a:spLocks noGrp="1"/>
          </p:cNvSpPr>
          <p:nvPr>
            <p:ph idx="1"/>
          </p:nvPr>
        </p:nvSpPr>
        <p:spPr/>
        <p:txBody>
          <a:bodyPr>
            <a:normAutofit fontScale="62500" lnSpcReduction="20000"/>
          </a:bodyPr>
          <a:lstStyle/>
          <a:p>
            <a:pPr>
              <a:lnSpc>
                <a:spcPct val="150000"/>
              </a:lnSpc>
            </a:pPr>
            <a:r>
              <a:rPr lang="en-US" sz="1400" dirty="0">
                <a:latin typeface="Bookman Old Style" pitchFamily="18" charset="0"/>
              </a:rPr>
              <a:t>1.Engineering Design:</a:t>
            </a:r>
          </a:p>
          <a:p>
            <a:pPr>
              <a:lnSpc>
                <a:spcPct val="150000"/>
              </a:lnSpc>
            </a:pPr>
            <a:r>
              <a:rPr lang="en-US" sz="1400" dirty="0">
                <a:latin typeface="Bookman Old Style" pitchFamily="18" charset="0"/>
              </a:rPr>
              <a:t>Optimize product designs for factors like weight, strength, and cost</a:t>
            </a:r>
          </a:p>
          <a:p>
            <a:pPr>
              <a:lnSpc>
                <a:spcPct val="150000"/>
              </a:lnSpc>
            </a:pPr>
            <a:r>
              <a:rPr lang="en-US" sz="1400" dirty="0">
                <a:latin typeface="Bookman Old Style" pitchFamily="18" charset="0"/>
              </a:rPr>
              <a:t>Balance performance with environmental impact in product development.</a:t>
            </a:r>
          </a:p>
          <a:p>
            <a:pPr>
              <a:lnSpc>
                <a:spcPct val="150000"/>
              </a:lnSpc>
            </a:pPr>
            <a:r>
              <a:rPr lang="en-US" sz="1400" dirty="0">
                <a:latin typeface="Bookman Old Style" pitchFamily="18" charset="0"/>
              </a:rPr>
              <a:t>2.Economics and Finance:</a:t>
            </a:r>
          </a:p>
          <a:p>
            <a:pPr>
              <a:lnSpc>
                <a:spcPct val="150000"/>
              </a:lnSpc>
            </a:pPr>
            <a:r>
              <a:rPr lang="en-US" sz="1400" dirty="0">
                <a:latin typeface="Bookman Old Style" pitchFamily="18" charset="0"/>
              </a:rPr>
              <a:t>Portfolio optimization balancing return and risk.</a:t>
            </a:r>
          </a:p>
          <a:p>
            <a:pPr>
              <a:lnSpc>
                <a:spcPct val="150000"/>
              </a:lnSpc>
            </a:pPr>
            <a:r>
              <a:rPr lang="en-US" sz="1400" dirty="0">
                <a:latin typeface="Bookman Old Style" pitchFamily="18" charset="0"/>
              </a:rPr>
              <a:t>Economic policy design considering growth, inflation, and unemployment rates.</a:t>
            </a:r>
          </a:p>
          <a:p>
            <a:pPr>
              <a:lnSpc>
                <a:spcPct val="150000"/>
              </a:lnSpc>
            </a:pPr>
            <a:r>
              <a:rPr lang="en-US" sz="1400" dirty="0">
                <a:latin typeface="Bookman Old Style" pitchFamily="18" charset="0"/>
              </a:rPr>
              <a:t>3.Environmental Management:</a:t>
            </a:r>
          </a:p>
          <a:p>
            <a:pPr>
              <a:lnSpc>
                <a:spcPct val="150000"/>
              </a:lnSpc>
            </a:pPr>
            <a:r>
              <a:rPr lang="en-US" sz="1400" dirty="0">
                <a:latin typeface="Bookman Old Style" pitchFamily="18" charset="0"/>
              </a:rPr>
              <a:t>Optimize resource allocation for conservation and development.</a:t>
            </a:r>
          </a:p>
          <a:p>
            <a:pPr>
              <a:lnSpc>
                <a:spcPct val="150000"/>
              </a:lnSpc>
            </a:pPr>
            <a:r>
              <a:rPr lang="en-US" sz="1400" dirty="0">
                <a:latin typeface="Bookman Old Style" pitchFamily="18" charset="0"/>
              </a:rPr>
              <a:t>Balance economic growth with environmental sustainability.</a:t>
            </a:r>
          </a:p>
          <a:p>
            <a:pPr>
              <a:lnSpc>
                <a:spcPct val="150000"/>
              </a:lnSpc>
            </a:pPr>
            <a:r>
              <a:rPr lang="en-US" sz="1400" dirty="0">
                <a:latin typeface="Bookman Old Style" pitchFamily="18" charset="0"/>
              </a:rPr>
              <a:t>4.Supply Chain Management:</a:t>
            </a:r>
          </a:p>
          <a:p>
            <a:pPr>
              <a:lnSpc>
                <a:spcPct val="150000"/>
              </a:lnSpc>
            </a:pPr>
            <a:r>
              <a:rPr lang="en-US" sz="1400" dirty="0">
                <a:latin typeface="Bookman Old Style" pitchFamily="18" charset="0"/>
              </a:rPr>
              <a:t>Optimize logistics for cost, delivery time, and reliability.</a:t>
            </a:r>
          </a:p>
          <a:p>
            <a:pPr>
              <a:lnSpc>
                <a:spcPct val="150000"/>
              </a:lnSpc>
            </a:pPr>
            <a:r>
              <a:rPr lang="en-US" sz="1400" dirty="0">
                <a:latin typeface="Bookman Old Style" pitchFamily="18" charset="0"/>
              </a:rPr>
              <a:t>Balance inventory levels with service quality.</a:t>
            </a:r>
            <a:endParaRPr lang="en-IN" sz="1400" dirty="0">
              <a:latin typeface="Bookman Old Style" pitchFamily="18" charset="0"/>
            </a:endParaRPr>
          </a:p>
        </p:txBody>
      </p:sp>
    </p:spTree>
    <p:extLst>
      <p:ext uri="{BB962C8B-B14F-4D97-AF65-F5344CB8AC3E}">
        <p14:creationId xmlns:p14="http://schemas.microsoft.com/office/powerpoint/2010/main" val="17503061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sz="1600" dirty="0">
                <a:latin typeface="Bookman Old Style" pitchFamily="18" charset="0"/>
              </a:rPr>
              <a:t>5.Healthcare:</a:t>
            </a:r>
          </a:p>
          <a:p>
            <a:r>
              <a:rPr lang="en-US" sz="1600" dirty="0">
                <a:latin typeface="Bookman Old Style" pitchFamily="18" charset="0"/>
              </a:rPr>
              <a:t>Optimize treatment plans balancing efficacy and side effects.</a:t>
            </a:r>
          </a:p>
          <a:p>
            <a:r>
              <a:rPr lang="en-US" sz="1600" dirty="0">
                <a:latin typeface="Bookman Old Style" pitchFamily="18" charset="0"/>
              </a:rPr>
              <a:t>Design healthcare policies balancing cost, accessibility, and quality</a:t>
            </a:r>
            <a:r>
              <a:rPr lang="en-US" dirty="0"/>
              <a:t>.</a:t>
            </a:r>
            <a:endParaRPr lang="en-IN" dirty="0"/>
          </a:p>
        </p:txBody>
      </p:sp>
    </p:spTree>
    <p:extLst>
      <p:ext uri="{BB962C8B-B14F-4D97-AF65-F5344CB8AC3E}">
        <p14:creationId xmlns:p14="http://schemas.microsoft.com/office/powerpoint/2010/main" val="1102574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Stochastic </a:t>
            </a:r>
            <a:r>
              <a:rPr lang="en-IN" dirty="0" err="1"/>
              <a:t>modeling</a:t>
            </a:r>
            <a:endParaRPr lang="en-IN" dirty="0"/>
          </a:p>
        </p:txBody>
      </p:sp>
      <p:sp>
        <p:nvSpPr>
          <p:cNvPr id="3" name="Content Placeholder 2"/>
          <p:cNvSpPr>
            <a:spLocks noGrp="1"/>
          </p:cNvSpPr>
          <p:nvPr>
            <p:ph idx="1"/>
          </p:nvPr>
        </p:nvSpPr>
        <p:spPr/>
        <p:txBody>
          <a:bodyPr>
            <a:normAutofit/>
          </a:bodyPr>
          <a:lstStyle/>
          <a:p>
            <a:pPr algn="just">
              <a:lnSpc>
                <a:spcPct val="150000"/>
              </a:lnSpc>
            </a:pPr>
            <a:r>
              <a:rPr lang="en-US" sz="1800" dirty="0">
                <a:latin typeface="Bookman Old Style" pitchFamily="18" charset="0"/>
              </a:rPr>
              <a:t>Stochastic modeling involves the use of probability and random variables to represent and analyze systems that are inherently uncertain. </a:t>
            </a:r>
          </a:p>
          <a:p>
            <a:pPr algn="just">
              <a:lnSpc>
                <a:spcPct val="150000"/>
              </a:lnSpc>
            </a:pPr>
            <a:r>
              <a:rPr lang="en-US" sz="1800" dirty="0">
                <a:latin typeface="Bookman Old Style" pitchFamily="18" charset="0"/>
              </a:rPr>
              <a:t>This type of modeling is crucial in many fields such as finance, engineering, science, and operations research, where uncertainty and variability play significant roles.</a:t>
            </a:r>
          </a:p>
          <a:p>
            <a:pPr algn="just">
              <a:lnSpc>
                <a:spcPct val="150000"/>
              </a:lnSpc>
            </a:pPr>
            <a:endParaRPr lang="en-IN" sz="1800" dirty="0">
              <a:latin typeface="Bookman Old Style" pitchFamily="18" charset="0"/>
            </a:endParaRPr>
          </a:p>
        </p:txBody>
      </p:sp>
    </p:spTree>
    <p:extLst>
      <p:ext uri="{BB962C8B-B14F-4D97-AF65-F5344CB8AC3E}">
        <p14:creationId xmlns:p14="http://schemas.microsoft.com/office/powerpoint/2010/main" val="2902636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Key Concepts</a:t>
            </a:r>
          </a:p>
        </p:txBody>
      </p:sp>
      <p:sp>
        <p:nvSpPr>
          <p:cNvPr id="3" name="Content Placeholder 2"/>
          <p:cNvSpPr>
            <a:spLocks noGrp="1"/>
          </p:cNvSpPr>
          <p:nvPr>
            <p:ph idx="1"/>
          </p:nvPr>
        </p:nvSpPr>
        <p:spPr/>
        <p:txBody>
          <a:bodyPr>
            <a:normAutofit fontScale="92500" lnSpcReduction="20000"/>
          </a:bodyPr>
          <a:lstStyle/>
          <a:p>
            <a:pPr>
              <a:lnSpc>
                <a:spcPct val="150000"/>
              </a:lnSpc>
            </a:pPr>
            <a:r>
              <a:rPr lang="en-US" sz="1600" dirty="0">
                <a:latin typeface="Bookman Old Style" pitchFamily="18" charset="0"/>
              </a:rPr>
              <a:t>1.Random Variables:</a:t>
            </a:r>
          </a:p>
          <a:p>
            <a:pPr>
              <a:lnSpc>
                <a:spcPct val="150000"/>
              </a:lnSpc>
            </a:pPr>
            <a:r>
              <a:rPr lang="en-US" sz="1600" dirty="0">
                <a:latin typeface="Bookman Old Style" pitchFamily="18" charset="0"/>
              </a:rPr>
              <a:t>Variables whose values result from random phenomena.</a:t>
            </a:r>
          </a:p>
          <a:p>
            <a:pPr>
              <a:lnSpc>
                <a:spcPct val="150000"/>
              </a:lnSpc>
            </a:pPr>
            <a:r>
              <a:rPr lang="en-US" sz="1600" dirty="0">
                <a:latin typeface="Bookman Old Style" pitchFamily="18" charset="0"/>
              </a:rPr>
              <a:t>Can be discrete (e.g., the number of heads in coin tosses) or continuous (e.g., the time between arrivals of buses).</a:t>
            </a:r>
          </a:p>
          <a:p>
            <a:pPr>
              <a:lnSpc>
                <a:spcPct val="150000"/>
              </a:lnSpc>
            </a:pPr>
            <a:r>
              <a:rPr lang="en-US" sz="1600" dirty="0">
                <a:latin typeface="Bookman Old Style" pitchFamily="18" charset="0"/>
              </a:rPr>
              <a:t>2.Probability Distributions:</a:t>
            </a:r>
          </a:p>
          <a:p>
            <a:pPr>
              <a:lnSpc>
                <a:spcPct val="150000"/>
              </a:lnSpc>
            </a:pPr>
            <a:r>
              <a:rPr lang="en-US" sz="1600" dirty="0">
                <a:latin typeface="Bookman Old Style" pitchFamily="18" charset="0"/>
              </a:rPr>
              <a:t>Describe how probabilities are distributed over the values of a random variable.</a:t>
            </a:r>
          </a:p>
          <a:p>
            <a:pPr>
              <a:lnSpc>
                <a:spcPct val="150000"/>
              </a:lnSpc>
            </a:pPr>
            <a:r>
              <a:rPr lang="en-US" sz="1600" dirty="0">
                <a:latin typeface="Bookman Old Style" pitchFamily="18" charset="0"/>
              </a:rPr>
              <a:t>Common distributions include normal, binomial, Poisson, and exponential distributions.</a:t>
            </a:r>
            <a:endParaRPr lang="en-IN" sz="1600" dirty="0">
              <a:latin typeface="Bookman Old Style" pitchFamily="18" charset="0"/>
            </a:endParaRPr>
          </a:p>
        </p:txBody>
      </p:sp>
    </p:spTree>
    <p:extLst>
      <p:ext uri="{BB962C8B-B14F-4D97-AF65-F5344CB8AC3E}">
        <p14:creationId xmlns:p14="http://schemas.microsoft.com/office/powerpoint/2010/main" val="7782399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sz="1600" b="1" dirty="0">
                <a:latin typeface="Bookman Old Style" pitchFamily="18" charset="0"/>
              </a:rPr>
              <a:t>3.Stochastic Processes:</a:t>
            </a:r>
          </a:p>
          <a:p>
            <a:pPr>
              <a:lnSpc>
                <a:spcPct val="150000"/>
              </a:lnSpc>
            </a:pPr>
            <a:r>
              <a:rPr lang="en-US" sz="1600" dirty="0">
                <a:latin typeface="Bookman Old Style" pitchFamily="18" charset="0"/>
              </a:rPr>
              <a:t>Collections of random variables representing the evolution of a system over time.</a:t>
            </a:r>
          </a:p>
          <a:p>
            <a:pPr>
              <a:lnSpc>
                <a:spcPct val="150000"/>
              </a:lnSpc>
            </a:pPr>
            <a:r>
              <a:rPr lang="en-US" sz="1600" dirty="0">
                <a:latin typeface="Bookman Old Style" pitchFamily="18" charset="0"/>
              </a:rPr>
              <a:t>Examples include Markov processes, Brownian motion, and Poisson processes.</a:t>
            </a:r>
          </a:p>
          <a:p>
            <a:pPr>
              <a:lnSpc>
                <a:spcPct val="150000"/>
              </a:lnSpc>
            </a:pPr>
            <a:r>
              <a:rPr lang="en-US" sz="1600" b="1" dirty="0">
                <a:latin typeface="Bookman Old Style" pitchFamily="18" charset="0"/>
              </a:rPr>
              <a:t>4. Monte Carlo Simulation:</a:t>
            </a:r>
          </a:p>
          <a:p>
            <a:pPr>
              <a:lnSpc>
                <a:spcPct val="150000"/>
              </a:lnSpc>
            </a:pPr>
            <a:r>
              <a:rPr lang="en-US" sz="1400" dirty="0">
                <a:latin typeface="Bookman Old Style" pitchFamily="18" charset="0"/>
              </a:rPr>
              <a:t>A method that uses repeated random sampling to obtain numerical results.</a:t>
            </a:r>
          </a:p>
          <a:p>
            <a:pPr>
              <a:lnSpc>
                <a:spcPct val="150000"/>
              </a:lnSpc>
            </a:pPr>
            <a:r>
              <a:rPr lang="en-US" sz="1400" dirty="0">
                <a:latin typeface="Bookman Old Style" pitchFamily="18" charset="0"/>
              </a:rPr>
              <a:t>Often used to estimate the probability of different outcomes in a process that cannot easily be predicted due to the intervention of random variables.</a:t>
            </a:r>
            <a:endParaRPr lang="en-IN" sz="1400" dirty="0">
              <a:latin typeface="Bookman Old Style" pitchFamily="18" charset="0"/>
            </a:endParaRPr>
          </a:p>
        </p:txBody>
      </p:sp>
    </p:spTree>
    <p:extLst>
      <p:ext uri="{BB962C8B-B14F-4D97-AF65-F5344CB8AC3E}">
        <p14:creationId xmlns:p14="http://schemas.microsoft.com/office/powerpoint/2010/main" val="40432019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Methods and Techniques</a:t>
            </a:r>
          </a:p>
        </p:txBody>
      </p:sp>
      <p:sp>
        <p:nvSpPr>
          <p:cNvPr id="3" name="Content Placeholder 2"/>
          <p:cNvSpPr>
            <a:spLocks noGrp="1"/>
          </p:cNvSpPr>
          <p:nvPr>
            <p:ph idx="1"/>
          </p:nvPr>
        </p:nvSpPr>
        <p:spPr/>
        <p:txBody>
          <a:bodyPr>
            <a:normAutofit fontScale="77500" lnSpcReduction="20000"/>
          </a:bodyPr>
          <a:lstStyle/>
          <a:p>
            <a:pPr>
              <a:lnSpc>
                <a:spcPct val="150000"/>
              </a:lnSpc>
            </a:pPr>
            <a:r>
              <a:rPr lang="en-US" sz="1600" b="1" dirty="0">
                <a:latin typeface="Bookman Old Style" pitchFamily="18" charset="0"/>
              </a:rPr>
              <a:t>1.Markov Chains:</a:t>
            </a:r>
          </a:p>
          <a:p>
            <a:pPr>
              <a:lnSpc>
                <a:spcPct val="150000"/>
              </a:lnSpc>
            </a:pPr>
            <a:r>
              <a:rPr lang="en-US" sz="1600" dirty="0">
                <a:latin typeface="Bookman Old Style" pitchFamily="18" charset="0"/>
              </a:rPr>
              <a:t>Stochastic models where the future state depends only on the current state and not on the sequence of events that preceded it (</a:t>
            </a:r>
            <a:r>
              <a:rPr lang="en-US" sz="1600" dirty="0" err="1">
                <a:latin typeface="Bookman Old Style" pitchFamily="18" charset="0"/>
              </a:rPr>
              <a:t>memoryless</a:t>
            </a:r>
            <a:r>
              <a:rPr lang="en-US" sz="1600" dirty="0">
                <a:latin typeface="Bookman Old Style" pitchFamily="18" charset="0"/>
              </a:rPr>
              <a:t> property).</a:t>
            </a:r>
          </a:p>
          <a:p>
            <a:pPr>
              <a:lnSpc>
                <a:spcPct val="150000"/>
              </a:lnSpc>
            </a:pPr>
            <a:r>
              <a:rPr lang="en-US" sz="1600" dirty="0">
                <a:latin typeface="Bookman Old Style" pitchFamily="18" charset="0"/>
              </a:rPr>
              <a:t>Used in areas like </a:t>
            </a:r>
            <a:r>
              <a:rPr lang="en-US" sz="1600" dirty="0" err="1">
                <a:latin typeface="Bookman Old Style" pitchFamily="18" charset="0"/>
              </a:rPr>
              <a:t>queueing</a:t>
            </a:r>
            <a:r>
              <a:rPr lang="en-US" sz="1600" dirty="0">
                <a:latin typeface="Bookman Old Style" pitchFamily="18" charset="0"/>
              </a:rPr>
              <a:t> theory, inventory management, and finance.</a:t>
            </a:r>
          </a:p>
          <a:p>
            <a:pPr>
              <a:lnSpc>
                <a:spcPct val="150000"/>
              </a:lnSpc>
            </a:pPr>
            <a:r>
              <a:rPr lang="en-IN" sz="1600" b="1" dirty="0">
                <a:latin typeface="Bookman Old Style" pitchFamily="18" charset="0"/>
              </a:rPr>
              <a:t>2. Poisson Processes:</a:t>
            </a:r>
          </a:p>
          <a:p>
            <a:pPr>
              <a:lnSpc>
                <a:spcPct val="150000"/>
              </a:lnSpc>
            </a:pPr>
            <a:r>
              <a:rPr lang="en-US" sz="1600" dirty="0">
                <a:latin typeface="Bookman Old Style" pitchFamily="18" charset="0"/>
              </a:rPr>
              <a:t>Models that represent events occurring randomly over a fixed period or space.</a:t>
            </a:r>
          </a:p>
          <a:p>
            <a:pPr>
              <a:lnSpc>
                <a:spcPct val="150000"/>
              </a:lnSpc>
            </a:pPr>
            <a:r>
              <a:rPr lang="en-US" sz="1600" dirty="0">
                <a:latin typeface="Bookman Old Style" pitchFamily="18" charset="0"/>
              </a:rPr>
              <a:t>Commonly used to model arrival times of customers in a queue, phone calls, or decay of radioactive particles.</a:t>
            </a:r>
            <a:endParaRPr lang="en-IN" sz="1600" dirty="0">
              <a:latin typeface="Bookman Old Style" pitchFamily="18" charset="0"/>
            </a:endParaRPr>
          </a:p>
        </p:txBody>
      </p:sp>
    </p:spTree>
    <p:extLst>
      <p:ext uri="{BB962C8B-B14F-4D97-AF65-F5344CB8AC3E}">
        <p14:creationId xmlns:p14="http://schemas.microsoft.com/office/powerpoint/2010/main" val="3428207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IN" sz="1600" b="1" dirty="0">
                <a:latin typeface="Bookman Old Style" pitchFamily="18" charset="0"/>
              </a:rPr>
              <a:t>3.Monte Carlo Methods:</a:t>
            </a:r>
          </a:p>
          <a:p>
            <a:pPr>
              <a:lnSpc>
                <a:spcPct val="150000"/>
              </a:lnSpc>
            </a:pPr>
            <a:r>
              <a:rPr lang="en-US" sz="1600" dirty="0">
                <a:latin typeface="Bookman Old Style" pitchFamily="18" charset="0"/>
              </a:rPr>
              <a:t>Techniques that rely on random sampling to solve problems that might be deterministic in principle.</a:t>
            </a:r>
          </a:p>
          <a:p>
            <a:pPr>
              <a:lnSpc>
                <a:spcPct val="150000"/>
              </a:lnSpc>
            </a:pPr>
            <a:r>
              <a:rPr lang="en-US" sz="1600" dirty="0">
                <a:latin typeface="Bookman Old Style" pitchFamily="18" charset="0"/>
              </a:rPr>
              <a:t>Used in finance for option pricing, risk management, and in engineering for reliability analysis.</a:t>
            </a:r>
          </a:p>
          <a:p>
            <a:pPr>
              <a:lnSpc>
                <a:spcPct val="150000"/>
              </a:lnSpc>
            </a:pPr>
            <a:r>
              <a:rPr lang="en-US" sz="1600" b="1" dirty="0">
                <a:latin typeface="Bookman Old Style" pitchFamily="18" charset="0"/>
              </a:rPr>
              <a:t>4. Brownian Motion:</a:t>
            </a:r>
          </a:p>
          <a:p>
            <a:pPr>
              <a:lnSpc>
                <a:spcPct val="150000"/>
              </a:lnSpc>
            </a:pPr>
            <a:r>
              <a:rPr lang="en-US" sz="1600" dirty="0">
                <a:latin typeface="Bookman Old Style" pitchFamily="18" charset="0"/>
              </a:rPr>
              <a:t>A continuous-time stochastic process used to model random movements over time.</a:t>
            </a:r>
          </a:p>
          <a:p>
            <a:pPr>
              <a:lnSpc>
                <a:spcPct val="150000"/>
              </a:lnSpc>
            </a:pPr>
            <a:r>
              <a:rPr lang="en-US" sz="1600" dirty="0">
                <a:latin typeface="Bookman Old Style" pitchFamily="18" charset="0"/>
              </a:rPr>
              <a:t>Foundational in the modeling of stock prices and other financial instruments.</a:t>
            </a:r>
            <a:endParaRPr lang="en-IN" sz="1600" dirty="0">
              <a:latin typeface="Bookman Old Style" pitchFamily="18" charset="0"/>
            </a:endParaRPr>
          </a:p>
        </p:txBody>
      </p:sp>
    </p:spTree>
    <p:extLst>
      <p:ext uri="{BB962C8B-B14F-4D97-AF65-F5344CB8AC3E}">
        <p14:creationId xmlns:p14="http://schemas.microsoft.com/office/powerpoint/2010/main" val="36704448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nSpc>
                <a:spcPct val="150000"/>
              </a:lnSpc>
            </a:pPr>
            <a:r>
              <a:rPr lang="en-IN" sz="1600" b="1" dirty="0">
                <a:latin typeface="Bookman Old Style" pitchFamily="18" charset="0"/>
              </a:rPr>
              <a:t>5.Stochastic Differential Equations (SDEs):</a:t>
            </a:r>
          </a:p>
          <a:p>
            <a:pPr>
              <a:lnSpc>
                <a:spcPct val="150000"/>
              </a:lnSpc>
            </a:pPr>
            <a:r>
              <a:rPr lang="en-US" sz="1600" dirty="0">
                <a:latin typeface="Bookman Old Style" pitchFamily="18" charset="0"/>
              </a:rPr>
              <a:t>Differential equations in which one or more terms are stochastic processes.</a:t>
            </a:r>
          </a:p>
          <a:p>
            <a:pPr>
              <a:lnSpc>
                <a:spcPct val="150000"/>
              </a:lnSpc>
            </a:pPr>
            <a:r>
              <a:rPr lang="en-US" sz="1600" dirty="0">
                <a:latin typeface="Bookman Old Style" pitchFamily="18" charset="0"/>
              </a:rPr>
              <a:t>Used to model systems affected by random shocks or noise.</a:t>
            </a:r>
            <a:endParaRPr lang="en-IN" sz="1600" dirty="0">
              <a:latin typeface="Bookman Old Style" pitchFamily="18" charset="0"/>
            </a:endParaRPr>
          </a:p>
        </p:txBody>
      </p:sp>
    </p:spTree>
    <p:extLst>
      <p:ext uri="{BB962C8B-B14F-4D97-AF65-F5344CB8AC3E}">
        <p14:creationId xmlns:p14="http://schemas.microsoft.com/office/powerpoint/2010/main" val="18062095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Decision and Risk analysis</a:t>
            </a:r>
          </a:p>
        </p:txBody>
      </p:sp>
      <p:sp>
        <p:nvSpPr>
          <p:cNvPr id="3" name="Content Placeholder 2"/>
          <p:cNvSpPr>
            <a:spLocks noGrp="1"/>
          </p:cNvSpPr>
          <p:nvPr>
            <p:ph idx="1"/>
          </p:nvPr>
        </p:nvSpPr>
        <p:spPr/>
        <p:txBody>
          <a:bodyPr>
            <a:normAutofit fontScale="77500" lnSpcReduction="20000"/>
          </a:bodyPr>
          <a:lstStyle/>
          <a:p>
            <a:pPr algn="just">
              <a:lnSpc>
                <a:spcPct val="150000"/>
              </a:lnSpc>
            </a:pPr>
            <a:r>
              <a:rPr lang="en-US" sz="1600" dirty="0">
                <a:latin typeface="Bookman Old Style" pitchFamily="18" charset="0"/>
              </a:rPr>
              <a:t>Decision and risk analysis involves systematically evaluating and making decisions in the presence of uncertainty.</a:t>
            </a:r>
          </a:p>
          <a:p>
            <a:pPr algn="just">
              <a:lnSpc>
                <a:spcPct val="150000"/>
              </a:lnSpc>
            </a:pPr>
            <a:r>
              <a:rPr lang="en-US" sz="1600" dirty="0">
                <a:latin typeface="Bookman Old Style" pitchFamily="18" charset="0"/>
              </a:rPr>
              <a:t> This field combines principles from economics, statistics, psychology, and operations research to help decision-makers choose the best course of action considering both potential outcomes and their associated risks.</a:t>
            </a:r>
          </a:p>
          <a:p>
            <a:pPr algn="just">
              <a:lnSpc>
                <a:spcPct val="150000"/>
              </a:lnSpc>
            </a:pPr>
            <a:r>
              <a:rPr lang="en-IN" sz="1600" b="1" dirty="0">
                <a:latin typeface="Bookman Old Style" pitchFamily="18" charset="0"/>
              </a:rPr>
              <a:t>Key Concepts</a:t>
            </a:r>
          </a:p>
          <a:p>
            <a:pPr algn="just">
              <a:lnSpc>
                <a:spcPct val="150000"/>
              </a:lnSpc>
            </a:pPr>
            <a:r>
              <a:rPr lang="en-US" sz="1600" b="1" dirty="0">
                <a:latin typeface="Bookman Old Style" pitchFamily="18" charset="0"/>
              </a:rPr>
              <a:t>1.Decision Analysis:</a:t>
            </a:r>
          </a:p>
          <a:p>
            <a:pPr algn="just">
              <a:lnSpc>
                <a:spcPct val="150000"/>
              </a:lnSpc>
            </a:pPr>
            <a:r>
              <a:rPr lang="en-US" sz="1600" dirty="0">
                <a:latin typeface="Bookman Old Style" pitchFamily="18" charset="0"/>
              </a:rPr>
              <a:t>The process of evaluating and choosing among alternative courses of action.</a:t>
            </a:r>
          </a:p>
          <a:p>
            <a:pPr algn="just">
              <a:lnSpc>
                <a:spcPct val="150000"/>
              </a:lnSpc>
            </a:pPr>
            <a:r>
              <a:rPr lang="en-US" sz="1600" dirty="0">
                <a:latin typeface="Bookman Old Style" pitchFamily="18" charset="0"/>
              </a:rPr>
              <a:t>Involves defining objectives, identifying alternatives, assessing the consequences, and making trade-offs.</a:t>
            </a:r>
            <a:endParaRPr lang="en-IN" sz="1600" dirty="0">
              <a:latin typeface="Bookman Old Style" pitchFamily="18" charset="0"/>
            </a:endParaRPr>
          </a:p>
        </p:txBody>
      </p:sp>
    </p:spTree>
    <p:extLst>
      <p:ext uri="{BB962C8B-B14F-4D97-AF65-F5344CB8AC3E}">
        <p14:creationId xmlns:p14="http://schemas.microsoft.com/office/powerpoint/2010/main" val="11077726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pPr algn="just">
              <a:lnSpc>
                <a:spcPct val="150000"/>
              </a:lnSpc>
            </a:pPr>
            <a:r>
              <a:rPr lang="en-US" sz="1600" b="1" dirty="0">
                <a:latin typeface="Bookman Old Style" pitchFamily="18" charset="0"/>
              </a:rPr>
              <a:t>2.Risk Analysis:</a:t>
            </a:r>
          </a:p>
          <a:p>
            <a:pPr algn="just">
              <a:lnSpc>
                <a:spcPct val="150000"/>
              </a:lnSpc>
            </a:pPr>
            <a:r>
              <a:rPr lang="en-US" sz="1600" b="1" dirty="0">
                <a:latin typeface="Bookman Old Style" pitchFamily="18" charset="0"/>
              </a:rPr>
              <a:t> </a:t>
            </a:r>
            <a:r>
              <a:rPr lang="en-US" sz="1600" dirty="0">
                <a:latin typeface="Bookman Old Style" pitchFamily="18" charset="0"/>
              </a:rPr>
              <a:t>The process of identifying, assessing, and prioritizing risks.</a:t>
            </a:r>
          </a:p>
          <a:p>
            <a:pPr algn="just">
              <a:lnSpc>
                <a:spcPct val="150000"/>
              </a:lnSpc>
            </a:pPr>
            <a:r>
              <a:rPr lang="en-US" sz="1600" dirty="0">
                <a:latin typeface="Bookman Old Style" pitchFamily="18" charset="0"/>
              </a:rPr>
              <a:t>Involves both qualitative and quantitative methods to estimate the likelihood and impact of different risks.</a:t>
            </a:r>
          </a:p>
          <a:p>
            <a:pPr algn="just">
              <a:lnSpc>
                <a:spcPct val="150000"/>
              </a:lnSpc>
            </a:pPr>
            <a:r>
              <a:rPr lang="en-US" sz="1600" b="1" dirty="0">
                <a:latin typeface="Bookman Old Style" pitchFamily="18" charset="0"/>
              </a:rPr>
              <a:t>3. Expected Utility Theory:</a:t>
            </a:r>
          </a:p>
          <a:p>
            <a:pPr algn="just">
              <a:lnSpc>
                <a:spcPct val="150000"/>
              </a:lnSpc>
            </a:pPr>
            <a:r>
              <a:rPr lang="en-US" sz="1600" dirty="0">
                <a:latin typeface="Bookman Old Style" pitchFamily="18" charset="0"/>
              </a:rPr>
              <a:t>A framework for making rational decisions under uncertainty.</a:t>
            </a:r>
          </a:p>
          <a:p>
            <a:pPr algn="just">
              <a:lnSpc>
                <a:spcPct val="150000"/>
              </a:lnSpc>
            </a:pPr>
            <a:r>
              <a:rPr lang="en-US" sz="1600" dirty="0">
                <a:latin typeface="Bookman Old Style" pitchFamily="18" charset="0"/>
              </a:rPr>
              <a:t>Decision-makers choose the alternative that maximizes their expected utility, a measure of satisfaction or value</a:t>
            </a:r>
            <a:r>
              <a:rPr lang="en-US" sz="1600" b="1" dirty="0">
                <a:latin typeface="Bookman Old Style" pitchFamily="18" charset="0"/>
              </a:rPr>
              <a:t>.</a:t>
            </a:r>
            <a:endParaRPr lang="en-IN" sz="1600" b="1" dirty="0">
              <a:latin typeface="Bookman Old Style" pitchFamily="18" charset="0"/>
            </a:endParaRPr>
          </a:p>
        </p:txBody>
      </p:sp>
    </p:spTree>
    <p:extLst>
      <p:ext uri="{BB962C8B-B14F-4D97-AF65-F5344CB8AC3E}">
        <p14:creationId xmlns:p14="http://schemas.microsoft.com/office/powerpoint/2010/main" val="42878674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sz="1600" b="1" dirty="0">
                <a:latin typeface="Bookman Old Style" pitchFamily="18" charset="0"/>
              </a:rPr>
              <a:t>4.Bayesian Decision Theory:</a:t>
            </a:r>
          </a:p>
          <a:p>
            <a:pPr>
              <a:lnSpc>
                <a:spcPct val="150000"/>
              </a:lnSpc>
            </a:pPr>
            <a:r>
              <a:rPr lang="en-US" sz="1600" dirty="0">
                <a:latin typeface="Bookman Old Style" pitchFamily="18" charset="0"/>
              </a:rPr>
              <a:t>Uses Bayes' theorem to update the probability of outcomes based on new evidence.</a:t>
            </a:r>
          </a:p>
          <a:p>
            <a:pPr>
              <a:lnSpc>
                <a:spcPct val="150000"/>
              </a:lnSpc>
            </a:pPr>
            <a:r>
              <a:rPr lang="en-US" sz="1600" dirty="0">
                <a:latin typeface="Bookman Old Style" pitchFamily="18" charset="0"/>
              </a:rPr>
              <a:t>Incorporates prior beliefs and evidence to make informed decisions.</a:t>
            </a:r>
          </a:p>
          <a:p>
            <a:pPr>
              <a:lnSpc>
                <a:spcPct val="150000"/>
              </a:lnSpc>
            </a:pPr>
            <a:r>
              <a:rPr lang="en-IN" sz="1600" b="1" dirty="0">
                <a:latin typeface="Bookman Old Style" pitchFamily="18" charset="0"/>
              </a:rPr>
              <a:t>5.Multi-Criteria Decision Analysis (MCDA):</a:t>
            </a:r>
          </a:p>
          <a:p>
            <a:pPr>
              <a:lnSpc>
                <a:spcPct val="150000"/>
              </a:lnSpc>
            </a:pPr>
            <a:r>
              <a:rPr lang="en-US" sz="1600" dirty="0">
                <a:latin typeface="Bookman Old Style" pitchFamily="18" charset="0"/>
              </a:rPr>
              <a:t>A set of methods for evaluating decisions involving multiple criteria.</a:t>
            </a:r>
          </a:p>
          <a:p>
            <a:pPr>
              <a:lnSpc>
                <a:spcPct val="150000"/>
              </a:lnSpc>
            </a:pPr>
            <a:r>
              <a:rPr lang="en-US" sz="1600" dirty="0">
                <a:latin typeface="Bookman Old Style" pitchFamily="18" charset="0"/>
              </a:rPr>
              <a:t>Examples include the Analytic Hierarchy Process (AHP) and Technique for Order of Preference by Similarity to Ideal Solution (TOPSIS).</a:t>
            </a:r>
            <a:endParaRPr lang="en-IN" sz="1600" dirty="0">
              <a:latin typeface="Bookman Old Style" pitchFamily="18" charset="0"/>
            </a:endParaRPr>
          </a:p>
        </p:txBody>
      </p:sp>
    </p:spTree>
    <p:extLst>
      <p:ext uri="{BB962C8B-B14F-4D97-AF65-F5344CB8AC3E}">
        <p14:creationId xmlns:p14="http://schemas.microsoft.com/office/powerpoint/2010/main" val="22883794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Methods and Techniques</a:t>
            </a:r>
          </a:p>
        </p:txBody>
      </p:sp>
      <p:sp>
        <p:nvSpPr>
          <p:cNvPr id="3" name="Content Placeholder 2"/>
          <p:cNvSpPr>
            <a:spLocks noGrp="1"/>
          </p:cNvSpPr>
          <p:nvPr>
            <p:ph idx="1"/>
          </p:nvPr>
        </p:nvSpPr>
        <p:spPr/>
        <p:txBody>
          <a:bodyPr>
            <a:normAutofit fontScale="92500" lnSpcReduction="20000"/>
          </a:bodyPr>
          <a:lstStyle/>
          <a:p>
            <a:pPr>
              <a:lnSpc>
                <a:spcPct val="150000"/>
              </a:lnSpc>
            </a:pPr>
            <a:r>
              <a:rPr lang="en-US" sz="1600" b="1" dirty="0">
                <a:latin typeface="Bookman Old Style" pitchFamily="18" charset="0"/>
              </a:rPr>
              <a:t>1.Decision Trees:</a:t>
            </a:r>
          </a:p>
          <a:p>
            <a:pPr>
              <a:lnSpc>
                <a:spcPct val="150000"/>
              </a:lnSpc>
            </a:pPr>
            <a:r>
              <a:rPr lang="en-US" sz="1600" dirty="0">
                <a:latin typeface="Bookman Old Style" pitchFamily="18" charset="0"/>
              </a:rPr>
              <a:t>Graphical representations of decision processes, including decision nodes, chance nodes, and end nodes.</a:t>
            </a:r>
          </a:p>
          <a:p>
            <a:pPr>
              <a:lnSpc>
                <a:spcPct val="150000"/>
              </a:lnSpc>
            </a:pPr>
            <a:r>
              <a:rPr lang="en-US" sz="1600" dirty="0">
                <a:latin typeface="Bookman Old Style" pitchFamily="18" charset="0"/>
              </a:rPr>
              <a:t>Useful for visualizing and analyzing complex decision problems.</a:t>
            </a:r>
          </a:p>
          <a:p>
            <a:pPr>
              <a:lnSpc>
                <a:spcPct val="150000"/>
              </a:lnSpc>
            </a:pPr>
            <a:r>
              <a:rPr lang="en-US" sz="1600" b="1" dirty="0">
                <a:latin typeface="Bookman Old Style" pitchFamily="18" charset="0"/>
              </a:rPr>
              <a:t>2. Influence Diagrams</a:t>
            </a:r>
          </a:p>
          <a:p>
            <a:pPr>
              <a:lnSpc>
                <a:spcPct val="150000"/>
              </a:lnSpc>
            </a:pPr>
            <a:r>
              <a:rPr lang="en-US" sz="1600" dirty="0">
                <a:latin typeface="Bookman Old Style" pitchFamily="18" charset="0"/>
              </a:rPr>
              <a:t>A more compact representation than decision trees, showing relationships between decisions, uncertainties, and objectives.</a:t>
            </a:r>
          </a:p>
          <a:p>
            <a:pPr>
              <a:lnSpc>
                <a:spcPct val="150000"/>
              </a:lnSpc>
            </a:pPr>
            <a:r>
              <a:rPr lang="en-US" sz="1600" dirty="0">
                <a:latin typeface="Bookman Old Style" pitchFamily="18" charset="0"/>
              </a:rPr>
              <a:t>Nodes represent decisions, uncertainties, and objectives, while arcs represent dependencies.</a:t>
            </a:r>
            <a:endParaRPr lang="en-IN" sz="1600" dirty="0">
              <a:latin typeface="Bookman Old Style" pitchFamily="18" charset="0"/>
            </a:endParaRPr>
          </a:p>
        </p:txBody>
      </p:sp>
    </p:spTree>
    <p:extLst>
      <p:ext uri="{BB962C8B-B14F-4D97-AF65-F5344CB8AC3E}">
        <p14:creationId xmlns:p14="http://schemas.microsoft.com/office/powerpoint/2010/main" val="4094811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IN" sz="1600" b="1" dirty="0">
                <a:latin typeface="Bookman Old Style" pitchFamily="18" charset="0"/>
              </a:rPr>
              <a:t>3.Monte Carlo Simulation:</a:t>
            </a:r>
          </a:p>
          <a:p>
            <a:r>
              <a:rPr lang="en-US" sz="1600" dirty="0"/>
              <a:t>A computational technique that uses random sampling to estimate the probability distribution of outcomes.</a:t>
            </a:r>
          </a:p>
          <a:p>
            <a:r>
              <a:rPr lang="en-US" sz="1600" dirty="0"/>
              <a:t>Commonly used for risk analysis and financial modeling.</a:t>
            </a:r>
          </a:p>
          <a:p>
            <a:r>
              <a:rPr lang="en-US" sz="1600" b="1" dirty="0">
                <a:latin typeface="Bookman Old Style" pitchFamily="18" charset="0"/>
              </a:rPr>
              <a:t>4. Sensitivity Analysis:</a:t>
            </a:r>
          </a:p>
          <a:p>
            <a:pPr>
              <a:lnSpc>
                <a:spcPct val="150000"/>
              </a:lnSpc>
            </a:pPr>
            <a:r>
              <a:rPr lang="en-US" sz="1600" dirty="0">
                <a:latin typeface="Bookman Old Style" pitchFamily="18" charset="0"/>
              </a:rPr>
              <a:t>Examines how changes in input variables affect the outcomes of a decision model.</a:t>
            </a:r>
          </a:p>
          <a:p>
            <a:pPr>
              <a:lnSpc>
                <a:spcPct val="150000"/>
              </a:lnSpc>
            </a:pPr>
            <a:r>
              <a:rPr lang="en-US" sz="1600" dirty="0">
                <a:latin typeface="Bookman Old Style" pitchFamily="18" charset="0"/>
              </a:rPr>
              <a:t>Helps identify critical variables and assess the robustness of decisions.</a:t>
            </a:r>
          </a:p>
          <a:p>
            <a:pPr>
              <a:lnSpc>
                <a:spcPct val="150000"/>
              </a:lnSpc>
            </a:pPr>
            <a:r>
              <a:rPr lang="en-US" sz="1600" b="1" dirty="0">
                <a:latin typeface="Bookman Old Style" pitchFamily="18" charset="0"/>
              </a:rPr>
              <a:t>5.Scenario Analysis:</a:t>
            </a:r>
          </a:p>
          <a:p>
            <a:pPr>
              <a:lnSpc>
                <a:spcPct val="150000"/>
              </a:lnSpc>
            </a:pPr>
            <a:r>
              <a:rPr lang="en-US" sz="1600" dirty="0">
                <a:latin typeface="Bookman Old Style" pitchFamily="18" charset="0"/>
              </a:rPr>
              <a:t>Evaluates the impact of different scenarios on decision outcomes.</a:t>
            </a:r>
          </a:p>
          <a:p>
            <a:pPr>
              <a:lnSpc>
                <a:spcPct val="150000"/>
              </a:lnSpc>
            </a:pPr>
            <a:r>
              <a:rPr lang="en-US" sz="1600" dirty="0">
                <a:latin typeface="Bookman Old Style" pitchFamily="18" charset="0"/>
              </a:rPr>
              <a:t>Involves constructing and analyzing plausible future states to understand potential risks and opportunities.</a:t>
            </a:r>
            <a:endParaRPr lang="en-IN" sz="1600" dirty="0">
              <a:latin typeface="Bookman Old Style" pitchFamily="18" charset="0"/>
            </a:endParaRPr>
          </a:p>
        </p:txBody>
      </p:sp>
    </p:spTree>
    <p:extLst>
      <p:ext uri="{BB962C8B-B14F-4D97-AF65-F5344CB8AC3E}">
        <p14:creationId xmlns:p14="http://schemas.microsoft.com/office/powerpoint/2010/main" val="27359053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Bookman Old Style" pitchFamily="18" charset="0"/>
              </a:rPr>
              <a:t>Algorithm for Decision Tree Induction</a:t>
            </a:r>
            <a:endParaRPr lang="en-IN" sz="3200" dirty="0">
              <a:latin typeface="Bookman Old Style" pitchFamily="18" charset="0"/>
            </a:endParaRPr>
          </a:p>
        </p:txBody>
      </p:sp>
      <p:sp>
        <p:nvSpPr>
          <p:cNvPr id="3" name="Content Placeholder 2"/>
          <p:cNvSpPr>
            <a:spLocks noGrp="1"/>
          </p:cNvSpPr>
          <p:nvPr>
            <p:ph idx="1"/>
          </p:nvPr>
        </p:nvSpPr>
        <p:spPr/>
        <p:txBody>
          <a:bodyPr/>
          <a:lstStyle/>
          <a:p>
            <a:endParaRPr lang="en-IN"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556792"/>
            <a:ext cx="8568952" cy="48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08464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latin typeface="Bookman Old Style" pitchFamily="18" charset="0"/>
              </a:rPr>
              <a:t>Attribute Selection Measures</a:t>
            </a:r>
          </a:p>
        </p:txBody>
      </p:sp>
      <p:sp>
        <p:nvSpPr>
          <p:cNvPr id="3" name="Content Placeholder 2"/>
          <p:cNvSpPr>
            <a:spLocks noGrp="1"/>
          </p:cNvSpPr>
          <p:nvPr>
            <p:ph idx="1"/>
          </p:nvPr>
        </p:nvSpPr>
        <p:spPr/>
        <p:txBody>
          <a:bodyPr/>
          <a:lstStyle/>
          <a:p>
            <a:endParaRPr lang="en-IN"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489" y="1796146"/>
            <a:ext cx="7911193" cy="4237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83128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latin typeface="Bookman Old Style" pitchFamily="18" charset="0"/>
              </a:rPr>
              <a:t>Attribute Selection: Information Gain</a:t>
            </a:r>
          </a:p>
        </p:txBody>
      </p:sp>
      <p:sp>
        <p:nvSpPr>
          <p:cNvPr id="3" name="Content Placeholder 2"/>
          <p:cNvSpPr>
            <a:spLocks noGrp="1"/>
          </p:cNvSpPr>
          <p:nvPr>
            <p:ph idx="1"/>
          </p:nvPr>
        </p:nvSpPr>
        <p:spPr/>
        <p:txBody>
          <a:bodyPr/>
          <a:lstStyle/>
          <a:p>
            <a:endParaRPr lang="en-IN"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842" y="1763485"/>
            <a:ext cx="8098972" cy="4441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11540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latin typeface="Bookman Old Style" pitchFamily="18" charset="0"/>
              </a:rPr>
              <a:t>Information Gain Approach</a:t>
            </a:r>
          </a:p>
        </p:txBody>
      </p:sp>
      <p:sp>
        <p:nvSpPr>
          <p:cNvPr id="3" name="Content Placeholder 2"/>
          <p:cNvSpPr>
            <a:spLocks noGrp="1"/>
          </p:cNvSpPr>
          <p:nvPr>
            <p:ph idx="1"/>
          </p:nvPr>
        </p:nvSpPr>
        <p:spPr/>
        <p:txBody>
          <a:bodyPr/>
          <a:lstStyle/>
          <a:p>
            <a:endParaRPr lang="en-IN"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010" y="1883231"/>
            <a:ext cx="7944871" cy="4180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87350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222" y="271463"/>
            <a:ext cx="8490857" cy="631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98529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300" y="142875"/>
            <a:ext cx="7968343" cy="657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40384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14300"/>
            <a:ext cx="80010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3160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064" y="283029"/>
            <a:ext cx="8213272" cy="6012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65481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1" y="214313"/>
            <a:ext cx="8237765" cy="642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02701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F33080-467A-4921-B1F5-5E75FAD8555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142399F9-700F-43F7-BE95-7A74A119FD5D}"/>
              </a:ext>
            </a:extLst>
          </p:cNvPr>
          <p:cNvSpPr>
            <a:spLocks noGrp="1"/>
          </p:cNvSpPr>
          <p:nvPr>
            <p:ph idx="1"/>
          </p:nvPr>
        </p:nvSpPr>
        <p:spPr/>
        <p:txBody>
          <a:bodyPr/>
          <a:lstStyle/>
          <a:p>
            <a:pPr marL="0" indent="0">
              <a:buNone/>
            </a:pPr>
            <a:r>
              <a:rPr lang="en-US" dirty="0"/>
              <a:t>Refer Problems for </a:t>
            </a:r>
          </a:p>
          <a:p>
            <a:pPr algn="just"/>
            <a:r>
              <a:rPr lang="en-US" dirty="0"/>
              <a:t>Maximum Likelihood estimation , stochastic process modelling and Truth tables (AND,,,,)</a:t>
            </a:r>
            <a:endParaRPr lang="en-IN" dirty="0"/>
          </a:p>
        </p:txBody>
      </p:sp>
    </p:spTree>
    <p:extLst>
      <p:ext uri="{BB962C8B-B14F-4D97-AF65-F5344CB8AC3E}">
        <p14:creationId xmlns:p14="http://schemas.microsoft.com/office/powerpoint/2010/main" val="2173205501"/>
      </p:ext>
    </p:extLst>
  </p:cSld>
  <p:clrMapOvr>
    <a:masterClrMapping/>
  </p:clrMapOvr>
</p:sld>
</file>

<file path=ppt/theme/_rels/them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Civic</Template>
  <TotalTime>727</TotalTime>
  <Words>3786</Words>
  <Application>Microsoft Office PowerPoint</Application>
  <PresentationFormat>On-screen Show (4:3)</PresentationFormat>
  <Paragraphs>271</Paragraphs>
  <Slides>68</Slides>
  <Notes>0</Notes>
  <HiddenSlides>0</HiddenSlides>
  <MMClips>0</MMClips>
  <ScaleCrop>false</ScaleCrop>
  <HeadingPairs>
    <vt:vector size="6" baseType="variant">
      <vt:variant>
        <vt:lpstr>Fonts Used</vt:lpstr>
      </vt:variant>
      <vt:variant>
        <vt:i4>6</vt:i4>
      </vt:variant>
      <vt:variant>
        <vt:lpstr>Theme</vt:lpstr>
      </vt:variant>
      <vt:variant>
        <vt:i4>8</vt:i4>
      </vt:variant>
      <vt:variant>
        <vt:lpstr>Slide Titles</vt:lpstr>
      </vt:variant>
      <vt:variant>
        <vt:i4>68</vt:i4>
      </vt:variant>
    </vt:vector>
  </HeadingPairs>
  <TitlesOfParts>
    <vt:vector size="82" baseType="lpstr">
      <vt:lpstr>Arial</vt:lpstr>
      <vt:lpstr>Bookman Old Style</vt:lpstr>
      <vt:lpstr>Calibri</vt:lpstr>
      <vt:lpstr>Calibri Light</vt:lpstr>
      <vt:lpstr>Garamond</vt:lpstr>
      <vt:lpstr>KaTeX_Main</vt:lpstr>
      <vt:lpstr>Office Theme</vt:lpstr>
      <vt:lpstr>1_Office Theme</vt:lpstr>
      <vt:lpstr>2_Office Theme</vt:lpstr>
      <vt:lpstr>3_Office Theme</vt:lpstr>
      <vt:lpstr>4_Office Theme</vt:lpstr>
      <vt:lpstr>5_Office Theme</vt:lpstr>
      <vt:lpstr>7_Office Theme</vt:lpstr>
      <vt:lpstr>Organic</vt:lpstr>
      <vt:lpstr>UNIT – V</vt:lpstr>
      <vt:lpstr>Linear Time Series Models</vt:lpstr>
      <vt:lpstr>PowerPoint Presentation</vt:lpstr>
      <vt:lpstr>Moving Average</vt:lpstr>
      <vt:lpstr>PowerPoint Presentation</vt:lpstr>
      <vt:lpstr>PowerPoint Presentation</vt:lpstr>
      <vt:lpstr>Autoregressive Moving Average and Autoregressive Integrated Moving Average models</vt:lpstr>
      <vt:lpstr>Autoregressive Moving Average (ARMA) </vt:lpstr>
      <vt:lpstr>Autoregressive Integrated Moving Average (ARIMA)</vt:lpstr>
      <vt:lpstr>PowerPoint Presentation</vt:lpstr>
      <vt:lpstr>Estimation of ARMA models such as Yule-Walker estimation for AR Processes</vt:lpstr>
      <vt:lpstr>Yule-Walker Estimation for AR Processes</vt:lpstr>
      <vt:lpstr>PowerPoint Presentation</vt:lpstr>
      <vt:lpstr>Estimation of ARMA Models</vt:lpstr>
      <vt:lpstr>PowerPoint Presentation</vt:lpstr>
      <vt:lpstr> Maximum likelihood and least squares estimation for ARMA Processes</vt:lpstr>
      <vt:lpstr>Maximum Likelihood Estimation (MLE)</vt:lpstr>
      <vt:lpstr>PowerPoint Presentation</vt:lpstr>
      <vt:lpstr>Least Squares Estimation</vt:lpstr>
      <vt:lpstr>PowerPoint Presentation</vt:lpstr>
      <vt:lpstr>Comparison</vt:lpstr>
      <vt:lpstr> Forecasting using ARIMA models</vt:lpstr>
      <vt:lpstr>Steps for Forecasting using ARIMA Models</vt:lpstr>
      <vt:lpstr>PowerPoint Presentation</vt:lpstr>
      <vt:lpstr>Key Points for Effective Forecasting</vt:lpstr>
      <vt:lpstr>PowerPoint Presentation</vt:lpstr>
      <vt:lpstr>CONTENTS</vt:lpstr>
      <vt:lpstr>Prescriptive Analytics  </vt:lpstr>
      <vt:lpstr>PowerPoint Presentation</vt:lpstr>
      <vt:lpstr>PowerPoint Presentation</vt:lpstr>
      <vt:lpstr>Mathematical Optimization</vt:lpstr>
      <vt:lpstr>PowerPoint Presentation</vt:lpstr>
      <vt:lpstr>Types of mathematical optimization</vt:lpstr>
      <vt:lpstr>PowerPoint Presentation</vt:lpstr>
      <vt:lpstr>PowerPoint Presentation</vt:lpstr>
      <vt:lpstr>Networks modeling-Multi-objective optimization-Stochastic modeling (also refer my notes for problems)</vt:lpstr>
      <vt:lpstr>PowerPoint Presentation</vt:lpstr>
      <vt:lpstr>Methods and Techniques</vt:lpstr>
      <vt:lpstr>PowerPoint Presentation</vt:lpstr>
      <vt:lpstr>Applications</vt:lpstr>
      <vt:lpstr>PowerPoint Presentation</vt:lpstr>
      <vt:lpstr>Tools and Software</vt:lpstr>
      <vt:lpstr>Multi-objective optimization</vt:lpstr>
      <vt:lpstr>PowerPoint Presentation</vt:lpstr>
      <vt:lpstr>PowerPoint Presentation</vt:lpstr>
      <vt:lpstr>Applications</vt:lpstr>
      <vt:lpstr>PowerPoint Presentation</vt:lpstr>
      <vt:lpstr>Stochastic modeling</vt:lpstr>
      <vt:lpstr>Key Concepts</vt:lpstr>
      <vt:lpstr>PowerPoint Presentation</vt:lpstr>
      <vt:lpstr>Methods and Techniques</vt:lpstr>
      <vt:lpstr>PowerPoint Presentation</vt:lpstr>
      <vt:lpstr>PowerPoint Presentation</vt:lpstr>
      <vt:lpstr>Decision and Risk analysis</vt:lpstr>
      <vt:lpstr>PowerPoint Presentation</vt:lpstr>
      <vt:lpstr>PowerPoint Presentation</vt:lpstr>
      <vt:lpstr>Methods and Techniques</vt:lpstr>
      <vt:lpstr>PowerPoint Presentation</vt:lpstr>
      <vt:lpstr>Algorithm for Decision Tree Induction</vt:lpstr>
      <vt:lpstr>Attribute Selection Measures</vt:lpstr>
      <vt:lpstr>Attribute Selection: Information Gain</vt:lpstr>
      <vt:lpstr>Information Gain Approach</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VI</dc:title>
  <dc:creator>VNRVJIET</dc:creator>
  <cp:lastModifiedBy>Microsoft account</cp:lastModifiedBy>
  <cp:revision>65</cp:revision>
  <dcterms:created xsi:type="dcterms:W3CDTF">2024-05-09T06:03:29Z</dcterms:created>
  <dcterms:modified xsi:type="dcterms:W3CDTF">2024-12-04T14:15:35Z</dcterms:modified>
</cp:coreProperties>
</file>