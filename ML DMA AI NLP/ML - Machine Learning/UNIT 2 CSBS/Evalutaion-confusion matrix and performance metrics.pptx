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handoutMasterIdLst>
    <p:handoutMasterId r:id="rId30"/>
  </p:handoutMasterIdLst>
  <p:sldIdLst>
    <p:sldId id="320" r:id="rId2"/>
    <p:sldId id="258" r:id="rId3"/>
    <p:sldId id="259" r:id="rId4"/>
    <p:sldId id="260" r:id="rId5"/>
    <p:sldId id="287" r:id="rId6"/>
    <p:sldId id="308" r:id="rId7"/>
    <p:sldId id="306" r:id="rId8"/>
    <p:sldId id="291" r:id="rId9"/>
    <p:sldId id="315" r:id="rId10"/>
    <p:sldId id="316" r:id="rId11"/>
    <p:sldId id="290" r:id="rId12"/>
    <p:sldId id="303" r:id="rId13"/>
    <p:sldId id="309" r:id="rId14"/>
    <p:sldId id="304" r:id="rId15"/>
    <p:sldId id="305" r:id="rId16"/>
    <p:sldId id="307" r:id="rId17"/>
    <p:sldId id="310" r:id="rId18"/>
    <p:sldId id="311" r:id="rId19"/>
    <p:sldId id="314" r:id="rId20"/>
    <p:sldId id="312" r:id="rId21"/>
    <p:sldId id="313" r:id="rId22"/>
    <p:sldId id="317" r:id="rId23"/>
    <p:sldId id="318" r:id="rId24"/>
    <p:sldId id="321" r:id="rId25"/>
    <p:sldId id="322" r:id="rId26"/>
    <p:sldId id="323" r:id="rId27"/>
    <p:sldId id="286" r:id="rId28"/>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2F9831C-7632-4E3A-A60A-88085A7C1277}">
          <p14:sldIdLst>
            <p14:sldId id="320"/>
            <p14:sldId id="258"/>
            <p14:sldId id="259"/>
            <p14:sldId id="260"/>
            <p14:sldId id="287"/>
            <p14:sldId id="308"/>
            <p14:sldId id="306"/>
            <p14:sldId id="291"/>
            <p14:sldId id="315"/>
            <p14:sldId id="316"/>
            <p14:sldId id="290"/>
            <p14:sldId id="303"/>
            <p14:sldId id="309"/>
            <p14:sldId id="304"/>
            <p14:sldId id="305"/>
            <p14:sldId id="307"/>
            <p14:sldId id="310"/>
            <p14:sldId id="311"/>
            <p14:sldId id="314"/>
            <p14:sldId id="312"/>
            <p14:sldId id="313"/>
            <p14:sldId id="317"/>
            <p14:sldId id="318"/>
            <p14:sldId id="321"/>
            <p14:sldId id="322"/>
            <p14:sldId id="323"/>
          </p14:sldIdLst>
        </p14:section>
        <p14:section name="Untitled Section" id="{AAFB1053-0B04-4A28-9C25-219F376A9873}">
          <p14:sldIdLst>
            <p14:sldId id="286"/>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874" y="58"/>
      </p:cViewPr>
      <p:guideLst>
        <p:guide orient="horz" pos="2880"/>
        <p:guide pos="2160"/>
      </p:guideLst>
    </p:cSldViewPr>
  </p:slideViewPr>
  <p:notesTextViewPr>
    <p:cViewPr>
      <p:scale>
        <a:sx n="100" d="100"/>
        <a:sy n="100" d="100"/>
      </p:scale>
      <p:origin x="0" y="0"/>
    </p:cViewPr>
  </p:notesTextViewPr>
  <p:notesViewPr>
    <p:cSldViewPr>
      <p:cViewPr varScale="1">
        <p:scale>
          <a:sx n="115" d="100"/>
          <a:sy n="115" d="100"/>
        </p:scale>
        <p:origin x="1248"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47F945-C037-41DD-8279-DD2AE19B042D}"/>
              </a:ext>
            </a:extLst>
          </p:cNvPr>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4A12C629-12A8-49ED-A28D-89767366A4D6}"/>
              </a:ext>
            </a:extLst>
          </p:cNvPr>
          <p:cNvSpPr>
            <a:spLocks noGrp="1"/>
          </p:cNvSpPr>
          <p:nvPr>
            <p:ph type="dt" sz="quarter" idx="1"/>
          </p:nvPr>
        </p:nvSpPr>
        <p:spPr>
          <a:xfrm>
            <a:off x="5180013" y="0"/>
            <a:ext cx="3962400" cy="257175"/>
          </a:xfrm>
          <a:prstGeom prst="rect">
            <a:avLst/>
          </a:prstGeom>
        </p:spPr>
        <p:txBody>
          <a:bodyPr vert="horz" lIns="91440" tIns="45720" rIns="91440" bIns="45720" rtlCol="0"/>
          <a:lstStyle>
            <a:lvl1pPr algn="r">
              <a:defRPr sz="1200"/>
            </a:lvl1pPr>
          </a:lstStyle>
          <a:p>
            <a:fld id="{43601B16-0523-4D82-9AD3-FEEF73E6C4A9}" type="datetimeFigureOut">
              <a:rPr lang="en-IN" smtClean="0"/>
              <a:t>23-09-2024</a:t>
            </a:fld>
            <a:endParaRPr lang="en-IN"/>
          </a:p>
        </p:txBody>
      </p:sp>
      <p:sp>
        <p:nvSpPr>
          <p:cNvPr id="4" name="Footer Placeholder 3">
            <a:extLst>
              <a:ext uri="{FF2B5EF4-FFF2-40B4-BE49-F238E27FC236}">
                <a16:creationId xmlns:a16="http://schemas.microsoft.com/office/drawing/2014/main" id="{C1834281-E3ED-48A9-AFFF-189D62A53F74}"/>
              </a:ext>
            </a:extLst>
          </p:cNvPr>
          <p:cNvSpPr>
            <a:spLocks noGrp="1"/>
          </p:cNvSpPr>
          <p:nvPr>
            <p:ph type="ftr" sz="quarter" idx="2"/>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E7C1C931-6F60-42A4-9070-C9F8A0FCFD1C}"/>
              </a:ext>
            </a:extLst>
          </p:cNvPr>
          <p:cNvSpPr>
            <a:spLocks noGrp="1"/>
          </p:cNvSpPr>
          <p:nvPr>
            <p:ph type="sldNum" sz="quarter" idx="3"/>
          </p:nvPr>
        </p:nvSpPr>
        <p:spPr>
          <a:xfrm>
            <a:off x="5180013" y="4886325"/>
            <a:ext cx="3962400" cy="257175"/>
          </a:xfrm>
          <a:prstGeom prst="rect">
            <a:avLst/>
          </a:prstGeom>
        </p:spPr>
        <p:txBody>
          <a:bodyPr vert="horz" lIns="91440" tIns="45720" rIns="91440" bIns="45720" rtlCol="0" anchor="b"/>
          <a:lstStyle>
            <a:lvl1pPr algn="r">
              <a:defRPr sz="1200"/>
            </a:lvl1pPr>
          </a:lstStyle>
          <a:p>
            <a:fld id="{F5685F1A-D259-46F8-9A7A-B3663CDA3C95}" type="slidenum">
              <a:rPr lang="en-IN" smtClean="0"/>
              <a:t>‹#›</a:t>
            </a:fld>
            <a:endParaRPr lang="en-IN"/>
          </a:p>
        </p:txBody>
      </p:sp>
    </p:spTree>
    <p:extLst>
      <p:ext uri="{BB962C8B-B14F-4D97-AF65-F5344CB8AC3E}">
        <p14:creationId xmlns:p14="http://schemas.microsoft.com/office/powerpoint/2010/main" val="37599705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9230D026-B798-412A-8B90-CAE94F61EAF1}" type="datetimeFigureOut">
              <a:rPr lang="en-IN" smtClean="0"/>
              <a:t>23-09-2024</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E86D7BEC-73C2-4273-877F-F109E59C15A5}" type="slidenum">
              <a:rPr lang="en-IN" smtClean="0"/>
              <a:t>‹#›</a:t>
            </a:fld>
            <a:endParaRPr lang="en-IN"/>
          </a:p>
        </p:txBody>
      </p:sp>
    </p:spTree>
    <p:extLst>
      <p:ext uri="{BB962C8B-B14F-4D97-AF65-F5344CB8AC3E}">
        <p14:creationId xmlns:p14="http://schemas.microsoft.com/office/powerpoint/2010/main" val="128542511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6485DB-6355-47A6-ABCE-F416926EEF60}" type="slidenum">
              <a:rPr lang="en-IN" smtClean="0"/>
              <a:t>1</a:t>
            </a:fld>
            <a:endParaRPr lang="en-IN"/>
          </a:p>
        </p:txBody>
      </p:sp>
    </p:spTree>
    <p:extLst>
      <p:ext uri="{BB962C8B-B14F-4D97-AF65-F5344CB8AC3E}">
        <p14:creationId xmlns:p14="http://schemas.microsoft.com/office/powerpoint/2010/main" val="2780510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86D7BEC-73C2-4273-877F-F109E59C15A5}" type="slidenum">
              <a:rPr lang="en-IN" smtClean="0"/>
              <a:t>8</a:t>
            </a:fld>
            <a:endParaRPr lang="en-IN"/>
          </a:p>
        </p:txBody>
      </p:sp>
    </p:spTree>
    <p:extLst>
      <p:ext uri="{BB962C8B-B14F-4D97-AF65-F5344CB8AC3E}">
        <p14:creationId xmlns:p14="http://schemas.microsoft.com/office/powerpoint/2010/main" val="2446460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86D7BEC-73C2-4273-877F-F109E59C15A5}" type="slidenum">
              <a:rPr lang="en-IN" smtClean="0"/>
              <a:t>9</a:t>
            </a:fld>
            <a:endParaRPr lang="en-IN"/>
          </a:p>
        </p:txBody>
      </p:sp>
    </p:spTree>
    <p:extLst>
      <p:ext uri="{BB962C8B-B14F-4D97-AF65-F5344CB8AC3E}">
        <p14:creationId xmlns:p14="http://schemas.microsoft.com/office/powerpoint/2010/main" val="13382343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7" name="bg object 17"/>
          <p:cNvSpPr/>
          <p:nvPr/>
        </p:nvSpPr>
        <p:spPr>
          <a:xfrm>
            <a:off x="1829561" y="3458717"/>
            <a:ext cx="5372100" cy="58419"/>
          </a:xfrm>
          <a:custGeom>
            <a:avLst/>
            <a:gdLst/>
            <a:ahLst/>
            <a:cxnLst/>
            <a:rect l="l" t="t" r="r" b="b"/>
            <a:pathLst>
              <a:path w="5372100" h="58420">
                <a:moveTo>
                  <a:pt x="5314188" y="0"/>
                </a:moveTo>
                <a:lnTo>
                  <a:pt x="5314188" y="57911"/>
                </a:lnTo>
                <a:lnTo>
                  <a:pt x="5343144" y="43433"/>
                </a:lnTo>
                <a:lnTo>
                  <a:pt x="5328666" y="43433"/>
                </a:lnTo>
                <a:lnTo>
                  <a:pt x="5328666" y="14477"/>
                </a:lnTo>
                <a:lnTo>
                  <a:pt x="5343144" y="14477"/>
                </a:lnTo>
                <a:lnTo>
                  <a:pt x="5314188" y="0"/>
                </a:lnTo>
                <a:close/>
              </a:path>
              <a:path w="5372100" h="58420">
                <a:moveTo>
                  <a:pt x="5314188" y="14477"/>
                </a:moveTo>
                <a:lnTo>
                  <a:pt x="0" y="14477"/>
                </a:lnTo>
                <a:lnTo>
                  <a:pt x="0" y="43433"/>
                </a:lnTo>
                <a:lnTo>
                  <a:pt x="5314188" y="43433"/>
                </a:lnTo>
                <a:lnTo>
                  <a:pt x="5314188" y="14477"/>
                </a:lnTo>
                <a:close/>
              </a:path>
              <a:path w="5372100" h="58420">
                <a:moveTo>
                  <a:pt x="5343144" y="14477"/>
                </a:moveTo>
                <a:lnTo>
                  <a:pt x="5328666" y="14477"/>
                </a:lnTo>
                <a:lnTo>
                  <a:pt x="5328666" y="43433"/>
                </a:lnTo>
                <a:lnTo>
                  <a:pt x="5343144" y="43433"/>
                </a:lnTo>
                <a:lnTo>
                  <a:pt x="5372099" y="28955"/>
                </a:lnTo>
                <a:lnTo>
                  <a:pt x="5343144" y="14477"/>
                </a:lnTo>
                <a:close/>
              </a:path>
            </a:pathLst>
          </a:custGeom>
          <a:solidFill>
            <a:srgbClr val="000000"/>
          </a:solidFill>
        </p:spPr>
        <p:txBody>
          <a:bodyPr wrap="square" lIns="0" tIns="0" rIns="0" bIns="0" rtlCol="0"/>
          <a:lstStyle/>
          <a:p>
            <a:endParaRPr/>
          </a:p>
        </p:txBody>
      </p:sp>
      <p:sp>
        <p:nvSpPr>
          <p:cNvPr id="18" name="bg object 18"/>
          <p:cNvSpPr/>
          <p:nvPr/>
        </p:nvSpPr>
        <p:spPr>
          <a:xfrm>
            <a:off x="3830573" y="2137505"/>
            <a:ext cx="2948940" cy="1343025"/>
          </a:xfrm>
          <a:custGeom>
            <a:avLst/>
            <a:gdLst/>
            <a:ahLst/>
            <a:cxnLst/>
            <a:rect l="l" t="t" r="r" b="b"/>
            <a:pathLst>
              <a:path w="2948940" h="1343025">
                <a:moveTo>
                  <a:pt x="0" y="1342548"/>
                </a:moveTo>
                <a:lnTo>
                  <a:pt x="28903" y="1338220"/>
                </a:lnTo>
                <a:lnTo>
                  <a:pt x="68613" y="1332439"/>
                </a:lnTo>
                <a:lnTo>
                  <a:pt x="116444" y="1325342"/>
                </a:lnTo>
                <a:lnTo>
                  <a:pt x="169713" y="1317066"/>
                </a:lnTo>
                <a:lnTo>
                  <a:pt x="225735" y="1307748"/>
                </a:lnTo>
                <a:lnTo>
                  <a:pt x="281827" y="1297524"/>
                </a:lnTo>
                <a:lnTo>
                  <a:pt x="335302" y="1286533"/>
                </a:lnTo>
                <a:lnTo>
                  <a:pt x="383479" y="1274910"/>
                </a:lnTo>
                <a:lnTo>
                  <a:pt x="423672" y="1262792"/>
                </a:lnTo>
                <a:lnTo>
                  <a:pt x="479864" y="1241689"/>
                </a:lnTo>
                <a:lnTo>
                  <a:pt x="524463" y="1220336"/>
                </a:lnTo>
                <a:lnTo>
                  <a:pt x="562148" y="1195374"/>
                </a:lnTo>
                <a:lnTo>
                  <a:pt x="597603" y="1163444"/>
                </a:lnTo>
                <a:lnTo>
                  <a:pt x="635508" y="1121187"/>
                </a:lnTo>
                <a:lnTo>
                  <a:pt x="660735" y="1088103"/>
                </a:lnTo>
                <a:lnTo>
                  <a:pt x="685617" y="1050159"/>
                </a:lnTo>
                <a:lnTo>
                  <a:pt x="710249" y="1008303"/>
                </a:lnTo>
                <a:lnTo>
                  <a:pt x="734726" y="963485"/>
                </a:lnTo>
                <a:lnTo>
                  <a:pt x="759144" y="916655"/>
                </a:lnTo>
                <a:lnTo>
                  <a:pt x="783597" y="868763"/>
                </a:lnTo>
                <a:lnTo>
                  <a:pt x="808182" y="820757"/>
                </a:lnTo>
                <a:lnTo>
                  <a:pt x="832992" y="773588"/>
                </a:lnTo>
                <a:lnTo>
                  <a:pt x="854828" y="731495"/>
                </a:lnTo>
                <a:lnTo>
                  <a:pt x="876092" y="687962"/>
                </a:lnTo>
                <a:lnTo>
                  <a:pt x="897099" y="643413"/>
                </a:lnTo>
                <a:lnTo>
                  <a:pt x="918163" y="598272"/>
                </a:lnTo>
                <a:lnTo>
                  <a:pt x="939597" y="552961"/>
                </a:lnTo>
                <a:lnTo>
                  <a:pt x="961714" y="507904"/>
                </a:lnTo>
                <a:lnTo>
                  <a:pt x="984829" y="463525"/>
                </a:lnTo>
                <a:lnTo>
                  <a:pt x="1009254" y="420246"/>
                </a:lnTo>
                <a:lnTo>
                  <a:pt x="1035303" y="378491"/>
                </a:lnTo>
                <a:lnTo>
                  <a:pt x="1063897" y="336340"/>
                </a:lnTo>
                <a:lnTo>
                  <a:pt x="1095195" y="292393"/>
                </a:lnTo>
                <a:lnTo>
                  <a:pt x="1128376" y="247855"/>
                </a:lnTo>
                <a:lnTo>
                  <a:pt x="1162616" y="203932"/>
                </a:lnTo>
                <a:lnTo>
                  <a:pt x="1197094" y="161829"/>
                </a:lnTo>
                <a:lnTo>
                  <a:pt x="1230987" y="122751"/>
                </a:lnTo>
                <a:lnTo>
                  <a:pt x="1263472" y="87903"/>
                </a:lnTo>
                <a:lnTo>
                  <a:pt x="1293726" y="58490"/>
                </a:lnTo>
                <a:lnTo>
                  <a:pt x="1371826" y="6250"/>
                </a:lnTo>
                <a:lnTo>
                  <a:pt x="1413795" y="0"/>
                </a:lnTo>
                <a:lnTo>
                  <a:pt x="1452193" y="11608"/>
                </a:lnTo>
                <a:lnTo>
                  <a:pt x="1492377" y="35718"/>
                </a:lnTo>
                <a:lnTo>
                  <a:pt x="1549437" y="88630"/>
                </a:lnTo>
                <a:lnTo>
                  <a:pt x="1577990" y="124999"/>
                </a:lnTo>
                <a:lnTo>
                  <a:pt x="1606554" y="166914"/>
                </a:lnTo>
                <a:lnTo>
                  <a:pt x="1635125" y="213577"/>
                </a:lnTo>
                <a:lnTo>
                  <a:pt x="1663700" y="264191"/>
                </a:lnTo>
                <a:lnTo>
                  <a:pt x="1683021" y="301897"/>
                </a:lnTo>
                <a:lnTo>
                  <a:pt x="1702749" y="344302"/>
                </a:lnTo>
                <a:lnTo>
                  <a:pt x="1722679" y="390114"/>
                </a:lnTo>
                <a:lnTo>
                  <a:pt x="1742606" y="438039"/>
                </a:lnTo>
                <a:lnTo>
                  <a:pt x="1762325" y="486785"/>
                </a:lnTo>
                <a:lnTo>
                  <a:pt x="1781631" y="535059"/>
                </a:lnTo>
                <a:lnTo>
                  <a:pt x="1800319" y="581567"/>
                </a:lnTo>
                <a:lnTo>
                  <a:pt x="1818184" y="625016"/>
                </a:lnTo>
                <a:lnTo>
                  <a:pt x="1835023" y="664114"/>
                </a:lnTo>
                <a:lnTo>
                  <a:pt x="1857815" y="716032"/>
                </a:lnTo>
                <a:lnTo>
                  <a:pt x="1878170" y="762930"/>
                </a:lnTo>
                <a:lnTo>
                  <a:pt x="1897205" y="805735"/>
                </a:lnTo>
                <a:lnTo>
                  <a:pt x="1916039" y="845376"/>
                </a:lnTo>
                <a:lnTo>
                  <a:pt x="1935791" y="882781"/>
                </a:lnTo>
                <a:lnTo>
                  <a:pt x="1957577" y="918876"/>
                </a:lnTo>
                <a:lnTo>
                  <a:pt x="1987435" y="960113"/>
                </a:lnTo>
                <a:lnTo>
                  <a:pt x="2020017" y="998100"/>
                </a:lnTo>
                <a:lnTo>
                  <a:pt x="2053507" y="1032728"/>
                </a:lnTo>
                <a:lnTo>
                  <a:pt x="2086089" y="1063888"/>
                </a:lnTo>
                <a:lnTo>
                  <a:pt x="2115947" y="1091469"/>
                </a:lnTo>
                <a:lnTo>
                  <a:pt x="2147238" y="1118401"/>
                </a:lnTo>
                <a:lnTo>
                  <a:pt x="2202297" y="1156692"/>
                </a:lnTo>
                <a:lnTo>
                  <a:pt x="2234946" y="1178337"/>
                </a:lnTo>
                <a:lnTo>
                  <a:pt x="2260066" y="1200818"/>
                </a:lnTo>
                <a:lnTo>
                  <a:pt x="2282047" y="1226390"/>
                </a:lnTo>
                <a:lnTo>
                  <a:pt x="2308600" y="1252138"/>
                </a:lnTo>
                <a:lnTo>
                  <a:pt x="2347437" y="1275150"/>
                </a:lnTo>
                <a:lnTo>
                  <a:pt x="2406268" y="1292510"/>
                </a:lnTo>
                <a:lnTo>
                  <a:pt x="2487843" y="1302454"/>
                </a:lnTo>
                <a:lnTo>
                  <a:pt x="2538498" y="1305869"/>
                </a:lnTo>
                <a:lnTo>
                  <a:pt x="2593392" y="1308454"/>
                </a:lnTo>
                <a:lnTo>
                  <a:pt x="2650770" y="1310365"/>
                </a:lnTo>
                <a:lnTo>
                  <a:pt x="2708878" y="1311757"/>
                </a:lnTo>
                <a:lnTo>
                  <a:pt x="2765960" y="1312786"/>
                </a:lnTo>
                <a:lnTo>
                  <a:pt x="2820261" y="1313607"/>
                </a:lnTo>
                <a:lnTo>
                  <a:pt x="2870029" y="1314378"/>
                </a:lnTo>
                <a:lnTo>
                  <a:pt x="2913506" y="1315252"/>
                </a:lnTo>
                <a:lnTo>
                  <a:pt x="2948940" y="1316386"/>
                </a:lnTo>
              </a:path>
            </a:pathLst>
          </a:custGeom>
          <a:ln w="38100">
            <a:solidFill>
              <a:srgbClr val="0000FF"/>
            </a:solidFill>
          </a:ln>
        </p:spPr>
        <p:txBody>
          <a:bodyPr wrap="square" lIns="0" tIns="0" rIns="0" bIns="0" rtlCol="0"/>
          <a:lstStyle/>
          <a:p>
            <a:endParaRPr/>
          </a:p>
        </p:txBody>
      </p:sp>
      <p:sp>
        <p:nvSpPr>
          <p:cNvPr id="19" name="bg object 19"/>
          <p:cNvSpPr/>
          <p:nvPr/>
        </p:nvSpPr>
        <p:spPr>
          <a:xfrm>
            <a:off x="2401061" y="2124775"/>
            <a:ext cx="3340735" cy="1369060"/>
          </a:xfrm>
          <a:custGeom>
            <a:avLst/>
            <a:gdLst/>
            <a:ahLst/>
            <a:cxnLst/>
            <a:rect l="l" t="t" r="r" b="b"/>
            <a:pathLst>
              <a:path w="3340735" h="1369060">
                <a:moveTo>
                  <a:pt x="0" y="1368994"/>
                </a:moveTo>
                <a:lnTo>
                  <a:pt x="54548" y="1361806"/>
                </a:lnTo>
                <a:lnTo>
                  <a:pt x="107921" y="1354206"/>
                </a:lnTo>
                <a:lnTo>
                  <a:pt x="158924" y="1345801"/>
                </a:lnTo>
                <a:lnTo>
                  <a:pt x="206360" y="1336200"/>
                </a:lnTo>
                <a:lnTo>
                  <a:pt x="249034" y="1325011"/>
                </a:lnTo>
                <a:lnTo>
                  <a:pt x="285750" y="1311844"/>
                </a:lnTo>
                <a:lnTo>
                  <a:pt x="323701" y="1290040"/>
                </a:lnTo>
                <a:lnTo>
                  <a:pt x="367456" y="1235620"/>
                </a:lnTo>
                <a:lnTo>
                  <a:pt x="400050" y="1197671"/>
                </a:lnTo>
                <a:lnTo>
                  <a:pt x="432770" y="1165701"/>
                </a:lnTo>
                <a:lnTo>
                  <a:pt x="471734" y="1128390"/>
                </a:lnTo>
                <a:lnTo>
                  <a:pt x="513873" y="1087911"/>
                </a:lnTo>
                <a:lnTo>
                  <a:pt x="556118" y="1046438"/>
                </a:lnTo>
                <a:lnTo>
                  <a:pt x="595400" y="1006142"/>
                </a:lnTo>
                <a:lnTo>
                  <a:pt x="628650" y="969198"/>
                </a:lnTo>
                <a:lnTo>
                  <a:pt x="665299" y="921095"/>
                </a:lnTo>
                <a:lnTo>
                  <a:pt x="692578" y="876885"/>
                </a:lnTo>
                <a:lnTo>
                  <a:pt x="717643" y="831556"/>
                </a:lnTo>
                <a:lnTo>
                  <a:pt x="747649" y="780095"/>
                </a:lnTo>
                <a:lnTo>
                  <a:pt x="771309" y="740049"/>
                </a:lnTo>
                <a:lnTo>
                  <a:pt x="795918" y="696030"/>
                </a:lnTo>
                <a:lnTo>
                  <a:pt x="821642" y="649825"/>
                </a:lnTo>
                <a:lnTo>
                  <a:pt x="848646" y="603217"/>
                </a:lnTo>
                <a:lnTo>
                  <a:pt x="877097" y="557992"/>
                </a:lnTo>
                <a:lnTo>
                  <a:pt x="907161" y="515935"/>
                </a:lnTo>
                <a:lnTo>
                  <a:pt x="939577" y="477225"/>
                </a:lnTo>
                <a:lnTo>
                  <a:pt x="974259" y="440445"/>
                </a:lnTo>
                <a:lnTo>
                  <a:pt x="1010316" y="405175"/>
                </a:lnTo>
                <a:lnTo>
                  <a:pt x="1046861" y="370995"/>
                </a:lnTo>
                <a:lnTo>
                  <a:pt x="1083003" y="337485"/>
                </a:lnTo>
                <a:lnTo>
                  <a:pt x="1117853" y="304226"/>
                </a:lnTo>
                <a:lnTo>
                  <a:pt x="1158098" y="263497"/>
                </a:lnTo>
                <a:lnTo>
                  <a:pt x="1197526" y="222383"/>
                </a:lnTo>
                <a:lnTo>
                  <a:pt x="1236479" y="182483"/>
                </a:lnTo>
                <a:lnTo>
                  <a:pt x="1275297" y="145393"/>
                </a:lnTo>
                <a:lnTo>
                  <a:pt x="1314323" y="112710"/>
                </a:lnTo>
                <a:lnTo>
                  <a:pt x="1354007" y="82774"/>
                </a:lnTo>
                <a:lnTo>
                  <a:pt x="1394241" y="54453"/>
                </a:lnTo>
                <a:lnTo>
                  <a:pt x="1434749" y="29911"/>
                </a:lnTo>
                <a:lnTo>
                  <a:pt x="1475257" y="11313"/>
                </a:lnTo>
                <a:lnTo>
                  <a:pt x="1515490" y="823"/>
                </a:lnTo>
                <a:lnTo>
                  <a:pt x="1565979" y="0"/>
                </a:lnTo>
                <a:lnTo>
                  <a:pt x="1616694" y="10332"/>
                </a:lnTo>
                <a:lnTo>
                  <a:pt x="1666527" y="29594"/>
                </a:lnTo>
                <a:lnTo>
                  <a:pt x="1714373" y="55560"/>
                </a:lnTo>
                <a:lnTo>
                  <a:pt x="1751491" y="82180"/>
                </a:lnTo>
                <a:lnTo>
                  <a:pt x="1788055" y="114842"/>
                </a:lnTo>
                <a:lnTo>
                  <a:pt x="1823204" y="151325"/>
                </a:lnTo>
                <a:lnTo>
                  <a:pt x="1856080" y="189412"/>
                </a:lnTo>
                <a:lnTo>
                  <a:pt x="1885823" y="226883"/>
                </a:lnTo>
                <a:lnTo>
                  <a:pt x="1917910" y="275135"/>
                </a:lnTo>
                <a:lnTo>
                  <a:pt x="1945449" y="326388"/>
                </a:lnTo>
                <a:lnTo>
                  <a:pt x="1969654" y="376973"/>
                </a:lnTo>
                <a:lnTo>
                  <a:pt x="1991740" y="423225"/>
                </a:lnTo>
                <a:lnTo>
                  <a:pt x="2009677" y="463284"/>
                </a:lnTo>
                <a:lnTo>
                  <a:pt x="2023602" y="499473"/>
                </a:lnTo>
                <a:lnTo>
                  <a:pt x="2037978" y="534114"/>
                </a:lnTo>
                <a:lnTo>
                  <a:pt x="2057273" y="569529"/>
                </a:lnTo>
                <a:lnTo>
                  <a:pt x="2084867" y="607427"/>
                </a:lnTo>
                <a:lnTo>
                  <a:pt x="2117629" y="646110"/>
                </a:lnTo>
                <a:lnTo>
                  <a:pt x="2149963" y="682793"/>
                </a:lnTo>
                <a:lnTo>
                  <a:pt x="2176272" y="714690"/>
                </a:lnTo>
                <a:lnTo>
                  <a:pt x="2192662" y="739028"/>
                </a:lnTo>
                <a:lnTo>
                  <a:pt x="2202910" y="758045"/>
                </a:lnTo>
                <a:lnTo>
                  <a:pt x="2212919" y="776180"/>
                </a:lnTo>
                <a:lnTo>
                  <a:pt x="2228596" y="797875"/>
                </a:lnTo>
                <a:lnTo>
                  <a:pt x="2252670" y="823128"/>
                </a:lnTo>
                <a:lnTo>
                  <a:pt x="2281745" y="849691"/>
                </a:lnTo>
                <a:lnTo>
                  <a:pt x="2312820" y="878921"/>
                </a:lnTo>
                <a:lnTo>
                  <a:pt x="2342896" y="912175"/>
                </a:lnTo>
                <a:lnTo>
                  <a:pt x="2371149" y="952124"/>
                </a:lnTo>
                <a:lnTo>
                  <a:pt x="2399188" y="997360"/>
                </a:lnTo>
                <a:lnTo>
                  <a:pt x="2427656" y="1042834"/>
                </a:lnTo>
                <a:lnTo>
                  <a:pt x="2457196" y="1083498"/>
                </a:lnTo>
                <a:lnTo>
                  <a:pt x="2487870" y="1118826"/>
                </a:lnTo>
                <a:lnTo>
                  <a:pt x="2519426" y="1151141"/>
                </a:lnTo>
                <a:lnTo>
                  <a:pt x="2552315" y="1179671"/>
                </a:lnTo>
                <a:lnTo>
                  <a:pt x="2586990" y="1203640"/>
                </a:lnTo>
                <a:lnTo>
                  <a:pt x="2622413" y="1221174"/>
                </a:lnTo>
                <a:lnTo>
                  <a:pt x="2658729" y="1233231"/>
                </a:lnTo>
                <a:lnTo>
                  <a:pt x="2698164" y="1243288"/>
                </a:lnTo>
                <a:lnTo>
                  <a:pt x="2742946" y="1254821"/>
                </a:lnTo>
                <a:lnTo>
                  <a:pt x="2781670" y="1265622"/>
                </a:lnTo>
                <a:lnTo>
                  <a:pt x="2821950" y="1276612"/>
                </a:lnTo>
                <a:lnTo>
                  <a:pt x="2865612" y="1287675"/>
                </a:lnTo>
                <a:lnTo>
                  <a:pt x="2914487" y="1298696"/>
                </a:lnTo>
                <a:lnTo>
                  <a:pt x="2970403" y="1309558"/>
                </a:lnTo>
                <a:lnTo>
                  <a:pt x="3018321" y="1317488"/>
                </a:lnTo>
                <a:lnTo>
                  <a:pt x="3073976" y="1325818"/>
                </a:lnTo>
                <a:lnTo>
                  <a:pt x="3133718" y="1334217"/>
                </a:lnTo>
                <a:lnTo>
                  <a:pt x="3193900" y="1342354"/>
                </a:lnTo>
                <a:lnTo>
                  <a:pt x="3250874" y="1349898"/>
                </a:lnTo>
                <a:lnTo>
                  <a:pt x="3300993" y="1356518"/>
                </a:lnTo>
                <a:lnTo>
                  <a:pt x="3340608" y="1361882"/>
                </a:lnTo>
              </a:path>
            </a:pathLst>
          </a:custGeom>
          <a:ln w="38100">
            <a:solidFill>
              <a:srgbClr val="D70000"/>
            </a:solidFill>
          </a:ln>
        </p:spPr>
        <p:txBody>
          <a:bodyPr wrap="square" lIns="0" tIns="0" rIns="0" bIns="0" rtlCol="0"/>
          <a:lstStyle/>
          <a:p>
            <a:endParaRPr/>
          </a:p>
        </p:txBody>
      </p:sp>
      <p:sp>
        <p:nvSpPr>
          <p:cNvPr id="20" name="bg object 20"/>
          <p:cNvSpPr/>
          <p:nvPr/>
        </p:nvSpPr>
        <p:spPr>
          <a:xfrm>
            <a:off x="4801361" y="1372361"/>
            <a:ext cx="0" cy="2230120"/>
          </a:xfrm>
          <a:custGeom>
            <a:avLst/>
            <a:gdLst/>
            <a:ahLst/>
            <a:cxnLst/>
            <a:rect l="l" t="t" r="r" b="b"/>
            <a:pathLst>
              <a:path h="2230120">
                <a:moveTo>
                  <a:pt x="0" y="0"/>
                </a:moveTo>
                <a:lnTo>
                  <a:pt x="0" y="2229612"/>
                </a:lnTo>
              </a:path>
            </a:pathLst>
          </a:custGeom>
          <a:ln w="38100">
            <a:solidFill>
              <a:srgbClr val="000000"/>
            </a:solidFill>
          </a:ln>
        </p:spPr>
        <p:txBody>
          <a:bodyPr wrap="square" lIns="0" tIns="0" rIns="0" bIns="0" rtlCol="0"/>
          <a:lstStyle/>
          <a:p>
            <a:endParaRPr/>
          </a:p>
        </p:txBody>
      </p:sp>
      <p:sp>
        <p:nvSpPr>
          <p:cNvPr id="21" name="bg object 21"/>
          <p:cNvSpPr/>
          <p:nvPr/>
        </p:nvSpPr>
        <p:spPr>
          <a:xfrm>
            <a:off x="1943861" y="1629917"/>
            <a:ext cx="2801620" cy="58419"/>
          </a:xfrm>
          <a:custGeom>
            <a:avLst/>
            <a:gdLst/>
            <a:ahLst/>
            <a:cxnLst/>
            <a:rect l="l" t="t" r="r" b="b"/>
            <a:pathLst>
              <a:path w="2801620" h="58419">
                <a:moveTo>
                  <a:pt x="57912" y="0"/>
                </a:moveTo>
                <a:lnTo>
                  <a:pt x="0" y="28956"/>
                </a:lnTo>
                <a:lnTo>
                  <a:pt x="57912" y="57912"/>
                </a:lnTo>
                <a:lnTo>
                  <a:pt x="57912" y="43434"/>
                </a:lnTo>
                <a:lnTo>
                  <a:pt x="43433" y="43434"/>
                </a:lnTo>
                <a:lnTo>
                  <a:pt x="43433" y="14478"/>
                </a:lnTo>
                <a:lnTo>
                  <a:pt x="57912" y="14478"/>
                </a:lnTo>
                <a:lnTo>
                  <a:pt x="57912" y="0"/>
                </a:lnTo>
                <a:close/>
              </a:path>
              <a:path w="2801620" h="58419">
                <a:moveTo>
                  <a:pt x="57912" y="14478"/>
                </a:moveTo>
                <a:lnTo>
                  <a:pt x="43433" y="14478"/>
                </a:lnTo>
                <a:lnTo>
                  <a:pt x="43433" y="43434"/>
                </a:lnTo>
                <a:lnTo>
                  <a:pt x="57912" y="43434"/>
                </a:lnTo>
                <a:lnTo>
                  <a:pt x="57912" y="14478"/>
                </a:lnTo>
                <a:close/>
              </a:path>
              <a:path w="2801620" h="58419">
                <a:moveTo>
                  <a:pt x="2801112" y="14478"/>
                </a:moveTo>
                <a:lnTo>
                  <a:pt x="57912" y="14478"/>
                </a:lnTo>
                <a:lnTo>
                  <a:pt x="57912" y="43434"/>
                </a:lnTo>
                <a:lnTo>
                  <a:pt x="2801112" y="43434"/>
                </a:lnTo>
                <a:lnTo>
                  <a:pt x="2801112" y="14478"/>
                </a:lnTo>
                <a:close/>
              </a:path>
            </a:pathLst>
          </a:custGeom>
          <a:solidFill>
            <a:srgbClr val="00000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000" b="1" i="0">
                <a:solidFill>
                  <a:srgbClr val="034AEC"/>
                </a:solidFill>
                <a:latin typeface="Carlito"/>
                <a:cs typeface="Carlito"/>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r>
              <a:rPr lang="en-IN"/>
              <a:t>VNRVJIET</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defRPr sz="1200" b="0" i="0">
                <a:solidFill>
                  <a:schemeClr val="bg1"/>
                </a:solidFill>
                <a:latin typeface="Arial"/>
                <a:cs typeface="Arial"/>
              </a:defRPr>
            </a:lvl1pPr>
          </a:lstStyle>
          <a:p>
            <a:pPr marL="38100">
              <a:lnSpc>
                <a:spcPct val="100000"/>
              </a:lnSpc>
            </a:pPr>
            <a:fld id="{81D60167-4931-47E6-BA6A-407CBD079E47}" type="slidenum">
              <a:rPr spc="35" dirty="0"/>
              <a:t>‹#›</a:t>
            </a:fld>
            <a:endParaRPr spc="3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rgbClr val="034AEC"/>
                </a:solidFill>
                <a:latin typeface="Carlito"/>
                <a:cs typeface="Carlito"/>
              </a:defRPr>
            </a:lvl1pPr>
          </a:lstStyle>
          <a:p>
            <a:endParaRPr/>
          </a:p>
        </p:txBody>
      </p:sp>
      <p:sp>
        <p:nvSpPr>
          <p:cNvPr id="3" name="Holder 3"/>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r>
              <a:rPr lang="en-IN"/>
              <a:t>VNRVJIET</a:t>
            </a:r>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p:txBody>
          <a:bodyPr lIns="0" tIns="0" rIns="0" bIns="0"/>
          <a:lstStyle>
            <a:lvl1pPr>
              <a:defRPr sz="1200" b="0" i="0">
                <a:solidFill>
                  <a:schemeClr val="bg1"/>
                </a:solidFill>
                <a:latin typeface="Arial"/>
                <a:cs typeface="Arial"/>
              </a:defRPr>
            </a:lvl1pPr>
          </a:lstStyle>
          <a:p>
            <a:pPr marL="38100">
              <a:lnSpc>
                <a:spcPct val="100000"/>
              </a:lnSpc>
            </a:pPr>
            <a:fld id="{81D60167-4931-47E6-BA6A-407CBD079E47}" type="slidenum">
              <a:rPr spc="35" dirty="0"/>
              <a:t>‹#›</a:t>
            </a:fld>
            <a:endParaRPr spc="3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034AEC"/>
                </a:solidFill>
                <a:latin typeface="Carlito"/>
                <a:cs typeface="Carlito"/>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Carlito"/>
                <a:cs typeface="Carlito"/>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9/23/2024</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rlito"/>
                <a:cs typeface="Carlito"/>
              </a:defRPr>
            </a:lvl1pPr>
          </a:lstStyle>
          <a:p>
            <a:pPr marL="38100">
              <a:lnSpc>
                <a:spcPts val="1240"/>
              </a:lnSpc>
            </a:pPr>
            <a:fld id="{81D60167-4931-47E6-BA6A-407CBD079E47}" type="slidenum">
              <a:rPr dirty="0"/>
              <a:t>‹#›</a:t>
            </a:fld>
            <a:endParaRPr dirty="0"/>
          </a:p>
        </p:txBody>
      </p:sp>
    </p:spTree>
    <p:extLst>
      <p:ext uri="{BB962C8B-B14F-4D97-AF65-F5344CB8AC3E}">
        <p14:creationId xmlns:p14="http://schemas.microsoft.com/office/powerpoint/2010/main" val="18140207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288029" y="369189"/>
            <a:ext cx="2567940" cy="482600"/>
          </a:xfrm>
          <a:prstGeom prst="rect">
            <a:avLst/>
          </a:prstGeom>
        </p:spPr>
        <p:txBody>
          <a:bodyPr wrap="square" lIns="0" tIns="0" rIns="0" bIns="0">
            <a:spAutoFit/>
          </a:bodyPr>
          <a:lstStyle>
            <a:lvl1pPr>
              <a:defRPr sz="3000" b="1" i="0">
                <a:solidFill>
                  <a:srgbClr val="034AEC"/>
                </a:solidFill>
                <a:latin typeface="Carlito"/>
                <a:cs typeface="Carlito"/>
              </a:defRPr>
            </a:lvl1pPr>
          </a:lstStyle>
          <a:p>
            <a:endParaRPr/>
          </a:p>
        </p:txBody>
      </p:sp>
      <p:sp>
        <p:nvSpPr>
          <p:cNvPr id="3" name="Holder 3"/>
          <p:cNvSpPr>
            <a:spLocks noGrp="1"/>
          </p:cNvSpPr>
          <p:nvPr>
            <p:ph type="body" idx="1"/>
          </p:nvPr>
        </p:nvSpPr>
        <p:spPr>
          <a:xfrm>
            <a:off x="2514251" y="1014775"/>
            <a:ext cx="4123054" cy="2896870"/>
          </a:xfrm>
          <a:prstGeom prst="rect">
            <a:avLst/>
          </a:prstGeom>
        </p:spPr>
        <p:txBody>
          <a:bodyPr wrap="square" lIns="0" tIns="0" rIns="0" bIns="0">
            <a:spAutoFit/>
          </a:bodyPr>
          <a:lstStyle>
            <a:lvl1pPr>
              <a:defRPr b="0" i="0">
                <a:solidFill>
                  <a:schemeClr val="tx1"/>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endParaRPr lang="en-US" dirty="0"/>
          </a:p>
        </p:txBody>
      </p:sp>
      <p:sp>
        <p:nvSpPr>
          <p:cNvPr id="6" name="Holder 6"/>
          <p:cNvSpPr>
            <a:spLocks noGrp="1"/>
          </p:cNvSpPr>
          <p:nvPr>
            <p:ph type="sldNum" sz="quarter" idx="7"/>
          </p:nvPr>
        </p:nvSpPr>
        <p:spPr>
          <a:xfrm>
            <a:off x="8380221" y="4809184"/>
            <a:ext cx="253365" cy="199389"/>
          </a:xfrm>
          <a:prstGeom prst="rect">
            <a:avLst/>
          </a:prstGeom>
        </p:spPr>
        <p:txBody>
          <a:bodyPr wrap="square" lIns="0" tIns="0" rIns="0" bIns="0">
            <a:spAutoFit/>
          </a:bodyPr>
          <a:lstStyle>
            <a:lvl1pPr>
              <a:defRPr sz="1200" b="0" i="0">
                <a:solidFill>
                  <a:schemeClr val="bg1"/>
                </a:solidFill>
                <a:latin typeface="Arial"/>
                <a:cs typeface="Arial"/>
              </a:defRPr>
            </a:lvl1pPr>
          </a:lstStyle>
          <a:p>
            <a:pPr marL="38100">
              <a:lnSpc>
                <a:spcPct val="100000"/>
              </a:lnSpc>
            </a:pPr>
            <a:fld id="{81D60167-4931-47E6-BA6A-407CBD079E47}" type="slidenum">
              <a:rPr spc="35" dirty="0"/>
              <a:t>‹#›</a:t>
            </a:fld>
            <a:endParaRPr spc="3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hyperlink" Target="https://www.bing.com/ck/a?!&amp;&amp;p=9158114ba42c886bJmltdHM9MTY2ODU1NjgwMCZpZ3VpZD0zZWZjMWQzYy01ZDhiLTY1NzEtM2I1Yy0wYzhhNWM2MzY0ZDYmaW5zaWQ9NTIwOA&amp;ptn=3&amp;hsh=3&amp;fclid=3efc1d3c-5d8b-6571-3b5c-0c8a5c6364d6&amp;psq=deprtaement+of+computer+scoence+and+engimnerring&amp;u=a1aHR0cHM6Ly93d3cuc2N1LmVkdS9lbmdpbmVlcmluZy9hY2FkZW1pYy1wcm9ncmFtcy9kZXBhcnRtZW50LW9mLWNvbXB1dGVyLWVuZ2luZWVyaW5nLw&amp;ntb=1"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14D4819-D7DD-F22A-4C68-D50A73BD631A}"/>
              </a:ext>
            </a:extLst>
          </p:cNvPr>
          <p:cNvSpPr>
            <a:spLocks noChangeArrowheads="1"/>
          </p:cNvSpPr>
          <p:nvPr/>
        </p:nvSpPr>
        <p:spPr bwMode="auto">
          <a:xfrm>
            <a:off x="193544" y="260297"/>
            <a:ext cx="8851064" cy="2908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indent="342900" algn="ctr" defTabSz="685800" eaLnBrk="0" fontAlgn="base" hangingPunct="0">
              <a:spcBef>
                <a:spcPct val="0"/>
              </a:spcBef>
              <a:spcAft>
                <a:spcPct val="0"/>
              </a:spcAft>
            </a:pPr>
            <a:r>
              <a:rPr lang="en-US" altLang="en-US" sz="2100" b="1" dirty="0">
                <a:latin typeface="Cambria" panose="02040503050406030204" pitchFamily="18" charset="0"/>
                <a:ea typeface="Calibri" panose="020F0502020204030204" pitchFamily="34" charset="0"/>
                <a:cs typeface="Times New Roman" panose="02020603050405020304" pitchFamily="18" charset="0"/>
              </a:rPr>
              <a:t>VALLURUPALLI NAGESWARA RAO VIGNANA JYOTHI </a:t>
            </a:r>
            <a:r>
              <a:rPr lang="en-US" altLang="en-US" sz="2100" dirty="0"/>
              <a:t> </a:t>
            </a:r>
            <a:r>
              <a:rPr lang="en-US" altLang="en-US" sz="2100" b="1" dirty="0">
                <a:solidFill>
                  <a:srgbClr val="000000"/>
                </a:solidFill>
                <a:latin typeface="Cambria" panose="02040503050406030204" pitchFamily="18" charset="0"/>
                <a:ea typeface="Calibri" panose="020F0502020204030204" pitchFamily="34" charset="0"/>
                <a:cs typeface="Arial" panose="020B0604020202020204" pitchFamily="34" charset="0"/>
              </a:rPr>
              <a:t>INSTITUTE OF ENGINEERING AND TECHNOLOGY</a:t>
            </a:r>
            <a:endParaRPr lang="en-US" altLang="en-US" sz="2100" dirty="0"/>
          </a:p>
          <a:p>
            <a:pPr indent="342900" algn="ctr" defTabSz="685800" eaLnBrk="0" fontAlgn="base" hangingPunct="0">
              <a:spcBef>
                <a:spcPct val="0"/>
              </a:spcBef>
              <a:spcAft>
                <a:spcPct val="0"/>
              </a:spcAft>
            </a:pPr>
            <a:endParaRPr lang="en-US" altLang="en-US" sz="30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342900" defTabSz="685800" eaLnBrk="0" fontAlgn="base" hangingPunct="0">
              <a:spcBef>
                <a:spcPct val="0"/>
              </a:spcBef>
              <a:spcAft>
                <a:spcPct val="0"/>
              </a:spcAft>
            </a:pPr>
            <a:endParaRPr lang="en-US" altLang="en-US" sz="165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342900" defTabSz="685800" eaLnBrk="0" fontAlgn="base" hangingPunct="0">
              <a:spcBef>
                <a:spcPct val="0"/>
              </a:spcBef>
              <a:spcAft>
                <a:spcPct val="0"/>
              </a:spcAft>
            </a:pPr>
            <a:endParaRPr lang="en-US" altLang="en-US" sz="165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342900" defTabSz="685800" eaLnBrk="0" fontAlgn="base" hangingPunct="0">
              <a:spcBef>
                <a:spcPct val="0"/>
              </a:spcBef>
              <a:spcAft>
                <a:spcPct val="0"/>
              </a:spcAft>
            </a:pPr>
            <a:endParaRPr lang="en-US" altLang="en-US" sz="165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342900" defTabSz="685800" eaLnBrk="0" fontAlgn="base" hangingPunct="0">
              <a:spcBef>
                <a:spcPct val="0"/>
              </a:spcBef>
              <a:spcAft>
                <a:spcPct val="0"/>
              </a:spcAft>
            </a:pPr>
            <a:endParaRPr lang="en-US" altLang="en-US" sz="165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342900" algn="ctr" defTabSz="685800" eaLnBrk="0" fontAlgn="base" hangingPunct="0">
              <a:spcBef>
                <a:spcPct val="0"/>
              </a:spcBef>
              <a:spcAft>
                <a:spcPct val="0"/>
              </a:spcAft>
            </a:pPr>
            <a:endParaRPr lang="en-US" altLang="en-US" sz="165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342900" algn="ctr" defTabSz="685800" eaLnBrk="0" fontAlgn="base" hangingPunct="0">
              <a:spcBef>
                <a:spcPct val="0"/>
              </a:spcBef>
              <a:spcAft>
                <a:spcPct val="0"/>
              </a:spcAft>
            </a:pPr>
            <a:r>
              <a:rPr lang="en-US" altLang="en-US" sz="165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Department of Computer Science and Engineering </a:t>
            </a:r>
            <a:endParaRPr lang="en-US" altLang="en-US" sz="600" dirty="0"/>
          </a:p>
          <a:p>
            <a:pPr indent="342900" defTabSz="685800" eaLnBrk="0" fontAlgn="base" hangingPunct="0">
              <a:spcBef>
                <a:spcPct val="0"/>
              </a:spcBef>
              <a:spcAft>
                <a:spcPct val="0"/>
              </a:spcAft>
            </a:pPr>
            <a:endParaRPr lang="en-US" altLang="en-US" sz="1350" dirty="0">
              <a:latin typeface="Arial" panose="020B0604020202020204" pitchFamily="34" charset="0"/>
            </a:endParaRPr>
          </a:p>
        </p:txBody>
      </p:sp>
      <p:pic>
        <p:nvPicPr>
          <p:cNvPr id="1025" name="Picture 3">
            <a:extLst>
              <a:ext uri="{FF2B5EF4-FFF2-40B4-BE49-F238E27FC236}">
                <a16:creationId xmlns:a16="http://schemas.microsoft.com/office/drawing/2014/main" id="{1F402572-1AC1-C244-FE3C-D3880CA04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7563" y="1001641"/>
            <a:ext cx="1343025" cy="125134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4601E913-B864-500D-8186-0A789C882082}"/>
              </a:ext>
            </a:extLst>
          </p:cNvPr>
          <p:cNvSpPr>
            <a:spLocks noChangeArrowheads="1"/>
          </p:cNvSpPr>
          <p:nvPr/>
        </p:nvSpPr>
        <p:spPr bwMode="auto">
          <a:xfrm>
            <a:off x="3048613" y="3560588"/>
            <a:ext cx="3140923" cy="90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algn="ctr" defTabSz="685800" eaLnBrk="0" fontAlgn="base" hangingPunct="0">
              <a:spcBef>
                <a:spcPct val="0"/>
              </a:spcBef>
              <a:spcAft>
                <a:spcPct val="0"/>
              </a:spcAft>
            </a:pPr>
            <a:endParaRPr lang="en-US" altLang="en-US" sz="600" dirty="0"/>
          </a:p>
          <a:p>
            <a:pPr algn="ctr" defTabSz="685800" eaLnBrk="0" fontAlgn="base" hangingPunct="0">
              <a:spcBef>
                <a:spcPct val="0"/>
              </a:spcBef>
              <a:spcAft>
                <a:spcPct val="0"/>
              </a:spcAft>
            </a:pPr>
            <a:r>
              <a:rPr lang="en-US" altLang="en-US" sz="1350" b="1" dirty="0">
                <a:latin typeface="Adobe Caslon Pro"/>
                <a:ea typeface="Calibri" panose="020F0502020204030204" pitchFamily="34" charset="0"/>
                <a:cs typeface="Times New Roman" panose="02020603050405020304" pitchFamily="18" charset="0"/>
              </a:rPr>
              <a:t>MACHINE LEARNING</a:t>
            </a:r>
            <a:endParaRPr lang="en-US" altLang="en-US" sz="600" dirty="0"/>
          </a:p>
          <a:p>
            <a:pPr algn="ctr" defTabSz="685800" eaLnBrk="0" fontAlgn="base" hangingPunct="0">
              <a:spcBef>
                <a:spcPct val="0"/>
              </a:spcBef>
              <a:spcAft>
                <a:spcPct val="0"/>
              </a:spcAft>
            </a:pPr>
            <a:r>
              <a:rPr lang="en-US" altLang="en-US" sz="1350" b="1" dirty="0">
                <a:latin typeface="Adobe Caslon Pro"/>
                <a:ea typeface="Calibri" panose="020F0502020204030204" pitchFamily="34" charset="0"/>
                <a:cs typeface="Times New Roman" panose="02020603050405020304" pitchFamily="18" charset="0"/>
              </a:rPr>
              <a:t>Dr. Kriti Ohri</a:t>
            </a:r>
            <a:endParaRPr lang="en-US" altLang="en-US" sz="600" dirty="0"/>
          </a:p>
          <a:p>
            <a:pPr algn="ctr" defTabSz="685800" eaLnBrk="0" fontAlgn="base" hangingPunct="0">
              <a:spcBef>
                <a:spcPct val="0"/>
              </a:spcBef>
              <a:spcAft>
                <a:spcPct val="0"/>
              </a:spcAft>
            </a:pPr>
            <a:r>
              <a:rPr lang="en-US" altLang="en-US" sz="1050" dirty="0">
                <a:latin typeface="Adobe Caslon Pro"/>
                <a:ea typeface="Calibri" panose="020F0502020204030204" pitchFamily="34" charset="0"/>
                <a:cs typeface="Times New Roman" panose="02020603050405020304" pitchFamily="18" charset="0"/>
              </a:rPr>
              <a:t>Assistant Professor</a:t>
            </a:r>
            <a:endParaRPr lang="en-US" altLang="en-US" sz="600" dirty="0"/>
          </a:p>
          <a:p>
            <a:pPr algn="ctr" defTabSz="685800" eaLnBrk="0" fontAlgn="base" hangingPunct="0">
              <a:spcBef>
                <a:spcPct val="0"/>
              </a:spcBef>
              <a:spcAft>
                <a:spcPct val="0"/>
              </a:spcAft>
            </a:pPr>
            <a:r>
              <a:rPr lang="en-US" altLang="en-US" sz="1050" dirty="0">
                <a:latin typeface="Adobe Caslon Pro"/>
                <a:ea typeface="Calibri" panose="020F0502020204030204" pitchFamily="34" charset="0"/>
                <a:cs typeface="Times New Roman" panose="02020603050405020304" pitchFamily="18" charset="0"/>
                <a:hlinkClick r:id="rId4"/>
              </a:rPr>
              <a:t>Department of Computer Science and Engineering</a:t>
            </a:r>
            <a:endParaRPr lang="en-US" altLang="en-US" sz="1350" dirty="0">
              <a:latin typeface="Arial" panose="020B0604020202020204" pitchFamily="34" charset="0"/>
            </a:endParaRPr>
          </a:p>
        </p:txBody>
      </p:sp>
      <p:sp>
        <p:nvSpPr>
          <p:cNvPr id="5" name="Footer Placeholder 4">
            <a:extLst>
              <a:ext uri="{FF2B5EF4-FFF2-40B4-BE49-F238E27FC236}">
                <a16:creationId xmlns:a16="http://schemas.microsoft.com/office/drawing/2014/main" id="{FF3375C2-6977-6830-5E74-51E3850230E9}"/>
              </a:ext>
            </a:extLst>
          </p:cNvP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Machine Learning</a:t>
            </a:r>
          </a:p>
        </p:txBody>
      </p:sp>
      <p:sp>
        <p:nvSpPr>
          <p:cNvPr id="7" name="Date Placeholder 6">
            <a:extLst>
              <a:ext uri="{FF2B5EF4-FFF2-40B4-BE49-F238E27FC236}">
                <a16:creationId xmlns:a16="http://schemas.microsoft.com/office/drawing/2014/main" id="{104C03E4-1F28-2FB0-9B80-AE079E772F4D}"/>
              </a:ext>
            </a:extLst>
          </p:cNvPr>
          <p:cNvSpPr>
            <a:spLocks noGrp="1"/>
          </p:cNvSpPr>
          <p:nvPr>
            <p:ph type="dt" sz="half"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Kriti Ohri</a:t>
            </a:r>
            <a:endParaRPr lang="en-IN"/>
          </a:p>
        </p:txBody>
      </p:sp>
    </p:spTree>
    <p:extLst>
      <p:ext uri="{BB962C8B-B14F-4D97-AF65-F5344CB8AC3E}">
        <p14:creationId xmlns:p14="http://schemas.microsoft.com/office/powerpoint/2010/main" val="96633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3473958" y="385953"/>
            <a:ext cx="2195830" cy="452120"/>
          </a:xfrm>
          <a:prstGeom prst="rect">
            <a:avLst/>
          </a:prstGeom>
        </p:spPr>
        <p:txBody>
          <a:bodyPr vert="horz" wrap="square" lIns="0" tIns="12065" rIns="0" bIns="0" rtlCol="0">
            <a:spAutoFit/>
          </a:bodyPr>
          <a:lstStyle/>
          <a:p>
            <a:pPr marL="12700">
              <a:lnSpc>
                <a:spcPct val="100000"/>
              </a:lnSpc>
              <a:spcBef>
                <a:spcPts val="95"/>
              </a:spcBef>
            </a:pPr>
            <a:r>
              <a:rPr sz="2800" spc="-25" dirty="0"/>
              <a:t>Why</a:t>
            </a:r>
            <a:r>
              <a:rPr sz="2800" spc="-55" dirty="0"/>
              <a:t> </a:t>
            </a:r>
            <a:r>
              <a:rPr sz="2800" spc="-25" dirty="0"/>
              <a:t>Evaluate?</a:t>
            </a:r>
            <a:endParaRPr sz="2800"/>
          </a:p>
        </p:txBody>
      </p:sp>
      <p:sp>
        <p:nvSpPr>
          <p:cNvPr id="3" name="object 3"/>
          <p:cNvSpPr txBox="1"/>
          <p:nvPr/>
        </p:nvSpPr>
        <p:spPr>
          <a:xfrm>
            <a:off x="535940" y="1156563"/>
            <a:ext cx="7040880" cy="1123315"/>
          </a:xfrm>
          <a:prstGeom prst="rect">
            <a:avLst/>
          </a:prstGeom>
        </p:spPr>
        <p:txBody>
          <a:bodyPr vert="horz" wrap="square" lIns="0" tIns="73660" rIns="0" bIns="0" rtlCol="0">
            <a:spAutoFit/>
          </a:bodyPr>
          <a:lstStyle/>
          <a:p>
            <a:pPr marL="355600" indent="-342900">
              <a:lnSpc>
                <a:spcPct val="100000"/>
              </a:lnSpc>
              <a:spcBef>
                <a:spcPts val="580"/>
              </a:spcBef>
              <a:buFont typeface="Arial"/>
              <a:buChar char="•"/>
              <a:tabLst>
                <a:tab pos="354965" algn="l"/>
                <a:tab pos="355600" algn="l"/>
              </a:tabLst>
            </a:pPr>
            <a:r>
              <a:rPr sz="2000" dirty="0">
                <a:latin typeface="Carlito"/>
                <a:cs typeface="Carlito"/>
              </a:rPr>
              <a:t>Multiple </a:t>
            </a:r>
            <a:r>
              <a:rPr sz="2000" spc="-5" dirty="0">
                <a:latin typeface="Carlito"/>
                <a:cs typeface="Carlito"/>
              </a:rPr>
              <a:t>methods </a:t>
            </a:r>
            <a:r>
              <a:rPr sz="2000" spc="-10" dirty="0">
                <a:latin typeface="Carlito"/>
                <a:cs typeface="Carlito"/>
              </a:rPr>
              <a:t>are available </a:t>
            </a:r>
            <a:r>
              <a:rPr sz="2000" spc="-15" dirty="0">
                <a:latin typeface="Carlito"/>
                <a:cs typeface="Carlito"/>
              </a:rPr>
              <a:t>to </a:t>
            </a:r>
            <a:r>
              <a:rPr sz="2000" dirty="0">
                <a:latin typeface="Carlito"/>
                <a:cs typeface="Carlito"/>
              </a:rPr>
              <a:t>classify </a:t>
            </a:r>
            <a:r>
              <a:rPr sz="2000" spc="-5" dirty="0">
                <a:latin typeface="Carlito"/>
                <a:cs typeface="Carlito"/>
              </a:rPr>
              <a:t>or</a:t>
            </a:r>
            <a:r>
              <a:rPr sz="2000" spc="55" dirty="0">
                <a:latin typeface="Carlito"/>
                <a:cs typeface="Carlito"/>
              </a:rPr>
              <a:t> </a:t>
            </a:r>
            <a:r>
              <a:rPr sz="2000" spc="-5" dirty="0">
                <a:latin typeface="Carlito"/>
                <a:cs typeface="Carlito"/>
              </a:rPr>
              <a:t>predict</a:t>
            </a:r>
            <a:endParaRPr sz="2000" dirty="0">
              <a:latin typeface="Carlito"/>
              <a:cs typeface="Carlito"/>
            </a:endParaRPr>
          </a:p>
          <a:p>
            <a:pPr marL="355600" indent="-342900">
              <a:lnSpc>
                <a:spcPct val="100000"/>
              </a:lnSpc>
              <a:spcBef>
                <a:spcPts val="480"/>
              </a:spcBef>
              <a:buFont typeface="Arial"/>
              <a:buChar char="•"/>
              <a:tabLst>
                <a:tab pos="354965" algn="l"/>
                <a:tab pos="355600" algn="l"/>
              </a:tabLst>
            </a:pPr>
            <a:r>
              <a:rPr sz="2000" spc="-10" dirty="0">
                <a:latin typeface="Carlito"/>
                <a:cs typeface="Carlito"/>
              </a:rPr>
              <a:t>For </a:t>
            </a:r>
            <a:r>
              <a:rPr sz="2000" dirty="0">
                <a:latin typeface="Carlito"/>
                <a:cs typeface="Carlito"/>
              </a:rPr>
              <a:t>each </a:t>
            </a:r>
            <a:r>
              <a:rPr sz="2000" spc="-5" dirty="0">
                <a:latin typeface="Carlito"/>
                <a:cs typeface="Carlito"/>
              </a:rPr>
              <a:t>method, multiple choices </a:t>
            </a:r>
            <a:r>
              <a:rPr sz="2000" spc="-10" dirty="0">
                <a:latin typeface="Carlito"/>
                <a:cs typeface="Carlito"/>
              </a:rPr>
              <a:t>are available </a:t>
            </a:r>
            <a:r>
              <a:rPr sz="2000" spc="-15" dirty="0">
                <a:latin typeface="Carlito"/>
                <a:cs typeface="Carlito"/>
              </a:rPr>
              <a:t>for</a:t>
            </a:r>
            <a:r>
              <a:rPr sz="2000" spc="50" dirty="0">
                <a:latin typeface="Carlito"/>
                <a:cs typeface="Carlito"/>
              </a:rPr>
              <a:t> </a:t>
            </a:r>
            <a:r>
              <a:rPr sz="2000" spc="-5" dirty="0">
                <a:latin typeface="Carlito"/>
                <a:cs typeface="Carlito"/>
              </a:rPr>
              <a:t>settings</a:t>
            </a:r>
            <a:endParaRPr sz="2000" dirty="0">
              <a:latin typeface="Carlito"/>
              <a:cs typeface="Carlito"/>
            </a:endParaRPr>
          </a:p>
          <a:p>
            <a:pPr marL="355600" indent="-342900">
              <a:lnSpc>
                <a:spcPct val="100000"/>
              </a:lnSpc>
              <a:spcBef>
                <a:spcPts val="480"/>
              </a:spcBef>
              <a:buFont typeface="Arial"/>
              <a:buChar char="•"/>
              <a:tabLst>
                <a:tab pos="354965" algn="l"/>
                <a:tab pos="355600" algn="l"/>
              </a:tabLst>
            </a:pPr>
            <a:r>
              <a:rPr sz="2000" spc="-95" dirty="0">
                <a:latin typeface="Carlito"/>
                <a:cs typeface="Carlito"/>
              </a:rPr>
              <a:t>To </a:t>
            </a:r>
            <a:r>
              <a:rPr sz="2000" dirty="0">
                <a:latin typeface="Carlito"/>
                <a:cs typeface="Carlito"/>
              </a:rPr>
              <a:t>choose </a:t>
            </a:r>
            <a:r>
              <a:rPr sz="2000" spc="-10" dirty="0">
                <a:latin typeface="Carlito"/>
                <a:cs typeface="Carlito"/>
              </a:rPr>
              <a:t>best </a:t>
            </a:r>
            <a:r>
              <a:rPr sz="2000" dirty="0">
                <a:latin typeface="Carlito"/>
                <a:cs typeface="Carlito"/>
              </a:rPr>
              <a:t>model, need </a:t>
            </a:r>
            <a:r>
              <a:rPr sz="2000" spc="-15" dirty="0">
                <a:latin typeface="Carlito"/>
                <a:cs typeface="Carlito"/>
              </a:rPr>
              <a:t>to </a:t>
            </a:r>
            <a:r>
              <a:rPr sz="2000" dirty="0">
                <a:latin typeface="Carlito"/>
                <a:cs typeface="Carlito"/>
              </a:rPr>
              <a:t>assess each </a:t>
            </a:r>
            <a:r>
              <a:rPr sz="2000" spc="-20" dirty="0">
                <a:latin typeface="Carlito"/>
                <a:cs typeface="Carlito"/>
              </a:rPr>
              <a:t>model’s</a:t>
            </a:r>
            <a:r>
              <a:rPr sz="2000" spc="125" dirty="0">
                <a:latin typeface="Carlito"/>
                <a:cs typeface="Carlito"/>
              </a:rPr>
              <a:t> </a:t>
            </a:r>
            <a:r>
              <a:rPr sz="2000" spc="-5" dirty="0">
                <a:latin typeface="Carlito"/>
                <a:cs typeface="Carlito"/>
              </a:rPr>
              <a:t>performance</a:t>
            </a:r>
            <a:endParaRPr sz="2000" dirty="0">
              <a:latin typeface="Carlito"/>
              <a:cs typeface="Carl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021204" y="385953"/>
            <a:ext cx="5101590" cy="452120"/>
          </a:xfrm>
          <a:prstGeom prst="rect">
            <a:avLst/>
          </a:prstGeom>
        </p:spPr>
        <p:txBody>
          <a:bodyPr vert="horz" wrap="square" lIns="0" tIns="12065" rIns="0" bIns="0" rtlCol="0">
            <a:spAutoFit/>
          </a:bodyPr>
          <a:lstStyle/>
          <a:p>
            <a:pPr marL="12700">
              <a:lnSpc>
                <a:spcPct val="100000"/>
              </a:lnSpc>
              <a:spcBef>
                <a:spcPts val="95"/>
              </a:spcBef>
            </a:pPr>
            <a:r>
              <a:rPr sz="2800" spc="-10" dirty="0"/>
              <a:t>Accuracy </a:t>
            </a:r>
            <a:r>
              <a:rPr sz="2800" spc="-15" dirty="0"/>
              <a:t>Measures</a:t>
            </a:r>
            <a:r>
              <a:rPr sz="2800" spc="20" dirty="0"/>
              <a:t> </a:t>
            </a:r>
            <a:r>
              <a:rPr sz="2800" spc="-5" dirty="0"/>
              <a:t>(Classification)</a:t>
            </a:r>
            <a:endParaRPr sz="2800"/>
          </a:p>
        </p:txBody>
      </p:sp>
      <p:sp>
        <p:nvSpPr>
          <p:cNvPr id="3" name="object 3"/>
          <p:cNvSpPr txBox="1"/>
          <p:nvPr/>
        </p:nvSpPr>
        <p:spPr>
          <a:xfrm>
            <a:off x="535940" y="1156563"/>
            <a:ext cx="7958455" cy="1485022"/>
          </a:xfrm>
          <a:prstGeom prst="rect">
            <a:avLst/>
          </a:prstGeom>
        </p:spPr>
        <p:txBody>
          <a:bodyPr vert="horz" wrap="square" lIns="0" tIns="73660" rIns="0" bIns="0" rtlCol="0">
            <a:spAutoFit/>
          </a:bodyPr>
          <a:lstStyle/>
          <a:p>
            <a:pPr marL="12700">
              <a:lnSpc>
                <a:spcPct val="100000"/>
              </a:lnSpc>
              <a:spcBef>
                <a:spcPts val="580"/>
              </a:spcBef>
            </a:pPr>
            <a:r>
              <a:rPr sz="2000" spc="-5" dirty="0">
                <a:solidFill>
                  <a:srgbClr val="034AEC"/>
                </a:solidFill>
                <a:latin typeface="Carlito"/>
                <a:cs typeface="Carlito"/>
              </a:rPr>
              <a:t>Misclassification</a:t>
            </a:r>
            <a:r>
              <a:rPr sz="2000" spc="35" dirty="0">
                <a:solidFill>
                  <a:srgbClr val="034AEC"/>
                </a:solidFill>
                <a:latin typeface="Carlito"/>
                <a:cs typeface="Carlito"/>
              </a:rPr>
              <a:t> </a:t>
            </a:r>
            <a:r>
              <a:rPr sz="2000" spc="-10" dirty="0">
                <a:solidFill>
                  <a:srgbClr val="034AEC"/>
                </a:solidFill>
                <a:latin typeface="Carlito"/>
                <a:cs typeface="Carlito"/>
              </a:rPr>
              <a:t>error</a:t>
            </a:r>
            <a:endParaRPr sz="2000" dirty="0">
              <a:latin typeface="Carlito"/>
              <a:cs typeface="Carlito"/>
            </a:endParaRPr>
          </a:p>
          <a:p>
            <a:pPr marL="355600" marR="276860" indent="-342900">
              <a:lnSpc>
                <a:spcPct val="100000"/>
              </a:lnSpc>
              <a:spcBef>
                <a:spcPts val="480"/>
              </a:spcBef>
              <a:buFont typeface="Arial"/>
              <a:buChar char="•"/>
              <a:tabLst>
                <a:tab pos="354965" algn="l"/>
                <a:tab pos="355600" algn="l"/>
              </a:tabLst>
            </a:pPr>
            <a:r>
              <a:rPr sz="2000" spc="-10" dirty="0">
                <a:latin typeface="Carlito"/>
                <a:cs typeface="Carlito"/>
              </a:rPr>
              <a:t>Error </a:t>
            </a:r>
            <a:r>
              <a:rPr sz="2000" dirty="0">
                <a:latin typeface="Carlito"/>
                <a:cs typeface="Carlito"/>
              </a:rPr>
              <a:t>= classifying a </a:t>
            </a:r>
            <a:r>
              <a:rPr sz="2000" spc="-15" dirty="0">
                <a:latin typeface="Carlito"/>
                <a:cs typeface="Carlito"/>
              </a:rPr>
              <a:t>record </a:t>
            </a:r>
            <a:r>
              <a:rPr sz="2000" dirty="0">
                <a:latin typeface="Carlito"/>
                <a:cs typeface="Carlito"/>
              </a:rPr>
              <a:t>as belonging </a:t>
            </a:r>
            <a:r>
              <a:rPr sz="2000" spc="-15" dirty="0">
                <a:latin typeface="Carlito"/>
                <a:cs typeface="Carlito"/>
              </a:rPr>
              <a:t>to </a:t>
            </a:r>
            <a:r>
              <a:rPr sz="2000" dirty="0">
                <a:latin typeface="Carlito"/>
                <a:cs typeface="Carlito"/>
              </a:rPr>
              <a:t>one class when it belongs </a:t>
            </a:r>
            <a:r>
              <a:rPr sz="2000" spc="-15" dirty="0">
                <a:latin typeface="Carlito"/>
                <a:cs typeface="Carlito"/>
              </a:rPr>
              <a:t>to  </a:t>
            </a:r>
            <a:r>
              <a:rPr sz="2000" dirty="0">
                <a:latin typeface="Carlito"/>
                <a:cs typeface="Carlito"/>
              </a:rPr>
              <a:t>another</a:t>
            </a:r>
            <a:r>
              <a:rPr sz="2000" spc="-15" dirty="0">
                <a:latin typeface="Carlito"/>
                <a:cs typeface="Carlito"/>
              </a:rPr>
              <a:t> </a:t>
            </a:r>
            <a:r>
              <a:rPr sz="2000" spc="-5" dirty="0">
                <a:latin typeface="Carlito"/>
                <a:cs typeface="Carlito"/>
              </a:rPr>
              <a:t>class.</a:t>
            </a:r>
            <a:endParaRPr sz="2000" dirty="0">
              <a:latin typeface="Carlito"/>
              <a:cs typeface="Carlito"/>
            </a:endParaRPr>
          </a:p>
          <a:p>
            <a:pPr>
              <a:lnSpc>
                <a:spcPct val="100000"/>
              </a:lnSpc>
              <a:buFont typeface="Arial"/>
              <a:buChar char="•"/>
            </a:pPr>
            <a:endParaRPr sz="2750" dirty="0">
              <a:latin typeface="Carlito"/>
              <a:cs typeface="Carli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28599" y="385953"/>
            <a:ext cx="8534401" cy="873957"/>
          </a:xfrm>
          <a:prstGeom prst="rect">
            <a:avLst/>
          </a:prstGeom>
        </p:spPr>
        <p:txBody>
          <a:bodyPr vert="horz" wrap="square" lIns="0" tIns="12065" rIns="0" bIns="0" rtlCol="0">
            <a:spAutoFit/>
          </a:bodyPr>
          <a:lstStyle/>
          <a:p>
            <a:pPr marL="12700">
              <a:lnSpc>
                <a:spcPct val="100000"/>
              </a:lnSpc>
              <a:spcBef>
                <a:spcPts val="95"/>
              </a:spcBef>
            </a:pPr>
            <a:r>
              <a:rPr sz="2800" spc="-10" dirty="0"/>
              <a:t>Confusion</a:t>
            </a:r>
            <a:r>
              <a:rPr sz="2800" spc="-50" dirty="0"/>
              <a:t> </a:t>
            </a:r>
            <a:r>
              <a:rPr sz="2800" spc="-10" dirty="0"/>
              <a:t>Matrix</a:t>
            </a:r>
            <a:br>
              <a:rPr lang="en-US" sz="2800" spc="-10" dirty="0"/>
            </a:br>
            <a:r>
              <a:rPr lang="en-US" sz="1400" b="0" spc="-10" dirty="0">
                <a:solidFill>
                  <a:schemeClr val="tx1"/>
                </a:solidFill>
                <a:latin typeface="arial" panose="020B0604020202020204" pitchFamily="34" charset="0"/>
              </a:rPr>
              <a:t>C</a:t>
            </a:r>
            <a:r>
              <a:rPr lang="en-US" sz="1400" b="1" i="0" dirty="0">
                <a:solidFill>
                  <a:schemeClr val="tx1"/>
                </a:solidFill>
                <a:effectLst/>
                <a:latin typeface="arial" panose="020B0604020202020204" pitchFamily="34" charset="0"/>
              </a:rPr>
              <a:t>onfusion matrix</a:t>
            </a:r>
            <a:r>
              <a:rPr lang="en-US" sz="1400" b="0" i="0" dirty="0">
                <a:solidFill>
                  <a:schemeClr val="tx1"/>
                </a:solidFill>
                <a:effectLst/>
                <a:latin typeface="arial" panose="020B0604020202020204" pitchFamily="34" charset="0"/>
              </a:rPr>
              <a:t> is a table that is often used to describe the performance of a classification model (or "classifier") on a set of test data for which the true values are known.</a:t>
            </a:r>
            <a:endParaRPr sz="1200" dirty="0">
              <a:solidFill>
                <a:schemeClr val="tx1"/>
              </a:solidFill>
            </a:endParaRPr>
          </a:p>
        </p:txBody>
      </p:sp>
      <p:sp>
        <p:nvSpPr>
          <p:cNvPr id="3" name="object 3"/>
          <p:cNvSpPr txBox="1"/>
          <p:nvPr/>
        </p:nvSpPr>
        <p:spPr>
          <a:xfrm>
            <a:off x="5105400" y="3028950"/>
            <a:ext cx="3520440" cy="1489075"/>
          </a:xfrm>
          <a:prstGeom prst="rect">
            <a:avLst/>
          </a:prstGeom>
        </p:spPr>
        <p:txBody>
          <a:bodyPr vert="horz" wrap="square" lIns="0" tIns="73660" rIns="0" bIns="0" rtlCol="0">
            <a:spAutoFit/>
          </a:bodyPr>
          <a:lstStyle/>
          <a:p>
            <a:pPr marL="12700">
              <a:lnSpc>
                <a:spcPct val="100000"/>
              </a:lnSpc>
              <a:spcBef>
                <a:spcPts val="580"/>
              </a:spcBef>
            </a:pPr>
            <a:r>
              <a:rPr sz="2000" b="1" dirty="0">
                <a:latin typeface="Carlito"/>
                <a:cs typeface="Carlito"/>
              </a:rPr>
              <a:t>201 </a:t>
            </a:r>
            <a:r>
              <a:rPr sz="2000" spc="-40" dirty="0">
                <a:latin typeface="Carlito"/>
                <a:cs typeface="Carlito"/>
              </a:rPr>
              <a:t>1’s </a:t>
            </a:r>
            <a:r>
              <a:rPr sz="2000" spc="-5" dirty="0">
                <a:latin typeface="Carlito"/>
                <a:cs typeface="Carlito"/>
              </a:rPr>
              <a:t>correctly classified </a:t>
            </a:r>
            <a:r>
              <a:rPr sz="2000" dirty="0">
                <a:latin typeface="Carlito"/>
                <a:cs typeface="Carlito"/>
              </a:rPr>
              <a:t>as</a:t>
            </a:r>
            <a:r>
              <a:rPr sz="2000" spc="20" dirty="0">
                <a:latin typeface="Carlito"/>
                <a:cs typeface="Carlito"/>
              </a:rPr>
              <a:t> </a:t>
            </a:r>
            <a:r>
              <a:rPr sz="2000" spc="-5" dirty="0">
                <a:latin typeface="Carlito"/>
                <a:cs typeface="Carlito"/>
              </a:rPr>
              <a:t>“1”</a:t>
            </a:r>
            <a:endParaRPr sz="2000" dirty="0">
              <a:latin typeface="Carlito"/>
              <a:cs typeface="Carlito"/>
            </a:endParaRPr>
          </a:p>
          <a:p>
            <a:pPr marL="12700">
              <a:lnSpc>
                <a:spcPct val="100000"/>
              </a:lnSpc>
              <a:spcBef>
                <a:spcPts val="480"/>
              </a:spcBef>
            </a:pPr>
            <a:r>
              <a:rPr sz="2000" b="1" dirty="0">
                <a:latin typeface="Carlito"/>
                <a:cs typeface="Carlito"/>
              </a:rPr>
              <a:t>85 </a:t>
            </a:r>
            <a:r>
              <a:rPr sz="2000" spc="-40" dirty="0">
                <a:latin typeface="Carlito"/>
                <a:cs typeface="Carlito"/>
              </a:rPr>
              <a:t>1’s </a:t>
            </a:r>
            <a:r>
              <a:rPr sz="2000" spc="-5" dirty="0">
                <a:latin typeface="Carlito"/>
                <a:cs typeface="Carlito"/>
              </a:rPr>
              <a:t>incorrectly classified </a:t>
            </a:r>
            <a:r>
              <a:rPr sz="2000" dirty="0">
                <a:latin typeface="Carlito"/>
                <a:cs typeface="Carlito"/>
              </a:rPr>
              <a:t>as</a:t>
            </a:r>
            <a:r>
              <a:rPr sz="2000" spc="15" dirty="0">
                <a:latin typeface="Carlito"/>
                <a:cs typeface="Carlito"/>
              </a:rPr>
              <a:t> </a:t>
            </a:r>
            <a:r>
              <a:rPr sz="2000" dirty="0">
                <a:latin typeface="Carlito"/>
                <a:cs typeface="Carlito"/>
              </a:rPr>
              <a:t>“0”</a:t>
            </a:r>
          </a:p>
          <a:p>
            <a:pPr marL="12700">
              <a:lnSpc>
                <a:spcPct val="100000"/>
              </a:lnSpc>
              <a:spcBef>
                <a:spcPts val="480"/>
              </a:spcBef>
            </a:pPr>
            <a:r>
              <a:rPr sz="2000" b="1" dirty="0">
                <a:latin typeface="Carlito"/>
                <a:cs typeface="Carlito"/>
              </a:rPr>
              <a:t>25 </a:t>
            </a:r>
            <a:r>
              <a:rPr sz="2000" spc="-40" dirty="0">
                <a:latin typeface="Carlito"/>
                <a:cs typeface="Carlito"/>
              </a:rPr>
              <a:t>0’s </a:t>
            </a:r>
            <a:r>
              <a:rPr sz="2000" spc="-5" dirty="0">
                <a:latin typeface="Carlito"/>
                <a:cs typeface="Carlito"/>
              </a:rPr>
              <a:t>incorrectly classified </a:t>
            </a:r>
            <a:r>
              <a:rPr sz="2000" dirty="0">
                <a:latin typeface="Carlito"/>
                <a:cs typeface="Carlito"/>
              </a:rPr>
              <a:t>as</a:t>
            </a:r>
            <a:r>
              <a:rPr sz="2000" spc="10" dirty="0">
                <a:latin typeface="Carlito"/>
                <a:cs typeface="Carlito"/>
              </a:rPr>
              <a:t> </a:t>
            </a:r>
            <a:r>
              <a:rPr sz="2000" dirty="0">
                <a:latin typeface="Carlito"/>
                <a:cs typeface="Carlito"/>
              </a:rPr>
              <a:t>“1”</a:t>
            </a:r>
          </a:p>
          <a:p>
            <a:pPr marL="12700">
              <a:lnSpc>
                <a:spcPct val="100000"/>
              </a:lnSpc>
              <a:spcBef>
                <a:spcPts val="480"/>
              </a:spcBef>
            </a:pPr>
            <a:r>
              <a:rPr sz="2000" b="1" dirty="0">
                <a:latin typeface="Carlito"/>
                <a:cs typeface="Carlito"/>
              </a:rPr>
              <a:t>2689 </a:t>
            </a:r>
            <a:r>
              <a:rPr sz="2000" spc="-40" dirty="0">
                <a:latin typeface="Carlito"/>
                <a:cs typeface="Carlito"/>
              </a:rPr>
              <a:t>0’s </a:t>
            </a:r>
            <a:r>
              <a:rPr sz="2000" spc="-5" dirty="0">
                <a:latin typeface="Carlito"/>
                <a:cs typeface="Carlito"/>
              </a:rPr>
              <a:t>correctly classified </a:t>
            </a:r>
            <a:r>
              <a:rPr sz="2000" dirty="0">
                <a:latin typeface="Carlito"/>
                <a:cs typeface="Carlito"/>
              </a:rPr>
              <a:t>as</a:t>
            </a:r>
            <a:r>
              <a:rPr sz="2000" spc="5" dirty="0">
                <a:latin typeface="Carlito"/>
                <a:cs typeface="Carlito"/>
              </a:rPr>
              <a:t> </a:t>
            </a:r>
            <a:r>
              <a:rPr sz="2000" dirty="0">
                <a:latin typeface="Carlito"/>
                <a:cs typeface="Carlito"/>
              </a:rPr>
              <a:t>“0”</a:t>
            </a:r>
          </a:p>
        </p:txBody>
      </p:sp>
      <p:graphicFrame>
        <p:nvGraphicFramePr>
          <p:cNvPr id="4" name="object 4"/>
          <p:cNvGraphicFramePr>
            <a:graphicFrameLocks noGrp="1"/>
          </p:cNvGraphicFramePr>
          <p:nvPr>
            <p:extLst>
              <p:ext uri="{D42A27DB-BD31-4B8C-83A1-F6EECF244321}">
                <p14:modId xmlns:p14="http://schemas.microsoft.com/office/powerpoint/2010/main" val="2734314698"/>
              </p:ext>
            </p:extLst>
          </p:nvPr>
        </p:nvGraphicFramePr>
        <p:xfrm>
          <a:off x="5410200" y="1428750"/>
          <a:ext cx="3215640" cy="1219200"/>
        </p:xfrm>
        <a:graphic>
          <a:graphicData uri="http://schemas.openxmlformats.org/drawingml/2006/table">
            <a:tbl>
              <a:tblPr firstRow="1" bandRow="1">
                <a:tableStyleId>{2D5ABB26-0587-4C30-8999-92F81FD0307C}</a:tableStyleId>
              </a:tblPr>
              <a:tblGrid>
                <a:gridCol w="1111234">
                  <a:extLst>
                    <a:ext uri="{9D8B030D-6E8A-4147-A177-3AD203B41FA5}">
                      <a16:colId xmlns:a16="http://schemas.microsoft.com/office/drawing/2014/main" val="20000"/>
                    </a:ext>
                  </a:extLst>
                </a:gridCol>
                <a:gridCol w="1051923">
                  <a:extLst>
                    <a:ext uri="{9D8B030D-6E8A-4147-A177-3AD203B41FA5}">
                      <a16:colId xmlns:a16="http://schemas.microsoft.com/office/drawing/2014/main" val="20001"/>
                    </a:ext>
                  </a:extLst>
                </a:gridCol>
                <a:gridCol w="1052483">
                  <a:extLst>
                    <a:ext uri="{9D8B030D-6E8A-4147-A177-3AD203B41FA5}">
                      <a16:colId xmlns:a16="http://schemas.microsoft.com/office/drawing/2014/main" val="20002"/>
                    </a:ext>
                  </a:extLst>
                </a:gridCol>
              </a:tblGrid>
              <a:tr h="243841">
                <a:tc gridSpan="3">
                  <a:txBody>
                    <a:bodyPr/>
                    <a:lstStyle/>
                    <a:p>
                      <a:pPr marL="35560">
                        <a:lnSpc>
                          <a:spcPct val="100000"/>
                        </a:lnSpc>
                        <a:spcBef>
                          <a:spcPts val="25"/>
                        </a:spcBef>
                      </a:pPr>
                      <a:r>
                        <a:rPr sz="1350" b="1" spc="-5" dirty="0">
                          <a:latin typeface="Arial"/>
                          <a:cs typeface="Arial"/>
                        </a:rPr>
                        <a:t>Classification Confusion</a:t>
                      </a:r>
                      <a:r>
                        <a:rPr sz="1350" b="1" dirty="0">
                          <a:latin typeface="Arial"/>
                          <a:cs typeface="Arial"/>
                        </a:rPr>
                        <a:t> Matrix</a:t>
                      </a:r>
                      <a:endParaRPr sz="1350" dirty="0">
                        <a:latin typeface="Arial"/>
                        <a:cs typeface="Arial"/>
                      </a:endParaRPr>
                    </a:p>
                  </a:txBody>
                  <a:tcPr marL="0" marR="0" marT="317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0C0C0"/>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43841">
                <a:tc>
                  <a:txBody>
                    <a:bodyPr/>
                    <a:lstStyle/>
                    <a:p>
                      <a:pPr>
                        <a:lnSpc>
                          <a:spcPct val="100000"/>
                        </a:lnSpc>
                      </a:pPr>
                      <a:endParaRPr sz="1500">
                        <a:latin typeface="Times New Roman"/>
                        <a:cs typeface="Times New Roman"/>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0C0C0"/>
                    </a:solidFill>
                  </a:tcPr>
                </a:tc>
                <a:tc gridSpan="2">
                  <a:txBody>
                    <a:bodyPr/>
                    <a:lstStyle/>
                    <a:p>
                      <a:pPr marL="35560">
                        <a:lnSpc>
                          <a:spcPct val="100000"/>
                        </a:lnSpc>
                        <a:spcBef>
                          <a:spcPts val="25"/>
                        </a:spcBef>
                      </a:pPr>
                      <a:r>
                        <a:rPr sz="1350" b="1" spc="-5" dirty="0">
                          <a:latin typeface="Arial"/>
                          <a:cs typeface="Arial"/>
                        </a:rPr>
                        <a:t>Predicted Class</a:t>
                      </a:r>
                      <a:endParaRPr sz="1350">
                        <a:latin typeface="Arial"/>
                        <a:cs typeface="Arial"/>
                      </a:endParaRPr>
                    </a:p>
                  </a:txBody>
                  <a:tcPr marL="0" marR="0" marT="317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0C0C0"/>
                    </a:solidFill>
                  </a:tcPr>
                </a:tc>
                <a:tc hMerge="1">
                  <a:txBody>
                    <a:bodyPr/>
                    <a:lstStyle/>
                    <a:p>
                      <a:endParaRPr/>
                    </a:p>
                  </a:txBody>
                  <a:tcPr marL="0" marR="0" marT="0" marB="0"/>
                </a:tc>
                <a:extLst>
                  <a:ext uri="{0D108BD9-81ED-4DB2-BD59-A6C34878D82A}">
                    <a16:rowId xmlns:a16="http://schemas.microsoft.com/office/drawing/2014/main" val="10001"/>
                  </a:ext>
                </a:extLst>
              </a:tr>
              <a:tr h="243841">
                <a:tc>
                  <a:txBody>
                    <a:bodyPr/>
                    <a:lstStyle/>
                    <a:p>
                      <a:pPr marR="22860" algn="r">
                        <a:lnSpc>
                          <a:spcPct val="100000"/>
                        </a:lnSpc>
                        <a:spcBef>
                          <a:spcPts val="105"/>
                        </a:spcBef>
                      </a:pPr>
                      <a:r>
                        <a:rPr sz="1350" b="1" spc="-20" dirty="0">
                          <a:latin typeface="Arial"/>
                          <a:cs typeface="Arial"/>
                        </a:rPr>
                        <a:t>Actual</a:t>
                      </a:r>
                      <a:r>
                        <a:rPr sz="1350" b="1" spc="-70" dirty="0">
                          <a:latin typeface="Arial"/>
                          <a:cs typeface="Arial"/>
                        </a:rPr>
                        <a:t> </a:t>
                      </a:r>
                      <a:r>
                        <a:rPr sz="1350" b="1" spc="-5" dirty="0">
                          <a:latin typeface="Arial"/>
                          <a:cs typeface="Arial"/>
                        </a:rPr>
                        <a:t>Class</a:t>
                      </a:r>
                      <a:endParaRPr sz="1350">
                        <a:latin typeface="Arial"/>
                        <a:cs typeface="Arial"/>
                      </a:endParaRPr>
                    </a:p>
                  </a:txBody>
                  <a:tcPr marL="0" marR="0" marT="1333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0C0C0"/>
                    </a:solidFill>
                  </a:tcPr>
                </a:tc>
                <a:tc>
                  <a:txBody>
                    <a:bodyPr/>
                    <a:lstStyle/>
                    <a:p>
                      <a:pPr marR="21590" algn="r">
                        <a:lnSpc>
                          <a:spcPct val="100000"/>
                        </a:lnSpc>
                        <a:spcBef>
                          <a:spcPts val="105"/>
                        </a:spcBef>
                      </a:pPr>
                      <a:r>
                        <a:rPr lang="en-US" sz="1350" dirty="0">
                          <a:latin typeface="Arial"/>
                          <a:cs typeface="Arial"/>
                        </a:rPr>
                        <a:t>0</a:t>
                      </a:r>
                      <a:endParaRPr sz="1350" dirty="0">
                        <a:latin typeface="Arial"/>
                        <a:cs typeface="Arial"/>
                      </a:endParaRPr>
                    </a:p>
                  </a:txBody>
                  <a:tcPr marL="0" marR="0" marT="1333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99"/>
                    </a:solidFill>
                  </a:tcPr>
                </a:tc>
                <a:tc>
                  <a:txBody>
                    <a:bodyPr/>
                    <a:lstStyle/>
                    <a:p>
                      <a:pPr marR="21590" algn="r">
                        <a:lnSpc>
                          <a:spcPct val="100000"/>
                        </a:lnSpc>
                        <a:spcBef>
                          <a:spcPts val="105"/>
                        </a:spcBef>
                      </a:pPr>
                      <a:r>
                        <a:rPr lang="en-US" sz="1350" dirty="0">
                          <a:latin typeface="Arial"/>
                          <a:cs typeface="Arial"/>
                        </a:rPr>
                        <a:t>1</a:t>
                      </a:r>
                      <a:endParaRPr sz="1350" dirty="0">
                        <a:latin typeface="Arial"/>
                        <a:cs typeface="Arial"/>
                      </a:endParaRPr>
                    </a:p>
                  </a:txBody>
                  <a:tcPr marL="0" marR="0" marT="1333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99"/>
                    </a:solidFill>
                  </a:tcPr>
                </a:tc>
                <a:extLst>
                  <a:ext uri="{0D108BD9-81ED-4DB2-BD59-A6C34878D82A}">
                    <a16:rowId xmlns:a16="http://schemas.microsoft.com/office/drawing/2014/main" val="10002"/>
                  </a:ext>
                </a:extLst>
              </a:tr>
              <a:tr h="244704">
                <a:tc>
                  <a:txBody>
                    <a:bodyPr/>
                    <a:lstStyle/>
                    <a:p>
                      <a:pPr marR="21590" algn="r">
                        <a:lnSpc>
                          <a:spcPct val="100000"/>
                        </a:lnSpc>
                        <a:spcBef>
                          <a:spcPts val="105"/>
                        </a:spcBef>
                      </a:pPr>
                      <a:r>
                        <a:rPr lang="en-US" sz="1350" dirty="0">
                          <a:latin typeface="Arial"/>
                          <a:cs typeface="Arial"/>
                        </a:rPr>
                        <a:t>0</a:t>
                      </a:r>
                      <a:endParaRPr sz="1350" dirty="0">
                        <a:latin typeface="Arial"/>
                        <a:cs typeface="Arial"/>
                      </a:endParaRPr>
                    </a:p>
                  </a:txBody>
                  <a:tcPr marL="0" marR="0" marT="13335" marB="0">
                    <a:lnL w="28575">
                      <a:solidFill>
                        <a:srgbClr val="000000"/>
                      </a:solidFill>
                      <a:prstDash val="solid"/>
                    </a:lnL>
                    <a:lnR w="28575">
                      <a:solidFill>
                        <a:srgbClr val="000000"/>
                      </a:solidFill>
                      <a:prstDash val="solid"/>
                    </a:lnR>
                    <a:lnT w="28575">
                      <a:solidFill>
                        <a:srgbClr val="000000"/>
                      </a:solidFill>
                      <a:prstDash val="solid"/>
                    </a:lnT>
                    <a:solidFill>
                      <a:srgbClr val="FFFF99"/>
                    </a:solidFill>
                  </a:tcPr>
                </a:tc>
                <a:tc>
                  <a:txBody>
                    <a:bodyPr/>
                    <a:lstStyle/>
                    <a:p>
                      <a:pPr marR="27940" algn="r">
                        <a:lnSpc>
                          <a:spcPct val="100000"/>
                        </a:lnSpc>
                        <a:spcBef>
                          <a:spcPts val="100"/>
                        </a:spcBef>
                      </a:pPr>
                      <a:r>
                        <a:rPr lang="en-IN" sz="1350" spc="-10" dirty="0">
                          <a:latin typeface="Arial"/>
                          <a:cs typeface="Arial"/>
                        </a:rPr>
                        <a:t>2689</a:t>
                      </a:r>
                      <a:endParaRPr lang="en-IN" sz="1350" dirty="0">
                        <a:latin typeface="Arial"/>
                        <a:cs typeface="Arial"/>
                      </a:endParaRPr>
                    </a:p>
                  </a:txBody>
                  <a:tcPr marL="0" marR="0" marT="13335" marB="0">
                    <a:lnL w="28575">
                      <a:solidFill>
                        <a:srgbClr val="000000"/>
                      </a:solidFill>
                      <a:prstDash val="solid"/>
                    </a:lnL>
                    <a:lnR w="28575">
                      <a:solidFill>
                        <a:srgbClr val="000000"/>
                      </a:solidFill>
                      <a:prstDash val="solid"/>
                    </a:lnR>
                    <a:lnT w="28575">
                      <a:solidFill>
                        <a:srgbClr val="000000"/>
                      </a:solidFill>
                      <a:prstDash val="solid"/>
                    </a:lnT>
                  </a:tcPr>
                </a:tc>
                <a:tc>
                  <a:txBody>
                    <a:bodyPr/>
                    <a:lstStyle/>
                    <a:p>
                      <a:pPr marL="0" marR="27940" lvl="0" indent="0" algn="r" defTabSz="914400" eaLnBrk="1" fontAlgn="auto" latinLnBrk="0" hangingPunct="1">
                        <a:lnSpc>
                          <a:spcPct val="100000"/>
                        </a:lnSpc>
                        <a:spcBef>
                          <a:spcPts val="105"/>
                        </a:spcBef>
                        <a:spcAft>
                          <a:spcPts val="0"/>
                        </a:spcAft>
                        <a:buClrTx/>
                        <a:buSzTx/>
                        <a:buFontTx/>
                        <a:buNone/>
                        <a:tabLst/>
                        <a:defRPr/>
                      </a:pPr>
                      <a:r>
                        <a:rPr lang="en-IN" sz="1350" spc="-10" dirty="0">
                          <a:latin typeface="Arial"/>
                          <a:cs typeface="Arial"/>
                        </a:rPr>
                        <a:t>25</a:t>
                      </a:r>
                      <a:endParaRPr lang="en-IN" sz="1350" dirty="0">
                        <a:latin typeface="Arial"/>
                        <a:cs typeface="Arial"/>
                      </a:endParaRPr>
                    </a:p>
                  </a:txBody>
                  <a:tcPr marL="0" marR="0" marT="13335" marB="0">
                    <a:lnL w="28575">
                      <a:solidFill>
                        <a:srgbClr val="000000"/>
                      </a:solidFill>
                      <a:prstDash val="solid"/>
                    </a:lnL>
                    <a:lnR w="28575">
                      <a:solidFill>
                        <a:srgbClr val="000000"/>
                      </a:solidFill>
                      <a:prstDash val="solid"/>
                    </a:lnR>
                    <a:lnT w="28575">
                      <a:solidFill>
                        <a:srgbClr val="000000"/>
                      </a:solidFill>
                      <a:prstDash val="solid"/>
                    </a:lnT>
                  </a:tcPr>
                </a:tc>
                <a:extLst>
                  <a:ext uri="{0D108BD9-81ED-4DB2-BD59-A6C34878D82A}">
                    <a16:rowId xmlns:a16="http://schemas.microsoft.com/office/drawing/2014/main" val="10003"/>
                  </a:ext>
                </a:extLst>
              </a:tr>
              <a:tr h="242973">
                <a:tc>
                  <a:txBody>
                    <a:bodyPr/>
                    <a:lstStyle/>
                    <a:p>
                      <a:pPr marR="21590" algn="r">
                        <a:lnSpc>
                          <a:spcPct val="100000"/>
                        </a:lnSpc>
                        <a:spcBef>
                          <a:spcPts val="100"/>
                        </a:spcBef>
                      </a:pPr>
                      <a:r>
                        <a:rPr lang="en-US" sz="1350" dirty="0">
                          <a:latin typeface="Arial"/>
                          <a:cs typeface="Arial"/>
                        </a:rPr>
                        <a:t>1</a:t>
                      </a:r>
                      <a:endParaRPr sz="1350" dirty="0">
                        <a:latin typeface="Arial"/>
                        <a:cs typeface="Arial"/>
                      </a:endParaRPr>
                    </a:p>
                  </a:txBody>
                  <a:tcPr marL="0" marR="0" marT="12700" marB="0">
                    <a:lnL w="28575">
                      <a:solidFill>
                        <a:srgbClr val="000000"/>
                      </a:solidFill>
                      <a:prstDash val="solid"/>
                    </a:lnL>
                    <a:lnR w="28575">
                      <a:solidFill>
                        <a:srgbClr val="000000"/>
                      </a:solidFill>
                      <a:prstDash val="solid"/>
                    </a:lnR>
                    <a:lnB w="28575">
                      <a:solidFill>
                        <a:srgbClr val="000000"/>
                      </a:solidFill>
                      <a:prstDash val="solid"/>
                    </a:lnB>
                    <a:solidFill>
                      <a:srgbClr val="FFFF99"/>
                    </a:solidFill>
                  </a:tcPr>
                </a:tc>
                <a:tc>
                  <a:txBody>
                    <a:bodyPr/>
                    <a:lstStyle/>
                    <a:p>
                      <a:pPr marR="27940" algn="r">
                        <a:lnSpc>
                          <a:spcPct val="100000"/>
                        </a:lnSpc>
                        <a:spcBef>
                          <a:spcPts val="105"/>
                        </a:spcBef>
                      </a:pPr>
                      <a:r>
                        <a:rPr lang="en-IN" sz="1350" spc="-10" dirty="0">
                          <a:latin typeface="Arial"/>
                          <a:cs typeface="Arial"/>
                        </a:rPr>
                        <a:t>85</a:t>
                      </a:r>
                      <a:endParaRPr lang="en-IN" sz="1350" dirty="0">
                        <a:latin typeface="Arial"/>
                        <a:cs typeface="Arial"/>
                      </a:endParaRPr>
                    </a:p>
                  </a:txBody>
                  <a:tcPr marL="0" marR="0" marT="12700" marB="0">
                    <a:lnL w="28575">
                      <a:solidFill>
                        <a:srgbClr val="000000"/>
                      </a:solidFill>
                      <a:prstDash val="solid"/>
                    </a:lnL>
                    <a:lnR w="28575">
                      <a:solidFill>
                        <a:srgbClr val="000000"/>
                      </a:solidFill>
                      <a:prstDash val="solid"/>
                    </a:lnR>
                    <a:lnB w="28575">
                      <a:solidFill>
                        <a:srgbClr val="000000"/>
                      </a:solidFill>
                      <a:prstDash val="solid"/>
                    </a:lnB>
                  </a:tcPr>
                </a:tc>
                <a:tc>
                  <a:txBody>
                    <a:bodyPr/>
                    <a:lstStyle/>
                    <a:p>
                      <a:pPr marR="27940" algn="r">
                        <a:lnSpc>
                          <a:spcPct val="100000"/>
                        </a:lnSpc>
                        <a:spcBef>
                          <a:spcPts val="105"/>
                        </a:spcBef>
                      </a:pPr>
                      <a:r>
                        <a:rPr lang="en-IN" sz="1350" spc="-10" dirty="0">
                          <a:latin typeface="Arial"/>
                          <a:cs typeface="Arial"/>
                        </a:rPr>
                        <a:t>201</a:t>
                      </a:r>
                      <a:endParaRPr lang="en-IN" sz="1350" dirty="0">
                        <a:latin typeface="Arial"/>
                        <a:cs typeface="Arial"/>
                      </a:endParaRPr>
                    </a:p>
                  </a:txBody>
                  <a:tcPr marL="0" marR="0" marT="12700" marB="0">
                    <a:lnL w="28575">
                      <a:solidFill>
                        <a:srgbClr val="000000"/>
                      </a:solidFill>
                      <a:prstDash val="solid"/>
                    </a:lnL>
                    <a:lnR w="28575">
                      <a:solidFill>
                        <a:srgbClr val="000000"/>
                      </a:solidFill>
                      <a:prstDash val="solid"/>
                    </a:lnR>
                    <a:lnB w="28575">
                      <a:solidFill>
                        <a:srgbClr val="000000"/>
                      </a:solidFill>
                      <a:prstDash val="solid"/>
                    </a:lnB>
                  </a:tcPr>
                </a:tc>
                <a:extLst>
                  <a:ext uri="{0D108BD9-81ED-4DB2-BD59-A6C34878D82A}">
                    <a16:rowId xmlns:a16="http://schemas.microsoft.com/office/drawing/2014/main" val="10004"/>
                  </a:ext>
                </a:extLst>
              </a:tr>
            </a:tbl>
          </a:graphicData>
        </a:graphic>
      </p:graphicFrame>
      <p:pic>
        <p:nvPicPr>
          <p:cNvPr id="11" name="Picture 10">
            <a:extLst>
              <a:ext uri="{FF2B5EF4-FFF2-40B4-BE49-F238E27FC236}">
                <a16:creationId xmlns:a16="http://schemas.microsoft.com/office/drawing/2014/main" id="{2FC4F42C-E2F0-4725-95AF-3A04F26E569C}"/>
              </a:ext>
            </a:extLst>
          </p:cNvPr>
          <p:cNvPicPr>
            <a:picLocks noChangeAspect="1"/>
          </p:cNvPicPr>
          <p:nvPr/>
        </p:nvPicPr>
        <p:blipFill>
          <a:blip r:embed="rId2"/>
          <a:stretch>
            <a:fillRect/>
          </a:stretch>
        </p:blipFill>
        <p:spPr>
          <a:xfrm>
            <a:off x="0" y="2114550"/>
            <a:ext cx="4622269" cy="1371600"/>
          </a:xfrm>
          <a:prstGeom prst="rect">
            <a:avLst/>
          </a:prstGeom>
        </p:spPr>
      </p:pic>
      <p:sp>
        <p:nvSpPr>
          <p:cNvPr id="5" name="TextBox 4">
            <a:extLst>
              <a:ext uri="{FF2B5EF4-FFF2-40B4-BE49-F238E27FC236}">
                <a16:creationId xmlns:a16="http://schemas.microsoft.com/office/drawing/2014/main" id="{F64BB2C0-A6DE-413B-8CFF-7BBCE57D57FF}"/>
              </a:ext>
            </a:extLst>
          </p:cNvPr>
          <p:cNvSpPr txBox="1"/>
          <p:nvPr/>
        </p:nvSpPr>
        <p:spPr>
          <a:xfrm>
            <a:off x="762000" y="4019550"/>
            <a:ext cx="1981200" cy="923330"/>
          </a:xfrm>
          <a:prstGeom prst="rect">
            <a:avLst/>
          </a:prstGeom>
          <a:noFill/>
        </p:spPr>
        <p:txBody>
          <a:bodyPr wrap="square" rtlCol="0">
            <a:spAutoFit/>
          </a:bodyPr>
          <a:lstStyle/>
          <a:p>
            <a:r>
              <a:rPr lang="en-US" dirty="0"/>
              <a:t>0- negative</a:t>
            </a:r>
          </a:p>
          <a:p>
            <a:r>
              <a:rPr lang="en-US" dirty="0"/>
              <a:t>1-positive</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2BC1DB-2AA2-4C12-B74D-086242BA7F1F}"/>
              </a:ext>
            </a:extLst>
          </p:cNvPr>
          <p:cNvSpPr txBox="1"/>
          <p:nvPr/>
        </p:nvSpPr>
        <p:spPr>
          <a:xfrm>
            <a:off x="609600" y="1200150"/>
            <a:ext cx="8077200" cy="3108543"/>
          </a:xfrm>
          <a:prstGeom prst="rect">
            <a:avLst/>
          </a:prstGeom>
          <a:noFill/>
        </p:spPr>
        <p:txBody>
          <a:bodyPr wrap="square">
            <a:spAutoFit/>
          </a:bodyPr>
          <a:lstStyle/>
          <a:p>
            <a:pPr algn="l"/>
            <a:r>
              <a:rPr lang="en-US" sz="1400" b="1" i="0" dirty="0">
                <a:solidFill>
                  <a:srgbClr val="595858"/>
                </a:solidFill>
                <a:effectLst/>
                <a:latin typeface="roboto"/>
              </a:rPr>
              <a:t>True Positive (TP) </a:t>
            </a:r>
            <a:endParaRPr lang="en-US" sz="1400" b="0" i="0" dirty="0">
              <a:solidFill>
                <a:srgbClr val="595858"/>
              </a:solidFill>
              <a:effectLst/>
              <a:latin typeface="roboto"/>
            </a:endParaRPr>
          </a:p>
          <a:p>
            <a:pPr algn="l">
              <a:buFont typeface="Arial" panose="020B0604020202020204" pitchFamily="34" charset="0"/>
              <a:buChar char="•"/>
            </a:pPr>
            <a:r>
              <a:rPr lang="en-US" sz="1400" b="0" i="0" dirty="0">
                <a:solidFill>
                  <a:srgbClr val="595858"/>
                </a:solidFill>
                <a:effectLst/>
                <a:latin typeface="roboto"/>
              </a:rPr>
              <a:t>The predicted value matches the actual value</a:t>
            </a:r>
          </a:p>
          <a:p>
            <a:pPr algn="l">
              <a:buFont typeface="Arial" panose="020B0604020202020204" pitchFamily="34" charset="0"/>
              <a:buChar char="•"/>
            </a:pPr>
            <a:r>
              <a:rPr lang="en-US" sz="1400" b="0" i="0" dirty="0">
                <a:solidFill>
                  <a:srgbClr val="595858"/>
                </a:solidFill>
                <a:effectLst/>
                <a:latin typeface="roboto"/>
              </a:rPr>
              <a:t>The actual value was positive and the model predicted a positive value</a:t>
            </a:r>
          </a:p>
          <a:p>
            <a:pPr algn="l"/>
            <a:r>
              <a:rPr lang="en-US" sz="1400" b="1" i="0" dirty="0">
                <a:solidFill>
                  <a:srgbClr val="595858"/>
                </a:solidFill>
                <a:effectLst/>
                <a:latin typeface="roboto"/>
              </a:rPr>
              <a:t>True Negative (TN) </a:t>
            </a:r>
            <a:endParaRPr lang="en-US" sz="1400" b="0" i="0" dirty="0">
              <a:solidFill>
                <a:srgbClr val="595858"/>
              </a:solidFill>
              <a:effectLst/>
              <a:latin typeface="roboto"/>
            </a:endParaRPr>
          </a:p>
          <a:p>
            <a:pPr algn="l">
              <a:buFont typeface="Arial" panose="020B0604020202020204" pitchFamily="34" charset="0"/>
              <a:buChar char="•"/>
            </a:pPr>
            <a:r>
              <a:rPr lang="en-US" sz="1400" b="0" i="0" dirty="0">
                <a:solidFill>
                  <a:srgbClr val="595858"/>
                </a:solidFill>
                <a:effectLst/>
                <a:latin typeface="roboto"/>
              </a:rPr>
              <a:t>The predicted value matches the actual value</a:t>
            </a:r>
          </a:p>
          <a:p>
            <a:pPr algn="l">
              <a:buFont typeface="Arial" panose="020B0604020202020204" pitchFamily="34" charset="0"/>
              <a:buChar char="•"/>
            </a:pPr>
            <a:r>
              <a:rPr lang="en-US" sz="1400" b="0" i="0" dirty="0">
                <a:solidFill>
                  <a:srgbClr val="595858"/>
                </a:solidFill>
                <a:effectLst/>
                <a:latin typeface="roboto"/>
              </a:rPr>
              <a:t>The actual value was negative and the model predicted a negative value</a:t>
            </a:r>
          </a:p>
          <a:p>
            <a:pPr algn="l"/>
            <a:r>
              <a:rPr lang="en-US" sz="1400" b="1" i="0" dirty="0">
                <a:solidFill>
                  <a:srgbClr val="FF0000"/>
                </a:solidFill>
                <a:effectLst/>
                <a:latin typeface="roboto"/>
              </a:rPr>
              <a:t>False Positive (FP) – Type 1 error</a:t>
            </a:r>
            <a:endParaRPr lang="en-US" sz="1400" b="0" i="0" dirty="0">
              <a:solidFill>
                <a:srgbClr val="FF0000"/>
              </a:solidFill>
              <a:effectLst/>
              <a:latin typeface="roboto"/>
            </a:endParaRPr>
          </a:p>
          <a:p>
            <a:pPr algn="l">
              <a:buFont typeface="Arial" panose="020B0604020202020204" pitchFamily="34" charset="0"/>
              <a:buChar char="•"/>
            </a:pPr>
            <a:r>
              <a:rPr lang="en-US" sz="1400" b="0" i="0" dirty="0">
                <a:solidFill>
                  <a:srgbClr val="595858"/>
                </a:solidFill>
                <a:effectLst/>
                <a:latin typeface="roboto"/>
              </a:rPr>
              <a:t>The predicted value was falsely predicted</a:t>
            </a:r>
          </a:p>
          <a:p>
            <a:pPr algn="l">
              <a:buFont typeface="Arial" panose="020B0604020202020204" pitchFamily="34" charset="0"/>
              <a:buChar char="•"/>
            </a:pPr>
            <a:r>
              <a:rPr lang="en-US" sz="1400" b="0" i="0" dirty="0">
                <a:solidFill>
                  <a:srgbClr val="595858"/>
                </a:solidFill>
                <a:effectLst/>
                <a:latin typeface="roboto"/>
              </a:rPr>
              <a:t>The actual value was negative but the model predicted a positive value</a:t>
            </a:r>
          </a:p>
          <a:p>
            <a:pPr algn="l">
              <a:buFont typeface="Arial" panose="020B0604020202020204" pitchFamily="34" charset="0"/>
              <a:buChar char="•"/>
            </a:pPr>
            <a:r>
              <a:rPr lang="en-US" sz="1400" b="0" i="0" dirty="0">
                <a:solidFill>
                  <a:srgbClr val="595858"/>
                </a:solidFill>
                <a:effectLst/>
                <a:latin typeface="roboto"/>
              </a:rPr>
              <a:t>Also known as the </a:t>
            </a:r>
            <a:r>
              <a:rPr lang="en-US" sz="1400" b="1" i="0" dirty="0">
                <a:solidFill>
                  <a:srgbClr val="595858"/>
                </a:solidFill>
                <a:effectLst/>
                <a:latin typeface="roboto"/>
              </a:rPr>
              <a:t>Type 1 error</a:t>
            </a:r>
            <a:endParaRPr lang="en-US" sz="1400" b="0" i="0" dirty="0">
              <a:solidFill>
                <a:srgbClr val="595858"/>
              </a:solidFill>
              <a:effectLst/>
              <a:latin typeface="roboto"/>
            </a:endParaRPr>
          </a:p>
          <a:p>
            <a:pPr algn="l"/>
            <a:r>
              <a:rPr lang="en-US" sz="1400" b="1" i="0" dirty="0">
                <a:solidFill>
                  <a:srgbClr val="FF0000"/>
                </a:solidFill>
                <a:effectLst/>
                <a:latin typeface="roboto"/>
              </a:rPr>
              <a:t>False Negative (FN) – Type 2 error</a:t>
            </a:r>
            <a:endParaRPr lang="en-US" sz="1400" b="0" i="0" dirty="0">
              <a:solidFill>
                <a:srgbClr val="FF0000"/>
              </a:solidFill>
              <a:effectLst/>
              <a:latin typeface="roboto"/>
            </a:endParaRPr>
          </a:p>
          <a:p>
            <a:pPr algn="l">
              <a:buFont typeface="Arial" panose="020B0604020202020204" pitchFamily="34" charset="0"/>
              <a:buChar char="•"/>
            </a:pPr>
            <a:r>
              <a:rPr lang="en-US" sz="1400" b="0" i="0" dirty="0">
                <a:solidFill>
                  <a:srgbClr val="595858"/>
                </a:solidFill>
                <a:effectLst/>
                <a:latin typeface="roboto"/>
              </a:rPr>
              <a:t>The predicted value was falsely predicted</a:t>
            </a:r>
          </a:p>
          <a:p>
            <a:pPr algn="l">
              <a:buFont typeface="Arial" panose="020B0604020202020204" pitchFamily="34" charset="0"/>
              <a:buChar char="•"/>
            </a:pPr>
            <a:r>
              <a:rPr lang="en-US" sz="1400" b="0" i="0" dirty="0">
                <a:solidFill>
                  <a:srgbClr val="595858"/>
                </a:solidFill>
                <a:effectLst/>
                <a:latin typeface="roboto"/>
              </a:rPr>
              <a:t>The actual value was positive but the model predicted a negative value</a:t>
            </a:r>
          </a:p>
          <a:p>
            <a:pPr algn="l">
              <a:buFont typeface="Arial" panose="020B0604020202020204" pitchFamily="34" charset="0"/>
              <a:buChar char="•"/>
            </a:pPr>
            <a:r>
              <a:rPr lang="en-US" sz="1400" b="0" i="0" dirty="0">
                <a:solidFill>
                  <a:srgbClr val="595858"/>
                </a:solidFill>
                <a:effectLst/>
                <a:latin typeface="roboto"/>
              </a:rPr>
              <a:t>Also known as the </a:t>
            </a:r>
            <a:r>
              <a:rPr lang="en-US" sz="1400" b="1" i="0" dirty="0">
                <a:solidFill>
                  <a:srgbClr val="595858"/>
                </a:solidFill>
                <a:effectLst/>
                <a:latin typeface="roboto"/>
              </a:rPr>
              <a:t>Type 2 error</a:t>
            </a:r>
            <a:endParaRPr lang="en-US" sz="1400" b="0" i="0" dirty="0">
              <a:solidFill>
                <a:srgbClr val="595858"/>
              </a:solidFill>
              <a:effectLst/>
              <a:latin typeface="roboto"/>
            </a:endParaRPr>
          </a:p>
        </p:txBody>
      </p:sp>
      <p:pic>
        <p:nvPicPr>
          <p:cNvPr id="4" name="Picture 3">
            <a:extLst>
              <a:ext uri="{FF2B5EF4-FFF2-40B4-BE49-F238E27FC236}">
                <a16:creationId xmlns:a16="http://schemas.microsoft.com/office/drawing/2014/main" id="{87E0FF59-EE14-4B89-8294-ED35F8DEE374}"/>
              </a:ext>
            </a:extLst>
          </p:cNvPr>
          <p:cNvPicPr>
            <a:picLocks noChangeAspect="1"/>
          </p:cNvPicPr>
          <p:nvPr/>
        </p:nvPicPr>
        <p:blipFill>
          <a:blip r:embed="rId2"/>
          <a:stretch>
            <a:fillRect/>
          </a:stretch>
        </p:blipFill>
        <p:spPr>
          <a:xfrm>
            <a:off x="4064531" y="149007"/>
            <a:ext cx="4622269" cy="1371600"/>
          </a:xfrm>
          <a:prstGeom prst="rect">
            <a:avLst/>
          </a:prstGeom>
        </p:spPr>
      </p:pic>
    </p:spTree>
    <p:extLst>
      <p:ext uri="{BB962C8B-B14F-4D97-AF65-F5344CB8AC3E}">
        <p14:creationId xmlns:p14="http://schemas.microsoft.com/office/powerpoint/2010/main" val="3817211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0602A5-1836-4D4B-8985-C92605BD42B9}"/>
              </a:ext>
            </a:extLst>
          </p:cNvPr>
          <p:cNvSpPr txBox="1"/>
          <p:nvPr/>
        </p:nvSpPr>
        <p:spPr>
          <a:xfrm>
            <a:off x="3200400" y="361950"/>
            <a:ext cx="2895600" cy="523220"/>
          </a:xfrm>
          <a:prstGeom prst="rect">
            <a:avLst/>
          </a:prstGeom>
          <a:noFill/>
        </p:spPr>
        <p:txBody>
          <a:bodyPr wrap="square" rtlCol="0">
            <a:spAutoFit/>
          </a:bodyPr>
          <a:lstStyle/>
          <a:p>
            <a:r>
              <a:rPr lang="en-US" sz="2800" b="1" dirty="0">
                <a:solidFill>
                  <a:srgbClr val="0070C0"/>
                </a:solidFill>
              </a:rPr>
              <a:t>Accuracy</a:t>
            </a:r>
            <a:endParaRPr lang="en-IN" sz="2800" b="1" dirty="0">
              <a:solidFill>
                <a:srgbClr val="0070C0"/>
              </a:solidFill>
            </a:endParaRPr>
          </a:p>
        </p:txBody>
      </p:sp>
      <p:sp>
        <p:nvSpPr>
          <p:cNvPr id="4" name="TextBox 3">
            <a:extLst>
              <a:ext uri="{FF2B5EF4-FFF2-40B4-BE49-F238E27FC236}">
                <a16:creationId xmlns:a16="http://schemas.microsoft.com/office/drawing/2014/main" id="{9F3FE2D1-B2EF-4BD4-A942-8EA10F115C44}"/>
              </a:ext>
            </a:extLst>
          </p:cNvPr>
          <p:cNvSpPr txBox="1"/>
          <p:nvPr/>
        </p:nvSpPr>
        <p:spPr>
          <a:xfrm>
            <a:off x="533400" y="1352550"/>
            <a:ext cx="7696200" cy="923330"/>
          </a:xfrm>
          <a:prstGeom prst="rect">
            <a:avLst/>
          </a:prstGeom>
          <a:noFill/>
        </p:spPr>
        <p:txBody>
          <a:bodyPr wrap="square">
            <a:spAutoFit/>
          </a:bodyPr>
          <a:lstStyle/>
          <a:p>
            <a:r>
              <a:rPr lang="en-US" dirty="0"/>
              <a:t>Accuracy is defined as the percentage of correct predictions for the test data. It can be calculated easily by dividing the number of correct predictions by the number of total predictions</a:t>
            </a:r>
            <a:endParaRPr lang="en-IN" dirty="0"/>
          </a:p>
        </p:txBody>
      </p:sp>
    </p:spTree>
    <p:extLst>
      <p:ext uri="{BB962C8B-B14F-4D97-AF65-F5344CB8AC3E}">
        <p14:creationId xmlns:p14="http://schemas.microsoft.com/office/powerpoint/2010/main" val="1772792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E4CA4F-F5A0-4971-A5D6-69759A9B61A9}"/>
              </a:ext>
            </a:extLst>
          </p:cNvPr>
          <p:cNvSpPr txBox="1"/>
          <p:nvPr/>
        </p:nvSpPr>
        <p:spPr>
          <a:xfrm>
            <a:off x="4779335" y="2697365"/>
            <a:ext cx="4572000" cy="369332"/>
          </a:xfrm>
          <a:prstGeom prst="rect">
            <a:avLst/>
          </a:prstGeom>
          <a:noFill/>
        </p:spPr>
        <p:txBody>
          <a:bodyPr wrap="square">
            <a:spAutoFit/>
          </a:bodyPr>
          <a:lstStyle/>
          <a:p>
            <a:r>
              <a:rPr lang="en-IN" dirty="0"/>
              <a:t>Accuracy = (55 + 30)/(55 + 5 + 30 + 10 ) = 0.85 </a:t>
            </a:r>
          </a:p>
        </p:txBody>
      </p:sp>
      <p:pic>
        <p:nvPicPr>
          <p:cNvPr id="5" name="Picture 4">
            <a:extLst>
              <a:ext uri="{FF2B5EF4-FFF2-40B4-BE49-F238E27FC236}">
                <a16:creationId xmlns:a16="http://schemas.microsoft.com/office/drawing/2014/main" id="{31B06CAC-8A5B-440A-BDC4-2A422E83844F}"/>
              </a:ext>
            </a:extLst>
          </p:cNvPr>
          <p:cNvPicPr>
            <a:picLocks noChangeAspect="1"/>
          </p:cNvPicPr>
          <p:nvPr/>
        </p:nvPicPr>
        <p:blipFill>
          <a:blip r:embed="rId2"/>
          <a:stretch>
            <a:fillRect/>
          </a:stretch>
        </p:blipFill>
        <p:spPr>
          <a:xfrm>
            <a:off x="102810" y="1657350"/>
            <a:ext cx="4697195" cy="2743200"/>
          </a:xfrm>
          <a:prstGeom prst="rect">
            <a:avLst/>
          </a:prstGeom>
        </p:spPr>
      </p:pic>
      <p:pic>
        <p:nvPicPr>
          <p:cNvPr id="4098" name="Picture 2">
            <a:extLst>
              <a:ext uri="{FF2B5EF4-FFF2-40B4-BE49-F238E27FC236}">
                <a16:creationId xmlns:a16="http://schemas.microsoft.com/office/drawing/2014/main" id="{714F4CE9-8F99-4CB9-8AE0-2A8D36D1A9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1885950"/>
            <a:ext cx="3761116" cy="576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130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24836" y="385953"/>
            <a:ext cx="4892675" cy="452120"/>
          </a:xfrm>
          <a:prstGeom prst="rect">
            <a:avLst/>
          </a:prstGeom>
        </p:spPr>
        <p:txBody>
          <a:bodyPr vert="horz" wrap="square" lIns="0" tIns="12065" rIns="0" bIns="0" rtlCol="0">
            <a:spAutoFit/>
          </a:bodyPr>
          <a:lstStyle/>
          <a:p>
            <a:pPr marL="12700">
              <a:lnSpc>
                <a:spcPct val="100000"/>
              </a:lnSpc>
              <a:spcBef>
                <a:spcPts val="95"/>
              </a:spcBef>
            </a:pPr>
            <a:r>
              <a:rPr spc="-15" dirty="0"/>
              <a:t>Interpreting </a:t>
            </a:r>
            <a:r>
              <a:rPr spc="-10" dirty="0"/>
              <a:t>Classification</a:t>
            </a:r>
            <a:r>
              <a:rPr spc="45" dirty="0"/>
              <a:t> </a:t>
            </a:r>
            <a:r>
              <a:rPr spc="-15" dirty="0"/>
              <a:t>Report</a:t>
            </a:r>
          </a:p>
        </p:txBody>
      </p:sp>
      <p:sp>
        <p:nvSpPr>
          <p:cNvPr id="3" name="object 3"/>
          <p:cNvSpPr txBox="1">
            <a:spLocks noGrp="1"/>
          </p:cNvSpPr>
          <p:nvPr>
            <p:ph type="body" idx="1"/>
          </p:nvPr>
        </p:nvSpPr>
        <p:spPr>
          <a:xfrm>
            <a:off x="2514250" y="1014774"/>
            <a:ext cx="5791549" cy="949619"/>
          </a:xfrm>
          <a:prstGeom prst="rect">
            <a:avLst/>
          </a:prstGeom>
        </p:spPr>
        <p:txBody>
          <a:bodyPr vert="horz" wrap="square" lIns="0" tIns="13335" rIns="0" bIns="0" rtlCol="0">
            <a:spAutoFit/>
          </a:bodyPr>
          <a:lstStyle/>
          <a:p>
            <a:pPr marL="355600" indent="-342900">
              <a:spcBef>
                <a:spcPts val="105"/>
              </a:spcBef>
              <a:buFont typeface="Arial"/>
              <a:buChar char="•"/>
              <a:tabLst>
                <a:tab pos="354965" algn="l"/>
                <a:tab pos="355600" algn="l"/>
              </a:tabLst>
            </a:pPr>
            <a:r>
              <a:rPr lang="en-US" spc="-5" dirty="0">
                <a:solidFill>
                  <a:srgbClr val="C00000"/>
                </a:solidFill>
              </a:rPr>
              <a:t>Accuracy </a:t>
            </a:r>
            <a:r>
              <a:rPr lang="en-US" dirty="0">
                <a:solidFill>
                  <a:srgbClr val="C00000"/>
                </a:solidFill>
              </a:rPr>
              <a:t>= (</a:t>
            </a:r>
            <a:r>
              <a:rPr lang="en-US" dirty="0" err="1">
                <a:solidFill>
                  <a:srgbClr val="C00000"/>
                </a:solidFill>
              </a:rPr>
              <a:t>tp</a:t>
            </a:r>
            <a:r>
              <a:rPr lang="en-US" dirty="0">
                <a:solidFill>
                  <a:srgbClr val="C00000"/>
                </a:solidFill>
              </a:rPr>
              <a:t> + </a:t>
            </a:r>
            <a:r>
              <a:rPr lang="en-US" dirty="0" err="1">
                <a:solidFill>
                  <a:srgbClr val="C00000"/>
                </a:solidFill>
              </a:rPr>
              <a:t>tn</a:t>
            </a:r>
            <a:r>
              <a:rPr lang="en-US" dirty="0">
                <a:solidFill>
                  <a:srgbClr val="C00000"/>
                </a:solidFill>
              </a:rPr>
              <a:t>) / (</a:t>
            </a:r>
            <a:r>
              <a:rPr lang="en-US" dirty="0" err="1">
                <a:solidFill>
                  <a:srgbClr val="C00000"/>
                </a:solidFill>
              </a:rPr>
              <a:t>tp</a:t>
            </a:r>
            <a:r>
              <a:rPr lang="en-US" dirty="0">
                <a:solidFill>
                  <a:srgbClr val="C00000"/>
                </a:solidFill>
              </a:rPr>
              <a:t> + </a:t>
            </a:r>
            <a:r>
              <a:rPr lang="en-US" dirty="0" err="1">
                <a:solidFill>
                  <a:srgbClr val="C00000"/>
                </a:solidFill>
              </a:rPr>
              <a:t>tn</a:t>
            </a:r>
            <a:r>
              <a:rPr lang="en-US" dirty="0">
                <a:solidFill>
                  <a:srgbClr val="C00000"/>
                </a:solidFill>
              </a:rPr>
              <a:t> + </a:t>
            </a:r>
            <a:r>
              <a:rPr lang="en-US" dirty="0" err="1">
                <a:solidFill>
                  <a:srgbClr val="C00000"/>
                </a:solidFill>
              </a:rPr>
              <a:t>fp</a:t>
            </a:r>
            <a:r>
              <a:rPr lang="en-US" dirty="0">
                <a:solidFill>
                  <a:srgbClr val="C00000"/>
                </a:solidFill>
              </a:rPr>
              <a:t> +</a:t>
            </a:r>
            <a:r>
              <a:rPr lang="en-US" spc="-80" dirty="0">
                <a:solidFill>
                  <a:srgbClr val="C00000"/>
                </a:solidFill>
              </a:rPr>
              <a:t> </a:t>
            </a:r>
            <a:r>
              <a:rPr lang="en-US" dirty="0" err="1">
                <a:solidFill>
                  <a:srgbClr val="C00000"/>
                </a:solidFill>
              </a:rPr>
              <a:t>fn</a:t>
            </a:r>
            <a:r>
              <a:rPr lang="en-US" dirty="0">
                <a:solidFill>
                  <a:srgbClr val="C00000"/>
                </a:solidFill>
              </a:rPr>
              <a:t>)</a:t>
            </a:r>
            <a:endParaRPr lang="en-US" spc="-5" dirty="0"/>
          </a:p>
          <a:p>
            <a:pPr marL="355600" indent="-342900">
              <a:lnSpc>
                <a:spcPct val="100000"/>
              </a:lnSpc>
              <a:spcBef>
                <a:spcPts val="105"/>
              </a:spcBef>
              <a:buFont typeface="Arial"/>
              <a:buChar char="•"/>
              <a:tabLst>
                <a:tab pos="354965" algn="l"/>
                <a:tab pos="355600" algn="l"/>
              </a:tabLst>
            </a:pPr>
            <a:r>
              <a:rPr spc="-5" dirty="0"/>
              <a:t>Precision </a:t>
            </a:r>
            <a:r>
              <a:rPr dirty="0"/>
              <a:t>= tp / (tp +</a:t>
            </a:r>
            <a:r>
              <a:rPr spc="-15" dirty="0"/>
              <a:t> </a:t>
            </a:r>
            <a:r>
              <a:rPr dirty="0" err="1"/>
              <a:t>fp</a:t>
            </a:r>
            <a:r>
              <a:rPr dirty="0"/>
              <a:t>)</a:t>
            </a:r>
            <a:endParaRPr sz="2750" dirty="0">
              <a:solidFill>
                <a:srgbClr val="C00000"/>
              </a:solidFill>
            </a:endParaRPr>
          </a:p>
          <a:p>
            <a:pPr marL="355600" indent="-342900">
              <a:lnSpc>
                <a:spcPct val="100000"/>
              </a:lnSpc>
              <a:buFont typeface="Arial"/>
              <a:buChar char="•"/>
              <a:tabLst>
                <a:tab pos="354965" algn="l"/>
                <a:tab pos="355600" algn="l"/>
              </a:tabLst>
            </a:pPr>
            <a:r>
              <a:rPr spc="-10" dirty="0"/>
              <a:t>Recall= </a:t>
            </a:r>
            <a:r>
              <a:rPr dirty="0"/>
              <a:t>tp / (tp +</a:t>
            </a:r>
            <a:r>
              <a:rPr spc="-5" dirty="0"/>
              <a:t> </a:t>
            </a:r>
            <a:r>
              <a:rPr dirty="0"/>
              <a:t>fn)</a:t>
            </a:r>
          </a:p>
        </p:txBody>
      </p:sp>
      <p:graphicFrame>
        <p:nvGraphicFramePr>
          <p:cNvPr id="4" name="object 4"/>
          <p:cNvGraphicFramePr>
            <a:graphicFrameLocks noGrp="1"/>
          </p:cNvGraphicFramePr>
          <p:nvPr>
            <p:extLst>
              <p:ext uri="{D42A27DB-BD31-4B8C-83A1-F6EECF244321}">
                <p14:modId xmlns:p14="http://schemas.microsoft.com/office/powerpoint/2010/main" val="3409190741"/>
              </p:ext>
            </p:extLst>
          </p:nvPr>
        </p:nvGraphicFramePr>
        <p:xfrm>
          <a:off x="2209800" y="3333750"/>
          <a:ext cx="4343400" cy="1223262"/>
        </p:xfrm>
        <a:graphic>
          <a:graphicData uri="http://schemas.openxmlformats.org/drawingml/2006/table">
            <a:tbl>
              <a:tblPr firstRow="1" bandRow="1">
                <a:tableStyleId>{2D5ABB26-0587-4C30-8999-92F81FD0307C}</a:tableStyleId>
              </a:tblPr>
              <a:tblGrid>
                <a:gridCol w="14478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tblGrid>
              <a:tr h="407797">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tcPr>
                </a:tc>
                <a:tc>
                  <a:txBody>
                    <a:bodyPr/>
                    <a:lstStyle/>
                    <a:p>
                      <a:pPr algn="ctr">
                        <a:lnSpc>
                          <a:spcPct val="100000"/>
                        </a:lnSpc>
                        <a:spcBef>
                          <a:spcPts val="244"/>
                        </a:spcBef>
                      </a:pPr>
                      <a:r>
                        <a:rPr sz="1800" b="1" spc="-10" dirty="0">
                          <a:solidFill>
                            <a:srgbClr val="FFFFFF"/>
                          </a:solidFill>
                          <a:latin typeface="Carlito"/>
                          <a:cs typeface="Carlito"/>
                        </a:rPr>
                        <a:t>Predicted</a:t>
                      </a:r>
                      <a:r>
                        <a:rPr sz="1800" b="1" spc="-30" dirty="0">
                          <a:solidFill>
                            <a:srgbClr val="FFFFFF"/>
                          </a:solidFill>
                          <a:latin typeface="Carlito"/>
                          <a:cs typeface="Carlito"/>
                        </a:rPr>
                        <a:t> </a:t>
                      </a:r>
                      <a:r>
                        <a:rPr sz="1800" b="1" dirty="0">
                          <a:solidFill>
                            <a:srgbClr val="FFFFFF"/>
                          </a:solidFill>
                          <a:latin typeface="Carlito"/>
                          <a:cs typeface="Carlito"/>
                        </a:rPr>
                        <a:t>(0)</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244"/>
                        </a:spcBef>
                      </a:pPr>
                      <a:r>
                        <a:rPr sz="1800" b="1" spc="-10" dirty="0">
                          <a:solidFill>
                            <a:srgbClr val="FFFFFF"/>
                          </a:solidFill>
                          <a:latin typeface="Carlito"/>
                          <a:cs typeface="Carlito"/>
                        </a:rPr>
                        <a:t>Predicted</a:t>
                      </a:r>
                      <a:r>
                        <a:rPr sz="1800" b="1" spc="-30" dirty="0">
                          <a:solidFill>
                            <a:srgbClr val="FFFFFF"/>
                          </a:solidFill>
                          <a:latin typeface="Carlito"/>
                          <a:cs typeface="Carlito"/>
                        </a:rPr>
                        <a:t> </a:t>
                      </a:r>
                      <a:r>
                        <a:rPr sz="1800" b="1" dirty="0">
                          <a:solidFill>
                            <a:srgbClr val="FFFFFF"/>
                          </a:solidFill>
                          <a:latin typeface="Carlito"/>
                          <a:cs typeface="Carlito"/>
                        </a:rPr>
                        <a:t>(1)</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407669">
                <a:tc>
                  <a:txBody>
                    <a:bodyPr/>
                    <a:lstStyle/>
                    <a:p>
                      <a:pPr algn="ctr">
                        <a:lnSpc>
                          <a:spcPct val="100000"/>
                        </a:lnSpc>
                        <a:spcBef>
                          <a:spcPts val="244"/>
                        </a:spcBef>
                      </a:pPr>
                      <a:r>
                        <a:rPr sz="1800" spc="-5" dirty="0">
                          <a:latin typeface="Carlito"/>
                          <a:cs typeface="Carlito"/>
                        </a:rPr>
                        <a:t>Actual</a:t>
                      </a:r>
                      <a:r>
                        <a:rPr sz="1800" spc="-10" dirty="0">
                          <a:latin typeface="Carlito"/>
                          <a:cs typeface="Carlito"/>
                        </a:rPr>
                        <a:t> </a:t>
                      </a:r>
                      <a:r>
                        <a:rPr sz="1800" spc="-5" dirty="0">
                          <a:latin typeface="Carlito"/>
                          <a:cs typeface="Carlito"/>
                        </a:rPr>
                        <a:t>(0)</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635" algn="ctr">
                        <a:lnSpc>
                          <a:spcPct val="100000"/>
                        </a:lnSpc>
                        <a:spcBef>
                          <a:spcPts val="244"/>
                        </a:spcBef>
                      </a:pPr>
                      <a:r>
                        <a:rPr sz="1800" spc="-5" dirty="0">
                          <a:latin typeface="Carlito"/>
                          <a:cs typeface="Carlito"/>
                        </a:rPr>
                        <a:t>tn</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905" algn="ctr">
                        <a:lnSpc>
                          <a:spcPct val="100000"/>
                        </a:lnSpc>
                        <a:spcBef>
                          <a:spcPts val="244"/>
                        </a:spcBef>
                      </a:pPr>
                      <a:r>
                        <a:rPr sz="1800" dirty="0">
                          <a:latin typeface="Carlito"/>
                          <a:cs typeface="Carlito"/>
                        </a:rPr>
                        <a:t>fp</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407796">
                <a:tc>
                  <a:txBody>
                    <a:bodyPr/>
                    <a:lstStyle/>
                    <a:p>
                      <a:pPr marL="635" algn="ctr">
                        <a:lnSpc>
                          <a:spcPct val="100000"/>
                        </a:lnSpc>
                        <a:spcBef>
                          <a:spcPts val="245"/>
                        </a:spcBef>
                      </a:pPr>
                      <a:r>
                        <a:rPr sz="1800" dirty="0">
                          <a:latin typeface="Carlito"/>
                          <a:cs typeface="Carlito"/>
                        </a:rPr>
                        <a:t>Actual</a:t>
                      </a:r>
                      <a:r>
                        <a:rPr sz="1800" spc="-15" dirty="0">
                          <a:latin typeface="Carlito"/>
                          <a:cs typeface="Carlito"/>
                        </a:rPr>
                        <a:t> </a:t>
                      </a:r>
                      <a:r>
                        <a:rPr sz="1800" spc="-5" dirty="0">
                          <a:latin typeface="Carlito"/>
                          <a:cs typeface="Carlito"/>
                        </a:rPr>
                        <a:t>(1)</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270" algn="ctr">
                        <a:lnSpc>
                          <a:spcPct val="100000"/>
                        </a:lnSpc>
                        <a:spcBef>
                          <a:spcPts val="245"/>
                        </a:spcBef>
                      </a:pPr>
                      <a:r>
                        <a:rPr sz="1800" dirty="0">
                          <a:latin typeface="Carlito"/>
                          <a:cs typeface="Carlito"/>
                        </a:rPr>
                        <a:t>fn</a:t>
                      </a: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270" algn="ctr">
                        <a:lnSpc>
                          <a:spcPct val="100000"/>
                        </a:lnSpc>
                        <a:spcBef>
                          <a:spcPts val="245"/>
                        </a:spcBef>
                      </a:pPr>
                      <a:r>
                        <a:rPr sz="1800" spc="-5" dirty="0">
                          <a:latin typeface="Carlito"/>
                          <a:cs typeface="Carlito"/>
                        </a:rPr>
                        <a:t>tp</a:t>
                      </a:r>
                      <a:endParaRPr sz="1800" dirty="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8</a:t>
            </a:fld>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D2315-3D05-4746-9B07-966ED60C0362}"/>
              </a:ext>
            </a:extLst>
          </p:cNvPr>
          <p:cNvSpPr>
            <a:spLocks noGrp="1"/>
          </p:cNvSpPr>
          <p:nvPr>
            <p:ph type="title"/>
          </p:nvPr>
        </p:nvSpPr>
        <p:spPr>
          <a:xfrm>
            <a:off x="2590800" y="361950"/>
            <a:ext cx="2567940" cy="430887"/>
          </a:xfrm>
        </p:spPr>
        <p:txBody>
          <a:bodyPr/>
          <a:lstStyle/>
          <a:p>
            <a:r>
              <a:rPr lang="en-US" spc="-15" dirty="0"/>
              <a:t>Precision</a:t>
            </a:r>
            <a:endParaRPr lang="en-IN" spc="-15" dirty="0"/>
          </a:p>
        </p:txBody>
      </p:sp>
      <p:sp>
        <p:nvSpPr>
          <p:cNvPr id="3" name="Text Placeholder 2">
            <a:extLst>
              <a:ext uri="{FF2B5EF4-FFF2-40B4-BE49-F238E27FC236}">
                <a16:creationId xmlns:a16="http://schemas.microsoft.com/office/drawing/2014/main" id="{0FAD9E2A-6478-4717-91F3-C5CE9C8F36A6}"/>
              </a:ext>
            </a:extLst>
          </p:cNvPr>
          <p:cNvSpPr>
            <a:spLocks noGrp="1"/>
          </p:cNvSpPr>
          <p:nvPr>
            <p:ph type="body" idx="1"/>
          </p:nvPr>
        </p:nvSpPr>
        <p:spPr>
          <a:xfrm>
            <a:off x="914400" y="1014775"/>
            <a:ext cx="7772399" cy="615553"/>
          </a:xfrm>
        </p:spPr>
        <p:txBody>
          <a:bodyPr/>
          <a:lstStyle/>
          <a:p>
            <a:pPr algn="l"/>
            <a:r>
              <a:rPr lang="en-US" b="0" i="0" dirty="0">
                <a:solidFill>
                  <a:srgbClr val="595858"/>
                </a:solidFill>
                <a:effectLst/>
                <a:latin typeface="roboto" panose="02000000000000000000" pitchFamily="2" charset="0"/>
              </a:rPr>
              <a:t>In the simplest terms, Precision is the ratio between the True Positives and all the Positives. </a:t>
            </a:r>
            <a:endParaRPr lang="en-IN" dirty="0"/>
          </a:p>
        </p:txBody>
      </p:sp>
      <p:sp>
        <p:nvSpPr>
          <p:cNvPr id="11" name="TextBox 10">
            <a:extLst>
              <a:ext uri="{FF2B5EF4-FFF2-40B4-BE49-F238E27FC236}">
                <a16:creationId xmlns:a16="http://schemas.microsoft.com/office/drawing/2014/main" id="{AB7E49BA-2209-4687-B44E-EF1AC9A188F1}"/>
              </a:ext>
            </a:extLst>
          </p:cNvPr>
          <p:cNvSpPr txBox="1"/>
          <p:nvPr/>
        </p:nvSpPr>
        <p:spPr>
          <a:xfrm>
            <a:off x="1335989" y="2211057"/>
            <a:ext cx="2971800" cy="923330"/>
          </a:xfrm>
          <a:prstGeom prst="rect">
            <a:avLst/>
          </a:prstGeom>
          <a:noFill/>
        </p:spPr>
        <p:txBody>
          <a:bodyPr wrap="square" rtlCol="0">
            <a:spAutoFit/>
          </a:bodyPr>
          <a:lstStyle/>
          <a:p>
            <a:r>
              <a:rPr lang="en-IN" spc="-5" dirty="0">
                <a:solidFill>
                  <a:srgbClr val="C00000"/>
                </a:solidFill>
              </a:rPr>
              <a:t>Precision </a:t>
            </a:r>
            <a:r>
              <a:rPr lang="en-IN" dirty="0">
                <a:solidFill>
                  <a:srgbClr val="C00000"/>
                </a:solidFill>
              </a:rPr>
              <a:t>= </a:t>
            </a:r>
            <a:r>
              <a:rPr lang="en-IN" dirty="0" err="1">
                <a:solidFill>
                  <a:srgbClr val="C00000"/>
                </a:solidFill>
              </a:rPr>
              <a:t>tp</a:t>
            </a:r>
            <a:r>
              <a:rPr lang="en-IN" dirty="0">
                <a:solidFill>
                  <a:srgbClr val="C00000"/>
                </a:solidFill>
              </a:rPr>
              <a:t> / (</a:t>
            </a:r>
            <a:r>
              <a:rPr lang="en-IN" dirty="0" err="1">
                <a:solidFill>
                  <a:srgbClr val="C00000"/>
                </a:solidFill>
              </a:rPr>
              <a:t>tp</a:t>
            </a:r>
            <a:r>
              <a:rPr lang="en-IN" dirty="0">
                <a:solidFill>
                  <a:srgbClr val="C00000"/>
                </a:solidFill>
              </a:rPr>
              <a:t> +</a:t>
            </a:r>
            <a:r>
              <a:rPr lang="en-IN" spc="-15" dirty="0">
                <a:solidFill>
                  <a:srgbClr val="C00000"/>
                </a:solidFill>
              </a:rPr>
              <a:t> </a:t>
            </a:r>
            <a:r>
              <a:rPr lang="en-IN" dirty="0" err="1">
                <a:solidFill>
                  <a:srgbClr val="C00000"/>
                </a:solidFill>
              </a:rPr>
              <a:t>fp</a:t>
            </a:r>
            <a:r>
              <a:rPr lang="en-IN" dirty="0">
                <a:solidFill>
                  <a:srgbClr val="C00000"/>
                </a:solidFill>
              </a:rPr>
              <a:t>)</a:t>
            </a:r>
          </a:p>
          <a:p>
            <a:r>
              <a:rPr lang="en-IN" dirty="0"/>
              <a:t>=4/4+1= 0.8</a:t>
            </a:r>
          </a:p>
          <a:p>
            <a:endParaRPr lang="en-IN" dirty="0"/>
          </a:p>
        </p:txBody>
      </p:sp>
      <p:pic>
        <p:nvPicPr>
          <p:cNvPr id="13" name="Picture 12">
            <a:extLst>
              <a:ext uri="{FF2B5EF4-FFF2-40B4-BE49-F238E27FC236}">
                <a16:creationId xmlns:a16="http://schemas.microsoft.com/office/drawing/2014/main" id="{784A1F4E-7180-493E-932B-B61A05FC8585}"/>
              </a:ext>
            </a:extLst>
          </p:cNvPr>
          <p:cNvPicPr>
            <a:picLocks noChangeAspect="1"/>
          </p:cNvPicPr>
          <p:nvPr/>
        </p:nvPicPr>
        <p:blipFill>
          <a:blip r:embed="rId3"/>
          <a:stretch>
            <a:fillRect/>
          </a:stretch>
        </p:blipFill>
        <p:spPr>
          <a:xfrm>
            <a:off x="2483852" y="3409950"/>
            <a:ext cx="2559502" cy="1628774"/>
          </a:xfrm>
          <a:prstGeom prst="rect">
            <a:avLst/>
          </a:prstGeom>
        </p:spPr>
      </p:pic>
      <p:sp>
        <p:nvSpPr>
          <p:cNvPr id="14" name="TextBox 13">
            <a:extLst>
              <a:ext uri="{FF2B5EF4-FFF2-40B4-BE49-F238E27FC236}">
                <a16:creationId xmlns:a16="http://schemas.microsoft.com/office/drawing/2014/main" id="{04979D92-118C-4293-8B38-6FB458CE94AC}"/>
              </a:ext>
            </a:extLst>
          </p:cNvPr>
          <p:cNvSpPr txBox="1"/>
          <p:nvPr/>
        </p:nvSpPr>
        <p:spPr>
          <a:xfrm>
            <a:off x="337183" y="3725229"/>
            <a:ext cx="1997611" cy="1015663"/>
          </a:xfrm>
          <a:prstGeom prst="rect">
            <a:avLst/>
          </a:prstGeom>
          <a:noFill/>
        </p:spPr>
        <p:txBody>
          <a:bodyPr wrap="square" rtlCol="0">
            <a:spAutoFit/>
          </a:bodyPr>
          <a:lstStyle/>
          <a:p>
            <a:r>
              <a:rPr lang="en-US" sz="1050" i="1" dirty="0"/>
              <a:t>Out of the total positive results which are made during prediction, which are actual positive</a:t>
            </a:r>
            <a:endParaRPr lang="en-IN" sz="1050" i="1" dirty="0"/>
          </a:p>
          <a:p>
            <a:endParaRPr lang="en-IN" dirty="0"/>
          </a:p>
        </p:txBody>
      </p:sp>
      <p:pic>
        <p:nvPicPr>
          <p:cNvPr id="18" name="Picture 17">
            <a:extLst>
              <a:ext uri="{FF2B5EF4-FFF2-40B4-BE49-F238E27FC236}">
                <a16:creationId xmlns:a16="http://schemas.microsoft.com/office/drawing/2014/main" id="{F3CF19BF-39FD-4F55-86BF-9CC786871AB2}"/>
              </a:ext>
            </a:extLst>
          </p:cNvPr>
          <p:cNvPicPr>
            <a:picLocks noChangeAspect="1"/>
          </p:cNvPicPr>
          <p:nvPr/>
        </p:nvPicPr>
        <p:blipFill>
          <a:blip r:embed="rId4"/>
          <a:stretch>
            <a:fillRect/>
          </a:stretch>
        </p:blipFill>
        <p:spPr>
          <a:xfrm>
            <a:off x="5355031" y="1610820"/>
            <a:ext cx="3158338" cy="2243138"/>
          </a:xfrm>
          <a:prstGeom prst="rect">
            <a:avLst/>
          </a:prstGeom>
        </p:spPr>
      </p:pic>
      <p:sp>
        <p:nvSpPr>
          <p:cNvPr id="19" name="TextBox 18">
            <a:extLst>
              <a:ext uri="{FF2B5EF4-FFF2-40B4-BE49-F238E27FC236}">
                <a16:creationId xmlns:a16="http://schemas.microsoft.com/office/drawing/2014/main" id="{0C49F1B2-2DE3-431F-87D5-8E3F62155AF9}"/>
              </a:ext>
            </a:extLst>
          </p:cNvPr>
          <p:cNvSpPr txBox="1"/>
          <p:nvPr/>
        </p:nvSpPr>
        <p:spPr>
          <a:xfrm>
            <a:off x="5867400" y="1759492"/>
            <a:ext cx="457200" cy="307777"/>
          </a:xfrm>
          <a:prstGeom prst="rect">
            <a:avLst/>
          </a:prstGeom>
          <a:noFill/>
        </p:spPr>
        <p:txBody>
          <a:bodyPr wrap="square" rtlCol="0">
            <a:spAutoFit/>
          </a:bodyPr>
          <a:lstStyle/>
          <a:p>
            <a:r>
              <a:rPr lang="en-US" sz="1400" dirty="0">
                <a:solidFill>
                  <a:schemeClr val="bg1"/>
                </a:solidFill>
              </a:rPr>
              <a:t>TN</a:t>
            </a:r>
            <a:endParaRPr lang="en-IN" sz="1400" dirty="0">
              <a:solidFill>
                <a:schemeClr val="bg1"/>
              </a:solidFill>
            </a:endParaRPr>
          </a:p>
        </p:txBody>
      </p:sp>
      <p:sp>
        <p:nvSpPr>
          <p:cNvPr id="20" name="TextBox 19">
            <a:extLst>
              <a:ext uri="{FF2B5EF4-FFF2-40B4-BE49-F238E27FC236}">
                <a16:creationId xmlns:a16="http://schemas.microsoft.com/office/drawing/2014/main" id="{10FFBCF3-27A7-4BFD-A655-1103E40B23DC}"/>
              </a:ext>
            </a:extLst>
          </p:cNvPr>
          <p:cNvSpPr txBox="1"/>
          <p:nvPr/>
        </p:nvSpPr>
        <p:spPr>
          <a:xfrm>
            <a:off x="6934200" y="1766804"/>
            <a:ext cx="457200" cy="307777"/>
          </a:xfrm>
          <a:prstGeom prst="rect">
            <a:avLst/>
          </a:prstGeom>
          <a:noFill/>
        </p:spPr>
        <p:txBody>
          <a:bodyPr wrap="square" rtlCol="0">
            <a:spAutoFit/>
          </a:bodyPr>
          <a:lstStyle/>
          <a:p>
            <a:r>
              <a:rPr lang="en-US" sz="1400" dirty="0">
                <a:solidFill>
                  <a:schemeClr val="bg1"/>
                </a:solidFill>
              </a:rPr>
              <a:t>FN</a:t>
            </a:r>
            <a:endParaRPr lang="en-IN" sz="1400" dirty="0">
              <a:solidFill>
                <a:schemeClr val="bg1"/>
              </a:solidFill>
            </a:endParaRPr>
          </a:p>
        </p:txBody>
      </p:sp>
      <p:sp>
        <p:nvSpPr>
          <p:cNvPr id="21" name="TextBox 20">
            <a:extLst>
              <a:ext uri="{FF2B5EF4-FFF2-40B4-BE49-F238E27FC236}">
                <a16:creationId xmlns:a16="http://schemas.microsoft.com/office/drawing/2014/main" id="{69B80C63-A7C1-48F4-AC24-B39B20CDF870}"/>
              </a:ext>
            </a:extLst>
          </p:cNvPr>
          <p:cNvSpPr txBox="1"/>
          <p:nvPr/>
        </p:nvSpPr>
        <p:spPr>
          <a:xfrm>
            <a:off x="5902842" y="2672722"/>
            <a:ext cx="457200" cy="307777"/>
          </a:xfrm>
          <a:prstGeom prst="rect">
            <a:avLst/>
          </a:prstGeom>
          <a:noFill/>
        </p:spPr>
        <p:txBody>
          <a:bodyPr wrap="square" rtlCol="0">
            <a:spAutoFit/>
          </a:bodyPr>
          <a:lstStyle/>
          <a:p>
            <a:r>
              <a:rPr lang="en-US" sz="1400" dirty="0">
                <a:solidFill>
                  <a:schemeClr val="bg1"/>
                </a:solidFill>
              </a:rPr>
              <a:t>FP</a:t>
            </a:r>
            <a:endParaRPr lang="en-IN" sz="1400" dirty="0">
              <a:solidFill>
                <a:schemeClr val="bg1"/>
              </a:solidFill>
            </a:endParaRPr>
          </a:p>
        </p:txBody>
      </p:sp>
      <p:sp>
        <p:nvSpPr>
          <p:cNvPr id="22" name="TextBox 21">
            <a:extLst>
              <a:ext uri="{FF2B5EF4-FFF2-40B4-BE49-F238E27FC236}">
                <a16:creationId xmlns:a16="http://schemas.microsoft.com/office/drawing/2014/main" id="{90D108E3-73D7-4633-A5FD-AE0E16B134E0}"/>
              </a:ext>
            </a:extLst>
          </p:cNvPr>
          <p:cNvSpPr txBox="1"/>
          <p:nvPr/>
        </p:nvSpPr>
        <p:spPr>
          <a:xfrm>
            <a:off x="7086600" y="2732389"/>
            <a:ext cx="457200" cy="307777"/>
          </a:xfrm>
          <a:prstGeom prst="rect">
            <a:avLst/>
          </a:prstGeom>
          <a:noFill/>
        </p:spPr>
        <p:txBody>
          <a:bodyPr wrap="square" rtlCol="0">
            <a:spAutoFit/>
          </a:bodyPr>
          <a:lstStyle/>
          <a:p>
            <a:r>
              <a:rPr lang="en-US" sz="1400" dirty="0"/>
              <a:t>TP</a:t>
            </a:r>
            <a:endParaRPr lang="en-IN" sz="1400" dirty="0"/>
          </a:p>
        </p:txBody>
      </p:sp>
    </p:spTree>
    <p:extLst>
      <p:ext uri="{BB962C8B-B14F-4D97-AF65-F5344CB8AC3E}">
        <p14:creationId xmlns:p14="http://schemas.microsoft.com/office/powerpoint/2010/main" val="189653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FD701-FCAC-43BD-8C98-E344272C3C22}"/>
              </a:ext>
            </a:extLst>
          </p:cNvPr>
          <p:cNvSpPr>
            <a:spLocks noGrp="1"/>
          </p:cNvSpPr>
          <p:nvPr>
            <p:ph type="title"/>
          </p:nvPr>
        </p:nvSpPr>
        <p:spPr>
          <a:xfrm>
            <a:off x="3288029" y="369189"/>
            <a:ext cx="2567940" cy="430887"/>
          </a:xfrm>
        </p:spPr>
        <p:txBody>
          <a:bodyPr/>
          <a:lstStyle/>
          <a:p>
            <a:r>
              <a:rPr lang="en-US" dirty="0"/>
              <a:t>Recall/sensitivity</a:t>
            </a:r>
            <a:endParaRPr lang="en-IN" dirty="0"/>
          </a:p>
        </p:txBody>
      </p:sp>
      <p:sp>
        <p:nvSpPr>
          <p:cNvPr id="3" name="Text Placeholder 2">
            <a:extLst>
              <a:ext uri="{FF2B5EF4-FFF2-40B4-BE49-F238E27FC236}">
                <a16:creationId xmlns:a16="http://schemas.microsoft.com/office/drawing/2014/main" id="{7964F320-0895-4A2F-8B53-691516C097FD}"/>
              </a:ext>
            </a:extLst>
          </p:cNvPr>
          <p:cNvSpPr>
            <a:spLocks noGrp="1"/>
          </p:cNvSpPr>
          <p:nvPr>
            <p:ph type="body" idx="1"/>
          </p:nvPr>
        </p:nvSpPr>
        <p:spPr>
          <a:xfrm>
            <a:off x="1066800" y="1014775"/>
            <a:ext cx="6858000" cy="2462213"/>
          </a:xfrm>
        </p:spPr>
        <p:txBody>
          <a:bodyPr/>
          <a:lstStyle/>
          <a:p>
            <a:r>
              <a:rPr lang="en-US" b="0" i="0" dirty="0">
                <a:solidFill>
                  <a:srgbClr val="595858"/>
                </a:solidFill>
                <a:effectLst/>
                <a:latin typeface="roboto" panose="02000000000000000000" pitchFamily="2" charset="0"/>
              </a:rPr>
              <a:t>The recall is the measure of our model correctly identifying True Positives</a:t>
            </a:r>
            <a:endParaRPr lang="en-IN" spc="-10" dirty="0"/>
          </a:p>
          <a:p>
            <a:endParaRPr lang="en-IN" spc="-10" dirty="0"/>
          </a:p>
          <a:p>
            <a:endParaRPr lang="en-IN" spc="-10" dirty="0">
              <a:solidFill>
                <a:srgbClr val="C00000"/>
              </a:solidFill>
            </a:endParaRPr>
          </a:p>
          <a:p>
            <a:endParaRPr lang="en-IN" spc="-10" dirty="0">
              <a:solidFill>
                <a:srgbClr val="C00000"/>
              </a:solidFill>
            </a:endParaRPr>
          </a:p>
          <a:p>
            <a:r>
              <a:rPr lang="en-IN" spc="-10" dirty="0">
                <a:solidFill>
                  <a:srgbClr val="C00000"/>
                </a:solidFill>
              </a:rPr>
              <a:t>Recall= </a:t>
            </a:r>
            <a:r>
              <a:rPr lang="en-IN" dirty="0" err="1">
                <a:solidFill>
                  <a:srgbClr val="C00000"/>
                </a:solidFill>
              </a:rPr>
              <a:t>tp</a:t>
            </a:r>
            <a:r>
              <a:rPr lang="en-IN" dirty="0">
                <a:solidFill>
                  <a:srgbClr val="C00000"/>
                </a:solidFill>
              </a:rPr>
              <a:t> / (</a:t>
            </a:r>
            <a:r>
              <a:rPr lang="en-IN" dirty="0" err="1">
                <a:solidFill>
                  <a:srgbClr val="C00000"/>
                </a:solidFill>
              </a:rPr>
              <a:t>tp</a:t>
            </a:r>
            <a:r>
              <a:rPr lang="en-IN" dirty="0">
                <a:solidFill>
                  <a:srgbClr val="C00000"/>
                </a:solidFill>
              </a:rPr>
              <a:t> +</a:t>
            </a:r>
            <a:r>
              <a:rPr lang="en-IN" spc="-5" dirty="0">
                <a:solidFill>
                  <a:srgbClr val="C00000"/>
                </a:solidFill>
              </a:rPr>
              <a:t> </a:t>
            </a:r>
            <a:r>
              <a:rPr lang="en-IN" dirty="0" err="1">
                <a:solidFill>
                  <a:srgbClr val="C00000"/>
                </a:solidFill>
              </a:rPr>
              <a:t>fn</a:t>
            </a:r>
            <a:r>
              <a:rPr lang="en-IN" dirty="0">
                <a:solidFill>
                  <a:srgbClr val="C00000"/>
                </a:solidFill>
              </a:rPr>
              <a:t>)</a:t>
            </a:r>
          </a:p>
          <a:p>
            <a:r>
              <a:rPr lang="en-IN" dirty="0"/>
              <a:t>=4/4+0= 1</a:t>
            </a:r>
          </a:p>
          <a:p>
            <a:endParaRPr lang="en-IN" dirty="0"/>
          </a:p>
        </p:txBody>
      </p:sp>
      <p:pic>
        <p:nvPicPr>
          <p:cNvPr id="5" name="Picture 4">
            <a:extLst>
              <a:ext uri="{FF2B5EF4-FFF2-40B4-BE49-F238E27FC236}">
                <a16:creationId xmlns:a16="http://schemas.microsoft.com/office/drawing/2014/main" id="{0096FDD9-7E63-4653-A0F5-771365A2C71E}"/>
              </a:ext>
            </a:extLst>
          </p:cNvPr>
          <p:cNvPicPr>
            <a:picLocks noChangeAspect="1"/>
          </p:cNvPicPr>
          <p:nvPr/>
        </p:nvPicPr>
        <p:blipFill>
          <a:blip r:embed="rId2"/>
          <a:stretch>
            <a:fillRect/>
          </a:stretch>
        </p:blipFill>
        <p:spPr>
          <a:xfrm>
            <a:off x="5283832" y="1279870"/>
            <a:ext cx="3706261" cy="2547575"/>
          </a:xfrm>
          <a:prstGeom prst="rect">
            <a:avLst/>
          </a:prstGeom>
        </p:spPr>
      </p:pic>
      <p:sp>
        <p:nvSpPr>
          <p:cNvPr id="7" name="TextBox 6">
            <a:extLst>
              <a:ext uri="{FF2B5EF4-FFF2-40B4-BE49-F238E27FC236}">
                <a16:creationId xmlns:a16="http://schemas.microsoft.com/office/drawing/2014/main" id="{2DE7DC76-8A68-4A59-86BC-C01A8D99C27E}"/>
              </a:ext>
            </a:extLst>
          </p:cNvPr>
          <p:cNvSpPr txBox="1"/>
          <p:nvPr/>
        </p:nvSpPr>
        <p:spPr>
          <a:xfrm>
            <a:off x="200025" y="3333750"/>
            <a:ext cx="2362200" cy="577081"/>
          </a:xfrm>
          <a:prstGeom prst="rect">
            <a:avLst/>
          </a:prstGeom>
          <a:noFill/>
        </p:spPr>
        <p:txBody>
          <a:bodyPr wrap="square" rtlCol="0">
            <a:spAutoFit/>
          </a:bodyPr>
          <a:lstStyle/>
          <a:p>
            <a:r>
              <a:rPr lang="en-US" sz="1050" i="1" dirty="0"/>
              <a:t>Out of the total actual positive values how many  positives we predict correctly</a:t>
            </a:r>
            <a:endParaRPr lang="en-IN" sz="1050" i="1" dirty="0"/>
          </a:p>
        </p:txBody>
      </p:sp>
      <p:pic>
        <p:nvPicPr>
          <p:cNvPr id="8" name="Picture 7">
            <a:extLst>
              <a:ext uri="{FF2B5EF4-FFF2-40B4-BE49-F238E27FC236}">
                <a16:creationId xmlns:a16="http://schemas.microsoft.com/office/drawing/2014/main" id="{AADC992F-DA26-49CA-94BB-91007D7FAE35}"/>
              </a:ext>
            </a:extLst>
          </p:cNvPr>
          <p:cNvPicPr>
            <a:picLocks noChangeAspect="1"/>
          </p:cNvPicPr>
          <p:nvPr/>
        </p:nvPicPr>
        <p:blipFill>
          <a:blip r:embed="rId3"/>
          <a:stretch>
            <a:fillRect/>
          </a:stretch>
        </p:blipFill>
        <p:spPr>
          <a:xfrm>
            <a:off x="2590800" y="3314338"/>
            <a:ext cx="2559502" cy="1628774"/>
          </a:xfrm>
          <a:prstGeom prst="rect">
            <a:avLst/>
          </a:prstGeom>
        </p:spPr>
      </p:pic>
    </p:spTree>
    <p:extLst>
      <p:ext uri="{BB962C8B-B14F-4D97-AF65-F5344CB8AC3E}">
        <p14:creationId xmlns:p14="http://schemas.microsoft.com/office/powerpoint/2010/main" val="331148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6445122" y="1341577"/>
            <a:ext cx="600075" cy="636270"/>
          </a:xfrm>
          <a:prstGeom prst="rect">
            <a:avLst/>
          </a:prstGeom>
        </p:spPr>
        <p:txBody>
          <a:bodyPr vert="horz" wrap="square" lIns="0" tIns="13335" rIns="0" bIns="0" rtlCol="0">
            <a:spAutoFit/>
          </a:bodyPr>
          <a:lstStyle/>
          <a:p>
            <a:pPr marL="17145">
              <a:lnSpc>
                <a:spcPct val="100000"/>
              </a:lnSpc>
              <a:spcBef>
                <a:spcPts val="105"/>
              </a:spcBef>
            </a:pPr>
            <a:r>
              <a:rPr sz="2000" spc="-5" dirty="0">
                <a:latin typeface="Carlito"/>
                <a:cs typeface="Carlito"/>
              </a:rPr>
              <a:t>gives</a:t>
            </a:r>
            <a:endParaRPr sz="2000" dirty="0">
              <a:latin typeface="Carlito"/>
              <a:cs typeface="Carlito"/>
            </a:endParaRPr>
          </a:p>
          <a:p>
            <a:pPr marL="12700">
              <a:lnSpc>
                <a:spcPct val="100000"/>
              </a:lnSpc>
            </a:pPr>
            <a:r>
              <a:rPr sz="2000" dirty="0">
                <a:latin typeface="Carlito"/>
                <a:cs typeface="Carlito"/>
              </a:rPr>
              <a:t>wh</a:t>
            </a:r>
            <a:r>
              <a:rPr sz="2000" spc="-15" dirty="0">
                <a:latin typeface="Carlito"/>
                <a:cs typeface="Carlito"/>
              </a:rPr>
              <a:t>e</a:t>
            </a:r>
            <a:r>
              <a:rPr sz="2000" dirty="0">
                <a:latin typeface="Carlito"/>
                <a:cs typeface="Carlito"/>
              </a:rPr>
              <a:t>n</a:t>
            </a: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11</a:t>
            </a:fld>
            <a:endParaRPr dirty="0"/>
          </a:p>
        </p:txBody>
      </p:sp>
      <p:sp>
        <p:nvSpPr>
          <p:cNvPr id="8" name="object 8"/>
          <p:cNvSpPr txBox="1"/>
          <p:nvPr/>
        </p:nvSpPr>
        <p:spPr>
          <a:xfrm>
            <a:off x="7178167" y="1341577"/>
            <a:ext cx="1379855" cy="636270"/>
          </a:xfrm>
          <a:prstGeom prst="rect">
            <a:avLst/>
          </a:prstGeom>
        </p:spPr>
        <p:txBody>
          <a:bodyPr vert="horz" wrap="square" lIns="0" tIns="13335" rIns="0" bIns="0" rtlCol="0">
            <a:spAutoFit/>
          </a:bodyPr>
          <a:lstStyle/>
          <a:p>
            <a:pPr marL="12700">
              <a:lnSpc>
                <a:spcPct val="100000"/>
              </a:lnSpc>
              <a:spcBef>
                <a:spcPts val="105"/>
              </a:spcBef>
              <a:tabLst>
                <a:tab pos="457200" algn="l"/>
                <a:tab pos="925194" algn="l"/>
              </a:tabLst>
            </a:pPr>
            <a:r>
              <a:rPr sz="2000" dirty="0">
                <a:latin typeface="Carlito"/>
                <a:cs typeface="Carlito"/>
              </a:rPr>
              <a:t>us	</a:t>
            </a:r>
            <a:r>
              <a:rPr sz="2000" spc="-5" dirty="0">
                <a:latin typeface="Carlito"/>
                <a:cs typeface="Carlito"/>
              </a:rPr>
              <a:t>a</a:t>
            </a:r>
            <a:r>
              <a:rPr sz="2000" dirty="0">
                <a:latin typeface="Carlito"/>
                <a:cs typeface="Carlito"/>
              </a:rPr>
              <a:t>n	id</a:t>
            </a:r>
            <a:r>
              <a:rPr sz="2000" spc="-5" dirty="0">
                <a:latin typeface="Carlito"/>
                <a:cs typeface="Carlito"/>
              </a:rPr>
              <a:t>e</a:t>
            </a:r>
            <a:r>
              <a:rPr sz="2000" dirty="0">
                <a:latin typeface="Carlito"/>
                <a:cs typeface="Carlito"/>
              </a:rPr>
              <a:t>a</a:t>
            </a:r>
            <a:endParaRPr sz="2000">
              <a:latin typeface="Carlito"/>
              <a:cs typeface="Carlito"/>
            </a:endParaRPr>
          </a:p>
          <a:p>
            <a:pPr marL="56515">
              <a:lnSpc>
                <a:spcPct val="100000"/>
              </a:lnSpc>
            </a:pPr>
            <a:r>
              <a:rPr sz="2000" spc="-15" dirty="0">
                <a:latin typeface="Carlito"/>
                <a:cs typeface="Carlito"/>
              </a:rPr>
              <a:t>it’s</a:t>
            </a:r>
            <a:endParaRPr sz="2000">
              <a:latin typeface="Carlito"/>
              <a:cs typeface="Carlito"/>
            </a:endParaRPr>
          </a:p>
        </p:txBody>
      </p:sp>
      <p:sp>
        <p:nvSpPr>
          <p:cNvPr id="9" name="object 9"/>
          <p:cNvSpPr txBox="1"/>
          <p:nvPr/>
        </p:nvSpPr>
        <p:spPr>
          <a:xfrm>
            <a:off x="7726806" y="1646936"/>
            <a:ext cx="828040"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Carlito"/>
                <a:cs typeface="Carlito"/>
              </a:rPr>
              <a:t>act</a:t>
            </a:r>
            <a:r>
              <a:rPr sz="2000" spc="10" dirty="0">
                <a:latin typeface="Carlito"/>
                <a:cs typeface="Carlito"/>
              </a:rPr>
              <a:t>u</a:t>
            </a:r>
            <a:r>
              <a:rPr sz="2000" dirty="0">
                <a:latin typeface="Carlito"/>
                <a:cs typeface="Carlito"/>
              </a:rPr>
              <a:t>al</a:t>
            </a:r>
            <a:r>
              <a:rPr sz="2000" spc="-10" dirty="0">
                <a:latin typeface="Carlito"/>
                <a:cs typeface="Carlito"/>
              </a:rPr>
              <a:t>l</a:t>
            </a:r>
            <a:r>
              <a:rPr sz="2000" dirty="0">
                <a:latin typeface="Carlito"/>
                <a:cs typeface="Carlito"/>
              </a:rPr>
              <a:t>y</a:t>
            </a:r>
            <a:endParaRPr sz="2000">
              <a:latin typeface="Carlito"/>
              <a:cs typeface="Carlito"/>
            </a:endParaRPr>
          </a:p>
        </p:txBody>
      </p:sp>
      <p:sp>
        <p:nvSpPr>
          <p:cNvPr id="10" name="object 10"/>
          <p:cNvSpPr txBox="1"/>
          <p:nvPr/>
        </p:nvSpPr>
        <p:spPr>
          <a:xfrm>
            <a:off x="5289550" y="1341577"/>
            <a:ext cx="977900" cy="936795"/>
          </a:xfrm>
          <a:prstGeom prst="rect">
            <a:avLst/>
          </a:prstGeom>
        </p:spPr>
        <p:txBody>
          <a:bodyPr vert="horz" wrap="square" lIns="0" tIns="13335" rIns="0" bIns="0" rtlCol="0">
            <a:spAutoFit/>
          </a:bodyPr>
          <a:lstStyle/>
          <a:p>
            <a:pPr marL="355600" marR="5080" indent="-342900" algn="just">
              <a:lnSpc>
                <a:spcPct val="100000"/>
              </a:lnSpc>
              <a:spcBef>
                <a:spcPts val="105"/>
              </a:spcBef>
              <a:buFont typeface="Arial"/>
              <a:buChar char="•"/>
              <a:tabLst>
                <a:tab pos="355600" algn="l"/>
              </a:tabLst>
            </a:pPr>
            <a:r>
              <a:rPr sz="2000" spc="-35" dirty="0">
                <a:latin typeface="Carlito"/>
                <a:cs typeface="Carlito"/>
              </a:rPr>
              <a:t>R</a:t>
            </a:r>
            <a:r>
              <a:rPr sz="2000" dirty="0">
                <a:latin typeface="Carlito"/>
                <a:cs typeface="Carlito"/>
              </a:rPr>
              <a:t>e</a:t>
            </a:r>
            <a:r>
              <a:rPr sz="2000" spc="-15" dirty="0">
                <a:latin typeface="Carlito"/>
                <a:cs typeface="Carlito"/>
              </a:rPr>
              <a:t>c</a:t>
            </a:r>
            <a:r>
              <a:rPr sz="2000" dirty="0">
                <a:latin typeface="Carlito"/>
                <a:cs typeface="Carlito"/>
              </a:rPr>
              <a:t>a</a:t>
            </a:r>
            <a:r>
              <a:rPr sz="2000" spc="-10" dirty="0">
                <a:latin typeface="Carlito"/>
                <a:cs typeface="Carlito"/>
              </a:rPr>
              <a:t>l</a:t>
            </a:r>
            <a:r>
              <a:rPr sz="2000" dirty="0">
                <a:latin typeface="Carlito"/>
                <a:cs typeface="Carlito"/>
              </a:rPr>
              <a:t>l  abo</a:t>
            </a:r>
            <a:r>
              <a:rPr sz="2000" spc="5" dirty="0">
                <a:latin typeface="Carlito"/>
                <a:cs typeface="Carlito"/>
              </a:rPr>
              <a:t>u</a:t>
            </a:r>
            <a:r>
              <a:rPr sz="2000" dirty="0">
                <a:latin typeface="Carlito"/>
                <a:cs typeface="Carlito"/>
              </a:rPr>
              <a:t>t  </a:t>
            </a:r>
            <a:r>
              <a:rPr sz="2000" spc="-5" dirty="0">
                <a:latin typeface="Carlito"/>
                <a:cs typeface="Carlito"/>
              </a:rPr>
              <a:t>yes,</a:t>
            </a:r>
            <a:endParaRPr sz="2000" dirty="0">
              <a:latin typeface="Carlito"/>
              <a:cs typeface="Carlito"/>
            </a:endParaRPr>
          </a:p>
        </p:txBody>
      </p:sp>
      <p:sp>
        <p:nvSpPr>
          <p:cNvPr id="11" name="object 11"/>
          <p:cNvSpPr txBox="1"/>
          <p:nvPr/>
        </p:nvSpPr>
        <p:spPr>
          <a:xfrm>
            <a:off x="6250051" y="1951736"/>
            <a:ext cx="2305050" cy="330835"/>
          </a:xfrm>
          <a:prstGeom prst="rect">
            <a:avLst/>
          </a:prstGeom>
        </p:spPr>
        <p:txBody>
          <a:bodyPr vert="horz" wrap="square" lIns="0" tIns="12700" rIns="0" bIns="0" rtlCol="0">
            <a:spAutoFit/>
          </a:bodyPr>
          <a:lstStyle/>
          <a:p>
            <a:pPr marL="12700">
              <a:lnSpc>
                <a:spcPct val="100000"/>
              </a:lnSpc>
              <a:spcBef>
                <a:spcPts val="100"/>
              </a:spcBef>
              <a:tabLst>
                <a:tab pos="672465" algn="l"/>
                <a:tab pos="1440180" algn="l"/>
                <a:tab pos="2149475" algn="l"/>
              </a:tabLst>
            </a:pPr>
            <a:r>
              <a:rPr sz="2000" spc="-10" dirty="0">
                <a:latin typeface="Carlito"/>
                <a:cs typeface="Carlito"/>
              </a:rPr>
              <a:t>h</a:t>
            </a:r>
            <a:r>
              <a:rPr sz="2000" spc="-15" dirty="0">
                <a:latin typeface="Carlito"/>
                <a:cs typeface="Carlito"/>
              </a:rPr>
              <a:t>o</a:t>
            </a:r>
            <a:r>
              <a:rPr sz="2000" dirty="0">
                <a:latin typeface="Carlito"/>
                <a:cs typeface="Carlito"/>
              </a:rPr>
              <a:t>w	</a:t>
            </a:r>
            <a:r>
              <a:rPr sz="2000" spc="-5" dirty="0">
                <a:latin typeface="Carlito"/>
                <a:cs typeface="Carlito"/>
              </a:rPr>
              <a:t>o</a:t>
            </a:r>
            <a:r>
              <a:rPr sz="2000" spc="-15" dirty="0">
                <a:latin typeface="Carlito"/>
                <a:cs typeface="Carlito"/>
              </a:rPr>
              <a:t>f</a:t>
            </a:r>
            <a:r>
              <a:rPr sz="2000" spc="-25" dirty="0">
                <a:latin typeface="Carlito"/>
                <a:cs typeface="Carlito"/>
              </a:rPr>
              <a:t>t</a:t>
            </a:r>
            <a:r>
              <a:rPr sz="2000" dirty="0">
                <a:latin typeface="Carlito"/>
                <a:cs typeface="Carlito"/>
              </a:rPr>
              <a:t>en	d</a:t>
            </a:r>
            <a:r>
              <a:rPr sz="2000" spc="-5" dirty="0">
                <a:latin typeface="Carlito"/>
                <a:cs typeface="Carlito"/>
              </a:rPr>
              <a:t>oe</a:t>
            </a:r>
            <a:r>
              <a:rPr sz="2000" dirty="0">
                <a:latin typeface="Carlito"/>
                <a:cs typeface="Carlito"/>
              </a:rPr>
              <a:t>s	</a:t>
            </a:r>
            <a:r>
              <a:rPr sz="2000" spc="-5" dirty="0">
                <a:latin typeface="Carlito"/>
                <a:cs typeface="Carlito"/>
              </a:rPr>
              <a:t>it</a:t>
            </a:r>
            <a:endParaRPr sz="2000" dirty="0">
              <a:latin typeface="Carlito"/>
              <a:cs typeface="Carlito"/>
            </a:endParaRPr>
          </a:p>
        </p:txBody>
      </p:sp>
      <p:sp>
        <p:nvSpPr>
          <p:cNvPr id="12" name="object 12"/>
          <p:cNvSpPr txBox="1"/>
          <p:nvPr/>
        </p:nvSpPr>
        <p:spPr>
          <a:xfrm>
            <a:off x="5289550" y="2256536"/>
            <a:ext cx="3268345" cy="1245870"/>
          </a:xfrm>
          <a:prstGeom prst="rect">
            <a:avLst/>
          </a:prstGeom>
        </p:spPr>
        <p:txBody>
          <a:bodyPr vert="horz" wrap="square" lIns="0" tIns="12700" rIns="0" bIns="0" rtlCol="0">
            <a:spAutoFit/>
          </a:bodyPr>
          <a:lstStyle/>
          <a:p>
            <a:pPr marL="355600" algn="just">
              <a:lnSpc>
                <a:spcPct val="100000"/>
              </a:lnSpc>
              <a:spcBef>
                <a:spcPts val="100"/>
              </a:spcBef>
            </a:pPr>
            <a:r>
              <a:rPr sz="2000" spc="-5" dirty="0">
                <a:latin typeface="Carlito"/>
                <a:cs typeface="Carlito"/>
              </a:rPr>
              <a:t>predict</a:t>
            </a:r>
            <a:r>
              <a:rPr sz="2000" dirty="0">
                <a:latin typeface="Carlito"/>
                <a:cs typeface="Carlito"/>
              </a:rPr>
              <a:t> </a:t>
            </a:r>
            <a:r>
              <a:rPr sz="2000" spc="-10" dirty="0">
                <a:latin typeface="Carlito"/>
                <a:cs typeface="Carlito"/>
              </a:rPr>
              <a:t>yes.</a:t>
            </a:r>
            <a:endParaRPr sz="2000" dirty="0">
              <a:latin typeface="Carlito"/>
              <a:cs typeface="Carlito"/>
            </a:endParaRPr>
          </a:p>
          <a:p>
            <a:pPr marL="355600" marR="5080" indent="-342900" algn="just">
              <a:lnSpc>
                <a:spcPct val="100000"/>
              </a:lnSpc>
              <a:spcBef>
                <a:spcPts val="5"/>
              </a:spcBef>
              <a:buFont typeface="Arial"/>
              <a:buChar char="•"/>
              <a:tabLst>
                <a:tab pos="355600" algn="l"/>
              </a:tabLst>
            </a:pPr>
            <a:r>
              <a:rPr sz="2000" spc="-5" dirty="0">
                <a:latin typeface="Carlito"/>
                <a:cs typeface="Carlito"/>
              </a:rPr>
              <a:t>Precision tells </a:t>
            </a:r>
            <a:r>
              <a:rPr sz="2000" dirty="0">
                <a:latin typeface="Carlito"/>
                <a:cs typeface="Carlito"/>
              </a:rPr>
              <a:t>us </a:t>
            </a:r>
            <a:r>
              <a:rPr sz="2000" spc="-5" dirty="0">
                <a:latin typeface="Carlito"/>
                <a:cs typeface="Carlito"/>
              </a:rPr>
              <a:t>about  </a:t>
            </a:r>
            <a:r>
              <a:rPr sz="2000" dirty="0">
                <a:latin typeface="Carlito"/>
                <a:cs typeface="Carlito"/>
              </a:rPr>
              <a:t>when </a:t>
            </a:r>
            <a:r>
              <a:rPr sz="2000" spc="-5" dirty="0">
                <a:latin typeface="Carlito"/>
                <a:cs typeface="Carlito"/>
              </a:rPr>
              <a:t>it predicts yes, how  </a:t>
            </a:r>
            <a:r>
              <a:rPr sz="2000" spc="-10" dirty="0">
                <a:latin typeface="Carlito"/>
                <a:cs typeface="Carlito"/>
              </a:rPr>
              <a:t>often </a:t>
            </a:r>
            <a:r>
              <a:rPr sz="2000" spc="-5" dirty="0">
                <a:latin typeface="Carlito"/>
                <a:cs typeface="Carlito"/>
              </a:rPr>
              <a:t>is it</a:t>
            </a:r>
            <a:r>
              <a:rPr sz="2000" spc="15" dirty="0">
                <a:latin typeface="Carlito"/>
                <a:cs typeface="Carlito"/>
              </a:rPr>
              <a:t> </a:t>
            </a:r>
            <a:r>
              <a:rPr sz="2000" spc="-10" dirty="0">
                <a:latin typeface="Carlito"/>
                <a:cs typeface="Carlito"/>
              </a:rPr>
              <a:t>correct</a:t>
            </a:r>
            <a:endParaRPr sz="2000" dirty="0">
              <a:latin typeface="Carlito"/>
              <a:cs typeface="Carlito"/>
            </a:endParaRPr>
          </a:p>
        </p:txBody>
      </p:sp>
      <p:sp>
        <p:nvSpPr>
          <p:cNvPr id="15" name="Title 14">
            <a:extLst>
              <a:ext uri="{FF2B5EF4-FFF2-40B4-BE49-F238E27FC236}">
                <a16:creationId xmlns:a16="http://schemas.microsoft.com/office/drawing/2014/main" id="{A3651164-C119-42FA-81F1-529FD3A52307}"/>
              </a:ext>
            </a:extLst>
          </p:cNvPr>
          <p:cNvSpPr>
            <a:spLocks noGrp="1"/>
          </p:cNvSpPr>
          <p:nvPr>
            <p:ph type="title"/>
          </p:nvPr>
        </p:nvSpPr>
        <p:spPr/>
        <p:txBody>
          <a:bodyPr/>
          <a:lstStyle/>
          <a:p>
            <a:endParaRPr lang="en-IN"/>
          </a:p>
        </p:txBody>
      </p:sp>
      <p:sp>
        <p:nvSpPr>
          <p:cNvPr id="16" name="object 3">
            <a:extLst>
              <a:ext uri="{FF2B5EF4-FFF2-40B4-BE49-F238E27FC236}">
                <a16:creationId xmlns:a16="http://schemas.microsoft.com/office/drawing/2014/main" id="{92C99235-C4DE-45BE-8088-E3221E62A4E2}"/>
              </a:ext>
            </a:extLst>
          </p:cNvPr>
          <p:cNvSpPr txBox="1">
            <a:spLocks noGrp="1"/>
          </p:cNvSpPr>
          <p:nvPr>
            <p:ph type="body" idx="1"/>
          </p:nvPr>
        </p:nvSpPr>
        <p:spPr>
          <a:xfrm>
            <a:off x="585978" y="1719226"/>
            <a:ext cx="5791549" cy="1475404"/>
          </a:xfrm>
          <a:prstGeom prst="rect">
            <a:avLst/>
          </a:prstGeom>
        </p:spPr>
        <p:txBody>
          <a:bodyPr vert="horz" wrap="square" lIns="0" tIns="13335" rIns="0" bIns="0" rtlCol="0">
            <a:spAutoFit/>
          </a:bodyPr>
          <a:lstStyle/>
          <a:p>
            <a:pPr marL="355600" indent="-342900">
              <a:lnSpc>
                <a:spcPct val="100000"/>
              </a:lnSpc>
              <a:spcBef>
                <a:spcPts val="105"/>
              </a:spcBef>
              <a:buFont typeface="Arial"/>
              <a:buChar char="•"/>
              <a:tabLst>
                <a:tab pos="354965" algn="l"/>
                <a:tab pos="355600" algn="l"/>
              </a:tabLst>
            </a:pPr>
            <a:r>
              <a:rPr spc="-5" dirty="0"/>
              <a:t>Precision </a:t>
            </a:r>
            <a:r>
              <a:rPr dirty="0"/>
              <a:t>= tp / (tp +</a:t>
            </a:r>
            <a:r>
              <a:rPr spc="-15" dirty="0"/>
              <a:t> </a:t>
            </a:r>
            <a:r>
              <a:rPr dirty="0"/>
              <a:t>fp)</a:t>
            </a:r>
          </a:p>
          <a:p>
            <a:pPr>
              <a:lnSpc>
                <a:spcPct val="100000"/>
              </a:lnSpc>
              <a:buFont typeface="Arial"/>
              <a:buChar char="•"/>
            </a:pPr>
            <a:endParaRPr sz="2750" dirty="0"/>
          </a:p>
          <a:p>
            <a:pPr>
              <a:lnSpc>
                <a:spcPct val="100000"/>
              </a:lnSpc>
              <a:buFont typeface="Arial"/>
              <a:buChar char="•"/>
            </a:pPr>
            <a:endParaRPr sz="2750" dirty="0"/>
          </a:p>
          <a:p>
            <a:pPr marL="355600" indent="-342900">
              <a:lnSpc>
                <a:spcPct val="100000"/>
              </a:lnSpc>
              <a:buFont typeface="Arial"/>
              <a:buChar char="•"/>
              <a:tabLst>
                <a:tab pos="354965" algn="l"/>
                <a:tab pos="355600" algn="l"/>
              </a:tabLst>
            </a:pPr>
            <a:r>
              <a:rPr spc="-10" dirty="0"/>
              <a:t>Recall= </a:t>
            </a:r>
            <a:r>
              <a:rPr dirty="0"/>
              <a:t>tp / (tp +</a:t>
            </a:r>
            <a:r>
              <a:rPr spc="-5" dirty="0"/>
              <a:t> </a:t>
            </a:r>
            <a:r>
              <a:rPr dirty="0"/>
              <a:t>fn)</a:t>
            </a:r>
          </a:p>
        </p:txBody>
      </p:sp>
      <p:pic>
        <p:nvPicPr>
          <p:cNvPr id="18" name="Picture 17">
            <a:extLst>
              <a:ext uri="{FF2B5EF4-FFF2-40B4-BE49-F238E27FC236}">
                <a16:creationId xmlns:a16="http://schemas.microsoft.com/office/drawing/2014/main" id="{5160B6E6-682A-4126-8BED-619BAF2E9DBB}"/>
              </a:ext>
            </a:extLst>
          </p:cNvPr>
          <p:cNvPicPr>
            <a:picLocks noChangeAspect="1"/>
          </p:cNvPicPr>
          <p:nvPr/>
        </p:nvPicPr>
        <p:blipFill>
          <a:blip r:embed="rId2"/>
          <a:stretch>
            <a:fillRect/>
          </a:stretch>
        </p:blipFill>
        <p:spPr>
          <a:xfrm>
            <a:off x="0" y="781900"/>
            <a:ext cx="9144000" cy="35797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59637F7E-9360-4E00-BB9C-CEE71C62AF8E}"/>
              </a:ext>
            </a:extLst>
          </p:cNvPr>
          <p:cNvGraphicFramePr>
            <a:graphicFrameLocks noGrp="1"/>
          </p:cNvGraphicFramePr>
          <p:nvPr>
            <p:extLst>
              <p:ext uri="{D42A27DB-BD31-4B8C-83A1-F6EECF244321}">
                <p14:modId xmlns:p14="http://schemas.microsoft.com/office/powerpoint/2010/main" val="3981954050"/>
              </p:ext>
            </p:extLst>
          </p:nvPr>
        </p:nvGraphicFramePr>
        <p:xfrm>
          <a:off x="1321981" y="1324415"/>
          <a:ext cx="5791200" cy="3098800"/>
        </p:xfrm>
        <a:graphic>
          <a:graphicData uri="http://schemas.openxmlformats.org/drawingml/2006/table">
            <a:tbl>
              <a:tblPr firstRow="1" bandRow="1">
                <a:tableStyleId>{5C22544A-7EE6-4342-B048-85BDC9FD1C3A}</a:tableStyleId>
              </a:tblPr>
              <a:tblGrid>
                <a:gridCol w="2895600">
                  <a:extLst>
                    <a:ext uri="{9D8B030D-6E8A-4147-A177-3AD203B41FA5}">
                      <a16:colId xmlns:a16="http://schemas.microsoft.com/office/drawing/2014/main" val="2715966494"/>
                    </a:ext>
                  </a:extLst>
                </a:gridCol>
                <a:gridCol w="2895600">
                  <a:extLst>
                    <a:ext uri="{9D8B030D-6E8A-4147-A177-3AD203B41FA5}">
                      <a16:colId xmlns:a16="http://schemas.microsoft.com/office/drawing/2014/main" val="4215632089"/>
                    </a:ext>
                  </a:extLst>
                </a:gridCol>
              </a:tblGrid>
              <a:tr h="1549400">
                <a:tc>
                  <a:txBody>
                    <a:bodyPr/>
                    <a:lstStyle/>
                    <a:p>
                      <a:endParaRPr lang="en-IN" dirty="0"/>
                    </a:p>
                  </a:txBody>
                  <a:tcPr/>
                </a:tc>
                <a:tc>
                  <a:txBody>
                    <a:bodyPr/>
                    <a:lstStyle/>
                    <a:p>
                      <a:endParaRPr lang="en-IN" dirty="0"/>
                    </a:p>
                  </a:txBody>
                  <a:tcPr/>
                </a:tc>
                <a:extLst>
                  <a:ext uri="{0D108BD9-81ED-4DB2-BD59-A6C34878D82A}">
                    <a16:rowId xmlns:a16="http://schemas.microsoft.com/office/drawing/2014/main" val="4176854377"/>
                  </a:ext>
                </a:extLst>
              </a:tr>
              <a:tr h="1549400">
                <a:tc>
                  <a:txBody>
                    <a:bodyPr/>
                    <a:lstStyle/>
                    <a:p>
                      <a:endParaRPr lang="en-IN"/>
                    </a:p>
                  </a:txBody>
                  <a:tcPr/>
                </a:tc>
                <a:tc>
                  <a:txBody>
                    <a:bodyPr/>
                    <a:lstStyle/>
                    <a:p>
                      <a:endParaRPr lang="en-IN" dirty="0"/>
                    </a:p>
                  </a:txBody>
                  <a:tcPr/>
                </a:tc>
                <a:extLst>
                  <a:ext uri="{0D108BD9-81ED-4DB2-BD59-A6C34878D82A}">
                    <a16:rowId xmlns:a16="http://schemas.microsoft.com/office/drawing/2014/main" val="2005449548"/>
                  </a:ext>
                </a:extLst>
              </a:tr>
            </a:tbl>
          </a:graphicData>
        </a:graphic>
      </p:graphicFrame>
      <p:sp>
        <p:nvSpPr>
          <p:cNvPr id="3" name="TextBox 2">
            <a:extLst>
              <a:ext uri="{FF2B5EF4-FFF2-40B4-BE49-F238E27FC236}">
                <a16:creationId xmlns:a16="http://schemas.microsoft.com/office/drawing/2014/main" id="{9C2455A3-1BB7-41AE-BB0B-17DE43C95030}"/>
              </a:ext>
            </a:extLst>
          </p:cNvPr>
          <p:cNvSpPr txBox="1"/>
          <p:nvPr/>
        </p:nvSpPr>
        <p:spPr>
          <a:xfrm>
            <a:off x="409353" y="2546590"/>
            <a:ext cx="1066800" cy="646331"/>
          </a:xfrm>
          <a:prstGeom prst="rect">
            <a:avLst/>
          </a:prstGeom>
          <a:noFill/>
        </p:spPr>
        <p:txBody>
          <a:bodyPr wrap="square" rtlCol="0">
            <a:spAutoFit/>
          </a:bodyPr>
          <a:lstStyle/>
          <a:p>
            <a:r>
              <a:rPr lang="en-US" dirty="0"/>
              <a:t>Actual values</a:t>
            </a:r>
            <a:endParaRPr lang="en-IN" dirty="0"/>
          </a:p>
        </p:txBody>
      </p:sp>
      <p:sp>
        <p:nvSpPr>
          <p:cNvPr id="4" name="TextBox 3">
            <a:extLst>
              <a:ext uri="{FF2B5EF4-FFF2-40B4-BE49-F238E27FC236}">
                <a16:creationId xmlns:a16="http://schemas.microsoft.com/office/drawing/2014/main" id="{6C3A6200-EFEE-4702-831A-22F7D70D7BA1}"/>
              </a:ext>
            </a:extLst>
          </p:cNvPr>
          <p:cNvSpPr txBox="1"/>
          <p:nvPr/>
        </p:nvSpPr>
        <p:spPr>
          <a:xfrm>
            <a:off x="3226537" y="772106"/>
            <a:ext cx="2133599" cy="369332"/>
          </a:xfrm>
          <a:prstGeom prst="rect">
            <a:avLst/>
          </a:prstGeom>
          <a:noFill/>
        </p:spPr>
        <p:txBody>
          <a:bodyPr wrap="square" rtlCol="0">
            <a:spAutoFit/>
          </a:bodyPr>
          <a:lstStyle/>
          <a:p>
            <a:r>
              <a:rPr lang="en-US" dirty="0"/>
              <a:t>Predicted values</a:t>
            </a:r>
            <a:endParaRPr lang="en-IN" dirty="0"/>
          </a:p>
        </p:txBody>
      </p:sp>
      <p:sp>
        <p:nvSpPr>
          <p:cNvPr id="5" name="TextBox 4">
            <a:extLst>
              <a:ext uri="{FF2B5EF4-FFF2-40B4-BE49-F238E27FC236}">
                <a16:creationId xmlns:a16="http://schemas.microsoft.com/office/drawing/2014/main" id="{1183AC5D-E408-450A-8EE5-1DD61D370EA6}"/>
              </a:ext>
            </a:extLst>
          </p:cNvPr>
          <p:cNvSpPr txBox="1"/>
          <p:nvPr/>
        </p:nvSpPr>
        <p:spPr>
          <a:xfrm>
            <a:off x="942753" y="1780053"/>
            <a:ext cx="304800" cy="369332"/>
          </a:xfrm>
          <a:prstGeom prst="rect">
            <a:avLst/>
          </a:prstGeom>
          <a:noFill/>
        </p:spPr>
        <p:txBody>
          <a:bodyPr wrap="square" rtlCol="0">
            <a:spAutoFit/>
          </a:bodyPr>
          <a:lstStyle/>
          <a:p>
            <a:r>
              <a:rPr lang="en-US" dirty="0"/>
              <a:t>0</a:t>
            </a:r>
            <a:endParaRPr lang="en-IN" dirty="0"/>
          </a:p>
        </p:txBody>
      </p:sp>
      <p:sp>
        <p:nvSpPr>
          <p:cNvPr id="6" name="TextBox 5">
            <a:extLst>
              <a:ext uri="{FF2B5EF4-FFF2-40B4-BE49-F238E27FC236}">
                <a16:creationId xmlns:a16="http://schemas.microsoft.com/office/drawing/2014/main" id="{B7BF4202-F9F1-454F-912C-37BF58AA12C2}"/>
              </a:ext>
            </a:extLst>
          </p:cNvPr>
          <p:cNvSpPr txBox="1"/>
          <p:nvPr/>
        </p:nvSpPr>
        <p:spPr>
          <a:xfrm>
            <a:off x="5282608" y="720285"/>
            <a:ext cx="304800" cy="369332"/>
          </a:xfrm>
          <a:prstGeom prst="rect">
            <a:avLst/>
          </a:prstGeom>
          <a:noFill/>
        </p:spPr>
        <p:txBody>
          <a:bodyPr wrap="square" rtlCol="0">
            <a:spAutoFit/>
          </a:bodyPr>
          <a:lstStyle/>
          <a:p>
            <a:r>
              <a:rPr lang="en-US" dirty="0"/>
              <a:t>1</a:t>
            </a:r>
            <a:endParaRPr lang="en-IN" dirty="0"/>
          </a:p>
        </p:txBody>
      </p:sp>
      <p:sp>
        <p:nvSpPr>
          <p:cNvPr id="7" name="TextBox 6">
            <a:extLst>
              <a:ext uri="{FF2B5EF4-FFF2-40B4-BE49-F238E27FC236}">
                <a16:creationId xmlns:a16="http://schemas.microsoft.com/office/drawing/2014/main" id="{48DEDBB8-829B-4BB8-8C3C-B0214857B356}"/>
              </a:ext>
            </a:extLst>
          </p:cNvPr>
          <p:cNvSpPr txBox="1"/>
          <p:nvPr/>
        </p:nvSpPr>
        <p:spPr>
          <a:xfrm>
            <a:off x="2544726" y="754618"/>
            <a:ext cx="304800" cy="369332"/>
          </a:xfrm>
          <a:prstGeom prst="rect">
            <a:avLst/>
          </a:prstGeom>
          <a:noFill/>
        </p:spPr>
        <p:txBody>
          <a:bodyPr wrap="square" rtlCol="0">
            <a:spAutoFit/>
          </a:bodyPr>
          <a:lstStyle/>
          <a:p>
            <a:r>
              <a:rPr lang="en-US" dirty="0"/>
              <a:t>0</a:t>
            </a:r>
            <a:endParaRPr lang="en-IN" dirty="0"/>
          </a:p>
        </p:txBody>
      </p:sp>
      <p:sp>
        <p:nvSpPr>
          <p:cNvPr id="8" name="TextBox 7">
            <a:extLst>
              <a:ext uri="{FF2B5EF4-FFF2-40B4-BE49-F238E27FC236}">
                <a16:creationId xmlns:a16="http://schemas.microsoft.com/office/drawing/2014/main" id="{28347B66-6289-4E36-838B-A4B848B0BD79}"/>
              </a:ext>
            </a:extLst>
          </p:cNvPr>
          <p:cNvSpPr txBox="1"/>
          <p:nvPr/>
        </p:nvSpPr>
        <p:spPr>
          <a:xfrm>
            <a:off x="942753" y="3409950"/>
            <a:ext cx="304800" cy="369332"/>
          </a:xfrm>
          <a:prstGeom prst="rect">
            <a:avLst/>
          </a:prstGeom>
          <a:noFill/>
        </p:spPr>
        <p:txBody>
          <a:bodyPr wrap="square" rtlCol="0">
            <a:spAutoFit/>
          </a:bodyPr>
          <a:lstStyle/>
          <a:p>
            <a:r>
              <a:rPr lang="en-US" dirty="0"/>
              <a:t>1</a:t>
            </a:r>
            <a:endParaRPr lang="en-IN" dirty="0"/>
          </a:p>
        </p:txBody>
      </p:sp>
      <p:sp>
        <p:nvSpPr>
          <p:cNvPr id="11" name="TextBox 10">
            <a:extLst>
              <a:ext uri="{FF2B5EF4-FFF2-40B4-BE49-F238E27FC236}">
                <a16:creationId xmlns:a16="http://schemas.microsoft.com/office/drawing/2014/main" id="{80762AAE-F3E8-49B4-B928-DCD8BD7600B5}"/>
              </a:ext>
            </a:extLst>
          </p:cNvPr>
          <p:cNvSpPr txBox="1"/>
          <p:nvPr/>
        </p:nvSpPr>
        <p:spPr>
          <a:xfrm>
            <a:off x="4751869" y="2361924"/>
            <a:ext cx="2012212" cy="369332"/>
          </a:xfrm>
          <a:prstGeom prst="rect">
            <a:avLst/>
          </a:prstGeom>
          <a:noFill/>
        </p:spPr>
        <p:txBody>
          <a:bodyPr wrap="square" rtlCol="0">
            <a:spAutoFit/>
          </a:bodyPr>
          <a:lstStyle/>
          <a:p>
            <a:r>
              <a:rPr lang="en-US" dirty="0"/>
              <a:t>False positive</a:t>
            </a:r>
            <a:endParaRPr lang="en-IN" dirty="0"/>
          </a:p>
        </p:txBody>
      </p:sp>
      <p:sp>
        <p:nvSpPr>
          <p:cNvPr id="12" name="TextBox 11">
            <a:extLst>
              <a:ext uri="{FF2B5EF4-FFF2-40B4-BE49-F238E27FC236}">
                <a16:creationId xmlns:a16="http://schemas.microsoft.com/office/drawing/2014/main" id="{9B948CE8-B355-41E0-8C21-70F93BF38896}"/>
              </a:ext>
            </a:extLst>
          </p:cNvPr>
          <p:cNvSpPr txBox="1"/>
          <p:nvPr/>
        </p:nvSpPr>
        <p:spPr>
          <a:xfrm>
            <a:off x="4859080" y="3779725"/>
            <a:ext cx="2012212" cy="369332"/>
          </a:xfrm>
          <a:prstGeom prst="rect">
            <a:avLst/>
          </a:prstGeom>
          <a:noFill/>
        </p:spPr>
        <p:txBody>
          <a:bodyPr wrap="square" rtlCol="0">
            <a:spAutoFit/>
          </a:bodyPr>
          <a:lstStyle/>
          <a:p>
            <a:r>
              <a:rPr lang="en-US" dirty="0"/>
              <a:t>True positive</a:t>
            </a:r>
            <a:endParaRPr lang="en-IN" dirty="0"/>
          </a:p>
        </p:txBody>
      </p:sp>
      <p:sp>
        <p:nvSpPr>
          <p:cNvPr id="13" name="TextBox 12">
            <a:extLst>
              <a:ext uri="{FF2B5EF4-FFF2-40B4-BE49-F238E27FC236}">
                <a16:creationId xmlns:a16="http://schemas.microsoft.com/office/drawing/2014/main" id="{95C4752B-C8BB-41D4-BF6B-A36BAF378DDD}"/>
              </a:ext>
            </a:extLst>
          </p:cNvPr>
          <p:cNvSpPr txBox="1"/>
          <p:nvPr/>
        </p:nvSpPr>
        <p:spPr>
          <a:xfrm>
            <a:off x="2030819" y="2387084"/>
            <a:ext cx="2012212" cy="369332"/>
          </a:xfrm>
          <a:prstGeom prst="rect">
            <a:avLst/>
          </a:prstGeom>
          <a:noFill/>
        </p:spPr>
        <p:txBody>
          <a:bodyPr wrap="square" rtlCol="0">
            <a:spAutoFit/>
          </a:bodyPr>
          <a:lstStyle/>
          <a:p>
            <a:r>
              <a:rPr lang="en-US" dirty="0"/>
              <a:t>True negative</a:t>
            </a:r>
            <a:endParaRPr lang="en-IN" dirty="0"/>
          </a:p>
        </p:txBody>
      </p:sp>
      <p:sp>
        <p:nvSpPr>
          <p:cNvPr id="14" name="TextBox 13">
            <a:extLst>
              <a:ext uri="{FF2B5EF4-FFF2-40B4-BE49-F238E27FC236}">
                <a16:creationId xmlns:a16="http://schemas.microsoft.com/office/drawing/2014/main" id="{292D623A-2161-4C72-A2D2-89F76C87670D}"/>
              </a:ext>
            </a:extLst>
          </p:cNvPr>
          <p:cNvSpPr txBox="1"/>
          <p:nvPr/>
        </p:nvSpPr>
        <p:spPr>
          <a:xfrm>
            <a:off x="2050312" y="3939219"/>
            <a:ext cx="2012212" cy="369332"/>
          </a:xfrm>
          <a:prstGeom prst="rect">
            <a:avLst/>
          </a:prstGeom>
          <a:noFill/>
        </p:spPr>
        <p:txBody>
          <a:bodyPr wrap="square" rtlCol="0">
            <a:spAutoFit/>
          </a:bodyPr>
          <a:lstStyle/>
          <a:p>
            <a:r>
              <a:rPr lang="en-US" dirty="0"/>
              <a:t>False negative</a:t>
            </a:r>
            <a:endParaRPr lang="en-IN" dirty="0"/>
          </a:p>
        </p:txBody>
      </p:sp>
      <p:sp>
        <p:nvSpPr>
          <p:cNvPr id="15" name="TextBox 14">
            <a:extLst>
              <a:ext uri="{FF2B5EF4-FFF2-40B4-BE49-F238E27FC236}">
                <a16:creationId xmlns:a16="http://schemas.microsoft.com/office/drawing/2014/main" id="{D4F73B86-8789-40D7-B013-8E8288AF40EA}"/>
              </a:ext>
            </a:extLst>
          </p:cNvPr>
          <p:cNvSpPr txBox="1"/>
          <p:nvPr/>
        </p:nvSpPr>
        <p:spPr>
          <a:xfrm>
            <a:off x="2544726" y="1780053"/>
            <a:ext cx="914400" cy="369332"/>
          </a:xfrm>
          <a:prstGeom prst="rect">
            <a:avLst/>
          </a:prstGeom>
          <a:noFill/>
        </p:spPr>
        <p:txBody>
          <a:bodyPr wrap="square" rtlCol="0">
            <a:spAutoFit/>
          </a:bodyPr>
          <a:lstStyle/>
          <a:p>
            <a:r>
              <a:rPr lang="en-IN" b="0" i="0" dirty="0">
                <a:solidFill>
                  <a:srgbClr val="292929"/>
                </a:solidFill>
                <a:effectLst/>
                <a:latin typeface="charter"/>
              </a:rPr>
              <a:t>90</a:t>
            </a:r>
            <a:endParaRPr lang="en-IN" dirty="0"/>
          </a:p>
        </p:txBody>
      </p:sp>
      <p:sp>
        <p:nvSpPr>
          <p:cNvPr id="17" name="TextBox 16">
            <a:extLst>
              <a:ext uri="{FF2B5EF4-FFF2-40B4-BE49-F238E27FC236}">
                <a16:creationId xmlns:a16="http://schemas.microsoft.com/office/drawing/2014/main" id="{B2508AD0-6905-4FDF-B31C-380B52E77312}"/>
              </a:ext>
            </a:extLst>
          </p:cNvPr>
          <p:cNvSpPr txBox="1"/>
          <p:nvPr/>
        </p:nvSpPr>
        <p:spPr>
          <a:xfrm>
            <a:off x="5282608" y="1802644"/>
            <a:ext cx="531631" cy="369332"/>
          </a:xfrm>
          <a:prstGeom prst="rect">
            <a:avLst/>
          </a:prstGeom>
          <a:noFill/>
        </p:spPr>
        <p:txBody>
          <a:bodyPr wrap="square" rtlCol="0">
            <a:spAutoFit/>
          </a:bodyPr>
          <a:lstStyle/>
          <a:p>
            <a:r>
              <a:rPr lang="en-IN" b="0" i="0" dirty="0">
                <a:solidFill>
                  <a:srgbClr val="292929"/>
                </a:solidFill>
                <a:effectLst/>
                <a:latin typeface="charter"/>
              </a:rPr>
              <a:t> 0</a:t>
            </a:r>
            <a:endParaRPr lang="en-IN" dirty="0"/>
          </a:p>
        </p:txBody>
      </p:sp>
      <p:sp>
        <p:nvSpPr>
          <p:cNvPr id="18" name="TextBox 17">
            <a:extLst>
              <a:ext uri="{FF2B5EF4-FFF2-40B4-BE49-F238E27FC236}">
                <a16:creationId xmlns:a16="http://schemas.microsoft.com/office/drawing/2014/main" id="{2E052B83-F35F-42A9-BBE5-5BAADC6A8336}"/>
              </a:ext>
            </a:extLst>
          </p:cNvPr>
          <p:cNvSpPr txBox="1"/>
          <p:nvPr/>
        </p:nvSpPr>
        <p:spPr>
          <a:xfrm>
            <a:off x="2519917" y="3369422"/>
            <a:ext cx="531631" cy="369332"/>
          </a:xfrm>
          <a:prstGeom prst="rect">
            <a:avLst/>
          </a:prstGeom>
          <a:noFill/>
        </p:spPr>
        <p:txBody>
          <a:bodyPr wrap="square" rtlCol="0">
            <a:spAutoFit/>
          </a:bodyPr>
          <a:lstStyle/>
          <a:p>
            <a:r>
              <a:rPr lang="en-IN" b="0" i="0" dirty="0">
                <a:solidFill>
                  <a:srgbClr val="292929"/>
                </a:solidFill>
                <a:effectLst/>
                <a:latin typeface="charter"/>
              </a:rPr>
              <a:t>10</a:t>
            </a:r>
            <a:endParaRPr lang="en-IN" dirty="0"/>
          </a:p>
        </p:txBody>
      </p:sp>
      <p:sp>
        <p:nvSpPr>
          <p:cNvPr id="19" name="TextBox 18">
            <a:extLst>
              <a:ext uri="{FF2B5EF4-FFF2-40B4-BE49-F238E27FC236}">
                <a16:creationId xmlns:a16="http://schemas.microsoft.com/office/drawing/2014/main" id="{6DFD92EB-3AB2-4C41-8E52-C121A024843F}"/>
              </a:ext>
            </a:extLst>
          </p:cNvPr>
          <p:cNvSpPr txBox="1"/>
          <p:nvPr/>
        </p:nvSpPr>
        <p:spPr>
          <a:xfrm>
            <a:off x="5333555" y="3380829"/>
            <a:ext cx="531631" cy="369332"/>
          </a:xfrm>
          <a:prstGeom prst="rect">
            <a:avLst/>
          </a:prstGeom>
          <a:noFill/>
        </p:spPr>
        <p:txBody>
          <a:bodyPr wrap="square" rtlCol="0">
            <a:spAutoFit/>
          </a:bodyPr>
          <a:lstStyle/>
          <a:p>
            <a:r>
              <a:rPr lang="en-IN" b="0" i="0" dirty="0">
                <a:solidFill>
                  <a:srgbClr val="292929"/>
                </a:solidFill>
                <a:effectLst/>
                <a:latin typeface="charter"/>
              </a:rPr>
              <a:t>0</a:t>
            </a:r>
            <a:endParaRPr lang="en-IN" dirty="0"/>
          </a:p>
        </p:txBody>
      </p:sp>
      <p:sp>
        <p:nvSpPr>
          <p:cNvPr id="20" name="TextBox 19">
            <a:extLst>
              <a:ext uri="{FF2B5EF4-FFF2-40B4-BE49-F238E27FC236}">
                <a16:creationId xmlns:a16="http://schemas.microsoft.com/office/drawing/2014/main" id="{60A189B1-A7D1-4DB1-BD2F-F71BD77A719B}"/>
              </a:ext>
            </a:extLst>
          </p:cNvPr>
          <p:cNvSpPr txBox="1"/>
          <p:nvPr/>
        </p:nvSpPr>
        <p:spPr>
          <a:xfrm>
            <a:off x="3149008" y="193136"/>
            <a:ext cx="4267200" cy="369332"/>
          </a:xfrm>
          <a:prstGeom prst="rect">
            <a:avLst/>
          </a:prstGeom>
          <a:noFill/>
        </p:spPr>
        <p:txBody>
          <a:bodyPr wrap="square" rtlCol="0">
            <a:spAutoFit/>
          </a:bodyPr>
          <a:lstStyle/>
          <a:p>
            <a:r>
              <a:rPr lang="en-US" dirty="0"/>
              <a:t>Consider a matrix like this</a:t>
            </a:r>
            <a:endParaRPr lang="en-IN" dirty="0"/>
          </a:p>
        </p:txBody>
      </p:sp>
    </p:spTree>
    <p:extLst>
      <p:ext uri="{BB962C8B-B14F-4D97-AF65-F5344CB8AC3E}">
        <p14:creationId xmlns:p14="http://schemas.microsoft.com/office/powerpoint/2010/main" val="12269264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D5F54C-32DB-46BE-82A3-9075EB6FAFC0}"/>
              </a:ext>
            </a:extLst>
          </p:cNvPr>
          <p:cNvSpPr txBox="1"/>
          <p:nvPr/>
        </p:nvSpPr>
        <p:spPr>
          <a:xfrm>
            <a:off x="533400" y="1047750"/>
            <a:ext cx="7772400" cy="1815882"/>
          </a:xfrm>
          <a:prstGeom prst="rect">
            <a:avLst/>
          </a:prstGeom>
          <a:noFill/>
        </p:spPr>
        <p:txBody>
          <a:bodyPr wrap="square">
            <a:spAutoFit/>
          </a:bodyPr>
          <a:lstStyle/>
          <a:p>
            <a:pPr algn="l"/>
            <a:r>
              <a:rPr lang="en-US" sz="1400" b="0" i="0" dirty="0">
                <a:effectLst/>
                <a:latin typeface="sohne"/>
              </a:rPr>
              <a:t>Is accuracy the best measure?</a:t>
            </a:r>
          </a:p>
          <a:p>
            <a:pPr algn="l"/>
            <a:endParaRPr lang="en-US" sz="1400" b="0" i="0" dirty="0">
              <a:effectLst/>
              <a:latin typeface="sohne"/>
            </a:endParaRPr>
          </a:p>
          <a:p>
            <a:pPr algn="l"/>
            <a:r>
              <a:rPr lang="en-US" sz="1400" b="0" i="0" dirty="0">
                <a:effectLst/>
                <a:latin typeface="charter"/>
              </a:rPr>
              <a:t>Accuracy may not be a good measure if the </a:t>
            </a:r>
            <a:r>
              <a:rPr lang="en-US" sz="1400" b="0" i="0" dirty="0">
                <a:solidFill>
                  <a:schemeClr val="accent2"/>
                </a:solidFill>
                <a:effectLst/>
                <a:latin typeface="charter"/>
              </a:rPr>
              <a:t>dataset is not balanced </a:t>
            </a:r>
            <a:r>
              <a:rPr lang="en-US" sz="1400" b="0" i="0" dirty="0">
                <a:effectLst/>
                <a:latin typeface="charter"/>
              </a:rPr>
              <a:t>(both negative and positive classes have different number of data instances). We will explain this with an example.</a:t>
            </a:r>
          </a:p>
          <a:p>
            <a:pPr algn="l"/>
            <a:r>
              <a:rPr lang="en-US" sz="1400" b="0" i="0" dirty="0">
                <a:effectLst/>
                <a:latin typeface="charter"/>
              </a:rPr>
              <a:t>Consider the following scenario: There are 90 people who are healthy (negative) and 10 people who have some disease (positive). Now let’s say our machine learning model perfectly classified the 90 people as healthy but it also classified the unhealthy people as healthy. What will happen in this scenario? Let us see the confusion matrix and find out the accuracy?</a:t>
            </a:r>
          </a:p>
        </p:txBody>
      </p:sp>
    </p:spTree>
    <p:extLst>
      <p:ext uri="{BB962C8B-B14F-4D97-AF65-F5344CB8AC3E}">
        <p14:creationId xmlns:p14="http://schemas.microsoft.com/office/powerpoint/2010/main" val="2325980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E4CA4F-F5A0-4971-A5D6-69759A9B61A9}"/>
              </a:ext>
            </a:extLst>
          </p:cNvPr>
          <p:cNvSpPr txBox="1"/>
          <p:nvPr/>
        </p:nvSpPr>
        <p:spPr>
          <a:xfrm>
            <a:off x="4779335" y="1325765"/>
            <a:ext cx="4572000" cy="646331"/>
          </a:xfrm>
          <a:prstGeom prst="rect">
            <a:avLst/>
          </a:prstGeom>
          <a:noFill/>
        </p:spPr>
        <p:txBody>
          <a:bodyPr wrap="square">
            <a:spAutoFit/>
          </a:bodyPr>
          <a:lstStyle/>
          <a:p>
            <a:r>
              <a:rPr lang="en-US" b="0" i="0" dirty="0">
                <a:solidFill>
                  <a:srgbClr val="292929"/>
                </a:solidFill>
                <a:effectLst/>
                <a:latin typeface="charter"/>
              </a:rPr>
              <a:t>Accuracy in this case will be (90 + 0)/(100) = 0.9 and in percentage the accuracy is 90 %.</a:t>
            </a:r>
            <a:endParaRPr lang="en-IN" dirty="0"/>
          </a:p>
        </p:txBody>
      </p:sp>
      <p:pic>
        <p:nvPicPr>
          <p:cNvPr id="4098" name="Picture 2">
            <a:extLst>
              <a:ext uri="{FF2B5EF4-FFF2-40B4-BE49-F238E27FC236}">
                <a16:creationId xmlns:a16="http://schemas.microsoft.com/office/drawing/2014/main" id="{714F4CE9-8F99-4CB9-8AE0-2A8D36D1A9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514350"/>
            <a:ext cx="3761116" cy="57626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9FAA0B8-F920-4050-BF8B-11D61B0D9069}"/>
              </a:ext>
            </a:extLst>
          </p:cNvPr>
          <p:cNvSpPr txBox="1"/>
          <p:nvPr/>
        </p:nvSpPr>
        <p:spPr>
          <a:xfrm>
            <a:off x="609600" y="3428821"/>
            <a:ext cx="7848600" cy="646331"/>
          </a:xfrm>
          <a:prstGeom prst="rect">
            <a:avLst/>
          </a:prstGeom>
          <a:noFill/>
        </p:spPr>
        <p:txBody>
          <a:bodyPr wrap="square" rtlCol="0">
            <a:spAutoFit/>
          </a:bodyPr>
          <a:lstStyle/>
          <a:p>
            <a:r>
              <a:rPr lang="en-US" dirty="0"/>
              <a:t>Is it good, to use accuracy in this case?- No because its giving good score , even when 10 people were diagnosed without disease when they had.</a:t>
            </a:r>
            <a:endParaRPr lang="en-IN" dirty="0"/>
          </a:p>
        </p:txBody>
      </p:sp>
      <p:pic>
        <p:nvPicPr>
          <p:cNvPr id="10" name="Picture 9">
            <a:extLst>
              <a:ext uri="{FF2B5EF4-FFF2-40B4-BE49-F238E27FC236}">
                <a16:creationId xmlns:a16="http://schemas.microsoft.com/office/drawing/2014/main" id="{58512B35-0F7E-4BA2-88E3-C4B94DF0E640}"/>
              </a:ext>
            </a:extLst>
          </p:cNvPr>
          <p:cNvPicPr>
            <a:picLocks noChangeAspect="1"/>
          </p:cNvPicPr>
          <p:nvPr/>
        </p:nvPicPr>
        <p:blipFill>
          <a:blip r:embed="rId3"/>
          <a:stretch>
            <a:fillRect/>
          </a:stretch>
        </p:blipFill>
        <p:spPr>
          <a:xfrm>
            <a:off x="152401" y="514350"/>
            <a:ext cx="4572000" cy="2770250"/>
          </a:xfrm>
          <a:prstGeom prst="rect">
            <a:avLst/>
          </a:prstGeom>
        </p:spPr>
      </p:pic>
    </p:spTree>
    <p:extLst>
      <p:ext uri="{BB962C8B-B14F-4D97-AF65-F5344CB8AC3E}">
        <p14:creationId xmlns:p14="http://schemas.microsoft.com/office/powerpoint/2010/main" val="1730517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13CE19-D502-47AD-87F1-08021F42340E}"/>
              </a:ext>
            </a:extLst>
          </p:cNvPr>
          <p:cNvSpPr txBox="1"/>
          <p:nvPr/>
        </p:nvSpPr>
        <p:spPr>
          <a:xfrm>
            <a:off x="685800" y="1280418"/>
            <a:ext cx="7620000" cy="1477328"/>
          </a:xfrm>
          <a:prstGeom prst="rect">
            <a:avLst/>
          </a:prstGeom>
          <a:noFill/>
        </p:spPr>
        <p:txBody>
          <a:bodyPr wrap="square">
            <a:spAutoFit/>
          </a:bodyPr>
          <a:lstStyle/>
          <a:p>
            <a:r>
              <a:rPr lang="en-US" dirty="0"/>
              <a:t>Precision should ideally be 1 (high) for a good classifier. Precision becomes 1 only when the numerator and denominator are equal </a:t>
            </a:r>
            <a:r>
              <a:rPr lang="en-US" dirty="0" err="1"/>
              <a:t>i.e</a:t>
            </a:r>
            <a:r>
              <a:rPr lang="en-US" dirty="0"/>
              <a:t> TP = TP +FP, this also means FP is zero. As FP increases the value of denominator becomes greater than the numerator and precision value decreases (which we don’t want).</a:t>
            </a:r>
          </a:p>
          <a:p>
            <a:endParaRPr lang="en-IN" dirty="0"/>
          </a:p>
        </p:txBody>
      </p:sp>
      <p:sp>
        <p:nvSpPr>
          <p:cNvPr id="4" name="TextBox 3">
            <a:extLst>
              <a:ext uri="{FF2B5EF4-FFF2-40B4-BE49-F238E27FC236}">
                <a16:creationId xmlns:a16="http://schemas.microsoft.com/office/drawing/2014/main" id="{B7A0115C-AA4D-467F-8FFF-8F626F551893}"/>
              </a:ext>
            </a:extLst>
          </p:cNvPr>
          <p:cNvSpPr txBox="1"/>
          <p:nvPr/>
        </p:nvSpPr>
        <p:spPr>
          <a:xfrm>
            <a:off x="3124200" y="438150"/>
            <a:ext cx="3733800" cy="523220"/>
          </a:xfrm>
          <a:prstGeom prst="rect">
            <a:avLst/>
          </a:prstGeom>
          <a:noFill/>
        </p:spPr>
        <p:txBody>
          <a:bodyPr wrap="square" rtlCol="0">
            <a:spAutoFit/>
          </a:bodyPr>
          <a:lstStyle/>
          <a:p>
            <a:r>
              <a:rPr lang="en-IN" sz="2800" b="1" dirty="0">
                <a:solidFill>
                  <a:srgbClr val="0070C0"/>
                </a:solidFill>
              </a:rPr>
              <a:t>Precision</a:t>
            </a:r>
          </a:p>
        </p:txBody>
      </p:sp>
    </p:spTree>
    <p:extLst>
      <p:ext uri="{BB962C8B-B14F-4D97-AF65-F5344CB8AC3E}">
        <p14:creationId xmlns:p14="http://schemas.microsoft.com/office/powerpoint/2010/main" val="2262059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E4CA4F-F5A0-4971-A5D6-69759A9B61A9}"/>
              </a:ext>
            </a:extLst>
          </p:cNvPr>
          <p:cNvSpPr txBox="1"/>
          <p:nvPr/>
        </p:nvSpPr>
        <p:spPr>
          <a:xfrm>
            <a:off x="4846727" y="3105150"/>
            <a:ext cx="3994297" cy="646331"/>
          </a:xfrm>
          <a:prstGeom prst="rect">
            <a:avLst/>
          </a:prstGeom>
          <a:noFill/>
        </p:spPr>
        <p:txBody>
          <a:bodyPr wrap="square">
            <a:spAutoFit/>
          </a:bodyPr>
          <a:lstStyle/>
          <a:p>
            <a:r>
              <a:rPr lang="en-US" b="0" i="0" dirty="0">
                <a:solidFill>
                  <a:srgbClr val="292929"/>
                </a:solidFill>
                <a:effectLst/>
                <a:latin typeface="charter"/>
              </a:rPr>
              <a:t>so in the disease example, </a:t>
            </a:r>
            <a:r>
              <a:rPr lang="en-US" b="1" i="1" dirty="0">
                <a:solidFill>
                  <a:srgbClr val="292929"/>
                </a:solidFill>
                <a:effectLst/>
                <a:latin typeface="charter"/>
              </a:rPr>
              <a:t>precision</a:t>
            </a:r>
            <a:r>
              <a:rPr lang="en-US" b="0" i="0" dirty="0">
                <a:solidFill>
                  <a:srgbClr val="292929"/>
                </a:solidFill>
                <a:effectLst/>
                <a:latin typeface="charter"/>
              </a:rPr>
              <a:t> = 30/(30+ 5) = 0.857</a:t>
            </a:r>
            <a:endParaRPr lang="en-IN" dirty="0"/>
          </a:p>
        </p:txBody>
      </p:sp>
      <p:pic>
        <p:nvPicPr>
          <p:cNvPr id="6146" name="Picture 2">
            <a:extLst>
              <a:ext uri="{FF2B5EF4-FFF2-40B4-BE49-F238E27FC236}">
                <a16:creationId xmlns:a16="http://schemas.microsoft.com/office/drawing/2014/main" id="{261B3B13-AA69-428A-8454-69D37944EE9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62600" y="2038350"/>
            <a:ext cx="2214563" cy="47765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156FC209-5BBE-4E4A-89DA-C57130DA5D8B}"/>
              </a:ext>
            </a:extLst>
          </p:cNvPr>
          <p:cNvPicPr>
            <a:picLocks noChangeAspect="1"/>
          </p:cNvPicPr>
          <p:nvPr/>
        </p:nvPicPr>
        <p:blipFill>
          <a:blip r:embed="rId3"/>
          <a:stretch>
            <a:fillRect/>
          </a:stretch>
        </p:blipFill>
        <p:spPr>
          <a:xfrm>
            <a:off x="152400" y="1200031"/>
            <a:ext cx="4694327" cy="2743438"/>
          </a:xfrm>
          <a:prstGeom prst="rect">
            <a:avLst/>
          </a:prstGeom>
        </p:spPr>
      </p:pic>
    </p:spTree>
    <p:extLst>
      <p:ext uri="{BB962C8B-B14F-4D97-AF65-F5344CB8AC3E}">
        <p14:creationId xmlns:p14="http://schemas.microsoft.com/office/powerpoint/2010/main" val="2172978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D5EA47-D4D2-4D6C-8697-A890262D7F38}"/>
              </a:ext>
            </a:extLst>
          </p:cNvPr>
          <p:cNvSpPr txBox="1"/>
          <p:nvPr/>
        </p:nvSpPr>
        <p:spPr>
          <a:xfrm>
            <a:off x="609600" y="1352550"/>
            <a:ext cx="7543800" cy="523220"/>
          </a:xfrm>
          <a:prstGeom prst="rect">
            <a:avLst/>
          </a:prstGeom>
          <a:noFill/>
        </p:spPr>
        <p:txBody>
          <a:bodyPr wrap="square">
            <a:spAutoFit/>
          </a:bodyPr>
          <a:lstStyle/>
          <a:p>
            <a:r>
              <a:rPr lang="en-US" sz="1400" dirty="0"/>
              <a:t>Now we will introduce another important metric called recall. Recall is also known as sensitivity or true positive rate and is defined as follows:</a:t>
            </a:r>
            <a:endParaRPr lang="en-IN" sz="1400" dirty="0"/>
          </a:p>
        </p:txBody>
      </p:sp>
      <p:sp>
        <p:nvSpPr>
          <p:cNvPr id="4" name="TextBox 3">
            <a:extLst>
              <a:ext uri="{FF2B5EF4-FFF2-40B4-BE49-F238E27FC236}">
                <a16:creationId xmlns:a16="http://schemas.microsoft.com/office/drawing/2014/main" id="{16ADD6C6-D9A9-41EB-8119-C712814E7826}"/>
              </a:ext>
            </a:extLst>
          </p:cNvPr>
          <p:cNvSpPr txBox="1"/>
          <p:nvPr/>
        </p:nvSpPr>
        <p:spPr>
          <a:xfrm>
            <a:off x="2930157" y="529976"/>
            <a:ext cx="3429000" cy="523220"/>
          </a:xfrm>
          <a:prstGeom prst="rect">
            <a:avLst/>
          </a:prstGeom>
          <a:noFill/>
        </p:spPr>
        <p:txBody>
          <a:bodyPr wrap="square" rtlCol="0">
            <a:spAutoFit/>
          </a:bodyPr>
          <a:lstStyle/>
          <a:p>
            <a:r>
              <a:rPr lang="en-US" sz="2800" b="1" dirty="0">
                <a:solidFill>
                  <a:srgbClr val="0070C0"/>
                </a:solidFill>
              </a:rPr>
              <a:t>Recall/Sensitivity</a:t>
            </a:r>
            <a:endParaRPr lang="en-IN" sz="2800" b="1" dirty="0">
              <a:solidFill>
                <a:srgbClr val="0070C0"/>
              </a:solidFill>
            </a:endParaRPr>
          </a:p>
        </p:txBody>
      </p:sp>
      <p:pic>
        <p:nvPicPr>
          <p:cNvPr id="9218" name="Picture 2">
            <a:extLst>
              <a:ext uri="{FF2B5EF4-FFF2-40B4-BE49-F238E27FC236}">
                <a16:creationId xmlns:a16="http://schemas.microsoft.com/office/drawing/2014/main" id="{E7434547-38C2-4C76-AC2E-531AE89244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2101930"/>
            <a:ext cx="2285998" cy="57626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DBA4F4F-4DE3-41A4-BD1E-0B659DEE9861}"/>
              </a:ext>
            </a:extLst>
          </p:cNvPr>
          <p:cNvSpPr txBox="1"/>
          <p:nvPr/>
        </p:nvSpPr>
        <p:spPr>
          <a:xfrm>
            <a:off x="5791200" y="3144620"/>
            <a:ext cx="2971800" cy="369332"/>
          </a:xfrm>
          <a:prstGeom prst="rect">
            <a:avLst/>
          </a:prstGeom>
          <a:noFill/>
        </p:spPr>
        <p:txBody>
          <a:bodyPr wrap="square">
            <a:spAutoFit/>
          </a:bodyPr>
          <a:lstStyle/>
          <a:p>
            <a:r>
              <a:rPr lang="en-US" dirty="0"/>
              <a:t>Recall = 30/(30+ 10) = 0.75</a:t>
            </a:r>
            <a:endParaRPr lang="en-IN" dirty="0"/>
          </a:p>
        </p:txBody>
      </p:sp>
      <p:sp>
        <p:nvSpPr>
          <p:cNvPr id="9" name="TextBox 8">
            <a:extLst>
              <a:ext uri="{FF2B5EF4-FFF2-40B4-BE49-F238E27FC236}">
                <a16:creationId xmlns:a16="http://schemas.microsoft.com/office/drawing/2014/main" id="{D80B9331-F638-4F6C-B06B-113F65B842EF}"/>
              </a:ext>
            </a:extLst>
          </p:cNvPr>
          <p:cNvSpPr txBox="1"/>
          <p:nvPr/>
        </p:nvSpPr>
        <p:spPr>
          <a:xfrm>
            <a:off x="533400" y="2175124"/>
            <a:ext cx="4843132" cy="1384995"/>
          </a:xfrm>
          <a:prstGeom prst="rect">
            <a:avLst/>
          </a:prstGeom>
          <a:noFill/>
        </p:spPr>
        <p:txBody>
          <a:bodyPr wrap="square">
            <a:spAutoFit/>
          </a:bodyPr>
          <a:lstStyle/>
          <a:p>
            <a:r>
              <a:rPr lang="en-US" sz="1400" b="1" i="1" dirty="0">
                <a:solidFill>
                  <a:srgbClr val="292929"/>
                </a:solidFill>
                <a:effectLst/>
                <a:latin typeface="charter"/>
              </a:rPr>
              <a:t>Recall</a:t>
            </a:r>
            <a:r>
              <a:rPr lang="en-US" sz="1400" b="0" i="0" dirty="0">
                <a:solidFill>
                  <a:srgbClr val="292929"/>
                </a:solidFill>
                <a:effectLst/>
                <a:latin typeface="charter"/>
              </a:rPr>
              <a:t> should ideally be 1 (high) for a good classifier. </a:t>
            </a:r>
            <a:r>
              <a:rPr lang="en-US" sz="1400" b="1" i="1" dirty="0">
                <a:solidFill>
                  <a:srgbClr val="292929"/>
                </a:solidFill>
                <a:effectLst/>
                <a:latin typeface="charter"/>
              </a:rPr>
              <a:t>Recall</a:t>
            </a:r>
            <a:r>
              <a:rPr lang="en-US" sz="1400" b="0" i="0" dirty="0">
                <a:solidFill>
                  <a:srgbClr val="292929"/>
                </a:solidFill>
                <a:effectLst/>
                <a:latin typeface="charter"/>
              </a:rPr>
              <a:t> becomes 1 only when the numerator and denominator are equal </a:t>
            </a:r>
            <a:r>
              <a:rPr lang="en-US" sz="1400" b="0" i="0" dirty="0" err="1">
                <a:solidFill>
                  <a:srgbClr val="292929"/>
                </a:solidFill>
                <a:effectLst/>
                <a:latin typeface="charter"/>
              </a:rPr>
              <a:t>i.e</a:t>
            </a:r>
            <a:r>
              <a:rPr lang="en-US" sz="1400" b="0" i="0" dirty="0">
                <a:solidFill>
                  <a:srgbClr val="292929"/>
                </a:solidFill>
                <a:effectLst/>
                <a:latin typeface="charter"/>
              </a:rPr>
              <a:t> </a:t>
            </a:r>
            <a:r>
              <a:rPr lang="en-US" sz="1400" b="1" i="1" dirty="0">
                <a:solidFill>
                  <a:srgbClr val="292929"/>
                </a:solidFill>
                <a:effectLst/>
                <a:latin typeface="charter"/>
              </a:rPr>
              <a:t>TP = TP +FN</a:t>
            </a:r>
            <a:r>
              <a:rPr lang="en-US" sz="1400" b="0" i="0" dirty="0">
                <a:solidFill>
                  <a:srgbClr val="292929"/>
                </a:solidFill>
                <a:effectLst/>
                <a:latin typeface="charter"/>
              </a:rPr>
              <a:t>, this also means </a:t>
            </a:r>
            <a:r>
              <a:rPr lang="en-US" sz="1400" b="1" i="1" dirty="0">
                <a:solidFill>
                  <a:srgbClr val="292929"/>
                </a:solidFill>
                <a:effectLst/>
                <a:latin typeface="charter"/>
              </a:rPr>
              <a:t>FN</a:t>
            </a:r>
            <a:r>
              <a:rPr lang="en-US" sz="1400" b="0" i="0" dirty="0">
                <a:solidFill>
                  <a:srgbClr val="292929"/>
                </a:solidFill>
                <a:effectLst/>
                <a:latin typeface="charter"/>
              </a:rPr>
              <a:t> is zero. As </a:t>
            </a:r>
            <a:r>
              <a:rPr lang="en-US" sz="1400" b="1" i="1" dirty="0">
                <a:solidFill>
                  <a:srgbClr val="292929"/>
                </a:solidFill>
                <a:effectLst/>
                <a:latin typeface="charter"/>
              </a:rPr>
              <a:t>FN</a:t>
            </a:r>
            <a:r>
              <a:rPr lang="en-US" sz="1400" b="0" i="0" dirty="0">
                <a:solidFill>
                  <a:srgbClr val="292929"/>
                </a:solidFill>
                <a:effectLst/>
                <a:latin typeface="charter"/>
              </a:rPr>
              <a:t> increases the value of denominator becomes greater than the numerator and </a:t>
            </a:r>
            <a:r>
              <a:rPr lang="en-US" sz="1400" b="1" i="1" dirty="0">
                <a:solidFill>
                  <a:srgbClr val="292929"/>
                </a:solidFill>
                <a:effectLst/>
                <a:latin typeface="charter"/>
              </a:rPr>
              <a:t>recall</a:t>
            </a:r>
            <a:r>
              <a:rPr lang="en-US" sz="1400" b="0" i="0" dirty="0">
                <a:solidFill>
                  <a:srgbClr val="292929"/>
                </a:solidFill>
                <a:effectLst/>
                <a:latin typeface="charter"/>
              </a:rPr>
              <a:t> value decreases (which we don’t want).</a:t>
            </a:r>
            <a:endParaRPr lang="en-IN" sz="1400" dirty="0"/>
          </a:p>
        </p:txBody>
      </p:sp>
    </p:spTree>
    <p:extLst>
      <p:ext uri="{BB962C8B-B14F-4D97-AF65-F5344CB8AC3E}">
        <p14:creationId xmlns:p14="http://schemas.microsoft.com/office/powerpoint/2010/main" val="27997537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6ADD6C6-D9A9-41EB-8119-C712814E7826}"/>
              </a:ext>
            </a:extLst>
          </p:cNvPr>
          <p:cNvSpPr txBox="1"/>
          <p:nvPr/>
        </p:nvSpPr>
        <p:spPr>
          <a:xfrm>
            <a:off x="3276600" y="438150"/>
            <a:ext cx="2667000" cy="523220"/>
          </a:xfrm>
          <a:prstGeom prst="rect">
            <a:avLst/>
          </a:prstGeom>
          <a:noFill/>
        </p:spPr>
        <p:txBody>
          <a:bodyPr wrap="square" rtlCol="0">
            <a:spAutoFit/>
          </a:bodyPr>
          <a:lstStyle/>
          <a:p>
            <a:r>
              <a:rPr lang="en-US" sz="2800" b="1" dirty="0">
                <a:solidFill>
                  <a:srgbClr val="0070C0"/>
                </a:solidFill>
              </a:rPr>
              <a:t>Recall</a:t>
            </a:r>
            <a:endParaRPr lang="en-IN" sz="2800" b="1" dirty="0">
              <a:solidFill>
                <a:srgbClr val="0070C0"/>
              </a:solidFill>
            </a:endParaRPr>
          </a:p>
        </p:txBody>
      </p:sp>
      <p:pic>
        <p:nvPicPr>
          <p:cNvPr id="9218" name="Picture 2">
            <a:extLst>
              <a:ext uri="{FF2B5EF4-FFF2-40B4-BE49-F238E27FC236}">
                <a16:creationId xmlns:a16="http://schemas.microsoft.com/office/drawing/2014/main" id="{E7434547-38C2-4C76-AC2E-531AE89244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2101930"/>
            <a:ext cx="2285998" cy="57626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DBA4F4F-4DE3-41A4-BD1E-0B659DEE9861}"/>
              </a:ext>
            </a:extLst>
          </p:cNvPr>
          <p:cNvSpPr txBox="1"/>
          <p:nvPr/>
        </p:nvSpPr>
        <p:spPr>
          <a:xfrm>
            <a:off x="5791200" y="3144620"/>
            <a:ext cx="2971800" cy="369332"/>
          </a:xfrm>
          <a:prstGeom prst="rect">
            <a:avLst/>
          </a:prstGeom>
          <a:noFill/>
        </p:spPr>
        <p:txBody>
          <a:bodyPr wrap="square">
            <a:spAutoFit/>
          </a:bodyPr>
          <a:lstStyle/>
          <a:p>
            <a:r>
              <a:rPr lang="en-US" dirty="0"/>
              <a:t>Recall = 30/(30+ 10) = 0.75</a:t>
            </a:r>
            <a:endParaRPr lang="en-IN" dirty="0"/>
          </a:p>
        </p:txBody>
      </p:sp>
      <p:pic>
        <p:nvPicPr>
          <p:cNvPr id="2" name="Picture 1">
            <a:extLst>
              <a:ext uri="{FF2B5EF4-FFF2-40B4-BE49-F238E27FC236}">
                <a16:creationId xmlns:a16="http://schemas.microsoft.com/office/drawing/2014/main" id="{2F8C03D6-6382-4051-8073-8B2DA6199B8C}"/>
              </a:ext>
            </a:extLst>
          </p:cNvPr>
          <p:cNvPicPr>
            <a:picLocks noChangeAspect="1"/>
          </p:cNvPicPr>
          <p:nvPr/>
        </p:nvPicPr>
        <p:blipFill>
          <a:blip r:embed="rId3"/>
          <a:stretch>
            <a:fillRect/>
          </a:stretch>
        </p:blipFill>
        <p:spPr>
          <a:xfrm>
            <a:off x="929436" y="1504950"/>
            <a:ext cx="4694327" cy="2743438"/>
          </a:xfrm>
          <a:prstGeom prst="rect">
            <a:avLst/>
          </a:prstGeom>
        </p:spPr>
      </p:pic>
    </p:spTree>
    <p:extLst>
      <p:ext uri="{BB962C8B-B14F-4D97-AF65-F5344CB8AC3E}">
        <p14:creationId xmlns:p14="http://schemas.microsoft.com/office/powerpoint/2010/main" val="2390446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3235386-529F-4F34-A574-6D16F0748984}"/>
              </a:ext>
            </a:extLst>
          </p:cNvPr>
          <p:cNvPicPr>
            <a:picLocks noChangeAspect="1"/>
          </p:cNvPicPr>
          <p:nvPr/>
        </p:nvPicPr>
        <p:blipFill>
          <a:blip r:embed="rId2"/>
          <a:stretch>
            <a:fillRect/>
          </a:stretch>
        </p:blipFill>
        <p:spPr>
          <a:xfrm>
            <a:off x="1066800" y="1962150"/>
            <a:ext cx="6038850" cy="1438275"/>
          </a:xfrm>
          <a:prstGeom prst="rect">
            <a:avLst/>
          </a:prstGeom>
        </p:spPr>
      </p:pic>
      <p:sp>
        <p:nvSpPr>
          <p:cNvPr id="7" name="TextBox 6">
            <a:extLst>
              <a:ext uri="{FF2B5EF4-FFF2-40B4-BE49-F238E27FC236}">
                <a16:creationId xmlns:a16="http://schemas.microsoft.com/office/drawing/2014/main" id="{8FD917EA-12A7-460D-9638-FE1945B7425B}"/>
              </a:ext>
            </a:extLst>
          </p:cNvPr>
          <p:cNvSpPr txBox="1"/>
          <p:nvPr/>
        </p:nvSpPr>
        <p:spPr>
          <a:xfrm>
            <a:off x="2895600" y="590550"/>
            <a:ext cx="2819400" cy="523220"/>
          </a:xfrm>
          <a:prstGeom prst="rect">
            <a:avLst/>
          </a:prstGeom>
          <a:noFill/>
        </p:spPr>
        <p:txBody>
          <a:bodyPr wrap="square" rtlCol="0">
            <a:spAutoFit/>
          </a:bodyPr>
          <a:lstStyle/>
          <a:p>
            <a:r>
              <a:rPr lang="en-IN" sz="2800" b="1" dirty="0">
                <a:solidFill>
                  <a:srgbClr val="0070C0"/>
                </a:solidFill>
              </a:rPr>
              <a:t>Specificity</a:t>
            </a:r>
          </a:p>
        </p:txBody>
      </p:sp>
    </p:spTree>
    <p:extLst>
      <p:ext uri="{BB962C8B-B14F-4D97-AF65-F5344CB8AC3E}">
        <p14:creationId xmlns:p14="http://schemas.microsoft.com/office/powerpoint/2010/main" val="3165175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BFDD5-F9E8-4942-AC42-CEAA231D0BF4}"/>
              </a:ext>
            </a:extLst>
          </p:cNvPr>
          <p:cNvSpPr>
            <a:spLocks noGrp="1"/>
          </p:cNvSpPr>
          <p:nvPr>
            <p:ph type="title"/>
          </p:nvPr>
        </p:nvSpPr>
        <p:spPr>
          <a:xfrm>
            <a:off x="3288029" y="369189"/>
            <a:ext cx="2567940" cy="430887"/>
          </a:xfrm>
        </p:spPr>
        <p:txBody>
          <a:bodyPr/>
          <a:lstStyle/>
          <a:p>
            <a:r>
              <a:rPr lang="en-US" dirty="0"/>
              <a:t>F1 score</a:t>
            </a:r>
            <a:endParaRPr lang="en-IN" dirty="0"/>
          </a:p>
        </p:txBody>
      </p:sp>
      <p:sp>
        <p:nvSpPr>
          <p:cNvPr id="3" name="Text Placeholder 2">
            <a:extLst>
              <a:ext uri="{FF2B5EF4-FFF2-40B4-BE49-F238E27FC236}">
                <a16:creationId xmlns:a16="http://schemas.microsoft.com/office/drawing/2014/main" id="{00749DB4-A35F-4E36-BC00-F9668BBB64D0}"/>
              </a:ext>
            </a:extLst>
          </p:cNvPr>
          <p:cNvSpPr>
            <a:spLocks noGrp="1"/>
          </p:cNvSpPr>
          <p:nvPr>
            <p:ph type="body" idx="1"/>
          </p:nvPr>
        </p:nvSpPr>
        <p:spPr>
          <a:xfrm>
            <a:off x="685801" y="1014775"/>
            <a:ext cx="7315200" cy="1508105"/>
          </a:xfrm>
        </p:spPr>
        <p:txBody>
          <a:bodyPr/>
          <a:lstStyle/>
          <a:p>
            <a:pPr algn="just"/>
            <a:r>
              <a:rPr lang="en-US" sz="1400" b="0" i="0" dirty="0">
                <a:solidFill>
                  <a:srgbClr val="292929"/>
                </a:solidFill>
                <a:effectLst/>
                <a:latin typeface="charter"/>
              </a:rPr>
              <a:t>So ideally in a good classifier, we want both </a:t>
            </a:r>
            <a:r>
              <a:rPr lang="en-US" sz="1400" b="1" i="1" dirty="0">
                <a:solidFill>
                  <a:srgbClr val="292929"/>
                </a:solidFill>
                <a:effectLst/>
                <a:latin typeface="charter"/>
              </a:rPr>
              <a:t>precision</a:t>
            </a:r>
            <a:r>
              <a:rPr lang="en-US" sz="1400" b="0" i="0" dirty="0">
                <a:solidFill>
                  <a:srgbClr val="292929"/>
                </a:solidFill>
                <a:effectLst/>
                <a:latin typeface="charter"/>
              </a:rPr>
              <a:t> and </a:t>
            </a:r>
            <a:r>
              <a:rPr lang="en-US" sz="1400" b="1" i="1" dirty="0">
                <a:solidFill>
                  <a:srgbClr val="292929"/>
                </a:solidFill>
                <a:effectLst/>
                <a:latin typeface="charter"/>
              </a:rPr>
              <a:t>recall</a:t>
            </a:r>
            <a:r>
              <a:rPr lang="en-US" sz="1400" b="0" i="0" dirty="0">
                <a:solidFill>
                  <a:srgbClr val="292929"/>
                </a:solidFill>
                <a:effectLst/>
                <a:latin typeface="charter"/>
              </a:rPr>
              <a:t> to be one which also means </a:t>
            </a:r>
            <a:r>
              <a:rPr lang="en-US" sz="1400" b="1" i="1" dirty="0">
                <a:solidFill>
                  <a:srgbClr val="292929"/>
                </a:solidFill>
                <a:effectLst/>
                <a:latin typeface="charter"/>
              </a:rPr>
              <a:t>FP</a:t>
            </a:r>
            <a:r>
              <a:rPr lang="en-US" sz="1400" b="0" i="0" dirty="0">
                <a:solidFill>
                  <a:srgbClr val="292929"/>
                </a:solidFill>
                <a:effectLst/>
                <a:latin typeface="charter"/>
              </a:rPr>
              <a:t> and </a:t>
            </a:r>
            <a:r>
              <a:rPr lang="en-US" sz="1400" b="1" i="1" dirty="0">
                <a:solidFill>
                  <a:srgbClr val="292929"/>
                </a:solidFill>
                <a:effectLst/>
                <a:latin typeface="charter"/>
              </a:rPr>
              <a:t>FN</a:t>
            </a:r>
            <a:r>
              <a:rPr lang="en-US" sz="1400" b="0" i="0" dirty="0">
                <a:solidFill>
                  <a:srgbClr val="292929"/>
                </a:solidFill>
                <a:effectLst/>
                <a:latin typeface="charter"/>
              </a:rPr>
              <a:t> are zero. Therefore we need a metric that takes into account both </a:t>
            </a:r>
            <a:r>
              <a:rPr lang="en-US" sz="1400" b="1" i="1" dirty="0">
                <a:solidFill>
                  <a:srgbClr val="292929"/>
                </a:solidFill>
                <a:effectLst/>
                <a:latin typeface="charter"/>
              </a:rPr>
              <a:t>precision</a:t>
            </a:r>
            <a:r>
              <a:rPr lang="en-US" sz="1400" b="0" i="0" dirty="0">
                <a:solidFill>
                  <a:srgbClr val="292929"/>
                </a:solidFill>
                <a:effectLst/>
                <a:latin typeface="charter"/>
              </a:rPr>
              <a:t> and </a:t>
            </a:r>
            <a:r>
              <a:rPr lang="en-US" sz="1400" b="1" i="1" dirty="0">
                <a:solidFill>
                  <a:srgbClr val="292929"/>
                </a:solidFill>
                <a:effectLst/>
                <a:latin typeface="charter"/>
              </a:rPr>
              <a:t>recall</a:t>
            </a:r>
            <a:r>
              <a:rPr lang="en-US" sz="1400" b="0" i="0" dirty="0">
                <a:solidFill>
                  <a:srgbClr val="292929"/>
                </a:solidFill>
                <a:effectLst/>
                <a:latin typeface="charter"/>
              </a:rPr>
              <a:t>. </a:t>
            </a:r>
            <a:r>
              <a:rPr lang="en-US" sz="1400" b="1" i="1" dirty="0">
                <a:solidFill>
                  <a:srgbClr val="292929"/>
                </a:solidFill>
                <a:effectLst/>
                <a:latin typeface="charter"/>
              </a:rPr>
              <a:t>F1-score</a:t>
            </a:r>
            <a:r>
              <a:rPr lang="en-US" sz="1400" b="0" i="0" dirty="0">
                <a:solidFill>
                  <a:srgbClr val="292929"/>
                </a:solidFill>
                <a:effectLst/>
                <a:latin typeface="charter"/>
              </a:rPr>
              <a:t> is a metric which takes into account both </a:t>
            </a:r>
            <a:r>
              <a:rPr lang="en-US" sz="1400" b="1" i="1" dirty="0">
                <a:solidFill>
                  <a:srgbClr val="292929"/>
                </a:solidFill>
                <a:effectLst/>
                <a:latin typeface="charter"/>
              </a:rPr>
              <a:t>precision</a:t>
            </a:r>
            <a:r>
              <a:rPr lang="en-US" sz="1400" b="0" i="0" dirty="0">
                <a:solidFill>
                  <a:srgbClr val="292929"/>
                </a:solidFill>
                <a:effectLst/>
                <a:latin typeface="charter"/>
              </a:rPr>
              <a:t> and </a:t>
            </a:r>
            <a:r>
              <a:rPr lang="en-US" sz="1400" b="1" i="1" dirty="0">
                <a:solidFill>
                  <a:srgbClr val="292929"/>
                </a:solidFill>
                <a:effectLst/>
                <a:latin typeface="charter"/>
              </a:rPr>
              <a:t>recall</a:t>
            </a:r>
            <a:r>
              <a:rPr lang="en-US" sz="1400" b="0" i="0" dirty="0">
                <a:solidFill>
                  <a:srgbClr val="292929"/>
                </a:solidFill>
                <a:effectLst/>
                <a:latin typeface="charter"/>
              </a:rPr>
              <a:t> and is defined as follows:</a:t>
            </a:r>
          </a:p>
          <a:p>
            <a:pPr algn="just"/>
            <a:endParaRPr lang="en-US" sz="1400" dirty="0">
              <a:solidFill>
                <a:srgbClr val="292929"/>
              </a:solidFill>
              <a:latin typeface="charter"/>
            </a:endParaRPr>
          </a:p>
          <a:p>
            <a:pPr algn="just"/>
            <a:r>
              <a:rPr lang="en-US" sz="1400" dirty="0">
                <a:solidFill>
                  <a:srgbClr val="292929"/>
                </a:solidFill>
                <a:latin typeface="charter"/>
              </a:rPr>
              <a:t>To balance the up and downsides of optimizing precision and Recall, the harmonic mean of PRE and RE is used.</a:t>
            </a:r>
            <a:endParaRPr lang="en-IN" sz="1400" dirty="0"/>
          </a:p>
        </p:txBody>
      </p:sp>
      <p:pic>
        <p:nvPicPr>
          <p:cNvPr id="3074" name="Picture 2">
            <a:extLst>
              <a:ext uri="{FF2B5EF4-FFF2-40B4-BE49-F238E27FC236}">
                <a16:creationId xmlns:a16="http://schemas.microsoft.com/office/drawing/2014/main" id="{9B0F7A48-5AB4-44AC-8C5C-0518447E4E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876550"/>
            <a:ext cx="4162424" cy="591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4589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17ECE-F434-4854-89E5-220A3B70B905}"/>
              </a:ext>
            </a:extLst>
          </p:cNvPr>
          <p:cNvSpPr>
            <a:spLocks noGrp="1"/>
          </p:cNvSpPr>
          <p:nvPr>
            <p:ph type="title"/>
          </p:nvPr>
        </p:nvSpPr>
        <p:spPr/>
        <p:txBody>
          <a:bodyPr/>
          <a:lstStyle/>
          <a:p>
            <a:endParaRPr lang="en-IN"/>
          </a:p>
        </p:txBody>
      </p:sp>
      <p:sp>
        <p:nvSpPr>
          <p:cNvPr id="4" name="Text Placeholder 3">
            <a:extLst>
              <a:ext uri="{FF2B5EF4-FFF2-40B4-BE49-F238E27FC236}">
                <a16:creationId xmlns:a16="http://schemas.microsoft.com/office/drawing/2014/main" id="{EA6CDD2F-F0AE-4912-98BE-EACEFE96EAFC}"/>
              </a:ext>
            </a:extLst>
          </p:cNvPr>
          <p:cNvSpPr txBox="1">
            <a:spLocks noGrp="1"/>
          </p:cNvSpPr>
          <p:nvPr>
            <p:ph type="body" idx="1"/>
          </p:nvPr>
        </p:nvSpPr>
        <p:spPr>
          <a:xfrm>
            <a:off x="685800" y="1648420"/>
            <a:ext cx="8077200" cy="861774"/>
          </a:xfrm>
          <a:prstGeom prst="rect">
            <a:avLst/>
          </a:prstGeom>
          <a:noFill/>
        </p:spPr>
        <p:txBody>
          <a:bodyPr wrap="square">
            <a:spAutoFit/>
          </a:bodyPr>
          <a:lstStyle/>
          <a:p>
            <a:pPr algn="l"/>
            <a:r>
              <a:rPr lang="en-US" sz="1400" b="1" i="1" dirty="0">
                <a:solidFill>
                  <a:srgbClr val="292929"/>
                </a:solidFill>
                <a:effectLst/>
                <a:latin typeface="charter"/>
              </a:rPr>
              <a:t>F1 Score</a:t>
            </a:r>
            <a:r>
              <a:rPr lang="en-US" sz="1400" b="0" i="0" dirty="0">
                <a:solidFill>
                  <a:srgbClr val="292929"/>
                </a:solidFill>
                <a:effectLst/>
                <a:latin typeface="charter"/>
              </a:rPr>
              <a:t> becomes 1 only when </a:t>
            </a:r>
            <a:r>
              <a:rPr lang="en-US" sz="1400" b="1" i="1" dirty="0">
                <a:solidFill>
                  <a:srgbClr val="292929"/>
                </a:solidFill>
                <a:effectLst/>
                <a:latin typeface="charter"/>
              </a:rPr>
              <a:t>precision</a:t>
            </a:r>
            <a:r>
              <a:rPr lang="en-US" sz="1400" b="0" i="0" dirty="0">
                <a:solidFill>
                  <a:srgbClr val="292929"/>
                </a:solidFill>
                <a:effectLst/>
                <a:latin typeface="charter"/>
              </a:rPr>
              <a:t> and </a:t>
            </a:r>
            <a:r>
              <a:rPr lang="en-US" sz="1400" b="1" i="1" dirty="0">
                <a:solidFill>
                  <a:srgbClr val="292929"/>
                </a:solidFill>
                <a:effectLst/>
                <a:latin typeface="charter"/>
              </a:rPr>
              <a:t>recall </a:t>
            </a:r>
            <a:r>
              <a:rPr lang="en-US" sz="1400" b="0" i="0" dirty="0">
                <a:solidFill>
                  <a:srgbClr val="292929"/>
                </a:solidFill>
                <a:effectLst/>
                <a:latin typeface="charter"/>
              </a:rPr>
              <a:t>are both 1. </a:t>
            </a:r>
            <a:r>
              <a:rPr lang="en-US" sz="1400" b="1" i="1" dirty="0">
                <a:solidFill>
                  <a:srgbClr val="292929"/>
                </a:solidFill>
                <a:effectLst/>
                <a:latin typeface="charter"/>
              </a:rPr>
              <a:t>F1 score </a:t>
            </a:r>
            <a:r>
              <a:rPr lang="en-US" sz="1400" b="0" i="0" dirty="0">
                <a:solidFill>
                  <a:srgbClr val="292929"/>
                </a:solidFill>
                <a:effectLst/>
                <a:latin typeface="charter"/>
              </a:rPr>
              <a:t>becomes high only when both </a:t>
            </a:r>
            <a:r>
              <a:rPr lang="en-US" sz="1400" b="1" i="1" dirty="0">
                <a:solidFill>
                  <a:srgbClr val="292929"/>
                </a:solidFill>
                <a:effectLst/>
                <a:latin typeface="charter"/>
              </a:rPr>
              <a:t>precision</a:t>
            </a:r>
            <a:r>
              <a:rPr lang="en-US" sz="1400" b="0" i="0" dirty="0">
                <a:solidFill>
                  <a:srgbClr val="292929"/>
                </a:solidFill>
                <a:effectLst/>
                <a:latin typeface="charter"/>
              </a:rPr>
              <a:t> and</a:t>
            </a:r>
            <a:r>
              <a:rPr lang="en-US" sz="1400" b="1" i="1" dirty="0">
                <a:solidFill>
                  <a:srgbClr val="292929"/>
                </a:solidFill>
                <a:effectLst/>
                <a:latin typeface="charter"/>
              </a:rPr>
              <a:t> recall</a:t>
            </a:r>
            <a:r>
              <a:rPr lang="en-US" sz="1400" b="0" i="0" dirty="0">
                <a:solidFill>
                  <a:srgbClr val="292929"/>
                </a:solidFill>
                <a:effectLst/>
                <a:latin typeface="charter"/>
              </a:rPr>
              <a:t> are high. </a:t>
            </a:r>
            <a:r>
              <a:rPr lang="en-US" sz="1400" b="1" i="1" dirty="0">
                <a:solidFill>
                  <a:srgbClr val="292929"/>
                </a:solidFill>
                <a:effectLst/>
                <a:latin typeface="charter"/>
              </a:rPr>
              <a:t>F1 score</a:t>
            </a:r>
            <a:r>
              <a:rPr lang="en-US" sz="1400" b="0" i="0" dirty="0">
                <a:solidFill>
                  <a:srgbClr val="292929"/>
                </a:solidFill>
                <a:effectLst/>
                <a:latin typeface="charter"/>
              </a:rPr>
              <a:t> is the harmonic mean of </a:t>
            </a:r>
            <a:r>
              <a:rPr lang="en-US" sz="1400" b="1" i="1" dirty="0">
                <a:solidFill>
                  <a:srgbClr val="292929"/>
                </a:solidFill>
                <a:effectLst/>
                <a:latin typeface="charter"/>
              </a:rPr>
              <a:t>precision</a:t>
            </a:r>
            <a:r>
              <a:rPr lang="en-US" sz="1400" b="0" i="0" dirty="0">
                <a:solidFill>
                  <a:srgbClr val="292929"/>
                </a:solidFill>
                <a:effectLst/>
                <a:latin typeface="charter"/>
              </a:rPr>
              <a:t> and </a:t>
            </a:r>
            <a:r>
              <a:rPr lang="en-US" sz="1400" b="1" i="1" dirty="0">
                <a:solidFill>
                  <a:srgbClr val="292929"/>
                </a:solidFill>
                <a:effectLst/>
                <a:latin typeface="charter"/>
              </a:rPr>
              <a:t>recall</a:t>
            </a:r>
            <a:r>
              <a:rPr lang="en-US" sz="1400" b="0" i="0" dirty="0">
                <a:solidFill>
                  <a:srgbClr val="292929"/>
                </a:solidFill>
                <a:effectLst/>
                <a:latin typeface="charter"/>
              </a:rPr>
              <a:t> and is a better measure than </a:t>
            </a:r>
            <a:r>
              <a:rPr lang="en-US" sz="1400" b="1" i="1" dirty="0">
                <a:solidFill>
                  <a:srgbClr val="292929"/>
                </a:solidFill>
                <a:effectLst/>
                <a:latin typeface="charter"/>
              </a:rPr>
              <a:t>accuracy</a:t>
            </a:r>
            <a:r>
              <a:rPr lang="en-US" sz="1400" b="0" i="0" dirty="0">
                <a:solidFill>
                  <a:srgbClr val="292929"/>
                </a:solidFill>
                <a:effectLst/>
                <a:latin typeface="charter"/>
              </a:rPr>
              <a:t>.</a:t>
            </a:r>
          </a:p>
          <a:p>
            <a:pPr algn="l"/>
            <a:r>
              <a:rPr lang="en-US" sz="1400" b="0" i="0" dirty="0">
                <a:solidFill>
                  <a:srgbClr val="292929"/>
                </a:solidFill>
                <a:effectLst/>
                <a:latin typeface="charter"/>
              </a:rPr>
              <a:t>In the pregnancy example, </a:t>
            </a:r>
            <a:r>
              <a:rPr lang="en-US" sz="1400" b="1" i="1" dirty="0">
                <a:solidFill>
                  <a:srgbClr val="292929"/>
                </a:solidFill>
                <a:effectLst/>
                <a:latin typeface="charter"/>
              </a:rPr>
              <a:t>F1 Score</a:t>
            </a:r>
            <a:r>
              <a:rPr lang="en-US" sz="1400" b="0" i="0" dirty="0">
                <a:solidFill>
                  <a:srgbClr val="292929"/>
                </a:solidFill>
                <a:effectLst/>
                <a:latin typeface="charter"/>
              </a:rPr>
              <a:t> = 2* ( 0.857 * 0.75)/(0.857 + 0.75) = 0.799.</a:t>
            </a:r>
          </a:p>
        </p:txBody>
      </p:sp>
    </p:spTree>
    <p:extLst>
      <p:ext uri="{BB962C8B-B14F-4D97-AF65-F5344CB8AC3E}">
        <p14:creationId xmlns:p14="http://schemas.microsoft.com/office/powerpoint/2010/main" val="14446020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FDDCE-E6C0-0918-3443-3843CA3C7396}"/>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F8B6D614-5390-8396-BDA4-724AD3809BA9}"/>
              </a:ext>
            </a:extLst>
          </p:cNvPr>
          <p:cNvPicPr>
            <a:picLocks noChangeAspect="1"/>
          </p:cNvPicPr>
          <p:nvPr/>
        </p:nvPicPr>
        <p:blipFill>
          <a:blip r:embed="rId2"/>
          <a:stretch>
            <a:fillRect/>
          </a:stretch>
        </p:blipFill>
        <p:spPr>
          <a:xfrm>
            <a:off x="1576201" y="1924050"/>
            <a:ext cx="4638236" cy="1562100"/>
          </a:xfrm>
          <a:prstGeom prst="rect">
            <a:avLst/>
          </a:prstGeom>
        </p:spPr>
      </p:pic>
      <p:sp>
        <p:nvSpPr>
          <p:cNvPr id="3" name="Text Placeholder 2">
            <a:extLst>
              <a:ext uri="{FF2B5EF4-FFF2-40B4-BE49-F238E27FC236}">
                <a16:creationId xmlns:a16="http://schemas.microsoft.com/office/drawing/2014/main" id="{5DA6A58E-E023-E8EC-29B6-B310AD6DBD3E}"/>
              </a:ext>
            </a:extLst>
          </p:cNvPr>
          <p:cNvSpPr>
            <a:spLocks noGrp="1"/>
          </p:cNvSpPr>
          <p:nvPr>
            <p:ph type="body" idx="1"/>
          </p:nvPr>
        </p:nvSpPr>
        <p:spPr>
          <a:xfrm>
            <a:off x="1066800" y="1123950"/>
            <a:ext cx="5772276" cy="3356908"/>
          </a:xfrm>
        </p:spPr>
        <p:txBody>
          <a:bodyPr/>
          <a:lstStyle/>
          <a:p>
            <a:endParaRPr lang="en-IN" dirty="0"/>
          </a:p>
        </p:txBody>
      </p:sp>
    </p:spTree>
    <p:extLst>
      <p:ext uri="{BB962C8B-B14F-4D97-AF65-F5344CB8AC3E}">
        <p14:creationId xmlns:p14="http://schemas.microsoft.com/office/powerpoint/2010/main" val="18280844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CAA6D-84C9-8279-B384-D3D06274AF84}"/>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CC839E36-E87C-E022-1DA1-95792BFCEBD3}"/>
              </a:ext>
            </a:extLst>
          </p:cNvPr>
          <p:cNvSpPr>
            <a:spLocks noGrp="1"/>
          </p:cNvSpPr>
          <p:nvPr>
            <p:ph type="body" idx="1"/>
          </p:nvPr>
        </p:nvSpPr>
        <p:spPr>
          <a:xfrm>
            <a:off x="3031531" y="1629136"/>
            <a:ext cx="3092291" cy="2396228"/>
          </a:xfrm>
        </p:spPr>
        <p:txBody>
          <a:bodyPr/>
          <a:lstStyle/>
          <a:p>
            <a:endParaRPr lang="en-IN" dirty="0"/>
          </a:p>
        </p:txBody>
      </p:sp>
      <p:pic>
        <p:nvPicPr>
          <p:cNvPr id="1026" name="Picture 2" descr="Performance Metrics: Confusion matrix, Precision, Recall, and F1 Score | by  Vaibhav Jayaswal | Towards Data Science">
            <a:extLst>
              <a:ext uri="{FF2B5EF4-FFF2-40B4-BE49-F238E27FC236}">
                <a16:creationId xmlns:a16="http://schemas.microsoft.com/office/drawing/2014/main" id="{6F8B1CC5-AD5C-3681-F64D-BB98250F12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9983" y="1341350"/>
            <a:ext cx="3985986"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22243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EF1E4-1FB0-6A5C-8889-87459D34212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E02FB04-6BDB-5678-CDB0-A7F3BD3A88D3}"/>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8F8914A5-96E3-2F64-C690-1B191BAB2DC6}"/>
              </a:ext>
            </a:extLst>
          </p:cNvPr>
          <p:cNvPicPr>
            <a:picLocks noChangeAspect="1"/>
          </p:cNvPicPr>
          <p:nvPr/>
        </p:nvPicPr>
        <p:blipFill>
          <a:blip r:embed="rId2"/>
          <a:stretch>
            <a:fillRect/>
          </a:stretch>
        </p:blipFill>
        <p:spPr>
          <a:xfrm>
            <a:off x="0" y="313029"/>
            <a:ext cx="9144000" cy="4517441"/>
          </a:xfrm>
          <a:prstGeom prst="rect">
            <a:avLst/>
          </a:prstGeom>
        </p:spPr>
      </p:pic>
    </p:spTree>
    <p:extLst>
      <p:ext uri="{BB962C8B-B14F-4D97-AF65-F5344CB8AC3E}">
        <p14:creationId xmlns:p14="http://schemas.microsoft.com/office/powerpoint/2010/main" val="19644384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00162-4E37-DB3D-9FC1-C7740406C4C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F5E0F9D-2EBB-A294-B3CC-2B99EA34AC9D}"/>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B1CEA0FF-94A2-5362-60B5-0EABAB45DEA9}"/>
              </a:ext>
            </a:extLst>
          </p:cNvPr>
          <p:cNvPicPr>
            <a:picLocks noChangeAspect="1"/>
          </p:cNvPicPr>
          <p:nvPr/>
        </p:nvPicPr>
        <p:blipFill>
          <a:blip r:embed="rId2"/>
          <a:stretch>
            <a:fillRect/>
          </a:stretch>
        </p:blipFill>
        <p:spPr>
          <a:xfrm>
            <a:off x="1055676" y="0"/>
            <a:ext cx="7032648" cy="5143500"/>
          </a:xfrm>
          <a:prstGeom prst="rect">
            <a:avLst/>
          </a:prstGeom>
        </p:spPr>
      </p:pic>
    </p:spTree>
    <p:extLst>
      <p:ext uri="{BB962C8B-B14F-4D97-AF65-F5344CB8AC3E}">
        <p14:creationId xmlns:p14="http://schemas.microsoft.com/office/powerpoint/2010/main" val="7062608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BF65D-1656-D59D-C930-FC6D171EA52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50BB7132-98A3-E210-B35C-AF7C0655DAE3}"/>
              </a:ext>
            </a:extLst>
          </p:cNvPr>
          <p:cNvSpPr>
            <a:spLocks noGrp="1"/>
          </p:cNvSpPr>
          <p:nvPr>
            <p:ph type="body" idx="1"/>
          </p:nvPr>
        </p:nvSpPr>
        <p:spPr>
          <a:xfrm>
            <a:off x="762000" y="3028950"/>
            <a:ext cx="6934200" cy="1169551"/>
          </a:xfrm>
        </p:spPr>
        <p:txBody>
          <a:bodyPr/>
          <a:lstStyle/>
          <a:p>
            <a:pPr algn="just"/>
            <a:r>
              <a:rPr lang="en-US" b="1" dirty="0"/>
              <a:t>2. Macro Average: </a:t>
            </a:r>
            <a:r>
              <a:rPr lang="en-US" sz="1800" kern="1200" dirty="0">
                <a:latin typeface="+mn-lt"/>
                <a:cs typeface="+mn-cs"/>
              </a:rPr>
              <a:t>Macro averaging calculates the performance metrics for each class independently and then averages these metrics across all classes. Each class is treated equally, regardless of its size.</a:t>
            </a:r>
          </a:p>
          <a:p>
            <a:endParaRPr lang="en-US" dirty="0"/>
          </a:p>
        </p:txBody>
      </p:sp>
      <p:sp>
        <p:nvSpPr>
          <p:cNvPr id="5" name="TextBox 4">
            <a:extLst>
              <a:ext uri="{FF2B5EF4-FFF2-40B4-BE49-F238E27FC236}">
                <a16:creationId xmlns:a16="http://schemas.microsoft.com/office/drawing/2014/main" id="{8D30182A-2D0D-B62F-24CF-5F288287E260}"/>
              </a:ext>
            </a:extLst>
          </p:cNvPr>
          <p:cNvSpPr txBox="1"/>
          <p:nvPr/>
        </p:nvSpPr>
        <p:spPr>
          <a:xfrm>
            <a:off x="685800" y="1098887"/>
            <a:ext cx="6629400" cy="1200329"/>
          </a:xfrm>
          <a:prstGeom prst="rect">
            <a:avLst/>
          </a:prstGeom>
          <a:noFill/>
        </p:spPr>
        <p:txBody>
          <a:bodyPr wrap="square">
            <a:spAutoFit/>
          </a:bodyPr>
          <a:lstStyle/>
          <a:p>
            <a:pPr algn="just"/>
            <a:r>
              <a:rPr lang="en-US" b="1" dirty="0"/>
              <a:t>1. Micro Average: </a:t>
            </a:r>
            <a:r>
              <a:rPr lang="en-US" dirty="0"/>
              <a:t>Micro averaging calculates the overall metrics by considering each individual instance (sample) equally, regardless of the class to which it belongs. In other words, it aggregates the contributions of all classes to compute the metric.</a:t>
            </a:r>
          </a:p>
        </p:txBody>
      </p:sp>
    </p:spTree>
    <p:extLst>
      <p:ext uri="{BB962C8B-B14F-4D97-AF65-F5344CB8AC3E}">
        <p14:creationId xmlns:p14="http://schemas.microsoft.com/office/powerpoint/2010/main" val="32870416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47235" y="1991944"/>
            <a:ext cx="1548765" cy="452120"/>
          </a:xfrm>
          <a:prstGeom prst="rect">
            <a:avLst/>
          </a:prstGeom>
        </p:spPr>
        <p:txBody>
          <a:bodyPr vert="horz" wrap="square" lIns="0" tIns="12065" rIns="0" bIns="0" rtlCol="0">
            <a:spAutoFit/>
          </a:bodyPr>
          <a:lstStyle/>
          <a:p>
            <a:pPr marL="12700">
              <a:lnSpc>
                <a:spcPct val="100000"/>
              </a:lnSpc>
              <a:spcBef>
                <a:spcPts val="95"/>
              </a:spcBef>
            </a:pPr>
            <a:r>
              <a:rPr sz="2800" spc="-10" dirty="0"/>
              <a:t>Thank</a:t>
            </a:r>
            <a:r>
              <a:rPr sz="2800" spc="-45" dirty="0"/>
              <a:t> </a:t>
            </a:r>
            <a:r>
              <a:rPr sz="2800" spc="-80" dirty="0"/>
              <a:t>You</a:t>
            </a:r>
            <a:endParaRPr sz="2800" dirty="0"/>
          </a:p>
        </p:txBody>
      </p:sp>
      <p:sp>
        <p:nvSpPr>
          <p:cNvPr id="3" name="object 3"/>
          <p:cNvSpPr txBox="1"/>
          <p:nvPr/>
        </p:nvSpPr>
        <p:spPr>
          <a:xfrm>
            <a:off x="8377173" y="4809184"/>
            <a:ext cx="256540" cy="199390"/>
          </a:xfrm>
          <a:prstGeom prst="rect">
            <a:avLst/>
          </a:prstGeom>
        </p:spPr>
        <p:txBody>
          <a:bodyPr vert="horz" wrap="square" lIns="0" tIns="0" rIns="0" bIns="0" rtlCol="0">
            <a:spAutoFit/>
          </a:bodyPr>
          <a:lstStyle/>
          <a:p>
            <a:pPr marL="38100">
              <a:lnSpc>
                <a:spcPct val="100000"/>
              </a:lnSpc>
            </a:pPr>
            <a:fld id="{81D60167-4931-47E6-BA6A-407CBD079E47}" type="slidenum">
              <a:rPr sz="1200" spc="35" dirty="0">
                <a:solidFill>
                  <a:srgbClr val="FFFFFF"/>
                </a:solidFill>
                <a:latin typeface="Arial"/>
                <a:cs typeface="Arial"/>
              </a:rPr>
              <a:t>27</a:t>
            </a:fld>
            <a:endParaRPr sz="1200">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50629</TotalTime>
  <Words>1166</Words>
  <Application>Microsoft Office PowerPoint</Application>
  <PresentationFormat>On-screen Show (16:9)</PresentationFormat>
  <Paragraphs>145</Paragraphs>
  <Slides>27</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27</vt:i4>
      </vt:variant>
    </vt:vector>
  </HeadingPairs>
  <TitlesOfParts>
    <vt:vector size="38" baseType="lpstr">
      <vt:lpstr>Adobe Caslon Pro</vt:lpstr>
      <vt:lpstr>Arial</vt:lpstr>
      <vt:lpstr>Arial</vt:lpstr>
      <vt:lpstr>Calibri</vt:lpstr>
      <vt:lpstr>Cambria</vt:lpstr>
      <vt:lpstr>Carlito</vt:lpstr>
      <vt:lpstr>charter</vt:lpstr>
      <vt:lpstr>Roboto</vt:lpstr>
      <vt:lpstr>sohne</vt:lpstr>
      <vt:lpstr>Times New Roman</vt:lpstr>
      <vt:lpstr>Office Theme</vt:lpstr>
      <vt:lpstr>PowerPoint Presentation</vt:lpstr>
      <vt:lpstr>Why Evaluate?</vt:lpstr>
      <vt:lpstr>Accuracy Measures (Classification)</vt:lpstr>
      <vt:lpstr>Confusion Matrix Confusion matrix is a table that is often used to describe the performance of a classification model (or "classifier") on a set of test data for which the true values are known.</vt:lpstr>
      <vt:lpstr>PowerPoint Presentation</vt:lpstr>
      <vt:lpstr>PowerPoint Presentation</vt:lpstr>
      <vt:lpstr>PowerPoint Presentation</vt:lpstr>
      <vt:lpstr>Interpreting Classification Report</vt:lpstr>
      <vt:lpstr>Precision</vt:lpstr>
      <vt:lpstr>Recall/sensitivity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F1 score</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IITR</dc:creator>
  <cp:lastModifiedBy>Kriti Ohri</cp:lastModifiedBy>
  <cp:revision>41</cp:revision>
  <dcterms:created xsi:type="dcterms:W3CDTF">2021-04-14T17:54:02Z</dcterms:created>
  <dcterms:modified xsi:type="dcterms:W3CDTF">2024-09-23T07:52:30Z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2020-01-03T00:00:00Z</vt:filetime>
  </property>
  <property fmtid="{D5CDD505-2E9C-101B-9397-08002B2CF9AE}" pid="3" name="Creator">
    <vt:lpwstr>Microsoft® PowerPoint® 2016</vt:lpwstr>
  </property>
  <property fmtid="{D5CDD505-2E9C-101B-9397-08002B2CF9AE}" pid="4" name="LastSaved">
    <vt:filetime>2021-04-14T00:00:00Z</vt:filetime>
  </property>
</Properties>
</file>