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4"/>
  </p:notesMasterIdLst>
  <p:sldIdLst>
    <p:sldId id="256" r:id="rId5"/>
    <p:sldId id="257" r:id="rId6"/>
    <p:sldId id="258" r:id="rId7"/>
    <p:sldId id="259" r:id="rId8"/>
    <p:sldId id="260" r:id="rId9"/>
    <p:sldId id="312" r:id="rId10"/>
    <p:sldId id="261" r:id="rId11"/>
    <p:sldId id="461" r:id="rId12"/>
    <p:sldId id="462" r:id="rId13"/>
    <p:sldId id="262" r:id="rId14"/>
    <p:sldId id="263" r:id="rId15"/>
    <p:sldId id="264" r:id="rId16"/>
    <p:sldId id="463" r:id="rId17"/>
    <p:sldId id="464" r:id="rId18"/>
    <p:sldId id="465" r:id="rId19"/>
    <p:sldId id="466" r:id="rId20"/>
    <p:sldId id="265" r:id="rId21"/>
    <p:sldId id="266" r:id="rId22"/>
    <p:sldId id="267" r:id="rId23"/>
    <p:sldId id="467" r:id="rId24"/>
    <p:sldId id="468" r:id="rId25"/>
    <p:sldId id="268" r:id="rId26"/>
    <p:sldId id="269" r:id="rId27"/>
    <p:sldId id="270" r:id="rId28"/>
    <p:sldId id="274" r:id="rId29"/>
    <p:sldId id="271" r:id="rId30"/>
    <p:sldId id="273" r:id="rId31"/>
    <p:sldId id="272" r:id="rId32"/>
    <p:sldId id="46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73253" autoAdjust="0"/>
  </p:normalViewPr>
  <p:slideViewPr>
    <p:cSldViewPr snapToGrid="0">
      <p:cViewPr varScale="1">
        <p:scale>
          <a:sx n="60" d="100"/>
          <a:sy n="60" d="100"/>
        </p:scale>
        <p:origin x="1459"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4FD669-5BE9-4F66-B3AB-5CC9DF5E0707}" type="datetimeFigureOut">
              <a:rPr lang="en-IN" smtClean="0"/>
              <a:t>22-09-2024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59DC12-AF9D-443E-9E4B-75E9FA4D3D8F}" type="slidenum">
              <a:rPr lang="en-IN" smtClean="0"/>
              <a:t>‹#›</a:t>
            </a:fld>
            <a:endParaRPr lang="en-IN"/>
          </a:p>
        </p:txBody>
      </p:sp>
    </p:spTree>
    <p:extLst>
      <p:ext uri="{BB962C8B-B14F-4D97-AF65-F5344CB8AC3E}">
        <p14:creationId xmlns:p14="http://schemas.microsoft.com/office/powerpoint/2010/main" val="3343417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A59DC12-AF9D-443E-9E4B-75E9FA4D3D8F}" type="slidenum">
              <a:rPr lang="en-IN" smtClean="0"/>
              <a:t>1</a:t>
            </a:fld>
            <a:endParaRPr lang="en-IN"/>
          </a:p>
        </p:txBody>
      </p:sp>
    </p:spTree>
    <p:extLst>
      <p:ext uri="{BB962C8B-B14F-4D97-AF65-F5344CB8AC3E}">
        <p14:creationId xmlns:p14="http://schemas.microsoft.com/office/powerpoint/2010/main" val="995690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A59DC12-AF9D-443E-9E4B-75E9FA4D3D8F}" type="slidenum">
              <a:rPr lang="en-IN" smtClean="0"/>
              <a:t>2</a:t>
            </a:fld>
            <a:endParaRPr lang="en-IN"/>
          </a:p>
        </p:txBody>
      </p:sp>
    </p:spTree>
    <p:extLst>
      <p:ext uri="{BB962C8B-B14F-4D97-AF65-F5344CB8AC3E}">
        <p14:creationId xmlns:p14="http://schemas.microsoft.com/office/powerpoint/2010/main" val="366145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A59DC12-AF9D-443E-9E4B-75E9FA4D3D8F}" type="slidenum">
              <a:rPr lang="en-IN" smtClean="0"/>
              <a:t>12</a:t>
            </a:fld>
            <a:endParaRPr lang="en-IN"/>
          </a:p>
        </p:txBody>
      </p:sp>
    </p:spTree>
    <p:extLst>
      <p:ext uri="{BB962C8B-B14F-4D97-AF65-F5344CB8AC3E}">
        <p14:creationId xmlns:p14="http://schemas.microsoft.com/office/powerpoint/2010/main" val="2565332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A59DC12-AF9D-443E-9E4B-75E9FA4D3D8F}" type="slidenum">
              <a:rPr lang="en-IN" smtClean="0"/>
              <a:t>14</a:t>
            </a:fld>
            <a:endParaRPr lang="en-IN"/>
          </a:p>
        </p:txBody>
      </p:sp>
    </p:spTree>
    <p:extLst>
      <p:ext uri="{BB962C8B-B14F-4D97-AF65-F5344CB8AC3E}">
        <p14:creationId xmlns:p14="http://schemas.microsoft.com/office/powerpoint/2010/main" val="3692256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A59DC12-AF9D-443E-9E4B-75E9FA4D3D8F}" type="slidenum">
              <a:rPr lang="en-IN" smtClean="0"/>
              <a:t>26</a:t>
            </a:fld>
            <a:endParaRPr lang="en-IN"/>
          </a:p>
        </p:txBody>
      </p:sp>
    </p:spTree>
    <p:extLst>
      <p:ext uri="{BB962C8B-B14F-4D97-AF65-F5344CB8AC3E}">
        <p14:creationId xmlns:p14="http://schemas.microsoft.com/office/powerpoint/2010/main" val="1343917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613EC-4497-48A6-9A92-E231A5355E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E008A3-CBF9-4713-8C9B-AEEFDF056F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CDF7D6E-160A-45E8-9283-2EAC141EA31A}"/>
              </a:ext>
            </a:extLst>
          </p:cNvPr>
          <p:cNvSpPr>
            <a:spLocks noGrp="1"/>
          </p:cNvSpPr>
          <p:nvPr>
            <p:ph type="dt" sz="half" idx="10"/>
          </p:nvPr>
        </p:nvSpPr>
        <p:spPr/>
        <p:txBody>
          <a:bodyPr/>
          <a:lstStyle/>
          <a:p>
            <a:fld id="{DF0A5939-7D63-4F91-B4A3-A57DE16DEB60}" type="datetimeFigureOut">
              <a:rPr lang="en-IN" smtClean="0"/>
              <a:t>22-09-2024</a:t>
            </a:fld>
            <a:endParaRPr lang="en-IN"/>
          </a:p>
        </p:txBody>
      </p:sp>
      <p:sp>
        <p:nvSpPr>
          <p:cNvPr id="5" name="Footer Placeholder 4">
            <a:extLst>
              <a:ext uri="{FF2B5EF4-FFF2-40B4-BE49-F238E27FC236}">
                <a16:creationId xmlns:a16="http://schemas.microsoft.com/office/drawing/2014/main" id="{69BF25B5-BC6C-4CC5-BB68-2582E2529A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9EAEEE-20DE-438B-9CF9-3DE6FC5FBB1C}"/>
              </a:ext>
            </a:extLst>
          </p:cNvPr>
          <p:cNvSpPr>
            <a:spLocks noGrp="1"/>
          </p:cNvSpPr>
          <p:nvPr>
            <p:ph type="sldNum" sz="quarter" idx="12"/>
          </p:nvPr>
        </p:nvSpPr>
        <p:spPr/>
        <p:txBody>
          <a:bodyPr/>
          <a:lstStyle/>
          <a:p>
            <a:fld id="{6DA2DEE6-2BA8-4D31-B4CC-246F49174DCC}" type="slidenum">
              <a:rPr lang="en-IN" smtClean="0"/>
              <a:t>‹#›</a:t>
            </a:fld>
            <a:endParaRPr lang="en-IN"/>
          </a:p>
        </p:txBody>
      </p:sp>
    </p:spTree>
    <p:extLst>
      <p:ext uri="{BB962C8B-B14F-4D97-AF65-F5344CB8AC3E}">
        <p14:creationId xmlns:p14="http://schemas.microsoft.com/office/powerpoint/2010/main" val="65027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848EE-DE15-420F-8875-D198C5AB35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4C237E-D121-4436-93C6-FE54446839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E91B7D-CF0A-42B2-B6BC-3FB191999374}"/>
              </a:ext>
            </a:extLst>
          </p:cNvPr>
          <p:cNvSpPr>
            <a:spLocks noGrp="1"/>
          </p:cNvSpPr>
          <p:nvPr>
            <p:ph type="dt" sz="half" idx="10"/>
          </p:nvPr>
        </p:nvSpPr>
        <p:spPr/>
        <p:txBody>
          <a:bodyPr/>
          <a:lstStyle/>
          <a:p>
            <a:fld id="{DF0A5939-7D63-4F91-B4A3-A57DE16DEB60}" type="datetimeFigureOut">
              <a:rPr lang="en-IN" smtClean="0"/>
              <a:t>22-09-2024</a:t>
            </a:fld>
            <a:endParaRPr lang="en-IN"/>
          </a:p>
        </p:txBody>
      </p:sp>
      <p:sp>
        <p:nvSpPr>
          <p:cNvPr id="5" name="Footer Placeholder 4">
            <a:extLst>
              <a:ext uri="{FF2B5EF4-FFF2-40B4-BE49-F238E27FC236}">
                <a16:creationId xmlns:a16="http://schemas.microsoft.com/office/drawing/2014/main" id="{DD0A87ED-5187-4BE1-BDD2-4D645F8329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F09AA2-4D15-463F-B8D5-0E4FC42C0241}"/>
              </a:ext>
            </a:extLst>
          </p:cNvPr>
          <p:cNvSpPr>
            <a:spLocks noGrp="1"/>
          </p:cNvSpPr>
          <p:nvPr>
            <p:ph type="sldNum" sz="quarter" idx="12"/>
          </p:nvPr>
        </p:nvSpPr>
        <p:spPr/>
        <p:txBody>
          <a:bodyPr/>
          <a:lstStyle/>
          <a:p>
            <a:fld id="{6DA2DEE6-2BA8-4D31-B4CC-246F49174DCC}" type="slidenum">
              <a:rPr lang="en-IN" smtClean="0"/>
              <a:t>‹#›</a:t>
            </a:fld>
            <a:endParaRPr lang="en-IN"/>
          </a:p>
        </p:txBody>
      </p:sp>
    </p:spTree>
    <p:extLst>
      <p:ext uri="{BB962C8B-B14F-4D97-AF65-F5344CB8AC3E}">
        <p14:creationId xmlns:p14="http://schemas.microsoft.com/office/powerpoint/2010/main" val="1831063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D694B-CD04-41C9-BBBE-14F57C7B0B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191582A-91E6-4944-9172-5117E9451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E302CB-FE00-430C-9CE1-93C9EDE710B3}"/>
              </a:ext>
            </a:extLst>
          </p:cNvPr>
          <p:cNvSpPr>
            <a:spLocks noGrp="1"/>
          </p:cNvSpPr>
          <p:nvPr>
            <p:ph type="dt" sz="half" idx="10"/>
          </p:nvPr>
        </p:nvSpPr>
        <p:spPr/>
        <p:txBody>
          <a:bodyPr/>
          <a:lstStyle/>
          <a:p>
            <a:fld id="{DF0A5939-7D63-4F91-B4A3-A57DE16DEB60}" type="datetimeFigureOut">
              <a:rPr lang="en-IN" smtClean="0"/>
              <a:t>22-09-2024</a:t>
            </a:fld>
            <a:endParaRPr lang="en-IN"/>
          </a:p>
        </p:txBody>
      </p:sp>
      <p:sp>
        <p:nvSpPr>
          <p:cNvPr id="5" name="Footer Placeholder 4">
            <a:extLst>
              <a:ext uri="{FF2B5EF4-FFF2-40B4-BE49-F238E27FC236}">
                <a16:creationId xmlns:a16="http://schemas.microsoft.com/office/drawing/2014/main" id="{509A44FE-BCD7-41B1-9395-6AE86D5550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10B76F-42B0-4A37-83E5-7A29CD8BFDEC}"/>
              </a:ext>
            </a:extLst>
          </p:cNvPr>
          <p:cNvSpPr>
            <a:spLocks noGrp="1"/>
          </p:cNvSpPr>
          <p:nvPr>
            <p:ph type="sldNum" sz="quarter" idx="12"/>
          </p:nvPr>
        </p:nvSpPr>
        <p:spPr/>
        <p:txBody>
          <a:bodyPr/>
          <a:lstStyle/>
          <a:p>
            <a:fld id="{6DA2DEE6-2BA8-4D31-B4CC-246F49174DCC}" type="slidenum">
              <a:rPr lang="en-IN" smtClean="0"/>
              <a:t>‹#›</a:t>
            </a:fld>
            <a:endParaRPr lang="en-IN"/>
          </a:p>
        </p:txBody>
      </p:sp>
    </p:spTree>
    <p:extLst>
      <p:ext uri="{BB962C8B-B14F-4D97-AF65-F5344CB8AC3E}">
        <p14:creationId xmlns:p14="http://schemas.microsoft.com/office/powerpoint/2010/main" val="1425119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AE6D8-131A-402F-A92D-6D4458C593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2896FE-4ED7-4BB0-9836-1BE2A1CD9F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BD717CA-F5EA-43A1-9F7B-E5382BF17B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E78FC0B-645B-444D-A7AD-2B5A7F597522}"/>
              </a:ext>
            </a:extLst>
          </p:cNvPr>
          <p:cNvSpPr>
            <a:spLocks noGrp="1"/>
          </p:cNvSpPr>
          <p:nvPr>
            <p:ph type="dt" sz="half" idx="10"/>
          </p:nvPr>
        </p:nvSpPr>
        <p:spPr/>
        <p:txBody>
          <a:bodyPr/>
          <a:lstStyle/>
          <a:p>
            <a:fld id="{DF0A5939-7D63-4F91-B4A3-A57DE16DEB60}" type="datetimeFigureOut">
              <a:rPr lang="en-IN" smtClean="0"/>
              <a:t>22-09-2024</a:t>
            </a:fld>
            <a:endParaRPr lang="en-IN"/>
          </a:p>
        </p:txBody>
      </p:sp>
      <p:sp>
        <p:nvSpPr>
          <p:cNvPr id="6" name="Footer Placeholder 5">
            <a:extLst>
              <a:ext uri="{FF2B5EF4-FFF2-40B4-BE49-F238E27FC236}">
                <a16:creationId xmlns:a16="http://schemas.microsoft.com/office/drawing/2014/main" id="{1CF14EC8-962A-4F27-A99F-696CFB638D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9FD3DB-4AB4-403D-AF25-757632CDE289}"/>
              </a:ext>
            </a:extLst>
          </p:cNvPr>
          <p:cNvSpPr>
            <a:spLocks noGrp="1"/>
          </p:cNvSpPr>
          <p:nvPr>
            <p:ph type="sldNum" sz="quarter" idx="12"/>
          </p:nvPr>
        </p:nvSpPr>
        <p:spPr/>
        <p:txBody>
          <a:bodyPr/>
          <a:lstStyle/>
          <a:p>
            <a:fld id="{6DA2DEE6-2BA8-4D31-B4CC-246F49174DCC}" type="slidenum">
              <a:rPr lang="en-IN" smtClean="0"/>
              <a:t>‹#›</a:t>
            </a:fld>
            <a:endParaRPr lang="en-IN"/>
          </a:p>
        </p:txBody>
      </p:sp>
    </p:spTree>
    <p:extLst>
      <p:ext uri="{BB962C8B-B14F-4D97-AF65-F5344CB8AC3E}">
        <p14:creationId xmlns:p14="http://schemas.microsoft.com/office/powerpoint/2010/main" val="3401116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2FCB0-E1C6-475E-91C8-DF36920CF2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4213EE-6AAF-4D9D-A47C-8317C4B83C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AADA72-8789-42C1-BCE5-2C851B1F84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67B773C-BCA6-4F10-A264-39DD23AEF5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2F6FC1-7972-4EDE-BD8C-1D8F0F1E11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4FC8227-F549-4383-87CE-E4E81270AFCC}"/>
              </a:ext>
            </a:extLst>
          </p:cNvPr>
          <p:cNvSpPr>
            <a:spLocks noGrp="1"/>
          </p:cNvSpPr>
          <p:nvPr>
            <p:ph type="dt" sz="half" idx="10"/>
          </p:nvPr>
        </p:nvSpPr>
        <p:spPr/>
        <p:txBody>
          <a:bodyPr/>
          <a:lstStyle/>
          <a:p>
            <a:fld id="{DF0A5939-7D63-4F91-B4A3-A57DE16DEB60}" type="datetimeFigureOut">
              <a:rPr lang="en-IN" smtClean="0"/>
              <a:t>22-09-2024</a:t>
            </a:fld>
            <a:endParaRPr lang="en-IN"/>
          </a:p>
        </p:txBody>
      </p:sp>
      <p:sp>
        <p:nvSpPr>
          <p:cNvPr id="8" name="Footer Placeholder 7">
            <a:extLst>
              <a:ext uri="{FF2B5EF4-FFF2-40B4-BE49-F238E27FC236}">
                <a16:creationId xmlns:a16="http://schemas.microsoft.com/office/drawing/2014/main" id="{77B0C961-C599-44B1-952A-BB1DEA28035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2DC1F87-4134-4668-80D4-BDEA57BC6A4C}"/>
              </a:ext>
            </a:extLst>
          </p:cNvPr>
          <p:cNvSpPr>
            <a:spLocks noGrp="1"/>
          </p:cNvSpPr>
          <p:nvPr>
            <p:ph type="sldNum" sz="quarter" idx="12"/>
          </p:nvPr>
        </p:nvSpPr>
        <p:spPr/>
        <p:txBody>
          <a:bodyPr/>
          <a:lstStyle/>
          <a:p>
            <a:fld id="{6DA2DEE6-2BA8-4D31-B4CC-246F49174DCC}" type="slidenum">
              <a:rPr lang="en-IN" smtClean="0"/>
              <a:t>‹#›</a:t>
            </a:fld>
            <a:endParaRPr lang="en-IN"/>
          </a:p>
        </p:txBody>
      </p:sp>
    </p:spTree>
    <p:extLst>
      <p:ext uri="{BB962C8B-B14F-4D97-AF65-F5344CB8AC3E}">
        <p14:creationId xmlns:p14="http://schemas.microsoft.com/office/powerpoint/2010/main" val="172271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AA473-B622-479E-A32A-24D8997FA3B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54A03B8-2411-41A6-B4D1-7D3239DC444B}"/>
              </a:ext>
            </a:extLst>
          </p:cNvPr>
          <p:cNvSpPr>
            <a:spLocks noGrp="1"/>
          </p:cNvSpPr>
          <p:nvPr>
            <p:ph type="dt" sz="half" idx="10"/>
          </p:nvPr>
        </p:nvSpPr>
        <p:spPr/>
        <p:txBody>
          <a:bodyPr/>
          <a:lstStyle/>
          <a:p>
            <a:fld id="{DF0A5939-7D63-4F91-B4A3-A57DE16DEB60}" type="datetimeFigureOut">
              <a:rPr lang="en-IN" smtClean="0"/>
              <a:t>22-09-2024</a:t>
            </a:fld>
            <a:endParaRPr lang="en-IN"/>
          </a:p>
        </p:txBody>
      </p:sp>
      <p:sp>
        <p:nvSpPr>
          <p:cNvPr id="4" name="Footer Placeholder 3">
            <a:extLst>
              <a:ext uri="{FF2B5EF4-FFF2-40B4-BE49-F238E27FC236}">
                <a16:creationId xmlns:a16="http://schemas.microsoft.com/office/drawing/2014/main" id="{FE71A62D-FBFF-4019-930F-BDC66A0C8A0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3C875D6-587E-497B-9829-5CFBF2B518F0}"/>
              </a:ext>
            </a:extLst>
          </p:cNvPr>
          <p:cNvSpPr>
            <a:spLocks noGrp="1"/>
          </p:cNvSpPr>
          <p:nvPr>
            <p:ph type="sldNum" sz="quarter" idx="12"/>
          </p:nvPr>
        </p:nvSpPr>
        <p:spPr/>
        <p:txBody>
          <a:bodyPr/>
          <a:lstStyle/>
          <a:p>
            <a:fld id="{6DA2DEE6-2BA8-4D31-B4CC-246F49174DCC}" type="slidenum">
              <a:rPr lang="en-IN" smtClean="0"/>
              <a:t>‹#›</a:t>
            </a:fld>
            <a:endParaRPr lang="en-IN"/>
          </a:p>
        </p:txBody>
      </p:sp>
    </p:spTree>
    <p:extLst>
      <p:ext uri="{BB962C8B-B14F-4D97-AF65-F5344CB8AC3E}">
        <p14:creationId xmlns:p14="http://schemas.microsoft.com/office/powerpoint/2010/main" val="3227723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E4A1D6-E23E-4031-BFE2-59761401948C}"/>
              </a:ext>
            </a:extLst>
          </p:cNvPr>
          <p:cNvSpPr>
            <a:spLocks noGrp="1"/>
          </p:cNvSpPr>
          <p:nvPr>
            <p:ph type="dt" sz="half" idx="10"/>
          </p:nvPr>
        </p:nvSpPr>
        <p:spPr/>
        <p:txBody>
          <a:bodyPr/>
          <a:lstStyle/>
          <a:p>
            <a:fld id="{DF0A5939-7D63-4F91-B4A3-A57DE16DEB60}" type="datetimeFigureOut">
              <a:rPr lang="en-IN" smtClean="0"/>
              <a:t>22-09-2024</a:t>
            </a:fld>
            <a:endParaRPr lang="en-IN"/>
          </a:p>
        </p:txBody>
      </p:sp>
      <p:sp>
        <p:nvSpPr>
          <p:cNvPr id="3" name="Footer Placeholder 2">
            <a:extLst>
              <a:ext uri="{FF2B5EF4-FFF2-40B4-BE49-F238E27FC236}">
                <a16:creationId xmlns:a16="http://schemas.microsoft.com/office/drawing/2014/main" id="{730657D3-D00C-4DCD-A812-67E50E6AB33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52AC8CB-0193-42D0-A59A-4F0701FB60A8}"/>
              </a:ext>
            </a:extLst>
          </p:cNvPr>
          <p:cNvSpPr>
            <a:spLocks noGrp="1"/>
          </p:cNvSpPr>
          <p:nvPr>
            <p:ph type="sldNum" sz="quarter" idx="12"/>
          </p:nvPr>
        </p:nvSpPr>
        <p:spPr/>
        <p:txBody>
          <a:bodyPr/>
          <a:lstStyle/>
          <a:p>
            <a:fld id="{6DA2DEE6-2BA8-4D31-B4CC-246F49174DCC}" type="slidenum">
              <a:rPr lang="en-IN" smtClean="0"/>
              <a:t>‹#›</a:t>
            </a:fld>
            <a:endParaRPr lang="en-IN"/>
          </a:p>
        </p:txBody>
      </p:sp>
    </p:spTree>
    <p:extLst>
      <p:ext uri="{BB962C8B-B14F-4D97-AF65-F5344CB8AC3E}">
        <p14:creationId xmlns:p14="http://schemas.microsoft.com/office/powerpoint/2010/main" val="3078747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346FA-63E8-4DCD-8391-F243DDA597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C18CCC5-2957-4A47-B8D8-4FF4ED58C7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554006-C400-4B7E-8C59-C9CD05DBFC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97994C-6308-498A-B63F-A04E2DCACB08}"/>
              </a:ext>
            </a:extLst>
          </p:cNvPr>
          <p:cNvSpPr>
            <a:spLocks noGrp="1"/>
          </p:cNvSpPr>
          <p:nvPr>
            <p:ph type="dt" sz="half" idx="10"/>
          </p:nvPr>
        </p:nvSpPr>
        <p:spPr/>
        <p:txBody>
          <a:bodyPr/>
          <a:lstStyle/>
          <a:p>
            <a:fld id="{DF0A5939-7D63-4F91-B4A3-A57DE16DEB60}" type="datetimeFigureOut">
              <a:rPr lang="en-IN" smtClean="0"/>
              <a:t>22-09-2024</a:t>
            </a:fld>
            <a:endParaRPr lang="en-IN"/>
          </a:p>
        </p:txBody>
      </p:sp>
      <p:sp>
        <p:nvSpPr>
          <p:cNvPr id="6" name="Footer Placeholder 5">
            <a:extLst>
              <a:ext uri="{FF2B5EF4-FFF2-40B4-BE49-F238E27FC236}">
                <a16:creationId xmlns:a16="http://schemas.microsoft.com/office/drawing/2014/main" id="{9775AFC9-36F4-49A8-8A7D-89186C6204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97B47F-963D-418B-AB5D-A34E52F5E48E}"/>
              </a:ext>
            </a:extLst>
          </p:cNvPr>
          <p:cNvSpPr>
            <a:spLocks noGrp="1"/>
          </p:cNvSpPr>
          <p:nvPr>
            <p:ph type="sldNum" sz="quarter" idx="12"/>
          </p:nvPr>
        </p:nvSpPr>
        <p:spPr/>
        <p:txBody>
          <a:bodyPr/>
          <a:lstStyle/>
          <a:p>
            <a:fld id="{6DA2DEE6-2BA8-4D31-B4CC-246F49174DCC}" type="slidenum">
              <a:rPr lang="en-IN" smtClean="0"/>
              <a:t>‹#›</a:t>
            </a:fld>
            <a:endParaRPr lang="en-IN"/>
          </a:p>
        </p:txBody>
      </p:sp>
    </p:spTree>
    <p:extLst>
      <p:ext uri="{BB962C8B-B14F-4D97-AF65-F5344CB8AC3E}">
        <p14:creationId xmlns:p14="http://schemas.microsoft.com/office/powerpoint/2010/main" val="1215347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F0111-26BC-4ABF-BEDB-A8B6621115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BCA1FDC-C040-48AA-814C-3FF49270F6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665F3E1-4604-497E-84EF-E960F94626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AC6623-98CE-49A7-A5D0-F6F67DAF2768}"/>
              </a:ext>
            </a:extLst>
          </p:cNvPr>
          <p:cNvSpPr>
            <a:spLocks noGrp="1"/>
          </p:cNvSpPr>
          <p:nvPr>
            <p:ph type="dt" sz="half" idx="10"/>
          </p:nvPr>
        </p:nvSpPr>
        <p:spPr/>
        <p:txBody>
          <a:bodyPr/>
          <a:lstStyle/>
          <a:p>
            <a:fld id="{DF0A5939-7D63-4F91-B4A3-A57DE16DEB60}" type="datetimeFigureOut">
              <a:rPr lang="en-IN" smtClean="0"/>
              <a:t>22-09-2024</a:t>
            </a:fld>
            <a:endParaRPr lang="en-IN"/>
          </a:p>
        </p:txBody>
      </p:sp>
      <p:sp>
        <p:nvSpPr>
          <p:cNvPr id="6" name="Footer Placeholder 5">
            <a:extLst>
              <a:ext uri="{FF2B5EF4-FFF2-40B4-BE49-F238E27FC236}">
                <a16:creationId xmlns:a16="http://schemas.microsoft.com/office/drawing/2014/main" id="{0BC57504-711C-4645-BF9D-3547689D31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28C163-01D5-498B-95C6-5EB45743686B}"/>
              </a:ext>
            </a:extLst>
          </p:cNvPr>
          <p:cNvSpPr>
            <a:spLocks noGrp="1"/>
          </p:cNvSpPr>
          <p:nvPr>
            <p:ph type="sldNum" sz="quarter" idx="12"/>
          </p:nvPr>
        </p:nvSpPr>
        <p:spPr/>
        <p:txBody>
          <a:bodyPr/>
          <a:lstStyle/>
          <a:p>
            <a:fld id="{6DA2DEE6-2BA8-4D31-B4CC-246F49174DCC}" type="slidenum">
              <a:rPr lang="en-IN" smtClean="0"/>
              <a:t>‹#›</a:t>
            </a:fld>
            <a:endParaRPr lang="en-IN"/>
          </a:p>
        </p:txBody>
      </p:sp>
    </p:spTree>
    <p:extLst>
      <p:ext uri="{BB962C8B-B14F-4D97-AF65-F5344CB8AC3E}">
        <p14:creationId xmlns:p14="http://schemas.microsoft.com/office/powerpoint/2010/main" val="74300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FFB2D-53EE-4C0F-94D4-43FF5738B03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06F56C-8713-4392-BC57-DF1C2E726F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4D2DFC-4219-4762-9FEC-4A3F74804CDF}"/>
              </a:ext>
            </a:extLst>
          </p:cNvPr>
          <p:cNvSpPr>
            <a:spLocks noGrp="1"/>
          </p:cNvSpPr>
          <p:nvPr>
            <p:ph type="dt" sz="half" idx="10"/>
          </p:nvPr>
        </p:nvSpPr>
        <p:spPr/>
        <p:txBody>
          <a:bodyPr/>
          <a:lstStyle/>
          <a:p>
            <a:fld id="{DF0A5939-7D63-4F91-B4A3-A57DE16DEB60}" type="datetimeFigureOut">
              <a:rPr lang="en-IN" smtClean="0"/>
              <a:t>22-09-2024</a:t>
            </a:fld>
            <a:endParaRPr lang="en-IN"/>
          </a:p>
        </p:txBody>
      </p:sp>
      <p:sp>
        <p:nvSpPr>
          <p:cNvPr id="5" name="Footer Placeholder 4">
            <a:extLst>
              <a:ext uri="{FF2B5EF4-FFF2-40B4-BE49-F238E27FC236}">
                <a16:creationId xmlns:a16="http://schemas.microsoft.com/office/drawing/2014/main" id="{3B699544-4BB6-4AF2-A095-41448DAEFD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C974C0-C4FD-4FFD-8D2A-386EFEED3024}"/>
              </a:ext>
            </a:extLst>
          </p:cNvPr>
          <p:cNvSpPr>
            <a:spLocks noGrp="1"/>
          </p:cNvSpPr>
          <p:nvPr>
            <p:ph type="sldNum" sz="quarter" idx="12"/>
          </p:nvPr>
        </p:nvSpPr>
        <p:spPr/>
        <p:txBody>
          <a:bodyPr/>
          <a:lstStyle/>
          <a:p>
            <a:fld id="{6DA2DEE6-2BA8-4D31-B4CC-246F49174DCC}" type="slidenum">
              <a:rPr lang="en-IN" smtClean="0"/>
              <a:t>‹#›</a:t>
            </a:fld>
            <a:endParaRPr lang="en-IN"/>
          </a:p>
        </p:txBody>
      </p:sp>
    </p:spTree>
    <p:extLst>
      <p:ext uri="{BB962C8B-B14F-4D97-AF65-F5344CB8AC3E}">
        <p14:creationId xmlns:p14="http://schemas.microsoft.com/office/powerpoint/2010/main" val="789012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76B133-7B33-4AB7-88CB-B3A4F17B5A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23EEB7-51BA-4B71-9BC4-9A672BC6DB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B9F069-0367-4852-AD95-64F82B36A8B0}"/>
              </a:ext>
            </a:extLst>
          </p:cNvPr>
          <p:cNvSpPr>
            <a:spLocks noGrp="1"/>
          </p:cNvSpPr>
          <p:nvPr>
            <p:ph type="dt" sz="half" idx="10"/>
          </p:nvPr>
        </p:nvSpPr>
        <p:spPr/>
        <p:txBody>
          <a:bodyPr/>
          <a:lstStyle/>
          <a:p>
            <a:fld id="{DF0A5939-7D63-4F91-B4A3-A57DE16DEB60}" type="datetimeFigureOut">
              <a:rPr lang="en-IN" smtClean="0"/>
              <a:t>22-09-2024</a:t>
            </a:fld>
            <a:endParaRPr lang="en-IN"/>
          </a:p>
        </p:txBody>
      </p:sp>
      <p:sp>
        <p:nvSpPr>
          <p:cNvPr id="5" name="Footer Placeholder 4">
            <a:extLst>
              <a:ext uri="{FF2B5EF4-FFF2-40B4-BE49-F238E27FC236}">
                <a16:creationId xmlns:a16="http://schemas.microsoft.com/office/drawing/2014/main" id="{0EDE1832-C407-4CA6-A229-9FD52DAD6E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149569-C3E4-4226-ABBB-353AEC443B89}"/>
              </a:ext>
            </a:extLst>
          </p:cNvPr>
          <p:cNvSpPr>
            <a:spLocks noGrp="1"/>
          </p:cNvSpPr>
          <p:nvPr>
            <p:ph type="sldNum" sz="quarter" idx="12"/>
          </p:nvPr>
        </p:nvSpPr>
        <p:spPr/>
        <p:txBody>
          <a:bodyPr/>
          <a:lstStyle/>
          <a:p>
            <a:fld id="{6DA2DEE6-2BA8-4D31-B4CC-246F49174DCC}" type="slidenum">
              <a:rPr lang="en-IN" smtClean="0"/>
              <a:t>‹#›</a:t>
            </a:fld>
            <a:endParaRPr lang="en-IN"/>
          </a:p>
        </p:txBody>
      </p:sp>
    </p:spTree>
    <p:extLst>
      <p:ext uri="{BB962C8B-B14F-4D97-AF65-F5344CB8AC3E}">
        <p14:creationId xmlns:p14="http://schemas.microsoft.com/office/powerpoint/2010/main" val="3959501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115AE8-5689-42B6-960C-7EB9E7CBA7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6AB771-C927-46CC-BD6C-37D7092780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B7FF7F-0C81-4DD7-90DA-22DB05A29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0A5939-7D63-4F91-B4A3-A57DE16DEB60}" type="datetimeFigureOut">
              <a:rPr lang="en-IN" smtClean="0"/>
              <a:t>22-09-2024</a:t>
            </a:fld>
            <a:endParaRPr lang="en-IN"/>
          </a:p>
        </p:txBody>
      </p:sp>
      <p:sp>
        <p:nvSpPr>
          <p:cNvPr id="5" name="Footer Placeholder 4">
            <a:extLst>
              <a:ext uri="{FF2B5EF4-FFF2-40B4-BE49-F238E27FC236}">
                <a16:creationId xmlns:a16="http://schemas.microsoft.com/office/drawing/2014/main" id="{254DCF5A-5260-42C9-9939-11FF9A885D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B469D78-EEAB-44B7-AA6D-F19A432567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A2DEE6-2BA8-4D31-B4CC-246F49174DCC}" type="slidenum">
              <a:rPr lang="en-IN" smtClean="0"/>
              <a:t>‹#›</a:t>
            </a:fld>
            <a:endParaRPr lang="en-IN"/>
          </a:p>
        </p:txBody>
      </p:sp>
    </p:spTree>
    <p:extLst>
      <p:ext uri="{BB962C8B-B14F-4D97-AF65-F5344CB8AC3E}">
        <p14:creationId xmlns:p14="http://schemas.microsoft.com/office/powerpoint/2010/main" val="4104067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0215C-2E24-4D6F-B44E-A0F3F7691501}"/>
              </a:ext>
            </a:extLst>
          </p:cNvPr>
          <p:cNvSpPr>
            <a:spLocks noGrp="1"/>
          </p:cNvSpPr>
          <p:nvPr>
            <p:ph type="ctrTitle"/>
          </p:nvPr>
        </p:nvSpPr>
        <p:spPr/>
        <p:txBody>
          <a:bodyPr/>
          <a:lstStyle/>
          <a:p>
            <a:r>
              <a:rPr lang="en-US" dirty="0"/>
              <a:t>Feature Engineering</a:t>
            </a:r>
            <a:endParaRPr lang="en-IN" dirty="0"/>
          </a:p>
        </p:txBody>
      </p:sp>
      <p:sp>
        <p:nvSpPr>
          <p:cNvPr id="3" name="Subtitle 2">
            <a:extLst>
              <a:ext uri="{FF2B5EF4-FFF2-40B4-BE49-F238E27FC236}">
                <a16:creationId xmlns:a16="http://schemas.microsoft.com/office/drawing/2014/main" id="{9BEC2E65-9EA1-419E-966D-7D26AE16D02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269643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25E70-F356-48EE-8F8A-1E7AFD177759}"/>
              </a:ext>
            </a:extLst>
          </p:cNvPr>
          <p:cNvSpPr>
            <a:spLocks noGrp="1"/>
          </p:cNvSpPr>
          <p:nvPr>
            <p:ph type="title"/>
          </p:nvPr>
        </p:nvSpPr>
        <p:spPr/>
        <p:txBody>
          <a:bodyPr/>
          <a:lstStyle/>
          <a:p>
            <a:pPr algn="ctr"/>
            <a:r>
              <a:rPr lang="en-US" sz="2800" b="1" spc="-5" dirty="0">
                <a:solidFill>
                  <a:srgbClr val="3333FF"/>
                </a:solidFill>
                <a:latin typeface="Carlito"/>
              </a:rPr>
              <a:t>Feature Engineering</a:t>
            </a: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9DC85EFB-B14B-40C9-B1DF-E2A5839CB247}"/>
              </a:ext>
            </a:extLst>
          </p:cNvPr>
          <p:cNvSpPr>
            <a:spLocks noGrp="1"/>
          </p:cNvSpPr>
          <p:nvPr>
            <p:ph idx="1"/>
          </p:nvPr>
        </p:nvSpPr>
        <p:spPr/>
        <p:txBody>
          <a:bodyPr>
            <a:normAutofit/>
          </a:bodyPr>
          <a:lstStyle/>
          <a:p>
            <a:pPr algn="just"/>
            <a:r>
              <a:rPr lang="en-US" sz="2100" dirty="0">
                <a:latin typeface="Times New Roman" panose="02020603050405020304" pitchFamily="18" charset="0"/>
              </a:rPr>
              <a:t>Feature engineering means transforming raw data into a feature vector.</a:t>
            </a:r>
          </a:p>
          <a:p>
            <a:pPr algn="just"/>
            <a:r>
              <a:rPr lang="en-US" sz="2100" dirty="0">
                <a:latin typeface="Times New Roman" panose="02020603050405020304" pitchFamily="18" charset="0"/>
              </a:rPr>
              <a:t>Feature engineering is a very important aspect of machine learning and data science and should never be ignored. </a:t>
            </a:r>
            <a:r>
              <a:rPr lang="en-US" sz="2100" dirty="0">
                <a:solidFill>
                  <a:srgbClr val="FF0000"/>
                </a:solidFill>
                <a:latin typeface="Times New Roman" panose="02020603050405020304" pitchFamily="18" charset="0"/>
              </a:rPr>
              <a:t>The main goal of Feature engineering is to get the best results from the algorithms.</a:t>
            </a:r>
          </a:p>
          <a:p>
            <a:pPr algn="just"/>
            <a:r>
              <a:rPr lang="en-US" sz="2100" dirty="0">
                <a:latin typeface="Times New Roman" panose="02020603050405020304" pitchFamily="18" charset="0"/>
              </a:rPr>
              <a:t>The performance of the model is depending on data preprocessing and data handling. Suppose if we build a model without Handling data, we got an accuracy of around 70%. By applying the Feature engineering on the same model there is a chance to increase the performance from </a:t>
            </a:r>
            <a:r>
              <a:rPr lang="en-US" sz="2100" dirty="0">
                <a:solidFill>
                  <a:srgbClr val="FF0000"/>
                </a:solidFill>
                <a:latin typeface="Times New Roman" panose="02020603050405020304" pitchFamily="18" charset="0"/>
              </a:rPr>
              <a:t>70% to more.</a:t>
            </a:r>
          </a:p>
          <a:p>
            <a:pPr algn="just"/>
            <a:r>
              <a:rPr lang="en-US" sz="2100" dirty="0">
                <a:latin typeface="Times New Roman" panose="02020603050405020304" pitchFamily="18" charset="0"/>
              </a:rPr>
              <a:t>Simply, by using Feature Engineering we improve the performance of the model.</a:t>
            </a:r>
          </a:p>
          <a:p>
            <a:pPr marL="0" indent="0">
              <a:buNone/>
            </a:pPr>
            <a:endParaRPr lang="en-IN" dirty="0"/>
          </a:p>
        </p:txBody>
      </p:sp>
    </p:spTree>
    <p:extLst>
      <p:ext uri="{BB962C8B-B14F-4D97-AF65-F5344CB8AC3E}">
        <p14:creationId xmlns:p14="http://schemas.microsoft.com/office/powerpoint/2010/main" val="639129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B9B-441A-4288-A23A-687B252DD376}"/>
              </a:ext>
            </a:extLst>
          </p:cNvPr>
          <p:cNvSpPr>
            <a:spLocks noGrp="1"/>
          </p:cNvSpPr>
          <p:nvPr>
            <p:ph type="title"/>
          </p:nvPr>
        </p:nvSpPr>
        <p:spPr/>
        <p:txBody>
          <a:bodyPr/>
          <a:lstStyle/>
          <a:p>
            <a:r>
              <a:rPr lang="en-US" sz="2800" b="1" spc="-5" dirty="0">
                <a:solidFill>
                  <a:srgbClr val="3333FF"/>
                </a:solidFill>
                <a:latin typeface="Carlito"/>
              </a:rPr>
              <a:t>1. Feature Selection</a:t>
            </a: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96D71CB6-8D5E-45C7-8A04-63543CE50017}"/>
              </a:ext>
            </a:extLst>
          </p:cNvPr>
          <p:cNvSpPr>
            <a:spLocks noGrp="1"/>
          </p:cNvSpPr>
          <p:nvPr>
            <p:ph idx="1"/>
          </p:nvPr>
        </p:nvSpPr>
        <p:spPr/>
        <p:txBody>
          <a:bodyPr/>
          <a:lstStyle/>
          <a:p>
            <a:pPr algn="just"/>
            <a:r>
              <a:rPr lang="en-US" sz="2100" dirty="0">
                <a:latin typeface="Times New Roman" panose="02020603050405020304" pitchFamily="18" charset="0"/>
              </a:rPr>
              <a:t>Feature selection is nothing but a selection of required independent features. Selecting the </a:t>
            </a:r>
            <a:r>
              <a:rPr lang="en-US" sz="2100" dirty="0">
                <a:solidFill>
                  <a:srgbClr val="FF0000"/>
                </a:solidFill>
                <a:latin typeface="Times New Roman" panose="02020603050405020304" pitchFamily="18" charset="0"/>
              </a:rPr>
              <a:t>important independent </a:t>
            </a:r>
            <a:r>
              <a:rPr lang="en-US" sz="2100" dirty="0">
                <a:latin typeface="Times New Roman" panose="02020603050405020304" pitchFamily="18" charset="0"/>
              </a:rPr>
              <a:t>features </a:t>
            </a:r>
            <a:r>
              <a:rPr lang="en-US" sz="2100" dirty="0">
                <a:solidFill>
                  <a:srgbClr val="FF0000"/>
                </a:solidFill>
                <a:latin typeface="Times New Roman" panose="02020603050405020304" pitchFamily="18" charset="0"/>
              </a:rPr>
              <a:t>which have more relation with the dependent feature </a:t>
            </a:r>
            <a:r>
              <a:rPr lang="en-US" sz="2100" dirty="0">
                <a:latin typeface="Times New Roman" panose="02020603050405020304" pitchFamily="18" charset="0"/>
              </a:rPr>
              <a:t>will help to build a good model. There are some methods for feature selection:</a:t>
            </a:r>
          </a:p>
          <a:p>
            <a:pPr algn="just"/>
            <a:r>
              <a:rPr lang="en-IN" sz="2100" dirty="0">
                <a:latin typeface="Times New Roman" panose="02020603050405020304" pitchFamily="18" charset="0"/>
              </a:rPr>
              <a:t>Correlation  </a:t>
            </a:r>
          </a:p>
          <a:p>
            <a:pPr algn="just"/>
            <a:r>
              <a:rPr lang="en-IN" sz="2100" dirty="0">
                <a:latin typeface="Times New Roman" panose="02020603050405020304" pitchFamily="18" charset="0"/>
              </a:rPr>
              <a:t>Variance</a:t>
            </a:r>
          </a:p>
          <a:p>
            <a:pPr algn="just"/>
            <a:r>
              <a:rPr lang="en-IN" sz="2100" dirty="0">
                <a:latin typeface="Times New Roman" panose="02020603050405020304" pitchFamily="18" charset="0"/>
              </a:rPr>
              <a:t>Chi square test</a:t>
            </a:r>
          </a:p>
          <a:p>
            <a:pPr algn="just"/>
            <a:r>
              <a:rPr lang="en-IN" sz="2100" dirty="0">
                <a:latin typeface="Times New Roman" panose="02020603050405020304" pitchFamily="18" charset="0"/>
              </a:rPr>
              <a:t>Information gain</a:t>
            </a:r>
          </a:p>
          <a:p>
            <a:pPr algn="just"/>
            <a:endParaRPr lang="en-IN" sz="2100" dirty="0">
              <a:latin typeface="Times New Roman" panose="02020603050405020304" pitchFamily="18" charset="0"/>
            </a:endParaRPr>
          </a:p>
        </p:txBody>
      </p:sp>
    </p:spTree>
    <p:extLst>
      <p:ext uri="{BB962C8B-B14F-4D97-AF65-F5344CB8AC3E}">
        <p14:creationId xmlns:p14="http://schemas.microsoft.com/office/powerpoint/2010/main" val="3242071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F04D0-53D9-4F7F-8EDE-52A2684C1B5A}"/>
              </a:ext>
            </a:extLst>
          </p:cNvPr>
          <p:cNvSpPr>
            <a:spLocks noGrp="1"/>
          </p:cNvSpPr>
          <p:nvPr>
            <p:ph type="title"/>
          </p:nvPr>
        </p:nvSpPr>
        <p:spPr/>
        <p:txBody>
          <a:bodyPr/>
          <a:lstStyle/>
          <a:p>
            <a:r>
              <a:rPr lang="en-IN" sz="2800" b="1" spc="-5" dirty="0">
                <a:solidFill>
                  <a:srgbClr val="3333FF"/>
                </a:solidFill>
                <a:latin typeface="Carlito"/>
              </a:rPr>
              <a:t>1.1Correlation Matrix with Heatmap</a:t>
            </a:r>
            <a:br>
              <a:rPr lang="en-IN" b="0" i="0" dirty="0">
                <a:solidFill>
                  <a:srgbClr val="222222"/>
                </a:solidFill>
                <a:effectLst/>
                <a:latin typeface="Lato"/>
              </a:rPr>
            </a:br>
            <a:endParaRPr lang="en-IN" dirty="0"/>
          </a:p>
        </p:txBody>
      </p:sp>
      <p:sp>
        <p:nvSpPr>
          <p:cNvPr id="3" name="Content Placeholder 2">
            <a:extLst>
              <a:ext uri="{FF2B5EF4-FFF2-40B4-BE49-F238E27FC236}">
                <a16:creationId xmlns:a16="http://schemas.microsoft.com/office/drawing/2014/main" id="{DFC78571-1907-4BD9-85DC-8D96B662EFE1}"/>
              </a:ext>
            </a:extLst>
          </p:cNvPr>
          <p:cNvSpPr>
            <a:spLocks noGrp="1"/>
          </p:cNvSpPr>
          <p:nvPr>
            <p:ph idx="1"/>
          </p:nvPr>
        </p:nvSpPr>
        <p:spPr/>
        <p:txBody>
          <a:bodyPr/>
          <a:lstStyle/>
          <a:p>
            <a:pPr algn="just"/>
            <a:r>
              <a:rPr lang="en-US" sz="2100" dirty="0">
                <a:latin typeface="Times New Roman" panose="02020603050405020304" pitchFamily="18" charset="0"/>
              </a:rPr>
              <a:t>Heatmap is a graphical representation of 2D (two-dimensional) data. Each data value represents in a matrix.</a:t>
            </a:r>
          </a:p>
          <a:p>
            <a:pPr algn="just"/>
            <a:r>
              <a:rPr lang="en-US" sz="2100" dirty="0">
                <a:latin typeface="Times New Roman" panose="02020603050405020304" pitchFamily="18" charset="0"/>
              </a:rPr>
              <a:t>Firstly, plot the pair plot between all independent features and dependent features. It will give the relation between dependent and independent features. The relation between the independent feature and the dependent feature is less than 0.2 then choose that independent feature for building a model.</a:t>
            </a:r>
          </a:p>
          <a:p>
            <a:endParaRPr lang="en-IN" dirty="0"/>
          </a:p>
        </p:txBody>
      </p:sp>
    </p:spTree>
    <p:extLst>
      <p:ext uri="{BB962C8B-B14F-4D97-AF65-F5344CB8AC3E}">
        <p14:creationId xmlns:p14="http://schemas.microsoft.com/office/powerpoint/2010/main" val="4292718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322CD-B208-46ED-A93F-D9B6D5B01ECA}"/>
              </a:ext>
            </a:extLst>
          </p:cNvPr>
          <p:cNvSpPr>
            <a:spLocks noGrp="1"/>
          </p:cNvSpPr>
          <p:nvPr>
            <p:ph type="title"/>
          </p:nvPr>
        </p:nvSpPr>
        <p:spPr/>
        <p:txBody>
          <a:bodyPr/>
          <a:lstStyle/>
          <a:p>
            <a:r>
              <a:rPr lang="en-US" sz="2800" b="1" spc="-5" dirty="0">
                <a:solidFill>
                  <a:srgbClr val="3333FF"/>
                </a:solidFill>
                <a:latin typeface="Carlito"/>
              </a:rPr>
              <a:t>Heat map</a:t>
            </a:r>
            <a:endParaRPr lang="en-IN" sz="2800" b="1" spc="-5" dirty="0">
              <a:solidFill>
                <a:srgbClr val="3333FF"/>
              </a:solidFill>
              <a:latin typeface="Carlito"/>
            </a:endParaRPr>
          </a:p>
        </p:txBody>
      </p:sp>
      <p:pic>
        <p:nvPicPr>
          <p:cNvPr id="1026" name="Picture 2" descr=" Feature Engineering  correlation heatmap">
            <a:extLst>
              <a:ext uri="{FF2B5EF4-FFF2-40B4-BE49-F238E27FC236}">
                <a16:creationId xmlns:a16="http://schemas.microsoft.com/office/drawing/2014/main" id="{9FDE114E-B09A-40A2-B517-E183EF12E9C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83243" y="1690688"/>
            <a:ext cx="6100790" cy="5063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1909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C622D-AB16-40C5-9E48-390852B25F92}"/>
              </a:ext>
            </a:extLst>
          </p:cNvPr>
          <p:cNvSpPr>
            <a:spLocks noGrp="1"/>
          </p:cNvSpPr>
          <p:nvPr>
            <p:ph type="title"/>
          </p:nvPr>
        </p:nvSpPr>
        <p:spPr/>
        <p:txBody>
          <a:bodyPr/>
          <a:lstStyle/>
          <a:p>
            <a:r>
              <a:rPr lang="en-US" sz="2800" b="1" spc="-5" dirty="0">
                <a:solidFill>
                  <a:srgbClr val="3333FF"/>
                </a:solidFill>
                <a:latin typeface="Carlito"/>
              </a:rPr>
              <a:t>Correlation</a:t>
            </a: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6059A7D5-7D9D-4A8B-8159-1EFC2F1A6332}"/>
              </a:ext>
            </a:extLst>
          </p:cNvPr>
          <p:cNvSpPr>
            <a:spLocks noGrp="1"/>
          </p:cNvSpPr>
          <p:nvPr>
            <p:ph idx="1"/>
          </p:nvPr>
        </p:nvSpPr>
        <p:spPr/>
        <p:txBody>
          <a:bodyPr>
            <a:normAutofit lnSpcReduction="10000"/>
          </a:bodyPr>
          <a:lstStyle/>
          <a:p>
            <a:pPr algn="l"/>
            <a:r>
              <a:rPr lang="en-US" sz="2300" dirty="0">
                <a:latin typeface="Times New Roman" panose="02020603050405020304" pitchFamily="18" charset="0"/>
              </a:rPr>
              <a:t>Correlation is defined as a measure of the linear relationship between two quantitative variables, like height and weight. You could also define correlation is a measure of how strongly one variable depends on another.</a:t>
            </a:r>
          </a:p>
          <a:p>
            <a:pPr algn="l"/>
            <a:r>
              <a:rPr lang="en-US" sz="2300" dirty="0">
                <a:latin typeface="Times New Roman" panose="02020603050405020304" pitchFamily="18" charset="0"/>
              </a:rPr>
              <a:t>A high correlation is often a useful property—if two variables are highly correlated, we can predict one from the other. Therefore, we generally look for features that are highly correlated with the target, especially for linear machine learning models.</a:t>
            </a:r>
          </a:p>
          <a:p>
            <a:pPr algn="l"/>
            <a:r>
              <a:rPr lang="en-US" sz="2300" dirty="0">
                <a:latin typeface="Times New Roman" panose="02020603050405020304" pitchFamily="18" charset="0"/>
              </a:rPr>
              <a:t>However, if two variables are highly correlated among themselves, they provide redundant information in regards to the target. Essentially, we can make an accurate prediction on the target with just one of the redundant variables.</a:t>
            </a:r>
          </a:p>
          <a:p>
            <a:pPr algn="l"/>
            <a:r>
              <a:rPr lang="en-US" sz="2300" dirty="0">
                <a:latin typeface="Times New Roman" panose="02020603050405020304" pitchFamily="18" charset="0"/>
              </a:rPr>
              <a:t>In these cases, the second variable doesn’t add additional information, so removing it can help to reduce the dimensionality and also the added noise.</a:t>
            </a:r>
          </a:p>
          <a:p>
            <a:pPr algn="l"/>
            <a:r>
              <a:rPr lang="en-US" sz="2300" dirty="0">
                <a:latin typeface="Times New Roman" panose="02020603050405020304" pitchFamily="18" charset="0"/>
              </a:rPr>
              <a:t>There are a number of methods to measure the correlation between variables—let’s explore the most widely used ones.</a:t>
            </a:r>
          </a:p>
          <a:p>
            <a:endParaRPr lang="en-IN" dirty="0"/>
          </a:p>
        </p:txBody>
      </p:sp>
    </p:spTree>
    <p:extLst>
      <p:ext uri="{BB962C8B-B14F-4D97-AF65-F5344CB8AC3E}">
        <p14:creationId xmlns:p14="http://schemas.microsoft.com/office/powerpoint/2010/main" val="3559138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6601E-15B8-4FFF-80CA-558A4129D867}"/>
              </a:ext>
            </a:extLst>
          </p:cNvPr>
          <p:cNvSpPr>
            <a:spLocks noGrp="1"/>
          </p:cNvSpPr>
          <p:nvPr>
            <p:ph type="title"/>
          </p:nvPr>
        </p:nvSpPr>
        <p:spPr/>
        <p:txBody>
          <a:bodyPr/>
          <a:lstStyle/>
          <a:p>
            <a:r>
              <a:rPr lang="en-US" sz="2800" b="1" spc="-5" dirty="0">
                <a:solidFill>
                  <a:srgbClr val="3333FF"/>
                </a:solidFill>
                <a:latin typeface="Carlito"/>
              </a:rPr>
              <a:t>1.2 </a:t>
            </a:r>
            <a:r>
              <a:rPr lang="en-IN" sz="2800" b="1" spc="-5" dirty="0">
                <a:solidFill>
                  <a:srgbClr val="3333FF"/>
                </a:solidFill>
                <a:latin typeface="Carlito"/>
              </a:rPr>
              <a:t>Univariate Selection</a:t>
            </a:r>
            <a:br>
              <a:rPr lang="en-IN" b="0" i="0" dirty="0">
                <a:solidFill>
                  <a:srgbClr val="222222"/>
                </a:solidFill>
                <a:effectLst/>
                <a:latin typeface="Lato"/>
              </a:rPr>
            </a:br>
            <a:endParaRPr lang="en-IN" dirty="0"/>
          </a:p>
        </p:txBody>
      </p:sp>
      <p:sp>
        <p:nvSpPr>
          <p:cNvPr id="3" name="Content Placeholder 2">
            <a:extLst>
              <a:ext uri="{FF2B5EF4-FFF2-40B4-BE49-F238E27FC236}">
                <a16:creationId xmlns:a16="http://schemas.microsoft.com/office/drawing/2014/main" id="{1C911111-1D1D-42F0-AE2E-8F1A5D74E1D8}"/>
              </a:ext>
            </a:extLst>
          </p:cNvPr>
          <p:cNvSpPr>
            <a:spLocks noGrp="1"/>
          </p:cNvSpPr>
          <p:nvPr>
            <p:ph idx="1"/>
          </p:nvPr>
        </p:nvSpPr>
        <p:spPr/>
        <p:txBody>
          <a:bodyPr/>
          <a:lstStyle/>
          <a:p>
            <a:r>
              <a:rPr lang="en-US" sz="2300" dirty="0">
                <a:latin typeface="Times New Roman" panose="02020603050405020304" pitchFamily="18" charset="0"/>
              </a:rPr>
              <a:t>In this, Statistical tests can be used to select the independent features which have the strongest relationship with the dependent feature. </a:t>
            </a:r>
            <a:r>
              <a:rPr lang="en-US" sz="2300" dirty="0" err="1">
                <a:latin typeface="Times New Roman" panose="02020603050405020304" pitchFamily="18" charset="0"/>
              </a:rPr>
              <a:t>eg</a:t>
            </a:r>
            <a:r>
              <a:rPr lang="en-US" sz="2300" dirty="0">
                <a:latin typeface="Times New Roman" panose="02020603050405020304" pitchFamily="18" charset="0"/>
              </a:rPr>
              <a:t>,. Chi square test.</a:t>
            </a:r>
          </a:p>
          <a:p>
            <a:endParaRPr lang="en-IN" dirty="0"/>
          </a:p>
        </p:txBody>
      </p:sp>
    </p:spTree>
    <p:extLst>
      <p:ext uri="{BB962C8B-B14F-4D97-AF65-F5344CB8AC3E}">
        <p14:creationId xmlns:p14="http://schemas.microsoft.com/office/powerpoint/2010/main" val="453457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81FD5-C3C0-4EF9-8483-9A95468DA782}"/>
              </a:ext>
            </a:extLst>
          </p:cNvPr>
          <p:cNvSpPr>
            <a:spLocks noGrp="1"/>
          </p:cNvSpPr>
          <p:nvPr>
            <p:ph type="title"/>
          </p:nvPr>
        </p:nvSpPr>
        <p:spPr/>
        <p:txBody>
          <a:bodyPr/>
          <a:lstStyle/>
          <a:p>
            <a:r>
              <a:rPr lang="en-IN" sz="2800" b="1" spc="-5" dirty="0">
                <a:solidFill>
                  <a:srgbClr val="3333FF"/>
                </a:solidFill>
                <a:latin typeface="Carlito"/>
              </a:rPr>
              <a:t>Chi-squared Score</a:t>
            </a:r>
          </a:p>
        </p:txBody>
      </p:sp>
      <p:sp>
        <p:nvSpPr>
          <p:cNvPr id="3" name="Content Placeholder 2">
            <a:extLst>
              <a:ext uri="{FF2B5EF4-FFF2-40B4-BE49-F238E27FC236}">
                <a16:creationId xmlns:a16="http://schemas.microsoft.com/office/drawing/2014/main" id="{98255DB5-C0B6-49B8-878C-B8A3630E4613}"/>
              </a:ext>
            </a:extLst>
          </p:cNvPr>
          <p:cNvSpPr>
            <a:spLocks noGrp="1"/>
          </p:cNvSpPr>
          <p:nvPr>
            <p:ph idx="1"/>
          </p:nvPr>
        </p:nvSpPr>
        <p:spPr/>
        <p:txBody>
          <a:bodyPr/>
          <a:lstStyle/>
          <a:p>
            <a:pPr marL="0" indent="0" algn="l">
              <a:buNone/>
            </a:pPr>
            <a:endParaRPr lang="en-US" b="1" spc="-5" dirty="0">
              <a:solidFill>
                <a:srgbClr val="3333FF"/>
              </a:solidFill>
              <a:latin typeface="Carlito"/>
              <a:ea typeface="+mj-ea"/>
              <a:cs typeface="+mj-cs"/>
            </a:endParaRPr>
          </a:p>
          <a:p>
            <a:r>
              <a:rPr lang="en-US" sz="2300" dirty="0">
                <a:latin typeface="Times New Roman" panose="02020603050405020304" pitchFamily="18" charset="0"/>
              </a:rPr>
              <a:t>This is another statistical method that’s commonly used for testing relationships between categorical variables.</a:t>
            </a:r>
          </a:p>
          <a:p>
            <a:r>
              <a:rPr lang="en-US" sz="2300" dirty="0">
                <a:latin typeface="Times New Roman" panose="02020603050405020304" pitchFamily="18" charset="0"/>
              </a:rPr>
              <a:t>Therefore, it’s suited for categorical variables and binary targets only, and the variables should be non-negative and typically </a:t>
            </a:r>
            <a:r>
              <a:rPr lang="en-US" sz="2300" dirty="0" err="1">
                <a:latin typeface="Times New Roman" panose="02020603050405020304" pitchFamily="18" charset="0"/>
              </a:rPr>
              <a:t>boolean</a:t>
            </a:r>
            <a:r>
              <a:rPr lang="en-US" sz="2300" dirty="0">
                <a:latin typeface="Times New Roman" panose="02020603050405020304" pitchFamily="18" charset="0"/>
              </a:rPr>
              <a:t>, frequencies, or counts.</a:t>
            </a:r>
          </a:p>
          <a:p>
            <a:r>
              <a:rPr lang="en-US" sz="2300" dirty="0">
                <a:latin typeface="Times New Roman" panose="02020603050405020304" pitchFamily="18" charset="0"/>
              </a:rPr>
              <a:t>What it does is simply compare the observed distribution between various features in the dataset and the target variable.</a:t>
            </a:r>
          </a:p>
          <a:p>
            <a:endParaRPr lang="en-IN" dirty="0"/>
          </a:p>
        </p:txBody>
      </p:sp>
    </p:spTree>
    <p:extLst>
      <p:ext uri="{BB962C8B-B14F-4D97-AF65-F5344CB8AC3E}">
        <p14:creationId xmlns:p14="http://schemas.microsoft.com/office/powerpoint/2010/main" val="289394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37626-BB2E-42DF-9473-865B75AFB6E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8F05430-C001-4302-9799-F2345C248C80}"/>
              </a:ext>
            </a:extLst>
          </p:cNvPr>
          <p:cNvSpPr>
            <a:spLocks noGrp="1"/>
          </p:cNvSpPr>
          <p:nvPr>
            <p:ph idx="1"/>
          </p:nvPr>
        </p:nvSpPr>
        <p:spPr/>
        <p:txBody>
          <a:bodyPr/>
          <a:lstStyle/>
          <a:p>
            <a:r>
              <a:rPr lang="en-US" b="0" i="0" dirty="0">
                <a:solidFill>
                  <a:srgbClr val="292929"/>
                </a:solidFill>
                <a:effectLst/>
                <a:latin typeface="charter"/>
              </a:rPr>
              <a:t> </a:t>
            </a:r>
            <a:r>
              <a:rPr lang="en-US" sz="2300" dirty="0">
                <a:latin typeface="Times New Roman" panose="02020603050405020304" pitchFamily="18" charset="0"/>
              </a:rPr>
              <a:t>In feature selection, we aim to select the features which are highly dependent on the response.</a:t>
            </a:r>
          </a:p>
          <a:p>
            <a:r>
              <a:rPr lang="en-US" sz="2300" dirty="0">
                <a:latin typeface="Times New Roman" panose="02020603050405020304" pitchFamily="18" charset="0"/>
              </a:rPr>
              <a:t>When two features are independent, the observed count is close to the expected count, thus we will have smaller Chi-Square value. So high Chi-Square value indicates that the hypothesis of independence is incorrect. In simple words, higher the Chi-Square value the feature is more dependent on the response and it can be selected for model training.</a:t>
            </a:r>
          </a:p>
          <a:p>
            <a:endParaRPr lang="en-IN" dirty="0"/>
          </a:p>
        </p:txBody>
      </p:sp>
    </p:spTree>
    <p:extLst>
      <p:ext uri="{BB962C8B-B14F-4D97-AF65-F5344CB8AC3E}">
        <p14:creationId xmlns:p14="http://schemas.microsoft.com/office/powerpoint/2010/main" val="2560593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70169-95A6-4B2C-A114-84ED9D82F120}"/>
              </a:ext>
            </a:extLst>
          </p:cNvPr>
          <p:cNvSpPr>
            <a:spLocks noGrp="1"/>
          </p:cNvSpPr>
          <p:nvPr>
            <p:ph type="title"/>
          </p:nvPr>
        </p:nvSpPr>
        <p:spPr/>
        <p:txBody>
          <a:bodyPr/>
          <a:lstStyle/>
          <a:p>
            <a:r>
              <a:rPr lang="en-IN" b="0" i="0" dirty="0">
                <a:solidFill>
                  <a:srgbClr val="222222"/>
                </a:solidFill>
                <a:effectLst/>
                <a:latin typeface="Lato"/>
              </a:rPr>
              <a:t> </a:t>
            </a:r>
            <a:r>
              <a:rPr lang="en-IN" sz="3200" b="1" i="0" spc="-5" dirty="0">
                <a:solidFill>
                  <a:srgbClr val="3333FF"/>
                </a:solidFill>
                <a:effectLst/>
                <a:latin typeface="Carlito"/>
              </a:rPr>
              <a:t>2</a:t>
            </a:r>
            <a:r>
              <a:rPr lang="en-IN" sz="3200" b="1" spc="-5" dirty="0">
                <a:solidFill>
                  <a:srgbClr val="3333FF"/>
                </a:solidFill>
                <a:latin typeface="Carlito"/>
              </a:rPr>
              <a:t>. Handling Missing Values</a:t>
            </a:r>
            <a:br>
              <a:rPr lang="en-IN" b="0" i="0" dirty="0">
                <a:solidFill>
                  <a:srgbClr val="222222"/>
                </a:solidFill>
                <a:effectLst/>
                <a:latin typeface="Lato"/>
              </a:rPr>
            </a:br>
            <a:endParaRPr lang="en-IN" dirty="0"/>
          </a:p>
        </p:txBody>
      </p:sp>
      <p:sp>
        <p:nvSpPr>
          <p:cNvPr id="3" name="Content Placeholder 2">
            <a:extLst>
              <a:ext uri="{FF2B5EF4-FFF2-40B4-BE49-F238E27FC236}">
                <a16:creationId xmlns:a16="http://schemas.microsoft.com/office/drawing/2014/main" id="{F99413BC-C46E-4441-ABE2-FF296F2398E4}"/>
              </a:ext>
            </a:extLst>
          </p:cNvPr>
          <p:cNvSpPr>
            <a:spLocks noGrp="1"/>
          </p:cNvSpPr>
          <p:nvPr>
            <p:ph idx="1"/>
          </p:nvPr>
        </p:nvSpPr>
        <p:spPr/>
        <p:txBody>
          <a:bodyPr/>
          <a:lstStyle/>
          <a:p>
            <a:r>
              <a:rPr lang="en-US" sz="2300" dirty="0">
                <a:latin typeface="Times New Roman" panose="02020603050405020304" pitchFamily="18" charset="0"/>
              </a:rPr>
              <a:t>In some datasets, we got the NA values in features. It is nothing but missing data. By handling this type of data there are many ways:</a:t>
            </a:r>
          </a:p>
          <a:p>
            <a:r>
              <a:rPr lang="en-US" sz="2300" dirty="0">
                <a:latin typeface="Times New Roman" panose="02020603050405020304" pitchFamily="18" charset="0"/>
              </a:rPr>
              <a:t>In the missing value places, to replace the missing values with mean or median to numerical data and for categorical data with mode.</a:t>
            </a:r>
          </a:p>
          <a:p>
            <a:endParaRPr lang="en-IN" dirty="0"/>
          </a:p>
        </p:txBody>
      </p:sp>
    </p:spTree>
    <p:extLst>
      <p:ext uri="{BB962C8B-B14F-4D97-AF65-F5344CB8AC3E}">
        <p14:creationId xmlns:p14="http://schemas.microsoft.com/office/powerpoint/2010/main" val="1415881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36770-8711-4CD3-AD2D-ADA4DEFC0377}"/>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11AD5021-B496-489D-B59E-4BF71CBF6AD1}"/>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43000"/>
                    </a14:imgEffect>
                  </a14:imgLayer>
                </a14:imgProps>
              </a:ext>
            </a:extLst>
          </a:blip>
          <a:stretch>
            <a:fillRect/>
          </a:stretch>
        </p:blipFill>
        <p:spPr>
          <a:xfrm>
            <a:off x="1848708" y="694915"/>
            <a:ext cx="8317601" cy="4351338"/>
          </a:xfrm>
        </p:spPr>
      </p:pic>
      <p:pic>
        <p:nvPicPr>
          <p:cNvPr id="8" name="Picture 7">
            <a:extLst>
              <a:ext uri="{FF2B5EF4-FFF2-40B4-BE49-F238E27FC236}">
                <a16:creationId xmlns:a16="http://schemas.microsoft.com/office/drawing/2014/main" id="{F386F6B6-650C-4F2B-BF14-D5B46C6385E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36000"/>
                    </a14:imgEffect>
                  </a14:imgLayer>
                </a14:imgProps>
              </a:ext>
            </a:extLst>
          </a:blip>
          <a:stretch>
            <a:fillRect/>
          </a:stretch>
        </p:blipFill>
        <p:spPr>
          <a:xfrm>
            <a:off x="1602658" y="4956534"/>
            <a:ext cx="7536579" cy="1712544"/>
          </a:xfrm>
          <a:prstGeom prst="rect">
            <a:avLst/>
          </a:prstGeom>
        </p:spPr>
      </p:pic>
    </p:spTree>
    <p:extLst>
      <p:ext uri="{BB962C8B-B14F-4D97-AF65-F5344CB8AC3E}">
        <p14:creationId xmlns:p14="http://schemas.microsoft.com/office/powerpoint/2010/main" val="918163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99D1C-28F3-4FB6-AD3F-EAB22F288F62}"/>
              </a:ext>
            </a:extLst>
          </p:cNvPr>
          <p:cNvSpPr>
            <a:spLocks noGrp="1"/>
          </p:cNvSpPr>
          <p:nvPr>
            <p:ph type="title"/>
          </p:nvPr>
        </p:nvSpPr>
        <p:spPr/>
        <p:txBody>
          <a:bodyPr/>
          <a:lstStyle/>
          <a:p>
            <a:r>
              <a:rPr lang="en-IN" sz="3200" b="1" spc="-5" dirty="0">
                <a:solidFill>
                  <a:srgbClr val="3333FF"/>
                </a:solidFill>
                <a:latin typeface="Carlito"/>
              </a:rPr>
              <a:t>3. Handling imbalanced data</a:t>
            </a:r>
            <a:br>
              <a:rPr lang="en-IN" b="0" i="0" dirty="0">
                <a:solidFill>
                  <a:srgbClr val="222222"/>
                </a:solidFill>
                <a:effectLst/>
                <a:latin typeface="Lato"/>
              </a:rPr>
            </a:br>
            <a:endParaRPr lang="en-IN" dirty="0"/>
          </a:p>
        </p:txBody>
      </p:sp>
      <p:sp>
        <p:nvSpPr>
          <p:cNvPr id="3" name="Content Placeholder 2">
            <a:extLst>
              <a:ext uri="{FF2B5EF4-FFF2-40B4-BE49-F238E27FC236}">
                <a16:creationId xmlns:a16="http://schemas.microsoft.com/office/drawing/2014/main" id="{5D1B836F-1794-4C0B-A33C-53253980A73D}"/>
              </a:ext>
            </a:extLst>
          </p:cNvPr>
          <p:cNvSpPr>
            <a:spLocks noGrp="1"/>
          </p:cNvSpPr>
          <p:nvPr>
            <p:ph idx="1"/>
          </p:nvPr>
        </p:nvSpPr>
        <p:spPr/>
        <p:txBody>
          <a:bodyPr/>
          <a:lstStyle/>
          <a:p>
            <a:pPr marL="0" indent="0">
              <a:buNone/>
            </a:pPr>
            <a:endParaRPr lang="en-IN" dirty="0"/>
          </a:p>
        </p:txBody>
      </p:sp>
      <p:pic>
        <p:nvPicPr>
          <p:cNvPr id="6" name="Picture 5">
            <a:extLst>
              <a:ext uri="{FF2B5EF4-FFF2-40B4-BE49-F238E27FC236}">
                <a16:creationId xmlns:a16="http://schemas.microsoft.com/office/drawing/2014/main" id="{9097B7FB-5336-4E17-BFCA-A46B95ED8B05}"/>
              </a:ext>
            </a:extLst>
          </p:cNvPr>
          <p:cNvPicPr>
            <a:picLocks noChangeAspect="1"/>
          </p:cNvPicPr>
          <p:nvPr/>
        </p:nvPicPr>
        <p:blipFill>
          <a:blip r:embed="rId3"/>
          <a:stretch>
            <a:fillRect/>
          </a:stretch>
        </p:blipFill>
        <p:spPr>
          <a:xfrm>
            <a:off x="728048" y="2349500"/>
            <a:ext cx="10086975" cy="4143375"/>
          </a:xfrm>
          <a:prstGeom prst="rect">
            <a:avLst/>
          </a:prstGeom>
        </p:spPr>
      </p:pic>
      <p:sp>
        <p:nvSpPr>
          <p:cNvPr id="7" name="TextBox 6">
            <a:extLst>
              <a:ext uri="{FF2B5EF4-FFF2-40B4-BE49-F238E27FC236}">
                <a16:creationId xmlns:a16="http://schemas.microsoft.com/office/drawing/2014/main" id="{08654824-1818-4F3F-BAE0-25039AD69EC2}"/>
              </a:ext>
            </a:extLst>
          </p:cNvPr>
          <p:cNvSpPr txBox="1"/>
          <p:nvPr/>
        </p:nvSpPr>
        <p:spPr>
          <a:xfrm>
            <a:off x="6096000" y="5996763"/>
            <a:ext cx="5257800" cy="861774"/>
          </a:xfrm>
          <a:prstGeom prst="rect">
            <a:avLst/>
          </a:prstGeom>
          <a:noFill/>
        </p:spPr>
        <p:txBody>
          <a:bodyPr wrap="square" rtlCol="0">
            <a:spAutoFit/>
          </a:bodyPr>
          <a:lstStyle/>
          <a:p>
            <a:r>
              <a:rPr lang="en-US" sz="1600" dirty="0"/>
              <a:t>Under-sampling  the majority class and  </a:t>
            </a:r>
            <a:r>
              <a:rPr lang="en-US" sz="1600" b="0" i="0" dirty="0">
                <a:solidFill>
                  <a:srgbClr val="222222"/>
                </a:solidFill>
                <a:effectLst/>
                <a:latin typeface="Lato"/>
              </a:rPr>
              <a:t>Over Sampling Minority class by duplication</a:t>
            </a:r>
          </a:p>
          <a:p>
            <a:r>
              <a:rPr lang="en-US" dirty="0"/>
              <a:t> </a:t>
            </a:r>
            <a:endParaRPr lang="en-IN" dirty="0"/>
          </a:p>
        </p:txBody>
      </p:sp>
    </p:spTree>
    <p:extLst>
      <p:ext uri="{BB962C8B-B14F-4D97-AF65-F5344CB8AC3E}">
        <p14:creationId xmlns:p14="http://schemas.microsoft.com/office/powerpoint/2010/main" val="2486655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84C38-CED8-4D2E-A54A-848465B7DEA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080C56F-1557-462C-B8C1-696E3C0652BA}"/>
              </a:ext>
            </a:extLst>
          </p:cNvPr>
          <p:cNvSpPr>
            <a:spLocks noGrp="1"/>
          </p:cNvSpPr>
          <p:nvPr>
            <p:ph idx="1"/>
          </p:nvPr>
        </p:nvSpPr>
        <p:spPr/>
        <p:txBody>
          <a:bodyPr/>
          <a:lstStyle/>
          <a:p>
            <a:r>
              <a:rPr lang="en-US" sz="2300" dirty="0">
                <a:latin typeface="Times New Roman" panose="02020603050405020304" pitchFamily="18" charset="0"/>
              </a:rPr>
              <a:t>Under-sampling the majority class will resample the majority class points in the data to make them equal to the minority class.</a:t>
            </a:r>
          </a:p>
          <a:p>
            <a:r>
              <a:rPr lang="en-US" sz="2300" dirty="0">
                <a:latin typeface="Times New Roman" panose="02020603050405020304" pitchFamily="18" charset="0"/>
              </a:rPr>
              <a:t>Oversampling minority class will resample the minority class points in the data to make them equal to the majority class.</a:t>
            </a:r>
            <a:endParaRPr lang="en-IN" sz="2300" dirty="0">
              <a:latin typeface="Times New Roman" panose="02020603050405020304" pitchFamily="18" charset="0"/>
            </a:endParaRPr>
          </a:p>
        </p:txBody>
      </p:sp>
    </p:spTree>
    <p:extLst>
      <p:ext uri="{BB962C8B-B14F-4D97-AF65-F5344CB8AC3E}">
        <p14:creationId xmlns:p14="http://schemas.microsoft.com/office/powerpoint/2010/main" val="2984344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DFC86-4E50-49C4-A641-CEEAE77030C7}"/>
              </a:ext>
            </a:extLst>
          </p:cNvPr>
          <p:cNvSpPr>
            <a:spLocks noGrp="1"/>
          </p:cNvSpPr>
          <p:nvPr>
            <p:ph type="title"/>
          </p:nvPr>
        </p:nvSpPr>
        <p:spPr/>
        <p:txBody>
          <a:bodyPr/>
          <a:lstStyle/>
          <a:p>
            <a:r>
              <a:rPr lang="en-US" sz="3200" b="1" spc="-5" dirty="0">
                <a:solidFill>
                  <a:srgbClr val="3333FF"/>
                </a:solidFill>
                <a:latin typeface="Carlito"/>
              </a:rPr>
              <a:t>Under-sampling the majority class</a:t>
            </a:r>
            <a:endParaRPr lang="en-IN" sz="3200" b="1" spc="-5" dirty="0">
              <a:solidFill>
                <a:srgbClr val="3333FF"/>
              </a:solidFill>
              <a:latin typeface="Carlito"/>
            </a:endParaRPr>
          </a:p>
        </p:txBody>
      </p:sp>
      <p:sp>
        <p:nvSpPr>
          <p:cNvPr id="7" name="Content Placeholder 6">
            <a:extLst>
              <a:ext uri="{FF2B5EF4-FFF2-40B4-BE49-F238E27FC236}">
                <a16:creationId xmlns:a16="http://schemas.microsoft.com/office/drawing/2014/main" id="{B28579BC-1586-4B7E-876B-7DD654E05D6E}"/>
              </a:ext>
            </a:extLst>
          </p:cNvPr>
          <p:cNvSpPr>
            <a:spLocks noGrp="1"/>
          </p:cNvSpPr>
          <p:nvPr>
            <p:ph idx="1"/>
          </p:nvPr>
        </p:nvSpPr>
        <p:spPr/>
        <p:txBody>
          <a:bodyPr/>
          <a:lstStyle/>
          <a:p>
            <a:endParaRPr lang="en-IN" dirty="0"/>
          </a:p>
        </p:txBody>
      </p:sp>
      <p:pic>
        <p:nvPicPr>
          <p:cNvPr id="9" name="Picture 8">
            <a:extLst>
              <a:ext uri="{FF2B5EF4-FFF2-40B4-BE49-F238E27FC236}">
                <a16:creationId xmlns:a16="http://schemas.microsoft.com/office/drawing/2014/main" id="{39657895-234F-4C02-BD26-4848BBB5F25B}"/>
              </a:ext>
            </a:extLst>
          </p:cNvPr>
          <p:cNvPicPr>
            <a:picLocks noChangeAspect="1"/>
          </p:cNvPicPr>
          <p:nvPr/>
        </p:nvPicPr>
        <p:blipFill>
          <a:blip r:embed="rId3"/>
          <a:stretch>
            <a:fillRect/>
          </a:stretch>
        </p:blipFill>
        <p:spPr>
          <a:xfrm>
            <a:off x="2596560" y="1690688"/>
            <a:ext cx="6743700" cy="4362450"/>
          </a:xfrm>
          <a:prstGeom prst="rect">
            <a:avLst/>
          </a:prstGeom>
        </p:spPr>
      </p:pic>
    </p:spTree>
    <p:extLst>
      <p:ext uri="{BB962C8B-B14F-4D97-AF65-F5344CB8AC3E}">
        <p14:creationId xmlns:p14="http://schemas.microsoft.com/office/powerpoint/2010/main" val="888166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B6CAF-DA8F-4B17-BA0D-27D3AFDDC365}"/>
              </a:ext>
            </a:extLst>
          </p:cNvPr>
          <p:cNvSpPr>
            <a:spLocks noGrp="1"/>
          </p:cNvSpPr>
          <p:nvPr>
            <p:ph type="title"/>
          </p:nvPr>
        </p:nvSpPr>
        <p:spPr/>
        <p:txBody>
          <a:bodyPr/>
          <a:lstStyle/>
          <a:p>
            <a:r>
              <a:rPr lang="en-US" sz="4400" b="1" spc="-5" dirty="0">
                <a:solidFill>
                  <a:srgbClr val="3333FF"/>
                </a:solidFill>
                <a:latin typeface="Carlito"/>
              </a:rPr>
              <a:t>Over-sampling the minority class by duplication</a:t>
            </a:r>
            <a:endParaRPr lang="en-IN" dirty="0"/>
          </a:p>
        </p:txBody>
      </p:sp>
      <p:sp>
        <p:nvSpPr>
          <p:cNvPr id="7" name="Content Placeholder 6">
            <a:extLst>
              <a:ext uri="{FF2B5EF4-FFF2-40B4-BE49-F238E27FC236}">
                <a16:creationId xmlns:a16="http://schemas.microsoft.com/office/drawing/2014/main" id="{77011C2F-A90A-4DED-91D3-6F1D417C6521}"/>
              </a:ext>
            </a:extLst>
          </p:cNvPr>
          <p:cNvSpPr>
            <a:spLocks noGrp="1"/>
          </p:cNvSpPr>
          <p:nvPr>
            <p:ph idx="1"/>
          </p:nvPr>
        </p:nvSpPr>
        <p:spPr/>
        <p:txBody>
          <a:bodyPr/>
          <a:lstStyle/>
          <a:p>
            <a:r>
              <a:rPr lang="en-US" dirty="0"/>
              <a:t>Generate new samples from current samples by just duplicating</a:t>
            </a:r>
          </a:p>
          <a:p>
            <a:endParaRPr lang="en-IN" dirty="0"/>
          </a:p>
        </p:txBody>
      </p:sp>
      <p:pic>
        <p:nvPicPr>
          <p:cNvPr id="8" name="Content Placeholder 4">
            <a:extLst>
              <a:ext uri="{FF2B5EF4-FFF2-40B4-BE49-F238E27FC236}">
                <a16:creationId xmlns:a16="http://schemas.microsoft.com/office/drawing/2014/main" id="{9869754E-0606-49B7-8DD1-242E7BCDB0A1}"/>
              </a:ext>
            </a:extLst>
          </p:cNvPr>
          <p:cNvPicPr>
            <a:picLocks noChangeAspect="1"/>
          </p:cNvPicPr>
          <p:nvPr/>
        </p:nvPicPr>
        <p:blipFill>
          <a:blip r:embed="rId2"/>
          <a:stretch>
            <a:fillRect/>
          </a:stretch>
        </p:blipFill>
        <p:spPr>
          <a:xfrm>
            <a:off x="3606790" y="2402957"/>
            <a:ext cx="4978420" cy="4089917"/>
          </a:xfrm>
          <a:prstGeom prst="rect">
            <a:avLst/>
          </a:prstGeom>
        </p:spPr>
      </p:pic>
    </p:spTree>
    <p:extLst>
      <p:ext uri="{BB962C8B-B14F-4D97-AF65-F5344CB8AC3E}">
        <p14:creationId xmlns:p14="http://schemas.microsoft.com/office/powerpoint/2010/main" val="900071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152C2-4057-4F58-9FBF-C6CD323B359A}"/>
              </a:ext>
            </a:extLst>
          </p:cNvPr>
          <p:cNvSpPr>
            <a:spLocks noGrp="1"/>
          </p:cNvSpPr>
          <p:nvPr>
            <p:ph type="title"/>
          </p:nvPr>
        </p:nvSpPr>
        <p:spPr/>
        <p:txBody>
          <a:bodyPr>
            <a:noAutofit/>
          </a:bodyPr>
          <a:lstStyle/>
          <a:p>
            <a:pPr algn="ctr"/>
            <a:r>
              <a:rPr lang="en-US" sz="2800" b="1" spc="-5" dirty="0">
                <a:solidFill>
                  <a:srgbClr val="3333FF"/>
                </a:solidFill>
                <a:latin typeface="Carlito"/>
              </a:rPr>
              <a:t>Over sampling minority class using SMOTE</a:t>
            </a:r>
            <a:br>
              <a:rPr lang="en-US" sz="2800" b="1" spc="-5" dirty="0">
                <a:solidFill>
                  <a:srgbClr val="3333FF"/>
                </a:solidFill>
                <a:latin typeface="Carlito"/>
              </a:rPr>
            </a:br>
            <a:r>
              <a:rPr lang="en-IN" sz="2800" b="1" spc="-5" dirty="0">
                <a:solidFill>
                  <a:srgbClr val="3333FF"/>
                </a:solidFill>
                <a:latin typeface="Carlito"/>
              </a:rPr>
              <a:t>Synthetic Minority Oversampling Technique</a:t>
            </a:r>
          </a:p>
        </p:txBody>
      </p:sp>
      <p:sp>
        <p:nvSpPr>
          <p:cNvPr id="3" name="Content Placeholder 2">
            <a:extLst>
              <a:ext uri="{FF2B5EF4-FFF2-40B4-BE49-F238E27FC236}">
                <a16:creationId xmlns:a16="http://schemas.microsoft.com/office/drawing/2014/main" id="{45661050-7FCE-4C90-900F-6F8FDEC9A95E}"/>
              </a:ext>
            </a:extLst>
          </p:cNvPr>
          <p:cNvSpPr>
            <a:spLocks noGrp="1"/>
          </p:cNvSpPr>
          <p:nvPr>
            <p:ph idx="1"/>
          </p:nvPr>
        </p:nvSpPr>
        <p:spPr/>
        <p:txBody>
          <a:bodyPr/>
          <a:lstStyle/>
          <a:p>
            <a:pPr marL="0" indent="0">
              <a:buNone/>
            </a:pPr>
            <a:r>
              <a:rPr lang="en-US" dirty="0"/>
              <a:t>Generate synthetic examples using k nearest neighbors algo.</a:t>
            </a:r>
          </a:p>
          <a:p>
            <a:pPr marL="0" indent="0">
              <a:buNone/>
            </a:pPr>
            <a:endParaRPr lang="en-IN" dirty="0"/>
          </a:p>
        </p:txBody>
      </p:sp>
      <p:pic>
        <p:nvPicPr>
          <p:cNvPr id="7" name="Picture 6">
            <a:extLst>
              <a:ext uri="{FF2B5EF4-FFF2-40B4-BE49-F238E27FC236}">
                <a16:creationId xmlns:a16="http://schemas.microsoft.com/office/drawing/2014/main" id="{60D157DD-223C-43C1-95E6-7F3FF8DEEBC7}"/>
              </a:ext>
            </a:extLst>
          </p:cNvPr>
          <p:cNvPicPr>
            <a:picLocks noChangeAspect="1"/>
          </p:cNvPicPr>
          <p:nvPr/>
        </p:nvPicPr>
        <p:blipFill>
          <a:blip r:embed="rId2"/>
          <a:stretch>
            <a:fillRect/>
          </a:stretch>
        </p:blipFill>
        <p:spPr>
          <a:xfrm>
            <a:off x="3190875" y="2328530"/>
            <a:ext cx="5810250" cy="3786520"/>
          </a:xfrm>
          <a:prstGeom prst="rect">
            <a:avLst/>
          </a:prstGeom>
        </p:spPr>
      </p:pic>
    </p:spTree>
    <p:extLst>
      <p:ext uri="{BB962C8B-B14F-4D97-AF65-F5344CB8AC3E}">
        <p14:creationId xmlns:p14="http://schemas.microsoft.com/office/powerpoint/2010/main" val="2631167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33CF8-1115-4378-A610-1A749B4FA960}"/>
              </a:ext>
            </a:extLst>
          </p:cNvPr>
          <p:cNvSpPr>
            <a:spLocks noGrp="1"/>
          </p:cNvSpPr>
          <p:nvPr>
            <p:ph type="title"/>
          </p:nvPr>
        </p:nvSpPr>
        <p:spPr/>
        <p:txBody>
          <a:bodyPr>
            <a:normAutofit fontScale="90000"/>
          </a:bodyPr>
          <a:lstStyle/>
          <a:p>
            <a:br>
              <a:rPr lang="en-IN" b="0" i="0" dirty="0">
                <a:solidFill>
                  <a:srgbClr val="222222"/>
                </a:solidFill>
                <a:effectLst/>
                <a:latin typeface="Lato"/>
              </a:rPr>
            </a:br>
            <a:r>
              <a:rPr lang="en-IN" sz="3600" b="1" i="0" spc="-5" dirty="0">
                <a:solidFill>
                  <a:srgbClr val="3333FF"/>
                </a:solidFill>
                <a:effectLst/>
                <a:latin typeface="Carlito"/>
              </a:rPr>
              <a:t>4</a:t>
            </a:r>
            <a:r>
              <a:rPr lang="en-IN" sz="3600" b="1" spc="-5" dirty="0">
                <a:solidFill>
                  <a:srgbClr val="3333FF"/>
                </a:solidFill>
                <a:latin typeface="Carlito"/>
              </a:rPr>
              <a:t>. Handling outliers</a:t>
            </a:r>
            <a:br>
              <a:rPr lang="en-IN" sz="3600" b="1" spc="-5" dirty="0">
                <a:solidFill>
                  <a:srgbClr val="3333FF"/>
                </a:solidFill>
                <a:latin typeface="Carlito"/>
              </a:rPr>
            </a:br>
            <a:br>
              <a:rPr lang="en-IN" sz="3600" b="1" spc="-5" dirty="0">
                <a:solidFill>
                  <a:srgbClr val="3333FF"/>
                </a:solidFill>
                <a:latin typeface="Carlito"/>
              </a:rPr>
            </a:br>
            <a:endParaRPr lang="en-IN" sz="3600" b="1" spc="-5" dirty="0">
              <a:solidFill>
                <a:srgbClr val="3333FF"/>
              </a:solidFill>
              <a:latin typeface="Carlito"/>
            </a:endParaRPr>
          </a:p>
        </p:txBody>
      </p:sp>
      <p:sp>
        <p:nvSpPr>
          <p:cNvPr id="3" name="Content Placeholder 2">
            <a:extLst>
              <a:ext uri="{FF2B5EF4-FFF2-40B4-BE49-F238E27FC236}">
                <a16:creationId xmlns:a16="http://schemas.microsoft.com/office/drawing/2014/main" id="{91B3346E-EAEE-42EF-BE16-EE67C61A4ADA}"/>
              </a:ext>
            </a:extLst>
          </p:cNvPr>
          <p:cNvSpPr>
            <a:spLocks noGrp="1"/>
          </p:cNvSpPr>
          <p:nvPr>
            <p:ph idx="1"/>
          </p:nvPr>
        </p:nvSpPr>
        <p:spPr/>
        <p:txBody>
          <a:bodyPr/>
          <a:lstStyle/>
          <a:p>
            <a:r>
              <a:rPr lang="en-US" sz="2300" dirty="0">
                <a:latin typeface="Times New Roman" panose="02020603050405020304" pitchFamily="18" charset="0"/>
              </a:rPr>
              <a:t>Outliers are those data points that are significantly different from the rest of the dataset. They are often abnormal observations that skew the data distribution, and arise due to inconsistent data entry, or erroneous observations.</a:t>
            </a:r>
          </a:p>
          <a:p>
            <a:r>
              <a:rPr lang="en-US" sz="2300" dirty="0">
                <a:latin typeface="Times New Roman" panose="02020603050405020304" pitchFamily="18" charset="0"/>
              </a:rPr>
              <a:t>Calculating the skewness of the features and check whether they are positively skewed, negatively skewed, or normally skewed. Another method is to plot the boxplot to features and check if any values are out of bounds or not. if there, they are called outliers.</a:t>
            </a:r>
          </a:p>
          <a:p>
            <a:endParaRPr lang="en-IN" sz="2300" dirty="0">
              <a:latin typeface="Times New Roman" panose="02020603050405020304" pitchFamily="18" charset="0"/>
            </a:endParaRPr>
          </a:p>
        </p:txBody>
      </p:sp>
    </p:spTree>
    <p:extLst>
      <p:ext uri="{BB962C8B-B14F-4D97-AF65-F5344CB8AC3E}">
        <p14:creationId xmlns:p14="http://schemas.microsoft.com/office/powerpoint/2010/main" val="298163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C506B-48BC-4122-8817-82791733F367}"/>
              </a:ext>
            </a:extLst>
          </p:cNvPr>
          <p:cNvSpPr>
            <a:spLocks noGrp="1"/>
          </p:cNvSpPr>
          <p:nvPr>
            <p:ph type="title"/>
          </p:nvPr>
        </p:nvSpPr>
        <p:spPr/>
        <p:txBody>
          <a:bodyPr>
            <a:normAutofit fontScale="90000"/>
          </a:bodyPr>
          <a:lstStyle/>
          <a:p>
            <a:r>
              <a:rPr lang="en-US" sz="3600" b="1" spc="-5" dirty="0">
                <a:solidFill>
                  <a:srgbClr val="3333FF"/>
                </a:solidFill>
                <a:latin typeface="Carlito"/>
              </a:rPr>
              <a:t>how to handle these outliers: –</a:t>
            </a:r>
            <a:br>
              <a:rPr lang="en-US" sz="3600" b="1" spc="-5" dirty="0">
                <a:solidFill>
                  <a:srgbClr val="3333FF"/>
                </a:solidFill>
                <a:latin typeface="Carlito"/>
              </a:rPr>
            </a:br>
            <a:r>
              <a:rPr lang="en-US" sz="3600" b="1" spc="-5" dirty="0">
                <a:solidFill>
                  <a:srgbClr val="3333FF"/>
                </a:solidFill>
                <a:latin typeface="Carlito"/>
              </a:rPr>
              <a:t>first, calculate quantile values at 25% and 75%.</a:t>
            </a:r>
            <a:br>
              <a:rPr lang="en-US" sz="3600" b="1" spc="-5" dirty="0">
                <a:solidFill>
                  <a:srgbClr val="3333FF"/>
                </a:solidFill>
                <a:latin typeface="Carlito"/>
              </a:rPr>
            </a:br>
            <a:endParaRPr lang="en-IN" sz="3600" b="1" spc="-5" dirty="0">
              <a:solidFill>
                <a:srgbClr val="3333FF"/>
              </a:solidFill>
              <a:latin typeface="Carlito"/>
            </a:endParaRPr>
          </a:p>
        </p:txBody>
      </p:sp>
      <p:pic>
        <p:nvPicPr>
          <p:cNvPr id="5" name="Content Placeholder 4">
            <a:extLst>
              <a:ext uri="{FF2B5EF4-FFF2-40B4-BE49-F238E27FC236}">
                <a16:creationId xmlns:a16="http://schemas.microsoft.com/office/drawing/2014/main" id="{8747B27C-7E00-46F5-AEC1-989F0B73D011}"/>
              </a:ext>
            </a:extLst>
          </p:cNvPr>
          <p:cNvPicPr>
            <a:picLocks noGrp="1" noChangeAspect="1"/>
          </p:cNvPicPr>
          <p:nvPr>
            <p:ph idx="1"/>
          </p:nvPr>
        </p:nvPicPr>
        <p:blipFill>
          <a:blip r:embed="rId2"/>
          <a:stretch>
            <a:fillRect/>
          </a:stretch>
        </p:blipFill>
        <p:spPr>
          <a:xfrm>
            <a:off x="2974088" y="1825625"/>
            <a:ext cx="6243824" cy="4351338"/>
          </a:xfrm>
        </p:spPr>
      </p:pic>
    </p:spTree>
    <p:extLst>
      <p:ext uri="{BB962C8B-B14F-4D97-AF65-F5344CB8AC3E}">
        <p14:creationId xmlns:p14="http://schemas.microsoft.com/office/powerpoint/2010/main" val="2186558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D562A-78FA-42B0-B3FE-803C7B40986B}"/>
              </a:ext>
            </a:extLst>
          </p:cNvPr>
          <p:cNvSpPr>
            <a:spLocks noGrp="1"/>
          </p:cNvSpPr>
          <p:nvPr>
            <p:ph type="title"/>
          </p:nvPr>
        </p:nvSpPr>
        <p:spPr/>
        <p:txBody>
          <a:bodyPr/>
          <a:lstStyle/>
          <a:p>
            <a:endParaRPr lang="en-IN"/>
          </a:p>
        </p:txBody>
      </p:sp>
      <p:sp>
        <p:nvSpPr>
          <p:cNvPr id="7" name="Content Placeholder 6">
            <a:extLst>
              <a:ext uri="{FF2B5EF4-FFF2-40B4-BE49-F238E27FC236}">
                <a16:creationId xmlns:a16="http://schemas.microsoft.com/office/drawing/2014/main" id="{5EADF444-8840-4855-AB32-F441EDD9A198}"/>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BEF970F4-7621-4A04-9963-146CD04F30D6}"/>
              </a:ext>
            </a:extLst>
          </p:cNvPr>
          <p:cNvPicPr>
            <a:picLocks noChangeAspect="1"/>
          </p:cNvPicPr>
          <p:nvPr/>
        </p:nvPicPr>
        <p:blipFill>
          <a:blip r:embed="rId2"/>
          <a:stretch>
            <a:fillRect/>
          </a:stretch>
        </p:blipFill>
        <p:spPr>
          <a:xfrm>
            <a:off x="1309687" y="2134394"/>
            <a:ext cx="9572625" cy="3733800"/>
          </a:xfrm>
          <a:prstGeom prst="rect">
            <a:avLst/>
          </a:prstGeom>
        </p:spPr>
      </p:pic>
    </p:spTree>
    <p:extLst>
      <p:ext uri="{BB962C8B-B14F-4D97-AF65-F5344CB8AC3E}">
        <p14:creationId xmlns:p14="http://schemas.microsoft.com/office/powerpoint/2010/main" val="562016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2E114-BE4F-3806-E50D-E1DBFEF8C12B}"/>
              </a:ext>
            </a:extLst>
          </p:cNvPr>
          <p:cNvSpPr>
            <a:spLocks noGrp="1"/>
          </p:cNvSpPr>
          <p:nvPr>
            <p:ph type="title"/>
          </p:nvPr>
        </p:nvSpPr>
        <p:spPr/>
        <p:txBody>
          <a:bodyPr/>
          <a:lstStyle/>
          <a:p>
            <a:r>
              <a:rPr lang="en-IN" sz="3200" b="1" spc="-5" dirty="0">
                <a:solidFill>
                  <a:srgbClr val="3333FF"/>
                </a:solidFill>
                <a:latin typeface="Carlito"/>
              </a:rPr>
              <a:t>Box plot</a:t>
            </a:r>
          </a:p>
        </p:txBody>
      </p:sp>
      <p:pic>
        <p:nvPicPr>
          <p:cNvPr id="1026" name="Picture 2">
            <a:extLst>
              <a:ext uri="{FF2B5EF4-FFF2-40B4-BE49-F238E27FC236}">
                <a16:creationId xmlns:a16="http://schemas.microsoft.com/office/drawing/2014/main" id="{00850D33-F482-4F62-D368-F32F92450C8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47536" y="896395"/>
            <a:ext cx="6388442" cy="5716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7743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25F21-9BE0-811F-BBAA-32919673B9EA}"/>
              </a:ext>
            </a:extLst>
          </p:cNvPr>
          <p:cNvSpPr>
            <a:spLocks noGrp="1"/>
          </p:cNvSpPr>
          <p:nvPr>
            <p:ph type="title"/>
          </p:nvPr>
        </p:nvSpPr>
        <p:spPr/>
        <p:txBody>
          <a:bodyPr/>
          <a:lstStyle/>
          <a:p>
            <a:endParaRPr lang="en-IN"/>
          </a:p>
        </p:txBody>
      </p:sp>
      <p:pic>
        <p:nvPicPr>
          <p:cNvPr id="2050" name="Picture 2" descr="Dixon's Q test for outlier identification">
            <a:extLst>
              <a:ext uri="{FF2B5EF4-FFF2-40B4-BE49-F238E27FC236}">
                <a16:creationId xmlns:a16="http://schemas.microsoft.com/office/drawing/2014/main" id="{383D4D45-68A4-6C02-557A-393C94E73E8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46639" y="570870"/>
            <a:ext cx="6610864" cy="6144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989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B8C35-0B65-41F3-9BAC-6ABFAB03E45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B32C26A-2D81-4D7F-98BF-AFDFACA6BC53}"/>
              </a:ext>
            </a:extLst>
          </p:cNvPr>
          <p:cNvPicPr>
            <a:picLocks noGrp="1" noChangeAspect="1"/>
          </p:cNvPicPr>
          <p:nvPr>
            <p:ph idx="1"/>
          </p:nvPr>
        </p:nvPicPr>
        <p:blipFill>
          <a:blip r:embed="rId2"/>
          <a:stretch>
            <a:fillRect/>
          </a:stretch>
        </p:blipFill>
        <p:spPr>
          <a:xfrm>
            <a:off x="895350" y="2091531"/>
            <a:ext cx="10401300" cy="3819525"/>
          </a:xfrm>
        </p:spPr>
      </p:pic>
    </p:spTree>
    <p:extLst>
      <p:ext uri="{BB962C8B-B14F-4D97-AF65-F5344CB8AC3E}">
        <p14:creationId xmlns:p14="http://schemas.microsoft.com/office/powerpoint/2010/main" val="163573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EBEC7-D968-4E6F-90DF-9AB40DCBDC02}"/>
              </a:ext>
            </a:extLst>
          </p:cNvPr>
          <p:cNvSpPr>
            <a:spLocks noGrp="1"/>
          </p:cNvSpPr>
          <p:nvPr>
            <p:ph type="title"/>
          </p:nvPr>
        </p:nvSpPr>
        <p:spPr/>
        <p:txBody>
          <a:bodyPr/>
          <a:lstStyle/>
          <a:p>
            <a:r>
              <a:rPr lang="en-US" sz="3600" b="1" spc="-5" dirty="0">
                <a:solidFill>
                  <a:srgbClr val="3333FF"/>
                </a:solidFill>
                <a:latin typeface="Carlito"/>
              </a:rPr>
              <a:t>6. Encoding:</a:t>
            </a:r>
            <a:br>
              <a:rPr lang="en-US" sz="3600" b="1" spc="-5" dirty="0">
                <a:solidFill>
                  <a:srgbClr val="3333FF"/>
                </a:solidFill>
                <a:latin typeface="Carlito"/>
              </a:rPr>
            </a:br>
            <a:endParaRPr lang="en-IN" sz="3600" b="1" spc="-5" dirty="0">
              <a:solidFill>
                <a:srgbClr val="3333FF"/>
              </a:solidFill>
              <a:latin typeface="Carlito"/>
            </a:endParaRPr>
          </a:p>
        </p:txBody>
      </p:sp>
      <p:sp>
        <p:nvSpPr>
          <p:cNvPr id="3" name="Content Placeholder 2">
            <a:extLst>
              <a:ext uri="{FF2B5EF4-FFF2-40B4-BE49-F238E27FC236}">
                <a16:creationId xmlns:a16="http://schemas.microsoft.com/office/drawing/2014/main" id="{71E0B2C3-88DC-4708-A54B-579F14757152}"/>
              </a:ext>
            </a:extLst>
          </p:cNvPr>
          <p:cNvSpPr>
            <a:spLocks noGrp="1"/>
          </p:cNvSpPr>
          <p:nvPr>
            <p:ph idx="1"/>
          </p:nvPr>
        </p:nvSpPr>
        <p:spPr/>
        <p:txBody>
          <a:bodyPr/>
          <a:lstStyle/>
          <a:p>
            <a:r>
              <a:rPr lang="en-US" sz="2300" dirty="0">
                <a:latin typeface="Times New Roman" panose="02020603050405020304" pitchFamily="18" charset="0"/>
              </a:rPr>
              <a:t>Why this will apply? because in datasets we may contain object datatypes. for building a model we need to have all features are in integer datatypes. so, Label Encoder and </a:t>
            </a:r>
            <a:r>
              <a:rPr lang="en-US" sz="2300" dirty="0" err="1">
                <a:latin typeface="Times New Roman" panose="02020603050405020304" pitchFamily="18" charset="0"/>
              </a:rPr>
              <a:t>OneHotEncoder</a:t>
            </a:r>
            <a:r>
              <a:rPr lang="en-US" sz="2300" dirty="0">
                <a:latin typeface="Times New Roman" panose="02020603050405020304" pitchFamily="18" charset="0"/>
              </a:rPr>
              <a:t> are used to convert object datatype to integer datatype.</a:t>
            </a:r>
          </a:p>
          <a:p>
            <a:endParaRPr lang="en-IN" dirty="0"/>
          </a:p>
        </p:txBody>
      </p:sp>
    </p:spTree>
    <p:extLst>
      <p:ext uri="{BB962C8B-B14F-4D97-AF65-F5344CB8AC3E}">
        <p14:creationId xmlns:p14="http://schemas.microsoft.com/office/powerpoint/2010/main" val="14476768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FB500-45BD-4F49-9929-3DBAA50AAE0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47DFA65-A1EE-4DBA-8906-96E5B2B1E176}"/>
              </a:ext>
            </a:extLst>
          </p:cNvPr>
          <p:cNvPicPr>
            <a:picLocks noGrp="1" noChangeAspect="1"/>
          </p:cNvPicPr>
          <p:nvPr>
            <p:ph idx="1"/>
          </p:nvPr>
        </p:nvPicPr>
        <p:blipFill>
          <a:blip r:embed="rId3"/>
          <a:stretch>
            <a:fillRect/>
          </a:stretch>
        </p:blipFill>
        <p:spPr>
          <a:xfrm>
            <a:off x="407163" y="1868154"/>
            <a:ext cx="7760653" cy="4549661"/>
          </a:xfrm>
        </p:spPr>
      </p:pic>
      <p:pic>
        <p:nvPicPr>
          <p:cNvPr id="7" name="Picture 6">
            <a:extLst>
              <a:ext uri="{FF2B5EF4-FFF2-40B4-BE49-F238E27FC236}">
                <a16:creationId xmlns:a16="http://schemas.microsoft.com/office/drawing/2014/main" id="{8AA1A2BA-397A-412D-BC1A-FE39AD7838D7}"/>
              </a:ext>
            </a:extLst>
          </p:cNvPr>
          <p:cNvPicPr>
            <a:picLocks noChangeAspect="1"/>
          </p:cNvPicPr>
          <p:nvPr/>
        </p:nvPicPr>
        <p:blipFill>
          <a:blip r:embed="rId4"/>
          <a:stretch>
            <a:fillRect/>
          </a:stretch>
        </p:blipFill>
        <p:spPr>
          <a:xfrm>
            <a:off x="6464696" y="3151777"/>
            <a:ext cx="5320141" cy="2611069"/>
          </a:xfrm>
          <a:prstGeom prst="rect">
            <a:avLst/>
          </a:prstGeom>
        </p:spPr>
      </p:pic>
    </p:spTree>
    <p:extLst>
      <p:ext uri="{BB962C8B-B14F-4D97-AF65-F5344CB8AC3E}">
        <p14:creationId xmlns:p14="http://schemas.microsoft.com/office/powerpoint/2010/main" val="2633700602"/>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36D75-EA06-4B27-A85B-9CB17FD44196}"/>
              </a:ext>
            </a:extLst>
          </p:cNvPr>
          <p:cNvSpPr>
            <a:spLocks noGrp="1"/>
          </p:cNvSpPr>
          <p:nvPr>
            <p:ph type="title"/>
          </p:nvPr>
        </p:nvSpPr>
        <p:spPr/>
        <p:txBody>
          <a:bodyPr/>
          <a:lstStyle/>
          <a:p>
            <a:r>
              <a:rPr lang="en-US" sz="3600" b="1" spc="-5" dirty="0">
                <a:solidFill>
                  <a:srgbClr val="3333FF"/>
                </a:solidFill>
                <a:latin typeface="Carlito"/>
              </a:rPr>
              <a:t>7. Feature scaling</a:t>
            </a:r>
            <a:endParaRPr lang="en-IN" sz="3600" b="1" spc="-5" dirty="0">
              <a:solidFill>
                <a:srgbClr val="3333FF"/>
              </a:solidFill>
              <a:latin typeface="Carlito"/>
            </a:endParaRPr>
          </a:p>
        </p:txBody>
      </p:sp>
      <p:sp>
        <p:nvSpPr>
          <p:cNvPr id="3" name="Content Placeholder 2">
            <a:extLst>
              <a:ext uri="{FF2B5EF4-FFF2-40B4-BE49-F238E27FC236}">
                <a16:creationId xmlns:a16="http://schemas.microsoft.com/office/drawing/2014/main" id="{918E1168-E4B5-4C8A-9E9F-D66C2E4D96C9}"/>
              </a:ext>
            </a:extLst>
          </p:cNvPr>
          <p:cNvSpPr>
            <a:spLocks noGrp="1"/>
          </p:cNvSpPr>
          <p:nvPr>
            <p:ph idx="1"/>
          </p:nvPr>
        </p:nvSpPr>
        <p:spPr/>
        <p:txBody>
          <a:bodyPr/>
          <a:lstStyle/>
          <a:p>
            <a:r>
              <a:rPr lang="en-US" sz="2300" dirty="0">
                <a:latin typeface="Times New Roman" panose="02020603050405020304" pitchFamily="18" charset="0"/>
              </a:rPr>
              <a:t>Feature Scaling is a technique to standardize the independent features present in the data in a fixed range. It is performed during the data pre-processing.</a:t>
            </a:r>
          </a:p>
          <a:p>
            <a:r>
              <a:rPr lang="en-US" sz="2300" dirty="0">
                <a:latin typeface="Times New Roman" panose="02020603050405020304" pitchFamily="18" charset="0"/>
              </a:rPr>
              <a:t>Why this scaling is applying? because to reduce the </a:t>
            </a:r>
            <a:r>
              <a:rPr lang="en-US" sz="2300" dirty="0">
                <a:solidFill>
                  <a:srgbClr val="FF0000"/>
                </a:solidFill>
                <a:latin typeface="Times New Roman" panose="02020603050405020304" pitchFamily="18" charset="0"/>
              </a:rPr>
              <a:t>variance effect </a:t>
            </a:r>
            <a:r>
              <a:rPr lang="en-US" sz="2300" dirty="0">
                <a:latin typeface="Times New Roman" panose="02020603050405020304" pitchFamily="18" charset="0"/>
              </a:rPr>
              <a:t>and to overcome the fitting problem. There are two types of scaling methods:</a:t>
            </a:r>
          </a:p>
          <a:p>
            <a:r>
              <a:rPr lang="en-US" sz="2300" dirty="0">
                <a:latin typeface="Times New Roman" panose="02020603050405020304" pitchFamily="18" charset="0"/>
              </a:rPr>
              <a:t>1) Normalization</a:t>
            </a:r>
          </a:p>
          <a:p>
            <a:r>
              <a:rPr lang="en-US" sz="2300" dirty="0">
                <a:latin typeface="Times New Roman" panose="02020603050405020304" pitchFamily="18" charset="0"/>
              </a:rPr>
              <a:t>2) Standardization</a:t>
            </a:r>
          </a:p>
          <a:p>
            <a:endParaRPr lang="en-IN" dirty="0"/>
          </a:p>
        </p:txBody>
      </p:sp>
    </p:spTree>
    <p:extLst>
      <p:ext uri="{BB962C8B-B14F-4D97-AF65-F5344CB8AC3E}">
        <p14:creationId xmlns:p14="http://schemas.microsoft.com/office/powerpoint/2010/main" val="3799649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2D82C-86C5-4E19-97A5-F17CCEE84A3E}"/>
              </a:ext>
            </a:extLst>
          </p:cNvPr>
          <p:cNvSpPr>
            <a:spLocks noGrp="1"/>
          </p:cNvSpPr>
          <p:nvPr>
            <p:ph type="title"/>
          </p:nvPr>
        </p:nvSpPr>
        <p:spPr/>
        <p:txBody>
          <a:bodyPr/>
          <a:lstStyle/>
          <a:p>
            <a:r>
              <a:rPr lang="en-US" sz="3600" b="1" spc="-5" dirty="0">
                <a:solidFill>
                  <a:srgbClr val="3333FF"/>
                </a:solidFill>
                <a:latin typeface="Carlito"/>
              </a:rPr>
              <a:t>Normalization of data</a:t>
            </a:r>
            <a:endParaRPr lang="en-IN" sz="3600" b="1" spc="-5" dirty="0">
              <a:solidFill>
                <a:srgbClr val="3333FF"/>
              </a:solidFill>
              <a:latin typeface="Carlito"/>
            </a:endParaRPr>
          </a:p>
        </p:txBody>
      </p:sp>
      <p:sp>
        <p:nvSpPr>
          <p:cNvPr id="3" name="Content Placeholder 2">
            <a:extLst>
              <a:ext uri="{FF2B5EF4-FFF2-40B4-BE49-F238E27FC236}">
                <a16:creationId xmlns:a16="http://schemas.microsoft.com/office/drawing/2014/main" id="{678F63ED-F903-47C3-B178-A460914E2822}"/>
              </a:ext>
            </a:extLst>
          </p:cNvPr>
          <p:cNvSpPr>
            <a:spLocks noGrp="1"/>
          </p:cNvSpPr>
          <p:nvPr>
            <p:ph idx="1"/>
          </p:nvPr>
        </p:nvSpPr>
        <p:spPr>
          <a:xfrm>
            <a:off x="529855" y="1690688"/>
            <a:ext cx="10515600" cy="4351338"/>
          </a:xfrm>
        </p:spPr>
        <p:txBody>
          <a:bodyPr/>
          <a:lstStyle/>
          <a:p>
            <a:r>
              <a:rPr lang="en-US" sz="2300">
                <a:latin typeface="Times New Roman" panose="02020603050405020304" pitchFamily="18" charset="0"/>
              </a:rPr>
              <a:t>Normalization also makes the training process less sensitive by the scale of the features. This results in getting better coefficients after training. It scales the values between 0 and 1.</a:t>
            </a:r>
          </a:p>
          <a:p>
            <a:endParaRPr lang="en-US" sz="2300">
              <a:latin typeface="Times New Roman" panose="02020603050405020304" pitchFamily="18" charset="0"/>
            </a:endParaRPr>
          </a:p>
          <a:p>
            <a:pPr marL="0" indent="0" algn="l">
              <a:buNone/>
            </a:pPr>
            <a:endParaRPr lang="en-US" b="0" i="0">
              <a:solidFill>
                <a:srgbClr val="222222"/>
              </a:solidFill>
              <a:effectLst/>
              <a:latin typeface="Lato"/>
            </a:endParaRPr>
          </a:p>
          <a:p>
            <a:endParaRPr lang="en-IN" dirty="0"/>
          </a:p>
        </p:txBody>
      </p:sp>
      <p:pic>
        <p:nvPicPr>
          <p:cNvPr id="4098" name="Picture 2" descr="formula">
            <a:extLst>
              <a:ext uri="{FF2B5EF4-FFF2-40B4-BE49-F238E27FC236}">
                <a16:creationId xmlns:a16="http://schemas.microsoft.com/office/drawing/2014/main" id="{40B7E928-CBD4-466D-B364-1A312CB625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552" y="2881228"/>
            <a:ext cx="5906529" cy="2625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2899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C8D59-E63E-48FF-9FEC-49F35FC4E3E1}"/>
              </a:ext>
            </a:extLst>
          </p:cNvPr>
          <p:cNvSpPr>
            <a:spLocks noGrp="1"/>
          </p:cNvSpPr>
          <p:nvPr>
            <p:ph type="title"/>
          </p:nvPr>
        </p:nvSpPr>
        <p:spPr/>
        <p:txBody>
          <a:bodyPr/>
          <a:lstStyle/>
          <a:p>
            <a:r>
              <a:rPr lang="en-US" sz="3600" b="1" spc="-5" dirty="0">
                <a:solidFill>
                  <a:srgbClr val="3333FF"/>
                </a:solidFill>
                <a:latin typeface="Carlito"/>
              </a:rPr>
              <a:t>Method of normalization:</a:t>
            </a:r>
            <a:r>
              <a:rPr lang="en-IN" sz="3600" b="1" spc="-5" dirty="0" err="1">
                <a:solidFill>
                  <a:srgbClr val="3333FF"/>
                </a:solidFill>
                <a:latin typeface="Carlito"/>
              </a:rPr>
              <a:t>MinMaxScaler</a:t>
            </a:r>
            <a:br>
              <a:rPr lang="en-IN" sz="3600" b="1" spc="-5" dirty="0">
                <a:solidFill>
                  <a:srgbClr val="3333FF"/>
                </a:solidFill>
                <a:latin typeface="Carlito"/>
              </a:rPr>
            </a:br>
            <a:endParaRPr lang="en-IN" sz="3600" b="1" spc="-5" dirty="0">
              <a:solidFill>
                <a:srgbClr val="3333FF"/>
              </a:solidFill>
              <a:latin typeface="Carlito"/>
            </a:endParaRPr>
          </a:p>
        </p:txBody>
      </p:sp>
      <p:sp>
        <p:nvSpPr>
          <p:cNvPr id="3" name="Content Placeholder 2">
            <a:extLst>
              <a:ext uri="{FF2B5EF4-FFF2-40B4-BE49-F238E27FC236}">
                <a16:creationId xmlns:a16="http://schemas.microsoft.com/office/drawing/2014/main" id="{CA6D9D6F-8E84-4B04-AC8F-2A31BE6DFF90}"/>
              </a:ext>
            </a:extLst>
          </p:cNvPr>
          <p:cNvSpPr>
            <a:spLocks noGrp="1"/>
          </p:cNvSpPr>
          <p:nvPr>
            <p:ph idx="1"/>
          </p:nvPr>
        </p:nvSpPr>
        <p:spPr/>
        <p:txBody>
          <a:bodyPr/>
          <a:lstStyle/>
          <a:p>
            <a:r>
              <a:rPr lang="en-US" sz="2300" dirty="0">
                <a:latin typeface="Times New Roman" panose="02020603050405020304" pitchFamily="18" charset="0"/>
              </a:rPr>
              <a:t>It is a method to rescales the feature to a hard and fast range of [0,1] by subtracting the minimum value of the feature then dividing by the range.</a:t>
            </a:r>
            <a:endParaRPr lang="en-IN" sz="2300" dirty="0">
              <a:latin typeface="Times New Roman" panose="02020603050405020304" pitchFamily="18" charset="0"/>
            </a:endParaRPr>
          </a:p>
        </p:txBody>
      </p:sp>
    </p:spTree>
    <p:extLst>
      <p:ext uri="{BB962C8B-B14F-4D97-AF65-F5344CB8AC3E}">
        <p14:creationId xmlns:p14="http://schemas.microsoft.com/office/powerpoint/2010/main" val="3374958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D9DD0-EEB6-47CF-959D-AC08D2C2144F}"/>
              </a:ext>
            </a:extLst>
          </p:cNvPr>
          <p:cNvSpPr>
            <a:spLocks noGrp="1"/>
          </p:cNvSpPr>
          <p:nvPr>
            <p:ph type="title"/>
          </p:nvPr>
        </p:nvSpPr>
        <p:spPr/>
        <p:txBody>
          <a:bodyPr/>
          <a:lstStyle/>
          <a:p>
            <a:r>
              <a:rPr lang="en-US" sz="3600" b="1" spc="-5" dirty="0">
                <a:solidFill>
                  <a:srgbClr val="3333FF"/>
                </a:solidFill>
                <a:latin typeface="Carlito"/>
              </a:rPr>
              <a:t>Standardization</a:t>
            </a:r>
            <a:endParaRPr lang="en-IN" sz="3600" b="1" spc="-5" dirty="0">
              <a:solidFill>
                <a:srgbClr val="3333FF"/>
              </a:solidFill>
              <a:latin typeface="Carlito"/>
            </a:endParaRPr>
          </a:p>
        </p:txBody>
      </p:sp>
      <p:sp>
        <p:nvSpPr>
          <p:cNvPr id="3" name="Content Placeholder 2">
            <a:extLst>
              <a:ext uri="{FF2B5EF4-FFF2-40B4-BE49-F238E27FC236}">
                <a16:creationId xmlns:a16="http://schemas.microsoft.com/office/drawing/2014/main" id="{B9D4E844-FB39-4E05-973D-F815DB1BC2D9}"/>
              </a:ext>
            </a:extLst>
          </p:cNvPr>
          <p:cNvSpPr>
            <a:spLocks noGrp="1"/>
          </p:cNvSpPr>
          <p:nvPr>
            <p:ph idx="1"/>
          </p:nvPr>
        </p:nvSpPr>
        <p:spPr>
          <a:xfrm>
            <a:off x="657446" y="1678331"/>
            <a:ext cx="10515600" cy="4351338"/>
          </a:xfrm>
        </p:spPr>
        <p:txBody>
          <a:bodyPr/>
          <a:lstStyle/>
          <a:p>
            <a:r>
              <a:rPr lang="en-US" sz="2300" dirty="0">
                <a:latin typeface="Times New Roman" panose="02020603050405020304" pitchFamily="18" charset="0"/>
              </a:rPr>
              <a:t>Here all the features will be transformed in such a way that it will have properties of a standard normal distribution with mean 0 and standard deviation 1. It is a technique to standardize the independent features that present in a fixed range to bring all values to the same </a:t>
            </a:r>
            <a:r>
              <a:rPr lang="en-US" sz="2300" dirty="0" err="1">
                <a:latin typeface="Times New Roman" panose="02020603050405020304" pitchFamily="18" charset="0"/>
              </a:rPr>
              <a:t>magn</a:t>
            </a:r>
            <a:endParaRPr lang="en-US" sz="2300" dirty="0">
              <a:latin typeface="Times New Roman" panose="02020603050405020304" pitchFamily="18" charset="0"/>
            </a:endParaRPr>
          </a:p>
          <a:p>
            <a:endParaRPr lang="en-US" sz="2300" dirty="0">
              <a:latin typeface="Times New Roman" panose="02020603050405020304" pitchFamily="18" charset="0"/>
            </a:endParaRPr>
          </a:p>
          <a:p>
            <a:endParaRPr lang="en-IN" dirty="0"/>
          </a:p>
        </p:txBody>
      </p:sp>
      <p:pic>
        <p:nvPicPr>
          <p:cNvPr id="5122" name="Picture 2" descr="Standardization feature engineering steps">
            <a:extLst>
              <a:ext uri="{FF2B5EF4-FFF2-40B4-BE49-F238E27FC236}">
                <a16:creationId xmlns:a16="http://schemas.microsoft.com/office/drawing/2014/main" id="{E02829AD-9425-4AE2-AA20-48B910E147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5512" y="3529419"/>
            <a:ext cx="2000250" cy="847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82599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B011D-6652-8647-5175-EECF646AC81A}"/>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BB7A5F1E-A908-5CAD-B8D1-BE264E340376}"/>
              </a:ext>
            </a:extLst>
          </p:cNvPr>
          <p:cNvPicPr>
            <a:picLocks noGrp="1" noChangeAspect="1"/>
          </p:cNvPicPr>
          <p:nvPr>
            <p:ph idx="1"/>
          </p:nvPr>
        </p:nvPicPr>
        <p:blipFill>
          <a:blip r:embed="rId2"/>
          <a:stretch>
            <a:fillRect/>
          </a:stretch>
        </p:blipFill>
        <p:spPr>
          <a:xfrm>
            <a:off x="1476891" y="365125"/>
            <a:ext cx="9238218" cy="6396534"/>
          </a:xfrm>
        </p:spPr>
      </p:pic>
    </p:spTree>
    <p:extLst>
      <p:ext uri="{BB962C8B-B14F-4D97-AF65-F5344CB8AC3E}">
        <p14:creationId xmlns:p14="http://schemas.microsoft.com/office/powerpoint/2010/main" val="15948796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AA51F2482273D49AA688ECBD4ED120D" ma:contentTypeVersion="2" ma:contentTypeDescription="Create a new document." ma:contentTypeScope="" ma:versionID="94d0929a8e5b49ec6768899b47ff0d6c">
  <xsd:schema xmlns:xsd="http://www.w3.org/2001/XMLSchema" xmlns:xs="http://www.w3.org/2001/XMLSchema" xmlns:p="http://schemas.microsoft.com/office/2006/metadata/properties" xmlns:ns3="74867a37-27e7-453f-86ba-427d404ea058" targetNamespace="http://schemas.microsoft.com/office/2006/metadata/properties" ma:root="true" ma:fieldsID="c3bd2b68e4753f465539beb0be032b8b" ns3:_="">
    <xsd:import namespace="74867a37-27e7-453f-86ba-427d404ea058"/>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867a37-27e7-453f-86ba-427d404ea05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686EAE-A37C-41AB-A8C7-15F14566CFFE}">
  <ds:schemaRefs>
    <ds:schemaRef ds:uri="http://schemas.microsoft.com/office/2006/documentManagement/types"/>
    <ds:schemaRef ds:uri="74867a37-27e7-453f-86ba-427d404ea058"/>
    <ds:schemaRef ds:uri="http://schemas.openxmlformats.org/package/2006/metadata/core-properties"/>
    <ds:schemaRef ds:uri="http://www.w3.org/XML/1998/namespace"/>
    <ds:schemaRef ds:uri="http://purl.org/dc/elements/1.1/"/>
    <ds:schemaRef ds:uri="http://purl.org/dc/terms/"/>
    <ds:schemaRef ds:uri="http://purl.org/dc/dcmitype/"/>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0F8E40E-2D64-46ED-B460-0FAD790D81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4867a37-27e7-453f-86ba-427d404ea0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E09D1BE-86F0-4427-8C00-AA51255D78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6217</TotalTime>
  <Words>1123</Words>
  <Application>Microsoft Office PowerPoint</Application>
  <PresentationFormat>Widescreen</PresentationFormat>
  <Paragraphs>68</Paragraphs>
  <Slides>29</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Calibri Light</vt:lpstr>
      <vt:lpstr>Carlito</vt:lpstr>
      <vt:lpstr>charter</vt:lpstr>
      <vt:lpstr>Lato</vt:lpstr>
      <vt:lpstr>Times New Roman</vt:lpstr>
      <vt:lpstr>Office Theme</vt:lpstr>
      <vt:lpstr>Feature Engineering</vt:lpstr>
      <vt:lpstr>Feature Engineering</vt:lpstr>
      <vt:lpstr>1. Feature Selection</vt:lpstr>
      <vt:lpstr>1.1Correlation Matrix with Heatmap </vt:lpstr>
      <vt:lpstr>Heat map</vt:lpstr>
      <vt:lpstr>Correlation</vt:lpstr>
      <vt:lpstr>1.2 Univariate Selection </vt:lpstr>
      <vt:lpstr>Chi-squared Score</vt:lpstr>
      <vt:lpstr>PowerPoint Presentation</vt:lpstr>
      <vt:lpstr> 2. Handling Missing Values </vt:lpstr>
      <vt:lpstr>PowerPoint Presentation</vt:lpstr>
      <vt:lpstr>3. Handling imbalanced data </vt:lpstr>
      <vt:lpstr>PowerPoint Presentation</vt:lpstr>
      <vt:lpstr>Under-sampling the majority class</vt:lpstr>
      <vt:lpstr>Over-sampling the minority class by duplication</vt:lpstr>
      <vt:lpstr>Over sampling minority class using SMOTE Synthetic Minority Oversampling Technique</vt:lpstr>
      <vt:lpstr> 4. Handling outliers  </vt:lpstr>
      <vt:lpstr>how to handle these outliers: – first, calculate quantile values at 25% and 75%. </vt:lpstr>
      <vt:lpstr>PowerPoint Presentation</vt:lpstr>
      <vt:lpstr>Box plot</vt:lpstr>
      <vt:lpstr>PowerPoint Presentation</vt:lpstr>
      <vt:lpstr>PowerPoint Presentation</vt:lpstr>
      <vt:lpstr>6. Encoding: </vt:lpstr>
      <vt:lpstr>PowerPoint Presentation</vt:lpstr>
      <vt:lpstr>7. Feature scaling</vt:lpstr>
      <vt:lpstr>Normalization of data</vt:lpstr>
      <vt:lpstr>Method of normalization:MinMaxScaler </vt:lpstr>
      <vt:lpstr>Standardization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Feature Engineering</dc:title>
  <dc:creator>kriti ohri</dc:creator>
  <cp:lastModifiedBy>Kriti Ohri</cp:lastModifiedBy>
  <cp:revision>6</cp:revision>
  <dcterms:created xsi:type="dcterms:W3CDTF">2021-09-17T05:22:34Z</dcterms:created>
  <dcterms:modified xsi:type="dcterms:W3CDTF">2024-09-22T13:35:17Z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0x0101006AA51F2482273D49AA688ECBD4ED120D</vt:lpwstr>
  </property>
</Properties>
</file>