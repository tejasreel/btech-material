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4"/>
  </p:notesMasterIdLst>
  <p:sldIdLst>
    <p:sldId id="320" r:id="rId2"/>
    <p:sldId id="256" r:id="rId3"/>
    <p:sldId id="467" r:id="rId4"/>
    <p:sldId id="500" r:id="rId5"/>
    <p:sldId id="468" r:id="rId6"/>
    <p:sldId id="495" r:id="rId7"/>
    <p:sldId id="493" r:id="rId8"/>
    <p:sldId id="494" r:id="rId9"/>
    <p:sldId id="505" r:id="rId10"/>
    <p:sldId id="496" r:id="rId11"/>
    <p:sldId id="502" r:id="rId12"/>
    <p:sldId id="501" r:id="rId13"/>
    <p:sldId id="503" r:id="rId14"/>
    <p:sldId id="497" r:id="rId15"/>
    <p:sldId id="498" r:id="rId16"/>
    <p:sldId id="499" r:id="rId17"/>
    <p:sldId id="470" r:id="rId18"/>
    <p:sldId id="471" r:id="rId19"/>
    <p:sldId id="472" r:id="rId20"/>
    <p:sldId id="473" r:id="rId21"/>
    <p:sldId id="474" r:id="rId22"/>
    <p:sldId id="475" r:id="rId23"/>
    <p:sldId id="509" r:id="rId24"/>
    <p:sldId id="476" r:id="rId25"/>
    <p:sldId id="507" r:id="rId26"/>
    <p:sldId id="508" r:id="rId27"/>
    <p:sldId id="521" r:id="rId28"/>
    <p:sldId id="513" r:id="rId29"/>
    <p:sldId id="506" r:id="rId30"/>
    <p:sldId id="510" r:id="rId31"/>
    <p:sldId id="482" r:id="rId32"/>
    <p:sldId id="483" r:id="rId33"/>
    <p:sldId id="484" r:id="rId34"/>
    <p:sldId id="485" r:id="rId35"/>
    <p:sldId id="486" r:id="rId36"/>
    <p:sldId id="487" r:id="rId37"/>
    <p:sldId id="488" r:id="rId38"/>
    <p:sldId id="258" r:id="rId39"/>
    <p:sldId id="259" r:id="rId40"/>
    <p:sldId id="260" r:id="rId41"/>
    <p:sldId id="261" r:id="rId42"/>
    <p:sldId id="262" r:id="rId43"/>
    <p:sldId id="263" r:id="rId44"/>
    <p:sldId id="265" r:id="rId45"/>
    <p:sldId id="266" r:id="rId46"/>
    <p:sldId id="267" r:id="rId47"/>
    <p:sldId id="268" r:id="rId48"/>
    <p:sldId id="269" r:id="rId49"/>
    <p:sldId id="270" r:id="rId50"/>
    <p:sldId id="271" r:id="rId51"/>
    <p:sldId id="272" r:id="rId52"/>
    <p:sldId id="273" r:id="rId53"/>
    <p:sldId id="274" r:id="rId54"/>
    <p:sldId id="275" r:id="rId55"/>
    <p:sldId id="276" r:id="rId56"/>
    <p:sldId id="277" r:id="rId57"/>
    <p:sldId id="278" r:id="rId58"/>
    <p:sldId id="279" r:id="rId59"/>
    <p:sldId id="280" r:id="rId60"/>
    <p:sldId id="281" r:id="rId61"/>
    <p:sldId id="282" r:id="rId62"/>
    <p:sldId id="283" r:id="rId63"/>
    <p:sldId id="453" r:id="rId64"/>
    <p:sldId id="454" r:id="rId65"/>
    <p:sldId id="455" r:id="rId66"/>
    <p:sldId id="408" r:id="rId67"/>
    <p:sldId id="522" r:id="rId68"/>
    <p:sldId id="523" r:id="rId69"/>
    <p:sldId id="520" r:id="rId70"/>
    <p:sldId id="518" r:id="rId71"/>
    <p:sldId id="406" r:id="rId72"/>
    <p:sldId id="437" r:id="rId73"/>
    <p:sldId id="524" r:id="rId74"/>
    <p:sldId id="525" r:id="rId75"/>
    <p:sldId id="389" r:id="rId76"/>
    <p:sldId id="514" r:id="rId77"/>
    <p:sldId id="515" r:id="rId78"/>
    <p:sldId id="516" r:id="rId79"/>
    <p:sldId id="517" r:id="rId80"/>
    <p:sldId id="293" r:id="rId81"/>
    <p:sldId id="285" r:id="rId82"/>
    <p:sldId id="286" r:id="rId83"/>
    <p:sldId id="287" r:id="rId84"/>
    <p:sldId id="288" r:id="rId85"/>
    <p:sldId id="294" r:id="rId86"/>
    <p:sldId id="445" r:id="rId87"/>
    <p:sldId id="438" r:id="rId88"/>
    <p:sldId id="443" r:id="rId89"/>
    <p:sldId id="448" r:id="rId90"/>
    <p:sldId id="449" r:id="rId91"/>
    <p:sldId id="444" r:id="rId92"/>
    <p:sldId id="312" r:id="rId93"/>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riti ohri" initials="ko" lastIdx="2" clrIdx="0">
    <p:extLst>
      <p:ext uri="{19B8F6BF-5375-455C-9EA6-DF929625EA0E}">
        <p15:presenceInfo xmlns:p15="http://schemas.microsoft.com/office/powerpoint/2012/main" userId="5f460e859343ae9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109" d="100"/>
          <a:sy n="109" d="100"/>
        </p:scale>
        <p:origin x="734" y="8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commentAuthors" Target="commentAuthor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BC38E376-12D4-41B7-86B9-E8342FFE677A}" type="datetimeFigureOut">
              <a:rPr lang="en-IN" smtClean="0"/>
              <a:t>23-09-2024</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F881E9A0-BD96-43D8-B0E7-28BA6E3CF1A1}" type="slidenum">
              <a:rPr lang="en-IN" smtClean="0"/>
              <a:t>‹#›</a:t>
            </a:fld>
            <a:endParaRPr lang="en-IN"/>
          </a:p>
        </p:txBody>
      </p:sp>
    </p:spTree>
    <p:extLst>
      <p:ext uri="{BB962C8B-B14F-4D97-AF65-F5344CB8AC3E}">
        <p14:creationId xmlns:p14="http://schemas.microsoft.com/office/powerpoint/2010/main" val="3049242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6485DB-6355-47A6-ABCE-F416926EEF60}" type="slidenum">
              <a:rPr lang="en-IN" smtClean="0"/>
              <a:t>1</a:t>
            </a:fld>
            <a:endParaRPr lang="en-IN"/>
          </a:p>
        </p:txBody>
      </p:sp>
    </p:spTree>
    <p:extLst>
      <p:ext uri="{BB962C8B-B14F-4D97-AF65-F5344CB8AC3E}">
        <p14:creationId xmlns:p14="http://schemas.microsoft.com/office/powerpoint/2010/main" val="278051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881E9A0-BD96-43D8-B0E7-28BA6E3CF1A1}" type="slidenum">
              <a:rPr lang="en-IN" smtClean="0"/>
              <a:t>7</a:t>
            </a:fld>
            <a:endParaRPr lang="en-IN"/>
          </a:p>
        </p:txBody>
      </p:sp>
    </p:spTree>
    <p:extLst>
      <p:ext uri="{BB962C8B-B14F-4D97-AF65-F5344CB8AC3E}">
        <p14:creationId xmlns:p14="http://schemas.microsoft.com/office/powerpoint/2010/main" val="2186917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881E9A0-BD96-43D8-B0E7-28BA6E3CF1A1}" type="slidenum">
              <a:rPr lang="en-IN" smtClean="0"/>
              <a:t>49</a:t>
            </a:fld>
            <a:endParaRPr lang="en-IN"/>
          </a:p>
        </p:txBody>
      </p:sp>
    </p:spTree>
    <p:extLst>
      <p:ext uri="{BB962C8B-B14F-4D97-AF65-F5344CB8AC3E}">
        <p14:creationId xmlns:p14="http://schemas.microsoft.com/office/powerpoint/2010/main" val="2645500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931519" y="221361"/>
            <a:ext cx="7280960" cy="787400"/>
          </a:xfrm>
          <a:prstGeom prst="rect">
            <a:avLst/>
          </a:prstGeom>
        </p:spPr>
        <p:txBody>
          <a:bodyPr wrap="square" lIns="0" tIns="0" rIns="0" bIns="0">
            <a:spAutoFit/>
          </a:bodyPr>
          <a:lstStyle>
            <a:lvl1pPr>
              <a:defRPr sz="2500" b="0" i="0">
                <a:solidFill>
                  <a:schemeClr val="hlink"/>
                </a:solidFill>
                <a:latin typeface="Carlito"/>
                <a:cs typeface="Carlito"/>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hlink"/>
                </a:solidFill>
                <a:latin typeface="Carlito"/>
                <a:cs typeface="Carlito"/>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9/23/2024</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hlink"/>
                </a:solidFill>
                <a:latin typeface="Carlito"/>
                <a:cs typeface="Carlito"/>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9/23/2024</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9/23/2024</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612388" y="385953"/>
            <a:ext cx="1919223" cy="452119"/>
          </a:xfrm>
          <a:prstGeom prst="rect">
            <a:avLst/>
          </a:prstGeom>
        </p:spPr>
        <p:txBody>
          <a:bodyPr wrap="square" lIns="0" tIns="0" rIns="0" bIns="0">
            <a:spAutoFit/>
          </a:bodyPr>
          <a:lstStyle>
            <a:lvl1pPr>
              <a:defRPr sz="2800" b="0" i="0">
                <a:solidFill>
                  <a:schemeClr val="hlink"/>
                </a:solidFill>
                <a:latin typeface="Carlito"/>
                <a:cs typeface="Carlito"/>
              </a:defRPr>
            </a:lvl1pPr>
          </a:lstStyle>
          <a:p>
            <a:endParaRPr dirty="0"/>
          </a:p>
        </p:txBody>
      </p:sp>
      <p:sp>
        <p:nvSpPr>
          <p:cNvPr id="3" name="Holder 3"/>
          <p:cNvSpPr>
            <a:spLocks noGrp="1"/>
          </p:cNvSpPr>
          <p:nvPr>
            <p:ph type="body" idx="1"/>
          </p:nvPr>
        </p:nvSpPr>
        <p:spPr>
          <a:xfrm>
            <a:off x="535940" y="1216913"/>
            <a:ext cx="8072119" cy="3013710"/>
          </a:xfrm>
          <a:prstGeom prst="rect">
            <a:avLst/>
          </a:prstGeom>
        </p:spPr>
        <p:txBody>
          <a:bodyPr wrap="square" lIns="0" tIns="0" rIns="0" bIns="0">
            <a:spAutoFit/>
          </a:bodyPr>
          <a:lstStyle>
            <a:lvl1pPr>
              <a:defRPr b="0" i="0">
                <a:solidFill>
                  <a:schemeClr val="tx1"/>
                </a:solidFill>
              </a:defRPr>
            </a:lvl1pPr>
          </a:lstStyle>
          <a:p>
            <a:endParaRPr dirty="0"/>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76999"/>
          </a:xfrm>
          <a:prstGeom prst="rect">
            <a:avLst/>
          </a:prstGeom>
        </p:spPr>
        <p:txBody>
          <a:bodyPr wrap="square" lIns="0" tIns="0" rIns="0" bIns="0">
            <a:spAutoFit/>
          </a:bodyPr>
          <a:lstStyle>
            <a:lvl1pPr algn="l">
              <a:defRPr>
                <a:solidFill>
                  <a:schemeClr val="tx1">
                    <a:tint val="75000"/>
                  </a:schemeClr>
                </a:solidFill>
              </a:defRPr>
            </a:lvl1pPr>
          </a:lstStyle>
          <a:p>
            <a:endParaRPr lang="en-US" dirty="0"/>
          </a:p>
        </p:txBody>
      </p:sp>
      <p:sp>
        <p:nvSpPr>
          <p:cNvPr id="6" name="Holder 6"/>
          <p:cNvSpPr>
            <a:spLocks noGrp="1"/>
          </p:cNvSpPr>
          <p:nvPr>
            <p:ph type="sldNum" sz="quarter" idx="7"/>
          </p:nvPr>
        </p:nvSpPr>
        <p:spPr>
          <a:xfrm>
            <a:off x="8401557" y="4830038"/>
            <a:ext cx="231775" cy="178435"/>
          </a:xfrm>
          <a:prstGeom prst="rect">
            <a:avLst/>
          </a:prstGeom>
        </p:spPr>
        <p:txBody>
          <a:bodyPr wrap="square" lIns="0" tIns="0" rIns="0" bIns="0">
            <a:spAutoFit/>
          </a:bodyPr>
          <a:lstStyle>
            <a:lvl1pPr>
              <a:defRPr sz="1200" b="0" i="0">
                <a:solidFill>
                  <a:srgbClr val="888888"/>
                </a:solidFill>
                <a:latin typeface="Carlito"/>
                <a:cs typeface="Carlito"/>
              </a:defRPr>
            </a:lvl1pPr>
          </a:lstStyle>
          <a:p>
            <a:pPr marL="381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www.bing.com/ck/a?!&amp;&amp;p=9158114ba42c886bJmltdHM9MTY2ODU1NjgwMCZpZ3VpZD0zZWZjMWQzYy01ZDhiLTY1NzEtM2I1Yy0wYzhhNWM2MzY0ZDYmaW5zaWQ9NTIwOA&amp;ptn=3&amp;hsh=3&amp;fclid=3efc1d3c-5d8b-6571-3b5c-0c8a5c6364d6&amp;psq=deprtaement+of+computer+scoence+and+engimnerring&amp;u=a1aHR0cHM6Ly93d3cuc2N1LmVkdS9lbmdpbmVlcmluZy9hY2FkZW1pYy1wcm9ncmFtcy9kZXBhcnRtZW50LW9mLWNvbXB1dGVyLWVuZ2luZWVyaW5nLw&amp;ntb=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png"/><Relationship Id="rId3" Type="http://schemas.openxmlformats.org/officeDocument/2006/relationships/image" Target="../media/image3.jp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corporatefinanceinstitute.com/resources/knowledge/other/nominal-data/" TargetMode="External"/><Relationship Id="rId2" Type="http://schemas.openxmlformats.org/officeDocument/2006/relationships/hyperlink" Target="https://en.wikipedia.org/wiki/Ross_Quinlan"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4.xml"/><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14D4819-D7DD-F22A-4C68-D50A73BD631A}"/>
              </a:ext>
            </a:extLst>
          </p:cNvPr>
          <p:cNvSpPr>
            <a:spLocks noChangeArrowheads="1"/>
          </p:cNvSpPr>
          <p:nvPr/>
        </p:nvSpPr>
        <p:spPr bwMode="auto">
          <a:xfrm>
            <a:off x="193544" y="-47478"/>
            <a:ext cx="8851064" cy="3524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indent="342900" algn="ctr" defTabSz="685800" eaLnBrk="0" fontAlgn="base" hangingPunct="0">
              <a:spcBef>
                <a:spcPct val="0"/>
              </a:spcBef>
              <a:spcAft>
                <a:spcPct val="0"/>
              </a:spcAft>
            </a:pPr>
            <a:r>
              <a:rPr lang="en-US" altLang="en-US" sz="2100" b="1" dirty="0">
                <a:latin typeface="Cambria" panose="02040503050406030204" pitchFamily="18" charset="0"/>
                <a:ea typeface="Calibri" panose="020F0502020204030204" pitchFamily="34" charset="0"/>
                <a:cs typeface="Times New Roman" panose="02020603050405020304" pitchFamily="18" charset="0"/>
              </a:rPr>
              <a:t>VALLURUPALLI NAGESWARA RAO VIGNANA JYOTHI </a:t>
            </a:r>
            <a:r>
              <a:rPr lang="en-US" altLang="en-US" sz="2100" dirty="0"/>
              <a:t> </a:t>
            </a:r>
            <a:r>
              <a:rPr lang="en-US" altLang="en-US" sz="2100" b="1" dirty="0">
                <a:solidFill>
                  <a:srgbClr val="000000"/>
                </a:solidFill>
                <a:latin typeface="Cambria" panose="02040503050406030204" pitchFamily="18" charset="0"/>
                <a:ea typeface="Calibri" panose="020F0502020204030204" pitchFamily="34" charset="0"/>
                <a:cs typeface="Arial" panose="020B0604020202020204" pitchFamily="34" charset="0"/>
              </a:rPr>
              <a:t>INSTITUTE OF ENGINEERING AND TECHNOLOGY</a:t>
            </a:r>
            <a:endParaRPr lang="en-US" altLang="en-US" sz="2100" dirty="0"/>
          </a:p>
          <a:p>
            <a:pPr indent="342900" algn="ctr" defTabSz="685800" eaLnBrk="0" fontAlgn="base" hangingPunct="0">
              <a:spcBef>
                <a:spcPct val="0"/>
              </a:spcBef>
              <a:spcAft>
                <a:spcPct val="0"/>
              </a:spcAft>
            </a:pPr>
            <a:endParaRPr lang="en-US" altLang="en-US" sz="30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algn="ctr" defTabSz="685800" eaLnBrk="0" fontAlgn="base" hangingPunct="0">
              <a:spcBef>
                <a:spcPct val="0"/>
              </a:spcBef>
              <a:spcAft>
                <a:spcPct val="0"/>
              </a:spcAft>
            </a:pPr>
            <a:endPar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indent="342900" algn="ctr" defTabSz="685800" eaLnBrk="0" fontAlgn="base" hangingPunct="0">
              <a:spcBef>
                <a:spcPct val="0"/>
              </a:spcBef>
              <a:spcAft>
                <a:spcPct val="0"/>
              </a:spcAft>
            </a:pPr>
            <a:r>
              <a:rPr lang="en-US" altLang="en-US" sz="165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Department of Computer Science and Engineering </a:t>
            </a:r>
          </a:p>
          <a:p>
            <a:pPr indent="342900" algn="ctr" defTabSz="685800" eaLnBrk="0" fontAlgn="base" hangingPunct="0">
              <a:spcBef>
                <a:spcPct val="0"/>
              </a:spcBef>
              <a:spcAft>
                <a:spcPct val="0"/>
              </a:spcAft>
            </a:pPr>
            <a:r>
              <a:rPr lang="en-US" sz="1600" b="1" spc="-5" dirty="0">
                <a:latin typeface="Carlito"/>
                <a:ea typeface="+mj-ea"/>
              </a:rPr>
              <a:t>Decision Tree</a:t>
            </a:r>
          </a:p>
          <a:p>
            <a:pPr indent="342900" algn="ctr" defTabSz="685800" eaLnBrk="0" fontAlgn="base" hangingPunct="0">
              <a:spcBef>
                <a:spcPct val="0"/>
              </a:spcBef>
              <a:spcAft>
                <a:spcPct val="0"/>
              </a:spcAft>
            </a:pPr>
            <a:endParaRPr lang="en-US" altLang="en-US" dirty="0"/>
          </a:p>
          <a:p>
            <a:pPr indent="342900" defTabSz="685800" eaLnBrk="0" fontAlgn="base" hangingPunct="0">
              <a:spcBef>
                <a:spcPct val="0"/>
              </a:spcBef>
              <a:spcAft>
                <a:spcPct val="0"/>
              </a:spcAft>
            </a:pPr>
            <a:endParaRPr lang="en-US" altLang="en-US" sz="1350" dirty="0">
              <a:latin typeface="Arial" panose="020B0604020202020204" pitchFamily="34" charset="0"/>
            </a:endParaRPr>
          </a:p>
        </p:txBody>
      </p:sp>
      <p:pic>
        <p:nvPicPr>
          <p:cNvPr id="1025" name="Picture 3">
            <a:extLst>
              <a:ext uri="{FF2B5EF4-FFF2-40B4-BE49-F238E27FC236}">
                <a16:creationId xmlns:a16="http://schemas.microsoft.com/office/drawing/2014/main" id="{1F402572-1AC1-C244-FE3C-D3880CA04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7563" y="1001641"/>
            <a:ext cx="1343025" cy="125134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601E913-B864-500D-8186-0A789C882082}"/>
              </a:ext>
            </a:extLst>
          </p:cNvPr>
          <p:cNvSpPr>
            <a:spLocks noChangeArrowheads="1"/>
          </p:cNvSpPr>
          <p:nvPr/>
        </p:nvSpPr>
        <p:spPr bwMode="auto">
          <a:xfrm>
            <a:off x="3048613" y="3456714"/>
            <a:ext cx="314092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algn="ctr" defTabSz="685800" eaLnBrk="0" fontAlgn="base" hangingPunct="0">
              <a:spcBef>
                <a:spcPct val="0"/>
              </a:spcBef>
              <a:spcAft>
                <a:spcPct val="0"/>
              </a:spcAft>
            </a:pPr>
            <a:endParaRPr lang="en-US" altLang="en-US" sz="600" dirty="0"/>
          </a:p>
          <a:p>
            <a:pPr algn="ctr" defTabSz="685800" eaLnBrk="0" fontAlgn="base" hangingPunct="0">
              <a:spcBef>
                <a:spcPct val="0"/>
              </a:spcBef>
              <a:spcAft>
                <a:spcPct val="0"/>
              </a:spcAft>
            </a:pPr>
            <a:r>
              <a:rPr lang="en-US" altLang="en-US" sz="1350" b="1" dirty="0">
                <a:latin typeface="Adobe Caslon Pro"/>
                <a:ea typeface="Calibri" panose="020F0502020204030204" pitchFamily="34" charset="0"/>
                <a:cs typeface="Times New Roman" panose="02020603050405020304" pitchFamily="18" charset="0"/>
              </a:rPr>
              <a:t>MACHINE LEARNING</a:t>
            </a:r>
            <a:endParaRPr lang="en-US" altLang="en-US" sz="600" dirty="0"/>
          </a:p>
          <a:p>
            <a:pPr algn="ctr" defTabSz="685800" eaLnBrk="0" fontAlgn="base" hangingPunct="0">
              <a:spcBef>
                <a:spcPct val="0"/>
              </a:spcBef>
              <a:spcAft>
                <a:spcPct val="0"/>
              </a:spcAft>
            </a:pPr>
            <a:r>
              <a:rPr lang="en-US" altLang="en-US" sz="1050" b="1" dirty="0">
                <a:latin typeface="Adobe Caslon Pro"/>
                <a:ea typeface="Calibri" panose="020F0502020204030204" pitchFamily="34" charset="0"/>
                <a:cs typeface="Times New Roman" panose="02020603050405020304" pitchFamily="18" charset="0"/>
              </a:rPr>
              <a:t>BTech CSE (III Year-II Sem)</a:t>
            </a:r>
            <a:r>
              <a:rPr lang="en-US" altLang="en-US" sz="1350" b="1" dirty="0">
                <a:latin typeface="Adobe Caslon Pro"/>
                <a:ea typeface="Calibri" panose="020F0502020204030204" pitchFamily="34" charset="0"/>
                <a:cs typeface="Times New Roman" panose="02020603050405020304" pitchFamily="18" charset="0"/>
              </a:rPr>
              <a:t> </a:t>
            </a:r>
          </a:p>
          <a:p>
            <a:pPr algn="ctr" defTabSz="685800" eaLnBrk="0" fontAlgn="base" hangingPunct="0">
              <a:spcBef>
                <a:spcPct val="0"/>
              </a:spcBef>
              <a:spcAft>
                <a:spcPct val="0"/>
              </a:spcAft>
            </a:pPr>
            <a:r>
              <a:rPr lang="en-US" altLang="en-US" sz="1350" b="1" dirty="0">
                <a:latin typeface="Adobe Caslon Pro"/>
                <a:ea typeface="Calibri" panose="020F0502020204030204" pitchFamily="34" charset="0"/>
                <a:cs typeface="Times New Roman" panose="02020603050405020304" pitchFamily="18" charset="0"/>
              </a:rPr>
              <a:t>Dr. Kriti Ohri</a:t>
            </a:r>
            <a:endParaRPr lang="en-US" altLang="en-US" sz="600" dirty="0"/>
          </a:p>
          <a:p>
            <a:pPr algn="ctr" defTabSz="685800" eaLnBrk="0" fontAlgn="base" hangingPunct="0">
              <a:spcBef>
                <a:spcPct val="0"/>
              </a:spcBef>
              <a:spcAft>
                <a:spcPct val="0"/>
              </a:spcAft>
            </a:pPr>
            <a:r>
              <a:rPr lang="en-US" altLang="en-US" sz="1050" dirty="0">
                <a:latin typeface="Adobe Caslon Pro"/>
                <a:ea typeface="Calibri" panose="020F0502020204030204" pitchFamily="34" charset="0"/>
                <a:cs typeface="Times New Roman" panose="02020603050405020304" pitchFamily="18" charset="0"/>
              </a:rPr>
              <a:t>Assistant Professor</a:t>
            </a:r>
            <a:endParaRPr lang="en-US" altLang="en-US" sz="600" dirty="0"/>
          </a:p>
          <a:p>
            <a:pPr algn="ctr" defTabSz="685800" eaLnBrk="0" fontAlgn="base" hangingPunct="0">
              <a:spcBef>
                <a:spcPct val="0"/>
              </a:spcBef>
              <a:spcAft>
                <a:spcPct val="0"/>
              </a:spcAft>
            </a:pPr>
            <a:r>
              <a:rPr lang="en-US" altLang="en-US" sz="1050" dirty="0">
                <a:latin typeface="Adobe Caslon Pro"/>
                <a:ea typeface="Calibri" panose="020F0502020204030204" pitchFamily="34" charset="0"/>
                <a:cs typeface="Times New Roman" panose="02020603050405020304" pitchFamily="18" charset="0"/>
                <a:hlinkClick r:id="rId4"/>
              </a:rPr>
              <a:t>Department of Computer Science and Engineering</a:t>
            </a:r>
            <a:endParaRPr lang="en-US" altLang="en-US" sz="1350" dirty="0">
              <a:latin typeface="Arial" panose="020B0604020202020204" pitchFamily="34" charset="0"/>
            </a:endParaRPr>
          </a:p>
        </p:txBody>
      </p:sp>
      <p:sp>
        <p:nvSpPr>
          <p:cNvPr id="5" name="Footer Placeholder 4">
            <a:extLst>
              <a:ext uri="{FF2B5EF4-FFF2-40B4-BE49-F238E27FC236}">
                <a16:creationId xmlns:a16="http://schemas.microsoft.com/office/drawing/2014/main" id="{FF3375C2-6977-6830-5E74-51E3850230E9}"/>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Machine Learning</a:t>
            </a:r>
          </a:p>
        </p:txBody>
      </p:sp>
      <p:sp>
        <p:nvSpPr>
          <p:cNvPr id="7" name="Date Placeholder 6">
            <a:extLst>
              <a:ext uri="{FF2B5EF4-FFF2-40B4-BE49-F238E27FC236}">
                <a16:creationId xmlns:a16="http://schemas.microsoft.com/office/drawing/2014/main" id="{104C03E4-1F28-2FB0-9B80-AE079E772F4D}"/>
              </a:ext>
            </a:extLst>
          </p:cNvPr>
          <p:cNvSpPr>
            <a:spLocks noGrp="1"/>
          </p:cNvSpPr>
          <p:nvPr>
            <p:ph type="dt" sz="half"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Kriti Ohri</a:t>
            </a:r>
            <a:endParaRPr lang="en-IN"/>
          </a:p>
        </p:txBody>
      </p:sp>
    </p:spTree>
    <p:extLst>
      <p:ext uri="{BB962C8B-B14F-4D97-AF65-F5344CB8AC3E}">
        <p14:creationId xmlns:p14="http://schemas.microsoft.com/office/powerpoint/2010/main" val="9663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3FA11FF-475A-4D2F-90D0-4C7FD60B68BB}"/>
              </a:ext>
            </a:extLst>
          </p:cNvPr>
          <p:cNvSpPr txBox="1"/>
          <p:nvPr/>
        </p:nvSpPr>
        <p:spPr>
          <a:xfrm>
            <a:off x="2209800" y="1811285"/>
            <a:ext cx="5943600" cy="1520929"/>
          </a:xfrm>
          <a:prstGeom prst="rect">
            <a:avLst/>
          </a:prstGeom>
          <a:noFill/>
        </p:spPr>
        <p:txBody>
          <a:bodyPr wrap="square" rtlCol="0">
            <a:spAutoFit/>
          </a:bodyPr>
          <a:lstStyle/>
          <a:p>
            <a:pPr marL="12700" algn="ctr">
              <a:spcBef>
                <a:spcPts val="95"/>
              </a:spcBef>
            </a:pPr>
            <a:r>
              <a:rPr lang="en-US" sz="2800" b="1" spc="-5" dirty="0">
                <a:solidFill>
                  <a:schemeClr val="hlink"/>
                </a:solidFill>
                <a:latin typeface="Carlito"/>
                <a:ea typeface="+mj-ea"/>
              </a:rPr>
              <a:t>Decision Tree</a:t>
            </a:r>
          </a:p>
          <a:p>
            <a:pPr marL="12700" algn="ctr">
              <a:spcBef>
                <a:spcPts val="95"/>
              </a:spcBef>
            </a:pPr>
            <a:r>
              <a:rPr lang="en-US" sz="2800" b="1" spc="-5" dirty="0">
                <a:solidFill>
                  <a:schemeClr val="hlink"/>
                </a:solidFill>
                <a:latin typeface="Carlito"/>
                <a:ea typeface="+mj-ea"/>
              </a:rPr>
              <a:t>(Machine Learning Algorithm)</a:t>
            </a:r>
          </a:p>
          <a:p>
            <a:pPr algn="ctr"/>
            <a:endParaRPr lang="en-US" dirty="0"/>
          </a:p>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62934" y="385953"/>
            <a:ext cx="1818639" cy="452120"/>
          </a:xfrm>
          <a:prstGeom prst="rect">
            <a:avLst/>
          </a:prstGeom>
        </p:spPr>
        <p:txBody>
          <a:bodyPr vert="horz" wrap="square" lIns="0" tIns="12065" rIns="0" bIns="0" rtlCol="0">
            <a:spAutoFit/>
          </a:bodyPr>
          <a:lstStyle/>
          <a:p>
            <a:pPr marL="12700">
              <a:lnSpc>
                <a:spcPct val="100000"/>
              </a:lnSpc>
              <a:spcBef>
                <a:spcPts val="95"/>
              </a:spcBef>
            </a:pPr>
            <a:r>
              <a:rPr sz="2800" spc="-15" dirty="0"/>
              <a:t>Introduction</a:t>
            </a:r>
            <a:endParaRPr sz="28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a:t>
            </a:fld>
            <a:endParaRPr dirty="0"/>
          </a:p>
        </p:txBody>
      </p:sp>
      <p:sp>
        <p:nvSpPr>
          <p:cNvPr id="3" name="object 3"/>
          <p:cNvSpPr txBox="1"/>
          <p:nvPr/>
        </p:nvSpPr>
        <p:spPr>
          <a:xfrm>
            <a:off x="535940" y="1216913"/>
            <a:ext cx="8074025" cy="2952750"/>
          </a:xfrm>
          <a:prstGeom prst="rect">
            <a:avLst/>
          </a:prstGeom>
        </p:spPr>
        <p:txBody>
          <a:bodyPr vert="horz" wrap="square" lIns="0" tIns="13335" rIns="0" bIns="0" rtlCol="0">
            <a:spAutoFit/>
          </a:bodyPr>
          <a:lstStyle/>
          <a:p>
            <a:pPr marL="355600" marR="7620" indent="-342900" algn="just">
              <a:lnSpc>
                <a:spcPct val="100000"/>
              </a:lnSpc>
              <a:spcBef>
                <a:spcPts val="105"/>
              </a:spcBef>
              <a:buFont typeface="Arial MT"/>
              <a:buChar char="•"/>
              <a:tabLst>
                <a:tab pos="355600" algn="l"/>
              </a:tabLst>
            </a:pPr>
            <a:r>
              <a:rPr sz="2000" spc="-5" dirty="0">
                <a:latin typeface="Calibri"/>
                <a:cs typeface="Calibri"/>
              </a:rPr>
              <a:t>Classification</a:t>
            </a:r>
            <a:r>
              <a:rPr sz="2000" dirty="0">
                <a:latin typeface="Calibri"/>
                <a:cs typeface="Calibri"/>
              </a:rPr>
              <a:t> </a:t>
            </a:r>
            <a:r>
              <a:rPr sz="2000" spc="-5" dirty="0">
                <a:latin typeface="Calibri"/>
                <a:cs typeface="Calibri"/>
              </a:rPr>
              <a:t>is</a:t>
            </a:r>
            <a:r>
              <a:rPr sz="2000" dirty="0">
                <a:latin typeface="Calibri"/>
                <a:cs typeface="Calibri"/>
              </a:rPr>
              <a:t> </a:t>
            </a:r>
            <a:r>
              <a:rPr sz="2000" spc="-5" dirty="0">
                <a:latin typeface="Calibri"/>
                <a:cs typeface="Calibri"/>
              </a:rPr>
              <a:t>one</a:t>
            </a:r>
            <a:r>
              <a:rPr sz="2000" dirty="0">
                <a:latin typeface="Calibri"/>
                <a:cs typeface="Calibri"/>
              </a:rPr>
              <a:t> </a:t>
            </a:r>
            <a:r>
              <a:rPr sz="2000" spc="-15" dirty="0">
                <a:latin typeface="Calibri"/>
                <a:cs typeface="Calibri"/>
              </a:rPr>
              <a:t>form</a:t>
            </a:r>
            <a:r>
              <a:rPr sz="2000" spc="-10" dirty="0">
                <a:latin typeface="Calibri"/>
                <a:cs typeface="Calibri"/>
              </a:rPr>
              <a:t> </a:t>
            </a:r>
            <a:r>
              <a:rPr sz="2000" spc="-5" dirty="0">
                <a:latin typeface="Calibri"/>
                <a:cs typeface="Calibri"/>
              </a:rPr>
              <a:t>of</a:t>
            </a:r>
            <a:r>
              <a:rPr sz="2000" dirty="0">
                <a:latin typeface="Calibri"/>
                <a:cs typeface="Calibri"/>
              </a:rPr>
              <a:t> </a:t>
            </a:r>
            <a:r>
              <a:rPr sz="2000" spc="-15" dirty="0">
                <a:latin typeface="Calibri"/>
                <a:cs typeface="Calibri"/>
              </a:rPr>
              <a:t>data</a:t>
            </a:r>
            <a:r>
              <a:rPr sz="2000" spc="-10" dirty="0">
                <a:latin typeface="Calibri"/>
                <a:cs typeface="Calibri"/>
              </a:rPr>
              <a:t> </a:t>
            </a:r>
            <a:r>
              <a:rPr sz="2000" spc="-5" dirty="0">
                <a:latin typeface="Calibri"/>
                <a:cs typeface="Calibri"/>
              </a:rPr>
              <a:t>analysis</a:t>
            </a:r>
            <a:r>
              <a:rPr sz="2000" dirty="0">
                <a:latin typeface="Calibri"/>
                <a:cs typeface="Calibri"/>
              </a:rPr>
              <a:t> </a:t>
            </a:r>
            <a:r>
              <a:rPr sz="2000" spc="-5" dirty="0">
                <a:latin typeface="Calibri"/>
                <a:cs typeface="Calibri"/>
              </a:rPr>
              <a:t>that</a:t>
            </a:r>
            <a:r>
              <a:rPr sz="2000" dirty="0">
                <a:latin typeface="Calibri"/>
                <a:cs typeface="Calibri"/>
              </a:rPr>
              <a:t> </a:t>
            </a:r>
            <a:r>
              <a:rPr sz="2000" spc="-5" dirty="0">
                <a:latin typeface="Calibri"/>
                <a:cs typeface="Calibri"/>
              </a:rPr>
              <a:t>can</a:t>
            </a:r>
            <a:r>
              <a:rPr sz="2000" dirty="0">
                <a:latin typeface="Calibri"/>
                <a:cs typeface="Calibri"/>
              </a:rPr>
              <a:t> be</a:t>
            </a:r>
            <a:r>
              <a:rPr sz="2000" spc="5" dirty="0">
                <a:latin typeface="Calibri"/>
                <a:cs typeface="Calibri"/>
              </a:rPr>
              <a:t> </a:t>
            </a:r>
            <a:r>
              <a:rPr sz="2000" spc="-5" dirty="0">
                <a:latin typeface="Calibri"/>
                <a:cs typeface="Calibri"/>
              </a:rPr>
              <a:t>used</a:t>
            </a:r>
            <a:r>
              <a:rPr sz="2000" dirty="0">
                <a:latin typeface="Calibri"/>
                <a:cs typeface="Calibri"/>
              </a:rPr>
              <a:t> </a:t>
            </a:r>
            <a:r>
              <a:rPr sz="2000" spc="-15" dirty="0">
                <a:latin typeface="Calibri"/>
                <a:cs typeface="Calibri"/>
              </a:rPr>
              <a:t>to</a:t>
            </a:r>
            <a:r>
              <a:rPr sz="2000" spc="-10" dirty="0">
                <a:latin typeface="Calibri"/>
                <a:cs typeface="Calibri"/>
              </a:rPr>
              <a:t> </a:t>
            </a:r>
            <a:r>
              <a:rPr sz="2000" spc="-15" dirty="0">
                <a:latin typeface="Calibri"/>
                <a:cs typeface="Calibri"/>
              </a:rPr>
              <a:t>extract </a:t>
            </a:r>
            <a:r>
              <a:rPr sz="2000" spc="-440" dirty="0">
                <a:latin typeface="Calibri"/>
                <a:cs typeface="Calibri"/>
              </a:rPr>
              <a:t> </a:t>
            </a:r>
            <a:r>
              <a:rPr sz="2000" dirty="0">
                <a:latin typeface="Calibri"/>
                <a:cs typeface="Calibri"/>
              </a:rPr>
              <a:t>models</a:t>
            </a:r>
            <a:r>
              <a:rPr sz="2000" spc="-15" dirty="0">
                <a:latin typeface="Calibri"/>
                <a:cs typeface="Calibri"/>
              </a:rPr>
              <a:t> </a:t>
            </a:r>
            <a:r>
              <a:rPr sz="2000" spc="-5" dirty="0">
                <a:latin typeface="Calibri"/>
                <a:cs typeface="Calibri"/>
              </a:rPr>
              <a:t>describing</a:t>
            </a:r>
            <a:r>
              <a:rPr sz="2000" spc="25" dirty="0">
                <a:latin typeface="Calibri"/>
                <a:cs typeface="Calibri"/>
              </a:rPr>
              <a:t> </a:t>
            </a:r>
            <a:r>
              <a:rPr sz="2000" spc="-10" dirty="0">
                <a:latin typeface="Calibri"/>
                <a:cs typeface="Calibri"/>
              </a:rPr>
              <a:t>important</a:t>
            </a:r>
            <a:r>
              <a:rPr sz="2000" dirty="0">
                <a:latin typeface="Calibri"/>
                <a:cs typeface="Calibri"/>
              </a:rPr>
              <a:t> </a:t>
            </a:r>
            <a:r>
              <a:rPr sz="2000" spc="-15" dirty="0">
                <a:latin typeface="Calibri"/>
                <a:cs typeface="Calibri"/>
              </a:rPr>
              <a:t>data</a:t>
            </a:r>
            <a:r>
              <a:rPr sz="2000" spc="10" dirty="0">
                <a:latin typeface="Calibri"/>
                <a:cs typeface="Calibri"/>
              </a:rPr>
              <a:t> </a:t>
            </a:r>
            <a:r>
              <a:rPr sz="2000" dirty="0">
                <a:latin typeface="Calibri"/>
                <a:cs typeface="Calibri"/>
              </a:rPr>
              <a:t>classes</a:t>
            </a:r>
            <a:r>
              <a:rPr sz="2000" spc="25" dirty="0">
                <a:latin typeface="Calibri"/>
                <a:cs typeface="Calibri"/>
              </a:rPr>
              <a:t> </a:t>
            </a:r>
            <a:r>
              <a:rPr sz="2000" spc="-5" dirty="0">
                <a:latin typeface="Calibri"/>
                <a:cs typeface="Calibri"/>
              </a:rPr>
              <a:t>or</a:t>
            </a:r>
            <a:r>
              <a:rPr sz="2000" dirty="0">
                <a:latin typeface="Calibri"/>
                <a:cs typeface="Calibri"/>
              </a:rPr>
              <a:t> </a:t>
            </a:r>
            <a:r>
              <a:rPr sz="2000" spc="-15" dirty="0">
                <a:latin typeface="Calibri"/>
                <a:cs typeface="Calibri"/>
              </a:rPr>
              <a:t>to</a:t>
            </a:r>
            <a:r>
              <a:rPr sz="2000" spc="-5" dirty="0">
                <a:latin typeface="Calibri"/>
                <a:cs typeface="Calibri"/>
              </a:rPr>
              <a:t> predict</a:t>
            </a:r>
            <a:r>
              <a:rPr sz="2000" spc="5" dirty="0">
                <a:latin typeface="Calibri"/>
                <a:cs typeface="Calibri"/>
              </a:rPr>
              <a:t> </a:t>
            </a:r>
            <a:r>
              <a:rPr sz="2000" spc="-5" dirty="0">
                <a:latin typeface="Calibri"/>
                <a:cs typeface="Calibri"/>
              </a:rPr>
              <a:t>future</a:t>
            </a:r>
            <a:r>
              <a:rPr sz="2000" dirty="0">
                <a:latin typeface="Calibri"/>
                <a:cs typeface="Calibri"/>
              </a:rPr>
              <a:t> </a:t>
            </a:r>
            <a:r>
              <a:rPr sz="2000" spc="-15" dirty="0">
                <a:latin typeface="Calibri"/>
                <a:cs typeface="Calibri"/>
              </a:rPr>
              <a:t>data</a:t>
            </a:r>
            <a:r>
              <a:rPr sz="2000" spc="10" dirty="0">
                <a:latin typeface="Calibri"/>
                <a:cs typeface="Calibri"/>
              </a:rPr>
              <a:t> </a:t>
            </a:r>
            <a:r>
              <a:rPr sz="2000" spc="-5" dirty="0">
                <a:latin typeface="Calibri"/>
                <a:cs typeface="Calibri"/>
              </a:rPr>
              <a:t>trends</a:t>
            </a:r>
            <a:endParaRPr sz="2000" dirty="0">
              <a:latin typeface="Calibri"/>
              <a:cs typeface="Calibri"/>
            </a:endParaRPr>
          </a:p>
          <a:p>
            <a:pPr marL="355600" marR="5080" indent="-342900" algn="just">
              <a:lnSpc>
                <a:spcPct val="100000"/>
              </a:lnSpc>
              <a:spcBef>
                <a:spcPts val="480"/>
              </a:spcBef>
              <a:buFont typeface="Arial MT"/>
              <a:buChar char="•"/>
              <a:tabLst>
                <a:tab pos="355600" algn="l"/>
              </a:tabLst>
            </a:pPr>
            <a:r>
              <a:rPr sz="2000" spc="-5" dirty="0">
                <a:latin typeface="Calibri"/>
                <a:cs typeface="Calibri"/>
              </a:rPr>
              <a:t>Classification</a:t>
            </a:r>
            <a:r>
              <a:rPr sz="2000" dirty="0">
                <a:latin typeface="Calibri"/>
                <a:cs typeface="Calibri"/>
              </a:rPr>
              <a:t> </a:t>
            </a:r>
            <a:r>
              <a:rPr sz="2000" spc="-5" dirty="0">
                <a:latin typeface="Calibri"/>
                <a:cs typeface="Calibri"/>
              </a:rPr>
              <a:t>predicts</a:t>
            </a:r>
            <a:r>
              <a:rPr sz="2000" dirty="0">
                <a:latin typeface="Calibri"/>
                <a:cs typeface="Calibri"/>
              </a:rPr>
              <a:t> </a:t>
            </a:r>
            <a:r>
              <a:rPr sz="2000" spc="-10" dirty="0">
                <a:latin typeface="Calibri"/>
                <a:cs typeface="Calibri"/>
              </a:rPr>
              <a:t>categorical</a:t>
            </a:r>
            <a:r>
              <a:rPr sz="2000" spc="-5" dirty="0">
                <a:latin typeface="Calibri"/>
                <a:cs typeface="Calibri"/>
              </a:rPr>
              <a:t> (discrete,</a:t>
            </a:r>
            <a:r>
              <a:rPr sz="2000" dirty="0">
                <a:latin typeface="Calibri"/>
                <a:cs typeface="Calibri"/>
              </a:rPr>
              <a:t> </a:t>
            </a:r>
            <a:r>
              <a:rPr sz="2000" spc="-10" dirty="0">
                <a:latin typeface="Calibri"/>
                <a:cs typeface="Calibri"/>
              </a:rPr>
              <a:t>unordered)</a:t>
            </a:r>
            <a:r>
              <a:rPr sz="2000" spc="-5" dirty="0">
                <a:latin typeface="Calibri"/>
                <a:cs typeface="Calibri"/>
              </a:rPr>
              <a:t> </a:t>
            </a:r>
            <a:r>
              <a:rPr sz="2000" dirty="0">
                <a:latin typeface="Calibri"/>
                <a:cs typeface="Calibri"/>
              </a:rPr>
              <a:t>labels</a:t>
            </a:r>
            <a:r>
              <a:rPr sz="2000" spc="5" dirty="0">
                <a:latin typeface="Calibri"/>
                <a:cs typeface="Calibri"/>
              </a:rPr>
              <a:t> </a:t>
            </a:r>
            <a:r>
              <a:rPr sz="2000" spc="-5" dirty="0">
                <a:latin typeface="Calibri"/>
                <a:cs typeface="Calibri"/>
              </a:rPr>
              <a:t>whereas </a:t>
            </a:r>
            <a:r>
              <a:rPr sz="2000" dirty="0">
                <a:latin typeface="Calibri"/>
                <a:cs typeface="Calibri"/>
              </a:rPr>
              <a:t> </a:t>
            </a:r>
            <a:r>
              <a:rPr sz="2000" spc="-5" dirty="0">
                <a:latin typeface="Calibri"/>
                <a:cs typeface="Calibri"/>
              </a:rPr>
              <a:t>Regression analysis is </a:t>
            </a:r>
            <a:r>
              <a:rPr sz="2000" dirty="0">
                <a:latin typeface="Calibri"/>
                <a:cs typeface="Calibri"/>
              </a:rPr>
              <a:t>a </a:t>
            </a:r>
            <a:r>
              <a:rPr sz="2000" spc="-10" dirty="0">
                <a:latin typeface="Calibri"/>
                <a:cs typeface="Calibri"/>
              </a:rPr>
              <a:t>statistical </a:t>
            </a:r>
            <a:r>
              <a:rPr sz="2000" spc="-5" dirty="0">
                <a:latin typeface="Calibri"/>
                <a:cs typeface="Calibri"/>
              </a:rPr>
              <a:t>methodology that is </a:t>
            </a:r>
            <a:r>
              <a:rPr sz="2000" spc="-10" dirty="0">
                <a:latin typeface="Calibri"/>
                <a:cs typeface="Calibri"/>
              </a:rPr>
              <a:t>most often </a:t>
            </a:r>
            <a:r>
              <a:rPr sz="2000" spc="-5" dirty="0">
                <a:latin typeface="Calibri"/>
                <a:cs typeface="Calibri"/>
              </a:rPr>
              <a:t>used </a:t>
            </a:r>
            <a:r>
              <a:rPr sz="2000" spc="-20" dirty="0">
                <a:latin typeface="Calibri"/>
                <a:cs typeface="Calibri"/>
              </a:rPr>
              <a:t>for </a:t>
            </a:r>
            <a:r>
              <a:rPr sz="2000" spc="-15" dirty="0">
                <a:latin typeface="Calibri"/>
                <a:cs typeface="Calibri"/>
              </a:rPr>
              <a:t> </a:t>
            </a:r>
            <a:r>
              <a:rPr sz="2000" dirty="0">
                <a:latin typeface="Calibri"/>
                <a:cs typeface="Calibri"/>
              </a:rPr>
              <a:t>numeric </a:t>
            </a:r>
            <a:r>
              <a:rPr sz="2000" spc="-5" dirty="0">
                <a:latin typeface="Calibri"/>
                <a:cs typeface="Calibri"/>
              </a:rPr>
              <a:t>(continuous)</a:t>
            </a:r>
            <a:r>
              <a:rPr sz="2000" spc="-20" dirty="0">
                <a:latin typeface="Calibri"/>
                <a:cs typeface="Calibri"/>
              </a:rPr>
              <a:t> </a:t>
            </a:r>
            <a:r>
              <a:rPr sz="2000" spc="-5" dirty="0">
                <a:latin typeface="Calibri"/>
                <a:cs typeface="Calibri"/>
              </a:rPr>
              <a:t>prediction</a:t>
            </a:r>
            <a:endParaRPr sz="2000" dirty="0">
              <a:latin typeface="Calibri"/>
              <a:cs typeface="Calibri"/>
            </a:endParaRPr>
          </a:p>
          <a:p>
            <a:pPr marL="355600" indent="-342900" algn="just">
              <a:lnSpc>
                <a:spcPct val="100000"/>
              </a:lnSpc>
              <a:spcBef>
                <a:spcPts val="480"/>
              </a:spcBef>
              <a:buFont typeface="Arial MT"/>
              <a:buChar char="•"/>
              <a:tabLst>
                <a:tab pos="355600" algn="l"/>
              </a:tabLst>
            </a:pPr>
            <a:r>
              <a:rPr sz="2000" spc="-10" dirty="0">
                <a:latin typeface="Calibri"/>
                <a:cs typeface="Calibri"/>
              </a:rPr>
              <a:t>For</a:t>
            </a:r>
            <a:r>
              <a:rPr sz="2000" spc="220" dirty="0">
                <a:latin typeface="Calibri"/>
                <a:cs typeface="Calibri"/>
              </a:rPr>
              <a:t> </a:t>
            </a:r>
            <a:r>
              <a:rPr sz="2000" spc="-15" dirty="0">
                <a:latin typeface="Calibri"/>
                <a:cs typeface="Calibri"/>
              </a:rPr>
              <a:t>example,</a:t>
            </a:r>
            <a:r>
              <a:rPr sz="2000" spc="220" dirty="0">
                <a:latin typeface="Calibri"/>
                <a:cs typeface="Calibri"/>
              </a:rPr>
              <a:t> </a:t>
            </a:r>
            <a:r>
              <a:rPr sz="2000" spc="-10" dirty="0">
                <a:latin typeface="Calibri"/>
                <a:cs typeface="Calibri"/>
              </a:rPr>
              <a:t>we</a:t>
            </a:r>
            <a:r>
              <a:rPr sz="2000" spc="210" dirty="0">
                <a:latin typeface="Calibri"/>
                <a:cs typeface="Calibri"/>
              </a:rPr>
              <a:t> </a:t>
            </a:r>
            <a:r>
              <a:rPr sz="2000" spc="-5" dirty="0">
                <a:latin typeface="Calibri"/>
                <a:cs typeface="Calibri"/>
              </a:rPr>
              <a:t>can</a:t>
            </a:r>
            <a:r>
              <a:rPr sz="2000" spc="200" dirty="0">
                <a:latin typeface="Calibri"/>
                <a:cs typeface="Calibri"/>
              </a:rPr>
              <a:t> </a:t>
            </a:r>
            <a:r>
              <a:rPr sz="2000" spc="-5" dirty="0">
                <a:latin typeface="Calibri"/>
                <a:cs typeface="Calibri"/>
              </a:rPr>
              <a:t>build</a:t>
            </a:r>
            <a:r>
              <a:rPr sz="2000" spc="225" dirty="0">
                <a:latin typeface="Calibri"/>
                <a:cs typeface="Calibri"/>
              </a:rPr>
              <a:t> </a:t>
            </a:r>
            <a:r>
              <a:rPr sz="2000" dirty="0">
                <a:latin typeface="Calibri"/>
                <a:cs typeface="Calibri"/>
              </a:rPr>
              <a:t>a</a:t>
            </a:r>
            <a:r>
              <a:rPr sz="2000" spc="210" dirty="0">
                <a:latin typeface="Calibri"/>
                <a:cs typeface="Calibri"/>
              </a:rPr>
              <a:t> </a:t>
            </a:r>
            <a:r>
              <a:rPr sz="2000" spc="-5" dirty="0">
                <a:latin typeface="Calibri"/>
                <a:cs typeface="Calibri"/>
              </a:rPr>
              <a:t>classification</a:t>
            </a:r>
            <a:r>
              <a:rPr sz="2000" spc="215" dirty="0">
                <a:latin typeface="Calibri"/>
                <a:cs typeface="Calibri"/>
              </a:rPr>
              <a:t> </a:t>
            </a:r>
            <a:r>
              <a:rPr sz="2000" spc="-5" dirty="0">
                <a:latin typeface="Calibri"/>
                <a:cs typeface="Calibri"/>
              </a:rPr>
              <a:t>model</a:t>
            </a:r>
            <a:r>
              <a:rPr sz="2000" spc="220" dirty="0">
                <a:latin typeface="Calibri"/>
                <a:cs typeface="Calibri"/>
              </a:rPr>
              <a:t> </a:t>
            </a:r>
            <a:r>
              <a:rPr sz="2000" spc="-10" dirty="0">
                <a:latin typeface="Calibri"/>
                <a:cs typeface="Calibri"/>
              </a:rPr>
              <a:t>to</a:t>
            </a:r>
            <a:r>
              <a:rPr sz="2000" spc="215" dirty="0">
                <a:latin typeface="Calibri"/>
                <a:cs typeface="Calibri"/>
              </a:rPr>
              <a:t> </a:t>
            </a:r>
            <a:r>
              <a:rPr sz="2000" spc="-15" dirty="0">
                <a:latin typeface="Calibri"/>
                <a:cs typeface="Calibri"/>
              </a:rPr>
              <a:t>categorize</a:t>
            </a:r>
            <a:r>
              <a:rPr sz="2000" spc="225" dirty="0">
                <a:latin typeface="Calibri"/>
                <a:cs typeface="Calibri"/>
              </a:rPr>
              <a:t> </a:t>
            </a:r>
            <a:r>
              <a:rPr sz="2000" spc="-5" dirty="0">
                <a:latin typeface="Calibri"/>
                <a:cs typeface="Calibri"/>
              </a:rPr>
              <a:t>bank</a:t>
            </a:r>
            <a:r>
              <a:rPr sz="2000" spc="215" dirty="0">
                <a:latin typeface="Calibri"/>
                <a:cs typeface="Calibri"/>
              </a:rPr>
              <a:t> </a:t>
            </a:r>
            <a:r>
              <a:rPr sz="2000" spc="-5" dirty="0">
                <a:latin typeface="Calibri"/>
                <a:cs typeface="Calibri"/>
              </a:rPr>
              <a:t>loan</a:t>
            </a:r>
            <a:endParaRPr sz="2000" dirty="0">
              <a:latin typeface="Calibri"/>
              <a:cs typeface="Calibri"/>
            </a:endParaRPr>
          </a:p>
          <a:p>
            <a:pPr marL="355600" algn="just">
              <a:lnSpc>
                <a:spcPct val="100000"/>
              </a:lnSpc>
            </a:pPr>
            <a:r>
              <a:rPr sz="2000" spc="-5" dirty="0">
                <a:latin typeface="Calibri"/>
                <a:cs typeface="Calibri"/>
              </a:rPr>
              <a:t>applications</a:t>
            </a:r>
            <a:r>
              <a:rPr sz="2000" spc="-10" dirty="0">
                <a:latin typeface="Calibri"/>
                <a:cs typeface="Calibri"/>
              </a:rPr>
              <a:t> </a:t>
            </a:r>
            <a:r>
              <a:rPr sz="2000" dirty="0">
                <a:latin typeface="Calibri"/>
                <a:cs typeface="Calibri"/>
              </a:rPr>
              <a:t>as</a:t>
            </a:r>
            <a:r>
              <a:rPr sz="2000" spc="5" dirty="0">
                <a:latin typeface="Calibri"/>
                <a:cs typeface="Calibri"/>
              </a:rPr>
              <a:t> </a:t>
            </a:r>
            <a:r>
              <a:rPr sz="2000" dirty="0">
                <a:latin typeface="Calibri"/>
                <a:cs typeface="Calibri"/>
              </a:rPr>
              <a:t>either </a:t>
            </a:r>
            <a:r>
              <a:rPr sz="2000" spc="-20" dirty="0">
                <a:latin typeface="Calibri"/>
                <a:cs typeface="Calibri"/>
              </a:rPr>
              <a:t>safe</a:t>
            </a:r>
            <a:r>
              <a:rPr sz="2000" spc="10" dirty="0">
                <a:latin typeface="Calibri"/>
                <a:cs typeface="Calibri"/>
              </a:rPr>
              <a:t> </a:t>
            </a:r>
            <a:r>
              <a:rPr sz="2000" spc="-5" dirty="0">
                <a:latin typeface="Calibri"/>
                <a:cs typeface="Calibri"/>
              </a:rPr>
              <a:t>or</a:t>
            </a:r>
            <a:r>
              <a:rPr sz="2000" spc="-20" dirty="0">
                <a:latin typeface="Calibri"/>
                <a:cs typeface="Calibri"/>
              </a:rPr>
              <a:t> </a:t>
            </a:r>
            <a:r>
              <a:rPr sz="2000" spc="-5" dirty="0">
                <a:latin typeface="Calibri"/>
                <a:cs typeface="Calibri"/>
              </a:rPr>
              <a:t>risky</a:t>
            </a:r>
            <a:endParaRPr sz="2000" dirty="0">
              <a:latin typeface="Calibri"/>
              <a:cs typeface="Calibri"/>
            </a:endParaRPr>
          </a:p>
          <a:p>
            <a:pPr marL="355600" indent="-342900" algn="just">
              <a:lnSpc>
                <a:spcPct val="100000"/>
              </a:lnSpc>
              <a:spcBef>
                <a:spcPts val="480"/>
              </a:spcBef>
              <a:buFont typeface="Arial MT"/>
              <a:buChar char="•"/>
              <a:tabLst>
                <a:tab pos="355600" algn="l"/>
              </a:tabLst>
            </a:pPr>
            <a:r>
              <a:rPr sz="2000" spc="-5" dirty="0">
                <a:latin typeface="Calibri"/>
                <a:cs typeface="Calibri"/>
              </a:rPr>
              <a:t>Regression</a:t>
            </a:r>
            <a:r>
              <a:rPr sz="2000" spc="285" dirty="0">
                <a:latin typeface="Calibri"/>
                <a:cs typeface="Calibri"/>
              </a:rPr>
              <a:t> </a:t>
            </a:r>
            <a:r>
              <a:rPr sz="2000" dirty="0">
                <a:latin typeface="Calibri"/>
                <a:cs typeface="Calibri"/>
              </a:rPr>
              <a:t>model</a:t>
            </a:r>
            <a:r>
              <a:rPr sz="2000" spc="295" dirty="0">
                <a:latin typeface="Calibri"/>
                <a:cs typeface="Calibri"/>
              </a:rPr>
              <a:t> </a:t>
            </a:r>
            <a:r>
              <a:rPr sz="2000" spc="-5" dirty="0">
                <a:latin typeface="Calibri"/>
                <a:cs typeface="Calibri"/>
              </a:rPr>
              <a:t>is</a:t>
            </a:r>
            <a:r>
              <a:rPr sz="2000" spc="305" dirty="0">
                <a:latin typeface="Calibri"/>
                <a:cs typeface="Calibri"/>
              </a:rPr>
              <a:t> </a:t>
            </a:r>
            <a:r>
              <a:rPr sz="2000" spc="-5" dirty="0">
                <a:latin typeface="Calibri"/>
                <a:cs typeface="Calibri"/>
              </a:rPr>
              <a:t>used</a:t>
            </a:r>
            <a:r>
              <a:rPr sz="2000" spc="310" dirty="0">
                <a:latin typeface="Calibri"/>
                <a:cs typeface="Calibri"/>
              </a:rPr>
              <a:t> </a:t>
            </a:r>
            <a:r>
              <a:rPr sz="2000" spc="-15" dirty="0">
                <a:latin typeface="Calibri"/>
                <a:cs typeface="Calibri"/>
              </a:rPr>
              <a:t>to</a:t>
            </a:r>
            <a:r>
              <a:rPr sz="2000" spc="305" dirty="0">
                <a:latin typeface="Calibri"/>
                <a:cs typeface="Calibri"/>
              </a:rPr>
              <a:t> </a:t>
            </a:r>
            <a:r>
              <a:rPr sz="2000" spc="-5" dirty="0">
                <a:latin typeface="Calibri"/>
                <a:cs typeface="Calibri"/>
              </a:rPr>
              <a:t>predict</a:t>
            </a:r>
            <a:r>
              <a:rPr sz="2000" spc="305" dirty="0">
                <a:latin typeface="Calibri"/>
                <a:cs typeface="Calibri"/>
              </a:rPr>
              <a:t> </a:t>
            </a:r>
            <a:r>
              <a:rPr sz="2000" spc="-10" dirty="0">
                <a:latin typeface="Calibri"/>
                <a:cs typeface="Calibri"/>
              </a:rPr>
              <a:t>expenditures</a:t>
            </a:r>
            <a:r>
              <a:rPr sz="2000" spc="285" dirty="0">
                <a:latin typeface="Calibri"/>
                <a:cs typeface="Calibri"/>
              </a:rPr>
              <a:t> </a:t>
            </a:r>
            <a:r>
              <a:rPr sz="2000" spc="-5" dirty="0">
                <a:latin typeface="Calibri"/>
                <a:cs typeface="Calibri"/>
              </a:rPr>
              <a:t>in</a:t>
            </a:r>
            <a:r>
              <a:rPr sz="2000" spc="305" dirty="0">
                <a:latin typeface="Calibri"/>
                <a:cs typeface="Calibri"/>
              </a:rPr>
              <a:t> </a:t>
            </a:r>
            <a:r>
              <a:rPr sz="2000" spc="-10" dirty="0">
                <a:latin typeface="Calibri"/>
                <a:cs typeface="Calibri"/>
              </a:rPr>
              <a:t>dollars</a:t>
            </a:r>
            <a:r>
              <a:rPr sz="2000" spc="310" dirty="0">
                <a:latin typeface="Calibri"/>
                <a:cs typeface="Calibri"/>
              </a:rPr>
              <a:t> </a:t>
            </a:r>
            <a:r>
              <a:rPr sz="2000" spc="-5" dirty="0">
                <a:latin typeface="Calibri"/>
                <a:cs typeface="Calibri"/>
              </a:rPr>
              <a:t>of</a:t>
            </a:r>
            <a:r>
              <a:rPr sz="2000" spc="305" dirty="0">
                <a:latin typeface="Calibri"/>
                <a:cs typeface="Calibri"/>
              </a:rPr>
              <a:t> </a:t>
            </a:r>
            <a:r>
              <a:rPr sz="2000" spc="-5" dirty="0">
                <a:latin typeface="Calibri"/>
                <a:cs typeface="Calibri"/>
              </a:rPr>
              <a:t>potential</a:t>
            </a:r>
            <a:endParaRPr sz="2000" dirty="0">
              <a:latin typeface="Calibri"/>
              <a:cs typeface="Calibri"/>
            </a:endParaRPr>
          </a:p>
          <a:p>
            <a:pPr marL="355600" algn="just">
              <a:lnSpc>
                <a:spcPct val="100000"/>
              </a:lnSpc>
            </a:pPr>
            <a:r>
              <a:rPr sz="2000" spc="-10" dirty="0">
                <a:latin typeface="Calibri"/>
                <a:cs typeface="Calibri"/>
              </a:rPr>
              <a:t>customers</a:t>
            </a:r>
            <a:r>
              <a:rPr sz="2000" spc="5" dirty="0">
                <a:latin typeface="Calibri"/>
                <a:cs typeface="Calibri"/>
              </a:rPr>
              <a:t> </a:t>
            </a:r>
            <a:r>
              <a:rPr sz="2000" dirty="0">
                <a:latin typeface="Calibri"/>
                <a:cs typeface="Calibri"/>
              </a:rPr>
              <a:t>on</a:t>
            </a:r>
            <a:r>
              <a:rPr sz="2000" spc="-10" dirty="0">
                <a:latin typeface="Calibri"/>
                <a:cs typeface="Calibri"/>
              </a:rPr>
              <a:t> </a:t>
            </a:r>
            <a:r>
              <a:rPr sz="2000" spc="-5" dirty="0">
                <a:latin typeface="Calibri"/>
                <a:cs typeface="Calibri"/>
              </a:rPr>
              <a:t>computer</a:t>
            </a:r>
            <a:r>
              <a:rPr sz="2000" spc="-10" dirty="0">
                <a:latin typeface="Calibri"/>
                <a:cs typeface="Calibri"/>
              </a:rPr>
              <a:t> </a:t>
            </a:r>
            <a:r>
              <a:rPr sz="2000" spc="-5" dirty="0">
                <a:latin typeface="Calibri"/>
                <a:cs typeface="Calibri"/>
              </a:rPr>
              <a:t>equipment given </a:t>
            </a:r>
            <a:r>
              <a:rPr sz="2000" dirty="0">
                <a:latin typeface="Calibri"/>
                <a:cs typeface="Calibri"/>
              </a:rPr>
              <a:t>their</a:t>
            </a:r>
            <a:r>
              <a:rPr sz="2000" spc="10" dirty="0">
                <a:latin typeface="Calibri"/>
                <a:cs typeface="Calibri"/>
              </a:rPr>
              <a:t> </a:t>
            </a:r>
            <a:r>
              <a:rPr sz="2000" spc="-5" dirty="0">
                <a:latin typeface="Calibri"/>
                <a:cs typeface="Calibri"/>
              </a:rPr>
              <a:t>income</a:t>
            </a:r>
            <a:r>
              <a:rPr sz="2000" spc="-10" dirty="0">
                <a:latin typeface="Calibri"/>
                <a:cs typeface="Calibri"/>
              </a:rPr>
              <a:t> </a:t>
            </a:r>
            <a:r>
              <a:rPr sz="2000" dirty="0">
                <a:latin typeface="Calibri"/>
                <a:cs typeface="Calibri"/>
              </a:rPr>
              <a:t>and</a:t>
            </a:r>
            <a:r>
              <a:rPr sz="2000" spc="-15" dirty="0">
                <a:latin typeface="Calibri"/>
                <a:cs typeface="Calibri"/>
              </a:rPr>
              <a:t> </a:t>
            </a:r>
            <a:r>
              <a:rPr sz="2000" spc="-5" dirty="0">
                <a:latin typeface="Calibri"/>
                <a:cs typeface="Calibri"/>
              </a:rPr>
              <a:t>occupation</a:t>
            </a:r>
            <a:endParaRPr sz="20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264F2-2E22-4540-B815-D96B8A236970}"/>
              </a:ext>
            </a:extLst>
          </p:cNvPr>
          <p:cNvSpPr>
            <a:spLocks noGrp="1"/>
          </p:cNvSpPr>
          <p:nvPr>
            <p:ph type="title"/>
          </p:nvPr>
        </p:nvSpPr>
        <p:spPr>
          <a:xfrm>
            <a:off x="2590800" y="514350"/>
            <a:ext cx="4312412" cy="861774"/>
          </a:xfrm>
        </p:spPr>
        <p:txBody>
          <a:bodyPr/>
          <a:lstStyle/>
          <a:p>
            <a:r>
              <a:rPr lang="en-US" dirty="0"/>
              <a:t>What is a decision tree</a:t>
            </a:r>
            <a:endParaRPr lang="en-IN" dirty="0"/>
          </a:p>
        </p:txBody>
      </p:sp>
      <p:sp>
        <p:nvSpPr>
          <p:cNvPr id="3" name="Text Placeholder 2">
            <a:extLst>
              <a:ext uri="{FF2B5EF4-FFF2-40B4-BE49-F238E27FC236}">
                <a16:creationId xmlns:a16="http://schemas.microsoft.com/office/drawing/2014/main" id="{573C8493-6501-4700-890F-213579377C21}"/>
              </a:ext>
            </a:extLst>
          </p:cNvPr>
          <p:cNvSpPr>
            <a:spLocks noGrp="1"/>
          </p:cNvSpPr>
          <p:nvPr>
            <p:ph type="body" idx="1"/>
          </p:nvPr>
        </p:nvSpPr>
        <p:spPr>
          <a:xfrm>
            <a:off x="535940" y="1216913"/>
            <a:ext cx="8072119" cy="3046988"/>
          </a:xfrm>
        </p:spPr>
        <p:txBody>
          <a:bodyPr/>
          <a:lstStyle/>
          <a:p>
            <a:pPr marL="355600" indent="-342900" algn="just" rtl="0">
              <a:buFont typeface="Arial MT"/>
              <a:buChar char="•"/>
              <a:tabLst>
                <a:tab pos="355600" algn="l"/>
              </a:tabLst>
            </a:pPr>
            <a:r>
              <a:rPr lang="en-US" sz="2000" kern="1200" spc="-10" dirty="0">
                <a:latin typeface="Calibri"/>
                <a:cs typeface="Calibri"/>
              </a:rPr>
              <a:t>A decision tree is a map of the possible outcomes of a series of related choices. It allows an individual or organization to weigh possible actions against one another based on their costs, probabilities, and benefits.</a:t>
            </a:r>
          </a:p>
          <a:p>
            <a:pPr marL="355600" indent="-342900" algn="just" rtl="0">
              <a:buFont typeface="Arial MT"/>
              <a:buChar char="•"/>
              <a:tabLst>
                <a:tab pos="355600" algn="l"/>
              </a:tabLst>
            </a:pPr>
            <a:r>
              <a:rPr lang="en-US" sz="2000" kern="1200" spc="-10" dirty="0">
                <a:latin typeface="Calibri"/>
                <a:cs typeface="Calibri"/>
              </a:rPr>
              <a:t>As the name goes, it uses a tree-like model of decisions. They can be used either to drive informal discussion or to map out an algorithm that predicts the best choice mathematically.</a:t>
            </a:r>
          </a:p>
          <a:p>
            <a:pPr marL="355600" indent="-342900" algn="just" rtl="0">
              <a:buFont typeface="Arial MT"/>
              <a:buChar char="•"/>
              <a:tabLst>
                <a:tab pos="355600" algn="l"/>
              </a:tabLst>
            </a:pPr>
            <a:r>
              <a:rPr lang="en-US" sz="2000" kern="1200" spc="-10" dirty="0">
                <a:latin typeface="Calibri"/>
                <a:cs typeface="Calibri"/>
              </a:rPr>
              <a:t>A decision tree typically starts with a single node, which branches into possible outcomes. Each of those outcomes leads to additional nodes, which branch off into other possibilities. This gives it a tree-like shape.</a:t>
            </a:r>
          </a:p>
          <a:p>
            <a:endParaRPr lang="en-IN" dirty="0"/>
          </a:p>
        </p:txBody>
      </p:sp>
    </p:spTree>
    <p:extLst>
      <p:ext uri="{BB962C8B-B14F-4D97-AF65-F5344CB8AC3E}">
        <p14:creationId xmlns:p14="http://schemas.microsoft.com/office/powerpoint/2010/main" val="3297428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192150"/>
            <a:ext cx="5399531" cy="443070"/>
          </a:xfrm>
          <a:prstGeom prst="rect">
            <a:avLst/>
          </a:prstGeom>
        </p:spPr>
        <p:txBody>
          <a:bodyPr vert="horz" wrap="square" lIns="0" tIns="12065" rIns="0" bIns="0" rtlCol="0">
            <a:spAutoFit/>
          </a:bodyPr>
          <a:lstStyle/>
          <a:p>
            <a:pPr marL="12700">
              <a:lnSpc>
                <a:spcPct val="100000"/>
              </a:lnSpc>
              <a:spcBef>
                <a:spcPts val="95"/>
              </a:spcBef>
            </a:pPr>
            <a:r>
              <a:rPr spc="-10" dirty="0"/>
              <a:t>Problem</a:t>
            </a:r>
            <a:r>
              <a:rPr spc="-30" dirty="0"/>
              <a:t> </a:t>
            </a:r>
            <a:r>
              <a:rPr spc="-5" dirty="0"/>
              <a:t>Description</a:t>
            </a:r>
            <a:r>
              <a:rPr spc="-20" dirty="0"/>
              <a:t> </a:t>
            </a:r>
            <a:r>
              <a:rPr spc="-25" dirty="0"/>
              <a:t>for</a:t>
            </a:r>
            <a:r>
              <a:rPr spc="-30" dirty="0"/>
              <a:t> </a:t>
            </a:r>
            <a:r>
              <a:rPr spc="-10" dirty="0"/>
              <a:t>Illustration</a:t>
            </a:r>
          </a:p>
        </p:txBody>
      </p:sp>
      <p:pic>
        <p:nvPicPr>
          <p:cNvPr id="3" name="object 3"/>
          <p:cNvPicPr/>
          <p:nvPr/>
        </p:nvPicPr>
        <p:blipFill>
          <a:blip r:embed="rId2" cstate="print"/>
          <a:stretch>
            <a:fillRect/>
          </a:stretch>
        </p:blipFill>
        <p:spPr>
          <a:xfrm>
            <a:off x="2743200" y="649148"/>
            <a:ext cx="5304240" cy="3628516"/>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a:t>
            </a:fld>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6850" y="356997"/>
            <a:ext cx="5609590" cy="452120"/>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Root</a:t>
            </a:r>
            <a:r>
              <a:rPr sz="2800" b="1" spc="10" dirty="0">
                <a:latin typeface="Calibri"/>
                <a:cs typeface="Calibri"/>
              </a:rPr>
              <a:t> </a:t>
            </a:r>
            <a:r>
              <a:rPr sz="2800" b="1" spc="-5" dirty="0">
                <a:latin typeface="Calibri"/>
                <a:cs typeface="Calibri"/>
              </a:rPr>
              <a:t>Node,</a:t>
            </a:r>
            <a:r>
              <a:rPr sz="2800" b="1" spc="20" dirty="0">
                <a:latin typeface="Calibri"/>
                <a:cs typeface="Calibri"/>
              </a:rPr>
              <a:t> </a:t>
            </a:r>
            <a:r>
              <a:rPr sz="2800" b="1" spc="-15" dirty="0">
                <a:latin typeface="Calibri"/>
                <a:cs typeface="Calibri"/>
              </a:rPr>
              <a:t>Internal</a:t>
            </a:r>
            <a:r>
              <a:rPr sz="2800" b="1" spc="35" dirty="0">
                <a:latin typeface="Calibri"/>
                <a:cs typeface="Calibri"/>
              </a:rPr>
              <a:t> </a:t>
            </a:r>
            <a:r>
              <a:rPr sz="2800" b="1" spc="-5" dirty="0">
                <a:latin typeface="Calibri"/>
                <a:cs typeface="Calibri"/>
              </a:rPr>
              <a:t>Node,</a:t>
            </a:r>
            <a:r>
              <a:rPr sz="2800" b="1" spc="15" dirty="0">
                <a:latin typeface="Calibri"/>
                <a:cs typeface="Calibri"/>
              </a:rPr>
              <a:t> </a:t>
            </a:r>
            <a:r>
              <a:rPr lang="en-US" b="1" spc="-10" dirty="0">
                <a:latin typeface="Calibri"/>
                <a:cs typeface="Calibri"/>
              </a:rPr>
              <a:t>leaf </a:t>
            </a:r>
            <a:r>
              <a:rPr sz="2800" b="1" spc="-5" dirty="0">
                <a:latin typeface="Calibri"/>
                <a:cs typeface="Calibri"/>
              </a:rPr>
              <a:t>Node</a:t>
            </a:r>
            <a:endParaRPr sz="2800" dirty="0">
              <a:latin typeface="Calibri"/>
              <a:cs typeface="Calibri"/>
            </a:endParaRPr>
          </a:p>
        </p:txBody>
      </p:sp>
      <p:sp>
        <p:nvSpPr>
          <p:cNvPr id="3" name="object 3"/>
          <p:cNvSpPr txBox="1"/>
          <p:nvPr/>
        </p:nvSpPr>
        <p:spPr>
          <a:xfrm>
            <a:off x="535940" y="1125473"/>
            <a:ext cx="4164329" cy="3098165"/>
          </a:xfrm>
          <a:prstGeom prst="rect">
            <a:avLst/>
          </a:prstGeom>
        </p:spPr>
        <p:txBody>
          <a:bodyPr vert="horz" wrap="square" lIns="0" tIns="58419" rIns="0" bIns="0" rtlCol="0">
            <a:spAutoFit/>
          </a:bodyPr>
          <a:lstStyle/>
          <a:p>
            <a:pPr marL="355600" marR="5080" indent="-342900">
              <a:lnSpc>
                <a:spcPts val="1540"/>
              </a:lnSpc>
              <a:spcBef>
                <a:spcPts val="459"/>
              </a:spcBef>
              <a:buFont typeface="Arial MT"/>
              <a:buChar char="•"/>
              <a:tabLst>
                <a:tab pos="354965" algn="l"/>
                <a:tab pos="355600" algn="l"/>
              </a:tabLst>
            </a:pPr>
            <a:r>
              <a:rPr sz="1600" spc="-5" dirty="0">
                <a:latin typeface="Calibri"/>
                <a:cs typeface="Calibri"/>
              </a:rPr>
              <a:t>A </a:t>
            </a:r>
            <a:r>
              <a:rPr sz="1600" spc="-10" dirty="0">
                <a:latin typeface="Calibri"/>
                <a:cs typeface="Calibri"/>
              </a:rPr>
              <a:t>decision</a:t>
            </a:r>
            <a:r>
              <a:rPr sz="1600" spc="-5" dirty="0">
                <a:latin typeface="Calibri"/>
                <a:cs typeface="Calibri"/>
              </a:rPr>
              <a:t> </a:t>
            </a:r>
            <a:r>
              <a:rPr sz="1600" spc="-10" dirty="0">
                <a:latin typeface="Calibri"/>
                <a:cs typeface="Calibri"/>
              </a:rPr>
              <a:t>tree</a:t>
            </a:r>
            <a:r>
              <a:rPr sz="1600" spc="25" dirty="0">
                <a:latin typeface="Calibri"/>
                <a:cs typeface="Calibri"/>
              </a:rPr>
              <a:t> </a:t>
            </a:r>
            <a:r>
              <a:rPr sz="1600" spc="-10" dirty="0">
                <a:latin typeface="Calibri"/>
                <a:cs typeface="Calibri"/>
              </a:rPr>
              <a:t>uses</a:t>
            </a:r>
            <a:r>
              <a:rPr sz="1600" spc="5" dirty="0">
                <a:latin typeface="Calibri"/>
                <a:cs typeface="Calibri"/>
              </a:rPr>
              <a:t> </a:t>
            </a:r>
            <a:r>
              <a:rPr sz="1600" spc="-5" dirty="0">
                <a:latin typeface="Calibri"/>
                <a:cs typeface="Calibri"/>
              </a:rPr>
              <a:t>a</a:t>
            </a:r>
            <a:r>
              <a:rPr sz="1600" spc="-15" dirty="0">
                <a:latin typeface="Calibri"/>
                <a:cs typeface="Calibri"/>
              </a:rPr>
              <a:t> </a:t>
            </a:r>
            <a:r>
              <a:rPr sz="1600" spc="-10" dirty="0">
                <a:latin typeface="Calibri"/>
                <a:cs typeface="Calibri"/>
              </a:rPr>
              <a:t>tree</a:t>
            </a:r>
            <a:r>
              <a:rPr sz="1600" spc="25" dirty="0">
                <a:latin typeface="Calibri"/>
                <a:cs typeface="Calibri"/>
              </a:rPr>
              <a:t> </a:t>
            </a:r>
            <a:r>
              <a:rPr sz="1600" spc="-10" dirty="0">
                <a:latin typeface="Calibri"/>
                <a:cs typeface="Calibri"/>
              </a:rPr>
              <a:t>structure</a:t>
            </a:r>
            <a:r>
              <a:rPr sz="1600" spc="10" dirty="0">
                <a:latin typeface="Calibri"/>
                <a:cs typeface="Calibri"/>
              </a:rPr>
              <a:t> </a:t>
            </a:r>
            <a:r>
              <a:rPr sz="1600" spc="-10" dirty="0">
                <a:latin typeface="Calibri"/>
                <a:cs typeface="Calibri"/>
              </a:rPr>
              <a:t>to </a:t>
            </a:r>
            <a:r>
              <a:rPr sz="1600" spc="-5" dirty="0">
                <a:latin typeface="Calibri"/>
                <a:cs typeface="Calibri"/>
              </a:rPr>
              <a:t> </a:t>
            </a:r>
            <a:r>
              <a:rPr sz="1600" spc="-15" dirty="0">
                <a:latin typeface="Calibri"/>
                <a:cs typeface="Calibri"/>
              </a:rPr>
              <a:t>represent</a:t>
            </a:r>
            <a:r>
              <a:rPr sz="1600" spc="35" dirty="0">
                <a:latin typeface="Calibri"/>
                <a:cs typeface="Calibri"/>
              </a:rPr>
              <a:t> </a:t>
            </a:r>
            <a:r>
              <a:rPr sz="1600" spc="-5" dirty="0">
                <a:latin typeface="Calibri"/>
                <a:cs typeface="Calibri"/>
              </a:rPr>
              <a:t>a</a:t>
            </a:r>
            <a:r>
              <a:rPr sz="1600" spc="-20" dirty="0">
                <a:latin typeface="Calibri"/>
                <a:cs typeface="Calibri"/>
              </a:rPr>
              <a:t> </a:t>
            </a:r>
            <a:r>
              <a:rPr sz="1600" spc="-5" dirty="0">
                <a:latin typeface="Calibri"/>
                <a:cs typeface="Calibri"/>
              </a:rPr>
              <a:t>number</a:t>
            </a:r>
            <a:r>
              <a:rPr sz="1600" spc="5" dirty="0">
                <a:latin typeface="Calibri"/>
                <a:cs typeface="Calibri"/>
              </a:rPr>
              <a:t> </a:t>
            </a:r>
            <a:r>
              <a:rPr sz="1600" spc="-5" dirty="0">
                <a:latin typeface="Calibri"/>
                <a:cs typeface="Calibri"/>
              </a:rPr>
              <a:t>of</a:t>
            </a:r>
            <a:r>
              <a:rPr sz="1600" spc="-10" dirty="0">
                <a:latin typeface="Calibri"/>
                <a:cs typeface="Calibri"/>
              </a:rPr>
              <a:t> </a:t>
            </a:r>
            <a:r>
              <a:rPr sz="1600" spc="-5" dirty="0">
                <a:latin typeface="Calibri"/>
                <a:cs typeface="Calibri"/>
              </a:rPr>
              <a:t>possible</a:t>
            </a:r>
            <a:r>
              <a:rPr sz="1600" spc="5" dirty="0">
                <a:latin typeface="Calibri"/>
                <a:cs typeface="Calibri"/>
              </a:rPr>
              <a:t> </a:t>
            </a:r>
            <a:r>
              <a:rPr sz="1600" i="1" spc="-5" dirty="0">
                <a:latin typeface="Calibri"/>
                <a:cs typeface="Calibri"/>
              </a:rPr>
              <a:t>decision </a:t>
            </a:r>
            <a:r>
              <a:rPr sz="1600" i="1" spc="-10" dirty="0">
                <a:latin typeface="Calibri"/>
                <a:cs typeface="Calibri"/>
              </a:rPr>
              <a:t>paths </a:t>
            </a:r>
            <a:r>
              <a:rPr sz="1600" i="1" spc="-345" dirty="0">
                <a:latin typeface="Calibri"/>
                <a:cs typeface="Calibri"/>
              </a:rPr>
              <a:t> </a:t>
            </a:r>
            <a:r>
              <a:rPr sz="1600" spc="-5" dirty="0">
                <a:latin typeface="Calibri"/>
                <a:cs typeface="Calibri"/>
              </a:rPr>
              <a:t>and</a:t>
            </a:r>
            <a:r>
              <a:rPr sz="1600" spc="-20" dirty="0">
                <a:latin typeface="Calibri"/>
                <a:cs typeface="Calibri"/>
              </a:rPr>
              <a:t> </a:t>
            </a:r>
            <a:r>
              <a:rPr sz="1600" spc="-5" dirty="0">
                <a:latin typeface="Calibri"/>
                <a:cs typeface="Calibri"/>
              </a:rPr>
              <a:t>an</a:t>
            </a:r>
            <a:r>
              <a:rPr sz="1600" dirty="0">
                <a:latin typeface="Calibri"/>
                <a:cs typeface="Calibri"/>
              </a:rPr>
              <a:t> </a:t>
            </a:r>
            <a:r>
              <a:rPr sz="1600" spc="-10" dirty="0">
                <a:latin typeface="Calibri"/>
                <a:cs typeface="Calibri"/>
              </a:rPr>
              <a:t>outcome</a:t>
            </a:r>
            <a:r>
              <a:rPr sz="1600" spc="25" dirty="0">
                <a:latin typeface="Calibri"/>
                <a:cs typeface="Calibri"/>
              </a:rPr>
              <a:t> </a:t>
            </a:r>
            <a:r>
              <a:rPr sz="1600" spc="-15" dirty="0">
                <a:latin typeface="Calibri"/>
                <a:cs typeface="Calibri"/>
              </a:rPr>
              <a:t>for</a:t>
            </a:r>
            <a:r>
              <a:rPr sz="1600" spc="5" dirty="0">
                <a:latin typeface="Calibri"/>
                <a:cs typeface="Calibri"/>
              </a:rPr>
              <a:t> </a:t>
            </a:r>
            <a:r>
              <a:rPr sz="1600" spc="-5" dirty="0">
                <a:latin typeface="Calibri"/>
                <a:cs typeface="Calibri"/>
              </a:rPr>
              <a:t>each</a:t>
            </a:r>
            <a:r>
              <a:rPr sz="1600" dirty="0">
                <a:latin typeface="Calibri"/>
                <a:cs typeface="Calibri"/>
              </a:rPr>
              <a:t> </a:t>
            </a:r>
            <a:r>
              <a:rPr sz="1600" spc="-10" dirty="0">
                <a:latin typeface="Calibri"/>
                <a:cs typeface="Calibri"/>
              </a:rPr>
              <a:t>path</a:t>
            </a:r>
            <a:endParaRPr sz="1600" dirty="0">
              <a:latin typeface="Calibri"/>
              <a:cs typeface="Calibri"/>
            </a:endParaRPr>
          </a:p>
          <a:p>
            <a:pPr marL="355600" marR="60960" indent="-342900">
              <a:lnSpc>
                <a:spcPts val="1540"/>
              </a:lnSpc>
              <a:spcBef>
                <a:spcPts val="375"/>
              </a:spcBef>
              <a:buFont typeface="Arial MT"/>
              <a:buChar char="•"/>
              <a:tabLst>
                <a:tab pos="354965" algn="l"/>
                <a:tab pos="355600" algn="l"/>
              </a:tabLst>
            </a:pPr>
            <a:r>
              <a:rPr sz="1600" spc="-5" dirty="0">
                <a:latin typeface="Calibri"/>
                <a:cs typeface="Calibri"/>
              </a:rPr>
              <a:t>A</a:t>
            </a:r>
            <a:r>
              <a:rPr sz="1600" dirty="0">
                <a:latin typeface="Calibri"/>
                <a:cs typeface="Calibri"/>
              </a:rPr>
              <a:t> </a:t>
            </a:r>
            <a:r>
              <a:rPr sz="1600" spc="-10" dirty="0">
                <a:latin typeface="Calibri"/>
                <a:cs typeface="Calibri"/>
              </a:rPr>
              <a:t>decision</a:t>
            </a:r>
            <a:r>
              <a:rPr sz="1600" dirty="0">
                <a:latin typeface="Calibri"/>
                <a:cs typeface="Calibri"/>
              </a:rPr>
              <a:t> </a:t>
            </a:r>
            <a:r>
              <a:rPr sz="1600" spc="-10" dirty="0">
                <a:latin typeface="Calibri"/>
                <a:cs typeface="Calibri"/>
              </a:rPr>
              <a:t>tree</a:t>
            </a:r>
            <a:r>
              <a:rPr sz="1600" spc="30" dirty="0">
                <a:latin typeface="Calibri"/>
                <a:cs typeface="Calibri"/>
              </a:rPr>
              <a:t> </a:t>
            </a:r>
            <a:r>
              <a:rPr sz="1600" spc="-10" dirty="0">
                <a:latin typeface="Calibri"/>
                <a:cs typeface="Calibri"/>
              </a:rPr>
              <a:t>consists</a:t>
            </a:r>
            <a:r>
              <a:rPr sz="1600" dirty="0">
                <a:latin typeface="Calibri"/>
                <a:cs typeface="Calibri"/>
              </a:rPr>
              <a:t> </a:t>
            </a:r>
            <a:r>
              <a:rPr sz="1600" spc="-5" dirty="0">
                <a:latin typeface="Calibri"/>
                <a:cs typeface="Calibri"/>
              </a:rPr>
              <a:t>of</a:t>
            </a:r>
            <a:r>
              <a:rPr sz="1600" dirty="0">
                <a:latin typeface="Calibri"/>
                <a:cs typeface="Calibri"/>
              </a:rPr>
              <a:t> </a:t>
            </a:r>
            <a:r>
              <a:rPr sz="1600" spc="-15" dirty="0">
                <a:latin typeface="Calibri"/>
                <a:cs typeface="Calibri"/>
              </a:rPr>
              <a:t>root</a:t>
            </a:r>
            <a:r>
              <a:rPr sz="1600" spc="35" dirty="0">
                <a:latin typeface="Calibri"/>
                <a:cs typeface="Calibri"/>
              </a:rPr>
              <a:t> </a:t>
            </a:r>
            <a:r>
              <a:rPr sz="1600" spc="-10" dirty="0">
                <a:latin typeface="Calibri"/>
                <a:cs typeface="Calibri"/>
              </a:rPr>
              <a:t>node,</a:t>
            </a:r>
            <a:r>
              <a:rPr sz="1600" spc="5" dirty="0">
                <a:latin typeface="Calibri"/>
                <a:cs typeface="Calibri"/>
              </a:rPr>
              <a:t> </a:t>
            </a:r>
            <a:r>
              <a:rPr sz="1600" spc="-10" dirty="0">
                <a:latin typeface="Calibri"/>
                <a:cs typeface="Calibri"/>
              </a:rPr>
              <a:t>internal </a:t>
            </a:r>
            <a:r>
              <a:rPr sz="1600" spc="-350" dirty="0">
                <a:latin typeface="Calibri"/>
                <a:cs typeface="Calibri"/>
              </a:rPr>
              <a:t> </a:t>
            </a:r>
            <a:r>
              <a:rPr sz="1600" spc="-10" dirty="0">
                <a:latin typeface="Calibri"/>
                <a:cs typeface="Calibri"/>
              </a:rPr>
              <a:t>node</a:t>
            </a:r>
            <a:r>
              <a:rPr sz="1600" dirty="0">
                <a:latin typeface="Calibri"/>
                <a:cs typeface="Calibri"/>
              </a:rPr>
              <a:t> </a:t>
            </a:r>
            <a:r>
              <a:rPr sz="1600" spc="-5" dirty="0">
                <a:latin typeface="Calibri"/>
                <a:cs typeface="Calibri"/>
              </a:rPr>
              <a:t>and leaf</a:t>
            </a:r>
            <a:r>
              <a:rPr sz="1600" dirty="0">
                <a:latin typeface="Calibri"/>
                <a:cs typeface="Calibri"/>
              </a:rPr>
              <a:t> </a:t>
            </a:r>
            <a:r>
              <a:rPr sz="1600" spc="-10" dirty="0">
                <a:latin typeface="Calibri"/>
                <a:cs typeface="Calibri"/>
              </a:rPr>
              <a:t>node</a:t>
            </a:r>
            <a:endParaRPr sz="1600" dirty="0">
              <a:latin typeface="Calibri"/>
              <a:cs typeface="Calibri"/>
            </a:endParaRPr>
          </a:p>
          <a:p>
            <a:pPr marL="355600" indent="-342900">
              <a:lnSpc>
                <a:spcPts val="1730"/>
              </a:lnSpc>
              <a:spcBef>
                <a:spcPts val="10"/>
              </a:spcBef>
              <a:buFont typeface="Arial MT"/>
              <a:buChar char="•"/>
              <a:tabLst>
                <a:tab pos="354965" algn="l"/>
                <a:tab pos="355600" algn="l"/>
              </a:tabLst>
            </a:pPr>
            <a:r>
              <a:rPr sz="1600" spc="-5" dirty="0">
                <a:latin typeface="Calibri"/>
                <a:cs typeface="Calibri"/>
              </a:rPr>
              <a:t>The </a:t>
            </a:r>
            <a:r>
              <a:rPr sz="1600" spc="-10" dirty="0">
                <a:latin typeface="Calibri"/>
                <a:cs typeface="Calibri"/>
              </a:rPr>
              <a:t>topmost</a:t>
            </a:r>
            <a:r>
              <a:rPr sz="1600" spc="5" dirty="0">
                <a:latin typeface="Calibri"/>
                <a:cs typeface="Calibri"/>
              </a:rPr>
              <a:t> </a:t>
            </a:r>
            <a:r>
              <a:rPr sz="1600" spc="-10" dirty="0">
                <a:latin typeface="Calibri"/>
                <a:cs typeface="Calibri"/>
              </a:rPr>
              <a:t>node</a:t>
            </a:r>
            <a:r>
              <a:rPr sz="1600" dirty="0">
                <a:latin typeface="Calibri"/>
                <a:cs typeface="Calibri"/>
              </a:rPr>
              <a:t> </a:t>
            </a:r>
            <a:r>
              <a:rPr sz="1600" spc="-5" dirty="0">
                <a:latin typeface="Calibri"/>
                <a:cs typeface="Calibri"/>
              </a:rPr>
              <a:t>in a</a:t>
            </a:r>
            <a:r>
              <a:rPr sz="1600" spc="-20" dirty="0">
                <a:latin typeface="Calibri"/>
                <a:cs typeface="Calibri"/>
              </a:rPr>
              <a:t> </a:t>
            </a:r>
            <a:r>
              <a:rPr sz="1600" spc="-10" dirty="0">
                <a:latin typeface="Calibri"/>
                <a:cs typeface="Calibri"/>
              </a:rPr>
              <a:t>tree</a:t>
            </a:r>
            <a:r>
              <a:rPr sz="1600" spc="20" dirty="0">
                <a:latin typeface="Calibri"/>
                <a:cs typeface="Calibri"/>
              </a:rPr>
              <a:t> </a:t>
            </a:r>
            <a:r>
              <a:rPr sz="1600" spc="-5" dirty="0">
                <a:latin typeface="Calibri"/>
                <a:cs typeface="Calibri"/>
              </a:rPr>
              <a:t>is</a:t>
            </a:r>
            <a:r>
              <a:rPr sz="1600" spc="-20" dirty="0">
                <a:latin typeface="Calibri"/>
                <a:cs typeface="Calibri"/>
              </a:rPr>
              <a:t> </a:t>
            </a:r>
            <a:r>
              <a:rPr sz="1600" spc="-5" dirty="0">
                <a:latin typeface="Calibri"/>
                <a:cs typeface="Calibri"/>
              </a:rPr>
              <a:t>the</a:t>
            </a:r>
            <a:r>
              <a:rPr sz="1600" spc="35" dirty="0">
                <a:latin typeface="Calibri"/>
                <a:cs typeface="Calibri"/>
              </a:rPr>
              <a:t> </a:t>
            </a:r>
            <a:r>
              <a:rPr sz="1600" b="1" spc="-10" dirty="0">
                <a:latin typeface="Calibri"/>
                <a:cs typeface="Calibri"/>
              </a:rPr>
              <a:t>root</a:t>
            </a:r>
            <a:r>
              <a:rPr sz="1600" b="1" dirty="0">
                <a:latin typeface="Calibri"/>
                <a:cs typeface="Calibri"/>
              </a:rPr>
              <a:t> </a:t>
            </a:r>
            <a:r>
              <a:rPr sz="1600" b="1" spc="-5" dirty="0">
                <a:latin typeface="Calibri"/>
                <a:cs typeface="Calibri"/>
              </a:rPr>
              <a:t>node</a:t>
            </a:r>
            <a:endParaRPr sz="1600" dirty="0">
              <a:latin typeface="Calibri"/>
              <a:cs typeface="Calibri"/>
            </a:endParaRPr>
          </a:p>
          <a:p>
            <a:pPr marL="355600">
              <a:lnSpc>
                <a:spcPts val="1730"/>
              </a:lnSpc>
            </a:pPr>
            <a:r>
              <a:rPr sz="1600" spc="-5" dirty="0">
                <a:latin typeface="Calibri"/>
                <a:cs typeface="Calibri"/>
              </a:rPr>
              <a:t>or</a:t>
            </a:r>
            <a:r>
              <a:rPr sz="1600" spc="-15" dirty="0">
                <a:latin typeface="Calibri"/>
                <a:cs typeface="Calibri"/>
              </a:rPr>
              <a:t> </a:t>
            </a:r>
            <a:r>
              <a:rPr sz="1600" b="1" spc="-10" dirty="0">
                <a:latin typeface="Calibri"/>
                <a:cs typeface="Calibri"/>
              </a:rPr>
              <a:t>parent</a:t>
            </a:r>
            <a:r>
              <a:rPr sz="1600" b="1" spc="-20" dirty="0">
                <a:latin typeface="Calibri"/>
                <a:cs typeface="Calibri"/>
              </a:rPr>
              <a:t> </a:t>
            </a:r>
            <a:r>
              <a:rPr sz="1600" b="1" spc="-5" dirty="0">
                <a:latin typeface="Calibri"/>
                <a:cs typeface="Calibri"/>
              </a:rPr>
              <a:t>node</a:t>
            </a:r>
            <a:endParaRPr sz="1600" dirty="0">
              <a:latin typeface="Calibri"/>
              <a:cs typeface="Calibri"/>
            </a:endParaRPr>
          </a:p>
          <a:p>
            <a:pPr marL="401320" indent="-389255">
              <a:lnSpc>
                <a:spcPct val="100000"/>
              </a:lnSpc>
              <a:buFont typeface="Arial MT"/>
              <a:buChar char="•"/>
              <a:tabLst>
                <a:tab pos="401320" algn="l"/>
                <a:tab pos="401955" algn="l"/>
              </a:tabLst>
            </a:pPr>
            <a:r>
              <a:rPr sz="1600" spc="-5" dirty="0">
                <a:latin typeface="Calibri"/>
                <a:cs typeface="Calibri"/>
              </a:rPr>
              <a:t>It</a:t>
            </a:r>
            <a:r>
              <a:rPr sz="1600" dirty="0">
                <a:latin typeface="Calibri"/>
                <a:cs typeface="Calibri"/>
              </a:rPr>
              <a:t> </a:t>
            </a:r>
            <a:r>
              <a:rPr sz="1600" spc="-15" dirty="0">
                <a:latin typeface="Calibri"/>
                <a:cs typeface="Calibri"/>
              </a:rPr>
              <a:t>represents</a:t>
            </a:r>
            <a:r>
              <a:rPr sz="1600" spc="30" dirty="0">
                <a:latin typeface="Calibri"/>
                <a:cs typeface="Calibri"/>
              </a:rPr>
              <a:t> </a:t>
            </a:r>
            <a:r>
              <a:rPr sz="1600" spc="-10" dirty="0">
                <a:latin typeface="Calibri"/>
                <a:cs typeface="Calibri"/>
              </a:rPr>
              <a:t>entire</a:t>
            </a:r>
            <a:r>
              <a:rPr sz="1600" spc="20" dirty="0">
                <a:latin typeface="Calibri"/>
                <a:cs typeface="Calibri"/>
              </a:rPr>
              <a:t> </a:t>
            </a:r>
            <a:r>
              <a:rPr sz="1600" spc="-5" dirty="0">
                <a:latin typeface="Calibri"/>
                <a:cs typeface="Calibri"/>
              </a:rPr>
              <a:t>sample </a:t>
            </a:r>
            <a:r>
              <a:rPr sz="1600" spc="-10" dirty="0">
                <a:latin typeface="Calibri"/>
                <a:cs typeface="Calibri"/>
              </a:rPr>
              <a:t>population</a:t>
            </a:r>
            <a:endParaRPr sz="1600" dirty="0">
              <a:latin typeface="Calibri"/>
              <a:cs typeface="Calibri"/>
            </a:endParaRPr>
          </a:p>
          <a:p>
            <a:pPr marL="355600" marR="119380" indent="-342900">
              <a:lnSpc>
                <a:spcPts val="1540"/>
              </a:lnSpc>
              <a:spcBef>
                <a:spcPts val="370"/>
              </a:spcBef>
              <a:buFont typeface="Arial MT"/>
              <a:buChar char="•"/>
              <a:tabLst>
                <a:tab pos="354965" algn="l"/>
                <a:tab pos="355600" algn="l"/>
              </a:tabLst>
            </a:pPr>
            <a:r>
              <a:rPr sz="1600" b="1" spc="-15" dirty="0">
                <a:latin typeface="Calibri"/>
                <a:cs typeface="Calibri"/>
              </a:rPr>
              <a:t>Internal</a:t>
            </a:r>
            <a:r>
              <a:rPr sz="1600" b="1" spc="30" dirty="0">
                <a:latin typeface="Calibri"/>
                <a:cs typeface="Calibri"/>
              </a:rPr>
              <a:t> </a:t>
            </a:r>
            <a:r>
              <a:rPr sz="1600" b="1" spc="-5" dirty="0">
                <a:latin typeface="Calibri"/>
                <a:cs typeface="Calibri"/>
              </a:rPr>
              <a:t>node</a:t>
            </a:r>
            <a:r>
              <a:rPr sz="1600" b="1" spc="20" dirty="0">
                <a:latin typeface="Calibri"/>
                <a:cs typeface="Calibri"/>
              </a:rPr>
              <a:t> </a:t>
            </a:r>
            <a:r>
              <a:rPr sz="1600" spc="-10" dirty="0">
                <a:latin typeface="Calibri"/>
                <a:cs typeface="Calibri"/>
              </a:rPr>
              <a:t>(non-leaf</a:t>
            </a:r>
            <a:r>
              <a:rPr sz="1600" spc="5" dirty="0">
                <a:latin typeface="Calibri"/>
                <a:cs typeface="Calibri"/>
              </a:rPr>
              <a:t> </a:t>
            </a:r>
            <a:r>
              <a:rPr sz="1600" spc="-10" dirty="0">
                <a:latin typeface="Calibri"/>
                <a:cs typeface="Calibri"/>
              </a:rPr>
              <a:t>node)</a:t>
            </a:r>
            <a:r>
              <a:rPr sz="1600" spc="20" dirty="0">
                <a:latin typeface="Calibri"/>
                <a:cs typeface="Calibri"/>
              </a:rPr>
              <a:t> </a:t>
            </a:r>
            <a:r>
              <a:rPr sz="1600" spc="-10" dirty="0">
                <a:latin typeface="Calibri"/>
                <a:cs typeface="Calibri"/>
              </a:rPr>
              <a:t>denotes</a:t>
            </a:r>
            <a:r>
              <a:rPr sz="1600" spc="20" dirty="0">
                <a:latin typeface="Calibri"/>
                <a:cs typeface="Calibri"/>
              </a:rPr>
              <a:t> </a:t>
            </a:r>
            <a:r>
              <a:rPr sz="1600" spc="-5" dirty="0">
                <a:latin typeface="Calibri"/>
                <a:cs typeface="Calibri"/>
              </a:rPr>
              <a:t>a</a:t>
            </a:r>
            <a:r>
              <a:rPr sz="1600" dirty="0">
                <a:latin typeface="Calibri"/>
                <a:cs typeface="Calibri"/>
              </a:rPr>
              <a:t> </a:t>
            </a:r>
            <a:r>
              <a:rPr sz="1600" spc="-10" dirty="0">
                <a:latin typeface="Calibri"/>
                <a:cs typeface="Calibri"/>
              </a:rPr>
              <a:t>test </a:t>
            </a:r>
            <a:r>
              <a:rPr sz="1600" spc="-350" dirty="0">
                <a:latin typeface="Calibri"/>
                <a:cs typeface="Calibri"/>
              </a:rPr>
              <a:t> </a:t>
            </a:r>
            <a:r>
              <a:rPr sz="1600" spc="-5" dirty="0">
                <a:latin typeface="Calibri"/>
                <a:cs typeface="Calibri"/>
              </a:rPr>
              <a:t>on</a:t>
            </a:r>
            <a:r>
              <a:rPr sz="1600" dirty="0">
                <a:latin typeface="Calibri"/>
                <a:cs typeface="Calibri"/>
              </a:rPr>
              <a:t> </a:t>
            </a:r>
            <a:r>
              <a:rPr sz="1600" spc="-5" dirty="0">
                <a:latin typeface="Calibri"/>
                <a:cs typeface="Calibri"/>
              </a:rPr>
              <a:t>an</a:t>
            </a:r>
            <a:r>
              <a:rPr sz="1600" spc="-10" dirty="0">
                <a:latin typeface="Calibri"/>
                <a:cs typeface="Calibri"/>
              </a:rPr>
              <a:t> attribute,</a:t>
            </a:r>
            <a:r>
              <a:rPr sz="1600" dirty="0">
                <a:latin typeface="Calibri"/>
                <a:cs typeface="Calibri"/>
              </a:rPr>
              <a:t> </a:t>
            </a:r>
            <a:r>
              <a:rPr sz="1600" spc="-5" dirty="0">
                <a:latin typeface="Calibri"/>
                <a:cs typeface="Calibri"/>
              </a:rPr>
              <a:t>each </a:t>
            </a:r>
            <a:r>
              <a:rPr sz="1600" spc="-10" dirty="0">
                <a:latin typeface="Calibri"/>
                <a:cs typeface="Calibri"/>
              </a:rPr>
              <a:t>branch</a:t>
            </a:r>
            <a:r>
              <a:rPr sz="1600" spc="5" dirty="0">
                <a:latin typeface="Calibri"/>
                <a:cs typeface="Calibri"/>
              </a:rPr>
              <a:t> </a:t>
            </a:r>
            <a:r>
              <a:rPr sz="1600" spc="-15" dirty="0">
                <a:latin typeface="Calibri"/>
                <a:cs typeface="Calibri"/>
              </a:rPr>
              <a:t>represents</a:t>
            </a:r>
            <a:r>
              <a:rPr sz="1600" spc="25" dirty="0">
                <a:latin typeface="Calibri"/>
                <a:cs typeface="Calibri"/>
              </a:rPr>
              <a:t> </a:t>
            </a:r>
            <a:r>
              <a:rPr sz="1600" spc="-5" dirty="0">
                <a:latin typeface="Calibri"/>
                <a:cs typeface="Calibri"/>
              </a:rPr>
              <a:t>an </a:t>
            </a:r>
            <a:r>
              <a:rPr sz="1600" dirty="0">
                <a:latin typeface="Calibri"/>
                <a:cs typeface="Calibri"/>
              </a:rPr>
              <a:t> </a:t>
            </a:r>
            <a:r>
              <a:rPr sz="1600" spc="-10" dirty="0">
                <a:latin typeface="Calibri"/>
                <a:cs typeface="Calibri"/>
              </a:rPr>
              <a:t>outcome</a:t>
            </a:r>
            <a:r>
              <a:rPr sz="1600" spc="20" dirty="0">
                <a:latin typeface="Calibri"/>
                <a:cs typeface="Calibri"/>
              </a:rPr>
              <a:t> </a:t>
            </a:r>
            <a:r>
              <a:rPr sz="1600" spc="-5" dirty="0">
                <a:latin typeface="Calibri"/>
                <a:cs typeface="Calibri"/>
              </a:rPr>
              <a:t>of</a:t>
            </a:r>
            <a:r>
              <a:rPr sz="1600" spc="10" dirty="0">
                <a:latin typeface="Calibri"/>
                <a:cs typeface="Calibri"/>
              </a:rPr>
              <a:t> </a:t>
            </a:r>
            <a:r>
              <a:rPr sz="1600" spc="-5" dirty="0">
                <a:latin typeface="Calibri"/>
                <a:cs typeface="Calibri"/>
              </a:rPr>
              <a:t>the</a:t>
            </a:r>
            <a:r>
              <a:rPr sz="1600" dirty="0">
                <a:latin typeface="Calibri"/>
                <a:cs typeface="Calibri"/>
              </a:rPr>
              <a:t> </a:t>
            </a:r>
            <a:r>
              <a:rPr sz="1600" spc="-10" dirty="0">
                <a:latin typeface="Calibri"/>
                <a:cs typeface="Calibri"/>
              </a:rPr>
              <a:t>test</a:t>
            </a:r>
            <a:endParaRPr sz="1600" dirty="0">
              <a:latin typeface="Calibri"/>
              <a:cs typeface="Calibri"/>
            </a:endParaRPr>
          </a:p>
          <a:p>
            <a:pPr marL="355600" marR="254000" indent="-342900">
              <a:lnSpc>
                <a:spcPts val="1540"/>
              </a:lnSpc>
              <a:spcBef>
                <a:spcPts val="370"/>
              </a:spcBef>
              <a:buFont typeface="Arial MT"/>
              <a:buChar char="•"/>
              <a:tabLst>
                <a:tab pos="354965" algn="l"/>
                <a:tab pos="355600" algn="l"/>
              </a:tabLst>
            </a:pPr>
            <a:r>
              <a:rPr sz="1600" b="1" spc="-5" dirty="0">
                <a:latin typeface="Calibri"/>
                <a:cs typeface="Calibri"/>
              </a:rPr>
              <a:t>Leaf</a:t>
            </a:r>
            <a:r>
              <a:rPr sz="1600" b="1" dirty="0">
                <a:latin typeface="Calibri"/>
                <a:cs typeface="Calibri"/>
              </a:rPr>
              <a:t> </a:t>
            </a:r>
            <a:r>
              <a:rPr sz="1600" b="1" spc="-5" dirty="0">
                <a:latin typeface="Calibri"/>
                <a:cs typeface="Calibri"/>
              </a:rPr>
              <a:t>node</a:t>
            </a:r>
            <a:r>
              <a:rPr sz="1600" b="1" spc="10" dirty="0">
                <a:latin typeface="Calibri"/>
                <a:cs typeface="Calibri"/>
              </a:rPr>
              <a:t> </a:t>
            </a:r>
            <a:r>
              <a:rPr sz="1600" spc="-5" dirty="0">
                <a:latin typeface="Calibri"/>
                <a:cs typeface="Calibri"/>
              </a:rPr>
              <a:t>(or</a:t>
            </a:r>
            <a:r>
              <a:rPr sz="1600" spc="20" dirty="0">
                <a:latin typeface="Calibri"/>
                <a:cs typeface="Calibri"/>
              </a:rPr>
              <a:t> </a:t>
            </a:r>
            <a:r>
              <a:rPr sz="1600" b="1" spc="-10" dirty="0">
                <a:latin typeface="Calibri"/>
                <a:cs typeface="Calibri"/>
              </a:rPr>
              <a:t>terminal</a:t>
            </a:r>
            <a:r>
              <a:rPr sz="1600" b="1" spc="-5" dirty="0">
                <a:latin typeface="Calibri"/>
                <a:cs typeface="Calibri"/>
              </a:rPr>
              <a:t> </a:t>
            </a:r>
            <a:r>
              <a:rPr sz="1600" spc="-10" dirty="0">
                <a:latin typeface="Calibri"/>
                <a:cs typeface="Calibri"/>
              </a:rPr>
              <a:t>nod</a:t>
            </a:r>
            <a:r>
              <a:rPr lang="en-US" sz="1600" spc="-10" dirty="0">
                <a:latin typeface="Calibri"/>
                <a:cs typeface="Calibri"/>
              </a:rPr>
              <a:t>e</a:t>
            </a:r>
            <a:r>
              <a:rPr sz="1600" spc="-10" dirty="0">
                <a:latin typeface="Calibri"/>
                <a:cs typeface="Calibri"/>
              </a:rPr>
              <a:t>) </a:t>
            </a:r>
            <a:r>
              <a:rPr sz="1600" spc="-345" dirty="0">
                <a:latin typeface="Calibri"/>
                <a:cs typeface="Calibri"/>
              </a:rPr>
              <a:t> </a:t>
            </a:r>
            <a:r>
              <a:rPr sz="1600" spc="-5" dirty="0">
                <a:latin typeface="Calibri"/>
                <a:cs typeface="Calibri"/>
              </a:rPr>
              <a:t>holds</a:t>
            </a:r>
            <a:r>
              <a:rPr sz="1600" spc="-10" dirty="0">
                <a:latin typeface="Calibri"/>
                <a:cs typeface="Calibri"/>
              </a:rPr>
              <a:t> </a:t>
            </a:r>
            <a:r>
              <a:rPr sz="1600" spc="-5" dirty="0">
                <a:latin typeface="Calibri"/>
                <a:cs typeface="Calibri"/>
              </a:rPr>
              <a:t>a</a:t>
            </a:r>
            <a:r>
              <a:rPr sz="1600" dirty="0">
                <a:latin typeface="Calibri"/>
                <a:cs typeface="Calibri"/>
              </a:rPr>
              <a:t> </a:t>
            </a:r>
            <a:r>
              <a:rPr sz="1600" spc="-5" dirty="0">
                <a:latin typeface="Calibri"/>
                <a:cs typeface="Calibri"/>
              </a:rPr>
              <a:t>class label</a:t>
            </a:r>
            <a:endParaRPr sz="1600" dirty="0">
              <a:latin typeface="Calibri"/>
              <a:cs typeface="Calibri"/>
            </a:endParaRPr>
          </a:p>
          <a:p>
            <a:pPr marL="401320" indent="-389255">
              <a:lnSpc>
                <a:spcPct val="100000"/>
              </a:lnSpc>
              <a:spcBef>
                <a:spcPts val="10"/>
              </a:spcBef>
              <a:buFont typeface="Arial MT"/>
              <a:buChar char="•"/>
              <a:tabLst>
                <a:tab pos="401320" algn="l"/>
                <a:tab pos="401955" algn="l"/>
              </a:tabLst>
            </a:pPr>
            <a:r>
              <a:rPr sz="1600" spc="-5" dirty="0">
                <a:latin typeface="Calibri"/>
                <a:cs typeface="Calibri"/>
              </a:rPr>
              <a:t>It</a:t>
            </a:r>
            <a:r>
              <a:rPr sz="1600" spc="-10" dirty="0">
                <a:latin typeface="Calibri"/>
                <a:cs typeface="Calibri"/>
              </a:rPr>
              <a:t> can</a:t>
            </a:r>
            <a:r>
              <a:rPr sz="1600" spc="-20" dirty="0">
                <a:latin typeface="Calibri"/>
                <a:cs typeface="Calibri"/>
              </a:rPr>
              <a:t> </a:t>
            </a:r>
            <a:r>
              <a:rPr sz="1600" spc="-10" dirty="0">
                <a:latin typeface="Calibri"/>
                <a:cs typeface="Calibri"/>
              </a:rPr>
              <a:t>not</a:t>
            </a:r>
            <a:r>
              <a:rPr sz="1600" dirty="0">
                <a:latin typeface="Calibri"/>
                <a:cs typeface="Calibri"/>
              </a:rPr>
              <a:t> </a:t>
            </a:r>
            <a:r>
              <a:rPr sz="1600" spc="-5" dirty="0">
                <a:latin typeface="Calibri"/>
                <a:cs typeface="Calibri"/>
              </a:rPr>
              <a:t>be</a:t>
            </a:r>
            <a:r>
              <a:rPr sz="1600" spc="-15" dirty="0">
                <a:latin typeface="Calibri"/>
                <a:cs typeface="Calibri"/>
              </a:rPr>
              <a:t> </a:t>
            </a:r>
            <a:r>
              <a:rPr sz="1600" spc="-5" dirty="0">
                <a:latin typeface="Calibri"/>
                <a:cs typeface="Calibri"/>
              </a:rPr>
              <a:t>further</a:t>
            </a:r>
            <a:r>
              <a:rPr sz="1600" spc="20" dirty="0">
                <a:latin typeface="Calibri"/>
                <a:cs typeface="Calibri"/>
              </a:rPr>
              <a:t> </a:t>
            </a:r>
            <a:r>
              <a:rPr sz="1600" spc="-5" dirty="0">
                <a:latin typeface="Calibri"/>
                <a:cs typeface="Calibri"/>
              </a:rPr>
              <a:t>split</a:t>
            </a:r>
            <a:endParaRPr sz="1600" dirty="0">
              <a:latin typeface="Calibri"/>
              <a:cs typeface="Calibri"/>
            </a:endParaRPr>
          </a:p>
        </p:txBody>
      </p:sp>
      <p:grpSp>
        <p:nvGrpSpPr>
          <p:cNvPr id="4" name="object 4"/>
          <p:cNvGrpSpPr/>
          <p:nvPr/>
        </p:nvGrpSpPr>
        <p:grpSpPr>
          <a:xfrm>
            <a:off x="4844796" y="524243"/>
            <a:ext cx="4174490" cy="3157855"/>
            <a:chOff x="4844796" y="524243"/>
            <a:chExt cx="4174490" cy="3157855"/>
          </a:xfrm>
        </p:grpSpPr>
        <p:pic>
          <p:nvPicPr>
            <p:cNvPr id="5" name="object 5"/>
            <p:cNvPicPr/>
            <p:nvPr/>
          </p:nvPicPr>
          <p:blipFill>
            <a:blip r:embed="rId2" cstate="print"/>
            <a:stretch>
              <a:fillRect/>
            </a:stretch>
          </p:blipFill>
          <p:spPr>
            <a:xfrm>
              <a:off x="4844796" y="1408175"/>
              <a:ext cx="4041648" cy="2273808"/>
            </a:xfrm>
            <a:prstGeom prst="rect">
              <a:avLst/>
            </a:prstGeom>
          </p:spPr>
        </p:pic>
        <p:pic>
          <p:nvPicPr>
            <p:cNvPr id="6" name="object 6"/>
            <p:cNvPicPr/>
            <p:nvPr/>
          </p:nvPicPr>
          <p:blipFill>
            <a:blip r:embed="rId3" cstate="print"/>
            <a:stretch>
              <a:fillRect/>
            </a:stretch>
          </p:blipFill>
          <p:spPr>
            <a:xfrm>
              <a:off x="6766560" y="524243"/>
              <a:ext cx="2211324" cy="1126248"/>
            </a:xfrm>
            <a:prstGeom prst="rect">
              <a:avLst/>
            </a:prstGeom>
          </p:spPr>
        </p:pic>
        <p:pic>
          <p:nvPicPr>
            <p:cNvPr id="7" name="object 7"/>
            <p:cNvPicPr/>
            <p:nvPr/>
          </p:nvPicPr>
          <p:blipFill>
            <a:blip r:embed="rId4" cstate="print"/>
            <a:stretch>
              <a:fillRect/>
            </a:stretch>
          </p:blipFill>
          <p:spPr>
            <a:xfrm>
              <a:off x="7367016" y="644638"/>
              <a:ext cx="1652016" cy="835165"/>
            </a:xfrm>
            <a:prstGeom prst="rect">
              <a:avLst/>
            </a:prstGeom>
          </p:spPr>
        </p:pic>
        <p:pic>
          <p:nvPicPr>
            <p:cNvPr id="8" name="object 8"/>
            <p:cNvPicPr/>
            <p:nvPr/>
          </p:nvPicPr>
          <p:blipFill>
            <a:blip r:embed="rId5" cstate="print"/>
            <a:stretch>
              <a:fillRect/>
            </a:stretch>
          </p:blipFill>
          <p:spPr>
            <a:xfrm>
              <a:off x="7402068" y="551687"/>
              <a:ext cx="1533144" cy="920496"/>
            </a:xfrm>
            <a:prstGeom prst="rect">
              <a:avLst/>
            </a:prstGeom>
          </p:spPr>
        </p:pic>
        <p:sp>
          <p:nvSpPr>
            <p:cNvPr id="9" name="object 9"/>
            <p:cNvSpPr/>
            <p:nvPr/>
          </p:nvSpPr>
          <p:spPr>
            <a:xfrm>
              <a:off x="6814312" y="1021079"/>
              <a:ext cx="581660" cy="566420"/>
            </a:xfrm>
            <a:custGeom>
              <a:avLst/>
              <a:gdLst/>
              <a:ahLst/>
              <a:cxnLst/>
              <a:rect l="l" t="t" r="r" b="b"/>
              <a:pathLst>
                <a:path w="581659" h="566419">
                  <a:moveTo>
                    <a:pt x="581152" y="0"/>
                  </a:moveTo>
                  <a:lnTo>
                    <a:pt x="0" y="566166"/>
                  </a:lnTo>
                </a:path>
              </a:pathLst>
            </a:custGeom>
            <a:ln w="9144">
              <a:solidFill>
                <a:srgbClr val="97B853"/>
              </a:solidFill>
            </a:ln>
          </p:spPr>
          <p:txBody>
            <a:bodyPr wrap="square" lIns="0" tIns="0" rIns="0" bIns="0" rtlCol="0"/>
            <a:lstStyle/>
            <a:p>
              <a:endParaRPr/>
            </a:p>
          </p:txBody>
        </p:sp>
      </p:grpSp>
      <p:sp>
        <p:nvSpPr>
          <p:cNvPr id="10" name="object 10"/>
          <p:cNvSpPr txBox="1"/>
          <p:nvPr/>
        </p:nvSpPr>
        <p:spPr>
          <a:xfrm>
            <a:off x="7402068" y="551687"/>
            <a:ext cx="1533525" cy="920750"/>
          </a:xfrm>
          <a:prstGeom prst="rect">
            <a:avLst/>
          </a:prstGeom>
          <a:ln w="9144">
            <a:solidFill>
              <a:srgbClr val="97B853"/>
            </a:solidFill>
          </a:ln>
        </p:spPr>
        <p:txBody>
          <a:bodyPr vert="horz" wrap="square" lIns="0" tIns="170180" rIns="0" bIns="0" rtlCol="0">
            <a:spAutoFit/>
          </a:bodyPr>
          <a:lstStyle/>
          <a:p>
            <a:pPr marL="196215" marR="136525" indent="-50800">
              <a:lnSpc>
                <a:spcPct val="100000"/>
              </a:lnSpc>
              <a:spcBef>
                <a:spcPts val="1340"/>
              </a:spcBef>
            </a:pPr>
            <a:r>
              <a:rPr sz="1800" spc="-15" dirty="0">
                <a:latin typeface="Calibri"/>
                <a:cs typeface="Calibri"/>
              </a:rPr>
              <a:t>Root</a:t>
            </a:r>
            <a:r>
              <a:rPr sz="1800" spc="-45" dirty="0">
                <a:latin typeface="Calibri"/>
                <a:cs typeface="Calibri"/>
              </a:rPr>
              <a:t> </a:t>
            </a:r>
            <a:r>
              <a:rPr sz="1800" dirty="0">
                <a:latin typeface="Calibri"/>
                <a:cs typeface="Calibri"/>
              </a:rPr>
              <a:t>Node</a:t>
            </a:r>
            <a:r>
              <a:rPr sz="1800" spc="-45" dirty="0">
                <a:latin typeface="Calibri"/>
                <a:cs typeface="Calibri"/>
              </a:rPr>
              <a:t> </a:t>
            </a:r>
            <a:r>
              <a:rPr sz="1800" spc="-5" dirty="0">
                <a:latin typeface="Calibri"/>
                <a:cs typeface="Calibri"/>
              </a:rPr>
              <a:t>or </a:t>
            </a:r>
            <a:r>
              <a:rPr sz="1800" spc="-390" dirty="0">
                <a:latin typeface="Calibri"/>
                <a:cs typeface="Calibri"/>
              </a:rPr>
              <a:t> </a:t>
            </a:r>
            <a:r>
              <a:rPr sz="1800" spc="-10" dirty="0">
                <a:latin typeface="Calibri"/>
                <a:cs typeface="Calibri"/>
              </a:rPr>
              <a:t>parent</a:t>
            </a:r>
            <a:r>
              <a:rPr sz="1800" spc="-40" dirty="0">
                <a:latin typeface="Calibri"/>
                <a:cs typeface="Calibri"/>
              </a:rPr>
              <a:t> </a:t>
            </a:r>
            <a:r>
              <a:rPr sz="1800" spc="-5" dirty="0">
                <a:latin typeface="Calibri"/>
                <a:cs typeface="Calibri"/>
              </a:rPr>
              <a:t>node</a:t>
            </a:r>
            <a:endParaRPr sz="1800">
              <a:latin typeface="Calibri"/>
              <a:cs typeface="Calibri"/>
            </a:endParaRPr>
          </a:p>
        </p:txBody>
      </p:sp>
      <p:grpSp>
        <p:nvGrpSpPr>
          <p:cNvPr id="11" name="object 11"/>
          <p:cNvGrpSpPr/>
          <p:nvPr/>
        </p:nvGrpSpPr>
        <p:grpSpPr>
          <a:xfrm>
            <a:off x="6377940" y="3429000"/>
            <a:ext cx="1355090" cy="1123315"/>
            <a:chOff x="6377940" y="3429000"/>
            <a:chExt cx="1355090" cy="1123315"/>
          </a:xfrm>
        </p:grpSpPr>
        <p:pic>
          <p:nvPicPr>
            <p:cNvPr id="12" name="object 12"/>
            <p:cNvPicPr/>
            <p:nvPr/>
          </p:nvPicPr>
          <p:blipFill>
            <a:blip r:embed="rId6" cstate="print"/>
            <a:stretch>
              <a:fillRect/>
            </a:stretch>
          </p:blipFill>
          <p:spPr>
            <a:xfrm>
              <a:off x="6377940" y="3429000"/>
              <a:ext cx="1354836" cy="1114031"/>
            </a:xfrm>
            <a:prstGeom prst="rect">
              <a:avLst/>
            </a:prstGeom>
          </p:spPr>
        </p:pic>
        <p:pic>
          <p:nvPicPr>
            <p:cNvPr id="13" name="object 13"/>
            <p:cNvPicPr/>
            <p:nvPr/>
          </p:nvPicPr>
          <p:blipFill>
            <a:blip r:embed="rId7" cstate="print"/>
            <a:stretch>
              <a:fillRect/>
            </a:stretch>
          </p:blipFill>
          <p:spPr>
            <a:xfrm>
              <a:off x="6685788" y="3717036"/>
              <a:ext cx="911339" cy="835164"/>
            </a:xfrm>
            <a:prstGeom prst="rect">
              <a:avLst/>
            </a:prstGeom>
          </p:spPr>
        </p:pic>
        <p:pic>
          <p:nvPicPr>
            <p:cNvPr id="14" name="object 14"/>
            <p:cNvPicPr/>
            <p:nvPr/>
          </p:nvPicPr>
          <p:blipFill>
            <a:blip r:embed="rId8" cstate="print"/>
            <a:stretch>
              <a:fillRect/>
            </a:stretch>
          </p:blipFill>
          <p:spPr>
            <a:xfrm>
              <a:off x="6424676" y="3455796"/>
              <a:ext cx="1265132" cy="1024809"/>
            </a:xfrm>
            <a:prstGeom prst="rect">
              <a:avLst/>
            </a:prstGeom>
          </p:spPr>
        </p:pic>
        <p:sp>
          <p:nvSpPr>
            <p:cNvPr id="15" name="object 15"/>
            <p:cNvSpPr/>
            <p:nvPr/>
          </p:nvSpPr>
          <p:spPr>
            <a:xfrm>
              <a:off x="6424676" y="3455796"/>
              <a:ext cx="1265555" cy="1024890"/>
            </a:xfrm>
            <a:custGeom>
              <a:avLst/>
              <a:gdLst/>
              <a:ahLst/>
              <a:cxnLst/>
              <a:rect l="l" t="t" r="r" b="b"/>
              <a:pathLst>
                <a:path w="1265554" h="1024889">
                  <a:moveTo>
                    <a:pt x="0" y="0"/>
                  </a:moveTo>
                  <a:lnTo>
                    <a:pt x="438023" y="273049"/>
                  </a:lnTo>
                  <a:lnTo>
                    <a:pt x="485902" y="258573"/>
                  </a:lnTo>
                  <a:lnTo>
                    <a:pt x="534618" y="247316"/>
                  </a:lnTo>
                  <a:lnTo>
                    <a:pt x="583899" y="239215"/>
                  </a:lnTo>
                  <a:lnTo>
                    <a:pt x="633474" y="234207"/>
                  </a:lnTo>
                  <a:lnTo>
                    <a:pt x="683070" y="232229"/>
                  </a:lnTo>
                  <a:lnTo>
                    <a:pt x="732418" y="233218"/>
                  </a:lnTo>
                  <a:lnTo>
                    <a:pt x="781245" y="237109"/>
                  </a:lnTo>
                  <a:lnTo>
                    <a:pt x="829280" y="243839"/>
                  </a:lnTo>
                  <a:lnTo>
                    <a:pt x="876252" y="253345"/>
                  </a:lnTo>
                  <a:lnTo>
                    <a:pt x="921889" y="265565"/>
                  </a:lnTo>
                  <a:lnTo>
                    <a:pt x="965920" y="280433"/>
                  </a:lnTo>
                  <a:lnTo>
                    <a:pt x="1008074" y="297887"/>
                  </a:lnTo>
                  <a:lnTo>
                    <a:pt x="1048079" y="317864"/>
                  </a:lnTo>
                  <a:lnTo>
                    <a:pt x="1085663" y="340299"/>
                  </a:lnTo>
                  <a:lnTo>
                    <a:pt x="1120556" y="365130"/>
                  </a:lnTo>
                  <a:lnTo>
                    <a:pt x="1152487" y="392294"/>
                  </a:lnTo>
                  <a:lnTo>
                    <a:pt x="1181182" y="421726"/>
                  </a:lnTo>
                  <a:lnTo>
                    <a:pt x="1206373" y="453364"/>
                  </a:lnTo>
                  <a:lnTo>
                    <a:pt x="1229647" y="490610"/>
                  </a:lnTo>
                  <a:lnTo>
                    <a:pt x="1247029" y="528555"/>
                  </a:lnTo>
                  <a:lnTo>
                    <a:pt x="1258649" y="566934"/>
                  </a:lnTo>
                  <a:lnTo>
                    <a:pt x="1264640" y="605480"/>
                  </a:lnTo>
                  <a:lnTo>
                    <a:pt x="1265132" y="643925"/>
                  </a:lnTo>
                  <a:lnTo>
                    <a:pt x="1260256" y="682003"/>
                  </a:lnTo>
                  <a:lnTo>
                    <a:pt x="1250146" y="719448"/>
                  </a:lnTo>
                  <a:lnTo>
                    <a:pt x="1234932" y="755992"/>
                  </a:lnTo>
                  <a:lnTo>
                    <a:pt x="1214745" y="791370"/>
                  </a:lnTo>
                  <a:lnTo>
                    <a:pt x="1189717" y="825315"/>
                  </a:lnTo>
                  <a:lnTo>
                    <a:pt x="1159981" y="857559"/>
                  </a:lnTo>
                  <a:lnTo>
                    <a:pt x="1125666" y="887836"/>
                  </a:lnTo>
                  <a:lnTo>
                    <a:pt x="1086905" y="915880"/>
                  </a:lnTo>
                  <a:lnTo>
                    <a:pt x="1043830" y="941424"/>
                  </a:lnTo>
                  <a:lnTo>
                    <a:pt x="996571" y="964201"/>
                  </a:lnTo>
                  <a:lnTo>
                    <a:pt x="945260" y="983945"/>
                  </a:lnTo>
                  <a:lnTo>
                    <a:pt x="897381" y="998435"/>
                  </a:lnTo>
                  <a:lnTo>
                    <a:pt x="848665" y="1009703"/>
                  </a:lnTo>
                  <a:lnTo>
                    <a:pt x="799384" y="1017812"/>
                  </a:lnTo>
                  <a:lnTo>
                    <a:pt x="749809" y="1022826"/>
                  </a:lnTo>
                  <a:lnTo>
                    <a:pt x="700213" y="1024809"/>
                  </a:lnTo>
                  <a:lnTo>
                    <a:pt x="650865" y="1023824"/>
                  </a:lnTo>
                  <a:lnTo>
                    <a:pt x="602038" y="1019934"/>
                  </a:lnTo>
                  <a:lnTo>
                    <a:pt x="554003" y="1013205"/>
                  </a:lnTo>
                  <a:lnTo>
                    <a:pt x="507031" y="1003698"/>
                  </a:lnTo>
                  <a:lnTo>
                    <a:pt x="461394" y="991478"/>
                  </a:lnTo>
                  <a:lnTo>
                    <a:pt x="417363" y="976609"/>
                  </a:lnTo>
                  <a:lnTo>
                    <a:pt x="375209" y="959153"/>
                  </a:lnTo>
                  <a:lnTo>
                    <a:pt x="335204" y="939176"/>
                  </a:lnTo>
                  <a:lnTo>
                    <a:pt x="297620" y="916739"/>
                  </a:lnTo>
                  <a:lnTo>
                    <a:pt x="262727" y="891908"/>
                  </a:lnTo>
                  <a:lnTo>
                    <a:pt x="230796" y="864746"/>
                  </a:lnTo>
                  <a:lnTo>
                    <a:pt x="202101" y="835315"/>
                  </a:lnTo>
                  <a:lnTo>
                    <a:pt x="176910" y="803681"/>
                  </a:lnTo>
                  <a:lnTo>
                    <a:pt x="152118" y="763511"/>
                  </a:lnTo>
                  <a:lnTo>
                    <a:pt x="134079" y="722282"/>
                  </a:lnTo>
                  <a:lnTo>
                    <a:pt x="122721" y="680364"/>
                  </a:lnTo>
                  <a:lnTo>
                    <a:pt x="117971" y="638126"/>
                  </a:lnTo>
                  <a:lnTo>
                    <a:pt x="119757" y="595939"/>
                  </a:lnTo>
                  <a:lnTo>
                    <a:pt x="128006" y="554174"/>
                  </a:lnTo>
                  <a:lnTo>
                    <a:pt x="142646" y="513200"/>
                  </a:lnTo>
                  <a:lnTo>
                    <a:pt x="163603" y="473386"/>
                  </a:lnTo>
                  <a:lnTo>
                    <a:pt x="190804" y="435105"/>
                  </a:lnTo>
                  <a:lnTo>
                    <a:pt x="224178" y="398725"/>
                  </a:lnTo>
                  <a:lnTo>
                    <a:pt x="263651" y="364616"/>
                  </a:lnTo>
                  <a:lnTo>
                    <a:pt x="0" y="0"/>
                  </a:lnTo>
                  <a:close/>
                </a:path>
              </a:pathLst>
            </a:custGeom>
            <a:ln w="9143">
              <a:solidFill>
                <a:srgbClr val="97B853"/>
              </a:solidFill>
            </a:ln>
          </p:spPr>
          <p:txBody>
            <a:bodyPr wrap="square" lIns="0" tIns="0" rIns="0" bIns="0" rtlCol="0"/>
            <a:lstStyle/>
            <a:p>
              <a:endParaRPr/>
            </a:p>
          </p:txBody>
        </p:sp>
      </p:grpSp>
      <p:sp>
        <p:nvSpPr>
          <p:cNvPr id="16" name="object 16"/>
          <p:cNvSpPr txBox="1"/>
          <p:nvPr/>
        </p:nvSpPr>
        <p:spPr>
          <a:xfrm>
            <a:off x="6853173" y="3783279"/>
            <a:ext cx="528320" cy="574040"/>
          </a:xfrm>
          <a:prstGeom prst="rect">
            <a:avLst/>
          </a:prstGeom>
        </p:spPr>
        <p:txBody>
          <a:bodyPr vert="horz" wrap="square" lIns="0" tIns="12700" rIns="0" bIns="0" rtlCol="0">
            <a:spAutoFit/>
          </a:bodyPr>
          <a:lstStyle/>
          <a:p>
            <a:pPr marL="12700" marR="5080" indent="17780">
              <a:lnSpc>
                <a:spcPct val="100000"/>
              </a:lnSpc>
              <a:spcBef>
                <a:spcPts val="100"/>
              </a:spcBef>
            </a:pPr>
            <a:r>
              <a:rPr lang="en-US" spc="-5" dirty="0">
                <a:latin typeface="Calibri"/>
                <a:cs typeface="Calibri"/>
              </a:rPr>
              <a:t>leaf</a:t>
            </a:r>
            <a:r>
              <a:rPr sz="1800" spc="-5" dirty="0">
                <a:latin typeface="Calibri"/>
                <a:cs typeface="Calibri"/>
              </a:rPr>
              <a:t> </a:t>
            </a:r>
            <a:r>
              <a:rPr sz="1800" spc="-395" dirty="0">
                <a:latin typeface="Calibri"/>
                <a:cs typeface="Calibri"/>
              </a:rPr>
              <a:t> </a:t>
            </a:r>
            <a:r>
              <a:rPr sz="1800" dirty="0">
                <a:latin typeface="Calibri"/>
                <a:cs typeface="Calibri"/>
              </a:rPr>
              <a:t>Node</a:t>
            </a:r>
          </a:p>
        </p:txBody>
      </p:sp>
      <p:grpSp>
        <p:nvGrpSpPr>
          <p:cNvPr id="17" name="object 17"/>
          <p:cNvGrpSpPr/>
          <p:nvPr/>
        </p:nvGrpSpPr>
        <p:grpSpPr>
          <a:xfrm>
            <a:off x="4890515" y="905255"/>
            <a:ext cx="1519555" cy="1584960"/>
            <a:chOff x="4890515" y="905255"/>
            <a:chExt cx="1519555" cy="1584960"/>
          </a:xfrm>
        </p:grpSpPr>
        <p:pic>
          <p:nvPicPr>
            <p:cNvPr id="18" name="object 18"/>
            <p:cNvPicPr/>
            <p:nvPr/>
          </p:nvPicPr>
          <p:blipFill>
            <a:blip r:embed="rId9" cstate="print"/>
            <a:stretch>
              <a:fillRect/>
            </a:stretch>
          </p:blipFill>
          <p:spPr>
            <a:xfrm>
              <a:off x="4890515" y="905255"/>
              <a:ext cx="1519427" cy="1584959"/>
            </a:xfrm>
            <a:prstGeom prst="rect">
              <a:avLst/>
            </a:prstGeom>
          </p:spPr>
        </p:pic>
        <p:pic>
          <p:nvPicPr>
            <p:cNvPr id="19" name="object 19"/>
            <p:cNvPicPr/>
            <p:nvPr/>
          </p:nvPicPr>
          <p:blipFill>
            <a:blip r:embed="rId10" cstate="print"/>
            <a:stretch>
              <a:fillRect/>
            </a:stretch>
          </p:blipFill>
          <p:spPr>
            <a:xfrm>
              <a:off x="5109971" y="1019543"/>
              <a:ext cx="1133868" cy="835164"/>
            </a:xfrm>
            <a:prstGeom prst="rect">
              <a:avLst/>
            </a:prstGeom>
          </p:spPr>
        </p:pic>
        <p:pic>
          <p:nvPicPr>
            <p:cNvPr id="20" name="object 20"/>
            <p:cNvPicPr/>
            <p:nvPr/>
          </p:nvPicPr>
          <p:blipFill>
            <a:blip r:embed="rId11" cstate="print"/>
            <a:stretch>
              <a:fillRect/>
            </a:stretch>
          </p:blipFill>
          <p:spPr>
            <a:xfrm>
              <a:off x="4937886" y="932687"/>
              <a:ext cx="1429258" cy="1494155"/>
            </a:xfrm>
            <a:prstGeom prst="rect">
              <a:avLst/>
            </a:prstGeom>
          </p:spPr>
        </p:pic>
        <p:sp>
          <p:nvSpPr>
            <p:cNvPr id="21" name="object 21"/>
            <p:cNvSpPr/>
            <p:nvPr/>
          </p:nvSpPr>
          <p:spPr>
            <a:xfrm>
              <a:off x="4937886" y="932687"/>
              <a:ext cx="1429385" cy="1494155"/>
            </a:xfrm>
            <a:custGeom>
              <a:avLst/>
              <a:gdLst/>
              <a:ahLst/>
              <a:cxnLst/>
              <a:rect l="l" t="t" r="r" b="b"/>
              <a:pathLst>
                <a:path w="1429385" h="1494155">
                  <a:moveTo>
                    <a:pt x="1008888" y="1494155"/>
                  </a:moveTo>
                  <a:lnTo>
                    <a:pt x="704468" y="908303"/>
                  </a:lnTo>
                  <a:lnTo>
                    <a:pt x="645887" y="906270"/>
                  </a:lnTo>
                  <a:lnTo>
                    <a:pt x="588677" y="901314"/>
                  </a:lnTo>
                  <a:lnTo>
                    <a:pt x="533019" y="893555"/>
                  </a:lnTo>
                  <a:lnTo>
                    <a:pt x="479096" y="883112"/>
                  </a:lnTo>
                  <a:lnTo>
                    <a:pt x="427089" y="870102"/>
                  </a:lnTo>
                  <a:lnTo>
                    <a:pt x="377177" y="854645"/>
                  </a:lnTo>
                  <a:lnTo>
                    <a:pt x="329544" y="836860"/>
                  </a:lnTo>
                  <a:lnTo>
                    <a:pt x="284369" y="816863"/>
                  </a:lnTo>
                  <a:lnTo>
                    <a:pt x="241834" y="794776"/>
                  </a:lnTo>
                  <a:lnTo>
                    <a:pt x="202120" y="770715"/>
                  </a:lnTo>
                  <a:lnTo>
                    <a:pt x="165408" y="744799"/>
                  </a:lnTo>
                  <a:lnTo>
                    <a:pt x="131880" y="717148"/>
                  </a:lnTo>
                  <a:lnTo>
                    <a:pt x="101717" y="687880"/>
                  </a:lnTo>
                  <a:lnTo>
                    <a:pt x="75099" y="657112"/>
                  </a:lnTo>
                  <a:lnTo>
                    <a:pt x="52208" y="624965"/>
                  </a:lnTo>
                  <a:lnTo>
                    <a:pt x="33226" y="591555"/>
                  </a:lnTo>
                  <a:lnTo>
                    <a:pt x="7709" y="521427"/>
                  </a:lnTo>
                  <a:lnTo>
                    <a:pt x="0" y="447675"/>
                  </a:lnTo>
                  <a:lnTo>
                    <a:pt x="3198" y="410465"/>
                  </a:lnTo>
                  <a:lnTo>
                    <a:pt x="23200" y="338766"/>
                  </a:lnTo>
                  <a:lnTo>
                    <a:pt x="60098" y="271462"/>
                  </a:lnTo>
                  <a:lnTo>
                    <a:pt x="84417" y="239747"/>
                  </a:lnTo>
                  <a:lnTo>
                    <a:pt x="112400" y="209477"/>
                  </a:lnTo>
                  <a:lnTo>
                    <a:pt x="143861" y="180767"/>
                  </a:lnTo>
                  <a:lnTo>
                    <a:pt x="178614" y="153734"/>
                  </a:lnTo>
                  <a:lnTo>
                    <a:pt x="216471" y="128492"/>
                  </a:lnTo>
                  <a:lnTo>
                    <a:pt x="257247" y="105157"/>
                  </a:lnTo>
                  <a:lnTo>
                    <a:pt x="300755" y="83844"/>
                  </a:lnTo>
                  <a:lnTo>
                    <a:pt x="346808" y="64669"/>
                  </a:lnTo>
                  <a:lnTo>
                    <a:pt x="395220" y="47747"/>
                  </a:lnTo>
                  <a:lnTo>
                    <a:pt x="445805" y="33194"/>
                  </a:lnTo>
                  <a:lnTo>
                    <a:pt x="498376" y="21125"/>
                  </a:lnTo>
                  <a:lnTo>
                    <a:pt x="552746" y="11656"/>
                  </a:lnTo>
                  <a:lnTo>
                    <a:pt x="608729" y="4901"/>
                  </a:lnTo>
                  <a:lnTo>
                    <a:pt x="666139" y="978"/>
                  </a:lnTo>
                  <a:lnTo>
                    <a:pt x="724788" y="0"/>
                  </a:lnTo>
                  <a:lnTo>
                    <a:pt x="783370" y="2033"/>
                  </a:lnTo>
                  <a:lnTo>
                    <a:pt x="840580" y="6989"/>
                  </a:lnTo>
                  <a:lnTo>
                    <a:pt x="896238" y="14748"/>
                  </a:lnTo>
                  <a:lnTo>
                    <a:pt x="950161" y="25191"/>
                  </a:lnTo>
                  <a:lnTo>
                    <a:pt x="1002168" y="38201"/>
                  </a:lnTo>
                  <a:lnTo>
                    <a:pt x="1052080" y="53658"/>
                  </a:lnTo>
                  <a:lnTo>
                    <a:pt x="1099713" y="71443"/>
                  </a:lnTo>
                  <a:lnTo>
                    <a:pt x="1144888" y="91440"/>
                  </a:lnTo>
                  <a:lnTo>
                    <a:pt x="1187423" y="113527"/>
                  </a:lnTo>
                  <a:lnTo>
                    <a:pt x="1227137" y="137588"/>
                  </a:lnTo>
                  <a:lnTo>
                    <a:pt x="1263849" y="163504"/>
                  </a:lnTo>
                  <a:lnTo>
                    <a:pt x="1297377" y="191155"/>
                  </a:lnTo>
                  <a:lnTo>
                    <a:pt x="1327540" y="220423"/>
                  </a:lnTo>
                  <a:lnTo>
                    <a:pt x="1354158" y="251191"/>
                  </a:lnTo>
                  <a:lnTo>
                    <a:pt x="1377049" y="283338"/>
                  </a:lnTo>
                  <a:lnTo>
                    <a:pt x="1396031" y="316748"/>
                  </a:lnTo>
                  <a:lnTo>
                    <a:pt x="1421548" y="386876"/>
                  </a:lnTo>
                  <a:lnTo>
                    <a:pt x="1429258" y="460628"/>
                  </a:lnTo>
                  <a:lnTo>
                    <a:pt x="1425716" y="499944"/>
                  </a:lnTo>
                  <a:lnTo>
                    <a:pt x="1416957" y="538475"/>
                  </a:lnTo>
                  <a:lnTo>
                    <a:pt x="1403168" y="576051"/>
                  </a:lnTo>
                  <a:lnTo>
                    <a:pt x="1384536" y="612501"/>
                  </a:lnTo>
                  <a:lnTo>
                    <a:pt x="1361247" y="647654"/>
                  </a:lnTo>
                  <a:lnTo>
                    <a:pt x="1333489" y="681341"/>
                  </a:lnTo>
                  <a:lnTo>
                    <a:pt x="1301448" y="713390"/>
                  </a:lnTo>
                  <a:lnTo>
                    <a:pt x="1265311" y="743632"/>
                  </a:lnTo>
                  <a:lnTo>
                    <a:pt x="1225266" y="771895"/>
                  </a:lnTo>
                  <a:lnTo>
                    <a:pt x="1181498" y="798010"/>
                  </a:lnTo>
                  <a:lnTo>
                    <a:pt x="1134196" y="821805"/>
                  </a:lnTo>
                  <a:lnTo>
                    <a:pt x="1083545" y="843110"/>
                  </a:lnTo>
                  <a:lnTo>
                    <a:pt x="1029733" y="861755"/>
                  </a:lnTo>
                  <a:lnTo>
                    <a:pt x="972947" y="877570"/>
                  </a:lnTo>
                  <a:lnTo>
                    <a:pt x="1008888" y="1494155"/>
                  </a:lnTo>
                  <a:close/>
                </a:path>
              </a:pathLst>
            </a:custGeom>
            <a:ln w="9144">
              <a:solidFill>
                <a:srgbClr val="97B853"/>
              </a:solidFill>
            </a:ln>
          </p:spPr>
          <p:txBody>
            <a:bodyPr wrap="square" lIns="0" tIns="0" rIns="0" bIns="0" rtlCol="0"/>
            <a:lstStyle/>
            <a:p>
              <a:endParaRPr/>
            </a:p>
          </p:txBody>
        </p:sp>
      </p:grpSp>
      <p:sp>
        <p:nvSpPr>
          <p:cNvPr id="22" name="object 22"/>
          <p:cNvSpPr txBox="1"/>
          <p:nvPr/>
        </p:nvSpPr>
        <p:spPr>
          <a:xfrm>
            <a:off x="5277739" y="1084579"/>
            <a:ext cx="752475" cy="566822"/>
          </a:xfrm>
          <a:prstGeom prst="rect">
            <a:avLst/>
          </a:prstGeom>
        </p:spPr>
        <p:txBody>
          <a:bodyPr vert="horz" wrap="square" lIns="0" tIns="12700" rIns="0" bIns="0" rtlCol="0">
            <a:spAutoFit/>
          </a:bodyPr>
          <a:lstStyle/>
          <a:p>
            <a:pPr marL="123825" marR="5080" indent="-111760">
              <a:lnSpc>
                <a:spcPct val="100000"/>
              </a:lnSpc>
              <a:spcBef>
                <a:spcPts val="100"/>
              </a:spcBef>
            </a:pPr>
            <a:r>
              <a:rPr lang="en-US" dirty="0">
                <a:latin typeface="Calibri"/>
                <a:cs typeface="Calibri"/>
              </a:rPr>
              <a:t>child</a:t>
            </a:r>
            <a:r>
              <a:rPr sz="1800" dirty="0">
                <a:latin typeface="Calibri"/>
                <a:cs typeface="Calibri"/>
              </a:rPr>
              <a:t>  Node</a:t>
            </a:r>
          </a:p>
        </p:txBody>
      </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a:t>
            </a:fld>
            <a:endParaRPr dirty="0"/>
          </a:p>
        </p:txBody>
      </p:sp>
    </p:spTree>
    <p:extLst>
      <p:ext uri="{BB962C8B-B14F-4D97-AF65-F5344CB8AC3E}">
        <p14:creationId xmlns:p14="http://schemas.microsoft.com/office/powerpoint/2010/main" val="1495861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6850" y="356997"/>
            <a:ext cx="5609590" cy="452120"/>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Root</a:t>
            </a:r>
            <a:r>
              <a:rPr sz="2800" b="1" spc="10" dirty="0">
                <a:latin typeface="Calibri"/>
                <a:cs typeface="Calibri"/>
              </a:rPr>
              <a:t> </a:t>
            </a:r>
            <a:r>
              <a:rPr sz="2800" b="1" spc="-5" dirty="0">
                <a:latin typeface="Calibri"/>
                <a:cs typeface="Calibri"/>
              </a:rPr>
              <a:t>Node,</a:t>
            </a:r>
            <a:r>
              <a:rPr sz="2800" b="1" spc="20" dirty="0">
                <a:latin typeface="Calibri"/>
                <a:cs typeface="Calibri"/>
              </a:rPr>
              <a:t> </a:t>
            </a:r>
            <a:r>
              <a:rPr sz="2800" b="1" spc="-15" dirty="0">
                <a:latin typeface="Calibri"/>
                <a:cs typeface="Calibri"/>
              </a:rPr>
              <a:t>Internal</a:t>
            </a:r>
            <a:r>
              <a:rPr sz="2800" b="1" spc="35" dirty="0">
                <a:latin typeface="Calibri"/>
                <a:cs typeface="Calibri"/>
              </a:rPr>
              <a:t> </a:t>
            </a:r>
            <a:r>
              <a:rPr sz="2800" b="1" spc="-5" dirty="0">
                <a:latin typeface="Calibri"/>
                <a:cs typeface="Calibri"/>
              </a:rPr>
              <a:t>Node,</a:t>
            </a:r>
            <a:r>
              <a:rPr sz="2800" b="1" spc="15" dirty="0">
                <a:latin typeface="Calibri"/>
                <a:cs typeface="Calibri"/>
              </a:rPr>
              <a:t> </a:t>
            </a:r>
            <a:r>
              <a:rPr lang="en-US" b="1" spc="-10" dirty="0">
                <a:latin typeface="Calibri"/>
                <a:cs typeface="Calibri"/>
              </a:rPr>
              <a:t>leaf </a:t>
            </a:r>
            <a:r>
              <a:rPr sz="2800" b="1" spc="-5" dirty="0">
                <a:latin typeface="Calibri"/>
                <a:cs typeface="Calibri"/>
              </a:rPr>
              <a:t>Node</a:t>
            </a:r>
            <a:endParaRPr sz="2800" dirty="0">
              <a:latin typeface="Calibri"/>
              <a:cs typeface="Calibri"/>
            </a:endParaRPr>
          </a:p>
        </p:txBody>
      </p:sp>
      <p:sp>
        <p:nvSpPr>
          <p:cNvPr id="3" name="object 3"/>
          <p:cNvSpPr txBox="1"/>
          <p:nvPr/>
        </p:nvSpPr>
        <p:spPr>
          <a:xfrm>
            <a:off x="535940" y="1125473"/>
            <a:ext cx="4164329" cy="257377"/>
          </a:xfrm>
          <a:prstGeom prst="rect">
            <a:avLst/>
          </a:prstGeom>
        </p:spPr>
        <p:txBody>
          <a:bodyPr vert="horz" wrap="square" lIns="0" tIns="58419" rIns="0" bIns="0" rtlCol="0">
            <a:spAutoFit/>
          </a:bodyPr>
          <a:lstStyle/>
          <a:p>
            <a:pPr marL="355600" marR="5080" indent="-342900">
              <a:lnSpc>
                <a:spcPts val="1540"/>
              </a:lnSpc>
              <a:spcBef>
                <a:spcPts val="459"/>
              </a:spcBef>
              <a:buFont typeface="Arial MT"/>
              <a:buChar char="•"/>
              <a:tabLst>
                <a:tab pos="354965" algn="l"/>
                <a:tab pos="355600" algn="l"/>
              </a:tabLst>
            </a:pPr>
            <a:endParaRPr sz="1600" dirty="0">
              <a:latin typeface="Calibri"/>
              <a:cs typeface="Calibri"/>
            </a:endParaRPr>
          </a:p>
        </p:txBody>
      </p:sp>
      <p:grpSp>
        <p:nvGrpSpPr>
          <p:cNvPr id="4" name="object 4"/>
          <p:cNvGrpSpPr/>
          <p:nvPr/>
        </p:nvGrpSpPr>
        <p:grpSpPr>
          <a:xfrm>
            <a:off x="4844796" y="524243"/>
            <a:ext cx="4174490" cy="3157855"/>
            <a:chOff x="4844796" y="524243"/>
            <a:chExt cx="4174490" cy="3157855"/>
          </a:xfrm>
        </p:grpSpPr>
        <p:pic>
          <p:nvPicPr>
            <p:cNvPr id="5" name="object 5"/>
            <p:cNvPicPr/>
            <p:nvPr/>
          </p:nvPicPr>
          <p:blipFill>
            <a:blip r:embed="rId3" cstate="print"/>
            <a:stretch>
              <a:fillRect/>
            </a:stretch>
          </p:blipFill>
          <p:spPr>
            <a:xfrm>
              <a:off x="4844796" y="1408175"/>
              <a:ext cx="4041648" cy="2273808"/>
            </a:xfrm>
            <a:prstGeom prst="rect">
              <a:avLst/>
            </a:prstGeom>
          </p:spPr>
        </p:pic>
        <p:pic>
          <p:nvPicPr>
            <p:cNvPr id="6" name="object 6"/>
            <p:cNvPicPr/>
            <p:nvPr/>
          </p:nvPicPr>
          <p:blipFill>
            <a:blip r:embed="rId4" cstate="print"/>
            <a:stretch>
              <a:fillRect/>
            </a:stretch>
          </p:blipFill>
          <p:spPr>
            <a:xfrm>
              <a:off x="6766560" y="524243"/>
              <a:ext cx="2211324" cy="1126248"/>
            </a:xfrm>
            <a:prstGeom prst="rect">
              <a:avLst/>
            </a:prstGeom>
          </p:spPr>
        </p:pic>
        <p:pic>
          <p:nvPicPr>
            <p:cNvPr id="7" name="object 7"/>
            <p:cNvPicPr/>
            <p:nvPr/>
          </p:nvPicPr>
          <p:blipFill>
            <a:blip r:embed="rId5" cstate="print"/>
            <a:stretch>
              <a:fillRect/>
            </a:stretch>
          </p:blipFill>
          <p:spPr>
            <a:xfrm>
              <a:off x="7367016" y="644638"/>
              <a:ext cx="1652016" cy="835165"/>
            </a:xfrm>
            <a:prstGeom prst="rect">
              <a:avLst/>
            </a:prstGeom>
          </p:spPr>
        </p:pic>
        <p:pic>
          <p:nvPicPr>
            <p:cNvPr id="8" name="object 8"/>
            <p:cNvPicPr/>
            <p:nvPr/>
          </p:nvPicPr>
          <p:blipFill>
            <a:blip r:embed="rId6" cstate="print"/>
            <a:stretch>
              <a:fillRect/>
            </a:stretch>
          </p:blipFill>
          <p:spPr>
            <a:xfrm>
              <a:off x="7402068" y="551687"/>
              <a:ext cx="1533144" cy="920496"/>
            </a:xfrm>
            <a:prstGeom prst="rect">
              <a:avLst/>
            </a:prstGeom>
          </p:spPr>
        </p:pic>
        <p:sp>
          <p:nvSpPr>
            <p:cNvPr id="9" name="object 9"/>
            <p:cNvSpPr/>
            <p:nvPr/>
          </p:nvSpPr>
          <p:spPr>
            <a:xfrm>
              <a:off x="6814312" y="1021079"/>
              <a:ext cx="581660" cy="566420"/>
            </a:xfrm>
            <a:custGeom>
              <a:avLst/>
              <a:gdLst/>
              <a:ahLst/>
              <a:cxnLst/>
              <a:rect l="l" t="t" r="r" b="b"/>
              <a:pathLst>
                <a:path w="581659" h="566419">
                  <a:moveTo>
                    <a:pt x="581152" y="0"/>
                  </a:moveTo>
                  <a:lnTo>
                    <a:pt x="0" y="566166"/>
                  </a:lnTo>
                </a:path>
              </a:pathLst>
            </a:custGeom>
            <a:ln w="9144">
              <a:solidFill>
                <a:srgbClr val="97B853"/>
              </a:solidFill>
            </a:ln>
          </p:spPr>
          <p:txBody>
            <a:bodyPr wrap="square" lIns="0" tIns="0" rIns="0" bIns="0" rtlCol="0"/>
            <a:lstStyle/>
            <a:p>
              <a:endParaRPr/>
            </a:p>
          </p:txBody>
        </p:sp>
      </p:grpSp>
      <p:sp>
        <p:nvSpPr>
          <p:cNvPr id="10" name="object 10"/>
          <p:cNvSpPr txBox="1"/>
          <p:nvPr/>
        </p:nvSpPr>
        <p:spPr>
          <a:xfrm>
            <a:off x="7402068" y="551687"/>
            <a:ext cx="1533525" cy="920750"/>
          </a:xfrm>
          <a:prstGeom prst="rect">
            <a:avLst/>
          </a:prstGeom>
          <a:ln w="9144">
            <a:solidFill>
              <a:srgbClr val="97B853"/>
            </a:solidFill>
          </a:ln>
        </p:spPr>
        <p:txBody>
          <a:bodyPr vert="horz" wrap="square" lIns="0" tIns="170180" rIns="0" bIns="0" rtlCol="0">
            <a:spAutoFit/>
          </a:bodyPr>
          <a:lstStyle/>
          <a:p>
            <a:pPr marL="196215" marR="136525" indent="-50800">
              <a:lnSpc>
                <a:spcPct val="100000"/>
              </a:lnSpc>
              <a:spcBef>
                <a:spcPts val="1340"/>
              </a:spcBef>
            </a:pPr>
            <a:r>
              <a:rPr sz="1800" spc="-15" dirty="0">
                <a:latin typeface="Calibri"/>
                <a:cs typeface="Calibri"/>
              </a:rPr>
              <a:t>Root</a:t>
            </a:r>
            <a:r>
              <a:rPr sz="1800" spc="-45" dirty="0">
                <a:latin typeface="Calibri"/>
                <a:cs typeface="Calibri"/>
              </a:rPr>
              <a:t> </a:t>
            </a:r>
            <a:r>
              <a:rPr sz="1800" dirty="0">
                <a:latin typeface="Calibri"/>
                <a:cs typeface="Calibri"/>
              </a:rPr>
              <a:t>Node</a:t>
            </a:r>
            <a:r>
              <a:rPr sz="1800" spc="-45" dirty="0">
                <a:latin typeface="Calibri"/>
                <a:cs typeface="Calibri"/>
              </a:rPr>
              <a:t> </a:t>
            </a:r>
            <a:r>
              <a:rPr sz="1800" spc="-5" dirty="0">
                <a:latin typeface="Calibri"/>
                <a:cs typeface="Calibri"/>
              </a:rPr>
              <a:t>or </a:t>
            </a:r>
            <a:r>
              <a:rPr sz="1800" spc="-390" dirty="0">
                <a:latin typeface="Calibri"/>
                <a:cs typeface="Calibri"/>
              </a:rPr>
              <a:t> </a:t>
            </a:r>
            <a:r>
              <a:rPr sz="1800" spc="-10" dirty="0">
                <a:latin typeface="Calibri"/>
                <a:cs typeface="Calibri"/>
              </a:rPr>
              <a:t>parent</a:t>
            </a:r>
            <a:r>
              <a:rPr sz="1800" spc="-40" dirty="0">
                <a:latin typeface="Calibri"/>
                <a:cs typeface="Calibri"/>
              </a:rPr>
              <a:t> </a:t>
            </a:r>
            <a:r>
              <a:rPr sz="1800" spc="-5" dirty="0">
                <a:latin typeface="Calibri"/>
                <a:cs typeface="Calibri"/>
              </a:rPr>
              <a:t>node</a:t>
            </a:r>
            <a:endParaRPr sz="1800">
              <a:latin typeface="Calibri"/>
              <a:cs typeface="Calibri"/>
            </a:endParaRPr>
          </a:p>
        </p:txBody>
      </p:sp>
      <p:grpSp>
        <p:nvGrpSpPr>
          <p:cNvPr id="11" name="object 11"/>
          <p:cNvGrpSpPr/>
          <p:nvPr/>
        </p:nvGrpSpPr>
        <p:grpSpPr>
          <a:xfrm>
            <a:off x="6377940" y="3429000"/>
            <a:ext cx="1355090" cy="1123315"/>
            <a:chOff x="6377940" y="3429000"/>
            <a:chExt cx="1355090" cy="1123315"/>
          </a:xfrm>
        </p:grpSpPr>
        <p:pic>
          <p:nvPicPr>
            <p:cNvPr id="12" name="object 12"/>
            <p:cNvPicPr/>
            <p:nvPr/>
          </p:nvPicPr>
          <p:blipFill>
            <a:blip r:embed="rId7" cstate="print"/>
            <a:stretch>
              <a:fillRect/>
            </a:stretch>
          </p:blipFill>
          <p:spPr>
            <a:xfrm>
              <a:off x="6377940" y="3429000"/>
              <a:ext cx="1354836" cy="1114031"/>
            </a:xfrm>
            <a:prstGeom prst="rect">
              <a:avLst/>
            </a:prstGeom>
          </p:spPr>
        </p:pic>
        <p:pic>
          <p:nvPicPr>
            <p:cNvPr id="13" name="object 13"/>
            <p:cNvPicPr/>
            <p:nvPr/>
          </p:nvPicPr>
          <p:blipFill>
            <a:blip r:embed="rId8" cstate="print"/>
            <a:stretch>
              <a:fillRect/>
            </a:stretch>
          </p:blipFill>
          <p:spPr>
            <a:xfrm>
              <a:off x="6685788" y="3717036"/>
              <a:ext cx="911339" cy="835164"/>
            </a:xfrm>
            <a:prstGeom prst="rect">
              <a:avLst/>
            </a:prstGeom>
          </p:spPr>
        </p:pic>
        <p:pic>
          <p:nvPicPr>
            <p:cNvPr id="14" name="object 14"/>
            <p:cNvPicPr/>
            <p:nvPr/>
          </p:nvPicPr>
          <p:blipFill>
            <a:blip r:embed="rId9" cstate="print"/>
            <a:stretch>
              <a:fillRect/>
            </a:stretch>
          </p:blipFill>
          <p:spPr>
            <a:xfrm>
              <a:off x="6424676" y="3455796"/>
              <a:ext cx="1265132" cy="1024809"/>
            </a:xfrm>
            <a:prstGeom prst="rect">
              <a:avLst/>
            </a:prstGeom>
          </p:spPr>
        </p:pic>
        <p:sp>
          <p:nvSpPr>
            <p:cNvPr id="15" name="object 15"/>
            <p:cNvSpPr/>
            <p:nvPr/>
          </p:nvSpPr>
          <p:spPr>
            <a:xfrm>
              <a:off x="6424676" y="3455796"/>
              <a:ext cx="1265555" cy="1024890"/>
            </a:xfrm>
            <a:custGeom>
              <a:avLst/>
              <a:gdLst/>
              <a:ahLst/>
              <a:cxnLst/>
              <a:rect l="l" t="t" r="r" b="b"/>
              <a:pathLst>
                <a:path w="1265554" h="1024889">
                  <a:moveTo>
                    <a:pt x="0" y="0"/>
                  </a:moveTo>
                  <a:lnTo>
                    <a:pt x="438023" y="273049"/>
                  </a:lnTo>
                  <a:lnTo>
                    <a:pt x="485902" y="258573"/>
                  </a:lnTo>
                  <a:lnTo>
                    <a:pt x="534618" y="247316"/>
                  </a:lnTo>
                  <a:lnTo>
                    <a:pt x="583899" y="239215"/>
                  </a:lnTo>
                  <a:lnTo>
                    <a:pt x="633474" y="234207"/>
                  </a:lnTo>
                  <a:lnTo>
                    <a:pt x="683070" y="232229"/>
                  </a:lnTo>
                  <a:lnTo>
                    <a:pt x="732418" y="233218"/>
                  </a:lnTo>
                  <a:lnTo>
                    <a:pt x="781245" y="237109"/>
                  </a:lnTo>
                  <a:lnTo>
                    <a:pt x="829280" y="243839"/>
                  </a:lnTo>
                  <a:lnTo>
                    <a:pt x="876252" y="253345"/>
                  </a:lnTo>
                  <a:lnTo>
                    <a:pt x="921889" y="265565"/>
                  </a:lnTo>
                  <a:lnTo>
                    <a:pt x="965920" y="280433"/>
                  </a:lnTo>
                  <a:lnTo>
                    <a:pt x="1008074" y="297887"/>
                  </a:lnTo>
                  <a:lnTo>
                    <a:pt x="1048079" y="317864"/>
                  </a:lnTo>
                  <a:lnTo>
                    <a:pt x="1085663" y="340299"/>
                  </a:lnTo>
                  <a:lnTo>
                    <a:pt x="1120556" y="365130"/>
                  </a:lnTo>
                  <a:lnTo>
                    <a:pt x="1152487" y="392294"/>
                  </a:lnTo>
                  <a:lnTo>
                    <a:pt x="1181182" y="421726"/>
                  </a:lnTo>
                  <a:lnTo>
                    <a:pt x="1206373" y="453364"/>
                  </a:lnTo>
                  <a:lnTo>
                    <a:pt x="1229647" y="490610"/>
                  </a:lnTo>
                  <a:lnTo>
                    <a:pt x="1247029" y="528555"/>
                  </a:lnTo>
                  <a:lnTo>
                    <a:pt x="1258649" y="566934"/>
                  </a:lnTo>
                  <a:lnTo>
                    <a:pt x="1264640" y="605480"/>
                  </a:lnTo>
                  <a:lnTo>
                    <a:pt x="1265132" y="643925"/>
                  </a:lnTo>
                  <a:lnTo>
                    <a:pt x="1260256" y="682003"/>
                  </a:lnTo>
                  <a:lnTo>
                    <a:pt x="1250146" y="719448"/>
                  </a:lnTo>
                  <a:lnTo>
                    <a:pt x="1234932" y="755992"/>
                  </a:lnTo>
                  <a:lnTo>
                    <a:pt x="1214745" y="791370"/>
                  </a:lnTo>
                  <a:lnTo>
                    <a:pt x="1189717" y="825315"/>
                  </a:lnTo>
                  <a:lnTo>
                    <a:pt x="1159981" y="857559"/>
                  </a:lnTo>
                  <a:lnTo>
                    <a:pt x="1125666" y="887836"/>
                  </a:lnTo>
                  <a:lnTo>
                    <a:pt x="1086905" y="915880"/>
                  </a:lnTo>
                  <a:lnTo>
                    <a:pt x="1043830" y="941424"/>
                  </a:lnTo>
                  <a:lnTo>
                    <a:pt x="996571" y="964201"/>
                  </a:lnTo>
                  <a:lnTo>
                    <a:pt x="945260" y="983945"/>
                  </a:lnTo>
                  <a:lnTo>
                    <a:pt x="897381" y="998435"/>
                  </a:lnTo>
                  <a:lnTo>
                    <a:pt x="848665" y="1009703"/>
                  </a:lnTo>
                  <a:lnTo>
                    <a:pt x="799384" y="1017812"/>
                  </a:lnTo>
                  <a:lnTo>
                    <a:pt x="749809" y="1022826"/>
                  </a:lnTo>
                  <a:lnTo>
                    <a:pt x="700213" y="1024809"/>
                  </a:lnTo>
                  <a:lnTo>
                    <a:pt x="650865" y="1023824"/>
                  </a:lnTo>
                  <a:lnTo>
                    <a:pt x="602038" y="1019934"/>
                  </a:lnTo>
                  <a:lnTo>
                    <a:pt x="554003" y="1013205"/>
                  </a:lnTo>
                  <a:lnTo>
                    <a:pt x="507031" y="1003698"/>
                  </a:lnTo>
                  <a:lnTo>
                    <a:pt x="461394" y="991478"/>
                  </a:lnTo>
                  <a:lnTo>
                    <a:pt x="417363" y="976609"/>
                  </a:lnTo>
                  <a:lnTo>
                    <a:pt x="375209" y="959153"/>
                  </a:lnTo>
                  <a:lnTo>
                    <a:pt x="335204" y="939176"/>
                  </a:lnTo>
                  <a:lnTo>
                    <a:pt x="297620" y="916739"/>
                  </a:lnTo>
                  <a:lnTo>
                    <a:pt x="262727" y="891908"/>
                  </a:lnTo>
                  <a:lnTo>
                    <a:pt x="230796" y="864746"/>
                  </a:lnTo>
                  <a:lnTo>
                    <a:pt x="202101" y="835315"/>
                  </a:lnTo>
                  <a:lnTo>
                    <a:pt x="176910" y="803681"/>
                  </a:lnTo>
                  <a:lnTo>
                    <a:pt x="152118" y="763511"/>
                  </a:lnTo>
                  <a:lnTo>
                    <a:pt x="134079" y="722282"/>
                  </a:lnTo>
                  <a:lnTo>
                    <a:pt x="122721" y="680364"/>
                  </a:lnTo>
                  <a:lnTo>
                    <a:pt x="117971" y="638126"/>
                  </a:lnTo>
                  <a:lnTo>
                    <a:pt x="119757" y="595939"/>
                  </a:lnTo>
                  <a:lnTo>
                    <a:pt x="128006" y="554174"/>
                  </a:lnTo>
                  <a:lnTo>
                    <a:pt x="142646" y="513200"/>
                  </a:lnTo>
                  <a:lnTo>
                    <a:pt x="163603" y="473386"/>
                  </a:lnTo>
                  <a:lnTo>
                    <a:pt x="190804" y="435105"/>
                  </a:lnTo>
                  <a:lnTo>
                    <a:pt x="224178" y="398725"/>
                  </a:lnTo>
                  <a:lnTo>
                    <a:pt x="263651" y="364616"/>
                  </a:lnTo>
                  <a:lnTo>
                    <a:pt x="0" y="0"/>
                  </a:lnTo>
                  <a:close/>
                </a:path>
              </a:pathLst>
            </a:custGeom>
            <a:ln w="9143">
              <a:solidFill>
                <a:srgbClr val="97B853"/>
              </a:solidFill>
            </a:ln>
          </p:spPr>
          <p:txBody>
            <a:bodyPr wrap="square" lIns="0" tIns="0" rIns="0" bIns="0" rtlCol="0"/>
            <a:lstStyle/>
            <a:p>
              <a:endParaRPr/>
            </a:p>
          </p:txBody>
        </p:sp>
      </p:grpSp>
      <p:sp>
        <p:nvSpPr>
          <p:cNvPr id="16" name="object 16"/>
          <p:cNvSpPr txBox="1"/>
          <p:nvPr/>
        </p:nvSpPr>
        <p:spPr>
          <a:xfrm>
            <a:off x="6853173" y="3783279"/>
            <a:ext cx="528320" cy="574040"/>
          </a:xfrm>
          <a:prstGeom prst="rect">
            <a:avLst/>
          </a:prstGeom>
        </p:spPr>
        <p:txBody>
          <a:bodyPr vert="horz" wrap="square" lIns="0" tIns="12700" rIns="0" bIns="0" rtlCol="0">
            <a:spAutoFit/>
          </a:bodyPr>
          <a:lstStyle/>
          <a:p>
            <a:pPr marL="12700" marR="5080" indent="17780">
              <a:lnSpc>
                <a:spcPct val="100000"/>
              </a:lnSpc>
              <a:spcBef>
                <a:spcPts val="100"/>
              </a:spcBef>
            </a:pPr>
            <a:r>
              <a:rPr lang="en-US" spc="-5" dirty="0">
                <a:latin typeface="Calibri"/>
                <a:cs typeface="Calibri"/>
              </a:rPr>
              <a:t>leaf</a:t>
            </a:r>
            <a:r>
              <a:rPr sz="1800" spc="-5" dirty="0">
                <a:latin typeface="Calibri"/>
                <a:cs typeface="Calibri"/>
              </a:rPr>
              <a:t> </a:t>
            </a:r>
            <a:r>
              <a:rPr sz="1800" spc="-395" dirty="0">
                <a:latin typeface="Calibri"/>
                <a:cs typeface="Calibri"/>
              </a:rPr>
              <a:t> </a:t>
            </a:r>
            <a:r>
              <a:rPr sz="1800" dirty="0">
                <a:latin typeface="Calibri"/>
                <a:cs typeface="Calibri"/>
              </a:rPr>
              <a:t>Node</a:t>
            </a:r>
          </a:p>
        </p:txBody>
      </p:sp>
      <p:grpSp>
        <p:nvGrpSpPr>
          <p:cNvPr id="17" name="object 17"/>
          <p:cNvGrpSpPr/>
          <p:nvPr/>
        </p:nvGrpSpPr>
        <p:grpSpPr>
          <a:xfrm>
            <a:off x="4890515" y="905255"/>
            <a:ext cx="1519555" cy="1584960"/>
            <a:chOff x="4890515" y="905255"/>
            <a:chExt cx="1519555" cy="1584960"/>
          </a:xfrm>
        </p:grpSpPr>
        <p:pic>
          <p:nvPicPr>
            <p:cNvPr id="18" name="object 18"/>
            <p:cNvPicPr/>
            <p:nvPr/>
          </p:nvPicPr>
          <p:blipFill>
            <a:blip r:embed="rId10" cstate="print"/>
            <a:stretch>
              <a:fillRect/>
            </a:stretch>
          </p:blipFill>
          <p:spPr>
            <a:xfrm>
              <a:off x="4890515" y="905255"/>
              <a:ext cx="1519427" cy="1584959"/>
            </a:xfrm>
            <a:prstGeom prst="rect">
              <a:avLst/>
            </a:prstGeom>
          </p:spPr>
        </p:pic>
        <p:pic>
          <p:nvPicPr>
            <p:cNvPr id="19" name="object 19"/>
            <p:cNvPicPr/>
            <p:nvPr/>
          </p:nvPicPr>
          <p:blipFill>
            <a:blip r:embed="rId11" cstate="print"/>
            <a:stretch>
              <a:fillRect/>
            </a:stretch>
          </p:blipFill>
          <p:spPr>
            <a:xfrm>
              <a:off x="5109971" y="1019543"/>
              <a:ext cx="1133868" cy="835164"/>
            </a:xfrm>
            <a:prstGeom prst="rect">
              <a:avLst/>
            </a:prstGeom>
          </p:spPr>
        </p:pic>
        <p:pic>
          <p:nvPicPr>
            <p:cNvPr id="20" name="object 20"/>
            <p:cNvPicPr/>
            <p:nvPr/>
          </p:nvPicPr>
          <p:blipFill>
            <a:blip r:embed="rId12" cstate="print"/>
            <a:stretch>
              <a:fillRect/>
            </a:stretch>
          </p:blipFill>
          <p:spPr>
            <a:xfrm>
              <a:off x="4937886" y="932687"/>
              <a:ext cx="1429258" cy="1494155"/>
            </a:xfrm>
            <a:prstGeom prst="rect">
              <a:avLst/>
            </a:prstGeom>
          </p:spPr>
        </p:pic>
        <p:sp>
          <p:nvSpPr>
            <p:cNvPr id="21" name="object 21"/>
            <p:cNvSpPr/>
            <p:nvPr/>
          </p:nvSpPr>
          <p:spPr>
            <a:xfrm>
              <a:off x="4937886" y="932687"/>
              <a:ext cx="1429385" cy="1494155"/>
            </a:xfrm>
            <a:custGeom>
              <a:avLst/>
              <a:gdLst/>
              <a:ahLst/>
              <a:cxnLst/>
              <a:rect l="l" t="t" r="r" b="b"/>
              <a:pathLst>
                <a:path w="1429385" h="1494155">
                  <a:moveTo>
                    <a:pt x="1008888" y="1494155"/>
                  </a:moveTo>
                  <a:lnTo>
                    <a:pt x="704468" y="908303"/>
                  </a:lnTo>
                  <a:lnTo>
                    <a:pt x="645887" y="906270"/>
                  </a:lnTo>
                  <a:lnTo>
                    <a:pt x="588677" y="901314"/>
                  </a:lnTo>
                  <a:lnTo>
                    <a:pt x="533019" y="893555"/>
                  </a:lnTo>
                  <a:lnTo>
                    <a:pt x="479096" y="883112"/>
                  </a:lnTo>
                  <a:lnTo>
                    <a:pt x="427089" y="870102"/>
                  </a:lnTo>
                  <a:lnTo>
                    <a:pt x="377177" y="854645"/>
                  </a:lnTo>
                  <a:lnTo>
                    <a:pt x="329544" y="836860"/>
                  </a:lnTo>
                  <a:lnTo>
                    <a:pt x="284369" y="816863"/>
                  </a:lnTo>
                  <a:lnTo>
                    <a:pt x="241834" y="794776"/>
                  </a:lnTo>
                  <a:lnTo>
                    <a:pt x="202120" y="770715"/>
                  </a:lnTo>
                  <a:lnTo>
                    <a:pt x="165408" y="744799"/>
                  </a:lnTo>
                  <a:lnTo>
                    <a:pt x="131880" y="717148"/>
                  </a:lnTo>
                  <a:lnTo>
                    <a:pt x="101717" y="687880"/>
                  </a:lnTo>
                  <a:lnTo>
                    <a:pt x="75099" y="657112"/>
                  </a:lnTo>
                  <a:lnTo>
                    <a:pt x="52208" y="624965"/>
                  </a:lnTo>
                  <a:lnTo>
                    <a:pt x="33226" y="591555"/>
                  </a:lnTo>
                  <a:lnTo>
                    <a:pt x="7709" y="521427"/>
                  </a:lnTo>
                  <a:lnTo>
                    <a:pt x="0" y="447675"/>
                  </a:lnTo>
                  <a:lnTo>
                    <a:pt x="3198" y="410465"/>
                  </a:lnTo>
                  <a:lnTo>
                    <a:pt x="23200" y="338766"/>
                  </a:lnTo>
                  <a:lnTo>
                    <a:pt x="60098" y="271462"/>
                  </a:lnTo>
                  <a:lnTo>
                    <a:pt x="84417" y="239747"/>
                  </a:lnTo>
                  <a:lnTo>
                    <a:pt x="112400" y="209477"/>
                  </a:lnTo>
                  <a:lnTo>
                    <a:pt x="143861" y="180767"/>
                  </a:lnTo>
                  <a:lnTo>
                    <a:pt x="178614" y="153734"/>
                  </a:lnTo>
                  <a:lnTo>
                    <a:pt x="216471" y="128492"/>
                  </a:lnTo>
                  <a:lnTo>
                    <a:pt x="257247" y="105157"/>
                  </a:lnTo>
                  <a:lnTo>
                    <a:pt x="300755" y="83844"/>
                  </a:lnTo>
                  <a:lnTo>
                    <a:pt x="346808" y="64669"/>
                  </a:lnTo>
                  <a:lnTo>
                    <a:pt x="395220" y="47747"/>
                  </a:lnTo>
                  <a:lnTo>
                    <a:pt x="445805" y="33194"/>
                  </a:lnTo>
                  <a:lnTo>
                    <a:pt x="498376" y="21125"/>
                  </a:lnTo>
                  <a:lnTo>
                    <a:pt x="552746" y="11656"/>
                  </a:lnTo>
                  <a:lnTo>
                    <a:pt x="608729" y="4901"/>
                  </a:lnTo>
                  <a:lnTo>
                    <a:pt x="666139" y="978"/>
                  </a:lnTo>
                  <a:lnTo>
                    <a:pt x="724788" y="0"/>
                  </a:lnTo>
                  <a:lnTo>
                    <a:pt x="783370" y="2033"/>
                  </a:lnTo>
                  <a:lnTo>
                    <a:pt x="840580" y="6989"/>
                  </a:lnTo>
                  <a:lnTo>
                    <a:pt x="896238" y="14748"/>
                  </a:lnTo>
                  <a:lnTo>
                    <a:pt x="950161" y="25191"/>
                  </a:lnTo>
                  <a:lnTo>
                    <a:pt x="1002168" y="38201"/>
                  </a:lnTo>
                  <a:lnTo>
                    <a:pt x="1052080" y="53658"/>
                  </a:lnTo>
                  <a:lnTo>
                    <a:pt x="1099713" y="71443"/>
                  </a:lnTo>
                  <a:lnTo>
                    <a:pt x="1144888" y="91440"/>
                  </a:lnTo>
                  <a:lnTo>
                    <a:pt x="1187423" y="113527"/>
                  </a:lnTo>
                  <a:lnTo>
                    <a:pt x="1227137" y="137588"/>
                  </a:lnTo>
                  <a:lnTo>
                    <a:pt x="1263849" y="163504"/>
                  </a:lnTo>
                  <a:lnTo>
                    <a:pt x="1297377" y="191155"/>
                  </a:lnTo>
                  <a:lnTo>
                    <a:pt x="1327540" y="220423"/>
                  </a:lnTo>
                  <a:lnTo>
                    <a:pt x="1354158" y="251191"/>
                  </a:lnTo>
                  <a:lnTo>
                    <a:pt x="1377049" y="283338"/>
                  </a:lnTo>
                  <a:lnTo>
                    <a:pt x="1396031" y="316748"/>
                  </a:lnTo>
                  <a:lnTo>
                    <a:pt x="1421548" y="386876"/>
                  </a:lnTo>
                  <a:lnTo>
                    <a:pt x="1429258" y="460628"/>
                  </a:lnTo>
                  <a:lnTo>
                    <a:pt x="1425716" y="499944"/>
                  </a:lnTo>
                  <a:lnTo>
                    <a:pt x="1416957" y="538475"/>
                  </a:lnTo>
                  <a:lnTo>
                    <a:pt x="1403168" y="576051"/>
                  </a:lnTo>
                  <a:lnTo>
                    <a:pt x="1384536" y="612501"/>
                  </a:lnTo>
                  <a:lnTo>
                    <a:pt x="1361247" y="647654"/>
                  </a:lnTo>
                  <a:lnTo>
                    <a:pt x="1333489" y="681341"/>
                  </a:lnTo>
                  <a:lnTo>
                    <a:pt x="1301448" y="713390"/>
                  </a:lnTo>
                  <a:lnTo>
                    <a:pt x="1265311" y="743632"/>
                  </a:lnTo>
                  <a:lnTo>
                    <a:pt x="1225266" y="771895"/>
                  </a:lnTo>
                  <a:lnTo>
                    <a:pt x="1181498" y="798010"/>
                  </a:lnTo>
                  <a:lnTo>
                    <a:pt x="1134196" y="821805"/>
                  </a:lnTo>
                  <a:lnTo>
                    <a:pt x="1083545" y="843110"/>
                  </a:lnTo>
                  <a:lnTo>
                    <a:pt x="1029733" y="861755"/>
                  </a:lnTo>
                  <a:lnTo>
                    <a:pt x="972947" y="877570"/>
                  </a:lnTo>
                  <a:lnTo>
                    <a:pt x="1008888" y="1494155"/>
                  </a:lnTo>
                  <a:close/>
                </a:path>
              </a:pathLst>
            </a:custGeom>
            <a:ln w="9144">
              <a:solidFill>
                <a:srgbClr val="97B853"/>
              </a:solidFill>
            </a:ln>
          </p:spPr>
          <p:txBody>
            <a:bodyPr wrap="square" lIns="0" tIns="0" rIns="0" bIns="0" rtlCol="0"/>
            <a:lstStyle/>
            <a:p>
              <a:endParaRPr/>
            </a:p>
          </p:txBody>
        </p:sp>
      </p:grpSp>
      <p:sp>
        <p:nvSpPr>
          <p:cNvPr id="22" name="object 22"/>
          <p:cNvSpPr txBox="1"/>
          <p:nvPr/>
        </p:nvSpPr>
        <p:spPr>
          <a:xfrm>
            <a:off x="5277739" y="1084579"/>
            <a:ext cx="752475" cy="566822"/>
          </a:xfrm>
          <a:prstGeom prst="rect">
            <a:avLst/>
          </a:prstGeom>
        </p:spPr>
        <p:txBody>
          <a:bodyPr vert="horz" wrap="square" lIns="0" tIns="12700" rIns="0" bIns="0" rtlCol="0">
            <a:spAutoFit/>
          </a:bodyPr>
          <a:lstStyle/>
          <a:p>
            <a:pPr marL="123825" marR="5080" indent="-111760">
              <a:lnSpc>
                <a:spcPct val="100000"/>
              </a:lnSpc>
              <a:spcBef>
                <a:spcPts val="100"/>
              </a:spcBef>
            </a:pPr>
            <a:r>
              <a:rPr lang="en-US" dirty="0">
                <a:latin typeface="Calibri"/>
                <a:cs typeface="Calibri"/>
              </a:rPr>
              <a:t>child</a:t>
            </a:r>
            <a:r>
              <a:rPr sz="1800" dirty="0">
                <a:latin typeface="Calibri"/>
                <a:cs typeface="Calibri"/>
              </a:rPr>
              <a:t>  Node</a:t>
            </a:r>
          </a:p>
        </p:txBody>
      </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7</a:t>
            </a:fld>
            <a:endParaRPr dirty="0"/>
          </a:p>
        </p:txBody>
      </p:sp>
      <p:pic>
        <p:nvPicPr>
          <p:cNvPr id="24" name="object 3">
            <a:extLst>
              <a:ext uri="{FF2B5EF4-FFF2-40B4-BE49-F238E27FC236}">
                <a16:creationId xmlns:a16="http://schemas.microsoft.com/office/drawing/2014/main" id="{270BDEEB-1002-4534-B0EF-46D6B7CFA395}"/>
              </a:ext>
            </a:extLst>
          </p:cNvPr>
          <p:cNvPicPr/>
          <p:nvPr/>
        </p:nvPicPr>
        <p:blipFill>
          <a:blip r:embed="rId13" cstate="print"/>
          <a:stretch>
            <a:fillRect/>
          </a:stretch>
        </p:blipFill>
        <p:spPr>
          <a:xfrm>
            <a:off x="497318" y="944962"/>
            <a:ext cx="4214888" cy="2782571"/>
          </a:xfrm>
          <a:prstGeom prst="rect">
            <a:avLst/>
          </a:prstGeom>
        </p:spPr>
      </p:pic>
      <p:graphicFrame>
        <p:nvGraphicFramePr>
          <p:cNvPr id="28" name="Table 7">
            <a:extLst>
              <a:ext uri="{FF2B5EF4-FFF2-40B4-BE49-F238E27FC236}">
                <a16:creationId xmlns:a16="http://schemas.microsoft.com/office/drawing/2014/main" id="{DB40D017-EC06-453A-99DB-67C8FE47BE15}"/>
              </a:ext>
            </a:extLst>
          </p:cNvPr>
          <p:cNvGraphicFramePr>
            <a:graphicFrameLocks noGrp="1"/>
          </p:cNvGraphicFramePr>
          <p:nvPr>
            <p:extLst>
              <p:ext uri="{D42A27DB-BD31-4B8C-83A1-F6EECF244321}">
                <p14:modId xmlns:p14="http://schemas.microsoft.com/office/powerpoint/2010/main" val="2379378770"/>
              </p:ext>
            </p:extLst>
          </p:nvPr>
        </p:nvGraphicFramePr>
        <p:xfrm>
          <a:off x="34118" y="4258065"/>
          <a:ext cx="6553345" cy="750408"/>
        </p:xfrm>
        <a:graphic>
          <a:graphicData uri="http://schemas.openxmlformats.org/drawingml/2006/table">
            <a:tbl>
              <a:tblPr firstRow="1" bandRow="1">
                <a:tableStyleId>{5C22544A-7EE6-4342-B048-85BDC9FD1C3A}</a:tableStyleId>
              </a:tblPr>
              <a:tblGrid>
                <a:gridCol w="1310669">
                  <a:extLst>
                    <a:ext uri="{9D8B030D-6E8A-4147-A177-3AD203B41FA5}">
                      <a16:colId xmlns:a16="http://schemas.microsoft.com/office/drawing/2014/main" val="2989334648"/>
                    </a:ext>
                  </a:extLst>
                </a:gridCol>
                <a:gridCol w="1310669">
                  <a:extLst>
                    <a:ext uri="{9D8B030D-6E8A-4147-A177-3AD203B41FA5}">
                      <a16:colId xmlns:a16="http://schemas.microsoft.com/office/drawing/2014/main" val="4158616264"/>
                    </a:ext>
                  </a:extLst>
                </a:gridCol>
                <a:gridCol w="1310669">
                  <a:extLst>
                    <a:ext uri="{9D8B030D-6E8A-4147-A177-3AD203B41FA5}">
                      <a16:colId xmlns:a16="http://schemas.microsoft.com/office/drawing/2014/main" val="2109675094"/>
                    </a:ext>
                  </a:extLst>
                </a:gridCol>
                <a:gridCol w="1310669">
                  <a:extLst>
                    <a:ext uri="{9D8B030D-6E8A-4147-A177-3AD203B41FA5}">
                      <a16:colId xmlns:a16="http://schemas.microsoft.com/office/drawing/2014/main" val="1814772151"/>
                    </a:ext>
                  </a:extLst>
                </a:gridCol>
                <a:gridCol w="1310669">
                  <a:extLst>
                    <a:ext uri="{9D8B030D-6E8A-4147-A177-3AD203B41FA5}">
                      <a16:colId xmlns:a16="http://schemas.microsoft.com/office/drawing/2014/main" val="2841708907"/>
                    </a:ext>
                  </a:extLst>
                </a:gridCol>
              </a:tblGrid>
              <a:tr h="375204">
                <a:tc>
                  <a:txBody>
                    <a:bodyPr/>
                    <a:lstStyle/>
                    <a:p>
                      <a:r>
                        <a:rPr lang="en-US" sz="1400" dirty="0"/>
                        <a:t>age</a:t>
                      </a:r>
                      <a:endParaRPr lang="en-IN" sz="1400" dirty="0"/>
                    </a:p>
                  </a:txBody>
                  <a:tcPr/>
                </a:tc>
                <a:tc>
                  <a:txBody>
                    <a:bodyPr/>
                    <a:lstStyle/>
                    <a:p>
                      <a:r>
                        <a:rPr lang="en-US" sz="1400" dirty="0"/>
                        <a:t>income</a:t>
                      </a:r>
                      <a:endParaRPr lang="en-IN" sz="1400" dirty="0"/>
                    </a:p>
                  </a:txBody>
                  <a:tcPr/>
                </a:tc>
                <a:tc>
                  <a:txBody>
                    <a:bodyPr/>
                    <a:lstStyle/>
                    <a:p>
                      <a:r>
                        <a:rPr lang="en-US" sz="1400" dirty="0"/>
                        <a:t>student</a:t>
                      </a:r>
                      <a:endParaRPr lang="en-IN" sz="1400" dirty="0"/>
                    </a:p>
                  </a:txBody>
                  <a:tcPr/>
                </a:tc>
                <a:tc>
                  <a:txBody>
                    <a:bodyPr/>
                    <a:lstStyle/>
                    <a:p>
                      <a:r>
                        <a:rPr lang="en-US" sz="1400" dirty="0"/>
                        <a:t>Credit rating</a:t>
                      </a:r>
                      <a:endParaRPr lang="en-IN" sz="1400" dirty="0"/>
                    </a:p>
                  </a:txBody>
                  <a:tcPr/>
                </a:tc>
                <a:tc>
                  <a:txBody>
                    <a:bodyPr/>
                    <a:lstStyle/>
                    <a:p>
                      <a:r>
                        <a:rPr lang="en-US" sz="1400" dirty="0"/>
                        <a:t>Buys comp</a:t>
                      </a:r>
                      <a:endParaRPr lang="en-IN" sz="1400" dirty="0"/>
                    </a:p>
                  </a:txBody>
                  <a:tcPr/>
                </a:tc>
                <a:extLst>
                  <a:ext uri="{0D108BD9-81ED-4DB2-BD59-A6C34878D82A}">
                    <a16:rowId xmlns:a16="http://schemas.microsoft.com/office/drawing/2014/main" val="2233345543"/>
                  </a:ext>
                </a:extLst>
              </a:tr>
              <a:tr h="375204">
                <a:tc>
                  <a:txBody>
                    <a:bodyPr/>
                    <a:lstStyle/>
                    <a:p>
                      <a:r>
                        <a:rPr lang="en-US" sz="1400" dirty="0"/>
                        <a:t>Senior</a:t>
                      </a:r>
                      <a:endParaRPr lang="en-IN" sz="1400" dirty="0"/>
                    </a:p>
                  </a:txBody>
                  <a:tcPr/>
                </a:tc>
                <a:tc>
                  <a:txBody>
                    <a:bodyPr/>
                    <a:lstStyle/>
                    <a:p>
                      <a:r>
                        <a:rPr lang="en-US" sz="1400" dirty="0"/>
                        <a:t>low</a:t>
                      </a:r>
                      <a:endParaRPr lang="en-IN" sz="1400" dirty="0"/>
                    </a:p>
                  </a:txBody>
                  <a:tcPr/>
                </a:tc>
                <a:tc>
                  <a:txBody>
                    <a:bodyPr/>
                    <a:lstStyle/>
                    <a:p>
                      <a:r>
                        <a:rPr lang="en-US" sz="1400" dirty="0"/>
                        <a:t>no</a:t>
                      </a:r>
                      <a:endParaRPr lang="en-IN" sz="1400" dirty="0"/>
                    </a:p>
                  </a:txBody>
                  <a:tcPr/>
                </a:tc>
                <a:tc>
                  <a:txBody>
                    <a:bodyPr/>
                    <a:lstStyle/>
                    <a:p>
                      <a:r>
                        <a:rPr lang="en-US" sz="1400" dirty="0"/>
                        <a:t>fair</a:t>
                      </a:r>
                      <a:endParaRPr lang="en-IN" sz="1400" dirty="0"/>
                    </a:p>
                  </a:txBody>
                  <a:tcPr/>
                </a:tc>
                <a:tc>
                  <a:txBody>
                    <a:bodyPr/>
                    <a:lstStyle/>
                    <a:p>
                      <a:r>
                        <a:rPr lang="en-US" sz="1400" dirty="0"/>
                        <a:t>?</a:t>
                      </a:r>
                      <a:endParaRPr lang="en-IN" sz="1400" dirty="0"/>
                    </a:p>
                  </a:txBody>
                  <a:tcPr/>
                </a:tc>
                <a:extLst>
                  <a:ext uri="{0D108BD9-81ED-4DB2-BD59-A6C34878D82A}">
                    <a16:rowId xmlns:a16="http://schemas.microsoft.com/office/drawing/2014/main" val="1089671185"/>
                  </a:ext>
                </a:extLst>
              </a:tr>
            </a:tbl>
          </a:graphicData>
        </a:graphic>
      </p:graphicFrame>
    </p:spTree>
    <p:extLst>
      <p:ext uri="{BB962C8B-B14F-4D97-AF65-F5344CB8AC3E}">
        <p14:creationId xmlns:p14="http://schemas.microsoft.com/office/powerpoint/2010/main" val="4141519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6850" y="356997"/>
            <a:ext cx="5609590" cy="452120"/>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Root</a:t>
            </a:r>
            <a:r>
              <a:rPr sz="2800" b="1" spc="10" dirty="0">
                <a:latin typeface="Calibri"/>
                <a:cs typeface="Calibri"/>
              </a:rPr>
              <a:t> </a:t>
            </a:r>
            <a:r>
              <a:rPr sz="2800" b="1" spc="-5" dirty="0">
                <a:latin typeface="Calibri"/>
                <a:cs typeface="Calibri"/>
              </a:rPr>
              <a:t>Node,</a:t>
            </a:r>
            <a:r>
              <a:rPr sz="2800" b="1" spc="20" dirty="0">
                <a:latin typeface="Calibri"/>
                <a:cs typeface="Calibri"/>
              </a:rPr>
              <a:t> </a:t>
            </a:r>
            <a:r>
              <a:rPr sz="2800" b="1" spc="-15" dirty="0">
                <a:latin typeface="Calibri"/>
                <a:cs typeface="Calibri"/>
              </a:rPr>
              <a:t>Internal</a:t>
            </a:r>
            <a:r>
              <a:rPr sz="2800" b="1" spc="35" dirty="0">
                <a:latin typeface="Calibri"/>
                <a:cs typeface="Calibri"/>
              </a:rPr>
              <a:t> </a:t>
            </a:r>
            <a:r>
              <a:rPr sz="2800" b="1" spc="-5" dirty="0">
                <a:latin typeface="Calibri"/>
                <a:cs typeface="Calibri"/>
              </a:rPr>
              <a:t>Node,</a:t>
            </a:r>
            <a:r>
              <a:rPr sz="2800" b="1" spc="15" dirty="0">
                <a:latin typeface="Calibri"/>
                <a:cs typeface="Calibri"/>
              </a:rPr>
              <a:t> </a:t>
            </a:r>
            <a:r>
              <a:rPr lang="en-US" b="1" spc="-10" dirty="0">
                <a:latin typeface="Calibri"/>
                <a:cs typeface="Calibri"/>
              </a:rPr>
              <a:t>leaf </a:t>
            </a:r>
            <a:r>
              <a:rPr sz="2800" b="1" spc="-5" dirty="0">
                <a:latin typeface="Calibri"/>
                <a:cs typeface="Calibri"/>
              </a:rPr>
              <a:t>Node</a:t>
            </a:r>
            <a:endParaRPr sz="2800" dirty="0">
              <a:latin typeface="Calibri"/>
              <a:cs typeface="Calibri"/>
            </a:endParaRPr>
          </a:p>
        </p:txBody>
      </p:sp>
      <p:grpSp>
        <p:nvGrpSpPr>
          <p:cNvPr id="4" name="object 4"/>
          <p:cNvGrpSpPr/>
          <p:nvPr/>
        </p:nvGrpSpPr>
        <p:grpSpPr>
          <a:xfrm>
            <a:off x="4495800" y="524243"/>
            <a:ext cx="4523486" cy="3419107"/>
            <a:chOff x="4844796" y="524243"/>
            <a:chExt cx="4174490" cy="3157855"/>
          </a:xfrm>
        </p:grpSpPr>
        <p:pic>
          <p:nvPicPr>
            <p:cNvPr id="5" name="object 5"/>
            <p:cNvPicPr/>
            <p:nvPr/>
          </p:nvPicPr>
          <p:blipFill>
            <a:blip r:embed="rId2" cstate="print"/>
            <a:stretch>
              <a:fillRect/>
            </a:stretch>
          </p:blipFill>
          <p:spPr>
            <a:xfrm>
              <a:off x="4844796" y="1408175"/>
              <a:ext cx="4041648" cy="2273808"/>
            </a:xfrm>
            <a:prstGeom prst="rect">
              <a:avLst/>
            </a:prstGeom>
          </p:spPr>
        </p:pic>
        <p:pic>
          <p:nvPicPr>
            <p:cNvPr id="6" name="object 6"/>
            <p:cNvPicPr/>
            <p:nvPr/>
          </p:nvPicPr>
          <p:blipFill>
            <a:blip r:embed="rId3" cstate="print"/>
            <a:stretch>
              <a:fillRect/>
            </a:stretch>
          </p:blipFill>
          <p:spPr>
            <a:xfrm>
              <a:off x="6766560" y="524243"/>
              <a:ext cx="2211324" cy="1126248"/>
            </a:xfrm>
            <a:prstGeom prst="rect">
              <a:avLst/>
            </a:prstGeom>
          </p:spPr>
        </p:pic>
        <p:pic>
          <p:nvPicPr>
            <p:cNvPr id="7" name="object 7"/>
            <p:cNvPicPr/>
            <p:nvPr/>
          </p:nvPicPr>
          <p:blipFill>
            <a:blip r:embed="rId4" cstate="print"/>
            <a:stretch>
              <a:fillRect/>
            </a:stretch>
          </p:blipFill>
          <p:spPr>
            <a:xfrm>
              <a:off x="7367016" y="644638"/>
              <a:ext cx="1652016" cy="835165"/>
            </a:xfrm>
            <a:prstGeom prst="rect">
              <a:avLst/>
            </a:prstGeom>
          </p:spPr>
        </p:pic>
        <p:pic>
          <p:nvPicPr>
            <p:cNvPr id="8" name="object 8"/>
            <p:cNvPicPr/>
            <p:nvPr/>
          </p:nvPicPr>
          <p:blipFill>
            <a:blip r:embed="rId5" cstate="print"/>
            <a:stretch>
              <a:fillRect/>
            </a:stretch>
          </p:blipFill>
          <p:spPr>
            <a:xfrm>
              <a:off x="7402068" y="551687"/>
              <a:ext cx="1533144" cy="920496"/>
            </a:xfrm>
            <a:prstGeom prst="rect">
              <a:avLst/>
            </a:prstGeom>
          </p:spPr>
        </p:pic>
        <p:sp>
          <p:nvSpPr>
            <p:cNvPr id="9" name="object 9"/>
            <p:cNvSpPr/>
            <p:nvPr/>
          </p:nvSpPr>
          <p:spPr>
            <a:xfrm>
              <a:off x="6814312" y="1021079"/>
              <a:ext cx="581660" cy="566420"/>
            </a:xfrm>
            <a:custGeom>
              <a:avLst/>
              <a:gdLst/>
              <a:ahLst/>
              <a:cxnLst/>
              <a:rect l="l" t="t" r="r" b="b"/>
              <a:pathLst>
                <a:path w="581659" h="566419">
                  <a:moveTo>
                    <a:pt x="581152" y="0"/>
                  </a:moveTo>
                  <a:lnTo>
                    <a:pt x="0" y="566166"/>
                  </a:lnTo>
                </a:path>
              </a:pathLst>
            </a:custGeom>
            <a:ln w="9144">
              <a:solidFill>
                <a:srgbClr val="97B853"/>
              </a:solidFill>
            </a:ln>
          </p:spPr>
          <p:txBody>
            <a:bodyPr wrap="square" lIns="0" tIns="0" rIns="0" bIns="0" rtlCol="0"/>
            <a:lstStyle/>
            <a:p>
              <a:endParaRPr/>
            </a:p>
          </p:txBody>
        </p:sp>
      </p:grpSp>
      <p:sp>
        <p:nvSpPr>
          <p:cNvPr id="10" name="object 10"/>
          <p:cNvSpPr txBox="1"/>
          <p:nvPr/>
        </p:nvSpPr>
        <p:spPr>
          <a:xfrm>
            <a:off x="7402068" y="551687"/>
            <a:ext cx="1533525" cy="920750"/>
          </a:xfrm>
          <a:prstGeom prst="rect">
            <a:avLst/>
          </a:prstGeom>
          <a:ln w="9144">
            <a:solidFill>
              <a:srgbClr val="97B853"/>
            </a:solidFill>
          </a:ln>
        </p:spPr>
        <p:txBody>
          <a:bodyPr vert="horz" wrap="square" lIns="0" tIns="170180" rIns="0" bIns="0" rtlCol="0">
            <a:spAutoFit/>
          </a:bodyPr>
          <a:lstStyle/>
          <a:p>
            <a:pPr marL="196215" marR="136525" indent="-50800">
              <a:lnSpc>
                <a:spcPct val="100000"/>
              </a:lnSpc>
              <a:spcBef>
                <a:spcPts val="1340"/>
              </a:spcBef>
            </a:pPr>
            <a:r>
              <a:rPr sz="1800" spc="-15" dirty="0">
                <a:latin typeface="Calibri"/>
                <a:cs typeface="Calibri"/>
              </a:rPr>
              <a:t>Root</a:t>
            </a:r>
            <a:r>
              <a:rPr sz="1800" spc="-45" dirty="0">
                <a:latin typeface="Calibri"/>
                <a:cs typeface="Calibri"/>
              </a:rPr>
              <a:t> </a:t>
            </a:r>
            <a:r>
              <a:rPr sz="1800" dirty="0">
                <a:latin typeface="Calibri"/>
                <a:cs typeface="Calibri"/>
              </a:rPr>
              <a:t>Node</a:t>
            </a:r>
            <a:r>
              <a:rPr sz="1800" spc="-45" dirty="0">
                <a:latin typeface="Calibri"/>
                <a:cs typeface="Calibri"/>
              </a:rPr>
              <a:t> </a:t>
            </a:r>
            <a:r>
              <a:rPr sz="1800" spc="-5" dirty="0">
                <a:latin typeface="Calibri"/>
                <a:cs typeface="Calibri"/>
              </a:rPr>
              <a:t>or </a:t>
            </a:r>
            <a:r>
              <a:rPr sz="1800" spc="-390" dirty="0">
                <a:latin typeface="Calibri"/>
                <a:cs typeface="Calibri"/>
              </a:rPr>
              <a:t> </a:t>
            </a:r>
            <a:r>
              <a:rPr sz="1800" spc="-10" dirty="0">
                <a:latin typeface="Calibri"/>
                <a:cs typeface="Calibri"/>
              </a:rPr>
              <a:t>parent</a:t>
            </a:r>
            <a:r>
              <a:rPr sz="1800" spc="-40" dirty="0">
                <a:latin typeface="Calibri"/>
                <a:cs typeface="Calibri"/>
              </a:rPr>
              <a:t> </a:t>
            </a:r>
            <a:r>
              <a:rPr sz="1800" spc="-5" dirty="0">
                <a:latin typeface="Calibri"/>
                <a:cs typeface="Calibri"/>
              </a:rPr>
              <a:t>node</a:t>
            </a:r>
            <a:endParaRPr sz="1800">
              <a:latin typeface="Calibri"/>
              <a:cs typeface="Calibri"/>
            </a:endParaRPr>
          </a:p>
        </p:txBody>
      </p:sp>
      <p:grpSp>
        <p:nvGrpSpPr>
          <p:cNvPr id="11" name="object 11"/>
          <p:cNvGrpSpPr/>
          <p:nvPr/>
        </p:nvGrpSpPr>
        <p:grpSpPr>
          <a:xfrm>
            <a:off x="6377940" y="3429000"/>
            <a:ext cx="1355090" cy="1123315"/>
            <a:chOff x="6377940" y="3429000"/>
            <a:chExt cx="1355090" cy="1123315"/>
          </a:xfrm>
        </p:grpSpPr>
        <p:pic>
          <p:nvPicPr>
            <p:cNvPr id="12" name="object 12"/>
            <p:cNvPicPr/>
            <p:nvPr/>
          </p:nvPicPr>
          <p:blipFill>
            <a:blip r:embed="rId6" cstate="print"/>
            <a:stretch>
              <a:fillRect/>
            </a:stretch>
          </p:blipFill>
          <p:spPr>
            <a:xfrm>
              <a:off x="6377940" y="3429000"/>
              <a:ext cx="1354836" cy="1114031"/>
            </a:xfrm>
            <a:prstGeom prst="rect">
              <a:avLst/>
            </a:prstGeom>
          </p:spPr>
        </p:pic>
        <p:pic>
          <p:nvPicPr>
            <p:cNvPr id="13" name="object 13"/>
            <p:cNvPicPr/>
            <p:nvPr/>
          </p:nvPicPr>
          <p:blipFill>
            <a:blip r:embed="rId7" cstate="print"/>
            <a:stretch>
              <a:fillRect/>
            </a:stretch>
          </p:blipFill>
          <p:spPr>
            <a:xfrm>
              <a:off x="6685788" y="3717036"/>
              <a:ext cx="911339" cy="835164"/>
            </a:xfrm>
            <a:prstGeom prst="rect">
              <a:avLst/>
            </a:prstGeom>
          </p:spPr>
        </p:pic>
        <p:pic>
          <p:nvPicPr>
            <p:cNvPr id="14" name="object 14"/>
            <p:cNvPicPr/>
            <p:nvPr/>
          </p:nvPicPr>
          <p:blipFill>
            <a:blip r:embed="rId8" cstate="print"/>
            <a:stretch>
              <a:fillRect/>
            </a:stretch>
          </p:blipFill>
          <p:spPr>
            <a:xfrm>
              <a:off x="6424676" y="3455796"/>
              <a:ext cx="1265132" cy="1024809"/>
            </a:xfrm>
            <a:prstGeom prst="rect">
              <a:avLst/>
            </a:prstGeom>
          </p:spPr>
        </p:pic>
        <p:sp>
          <p:nvSpPr>
            <p:cNvPr id="15" name="object 15"/>
            <p:cNvSpPr/>
            <p:nvPr/>
          </p:nvSpPr>
          <p:spPr>
            <a:xfrm>
              <a:off x="6424676" y="3455796"/>
              <a:ext cx="1265555" cy="1024890"/>
            </a:xfrm>
            <a:custGeom>
              <a:avLst/>
              <a:gdLst/>
              <a:ahLst/>
              <a:cxnLst/>
              <a:rect l="l" t="t" r="r" b="b"/>
              <a:pathLst>
                <a:path w="1265554" h="1024889">
                  <a:moveTo>
                    <a:pt x="0" y="0"/>
                  </a:moveTo>
                  <a:lnTo>
                    <a:pt x="438023" y="273049"/>
                  </a:lnTo>
                  <a:lnTo>
                    <a:pt x="485902" y="258573"/>
                  </a:lnTo>
                  <a:lnTo>
                    <a:pt x="534618" y="247316"/>
                  </a:lnTo>
                  <a:lnTo>
                    <a:pt x="583899" y="239215"/>
                  </a:lnTo>
                  <a:lnTo>
                    <a:pt x="633474" y="234207"/>
                  </a:lnTo>
                  <a:lnTo>
                    <a:pt x="683070" y="232229"/>
                  </a:lnTo>
                  <a:lnTo>
                    <a:pt x="732418" y="233218"/>
                  </a:lnTo>
                  <a:lnTo>
                    <a:pt x="781245" y="237109"/>
                  </a:lnTo>
                  <a:lnTo>
                    <a:pt x="829280" y="243839"/>
                  </a:lnTo>
                  <a:lnTo>
                    <a:pt x="876252" y="253345"/>
                  </a:lnTo>
                  <a:lnTo>
                    <a:pt x="921889" y="265565"/>
                  </a:lnTo>
                  <a:lnTo>
                    <a:pt x="965920" y="280433"/>
                  </a:lnTo>
                  <a:lnTo>
                    <a:pt x="1008074" y="297887"/>
                  </a:lnTo>
                  <a:lnTo>
                    <a:pt x="1048079" y="317864"/>
                  </a:lnTo>
                  <a:lnTo>
                    <a:pt x="1085663" y="340299"/>
                  </a:lnTo>
                  <a:lnTo>
                    <a:pt x="1120556" y="365130"/>
                  </a:lnTo>
                  <a:lnTo>
                    <a:pt x="1152487" y="392294"/>
                  </a:lnTo>
                  <a:lnTo>
                    <a:pt x="1181182" y="421726"/>
                  </a:lnTo>
                  <a:lnTo>
                    <a:pt x="1206373" y="453364"/>
                  </a:lnTo>
                  <a:lnTo>
                    <a:pt x="1229647" y="490610"/>
                  </a:lnTo>
                  <a:lnTo>
                    <a:pt x="1247029" y="528555"/>
                  </a:lnTo>
                  <a:lnTo>
                    <a:pt x="1258649" y="566934"/>
                  </a:lnTo>
                  <a:lnTo>
                    <a:pt x="1264640" y="605480"/>
                  </a:lnTo>
                  <a:lnTo>
                    <a:pt x="1265132" y="643925"/>
                  </a:lnTo>
                  <a:lnTo>
                    <a:pt x="1260256" y="682003"/>
                  </a:lnTo>
                  <a:lnTo>
                    <a:pt x="1250146" y="719448"/>
                  </a:lnTo>
                  <a:lnTo>
                    <a:pt x="1234932" y="755992"/>
                  </a:lnTo>
                  <a:lnTo>
                    <a:pt x="1214745" y="791370"/>
                  </a:lnTo>
                  <a:lnTo>
                    <a:pt x="1189717" y="825315"/>
                  </a:lnTo>
                  <a:lnTo>
                    <a:pt x="1159981" y="857559"/>
                  </a:lnTo>
                  <a:lnTo>
                    <a:pt x="1125666" y="887836"/>
                  </a:lnTo>
                  <a:lnTo>
                    <a:pt x="1086905" y="915880"/>
                  </a:lnTo>
                  <a:lnTo>
                    <a:pt x="1043830" y="941424"/>
                  </a:lnTo>
                  <a:lnTo>
                    <a:pt x="996571" y="964201"/>
                  </a:lnTo>
                  <a:lnTo>
                    <a:pt x="945260" y="983945"/>
                  </a:lnTo>
                  <a:lnTo>
                    <a:pt x="897381" y="998435"/>
                  </a:lnTo>
                  <a:lnTo>
                    <a:pt x="848665" y="1009703"/>
                  </a:lnTo>
                  <a:lnTo>
                    <a:pt x="799384" y="1017812"/>
                  </a:lnTo>
                  <a:lnTo>
                    <a:pt x="749809" y="1022826"/>
                  </a:lnTo>
                  <a:lnTo>
                    <a:pt x="700213" y="1024809"/>
                  </a:lnTo>
                  <a:lnTo>
                    <a:pt x="650865" y="1023824"/>
                  </a:lnTo>
                  <a:lnTo>
                    <a:pt x="602038" y="1019934"/>
                  </a:lnTo>
                  <a:lnTo>
                    <a:pt x="554003" y="1013205"/>
                  </a:lnTo>
                  <a:lnTo>
                    <a:pt x="507031" y="1003698"/>
                  </a:lnTo>
                  <a:lnTo>
                    <a:pt x="461394" y="991478"/>
                  </a:lnTo>
                  <a:lnTo>
                    <a:pt x="417363" y="976609"/>
                  </a:lnTo>
                  <a:lnTo>
                    <a:pt x="375209" y="959153"/>
                  </a:lnTo>
                  <a:lnTo>
                    <a:pt x="335204" y="939176"/>
                  </a:lnTo>
                  <a:lnTo>
                    <a:pt x="297620" y="916739"/>
                  </a:lnTo>
                  <a:lnTo>
                    <a:pt x="262727" y="891908"/>
                  </a:lnTo>
                  <a:lnTo>
                    <a:pt x="230796" y="864746"/>
                  </a:lnTo>
                  <a:lnTo>
                    <a:pt x="202101" y="835315"/>
                  </a:lnTo>
                  <a:lnTo>
                    <a:pt x="176910" y="803681"/>
                  </a:lnTo>
                  <a:lnTo>
                    <a:pt x="152118" y="763511"/>
                  </a:lnTo>
                  <a:lnTo>
                    <a:pt x="134079" y="722282"/>
                  </a:lnTo>
                  <a:lnTo>
                    <a:pt x="122721" y="680364"/>
                  </a:lnTo>
                  <a:lnTo>
                    <a:pt x="117971" y="638126"/>
                  </a:lnTo>
                  <a:lnTo>
                    <a:pt x="119757" y="595939"/>
                  </a:lnTo>
                  <a:lnTo>
                    <a:pt x="128006" y="554174"/>
                  </a:lnTo>
                  <a:lnTo>
                    <a:pt x="142646" y="513200"/>
                  </a:lnTo>
                  <a:lnTo>
                    <a:pt x="163603" y="473386"/>
                  </a:lnTo>
                  <a:lnTo>
                    <a:pt x="190804" y="435105"/>
                  </a:lnTo>
                  <a:lnTo>
                    <a:pt x="224178" y="398725"/>
                  </a:lnTo>
                  <a:lnTo>
                    <a:pt x="263651" y="364616"/>
                  </a:lnTo>
                  <a:lnTo>
                    <a:pt x="0" y="0"/>
                  </a:lnTo>
                  <a:close/>
                </a:path>
              </a:pathLst>
            </a:custGeom>
            <a:ln w="9143">
              <a:solidFill>
                <a:srgbClr val="97B853"/>
              </a:solidFill>
            </a:ln>
          </p:spPr>
          <p:txBody>
            <a:bodyPr wrap="square" lIns="0" tIns="0" rIns="0" bIns="0" rtlCol="0"/>
            <a:lstStyle/>
            <a:p>
              <a:endParaRPr/>
            </a:p>
          </p:txBody>
        </p:sp>
      </p:grpSp>
      <p:sp>
        <p:nvSpPr>
          <p:cNvPr id="16" name="object 16"/>
          <p:cNvSpPr txBox="1"/>
          <p:nvPr/>
        </p:nvSpPr>
        <p:spPr>
          <a:xfrm>
            <a:off x="6853173" y="3783279"/>
            <a:ext cx="528320" cy="574040"/>
          </a:xfrm>
          <a:prstGeom prst="rect">
            <a:avLst/>
          </a:prstGeom>
        </p:spPr>
        <p:txBody>
          <a:bodyPr vert="horz" wrap="square" lIns="0" tIns="12700" rIns="0" bIns="0" rtlCol="0">
            <a:spAutoFit/>
          </a:bodyPr>
          <a:lstStyle/>
          <a:p>
            <a:pPr marL="12700" marR="5080" indent="17780">
              <a:lnSpc>
                <a:spcPct val="100000"/>
              </a:lnSpc>
              <a:spcBef>
                <a:spcPts val="100"/>
              </a:spcBef>
            </a:pPr>
            <a:r>
              <a:rPr lang="en-US" spc="-5" dirty="0">
                <a:latin typeface="Calibri"/>
                <a:cs typeface="Calibri"/>
              </a:rPr>
              <a:t>leaf</a:t>
            </a:r>
            <a:r>
              <a:rPr sz="1800" spc="-5" dirty="0">
                <a:latin typeface="Calibri"/>
                <a:cs typeface="Calibri"/>
              </a:rPr>
              <a:t> </a:t>
            </a:r>
            <a:r>
              <a:rPr sz="1800" spc="-395" dirty="0">
                <a:latin typeface="Calibri"/>
                <a:cs typeface="Calibri"/>
              </a:rPr>
              <a:t> </a:t>
            </a:r>
            <a:r>
              <a:rPr sz="1800" dirty="0">
                <a:latin typeface="Calibri"/>
                <a:cs typeface="Calibri"/>
              </a:rPr>
              <a:t>Node</a:t>
            </a:r>
          </a:p>
        </p:txBody>
      </p:sp>
      <p:grpSp>
        <p:nvGrpSpPr>
          <p:cNvPr id="17" name="object 17"/>
          <p:cNvGrpSpPr/>
          <p:nvPr/>
        </p:nvGrpSpPr>
        <p:grpSpPr>
          <a:xfrm>
            <a:off x="4890515" y="905255"/>
            <a:ext cx="1519555" cy="1584960"/>
            <a:chOff x="4890515" y="905255"/>
            <a:chExt cx="1519555" cy="1584960"/>
          </a:xfrm>
        </p:grpSpPr>
        <p:pic>
          <p:nvPicPr>
            <p:cNvPr id="18" name="object 18"/>
            <p:cNvPicPr/>
            <p:nvPr/>
          </p:nvPicPr>
          <p:blipFill>
            <a:blip r:embed="rId9" cstate="print"/>
            <a:stretch>
              <a:fillRect/>
            </a:stretch>
          </p:blipFill>
          <p:spPr>
            <a:xfrm>
              <a:off x="4890515" y="905255"/>
              <a:ext cx="1519427" cy="1584959"/>
            </a:xfrm>
            <a:prstGeom prst="rect">
              <a:avLst/>
            </a:prstGeom>
          </p:spPr>
        </p:pic>
        <p:pic>
          <p:nvPicPr>
            <p:cNvPr id="19" name="object 19"/>
            <p:cNvPicPr/>
            <p:nvPr/>
          </p:nvPicPr>
          <p:blipFill>
            <a:blip r:embed="rId10" cstate="print"/>
            <a:stretch>
              <a:fillRect/>
            </a:stretch>
          </p:blipFill>
          <p:spPr>
            <a:xfrm>
              <a:off x="5109971" y="1019543"/>
              <a:ext cx="1133868" cy="835164"/>
            </a:xfrm>
            <a:prstGeom prst="rect">
              <a:avLst/>
            </a:prstGeom>
          </p:spPr>
        </p:pic>
        <p:pic>
          <p:nvPicPr>
            <p:cNvPr id="20" name="object 20"/>
            <p:cNvPicPr/>
            <p:nvPr/>
          </p:nvPicPr>
          <p:blipFill>
            <a:blip r:embed="rId11" cstate="print"/>
            <a:stretch>
              <a:fillRect/>
            </a:stretch>
          </p:blipFill>
          <p:spPr>
            <a:xfrm>
              <a:off x="4937886" y="932687"/>
              <a:ext cx="1429258" cy="1494155"/>
            </a:xfrm>
            <a:prstGeom prst="rect">
              <a:avLst/>
            </a:prstGeom>
          </p:spPr>
        </p:pic>
        <p:sp>
          <p:nvSpPr>
            <p:cNvPr id="21" name="object 21"/>
            <p:cNvSpPr/>
            <p:nvPr/>
          </p:nvSpPr>
          <p:spPr>
            <a:xfrm>
              <a:off x="4937886" y="932687"/>
              <a:ext cx="1429385" cy="1494155"/>
            </a:xfrm>
            <a:custGeom>
              <a:avLst/>
              <a:gdLst/>
              <a:ahLst/>
              <a:cxnLst/>
              <a:rect l="l" t="t" r="r" b="b"/>
              <a:pathLst>
                <a:path w="1429385" h="1494155">
                  <a:moveTo>
                    <a:pt x="1008888" y="1494155"/>
                  </a:moveTo>
                  <a:lnTo>
                    <a:pt x="704468" y="908303"/>
                  </a:lnTo>
                  <a:lnTo>
                    <a:pt x="645887" y="906270"/>
                  </a:lnTo>
                  <a:lnTo>
                    <a:pt x="588677" y="901314"/>
                  </a:lnTo>
                  <a:lnTo>
                    <a:pt x="533019" y="893555"/>
                  </a:lnTo>
                  <a:lnTo>
                    <a:pt x="479096" y="883112"/>
                  </a:lnTo>
                  <a:lnTo>
                    <a:pt x="427089" y="870102"/>
                  </a:lnTo>
                  <a:lnTo>
                    <a:pt x="377177" y="854645"/>
                  </a:lnTo>
                  <a:lnTo>
                    <a:pt x="329544" y="836860"/>
                  </a:lnTo>
                  <a:lnTo>
                    <a:pt x="284369" y="816863"/>
                  </a:lnTo>
                  <a:lnTo>
                    <a:pt x="241834" y="794776"/>
                  </a:lnTo>
                  <a:lnTo>
                    <a:pt x="202120" y="770715"/>
                  </a:lnTo>
                  <a:lnTo>
                    <a:pt x="165408" y="744799"/>
                  </a:lnTo>
                  <a:lnTo>
                    <a:pt x="131880" y="717148"/>
                  </a:lnTo>
                  <a:lnTo>
                    <a:pt x="101717" y="687880"/>
                  </a:lnTo>
                  <a:lnTo>
                    <a:pt x="75099" y="657112"/>
                  </a:lnTo>
                  <a:lnTo>
                    <a:pt x="52208" y="624965"/>
                  </a:lnTo>
                  <a:lnTo>
                    <a:pt x="33226" y="591555"/>
                  </a:lnTo>
                  <a:lnTo>
                    <a:pt x="7709" y="521427"/>
                  </a:lnTo>
                  <a:lnTo>
                    <a:pt x="0" y="447675"/>
                  </a:lnTo>
                  <a:lnTo>
                    <a:pt x="3198" y="410465"/>
                  </a:lnTo>
                  <a:lnTo>
                    <a:pt x="23200" y="338766"/>
                  </a:lnTo>
                  <a:lnTo>
                    <a:pt x="60098" y="271462"/>
                  </a:lnTo>
                  <a:lnTo>
                    <a:pt x="84417" y="239747"/>
                  </a:lnTo>
                  <a:lnTo>
                    <a:pt x="112400" y="209477"/>
                  </a:lnTo>
                  <a:lnTo>
                    <a:pt x="143861" y="180767"/>
                  </a:lnTo>
                  <a:lnTo>
                    <a:pt x="178614" y="153734"/>
                  </a:lnTo>
                  <a:lnTo>
                    <a:pt x="216471" y="128492"/>
                  </a:lnTo>
                  <a:lnTo>
                    <a:pt x="257247" y="105157"/>
                  </a:lnTo>
                  <a:lnTo>
                    <a:pt x="300755" y="83844"/>
                  </a:lnTo>
                  <a:lnTo>
                    <a:pt x="346808" y="64669"/>
                  </a:lnTo>
                  <a:lnTo>
                    <a:pt x="395220" y="47747"/>
                  </a:lnTo>
                  <a:lnTo>
                    <a:pt x="445805" y="33194"/>
                  </a:lnTo>
                  <a:lnTo>
                    <a:pt x="498376" y="21125"/>
                  </a:lnTo>
                  <a:lnTo>
                    <a:pt x="552746" y="11656"/>
                  </a:lnTo>
                  <a:lnTo>
                    <a:pt x="608729" y="4901"/>
                  </a:lnTo>
                  <a:lnTo>
                    <a:pt x="666139" y="978"/>
                  </a:lnTo>
                  <a:lnTo>
                    <a:pt x="724788" y="0"/>
                  </a:lnTo>
                  <a:lnTo>
                    <a:pt x="783370" y="2033"/>
                  </a:lnTo>
                  <a:lnTo>
                    <a:pt x="840580" y="6989"/>
                  </a:lnTo>
                  <a:lnTo>
                    <a:pt x="896238" y="14748"/>
                  </a:lnTo>
                  <a:lnTo>
                    <a:pt x="950161" y="25191"/>
                  </a:lnTo>
                  <a:lnTo>
                    <a:pt x="1002168" y="38201"/>
                  </a:lnTo>
                  <a:lnTo>
                    <a:pt x="1052080" y="53658"/>
                  </a:lnTo>
                  <a:lnTo>
                    <a:pt x="1099713" y="71443"/>
                  </a:lnTo>
                  <a:lnTo>
                    <a:pt x="1144888" y="91440"/>
                  </a:lnTo>
                  <a:lnTo>
                    <a:pt x="1187423" y="113527"/>
                  </a:lnTo>
                  <a:lnTo>
                    <a:pt x="1227137" y="137588"/>
                  </a:lnTo>
                  <a:lnTo>
                    <a:pt x="1263849" y="163504"/>
                  </a:lnTo>
                  <a:lnTo>
                    <a:pt x="1297377" y="191155"/>
                  </a:lnTo>
                  <a:lnTo>
                    <a:pt x="1327540" y="220423"/>
                  </a:lnTo>
                  <a:lnTo>
                    <a:pt x="1354158" y="251191"/>
                  </a:lnTo>
                  <a:lnTo>
                    <a:pt x="1377049" y="283338"/>
                  </a:lnTo>
                  <a:lnTo>
                    <a:pt x="1396031" y="316748"/>
                  </a:lnTo>
                  <a:lnTo>
                    <a:pt x="1421548" y="386876"/>
                  </a:lnTo>
                  <a:lnTo>
                    <a:pt x="1429258" y="460628"/>
                  </a:lnTo>
                  <a:lnTo>
                    <a:pt x="1425716" y="499944"/>
                  </a:lnTo>
                  <a:lnTo>
                    <a:pt x="1416957" y="538475"/>
                  </a:lnTo>
                  <a:lnTo>
                    <a:pt x="1403168" y="576051"/>
                  </a:lnTo>
                  <a:lnTo>
                    <a:pt x="1384536" y="612501"/>
                  </a:lnTo>
                  <a:lnTo>
                    <a:pt x="1361247" y="647654"/>
                  </a:lnTo>
                  <a:lnTo>
                    <a:pt x="1333489" y="681341"/>
                  </a:lnTo>
                  <a:lnTo>
                    <a:pt x="1301448" y="713390"/>
                  </a:lnTo>
                  <a:lnTo>
                    <a:pt x="1265311" y="743632"/>
                  </a:lnTo>
                  <a:lnTo>
                    <a:pt x="1225266" y="771895"/>
                  </a:lnTo>
                  <a:lnTo>
                    <a:pt x="1181498" y="798010"/>
                  </a:lnTo>
                  <a:lnTo>
                    <a:pt x="1134196" y="821805"/>
                  </a:lnTo>
                  <a:lnTo>
                    <a:pt x="1083545" y="843110"/>
                  </a:lnTo>
                  <a:lnTo>
                    <a:pt x="1029733" y="861755"/>
                  </a:lnTo>
                  <a:lnTo>
                    <a:pt x="972947" y="877570"/>
                  </a:lnTo>
                  <a:lnTo>
                    <a:pt x="1008888" y="1494155"/>
                  </a:lnTo>
                  <a:close/>
                </a:path>
              </a:pathLst>
            </a:custGeom>
            <a:ln w="9144">
              <a:solidFill>
                <a:srgbClr val="97B853"/>
              </a:solidFill>
            </a:ln>
          </p:spPr>
          <p:txBody>
            <a:bodyPr wrap="square" lIns="0" tIns="0" rIns="0" bIns="0" rtlCol="0"/>
            <a:lstStyle/>
            <a:p>
              <a:endParaRPr/>
            </a:p>
          </p:txBody>
        </p:sp>
      </p:grpSp>
      <p:sp>
        <p:nvSpPr>
          <p:cNvPr id="22" name="object 22"/>
          <p:cNvSpPr txBox="1"/>
          <p:nvPr/>
        </p:nvSpPr>
        <p:spPr>
          <a:xfrm>
            <a:off x="5277739" y="1084579"/>
            <a:ext cx="752475" cy="566822"/>
          </a:xfrm>
          <a:prstGeom prst="rect">
            <a:avLst/>
          </a:prstGeom>
        </p:spPr>
        <p:txBody>
          <a:bodyPr vert="horz" wrap="square" lIns="0" tIns="12700" rIns="0" bIns="0" rtlCol="0">
            <a:spAutoFit/>
          </a:bodyPr>
          <a:lstStyle/>
          <a:p>
            <a:pPr marL="123825" marR="5080" indent="-111760">
              <a:lnSpc>
                <a:spcPct val="100000"/>
              </a:lnSpc>
              <a:spcBef>
                <a:spcPts val="100"/>
              </a:spcBef>
            </a:pPr>
            <a:r>
              <a:rPr lang="en-US" dirty="0">
                <a:latin typeface="Calibri"/>
                <a:cs typeface="Calibri"/>
              </a:rPr>
              <a:t>child</a:t>
            </a:r>
            <a:r>
              <a:rPr sz="1800" dirty="0">
                <a:latin typeface="Calibri"/>
                <a:cs typeface="Calibri"/>
              </a:rPr>
              <a:t>  Node</a:t>
            </a:r>
          </a:p>
        </p:txBody>
      </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a:t>
            </a:fld>
            <a:endParaRPr dirty="0"/>
          </a:p>
        </p:txBody>
      </p:sp>
      <p:graphicFrame>
        <p:nvGraphicFramePr>
          <p:cNvPr id="24" name="Table 27">
            <a:extLst>
              <a:ext uri="{FF2B5EF4-FFF2-40B4-BE49-F238E27FC236}">
                <a16:creationId xmlns:a16="http://schemas.microsoft.com/office/drawing/2014/main" id="{74669BC4-68AC-41A2-9A79-91B33C4C8AFB}"/>
              </a:ext>
            </a:extLst>
          </p:cNvPr>
          <p:cNvGraphicFramePr>
            <a:graphicFrameLocks noGrp="1"/>
          </p:cNvGraphicFramePr>
          <p:nvPr>
            <p:extLst>
              <p:ext uri="{D42A27DB-BD31-4B8C-83A1-F6EECF244321}">
                <p14:modId xmlns:p14="http://schemas.microsoft.com/office/powerpoint/2010/main" val="248254023"/>
              </p:ext>
            </p:extLst>
          </p:nvPr>
        </p:nvGraphicFramePr>
        <p:xfrm>
          <a:off x="179484" y="947307"/>
          <a:ext cx="4297160" cy="1829757"/>
        </p:xfrm>
        <a:graphic>
          <a:graphicData uri="http://schemas.openxmlformats.org/drawingml/2006/table">
            <a:tbl>
              <a:tblPr firstRow="1" bandRow="1">
                <a:tableStyleId>{5C22544A-7EE6-4342-B048-85BDC9FD1C3A}</a:tableStyleId>
              </a:tblPr>
              <a:tblGrid>
                <a:gridCol w="868252">
                  <a:extLst>
                    <a:ext uri="{9D8B030D-6E8A-4147-A177-3AD203B41FA5}">
                      <a16:colId xmlns:a16="http://schemas.microsoft.com/office/drawing/2014/main" val="1116308316"/>
                    </a:ext>
                  </a:extLst>
                </a:gridCol>
                <a:gridCol w="857227">
                  <a:extLst>
                    <a:ext uri="{9D8B030D-6E8A-4147-A177-3AD203B41FA5}">
                      <a16:colId xmlns:a16="http://schemas.microsoft.com/office/drawing/2014/main" val="3607700853"/>
                    </a:ext>
                  </a:extLst>
                </a:gridCol>
                <a:gridCol w="857227">
                  <a:extLst>
                    <a:ext uri="{9D8B030D-6E8A-4147-A177-3AD203B41FA5}">
                      <a16:colId xmlns:a16="http://schemas.microsoft.com/office/drawing/2014/main" val="2652761967"/>
                    </a:ext>
                  </a:extLst>
                </a:gridCol>
                <a:gridCol w="857227">
                  <a:extLst>
                    <a:ext uri="{9D8B030D-6E8A-4147-A177-3AD203B41FA5}">
                      <a16:colId xmlns:a16="http://schemas.microsoft.com/office/drawing/2014/main" val="3209466283"/>
                    </a:ext>
                  </a:extLst>
                </a:gridCol>
                <a:gridCol w="857227">
                  <a:extLst>
                    <a:ext uri="{9D8B030D-6E8A-4147-A177-3AD203B41FA5}">
                      <a16:colId xmlns:a16="http://schemas.microsoft.com/office/drawing/2014/main" val="2213372726"/>
                    </a:ext>
                  </a:extLst>
                </a:gridCol>
              </a:tblGrid>
              <a:tr h="119280">
                <a:tc>
                  <a:txBody>
                    <a:bodyPr/>
                    <a:lstStyle/>
                    <a:p>
                      <a:r>
                        <a:rPr lang="en-US" sz="1100" dirty="0"/>
                        <a:t>age</a:t>
                      </a:r>
                      <a:endParaRPr lang="en-IN" sz="1100" dirty="0"/>
                    </a:p>
                  </a:txBody>
                  <a:tcPr/>
                </a:tc>
                <a:tc>
                  <a:txBody>
                    <a:bodyPr/>
                    <a:lstStyle/>
                    <a:p>
                      <a:r>
                        <a:rPr lang="en-US" sz="1100" dirty="0"/>
                        <a:t>income</a:t>
                      </a:r>
                      <a:endParaRPr lang="en-IN" sz="1100" dirty="0"/>
                    </a:p>
                  </a:txBody>
                  <a:tcPr/>
                </a:tc>
                <a:tc>
                  <a:txBody>
                    <a:bodyPr/>
                    <a:lstStyle/>
                    <a:p>
                      <a:r>
                        <a:rPr lang="en-US" sz="1100" dirty="0"/>
                        <a:t>student</a:t>
                      </a:r>
                      <a:endParaRPr lang="en-IN" sz="1100" dirty="0"/>
                    </a:p>
                  </a:txBody>
                  <a:tcPr/>
                </a:tc>
                <a:tc>
                  <a:txBody>
                    <a:bodyPr/>
                    <a:lstStyle/>
                    <a:p>
                      <a:r>
                        <a:rPr lang="en-US" sz="1100" dirty="0"/>
                        <a:t>Credit rating</a:t>
                      </a:r>
                      <a:endParaRPr lang="en-IN" sz="1100" dirty="0"/>
                    </a:p>
                  </a:txBody>
                  <a:tcPr/>
                </a:tc>
                <a:tc>
                  <a:txBody>
                    <a:bodyPr/>
                    <a:lstStyle/>
                    <a:p>
                      <a:r>
                        <a:rPr lang="en-US" sz="1100" dirty="0"/>
                        <a:t>Class-buys computer</a:t>
                      </a:r>
                      <a:endParaRPr lang="en-IN" sz="1100" dirty="0"/>
                    </a:p>
                  </a:txBody>
                  <a:tcPr/>
                </a:tc>
                <a:extLst>
                  <a:ext uri="{0D108BD9-81ED-4DB2-BD59-A6C34878D82A}">
                    <a16:rowId xmlns:a16="http://schemas.microsoft.com/office/drawing/2014/main" val="1042883482"/>
                  </a:ext>
                </a:extLst>
              </a:tr>
              <a:tr h="283323">
                <a:tc>
                  <a:txBody>
                    <a:bodyPr/>
                    <a:lstStyle/>
                    <a:p>
                      <a:r>
                        <a:rPr lang="en-US" sz="1100" dirty="0"/>
                        <a:t>youth</a:t>
                      </a:r>
                      <a:endParaRPr lang="en-IN" sz="1100" dirty="0"/>
                    </a:p>
                  </a:txBody>
                  <a:tcPr/>
                </a:tc>
                <a:tc>
                  <a:txBody>
                    <a:bodyPr/>
                    <a:lstStyle/>
                    <a:p>
                      <a:r>
                        <a:rPr lang="en-US" sz="1100" dirty="0"/>
                        <a:t>high</a:t>
                      </a:r>
                      <a:endParaRPr lang="en-IN" sz="1100" dirty="0"/>
                    </a:p>
                  </a:txBody>
                  <a:tcPr/>
                </a:tc>
                <a:tc>
                  <a:txBody>
                    <a:bodyPr/>
                    <a:lstStyle/>
                    <a:p>
                      <a:r>
                        <a:rPr lang="en-US" sz="1100" dirty="0"/>
                        <a:t>No</a:t>
                      </a:r>
                      <a:endParaRPr lang="en-IN" sz="1100" dirty="0"/>
                    </a:p>
                  </a:txBody>
                  <a:tcPr/>
                </a:tc>
                <a:tc>
                  <a:txBody>
                    <a:bodyPr/>
                    <a:lstStyle/>
                    <a:p>
                      <a:r>
                        <a:rPr lang="en-US" sz="1100" dirty="0"/>
                        <a:t>fair</a:t>
                      </a:r>
                      <a:endParaRPr lang="en-IN" sz="1100" dirty="0"/>
                    </a:p>
                  </a:txBody>
                  <a:tcPr/>
                </a:tc>
                <a:tc>
                  <a:txBody>
                    <a:bodyPr/>
                    <a:lstStyle/>
                    <a:p>
                      <a:r>
                        <a:rPr lang="en-US" sz="1100" dirty="0"/>
                        <a:t>No</a:t>
                      </a:r>
                      <a:endParaRPr lang="en-IN" sz="1100" dirty="0"/>
                    </a:p>
                  </a:txBody>
                  <a:tcPr/>
                </a:tc>
                <a:extLst>
                  <a:ext uri="{0D108BD9-81ED-4DB2-BD59-A6C34878D82A}">
                    <a16:rowId xmlns:a16="http://schemas.microsoft.com/office/drawing/2014/main" val="1721016317"/>
                  </a:ext>
                </a:extLst>
              </a:tr>
              <a:tr h="228600">
                <a:tc>
                  <a:txBody>
                    <a:bodyPr/>
                    <a:lstStyle/>
                    <a:p>
                      <a:r>
                        <a:rPr lang="en-US" sz="1100" dirty="0"/>
                        <a:t>youth</a:t>
                      </a:r>
                      <a:endParaRPr lang="en-IN" sz="1100" dirty="0"/>
                    </a:p>
                  </a:txBody>
                  <a:tcPr/>
                </a:tc>
                <a:tc>
                  <a:txBody>
                    <a:bodyPr/>
                    <a:lstStyle/>
                    <a:p>
                      <a:r>
                        <a:rPr lang="en-US" sz="1100" dirty="0"/>
                        <a:t>high</a:t>
                      </a:r>
                      <a:endParaRPr lang="en-IN" sz="1100" dirty="0"/>
                    </a:p>
                  </a:txBody>
                  <a:tcPr/>
                </a:tc>
                <a:tc>
                  <a:txBody>
                    <a:bodyPr/>
                    <a:lstStyle/>
                    <a:p>
                      <a:r>
                        <a:rPr lang="en-US" sz="1100" dirty="0"/>
                        <a:t>No </a:t>
                      </a:r>
                      <a:endParaRPr lang="en-IN" sz="1100" dirty="0"/>
                    </a:p>
                  </a:txBody>
                  <a:tcPr/>
                </a:tc>
                <a:tc>
                  <a:txBody>
                    <a:bodyPr/>
                    <a:lstStyle/>
                    <a:p>
                      <a:r>
                        <a:rPr lang="en-US" sz="1100" dirty="0"/>
                        <a:t>excellent</a:t>
                      </a:r>
                      <a:endParaRPr lang="en-IN" sz="1100" dirty="0"/>
                    </a:p>
                  </a:txBody>
                  <a:tcPr/>
                </a:tc>
                <a:tc>
                  <a:txBody>
                    <a:bodyPr/>
                    <a:lstStyle/>
                    <a:p>
                      <a:r>
                        <a:rPr lang="en-US" sz="1100" dirty="0"/>
                        <a:t>No</a:t>
                      </a:r>
                      <a:endParaRPr lang="en-IN" sz="1100" dirty="0"/>
                    </a:p>
                  </a:txBody>
                  <a:tcPr/>
                </a:tc>
                <a:extLst>
                  <a:ext uri="{0D108BD9-81ED-4DB2-BD59-A6C34878D82A}">
                    <a16:rowId xmlns:a16="http://schemas.microsoft.com/office/drawing/2014/main" val="2697167865"/>
                  </a:ext>
                </a:extLst>
              </a:tr>
              <a:tr h="27432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100" dirty="0"/>
                        <a:t>youth</a:t>
                      </a:r>
                      <a:endParaRPr lang="en-IN" sz="1100" dirty="0"/>
                    </a:p>
                  </a:txBody>
                  <a:tcPr/>
                </a:tc>
                <a:tc>
                  <a:txBody>
                    <a:bodyPr/>
                    <a:lstStyle/>
                    <a:p>
                      <a:r>
                        <a:rPr lang="en-US" sz="1100" dirty="0"/>
                        <a:t>Medium</a:t>
                      </a:r>
                      <a:endParaRPr lang="en-IN" sz="1100" dirty="0"/>
                    </a:p>
                  </a:txBody>
                  <a:tcPr/>
                </a:tc>
                <a:tc>
                  <a:txBody>
                    <a:bodyPr/>
                    <a:lstStyle/>
                    <a:p>
                      <a:r>
                        <a:rPr lang="en-US" sz="1100" dirty="0"/>
                        <a:t>No </a:t>
                      </a:r>
                      <a:endParaRPr lang="en-IN" sz="1100" dirty="0"/>
                    </a:p>
                  </a:txBody>
                  <a:tcPr/>
                </a:tc>
                <a:tc>
                  <a:txBody>
                    <a:bodyPr/>
                    <a:lstStyle/>
                    <a:p>
                      <a:r>
                        <a:rPr lang="en-US" sz="1100" dirty="0"/>
                        <a:t>fair</a:t>
                      </a:r>
                      <a:endParaRPr lang="en-IN" sz="1100" dirty="0"/>
                    </a:p>
                  </a:txBody>
                  <a:tcPr/>
                </a:tc>
                <a:tc>
                  <a:txBody>
                    <a:bodyPr/>
                    <a:lstStyle/>
                    <a:p>
                      <a:r>
                        <a:rPr lang="en-US" sz="1100" dirty="0"/>
                        <a:t>No</a:t>
                      </a:r>
                      <a:endParaRPr lang="en-IN" sz="1100" dirty="0"/>
                    </a:p>
                  </a:txBody>
                  <a:tcPr/>
                </a:tc>
                <a:extLst>
                  <a:ext uri="{0D108BD9-81ED-4DB2-BD59-A6C34878D82A}">
                    <a16:rowId xmlns:a16="http://schemas.microsoft.com/office/drawing/2014/main" val="2145247404"/>
                  </a:ext>
                </a:extLst>
              </a:tr>
              <a:tr h="293157">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100" dirty="0"/>
                        <a:t>youth</a:t>
                      </a:r>
                      <a:endParaRPr lang="en-IN" sz="1100" dirty="0"/>
                    </a:p>
                  </a:txBody>
                  <a:tcPr/>
                </a:tc>
                <a:tc>
                  <a:txBody>
                    <a:bodyPr/>
                    <a:lstStyle/>
                    <a:p>
                      <a:r>
                        <a:rPr lang="en-US" sz="1100" dirty="0"/>
                        <a:t>Low </a:t>
                      </a:r>
                      <a:endParaRPr lang="en-IN" sz="1100" dirty="0"/>
                    </a:p>
                  </a:txBody>
                  <a:tcPr/>
                </a:tc>
                <a:tc>
                  <a:txBody>
                    <a:bodyPr/>
                    <a:lstStyle/>
                    <a:p>
                      <a:r>
                        <a:rPr lang="en-US" sz="1100" dirty="0"/>
                        <a:t>Yes</a:t>
                      </a:r>
                      <a:endParaRPr lang="en-IN" sz="1100" dirty="0"/>
                    </a:p>
                  </a:txBody>
                  <a:tcPr/>
                </a:tc>
                <a:tc>
                  <a:txBody>
                    <a:bodyPr/>
                    <a:lstStyle/>
                    <a:p>
                      <a:r>
                        <a:rPr lang="en-US" sz="1100" dirty="0"/>
                        <a:t>fair</a:t>
                      </a:r>
                      <a:endParaRPr lang="en-IN" sz="1100" dirty="0"/>
                    </a:p>
                  </a:txBody>
                  <a:tcPr/>
                </a:tc>
                <a:tc>
                  <a:txBody>
                    <a:bodyPr/>
                    <a:lstStyle/>
                    <a:p>
                      <a:r>
                        <a:rPr lang="en-US" sz="1100" dirty="0"/>
                        <a:t>yes</a:t>
                      </a:r>
                      <a:endParaRPr lang="en-IN" sz="1100" dirty="0"/>
                    </a:p>
                  </a:txBody>
                  <a:tcPr/>
                </a:tc>
                <a:extLst>
                  <a:ext uri="{0D108BD9-81ED-4DB2-BD59-A6C34878D82A}">
                    <a16:rowId xmlns:a16="http://schemas.microsoft.com/office/drawing/2014/main" val="362133611"/>
                  </a:ext>
                </a:extLst>
              </a:tr>
              <a:tr h="293157">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100" dirty="0"/>
                        <a:t>youth</a:t>
                      </a:r>
                      <a:endParaRPr lang="en-IN" sz="1100" dirty="0"/>
                    </a:p>
                  </a:txBody>
                  <a:tcPr/>
                </a:tc>
                <a:tc>
                  <a:txBody>
                    <a:bodyPr/>
                    <a:lstStyle/>
                    <a:p>
                      <a:r>
                        <a:rPr lang="en-US" sz="1100" dirty="0"/>
                        <a:t>medium</a:t>
                      </a:r>
                      <a:endParaRPr lang="en-IN" sz="1100" dirty="0"/>
                    </a:p>
                  </a:txBody>
                  <a:tcPr/>
                </a:tc>
                <a:tc>
                  <a:txBody>
                    <a:bodyPr/>
                    <a:lstStyle/>
                    <a:p>
                      <a:r>
                        <a:rPr lang="en-US" sz="1100" dirty="0"/>
                        <a:t>yes</a:t>
                      </a:r>
                      <a:endParaRPr lang="en-IN" sz="1100" dirty="0"/>
                    </a:p>
                  </a:txBody>
                  <a:tcPr/>
                </a:tc>
                <a:tc>
                  <a:txBody>
                    <a:bodyPr/>
                    <a:lstStyle/>
                    <a:p>
                      <a:r>
                        <a:rPr lang="en-US" sz="1100" dirty="0"/>
                        <a:t>excellent</a:t>
                      </a:r>
                      <a:endParaRPr lang="en-IN" sz="1100" dirty="0"/>
                    </a:p>
                  </a:txBody>
                  <a:tcPr/>
                </a:tc>
                <a:tc>
                  <a:txBody>
                    <a:bodyPr/>
                    <a:lstStyle/>
                    <a:p>
                      <a:r>
                        <a:rPr lang="en-US" sz="1100" dirty="0"/>
                        <a:t>Yes</a:t>
                      </a:r>
                      <a:endParaRPr lang="en-IN" sz="1100" dirty="0"/>
                    </a:p>
                  </a:txBody>
                  <a:tcPr/>
                </a:tc>
                <a:extLst>
                  <a:ext uri="{0D108BD9-81ED-4DB2-BD59-A6C34878D82A}">
                    <a16:rowId xmlns:a16="http://schemas.microsoft.com/office/drawing/2014/main" val="1721826389"/>
                  </a:ext>
                </a:extLst>
              </a:tr>
            </a:tbl>
          </a:graphicData>
        </a:graphic>
      </p:graphicFrame>
      <p:cxnSp>
        <p:nvCxnSpPr>
          <p:cNvPr id="25" name="Straight Arrow Connector 24">
            <a:extLst>
              <a:ext uri="{FF2B5EF4-FFF2-40B4-BE49-F238E27FC236}">
                <a16:creationId xmlns:a16="http://schemas.microsoft.com/office/drawing/2014/main" id="{E0D586CB-89E6-41FD-BB84-5F16EC6BFD23}"/>
              </a:ext>
            </a:extLst>
          </p:cNvPr>
          <p:cNvCxnSpPr/>
          <p:nvPr/>
        </p:nvCxnSpPr>
        <p:spPr>
          <a:xfrm>
            <a:off x="4343400" y="2038350"/>
            <a:ext cx="1686814" cy="7620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7" name="Table 27">
            <a:extLst>
              <a:ext uri="{FF2B5EF4-FFF2-40B4-BE49-F238E27FC236}">
                <a16:creationId xmlns:a16="http://schemas.microsoft.com/office/drawing/2014/main" id="{6AF95752-E918-428C-B337-DD292239CF95}"/>
              </a:ext>
            </a:extLst>
          </p:cNvPr>
          <p:cNvGraphicFramePr>
            <a:graphicFrameLocks noGrp="1"/>
          </p:cNvGraphicFramePr>
          <p:nvPr>
            <p:extLst>
              <p:ext uri="{D42A27DB-BD31-4B8C-83A1-F6EECF244321}">
                <p14:modId xmlns:p14="http://schemas.microsoft.com/office/powerpoint/2010/main" val="1973260208"/>
              </p:ext>
            </p:extLst>
          </p:nvPr>
        </p:nvGraphicFramePr>
        <p:xfrm>
          <a:off x="218027" y="2968736"/>
          <a:ext cx="4297160" cy="1243443"/>
        </p:xfrm>
        <a:graphic>
          <a:graphicData uri="http://schemas.openxmlformats.org/drawingml/2006/table">
            <a:tbl>
              <a:tblPr firstRow="1" bandRow="1">
                <a:tableStyleId>{5C22544A-7EE6-4342-B048-85BDC9FD1C3A}</a:tableStyleId>
              </a:tblPr>
              <a:tblGrid>
                <a:gridCol w="868252">
                  <a:extLst>
                    <a:ext uri="{9D8B030D-6E8A-4147-A177-3AD203B41FA5}">
                      <a16:colId xmlns:a16="http://schemas.microsoft.com/office/drawing/2014/main" val="1116308316"/>
                    </a:ext>
                  </a:extLst>
                </a:gridCol>
                <a:gridCol w="857227">
                  <a:extLst>
                    <a:ext uri="{9D8B030D-6E8A-4147-A177-3AD203B41FA5}">
                      <a16:colId xmlns:a16="http://schemas.microsoft.com/office/drawing/2014/main" val="3607700853"/>
                    </a:ext>
                  </a:extLst>
                </a:gridCol>
                <a:gridCol w="857227">
                  <a:extLst>
                    <a:ext uri="{9D8B030D-6E8A-4147-A177-3AD203B41FA5}">
                      <a16:colId xmlns:a16="http://schemas.microsoft.com/office/drawing/2014/main" val="2652761967"/>
                    </a:ext>
                  </a:extLst>
                </a:gridCol>
                <a:gridCol w="857227">
                  <a:extLst>
                    <a:ext uri="{9D8B030D-6E8A-4147-A177-3AD203B41FA5}">
                      <a16:colId xmlns:a16="http://schemas.microsoft.com/office/drawing/2014/main" val="3209466283"/>
                    </a:ext>
                  </a:extLst>
                </a:gridCol>
                <a:gridCol w="857227">
                  <a:extLst>
                    <a:ext uri="{9D8B030D-6E8A-4147-A177-3AD203B41FA5}">
                      <a16:colId xmlns:a16="http://schemas.microsoft.com/office/drawing/2014/main" val="2213372726"/>
                    </a:ext>
                  </a:extLst>
                </a:gridCol>
              </a:tblGrid>
              <a:tr h="119280">
                <a:tc>
                  <a:txBody>
                    <a:bodyPr/>
                    <a:lstStyle/>
                    <a:p>
                      <a:r>
                        <a:rPr lang="en-US" sz="1100" dirty="0"/>
                        <a:t>age</a:t>
                      </a:r>
                      <a:endParaRPr lang="en-IN" sz="1100" dirty="0"/>
                    </a:p>
                  </a:txBody>
                  <a:tcPr/>
                </a:tc>
                <a:tc>
                  <a:txBody>
                    <a:bodyPr/>
                    <a:lstStyle/>
                    <a:p>
                      <a:r>
                        <a:rPr lang="en-US" sz="1100" dirty="0"/>
                        <a:t>income</a:t>
                      </a:r>
                      <a:endParaRPr lang="en-IN" sz="1100" dirty="0"/>
                    </a:p>
                  </a:txBody>
                  <a:tcPr/>
                </a:tc>
                <a:tc>
                  <a:txBody>
                    <a:bodyPr/>
                    <a:lstStyle/>
                    <a:p>
                      <a:r>
                        <a:rPr lang="en-US" sz="1100" dirty="0"/>
                        <a:t>student</a:t>
                      </a:r>
                      <a:endParaRPr lang="en-IN" sz="1100" dirty="0"/>
                    </a:p>
                  </a:txBody>
                  <a:tcPr/>
                </a:tc>
                <a:tc>
                  <a:txBody>
                    <a:bodyPr/>
                    <a:lstStyle/>
                    <a:p>
                      <a:r>
                        <a:rPr lang="en-US" sz="1100" dirty="0"/>
                        <a:t>Credit rating</a:t>
                      </a:r>
                      <a:endParaRPr lang="en-IN" sz="1100" dirty="0"/>
                    </a:p>
                  </a:txBody>
                  <a:tcPr/>
                </a:tc>
                <a:tc>
                  <a:txBody>
                    <a:bodyPr/>
                    <a:lstStyle/>
                    <a:p>
                      <a:r>
                        <a:rPr lang="en-US" sz="1100" dirty="0"/>
                        <a:t>Class-buys computer</a:t>
                      </a:r>
                      <a:endParaRPr lang="en-IN" sz="1100" dirty="0"/>
                    </a:p>
                  </a:txBody>
                  <a:tcPr/>
                </a:tc>
                <a:extLst>
                  <a:ext uri="{0D108BD9-81ED-4DB2-BD59-A6C34878D82A}">
                    <a16:rowId xmlns:a16="http://schemas.microsoft.com/office/drawing/2014/main" val="1042883482"/>
                  </a:ext>
                </a:extLst>
              </a:tr>
              <a:tr h="283323">
                <a:tc>
                  <a:txBody>
                    <a:bodyPr/>
                    <a:lstStyle/>
                    <a:p>
                      <a:r>
                        <a:rPr lang="en-US" sz="1100" dirty="0"/>
                        <a:t>youth</a:t>
                      </a:r>
                      <a:endParaRPr lang="en-IN" sz="1100" dirty="0"/>
                    </a:p>
                  </a:txBody>
                  <a:tcPr/>
                </a:tc>
                <a:tc>
                  <a:txBody>
                    <a:bodyPr/>
                    <a:lstStyle/>
                    <a:p>
                      <a:r>
                        <a:rPr lang="en-US" sz="1100" dirty="0"/>
                        <a:t>high</a:t>
                      </a:r>
                      <a:endParaRPr lang="en-IN" sz="1100" dirty="0"/>
                    </a:p>
                  </a:txBody>
                  <a:tcPr/>
                </a:tc>
                <a:tc>
                  <a:txBody>
                    <a:bodyPr/>
                    <a:lstStyle/>
                    <a:p>
                      <a:r>
                        <a:rPr lang="en-US" sz="1100" dirty="0"/>
                        <a:t>No</a:t>
                      </a:r>
                      <a:endParaRPr lang="en-IN" sz="1100" dirty="0"/>
                    </a:p>
                  </a:txBody>
                  <a:tcPr/>
                </a:tc>
                <a:tc>
                  <a:txBody>
                    <a:bodyPr/>
                    <a:lstStyle/>
                    <a:p>
                      <a:r>
                        <a:rPr lang="en-US" sz="1100" dirty="0"/>
                        <a:t>fair</a:t>
                      </a:r>
                      <a:endParaRPr lang="en-IN" sz="1100" dirty="0"/>
                    </a:p>
                  </a:txBody>
                  <a:tcPr/>
                </a:tc>
                <a:tc>
                  <a:txBody>
                    <a:bodyPr/>
                    <a:lstStyle/>
                    <a:p>
                      <a:r>
                        <a:rPr lang="en-US" sz="1100" dirty="0"/>
                        <a:t>No</a:t>
                      </a:r>
                      <a:endParaRPr lang="en-IN" sz="1100" dirty="0"/>
                    </a:p>
                  </a:txBody>
                  <a:tcPr/>
                </a:tc>
                <a:extLst>
                  <a:ext uri="{0D108BD9-81ED-4DB2-BD59-A6C34878D82A}">
                    <a16:rowId xmlns:a16="http://schemas.microsoft.com/office/drawing/2014/main" val="1721016317"/>
                  </a:ext>
                </a:extLst>
              </a:tr>
              <a:tr h="228600">
                <a:tc>
                  <a:txBody>
                    <a:bodyPr/>
                    <a:lstStyle/>
                    <a:p>
                      <a:r>
                        <a:rPr lang="en-US" sz="1100" dirty="0"/>
                        <a:t>youth</a:t>
                      </a:r>
                      <a:endParaRPr lang="en-IN" sz="1100" dirty="0"/>
                    </a:p>
                  </a:txBody>
                  <a:tcPr/>
                </a:tc>
                <a:tc>
                  <a:txBody>
                    <a:bodyPr/>
                    <a:lstStyle/>
                    <a:p>
                      <a:r>
                        <a:rPr lang="en-US" sz="1100" dirty="0"/>
                        <a:t>high</a:t>
                      </a:r>
                      <a:endParaRPr lang="en-IN" sz="1100" dirty="0"/>
                    </a:p>
                  </a:txBody>
                  <a:tcPr/>
                </a:tc>
                <a:tc>
                  <a:txBody>
                    <a:bodyPr/>
                    <a:lstStyle/>
                    <a:p>
                      <a:r>
                        <a:rPr lang="en-US" sz="1100" dirty="0"/>
                        <a:t>No </a:t>
                      </a:r>
                      <a:endParaRPr lang="en-IN" sz="1100" dirty="0"/>
                    </a:p>
                  </a:txBody>
                  <a:tcPr/>
                </a:tc>
                <a:tc>
                  <a:txBody>
                    <a:bodyPr/>
                    <a:lstStyle/>
                    <a:p>
                      <a:r>
                        <a:rPr lang="en-US" sz="1100" dirty="0"/>
                        <a:t>excellent</a:t>
                      </a:r>
                      <a:endParaRPr lang="en-IN" sz="1100" dirty="0"/>
                    </a:p>
                  </a:txBody>
                  <a:tcPr/>
                </a:tc>
                <a:tc>
                  <a:txBody>
                    <a:bodyPr/>
                    <a:lstStyle/>
                    <a:p>
                      <a:r>
                        <a:rPr lang="en-US" sz="1100" dirty="0"/>
                        <a:t>No</a:t>
                      </a:r>
                      <a:endParaRPr lang="en-IN" sz="1100" dirty="0"/>
                    </a:p>
                  </a:txBody>
                  <a:tcPr/>
                </a:tc>
                <a:extLst>
                  <a:ext uri="{0D108BD9-81ED-4DB2-BD59-A6C34878D82A}">
                    <a16:rowId xmlns:a16="http://schemas.microsoft.com/office/drawing/2014/main" val="2697167865"/>
                  </a:ext>
                </a:extLst>
              </a:tr>
              <a:tr h="27432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100" dirty="0"/>
                        <a:t>youth</a:t>
                      </a:r>
                      <a:endParaRPr lang="en-IN" sz="1100" dirty="0"/>
                    </a:p>
                  </a:txBody>
                  <a:tcPr/>
                </a:tc>
                <a:tc>
                  <a:txBody>
                    <a:bodyPr/>
                    <a:lstStyle/>
                    <a:p>
                      <a:r>
                        <a:rPr lang="en-US" sz="1100" dirty="0"/>
                        <a:t>Medium</a:t>
                      </a:r>
                      <a:endParaRPr lang="en-IN" sz="1100" dirty="0"/>
                    </a:p>
                  </a:txBody>
                  <a:tcPr/>
                </a:tc>
                <a:tc>
                  <a:txBody>
                    <a:bodyPr/>
                    <a:lstStyle/>
                    <a:p>
                      <a:r>
                        <a:rPr lang="en-US" sz="1100" dirty="0"/>
                        <a:t>No </a:t>
                      </a:r>
                      <a:endParaRPr lang="en-IN" sz="1100" dirty="0"/>
                    </a:p>
                  </a:txBody>
                  <a:tcPr/>
                </a:tc>
                <a:tc>
                  <a:txBody>
                    <a:bodyPr/>
                    <a:lstStyle/>
                    <a:p>
                      <a:r>
                        <a:rPr lang="en-US" sz="1100" dirty="0"/>
                        <a:t>fair</a:t>
                      </a:r>
                      <a:endParaRPr lang="en-IN" sz="1100" dirty="0"/>
                    </a:p>
                  </a:txBody>
                  <a:tcPr/>
                </a:tc>
                <a:tc>
                  <a:txBody>
                    <a:bodyPr/>
                    <a:lstStyle/>
                    <a:p>
                      <a:r>
                        <a:rPr lang="en-US" sz="1100" dirty="0"/>
                        <a:t>No</a:t>
                      </a:r>
                      <a:endParaRPr lang="en-IN" sz="1100" dirty="0"/>
                    </a:p>
                  </a:txBody>
                  <a:tcPr/>
                </a:tc>
                <a:extLst>
                  <a:ext uri="{0D108BD9-81ED-4DB2-BD59-A6C34878D82A}">
                    <a16:rowId xmlns:a16="http://schemas.microsoft.com/office/drawing/2014/main" val="2145247404"/>
                  </a:ext>
                </a:extLst>
              </a:tr>
            </a:tbl>
          </a:graphicData>
        </a:graphic>
      </p:graphicFrame>
      <p:cxnSp>
        <p:nvCxnSpPr>
          <p:cNvPr id="28" name="Straight Arrow Connector 27">
            <a:extLst>
              <a:ext uri="{FF2B5EF4-FFF2-40B4-BE49-F238E27FC236}">
                <a16:creationId xmlns:a16="http://schemas.microsoft.com/office/drawing/2014/main" id="{720A73B6-DC5C-465D-AF43-6B411CEC4677}"/>
              </a:ext>
            </a:extLst>
          </p:cNvPr>
          <p:cNvCxnSpPr>
            <a:cxnSpLocks/>
          </p:cNvCxnSpPr>
          <p:nvPr/>
        </p:nvCxnSpPr>
        <p:spPr>
          <a:xfrm>
            <a:off x="4442955" y="3060928"/>
            <a:ext cx="667016" cy="196622"/>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A97F5E3-9515-4B36-A6B1-9E3066C6E34F}"/>
              </a:ext>
            </a:extLst>
          </p:cNvPr>
          <p:cNvCxnSpPr/>
          <p:nvPr/>
        </p:nvCxnSpPr>
        <p:spPr>
          <a:xfrm flipV="1">
            <a:off x="4572000" y="3867150"/>
            <a:ext cx="318515" cy="490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717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612388" y="385953"/>
            <a:ext cx="1919223" cy="452119"/>
          </a:xfrm>
          <a:prstGeom prst="rect">
            <a:avLst/>
          </a:prstGeom>
        </p:spPr>
        <p:txBody>
          <a:bodyPr vert="horz" wrap="square" lIns="0" tIns="12065" rIns="0" bIns="0" rtlCol="0">
            <a:spAutoFit/>
          </a:bodyPr>
          <a:lstStyle/>
          <a:p>
            <a:pPr marL="12700">
              <a:lnSpc>
                <a:spcPct val="100000"/>
              </a:lnSpc>
              <a:spcBef>
                <a:spcPts val="95"/>
              </a:spcBef>
            </a:pPr>
            <a:r>
              <a:rPr spc="-10" dirty="0"/>
              <a:t>Decision</a:t>
            </a:r>
            <a:r>
              <a:rPr spc="-35" dirty="0"/>
              <a:t> </a:t>
            </a:r>
            <a:r>
              <a:rPr spc="-15" dirty="0"/>
              <a:t>tree</a:t>
            </a:r>
          </a:p>
        </p:txBody>
      </p:sp>
      <p:grpSp>
        <p:nvGrpSpPr>
          <p:cNvPr id="3" name="object 3"/>
          <p:cNvGrpSpPr/>
          <p:nvPr/>
        </p:nvGrpSpPr>
        <p:grpSpPr>
          <a:xfrm>
            <a:off x="762000" y="444627"/>
            <a:ext cx="7274052" cy="4312920"/>
            <a:chOff x="1908048" y="830580"/>
            <a:chExt cx="5975604" cy="3764279"/>
          </a:xfrm>
        </p:grpSpPr>
        <p:sp>
          <p:nvSpPr>
            <p:cNvPr id="4" name="object 4"/>
            <p:cNvSpPr/>
            <p:nvPr/>
          </p:nvSpPr>
          <p:spPr>
            <a:xfrm>
              <a:off x="1908048" y="830580"/>
              <a:ext cx="5975604" cy="3764279"/>
            </a:xfrm>
            <a:prstGeom prst="rect">
              <a:avLst/>
            </a:prstGeom>
            <a:blipFill>
              <a:blip r:embed="rId2" cstate="print"/>
              <a:stretch>
                <a:fillRect/>
              </a:stretch>
            </a:blipFill>
          </p:spPr>
          <p:txBody>
            <a:bodyPr wrap="square" lIns="0" tIns="0" rIns="0" bIns="0" rtlCol="0"/>
            <a:lstStyle/>
            <a:p>
              <a:endParaRPr dirty="0"/>
            </a:p>
          </p:txBody>
        </p:sp>
        <p:sp>
          <p:nvSpPr>
            <p:cNvPr id="7" name="object 7"/>
            <p:cNvSpPr/>
            <p:nvPr/>
          </p:nvSpPr>
          <p:spPr>
            <a:xfrm>
              <a:off x="5459768" y="2471800"/>
              <a:ext cx="457200" cy="103505"/>
            </a:xfrm>
            <a:custGeom>
              <a:avLst/>
              <a:gdLst/>
              <a:ahLst/>
              <a:cxnLst/>
              <a:rect l="l" t="t" r="r" b="b"/>
              <a:pathLst>
                <a:path w="457200" h="103505">
                  <a:moveTo>
                    <a:pt x="48348" y="53213"/>
                  </a:moveTo>
                  <a:lnTo>
                    <a:pt x="47967" y="51689"/>
                  </a:lnTo>
                  <a:lnTo>
                    <a:pt x="47459" y="50165"/>
                  </a:lnTo>
                  <a:lnTo>
                    <a:pt x="46062" y="49276"/>
                  </a:lnTo>
                  <a:lnTo>
                    <a:pt x="38315" y="49911"/>
                  </a:lnTo>
                  <a:lnTo>
                    <a:pt x="37934" y="50038"/>
                  </a:lnTo>
                  <a:lnTo>
                    <a:pt x="31330" y="51054"/>
                  </a:lnTo>
                  <a:lnTo>
                    <a:pt x="30949" y="51181"/>
                  </a:lnTo>
                  <a:lnTo>
                    <a:pt x="24599" y="52832"/>
                  </a:lnTo>
                  <a:lnTo>
                    <a:pt x="19011" y="54864"/>
                  </a:lnTo>
                  <a:lnTo>
                    <a:pt x="0" y="79502"/>
                  </a:lnTo>
                  <a:lnTo>
                    <a:pt x="292" y="84074"/>
                  </a:lnTo>
                  <a:lnTo>
                    <a:pt x="342" y="85217"/>
                  </a:lnTo>
                  <a:lnTo>
                    <a:pt x="1358" y="92329"/>
                  </a:lnTo>
                  <a:lnTo>
                    <a:pt x="1358" y="92456"/>
                  </a:lnTo>
                  <a:lnTo>
                    <a:pt x="2247" y="98298"/>
                  </a:lnTo>
                  <a:lnTo>
                    <a:pt x="2628" y="101219"/>
                  </a:lnTo>
                  <a:lnTo>
                    <a:pt x="5295" y="103124"/>
                  </a:lnTo>
                  <a:lnTo>
                    <a:pt x="11010" y="102362"/>
                  </a:lnTo>
                  <a:lnTo>
                    <a:pt x="12915" y="99822"/>
                  </a:lnTo>
                  <a:lnTo>
                    <a:pt x="11798" y="91186"/>
                  </a:lnTo>
                  <a:lnTo>
                    <a:pt x="11836" y="91059"/>
                  </a:lnTo>
                  <a:lnTo>
                    <a:pt x="11899" y="91186"/>
                  </a:lnTo>
                  <a:lnTo>
                    <a:pt x="11874" y="90932"/>
                  </a:lnTo>
                  <a:lnTo>
                    <a:pt x="11366" y="85217"/>
                  </a:lnTo>
                  <a:lnTo>
                    <a:pt x="11264" y="84582"/>
                  </a:lnTo>
                  <a:lnTo>
                    <a:pt x="11264" y="84074"/>
                  </a:lnTo>
                  <a:lnTo>
                    <a:pt x="11264" y="79502"/>
                  </a:lnTo>
                  <a:lnTo>
                    <a:pt x="11391" y="78613"/>
                  </a:lnTo>
                  <a:lnTo>
                    <a:pt x="11772" y="75946"/>
                  </a:lnTo>
                  <a:lnTo>
                    <a:pt x="14185" y="71247"/>
                  </a:lnTo>
                  <a:lnTo>
                    <a:pt x="15316" y="70104"/>
                  </a:lnTo>
                  <a:lnTo>
                    <a:pt x="28790" y="63246"/>
                  </a:lnTo>
                  <a:lnTo>
                    <a:pt x="28663" y="63246"/>
                  </a:lnTo>
                  <a:lnTo>
                    <a:pt x="34251" y="60960"/>
                  </a:lnTo>
                  <a:lnTo>
                    <a:pt x="40347" y="58293"/>
                  </a:lnTo>
                  <a:lnTo>
                    <a:pt x="40601" y="58293"/>
                  </a:lnTo>
                  <a:lnTo>
                    <a:pt x="46189" y="55499"/>
                  </a:lnTo>
                  <a:lnTo>
                    <a:pt x="47586" y="54737"/>
                  </a:lnTo>
                  <a:lnTo>
                    <a:pt x="48348" y="53213"/>
                  </a:lnTo>
                  <a:close/>
                </a:path>
                <a:path w="457200" h="103505">
                  <a:moveTo>
                    <a:pt x="457034" y="4445"/>
                  </a:moveTo>
                  <a:lnTo>
                    <a:pt x="456399" y="2667"/>
                  </a:lnTo>
                  <a:lnTo>
                    <a:pt x="455764" y="1016"/>
                  </a:lnTo>
                  <a:lnTo>
                    <a:pt x="453859" y="0"/>
                  </a:lnTo>
                  <a:lnTo>
                    <a:pt x="451954" y="508"/>
                  </a:lnTo>
                  <a:lnTo>
                    <a:pt x="438111" y="4826"/>
                  </a:lnTo>
                  <a:lnTo>
                    <a:pt x="437857" y="4953"/>
                  </a:lnTo>
                  <a:lnTo>
                    <a:pt x="426173" y="9144"/>
                  </a:lnTo>
                  <a:lnTo>
                    <a:pt x="415759" y="13843"/>
                  </a:lnTo>
                  <a:lnTo>
                    <a:pt x="415378" y="13970"/>
                  </a:lnTo>
                  <a:lnTo>
                    <a:pt x="406615" y="18669"/>
                  </a:lnTo>
                  <a:lnTo>
                    <a:pt x="388772" y="42672"/>
                  </a:lnTo>
                  <a:lnTo>
                    <a:pt x="389470" y="46736"/>
                  </a:lnTo>
                  <a:lnTo>
                    <a:pt x="389724" y="47625"/>
                  </a:lnTo>
                  <a:lnTo>
                    <a:pt x="391248" y="51689"/>
                  </a:lnTo>
                  <a:lnTo>
                    <a:pt x="392391" y="54864"/>
                  </a:lnTo>
                  <a:lnTo>
                    <a:pt x="392899" y="56388"/>
                  </a:lnTo>
                  <a:lnTo>
                    <a:pt x="394169" y="57404"/>
                  </a:lnTo>
                  <a:lnTo>
                    <a:pt x="397471" y="57912"/>
                  </a:lnTo>
                  <a:lnTo>
                    <a:pt x="398995" y="57404"/>
                  </a:lnTo>
                  <a:lnTo>
                    <a:pt x="401027" y="54864"/>
                  </a:lnTo>
                  <a:lnTo>
                    <a:pt x="401281" y="53086"/>
                  </a:lnTo>
                  <a:lnTo>
                    <a:pt x="399529" y="48895"/>
                  </a:lnTo>
                  <a:lnTo>
                    <a:pt x="399427" y="48653"/>
                  </a:lnTo>
                  <a:lnTo>
                    <a:pt x="399376" y="48514"/>
                  </a:lnTo>
                  <a:lnTo>
                    <a:pt x="398500" y="45593"/>
                  </a:lnTo>
                  <a:lnTo>
                    <a:pt x="398411" y="44704"/>
                  </a:lnTo>
                  <a:lnTo>
                    <a:pt x="398233" y="42672"/>
                  </a:lnTo>
                  <a:lnTo>
                    <a:pt x="398170" y="41922"/>
                  </a:lnTo>
                  <a:lnTo>
                    <a:pt x="398068" y="42291"/>
                  </a:lnTo>
                  <a:lnTo>
                    <a:pt x="398106" y="41021"/>
                  </a:lnTo>
                  <a:lnTo>
                    <a:pt x="398170" y="41922"/>
                  </a:lnTo>
                  <a:lnTo>
                    <a:pt x="398411" y="41021"/>
                  </a:lnTo>
                  <a:lnTo>
                    <a:pt x="398741" y="39751"/>
                  </a:lnTo>
                  <a:lnTo>
                    <a:pt x="398919" y="39077"/>
                  </a:lnTo>
                  <a:lnTo>
                    <a:pt x="399402" y="38354"/>
                  </a:lnTo>
                  <a:lnTo>
                    <a:pt x="400824" y="36195"/>
                  </a:lnTo>
                  <a:lnTo>
                    <a:pt x="401116" y="35750"/>
                  </a:lnTo>
                  <a:lnTo>
                    <a:pt x="401574" y="35306"/>
                  </a:lnTo>
                  <a:lnTo>
                    <a:pt x="405307" y="31750"/>
                  </a:lnTo>
                  <a:lnTo>
                    <a:pt x="405561" y="31521"/>
                  </a:lnTo>
                  <a:lnTo>
                    <a:pt x="405968" y="31242"/>
                  </a:lnTo>
                  <a:lnTo>
                    <a:pt x="411441" y="27559"/>
                  </a:lnTo>
                  <a:lnTo>
                    <a:pt x="411911" y="27305"/>
                  </a:lnTo>
                  <a:lnTo>
                    <a:pt x="420204" y="22860"/>
                  </a:lnTo>
                  <a:lnTo>
                    <a:pt x="419950" y="22860"/>
                  </a:lnTo>
                  <a:lnTo>
                    <a:pt x="429983" y="18161"/>
                  </a:lnTo>
                  <a:lnTo>
                    <a:pt x="429856" y="18161"/>
                  </a:lnTo>
                  <a:lnTo>
                    <a:pt x="454494" y="7239"/>
                  </a:lnTo>
                  <a:lnTo>
                    <a:pt x="456272" y="6477"/>
                  </a:lnTo>
                  <a:lnTo>
                    <a:pt x="457034" y="4445"/>
                  </a:lnTo>
                  <a:close/>
                </a:path>
              </a:pathLst>
            </a:custGeom>
            <a:solidFill>
              <a:srgbClr val="FF0000"/>
            </a:solidFill>
          </p:spPr>
          <p:txBody>
            <a:bodyPr wrap="square" lIns="0" tIns="0" rIns="0" bIns="0" rtlCol="0"/>
            <a:lstStyle/>
            <a:p>
              <a:endParaRPr/>
            </a:p>
          </p:txBody>
        </p:sp>
        <p:sp>
          <p:nvSpPr>
            <p:cNvPr id="8" name="object 8"/>
            <p:cNvSpPr/>
            <p:nvPr/>
          </p:nvSpPr>
          <p:spPr>
            <a:xfrm>
              <a:off x="5065268" y="2736215"/>
              <a:ext cx="284825" cy="31242"/>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5652929" y="2719831"/>
              <a:ext cx="197706" cy="25018"/>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6592569" y="2464053"/>
              <a:ext cx="36830" cy="30480"/>
            </a:xfrm>
            <a:custGeom>
              <a:avLst/>
              <a:gdLst/>
              <a:ahLst/>
              <a:cxnLst/>
              <a:rect l="l" t="t" r="r" b="b"/>
              <a:pathLst>
                <a:path w="36829" h="30480">
                  <a:moveTo>
                    <a:pt x="30860" y="0"/>
                  </a:moveTo>
                  <a:lnTo>
                    <a:pt x="22986" y="3175"/>
                  </a:lnTo>
                  <a:lnTo>
                    <a:pt x="17145" y="5968"/>
                  </a:lnTo>
                  <a:lnTo>
                    <a:pt x="16509" y="6222"/>
                  </a:lnTo>
                  <a:lnTo>
                    <a:pt x="2031" y="18668"/>
                  </a:lnTo>
                  <a:lnTo>
                    <a:pt x="380" y="20446"/>
                  </a:lnTo>
                  <a:lnTo>
                    <a:pt x="0" y="22987"/>
                  </a:lnTo>
                  <a:lnTo>
                    <a:pt x="1524" y="27558"/>
                  </a:lnTo>
                  <a:lnTo>
                    <a:pt x="3555" y="29209"/>
                  </a:lnTo>
                  <a:lnTo>
                    <a:pt x="8254" y="29971"/>
                  </a:lnTo>
                  <a:lnTo>
                    <a:pt x="10668" y="29082"/>
                  </a:lnTo>
                  <a:lnTo>
                    <a:pt x="12191" y="27177"/>
                  </a:lnTo>
                  <a:lnTo>
                    <a:pt x="15120" y="23621"/>
                  </a:lnTo>
                  <a:lnTo>
                    <a:pt x="14858" y="23621"/>
                  </a:lnTo>
                  <a:lnTo>
                    <a:pt x="19061" y="20065"/>
                  </a:lnTo>
                  <a:lnTo>
                    <a:pt x="18923" y="20065"/>
                  </a:lnTo>
                  <a:lnTo>
                    <a:pt x="19811" y="19431"/>
                  </a:lnTo>
                  <a:lnTo>
                    <a:pt x="19981" y="19431"/>
                  </a:lnTo>
                  <a:lnTo>
                    <a:pt x="23156" y="17525"/>
                  </a:lnTo>
                  <a:lnTo>
                    <a:pt x="28448" y="14477"/>
                  </a:lnTo>
                  <a:lnTo>
                    <a:pt x="29209" y="13969"/>
                  </a:lnTo>
                  <a:lnTo>
                    <a:pt x="33781" y="10413"/>
                  </a:lnTo>
                  <a:lnTo>
                    <a:pt x="35940" y="8762"/>
                  </a:lnTo>
                  <a:lnTo>
                    <a:pt x="36449" y="5841"/>
                  </a:lnTo>
                  <a:lnTo>
                    <a:pt x="35178" y="3428"/>
                  </a:lnTo>
                  <a:lnTo>
                    <a:pt x="33781" y="1015"/>
                  </a:lnTo>
                  <a:lnTo>
                    <a:pt x="30860" y="0"/>
                  </a:lnTo>
                  <a:close/>
                </a:path>
                <a:path w="36829" h="30480">
                  <a:moveTo>
                    <a:pt x="15721" y="22892"/>
                  </a:moveTo>
                  <a:lnTo>
                    <a:pt x="14858" y="23621"/>
                  </a:lnTo>
                  <a:lnTo>
                    <a:pt x="15120" y="23621"/>
                  </a:lnTo>
                  <a:lnTo>
                    <a:pt x="15721" y="22892"/>
                  </a:lnTo>
                  <a:close/>
                </a:path>
                <a:path w="36829" h="30480">
                  <a:moveTo>
                    <a:pt x="19811" y="19431"/>
                  </a:moveTo>
                  <a:lnTo>
                    <a:pt x="18923" y="20065"/>
                  </a:lnTo>
                  <a:lnTo>
                    <a:pt x="19399" y="19780"/>
                  </a:lnTo>
                  <a:lnTo>
                    <a:pt x="19811" y="19431"/>
                  </a:lnTo>
                  <a:close/>
                </a:path>
                <a:path w="36829" h="30480">
                  <a:moveTo>
                    <a:pt x="19399" y="19780"/>
                  </a:moveTo>
                  <a:lnTo>
                    <a:pt x="18923" y="20065"/>
                  </a:lnTo>
                  <a:lnTo>
                    <a:pt x="19061" y="20065"/>
                  </a:lnTo>
                  <a:lnTo>
                    <a:pt x="19399" y="19780"/>
                  </a:lnTo>
                  <a:close/>
                </a:path>
                <a:path w="36829" h="30480">
                  <a:moveTo>
                    <a:pt x="19981" y="19431"/>
                  </a:moveTo>
                  <a:lnTo>
                    <a:pt x="19811" y="19431"/>
                  </a:lnTo>
                  <a:lnTo>
                    <a:pt x="19399" y="19780"/>
                  </a:lnTo>
                  <a:lnTo>
                    <a:pt x="19981" y="19431"/>
                  </a:lnTo>
                  <a:close/>
                </a:path>
                <a:path w="36829" h="30480">
                  <a:moveTo>
                    <a:pt x="23368" y="17398"/>
                  </a:moveTo>
                  <a:lnTo>
                    <a:pt x="23113" y="17525"/>
                  </a:lnTo>
                  <a:lnTo>
                    <a:pt x="23368" y="17398"/>
                  </a:lnTo>
                  <a:close/>
                </a:path>
              </a:pathLst>
            </a:custGeom>
            <a:solidFill>
              <a:srgbClr val="FF0000"/>
            </a:solidFill>
          </p:spPr>
          <p:txBody>
            <a:bodyPr wrap="square" lIns="0" tIns="0" rIns="0" bIns="0" rtlCol="0"/>
            <a:lstStyle/>
            <a:p>
              <a:endParaRPr/>
            </a:p>
          </p:txBody>
        </p:sp>
      </p:grpSp>
      <p:sp>
        <p:nvSpPr>
          <p:cNvPr id="11" name="object 11"/>
          <p:cNvSpPr txBox="1">
            <a:spLocks noGrp="1"/>
          </p:cNvSpPr>
          <p:nvPr>
            <p:ph type="sldNum" sz="quarter" idx="4294967295"/>
          </p:nvPr>
        </p:nvSpPr>
        <p:spPr>
          <a:xfrm>
            <a:off x="8401557" y="4830038"/>
            <a:ext cx="231775" cy="178435"/>
          </a:xfrm>
          <a:prstGeom prst="rect">
            <a:avLst/>
          </a:prstGeom>
        </p:spPr>
        <p:txBody>
          <a:bodyPr vert="horz" wrap="square" lIns="0" tIns="0" rIns="0" bIns="0" rtlCol="0">
            <a:spAutoFit/>
          </a:bodyPr>
          <a:lstStyle/>
          <a:p>
            <a:pPr marL="38100">
              <a:lnSpc>
                <a:spcPts val="1240"/>
              </a:lnSpc>
            </a:pPr>
            <a:fld id="{81D60167-4931-47E6-BA6A-407CBD079E47}" type="slidenum">
              <a:rPr dirty="0"/>
              <a:t>9</a:t>
            </a:fld>
            <a:endParaRPr dirty="0"/>
          </a:p>
        </p:txBody>
      </p:sp>
    </p:spTree>
    <p:extLst>
      <p:ext uri="{BB962C8B-B14F-4D97-AF65-F5344CB8AC3E}">
        <p14:creationId xmlns:p14="http://schemas.microsoft.com/office/powerpoint/2010/main" val="1628133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92CF2E-68DB-4F92-94B3-D59D5AECB507}"/>
              </a:ext>
            </a:extLst>
          </p:cNvPr>
          <p:cNvSpPr>
            <a:spLocks noGrp="1"/>
          </p:cNvSpPr>
          <p:nvPr>
            <p:ph type="body" idx="1"/>
          </p:nvPr>
        </p:nvSpPr>
        <p:spPr>
          <a:xfrm>
            <a:off x="535940" y="582485"/>
            <a:ext cx="8072119" cy="3648138"/>
          </a:xfrm>
        </p:spPr>
        <p:txBody>
          <a:bodyPr/>
          <a:lstStyle/>
          <a:p>
            <a:endParaRPr lang="en-IN" dirty="0"/>
          </a:p>
        </p:txBody>
      </p:sp>
      <p:sp>
        <p:nvSpPr>
          <p:cNvPr id="6" name="Rectangle: Rounded Corners 5">
            <a:extLst>
              <a:ext uri="{FF2B5EF4-FFF2-40B4-BE49-F238E27FC236}">
                <a16:creationId xmlns:a16="http://schemas.microsoft.com/office/drawing/2014/main" id="{D13B1BE8-5FD5-44D5-96AA-FE91D2830AF6}"/>
              </a:ext>
            </a:extLst>
          </p:cNvPr>
          <p:cNvSpPr/>
          <p:nvPr/>
        </p:nvSpPr>
        <p:spPr>
          <a:xfrm>
            <a:off x="3352800" y="826482"/>
            <a:ext cx="1524000" cy="4572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Employed?</a:t>
            </a:r>
            <a:endParaRPr lang="en-IN" dirty="0"/>
          </a:p>
        </p:txBody>
      </p:sp>
      <p:sp>
        <p:nvSpPr>
          <p:cNvPr id="9" name="Rectangle: Rounded Corners 8">
            <a:extLst>
              <a:ext uri="{FF2B5EF4-FFF2-40B4-BE49-F238E27FC236}">
                <a16:creationId xmlns:a16="http://schemas.microsoft.com/office/drawing/2014/main" id="{C798B886-FC43-42E7-8AD2-6DD77A2C33E5}"/>
              </a:ext>
            </a:extLst>
          </p:cNvPr>
          <p:cNvSpPr/>
          <p:nvPr/>
        </p:nvSpPr>
        <p:spPr>
          <a:xfrm>
            <a:off x="5377947" y="1962150"/>
            <a:ext cx="1524000" cy="4572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income</a:t>
            </a:r>
            <a:endParaRPr lang="en-IN" dirty="0"/>
          </a:p>
        </p:txBody>
      </p:sp>
      <p:sp>
        <p:nvSpPr>
          <p:cNvPr id="10" name="Rectangle: Rounded Corners 9">
            <a:extLst>
              <a:ext uri="{FF2B5EF4-FFF2-40B4-BE49-F238E27FC236}">
                <a16:creationId xmlns:a16="http://schemas.microsoft.com/office/drawing/2014/main" id="{21802536-DE98-4846-99C7-8D06A21BFDBE}"/>
              </a:ext>
            </a:extLst>
          </p:cNvPr>
          <p:cNvSpPr/>
          <p:nvPr/>
        </p:nvSpPr>
        <p:spPr>
          <a:xfrm>
            <a:off x="1828800" y="2037968"/>
            <a:ext cx="1524000" cy="4572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Credit score</a:t>
            </a:r>
            <a:endParaRPr lang="en-IN" dirty="0"/>
          </a:p>
        </p:txBody>
      </p:sp>
      <p:sp>
        <p:nvSpPr>
          <p:cNvPr id="11" name="Rectangle 10">
            <a:extLst>
              <a:ext uri="{FF2B5EF4-FFF2-40B4-BE49-F238E27FC236}">
                <a16:creationId xmlns:a16="http://schemas.microsoft.com/office/drawing/2014/main" id="{021D5035-7F43-4433-8751-3907318FD3A5}"/>
              </a:ext>
            </a:extLst>
          </p:cNvPr>
          <p:cNvSpPr/>
          <p:nvPr/>
        </p:nvSpPr>
        <p:spPr>
          <a:xfrm>
            <a:off x="609600" y="3302989"/>
            <a:ext cx="1447800" cy="53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approve</a:t>
            </a:r>
            <a:endParaRPr lang="en-IN" dirty="0"/>
          </a:p>
        </p:txBody>
      </p:sp>
      <p:sp>
        <p:nvSpPr>
          <p:cNvPr id="12" name="Rectangle 11">
            <a:extLst>
              <a:ext uri="{FF2B5EF4-FFF2-40B4-BE49-F238E27FC236}">
                <a16:creationId xmlns:a16="http://schemas.microsoft.com/office/drawing/2014/main" id="{2B69DA7A-D191-444B-9F4B-BCC79E4591DB}"/>
              </a:ext>
            </a:extLst>
          </p:cNvPr>
          <p:cNvSpPr/>
          <p:nvPr/>
        </p:nvSpPr>
        <p:spPr>
          <a:xfrm>
            <a:off x="2971800" y="3302989"/>
            <a:ext cx="1447800" cy="53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reject</a:t>
            </a:r>
            <a:endParaRPr lang="en-IN" dirty="0"/>
          </a:p>
        </p:txBody>
      </p:sp>
      <p:sp>
        <p:nvSpPr>
          <p:cNvPr id="13" name="Rectangle 12">
            <a:extLst>
              <a:ext uri="{FF2B5EF4-FFF2-40B4-BE49-F238E27FC236}">
                <a16:creationId xmlns:a16="http://schemas.microsoft.com/office/drawing/2014/main" id="{64EB00CC-A066-4D75-A003-9E7ECF03EC00}"/>
              </a:ext>
            </a:extLst>
          </p:cNvPr>
          <p:cNvSpPr/>
          <p:nvPr/>
        </p:nvSpPr>
        <p:spPr>
          <a:xfrm>
            <a:off x="4922043" y="3259398"/>
            <a:ext cx="1447800" cy="53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approve</a:t>
            </a:r>
            <a:endParaRPr lang="en-IN" dirty="0"/>
          </a:p>
        </p:txBody>
      </p:sp>
      <p:sp>
        <p:nvSpPr>
          <p:cNvPr id="14" name="Rectangle 13">
            <a:extLst>
              <a:ext uri="{FF2B5EF4-FFF2-40B4-BE49-F238E27FC236}">
                <a16:creationId xmlns:a16="http://schemas.microsoft.com/office/drawing/2014/main" id="{8E3344E2-28FB-4959-9280-7A05EF864D41}"/>
              </a:ext>
            </a:extLst>
          </p:cNvPr>
          <p:cNvSpPr/>
          <p:nvPr/>
        </p:nvSpPr>
        <p:spPr>
          <a:xfrm>
            <a:off x="6872287" y="3230641"/>
            <a:ext cx="1447800" cy="53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reject</a:t>
            </a:r>
            <a:endParaRPr lang="en-IN" dirty="0"/>
          </a:p>
        </p:txBody>
      </p:sp>
      <p:cxnSp>
        <p:nvCxnSpPr>
          <p:cNvPr id="16" name="Straight Arrow Connector 15">
            <a:extLst>
              <a:ext uri="{FF2B5EF4-FFF2-40B4-BE49-F238E27FC236}">
                <a16:creationId xmlns:a16="http://schemas.microsoft.com/office/drawing/2014/main" id="{BED60339-79C2-47BA-9323-A1C0A94AB5F5}"/>
              </a:ext>
            </a:extLst>
          </p:cNvPr>
          <p:cNvCxnSpPr>
            <a:stCxn id="6" idx="2"/>
          </p:cNvCxnSpPr>
          <p:nvPr/>
        </p:nvCxnSpPr>
        <p:spPr>
          <a:xfrm flipH="1">
            <a:off x="2743200" y="1283682"/>
            <a:ext cx="1371600" cy="678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F7A7853-723D-4C5A-989D-015DA50F0376}"/>
              </a:ext>
            </a:extLst>
          </p:cNvPr>
          <p:cNvCxnSpPr>
            <a:cxnSpLocks/>
          </p:cNvCxnSpPr>
          <p:nvPr/>
        </p:nvCxnSpPr>
        <p:spPr>
          <a:xfrm>
            <a:off x="4435151" y="1294282"/>
            <a:ext cx="1432249" cy="589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B6C7CB8-8E76-4FE3-80CF-2D96F91F1E9C}"/>
              </a:ext>
            </a:extLst>
          </p:cNvPr>
          <p:cNvCxnSpPr>
            <a:stCxn id="10" idx="2"/>
          </p:cNvCxnSpPr>
          <p:nvPr/>
        </p:nvCxnSpPr>
        <p:spPr>
          <a:xfrm flipH="1">
            <a:off x="1447800" y="2495168"/>
            <a:ext cx="1143000" cy="807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FC6CE4C-4AF6-49F5-9249-0A5D74251A7A}"/>
              </a:ext>
            </a:extLst>
          </p:cNvPr>
          <p:cNvCxnSpPr>
            <a:cxnSpLocks/>
            <a:stCxn id="9" idx="2"/>
          </p:cNvCxnSpPr>
          <p:nvPr/>
        </p:nvCxnSpPr>
        <p:spPr>
          <a:xfrm flipH="1">
            <a:off x="5496862" y="2419350"/>
            <a:ext cx="643085" cy="811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7D77399-F539-4A55-B3C9-16120DDE1E1E}"/>
              </a:ext>
            </a:extLst>
          </p:cNvPr>
          <p:cNvCxnSpPr>
            <a:cxnSpLocks/>
          </p:cNvCxnSpPr>
          <p:nvPr/>
        </p:nvCxnSpPr>
        <p:spPr>
          <a:xfrm>
            <a:off x="2743200" y="2504564"/>
            <a:ext cx="952500" cy="75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6F8624F-6762-46FE-ABDC-FE46969678AD}"/>
              </a:ext>
            </a:extLst>
          </p:cNvPr>
          <p:cNvCxnSpPr>
            <a:cxnSpLocks/>
          </p:cNvCxnSpPr>
          <p:nvPr/>
        </p:nvCxnSpPr>
        <p:spPr>
          <a:xfrm>
            <a:off x="6379845" y="2425865"/>
            <a:ext cx="935355" cy="755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1206568-042E-48BD-A31F-279AB9816914}"/>
              </a:ext>
            </a:extLst>
          </p:cNvPr>
          <p:cNvSpPr txBox="1"/>
          <p:nvPr/>
        </p:nvSpPr>
        <p:spPr>
          <a:xfrm>
            <a:off x="2876550" y="1327902"/>
            <a:ext cx="685800" cy="369332"/>
          </a:xfrm>
          <a:prstGeom prst="rect">
            <a:avLst/>
          </a:prstGeom>
          <a:noFill/>
        </p:spPr>
        <p:txBody>
          <a:bodyPr wrap="square" rtlCol="0">
            <a:spAutoFit/>
          </a:bodyPr>
          <a:lstStyle/>
          <a:p>
            <a:r>
              <a:rPr lang="en-US" dirty="0"/>
              <a:t>No</a:t>
            </a:r>
            <a:endParaRPr lang="en-IN" dirty="0"/>
          </a:p>
        </p:txBody>
      </p:sp>
      <p:sp>
        <p:nvSpPr>
          <p:cNvPr id="33" name="TextBox 32">
            <a:extLst>
              <a:ext uri="{FF2B5EF4-FFF2-40B4-BE49-F238E27FC236}">
                <a16:creationId xmlns:a16="http://schemas.microsoft.com/office/drawing/2014/main" id="{E25BE7E7-0AF3-4005-ADCC-B0024377A25F}"/>
              </a:ext>
            </a:extLst>
          </p:cNvPr>
          <p:cNvSpPr txBox="1"/>
          <p:nvPr/>
        </p:nvSpPr>
        <p:spPr>
          <a:xfrm>
            <a:off x="5181600" y="1300291"/>
            <a:ext cx="685800" cy="369332"/>
          </a:xfrm>
          <a:prstGeom prst="rect">
            <a:avLst/>
          </a:prstGeom>
          <a:noFill/>
        </p:spPr>
        <p:txBody>
          <a:bodyPr wrap="square" rtlCol="0">
            <a:spAutoFit/>
          </a:bodyPr>
          <a:lstStyle/>
          <a:p>
            <a:r>
              <a:rPr lang="en-US" dirty="0"/>
              <a:t>Yes</a:t>
            </a:r>
            <a:endParaRPr lang="en-IN" dirty="0"/>
          </a:p>
        </p:txBody>
      </p:sp>
      <p:sp>
        <p:nvSpPr>
          <p:cNvPr id="34" name="TextBox 33">
            <a:extLst>
              <a:ext uri="{FF2B5EF4-FFF2-40B4-BE49-F238E27FC236}">
                <a16:creationId xmlns:a16="http://schemas.microsoft.com/office/drawing/2014/main" id="{7A0C9C95-0873-496C-89E2-D2FE7639102B}"/>
              </a:ext>
            </a:extLst>
          </p:cNvPr>
          <p:cNvSpPr txBox="1"/>
          <p:nvPr/>
        </p:nvSpPr>
        <p:spPr>
          <a:xfrm>
            <a:off x="1311831" y="2606709"/>
            <a:ext cx="685800" cy="369332"/>
          </a:xfrm>
          <a:prstGeom prst="rect">
            <a:avLst/>
          </a:prstGeom>
          <a:noFill/>
        </p:spPr>
        <p:txBody>
          <a:bodyPr wrap="square" rtlCol="0">
            <a:spAutoFit/>
          </a:bodyPr>
          <a:lstStyle/>
          <a:p>
            <a:r>
              <a:rPr lang="en-US" dirty="0"/>
              <a:t>High</a:t>
            </a:r>
            <a:endParaRPr lang="en-IN" dirty="0"/>
          </a:p>
        </p:txBody>
      </p:sp>
      <p:sp>
        <p:nvSpPr>
          <p:cNvPr id="35" name="TextBox 34">
            <a:extLst>
              <a:ext uri="{FF2B5EF4-FFF2-40B4-BE49-F238E27FC236}">
                <a16:creationId xmlns:a16="http://schemas.microsoft.com/office/drawing/2014/main" id="{0BFB02F2-5DDB-45B1-9E18-DCF4382A46DD}"/>
              </a:ext>
            </a:extLst>
          </p:cNvPr>
          <p:cNvSpPr txBox="1"/>
          <p:nvPr/>
        </p:nvSpPr>
        <p:spPr>
          <a:xfrm>
            <a:off x="3429880" y="2579822"/>
            <a:ext cx="685800" cy="369332"/>
          </a:xfrm>
          <a:prstGeom prst="rect">
            <a:avLst/>
          </a:prstGeom>
          <a:noFill/>
        </p:spPr>
        <p:txBody>
          <a:bodyPr wrap="square" rtlCol="0">
            <a:spAutoFit/>
          </a:bodyPr>
          <a:lstStyle/>
          <a:p>
            <a:r>
              <a:rPr lang="en-US" dirty="0"/>
              <a:t>Low</a:t>
            </a:r>
            <a:endParaRPr lang="en-IN" dirty="0"/>
          </a:p>
        </p:txBody>
      </p:sp>
      <p:sp>
        <p:nvSpPr>
          <p:cNvPr id="36" name="TextBox 35">
            <a:extLst>
              <a:ext uri="{FF2B5EF4-FFF2-40B4-BE49-F238E27FC236}">
                <a16:creationId xmlns:a16="http://schemas.microsoft.com/office/drawing/2014/main" id="{9D5989FE-65C4-4A5B-BA5A-61C94D84E33D}"/>
              </a:ext>
            </a:extLst>
          </p:cNvPr>
          <p:cNvSpPr txBox="1"/>
          <p:nvPr/>
        </p:nvSpPr>
        <p:spPr>
          <a:xfrm>
            <a:off x="7146369" y="2571750"/>
            <a:ext cx="685800" cy="369332"/>
          </a:xfrm>
          <a:prstGeom prst="rect">
            <a:avLst/>
          </a:prstGeom>
          <a:noFill/>
        </p:spPr>
        <p:txBody>
          <a:bodyPr wrap="square" rtlCol="0">
            <a:spAutoFit/>
          </a:bodyPr>
          <a:lstStyle/>
          <a:p>
            <a:r>
              <a:rPr lang="en-US" dirty="0"/>
              <a:t>Low</a:t>
            </a:r>
            <a:endParaRPr lang="en-IN" dirty="0"/>
          </a:p>
        </p:txBody>
      </p:sp>
      <p:sp>
        <p:nvSpPr>
          <p:cNvPr id="37" name="TextBox 36">
            <a:extLst>
              <a:ext uri="{FF2B5EF4-FFF2-40B4-BE49-F238E27FC236}">
                <a16:creationId xmlns:a16="http://schemas.microsoft.com/office/drawing/2014/main" id="{5465DFCC-CB95-42A9-8211-09719E5FC044}"/>
              </a:ext>
            </a:extLst>
          </p:cNvPr>
          <p:cNvSpPr txBox="1"/>
          <p:nvPr/>
        </p:nvSpPr>
        <p:spPr>
          <a:xfrm>
            <a:off x="5026873" y="2656130"/>
            <a:ext cx="685800" cy="369332"/>
          </a:xfrm>
          <a:prstGeom prst="rect">
            <a:avLst/>
          </a:prstGeom>
          <a:noFill/>
        </p:spPr>
        <p:txBody>
          <a:bodyPr wrap="square" rtlCol="0">
            <a:spAutoFit/>
          </a:bodyPr>
          <a:lstStyle/>
          <a:p>
            <a:r>
              <a:rPr lang="en-US" dirty="0"/>
              <a:t>High</a:t>
            </a:r>
            <a:endParaRPr lang="en-IN" dirty="0"/>
          </a:p>
        </p:txBody>
      </p:sp>
      <p:sp>
        <p:nvSpPr>
          <p:cNvPr id="38" name="TextBox 37">
            <a:extLst>
              <a:ext uri="{FF2B5EF4-FFF2-40B4-BE49-F238E27FC236}">
                <a16:creationId xmlns:a16="http://schemas.microsoft.com/office/drawing/2014/main" id="{D1CC74A2-4F78-43C4-8C48-1D056ECC2047}"/>
              </a:ext>
            </a:extLst>
          </p:cNvPr>
          <p:cNvSpPr txBox="1"/>
          <p:nvPr/>
        </p:nvSpPr>
        <p:spPr>
          <a:xfrm>
            <a:off x="3168520" y="152649"/>
            <a:ext cx="2874441" cy="523220"/>
          </a:xfrm>
          <a:prstGeom prst="rect">
            <a:avLst/>
          </a:prstGeom>
          <a:noFill/>
        </p:spPr>
        <p:txBody>
          <a:bodyPr wrap="none" rtlCol="0">
            <a:spAutoFit/>
          </a:bodyPr>
          <a:lstStyle/>
          <a:p>
            <a:r>
              <a:rPr lang="en-US" sz="2800" b="1" spc="-15" dirty="0">
                <a:solidFill>
                  <a:schemeClr val="hlink"/>
                </a:solidFill>
                <a:latin typeface="Calibri"/>
                <a:ea typeface="+mj-ea"/>
                <a:cs typeface="Calibri"/>
              </a:rPr>
              <a:t>To</a:t>
            </a:r>
            <a:r>
              <a:rPr lang="en-US" dirty="0"/>
              <a:t> </a:t>
            </a:r>
            <a:r>
              <a:rPr lang="en-US" sz="2800" b="1" spc="-15" dirty="0">
                <a:solidFill>
                  <a:schemeClr val="hlink"/>
                </a:solidFill>
                <a:latin typeface="Calibri"/>
                <a:ea typeface="+mj-ea"/>
                <a:cs typeface="Calibri"/>
              </a:rPr>
              <a:t>give loan or not</a:t>
            </a:r>
            <a:endParaRPr lang="en-IN" sz="2800" b="1" spc="-15" dirty="0">
              <a:solidFill>
                <a:schemeClr val="hlink"/>
              </a:solidFill>
              <a:latin typeface="Calibri"/>
              <a:ea typeface="+mj-ea"/>
              <a:cs typeface="Calibri"/>
            </a:endParaRPr>
          </a:p>
        </p:txBody>
      </p:sp>
    </p:spTree>
    <p:extLst>
      <p:ext uri="{BB962C8B-B14F-4D97-AF65-F5344CB8AC3E}">
        <p14:creationId xmlns:p14="http://schemas.microsoft.com/office/powerpoint/2010/main" val="2345429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B2AB3D88-744D-478D-9FB0-BA0BC0F34518}"/>
              </a:ext>
            </a:extLst>
          </p:cNvPr>
          <p:cNvSpPr>
            <a:spLocks noGrp="1"/>
          </p:cNvSpPr>
          <p:nvPr>
            <p:ph type="title" idx="4294967295"/>
          </p:nvPr>
        </p:nvSpPr>
        <p:spPr>
          <a:xfrm>
            <a:off x="381000" y="385953"/>
            <a:ext cx="7619999" cy="471297"/>
          </a:xfrm>
        </p:spPr>
        <p:txBody>
          <a:bodyPr/>
          <a:lstStyle/>
          <a:p>
            <a:pPr eaLnBrk="1" hangingPunct="1"/>
            <a:r>
              <a:rPr lang="en-US" altLang="en-US" dirty="0"/>
              <a:t>Decision Tree Representation</a:t>
            </a:r>
          </a:p>
        </p:txBody>
      </p:sp>
      <p:sp>
        <p:nvSpPr>
          <p:cNvPr id="3" name="Rectangle 2">
            <a:extLst>
              <a:ext uri="{FF2B5EF4-FFF2-40B4-BE49-F238E27FC236}">
                <a16:creationId xmlns:a16="http://schemas.microsoft.com/office/drawing/2014/main" id="{F538C07F-5CC1-4691-B9BF-7633B33F1953}"/>
              </a:ext>
            </a:extLst>
          </p:cNvPr>
          <p:cNvSpPr/>
          <p:nvPr/>
        </p:nvSpPr>
        <p:spPr>
          <a:xfrm>
            <a:off x="4171950" y="1600200"/>
            <a:ext cx="120015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Outlook</a:t>
            </a:r>
          </a:p>
        </p:txBody>
      </p:sp>
      <p:sp>
        <p:nvSpPr>
          <p:cNvPr id="4" name="Rectangle 3">
            <a:extLst>
              <a:ext uri="{FF2B5EF4-FFF2-40B4-BE49-F238E27FC236}">
                <a16:creationId xmlns:a16="http://schemas.microsoft.com/office/drawing/2014/main" id="{D8A6C06F-E3A3-47DA-8F45-533E079CD7A6}"/>
              </a:ext>
            </a:extLst>
          </p:cNvPr>
          <p:cNvSpPr/>
          <p:nvPr/>
        </p:nvSpPr>
        <p:spPr>
          <a:xfrm>
            <a:off x="2628900" y="2514600"/>
            <a:ext cx="1200150" cy="400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Humidity</a:t>
            </a:r>
          </a:p>
        </p:txBody>
      </p:sp>
      <p:sp>
        <p:nvSpPr>
          <p:cNvPr id="5" name="Rectangle 4">
            <a:extLst>
              <a:ext uri="{FF2B5EF4-FFF2-40B4-BE49-F238E27FC236}">
                <a16:creationId xmlns:a16="http://schemas.microsoft.com/office/drawing/2014/main" id="{105DE509-F6A8-488C-817F-343545FA71BC}"/>
              </a:ext>
            </a:extLst>
          </p:cNvPr>
          <p:cNvSpPr/>
          <p:nvPr/>
        </p:nvSpPr>
        <p:spPr>
          <a:xfrm>
            <a:off x="6172200" y="2628900"/>
            <a:ext cx="1314450"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Wind</a:t>
            </a:r>
          </a:p>
        </p:txBody>
      </p:sp>
      <p:cxnSp>
        <p:nvCxnSpPr>
          <p:cNvPr id="7" name="Straight Arrow Connector 6">
            <a:extLst>
              <a:ext uri="{FF2B5EF4-FFF2-40B4-BE49-F238E27FC236}">
                <a16:creationId xmlns:a16="http://schemas.microsoft.com/office/drawing/2014/main" id="{F8AADF26-F2AE-44FF-AD77-38F865A34C40}"/>
              </a:ext>
            </a:extLst>
          </p:cNvPr>
          <p:cNvCxnSpPr>
            <a:stCxn id="3" idx="1"/>
            <a:endCxn id="4" idx="0"/>
          </p:cNvCxnSpPr>
          <p:nvPr/>
        </p:nvCxnSpPr>
        <p:spPr>
          <a:xfrm rot="10800000" flipV="1">
            <a:off x="3228975" y="1828800"/>
            <a:ext cx="942975" cy="6858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163C513-7F34-435B-A324-A2B6785079C0}"/>
              </a:ext>
            </a:extLst>
          </p:cNvPr>
          <p:cNvCxnSpPr>
            <a:stCxn id="3" idx="3"/>
            <a:endCxn id="5" idx="0"/>
          </p:cNvCxnSpPr>
          <p:nvPr/>
        </p:nvCxnSpPr>
        <p:spPr>
          <a:xfrm>
            <a:off x="5372100" y="1828800"/>
            <a:ext cx="1457325" cy="8001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3473DF0-3A82-4A06-AEA6-DA7E46764D5A}"/>
              </a:ext>
            </a:extLst>
          </p:cNvPr>
          <p:cNvSpPr/>
          <p:nvPr/>
        </p:nvSpPr>
        <p:spPr>
          <a:xfrm>
            <a:off x="2914650" y="1885950"/>
            <a:ext cx="8572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Sunny</a:t>
            </a:r>
          </a:p>
        </p:txBody>
      </p:sp>
      <p:sp>
        <p:nvSpPr>
          <p:cNvPr id="13" name="Rectangle 12">
            <a:extLst>
              <a:ext uri="{FF2B5EF4-FFF2-40B4-BE49-F238E27FC236}">
                <a16:creationId xmlns:a16="http://schemas.microsoft.com/office/drawing/2014/main" id="{85673965-E4F7-4C99-AA47-45DB68CB9B09}"/>
              </a:ext>
            </a:extLst>
          </p:cNvPr>
          <p:cNvSpPr/>
          <p:nvPr/>
        </p:nvSpPr>
        <p:spPr>
          <a:xfrm>
            <a:off x="5829300" y="18859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Rain</a:t>
            </a:r>
          </a:p>
        </p:txBody>
      </p:sp>
      <p:sp>
        <p:nvSpPr>
          <p:cNvPr id="14" name="Rectangle 13">
            <a:extLst>
              <a:ext uri="{FF2B5EF4-FFF2-40B4-BE49-F238E27FC236}">
                <a16:creationId xmlns:a16="http://schemas.microsoft.com/office/drawing/2014/main" id="{FB15F158-1084-4045-84D7-A33F32B6945A}"/>
              </a:ext>
            </a:extLst>
          </p:cNvPr>
          <p:cNvSpPr/>
          <p:nvPr/>
        </p:nvSpPr>
        <p:spPr>
          <a:xfrm>
            <a:off x="4171950" y="21145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Overcast</a:t>
            </a:r>
          </a:p>
        </p:txBody>
      </p:sp>
      <p:sp>
        <p:nvSpPr>
          <p:cNvPr id="17" name="Rectangle 16">
            <a:extLst>
              <a:ext uri="{FF2B5EF4-FFF2-40B4-BE49-F238E27FC236}">
                <a16:creationId xmlns:a16="http://schemas.microsoft.com/office/drawing/2014/main" id="{5CC79D94-3A1B-4D60-8FCD-47FA5DD9D0D5}"/>
              </a:ext>
            </a:extLst>
          </p:cNvPr>
          <p:cNvSpPr/>
          <p:nvPr/>
        </p:nvSpPr>
        <p:spPr>
          <a:xfrm>
            <a:off x="1828800" y="32004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High</a:t>
            </a:r>
          </a:p>
        </p:txBody>
      </p:sp>
      <p:sp>
        <p:nvSpPr>
          <p:cNvPr id="18" name="Rectangle 17">
            <a:extLst>
              <a:ext uri="{FF2B5EF4-FFF2-40B4-BE49-F238E27FC236}">
                <a16:creationId xmlns:a16="http://schemas.microsoft.com/office/drawing/2014/main" id="{E970D7D8-62CB-4F32-BA85-4B0D0187F504}"/>
              </a:ext>
            </a:extLst>
          </p:cNvPr>
          <p:cNvSpPr/>
          <p:nvPr/>
        </p:nvSpPr>
        <p:spPr>
          <a:xfrm>
            <a:off x="3314700" y="32004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Normal</a:t>
            </a:r>
          </a:p>
        </p:txBody>
      </p:sp>
      <p:sp>
        <p:nvSpPr>
          <p:cNvPr id="19" name="Rectangle 18">
            <a:extLst>
              <a:ext uri="{FF2B5EF4-FFF2-40B4-BE49-F238E27FC236}">
                <a16:creationId xmlns:a16="http://schemas.microsoft.com/office/drawing/2014/main" id="{814BAD0D-D55C-4C88-AD55-B2688C80D1EA}"/>
              </a:ext>
            </a:extLst>
          </p:cNvPr>
          <p:cNvSpPr/>
          <p:nvPr/>
        </p:nvSpPr>
        <p:spPr>
          <a:xfrm>
            <a:off x="6800850" y="30861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Weak</a:t>
            </a:r>
          </a:p>
        </p:txBody>
      </p:sp>
      <p:sp>
        <p:nvSpPr>
          <p:cNvPr id="20" name="Rectangle 19">
            <a:extLst>
              <a:ext uri="{FF2B5EF4-FFF2-40B4-BE49-F238E27FC236}">
                <a16:creationId xmlns:a16="http://schemas.microsoft.com/office/drawing/2014/main" id="{0D50064B-F820-4D33-AF72-4C9C5FF2480E}"/>
              </a:ext>
            </a:extLst>
          </p:cNvPr>
          <p:cNvSpPr/>
          <p:nvPr/>
        </p:nvSpPr>
        <p:spPr>
          <a:xfrm>
            <a:off x="5600700" y="30861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Strong</a:t>
            </a:r>
          </a:p>
        </p:txBody>
      </p:sp>
      <p:cxnSp>
        <p:nvCxnSpPr>
          <p:cNvPr id="27" name="Straight Arrow Connector 26">
            <a:extLst>
              <a:ext uri="{FF2B5EF4-FFF2-40B4-BE49-F238E27FC236}">
                <a16:creationId xmlns:a16="http://schemas.microsoft.com/office/drawing/2014/main" id="{2A13F1BD-45A2-4AD9-BC23-3609D818047D}"/>
              </a:ext>
            </a:extLst>
          </p:cNvPr>
          <p:cNvCxnSpPr>
            <a:stCxn id="4" idx="2"/>
            <a:endCxn id="48" idx="0"/>
          </p:cNvCxnSpPr>
          <p:nvPr/>
        </p:nvCxnSpPr>
        <p:spPr>
          <a:xfrm rot="5400000">
            <a:off x="2343150" y="3000375"/>
            <a:ext cx="971550" cy="8001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A41066E-88E6-4E40-9B28-15ED5AEEBADD}"/>
              </a:ext>
            </a:extLst>
          </p:cNvPr>
          <p:cNvCxnSpPr>
            <a:stCxn id="4" idx="2"/>
          </p:cNvCxnSpPr>
          <p:nvPr/>
        </p:nvCxnSpPr>
        <p:spPr>
          <a:xfrm rot="16200000" flipH="1">
            <a:off x="3014663" y="3128963"/>
            <a:ext cx="971550" cy="542925"/>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3085DB9-1E10-4850-9959-1CCADC463F31}"/>
              </a:ext>
            </a:extLst>
          </p:cNvPr>
          <p:cNvCxnSpPr>
            <a:stCxn id="5" idx="2"/>
          </p:cNvCxnSpPr>
          <p:nvPr/>
        </p:nvCxnSpPr>
        <p:spPr>
          <a:xfrm rot="5400000">
            <a:off x="6129338" y="3071813"/>
            <a:ext cx="800100" cy="600075"/>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6869155-BD5E-4F6F-BAD1-B86BC28DF12F}"/>
              </a:ext>
            </a:extLst>
          </p:cNvPr>
          <p:cNvCxnSpPr>
            <a:stCxn id="5" idx="2"/>
            <a:endCxn id="70" idx="0"/>
          </p:cNvCxnSpPr>
          <p:nvPr/>
        </p:nvCxnSpPr>
        <p:spPr>
          <a:xfrm rot="16200000" flipH="1">
            <a:off x="6715125" y="3086100"/>
            <a:ext cx="800100" cy="5715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C87F802-519B-44ED-93A0-B7389C37BFA9}"/>
              </a:ext>
            </a:extLst>
          </p:cNvPr>
          <p:cNvCxnSpPr/>
          <p:nvPr/>
        </p:nvCxnSpPr>
        <p:spPr>
          <a:xfrm rot="16200000" flipH="1">
            <a:off x="4543425" y="2657475"/>
            <a:ext cx="400050" cy="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ABECDEB3-E248-491F-A0FB-0B7F8801DAE4}"/>
              </a:ext>
            </a:extLst>
          </p:cNvPr>
          <p:cNvCxnSpPr/>
          <p:nvPr/>
        </p:nvCxnSpPr>
        <p:spPr>
          <a:xfrm rot="5400000">
            <a:off x="4657726" y="2143126"/>
            <a:ext cx="171450" cy="2381"/>
          </a:xfrm>
          <a:prstGeom prst="straightConnector1">
            <a:avLst/>
          </a:prstGeom>
          <a:ln w="444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EC1C2E29-6071-4E67-AA6C-3A76EF3536C3}"/>
              </a:ext>
            </a:extLst>
          </p:cNvPr>
          <p:cNvSpPr/>
          <p:nvPr/>
        </p:nvSpPr>
        <p:spPr>
          <a:xfrm>
            <a:off x="3200400" y="38862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46" name="Rectangle 45">
            <a:extLst>
              <a:ext uri="{FF2B5EF4-FFF2-40B4-BE49-F238E27FC236}">
                <a16:creationId xmlns:a16="http://schemas.microsoft.com/office/drawing/2014/main" id="{5CE6470C-766A-4F01-9708-E130C6D918A6}"/>
              </a:ext>
            </a:extLst>
          </p:cNvPr>
          <p:cNvSpPr/>
          <p:nvPr/>
        </p:nvSpPr>
        <p:spPr>
          <a:xfrm>
            <a:off x="4114800" y="28575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48" name="Rectangle 47">
            <a:extLst>
              <a:ext uri="{FF2B5EF4-FFF2-40B4-BE49-F238E27FC236}">
                <a16:creationId xmlns:a16="http://schemas.microsoft.com/office/drawing/2014/main" id="{918DA6DF-3275-4D08-89CB-19BAF3B346D4}"/>
              </a:ext>
            </a:extLst>
          </p:cNvPr>
          <p:cNvSpPr/>
          <p:nvPr/>
        </p:nvSpPr>
        <p:spPr>
          <a:xfrm>
            <a:off x="1828800" y="38862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sp>
        <p:nvSpPr>
          <p:cNvPr id="70" name="Rectangle 69">
            <a:extLst>
              <a:ext uri="{FF2B5EF4-FFF2-40B4-BE49-F238E27FC236}">
                <a16:creationId xmlns:a16="http://schemas.microsoft.com/office/drawing/2014/main" id="{D998D78D-5CB6-47E9-AD12-37517D4D39A7}"/>
              </a:ext>
            </a:extLst>
          </p:cNvPr>
          <p:cNvSpPr/>
          <p:nvPr/>
        </p:nvSpPr>
        <p:spPr>
          <a:xfrm>
            <a:off x="6858000" y="3771900"/>
            <a:ext cx="10858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71" name="Rectangle 70">
            <a:extLst>
              <a:ext uri="{FF2B5EF4-FFF2-40B4-BE49-F238E27FC236}">
                <a16:creationId xmlns:a16="http://schemas.microsoft.com/office/drawing/2014/main" id="{B7FBB3DF-B305-4588-8863-C10FFC7EFC14}"/>
              </a:ext>
            </a:extLst>
          </p:cNvPr>
          <p:cNvSpPr/>
          <p:nvPr/>
        </p:nvSpPr>
        <p:spPr>
          <a:xfrm>
            <a:off x="5543550" y="37719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sp>
        <p:nvSpPr>
          <p:cNvPr id="40986" name="Text Box 28">
            <a:extLst>
              <a:ext uri="{FF2B5EF4-FFF2-40B4-BE49-F238E27FC236}">
                <a16:creationId xmlns:a16="http://schemas.microsoft.com/office/drawing/2014/main" id="{0D94BE2D-25BA-43ED-BBA6-6D3C9E081D0A}"/>
              </a:ext>
            </a:extLst>
          </p:cNvPr>
          <p:cNvSpPr txBox="1">
            <a:spLocks noChangeArrowheads="1"/>
          </p:cNvSpPr>
          <p:nvPr/>
        </p:nvSpPr>
        <p:spPr bwMode="auto">
          <a:xfrm>
            <a:off x="1143001" y="971550"/>
            <a:ext cx="305083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dirty="0">
                <a:latin typeface="Times New Roman" panose="02020603050405020304" pitchFamily="18" charset="0"/>
              </a:rPr>
              <a:t>	Good day for tennis?</a:t>
            </a:r>
          </a:p>
          <a:p>
            <a:pPr eaLnBrk="1" hangingPunct="1">
              <a:spcBef>
                <a:spcPct val="0"/>
              </a:spcBef>
              <a:buFontTx/>
              <a:buNone/>
            </a:pPr>
            <a:r>
              <a:rPr lang="en-US" altLang="en-US" sz="1800" dirty="0">
                <a:solidFill>
                  <a:srgbClr val="0000FF"/>
                </a:solidFill>
                <a:latin typeface="Times New Roman" panose="02020603050405020304" pitchFamily="18" charset="0"/>
              </a:rPr>
              <a:t>Leaves</a:t>
            </a:r>
            <a:r>
              <a:rPr lang="en-US" altLang="en-US" sz="1800" dirty="0">
                <a:solidFill>
                  <a:schemeClr val="tx2"/>
                </a:solidFill>
                <a:latin typeface="Times New Roman" panose="02020603050405020304" pitchFamily="18" charset="0"/>
              </a:rPr>
              <a:t> = classification</a:t>
            </a:r>
          </a:p>
          <a:p>
            <a:pPr eaLnBrk="1" hangingPunct="1">
              <a:spcBef>
                <a:spcPct val="0"/>
              </a:spcBef>
              <a:buFontTx/>
              <a:buNone/>
            </a:pPr>
            <a:r>
              <a:rPr lang="en-US" altLang="en-US" sz="1800" dirty="0">
                <a:solidFill>
                  <a:srgbClr val="0000FF"/>
                </a:solidFill>
                <a:latin typeface="Times New Roman" panose="02020603050405020304" pitchFamily="18" charset="0"/>
              </a:rPr>
              <a:t>Arcs</a:t>
            </a:r>
            <a:r>
              <a:rPr lang="en-US" altLang="en-US" sz="1800" dirty="0">
                <a:solidFill>
                  <a:schemeClr val="tx2"/>
                </a:solidFill>
                <a:latin typeface="Times New Roman" panose="02020603050405020304" pitchFamily="18" charset="0"/>
              </a:rPr>
              <a:t> = choice of value</a:t>
            </a:r>
          </a:p>
          <a:p>
            <a:pPr eaLnBrk="1" hangingPunct="1">
              <a:spcBef>
                <a:spcPct val="0"/>
              </a:spcBef>
              <a:buFontTx/>
              <a:buNone/>
            </a:pPr>
            <a:r>
              <a:rPr lang="en-US" altLang="en-US" sz="1800" dirty="0">
                <a:solidFill>
                  <a:schemeClr val="tx2"/>
                </a:solidFill>
                <a:latin typeface="Times New Roman" panose="02020603050405020304" pitchFamily="18" charset="0"/>
              </a:rPr>
              <a:t>for parent attribute</a:t>
            </a:r>
          </a:p>
        </p:txBody>
      </p:sp>
    </p:spTree>
    <p:extLst>
      <p:ext uri="{BB962C8B-B14F-4D97-AF65-F5344CB8AC3E}">
        <p14:creationId xmlns:p14="http://schemas.microsoft.com/office/powerpoint/2010/main" val="614784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2C46766E-B819-41B3-80A1-2A989FA7BDAE}"/>
              </a:ext>
            </a:extLst>
          </p:cNvPr>
          <p:cNvSpPr>
            <a:spLocks noGrp="1"/>
          </p:cNvSpPr>
          <p:nvPr>
            <p:ph type="title"/>
          </p:nvPr>
        </p:nvSpPr>
        <p:spPr>
          <a:xfrm>
            <a:off x="76200" y="289465"/>
            <a:ext cx="8915400" cy="2308324"/>
          </a:xfrm>
        </p:spPr>
        <p:txBody>
          <a:bodyPr/>
          <a:lstStyle/>
          <a:p>
            <a:pPr eaLnBrk="1" hangingPunct="1"/>
            <a:r>
              <a:rPr lang="en-US" altLang="en-US" sz="3000" dirty="0"/>
              <a:t>Experience: “Good day for tennis”</a:t>
            </a:r>
            <a:endParaRPr lang="en-US" altLang="en-US" dirty="0"/>
          </a:p>
        </p:txBody>
      </p:sp>
      <p:sp>
        <p:nvSpPr>
          <p:cNvPr id="39939" name="Text Box 3">
            <a:extLst>
              <a:ext uri="{FF2B5EF4-FFF2-40B4-BE49-F238E27FC236}">
                <a16:creationId xmlns:a16="http://schemas.microsoft.com/office/drawing/2014/main" id="{5A682999-3289-40BD-AACC-2B0EB52B257F}"/>
              </a:ext>
            </a:extLst>
          </p:cNvPr>
          <p:cNvSpPr txBox="1">
            <a:spLocks noChangeArrowheads="1"/>
          </p:cNvSpPr>
          <p:nvPr/>
        </p:nvSpPr>
        <p:spPr bwMode="auto">
          <a:xfrm>
            <a:off x="1302544" y="831056"/>
            <a:ext cx="6355556" cy="383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90000"/>
              </a:lnSpc>
              <a:spcBef>
                <a:spcPct val="0"/>
              </a:spcBef>
              <a:buFontTx/>
              <a:buNone/>
            </a:pPr>
            <a:r>
              <a:rPr lang="en-US" altLang="en-US" sz="1800" dirty="0">
                <a:latin typeface="Times New Roman" panose="02020603050405020304" pitchFamily="18" charset="0"/>
              </a:rPr>
              <a:t>Day Outlook	Temp	Humid	Wind	</a:t>
            </a:r>
            <a:r>
              <a:rPr lang="en-US" altLang="en-US" sz="1800" dirty="0" err="1">
                <a:latin typeface="Times New Roman" panose="02020603050405020304" pitchFamily="18" charset="0"/>
              </a:rPr>
              <a:t>PlayTennis</a:t>
            </a:r>
            <a:r>
              <a:rPr lang="en-US" altLang="en-US" sz="1800" dirty="0">
                <a:latin typeface="Times New Roman" panose="02020603050405020304" pitchFamily="18" charset="0"/>
              </a:rPr>
              <a:t>?</a:t>
            </a:r>
          </a:p>
          <a:p>
            <a:pPr eaLnBrk="1" hangingPunct="1">
              <a:lnSpc>
                <a:spcPct val="90000"/>
              </a:lnSpc>
              <a:spcBef>
                <a:spcPct val="0"/>
              </a:spcBef>
              <a:buFontTx/>
              <a:buNone/>
            </a:pPr>
            <a:r>
              <a:rPr lang="en-US" altLang="en-US" sz="1800" dirty="0">
                <a:latin typeface="Times New Roman" panose="02020603050405020304" pitchFamily="18" charset="0"/>
              </a:rPr>
              <a:t>d1	</a:t>
            </a:r>
            <a:r>
              <a:rPr lang="en-US" altLang="en-US" sz="1800" dirty="0">
                <a:solidFill>
                  <a:srgbClr val="FF0000"/>
                </a:solidFill>
                <a:latin typeface="Times New Roman" panose="02020603050405020304" pitchFamily="18" charset="0"/>
              </a:rPr>
              <a:t>s	h	h	w	n</a:t>
            </a:r>
          </a:p>
          <a:p>
            <a:pPr eaLnBrk="1" hangingPunct="1">
              <a:lnSpc>
                <a:spcPct val="90000"/>
              </a:lnSpc>
              <a:spcBef>
                <a:spcPct val="0"/>
              </a:spcBef>
              <a:buFontTx/>
              <a:buNone/>
            </a:pPr>
            <a:r>
              <a:rPr lang="en-US" altLang="en-US" sz="1800" dirty="0">
                <a:latin typeface="Times New Roman" panose="02020603050405020304" pitchFamily="18" charset="0"/>
              </a:rPr>
              <a:t>d2	</a:t>
            </a:r>
            <a:r>
              <a:rPr lang="en-US" altLang="en-US" sz="1800" dirty="0">
                <a:solidFill>
                  <a:srgbClr val="FF0000"/>
                </a:solidFill>
                <a:latin typeface="Times New Roman" panose="02020603050405020304" pitchFamily="18" charset="0"/>
              </a:rPr>
              <a:t>s	h	h	s	n</a:t>
            </a:r>
          </a:p>
          <a:p>
            <a:pPr eaLnBrk="1" hangingPunct="1">
              <a:lnSpc>
                <a:spcPct val="90000"/>
              </a:lnSpc>
              <a:spcBef>
                <a:spcPct val="0"/>
              </a:spcBef>
              <a:buFontTx/>
              <a:buNone/>
            </a:pPr>
            <a:r>
              <a:rPr lang="en-US" altLang="en-US" sz="1800" dirty="0">
                <a:latin typeface="Times New Roman" panose="02020603050405020304" pitchFamily="18" charset="0"/>
              </a:rPr>
              <a:t>d3	o	h	h	w	</a:t>
            </a:r>
            <a:r>
              <a:rPr lang="en-US" altLang="en-US" sz="1800" dirty="0">
                <a:solidFill>
                  <a:srgbClr val="0000FF"/>
                </a:solidFill>
                <a:latin typeface="Times New Roman" panose="02020603050405020304" pitchFamily="18" charset="0"/>
              </a:rPr>
              <a:t>y</a:t>
            </a:r>
            <a:endParaRPr lang="en-US" altLang="en-US" sz="1800" dirty="0">
              <a:latin typeface="Times New Roman" panose="02020603050405020304" pitchFamily="18" charset="0"/>
            </a:endParaRPr>
          </a:p>
          <a:p>
            <a:pPr eaLnBrk="1" hangingPunct="1">
              <a:lnSpc>
                <a:spcPct val="90000"/>
              </a:lnSpc>
              <a:spcBef>
                <a:spcPct val="0"/>
              </a:spcBef>
              <a:buFontTx/>
              <a:buNone/>
            </a:pPr>
            <a:r>
              <a:rPr lang="en-US" altLang="en-US" sz="1800" dirty="0">
                <a:latin typeface="Times New Roman" panose="02020603050405020304" pitchFamily="18" charset="0"/>
              </a:rPr>
              <a:t>d4	r	m	h	w 	</a:t>
            </a:r>
            <a:r>
              <a:rPr lang="en-US" altLang="en-US" sz="1800" dirty="0">
                <a:solidFill>
                  <a:srgbClr val="0000FF"/>
                </a:solidFill>
                <a:latin typeface="Times New Roman" panose="02020603050405020304" pitchFamily="18" charset="0"/>
              </a:rPr>
              <a:t>y</a:t>
            </a:r>
            <a:endParaRPr lang="en-US" altLang="en-US" sz="1800" dirty="0">
              <a:latin typeface="Times New Roman" panose="02020603050405020304" pitchFamily="18" charset="0"/>
            </a:endParaRPr>
          </a:p>
          <a:p>
            <a:pPr eaLnBrk="1" hangingPunct="1">
              <a:lnSpc>
                <a:spcPct val="90000"/>
              </a:lnSpc>
              <a:spcBef>
                <a:spcPct val="0"/>
              </a:spcBef>
              <a:buFontTx/>
              <a:buNone/>
            </a:pPr>
            <a:r>
              <a:rPr lang="en-US" altLang="en-US" sz="1800" dirty="0">
                <a:latin typeface="Times New Roman" panose="02020603050405020304" pitchFamily="18" charset="0"/>
              </a:rPr>
              <a:t>d5	r	c	n	w	</a:t>
            </a:r>
            <a:r>
              <a:rPr lang="en-US" altLang="en-US" sz="1800" dirty="0">
                <a:solidFill>
                  <a:srgbClr val="0000FF"/>
                </a:solidFill>
                <a:latin typeface="Times New Roman" panose="02020603050405020304" pitchFamily="18" charset="0"/>
              </a:rPr>
              <a:t>y</a:t>
            </a:r>
            <a:endParaRPr lang="en-US" altLang="en-US" sz="1800" dirty="0">
              <a:latin typeface="Times New Roman" panose="02020603050405020304" pitchFamily="18" charset="0"/>
            </a:endParaRPr>
          </a:p>
          <a:p>
            <a:pPr eaLnBrk="1" hangingPunct="1">
              <a:lnSpc>
                <a:spcPct val="90000"/>
              </a:lnSpc>
              <a:spcBef>
                <a:spcPct val="0"/>
              </a:spcBef>
              <a:buFontTx/>
              <a:buNone/>
            </a:pPr>
            <a:r>
              <a:rPr lang="en-US" altLang="en-US" sz="1800" dirty="0">
                <a:latin typeface="Times New Roman" panose="02020603050405020304" pitchFamily="18" charset="0"/>
              </a:rPr>
              <a:t>d6	r	c	n	s	</a:t>
            </a:r>
            <a:r>
              <a:rPr lang="en-US" altLang="en-US" sz="1800" dirty="0">
                <a:solidFill>
                  <a:srgbClr val="0000FF"/>
                </a:solidFill>
                <a:latin typeface="Times New Roman" panose="02020603050405020304" pitchFamily="18" charset="0"/>
              </a:rPr>
              <a:t>n</a:t>
            </a:r>
          </a:p>
          <a:p>
            <a:pPr eaLnBrk="1" hangingPunct="1">
              <a:lnSpc>
                <a:spcPct val="90000"/>
              </a:lnSpc>
              <a:spcBef>
                <a:spcPct val="0"/>
              </a:spcBef>
              <a:buFontTx/>
              <a:buNone/>
            </a:pPr>
            <a:r>
              <a:rPr lang="en-US" altLang="en-US" sz="1800" dirty="0">
                <a:latin typeface="Times New Roman" panose="02020603050405020304" pitchFamily="18" charset="0"/>
              </a:rPr>
              <a:t>d7	o	c	n	s	</a:t>
            </a:r>
            <a:r>
              <a:rPr lang="en-US" altLang="en-US" sz="1800" dirty="0">
                <a:solidFill>
                  <a:srgbClr val="0000FF"/>
                </a:solidFill>
                <a:latin typeface="Times New Roman" panose="02020603050405020304" pitchFamily="18" charset="0"/>
              </a:rPr>
              <a:t>y</a:t>
            </a:r>
            <a:endParaRPr lang="en-US" altLang="en-US" sz="1800" dirty="0">
              <a:latin typeface="Times New Roman" panose="02020603050405020304" pitchFamily="18" charset="0"/>
            </a:endParaRPr>
          </a:p>
          <a:p>
            <a:pPr eaLnBrk="1" hangingPunct="1">
              <a:lnSpc>
                <a:spcPct val="90000"/>
              </a:lnSpc>
              <a:spcBef>
                <a:spcPct val="0"/>
              </a:spcBef>
              <a:buFontTx/>
              <a:buNone/>
            </a:pPr>
            <a:r>
              <a:rPr lang="en-US" altLang="en-US" sz="1800" dirty="0">
                <a:latin typeface="Times New Roman" panose="02020603050405020304" pitchFamily="18" charset="0"/>
              </a:rPr>
              <a:t>d8	</a:t>
            </a:r>
            <a:r>
              <a:rPr lang="en-US" altLang="en-US" sz="1800" dirty="0">
                <a:solidFill>
                  <a:srgbClr val="FF0000"/>
                </a:solidFill>
                <a:latin typeface="Times New Roman" panose="02020603050405020304" pitchFamily="18" charset="0"/>
              </a:rPr>
              <a:t>s	m	h	w	n</a:t>
            </a:r>
          </a:p>
          <a:p>
            <a:pPr eaLnBrk="1" hangingPunct="1">
              <a:lnSpc>
                <a:spcPct val="90000"/>
              </a:lnSpc>
              <a:spcBef>
                <a:spcPct val="0"/>
              </a:spcBef>
              <a:buFontTx/>
              <a:buNone/>
            </a:pPr>
            <a:r>
              <a:rPr lang="en-US" altLang="en-US" sz="1800" dirty="0">
                <a:latin typeface="Times New Roman" panose="02020603050405020304" pitchFamily="18" charset="0"/>
              </a:rPr>
              <a:t>d9	</a:t>
            </a:r>
            <a:r>
              <a:rPr lang="en-US" altLang="en-US" sz="1800" dirty="0">
                <a:solidFill>
                  <a:srgbClr val="FF0000"/>
                </a:solidFill>
                <a:latin typeface="Times New Roman" panose="02020603050405020304" pitchFamily="18" charset="0"/>
              </a:rPr>
              <a:t>s	c	n	w	y</a:t>
            </a:r>
          </a:p>
          <a:p>
            <a:pPr eaLnBrk="1" hangingPunct="1">
              <a:lnSpc>
                <a:spcPct val="90000"/>
              </a:lnSpc>
              <a:spcBef>
                <a:spcPct val="0"/>
              </a:spcBef>
              <a:buFontTx/>
              <a:buNone/>
            </a:pPr>
            <a:r>
              <a:rPr lang="en-US" altLang="en-US" sz="1800" dirty="0">
                <a:latin typeface="Times New Roman" panose="02020603050405020304" pitchFamily="18" charset="0"/>
              </a:rPr>
              <a:t>d10	r	m	n	w	</a:t>
            </a:r>
            <a:r>
              <a:rPr lang="en-US" altLang="en-US" sz="1800" dirty="0">
                <a:solidFill>
                  <a:srgbClr val="0000FF"/>
                </a:solidFill>
                <a:latin typeface="Times New Roman" panose="02020603050405020304" pitchFamily="18" charset="0"/>
              </a:rPr>
              <a:t>y</a:t>
            </a:r>
            <a:endParaRPr lang="en-US" altLang="en-US" sz="1800" dirty="0">
              <a:latin typeface="Times New Roman" panose="02020603050405020304" pitchFamily="18" charset="0"/>
            </a:endParaRPr>
          </a:p>
          <a:p>
            <a:pPr eaLnBrk="1" hangingPunct="1">
              <a:lnSpc>
                <a:spcPct val="90000"/>
              </a:lnSpc>
              <a:spcBef>
                <a:spcPct val="0"/>
              </a:spcBef>
              <a:buFontTx/>
              <a:buNone/>
            </a:pPr>
            <a:r>
              <a:rPr lang="en-US" altLang="en-US" sz="1800" dirty="0">
                <a:latin typeface="Times New Roman" panose="02020603050405020304" pitchFamily="18" charset="0"/>
              </a:rPr>
              <a:t>d11	</a:t>
            </a:r>
            <a:r>
              <a:rPr lang="en-US" altLang="en-US" sz="1800" dirty="0">
                <a:solidFill>
                  <a:srgbClr val="FF0000"/>
                </a:solidFill>
                <a:latin typeface="Times New Roman" panose="02020603050405020304" pitchFamily="18" charset="0"/>
              </a:rPr>
              <a:t>s	m	n	s	y</a:t>
            </a:r>
          </a:p>
          <a:p>
            <a:pPr eaLnBrk="1" hangingPunct="1">
              <a:lnSpc>
                <a:spcPct val="90000"/>
              </a:lnSpc>
              <a:spcBef>
                <a:spcPct val="0"/>
              </a:spcBef>
              <a:buFontTx/>
              <a:buNone/>
            </a:pPr>
            <a:r>
              <a:rPr lang="en-US" altLang="en-US" sz="1800" dirty="0">
                <a:latin typeface="Times New Roman" panose="02020603050405020304" pitchFamily="18" charset="0"/>
              </a:rPr>
              <a:t>d12	o	m	h	s	</a:t>
            </a:r>
            <a:r>
              <a:rPr lang="en-US" altLang="en-US" sz="1800" dirty="0">
                <a:solidFill>
                  <a:srgbClr val="0000FF"/>
                </a:solidFill>
                <a:latin typeface="Times New Roman" panose="02020603050405020304" pitchFamily="18" charset="0"/>
              </a:rPr>
              <a:t>y</a:t>
            </a:r>
            <a:endParaRPr lang="en-US" altLang="en-US" sz="1800" dirty="0">
              <a:latin typeface="Times New Roman" panose="02020603050405020304" pitchFamily="18" charset="0"/>
            </a:endParaRPr>
          </a:p>
          <a:p>
            <a:pPr eaLnBrk="1" hangingPunct="1">
              <a:lnSpc>
                <a:spcPct val="90000"/>
              </a:lnSpc>
              <a:spcBef>
                <a:spcPct val="0"/>
              </a:spcBef>
              <a:buFontTx/>
              <a:buNone/>
            </a:pPr>
            <a:r>
              <a:rPr lang="en-US" altLang="en-US" sz="1800" dirty="0">
                <a:latin typeface="Times New Roman" panose="02020603050405020304" pitchFamily="18" charset="0"/>
              </a:rPr>
              <a:t>d13	o	h	n	w	</a:t>
            </a:r>
            <a:r>
              <a:rPr lang="en-US" altLang="en-US" sz="1800" dirty="0">
                <a:solidFill>
                  <a:srgbClr val="0000FF"/>
                </a:solidFill>
                <a:latin typeface="Times New Roman" panose="02020603050405020304" pitchFamily="18" charset="0"/>
              </a:rPr>
              <a:t>y</a:t>
            </a:r>
            <a:endParaRPr lang="en-US" altLang="en-US" sz="1800" dirty="0">
              <a:latin typeface="Times New Roman" panose="02020603050405020304" pitchFamily="18" charset="0"/>
            </a:endParaRPr>
          </a:p>
          <a:p>
            <a:pPr eaLnBrk="1" hangingPunct="1">
              <a:lnSpc>
                <a:spcPct val="90000"/>
              </a:lnSpc>
              <a:spcBef>
                <a:spcPct val="0"/>
              </a:spcBef>
              <a:buFontTx/>
              <a:buNone/>
            </a:pPr>
            <a:r>
              <a:rPr lang="en-US" altLang="en-US" sz="1800" dirty="0">
                <a:latin typeface="Times New Roman" panose="02020603050405020304" pitchFamily="18" charset="0"/>
              </a:rPr>
              <a:t>d14	r	m	h	s	</a:t>
            </a:r>
            <a:r>
              <a:rPr lang="en-US" altLang="en-US" sz="1800" dirty="0">
                <a:solidFill>
                  <a:srgbClr val="0000FF"/>
                </a:solidFill>
                <a:latin typeface="Times New Roman" panose="02020603050405020304" pitchFamily="18" charset="0"/>
              </a:rPr>
              <a:t>n</a:t>
            </a:r>
            <a:endParaRPr lang="en-US" altLang="en-US" sz="1800" dirty="0">
              <a:latin typeface="Times New Roman" panose="02020603050405020304" pitchFamily="18" charset="0"/>
            </a:endParaRPr>
          </a:p>
        </p:txBody>
      </p:sp>
      <p:cxnSp>
        <p:nvCxnSpPr>
          <p:cNvPr id="3" name="Straight Connector 2">
            <a:extLst>
              <a:ext uri="{FF2B5EF4-FFF2-40B4-BE49-F238E27FC236}">
                <a16:creationId xmlns:a16="http://schemas.microsoft.com/office/drawing/2014/main" id="{D78C8AF9-91D8-4031-9FC4-F4AAA7047E5E}"/>
              </a:ext>
            </a:extLst>
          </p:cNvPr>
          <p:cNvCxnSpPr/>
          <p:nvPr/>
        </p:nvCxnSpPr>
        <p:spPr>
          <a:xfrm>
            <a:off x="4038600" y="1352550"/>
            <a:ext cx="30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530C16E-DA87-4C18-B7E1-8DE9D716CD31}"/>
              </a:ext>
            </a:extLst>
          </p:cNvPr>
          <p:cNvCxnSpPr/>
          <p:nvPr/>
        </p:nvCxnSpPr>
        <p:spPr>
          <a:xfrm>
            <a:off x="4038600" y="1581150"/>
            <a:ext cx="30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6DC26A6-B46A-4445-A002-179F7672D64D}"/>
              </a:ext>
            </a:extLst>
          </p:cNvPr>
          <p:cNvCxnSpPr/>
          <p:nvPr/>
        </p:nvCxnSpPr>
        <p:spPr>
          <a:xfrm>
            <a:off x="4038600" y="3105150"/>
            <a:ext cx="304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109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BDD0F75D-7050-41DD-BD9E-8E0DCC279C99}"/>
              </a:ext>
            </a:extLst>
          </p:cNvPr>
          <p:cNvSpPr>
            <a:spLocks noGrp="1"/>
          </p:cNvSpPr>
          <p:nvPr>
            <p:ph type="title" idx="4294967295"/>
          </p:nvPr>
        </p:nvSpPr>
        <p:spPr>
          <a:xfrm>
            <a:off x="457200" y="385953"/>
            <a:ext cx="5074411" cy="861774"/>
          </a:xfrm>
        </p:spPr>
        <p:txBody>
          <a:bodyPr/>
          <a:lstStyle/>
          <a:p>
            <a:pPr eaLnBrk="1" hangingPunct="1"/>
            <a:r>
              <a:rPr lang="en-US" altLang="en-US" dirty="0"/>
              <a:t>Numeric Attributes</a:t>
            </a:r>
          </a:p>
        </p:txBody>
      </p:sp>
      <p:sp>
        <p:nvSpPr>
          <p:cNvPr id="3" name="Rectangle 2">
            <a:extLst>
              <a:ext uri="{FF2B5EF4-FFF2-40B4-BE49-F238E27FC236}">
                <a16:creationId xmlns:a16="http://schemas.microsoft.com/office/drawing/2014/main" id="{3B7B1C5A-8A14-4A84-AF2B-12A1D5CFA364}"/>
              </a:ext>
            </a:extLst>
          </p:cNvPr>
          <p:cNvSpPr/>
          <p:nvPr/>
        </p:nvSpPr>
        <p:spPr>
          <a:xfrm>
            <a:off x="4171950" y="1600200"/>
            <a:ext cx="120015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Outlook</a:t>
            </a:r>
          </a:p>
        </p:txBody>
      </p:sp>
      <p:sp>
        <p:nvSpPr>
          <p:cNvPr id="4" name="Rectangle 3">
            <a:extLst>
              <a:ext uri="{FF2B5EF4-FFF2-40B4-BE49-F238E27FC236}">
                <a16:creationId xmlns:a16="http://schemas.microsoft.com/office/drawing/2014/main" id="{D1179740-324E-4AE5-A601-AF93DF12772C}"/>
              </a:ext>
            </a:extLst>
          </p:cNvPr>
          <p:cNvSpPr/>
          <p:nvPr/>
        </p:nvSpPr>
        <p:spPr>
          <a:xfrm>
            <a:off x="2628900" y="2514600"/>
            <a:ext cx="1200150" cy="400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Humidity</a:t>
            </a:r>
          </a:p>
        </p:txBody>
      </p:sp>
      <p:sp>
        <p:nvSpPr>
          <p:cNvPr id="5" name="Rectangle 4">
            <a:extLst>
              <a:ext uri="{FF2B5EF4-FFF2-40B4-BE49-F238E27FC236}">
                <a16:creationId xmlns:a16="http://schemas.microsoft.com/office/drawing/2014/main" id="{88160D0D-45D2-43B2-9E2A-90BBDBF31741}"/>
              </a:ext>
            </a:extLst>
          </p:cNvPr>
          <p:cNvSpPr/>
          <p:nvPr/>
        </p:nvSpPr>
        <p:spPr>
          <a:xfrm>
            <a:off x="6172200" y="2628900"/>
            <a:ext cx="1314450"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Wind</a:t>
            </a:r>
          </a:p>
        </p:txBody>
      </p:sp>
      <p:cxnSp>
        <p:nvCxnSpPr>
          <p:cNvPr id="7" name="Straight Arrow Connector 6">
            <a:extLst>
              <a:ext uri="{FF2B5EF4-FFF2-40B4-BE49-F238E27FC236}">
                <a16:creationId xmlns:a16="http://schemas.microsoft.com/office/drawing/2014/main" id="{2B14E1DC-8B3C-44D9-8799-39F1D06242BE}"/>
              </a:ext>
            </a:extLst>
          </p:cNvPr>
          <p:cNvCxnSpPr>
            <a:stCxn id="3" idx="1"/>
            <a:endCxn id="4" idx="0"/>
          </p:cNvCxnSpPr>
          <p:nvPr/>
        </p:nvCxnSpPr>
        <p:spPr>
          <a:xfrm rot="10800000" flipV="1">
            <a:off x="3228975" y="1828800"/>
            <a:ext cx="942975" cy="6858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B797DDC-6525-41D7-B342-0EA95601843E}"/>
              </a:ext>
            </a:extLst>
          </p:cNvPr>
          <p:cNvCxnSpPr>
            <a:stCxn id="3" idx="3"/>
            <a:endCxn id="5" idx="0"/>
          </p:cNvCxnSpPr>
          <p:nvPr/>
        </p:nvCxnSpPr>
        <p:spPr>
          <a:xfrm>
            <a:off x="5372100" y="1828800"/>
            <a:ext cx="1457325" cy="8001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0F3DBF3-43B4-4AE9-83D4-37C492F43854}"/>
              </a:ext>
            </a:extLst>
          </p:cNvPr>
          <p:cNvSpPr/>
          <p:nvPr/>
        </p:nvSpPr>
        <p:spPr>
          <a:xfrm>
            <a:off x="2914650" y="1885950"/>
            <a:ext cx="8572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Sunny</a:t>
            </a:r>
          </a:p>
        </p:txBody>
      </p:sp>
      <p:sp>
        <p:nvSpPr>
          <p:cNvPr id="13" name="Rectangle 12">
            <a:extLst>
              <a:ext uri="{FF2B5EF4-FFF2-40B4-BE49-F238E27FC236}">
                <a16:creationId xmlns:a16="http://schemas.microsoft.com/office/drawing/2014/main" id="{21190846-6A13-4C18-8F01-D8A9686A1AA9}"/>
              </a:ext>
            </a:extLst>
          </p:cNvPr>
          <p:cNvSpPr/>
          <p:nvPr/>
        </p:nvSpPr>
        <p:spPr>
          <a:xfrm>
            <a:off x="5829300" y="18859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Rain</a:t>
            </a:r>
          </a:p>
        </p:txBody>
      </p:sp>
      <p:sp>
        <p:nvSpPr>
          <p:cNvPr id="14" name="Rectangle 13">
            <a:extLst>
              <a:ext uri="{FF2B5EF4-FFF2-40B4-BE49-F238E27FC236}">
                <a16:creationId xmlns:a16="http://schemas.microsoft.com/office/drawing/2014/main" id="{DAE6BE89-2FD0-4470-8A3A-E459034FF8AD}"/>
              </a:ext>
            </a:extLst>
          </p:cNvPr>
          <p:cNvSpPr/>
          <p:nvPr/>
        </p:nvSpPr>
        <p:spPr>
          <a:xfrm>
            <a:off x="4171950" y="21145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Overcast</a:t>
            </a:r>
          </a:p>
        </p:txBody>
      </p:sp>
      <p:sp>
        <p:nvSpPr>
          <p:cNvPr id="17" name="Rectangle 16">
            <a:extLst>
              <a:ext uri="{FF2B5EF4-FFF2-40B4-BE49-F238E27FC236}">
                <a16:creationId xmlns:a16="http://schemas.microsoft.com/office/drawing/2014/main" id="{305B9243-271F-4708-85CF-1321232F6835}"/>
              </a:ext>
            </a:extLst>
          </p:cNvPr>
          <p:cNvSpPr/>
          <p:nvPr/>
        </p:nvSpPr>
        <p:spPr>
          <a:xfrm>
            <a:off x="1714500" y="32575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&gt;= 75%</a:t>
            </a:r>
          </a:p>
        </p:txBody>
      </p:sp>
      <p:sp>
        <p:nvSpPr>
          <p:cNvPr id="18" name="Rectangle 17">
            <a:extLst>
              <a:ext uri="{FF2B5EF4-FFF2-40B4-BE49-F238E27FC236}">
                <a16:creationId xmlns:a16="http://schemas.microsoft.com/office/drawing/2014/main" id="{E149BC0F-29EA-4D0C-9AB5-25CE5DCEE56D}"/>
              </a:ext>
            </a:extLst>
          </p:cNvPr>
          <p:cNvSpPr/>
          <p:nvPr/>
        </p:nvSpPr>
        <p:spPr>
          <a:xfrm>
            <a:off x="3314700" y="32575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&lt; 75%</a:t>
            </a:r>
          </a:p>
        </p:txBody>
      </p:sp>
      <p:sp>
        <p:nvSpPr>
          <p:cNvPr id="19" name="Rectangle 18">
            <a:extLst>
              <a:ext uri="{FF2B5EF4-FFF2-40B4-BE49-F238E27FC236}">
                <a16:creationId xmlns:a16="http://schemas.microsoft.com/office/drawing/2014/main" id="{076DBA0F-B06D-4E51-9405-3F2BA58437F9}"/>
              </a:ext>
            </a:extLst>
          </p:cNvPr>
          <p:cNvSpPr/>
          <p:nvPr/>
        </p:nvSpPr>
        <p:spPr>
          <a:xfrm>
            <a:off x="6915150" y="29718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&lt; 10 MPH</a:t>
            </a:r>
          </a:p>
        </p:txBody>
      </p:sp>
      <p:sp>
        <p:nvSpPr>
          <p:cNvPr id="20" name="Rectangle 19">
            <a:extLst>
              <a:ext uri="{FF2B5EF4-FFF2-40B4-BE49-F238E27FC236}">
                <a16:creationId xmlns:a16="http://schemas.microsoft.com/office/drawing/2014/main" id="{DED85E15-5F4F-4AAF-883A-9B3F7B84C908}"/>
              </a:ext>
            </a:extLst>
          </p:cNvPr>
          <p:cNvSpPr/>
          <p:nvPr/>
        </p:nvSpPr>
        <p:spPr>
          <a:xfrm>
            <a:off x="5429250" y="29718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&gt;= 10 MPH</a:t>
            </a:r>
          </a:p>
        </p:txBody>
      </p:sp>
      <p:cxnSp>
        <p:nvCxnSpPr>
          <p:cNvPr id="27" name="Straight Arrow Connector 26">
            <a:extLst>
              <a:ext uri="{FF2B5EF4-FFF2-40B4-BE49-F238E27FC236}">
                <a16:creationId xmlns:a16="http://schemas.microsoft.com/office/drawing/2014/main" id="{57F038D2-4FC4-41FA-A29D-750EB94805CC}"/>
              </a:ext>
            </a:extLst>
          </p:cNvPr>
          <p:cNvCxnSpPr>
            <a:stCxn id="4" idx="2"/>
            <a:endCxn id="48" idx="0"/>
          </p:cNvCxnSpPr>
          <p:nvPr/>
        </p:nvCxnSpPr>
        <p:spPr>
          <a:xfrm rot="5400000">
            <a:off x="2343150" y="3000375"/>
            <a:ext cx="971550" cy="8001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EEBC653-8811-4C5A-8573-6B0003B802DD}"/>
              </a:ext>
            </a:extLst>
          </p:cNvPr>
          <p:cNvCxnSpPr>
            <a:stCxn id="4" idx="2"/>
          </p:cNvCxnSpPr>
          <p:nvPr/>
        </p:nvCxnSpPr>
        <p:spPr>
          <a:xfrm rot="16200000" flipH="1">
            <a:off x="3014663" y="3128963"/>
            <a:ext cx="971550" cy="542925"/>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4EF58A8-29F3-45F5-BFA8-B96939B7D70D}"/>
              </a:ext>
            </a:extLst>
          </p:cNvPr>
          <p:cNvCxnSpPr>
            <a:stCxn id="5" idx="2"/>
          </p:cNvCxnSpPr>
          <p:nvPr/>
        </p:nvCxnSpPr>
        <p:spPr>
          <a:xfrm rot="5400000">
            <a:off x="6129338" y="3071813"/>
            <a:ext cx="800100" cy="600075"/>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03BDA1C-5CA8-45F7-B21F-BA4BAC6BD71B}"/>
              </a:ext>
            </a:extLst>
          </p:cNvPr>
          <p:cNvCxnSpPr>
            <a:stCxn id="5" idx="2"/>
            <a:endCxn id="70" idx="0"/>
          </p:cNvCxnSpPr>
          <p:nvPr/>
        </p:nvCxnSpPr>
        <p:spPr>
          <a:xfrm rot="16200000" flipH="1">
            <a:off x="6715125" y="3086100"/>
            <a:ext cx="800100" cy="5715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1392442-8ED5-4121-BC8B-BA8A55CA93DB}"/>
              </a:ext>
            </a:extLst>
          </p:cNvPr>
          <p:cNvCxnSpPr/>
          <p:nvPr/>
        </p:nvCxnSpPr>
        <p:spPr>
          <a:xfrm rot="16200000" flipH="1">
            <a:off x="4543425" y="2657475"/>
            <a:ext cx="400050" cy="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26E037A-AC23-4DBA-BFB5-517D62D1F37A}"/>
              </a:ext>
            </a:extLst>
          </p:cNvPr>
          <p:cNvCxnSpPr/>
          <p:nvPr/>
        </p:nvCxnSpPr>
        <p:spPr>
          <a:xfrm rot="5400000">
            <a:off x="4657726" y="2143126"/>
            <a:ext cx="171450" cy="2381"/>
          </a:xfrm>
          <a:prstGeom prst="straightConnector1">
            <a:avLst/>
          </a:prstGeom>
          <a:ln w="444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FE4DF5E4-BCC5-4CAF-ABBD-DB412922D806}"/>
              </a:ext>
            </a:extLst>
          </p:cNvPr>
          <p:cNvSpPr/>
          <p:nvPr/>
        </p:nvSpPr>
        <p:spPr>
          <a:xfrm>
            <a:off x="3200400" y="38862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46" name="Rectangle 45">
            <a:extLst>
              <a:ext uri="{FF2B5EF4-FFF2-40B4-BE49-F238E27FC236}">
                <a16:creationId xmlns:a16="http://schemas.microsoft.com/office/drawing/2014/main" id="{77971475-558A-485C-8A59-359B83BAD90E}"/>
              </a:ext>
            </a:extLst>
          </p:cNvPr>
          <p:cNvSpPr/>
          <p:nvPr/>
        </p:nvSpPr>
        <p:spPr>
          <a:xfrm>
            <a:off x="4114800" y="28575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48" name="Rectangle 47">
            <a:extLst>
              <a:ext uri="{FF2B5EF4-FFF2-40B4-BE49-F238E27FC236}">
                <a16:creationId xmlns:a16="http://schemas.microsoft.com/office/drawing/2014/main" id="{AB2266C1-ACBA-4A3A-BA1C-3EAF5349160F}"/>
              </a:ext>
            </a:extLst>
          </p:cNvPr>
          <p:cNvSpPr/>
          <p:nvPr/>
        </p:nvSpPr>
        <p:spPr>
          <a:xfrm>
            <a:off x="1828800" y="38862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sp>
        <p:nvSpPr>
          <p:cNvPr id="70" name="Rectangle 69">
            <a:extLst>
              <a:ext uri="{FF2B5EF4-FFF2-40B4-BE49-F238E27FC236}">
                <a16:creationId xmlns:a16="http://schemas.microsoft.com/office/drawing/2014/main" id="{CAF2CED3-F13E-4927-92A1-7BEB19118791}"/>
              </a:ext>
            </a:extLst>
          </p:cNvPr>
          <p:cNvSpPr/>
          <p:nvPr/>
        </p:nvSpPr>
        <p:spPr>
          <a:xfrm>
            <a:off x="6858000" y="3771900"/>
            <a:ext cx="10858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71" name="Rectangle 70">
            <a:extLst>
              <a:ext uri="{FF2B5EF4-FFF2-40B4-BE49-F238E27FC236}">
                <a16:creationId xmlns:a16="http://schemas.microsoft.com/office/drawing/2014/main" id="{30EE4754-ED83-425D-B8B0-00F6417A6B42}"/>
              </a:ext>
            </a:extLst>
          </p:cNvPr>
          <p:cNvSpPr/>
          <p:nvPr/>
        </p:nvSpPr>
        <p:spPr>
          <a:xfrm>
            <a:off x="5543550" y="37719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sp>
        <p:nvSpPr>
          <p:cNvPr id="29" name="Oval 28">
            <a:extLst>
              <a:ext uri="{FF2B5EF4-FFF2-40B4-BE49-F238E27FC236}">
                <a16:creationId xmlns:a16="http://schemas.microsoft.com/office/drawing/2014/main" id="{FF21CFDD-9C84-42CB-938C-2D77C7701AB3}"/>
              </a:ext>
            </a:extLst>
          </p:cNvPr>
          <p:cNvSpPr/>
          <p:nvPr/>
        </p:nvSpPr>
        <p:spPr>
          <a:xfrm>
            <a:off x="1714500" y="3257550"/>
            <a:ext cx="1028700" cy="4572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30" name="Rounded Rectangular Callout 29">
            <a:extLst>
              <a:ext uri="{FF2B5EF4-FFF2-40B4-BE49-F238E27FC236}">
                <a16:creationId xmlns:a16="http://schemas.microsoft.com/office/drawing/2014/main" id="{AD511994-1DE9-4DB4-B2A5-44EAAB6861F2}"/>
              </a:ext>
            </a:extLst>
          </p:cNvPr>
          <p:cNvSpPr/>
          <p:nvPr/>
        </p:nvSpPr>
        <p:spPr>
          <a:xfrm>
            <a:off x="1200150" y="1600200"/>
            <a:ext cx="1371600" cy="1028700"/>
          </a:xfrm>
          <a:prstGeom prst="wedgeRoundRectCallout">
            <a:avLst>
              <a:gd name="adj1" fmla="val 34994"/>
              <a:gd name="adj2" fmla="val 111842"/>
              <a:gd name="adj3" fmla="val 16667"/>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50" dirty="0">
                <a:solidFill>
                  <a:schemeClr val="tx1"/>
                </a:solidFill>
              </a:rPr>
              <a:t>Use thresholds to convert numeric attributes into discrete values</a:t>
            </a:r>
          </a:p>
        </p:txBody>
      </p:sp>
    </p:spTree>
    <p:extLst>
      <p:ext uri="{BB962C8B-B14F-4D97-AF65-F5344CB8AC3E}">
        <p14:creationId xmlns:p14="http://schemas.microsoft.com/office/powerpoint/2010/main" val="32652498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4CD2-0AE2-47CA-BC4B-572B1879AF1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539D09F-C863-440C-B798-962F4A9E79F8}"/>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22969FC1-F5D5-4871-97E3-2FADDB0A88D6}"/>
              </a:ext>
            </a:extLst>
          </p:cNvPr>
          <p:cNvPicPr>
            <a:picLocks noChangeAspect="1"/>
          </p:cNvPicPr>
          <p:nvPr/>
        </p:nvPicPr>
        <p:blipFill>
          <a:blip r:embed="rId2"/>
          <a:stretch>
            <a:fillRect/>
          </a:stretch>
        </p:blipFill>
        <p:spPr>
          <a:xfrm>
            <a:off x="0" y="203711"/>
            <a:ext cx="9144000" cy="4736078"/>
          </a:xfrm>
          <a:prstGeom prst="rect">
            <a:avLst/>
          </a:prstGeom>
        </p:spPr>
      </p:pic>
    </p:spTree>
    <p:extLst>
      <p:ext uri="{BB962C8B-B14F-4D97-AF65-F5344CB8AC3E}">
        <p14:creationId xmlns:p14="http://schemas.microsoft.com/office/powerpoint/2010/main" val="650771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414C1-0BC3-4F3E-9538-D5B2903D734C}"/>
              </a:ext>
            </a:extLst>
          </p:cNvPr>
          <p:cNvSpPr>
            <a:spLocks noGrp="1"/>
          </p:cNvSpPr>
          <p:nvPr>
            <p:ph type="title"/>
          </p:nvPr>
        </p:nvSpPr>
        <p:spPr>
          <a:xfrm>
            <a:off x="3612388" y="385953"/>
            <a:ext cx="3014472" cy="861774"/>
          </a:xfrm>
        </p:spPr>
        <p:txBody>
          <a:bodyPr/>
          <a:lstStyle/>
          <a:p>
            <a:r>
              <a:rPr lang="en-US" dirty="0"/>
              <a:t>Possible Splits</a:t>
            </a:r>
            <a:endParaRPr lang="en-IN" dirty="0"/>
          </a:p>
        </p:txBody>
      </p:sp>
      <p:sp>
        <p:nvSpPr>
          <p:cNvPr id="3" name="Text Placeholder 2">
            <a:extLst>
              <a:ext uri="{FF2B5EF4-FFF2-40B4-BE49-F238E27FC236}">
                <a16:creationId xmlns:a16="http://schemas.microsoft.com/office/drawing/2014/main" id="{EFB3CAB4-BA87-44E8-949E-7BD5C9E080B2}"/>
              </a:ext>
            </a:extLst>
          </p:cNvPr>
          <p:cNvSpPr>
            <a:spLocks noGrp="1"/>
          </p:cNvSpPr>
          <p:nvPr>
            <p:ph type="body" idx="1"/>
          </p:nvPr>
        </p:nvSpPr>
        <p:spPr/>
        <p:txBody>
          <a:bodyPr/>
          <a:lstStyle/>
          <a:p>
            <a:endParaRPr lang="en-IN" dirty="0"/>
          </a:p>
        </p:txBody>
      </p:sp>
      <p:sp>
        <p:nvSpPr>
          <p:cNvPr id="6" name="Rectangle 5">
            <a:extLst>
              <a:ext uri="{FF2B5EF4-FFF2-40B4-BE49-F238E27FC236}">
                <a16:creationId xmlns:a16="http://schemas.microsoft.com/office/drawing/2014/main" id="{DA53A51D-50E7-4912-9D28-DD282B2D631B}"/>
              </a:ext>
            </a:extLst>
          </p:cNvPr>
          <p:cNvSpPr/>
          <p:nvPr/>
        </p:nvSpPr>
        <p:spPr>
          <a:xfrm>
            <a:off x="1066800" y="1821302"/>
            <a:ext cx="1524000" cy="457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Length</a:t>
            </a:r>
            <a:endParaRPr lang="en-IN" dirty="0"/>
          </a:p>
        </p:txBody>
      </p:sp>
      <p:sp>
        <p:nvSpPr>
          <p:cNvPr id="7" name="Rectangle 6">
            <a:extLst>
              <a:ext uri="{FF2B5EF4-FFF2-40B4-BE49-F238E27FC236}">
                <a16:creationId xmlns:a16="http://schemas.microsoft.com/office/drawing/2014/main" id="{561FB683-E4BE-4102-BE00-157E38851785}"/>
              </a:ext>
            </a:extLst>
          </p:cNvPr>
          <p:cNvSpPr/>
          <p:nvPr/>
        </p:nvSpPr>
        <p:spPr>
          <a:xfrm>
            <a:off x="5279571" y="1756488"/>
            <a:ext cx="1524000" cy="4572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Thread</a:t>
            </a:r>
            <a:endParaRPr lang="en-IN" dirty="0"/>
          </a:p>
        </p:txBody>
      </p:sp>
      <p:sp>
        <p:nvSpPr>
          <p:cNvPr id="8" name="Rectangle 7">
            <a:extLst>
              <a:ext uri="{FF2B5EF4-FFF2-40B4-BE49-F238E27FC236}">
                <a16:creationId xmlns:a16="http://schemas.microsoft.com/office/drawing/2014/main" id="{C803FE17-D745-4784-9A25-0DDC3DD7A521}"/>
              </a:ext>
            </a:extLst>
          </p:cNvPr>
          <p:cNvSpPr/>
          <p:nvPr/>
        </p:nvSpPr>
        <p:spPr>
          <a:xfrm>
            <a:off x="7315200" y="1274361"/>
            <a:ext cx="1052103" cy="824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Skips 4</a:t>
            </a:r>
          </a:p>
          <a:p>
            <a:pPr algn="ctr"/>
            <a:r>
              <a:rPr lang="en-US" dirty="0"/>
              <a:t>Reads 2</a:t>
            </a:r>
            <a:endParaRPr lang="en-IN" dirty="0"/>
          </a:p>
        </p:txBody>
      </p:sp>
      <p:sp>
        <p:nvSpPr>
          <p:cNvPr id="9" name="Rectangle 8">
            <a:extLst>
              <a:ext uri="{FF2B5EF4-FFF2-40B4-BE49-F238E27FC236}">
                <a16:creationId xmlns:a16="http://schemas.microsoft.com/office/drawing/2014/main" id="{2BA22091-81FD-44FB-9A3B-EDA7D5F9356D}"/>
              </a:ext>
            </a:extLst>
          </p:cNvPr>
          <p:cNvSpPr/>
          <p:nvPr/>
        </p:nvSpPr>
        <p:spPr>
          <a:xfrm>
            <a:off x="4395289" y="2797012"/>
            <a:ext cx="1524000" cy="7802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Skips 1</a:t>
            </a:r>
          </a:p>
          <a:p>
            <a:pPr algn="ctr"/>
            <a:r>
              <a:rPr lang="en-US" dirty="0"/>
              <a:t>Reads 2</a:t>
            </a:r>
            <a:endParaRPr lang="en-IN" dirty="0"/>
          </a:p>
          <a:p>
            <a:pPr algn="ctr"/>
            <a:endParaRPr lang="en-IN" dirty="0"/>
          </a:p>
        </p:txBody>
      </p:sp>
      <p:sp>
        <p:nvSpPr>
          <p:cNvPr id="10" name="Rectangle 9">
            <a:extLst>
              <a:ext uri="{FF2B5EF4-FFF2-40B4-BE49-F238E27FC236}">
                <a16:creationId xmlns:a16="http://schemas.microsoft.com/office/drawing/2014/main" id="{3DE8E113-DD5A-4A2E-8E2C-4FDFFEF83D36}"/>
              </a:ext>
            </a:extLst>
          </p:cNvPr>
          <p:cNvSpPr/>
          <p:nvPr/>
        </p:nvSpPr>
        <p:spPr>
          <a:xfrm>
            <a:off x="6626860" y="2752492"/>
            <a:ext cx="1524000" cy="824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Skips 3</a:t>
            </a:r>
          </a:p>
          <a:p>
            <a:pPr algn="ctr"/>
            <a:r>
              <a:rPr lang="en-US" dirty="0"/>
              <a:t>Reads 0</a:t>
            </a:r>
            <a:endParaRPr lang="en-IN" dirty="0"/>
          </a:p>
          <a:p>
            <a:pPr algn="ctr"/>
            <a:endParaRPr lang="en-IN" dirty="0"/>
          </a:p>
        </p:txBody>
      </p:sp>
      <p:sp>
        <p:nvSpPr>
          <p:cNvPr id="11" name="Rectangle 10">
            <a:extLst>
              <a:ext uri="{FF2B5EF4-FFF2-40B4-BE49-F238E27FC236}">
                <a16:creationId xmlns:a16="http://schemas.microsoft.com/office/drawing/2014/main" id="{54E18D80-71A1-4117-8DBC-D1F7CB7A3F42}"/>
              </a:ext>
            </a:extLst>
          </p:cNvPr>
          <p:cNvSpPr/>
          <p:nvPr/>
        </p:nvSpPr>
        <p:spPr>
          <a:xfrm>
            <a:off x="469356" y="2817381"/>
            <a:ext cx="1524000" cy="6387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Skips 4</a:t>
            </a:r>
          </a:p>
          <a:p>
            <a:pPr algn="ctr"/>
            <a:r>
              <a:rPr lang="en-US" dirty="0"/>
              <a:t>Reads 0</a:t>
            </a:r>
          </a:p>
          <a:p>
            <a:pPr algn="ctr"/>
            <a:endParaRPr lang="en-IN" dirty="0"/>
          </a:p>
        </p:txBody>
      </p:sp>
      <p:sp>
        <p:nvSpPr>
          <p:cNvPr id="12" name="Rectangle 11">
            <a:extLst>
              <a:ext uri="{FF2B5EF4-FFF2-40B4-BE49-F238E27FC236}">
                <a16:creationId xmlns:a16="http://schemas.microsoft.com/office/drawing/2014/main" id="{3325CD71-2062-4EF4-8DAC-8D81142123DB}"/>
              </a:ext>
            </a:extLst>
          </p:cNvPr>
          <p:cNvSpPr/>
          <p:nvPr/>
        </p:nvSpPr>
        <p:spPr>
          <a:xfrm>
            <a:off x="2286000" y="2797362"/>
            <a:ext cx="1524000" cy="6125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Skips 0</a:t>
            </a:r>
          </a:p>
          <a:p>
            <a:pPr algn="ctr"/>
            <a:r>
              <a:rPr lang="en-US" dirty="0"/>
              <a:t>Reads 2</a:t>
            </a:r>
            <a:endParaRPr lang="en-IN" dirty="0"/>
          </a:p>
          <a:p>
            <a:pPr algn="ctr"/>
            <a:endParaRPr lang="en-IN" dirty="0"/>
          </a:p>
        </p:txBody>
      </p:sp>
      <p:sp>
        <p:nvSpPr>
          <p:cNvPr id="13" name="Rectangle 12">
            <a:extLst>
              <a:ext uri="{FF2B5EF4-FFF2-40B4-BE49-F238E27FC236}">
                <a16:creationId xmlns:a16="http://schemas.microsoft.com/office/drawing/2014/main" id="{1E1B4624-4DDC-4DF8-8E5E-FC5D2B8E0907}"/>
              </a:ext>
            </a:extLst>
          </p:cNvPr>
          <p:cNvSpPr/>
          <p:nvPr/>
        </p:nvSpPr>
        <p:spPr>
          <a:xfrm>
            <a:off x="2895600" y="1291976"/>
            <a:ext cx="1219200" cy="6125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Skips 4</a:t>
            </a:r>
          </a:p>
          <a:p>
            <a:pPr algn="ctr"/>
            <a:r>
              <a:rPr lang="en-US" dirty="0"/>
              <a:t>Reads  2</a:t>
            </a:r>
            <a:endParaRPr lang="en-IN" dirty="0"/>
          </a:p>
        </p:txBody>
      </p:sp>
      <p:cxnSp>
        <p:nvCxnSpPr>
          <p:cNvPr id="15" name="Straight Arrow Connector 14">
            <a:extLst>
              <a:ext uri="{FF2B5EF4-FFF2-40B4-BE49-F238E27FC236}">
                <a16:creationId xmlns:a16="http://schemas.microsoft.com/office/drawing/2014/main" id="{187B7707-0711-4B2C-8CFF-D4FF4EED1544}"/>
              </a:ext>
            </a:extLst>
          </p:cNvPr>
          <p:cNvCxnSpPr>
            <a:cxnSpLocks/>
          </p:cNvCxnSpPr>
          <p:nvPr/>
        </p:nvCxnSpPr>
        <p:spPr>
          <a:xfrm>
            <a:off x="2130062" y="2245289"/>
            <a:ext cx="765538" cy="519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E18ED31-6A99-4DC1-A5F6-83F933818718}"/>
              </a:ext>
            </a:extLst>
          </p:cNvPr>
          <p:cNvCxnSpPr>
            <a:cxnSpLocks/>
          </p:cNvCxnSpPr>
          <p:nvPr/>
        </p:nvCxnSpPr>
        <p:spPr>
          <a:xfrm flipH="1">
            <a:off x="1066800" y="2278502"/>
            <a:ext cx="618218" cy="4864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1B81603-5CC5-4E57-9B75-352EF0CCF16B}"/>
              </a:ext>
            </a:extLst>
          </p:cNvPr>
          <p:cNvCxnSpPr>
            <a:stCxn id="7" idx="2"/>
          </p:cNvCxnSpPr>
          <p:nvPr/>
        </p:nvCxnSpPr>
        <p:spPr>
          <a:xfrm flipH="1">
            <a:off x="5334000" y="2213688"/>
            <a:ext cx="707571" cy="551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8CF076F-C492-40BB-80DF-F48B537532BB}"/>
              </a:ext>
            </a:extLst>
          </p:cNvPr>
          <p:cNvCxnSpPr>
            <a:cxnSpLocks/>
          </p:cNvCxnSpPr>
          <p:nvPr/>
        </p:nvCxnSpPr>
        <p:spPr>
          <a:xfrm>
            <a:off x="6233703" y="2213688"/>
            <a:ext cx="780234" cy="4768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1663A57-8F22-4BDB-9843-2E95E0CBF3D6}"/>
              </a:ext>
            </a:extLst>
          </p:cNvPr>
          <p:cNvSpPr txBox="1"/>
          <p:nvPr/>
        </p:nvSpPr>
        <p:spPr>
          <a:xfrm>
            <a:off x="793232" y="2303892"/>
            <a:ext cx="759460" cy="338554"/>
          </a:xfrm>
          <a:prstGeom prst="rect">
            <a:avLst/>
          </a:prstGeom>
          <a:noFill/>
        </p:spPr>
        <p:txBody>
          <a:bodyPr wrap="square" rtlCol="0">
            <a:spAutoFit/>
          </a:bodyPr>
          <a:lstStyle/>
          <a:p>
            <a:r>
              <a:rPr lang="en-US" sz="1600" dirty="0"/>
              <a:t>long</a:t>
            </a:r>
            <a:endParaRPr lang="en-IN" sz="1600" dirty="0"/>
          </a:p>
        </p:txBody>
      </p:sp>
      <p:sp>
        <p:nvSpPr>
          <p:cNvPr id="26" name="TextBox 25">
            <a:extLst>
              <a:ext uri="{FF2B5EF4-FFF2-40B4-BE49-F238E27FC236}">
                <a16:creationId xmlns:a16="http://schemas.microsoft.com/office/drawing/2014/main" id="{FB6C76FA-C6E8-40A4-AB52-A0D2156ECDA0}"/>
              </a:ext>
            </a:extLst>
          </p:cNvPr>
          <p:cNvSpPr txBox="1"/>
          <p:nvPr/>
        </p:nvSpPr>
        <p:spPr>
          <a:xfrm>
            <a:off x="6640634" y="2247558"/>
            <a:ext cx="759460" cy="338554"/>
          </a:xfrm>
          <a:prstGeom prst="rect">
            <a:avLst/>
          </a:prstGeom>
          <a:noFill/>
        </p:spPr>
        <p:txBody>
          <a:bodyPr wrap="square" rtlCol="0">
            <a:spAutoFit/>
          </a:bodyPr>
          <a:lstStyle/>
          <a:p>
            <a:r>
              <a:rPr lang="en-US" sz="1600" dirty="0"/>
              <a:t>old</a:t>
            </a:r>
            <a:endParaRPr lang="en-IN" sz="1600" dirty="0"/>
          </a:p>
        </p:txBody>
      </p:sp>
      <p:sp>
        <p:nvSpPr>
          <p:cNvPr id="27" name="TextBox 26">
            <a:extLst>
              <a:ext uri="{FF2B5EF4-FFF2-40B4-BE49-F238E27FC236}">
                <a16:creationId xmlns:a16="http://schemas.microsoft.com/office/drawing/2014/main" id="{F1070E30-1DA4-4109-8F69-F00DD2C00D58}"/>
              </a:ext>
            </a:extLst>
          </p:cNvPr>
          <p:cNvSpPr txBox="1"/>
          <p:nvPr/>
        </p:nvSpPr>
        <p:spPr>
          <a:xfrm>
            <a:off x="5121522" y="2286692"/>
            <a:ext cx="759460" cy="338554"/>
          </a:xfrm>
          <a:prstGeom prst="rect">
            <a:avLst/>
          </a:prstGeom>
          <a:noFill/>
        </p:spPr>
        <p:txBody>
          <a:bodyPr wrap="square" rtlCol="0">
            <a:spAutoFit/>
          </a:bodyPr>
          <a:lstStyle/>
          <a:p>
            <a:r>
              <a:rPr lang="en-US" sz="1600" dirty="0"/>
              <a:t>new</a:t>
            </a:r>
            <a:endParaRPr lang="en-IN" sz="1600" dirty="0"/>
          </a:p>
        </p:txBody>
      </p:sp>
      <p:sp>
        <p:nvSpPr>
          <p:cNvPr id="28" name="TextBox 27">
            <a:extLst>
              <a:ext uri="{FF2B5EF4-FFF2-40B4-BE49-F238E27FC236}">
                <a16:creationId xmlns:a16="http://schemas.microsoft.com/office/drawing/2014/main" id="{579BE574-29A0-46A3-886F-30DD21066C20}"/>
              </a:ext>
            </a:extLst>
          </p:cNvPr>
          <p:cNvSpPr txBox="1"/>
          <p:nvPr/>
        </p:nvSpPr>
        <p:spPr>
          <a:xfrm>
            <a:off x="2630949" y="2320044"/>
            <a:ext cx="759460" cy="338554"/>
          </a:xfrm>
          <a:prstGeom prst="rect">
            <a:avLst/>
          </a:prstGeom>
          <a:noFill/>
        </p:spPr>
        <p:txBody>
          <a:bodyPr wrap="square" rtlCol="0">
            <a:spAutoFit/>
          </a:bodyPr>
          <a:lstStyle/>
          <a:p>
            <a:r>
              <a:rPr lang="en-US" sz="1600" dirty="0"/>
              <a:t>short</a:t>
            </a:r>
            <a:endParaRPr lang="en-IN" sz="1600" dirty="0"/>
          </a:p>
        </p:txBody>
      </p:sp>
      <p:sp>
        <p:nvSpPr>
          <p:cNvPr id="4" name="TextBox 3">
            <a:extLst>
              <a:ext uri="{FF2B5EF4-FFF2-40B4-BE49-F238E27FC236}">
                <a16:creationId xmlns:a16="http://schemas.microsoft.com/office/drawing/2014/main" id="{C85E8B85-0B87-98C7-125C-D01AB939064C}"/>
              </a:ext>
            </a:extLst>
          </p:cNvPr>
          <p:cNvSpPr txBox="1"/>
          <p:nvPr/>
        </p:nvSpPr>
        <p:spPr>
          <a:xfrm>
            <a:off x="3276599" y="3926587"/>
            <a:ext cx="2642689" cy="646331"/>
          </a:xfrm>
          <a:prstGeom prst="rect">
            <a:avLst/>
          </a:prstGeom>
          <a:noFill/>
        </p:spPr>
        <p:txBody>
          <a:bodyPr wrap="square" rtlCol="0">
            <a:spAutoFit/>
          </a:bodyPr>
          <a:lstStyle/>
          <a:p>
            <a:pPr algn="ctr"/>
            <a:r>
              <a:rPr lang="en-US" dirty="0">
                <a:solidFill>
                  <a:srgbClr val="FF0000"/>
                </a:solidFill>
              </a:rPr>
              <a:t>Split  on length is good than Thread</a:t>
            </a:r>
          </a:p>
        </p:txBody>
      </p:sp>
    </p:spTree>
    <p:extLst>
      <p:ext uri="{BB962C8B-B14F-4D97-AF65-F5344CB8AC3E}">
        <p14:creationId xmlns:p14="http://schemas.microsoft.com/office/powerpoint/2010/main" val="3391219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338C1-8F36-49B7-9B2F-9E17ABF3FDB4}"/>
              </a:ext>
            </a:extLst>
          </p:cNvPr>
          <p:cNvSpPr>
            <a:spLocks noGrp="1"/>
          </p:cNvSpPr>
          <p:nvPr>
            <p:ph type="title"/>
          </p:nvPr>
        </p:nvSpPr>
        <p:spPr>
          <a:xfrm>
            <a:off x="3612388" y="385953"/>
            <a:ext cx="2407412" cy="356997"/>
          </a:xfrm>
        </p:spPr>
        <p:txBody>
          <a:bodyPr/>
          <a:lstStyle/>
          <a:p>
            <a:r>
              <a:rPr lang="en-US" dirty="0"/>
              <a:t>When to stop</a:t>
            </a:r>
            <a:endParaRPr lang="en-IN" dirty="0"/>
          </a:p>
        </p:txBody>
      </p:sp>
      <p:sp>
        <p:nvSpPr>
          <p:cNvPr id="3" name="Text Placeholder 2">
            <a:extLst>
              <a:ext uri="{FF2B5EF4-FFF2-40B4-BE49-F238E27FC236}">
                <a16:creationId xmlns:a16="http://schemas.microsoft.com/office/drawing/2014/main" id="{792A45DF-5ECC-4243-8895-2AE7704776DF}"/>
              </a:ext>
            </a:extLst>
          </p:cNvPr>
          <p:cNvSpPr>
            <a:spLocks noGrp="1"/>
          </p:cNvSpPr>
          <p:nvPr>
            <p:ph type="body" idx="1"/>
          </p:nvPr>
        </p:nvSpPr>
        <p:spPr>
          <a:xfrm>
            <a:off x="535940" y="1216913"/>
            <a:ext cx="8072119" cy="830997"/>
          </a:xfrm>
        </p:spPr>
        <p:txBody>
          <a:bodyPr/>
          <a:lstStyle/>
          <a:p>
            <a:r>
              <a:rPr lang="en-US" dirty="0"/>
              <a:t>-No  more input feature</a:t>
            </a:r>
          </a:p>
          <a:p>
            <a:r>
              <a:rPr lang="en-US" dirty="0"/>
              <a:t>-All examples are classified as same</a:t>
            </a:r>
          </a:p>
          <a:p>
            <a:r>
              <a:rPr lang="en-US" dirty="0"/>
              <a:t>-Too few examples to make an informative split</a:t>
            </a:r>
            <a:endParaRPr lang="en-IN" dirty="0"/>
          </a:p>
        </p:txBody>
      </p:sp>
    </p:spTree>
    <p:extLst>
      <p:ext uri="{BB962C8B-B14F-4D97-AF65-F5344CB8AC3E}">
        <p14:creationId xmlns:p14="http://schemas.microsoft.com/office/powerpoint/2010/main" val="1243592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59760" y="385953"/>
            <a:ext cx="3829050" cy="452120"/>
          </a:xfrm>
          <a:prstGeom prst="rect">
            <a:avLst/>
          </a:prstGeom>
        </p:spPr>
        <p:txBody>
          <a:bodyPr vert="horz" wrap="square" lIns="0" tIns="12065" rIns="0" bIns="0" rtlCol="0">
            <a:spAutoFit/>
          </a:bodyPr>
          <a:lstStyle/>
          <a:p>
            <a:pPr marL="12700">
              <a:lnSpc>
                <a:spcPct val="100000"/>
              </a:lnSpc>
              <a:spcBef>
                <a:spcPts val="95"/>
              </a:spcBef>
            </a:pPr>
            <a:r>
              <a:rPr sz="2800" spc="-10" dirty="0"/>
              <a:t>Decision</a:t>
            </a:r>
            <a:r>
              <a:rPr sz="2800" spc="-5" dirty="0"/>
              <a:t> </a:t>
            </a:r>
            <a:r>
              <a:rPr sz="2800" spc="-55" dirty="0"/>
              <a:t>Tree</a:t>
            </a:r>
            <a:endParaRPr sz="2800" dirty="0"/>
          </a:p>
        </p:txBody>
      </p:sp>
      <p:pic>
        <p:nvPicPr>
          <p:cNvPr id="3" name="object 3"/>
          <p:cNvPicPr/>
          <p:nvPr/>
        </p:nvPicPr>
        <p:blipFill>
          <a:blip r:embed="rId2" cstate="print"/>
          <a:stretch>
            <a:fillRect/>
          </a:stretch>
        </p:blipFill>
        <p:spPr>
          <a:xfrm>
            <a:off x="4251007" y="1776467"/>
            <a:ext cx="4544567" cy="2555748"/>
          </a:xfrm>
          <a:prstGeom prst="rect">
            <a:avLst/>
          </a:prstGeom>
        </p:spPr>
      </p:pic>
      <p:sp>
        <p:nvSpPr>
          <p:cNvPr id="4" name="object 4"/>
          <p:cNvSpPr txBox="1"/>
          <p:nvPr/>
        </p:nvSpPr>
        <p:spPr>
          <a:xfrm>
            <a:off x="535940" y="1216913"/>
            <a:ext cx="7430134" cy="2404110"/>
          </a:xfrm>
          <a:prstGeom prst="rect">
            <a:avLst/>
          </a:prstGeom>
        </p:spPr>
        <p:txBody>
          <a:bodyPr vert="horz" wrap="square" lIns="0" tIns="13335" rIns="0" bIns="0" rtlCol="0">
            <a:spAutoFit/>
          </a:bodyPr>
          <a:lstStyle/>
          <a:p>
            <a:pPr marL="355600" marR="5080" indent="-342900">
              <a:lnSpc>
                <a:spcPct val="100000"/>
              </a:lnSpc>
              <a:spcBef>
                <a:spcPts val="105"/>
              </a:spcBef>
              <a:buFont typeface="Arial MT"/>
              <a:buChar char="•"/>
              <a:tabLst>
                <a:tab pos="354965" algn="l"/>
                <a:tab pos="355600" algn="l"/>
              </a:tabLst>
            </a:pPr>
            <a:r>
              <a:rPr sz="2000" dirty="0">
                <a:latin typeface="Calibri"/>
                <a:cs typeface="Calibri"/>
              </a:rPr>
              <a:t>A </a:t>
            </a:r>
            <a:r>
              <a:rPr sz="2000" spc="-5" dirty="0">
                <a:latin typeface="Calibri"/>
                <a:cs typeface="Calibri"/>
              </a:rPr>
              <a:t>decision tree </a:t>
            </a:r>
            <a:r>
              <a:rPr sz="2000" spc="-15" dirty="0">
                <a:latin typeface="Calibri"/>
                <a:cs typeface="Calibri"/>
              </a:rPr>
              <a:t>for </a:t>
            </a:r>
            <a:r>
              <a:rPr sz="2000" dirty="0">
                <a:latin typeface="Calibri"/>
                <a:cs typeface="Calibri"/>
              </a:rPr>
              <a:t>the concept </a:t>
            </a:r>
            <a:r>
              <a:rPr sz="2000" i="1" spc="-5" dirty="0">
                <a:latin typeface="Calibri"/>
                <a:cs typeface="Calibri"/>
              </a:rPr>
              <a:t>buys_computer</a:t>
            </a:r>
            <a:r>
              <a:rPr sz="2000" spc="-5" dirty="0">
                <a:latin typeface="Calibri"/>
                <a:cs typeface="Calibri"/>
              </a:rPr>
              <a:t>, indicating whether </a:t>
            </a:r>
            <a:r>
              <a:rPr sz="2000" dirty="0">
                <a:latin typeface="Calibri"/>
                <a:cs typeface="Calibri"/>
              </a:rPr>
              <a:t>a </a:t>
            </a:r>
            <a:r>
              <a:rPr sz="2000" spc="-440" dirty="0">
                <a:latin typeface="Calibri"/>
                <a:cs typeface="Calibri"/>
              </a:rPr>
              <a:t> </a:t>
            </a:r>
            <a:r>
              <a:rPr sz="2000" spc="-10" dirty="0">
                <a:latin typeface="Calibri"/>
                <a:cs typeface="Calibri"/>
              </a:rPr>
              <a:t>customer</a:t>
            </a:r>
            <a:r>
              <a:rPr sz="2000" spc="5" dirty="0">
                <a:latin typeface="Calibri"/>
                <a:cs typeface="Calibri"/>
              </a:rPr>
              <a:t> </a:t>
            </a:r>
            <a:r>
              <a:rPr sz="2000" spc="-15" dirty="0">
                <a:latin typeface="Calibri"/>
                <a:cs typeface="Calibri"/>
              </a:rPr>
              <a:t>at</a:t>
            </a:r>
            <a:r>
              <a:rPr sz="2000" dirty="0">
                <a:latin typeface="Calibri"/>
                <a:cs typeface="Calibri"/>
              </a:rPr>
              <a:t> All</a:t>
            </a:r>
            <a:r>
              <a:rPr sz="2000" spc="10" dirty="0">
                <a:latin typeface="Calibri"/>
                <a:cs typeface="Calibri"/>
              </a:rPr>
              <a:t> </a:t>
            </a:r>
            <a:r>
              <a:rPr sz="2000" spc="-5" dirty="0">
                <a:latin typeface="Calibri"/>
                <a:cs typeface="Calibri"/>
              </a:rPr>
              <a:t>Electronics</a:t>
            </a:r>
            <a:r>
              <a:rPr sz="2000" dirty="0">
                <a:latin typeface="Calibri"/>
                <a:cs typeface="Calibri"/>
              </a:rPr>
              <a:t> is</a:t>
            </a:r>
            <a:r>
              <a:rPr sz="2000" spc="5" dirty="0">
                <a:latin typeface="Calibri"/>
                <a:cs typeface="Calibri"/>
              </a:rPr>
              <a:t> </a:t>
            </a:r>
            <a:r>
              <a:rPr sz="2000" spc="-15" dirty="0">
                <a:latin typeface="Calibri"/>
                <a:cs typeface="Calibri"/>
              </a:rPr>
              <a:t>likely</a:t>
            </a:r>
            <a:r>
              <a:rPr sz="2000" spc="5" dirty="0">
                <a:latin typeface="Calibri"/>
                <a:cs typeface="Calibri"/>
              </a:rPr>
              <a:t> </a:t>
            </a:r>
            <a:r>
              <a:rPr sz="2000" spc="-10" dirty="0">
                <a:latin typeface="Calibri"/>
                <a:cs typeface="Calibri"/>
              </a:rPr>
              <a:t>to </a:t>
            </a:r>
            <a:r>
              <a:rPr sz="2000" spc="-5" dirty="0">
                <a:latin typeface="Calibri"/>
                <a:cs typeface="Calibri"/>
              </a:rPr>
              <a:t>purchase</a:t>
            </a:r>
            <a:r>
              <a:rPr sz="2000" spc="-10" dirty="0">
                <a:latin typeface="Calibri"/>
                <a:cs typeface="Calibri"/>
              </a:rPr>
              <a:t> </a:t>
            </a:r>
            <a:r>
              <a:rPr sz="2000" dirty="0">
                <a:latin typeface="Calibri"/>
                <a:cs typeface="Calibri"/>
              </a:rPr>
              <a:t>a</a:t>
            </a:r>
            <a:r>
              <a:rPr sz="2000" spc="-10" dirty="0">
                <a:latin typeface="Calibri"/>
                <a:cs typeface="Calibri"/>
              </a:rPr>
              <a:t> </a:t>
            </a:r>
            <a:r>
              <a:rPr sz="2000" spc="-5" dirty="0">
                <a:latin typeface="Calibri"/>
                <a:cs typeface="Calibri"/>
              </a:rPr>
              <a:t>computer</a:t>
            </a:r>
            <a:endParaRPr sz="2000" dirty="0">
              <a:latin typeface="Calibri"/>
              <a:cs typeface="Calibri"/>
            </a:endParaRPr>
          </a:p>
          <a:p>
            <a:pPr>
              <a:lnSpc>
                <a:spcPct val="100000"/>
              </a:lnSpc>
              <a:spcBef>
                <a:spcPts val="25"/>
              </a:spcBef>
              <a:buFont typeface="Arial MT"/>
              <a:buChar char="•"/>
            </a:pPr>
            <a:endParaRPr sz="1550" dirty="0">
              <a:latin typeface="Calibri"/>
              <a:cs typeface="Calibri"/>
            </a:endParaRPr>
          </a:p>
          <a:p>
            <a:pPr marL="299085" marR="3788410" indent="-287020">
              <a:lnSpc>
                <a:spcPct val="100000"/>
              </a:lnSpc>
              <a:buFont typeface="Arial MT"/>
              <a:buChar char="•"/>
              <a:tabLst>
                <a:tab pos="299085" algn="l"/>
                <a:tab pos="299720" algn="l"/>
              </a:tabLst>
            </a:pPr>
            <a:r>
              <a:rPr sz="2000" spc="-10" dirty="0">
                <a:latin typeface="Calibri"/>
                <a:cs typeface="Calibri"/>
              </a:rPr>
              <a:t>Each</a:t>
            </a:r>
            <a:r>
              <a:rPr sz="2000" spc="-5" dirty="0">
                <a:latin typeface="Calibri"/>
                <a:cs typeface="Calibri"/>
              </a:rPr>
              <a:t> internal</a:t>
            </a:r>
            <a:r>
              <a:rPr sz="2000" spc="5" dirty="0">
                <a:latin typeface="Calibri"/>
                <a:cs typeface="Calibri"/>
              </a:rPr>
              <a:t> </a:t>
            </a:r>
            <a:r>
              <a:rPr sz="2000" spc="-5" dirty="0">
                <a:latin typeface="Calibri"/>
                <a:cs typeface="Calibri"/>
              </a:rPr>
              <a:t>(non-leaf)</a:t>
            </a:r>
            <a:r>
              <a:rPr sz="2000" dirty="0">
                <a:latin typeface="Calibri"/>
                <a:cs typeface="Calibri"/>
              </a:rPr>
              <a:t> node </a:t>
            </a:r>
            <a:r>
              <a:rPr sz="2000" spc="5" dirty="0">
                <a:latin typeface="Calibri"/>
                <a:cs typeface="Calibri"/>
              </a:rPr>
              <a:t> </a:t>
            </a:r>
            <a:r>
              <a:rPr sz="2000" spc="-10" dirty="0">
                <a:latin typeface="Calibri"/>
                <a:cs typeface="Calibri"/>
              </a:rPr>
              <a:t>represents</a:t>
            </a:r>
            <a:r>
              <a:rPr sz="2000" spc="15" dirty="0">
                <a:latin typeface="Calibri"/>
                <a:cs typeface="Calibri"/>
              </a:rPr>
              <a:t> </a:t>
            </a:r>
            <a:r>
              <a:rPr sz="2000" dirty="0">
                <a:latin typeface="Calibri"/>
                <a:cs typeface="Calibri"/>
              </a:rPr>
              <a:t>a</a:t>
            </a:r>
            <a:r>
              <a:rPr sz="2000" spc="-15" dirty="0">
                <a:latin typeface="Calibri"/>
                <a:cs typeface="Calibri"/>
              </a:rPr>
              <a:t> test</a:t>
            </a:r>
            <a:r>
              <a:rPr sz="2000" spc="25" dirty="0">
                <a:latin typeface="Calibri"/>
                <a:cs typeface="Calibri"/>
              </a:rPr>
              <a:t> </a:t>
            </a:r>
            <a:r>
              <a:rPr sz="2000" spc="-5" dirty="0">
                <a:latin typeface="Calibri"/>
                <a:cs typeface="Calibri"/>
              </a:rPr>
              <a:t>on</a:t>
            </a:r>
            <a:r>
              <a:rPr sz="2000" spc="-20" dirty="0">
                <a:latin typeface="Calibri"/>
                <a:cs typeface="Calibri"/>
              </a:rPr>
              <a:t> </a:t>
            </a:r>
            <a:r>
              <a:rPr sz="2000" dirty="0">
                <a:latin typeface="Calibri"/>
                <a:cs typeface="Calibri"/>
              </a:rPr>
              <a:t>an</a:t>
            </a:r>
            <a:r>
              <a:rPr sz="2000" spc="-25" dirty="0">
                <a:latin typeface="Calibri"/>
                <a:cs typeface="Calibri"/>
              </a:rPr>
              <a:t> </a:t>
            </a:r>
            <a:r>
              <a:rPr sz="2000" spc="-10" dirty="0">
                <a:latin typeface="Calibri"/>
                <a:cs typeface="Calibri"/>
              </a:rPr>
              <a:t>attribute</a:t>
            </a:r>
            <a:endParaRPr sz="2000" dirty="0">
              <a:latin typeface="Calibri"/>
              <a:cs typeface="Calibri"/>
            </a:endParaRPr>
          </a:p>
          <a:p>
            <a:pPr marL="299085" marR="3728085" indent="-287020">
              <a:lnSpc>
                <a:spcPct val="100000"/>
              </a:lnSpc>
              <a:buFont typeface="Arial MT"/>
              <a:buChar char="•"/>
              <a:tabLst>
                <a:tab pos="299085" algn="l"/>
                <a:tab pos="299720" algn="l"/>
              </a:tabLst>
            </a:pPr>
            <a:r>
              <a:rPr sz="2000" spc="-10" dirty="0">
                <a:latin typeface="Calibri"/>
                <a:cs typeface="Calibri"/>
              </a:rPr>
              <a:t>Each </a:t>
            </a:r>
            <a:r>
              <a:rPr sz="2000" spc="-5" dirty="0">
                <a:latin typeface="Calibri"/>
                <a:cs typeface="Calibri"/>
              </a:rPr>
              <a:t>leaf</a:t>
            </a:r>
            <a:r>
              <a:rPr sz="2000" dirty="0">
                <a:latin typeface="Calibri"/>
                <a:cs typeface="Calibri"/>
              </a:rPr>
              <a:t> node</a:t>
            </a:r>
            <a:r>
              <a:rPr sz="2000" spc="-15" dirty="0">
                <a:latin typeface="Calibri"/>
                <a:cs typeface="Calibri"/>
              </a:rPr>
              <a:t> </a:t>
            </a:r>
            <a:r>
              <a:rPr sz="2000" spc="-10" dirty="0">
                <a:latin typeface="Calibri"/>
                <a:cs typeface="Calibri"/>
              </a:rPr>
              <a:t>represents</a:t>
            </a:r>
            <a:r>
              <a:rPr sz="2000" spc="5" dirty="0">
                <a:latin typeface="Calibri"/>
                <a:cs typeface="Calibri"/>
              </a:rPr>
              <a:t> </a:t>
            </a:r>
            <a:r>
              <a:rPr sz="2000" dirty="0">
                <a:latin typeface="Calibri"/>
                <a:cs typeface="Calibri"/>
              </a:rPr>
              <a:t>a</a:t>
            </a:r>
            <a:r>
              <a:rPr sz="2000" spc="-5" dirty="0">
                <a:latin typeface="Calibri"/>
                <a:cs typeface="Calibri"/>
              </a:rPr>
              <a:t> </a:t>
            </a:r>
            <a:r>
              <a:rPr sz="2000" dirty="0">
                <a:latin typeface="Calibri"/>
                <a:cs typeface="Calibri"/>
              </a:rPr>
              <a:t>class </a:t>
            </a:r>
            <a:r>
              <a:rPr sz="2000" spc="-434" dirty="0">
                <a:latin typeface="Calibri"/>
                <a:cs typeface="Calibri"/>
              </a:rPr>
              <a:t> </a:t>
            </a:r>
            <a:r>
              <a:rPr sz="2000" spc="-5" dirty="0">
                <a:latin typeface="Calibri"/>
                <a:cs typeface="Calibri"/>
              </a:rPr>
              <a:t>(either </a:t>
            </a:r>
            <a:r>
              <a:rPr sz="2000" i="1" spc="-5" dirty="0">
                <a:latin typeface="Calibri"/>
                <a:cs typeface="Calibri"/>
              </a:rPr>
              <a:t>buys_computer </a:t>
            </a:r>
            <a:r>
              <a:rPr sz="2000" i="1" dirty="0">
                <a:latin typeface="Calibri"/>
                <a:cs typeface="Calibri"/>
              </a:rPr>
              <a:t>= yes </a:t>
            </a:r>
            <a:r>
              <a:rPr sz="2000" spc="-5" dirty="0">
                <a:latin typeface="Calibri"/>
                <a:cs typeface="Calibri"/>
              </a:rPr>
              <a:t>or </a:t>
            </a:r>
            <a:r>
              <a:rPr sz="2000" dirty="0">
                <a:latin typeface="Calibri"/>
                <a:cs typeface="Calibri"/>
              </a:rPr>
              <a:t> </a:t>
            </a:r>
            <a:r>
              <a:rPr sz="2000" i="1" dirty="0">
                <a:latin typeface="Calibri"/>
                <a:cs typeface="Calibri"/>
              </a:rPr>
              <a:t>buys</a:t>
            </a:r>
            <a:r>
              <a:rPr sz="2000" i="1" spc="-25" dirty="0">
                <a:latin typeface="Calibri"/>
                <a:cs typeface="Calibri"/>
              </a:rPr>
              <a:t> </a:t>
            </a:r>
            <a:r>
              <a:rPr sz="2000" i="1" spc="-5" dirty="0">
                <a:latin typeface="Calibri"/>
                <a:cs typeface="Calibri"/>
              </a:rPr>
              <a:t>computer</a:t>
            </a:r>
            <a:r>
              <a:rPr sz="2000" i="1" spc="-25" dirty="0">
                <a:latin typeface="Calibri"/>
                <a:cs typeface="Calibri"/>
              </a:rPr>
              <a:t> </a:t>
            </a:r>
            <a:r>
              <a:rPr sz="2000" i="1" dirty="0">
                <a:latin typeface="Calibri"/>
                <a:cs typeface="Calibri"/>
              </a:rPr>
              <a:t>= no</a:t>
            </a:r>
            <a:r>
              <a:rPr sz="2000" dirty="0">
                <a:latin typeface="Calibri"/>
                <a:cs typeface="Calibri"/>
              </a:rPr>
              <a:t>).</a:t>
            </a:r>
          </a:p>
        </p:txBody>
      </p:sp>
      <p:sp>
        <p:nvSpPr>
          <p:cNvPr id="5" name="object 5"/>
          <p:cNvSpPr txBox="1"/>
          <p:nvPr/>
        </p:nvSpPr>
        <p:spPr>
          <a:xfrm>
            <a:off x="5426709" y="4315155"/>
            <a:ext cx="235140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Figure</a:t>
            </a:r>
            <a:r>
              <a:rPr sz="1800" spc="-5" dirty="0">
                <a:latin typeface="Calibri"/>
                <a:cs typeface="Calibri"/>
              </a:rPr>
              <a:t> </a:t>
            </a:r>
            <a:r>
              <a:rPr sz="1800" dirty="0">
                <a:latin typeface="Calibri"/>
                <a:cs typeface="Calibri"/>
              </a:rPr>
              <a:t>1.1</a:t>
            </a:r>
            <a:r>
              <a:rPr sz="1800" spc="-10" dirty="0">
                <a:latin typeface="Calibri"/>
                <a:cs typeface="Calibri"/>
              </a:rPr>
              <a:t> </a:t>
            </a:r>
            <a:r>
              <a:rPr sz="1800" dirty="0">
                <a:latin typeface="Calibri"/>
                <a:cs typeface="Calibri"/>
              </a:rPr>
              <a:t>:</a:t>
            </a:r>
            <a:r>
              <a:rPr sz="1800" spc="-5" dirty="0">
                <a:latin typeface="Calibri"/>
                <a:cs typeface="Calibri"/>
              </a:rPr>
              <a:t> Decision</a:t>
            </a:r>
            <a:r>
              <a:rPr sz="1800" spc="5" dirty="0">
                <a:latin typeface="Calibri"/>
                <a:cs typeface="Calibri"/>
              </a:rPr>
              <a:t> </a:t>
            </a:r>
            <a:r>
              <a:rPr sz="1800" spc="-40" dirty="0">
                <a:latin typeface="Calibri"/>
                <a:cs typeface="Calibri"/>
              </a:rPr>
              <a:t>Tree</a:t>
            </a:r>
            <a:endParaRPr sz="1800">
              <a:latin typeface="Calibri"/>
              <a:cs typeface="Calibri"/>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17</a:t>
            </a:fld>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97301" y="385953"/>
            <a:ext cx="3547745" cy="452120"/>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Calibri"/>
                <a:cs typeface="Calibri"/>
              </a:rPr>
              <a:t>Decision </a:t>
            </a:r>
            <a:r>
              <a:rPr sz="2800" b="1" spc="-50" dirty="0">
                <a:latin typeface="Calibri"/>
                <a:cs typeface="Calibri"/>
              </a:rPr>
              <a:t>Tree</a:t>
            </a:r>
            <a:r>
              <a:rPr sz="2800" b="1" spc="15" dirty="0">
                <a:latin typeface="Calibri"/>
                <a:cs typeface="Calibri"/>
              </a:rPr>
              <a:t> </a:t>
            </a:r>
            <a:r>
              <a:rPr sz="2800" b="1" spc="-10" dirty="0">
                <a:latin typeface="Calibri"/>
                <a:cs typeface="Calibri"/>
              </a:rPr>
              <a:t>Algorithm</a:t>
            </a:r>
            <a:endParaRPr sz="2800">
              <a:latin typeface="Calibri"/>
              <a:cs typeface="Calibri"/>
            </a:endParaRPr>
          </a:p>
        </p:txBody>
      </p:sp>
      <p:sp>
        <p:nvSpPr>
          <p:cNvPr id="3" name="object 3"/>
          <p:cNvSpPr txBox="1"/>
          <p:nvPr/>
        </p:nvSpPr>
        <p:spPr>
          <a:xfrm>
            <a:off x="369519" y="866393"/>
            <a:ext cx="4307205" cy="3558540"/>
          </a:xfrm>
          <a:prstGeom prst="rect">
            <a:avLst/>
          </a:prstGeom>
        </p:spPr>
        <p:txBody>
          <a:bodyPr vert="horz" wrap="square" lIns="0" tIns="12065" rIns="0" bIns="0" rtlCol="0">
            <a:spAutoFit/>
          </a:bodyPr>
          <a:lstStyle/>
          <a:p>
            <a:pPr marL="12700">
              <a:lnSpc>
                <a:spcPct val="100000"/>
              </a:lnSpc>
              <a:spcBef>
                <a:spcPts val="95"/>
              </a:spcBef>
            </a:pPr>
            <a:r>
              <a:rPr sz="1900" spc="-5" dirty="0">
                <a:latin typeface="Calibri"/>
                <a:cs typeface="Calibri"/>
              </a:rPr>
              <a:t>Input:</a:t>
            </a:r>
            <a:endParaRPr sz="1900">
              <a:latin typeface="Calibri"/>
              <a:cs typeface="Calibri"/>
            </a:endParaRPr>
          </a:p>
          <a:p>
            <a:pPr marL="354965" marR="5080" indent="-342900" algn="just">
              <a:lnSpc>
                <a:spcPts val="1830"/>
              </a:lnSpc>
              <a:spcBef>
                <a:spcPts val="434"/>
              </a:spcBef>
              <a:buFont typeface="Arial MT"/>
              <a:buChar char="•"/>
              <a:tabLst>
                <a:tab pos="355600" algn="l"/>
              </a:tabLst>
            </a:pPr>
            <a:r>
              <a:rPr sz="1900" spc="-15" dirty="0">
                <a:latin typeface="Calibri"/>
                <a:cs typeface="Calibri"/>
              </a:rPr>
              <a:t>Data</a:t>
            </a:r>
            <a:r>
              <a:rPr sz="1900" spc="-10" dirty="0">
                <a:latin typeface="Calibri"/>
                <a:cs typeface="Calibri"/>
              </a:rPr>
              <a:t> </a:t>
            </a:r>
            <a:r>
              <a:rPr sz="1900" spc="-5" dirty="0">
                <a:latin typeface="Calibri"/>
                <a:cs typeface="Calibri"/>
              </a:rPr>
              <a:t>partition,</a:t>
            </a:r>
            <a:r>
              <a:rPr sz="1900" dirty="0">
                <a:latin typeface="Calibri"/>
                <a:cs typeface="Calibri"/>
              </a:rPr>
              <a:t> </a:t>
            </a:r>
            <a:r>
              <a:rPr sz="1900" spc="-30" dirty="0">
                <a:latin typeface="Calibri"/>
                <a:cs typeface="Calibri"/>
              </a:rPr>
              <a:t>D,</a:t>
            </a:r>
            <a:r>
              <a:rPr sz="1900" spc="-25" dirty="0">
                <a:latin typeface="Calibri"/>
                <a:cs typeface="Calibri"/>
              </a:rPr>
              <a:t> </a:t>
            </a:r>
            <a:r>
              <a:rPr sz="1900" dirty="0">
                <a:latin typeface="Calibri"/>
                <a:cs typeface="Calibri"/>
              </a:rPr>
              <a:t>which</a:t>
            </a:r>
            <a:r>
              <a:rPr sz="1900" spc="5" dirty="0">
                <a:latin typeface="Calibri"/>
                <a:cs typeface="Calibri"/>
              </a:rPr>
              <a:t> </a:t>
            </a:r>
            <a:r>
              <a:rPr sz="1900" spc="-5" dirty="0">
                <a:latin typeface="Calibri"/>
                <a:cs typeface="Calibri"/>
              </a:rPr>
              <a:t>is</a:t>
            </a:r>
            <a:r>
              <a:rPr sz="1900" dirty="0">
                <a:latin typeface="Calibri"/>
                <a:cs typeface="Calibri"/>
              </a:rPr>
              <a:t> </a:t>
            </a:r>
            <a:r>
              <a:rPr sz="1900" spc="-5" dirty="0">
                <a:latin typeface="Calibri"/>
                <a:cs typeface="Calibri"/>
              </a:rPr>
              <a:t>a</a:t>
            </a:r>
            <a:r>
              <a:rPr sz="1900" dirty="0">
                <a:latin typeface="Calibri"/>
                <a:cs typeface="Calibri"/>
              </a:rPr>
              <a:t> </a:t>
            </a:r>
            <a:r>
              <a:rPr sz="1900" spc="-10" dirty="0">
                <a:latin typeface="Calibri"/>
                <a:cs typeface="Calibri"/>
              </a:rPr>
              <a:t>set</a:t>
            </a:r>
            <a:r>
              <a:rPr sz="1900" spc="-5" dirty="0">
                <a:latin typeface="Calibri"/>
                <a:cs typeface="Calibri"/>
              </a:rPr>
              <a:t> </a:t>
            </a:r>
            <a:r>
              <a:rPr sz="1900" spc="-15" dirty="0">
                <a:latin typeface="Calibri"/>
                <a:cs typeface="Calibri"/>
              </a:rPr>
              <a:t>of </a:t>
            </a:r>
            <a:r>
              <a:rPr sz="1900" spc="-10" dirty="0">
                <a:latin typeface="Calibri"/>
                <a:cs typeface="Calibri"/>
              </a:rPr>
              <a:t> </a:t>
            </a:r>
            <a:r>
              <a:rPr sz="1900" spc="-5" dirty="0">
                <a:latin typeface="Calibri"/>
                <a:cs typeface="Calibri"/>
              </a:rPr>
              <a:t>training</a:t>
            </a:r>
            <a:r>
              <a:rPr sz="1900" dirty="0">
                <a:latin typeface="Calibri"/>
                <a:cs typeface="Calibri"/>
              </a:rPr>
              <a:t> tuples</a:t>
            </a:r>
            <a:r>
              <a:rPr sz="1900" spc="5" dirty="0">
                <a:latin typeface="Calibri"/>
                <a:cs typeface="Calibri"/>
              </a:rPr>
              <a:t> </a:t>
            </a:r>
            <a:r>
              <a:rPr sz="1900" spc="-5" dirty="0">
                <a:latin typeface="Calibri"/>
                <a:cs typeface="Calibri"/>
              </a:rPr>
              <a:t>and</a:t>
            </a:r>
            <a:r>
              <a:rPr sz="1900" spc="420" dirty="0">
                <a:latin typeface="Calibri"/>
                <a:cs typeface="Calibri"/>
              </a:rPr>
              <a:t> </a:t>
            </a:r>
            <a:r>
              <a:rPr sz="1900" spc="-5" dirty="0">
                <a:latin typeface="Calibri"/>
                <a:cs typeface="Calibri"/>
              </a:rPr>
              <a:t>their</a:t>
            </a:r>
            <a:r>
              <a:rPr sz="1900" spc="420" dirty="0">
                <a:latin typeface="Calibri"/>
                <a:cs typeface="Calibri"/>
              </a:rPr>
              <a:t> </a:t>
            </a:r>
            <a:r>
              <a:rPr sz="1900" spc="-10" dirty="0">
                <a:latin typeface="Calibri"/>
                <a:cs typeface="Calibri"/>
              </a:rPr>
              <a:t>associated </a:t>
            </a:r>
            <a:r>
              <a:rPr sz="1900" spc="-5" dirty="0">
                <a:latin typeface="Calibri"/>
                <a:cs typeface="Calibri"/>
              </a:rPr>
              <a:t> class</a:t>
            </a:r>
            <a:r>
              <a:rPr sz="1900" spc="-20" dirty="0">
                <a:latin typeface="Calibri"/>
                <a:cs typeface="Calibri"/>
              </a:rPr>
              <a:t> </a:t>
            </a:r>
            <a:r>
              <a:rPr sz="1900" spc="-5" dirty="0">
                <a:latin typeface="Calibri"/>
                <a:cs typeface="Calibri"/>
              </a:rPr>
              <a:t>labels;</a:t>
            </a:r>
            <a:endParaRPr sz="1900">
              <a:latin typeface="Calibri"/>
              <a:cs typeface="Calibri"/>
            </a:endParaRPr>
          </a:p>
          <a:p>
            <a:pPr marL="355600" indent="-342900" algn="just">
              <a:lnSpc>
                <a:spcPts val="2050"/>
              </a:lnSpc>
              <a:spcBef>
                <a:spcPts val="5"/>
              </a:spcBef>
              <a:buFont typeface="Arial MT"/>
              <a:buChar char="•"/>
              <a:tabLst>
                <a:tab pos="355600" algn="l"/>
              </a:tabLst>
            </a:pPr>
            <a:r>
              <a:rPr sz="1900" spc="-15" dirty="0">
                <a:latin typeface="Calibri"/>
                <a:cs typeface="Calibri"/>
              </a:rPr>
              <a:t>Attribute</a:t>
            </a:r>
            <a:r>
              <a:rPr sz="1900" spc="1030" dirty="0">
                <a:latin typeface="Calibri"/>
                <a:cs typeface="Calibri"/>
              </a:rPr>
              <a:t> </a:t>
            </a:r>
            <a:r>
              <a:rPr sz="1900" spc="-10" dirty="0">
                <a:latin typeface="Calibri"/>
                <a:cs typeface="Calibri"/>
              </a:rPr>
              <a:t>list,</a:t>
            </a:r>
            <a:r>
              <a:rPr sz="1900" spc="1035" dirty="0">
                <a:latin typeface="Calibri"/>
                <a:cs typeface="Calibri"/>
              </a:rPr>
              <a:t> </a:t>
            </a:r>
            <a:r>
              <a:rPr sz="1900" spc="-5" dirty="0">
                <a:latin typeface="Calibri"/>
                <a:cs typeface="Calibri"/>
              </a:rPr>
              <a:t>the</a:t>
            </a:r>
            <a:r>
              <a:rPr sz="1900" spc="1015" dirty="0">
                <a:latin typeface="Calibri"/>
                <a:cs typeface="Calibri"/>
              </a:rPr>
              <a:t> </a:t>
            </a:r>
            <a:r>
              <a:rPr sz="1900" spc="-5" dirty="0">
                <a:latin typeface="Calibri"/>
                <a:cs typeface="Calibri"/>
              </a:rPr>
              <a:t>set</a:t>
            </a:r>
            <a:r>
              <a:rPr sz="1900" spc="1010" dirty="0">
                <a:latin typeface="Calibri"/>
                <a:cs typeface="Calibri"/>
              </a:rPr>
              <a:t> </a:t>
            </a:r>
            <a:r>
              <a:rPr sz="1900" spc="-5" dirty="0">
                <a:latin typeface="Calibri"/>
                <a:cs typeface="Calibri"/>
              </a:rPr>
              <a:t>of</a:t>
            </a:r>
            <a:r>
              <a:rPr sz="1900" spc="1005" dirty="0">
                <a:latin typeface="Calibri"/>
                <a:cs typeface="Calibri"/>
              </a:rPr>
              <a:t> </a:t>
            </a:r>
            <a:r>
              <a:rPr sz="1900" spc="-10" dirty="0">
                <a:latin typeface="Calibri"/>
                <a:cs typeface="Calibri"/>
              </a:rPr>
              <a:t>candidate</a:t>
            </a:r>
            <a:endParaRPr sz="1900">
              <a:latin typeface="Calibri"/>
              <a:cs typeface="Calibri"/>
            </a:endParaRPr>
          </a:p>
          <a:p>
            <a:pPr marL="354965">
              <a:lnSpc>
                <a:spcPts val="2050"/>
              </a:lnSpc>
            </a:pPr>
            <a:r>
              <a:rPr sz="1900" spc="-10" dirty="0">
                <a:latin typeface="Calibri"/>
                <a:cs typeface="Calibri"/>
              </a:rPr>
              <a:t>attributes;</a:t>
            </a:r>
            <a:endParaRPr sz="1900">
              <a:latin typeface="Calibri"/>
              <a:cs typeface="Calibri"/>
            </a:endParaRPr>
          </a:p>
          <a:p>
            <a:pPr marL="354965" marR="5080" indent="-342900" algn="just">
              <a:lnSpc>
                <a:spcPct val="80000"/>
              </a:lnSpc>
              <a:spcBef>
                <a:spcPts val="455"/>
              </a:spcBef>
              <a:buFont typeface="Arial MT"/>
              <a:buChar char="•"/>
              <a:tabLst>
                <a:tab pos="355600" algn="l"/>
              </a:tabLst>
            </a:pPr>
            <a:r>
              <a:rPr sz="1900" spc="-15" dirty="0">
                <a:latin typeface="Calibri"/>
                <a:cs typeface="Calibri"/>
              </a:rPr>
              <a:t>Attribute</a:t>
            </a:r>
            <a:r>
              <a:rPr sz="1900" spc="-10" dirty="0">
                <a:latin typeface="Calibri"/>
                <a:cs typeface="Calibri"/>
              </a:rPr>
              <a:t> </a:t>
            </a:r>
            <a:r>
              <a:rPr sz="1900" spc="-5" dirty="0">
                <a:latin typeface="Calibri"/>
                <a:cs typeface="Calibri"/>
              </a:rPr>
              <a:t>selection</a:t>
            </a:r>
            <a:r>
              <a:rPr sz="1900" spc="420" dirty="0">
                <a:latin typeface="Calibri"/>
                <a:cs typeface="Calibri"/>
              </a:rPr>
              <a:t> </a:t>
            </a:r>
            <a:r>
              <a:rPr sz="1900" spc="-5" dirty="0">
                <a:latin typeface="Calibri"/>
                <a:cs typeface="Calibri"/>
              </a:rPr>
              <a:t>method,</a:t>
            </a:r>
            <a:r>
              <a:rPr sz="1900" spc="420" dirty="0">
                <a:latin typeface="Calibri"/>
                <a:cs typeface="Calibri"/>
              </a:rPr>
              <a:t> </a:t>
            </a:r>
            <a:r>
              <a:rPr sz="1900" spc="-5" dirty="0">
                <a:latin typeface="Calibri"/>
                <a:cs typeface="Calibri"/>
              </a:rPr>
              <a:t>a </a:t>
            </a:r>
            <a:r>
              <a:rPr sz="1900" dirty="0">
                <a:latin typeface="Calibri"/>
                <a:cs typeface="Calibri"/>
              </a:rPr>
              <a:t> </a:t>
            </a:r>
            <a:r>
              <a:rPr sz="1900" spc="-15" dirty="0">
                <a:latin typeface="Calibri"/>
                <a:cs typeface="Calibri"/>
              </a:rPr>
              <a:t>procedure</a:t>
            </a:r>
            <a:r>
              <a:rPr sz="1900" spc="-10" dirty="0">
                <a:latin typeface="Calibri"/>
                <a:cs typeface="Calibri"/>
              </a:rPr>
              <a:t> </a:t>
            </a:r>
            <a:r>
              <a:rPr sz="1900" spc="-15" dirty="0">
                <a:latin typeface="Calibri"/>
                <a:cs typeface="Calibri"/>
              </a:rPr>
              <a:t>to</a:t>
            </a:r>
            <a:r>
              <a:rPr sz="1900" spc="-10" dirty="0">
                <a:latin typeface="Calibri"/>
                <a:cs typeface="Calibri"/>
              </a:rPr>
              <a:t> determine</a:t>
            </a:r>
            <a:r>
              <a:rPr sz="1900" spc="-5" dirty="0">
                <a:latin typeface="Calibri"/>
                <a:cs typeface="Calibri"/>
              </a:rPr>
              <a:t> the</a:t>
            </a:r>
            <a:r>
              <a:rPr sz="1900" dirty="0">
                <a:latin typeface="Calibri"/>
                <a:cs typeface="Calibri"/>
              </a:rPr>
              <a:t> </a:t>
            </a:r>
            <a:r>
              <a:rPr sz="1900" spc="-10" dirty="0">
                <a:latin typeface="Calibri"/>
                <a:cs typeface="Calibri"/>
              </a:rPr>
              <a:t>splitting </a:t>
            </a:r>
            <a:r>
              <a:rPr sz="1900" spc="-5" dirty="0">
                <a:latin typeface="Calibri"/>
                <a:cs typeface="Calibri"/>
              </a:rPr>
              <a:t> criterion that </a:t>
            </a:r>
            <a:r>
              <a:rPr sz="1900" dirty="0">
                <a:latin typeface="Calibri"/>
                <a:cs typeface="Calibri"/>
              </a:rPr>
              <a:t>“best” </a:t>
            </a:r>
            <a:r>
              <a:rPr sz="1900" spc="-5" dirty="0">
                <a:latin typeface="Calibri"/>
                <a:cs typeface="Calibri"/>
              </a:rPr>
              <a:t>partitions the </a:t>
            </a:r>
            <a:r>
              <a:rPr sz="1900" spc="-15" dirty="0">
                <a:latin typeface="Calibri"/>
                <a:cs typeface="Calibri"/>
              </a:rPr>
              <a:t>data </a:t>
            </a:r>
            <a:r>
              <a:rPr sz="1900" spc="-10" dirty="0">
                <a:latin typeface="Calibri"/>
                <a:cs typeface="Calibri"/>
              </a:rPr>
              <a:t> </a:t>
            </a:r>
            <a:r>
              <a:rPr sz="1900" spc="-5" dirty="0">
                <a:latin typeface="Calibri"/>
                <a:cs typeface="Calibri"/>
              </a:rPr>
              <a:t>tuples</a:t>
            </a:r>
            <a:r>
              <a:rPr sz="1900" dirty="0">
                <a:latin typeface="Calibri"/>
                <a:cs typeface="Calibri"/>
              </a:rPr>
              <a:t> </a:t>
            </a:r>
            <a:r>
              <a:rPr sz="1900" spc="-15" dirty="0">
                <a:latin typeface="Calibri"/>
                <a:cs typeface="Calibri"/>
              </a:rPr>
              <a:t>into</a:t>
            </a:r>
            <a:r>
              <a:rPr sz="1900" spc="-10" dirty="0">
                <a:latin typeface="Calibri"/>
                <a:cs typeface="Calibri"/>
              </a:rPr>
              <a:t> </a:t>
            </a:r>
            <a:r>
              <a:rPr sz="1900" spc="-5" dirty="0">
                <a:latin typeface="Calibri"/>
                <a:cs typeface="Calibri"/>
              </a:rPr>
              <a:t>individual</a:t>
            </a:r>
            <a:r>
              <a:rPr sz="1900" dirty="0">
                <a:latin typeface="Calibri"/>
                <a:cs typeface="Calibri"/>
              </a:rPr>
              <a:t> </a:t>
            </a:r>
            <a:r>
              <a:rPr sz="1900" spc="-5" dirty="0">
                <a:latin typeface="Calibri"/>
                <a:cs typeface="Calibri"/>
              </a:rPr>
              <a:t>classes.</a:t>
            </a:r>
            <a:r>
              <a:rPr sz="1900" dirty="0">
                <a:latin typeface="Calibri"/>
                <a:cs typeface="Calibri"/>
              </a:rPr>
              <a:t> </a:t>
            </a:r>
            <a:r>
              <a:rPr sz="1900" spc="-10" dirty="0">
                <a:latin typeface="Calibri"/>
                <a:cs typeface="Calibri"/>
              </a:rPr>
              <a:t>This </a:t>
            </a:r>
            <a:r>
              <a:rPr sz="1900" spc="-415" dirty="0">
                <a:latin typeface="Calibri"/>
                <a:cs typeface="Calibri"/>
              </a:rPr>
              <a:t> </a:t>
            </a:r>
            <a:r>
              <a:rPr sz="1900" spc="-5" dirty="0">
                <a:latin typeface="Calibri"/>
                <a:cs typeface="Calibri"/>
              </a:rPr>
              <a:t>criterion </a:t>
            </a:r>
            <a:r>
              <a:rPr sz="1900" spc="-10" dirty="0">
                <a:latin typeface="Calibri"/>
                <a:cs typeface="Calibri"/>
              </a:rPr>
              <a:t>consists of </a:t>
            </a:r>
            <a:r>
              <a:rPr sz="1900" spc="-5" dirty="0">
                <a:latin typeface="Calibri"/>
                <a:cs typeface="Calibri"/>
              </a:rPr>
              <a:t>a </a:t>
            </a:r>
            <a:r>
              <a:rPr sz="1900" spc="-10" dirty="0">
                <a:latin typeface="Calibri"/>
                <a:cs typeface="Calibri"/>
              </a:rPr>
              <a:t>splitting </a:t>
            </a:r>
            <a:r>
              <a:rPr sz="1900" spc="-15" dirty="0">
                <a:latin typeface="Calibri"/>
                <a:cs typeface="Calibri"/>
              </a:rPr>
              <a:t>attribute </a:t>
            </a:r>
            <a:r>
              <a:rPr sz="1900" spc="-10" dirty="0">
                <a:latin typeface="Calibri"/>
                <a:cs typeface="Calibri"/>
              </a:rPr>
              <a:t> </a:t>
            </a:r>
            <a:r>
              <a:rPr sz="1900" spc="-5" dirty="0">
                <a:latin typeface="Calibri"/>
                <a:cs typeface="Calibri"/>
              </a:rPr>
              <a:t>and,</a:t>
            </a:r>
            <a:r>
              <a:rPr sz="1900" dirty="0">
                <a:latin typeface="Calibri"/>
                <a:cs typeface="Calibri"/>
              </a:rPr>
              <a:t> </a:t>
            </a:r>
            <a:r>
              <a:rPr sz="1900" spc="-20" dirty="0">
                <a:latin typeface="Calibri"/>
                <a:cs typeface="Calibri"/>
              </a:rPr>
              <a:t>possibly,</a:t>
            </a:r>
            <a:r>
              <a:rPr sz="1900" spc="-15" dirty="0">
                <a:latin typeface="Calibri"/>
                <a:cs typeface="Calibri"/>
              </a:rPr>
              <a:t> </a:t>
            </a:r>
            <a:r>
              <a:rPr sz="1900" spc="-5" dirty="0">
                <a:latin typeface="Calibri"/>
                <a:cs typeface="Calibri"/>
              </a:rPr>
              <a:t>either</a:t>
            </a:r>
            <a:r>
              <a:rPr sz="1900" dirty="0">
                <a:latin typeface="Calibri"/>
                <a:cs typeface="Calibri"/>
              </a:rPr>
              <a:t> </a:t>
            </a:r>
            <a:r>
              <a:rPr sz="1900" spc="-5" dirty="0">
                <a:latin typeface="Calibri"/>
                <a:cs typeface="Calibri"/>
              </a:rPr>
              <a:t>a</a:t>
            </a:r>
            <a:r>
              <a:rPr sz="1900" dirty="0">
                <a:latin typeface="Calibri"/>
                <a:cs typeface="Calibri"/>
              </a:rPr>
              <a:t> </a:t>
            </a:r>
            <a:r>
              <a:rPr sz="1900" spc="-5" dirty="0">
                <a:latin typeface="Calibri"/>
                <a:cs typeface="Calibri"/>
              </a:rPr>
              <a:t>split</a:t>
            </a:r>
            <a:r>
              <a:rPr sz="1900" dirty="0">
                <a:latin typeface="Calibri"/>
                <a:cs typeface="Calibri"/>
              </a:rPr>
              <a:t> </a:t>
            </a:r>
            <a:r>
              <a:rPr sz="1900" spc="-10" dirty="0">
                <a:latin typeface="Calibri"/>
                <a:cs typeface="Calibri"/>
              </a:rPr>
              <a:t>point</a:t>
            </a:r>
            <a:r>
              <a:rPr sz="1900" spc="-5" dirty="0">
                <a:latin typeface="Calibri"/>
                <a:cs typeface="Calibri"/>
              </a:rPr>
              <a:t> </a:t>
            </a:r>
            <a:r>
              <a:rPr sz="1900" spc="-10" dirty="0">
                <a:latin typeface="Calibri"/>
                <a:cs typeface="Calibri"/>
              </a:rPr>
              <a:t>or </a:t>
            </a:r>
            <a:r>
              <a:rPr sz="1900" spc="-5" dirty="0">
                <a:latin typeface="Calibri"/>
                <a:cs typeface="Calibri"/>
              </a:rPr>
              <a:t> </a:t>
            </a:r>
            <a:r>
              <a:rPr sz="1900" spc="-10" dirty="0">
                <a:latin typeface="Calibri"/>
                <a:cs typeface="Calibri"/>
              </a:rPr>
              <a:t>splitting</a:t>
            </a:r>
            <a:r>
              <a:rPr sz="1900" spc="15" dirty="0">
                <a:latin typeface="Calibri"/>
                <a:cs typeface="Calibri"/>
              </a:rPr>
              <a:t> </a:t>
            </a:r>
            <a:r>
              <a:rPr sz="1900" spc="-10" dirty="0">
                <a:latin typeface="Calibri"/>
                <a:cs typeface="Calibri"/>
              </a:rPr>
              <a:t>subset.</a:t>
            </a:r>
            <a:endParaRPr sz="1900">
              <a:latin typeface="Calibri"/>
              <a:cs typeface="Calibri"/>
            </a:endParaRPr>
          </a:p>
          <a:p>
            <a:pPr marL="12700" algn="just">
              <a:lnSpc>
                <a:spcPct val="100000"/>
              </a:lnSpc>
              <a:spcBef>
                <a:spcPts val="5"/>
              </a:spcBef>
            </a:pPr>
            <a:r>
              <a:rPr sz="1900" spc="-10" dirty="0">
                <a:latin typeface="Calibri"/>
                <a:cs typeface="Calibri"/>
              </a:rPr>
              <a:t>Output:</a:t>
            </a:r>
            <a:r>
              <a:rPr sz="1900" spc="20" dirty="0">
                <a:latin typeface="Calibri"/>
                <a:cs typeface="Calibri"/>
              </a:rPr>
              <a:t> </a:t>
            </a:r>
            <a:r>
              <a:rPr sz="1900" b="1" spc="-5" dirty="0">
                <a:latin typeface="Calibri"/>
                <a:cs typeface="Calibri"/>
              </a:rPr>
              <a:t>A</a:t>
            </a:r>
            <a:r>
              <a:rPr sz="1900" b="1" spc="-10" dirty="0">
                <a:latin typeface="Calibri"/>
                <a:cs typeface="Calibri"/>
              </a:rPr>
              <a:t> </a:t>
            </a:r>
            <a:r>
              <a:rPr sz="1900" b="1" spc="-5" dirty="0">
                <a:latin typeface="Calibri"/>
                <a:cs typeface="Calibri"/>
              </a:rPr>
              <a:t>decision</a:t>
            </a:r>
            <a:r>
              <a:rPr sz="1900" b="1" spc="5" dirty="0">
                <a:latin typeface="Calibri"/>
                <a:cs typeface="Calibri"/>
              </a:rPr>
              <a:t> </a:t>
            </a:r>
            <a:r>
              <a:rPr sz="1900" b="1" spc="-10" dirty="0">
                <a:latin typeface="Calibri"/>
                <a:cs typeface="Calibri"/>
              </a:rPr>
              <a:t>tree</a:t>
            </a:r>
            <a:endParaRPr sz="1900">
              <a:latin typeface="Calibri"/>
              <a:cs typeface="Calibri"/>
            </a:endParaRPr>
          </a:p>
        </p:txBody>
      </p:sp>
      <p:pic>
        <p:nvPicPr>
          <p:cNvPr id="5" name="object 5"/>
          <p:cNvPicPr/>
          <p:nvPr/>
        </p:nvPicPr>
        <p:blipFill>
          <a:blip r:embed="rId2" cstate="print"/>
          <a:stretch>
            <a:fillRect/>
          </a:stretch>
        </p:blipFill>
        <p:spPr>
          <a:xfrm>
            <a:off x="4953000" y="1352550"/>
            <a:ext cx="4019263" cy="2749253"/>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18</a:t>
            </a:fld>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9973" y="385953"/>
            <a:ext cx="3462654" cy="452120"/>
          </a:xfrm>
          <a:prstGeom prst="rect">
            <a:avLst/>
          </a:prstGeom>
        </p:spPr>
        <p:txBody>
          <a:bodyPr vert="horz" wrap="square" lIns="0" tIns="12065" rIns="0" bIns="0" rtlCol="0">
            <a:spAutoFit/>
          </a:bodyPr>
          <a:lstStyle/>
          <a:p>
            <a:pPr marL="12700">
              <a:lnSpc>
                <a:spcPct val="100000"/>
              </a:lnSpc>
              <a:spcBef>
                <a:spcPts val="95"/>
              </a:spcBef>
            </a:pPr>
            <a:r>
              <a:rPr sz="2800" spc="-10" dirty="0"/>
              <a:t>Decision </a:t>
            </a:r>
            <a:r>
              <a:rPr sz="2800" spc="-55" dirty="0"/>
              <a:t>Tree</a:t>
            </a:r>
            <a:r>
              <a:rPr sz="2800" spc="-40" dirty="0"/>
              <a:t> </a:t>
            </a:r>
            <a:r>
              <a:rPr sz="2800" spc="-10" dirty="0"/>
              <a:t>Algorithm</a:t>
            </a:r>
            <a:endParaRPr sz="2800"/>
          </a:p>
        </p:txBody>
      </p:sp>
      <p:sp>
        <p:nvSpPr>
          <p:cNvPr id="3" name="object 3"/>
          <p:cNvSpPr txBox="1">
            <a:spLocks noGrp="1"/>
          </p:cNvSpPr>
          <p:nvPr>
            <p:ph type="body" idx="1"/>
          </p:nvPr>
        </p:nvSpPr>
        <p:spPr>
          <a:prstGeom prst="rect">
            <a:avLst/>
          </a:prstGeom>
        </p:spPr>
        <p:txBody>
          <a:bodyPr vert="horz" wrap="square" lIns="0" tIns="13335" rIns="0" bIns="0" rtlCol="0">
            <a:spAutoFit/>
          </a:bodyPr>
          <a:lstStyle/>
          <a:p>
            <a:pPr marL="356235" marR="5080" indent="-342900">
              <a:lnSpc>
                <a:spcPct val="100000"/>
              </a:lnSpc>
              <a:spcBef>
                <a:spcPts val="105"/>
              </a:spcBef>
              <a:buFont typeface="Arial MT"/>
              <a:buChar char="•"/>
              <a:tabLst>
                <a:tab pos="355600" algn="l"/>
                <a:tab pos="356235" algn="l"/>
                <a:tab pos="882015" algn="l"/>
                <a:tab pos="2023110" algn="l"/>
                <a:tab pos="2322195" algn="l"/>
                <a:tab pos="3068955" algn="l"/>
                <a:tab pos="3669665" algn="l"/>
                <a:tab pos="4368165" algn="l"/>
                <a:tab pos="5759450" algn="l"/>
                <a:tab pos="6114415" algn="l"/>
                <a:tab pos="7166609" algn="l"/>
                <a:tab pos="7670800" algn="l"/>
              </a:tabLst>
            </a:pPr>
            <a:r>
              <a:rPr spc="-5" dirty="0"/>
              <a:t>Th</a:t>
            </a:r>
            <a:r>
              <a:rPr dirty="0"/>
              <a:t>e	al</a:t>
            </a:r>
            <a:r>
              <a:rPr spc="-25" dirty="0"/>
              <a:t>g</a:t>
            </a:r>
            <a:r>
              <a:rPr spc="-5" dirty="0"/>
              <a:t>or</a:t>
            </a:r>
            <a:r>
              <a:rPr spc="-10" dirty="0"/>
              <a:t>i</a:t>
            </a:r>
            <a:r>
              <a:rPr dirty="0"/>
              <a:t>thm	</a:t>
            </a:r>
            <a:r>
              <a:rPr spc="-5" dirty="0"/>
              <a:t>i</a:t>
            </a:r>
            <a:r>
              <a:rPr dirty="0"/>
              <a:t>s	</a:t>
            </a:r>
            <a:r>
              <a:rPr spc="-10" dirty="0"/>
              <a:t>c</a:t>
            </a:r>
            <a:r>
              <a:rPr dirty="0"/>
              <a:t>al</a:t>
            </a:r>
            <a:r>
              <a:rPr spc="-10" dirty="0"/>
              <a:t>l</a:t>
            </a:r>
            <a:r>
              <a:rPr dirty="0"/>
              <a:t>ed	w</a:t>
            </a:r>
            <a:r>
              <a:rPr spc="-10" dirty="0"/>
              <a:t>i</a:t>
            </a:r>
            <a:r>
              <a:rPr dirty="0"/>
              <a:t>th	</a:t>
            </a:r>
            <a:r>
              <a:rPr spc="-15" dirty="0"/>
              <a:t>t</a:t>
            </a:r>
            <a:r>
              <a:rPr spc="-5" dirty="0"/>
              <a:t>h</a:t>
            </a:r>
            <a:r>
              <a:rPr spc="-25" dirty="0"/>
              <a:t>r</a:t>
            </a:r>
            <a:r>
              <a:rPr dirty="0"/>
              <a:t>ee	</a:t>
            </a:r>
            <a:r>
              <a:rPr spc="-5" dirty="0"/>
              <a:t>pa</a:t>
            </a:r>
            <a:r>
              <a:rPr spc="-40" dirty="0"/>
              <a:t>r</a:t>
            </a:r>
            <a:r>
              <a:rPr spc="-15" dirty="0"/>
              <a:t>a</a:t>
            </a:r>
            <a:r>
              <a:rPr dirty="0"/>
              <a:t>m</a:t>
            </a:r>
            <a:r>
              <a:rPr spc="-20" dirty="0"/>
              <a:t>e</a:t>
            </a:r>
            <a:r>
              <a:rPr spc="-15" dirty="0"/>
              <a:t>t</a:t>
            </a:r>
            <a:r>
              <a:rPr dirty="0"/>
              <a:t>e</a:t>
            </a:r>
            <a:r>
              <a:rPr spc="-30" dirty="0"/>
              <a:t>r</a:t>
            </a:r>
            <a:r>
              <a:rPr dirty="0"/>
              <a:t>s:	</a:t>
            </a:r>
            <a:r>
              <a:rPr spc="-45" dirty="0"/>
              <a:t>D</a:t>
            </a:r>
            <a:r>
              <a:rPr dirty="0"/>
              <a:t>,	</a:t>
            </a:r>
            <a:r>
              <a:rPr spc="-25" dirty="0"/>
              <a:t>at</a:t>
            </a:r>
            <a:r>
              <a:rPr dirty="0"/>
              <a:t>tr</a:t>
            </a:r>
            <a:r>
              <a:rPr spc="-10" dirty="0"/>
              <a:t>i</a:t>
            </a:r>
            <a:r>
              <a:rPr spc="-5" dirty="0"/>
              <a:t>b</a:t>
            </a:r>
            <a:r>
              <a:rPr spc="5" dirty="0"/>
              <a:t>u</a:t>
            </a:r>
            <a:r>
              <a:rPr spc="-25" dirty="0"/>
              <a:t>t</a:t>
            </a:r>
            <a:r>
              <a:rPr dirty="0"/>
              <a:t>e	li</a:t>
            </a:r>
            <a:r>
              <a:rPr spc="-25" dirty="0"/>
              <a:t>s</a:t>
            </a:r>
            <a:r>
              <a:rPr dirty="0"/>
              <a:t>t,	and  </a:t>
            </a:r>
            <a:r>
              <a:rPr spc="-10" dirty="0"/>
              <a:t>Attribute</a:t>
            </a:r>
            <a:r>
              <a:rPr dirty="0"/>
              <a:t> </a:t>
            </a:r>
            <a:r>
              <a:rPr spc="-5" dirty="0"/>
              <a:t>selection</a:t>
            </a:r>
            <a:r>
              <a:rPr spc="15" dirty="0"/>
              <a:t> </a:t>
            </a:r>
            <a:r>
              <a:rPr spc="-5" dirty="0"/>
              <a:t>method</a:t>
            </a:r>
          </a:p>
          <a:p>
            <a:pPr marL="356235" marR="5715" indent="-342900">
              <a:lnSpc>
                <a:spcPct val="100000"/>
              </a:lnSpc>
              <a:spcBef>
                <a:spcPts val="480"/>
              </a:spcBef>
              <a:buFont typeface="Arial MT"/>
              <a:buChar char="•"/>
              <a:tabLst>
                <a:tab pos="355600" algn="l"/>
                <a:tab pos="356235" algn="l"/>
              </a:tabLst>
            </a:pPr>
            <a:r>
              <a:rPr dirty="0"/>
              <a:t>D</a:t>
            </a:r>
            <a:r>
              <a:rPr spc="165" dirty="0"/>
              <a:t> </a:t>
            </a:r>
            <a:r>
              <a:rPr spc="-5" dirty="0"/>
              <a:t>is</a:t>
            </a:r>
            <a:r>
              <a:rPr spc="170" dirty="0"/>
              <a:t> </a:t>
            </a:r>
            <a:r>
              <a:rPr spc="-5" dirty="0"/>
              <a:t>defined</a:t>
            </a:r>
            <a:r>
              <a:rPr spc="180" dirty="0"/>
              <a:t> </a:t>
            </a:r>
            <a:r>
              <a:rPr spc="-10" dirty="0"/>
              <a:t>as</a:t>
            </a:r>
            <a:r>
              <a:rPr spc="170" dirty="0"/>
              <a:t> </a:t>
            </a:r>
            <a:r>
              <a:rPr dirty="0"/>
              <a:t>a</a:t>
            </a:r>
            <a:r>
              <a:rPr spc="170" dirty="0"/>
              <a:t> </a:t>
            </a:r>
            <a:r>
              <a:rPr spc="-15" dirty="0"/>
              <a:t>data</a:t>
            </a:r>
            <a:r>
              <a:rPr spc="180" dirty="0"/>
              <a:t> </a:t>
            </a:r>
            <a:r>
              <a:rPr spc="-5" dirty="0"/>
              <a:t>partition.</a:t>
            </a:r>
            <a:r>
              <a:rPr spc="160" dirty="0"/>
              <a:t> </a:t>
            </a:r>
            <a:r>
              <a:rPr spc="-20" dirty="0"/>
              <a:t>Initially,</a:t>
            </a:r>
            <a:r>
              <a:rPr spc="190" dirty="0"/>
              <a:t> </a:t>
            </a:r>
            <a:r>
              <a:rPr spc="-5" dirty="0"/>
              <a:t>it</a:t>
            </a:r>
            <a:r>
              <a:rPr spc="160" dirty="0"/>
              <a:t> </a:t>
            </a:r>
            <a:r>
              <a:rPr spc="-5" dirty="0"/>
              <a:t>is</a:t>
            </a:r>
            <a:r>
              <a:rPr spc="170" dirty="0"/>
              <a:t> </a:t>
            </a:r>
            <a:r>
              <a:rPr dirty="0"/>
              <a:t>the</a:t>
            </a:r>
            <a:r>
              <a:rPr spc="175" dirty="0"/>
              <a:t> </a:t>
            </a:r>
            <a:r>
              <a:rPr spc="-10" dirty="0"/>
              <a:t>complete</a:t>
            </a:r>
            <a:r>
              <a:rPr spc="180" dirty="0"/>
              <a:t> </a:t>
            </a:r>
            <a:r>
              <a:rPr spc="-10" dirty="0"/>
              <a:t>set</a:t>
            </a:r>
            <a:r>
              <a:rPr spc="170" dirty="0"/>
              <a:t> </a:t>
            </a:r>
            <a:r>
              <a:rPr spc="-5" dirty="0"/>
              <a:t>of</a:t>
            </a:r>
            <a:r>
              <a:rPr spc="175" dirty="0"/>
              <a:t> </a:t>
            </a:r>
            <a:r>
              <a:rPr spc="-5" dirty="0"/>
              <a:t>training </a:t>
            </a:r>
            <a:r>
              <a:rPr spc="-434" dirty="0"/>
              <a:t> </a:t>
            </a:r>
            <a:r>
              <a:rPr dirty="0"/>
              <a:t>tuples</a:t>
            </a:r>
            <a:r>
              <a:rPr spc="-10" dirty="0"/>
              <a:t> </a:t>
            </a:r>
            <a:r>
              <a:rPr dirty="0"/>
              <a:t>and</a:t>
            </a:r>
            <a:r>
              <a:rPr spc="-5" dirty="0"/>
              <a:t> </a:t>
            </a:r>
            <a:r>
              <a:rPr dirty="0"/>
              <a:t>their</a:t>
            </a:r>
            <a:r>
              <a:rPr spc="-5" dirty="0"/>
              <a:t> </a:t>
            </a:r>
            <a:r>
              <a:rPr spc="-10" dirty="0"/>
              <a:t>associated</a:t>
            </a:r>
            <a:r>
              <a:rPr spc="35" dirty="0"/>
              <a:t> </a:t>
            </a:r>
            <a:r>
              <a:rPr dirty="0"/>
              <a:t>class</a:t>
            </a:r>
            <a:r>
              <a:rPr spc="15" dirty="0"/>
              <a:t> </a:t>
            </a:r>
            <a:r>
              <a:rPr spc="-5" dirty="0"/>
              <a:t>labels</a:t>
            </a:r>
          </a:p>
          <a:p>
            <a:pPr marL="356235" indent="-342900">
              <a:lnSpc>
                <a:spcPct val="100000"/>
              </a:lnSpc>
              <a:spcBef>
                <a:spcPts val="480"/>
              </a:spcBef>
              <a:buFont typeface="Arial MT"/>
              <a:buChar char="•"/>
              <a:tabLst>
                <a:tab pos="355600" algn="l"/>
                <a:tab pos="356235" algn="l"/>
              </a:tabLst>
            </a:pPr>
            <a:r>
              <a:rPr spc="-5" dirty="0"/>
              <a:t>The</a:t>
            </a:r>
            <a:r>
              <a:rPr spc="90" dirty="0"/>
              <a:t> </a:t>
            </a:r>
            <a:r>
              <a:rPr spc="-10" dirty="0"/>
              <a:t>parameter</a:t>
            </a:r>
            <a:r>
              <a:rPr spc="110" dirty="0"/>
              <a:t> </a:t>
            </a:r>
            <a:r>
              <a:rPr spc="-10" dirty="0"/>
              <a:t>attribute</a:t>
            </a:r>
            <a:r>
              <a:rPr spc="105" dirty="0"/>
              <a:t> </a:t>
            </a:r>
            <a:r>
              <a:rPr spc="-10" dirty="0"/>
              <a:t>list</a:t>
            </a:r>
            <a:r>
              <a:rPr spc="95" dirty="0"/>
              <a:t> </a:t>
            </a:r>
            <a:r>
              <a:rPr dirty="0"/>
              <a:t>is</a:t>
            </a:r>
            <a:r>
              <a:rPr spc="90" dirty="0"/>
              <a:t> </a:t>
            </a:r>
            <a:r>
              <a:rPr dirty="0"/>
              <a:t>a</a:t>
            </a:r>
            <a:r>
              <a:rPr spc="95" dirty="0"/>
              <a:t> </a:t>
            </a:r>
            <a:r>
              <a:rPr spc="-10" dirty="0"/>
              <a:t>list</a:t>
            </a:r>
            <a:r>
              <a:rPr spc="95" dirty="0"/>
              <a:t> </a:t>
            </a:r>
            <a:r>
              <a:rPr spc="-5" dirty="0"/>
              <a:t>of</a:t>
            </a:r>
            <a:r>
              <a:rPr spc="100" dirty="0"/>
              <a:t> </a:t>
            </a:r>
            <a:r>
              <a:rPr spc="-10" dirty="0"/>
              <a:t>attributes</a:t>
            </a:r>
            <a:r>
              <a:rPr spc="95" dirty="0"/>
              <a:t> </a:t>
            </a:r>
            <a:r>
              <a:rPr spc="-5" dirty="0"/>
              <a:t>or</a:t>
            </a:r>
            <a:r>
              <a:rPr spc="95" dirty="0"/>
              <a:t> </a:t>
            </a:r>
            <a:r>
              <a:rPr spc="-5" dirty="0"/>
              <a:t>independent</a:t>
            </a:r>
            <a:r>
              <a:rPr spc="90" dirty="0"/>
              <a:t> </a:t>
            </a:r>
            <a:r>
              <a:rPr spc="-5" dirty="0"/>
              <a:t>variables</a:t>
            </a:r>
          </a:p>
          <a:p>
            <a:pPr marL="356235">
              <a:lnSpc>
                <a:spcPct val="100000"/>
              </a:lnSpc>
            </a:pPr>
            <a:r>
              <a:rPr dirty="0"/>
              <a:t>which</a:t>
            </a:r>
            <a:r>
              <a:rPr spc="-25" dirty="0"/>
              <a:t> </a:t>
            </a:r>
            <a:r>
              <a:rPr spc="-10" dirty="0"/>
              <a:t>are</a:t>
            </a:r>
            <a:r>
              <a:rPr spc="-5" dirty="0"/>
              <a:t> describing</a:t>
            </a:r>
            <a:r>
              <a:rPr dirty="0"/>
              <a:t> the</a:t>
            </a:r>
            <a:r>
              <a:rPr spc="-10" dirty="0"/>
              <a:t> </a:t>
            </a:r>
            <a:r>
              <a:rPr dirty="0"/>
              <a:t>tuples</a:t>
            </a:r>
          </a:p>
          <a:p>
            <a:pPr marL="356235" marR="7620" indent="-342900">
              <a:lnSpc>
                <a:spcPct val="100000"/>
              </a:lnSpc>
              <a:spcBef>
                <a:spcPts val="480"/>
              </a:spcBef>
              <a:buFont typeface="Arial MT"/>
              <a:buChar char="•"/>
              <a:tabLst>
                <a:tab pos="355600" algn="l"/>
                <a:tab pos="356235" algn="l"/>
              </a:tabLst>
            </a:pPr>
            <a:r>
              <a:rPr spc="-10" dirty="0"/>
              <a:t>Attribute</a:t>
            </a:r>
            <a:r>
              <a:rPr spc="380" dirty="0"/>
              <a:t> </a:t>
            </a:r>
            <a:r>
              <a:rPr dirty="0"/>
              <a:t>selection</a:t>
            </a:r>
            <a:r>
              <a:rPr spc="390" dirty="0"/>
              <a:t> </a:t>
            </a:r>
            <a:r>
              <a:rPr spc="-5" dirty="0"/>
              <a:t>method</a:t>
            </a:r>
            <a:r>
              <a:rPr spc="375" dirty="0"/>
              <a:t> </a:t>
            </a:r>
            <a:r>
              <a:rPr spc="-5" dirty="0"/>
              <a:t>specifies</a:t>
            </a:r>
            <a:r>
              <a:rPr spc="385" dirty="0"/>
              <a:t> </a:t>
            </a:r>
            <a:r>
              <a:rPr dirty="0"/>
              <a:t>a</a:t>
            </a:r>
            <a:r>
              <a:rPr spc="385" dirty="0"/>
              <a:t> </a:t>
            </a:r>
            <a:r>
              <a:rPr spc="-5" dirty="0"/>
              <a:t>heuristic</a:t>
            </a:r>
            <a:r>
              <a:rPr spc="385" dirty="0"/>
              <a:t> </a:t>
            </a:r>
            <a:r>
              <a:rPr spc="-10" dirty="0"/>
              <a:t>procedure</a:t>
            </a:r>
            <a:r>
              <a:rPr spc="395" dirty="0"/>
              <a:t> </a:t>
            </a:r>
            <a:r>
              <a:rPr spc="-20" dirty="0"/>
              <a:t>for</a:t>
            </a:r>
            <a:r>
              <a:rPr spc="380" dirty="0"/>
              <a:t> </a:t>
            </a:r>
            <a:r>
              <a:rPr spc="-5" dirty="0"/>
              <a:t>selecting </a:t>
            </a:r>
            <a:r>
              <a:rPr spc="-440" dirty="0"/>
              <a:t> </a:t>
            </a:r>
            <a:r>
              <a:rPr dirty="0"/>
              <a:t>the </a:t>
            </a:r>
            <a:r>
              <a:rPr spc="-10" dirty="0"/>
              <a:t>attribute</a:t>
            </a:r>
            <a:r>
              <a:rPr spc="25" dirty="0"/>
              <a:t> </a:t>
            </a:r>
            <a:r>
              <a:rPr spc="-5" dirty="0"/>
              <a:t>that</a:t>
            </a:r>
            <a:r>
              <a:rPr spc="5" dirty="0"/>
              <a:t> “best”</a:t>
            </a:r>
            <a:r>
              <a:rPr dirty="0"/>
              <a:t> </a:t>
            </a:r>
            <a:r>
              <a:rPr spc="-10" dirty="0"/>
              <a:t>discriminates</a:t>
            </a:r>
            <a:r>
              <a:rPr spc="60" dirty="0"/>
              <a:t> </a:t>
            </a:r>
            <a:r>
              <a:rPr dirty="0"/>
              <a:t>the</a:t>
            </a:r>
            <a:r>
              <a:rPr spc="-5" dirty="0"/>
              <a:t> given</a:t>
            </a:r>
            <a:r>
              <a:rPr dirty="0"/>
              <a:t> tuples </a:t>
            </a:r>
            <a:r>
              <a:rPr spc="-5" dirty="0"/>
              <a:t>according</a:t>
            </a:r>
            <a:r>
              <a:rPr spc="-15" dirty="0"/>
              <a:t> to</a:t>
            </a:r>
            <a:r>
              <a:rPr dirty="0"/>
              <a:t> class</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19</a:t>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9973" y="385953"/>
            <a:ext cx="3462654" cy="452120"/>
          </a:xfrm>
          <a:prstGeom prst="rect">
            <a:avLst/>
          </a:prstGeom>
        </p:spPr>
        <p:txBody>
          <a:bodyPr vert="horz" wrap="square" lIns="0" tIns="12065" rIns="0" bIns="0" rtlCol="0">
            <a:spAutoFit/>
          </a:bodyPr>
          <a:lstStyle/>
          <a:p>
            <a:pPr marL="12700">
              <a:lnSpc>
                <a:spcPct val="100000"/>
              </a:lnSpc>
              <a:spcBef>
                <a:spcPts val="95"/>
              </a:spcBef>
            </a:pPr>
            <a:r>
              <a:rPr sz="2800" spc="-10" dirty="0"/>
              <a:t>Decision </a:t>
            </a:r>
            <a:r>
              <a:rPr sz="2800" spc="-55" dirty="0"/>
              <a:t>Tree</a:t>
            </a:r>
            <a:r>
              <a:rPr sz="2800" spc="-40" dirty="0"/>
              <a:t> </a:t>
            </a:r>
            <a:r>
              <a:rPr sz="2800" spc="-10" dirty="0"/>
              <a:t>Algorithm</a:t>
            </a:r>
            <a:endParaRPr sz="2800"/>
          </a:p>
        </p:txBody>
      </p:sp>
      <p:sp>
        <p:nvSpPr>
          <p:cNvPr id="3" name="object 3"/>
          <p:cNvSpPr txBox="1"/>
          <p:nvPr/>
        </p:nvSpPr>
        <p:spPr>
          <a:xfrm>
            <a:off x="535940" y="1216913"/>
            <a:ext cx="8073390" cy="2586990"/>
          </a:xfrm>
          <a:prstGeom prst="rect">
            <a:avLst/>
          </a:prstGeom>
        </p:spPr>
        <p:txBody>
          <a:bodyPr vert="horz" wrap="square" lIns="0" tIns="13335" rIns="0" bIns="0" rtlCol="0">
            <a:spAutoFit/>
          </a:bodyPr>
          <a:lstStyle/>
          <a:p>
            <a:pPr marL="355600" marR="5715" indent="-342900" algn="just">
              <a:lnSpc>
                <a:spcPct val="100000"/>
              </a:lnSpc>
              <a:spcBef>
                <a:spcPts val="105"/>
              </a:spcBef>
              <a:buFont typeface="Arial MT"/>
              <a:buChar char="•"/>
              <a:tabLst>
                <a:tab pos="355600" algn="l"/>
              </a:tabLst>
            </a:pPr>
            <a:r>
              <a:rPr sz="2000" spc="-5" dirty="0">
                <a:latin typeface="Calibri"/>
                <a:cs typeface="Calibri"/>
              </a:rPr>
              <a:t>This</a:t>
            </a:r>
            <a:r>
              <a:rPr sz="2000" dirty="0">
                <a:latin typeface="Calibri"/>
                <a:cs typeface="Calibri"/>
              </a:rPr>
              <a:t> </a:t>
            </a:r>
            <a:r>
              <a:rPr sz="2000" spc="-10" dirty="0">
                <a:latin typeface="Calibri"/>
                <a:cs typeface="Calibri"/>
              </a:rPr>
              <a:t>procedure</a:t>
            </a:r>
            <a:r>
              <a:rPr sz="2000" spc="-5" dirty="0">
                <a:latin typeface="Calibri"/>
                <a:cs typeface="Calibri"/>
              </a:rPr>
              <a:t> employs</a:t>
            </a:r>
            <a:r>
              <a:rPr sz="2000" dirty="0">
                <a:latin typeface="Calibri"/>
                <a:cs typeface="Calibri"/>
              </a:rPr>
              <a:t> </a:t>
            </a:r>
            <a:r>
              <a:rPr sz="2000" spc="5" dirty="0">
                <a:latin typeface="Calibri"/>
                <a:cs typeface="Calibri"/>
              </a:rPr>
              <a:t>an</a:t>
            </a:r>
            <a:r>
              <a:rPr sz="2000" spc="10" dirty="0">
                <a:latin typeface="Calibri"/>
                <a:cs typeface="Calibri"/>
              </a:rPr>
              <a:t> </a:t>
            </a:r>
            <a:r>
              <a:rPr sz="2000" spc="-10" dirty="0">
                <a:latin typeface="Calibri"/>
                <a:cs typeface="Calibri"/>
              </a:rPr>
              <a:t>attribute</a:t>
            </a:r>
            <a:r>
              <a:rPr sz="2000" spc="-5" dirty="0">
                <a:latin typeface="Calibri"/>
                <a:cs typeface="Calibri"/>
              </a:rPr>
              <a:t> </a:t>
            </a:r>
            <a:r>
              <a:rPr sz="2000" dirty="0">
                <a:latin typeface="Calibri"/>
                <a:cs typeface="Calibri"/>
              </a:rPr>
              <a:t>selection</a:t>
            </a:r>
            <a:r>
              <a:rPr sz="2000" spc="5" dirty="0">
                <a:latin typeface="Calibri"/>
                <a:cs typeface="Calibri"/>
              </a:rPr>
              <a:t> </a:t>
            </a:r>
            <a:r>
              <a:rPr sz="2000" spc="-5" dirty="0">
                <a:latin typeface="Calibri"/>
                <a:cs typeface="Calibri"/>
              </a:rPr>
              <a:t>measure,</a:t>
            </a:r>
            <a:r>
              <a:rPr sz="2000" dirty="0">
                <a:latin typeface="Calibri"/>
                <a:cs typeface="Calibri"/>
              </a:rPr>
              <a:t> </a:t>
            </a:r>
            <a:r>
              <a:rPr sz="2000" spc="-5" dirty="0">
                <a:latin typeface="Calibri"/>
                <a:cs typeface="Calibri"/>
              </a:rPr>
              <a:t>such</a:t>
            </a:r>
            <a:r>
              <a:rPr sz="2000" dirty="0">
                <a:latin typeface="Calibri"/>
                <a:cs typeface="Calibri"/>
              </a:rPr>
              <a:t> as </a:t>
            </a:r>
            <a:r>
              <a:rPr sz="2000" spc="5" dirty="0">
                <a:latin typeface="Calibri"/>
                <a:cs typeface="Calibri"/>
              </a:rPr>
              <a:t> </a:t>
            </a:r>
            <a:r>
              <a:rPr sz="2000" spc="-10" dirty="0">
                <a:latin typeface="Calibri"/>
                <a:cs typeface="Calibri"/>
              </a:rPr>
              <a:t>information</a:t>
            </a:r>
            <a:r>
              <a:rPr sz="2000" spc="-5" dirty="0">
                <a:latin typeface="Calibri"/>
                <a:cs typeface="Calibri"/>
              </a:rPr>
              <a:t> </a:t>
            </a:r>
            <a:r>
              <a:rPr sz="2000" spc="-10" dirty="0">
                <a:latin typeface="Calibri"/>
                <a:cs typeface="Calibri"/>
              </a:rPr>
              <a:t>gain,</a:t>
            </a:r>
            <a:r>
              <a:rPr sz="2000" spc="-20" dirty="0">
                <a:latin typeface="Calibri"/>
                <a:cs typeface="Calibri"/>
              </a:rPr>
              <a:t> </a:t>
            </a:r>
            <a:r>
              <a:rPr sz="2000" spc="-10" dirty="0">
                <a:latin typeface="Calibri"/>
                <a:cs typeface="Calibri"/>
              </a:rPr>
              <a:t>gain </a:t>
            </a:r>
            <a:r>
              <a:rPr sz="2000" spc="-15" dirty="0">
                <a:latin typeface="Calibri"/>
                <a:cs typeface="Calibri"/>
              </a:rPr>
              <a:t>ratio</a:t>
            </a:r>
            <a:r>
              <a:rPr sz="2000" dirty="0">
                <a:latin typeface="Calibri"/>
                <a:cs typeface="Calibri"/>
              </a:rPr>
              <a:t> </a:t>
            </a:r>
            <a:r>
              <a:rPr sz="2000" spc="-5" dirty="0">
                <a:latin typeface="Calibri"/>
                <a:cs typeface="Calibri"/>
              </a:rPr>
              <a:t>or</a:t>
            </a:r>
            <a:r>
              <a:rPr sz="2000" dirty="0">
                <a:latin typeface="Calibri"/>
                <a:cs typeface="Calibri"/>
              </a:rPr>
              <a:t> the</a:t>
            </a:r>
            <a:r>
              <a:rPr sz="2000" spc="-10" dirty="0">
                <a:latin typeface="Calibri"/>
                <a:cs typeface="Calibri"/>
              </a:rPr>
              <a:t> </a:t>
            </a:r>
            <a:r>
              <a:rPr sz="2000" spc="-5" dirty="0">
                <a:latin typeface="Calibri"/>
                <a:cs typeface="Calibri"/>
              </a:rPr>
              <a:t>Gini</a:t>
            </a:r>
            <a:r>
              <a:rPr sz="2000" spc="15" dirty="0">
                <a:latin typeface="Calibri"/>
                <a:cs typeface="Calibri"/>
              </a:rPr>
              <a:t> </a:t>
            </a:r>
            <a:r>
              <a:rPr sz="2000" spc="-10" dirty="0">
                <a:latin typeface="Calibri"/>
                <a:cs typeface="Calibri"/>
              </a:rPr>
              <a:t>index.</a:t>
            </a:r>
            <a:endParaRPr sz="2000" dirty="0">
              <a:latin typeface="Calibri"/>
              <a:cs typeface="Calibri"/>
            </a:endParaRPr>
          </a:p>
          <a:p>
            <a:pPr marL="355600" marR="6985" indent="-342900" algn="just">
              <a:lnSpc>
                <a:spcPct val="100000"/>
              </a:lnSpc>
              <a:spcBef>
                <a:spcPts val="480"/>
              </a:spcBef>
              <a:buFont typeface="Arial MT"/>
              <a:buChar char="•"/>
              <a:tabLst>
                <a:tab pos="355600" algn="l"/>
              </a:tabLst>
            </a:pPr>
            <a:r>
              <a:rPr sz="2000" dirty="0">
                <a:latin typeface="Calibri"/>
                <a:cs typeface="Calibri"/>
              </a:rPr>
              <a:t>Whether</a:t>
            </a:r>
            <a:r>
              <a:rPr sz="2000" spc="5"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tree</a:t>
            </a:r>
            <a:r>
              <a:rPr sz="2000" spc="-5" dirty="0">
                <a:latin typeface="Calibri"/>
                <a:cs typeface="Calibri"/>
              </a:rPr>
              <a:t> is</a:t>
            </a:r>
            <a:r>
              <a:rPr sz="2000" dirty="0">
                <a:latin typeface="Calibri"/>
                <a:cs typeface="Calibri"/>
              </a:rPr>
              <a:t> </a:t>
            </a:r>
            <a:r>
              <a:rPr sz="2000" spc="-5" dirty="0">
                <a:latin typeface="Calibri"/>
                <a:cs typeface="Calibri"/>
              </a:rPr>
              <a:t>strictly</a:t>
            </a:r>
            <a:r>
              <a:rPr sz="2000" dirty="0">
                <a:latin typeface="Calibri"/>
                <a:cs typeface="Calibri"/>
              </a:rPr>
              <a:t> </a:t>
            </a:r>
            <a:r>
              <a:rPr sz="2000" spc="-5" dirty="0">
                <a:latin typeface="Calibri"/>
                <a:cs typeface="Calibri"/>
              </a:rPr>
              <a:t>binary</a:t>
            </a:r>
            <a:r>
              <a:rPr sz="2000" dirty="0">
                <a:latin typeface="Calibri"/>
                <a:cs typeface="Calibri"/>
              </a:rPr>
              <a:t> </a:t>
            </a:r>
            <a:r>
              <a:rPr sz="2000" spc="-5" dirty="0">
                <a:latin typeface="Calibri"/>
                <a:cs typeface="Calibri"/>
              </a:rPr>
              <a:t>is</a:t>
            </a:r>
            <a:r>
              <a:rPr sz="2000" dirty="0">
                <a:latin typeface="Calibri"/>
                <a:cs typeface="Calibri"/>
              </a:rPr>
              <a:t> </a:t>
            </a:r>
            <a:r>
              <a:rPr sz="2000" spc="-5" dirty="0">
                <a:latin typeface="Calibri"/>
                <a:cs typeface="Calibri"/>
              </a:rPr>
              <a:t>generally</a:t>
            </a:r>
            <a:r>
              <a:rPr sz="2000" dirty="0">
                <a:latin typeface="Calibri"/>
                <a:cs typeface="Calibri"/>
              </a:rPr>
              <a:t> </a:t>
            </a:r>
            <a:r>
              <a:rPr sz="2000" spc="-10" dirty="0">
                <a:latin typeface="Calibri"/>
                <a:cs typeface="Calibri"/>
              </a:rPr>
              <a:t>driven</a:t>
            </a:r>
            <a:r>
              <a:rPr sz="2000" spc="-5" dirty="0">
                <a:latin typeface="Calibri"/>
                <a:cs typeface="Calibri"/>
              </a:rPr>
              <a:t> by</a:t>
            </a:r>
            <a:r>
              <a:rPr sz="2000" dirty="0">
                <a:latin typeface="Calibri"/>
                <a:cs typeface="Calibri"/>
              </a:rPr>
              <a:t> the</a:t>
            </a:r>
            <a:r>
              <a:rPr sz="2000" spc="5" dirty="0">
                <a:latin typeface="Calibri"/>
                <a:cs typeface="Calibri"/>
              </a:rPr>
              <a:t> </a:t>
            </a:r>
            <a:r>
              <a:rPr sz="2000" spc="-10" dirty="0">
                <a:latin typeface="Calibri"/>
                <a:cs typeface="Calibri"/>
              </a:rPr>
              <a:t>attribute </a:t>
            </a:r>
            <a:r>
              <a:rPr sz="2000" spc="-440" dirty="0">
                <a:latin typeface="Calibri"/>
                <a:cs typeface="Calibri"/>
              </a:rPr>
              <a:t> </a:t>
            </a:r>
            <a:r>
              <a:rPr sz="2000" spc="-5" dirty="0">
                <a:latin typeface="Calibri"/>
                <a:cs typeface="Calibri"/>
              </a:rPr>
              <a:t>selection</a:t>
            </a:r>
            <a:r>
              <a:rPr sz="2000" spc="10" dirty="0">
                <a:latin typeface="Calibri"/>
                <a:cs typeface="Calibri"/>
              </a:rPr>
              <a:t> </a:t>
            </a:r>
            <a:r>
              <a:rPr sz="2000" spc="-5" dirty="0">
                <a:latin typeface="Calibri"/>
                <a:cs typeface="Calibri"/>
              </a:rPr>
              <a:t>measure</a:t>
            </a:r>
            <a:endParaRPr sz="2000" dirty="0">
              <a:latin typeface="Calibri"/>
              <a:cs typeface="Calibri"/>
            </a:endParaRPr>
          </a:p>
          <a:p>
            <a:pPr marL="355600" marR="5080" indent="-342900" algn="just">
              <a:lnSpc>
                <a:spcPct val="100000"/>
              </a:lnSpc>
              <a:spcBef>
                <a:spcPts val="480"/>
              </a:spcBef>
              <a:buFont typeface="Arial MT"/>
              <a:buChar char="•"/>
              <a:tabLst>
                <a:tab pos="355600" algn="l"/>
              </a:tabLst>
            </a:pPr>
            <a:r>
              <a:rPr sz="2000" dirty="0">
                <a:latin typeface="Calibri"/>
                <a:cs typeface="Calibri"/>
              </a:rPr>
              <a:t>Some </a:t>
            </a:r>
            <a:r>
              <a:rPr sz="2000" spc="-10" dirty="0">
                <a:latin typeface="Calibri"/>
                <a:cs typeface="Calibri"/>
              </a:rPr>
              <a:t>attribute </a:t>
            </a:r>
            <a:r>
              <a:rPr sz="2000" dirty="0">
                <a:latin typeface="Calibri"/>
                <a:cs typeface="Calibri"/>
              </a:rPr>
              <a:t>selection </a:t>
            </a:r>
            <a:r>
              <a:rPr sz="2000" spc="-5" dirty="0">
                <a:latin typeface="Calibri"/>
                <a:cs typeface="Calibri"/>
              </a:rPr>
              <a:t>measures, </a:t>
            </a:r>
            <a:r>
              <a:rPr sz="2000" dirty="0">
                <a:latin typeface="Calibri"/>
                <a:cs typeface="Calibri"/>
              </a:rPr>
              <a:t>such as the </a:t>
            </a:r>
            <a:r>
              <a:rPr sz="2000" spc="-5" dirty="0">
                <a:latin typeface="Calibri"/>
                <a:cs typeface="Calibri"/>
              </a:rPr>
              <a:t>Gini </a:t>
            </a:r>
            <a:r>
              <a:rPr sz="2000" spc="-10" dirty="0">
                <a:latin typeface="Calibri"/>
                <a:cs typeface="Calibri"/>
              </a:rPr>
              <a:t>index, </a:t>
            </a:r>
            <a:r>
              <a:rPr sz="2000" spc="-15" dirty="0">
                <a:latin typeface="Calibri"/>
                <a:cs typeface="Calibri"/>
              </a:rPr>
              <a:t>enforce </a:t>
            </a:r>
            <a:r>
              <a:rPr sz="2000" dirty="0">
                <a:latin typeface="Calibri"/>
                <a:cs typeface="Calibri"/>
              </a:rPr>
              <a:t>the </a:t>
            </a:r>
            <a:r>
              <a:rPr sz="2000" spc="5" dirty="0">
                <a:latin typeface="Calibri"/>
                <a:cs typeface="Calibri"/>
              </a:rPr>
              <a:t> </a:t>
            </a:r>
            <a:r>
              <a:rPr sz="2000" spc="-5" dirty="0">
                <a:latin typeface="Calibri"/>
                <a:cs typeface="Calibri"/>
              </a:rPr>
              <a:t>resulting tree </a:t>
            </a:r>
            <a:r>
              <a:rPr sz="2000" spc="-10" dirty="0">
                <a:latin typeface="Calibri"/>
                <a:cs typeface="Calibri"/>
              </a:rPr>
              <a:t>to </a:t>
            </a:r>
            <a:r>
              <a:rPr sz="2000" dirty="0">
                <a:latin typeface="Calibri"/>
                <a:cs typeface="Calibri"/>
              </a:rPr>
              <a:t>be </a:t>
            </a:r>
            <a:r>
              <a:rPr sz="2000" spc="-20" dirty="0">
                <a:latin typeface="Calibri"/>
                <a:cs typeface="Calibri"/>
              </a:rPr>
              <a:t>binary. </a:t>
            </a:r>
            <a:r>
              <a:rPr sz="2000" spc="-10" dirty="0">
                <a:latin typeface="Calibri"/>
                <a:cs typeface="Calibri"/>
              </a:rPr>
              <a:t>Others, </a:t>
            </a:r>
            <a:r>
              <a:rPr sz="2000" spc="-20" dirty="0">
                <a:latin typeface="Calibri"/>
                <a:cs typeface="Calibri"/>
              </a:rPr>
              <a:t>like </a:t>
            </a:r>
            <a:r>
              <a:rPr sz="2000" spc="-10" dirty="0">
                <a:latin typeface="Calibri"/>
                <a:cs typeface="Calibri"/>
              </a:rPr>
              <a:t>information gain, </a:t>
            </a:r>
            <a:r>
              <a:rPr sz="2000" spc="-5" dirty="0">
                <a:latin typeface="Calibri"/>
                <a:cs typeface="Calibri"/>
              </a:rPr>
              <a:t>do not, therein </a:t>
            </a:r>
            <a:r>
              <a:rPr sz="2000" dirty="0">
                <a:latin typeface="Calibri"/>
                <a:cs typeface="Calibri"/>
              </a:rPr>
              <a:t> </a:t>
            </a:r>
            <a:r>
              <a:rPr sz="2000" spc="-5" dirty="0">
                <a:latin typeface="Calibri"/>
                <a:cs typeface="Calibri"/>
              </a:rPr>
              <a:t>allowing </a:t>
            </a:r>
            <a:r>
              <a:rPr sz="2000" spc="-10" dirty="0">
                <a:latin typeface="Calibri"/>
                <a:cs typeface="Calibri"/>
              </a:rPr>
              <a:t>multiway </a:t>
            </a:r>
            <a:r>
              <a:rPr sz="2000" spc="-5" dirty="0">
                <a:latin typeface="Calibri"/>
                <a:cs typeface="Calibri"/>
              </a:rPr>
              <a:t>splits </a:t>
            </a:r>
            <a:r>
              <a:rPr sz="2000" dirty="0">
                <a:latin typeface="Calibri"/>
                <a:cs typeface="Calibri"/>
              </a:rPr>
              <a:t>(i.e., </a:t>
            </a:r>
            <a:r>
              <a:rPr sz="2000" spc="-10" dirty="0">
                <a:latin typeface="Calibri"/>
                <a:cs typeface="Calibri"/>
              </a:rPr>
              <a:t>two </a:t>
            </a:r>
            <a:r>
              <a:rPr sz="2000" spc="-5" dirty="0">
                <a:latin typeface="Calibri"/>
                <a:cs typeface="Calibri"/>
              </a:rPr>
              <a:t>or </a:t>
            </a:r>
            <a:r>
              <a:rPr sz="2000" spc="-10" dirty="0">
                <a:latin typeface="Calibri"/>
                <a:cs typeface="Calibri"/>
              </a:rPr>
              <a:t>more </a:t>
            </a:r>
            <a:r>
              <a:rPr sz="2000" spc="-5" dirty="0">
                <a:latin typeface="Calibri"/>
                <a:cs typeface="Calibri"/>
              </a:rPr>
              <a:t>branches </a:t>
            </a:r>
            <a:r>
              <a:rPr sz="2000" spc="-15" dirty="0">
                <a:latin typeface="Calibri"/>
                <a:cs typeface="Calibri"/>
              </a:rPr>
              <a:t>to </a:t>
            </a:r>
            <a:r>
              <a:rPr sz="2000" dirty="0">
                <a:latin typeface="Calibri"/>
                <a:cs typeface="Calibri"/>
              </a:rPr>
              <a:t>be </a:t>
            </a:r>
            <a:r>
              <a:rPr sz="2000" spc="-10" dirty="0">
                <a:latin typeface="Calibri"/>
                <a:cs typeface="Calibri"/>
              </a:rPr>
              <a:t>grown </a:t>
            </a:r>
            <a:r>
              <a:rPr sz="2000" spc="-15" dirty="0">
                <a:latin typeface="Calibri"/>
                <a:cs typeface="Calibri"/>
              </a:rPr>
              <a:t>from </a:t>
            </a:r>
            <a:r>
              <a:rPr sz="2000" dirty="0">
                <a:latin typeface="Calibri"/>
                <a:cs typeface="Calibri"/>
              </a:rPr>
              <a:t>a </a:t>
            </a:r>
            <a:r>
              <a:rPr sz="2000" spc="5" dirty="0">
                <a:latin typeface="Calibri"/>
                <a:cs typeface="Calibri"/>
              </a:rPr>
              <a:t> </a:t>
            </a:r>
            <a:r>
              <a:rPr sz="2000" dirty="0">
                <a:latin typeface="Calibri"/>
                <a:cs typeface="Calibri"/>
              </a:rPr>
              <a:t>node).</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7133" y="252729"/>
            <a:ext cx="3189605" cy="452120"/>
          </a:xfrm>
          <a:prstGeom prst="rect">
            <a:avLst/>
          </a:prstGeom>
        </p:spPr>
        <p:txBody>
          <a:bodyPr vert="horz" wrap="square" lIns="0" tIns="12065" rIns="0" bIns="0" rtlCol="0">
            <a:spAutoFit/>
          </a:bodyPr>
          <a:lstStyle/>
          <a:p>
            <a:pPr marL="12700">
              <a:lnSpc>
                <a:spcPct val="100000"/>
              </a:lnSpc>
              <a:spcBef>
                <a:spcPts val="95"/>
              </a:spcBef>
            </a:pPr>
            <a:r>
              <a:rPr sz="2800" spc="-10" dirty="0"/>
              <a:t>Decision</a:t>
            </a:r>
            <a:r>
              <a:rPr sz="2800" spc="-15" dirty="0"/>
              <a:t> </a:t>
            </a:r>
            <a:r>
              <a:rPr sz="2800" spc="-55" dirty="0"/>
              <a:t>Tree</a:t>
            </a:r>
            <a:r>
              <a:rPr sz="2800" spc="-40" dirty="0"/>
              <a:t> </a:t>
            </a:r>
            <a:r>
              <a:rPr sz="2800" spc="-5" dirty="0"/>
              <a:t>Method</a:t>
            </a:r>
            <a:endParaRPr sz="2800"/>
          </a:p>
        </p:txBody>
      </p:sp>
      <p:grpSp>
        <p:nvGrpSpPr>
          <p:cNvPr id="3" name="object 3"/>
          <p:cNvGrpSpPr/>
          <p:nvPr/>
        </p:nvGrpSpPr>
        <p:grpSpPr>
          <a:xfrm>
            <a:off x="152400" y="666750"/>
            <a:ext cx="8954655" cy="4223738"/>
            <a:chOff x="152400" y="695877"/>
            <a:chExt cx="8954655" cy="3786206"/>
          </a:xfrm>
        </p:grpSpPr>
        <p:pic>
          <p:nvPicPr>
            <p:cNvPr id="4" name="object 4"/>
            <p:cNvPicPr/>
            <p:nvPr/>
          </p:nvPicPr>
          <p:blipFill>
            <a:blip r:embed="rId2" cstate="print"/>
            <a:stretch>
              <a:fillRect/>
            </a:stretch>
          </p:blipFill>
          <p:spPr>
            <a:xfrm>
              <a:off x="152400" y="1088135"/>
              <a:ext cx="5635752" cy="3393948"/>
            </a:xfrm>
            <a:prstGeom prst="rect">
              <a:avLst/>
            </a:prstGeom>
          </p:spPr>
        </p:pic>
        <p:pic>
          <p:nvPicPr>
            <p:cNvPr id="5" name="object 5"/>
            <p:cNvPicPr/>
            <p:nvPr/>
          </p:nvPicPr>
          <p:blipFill>
            <a:blip r:embed="rId3" cstate="print"/>
            <a:stretch>
              <a:fillRect/>
            </a:stretch>
          </p:blipFill>
          <p:spPr>
            <a:xfrm>
              <a:off x="4992255" y="695877"/>
              <a:ext cx="4114800" cy="2548518"/>
            </a:xfrm>
            <a:prstGeom prst="rect">
              <a:avLst/>
            </a:prstGeom>
          </p:spPr>
        </p:pic>
      </p:grpSp>
      <p:sp>
        <p:nvSpPr>
          <p:cNvPr id="6" name="object 6"/>
          <p:cNvSpPr txBox="1"/>
          <p:nvPr/>
        </p:nvSpPr>
        <p:spPr>
          <a:xfrm>
            <a:off x="6490461" y="3544315"/>
            <a:ext cx="2344420" cy="756920"/>
          </a:xfrm>
          <a:prstGeom prst="rect">
            <a:avLst/>
          </a:prstGeom>
        </p:spPr>
        <p:txBody>
          <a:bodyPr vert="horz" wrap="square" lIns="0" tIns="12065" rIns="0" bIns="0" rtlCol="0">
            <a:spAutoFit/>
          </a:bodyPr>
          <a:lstStyle/>
          <a:p>
            <a:pPr marL="12700" marR="1684655">
              <a:lnSpc>
                <a:spcPct val="100000"/>
              </a:lnSpc>
              <a:spcBef>
                <a:spcPts val="95"/>
              </a:spcBef>
            </a:pPr>
            <a:r>
              <a:rPr sz="1600" spc="-5" dirty="0">
                <a:latin typeface="Calibri"/>
                <a:cs typeface="Calibri"/>
              </a:rPr>
              <a:t>N-Node  C-</a:t>
            </a:r>
            <a:r>
              <a:rPr sz="1600" spc="-65" dirty="0">
                <a:latin typeface="Calibri"/>
                <a:cs typeface="Calibri"/>
              </a:rPr>
              <a:t> </a:t>
            </a:r>
            <a:r>
              <a:rPr sz="1600" spc="-5" dirty="0">
                <a:latin typeface="Calibri"/>
                <a:cs typeface="Calibri"/>
              </a:rPr>
              <a:t>Class</a:t>
            </a:r>
            <a:endParaRPr sz="1600">
              <a:latin typeface="Calibri"/>
              <a:cs typeface="Calibri"/>
            </a:endParaRPr>
          </a:p>
          <a:p>
            <a:pPr marL="12700">
              <a:lnSpc>
                <a:spcPct val="100000"/>
              </a:lnSpc>
            </a:pPr>
            <a:r>
              <a:rPr sz="1600" spc="-5" dirty="0">
                <a:latin typeface="Calibri"/>
                <a:cs typeface="Calibri"/>
              </a:rPr>
              <a:t>D-</a:t>
            </a:r>
            <a:r>
              <a:rPr sz="1600" spc="-10" dirty="0">
                <a:latin typeface="Calibri"/>
                <a:cs typeface="Calibri"/>
              </a:rPr>
              <a:t> </a:t>
            </a:r>
            <a:r>
              <a:rPr sz="1600" spc="-5" dirty="0">
                <a:latin typeface="Calibri"/>
                <a:cs typeface="Calibri"/>
              </a:rPr>
              <a:t>tuples in</a:t>
            </a:r>
            <a:r>
              <a:rPr sz="1600" spc="-15" dirty="0">
                <a:latin typeface="Calibri"/>
                <a:cs typeface="Calibri"/>
              </a:rPr>
              <a:t> </a:t>
            </a:r>
            <a:r>
              <a:rPr sz="1600" spc="-10" dirty="0">
                <a:latin typeface="Calibri"/>
                <a:cs typeface="Calibri"/>
              </a:rPr>
              <a:t>training</a:t>
            </a:r>
            <a:r>
              <a:rPr sz="1600" spc="-30" dirty="0">
                <a:latin typeface="Calibri"/>
                <a:cs typeface="Calibri"/>
              </a:rPr>
              <a:t> </a:t>
            </a:r>
            <a:r>
              <a:rPr sz="1600" spc="-15" dirty="0">
                <a:latin typeface="Calibri"/>
                <a:cs typeface="Calibri"/>
              </a:rPr>
              <a:t>data</a:t>
            </a:r>
            <a:r>
              <a:rPr sz="1600" spc="-20" dirty="0">
                <a:latin typeface="Calibri"/>
                <a:cs typeface="Calibri"/>
              </a:rPr>
              <a:t> </a:t>
            </a:r>
            <a:r>
              <a:rPr sz="1600" spc="-10" dirty="0">
                <a:latin typeface="Calibri"/>
                <a:cs typeface="Calibri"/>
              </a:rPr>
              <a:t>set</a:t>
            </a:r>
            <a:endParaRPr sz="1600">
              <a:latin typeface="Calibri"/>
              <a:cs typeface="Calibri"/>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21</a:t>
            </a:fld>
            <a:endParaRPr dirty="0"/>
          </a:p>
        </p:txBody>
      </p:sp>
      <p:graphicFrame>
        <p:nvGraphicFramePr>
          <p:cNvPr id="8" name="Table 7">
            <a:extLst>
              <a:ext uri="{FF2B5EF4-FFF2-40B4-BE49-F238E27FC236}">
                <a16:creationId xmlns:a16="http://schemas.microsoft.com/office/drawing/2014/main" id="{F040C073-234C-4F86-8D76-27E4436C1BC5}"/>
              </a:ext>
            </a:extLst>
          </p:cNvPr>
          <p:cNvGraphicFramePr>
            <a:graphicFrameLocks noGrp="1"/>
          </p:cNvGraphicFramePr>
          <p:nvPr>
            <p:extLst>
              <p:ext uri="{D42A27DB-BD31-4B8C-83A1-F6EECF244321}">
                <p14:modId xmlns:p14="http://schemas.microsoft.com/office/powerpoint/2010/main" val="1131203598"/>
              </p:ext>
            </p:extLst>
          </p:nvPr>
        </p:nvGraphicFramePr>
        <p:xfrm>
          <a:off x="6166738" y="84925"/>
          <a:ext cx="1598414" cy="344551"/>
        </p:xfrm>
        <a:graphic>
          <a:graphicData uri="http://schemas.openxmlformats.org/drawingml/2006/table">
            <a:tbl>
              <a:tblPr firstRow="1" bandRow="1">
                <a:tableStyleId>{5C22544A-7EE6-4342-B048-85BDC9FD1C3A}</a:tableStyleId>
              </a:tblPr>
              <a:tblGrid>
                <a:gridCol w="1598414">
                  <a:extLst>
                    <a:ext uri="{9D8B030D-6E8A-4147-A177-3AD203B41FA5}">
                      <a16:colId xmlns:a16="http://schemas.microsoft.com/office/drawing/2014/main" val="1354363032"/>
                    </a:ext>
                  </a:extLst>
                </a:gridCol>
              </a:tblGrid>
              <a:tr h="344551">
                <a:tc>
                  <a:txBody>
                    <a:bodyPr/>
                    <a:lstStyle/>
                    <a:p>
                      <a:pPr algn="ctr"/>
                      <a:r>
                        <a:rPr lang="en-US" sz="1600" dirty="0"/>
                        <a:t>Training data (D)</a:t>
                      </a:r>
                      <a:endParaRPr lang="en-IN" sz="1600" dirty="0"/>
                    </a:p>
                  </a:txBody>
                  <a:tcPr/>
                </a:tc>
                <a:extLst>
                  <a:ext uri="{0D108BD9-81ED-4DB2-BD59-A6C34878D82A}">
                    <a16:rowId xmlns:a16="http://schemas.microsoft.com/office/drawing/2014/main" val="110647204"/>
                  </a:ext>
                </a:extLst>
              </a:tr>
            </a:tbl>
          </a:graphicData>
        </a:graphic>
      </p:graphicFrame>
      <p:sp>
        <p:nvSpPr>
          <p:cNvPr id="9" name="Rectangle: Rounded Corners 8">
            <a:extLst>
              <a:ext uri="{FF2B5EF4-FFF2-40B4-BE49-F238E27FC236}">
                <a16:creationId xmlns:a16="http://schemas.microsoft.com/office/drawing/2014/main" id="{6E2E7C44-73B2-44E6-8FCB-25663A51119C}"/>
              </a:ext>
            </a:extLst>
          </p:cNvPr>
          <p:cNvSpPr/>
          <p:nvPr/>
        </p:nvSpPr>
        <p:spPr>
          <a:xfrm>
            <a:off x="6776338" y="438098"/>
            <a:ext cx="533400" cy="3445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89785" y="385953"/>
            <a:ext cx="4963160" cy="452120"/>
          </a:xfrm>
          <a:prstGeom prst="rect">
            <a:avLst/>
          </a:prstGeom>
        </p:spPr>
        <p:txBody>
          <a:bodyPr vert="horz" wrap="square" lIns="0" tIns="12065" rIns="0" bIns="0" rtlCol="0">
            <a:spAutoFit/>
          </a:bodyPr>
          <a:lstStyle/>
          <a:p>
            <a:pPr marL="12700">
              <a:lnSpc>
                <a:spcPct val="100000"/>
              </a:lnSpc>
              <a:spcBef>
                <a:spcPts val="95"/>
              </a:spcBef>
              <a:tabLst>
                <a:tab pos="4115435" algn="l"/>
              </a:tabLst>
            </a:pPr>
            <a:r>
              <a:rPr sz="2800" b="1" spc="-10" dirty="0">
                <a:latin typeface="Calibri"/>
                <a:cs typeface="Calibri"/>
              </a:rPr>
              <a:t>Decision</a:t>
            </a:r>
            <a:r>
              <a:rPr sz="2800" b="1" spc="15" dirty="0">
                <a:latin typeface="Calibri"/>
                <a:cs typeface="Calibri"/>
              </a:rPr>
              <a:t> </a:t>
            </a:r>
            <a:r>
              <a:rPr sz="2800" b="1" spc="-50" dirty="0">
                <a:latin typeface="Calibri"/>
                <a:cs typeface="Calibri"/>
              </a:rPr>
              <a:t>Tree</a:t>
            </a:r>
            <a:r>
              <a:rPr sz="2800" b="1" spc="70" dirty="0">
                <a:latin typeface="Calibri"/>
                <a:cs typeface="Calibri"/>
              </a:rPr>
              <a:t> </a:t>
            </a:r>
            <a:r>
              <a:rPr sz="2800" b="1" spc="-10" dirty="0">
                <a:latin typeface="Calibri"/>
                <a:cs typeface="Calibri"/>
              </a:rPr>
              <a:t>Method</a:t>
            </a:r>
            <a:r>
              <a:rPr sz="2800" b="1" spc="30" dirty="0">
                <a:latin typeface="Calibri"/>
                <a:cs typeface="Calibri"/>
              </a:rPr>
              <a:t> </a:t>
            </a:r>
            <a:r>
              <a:rPr sz="2800" b="1" spc="-25" dirty="0">
                <a:latin typeface="Calibri"/>
                <a:cs typeface="Calibri"/>
              </a:rPr>
              <a:t>step	</a:t>
            </a:r>
            <a:r>
              <a:rPr sz="2800" b="1" spc="-5" dirty="0">
                <a:latin typeface="Calibri"/>
                <a:cs typeface="Calibri"/>
              </a:rPr>
              <a:t>1</a:t>
            </a:r>
            <a:r>
              <a:rPr sz="2800" b="1" spc="-30" dirty="0">
                <a:latin typeface="Calibri"/>
                <a:cs typeface="Calibri"/>
              </a:rPr>
              <a:t> </a:t>
            </a:r>
            <a:r>
              <a:rPr sz="2800" b="1" spc="-15" dirty="0">
                <a:latin typeface="Calibri"/>
                <a:cs typeface="Calibri"/>
              </a:rPr>
              <a:t>to</a:t>
            </a:r>
            <a:r>
              <a:rPr sz="2800" b="1" spc="-40" dirty="0">
                <a:latin typeface="Calibri"/>
                <a:cs typeface="Calibri"/>
              </a:rPr>
              <a:t> </a:t>
            </a:r>
            <a:r>
              <a:rPr sz="2800" b="1" spc="-5" dirty="0">
                <a:latin typeface="Calibri"/>
                <a:cs typeface="Calibri"/>
              </a:rPr>
              <a:t>6</a:t>
            </a:r>
            <a:endParaRPr sz="2800">
              <a:latin typeface="Calibri"/>
              <a:cs typeface="Calibri"/>
            </a:endParaRPr>
          </a:p>
        </p:txBody>
      </p:sp>
      <p:sp>
        <p:nvSpPr>
          <p:cNvPr id="3" name="object 3"/>
          <p:cNvSpPr txBox="1"/>
          <p:nvPr/>
        </p:nvSpPr>
        <p:spPr>
          <a:xfrm>
            <a:off x="347878" y="1021461"/>
            <a:ext cx="4034790" cy="3395345"/>
          </a:xfrm>
          <a:prstGeom prst="rect">
            <a:avLst/>
          </a:prstGeom>
        </p:spPr>
        <p:txBody>
          <a:bodyPr vert="horz" wrap="square" lIns="0" tIns="64769" rIns="0" bIns="0" rtlCol="0">
            <a:spAutoFit/>
          </a:bodyPr>
          <a:lstStyle/>
          <a:p>
            <a:pPr marL="355600" marR="5080" indent="-343535" algn="just">
              <a:lnSpc>
                <a:spcPct val="80000"/>
              </a:lnSpc>
              <a:spcBef>
                <a:spcPts val="509"/>
              </a:spcBef>
              <a:buFont typeface="Arial MT"/>
              <a:buChar char="•"/>
              <a:tabLst>
                <a:tab pos="356235" algn="l"/>
              </a:tabLst>
            </a:pPr>
            <a:r>
              <a:rPr sz="1700" spc="-5" dirty="0">
                <a:latin typeface="Calibri"/>
                <a:cs typeface="Calibri"/>
              </a:rPr>
              <a:t>The</a:t>
            </a:r>
            <a:r>
              <a:rPr sz="1700" dirty="0">
                <a:latin typeface="Calibri"/>
                <a:cs typeface="Calibri"/>
              </a:rPr>
              <a:t> </a:t>
            </a:r>
            <a:r>
              <a:rPr sz="1700" spc="-10" dirty="0">
                <a:latin typeface="Calibri"/>
                <a:cs typeface="Calibri"/>
              </a:rPr>
              <a:t>tree</a:t>
            </a:r>
            <a:r>
              <a:rPr sz="1700" spc="-5" dirty="0">
                <a:latin typeface="Calibri"/>
                <a:cs typeface="Calibri"/>
              </a:rPr>
              <a:t> </a:t>
            </a:r>
            <a:r>
              <a:rPr sz="1700" spc="-10" dirty="0">
                <a:latin typeface="Calibri"/>
                <a:cs typeface="Calibri"/>
              </a:rPr>
              <a:t>starts</a:t>
            </a:r>
            <a:r>
              <a:rPr sz="1700" spc="-5" dirty="0">
                <a:latin typeface="Calibri"/>
                <a:cs typeface="Calibri"/>
              </a:rPr>
              <a:t> as</a:t>
            </a:r>
            <a:r>
              <a:rPr sz="1700" dirty="0">
                <a:latin typeface="Calibri"/>
                <a:cs typeface="Calibri"/>
              </a:rPr>
              <a:t> a</a:t>
            </a:r>
            <a:r>
              <a:rPr sz="1700" spc="5" dirty="0">
                <a:latin typeface="Calibri"/>
                <a:cs typeface="Calibri"/>
              </a:rPr>
              <a:t> </a:t>
            </a:r>
            <a:r>
              <a:rPr sz="1700" spc="-5" dirty="0">
                <a:latin typeface="Calibri"/>
                <a:cs typeface="Calibri"/>
              </a:rPr>
              <a:t>single</a:t>
            </a:r>
            <a:r>
              <a:rPr sz="1700" dirty="0">
                <a:latin typeface="Calibri"/>
                <a:cs typeface="Calibri"/>
              </a:rPr>
              <a:t> </a:t>
            </a:r>
            <a:r>
              <a:rPr sz="1700" spc="-5" dirty="0">
                <a:latin typeface="Calibri"/>
                <a:cs typeface="Calibri"/>
              </a:rPr>
              <a:t>node,</a:t>
            </a:r>
            <a:r>
              <a:rPr sz="1700" dirty="0">
                <a:latin typeface="Calibri"/>
                <a:cs typeface="Calibri"/>
              </a:rPr>
              <a:t> </a:t>
            </a:r>
            <a:r>
              <a:rPr sz="1700" spc="5" dirty="0">
                <a:latin typeface="Calibri"/>
                <a:cs typeface="Calibri"/>
              </a:rPr>
              <a:t>N, </a:t>
            </a:r>
            <a:r>
              <a:rPr sz="1700" spc="10" dirty="0">
                <a:latin typeface="Calibri"/>
                <a:cs typeface="Calibri"/>
              </a:rPr>
              <a:t> </a:t>
            </a:r>
            <a:r>
              <a:rPr sz="1700" spc="-10" dirty="0">
                <a:latin typeface="Calibri"/>
                <a:cs typeface="Calibri"/>
              </a:rPr>
              <a:t>representing </a:t>
            </a:r>
            <a:r>
              <a:rPr sz="1700" spc="-5" dirty="0">
                <a:latin typeface="Calibri"/>
                <a:cs typeface="Calibri"/>
              </a:rPr>
              <a:t>the </a:t>
            </a:r>
            <a:r>
              <a:rPr sz="1700" spc="-10" dirty="0">
                <a:latin typeface="Calibri"/>
                <a:cs typeface="Calibri"/>
              </a:rPr>
              <a:t>training </a:t>
            </a:r>
            <a:r>
              <a:rPr sz="1700" spc="-5" dirty="0">
                <a:latin typeface="Calibri"/>
                <a:cs typeface="Calibri"/>
              </a:rPr>
              <a:t>tuples in </a:t>
            </a:r>
            <a:r>
              <a:rPr sz="1700" dirty="0">
                <a:latin typeface="Calibri"/>
                <a:cs typeface="Calibri"/>
              </a:rPr>
              <a:t>D </a:t>
            </a:r>
            <a:r>
              <a:rPr sz="1700" spc="-10" dirty="0">
                <a:latin typeface="Calibri"/>
                <a:cs typeface="Calibri"/>
              </a:rPr>
              <a:t>(step </a:t>
            </a:r>
            <a:r>
              <a:rPr sz="1700" spc="-370" dirty="0">
                <a:latin typeface="Calibri"/>
                <a:cs typeface="Calibri"/>
              </a:rPr>
              <a:t> </a:t>
            </a:r>
            <a:r>
              <a:rPr sz="1700" spc="-5" dirty="0">
                <a:latin typeface="Calibri"/>
                <a:cs typeface="Calibri"/>
              </a:rPr>
              <a:t>1).</a:t>
            </a:r>
            <a:endParaRPr sz="1700" dirty="0">
              <a:latin typeface="Calibri"/>
              <a:cs typeface="Calibri"/>
            </a:endParaRPr>
          </a:p>
          <a:p>
            <a:pPr marL="355600" marR="6350" indent="-343535" algn="just">
              <a:lnSpc>
                <a:spcPct val="80100"/>
              </a:lnSpc>
              <a:spcBef>
                <a:spcPts val="405"/>
              </a:spcBef>
              <a:buFont typeface="Arial MT"/>
              <a:buChar char="•"/>
              <a:tabLst>
                <a:tab pos="356235" algn="l"/>
              </a:tabLst>
            </a:pPr>
            <a:r>
              <a:rPr sz="1700" dirty="0">
                <a:latin typeface="Calibri"/>
                <a:cs typeface="Calibri"/>
              </a:rPr>
              <a:t>If </a:t>
            </a:r>
            <a:r>
              <a:rPr sz="1700" spc="5" dirty="0">
                <a:latin typeface="Calibri"/>
                <a:cs typeface="Calibri"/>
              </a:rPr>
              <a:t>the </a:t>
            </a:r>
            <a:r>
              <a:rPr sz="1700" spc="-5" dirty="0">
                <a:latin typeface="Calibri"/>
                <a:cs typeface="Calibri"/>
              </a:rPr>
              <a:t>tuples in </a:t>
            </a:r>
            <a:r>
              <a:rPr sz="1700" dirty="0">
                <a:latin typeface="Calibri"/>
                <a:cs typeface="Calibri"/>
              </a:rPr>
              <a:t>D </a:t>
            </a:r>
            <a:r>
              <a:rPr sz="1700" spc="-5" dirty="0">
                <a:latin typeface="Calibri"/>
                <a:cs typeface="Calibri"/>
              </a:rPr>
              <a:t>are all </a:t>
            </a:r>
            <a:r>
              <a:rPr sz="1700" dirty="0">
                <a:latin typeface="Calibri"/>
                <a:cs typeface="Calibri"/>
              </a:rPr>
              <a:t>of </a:t>
            </a:r>
            <a:r>
              <a:rPr sz="1700" spc="5" dirty="0">
                <a:latin typeface="Calibri"/>
                <a:cs typeface="Calibri"/>
              </a:rPr>
              <a:t>the </a:t>
            </a:r>
            <a:r>
              <a:rPr sz="1700" spc="-5" dirty="0">
                <a:latin typeface="Calibri"/>
                <a:cs typeface="Calibri"/>
              </a:rPr>
              <a:t>same </a:t>
            </a:r>
            <a:r>
              <a:rPr sz="1700" dirty="0">
                <a:latin typeface="Calibri"/>
                <a:cs typeface="Calibri"/>
              </a:rPr>
              <a:t>class, </a:t>
            </a:r>
            <a:r>
              <a:rPr sz="1700" spc="-370" dirty="0">
                <a:latin typeface="Calibri"/>
                <a:cs typeface="Calibri"/>
              </a:rPr>
              <a:t> </a:t>
            </a:r>
            <a:r>
              <a:rPr sz="1700" dirty="0">
                <a:latin typeface="Calibri"/>
                <a:cs typeface="Calibri"/>
              </a:rPr>
              <a:t>then</a:t>
            </a:r>
            <a:r>
              <a:rPr sz="1700" spc="5" dirty="0">
                <a:latin typeface="Calibri"/>
                <a:cs typeface="Calibri"/>
              </a:rPr>
              <a:t> </a:t>
            </a:r>
            <a:r>
              <a:rPr sz="1700" spc="-5" dirty="0">
                <a:latin typeface="Calibri"/>
                <a:cs typeface="Calibri"/>
              </a:rPr>
              <a:t>node</a:t>
            </a:r>
            <a:r>
              <a:rPr sz="1700" dirty="0">
                <a:latin typeface="Calibri"/>
                <a:cs typeface="Calibri"/>
              </a:rPr>
              <a:t> N</a:t>
            </a:r>
            <a:r>
              <a:rPr sz="1700" spc="5" dirty="0">
                <a:latin typeface="Calibri"/>
                <a:cs typeface="Calibri"/>
              </a:rPr>
              <a:t> </a:t>
            </a:r>
            <a:r>
              <a:rPr sz="1700" spc="-5" dirty="0">
                <a:latin typeface="Calibri"/>
                <a:cs typeface="Calibri"/>
              </a:rPr>
              <a:t>becomes</a:t>
            </a:r>
            <a:r>
              <a:rPr sz="1700" dirty="0">
                <a:latin typeface="Calibri"/>
                <a:cs typeface="Calibri"/>
              </a:rPr>
              <a:t> a</a:t>
            </a:r>
            <a:r>
              <a:rPr sz="1700" spc="5" dirty="0">
                <a:latin typeface="Calibri"/>
                <a:cs typeface="Calibri"/>
              </a:rPr>
              <a:t> </a:t>
            </a:r>
            <a:r>
              <a:rPr sz="1700" spc="-5" dirty="0">
                <a:latin typeface="Calibri"/>
                <a:cs typeface="Calibri"/>
              </a:rPr>
              <a:t>leaf</a:t>
            </a:r>
            <a:r>
              <a:rPr sz="1700" dirty="0">
                <a:latin typeface="Calibri"/>
                <a:cs typeface="Calibri"/>
              </a:rPr>
              <a:t> </a:t>
            </a:r>
            <a:r>
              <a:rPr sz="1700" spc="-5" dirty="0">
                <a:latin typeface="Calibri"/>
                <a:cs typeface="Calibri"/>
              </a:rPr>
              <a:t>and</a:t>
            </a:r>
            <a:r>
              <a:rPr sz="1700" dirty="0">
                <a:latin typeface="Calibri"/>
                <a:cs typeface="Calibri"/>
              </a:rPr>
              <a:t> </a:t>
            </a:r>
            <a:r>
              <a:rPr sz="1700" spc="-10" dirty="0">
                <a:latin typeface="Calibri"/>
                <a:cs typeface="Calibri"/>
              </a:rPr>
              <a:t>is </a:t>
            </a:r>
            <a:r>
              <a:rPr sz="1700" spc="-5" dirty="0">
                <a:latin typeface="Calibri"/>
                <a:cs typeface="Calibri"/>
              </a:rPr>
              <a:t> </a:t>
            </a:r>
            <a:r>
              <a:rPr sz="1700" dirty="0">
                <a:latin typeface="Calibri"/>
                <a:cs typeface="Calibri"/>
              </a:rPr>
              <a:t>labelled</a:t>
            </a:r>
            <a:r>
              <a:rPr sz="1700" spc="-45" dirty="0">
                <a:latin typeface="Calibri"/>
                <a:cs typeface="Calibri"/>
              </a:rPr>
              <a:t> </a:t>
            </a:r>
            <a:r>
              <a:rPr sz="1700" dirty="0">
                <a:latin typeface="Calibri"/>
                <a:cs typeface="Calibri"/>
              </a:rPr>
              <a:t>with</a:t>
            </a:r>
            <a:r>
              <a:rPr sz="1700" spc="-20" dirty="0">
                <a:latin typeface="Calibri"/>
                <a:cs typeface="Calibri"/>
              </a:rPr>
              <a:t> </a:t>
            </a:r>
            <a:r>
              <a:rPr sz="1700" spc="-5" dirty="0">
                <a:latin typeface="Calibri"/>
                <a:cs typeface="Calibri"/>
              </a:rPr>
              <a:t>that</a:t>
            </a:r>
            <a:r>
              <a:rPr sz="1700" spc="-20" dirty="0">
                <a:latin typeface="Calibri"/>
                <a:cs typeface="Calibri"/>
              </a:rPr>
              <a:t> </a:t>
            </a:r>
            <a:r>
              <a:rPr sz="1700" dirty="0">
                <a:latin typeface="Calibri"/>
                <a:cs typeface="Calibri"/>
              </a:rPr>
              <a:t>class</a:t>
            </a:r>
            <a:r>
              <a:rPr sz="1700" spc="-5" dirty="0">
                <a:latin typeface="Calibri"/>
                <a:cs typeface="Calibri"/>
              </a:rPr>
              <a:t> </a:t>
            </a:r>
            <a:r>
              <a:rPr sz="1700" spc="-10" dirty="0">
                <a:latin typeface="Calibri"/>
                <a:cs typeface="Calibri"/>
              </a:rPr>
              <a:t>(steps</a:t>
            </a:r>
            <a:r>
              <a:rPr sz="1700" spc="-25" dirty="0">
                <a:latin typeface="Calibri"/>
                <a:cs typeface="Calibri"/>
              </a:rPr>
              <a:t> </a:t>
            </a:r>
            <a:r>
              <a:rPr sz="1700" dirty="0">
                <a:latin typeface="Calibri"/>
                <a:cs typeface="Calibri"/>
              </a:rPr>
              <a:t>2</a:t>
            </a:r>
            <a:r>
              <a:rPr sz="1700" spc="-5" dirty="0">
                <a:latin typeface="Calibri"/>
                <a:cs typeface="Calibri"/>
              </a:rPr>
              <a:t> </a:t>
            </a:r>
            <a:r>
              <a:rPr sz="1700" dirty="0">
                <a:latin typeface="Calibri"/>
                <a:cs typeface="Calibri"/>
              </a:rPr>
              <a:t>and</a:t>
            </a:r>
            <a:r>
              <a:rPr sz="1700" spc="-20" dirty="0">
                <a:latin typeface="Calibri"/>
                <a:cs typeface="Calibri"/>
              </a:rPr>
              <a:t> </a:t>
            </a:r>
            <a:r>
              <a:rPr sz="1700" dirty="0">
                <a:latin typeface="Calibri"/>
                <a:cs typeface="Calibri"/>
              </a:rPr>
              <a:t>3)</a:t>
            </a:r>
          </a:p>
          <a:p>
            <a:pPr marL="355600" indent="-343535" algn="just">
              <a:lnSpc>
                <a:spcPct val="100000"/>
              </a:lnSpc>
              <a:buFont typeface="Arial MT"/>
              <a:buChar char="•"/>
              <a:tabLst>
                <a:tab pos="356235" algn="l"/>
              </a:tabLst>
            </a:pPr>
            <a:r>
              <a:rPr sz="1700" spc="-5" dirty="0">
                <a:latin typeface="Calibri"/>
                <a:cs typeface="Calibri"/>
              </a:rPr>
              <a:t>Steps</a:t>
            </a:r>
            <a:r>
              <a:rPr sz="1700" spc="-20" dirty="0">
                <a:latin typeface="Calibri"/>
                <a:cs typeface="Calibri"/>
              </a:rPr>
              <a:t> </a:t>
            </a:r>
            <a:r>
              <a:rPr sz="1700" dirty="0">
                <a:latin typeface="Calibri"/>
                <a:cs typeface="Calibri"/>
              </a:rPr>
              <a:t>4 and</a:t>
            </a:r>
            <a:r>
              <a:rPr sz="1700" spc="-20" dirty="0">
                <a:latin typeface="Calibri"/>
                <a:cs typeface="Calibri"/>
              </a:rPr>
              <a:t> </a:t>
            </a:r>
            <a:r>
              <a:rPr sz="1700" dirty="0">
                <a:latin typeface="Calibri"/>
                <a:cs typeface="Calibri"/>
              </a:rPr>
              <a:t>5</a:t>
            </a:r>
            <a:r>
              <a:rPr sz="1700" spc="-5" dirty="0">
                <a:latin typeface="Calibri"/>
                <a:cs typeface="Calibri"/>
              </a:rPr>
              <a:t> are</a:t>
            </a:r>
            <a:r>
              <a:rPr sz="1700" spc="-10" dirty="0">
                <a:latin typeface="Calibri"/>
                <a:cs typeface="Calibri"/>
              </a:rPr>
              <a:t> </a:t>
            </a:r>
            <a:r>
              <a:rPr sz="1700" spc="-5" dirty="0">
                <a:latin typeface="Calibri"/>
                <a:cs typeface="Calibri"/>
              </a:rPr>
              <a:t>terminating</a:t>
            </a:r>
            <a:r>
              <a:rPr sz="1700" spc="-30" dirty="0">
                <a:latin typeface="Calibri"/>
                <a:cs typeface="Calibri"/>
              </a:rPr>
              <a:t> </a:t>
            </a:r>
            <a:r>
              <a:rPr sz="1700" spc="-5" dirty="0">
                <a:latin typeface="Calibri"/>
                <a:cs typeface="Calibri"/>
              </a:rPr>
              <a:t>conditions</a:t>
            </a:r>
            <a:endParaRPr sz="1700" dirty="0">
              <a:latin typeface="Calibri"/>
              <a:cs typeface="Calibri"/>
            </a:endParaRPr>
          </a:p>
          <a:p>
            <a:pPr marL="355600" marR="6350" indent="-343535" algn="just">
              <a:lnSpc>
                <a:spcPct val="80000"/>
              </a:lnSpc>
              <a:spcBef>
                <a:spcPts val="409"/>
              </a:spcBef>
              <a:buFont typeface="Arial MT"/>
              <a:buChar char="•"/>
              <a:tabLst>
                <a:tab pos="356235" algn="l"/>
              </a:tabLst>
            </a:pPr>
            <a:r>
              <a:rPr sz="1700" spc="-5" dirty="0">
                <a:latin typeface="Calibri"/>
                <a:cs typeface="Calibri"/>
              </a:rPr>
              <a:t>Otherwise,</a:t>
            </a:r>
            <a:r>
              <a:rPr sz="1700" dirty="0">
                <a:latin typeface="Calibri"/>
                <a:cs typeface="Calibri"/>
              </a:rPr>
              <a:t> </a:t>
            </a:r>
            <a:r>
              <a:rPr sz="1700" spc="-5" dirty="0">
                <a:latin typeface="Calibri"/>
                <a:cs typeface="Calibri"/>
              </a:rPr>
              <a:t>the</a:t>
            </a:r>
            <a:r>
              <a:rPr sz="1700" dirty="0">
                <a:latin typeface="Calibri"/>
                <a:cs typeface="Calibri"/>
              </a:rPr>
              <a:t> </a:t>
            </a:r>
            <a:r>
              <a:rPr sz="1700" spc="-5" dirty="0">
                <a:latin typeface="Calibri"/>
                <a:cs typeface="Calibri"/>
              </a:rPr>
              <a:t>algorithm</a:t>
            </a:r>
            <a:r>
              <a:rPr sz="1700" dirty="0">
                <a:latin typeface="Calibri"/>
                <a:cs typeface="Calibri"/>
              </a:rPr>
              <a:t> </a:t>
            </a:r>
            <a:r>
              <a:rPr sz="1700" spc="-5" dirty="0">
                <a:latin typeface="Calibri"/>
                <a:cs typeface="Calibri"/>
              </a:rPr>
              <a:t>calls</a:t>
            </a:r>
            <a:r>
              <a:rPr sz="1700" dirty="0">
                <a:latin typeface="Calibri"/>
                <a:cs typeface="Calibri"/>
              </a:rPr>
              <a:t> </a:t>
            </a:r>
            <a:r>
              <a:rPr sz="1700" spc="-15" dirty="0">
                <a:latin typeface="Calibri"/>
                <a:cs typeface="Calibri"/>
              </a:rPr>
              <a:t>Attribute </a:t>
            </a:r>
            <a:r>
              <a:rPr sz="1700" spc="-370" dirty="0">
                <a:latin typeface="Calibri"/>
                <a:cs typeface="Calibri"/>
              </a:rPr>
              <a:t> </a:t>
            </a:r>
            <a:r>
              <a:rPr sz="1700" dirty="0">
                <a:latin typeface="Calibri"/>
                <a:cs typeface="Calibri"/>
              </a:rPr>
              <a:t>selection</a:t>
            </a:r>
            <a:r>
              <a:rPr sz="1700" spc="5" dirty="0">
                <a:latin typeface="Calibri"/>
                <a:cs typeface="Calibri"/>
              </a:rPr>
              <a:t> </a:t>
            </a:r>
            <a:r>
              <a:rPr sz="1700" spc="-5" dirty="0">
                <a:latin typeface="Calibri"/>
                <a:cs typeface="Calibri"/>
              </a:rPr>
              <a:t>method</a:t>
            </a:r>
            <a:r>
              <a:rPr sz="1700" dirty="0">
                <a:latin typeface="Calibri"/>
                <a:cs typeface="Calibri"/>
              </a:rPr>
              <a:t> </a:t>
            </a:r>
            <a:r>
              <a:rPr sz="1700" spc="-5" dirty="0">
                <a:latin typeface="Calibri"/>
                <a:cs typeface="Calibri"/>
              </a:rPr>
              <a:t>to</a:t>
            </a:r>
            <a:r>
              <a:rPr sz="1700" dirty="0">
                <a:latin typeface="Calibri"/>
                <a:cs typeface="Calibri"/>
              </a:rPr>
              <a:t> </a:t>
            </a:r>
            <a:r>
              <a:rPr sz="1700" spc="-5" dirty="0">
                <a:latin typeface="Calibri"/>
                <a:cs typeface="Calibri"/>
              </a:rPr>
              <a:t>determine</a:t>
            </a:r>
            <a:r>
              <a:rPr sz="1700" dirty="0">
                <a:latin typeface="Calibri"/>
                <a:cs typeface="Calibri"/>
              </a:rPr>
              <a:t> </a:t>
            </a:r>
            <a:r>
              <a:rPr sz="1700" spc="-10" dirty="0">
                <a:latin typeface="Calibri"/>
                <a:cs typeface="Calibri"/>
              </a:rPr>
              <a:t>the </a:t>
            </a:r>
            <a:r>
              <a:rPr sz="1700" spc="-370" dirty="0">
                <a:latin typeface="Calibri"/>
                <a:cs typeface="Calibri"/>
              </a:rPr>
              <a:t> </a:t>
            </a:r>
            <a:r>
              <a:rPr sz="1700" spc="-5" dirty="0">
                <a:latin typeface="Calibri"/>
                <a:cs typeface="Calibri"/>
              </a:rPr>
              <a:t>splitting</a:t>
            </a:r>
            <a:r>
              <a:rPr sz="1700" spc="-15" dirty="0">
                <a:latin typeface="Calibri"/>
                <a:cs typeface="Calibri"/>
              </a:rPr>
              <a:t> </a:t>
            </a:r>
            <a:r>
              <a:rPr sz="1700" spc="-5" dirty="0">
                <a:latin typeface="Calibri"/>
                <a:cs typeface="Calibri"/>
              </a:rPr>
              <a:t>criterion</a:t>
            </a:r>
            <a:endParaRPr sz="1700" dirty="0">
              <a:latin typeface="Calibri"/>
              <a:cs typeface="Calibri"/>
            </a:endParaRPr>
          </a:p>
          <a:p>
            <a:pPr marL="355600" marR="5715" indent="-343535" algn="just">
              <a:lnSpc>
                <a:spcPct val="80000"/>
              </a:lnSpc>
              <a:spcBef>
                <a:spcPts val="409"/>
              </a:spcBef>
              <a:buFont typeface="Arial MT"/>
              <a:buChar char="•"/>
              <a:tabLst>
                <a:tab pos="356235" algn="l"/>
              </a:tabLst>
            </a:pPr>
            <a:r>
              <a:rPr sz="1700" spc="-5" dirty="0">
                <a:latin typeface="Calibri"/>
                <a:cs typeface="Calibri"/>
              </a:rPr>
              <a:t>The </a:t>
            </a:r>
            <a:r>
              <a:rPr sz="1700" spc="-10" dirty="0">
                <a:latin typeface="Calibri"/>
                <a:cs typeface="Calibri"/>
              </a:rPr>
              <a:t>splitting</a:t>
            </a:r>
            <a:r>
              <a:rPr sz="1700" spc="-5" dirty="0">
                <a:latin typeface="Calibri"/>
                <a:cs typeface="Calibri"/>
              </a:rPr>
              <a:t> criterion</a:t>
            </a:r>
            <a:r>
              <a:rPr lang="en-US" sz="1700" spc="-5" dirty="0">
                <a:latin typeface="Calibri"/>
                <a:cs typeface="Calibri"/>
              </a:rPr>
              <a:t> </a:t>
            </a:r>
            <a:r>
              <a:rPr sz="1700" spc="-5" dirty="0">
                <a:latin typeface="Calibri"/>
                <a:cs typeface="Calibri"/>
              </a:rPr>
              <a:t>tells </a:t>
            </a:r>
            <a:r>
              <a:rPr sz="1700" spc="-10" dirty="0">
                <a:latin typeface="Calibri"/>
                <a:cs typeface="Calibri"/>
              </a:rPr>
              <a:t>us </a:t>
            </a:r>
            <a:r>
              <a:rPr sz="1700" spc="-5" dirty="0">
                <a:latin typeface="Calibri"/>
                <a:cs typeface="Calibri"/>
              </a:rPr>
              <a:t> which</a:t>
            </a:r>
            <a:r>
              <a:rPr sz="1700" dirty="0">
                <a:latin typeface="Calibri"/>
                <a:cs typeface="Calibri"/>
              </a:rPr>
              <a:t> </a:t>
            </a:r>
            <a:r>
              <a:rPr sz="1700" spc="-10" dirty="0">
                <a:latin typeface="Calibri"/>
                <a:cs typeface="Calibri"/>
              </a:rPr>
              <a:t>attribute</a:t>
            </a:r>
            <a:r>
              <a:rPr sz="1700" spc="-5" dirty="0">
                <a:latin typeface="Calibri"/>
                <a:cs typeface="Calibri"/>
              </a:rPr>
              <a:t> to</a:t>
            </a:r>
            <a:r>
              <a:rPr sz="1700" dirty="0">
                <a:latin typeface="Calibri"/>
                <a:cs typeface="Calibri"/>
              </a:rPr>
              <a:t> </a:t>
            </a:r>
            <a:r>
              <a:rPr sz="1700" spc="-10" dirty="0">
                <a:latin typeface="Calibri"/>
                <a:cs typeface="Calibri"/>
              </a:rPr>
              <a:t>test</a:t>
            </a:r>
            <a:r>
              <a:rPr sz="1700" spc="-5" dirty="0">
                <a:latin typeface="Calibri"/>
                <a:cs typeface="Calibri"/>
              </a:rPr>
              <a:t> </a:t>
            </a:r>
            <a:r>
              <a:rPr sz="1700" spc="-10" dirty="0">
                <a:latin typeface="Calibri"/>
                <a:cs typeface="Calibri"/>
              </a:rPr>
              <a:t>at</a:t>
            </a:r>
            <a:r>
              <a:rPr sz="1700" spc="-5" dirty="0">
                <a:latin typeface="Calibri"/>
                <a:cs typeface="Calibri"/>
              </a:rPr>
              <a:t> node</a:t>
            </a:r>
            <a:r>
              <a:rPr sz="1700" dirty="0">
                <a:latin typeface="Calibri"/>
                <a:cs typeface="Calibri"/>
              </a:rPr>
              <a:t> N</a:t>
            </a:r>
            <a:r>
              <a:rPr sz="1700" spc="5" dirty="0">
                <a:latin typeface="Calibri"/>
                <a:cs typeface="Calibri"/>
              </a:rPr>
              <a:t> </a:t>
            </a:r>
            <a:r>
              <a:rPr sz="1700" spc="-10" dirty="0">
                <a:latin typeface="Calibri"/>
                <a:cs typeface="Calibri"/>
              </a:rPr>
              <a:t>by </a:t>
            </a:r>
            <a:r>
              <a:rPr sz="1700" spc="-5" dirty="0">
                <a:latin typeface="Calibri"/>
                <a:cs typeface="Calibri"/>
              </a:rPr>
              <a:t> determining the </a:t>
            </a:r>
            <a:r>
              <a:rPr sz="1700" spc="5" dirty="0">
                <a:latin typeface="Calibri"/>
                <a:cs typeface="Calibri"/>
              </a:rPr>
              <a:t>“best” </a:t>
            </a:r>
            <a:r>
              <a:rPr sz="1700" spc="-20" dirty="0">
                <a:latin typeface="Calibri"/>
                <a:cs typeface="Calibri"/>
              </a:rPr>
              <a:t>way</a:t>
            </a:r>
            <a:r>
              <a:rPr sz="1700" spc="340" dirty="0">
                <a:latin typeface="Calibri"/>
                <a:cs typeface="Calibri"/>
              </a:rPr>
              <a:t> </a:t>
            </a:r>
            <a:r>
              <a:rPr sz="1700" spc="-5" dirty="0">
                <a:latin typeface="Calibri"/>
                <a:cs typeface="Calibri"/>
              </a:rPr>
              <a:t>to </a:t>
            </a:r>
            <a:r>
              <a:rPr sz="1700" spc="-15" dirty="0">
                <a:latin typeface="Calibri"/>
                <a:cs typeface="Calibri"/>
              </a:rPr>
              <a:t>separate </a:t>
            </a:r>
            <a:r>
              <a:rPr sz="1700" spc="-10" dirty="0">
                <a:latin typeface="Calibri"/>
                <a:cs typeface="Calibri"/>
              </a:rPr>
              <a:t> </a:t>
            </a:r>
            <a:r>
              <a:rPr sz="1700" dirty="0">
                <a:latin typeface="Calibri"/>
                <a:cs typeface="Calibri"/>
              </a:rPr>
              <a:t>or </a:t>
            </a:r>
            <a:r>
              <a:rPr sz="1700" spc="-5" dirty="0">
                <a:latin typeface="Calibri"/>
                <a:cs typeface="Calibri"/>
              </a:rPr>
              <a:t>partition the tuples in </a:t>
            </a:r>
            <a:r>
              <a:rPr sz="1700" dirty="0">
                <a:latin typeface="Calibri"/>
                <a:cs typeface="Calibri"/>
              </a:rPr>
              <a:t>D </a:t>
            </a:r>
            <a:r>
              <a:rPr sz="1700" spc="-5" dirty="0">
                <a:latin typeface="Calibri"/>
                <a:cs typeface="Calibri"/>
              </a:rPr>
              <a:t>into </a:t>
            </a:r>
            <a:r>
              <a:rPr sz="1700" spc="-10" dirty="0">
                <a:latin typeface="Calibri"/>
                <a:cs typeface="Calibri"/>
              </a:rPr>
              <a:t>individual </a:t>
            </a:r>
            <a:r>
              <a:rPr sz="1700" spc="-5" dirty="0">
                <a:latin typeface="Calibri"/>
                <a:cs typeface="Calibri"/>
              </a:rPr>
              <a:t> </a:t>
            </a:r>
            <a:r>
              <a:rPr sz="1700" dirty="0">
                <a:latin typeface="Calibri"/>
                <a:cs typeface="Calibri"/>
              </a:rPr>
              <a:t>classes</a:t>
            </a:r>
            <a:r>
              <a:rPr sz="1700" spc="-35" dirty="0">
                <a:latin typeface="Calibri"/>
                <a:cs typeface="Calibri"/>
              </a:rPr>
              <a:t> </a:t>
            </a:r>
            <a:r>
              <a:rPr sz="1700" spc="-10" dirty="0">
                <a:latin typeface="Calibri"/>
                <a:cs typeface="Calibri"/>
              </a:rPr>
              <a:t>(step </a:t>
            </a:r>
            <a:r>
              <a:rPr sz="1700" dirty="0">
                <a:latin typeface="Calibri"/>
                <a:cs typeface="Calibri"/>
              </a:rPr>
              <a:t>6)</a:t>
            </a:r>
          </a:p>
        </p:txBody>
      </p:sp>
      <p:pic>
        <p:nvPicPr>
          <p:cNvPr id="4" name="object 4"/>
          <p:cNvPicPr/>
          <p:nvPr/>
        </p:nvPicPr>
        <p:blipFill>
          <a:blip r:embed="rId2" cstate="print"/>
          <a:stretch>
            <a:fillRect/>
          </a:stretch>
        </p:blipFill>
        <p:spPr>
          <a:xfrm>
            <a:off x="4648200" y="1175002"/>
            <a:ext cx="4418076" cy="3395345"/>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22</a:t>
            </a:fld>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9647" y="149464"/>
            <a:ext cx="4963160" cy="452120"/>
          </a:xfrm>
          <a:prstGeom prst="rect">
            <a:avLst/>
          </a:prstGeom>
        </p:spPr>
        <p:txBody>
          <a:bodyPr vert="horz" wrap="square" lIns="0" tIns="12065" rIns="0" bIns="0" rtlCol="0">
            <a:spAutoFit/>
          </a:bodyPr>
          <a:lstStyle/>
          <a:p>
            <a:pPr marL="12700">
              <a:lnSpc>
                <a:spcPct val="100000"/>
              </a:lnSpc>
              <a:spcBef>
                <a:spcPts val="95"/>
              </a:spcBef>
              <a:tabLst>
                <a:tab pos="4115435" algn="l"/>
              </a:tabLst>
            </a:pPr>
            <a:r>
              <a:rPr sz="2800" b="1" spc="-10" dirty="0">
                <a:latin typeface="Calibri"/>
                <a:cs typeface="Calibri"/>
              </a:rPr>
              <a:t>Decision</a:t>
            </a:r>
            <a:r>
              <a:rPr sz="2800" b="1" spc="15" dirty="0">
                <a:latin typeface="Calibri"/>
                <a:cs typeface="Calibri"/>
              </a:rPr>
              <a:t> </a:t>
            </a:r>
            <a:r>
              <a:rPr sz="2800" b="1" spc="-50" dirty="0">
                <a:latin typeface="Calibri"/>
                <a:cs typeface="Calibri"/>
              </a:rPr>
              <a:t>Tree</a:t>
            </a:r>
            <a:r>
              <a:rPr sz="2800" b="1" spc="70" dirty="0">
                <a:latin typeface="Calibri"/>
                <a:cs typeface="Calibri"/>
              </a:rPr>
              <a:t> </a:t>
            </a:r>
            <a:r>
              <a:rPr sz="2800" b="1" spc="-10" dirty="0">
                <a:latin typeface="Calibri"/>
                <a:cs typeface="Calibri"/>
              </a:rPr>
              <a:t>Method</a:t>
            </a:r>
            <a:r>
              <a:rPr sz="2800" b="1" spc="30" dirty="0">
                <a:latin typeface="Calibri"/>
                <a:cs typeface="Calibri"/>
              </a:rPr>
              <a:t> </a:t>
            </a:r>
            <a:r>
              <a:rPr sz="2800" b="1" spc="-25" dirty="0">
                <a:latin typeface="Calibri"/>
                <a:cs typeface="Calibri"/>
              </a:rPr>
              <a:t>step	</a:t>
            </a:r>
            <a:r>
              <a:rPr sz="2800" b="1" spc="-5" dirty="0">
                <a:latin typeface="Calibri"/>
                <a:cs typeface="Calibri"/>
              </a:rPr>
              <a:t>1</a:t>
            </a:r>
            <a:r>
              <a:rPr sz="2800" b="1" spc="-30" dirty="0">
                <a:latin typeface="Calibri"/>
                <a:cs typeface="Calibri"/>
              </a:rPr>
              <a:t> </a:t>
            </a:r>
            <a:r>
              <a:rPr sz="2800" b="1" spc="-15" dirty="0">
                <a:latin typeface="Calibri"/>
                <a:cs typeface="Calibri"/>
              </a:rPr>
              <a:t>to</a:t>
            </a:r>
            <a:r>
              <a:rPr sz="2800" b="1" spc="-40" dirty="0">
                <a:latin typeface="Calibri"/>
                <a:cs typeface="Calibri"/>
              </a:rPr>
              <a:t> </a:t>
            </a:r>
            <a:r>
              <a:rPr sz="2800" b="1" spc="-5" dirty="0">
                <a:latin typeface="Calibri"/>
                <a:cs typeface="Calibri"/>
              </a:rPr>
              <a:t>6</a:t>
            </a:r>
            <a:endParaRPr sz="2800" dirty="0">
              <a:latin typeface="Calibri"/>
              <a:cs typeface="Calibri"/>
            </a:endParaRPr>
          </a:p>
        </p:txBody>
      </p:sp>
      <p:sp>
        <p:nvSpPr>
          <p:cNvPr id="3" name="object 3"/>
          <p:cNvSpPr txBox="1"/>
          <p:nvPr/>
        </p:nvSpPr>
        <p:spPr>
          <a:xfrm>
            <a:off x="347878" y="1021461"/>
            <a:ext cx="4034790" cy="3395345"/>
          </a:xfrm>
          <a:prstGeom prst="rect">
            <a:avLst/>
          </a:prstGeom>
        </p:spPr>
        <p:txBody>
          <a:bodyPr vert="horz" wrap="square" lIns="0" tIns="64769" rIns="0" bIns="0" rtlCol="0">
            <a:spAutoFit/>
          </a:bodyPr>
          <a:lstStyle/>
          <a:p>
            <a:pPr marL="355600" marR="5080" indent="-343535" algn="just">
              <a:lnSpc>
                <a:spcPct val="80000"/>
              </a:lnSpc>
              <a:spcBef>
                <a:spcPts val="509"/>
              </a:spcBef>
              <a:buFont typeface="Arial MT"/>
              <a:buChar char="•"/>
              <a:tabLst>
                <a:tab pos="356235" algn="l"/>
              </a:tabLst>
            </a:pPr>
            <a:r>
              <a:rPr sz="1700" spc="-5" dirty="0">
                <a:latin typeface="Calibri"/>
                <a:cs typeface="Calibri"/>
              </a:rPr>
              <a:t>The</a:t>
            </a:r>
            <a:r>
              <a:rPr sz="1700" dirty="0">
                <a:latin typeface="Calibri"/>
                <a:cs typeface="Calibri"/>
              </a:rPr>
              <a:t> </a:t>
            </a:r>
            <a:r>
              <a:rPr sz="1700" spc="-10" dirty="0">
                <a:latin typeface="Calibri"/>
                <a:cs typeface="Calibri"/>
              </a:rPr>
              <a:t>tree</a:t>
            </a:r>
            <a:r>
              <a:rPr sz="1700" spc="-5" dirty="0">
                <a:latin typeface="Calibri"/>
                <a:cs typeface="Calibri"/>
              </a:rPr>
              <a:t> </a:t>
            </a:r>
            <a:r>
              <a:rPr sz="1700" spc="-10" dirty="0">
                <a:latin typeface="Calibri"/>
                <a:cs typeface="Calibri"/>
              </a:rPr>
              <a:t>starts</a:t>
            </a:r>
            <a:r>
              <a:rPr sz="1700" spc="-5" dirty="0">
                <a:latin typeface="Calibri"/>
                <a:cs typeface="Calibri"/>
              </a:rPr>
              <a:t> as</a:t>
            </a:r>
            <a:r>
              <a:rPr sz="1700" dirty="0">
                <a:latin typeface="Calibri"/>
                <a:cs typeface="Calibri"/>
              </a:rPr>
              <a:t> a</a:t>
            </a:r>
            <a:r>
              <a:rPr sz="1700" spc="5" dirty="0">
                <a:latin typeface="Calibri"/>
                <a:cs typeface="Calibri"/>
              </a:rPr>
              <a:t> </a:t>
            </a:r>
            <a:r>
              <a:rPr sz="1700" spc="-5" dirty="0">
                <a:latin typeface="Calibri"/>
                <a:cs typeface="Calibri"/>
              </a:rPr>
              <a:t>single</a:t>
            </a:r>
            <a:r>
              <a:rPr sz="1700" dirty="0">
                <a:latin typeface="Calibri"/>
                <a:cs typeface="Calibri"/>
              </a:rPr>
              <a:t> </a:t>
            </a:r>
            <a:r>
              <a:rPr sz="1700" spc="-5" dirty="0">
                <a:latin typeface="Calibri"/>
                <a:cs typeface="Calibri"/>
              </a:rPr>
              <a:t>node,</a:t>
            </a:r>
            <a:r>
              <a:rPr sz="1700" dirty="0">
                <a:latin typeface="Calibri"/>
                <a:cs typeface="Calibri"/>
              </a:rPr>
              <a:t> </a:t>
            </a:r>
            <a:r>
              <a:rPr sz="1700" spc="5" dirty="0">
                <a:latin typeface="Calibri"/>
                <a:cs typeface="Calibri"/>
              </a:rPr>
              <a:t>N, </a:t>
            </a:r>
            <a:r>
              <a:rPr sz="1700" spc="10" dirty="0">
                <a:latin typeface="Calibri"/>
                <a:cs typeface="Calibri"/>
              </a:rPr>
              <a:t> </a:t>
            </a:r>
            <a:r>
              <a:rPr sz="1700" spc="-10" dirty="0">
                <a:latin typeface="Calibri"/>
                <a:cs typeface="Calibri"/>
              </a:rPr>
              <a:t>representing </a:t>
            </a:r>
            <a:r>
              <a:rPr sz="1700" spc="-5" dirty="0">
                <a:latin typeface="Calibri"/>
                <a:cs typeface="Calibri"/>
              </a:rPr>
              <a:t>the </a:t>
            </a:r>
            <a:r>
              <a:rPr sz="1700" spc="-10" dirty="0">
                <a:latin typeface="Calibri"/>
                <a:cs typeface="Calibri"/>
              </a:rPr>
              <a:t>training </a:t>
            </a:r>
            <a:r>
              <a:rPr sz="1700" spc="-5" dirty="0">
                <a:latin typeface="Calibri"/>
                <a:cs typeface="Calibri"/>
              </a:rPr>
              <a:t>tuples in </a:t>
            </a:r>
            <a:r>
              <a:rPr sz="1700" dirty="0">
                <a:latin typeface="Calibri"/>
                <a:cs typeface="Calibri"/>
              </a:rPr>
              <a:t>D </a:t>
            </a:r>
            <a:r>
              <a:rPr sz="1700" spc="-10" dirty="0">
                <a:latin typeface="Calibri"/>
                <a:cs typeface="Calibri"/>
              </a:rPr>
              <a:t>(step </a:t>
            </a:r>
            <a:r>
              <a:rPr sz="1700" spc="-370" dirty="0">
                <a:latin typeface="Calibri"/>
                <a:cs typeface="Calibri"/>
              </a:rPr>
              <a:t> </a:t>
            </a:r>
            <a:r>
              <a:rPr sz="1700" spc="-5" dirty="0">
                <a:latin typeface="Calibri"/>
                <a:cs typeface="Calibri"/>
              </a:rPr>
              <a:t>1).</a:t>
            </a:r>
            <a:endParaRPr sz="1700" dirty="0">
              <a:latin typeface="Calibri"/>
              <a:cs typeface="Calibri"/>
            </a:endParaRPr>
          </a:p>
          <a:p>
            <a:pPr marL="355600" marR="6350" indent="-343535" algn="just">
              <a:lnSpc>
                <a:spcPct val="80100"/>
              </a:lnSpc>
              <a:spcBef>
                <a:spcPts val="405"/>
              </a:spcBef>
              <a:buFont typeface="Arial MT"/>
              <a:buChar char="•"/>
              <a:tabLst>
                <a:tab pos="356235" algn="l"/>
              </a:tabLst>
            </a:pPr>
            <a:r>
              <a:rPr sz="1700" dirty="0">
                <a:latin typeface="Calibri"/>
                <a:cs typeface="Calibri"/>
              </a:rPr>
              <a:t>If </a:t>
            </a:r>
            <a:r>
              <a:rPr sz="1700" spc="5" dirty="0">
                <a:latin typeface="Calibri"/>
                <a:cs typeface="Calibri"/>
              </a:rPr>
              <a:t>the </a:t>
            </a:r>
            <a:r>
              <a:rPr sz="1700" spc="-5" dirty="0">
                <a:latin typeface="Calibri"/>
                <a:cs typeface="Calibri"/>
              </a:rPr>
              <a:t>tuples in </a:t>
            </a:r>
            <a:r>
              <a:rPr sz="1700" dirty="0">
                <a:latin typeface="Calibri"/>
                <a:cs typeface="Calibri"/>
              </a:rPr>
              <a:t>D </a:t>
            </a:r>
            <a:r>
              <a:rPr sz="1700" spc="-5" dirty="0">
                <a:latin typeface="Calibri"/>
                <a:cs typeface="Calibri"/>
              </a:rPr>
              <a:t>are all </a:t>
            </a:r>
            <a:r>
              <a:rPr sz="1700" dirty="0">
                <a:latin typeface="Calibri"/>
                <a:cs typeface="Calibri"/>
              </a:rPr>
              <a:t>of </a:t>
            </a:r>
            <a:r>
              <a:rPr sz="1700" spc="5" dirty="0">
                <a:latin typeface="Calibri"/>
                <a:cs typeface="Calibri"/>
              </a:rPr>
              <a:t>the </a:t>
            </a:r>
            <a:r>
              <a:rPr sz="1700" spc="-5" dirty="0">
                <a:latin typeface="Calibri"/>
                <a:cs typeface="Calibri"/>
              </a:rPr>
              <a:t>same </a:t>
            </a:r>
            <a:r>
              <a:rPr sz="1700" dirty="0">
                <a:latin typeface="Calibri"/>
                <a:cs typeface="Calibri"/>
              </a:rPr>
              <a:t>class, </a:t>
            </a:r>
            <a:r>
              <a:rPr sz="1700" spc="-370" dirty="0">
                <a:latin typeface="Calibri"/>
                <a:cs typeface="Calibri"/>
              </a:rPr>
              <a:t> </a:t>
            </a:r>
            <a:r>
              <a:rPr sz="1700" dirty="0">
                <a:latin typeface="Calibri"/>
                <a:cs typeface="Calibri"/>
              </a:rPr>
              <a:t>then</a:t>
            </a:r>
            <a:r>
              <a:rPr sz="1700" spc="5" dirty="0">
                <a:latin typeface="Calibri"/>
                <a:cs typeface="Calibri"/>
              </a:rPr>
              <a:t> </a:t>
            </a:r>
            <a:r>
              <a:rPr sz="1700" spc="-5" dirty="0">
                <a:latin typeface="Calibri"/>
                <a:cs typeface="Calibri"/>
              </a:rPr>
              <a:t>node</a:t>
            </a:r>
            <a:r>
              <a:rPr sz="1700" dirty="0">
                <a:latin typeface="Calibri"/>
                <a:cs typeface="Calibri"/>
              </a:rPr>
              <a:t> N</a:t>
            </a:r>
            <a:r>
              <a:rPr sz="1700" spc="5" dirty="0">
                <a:latin typeface="Calibri"/>
                <a:cs typeface="Calibri"/>
              </a:rPr>
              <a:t> </a:t>
            </a:r>
            <a:r>
              <a:rPr sz="1700" spc="-5" dirty="0">
                <a:latin typeface="Calibri"/>
                <a:cs typeface="Calibri"/>
              </a:rPr>
              <a:t>becomes</a:t>
            </a:r>
            <a:r>
              <a:rPr sz="1700" dirty="0">
                <a:latin typeface="Calibri"/>
                <a:cs typeface="Calibri"/>
              </a:rPr>
              <a:t> a</a:t>
            </a:r>
            <a:r>
              <a:rPr sz="1700" spc="5" dirty="0">
                <a:latin typeface="Calibri"/>
                <a:cs typeface="Calibri"/>
              </a:rPr>
              <a:t> </a:t>
            </a:r>
            <a:r>
              <a:rPr sz="1700" spc="-5" dirty="0">
                <a:latin typeface="Calibri"/>
                <a:cs typeface="Calibri"/>
              </a:rPr>
              <a:t>leaf</a:t>
            </a:r>
            <a:r>
              <a:rPr sz="1700" dirty="0">
                <a:latin typeface="Calibri"/>
                <a:cs typeface="Calibri"/>
              </a:rPr>
              <a:t> </a:t>
            </a:r>
            <a:r>
              <a:rPr sz="1700" spc="-5" dirty="0">
                <a:latin typeface="Calibri"/>
                <a:cs typeface="Calibri"/>
              </a:rPr>
              <a:t>and</a:t>
            </a:r>
            <a:r>
              <a:rPr sz="1700" dirty="0">
                <a:latin typeface="Calibri"/>
                <a:cs typeface="Calibri"/>
              </a:rPr>
              <a:t> </a:t>
            </a:r>
            <a:r>
              <a:rPr sz="1700" spc="-10" dirty="0">
                <a:latin typeface="Calibri"/>
                <a:cs typeface="Calibri"/>
              </a:rPr>
              <a:t>is </a:t>
            </a:r>
            <a:r>
              <a:rPr sz="1700" spc="-5" dirty="0">
                <a:latin typeface="Calibri"/>
                <a:cs typeface="Calibri"/>
              </a:rPr>
              <a:t> </a:t>
            </a:r>
            <a:r>
              <a:rPr sz="1700" dirty="0">
                <a:latin typeface="Calibri"/>
                <a:cs typeface="Calibri"/>
              </a:rPr>
              <a:t>labelled</a:t>
            </a:r>
            <a:r>
              <a:rPr sz="1700" spc="-45" dirty="0">
                <a:latin typeface="Calibri"/>
                <a:cs typeface="Calibri"/>
              </a:rPr>
              <a:t> </a:t>
            </a:r>
            <a:r>
              <a:rPr sz="1700" dirty="0">
                <a:latin typeface="Calibri"/>
                <a:cs typeface="Calibri"/>
              </a:rPr>
              <a:t>with</a:t>
            </a:r>
            <a:r>
              <a:rPr sz="1700" spc="-20" dirty="0">
                <a:latin typeface="Calibri"/>
                <a:cs typeface="Calibri"/>
              </a:rPr>
              <a:t> </a:t>
            </a:r>
            <a:r>
              <a:rPr sz="1700" spc="-5" dirty="0">
                <a:latin typeface="Calibri"/>
                <a:cs typeface="Calibri"/>
              </a:rPr>
              <a:t>that</a:t>
            </a:r>
            <a:r>
              <a:rPr sz="1700" spc="-20" dirty="0">
                <a:latin typeface="Calibri"/>
                <a:cs typeface="Calibri"/>
              </a:rPr>
              <a:t> </a:t>
            </a:r>
            <a:r>
              <a:rPr sz="1700" dirty="0">
                <a:latin typeface="Calibri"/>
                <a:cs typeface="Calibri"/>
              </a:rPr>
              <a:t>class</a:t>
            </a:r>
            <a:r>
              <a:rPr sz="1700" spc="-5" dirty="0">
                <a:latin typeface="Calibri"/>
                <a:cs typeface="Calibri"/>
              </a:rPr>
              <a:t> </a:t>
            </a:r>
            <a:r>
              <a:rPr sz="1700" spc="-10" dirty="0">
                <a:latin typeface="Calibri"/>
                <a:cs typeface="Calibri"/>
              </a:rPr>
              <a:t>(steps</a:t>
            </a:r>
            <a:r>
              <a:rPr sz="1700" spc="-25" dirty="0">
                <a:latin typeface="Calibri"/>
                <a:cs typeface="Calibri"/>
              </a:rPr>
              <a:t> </a:t>
            </a:r>
            <a:r>
              <a:rPr sz="1700" dirty="0">
                <a:latin typeface="Calibri"/>
                <a:cs typeface="Calibri"/>
              </a:rPr>
              <a:t>2</a:t>
            </a:r>
            <a:r>
              <a:rPr sz="1700" spc="-5" dirty="0">
                <a:latin typeface="Calibri"/>
                <a:cs typeface="Calibri"/>
              </a:rPr>
              <a:t> </a:t>
            </a:r>
            <a:r>
              <a:rPr sz="1700" dirty="0">
                <a:latin typeface="Calibri"/>
                <a:cs typeface="Calibri"/>
              </a:rPr>
              <a:t>and</a:t>
            </a:r>
            <a:r>
              <a:rPr sz="1700" spc="-20" dirty="0">
                <a:latin typeface="Calibri"/>
                <a:cs typeface="Calibri"/>
              </a:rPr>
              <a:t> </a:t>
            </a:r>
            <a:r>
              <a:rPr sz="1700" dirty="0">
                <a:latin typeface="Calibri"/>
                <a:cs typeface="Calibri"/>
              </a:rPr>
              <a:t>3)</a:t>
            </a:r>
          </a:p>
          <a:p>
            <a:pPr marL="355600" indent="-343535" algn="just">
              <a:lnSpc>
                <a:spcPct val="100000"/>
              </a:lnSpc>
              <a:buFont typeface="Arial MT"/>
              <a:buChar char="•"/>
              <a:tabLst>
                <a:tab pos="356235" algn="l"/>
              </a:tabLst>
            </a:pPr>
            <a:r>
              <a:rPr sz="1700" spc="-5" dirty="0">
                <a:latin typeface="Calibri"/>
                <a:cs typeface="Calibri"/>
              </a:rPr>
              <a:t>Steps</a:t>
            </a:r>
            <a:r>
              <a:rPr sz="1700" spc="-20" dirty="0">
                <a:latin typeface="Calibri"/>
                <a:cs typeface="Calibri"/>
              </a:rPr>
              <a:t> </a:t>
            </a:r>
            <a:r>
              <a:rPr sz="1700" dirty="0">
                <a:latin typeface="Calibri"/>
                <a:cs typeface="Calibri"/>
              </a:rPr>
              <a:t>4 and</a:t>
            </a:r>
            <a:r>
              <a:rPr sz="1700" spc="-20" dirty="0">
                <a:latin typeface="Calibri"/>
                <a:cs typeface="Calibri"/>
              </a:rPr>
              <a:t> </a:t>
            </a:r>
            <a:r>
              <a:rPr sz="1700" dirty="0">
                <a:latin typeface="Calibri"/>
                <a:cs typeface="Calibri"/>
              </a:rPr>
              <a:t>5</a:t>
            </a:r>
            <a:r>
              <a:rPr sz="1700" spc="-5" dirty="0">
                <a:latin typeface="Calibri"/>
                <a:cs typeface="Calibri"/>
              </a:rPr>
              <a:t> are</a:t>
            </a:r>
            <a:r>
              <a:rPr sz="1700" spc="-10" dirty="0">
                <a:latin typeface="Calibri"/>
                <a:cs typeface="Calibri"/>
              </a:rPr>
              <a:t> </a:t>
            </a:r>
            <a:r>
              <a:rPr sz="1700" spc="-5" dirty="0">
                <a:latin typeface="Calibri"/>
                <a:cs typeface="Calibri"/>
              </a:rPr>
              <a:t>terminating</a:t>
            </a:r>
            <a:r>
              <a:rPr sz="1700" spc="-30" dirty="0">
                <a:latin typeface="Calibri"/>
                <a:cs typeface="Calibri"/>
              </a:rPr>
              <a:t> </a:t>
            </a:r>
            <a:r>
              <a:rPr sz="1700" spc="-5" dirty="0">
                <a:latin typeface="Calibri"/>
                <a:cs typeface="Calibri"/>
              </a:rPr>
              <a:t>conditions</a:t>
            </a:r>
            <a:endParaRPr sz="1700" dirty="0">
              <a:latin typeface="Calibri"/>
              <a:cs typeface="Calibri"/>
            </a:endParaRPr>
          </a:p>
          <a:p>
            <a:pPr marL="355600" marR="6350" indent="-343535" algn="just">
              <a:lnSpc>
                <a:spcPct val="80000"/>
              </a:lnSpc>
              <a:spcBef>
                <a:spcPts val="409"/>
              </a:spcBef>
              <a:buFont typeface="Arial MT"/>
              <a:buChar char="•"/>
              <a:tabLst>
                <a:tab pos="356235" algn="l"/>
              </a:tabLst>
            </a:pPr>
            <a:r>
              <a:rPr sz="1700" spc="-5" dirty="0">
                <a:latin typeface="Calibri"/>
                <a:cs typeface="Calibri"/>
              </a:rPr>
              <a:t>Otherwise,</a:t>
            </a:r>
            <a:r>
              <a:rPr sz="1700" dirty="0">
                <a:latin typeface="Calibri"/>
                <a:cs typeface="Calibri"/>
              </a:rPr>
              <a:t> </a:t>
            </a:r>
            <a:r>
              <a:rPr sz="1700" spc="-5" dirty="0">
                <a:latin typeface="Calibri"/>
                <a:cs typeface="Calibri"/>
              </a:rPr>
              <a:t>the</a:t>
            </a:r>
            <a:r>
              <a:rPr sz="1700" dirty="0">
                <a:latin typeface="Calibri"/>
                <a:cs typeface="Calibri"/>
              </a:rPr>
              <a:t> </a:t>
            </a:r>
            <a:r>
              <a:rPr sz="1700" spc="-5" dirty="0">
                <a:latin typeface="Calibri"/>
                <a:cs typeface="Calibri"/>
              </a:rPr>
              <a:t>algorithm</a:t>
            </a:r>
            <a:r>
              <a:rPr sz="1700" dirty="0">
                <a:latin typeface="Calibri"/>
                <a:cs typeface="Calibri"/>
              </a:rPr>
              <a:t> </a:t>
            </a:r>
            <a:r>
              <a:rPr sz="1700" spc="-5" dirty="0">
                <a:latin typeface="Calibri"/>
                <a:cs typeface="Calibri"/>
              </a:rPr>
              <a:t>calls</a:t>
            </a:r>
            <a:r>
              <a:rPr sz="1700" dirty="0">
                <a:latin typeface="Calibri"/>
                <a:cs typeface="Calibri"/>
              </a:rPr>
              <a:t> </a:t>
            </a:r>
            <a:r>
              <a:rPr sz="1700" spc="-15" dirty="0">
                <a:latin typeface="Calibri"/>
                <a:cs typeface="Calibri"/>
              </a:rPr>
              <a:t>Attribute </a:t>
            </a:r>
            <a:r>
              <a:rPr sz="1700" spc="-370" dirty="0">
                <a:latin typeface="Calibri"/>
                <a:cs typeface="Calibri"/>
              </a:rPr>
              <a:t> </a:t>
            </a:r>
            <a:r>
              <a:rPr sz="1700" dirty="0">
                <a:latin typeface="Calibri"/>
                <a:cs typeface="Calibri"/>
              </a:rPr>
              <a:t>selection</a:t>
            </a:r>
            <a:r>
              <a:rPr sz="1700" spc="5" dirty="0">
                <a:latin typeface="Calibri"/>
                <a:cs typeface="Calibri"/>
              </a:rPr>
              <a:t> </a:t>
            </a:r>
            <a:r>
              <a:rPr sz="1700" spc="-5" dirty="0">
                <a:latin typeface="Calibri"/>
                <a:cs typeface="Calibri"/>
              </a:rPr>
              <a:t>method</a:t>
            </a:r>
            <a:r>
              <a:rPr sz="1700" dirty="0">
                <a:latin typeface="Calibri"/>
                <a:cs typeface="Calibri"/>
              </a:rPr>
              <a:t> </a:t>
            </a:r>
            <a:r>
              <a:rPr sz="1700" spc="-5" dirty="0">
                <a:latin typeface="Calibri"/>
                <a:cs typeface="Calibri"/>
              </a:rPr>
              <a:t>to</a:t>
            </a:r>
            <a:r>
              <a:rPr sz="1700" dirty="0">
                <a:latin typeface="Calibri"/>
                <a:cs typeface="Calibri"/>
              </a:rPr>
              <a:t> </a:t>
            </a:r>
            <a:r>
              <a:rPr sz="1700" spc="-5" dirty="0">
                <a:latin typeface="Calibri"/>
                <a:cs typeface="Calibri"/>
              </a:rPr>
              <a:t>determine</a:t>
            </a:r>
            <a:r>
              <a:rPr sz="1700" dirty="0">
                <a:latin typeface="Calibri"/>
                <a:cs typeface="Calibri"/>
              </a:rPr>
              <a:t> </a:t>
            </a:r>
            <a:r>
              <a:rPr sz="1700" spc="-10" dirty="0">
                <a:latin typeface="Calibri"/>
                <a:cs typeface="Calibri"/>
              </a:rPr>
              <a:t>the </a:t>
            </a:r>
            <a:r>
              <a:rPr sz="1700" spc="-370" dirty="0">
                <a:latin typeface="Calibri"/>
                <a:cs typeface="Calibri"/>
              </a:rPr>
              <a:t> </a:t>
            </a:r>
            <a:r>
              <a:rPr sz="1700" spc="-5" dirty="0">
                <a:latin typeface="Calibri"/>
                <a:cs typeface="Calibri"/>
              </a:rPr>
              <a:t>splitting</a:t>
            </a:r>
            <a:r>
              <a:rPr sz="1700" spc="-15" dirty="0">
                <a:latin typeface="Calibri"/>
                <a:cs typeface="Calibri"/>
              </a:rPr>
              <a:t> </a:t>
            </a:r>
            <a:r>
              <a:rPr sz="1700" spc="-5" dirty="0">
                <a:latin typeface="Calibri"/>
                <a:cs typeface="Calibri"/>
              </a:rPr>
              <a:t>criterion</a:t>
            </a:r>
            <a:endParaRPr sz="1700" dirty="0">
              <a:latin typeface="Calibri"/>
              <a:cs typeface="Calibri"/>
            </a:endParaRPr>
          </a:p>
          <a:p>
            <a:pPr marL="355600" marR="5715" indent="-343535" algn="just">
              <a:lnSpc>
                <a:spcPct val="80000"/>
              </a:lnSpc>
              <a:spcBef>
                <a:spcPts val="409"/>
              </a:spcBef>
              <a:buFont typeface="Arial MT"/>
              <a:buChar char="•"/>
              <a:tabLst>
                <a:tab pos="356235" algn="l"/>
              </a:tabLst>
            </a:pPr>
            <a:r>
              <a:rPr sz="1700" spc="-5" dirty="0">
                <a:latin typeface="Calibri"/>
                <a:cs typeface="Calibri"/>
              </a:rPr>
              <a:t>The </a:t>
            </a:r>
            <a:r>
              <a:rPr sz="1700" spc="-10" dirty="0">
                <a:latin typeface="Calibri"/>
                <a:cs typeface="Calibri"/>
              </a:rPr>
              <a:t>splitting</a:t>
            </a:r>
            <a:r>
              <a:rPr sz="1700" spc="-5" dirty="0">
                <a:latin typeface="Calibri"/>
                <a:cs typeface="Calibri"/>
              </a:rPr>
              <a:t> criterion</a:t>
            </a:r>
            <a:r>
              <a:rPr sz="1700" dirty="0">
                <a:latin typeface="Calibri"/>
                <a:cs typeface="Calibri"/>
              </a:rPr>
              <a:t> </a:t>
            </a:r>
            <a:r>
              <a:rPr sz="1700" spc="-15" dirty="0">
                <a:latin typeface="Calibri"/>
                <a:cs typeface="Calibri"/>
              </a:rPr>
              <a:t>(like</a:t>
            </a:r>
            <a:r>
              <a:rPr sz="1700" spc="-10" dirty="0">
                <a:latin typeface="Calibri"/>
                <a:cs typeface="Calibri"/>
              </a:rPr>
              <a:t> </a:t>
            </a:r>
            <a:r>
              <a:rPr lang="en-IN" sz="1700" spc="-5" dirty="0">
                <a:latin typeface="Calibri"/>
                <a:cs typeface="Calibri"/>
              </a:rPr>
              <a:t>information gain</a:t>
            </a:r>
            <a:r>
              <a:rPr sz="1700" spc="-5" dirty="0">
                <a:latin typeface="Calibri"/>
                <a:cs typeface="Calibri"/>
              </a:rPr>
              <a:t>) tells </a:t>
            </a:r>
            <a:r>
              <a:rPr sz="1700" spc="-10" dirty="0">
                <a:latin typeface="Calibri"/>
                <a:cs typeface="Calibri"/>
              </a:rPr>
              <a:t>us </a:t>
            </a:r>
            <a:r>
              <a:rPr sz="1700" spc="-5" dirty="0">
                <a:latin typeface="Calibri"/>
                <a:cs typeface="Calibri"/>
              </a:rPr>
              <a:t> which</a:t>
            </a:r>
            <a:r>
              <a:rPr sz="1700" dirty="0">
                <a:latin typeface="Calibri"/>
                <a:cs typeface="Calibri"/>
              </a:rPr>
              <a:t> </a:t>
            </a:r>
            <a:r>
              <a:rPr sz="1700" spc="-10" dirty="0">
                <a:latin typeface="Calibri"/>
                <a:cs typeface="Calibri"/>
              </a:rPr>
              <a:t>attribute</a:t>
            </a:r>
            <a:r>
              <a:rPr sz="1700" spc="-5" dirty="0">
                <a:latin typeface="Calibri"/>
                <a:cs typeface="Calibri"/>
              </a:rPr>
              <a:t> to</a:t>
            </a:r>
            <a:r>
              <a:rPr sz="1700" dirty="0">
                <a:latin typeface="Calibri"/>
                <a:cs typeface="Calibri"/>
              </a:rPr>
              <a:t> </a:t>
            </a:r>
            <a:r>
              <a:rPr sz="1700" spc="-10" dirty="0">
                <a:latin typeface="Calibri"/>
                <a:cs typeface="Calibri"/>
              </a:rPr>
              <a:t>test</a:t>
            </a:r>
            <a:r>
              <a:rPr sz="1700" spc="-5" dirty="0">
                <a:latin typeface="Calibri"/>
                <a:cs typeface="Calibri"/>
              </a:rPr>
              <a:t> </a:t>
            </a:r>
            <a:r>
              <a:rPr sz="1700" spc="-10" dirty="0">
                <a:latin typeface="Calibri"/>
                <a:cs typeface="Calibri"/>
              </a:rPr>
              <a:t>at</a:t>
            </a:r>
            <a:r>
              <a:rPr sz="1700" spc="-5" dirty="0">
                <a:latin typeface="Calibri"/>
                <a:cs typeface="Calibri"/>
              </a:rPr>
              <a:t> node</a:t>
            </a:r>
            <a:r>
              <a:rPr sz="1700" dirty="0">
                <a:latin typeface="Calibri"/>
                <a:cs typeface="Calibri"/>
              </a:rPr>
              <a:t> N</a:t>
            </a:r>
            <a:r>
              <a:rPr sz="1700" spc="5" dirty="0">
                <a:latin typeface="Calibri"/>
                <a:cs typeface="Calibri"/>
              </a:rPr>
              <a:t> </a:t>
            </a:r>
            <a:r>
              <a:rPr sz="1700" spc="-10" dirty="0">
                <a:latin typeface="Calibri"/>
                <a:cs typeface="Calibri"/>
              </a:rPr>
              <a:t>by </a:t>
            </a:r>
            <a:r>
              <a:rPr sz="1700" spc="-5" dirty="0">
                <a:latin typeface="Calibri"/>
                <a:cs typeface="Calibri"/>
              </a:rPr>
              <a:t> determining the </a:t>
            </a:r>
            <a:r>
              <a:rPr sz="1700" spc="5" dirty="0">
                <a:latin typeface="Calibri"/>
                <a:cs typeface="Calibri"/>
              </a:rPr>
              <a:t>“best” </a:t>
            </a:r>
            <a:r>
              <a:rPr sz="1700" spc="-20" dirty="0">
                <a:latin typeface="Calibri"/>
                <a:cs typeface="Calibri"/>
              </a:rPr>
              <a:t>way</a:t>
            </a:r>
            <a:r>
              <a:rPr sz="1700" spc="340" dirty="0">
                <a:latin typeface="Calibri"/>
                <a:cs typeface="Calibri"/>
              </a:rPr>
              <a:t> </a:t>
            </a:r>
            <a:r>
              <a:rPr sz="1700" spc="-5" dirty="0">
                <a:latin typeface="Calibri"/>
                <a:cs typeface="Calibri"/>
              </a:rPr>
              <a:t>to </a:t>
            </a:r>
            <a:r>
              <a:rPr sz="1700" spc="-15" dirty="0">
                <a:latin typeface="Calibri"/>
                <a:cs typeface="Calibri"/>
              </a:rPr>
              <a:t>separate </a:t>
            </a:r>
            <a:r>
              <a:rPr sz="1700" spc="-10" dirty="0">
                <a:latin typeface="Calibri"/>
                <a:cs typeface="Calibri"/>
              </a:rPr>
              <a:t> </a:t>
            </a:r>
            <a:r>
              <a:rPr sz="1700" dirty="0">
                <a:latin typeface="Calibri"/>
                <a:cs typeface="Calibri"/>
              </a:rPr>
              <a:t>or </a:t>
            </a:r>
            <a:r>
              <a:rPr sz="1700" spc="-5" dirty="0">
                <a:latin typeface="Calibri"/>
                <a:cs typeface="Calibri"/>
              </a:rPr>
              <a:t>partition the tuples in </a:t>
            </a:r>
            <a:r>
              <a:rPr sz="1700" dirty="0">
                <a:latin typeface="Calibri"/>
                <a:cs typeface="Calibri"/>
              </a:rPr>
              <a:t>D </a:t>
            </a:r>
            <a:r>
              <a:rPr sz="1700" spc="-5" dirty="0">
                <a:latin typeface="Calibri"/>
                <a:cs typeface="Calibri"/>
              </a:rPr>
              <a:t>into </a:t>
            </a:r>
            <a:r>
              <a:rPr sz="1700" spc="-10" dirty="0">
                <a:latin typeface="Calibri"/>
                <a:cs typeface="Calibri"/>
              </a:rPr>
              <a:t>individual </a:t>
            </a:r>
            <a:r>
              <a:rPr sz="1700" spc="-5" dirty="0">
                <a:latin typeface="Calibri"/>
                <a:cs typeface="Calibri"/>
              </a:rPr>
              <a:t> </a:t>
            </a:r>
            <a:r>
              <a:rPr sz="1700" dirty="0">
                <a:latin typeface="Calibri"/>
                <a:cs typeface="Calibri"/>
              </a:rPr>
              <a:t>classes</a:t>
            </a:r>
            <a:r>
              <a:rPr sz="1700" spc="-35" dirty="0">
                <a:latin typeface="Calibri"/>
                <a:cs typeface="Calibri"/>
              </a:rPr>
              <a:t> </a:t>
            </a:r>
            <a:r>
              <a:rPr sz="1700" spc="-10" dirty="0">
                <a:latin typeface="Calibri"/>
                <a:cs typeface="Calibri"/>
              </a:rPr>
              <a:t>(step </a:t>
            </a:r>
            <a:r>
              <a:rPr sz="1700" dirty="0">
                <a:latin typeface="Calibri"/>
                <a:cs typeface="Calibri"/>
              </a:rPr>
              <a:t>6)</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23</a:t>
            </a:fld>
            <a:endParaRPr dirty="0"/>
          </a:p>
        </p:txBody>
      </p:sp>
      <p:pic>
        <p:nvPicPr>
          <p:cNvPr id="6" name="object 5">
            <a:extLst>
              <a:ext uri="{FF2B5EF4-FFF2-40B4-BE49-F238E27FC236}">
                <a16:creationId xmlns:a16="http://schemas.microsoft.com/office/drawing/2014/main" id="{08AC64DB-40BA-4C28-A5D2-4944FA67E982}"/>
              </a:ext>
            </a:extLst>
          </p:cNvPr>
          <p:cNvPicPr/>
          <p:nvPr/>
        </p:nvPicPr>
        <p:blipFill>
          <a:blip r:embed="rId2" cstate="print"/>
          <a:stretch>
            <a:fillRect/>
          </a:stretch>
        </p:blipFill>
        <p:spPr>
          <a:xfrm>
            <a:off x="4836117" y="1284116"/>
            <a:ext cx="3960005" cy="3124068"/>
          </a:xfrm>
          <a:prstGeom prst="rect">
            <a:avLst/>
          </a:prstGeom>
        </p:spPr>
      </p:pic>
      <p:graphicFrame>
        <p:nvGraphicFramePr>
          <p:cNvPr id="7" name="Table 7">
            <a:extLst>
              <a:ext uri="{FF2B5EF4-FFF2-40B4-BE49-F238E27FC236}">
                <a16:creationId xmlns:a16="http://schemas.microsoft.com/office/drawing/2014/main" id="{D5488ECC-40E0-4076-8910-F67213FA8445}"/>
              </a:ext>
            </a:extLst>
          </p:cNvPr>
          <p:cNvGraphicFramePr>
            <a:graphicFrameLocks noGrp="1"/>
          </p:cNvGraphicFramePr>
          <p:nvPr>
            <p:extLst>
              <p:ext uri="{D42A27DB-BD31-4B8C-83A1-F6EECF244321}">
                <p14:modId xmlns:p14="http://schemas.microsoft.com/office/powerpoint/2010/main" val="699311419"/>
              </p:ext>
            </p:extLst>
          </p:nvPr>
        </p:nvGraphicFramePr>
        <p:xfrm>
          <a:off x="5867400" y="807226"/>
          <a:ext cx="1598414" cy="344551"/>
        </p:xfrm>
        <a:graphic>
          <a:graphicData uri="http://schemas.openxmlformats.org/drawingml/2006/table">
            <a:tbl>
              <a:tblPr firstRow="1" bandRow="1">
                <a:tableStyleId>{5C22544A-7EE6-4342-B048-85BDC9FD1C3A}</a:tableStyleId>
              </a:tblPr>
              <a:tblGrid>
                <a:gridCol w="1598414">
                  <a:extLst>
                    <a:ext uri="{9D8B030D-6E8A-4147-A177-3AD203B41FA5}">
                      <a16:colId xmlns:a16="http://schemas.microsoft.com/office/drawing/2014/main" val="1354363032"/>
                    </a:ext>
                  </a:extLst>
                </a:gridCol>
              </a:tblGrid>
              <a:tr h="344551">
                <a:tc>
                  <a:txBody>
                    <a:bodyPr/>
                    <a:lstStyle/>
                    <a:p>
                      <a:pPr algn="ctr"/>
                      <a:r>
                        <a:rPr lang="en-US" sz="1600" dirty="0"/>
                        <a:t>Training data (D)</a:t>
                      </a:r>
                      <a:endParaRPr lang="en-IN" sz="1600" dirty="0"/>
                    </a:p>
                  </a:txBody>
                  <a:tcPr/>
                </a:tc>
                <a:extLst>
                  <a:ext uri="{0D108BD9-81ED-4DB2-BD59-A6C34878D82A}">
                    <a16:rowId xmlns:a16="http://schemas.microsoft.com/office/drawing/2014/main" val="110647204"/>
                  </a:ext>
                </a:extLst>
              </a:tr>
            </a:tbl>
          </a:graphicData>
        </a:graphic>
      </p:graphicFrame>
      <p:sp>
        <p:nvSpPr>
          <p:cNvPr id="8" name="Rectangle: Rounded Corners 7">
            <a:extLst>
              <a:ext uri="{FF2B5EF4-FFF2-40B4-BE49-F238E27FC236}">
                <a16:creationId xmlns:a16="http://schemas.microsoft.com/office/drawing/2014/main" id="{34FF57AC-BD58-4B45-BAE4-0ECD863DC45B}"/>
              </a:ext>
            </a:extLst>
          </p:cNvPr>
          <p:cNvSpPr/>
          <p:nvPr/>
        </p:nvSpPr>
        <p:spPr>
          <a:xfrm>
            <a:off x="6477000" y="1160399"/>
            <a:ext cx="533400" cy="3445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
            </a:r>
            <a:endParaRPr lang="en-IN" dirty="0"/>
          </a:p>
        </p:txBody>
      </p:sp>
    </p:spTree>
    <p:extLst>
      <p:ext uri="{BB962C8B-B14F-4D97-AF65-F5344CB8AC3E}">
        <p14:creationId xmlns:p14="http://schemas.microsoft.com/office/powerpoint/2010/main" val="12932556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0348" y="385953"/>
            <a:ext cx="5083175" cy="452120"/>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Calibri"/>
                <a:cs typeface="Calibri"/>
              </a:rPr>
              <a:t>Decision</a:t>
            </a:r>
            <a:r>
              <a:rPr sz="2800" b="1" dirty="0">
                <a:latin typeface="Calibri"/>
                <a:cs typeface="Calibri"/>
              </a:rPr>
              <a:t> </a:t>
            </a:r>
            <a:r>
              <a:rPr sz="2800" b="1" spc="-50" dirty="0">
                <a:latin typeface="Calibri"/>
                <a:cs typeface="Calibri"/>
              </a:rPr>
              <a:t>Tree</a:t>
            </a:r>
            <a:r>
              <a:rPr sz="2800" b="1" spc="50" dirty="0">
                <a:latin typeface="Calibri"/>
                <a:cs typeface="Calibri"/>
              </a:rPr>
              <a:t> </a:t>
            </a:r>
            <a:r>
              <a:rPr sz="2800" b="1" spc="-10" dirty="0">
                <a:latin typeface="Calibri"/>
                <a:cs typeface="Calibri"/>
              </a:rPr>
              <a:t>Method</a:t>
            </a:r>
            <a:r>
              <a:rPr sz="2800" b="1" spc="15" dirty="0">
                <a:latin typeface="Calibri"/>
                <a:cs typeface="Calibri"/>
              </a:rPr>
              <a:t> </a:t>
            </a:r>
            <a:r>
              <a:rPr sz="2800" b="1" spc="-5" dirty="0">
                <a:latin typeface="Calibri"/>
                <a:cs typeface="Calibri"/>
              </a:rPr>
              <a:t>-</a:t>
            </a:r>
            <a:r>
              <a:rPr sz="2800" b="1" spc="10" dirty="0">
                <a:latin typeface="Calibri"/>
                <a:cs typeface="Calibri"/>
              </a:rPr>
              <a:t> </a:t>
            </a:r>
            <a:r>
              <a:rPr sz="2800" b="1" spc="-15" dirty="0">
                <a:latin typeface="Calibri"/>
                <a:cs typeface="Calibri"/>
              </a:rPr>
              <a:t>Step</a:t>
            </a:r>
            <a:r>
              <a:rPr sz="2800" b="1" spc="-5" dirty="0">
                <a:latin typeface="Calibri"/>
                <a:cs typeface="Calibri"/>
              </a:rPr>
              <a:t> 7</a:t>
            </a:r>
            <a:r>
              <a:rPr sz="2800" b="1" spc="15" dirty="0">
                <a:latin typeface="Calibri"/>
                <a:cs typeface="Calibri"/>
              </a:rPr>
              <a:t> </a:t>
            </a:r>
            <a:r>
              <a:rPr sz="2800" b="1" spc="-5" dirty="0">
                <a:latin typeface="Calibri"/>
                <a:cs typeface="Calibri"/>
              </a:rPr>
              <a:t>-</a:t>
            </a:r>
            <a:r>
              <a:rPr sz="2800" b="1" spc="10" dirty="0">
                <a:latin typeface="Calibri"/>
                <a:cs typeface="Calibri"/>
              </a:rPr>
              <a:t> </a:t>
            </a:r>
            <a:r>
              <a:rPr sz="2800" b="1" spc="-10" dirty="0">
                <a:latin typeface="Calibri"/>
                <a:cs typeface="Calibri"/>
              </a:rPr>
              <a:t>11</a:t>
            </a:r>
            <a:endParaRPr sz="2800">
              <a:latin typeface="Calibri"/>
              <a:cs typeface="Calibri"/>
            </a:endParaRPr>
          </a:p>
        </p:txBody>
      </p:sp>
      <p:sp>
        <p:nvSpPr>
          <p:cNvPr id="3" name="object 3"/>
          <p:cNvSpPr txBox="1"/>
          <p:nvPr/>
        </p:nvSpPr>
        <p:spPr>
          <a:xfrm>
            <a:off x="318008" y="926718"/>
            <a:ext cx="3983990" cy="3195955"/>
          </a:xfrm>
          <a:prstGeom prst="rect">
            <a:avLst/>
          </a:prstGeom>
        </p:spPr>
        <p:txBody>
          <a:bodyPr vert="horz" wrap="square" lIns="0" tIns="58419" rIns="0" bIns="0" rtlCol="0">
            <a:spAutoFit/>
          </a:bodyPr>
          <a:lstStyle/>
          <a:p>
            <a:pPr marL="355600" marR="6985" indent="-342900" algn="just">
              <a:lnSpc>
                <a:spcPts val="1540"/>
              </a:lnSpc>
              <a:spcBef>
                <a:spcPts val="459"/>
              </a:spcBef>
              <a:buFont typeface="Arial MT"/>
              <a:buChar char="•"/>
              <a:tabLst>
                <a:tab pos="355600" algn="l"/>
              </a:tabLst>
            </a:pPr>
            <a:r>
              <a:rPr sz="1600" spc="-5" dirty="0">
                <a:latin typeface="Calibri"/>
                <a:cs typeface="Calibri"/>
              </a:rPr>
              <a:t>The </a:t>
            </a:r>
            <a:r>
              <a:rPr sz="1600" spc="-10" dirty="0">
                <a:latin typeface="Calibri"/>
                <a:cs typeface="Calibri"/>
              </a:rPr>
              <a:t>splitting </a:t>
            </a:r>
            <a:r>
              <a:rPr sz="1600" spc="-5" dirty="0">
                <a:latin typeface="Calibri"/>
                <a:cs typeface="Calibri"/>
              </a:rPr>
              <a:t>criterion </a:t>
            </a:r>
            <a:r>
              <a:rPr sz="1600" spc="-10" dirty="0">
                <a:latin typeface="Calibri"/>
                <a:cs typeface="Calibri"/>
              </a:rPr>
              <a:t>indicates </a:t>
            </a:r>
            <a:r>
              <a:rPr sz="1600" spc="-5" dirty="0">
                <a:latin typeface="Calibri"/>
                <a:cs typeface="Calibri"/>
              </a:rPr>
              <a:t>the </a:t>
            </a:r>
            <a:r>
              <a:rPr sz="1600" spc="-10" dirty="0">
                <a:latin typeface="Calibri"/>
                <a:cs typeface="Calibri"/>
              </a:rPr>
              <a:t>splitting </a:t>
            </a:r>
            <a:r>
              <a:rPr sz="1600" spc="-5" dirty="0">
                <a:latin typeface="Calibri"/>
                <a:cs typeface="Calibri"/>
              </a:rPr>
              <a:t> </a:t>
            </a:r>
            <a:r>
              <a:rPr sz="1600" spc="-10" dirty="0">
                <a:latin typeface="Calibri"/>
                <a:cs typeface="Calibri"/>
              </a:rPr>
              <a:t>attribute</a:t>
            </a:r>
            <a:r>
              <a:rPr sz="1600" spc="-5" dirty="0">
                <a:latin typeface="Calibri"/>
                <a:cs typeface="Calibri"/>
              </a:rPr>
              <a:t> and</a:t>
            </a:r>
            <a:r>
              <a:rPr sz="1600" dirty="0">
                <a:latin typeface="Calibri"/>
                <a:cs typeface="Calibri"/>
              </a:rPr>
              <a:t> </a:t>
            </a:r>
            <a:r>
              <a:rPr sz="1600" spc="-15" dirty="0">
                <a:latin typeface="Calibri"/>
                <a:cs typeface="Calibri"/>
              </a:rPr>
              <a:t>may</a:t>
            </a:r>
            <a:r>
              <a:rPr sz="1600" spc="-10" dirty="0">
                <a:latin typeface="Calibri"/>
                <a:cs typeface="Calibri"/>
              </a:rPr>
              <a:t> </a:t>
            </a:r>
            <a:r>
              <a:rPr sz="1600" spc="-5" dirty="0">
                <a:latin typeface="Calibri"/>
                <a:cs typeface="Calibri"/>
              </a:rPr>
              <a:t>also</a:t>
            </a:r>
            <a:r>
              <a:rPr sz="1600" dirty="0">
                <a:latin typeface="Calibri"/>
                <a:cs typeface="Calibri"/>
              </a:rPr>
              <a:t> </a:t>
            </a:r>
            <a:r>
              <a:rPr sz="1600" spc="-15" dirty="0">
                <a:latin typeface="Calibri"/>
                <a:cs typeface="Calibri"/>
              </a:rPr>
              <a:t>indicate</a:t>
            </a:r>
            <a:r>
              <a:rPr sz="1600" spc="-10" dirty="0">
                <a:latin typeface="Calibri"/>
                <a:cs typeface="Calibri"/>
              </a:rPr>
              <a:t> </a:t>
            </a:r>
            <a:r>
              <a:rPr sz="1600" spc="-5" dirty="0">
                <a:latin typeface="Calibri"/>
                <a:cs typeface="Calibri"/>
              </a:rPr>
              <a:t>either</a:t>
            </a:r>
            <a:r>
              <a:rPr sz="1600" dirty="0">
                <a:latin typeface="Calibri"/>
                <a:cs typeface="Calibri"/>
              </a:rPr>
              <a:t> </a:t>
            </a:r>
            <a:r>
              <a:rPr sz="1600" spc="-5" dirty="0">
                <a:latin typeface="Calibri"/>
                <a:cs typeface="Calibri"/>
              </a:rPr>
              <a:t>a </a:t>
            </a:r>
            <a:r>
              <a:rPr sz="1600" dirty="0">
                <a:latin typeface="Calibri"/>
                <a:cs typeface="Calibri"/>
              </a:rPr>
              <a:t> </a:t>
            </a:r>
            <a:r>
              <a:rPr sz="1600" spc="-5" dirty="0">
                <a:latin typeface="Calibri"/>
                <a:cs typeface="Calibri"/>
              </a:rPr>
              <a:t>split-point</a:t>
            </a:r>
            <a:r>
              <a:rPr sz="1600" spc="-35" dirty="0">
                <a:latin typeface="Calibri"/>
                <a:cs typeface="Calibri"/>
              </a:rPr>
              <a:t> </a:t>
            </a:r>
            <a:r>
              <a:rPr sz="1600" spc="-5" dirty="0">
                <a:latin typeface="Calibri"/>
                <a:cs typeface="Calibri"/>
              </a:rPr>
              <a:t>or</a:t>
            </a:r>
            <a:r>
              <a:rPr sz="1600" spc="15" dirty="0">
                <a:latin typeface="Calibri"/>
                <a:cs typeface="Calibri"/>
              </a:rPr>
              <a:t> </a:t>
            </a:r>
            <a:r>
              <a:rPr sz="1600" spc="-5" dirty="0">
                <a:latin typeface="Calibri"/>
                <a:cs typeface="Calibri"/>
              </a:rPr>
              <a:t>a</a:t>
            </a:r>
            <a:r>
              <a:rPr sz="1600" dirty="0">
                <a:latin typeface="Calibri"/>
                <a:cs typeface="Calibri"/>
              </a:rPr>
              <a:t> </a:t>
            </a:r>
            <a:r>
              <a:rPr sz="1600" spc="-10" dirty="0">
                <a:latin typeface="Calibri"/>
                <a:cs typeface="Calibri"/>
              </a:rPr>
              <a:t>splitting</a:t>
            </a:r>
            <a:r>
              <a:rPr sz="1600" spc="-35" dirty="0">
                <a:latin typeface="Calibri"/>
                <a:cs typeface="Calibri"/>
              </a:rPr>
              <a:t> </a:t>
            </a:r>
            <a:r>
              <a:rPr sz="1600" spc="-10" dirty="0">
                <a:latin typeface="Calibri"/>
                <a:cs typeface="Calibri"/>
              </a:rPr>
              <a:t>subset</a:t>
            </a:r>
            <a:endParaRPr sz="1600" dirty="0">
              <a:latin typeface="Calibri"/>
              <a:cs typeface="Calibri"/>
            </a:endParaRPr>
          </a:p>
          <a:p>
            <a:pPr marL="355600" marR="5080" indent="-342900" algn="just">
              <a:lnSpc>
                <a:spcPct val="80000"/>
              </a:lnSpc>
              <a:spcBef>
                <a:spcPts val="390"/>
              </a:spcBef>
              <a:buFont typeface="Arial MT"/>
              <a:buChar char="•"/>
              <a:tabLst>
                <a:tab pos="355600" algn="l"/>
              </a:tabLst>
            </a:pPr>
            <a:r>
              <a:rPr sz="1600" spc="-5" dirty="0">
                <a:latin typeface="Calibri"/>
                <a:cs typeface="Calibri"/>
              </a:rPr>
              <a:t>The</a:t>
            </a:r>
            <a:r>
              <a:rPr sz="1600" dirty="0">
                <a:latin typeface="Calibri"/>
                <a:cs typeface="Calibri"/>
              </a:rPr>
              <a:t> </a:t>
            </a:r>
            <a:r>
              <a:rPr sz="1600" spc="-10" dirty="0">
                <a:latin typeface="Calibri"/>
                <a:cs typeface="Calibri"/>
              </a:rPr>
              <a:t>splitting</a:t>
            </a:r>
            <a:r>
              <a:rPr sz="1600" spc="-5" dirty="0">
                <a:latin typeface="Calibri"/>
                <a:cs typeface="Calibri"/>
              </a:rPr>
              <a:t> </a:t>
            </a:r>
            <a:r>
              <a:rPr sz="1600" spc="-10" dirty="0">
                <a:latin typeface="Calibri"/>
                <a:cs typeface="Calibri"/>
              </a:rPr>
              <a:t>criterion</a:t>
            </a:r>
            <a:r>
              <a:rPr sz="1600" spc="-5" dirty="0">
                <a:latin typeface="Calibri"/>
                <a:cs typeface="Calibri"/>
              </a:rPr>
              <a:t> </a:t>
            </a:r>
            <a:r>
              <a:rPr sz="1600" dirty="0">
                <a:latin typeface="Calibri"/>
                <a:cs typeface="Calibri"/>
              </a:rPr>
              <a:t>is</a:t>
            </a:r>
            <a:r>
              <a:rPr sz="1600" spc="360" dirty="0">
                <a:latin typeface="Calibri"/>
                <a:cs typeface="Calibri"/>
              </a:rPr>
              <a:t> </a:t>
            </a:r>
            <a:r>
              <a:rPr sz="1600" spc="-5" dirty="0">
                <a:latin typeface="Calibri"/>
                <a:cs typeface="Calibri"/>
              </a:rPr>
              <a:t>determined</a:t>
            </a:r>
            <a:r>
              <a:rPr sz="1600" spc="355" dirty="0">
                <a:latin typeface="Calibri"/>
                <a:cs typeface="Calibri"/>
              </a:rPr>
              <a:t> </a:t>
            </a:r>
            <a:r>
              <a:rPr sz="1600" spc="5" dirty="0">
                <a:latin typeface="Calibri"/>
                <a:cs typeface="Calibri"/>
              </a:rPr>
              <a:t>so </a:t>
            </a:r>
            <a:r>
              <a:rPr sz="1600" spc="10" dirty="0">
                <a:latin typeface="Calibri"/>
                <a:cs typeface="Calibri"/>
              </a:rPr>
              <a:t> </a:t>
            </a:r>
            <a:r>
              <a:rPr sz="1600" spc="-5" dirty="0">
                <a:latin typeface="Calibri"/>
                <a:cs typeface="Calibri"/>
              </a:rPr>
              <a:t>that, </a:t>
            </a:r>
            <a:r>
              <a:rPr sz="1600" spc="-25" dirty="0">
                <a:latin typeface="Calibri"/>
                <a:cs typeface="Calibri"/>
              </a:rPr>
              <a:t>ideally, </a:t>
            </a:r>
            <a:r>
              <a:rPr sz="1600" spc="-5" dirty="0">
                <a:latin typeface="Calibri"/>
                <a:cs typeface="Calibri"/>
              </a:rPr>
              <a:t>the resulting partitions </a:t>
            </a:r>
            <a:r>
              <a:rPr sz="1600" spc="-10" dirty="0">
                <a:latin typeface="Calibri"/>
                <a:cs typeface="Calibri"/>
              </a:rPr>
              <a:t>at </a:t>
            </a:r>
            <a:r>
              <a:rPr sz="1600" spc="-5" dirty="0">
                <a:latin typeface="Calibri"/>
                <a:cs typeface="Calibri"/>
              </a:rPr>
              <a:t>each </a:t>
            </a:r>
            <a:r>
              <a:rPr sz="1600" dirty="0">
                <a:latin typeface="Calibri"/>
                <a:cs typeface="Calibri"/>
              </a:rPr>
              <a:t> </a:t>
            </a:r>
            <a:r>
              <a:rPr sz="1600" spc="-10" dirty="0">
                <a:latin typeface="Calibri"/>
                <a:cs typeface="Calibri"/>
              </a:rPr>
              <a:t>branch</a:t>
            </a:r>
            <a:r>
              <a:rPr sz="1600" spc="-5" dirty="0">
                <a:latin typeface="Calibri"/>
                <a:cs typeface="Calibri"/>
              </a:rPr>
              <a:t> </a:t>
            </a:r>
            <a:r>
              <a:rPr sz="1600" spc="-10" dirty="0">
                <a:latin typeface="Calibri"/>
                <a:cs typeface="Calibri"/>
              </a:rPr>
              <a:t>are</a:t>
            </a:r>
            <a:r>
              <a:rPr sz="1600" spc="-5" dirty="0">
                <a:latin typeface="Calibri"/>
                <a:cs typeface="Calibri"/>
              </a:rPr>
              <a:t> as</a:t>
            </a:r>
            <a:r>
              <a:rPr sz="1600" dirty="0">
                <a:latin typeface="Calibri"/>
                <a:cs typeface="Calibri"/>
              </a:rPr>
              <a:t> </a:t>
            </a:r>
            <a:r>
              <a:rPr sz="1600" spc="-10" dirty="0">
                <a:solidFill>
                  <a:srgbClr val="FF0000"/>
                </a:solidFill>
                <a:latin typeface="Calibri"/>
                <a:cs typeface="Calibri"/>
              </a:rPr>
              <a:t>“pure”</a:t>
            </a:r>
            <a:r>
              <a:rPr sz="1600" spc="-5" dirty="0">
                <a:solidFill>
                  <a:srgbClr val="FF0000"/>
                </a:solidFill>
                <a:latin typeface="Calibri"/>
                <a:cs typeface="Calibri"/>
              </a:rPr>
              <a:t> as</a:t>
            </a:r>
            <a:r>
              <a:rPr sz="1600" spc="355" dirty="0">
                <a:solidFill>
                  <a:srgbClr val="FF0000"/>
                </a:solidFill>
                <a:latin typeface="Calibri"/>
                <a:cs typeface="Calibri"/>
              </a:rPr>
              <a:t> </a:t>
            </a:r>
            <a:r>
              <a:rPr sz="1600" spc="-5" dirty="0">
                <a:solidFill>
                  <a:srgbClr val="FF0000"/>
                </a:solidFill>
                <a:latin typeface="Calibri"/>
                <a:cs typeface="Calibri"/>
              </a:rPr>
              <a:t>possible.</a:t>
            </a:r>
            <a:r>
              <a:rPr sz="1600" spc="355" dirty="0">
                <a:solidFill>
                  <a:srgbClr val="FF0000"/>
                </a:solidFill>
                <a:latin typeface="Calibri"/>
                <a:cs typeface="Calibri"/>
              </a:rPr>
              <a:t> </a:t>
            </a:r>
            <a:r>
              <a:rPr sz="1600" spc="-5" dirty="0">
                <a:latin typeface="Calibri"/>
                <a:cs typeface="Calibri"/>
              </a:rPr>
              <a:t>A </a:t>
            </a:r>
            <a:r>
              <a:rPr sz="1600" dirty="0">
                <a:latin typeface="Calibri"/>
                <a:cs typeface="Calibri"/>
              </a:rPr>
              <a:t> </a:t>
            </a:r>
            <a:r>
              <a:rPr sz="1600" spc="-5" dirty="0">
                <a:latin typeface="Calibri"/>
                <a:cs typeface="Calibri"/>
              </a:rPr>
              <a:t>partition</a:t>
            </a:r>
            <a:r>
              <a:rPr sz="1600" dirty="0">
                <a:latin typeface="Calibri"/>
                <a:cs typeface="Calibri"/>
              </a:rPr>
              <a:t> is</a:t>
            </a:r>
            <a:r>
              <a:rPr sz="1600" spc="5" dirty="0">
                <a:latin typeface="Calibri"/>
                <a:cs typeface="Calibri"/>
              </a:rPr>
              <a:t> </a:t>
            </a:r>
            <a:r>
              <a:rPr sz="1600" spc="-15" dirty="0">
                <a:latin typeface="Calibri"/>
                <a:cs typeface="Calibri"/>
              </a:rPr>
              <a:t>pure</a:t>
            </a:r>
            <a:r>
              <a:rPr sz="1600" spc="-10" dirty="0">
                <a:latin typeface="Calibri"/>
                <a:cs typeface="Calibri"/>
              </a:rPr>
              <a:t> </a:t>
            </a:r>
            <a:r>
              <a:rPr sz="1600" dirty="0">
                <a:latin typeface="Calibri"/>
                <a:cs typeface="Calibri"/>
              </a:rPr>
              <a:t>if</a:t>
            </a:r>
            <a:r>
              <a:rPr sz="1600" spc="5" dirty="0">
                <a:latin typeface="Calibri"/>
                <a:cs typeface="Calibri"/>
              </a:rPr>
              <a:t> </a:t>
            </a:r>
            <a:r>
              <a:rPr sz="1600" spc="-10" dirty="0">
                <a:latin typeface="Calibri"/>
                <a:cs typeface="Calibri"/>
              </a:rPr>
              <a:t>all</a:t>
            </a:r>
            <a:r>
              <a:rPr sz="1600" spc="-5" dirty="0">
                <a:latin typeface="Calibri"/>
                <a:cs typeface="Calibri"/>
              </a:rPr>
              <a:t> of</a:t>
            </a:r>
            <a:r>
              <a:rPr sz="1600" dirty="0">
                <a:latin typeface="Calibri"/>
                <a:cs typeface="Calibri"/>
              </a:rPr>
              <a:t> </a:t>
            </a:r>
            <a:r>
              <a:rPr sz="1600" spc="-5" dirty="0">
                <a:latin typeface="Calibri"/>
                <a:cs typeface="Calibri"/>
              </a:rPr>
              <a:t>the</a:t>
            </a:r>
            <a:r>
              <a:rPr sz="1600" dirty="0">
                <a:latin typeface="Calibri"/>
                <a:cs typeface="Calibri"/>
              </a:rPr>
              <a:t> </a:t>
            </a:r>
            <a:r>
              <a:rPr sz="1600" spc="-5" dirty="0">
                <a:latin typeface="Calibri"/>
                <a:cs typeface="Calibri"/>
              </a:rPr>
              <a:t>tuples</a:t>
            </a:r>
            <a:r>
              <a:rPr sz="1600" dirty="0">
                <a:latin typeface="Calibri"/>
                <a:cs typeface="Calibri"/>
              </a:rPr>
              <a:t> in</a:t>
            </a:r>
            <a:r>
              <a:rPr sz="1600" spc="5" dirty="0">
                <a:latin typeface="Calibri"/>
                <a:cs typeface="Calibri"/>
              </a:rPr>
              <a:t> </a:t>
            </a:r>
            <a:r>
              <a:rPr sz="1600" dirty="0">
                <a:latin typeface="Calibri"/>
                <a:cs typeface="Calibri"/>
              </a:rPr>
              <a:t>it </a:t>
            </a:r>
            <a:r>
              <a:rPr sz="1600" spc="5" dirty="0">
                <a:latin typeface="Calibri"/>
                <a:cs typeface="Calibri"/>
              </a:rPr>
              <a:t> </a:t>
            </a:r>
            <a:r>
              <a:rPr sz="1600" spc="-10" dirty="0">
                <a:latin typeface="Calibri"/>
                <a:cs typeface="Calibri"/>
              </a:rPr>
              <a:t>belong</a:t>
            </a:r>
            <a:r>
              <a:rPr sz="1600" dirty="0">
                <a:latin typeface="Calibri"/>
                <a:cs typeface="Calibri"/>
              </a:rPr>
              <a:t> </a:t>
            </a:r>
            <a:r>
              <a:rPr sz="1600" spc="-10" dirty="0">
                <a:latin typeface="Calibri"/>
                <a:cs typeface="Calibri"/>
              </a:rPr>
              <a:t>to</a:t>
            </a:r>
            <a:r>
              <a:rPr sz="1600" spc="10" dirty="0">
                <a:latin typeface="Calibri"/>
                <a:cs typeface="Calibri"/>
              </a:rPr>
              <a:t> </a:t>
            </a:r>
            <a:r>
              <a:rPr sz="1600" spc="-5" dirty="0">
                <a:latin typeface="Calibri"/>
                <a:cs typeface="Calibri"/>
              </a:rPr>
              <a:t>the</a:t>
            </a:r>
            <a:r>
              <a:rPr sz="1600" dirty="0">
                <a:latin typeface="Calibri"/>
                <a:cs typeface="Calibri"/>
              </a:rPr>
              <a:t> </a:t>
            </a:r>
            <a:r>
              <a:rPr sz="1600" spc="-10" dirty="0">
                <a:latin typeface="Calibri"/>
                <a:cs typeface="Calibri"/>
              </a:rPr>
              <a:t>same</a:t>
            </a:r>
            <a:r>
              <a:rPr sz="1600" spc="5" dirty="0">
                <a:latin typeface="Calibri"/>
                <a:cs typeface="Calibri"/>
              </a:rPr>
              <a:t> </a:t>
            </a:r>
            <a:r>
              <a:rPr sz="1600" spc="-5" dirty="0">
                <a:latin typeface="Calibri"/>
                <a:cs typeface="Calibri"/>
              </a:rPr>
              <a:t>class.</a:t>
            </a:r>
            <a:endParaRPr sz="1600" dirty="0">
              <a:latin typeface="Calibri"/>
              <a:cs typeface="Calibri"/>
            </a:endParaRPr>
          </a:p>
          <a:p>
            <a:pPr marL="355600" marR="6350" indent="-342900" algn="just">
              <a:lnSpc>
                <a:spcPct val="80100"/>
              </a:lnSpc>
              <a:spcBef>
                <a:spcPts val="384"/>
              </a:spcBef>
              <a:buFont typeface="Arial MT"/>
              <a:buChar char="•"/>
              <a:tabLst>
                <a:tab pos="355600" algn="l"/>
              </a:tabLst>
            </a:pPr>
            <a:r>
              <a:rPr sz="1600" spc="-5" dirty="0">
                <a:latin typeface="Calibri"/>
                <a:cs typeface="Calibri"/>
              </a:rPr>
              <a:t>The</a:t>
            </a:r>
            <a:r>
              <a:rPr sz="1600" dirty="0">
                <a:latin typeface="Calibri"/>
                <a:cs typeface="Calibri"/>
              </a:rPr>
              <a:t> </a:t>
            </a:r>
            <a:r>
              <a:rPr sz="1600" spc="-5" dirty="0">
                <a:latin typeface="Calibri"/>
                <a:cs typeface="Calibri"/>
              </a:rPr>
              <a:t>node</a:t>
            </a:r>
            <a:r>
              <a:rPr sz="1600" dirty="0">
                <a:latin typeface="Calibri"/>
                <a:cs typeface="Calibri"/>
              </a:rPr>
              <a:t> </a:t>
            </a:r>
            <a:r>
              <a:rPr sz="1600" spc="-5" dirty="0">
                <a:latin typeface="Calibri"/>
                <a:cs typeface="Calibri"/>
              </a:rPr>
              <a:t>N</a:t>
            </a:r>
            <a:r>
              <a:rPr sz="1600" dirty="0">
                <a:latin typeface="Calibri"/>
                <a:cs typeface="Calibri"/>
              </a:rPr>
              <a:t> is</a:t>
            </a:r>
            <a:r>
              <a:rPr sz="1600" spc="5" dirty="0">
                <a:latin typeface="Calibri"/>
                <a:cs typeface="Calibri"/>
              </a:rPr>
              <a:t> </a:t>
            </a:r>
            <a:r>
              <a:rPr sz="1600" spc="-5" dirty="0">
                <a:latin typeface="Calibri"/>
                <a:cs typeface="Calibri"/>
              </a:rPr>
              <a:t>labelled</a:t>
            </a:r>
            <a:r>
              <a:rPr sz="1600" dirty="0">
                <a:latin typeface="Calibri"/>
                <a:cs typeface="Calibri"/>
              </a:rPr>
              <a:t> with</a:t>
            </a:r>
            <a:r>
              <a:rPr sz="1600" spc="5" dirty="0">
                <a:latin typeface="Calibri"/>
                <a:cs typeface="Calibri"/>
              </a:rPr>
              <a:t> </a:t>
            </a:r>
            <a:r>
              <a:rPr sz="1600" spc="-5" dirty="0">
                <a:latin typeface="Calibri"/>
                <a:cs typeface="Calibri"/>
              </a:rPr>
              <a:t>the</a:t>
            </a:r>
            <a:r>
              <a:rPr sz="1600" dirty="0">
                <a:latin typeface="Calibri"/>
                <a:cs typeface="Calibri"/>
              </a:rPr>
              <a:t> </a:t>
            </a:r>
            <a:r>
              <a:rPr sz="1600" spc="-10" dirty="0">
                <a:latin typeface="Calibri"/>
                <a:cs typeface="Calibri"/>
              </a:rPr>
              <a:t>splitting </a:t>
            </a:r>
            <a:r>
              <a:rPr sz="1600" spc="-350" dirty="0">
                <a:latin typeface="Calibri"/>
                <a:cs typeface="Calibri"/>
              </a:rPr>
              <a:t> </a:t>
            </a:r>
            <a:r>
              <a:rPr sz="1600" spc="-10" dirty="0">
                <a:latin typeface="Calibri"/>
                <a:cs typeface="Calibri"/>
              </a:rPr>
              <a:t>criterion, </a:t>
            </a:r>
            <a:r>
              <a:rPr sz="1600" spc="-5" dirty="0">
                <a:latin typeface="Calibri"/>
                <a:cs typeface="Calibri"/>
              </a:rPr>
              <a:t>which serves as a </a:t>
            </a:r>
            <a:r>
              <a:rPr sz="1600" spc="-10" dirty="0">
                <a:latin typeface="Calibri"/>
                <a:cs typeface="Calibri"/>
              </a:rPr>
              <a:t>test at </a:t>
            </a:r>
            <a:r>
              <a:rPr sz="1600" spc="-5" dirty="0">
                <a:latin typeface="Calibri"/>
                <a:cs typeface="Calibri"/>
              </a:rPr>
              <a:t>the node </a:t>
            </a:r>
            <a:r>
              <a:rPr sz="1600" dirty="0">
                <a:latin typeface="Calibri"/>
                <a:cs typeface="Calibri"/>
              </a:rPr>
              <a:t> </a:t>
            </a:r>
            <a:r>
              <a:rPr sz="1600" spc="-10" dirty="0">
                <a:latin typeface="Calibri"/>
                <a:cs typeface="Calibri"/>
              </a:rPr>
              <a:t>(step </a:t>
            </a:r>
            <a:r>
              <a:rPr sz="1600" spc="-5" dirty="0">
                <a:latin typeface="Calibri"/>
                <a:cs typeface="Calibri"/>
              </a:rPr>
              <a:t>7).</a:t>
            </a:r>
            <a:endParaRPr sz="1600" dirty="0">
              <a:latin typeface="Calibri"/>
              <a:cs typeface="Calibri"/>
            </a:endParaRPr>
          </a:p>
          <a:p>
            <a:pPr marL="355600" marR="6985" indent="-342900" algn="just">
              <a:lnSpc>
                <a:spcPct val="80000"/>
              </a:lnSpc>
              <a:spcBef>
                <a:spcPts val="380"/>
              </a:spcBef>
              <a:buFont typeface="Arial MT"/>
              <a:buChar char="•"/>
              <a:tabLst>
                <a:tab pos="355600" algn="l"/>
              </a:tabLst>
            </a:pPr>
            <a:r>
              <a:rPr sz="1600" spc="-5" dirty="0">
                <a:latin typeface="Calibri"/>
                <a:cs typeface="Calibri"/>
              </a:rPr>
              <a:t>A </a:t>
            </a:r>
            <a:r>
              <a:rPr sz="1600" spc="-10" dirty="0">
                <a:latin typeface="Calibri"/>
                <a:cs typeface="Calibri"/>
              </a:rPr>
              <a:t>branch </a:t>
            </a:r>
            <a:r>
              <a:rPr sz="1600" dirty="0">
                <a:latin typeface="Calibri"/>
                <a:cs typeface="Calibri"/>
              </a:rPr>
              <a:t>is </a:t>
            </a:r>
            <a:r>
              <a:rPr sz="1600" spc="-10" dirty="0">
                <a:latin typeface="Calibri"/>
                <a:cs typeface="Calibri"/>
              </a:rPr>
              <a:t>grown from </a:t>
            </a:r>
            <a:r>
              <a:rPr sz="1600" spc="-5" dirty="0">
                <a:latin typeface="Calibri"/>
                <a:cs typeface="Calibri"/>
              </a:rPr>
              <a:t>node N </a:t>
            </a:r>
            <a:r>
              <a:rPr sz="1600" spc="-15" dirty="0">
                <a:latin typeface="Calibri"/>
                <a:cs typeface="Calibri"/>
              </a:rPr>
              <a:t>for </a:t>
            </a:r>
            <a:r>
              <a:rPr sz="1600" spc="-5" dirty="0">
                <a:latin typeface="Calibri"/>
                <a:cs typeface="Calibri"/>
              </a:rPr>
              <a:t>each </a:t>
            </a:r>
            <a:r>
              <a:rPr sz="1600" spc="-10" dirty="0">
                <a:latin typeface="Calibri"/>
                <a:cs typeface="Calibri"/>
              </a:rPr>
              <a:t>of </a:t>
            </a:r>
            <a:r>
              <a:rPr sz="1600" spc="-5" dirty="0">
                <a:latin typeface="Calibri"/>
                <a:cs typeface="Calibri"/>
              </a:rPr>
              <a:t> the </a:t>
            </a:r>
            <a:r>
              <a:rPr sz="1600" spc="-15" dirty="0">
                <a:latin typeface="Calibri"/>
                <a:cs typeface="Calibri"/>
              </a:rPr>
              <a:t>outcomes</a:t>
            </a:r>
            <a:r>
              <a:rPr sz="1600" spc="35" dirty="0">
                <a:latin typeface="Calibri"/>
                <a:cs typeface="Calibri"/>
              </a:rPr>
              <a:t> </a:t>
            </a:r>
            <a:r>
              <a:rPr sz="1600" spc="-5" dirty="0">
                <a:latin typeface="Calibri"/>
                <a:cs typeface="Calibri"/>
              </a:rPr>
              <a:t>of</a:t>
            </a:r>
            <a:r>
              <a:rPr sz="1600" spc="15" dirty="0">
                <a:latin typeface="Calibri"/>
                <a:cs typeface="Calibri"/>
              </a:rPr>
              <a:t> </a:t>
            </a:r>
            <a:r>
              <a:rPr sz="1600" spc="-5" dirty="0">
                <a:latin typeface="Calibri"/>
                <a:cs typeface="Calibri"/>
              </a:rPr>
              <a:t>the</a:t>
            </a:r>
            <a:r>
              <a:rPr sz="1600" spc="10" dirty="0">
                <a:latin typeface="Calibri"/>
                <a:cs typeface="Calibri"/>
              </a:rPr>
              <a:t> </a:t>
            </a:r>
            <a:r>
              <a:rPr sz="1600" spc="-10" dirty="0">
                <a:latin typeface="Calibri"/>
                <a:cs typeface="Calibri"/>
              </a:rPr>
              <a:t>splitting</a:t>
            </a:r>
            <a:r>
              <a:rPr sz="1600" spc="-35" dirty="0">
                <a:latin typeface="Calibri"/>
                <a:cs typeface="Calibri"/>
              </a:rPr>
              <a:t> </a:t>
            </a:r>
            <a:r>
              <a:rPr sz="1600" spc="-5" dirty="0">
                <a:latin typeface="Calibri"/>
                <a:cs typeface="Calibri"/>
              </a:rPr>
              <a:t>criterion.</a:t>
            </a:r>
            <a:endParaRPr sz="1600" dirty="0">
              <a:latin typeface="Calibri"/>
              <a:cs typeface="Calibri"/>
            </a:endParaRPr>
          </a:p>
          <a:p>
            <a:pPr marL="355600" indent="-342900" algn="just">
              <a:lnSpc>
                <a:spcPts val="1730"/>
              </a:lnSpc>
              <a:buFont typeface="Arial MT"/>
              <a:buChar char="•"/>
              <a:tabLst>
                <a:tab pos="355600" algn="l"/>
              </a:tabLst>
            </a:pPr>
            <a:r>
              <a:rPr sz="1600" spc="-5" dirty="0">
                <a:latin typeface="Calibri"/>
                <a:cs typeface="Calibri"/>
              </a:rPr>
              <a:t>The</a:t>
            </a:r>
            <a:r>
              <a:rPr sz="1600" spc="150" dirty="0">
                <a:latin typeface="Calibri"/>
                <a:cs typeface="Calibri"/>
              </a:rPr>
              <a:t> </a:t>
            </a:r>
            <a:r>
              <a:rPr sz="1600" spc="-5" dirty="0">
                <a:latin typeface="Calibri"/>
                <a:cs typeface="Calibri"/>
              </a:rPr>
              <a:t>tuples</a:t>
            </a:r>
            <a:r>
              <a:rPr sz="1600" spc="140" dirty="0">
                <a:latin typeface="Calibri"/>
                <a:cs typeface="Calibri"/>
              </a:rPr>
              <a:t> </a:t>
            </a:r>
            <a:r>
              <a:rPr sz="1600" dirty="0">
                <a:latin typeface="Calibri"/>
                <a:cs typeface="Calibri"/>
              </a:rPr>
              <a:t>in</a:t>
            </a:r>
            <a:r>
              <a:rPr sz="1600" spc="155" dirty="0">
                <a:latin typeface="Calibri"/>
                <a:cs typeface="Calibri"/>
              </a:rPr>
              <a:t> </a:t>
            </a:r>
            <a:r>
              <a:rPr sz="1600" spc="-5" dirty="0">
                <a:latin typeface="Calibri"/>
                <a:cs typeface="Calibri"/>
              </a:rPr>
              <a:t>D</a:t>
            </a:r>
            <a:r>
              <a:rPr sz="1600" spc="150" dirty="0">
                <a:latin typeface="Calibri"/>
                <a:cs typeface="Calibri"/>
              </a:rPr>
              <a:t> </a:t>
            </a:r>
            <a:r>
              <a:rPr sz="1600" spc="-15" dirty="0">
                <a:latin typeface="Calibri"/>
                <a:cs typeface="Calibri"/>
              </a:rPr>
              <a:t>are</a:t>
            </a:r>
            <a:r>
              <a:rPr sz="1600" spc="155" dirty="0">
                <a:latin typeface="Calibri"/>
                <a:cs typeface="Calibri"/>
              </a:rPr>
              <a:t> </a:t>
            </a:r>
            <a:r>
              <a:rPr sz="1600" spc="-5" dirty="0">
                <a:latin typeface="Calibri"/>
                <a:cs typeface="Calibri"/>
              </a:rPr>
              <a:t>partitioned</a:t>
            </a:r>
            <a:r>
              <a:rPr sz="1600" spc="165" dirty="0">
                <a:latin typeface="Calibri"/>
                <a:cs typeface="Calibri"/>
              </a:rPr>
              <a:t> </a:t>
            </a:r>
            <a:r>
              <a:rPr sz="1600" spc="-10" dirty="0">
                <a:latin typeface="Calibri"/>
                <a:cs typeface="Calibri"/>
              </a:rPr>
              <a:t>accordingly</a:t>
            </a:r>
            <a:endParaRPr sz="1600" dirty="0">
              <a:latin typeface="Calibri"/>
              <a:cs typeface="Calibri"/>
            </a:endParaRPr>
          </a:p>
          <a:p>
            <a:pPr marL="355600" algn="just">
              <a:lnSpc>
                <a:spcPts val="1730"/>
              </a:lnSpc>
            </a:pPr>
            <a:r>
              <a:rPr sz="1600" spc="-10" dirty="0">
                <a:latin typeface="Calibri"/>
                <a:cs typeface="Calibri"/>
              </a:rPr>
              <a:t>(steps</a:t>
            </a:r>
            <a:r>
              <a:rPr sz="1600" spc="-15" dirty="0">
                <a:latin typeface="Calibri"/>
                <a:cs typeface="Calibri"/>
              </a:rPr>
              <a:t> </a:t>
            </a:r>
            <a:r>
              <a:rPr sz="1600" spc="-5" dirty="0">
                <a:latin typeface="Calibri"/>
                <a:cs typeface="Calibri"/>
              </a:rPr>
              <a:t>10</a:t>
            </a:r>
            <a:r>
              <a:rPr sz="1600" spc="-10" dirty="0">
                <a:latin typeface="Calibri"/>
                <a:cs typeface="Calibri"/>
              </a:rPr>
              <a:t> to</a:t>
            </a:r>
            <a:r>
              <a:rPr sz="1600" spc="-15" dirty="0">
                <a:latin typeface="Calibri"/>
                <a:cs typeface="Calibri"/>
              </a:rPr>
              <a:t> </a:t>
            </a:r>
            <a:r>
              <a:rPr sz="1600" spc="-10" dirty="0">
                <a:latin typeface="Calibri"/>
                <a:cs typeface="Calibri"/>
              </a:rPr>
              <a:t>11)</a:t>
            </a:r>
            <a:endParaRPr sz="1600" dirty="0">
              <a:latin typeface="Calibri"/>
              <a:cs typeface="Calibri"/>
            </a:endParaRPr>
          </a:p>
        </p:txBody>
      </p:sp>
      <p:pic>
        <p:nvPicPr>
          <p:cNvPr id="4" name="object 4"/>
          <p:cNvPicPr/>
          <p:nvPr/>
        </p:nvPicPr>
        <p:blipFill>
          <a:blip r:embed="rId2" cstate="print"/>
          <a:stretch>
            <a:fillRect/>
          </a:stretch>
        </p:blipFill>
        <p:spPr>
          <a:xfrm>
            <a:off x="4700015" y="1307591"/>
            <a:ext cx="4226051" cy="2616707"/>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24</a:t>
            </a:fld>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C79E5-2EBA-40FB-8F74-32D8E9ACF383}"/>
              </a:ext>
            </a:extLst>
          </p:cNvPr>
          <p:cNvSpPr>
            <a:spLocks noGrp="1"/>
          </p:cNvSpPr>
          <p:nvPr>
            <p:ph type="title"/>
          </p:nvPr>
        </p:nvSpPr>
        <p:spPr>
          <a:xfrm>
            <a:off x="625151" y="438150"/>
            <a:ext cx="8534400" cy="509397"/>
          </a:xfrm>
        </p:spPr>
        <p:txBody>
          <a:bodyPr/>
          <a:lstStyle/>
          <a:p>
            <a:r>
              <a:rPr lang="en-US" dirty="0"/>
              <a:t>Decision Tree Method – termination condition</a:t>
            </a:r>
            <a:endParaRPr lang="en-IN" dirty="0"/>
          </a:p>
        </p:txBody>
      </p:sp>
      <p:sp>
        <p:nvSpPr>
          <p:cNvPr id="3" name="Text Placeholder 2">
            <a:extLst>
              <a:ext uri="{FF2B5EF4-FFF2-40B4-BE49-F238E27FC236}">
                <a16:creationId xmlns:a16="http://schemas.microsoft.com/office/drawing/2014/main" id="{6859C9ED-640D-4496-B436-61A63E2DAD2B}"/>
              </a:ext>
            </a:extLst>
          </p:cNvPr>
          <p:cNvSpPr>
            <a:spLocks noGrp="1"/>
          </p:cNvSpPr>
          <p:nvPr>
            <p:ph type="body" idx="1"/>
          </p:nvPr>
        </p:nvSpPr>
        <p:spPr>
          <a:xfrm>
            <a:off x="535940" y="1216913"/>
            <a:ext cx="8072119" cy="2215991"/>
          </a:xfrm>
        </p:spPr>
        <p:txBody>
          <a:bodyPr/>
          <a:lstStyle/>
          <a:p>
            <a:r>
              <a:rPr lang="en-US" dirty="0"/>
              <a:t>•  The algorithm uses the same process recursively to form a decision tree</a:t>
            </a:r>
          </a:p>
          <a:p>
            <a:r>
              <a:rPr lang="en-US" dirty="0"/>
              <a:t>for the tuples at each resulting partition, </a:t>
            </a:r>
            <a:r>
              <a:rPr lang="en-US" dirty="0" err="1"/>
              <a:t>Dj</a:t>
            </a:r>
            <a:r>
              <a:rPr lang="en-US" dirty="0"/>
              <a:t>, of D (step 14).</a:t>
            </a:r>
          </a:p>
          <a:p>
            <a:endParaRPr lang="en-US" dirty="0"/>
          </a:p>
          <a:p>
            <a:r>
              <a:rPr lang="en-US" dirty="0"/>
              <a:t>• The recursive partitioning stops only when anyone of the following</a:t>
            </a:r>
          </a:p>
          <a:p>
            <a:r>
              <a:rPr lang="en-US" dirty="0"/>
              <a:t>terminating conditions is true:</a:t>
            </a:r>
          </a:p>
          <a:p>
            <a:endParaRPr lang="en-US" dirty="0"/>
          </a:p>
          <a:p>
            <a:r>
              <a:rPr lang="en-US" dirty="0"/>
              <a:t>1. All of the tuples in partition D (represented at node N) belong to the</a:t>
            </a:r>
          </a:p>
          <a:p>
            <a:r>
              <a:rPr lang="en-US" dirty="0"/>
              <a:t>same class (steps 2 and 3), or</a:t>
            </a:r>
            <a:endParaRPr lang="en-IN" dirty="0"/>
          </a:p>
        </p:txBody>
      </p:sp>
    </p:spTree>
    <p:extLst>
      <p:ext uri="{BB962C8B-B14F-4D97-AF65-F5344CB8AC3E}">
        <p14:creationId xmlns:p14="http://schemas.microsoft.com/office/powerpoint/2010/main" val="386859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CBC75-3C6B-41F0-A11F-C2D3541F1911}"/>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644CEC1A-1A2F-4A7E-91D1-AA52CA46CAD3}"/>
              </a:ext>
            </a:extLst>
          </p:cNvPr>
          <p:cNvSpPr>
            <a:spLocks noGrp="1"/>
          </p:cNvSpPr>
          <p:nvPr>
            <p:ph type="body" idx="1"/>
          </p:nvPr>
        </p:nvSpPr>
        <p:spPr>
          <a:xfrm>
            <a:off x="535940" y="1216913"/>
            <a:ext cx="8072119" cy="2769989"/>
          </a:xfrm>
        </p:spPr>
        <p:txBody>
          <a:bodyPr/>
          <a:lstStyle/>
          <a:p>
            <a:r>
              <a:rPr lang="en-US" dirty="0"/>
              <a:t>2. There are no remaining attributes on which the tuples may be further</a:t>
            </a:r>
          </a:p>
          <a:p>
            <a:r>
              <a:rPr lang="en-US" dirty="0"/>
              <a:t>partitioned (step4).</a:t>
            </a:r>
          </a:p>
          <a:p>
            <a:r>
              <a:rPr lang="en-US" dirty="0"/>
              <a:t>• In this case, majority voting is employed(step 5).</a:t>
            </a:r>
          </a:p>
          <a:p>
            <a:r>
              <a:rPr lang="en-US" dirty="0"/>
              <a:t>• This involves converting node N into a leaf and labelling it with the most</a:t>
            </a:r>
          </a:p>
          <a:p>
            <a:r>
              <a:rPr lang="en-US" dirty="0"/>
              <a:t>common class in D.</a:t>
            </a:r>
          </a:p>
          <a:p>
            <a:r>
              <a:rPr lang="en-US" dirty="0"/>
              <a:t>• Alternatively, the class distribution of the node tuples may be stored.</a:t>
            </a:r>
          </a:p>
          <a:p>
            <a:r>
              <a:rPr lang="en-US" dirty="0"/>
              <a:t>3. There are no tuples for a given branch, that is, a partition </a:t>
            </a:r>
            <a:r>
              <a:rPr lang="en-US" dirty="0" err="1"/>
              <a:t>Dj</a:t>
            </a:r>
            <a:r>
              <a:rPr lang="en-US" dirty="0"/>
              <a:t> is empty (step</a:t>
            </a:r>
          </a:p>
          <a:p>
            <a:r>
              <a:rPr lang="en-US" dirty="0"/>
              <a:t>12).</a:t>
            </a:r>
          </a:p>
          <a:p>
            <a:r>
              <a:rPr lang="en-US" dirty="0"/>
              <a:t>• In this case, a leaf is created with the majority class in D (step 13).</a:t>
            </a:r>
          </a:p>
          <a:p>
            <a:r>
              <a:rPr lang="en-US" dirty="0"/>
              <a:t>• The resulting decision tree is returned (step 15).</a:t>
            </a:r>
            <a:endParaRPr lang="en-IN" dirty="0"/>
          </a:p>
        </p:txBody>
      </p:sp>
    </p:spTree>
    <p:extLst>
      <p:ext uri="{BB962C8B-B14F-4D97-AF65-F5344CB8AC3E}">
        <p14:creationId xmlns:p14="http://schemas.microsoft.com/office/powerpoint/2010/main" val="1996401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9619F-94D5-4792-9DC6-CC0B97E0DDCF}"/>
              </a:ext>
            </a:extLst>
          </p:cNvPr>
          <p:cNvSpPr>
            <a:spLocks noGrp="1"/>
          </p:cNvSpPr>
          <p:nvPr>
            <p:ph type="title"/>
          </p:nvPr>
        </p:nvSpPr>
        <p:spPr>
          <a:xfrm>
            <a:off x="2796793" y="514350"/>
            <a:ext cx="3550412" cy="861774"/>
          </a:xfrm>
        </p:spPr>
        <p:txBody>
          <a:bodyPr/>
          <a:lstStyle/>
          <a:p>
            <a:r>
              <a:rPr lang="en-US" b="1" dirty="0"/>
              <a:t>ID3 algorithm</a:t>
            </a:r>
            <a:endParaRPr lang="en-IN" dirty="0"/>
          </a:p>
        </p:txBody>
      </p:sp>
      <p:sp>
        <p:nvSpPr>
          <p:cNvPr id="3" name="Text Placeholder 2">
            <a:extLst>
              <a:ext uri="{FF2B5EF4-FFF2-40B4-BE49-F238E27FC236}">
                <a16:creationId xmlns:a16="http://schemas.microsoft.com/office/drawing/2014/main" id="{030C66AA-B468-4838-850E-8A6ABF7EF638}"/>
              </a:ext>
            </a:extLst>
          </p:cNvPr>
          <p:cNvSpPr>
            <a:spLocks noGrp="1"/>
          </p:cNvSpPr>
          <p:nvPr>
            <p:ph type="body" idx="1"/>
          </p:nvPr>
        </p:nvSpPr>
        <p:spPr>
          <a:xfrm>
            <a:off x="535940" y="1216913"/>
            <a:ext cx="8072119" cy="2492990"/>
          </a:xfrm>
        </p:spPr>
        <p:txBody>
          <a:bodyPr/>
          <a:lstStyle/>
          <a:p>
            <a:pPr algn="l"/>
            <a:r>
              <a:rPr lang="en-US" b="0" i="0" dirty="0">
                <a:solidFill>
                  <a:srgbClr val="292929"/>
                </a:solidFill>
                <a:effectLst/>
                <a:latin typeface="charter"/>
              </a:rPr>
              <a:t>ID3 stands for Iterative </a:t>
            </a:r>
            <a:r>
              <a:rPr lang="en-US" b="0" i="0" dirty="0" err="1">
                <a:solidFill>
                  <a:srgbClr val="292929"/>
                </a:solidFill>
                <a:effectLst/>
                <a:latin typeface="charter"/>
              </a:rPr>
              <a:t>Dichotomiser</a:t>
            </a:r>
            <a:r>
              <a:rPr lang="en-US" b="0" i="0" dirty="0">
                <a:solidFill>
                  <a:srgbClr val="292929"/>
                </a:solidFill>
                <a:effectLst/>
                <a:latin typeface="charter"/>
              </a:rPr>
              <a:t> 3 and is named such because the algorithm iteratively (repeatedly) dichotomizes(divides) features into two or more groups at each step.</a:t>
            </a:r>
          </a:p>
          <a:p>
            <a:pPr algn="l"/>
            <a:r>
              <a:rPr lang="en-US" b="0" i="0" dirty="0">
                <a:solidFill>
                  <a:srgbClr val="292929"/>
                </a:solidFill>
                <a:effectLst/>
                <a:latin typeface="charter"/>
              </a:rPr>
              <a:t>Invented by </a:t>
            </a:r>
            <a:r>
              <a:rPr lang="en-US" b="0" i="0" u="sng" dirty="0">
                <a:solidFill>
                  <a:srgbClr val="292929"/>
                </a:solidFill>
                <a:effectLst/>
                <a:latin typeface="charter"/>
                <a:hlinkClick r:id="rId2"/>
              </a:rPr>
              <a:t>Ross Quinlan</a:t>
            </a:r>
            <a:r>
              <a:rPr lang="en-US" b="0" i="0" dirty="0">
                <a:solidFill>
                  <a:srgbClr val="292929"/>
                </a:solidFill>
                <a:effectLst/>
                <a:latin typeface="charter"/>
              </a:rPr>
              <a:t>, ID3 uses a </a:t>
            </a:r>
            <a:r>
              <a:rPr lang="en-US" b="1" i="0" dirty="0">
                <a:solidFill>
                  <a:srgbClr val="292929"/>
                </a:solidFill>
                <a:effectLst/>
                <a:latin typeface="charter"/>
              </a:rPr>
              <a:t>top-down greedy</a:t>
            </a:r>
            <a:r>
              <a:rPr lang="en-US" b="0" i="0" dirty="0">
                <a:solidFill>
                  <a:srgbClr val="292929"/>
                </a:solidFill>
                <a:effectLst/>
                <a:latin typeface="charter"/>
              </a:rPr>
              <a:t> approach to build a decision tree. In simple words, the </a:t>
            </a:r>
            <a:r>
              <a:rPr lang="en-US" b="1" i="0" dirty="0">
                <a:solidFill>
                  <a:srgbClr val="292929"/>
                </a:solidFill>
                <a:effectLst/>
                <a:latin typeface="charter"/>
              </a:rPr>
              <a:t>top-down</a:t>
            </a:r>
            <a:r>
              <a:rPr lang="en-US" b="0" i="0" dirty="0">
                <a:solidFill>
                  <a:srgbClr val="292929"/>
                </a:solidFill>
                <a:effectLst/>
                <a:latin typeface="charter"/>
              </a:rPr>
              <a:t> approach means that we start building the tree from the top and the </a:t>
            </a:r>
            <a:r>
              <a:rPr lang="en-US" b="1" i="0" dirty="0">
                <a:solidFill>
                  <a:srgbClr val="292929"/>
                </a:solidFill>
                <a:effectLst/>
                <a:latin typeface="charter"/>
              </a:rPr>
              <a:t>greedy </a:t>
            </a:r>
            <a:r>
              <a:rPr lang="en-US" b="0" i="0" dirty="0">
                <a:solidFill>
                  <a:srgbClr val="292929"/>
                </a:solidFill>
                <a:effectLst/>
                <a:latin typeface="charter"/>
              </a:rPr>
              <a:t>approach means that at each iteration we select the best feature at the present moment to create a node.</a:t>
            </a:r>
          </a:p>
          <a:p>
            <a:pPr algn="l"/>
            <a:r>
              <a:rPr lang="en-US" b="0" i="0" dirty="0">
                <a:solidFill>
                  <a:srgbClr val="292929"/>
                </a:solidFill>
                <a:effectLst/>
                <a:latin typeface="charter"/>
              </a:rPr>
              <a:t>Most generally ID3 is only used for classification problems with </a:t>
            </a:r>
            <a:r>
              <a:rPr lang="en-US" b="0" i="0" u="sng" dirty="0">
                <a:solidFill>
                  <a:srgbClr val="292929"/>
                </a:solidFill>
                <a:effectLst/>
                <a:latin typeface="charter"/>
                <a:hlinkClick r:id="rId3"/>
              </a:rPr>
              <a:t>nominal</a:t>
            </a:r>
            <a:r>
              <a:rPr lang="en-US" b="0" i="0" dirty="0">
                <a:solidFill>
                  <a:srgbClr val="292929"/>
                </a:solidFill>
                <a:effectLst/>
                <a:latin typeface="charter"/>
              </a:rPr>
              <a:t> features only.</a:t>
            </a:r>
          </a:p>
          <a:p>
            <a:endParaRPr lang="en-IN" dirty="0"/>
          </a:p>
        </p:txBody>
      </p:sp>
    </p:spTree>
    <p:extLst>
      <p:ext uri="{BB962C8B-B14F-4D97-AF65-F5344CB8AC3E}">
        <p14:creationId xmlns:p14="http://schemas.microsoft.com/office/powerpoint/2010/main" val="3066287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DF0A4-4AAA-4D86-87EB-E556BB75187B}"/>
              </a:ext>
            </a:extLst>
          </p:cNvPr>
          <p:cNvSpPr>
            <a:spLocks noGrp="1"/>
          </p:cNvSpPr>
          <p:nvPr>
            <p:ph type="title"/>
          </p:nvPr>
        </p:nvSpPr>
        <p:spPr>
          <a:xfrm>
            <a:off x="3048000" y="514350"/>
            <a:ext cx="3702812" cy="430887"/>
          </a:xfrm>
        </p:spPr>
        <p:txBody>
          <a:bodyPr/>
          <a:lstStyle/>
          <a:p>
            <a:pPr algn="ctr"/>
            <a:r>
              <a:rPr lang="en-US" b="1" dirty="0"/>
              <a:t>ID3 algorithm</a:t>
            </a:r>
            <a:endParaRPr lang="en-IN" b="1" dirty="0"/>
          </a:p>
        </p:txBody>
      </p:sp>
      <p:sp>
        <p:nvSpPr>
          <p:cNvPr id="3" name="Text Placeholder 2">
            <a:extLst>
              <a:ext uri="{FF2B5EF4-FFF2-40B4-BE49-F238E27FC236}">
                <a16:creationId xmlns:a16="http://schemas.microsoft.com/office/drawing/2014/main" id="{F95AA4EE-B857-4F22-AA64-3DB7994542D1}"/>
              </a:ext>
            </a:extLst>
          </p:cNvPr>
          <p:cNvSpPr>
            <a:spLocks noGrp="1"/>
          </p:cNvSpPr>
          <p:nvPr>
            <p:ph type="body" idx="1"/>
          </p:nvPr>
        </p:nvSpPr>
        <p:spPr>
          <a:xfrm>
            <a:off x="535940" y="1216913"/>
            <a:ext cx="8072119" cy="2769989"/>
          </a:xfrm>
        </p:spPr>
        <p:txBody>
          <a:bodyPr/>
          <a:lstStyle/>
          <a:p>
            <a:pPr algn="l"/>
            <a:r>
              <a:rPr lang="en-US" b="1" i="0" dirty="0">
                <a:solidFill>
                  <a:srgbClr val="202124"/>
                </a:solidFill>
                <a:effectLst/>
                <a:latin typeface="arial" panose="020B0604020202020204" pitchFamily="34" charset="0"/>
              </a:rPr>
              <a:t>ID3 algorithm</a:t>
            </a:r>
            <a:r>
              <a:rPr lang="en-US" b="0" i="0" dirty="0">
                <a:solidFill>
                  <a:srgbClr val="202124"/>
                </a:solidFill>
                <a:effectLst/>
                <a:latin typeface="arial" panose="020B0604020202020204" pitchFamily="34" charset="0"/>
              </a:rPr>
              <a:t>, stands for Iterative </a:t>
            </a:r>
            <a:r>
              <a:rPr lang="en-US" b="0" i="0" dirty="0" err="1">
                <a:solidFill>
                  <a:srgbClr val="202124"/>
                </a:solidFill>
                <a:effectLst/>
                <a:latin typeface="arial" panose="020B0604020202020204" pitchFamily="34" charset="0"/>
              </a:rPr>
              <a:t>Dichotomiser</a:t>
            </a:r>
            <a:r>
              <a:rPr lang="en-US" b="0" i="0" dirty="0">
                <a:solidFill>
                  <a:srgbClr val="202124"/>
                </a:solidFill>
                <a:effectLst/>
                <a:latin typeface="arial" panose="020B0604020202020204" pitchFamily="34" charset="0"/>
              </a:rPr>
              <a:t> 3, is a classification </a:t>
            </a:r>
            <a:r>
              <a:rPr lang="en-US" b="1" i="0" dirty="0">
                <a:solidFill>
                  <a:srgbClr val="202124"/>
                </a:solidFill>
                <a:effectLst/>
                <a:latin typeface="arial" panose="020B0604020202020204" pitchFamily="34" charset="0"/>
              </a:rPr>
              <a:t>algorithm</a:t>
            </a:r>
            <a:r>
              <a:rPr lang="en-US" b="0" i="0" dirty="0">
                <a:solidFill>
                  <a:srgbClr val="202124"/>
                </a:solidFill>
                <a:effectLst/>
                <a:latin typeface="arial" panose="020B0604020202020204" pitchFamily="34" charset="0"/>
              </a:rPr>
              <a:t> that follows a greedy approach of building a decision tree by selecting a best attribute that yields maximum </a:t>
            </a:r>
            <a:r>
              <a:rPr lang="en-US" b="0" i="1" u="sng" dirty="0">
                <a:solidFill>
                  <a:srgbClr val="202124"/>
                </a:solidFill>
                <a:effectLst/>
                <a:latin typeface="arial" panose="020B0604020202020204" pitchFamily="34" charset="0"/>
              </a:rPr>
              <a:t>Information Gain (IG) or minimum Entropy (H).</a:t>
            </a:r>
          </a:p>
          <a:p>
            <a:pPr algn="l"/>
            <a:endParaRPr lang="en-US" i="1" u="sng" dirty="0">
              <a:solidFill>
                <a:srgbClr val="202124"/>
              </a:solidFill>
              <a:latin typeface="arial" panose="020B0604020202020204" pitchFamily="34" charset="0"/>
            </a:endParaRPr>
          </a:p>
          <a:p>
            <a:pPr algn="l"/>
            <a:r>
              <a:rPr lang="en-IN" dirty="0"/>
              <a:t>• Discrete features, cannot handle numeric features </a:t>
            </a:r>
          </a:p>
          <a:p>
            <a:pPr algn="l"/>
            <a:r>
              <a:rPr lang="en-IN" dirty="0"/>
              <a:t>• Multi-category splits </a:t>
            </a:r>
          </a:p>
          <a:p>
            <a:pPr algn="l"/>
            <a:r>
              <a:rPr lang="en-IN" dirty="0"/>
              <a:t>• Prone to overfitting </a:t>
            </a:r>
          </a:p>
          <a:p>
            <a:pPr algn="l"/>
            <a:r>
              <a:rPr lang="en-IN" dirty="0"/>
              <a:t>• Maximizes information gain/minimizes entropy </a:t>
            </a:r>
          </a:p>
          <a:p>
            <a:pPr algn="l"/>
            <a:r>
              <a:rPr lang="en-IN" dirty="0"/>
              <a:t>• Discrete features, binary and multi-category features</a:t>
            </a:r>
            <a:endParaRPr lang="en-IN" b="1" i="1" u="sng" dirty="0"/>
          </a:p>
        </p:txBody>
      </p:sp>
    </p:spTree>
    <p:extLst>
      <p:ext uri="{BB962C8B-B14F-4D97-AF65-F5344CB8AC3E}">
        <p14:creationId xmlns:p14="http://schemas.microsoft.com/office/powerpoint/2010/main" val="3405611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DA8F3-C5FD-4B4F-A811-6F8DF662A006}"/>
              </a:ext>
            </a:extLst>
          </p:cNvPr>
          <p:cNvSpPr>
            <a:spLocks noGrp="1"/>
          </p:cNvSpPr>
          <p:nvPr>
            <p:ph type="title"/>
          </p:nvPr>
        </p:nvSpPr>
        <p:spPr>
          <a:xfrm>
            <a:off x="685800" y="385953"/>
            <a:ext cx="8229600" cy="615553"/>
          </a:xfrm>
        </p:spPr>
        <p:txBody>
          <a:bodyPr/>
          <a:lstStyle/>
          <a:p>
            <a:pPr algn="ctr"/>
            <a:r>
              <a:rPr lang="en-US" sz="2000" dirty="0"/>
              <a:t>Top Down Induction of Decision Tree ID3</a:t>
            </a:r>
            <a:br>
              <a:rPr lang="en-US" sz="2000" dirty="0"/>
            </a:br>
            <a:r>
              <a:rPr lang="en-IN" sz="2000" b="0" i="0" dirty="0">
                <a:solidFill>
                  <a:srgbClr val="4D5156"/>
                </a:solidFill>
                <a:effectLst/>
                <a:latin typeface="arial" panose="020B0604020202020204" pitchFamily="34" charset="0"/>
              </a:rPr>
              <a:t> </a:t>
            </a:r>
            <a:r>
              <a:rPr lang="en-IN" sz="2000" b="1" i="0" dirty="0">
                <a:solidFill>
                  <a:srgbClr val="5F6368"/>
                </a:solidFill>
                <a:effectLst/>
                <a:latin typeface="arial" panose="020B0604020202020204" pitchFamily="34" charset="0"/>
              </a:rPr>
              <a:t>ID3</a:t>
            </a:r>
            <a:r>
              <a:rPr lang="en-IN" sz="2000" b="0" i="0" dirty="0">
                <a:solidFill>
                  <a:srgbClr val="4D5156"/>
                </a:solidFill>
                <a:effectLst/>
                <a:latin typeface="arial" panose="020B0604020202020204" pitchFamily="34" charset="0"/>
              </a:rPr>
              <a:t> stands for </a:t>
            </a:r>
            <a:r>
              <a:rPr lang="en-IN" sz="2000" b="1" i="0" dirty="0">
                <a:solidFill>
                  <a:srgbClr val="5F6368"/>
                </a:solidFill>
                <a:effectLst/>
                <a:latin typeface="arial" panose="020B0604020202020204" pitchFamily="34" charset="0"/>
              </a:rPr>
              <a:t>Iterative </a:t>
            </a:r>
            <a:r>
              <a:rPr lang="en-IN" sz="2000" b="1" i="0" dirty="0" err="1">
                <a:solidFill>
                  <a:srgbClr val="5F6368"/>
                </a:solidFill>
                <a:effectLst/>
                <a:latin typeface="arial" panose="020B0604020202020204" pitchFamily="34" charset="0"/>
              </a:rPr>
              <a:t>Dichotomiser</a:t>
            </a:r>
            <a:r>
              <a:rPr lang="en-IN" sz="2000" b="1" i="0" dirty="0">
                <a:solidFill>
                  <a:srgbClr val="5F6368"/>
                </a:solidFill>
                <a:effectLst/>
                <a:latin typeface="arial" panose="020B0604020202020204" pitchFamily="34" charset="0"/>
              </a:rPr>
              <a:t> 3</a:t>
            </a:r>
            <a:r>
              <a:rPr lang="en-IN" sz="2000" b="0" i="0" dirty="0">
                <a:solidFill>
                  <a:srgbClr val="4D5156"/>
                </a:solidFill>
                <a:effectLst/>
                <a:latin typeface="arial" panose="020B0604020202020204" pitchFamily="34" charset="0"/>
              </a:rPr>
              <a:t> </a:t>
            </a:r>
            <a:endParaRPr lang="en-IN" sz="2000" dirty="0"/>
          </a:p>
        </p:txBody>
      </p:sp>
      <p:sp>
        <p:nvSpPr>
          <p:cNvPr id="3" name="Text Placeholder 2">
            <a:extLst>
              <a:ext uri="{FF2B5EF4-FFF2-40B4-BE49-F238E27FC236}">
                <a16:creationId xmlns:a16="http://schemas.microsoft.com/office/drawing/2014/main" id="{4924DE1A-2EB2-43AC-8D7C-C8C15CD3A29D}"/>
              </a:ext>
            </a:extLst>
          </p:cNvPr>
          <p:cNvSpPr>
            <a:spLocks noGrp="1"/>
          </p:cNvSpPr>
          <p:nvPr>
            <p:ph type="body" idx="1"/>
          </p:nvPr>
        </p:nvSpPr>
        <p:spPr>
          <a:xfrm>
            <a:off x="535940" y="1216913"/>
            <a:ext cx="8072119" cy="2769989"/>
          </a:xfrm>
        </p:spPr>
        <p:txBody>
          <a:bodyPr/>
          <a:lstStyle/>
          <a:p>
            <a:pPr marL="285750" indent="-285750">
              <a:lnSpc>
                <a:spcPct val="150000"/>
              </a:lnSpc>
              <a:buFont typeface="Wingdings" panose="05000000000000000000" pitchFamily="2" charset="2"/>
              <a:buChar char="§"/>
            </a:pPr>
            <a:r>
              <a:rPr lang="en-US" dirty="0"/>
              <a:t>Which node to proceed with-based on a selection measure</a:t>
            </a:r>
          </a:p>
          <a:p>
            <a:pPr marL="285750" indent="-285750">
              <a:lnSpc>
                <a:spcPct val="150000"/>
              </a:lnSpc>
              <a:buFont typeface="Wingdings" panose="05000000000000000000" pitchFamily="2" charset="2"/>
              <a:buChar char="§"/>
            </a:pPr>
            <a:r>
              <a:rPr lang="en-US" dirty="0"/>
              <a:t>Based on that assign A as decision attribute for node.</a:t>
            </a:r>
          </a:p>
          <a:p>
            <a:pPr marL="285750" indent="-285750">
              <a:lnSpc>
                <a:spcPct val="150000"/>
              </a:lnSpc>
              <a:buFont typeface="Wingdings" panose="05000000000000000000" pitchFamily="2" charset="2"/>
              <a:buChar char="§"/>
            </a:pPr>
            <a:r>
              <a:rPr lang="en-US" dirty="0"/>
              <a:t>For each value of A create a new descendent</a:t>
            </a:r>
          </a:p>
          <a:p>
            <a:pPr marL="285750" indent="-285750">
              <a:lnSpc>
                <a:spcPct val="150000"/>
              </a:lnSpc>
              <a:buFont typeface="Wingdings" panose="05000000000000000000" pitchFamily="2" charset="2"/>
              <a:buChar char="§"/>
            </a:pPr>
            <a:r>
              <a:rPr lang="en-US" dirty="0"/>
              <a:t>Sort training examples to a leaf node according to the attribute value of branch</a:t>
            </a:r>
          </a:p>
          <a:p>
            <a:pPr marL="285750" indent="-285750">
              <a:lnSpc>
                <a:spcPct val="150000"/>
              </a:lnSpc>
              <a:buFont typeface="Wingdings" panose="05000000000000000000" pitchFamily="2" charset="2"/>
              <a:buChar char="§"/>
            </a:pPr>
            <a:r>
              <a:rPr lang="en-US" dirty="0"/>
              <a:t>If all training examples are perfectly classified (same value of target attribute) stop else iterate over new leaf node.</a:t>
            </a:r>
          </a:p>
          <a:p>
            <a:endParaRPr lang="en-IN" dirty="0"/>
          </a:p>
        </p:txBody>
      </p:sp>
    </p:spTree>
    <p:extLst>
      <p:ext uri="{BB962C8B-B14F-4D97-AF65-F5344CB8AC3E}">
        <p14:creationId xmlns:p14="http://schemas.microsoft.com/office/powerpoint/2010/main" val="3454681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BCA5B-DF1C-40C3-999B-9A6A9B44CE19}"/>
              </a:ext>
            </a:extLst>
          </p:cNvPr>
          <p:cNvSpPr>
            <a:spLocks noGrp="1"/>
          </p:cNvSpPr>
          <p:nvPr>
            <p:ph type="title"/>
          </p:nvPr>
        </p:nvSpPr>
        <p:spPr>
          <a:xfrm>
            <a:off x="2667000" y="714601"/>
            <a:ext cx="4312412" cy="1292662"/>
          </a:xfrm>
        </p:spPr>
        <p:txBody>
          <a:bodyPr/>
          <a:lstStyle/>
          <a:p>
            <a:r>
              <a:rPr lang="en-US" dirty="0"/>
              <a:t>Which attribute is the best</a:t>
            </a:r>
            <a:endParaRPr lang="en-IN" dirty="0"/>
          </a:p>
        </p:txBody>
      </p:sp>
      <p:sp>
        <p:nvSpPr>
          <p:cNvPr id="3" name="Text Placeholder 2">
            <a:extLst>
              <a:ext uri="{FF2B5EF4-FFF2-40B4-BE49-F238E27FC236}">
                <a16:creationId xmlns:a16="http://schemas.microsoft.com/office/drawing/2014/main" id="{37599F65-1D62-4B50-9A09-E6BEB270C680}"/>
              </a:ext>
            </a:extLst>
          </p:cNvPr>
          <p:cNvSpPr>
            <a:spLocks noGrp="1"/>
          </p:cNvSpPr>
          <p:nvPr>
            <p:ph type="body" idx="1"/>
          </p:nvPr>
        </p:nvSpPr>
        <p:spPr>
          <a:xfrm>
            <a:off x="535940" y="1216913"/>
            <a:ext cx="8072119" cy="1107996"/>
          </a:xfrm>
        </p:spPr>
        <p:txBody>
          <a:bodyPr/>
          <a:lstStyle/>
          <a:p>
            <a:endParaRPr lang="en-IN" dirty="0"/>
          </a:p>
          <a:p>
            <a:endParaRPr lang="en-IN" dirty="0"/>
          </a:p>
          <a:p>
            <a:endParaRPr lang="en-IN" dirty="0"/>
          </a:p>
          <a:p>
            <a:endParaRPr lang="en-IN" dirty="0"/>
          </a:p>
        </p:txBody>
      </p:sp>
      <p:pic>
        <p:nvPicPr>
          <p:cNvPr id="6" name="Picture 5">
            <a:extLst>
              <a:ext uri="{FF2B5EF4-FFF2-40B4-BE49-F238E27FC236}">
                <a16:creationId xmlns:a16="http://schemas.microsoft.com/office/drawing/2014/main" id="{FB8AEC0C-8110-4281-94F0-A3DE46622DF2}"/>
              </a:ext>
            </a:extLst>
          </p:cNvPr>
          <p:cNvPicPr>
            <a:picLocks noChangeAspect="1"/>
          </p:cNvPicPr>
          <p:nvPr/>
        </p:nvPicPr>
        <p:blipFill>
          <a:blip r:embed="rId2"/>
          <a:stretch>
            <a:fillRect/>
          </a:stretch>
        </p:blipFill>
        <p:spPr>
          <a:xfrm>
            <a:off x="1163857" y="1504950"/>
            <a:ext cx="6816285" cy="3276600"/>
          </a:xfrm>
          <a:prstGeom prst="rect">
            <a:avLst/>
          </a:prstGeom>
        </p:spPr>
      </p:pic>
    </p:spTree>
    <p:extLst>
      <p:ext uri="{BB962C8B-B14F-4D97-AF65-F5344CB8AC3E}">
        <p14:creationId xmlns:p14="http://schemas.microsoft.com/office/powerpoint/2010/main" val="3753670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61641" y="385953"/>
            <a:ext cx="4219575" cy="452120"/>
          </a:xfrm>
          <a:prstGeom prst="rect">
            <a:avLst/>
          </a:prstGeom>
        </p:spPr>
        <p:txBody>
          <a:bodyPr vert="horz" wrap="square" lIns="0" tIns="12065" rIns="0" bIns="0" rtlCol="0">
            <a:spAutoFit/>
          </a:bodyPr>
          <a:lstStyle/>
          <a:p>
            <a:pPr marL="12700">
              <a:lnSpc>
                <a:spcPct val="100000"/>
              </a:lnSpc>
              <a:spcBef>
                <a:spcPts val="95"/>
              </a:spcBef>
            </a:pPr>
            <a:r>
              <a:rPr sz="2800" spc="-25" dirty="0"/>
              <a:t>Attribute</a:t>
            </a:r>
            <a:r>
              <a:rPr sz="2800" spc="20" dirty="0"/>
              <a:t> </a:t>
            </a:r>
            <a:r>
              <a:rPr sz="2800" spc="-10" dirty="0"/>
              <a:t>Selection</a:t>
            </a:r>
            <a:r>
              <a:rPr sz="2800" dirty="0"/>
              <a:t> </a:t>
            </a:r>
            <a:r>
              <a:rPr sz="2800" spc="-10" dirty="0"/>
              <a:t>Measures</a:t>
            </a:r>
            <a:endParaRPr sz="28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31</a:t>
            </a:fld>
            <a:endParaRPr dirty="0"/>
          </a:p>
        </p:txBody>
      </p:sp>
      <p:sp>
        <p:nvSpPr>
          <p:cNvPr id="3" name="object 3"/>
          <p:cNvSpPr txBox="1"/>
          <p:nvPr/>
        </p:nvSpPr>
        <p:spPr>
          <a:xfrm>
            <a:off x="535940" y="1216913"/>
            <a:ext cx="8072755" cy="2952750"/>
          </a:xfrm>
          <a:prstGeom prst="rect">
            <a:avLst/>
          </a:prstGeom>
        </p:spPr>
        <p:txBody>
          <a:bodyPr vert="horz" wrap="square" lIns="0" tIns="13335" rIns="0" bIns="0" rtlCol="0">
            <a:spAutoFit/>
          </a:bodyPr>
          <a:lstStyle/>
          <a:p>
            <a:pPr marL="355600" marR="6350" indent="-342900" algn="just">
              <a:lnSpc>
                <a:spcPct val="100000"/>
              </a:lnSpc>
              <a:spcBef>
                <a:spcPts val="105"/>
              </a:spcBef>
              <a:buFont typeface="Arial MT"/>
              <a:buChar char="•"/>
              <a:tabLst>
                <a:tab pos="355600" algn="l"/>
              </a:tabLst>
            </a:pPr>
            <a:r>
              <a:rPr sz="2000" spc="-10" dirty="0">
                <a:latin typeface="Calibri"/>
                <a:cs typeface="Calibri"/>
              </a:rPr>
              <a:t>Attribute</a:t>
            </a:r>
            <a:r>
              <a:rPr sz="2000" spc="-5" dirty="0">
                <a:latin typeface="Calibri"/>
                <a:cs typeface="Calibri"/>
              </a:rPr>
              <a:t> </a:t>
            </a:r>
            <a:r>
              <a:rPr sz="2000" dirty="0">
                <a:latin typeface="Calibri"/>
                <a:cs typeface="Calibri"/>
              </a:rPr>
              <a:t>selection </a:t>
            </a:r>
            <a:r>
              <a:rPr sz="2000" spc="-5" dirty="0">
                <a:latin typeface="Calibri"/>
                <a:cs typeface="Calibri"/>
              </a:rPr>
              <a:t>measures </a:t>
            </a:r>
            <a:r>
              <a:rPr sz="2000" spc="-10" dirty="0">
                <a:latin typeface="Calibri"/>
                <a:cs typeface="Calibri"/>
              </a:rPr>
              <a:t>are</a:t>
            </a:r>
            <a:r>
              <a:rPr sz="2000" spc="-5" dirty="0">
                <a:latin typeface="Calibri"/>
                <a:cs typeface="Calibri"/>
              </a:rPr>
              <a:t> </a:t>
            </a:r>
            <a:r>
              <a:rPr sz="2000" dirty="0">
                <a:latin typeface="Calibri"/>
                <a:cs typeface="Calibri"/>
              </a:rPr>
              <a:t>also known as </a:t>
            </a:r>
            <a:r>
              <a:rPr sz="2000" spc="-5" dirty="0">
                <a:latin typeface="Calibri"/>
                <a:cs typeface="Calibri"/>
              </a:rPr>
              <a:t>splitting</a:t>
            </a:r>
            <a:r>
              <a:rPr sz="2000" spc="440" dirty="0">
                <a:latin typeface="Calibri"/>
                <a:cs typeface="Calibri"/>
              </a:rPr>
              <a:t> </a:t>
            </a:r>
            <a:r>
              <a:rPr sz="2000" spc="-5" dirty="0">
                <a:latin typeface="Calibri"/>
                <a:cs typeface="Calibri"/>
              </a:rPr>
              <a:t>rules because </a:t>
            </a:r>
            <a:r>
              <a:rPr sz="2000" dirty="0">
                <a:latin typeface="Calibri"/>
                <a:cs typeface="Calibri"/>
              </a:rPr>
              <a:t> </a:t>
            </a:r>
            <a:r>
              <a:rPr sz="2000" spc="-5" dirty="0">
                <a:latin typeface="Calibri"/>
                <a:cs typeface="Calibri"/>
              </a:rPr>
              <a:t>they</a:t>
            </a:r>
            <a:r>
              <a:rPr sz="2000" spc="-10" dirty="0">
                <a:latin typeface="Calibri"/>
                <a:cs typeface="Calibri"/>
              </a:rPr>
              <a:t> </a:t>
            </a:r>
            <a:r>
              <a:rPr sz="2000" spc="-5" dirty="0">
                <a:latin typeface="Calibri"/>
                <a:cs typeface="Calibri"/>
              </a:rPr>
              <a:t>determine</a:t>
            </a:r>
            <a:r>
              <a:rPr sz="2000" spc="10" dirty="0">
                <a:latin typeface="Calibri"/>
                <a:cs typeface="Calibri"/>
              </a:rPr>
              <a:t> </a:t>
            </a:r>
            <a:r>
              <a:rPr sz="2000" spc="-5" dirty="0">
                <a:latin typeface="Calibri"/>
                <a:cs typeface="Calibri"/>
              </a:rPr>
              <a:t>how</a:t>
            </a:r>
            <a:r>
              <a:rPr sz="2000" spc="-25" dirty="0">
                <a:latin typeface="Calibri"/>
                <a:cs typeface="Calibri"/>
              </a:rPr>
              <a:t> </a:t>
            </a:r>
            <a:r>
              <a:rPr sz="2000" dirty="0">
                <a:latin typeface="Calibri"/>
                <a:cs typeface="Calibri"/>
              </a:rPr>
              <a:t>the</a:t>
            </a:r>
            <a:r>
              <a:rPr sz="2000" spc="5" dirty="0">
                <a:latin typeface="Calibri"/>
                <a:cs typeface="Calibri"/>
              </a:rPr>
              <a:t> </a:t>
            </a:r>
            <a:r>
              <a:rPr sz="2000" dirty="0">
                <a:latin typeface="Calibri"/>
                <a:cs typeface="Calibri"/>
              </a:rPr>
              <a:t>tuples</a:t>
            </a:r>
            <a:r>
              <a:rPr sz="2000" spc="-5" dirty="0">
                <a:latin typeface="Calibri"/>
                <a:cs typeface="Calibri"/>
              </a:rPr>
              <a:t> </a:t>
            </a:r>
            <a:r>
              <a:rPr sz="2000" spc="-15" dirty="0">
                <a:latin typeface="Calibri"/>
                <a:cs typeface="Calibri"/>
              </a:rPr>
              <a:t>at</a:t>
            </a:r>
            <a:r>
              <a:rPr sz="2000" spc="15" dirty="0">
                <a:latin typeface="Calibri"/>
                <a:cs typeface="Calibri"/>
              </a:rPr>
              <a:t> </a:t>
            </a:r>
            <a:r>
              <a:rPr sz="2000" dirty="0">
                <a:latin typeface="Calibri"/>
                <a:cs typeface="Calibri"/>
              </a:rPr>
              <a:t>a</a:t>
            </a:r>
            <a:r>
              <a:rPr sz="2000" spc="-10" dirty="0">
                <a:latin typeface="Calibri"/>
                <a:cs typeface="Calibri"/>
              </a:rPr>
              <a:t> </a:t>
            </a:r>
            <a:r>
              <a:rPr sz="2000" spc="-5" dirty="0">
                <a:latin typeface="Calibri"/>
                <a:cs typeface="Calibri"/>
              </a:rPr>
              <a:t>given</a:t>
            </a:r>
            <a:r>
              <a:rPr sz="2000" spc="5" dirty="0">
                <a:latin typeface="Calibri"/>
                <a:cs typeface="Calibri"/>
              </a:rPr>
              <a:t> </a:t>
            </a:r>
            <a:r>
              <a:rPr sz="2000" dirty="0">
                <a:latin typeface="Calibri"/>
                <a:cs typeface="Calibri"/>
              </a:rPr>
              <a:t>node</a:t>
            </a:r>
            <a:r>
              <a:rPr sz="2000" spc="-20" dirty="0">
                <a:latin typeface="Calibri"/>
                <a:cs typeface="Calibri"/>
              </a:rPr>
              <a:t> </a:t>
            </a:r>
            <a:r>
              <a:rPr sz="2000" spc="-10" dirty="0">
                <a:latin typeface="Calibri"/>
                <a:cs typeface="Calibri"/>
              </a:rPr>
              <a:t>are</a:t>
            </a:r>
            <a:r>
              <a:rPr sz="2000" dirty="0">
                <a:latin typeface="Calibri"/>
                <a:cs typeface="Calibri"/>
              </a:rPr>
              <a:t> </a:t>
            </a:r>
            <a:r>
              <a:rPr sz="2000" spc="-15" dirty="0">
                <a:latin typeface="Calibri"/>
                <a:cs typeface="Calibri"/>
              </a:rPr>
              <a:t>to</a:t>
            </a:r>
            <a:r>
              <a:rPr sz="2000" dirty="0">
                <a:latin typeface="Calibri"/>
                <a:cs typeface="Calibri"/>
              </a:rPr>
              <a:t> be</a:t>
            </a:r>
            <a:r>
              <a:rPr sz="2000" spc="-15" dirty="0">
                <a:latin typeface="Calibri"/>
                <a:cs typeface="Calibri"/>
              </a:rPr>
              <a:t> </a:t>
            </a:r>
            <a:r>
              <a:rPr sz="2000" spc="-5" dirty="0">
                <a:latin typeface="Calibri"/>
                <a:cs typeface="Calibri"/>
              </a:rPr>
              <a:t>split</a:t>
            </a:r>
            <a:endParaRPr sz="2000">
              <a:latin typeface="Calibri"/>
              <a:cs typeface="Calibri"/>
            </a:endParaRPr>
          </a:p>
          <a:p>
            <a:pPr marL="355600" marR="5080" indent="-342900" algn="just">
              <a:lnSpc>
                <a:spcPct val="100000"/>
              </a:lnSpc>
              <a:spcBef>
                <a:spcPts val="480"/>
              </a:spcBef>
              <a:buFont typeface="Arial MT"/>
              <a:buChar char="•"/>
              <a:tabLst>
                <a:tab pos="355600" algn="l"/>
              </a:tabLst>
            </a:pPr>
            <a:r>
              <a:rPr sz="2000" spc="-5" dirty="0">
                <a:latin typeface="Calibri"/>
                <a:cs typeface="Calibri"/>
              </a:rPr>
              <a:t>It is </a:t>
            </a:r>
            <a:r>
              <a:rPr sz="2000" dirty="0">
                <a:latin typeface="Calibri"/>
                <a:cs typeface="Calibri"/>
              </a:rPr>
              <a:t>a </a:t>
            </a:r>
            <a:r>
              <a:rPr sz="2000" spc="-5" dirty="0">
                <a:latin typeface="Calibri"/>
                <a:cs typeface="Calibri"/>
              </a:rPr>
              <a:t>heuristic approach </a:t>
            </a:r>
            <a:r>
              <a:rPr sz="2000" spc="-25" dirty="0">
                <a:latin typeface="Calibri"/>
                <a:cs typeface="Calibri"/>
              </a:rPr>
              <a:t>for </a:t>
            </a:r>
            <a:r>
              <a:rPr sz="2000" dirty="0">
                <a:latin typeface="Calibri"/>
                <a:cs typeface="Calibri"/>
              </a:rPr>
              <a:t>selecting the </a:t>
            </a:r>
            <a:r>
              <a:rPr sz="2000" spc="-5" dirty="0">
                <a:latin typeface="Calibri"/>
                <a:cs typeface="Calibri"/>
              </a:rPr>
              <a:t>splitting criterion that </a:t>
            </a:r>
            <a:r>
              <a:rPr sz="2000" spc="5" dirty="0">
                <a:latin typeface="Calibri"/>
                <a:cs typeface="Calibri"/>
              </a:rPr>
              <a:t>“best” </a:t>
            </a:r>
            <a:r>
              <a:rPr sz="2000" spc="10" dirty="0">
                <a:latin typeface="Calibri"/>
                <a:cs typeface="Calibri"/>
              </a:rPr>
              <a:t> </a:t>
            </a:r>
            <a:r>
              <a:rPr sz="2000" spc="-10" dirty="0">
                <a:latin typeface="Calibri"/>
                <a:cs typeface="Calibri"/>
              </a:rPr>
              <a:t>separates </a:t>
            </a:r>
            <a:r>
              <a:rPr sz="2000" dirty="0">
                <a:latin typeface="Calibri"/>
                <a:cs typeface="Calibri"/>
              </a:rPr>
              <a:t>a </a:t>
            </a:r>
            <a:r>
              <a:rPr sz="2000" spc="-5" dirty="0">
                <a:latin typeface="Calibri"/>
                <a:cs typeface="Calibri"/>
              </a:rPr>
              <a:t>given </a:t>
            </a:r>
            <a:r>
              <a:rPr sz="2000" spc="-15" dirty="0">
                <a:latin typeface="Calibri"/>
                <a:cs typeface="Calibri"/>
              </a:rPr>
              <a:t>data </a:t>
            </a:r>
            <a:r>
              <a:rPr sz="2000" dirty="0">
                <a:latin typeface="Calibri"/>
                <a:cs typeface="Calibri"/>
              </a:rPr>
              <a:t>partition, </a:t>
            </a:r>
            <a:r>
              <a:rPr sz="2000" spc="-30" dirty="0">
                <a:latin typeface="Calibri"/>
                <a:cs typeface="Calibri"/>
              </a:rPr>
              <a:t>D, </a:t>
            </a:r>
            <a:r>
              <a:rPr sz="2000" dirty="0">
                <a:latin typeface="Calibri"/>
                <a:cs typeface="Calibri"/>
              </a:rPr>
              <a:t>of class-labeled </a:t>
            </a:r>
            <a:r>
              <a:rPr sz="2000" spc="-5" dirty="0">
                <a:latin typeface="Calibri"/>
                <a:cs typeface="Calibri"/>
              </a:rPr>
              <a:t>training tuples </a:t>
            </a:r>
            <a:r>
              <a:rPr sz="2000" spc="-15" dirty="0">
                <a:latin typeface="Calibri"/>
                <a:cs typeface="Calibri"/>
              </a:rPr>
              <a:t>into </a:t>
            </a:r>
            <a:r>
              <a:rPr sz="2000" spc="-10" dirty="0">
                <a:latin typeface="Calibri"/>
                <a:cs typeface="Calibri"/>
              </a:rPr>
              <a:t> </a:t>
            </a:r>
            <a:r>
              <a:rPr sz="2000" dirty="0">
                <a:latin typeface="Calibri"/>
                <a:cs typeface="Calibri"/>
              </a:rPr>
              <a:t>individual</a:t>
            </a:r>
            <a:r>
              <a:rPr sz="2000" spc="-20" dirty="0">
                <a:latin typeface="Calibri"/>
                <a:cs typeface="Calibri"/>
              </a:rPr>
              <a:t> </a:t>
            </a:r>
            <a:r>
              <a:rPr sz="2000" dirty="0">
                <a:latin typeface="Calibri"/>
                <a:cs typeface="Calibri"/>
              </a:rPr>
              <a:t>classes</a:t>
            </a:r>
            <a:endParaRPr sz="2000">
              <a:latin typeface="Calibri"/>
              <a:cs typeface="Calibri"/>
            </a:endParaRPr>
          </a:p>
          <a:p>
            <a:pPr marL="355600" indent="-342900" algn="just">
              <a:lnSpc>
                <a:spcPct val="100000"/>
              </a:lnSpc>
              <a:spcBef>
                <a:spcPts val="480"/>
              </a:spcBef>
              <a:buFont typeface="Arial MT"/>
              <a:buChar char="•"/>
              <a:tabLst>
                <a:tab pos="355600" algn="l"/>
              </a:tabLst>
            </a:pPr>
            <a:r>
              <a:rPr sz="2000" spc="-5" dirty="0">
                <a:latin typeface="Calibri"/>
                <a:cs typeface="Calibri"/>
              </a:rPr>
              <a:t>The</a:t>
            </a:r>
            <a:r>
              <a:rPr sz="2000" spc="515" dirty="0">
                <a:latin typeface="Calibri"/>
                <a:cs typeface="Calibri"/>
              </a:rPr>
              <a:t> </a:t>
            </a:r>
            <a:r>
              <a:rPr sz="2000" spc="-10" dirty="0">
                <a:latin typeface="Calibri"/>
                <a:cs typeface="Calibri"/>
              </a:rPr>
              <a:t>attribute</a:t>
            </a:r>
            <a:r>
              <a:rPr sz="2000" spc="535" dirty="0">
                <a:latin typeface="Calibri"/>
                <a:cs typeface="Calibri"/>
              </a:rPr>
              <a:t> </a:t>
            </a:r>
            <a:r>
              <a:rPr sz="2000" dirty="0">
                <a:latin typeface="Calibri"/>
                <a:cs typeface="Calibri"/>
              </a:rPr>
              <a:t>selection</a:t>
            </a:r>
            <a:r>
              <a:rPr sz="2000" spc="530" dirty="0">
                <a:latin typeface="Calibri"/>
                <a:cs typeface="Calibri"/>
              </a:rPr>
              <a:t> </a:t>
            </a:r>
            <a:r>
              <a:rPr sz="2000" spc="-5" dirty="0">
                <a:latin typeface="Calibri"/>
                <a:cs typeface="Calibri"/>
              </a:rPr>
              <a:t>measure</a:t>
            </a:r>
            <a:r>
              <a:rPr sz="2000" spc="525" dirty="0">
                <a:latin typeface="Calibri"/>
                <a:cs typeface="Calibri"/>
              </a:rPr>
              <a:t> </a:t>
            </a:r>
            <a:r>
              <a:rPr sz="2000" spc="-10" dirty="0">
                <a:latin typeface="Calibri"/>
                <a:cs typeface="Calibri"/>
              </a:rPr>
              <a:t>provides</a:t>
            </a:r>
            <a:r>
              <a:rPr sz="2000" spc="530" dirty="0">
                <a:latin typeface="Calibri"/>
                <a:cs typeface="Calibri"/>
              </a:rPr>
              <a:t> </a:t>
            </a:r>
            <a:r>
              <a:rPr sz="2000" dirty="0">
                <a:latin typeface="Calibri"/>
                <a:cs typeface="Calibri"/>
              </a:rPr>
              <a:t>a</a:t>
            </a:r>
            <a:r>
              <a:rPr sz="2000" spc="525" dirty="0">
                <a:latin typeface="Calibri"/>
                <a:cs typeface="Calibri"/>
              </a:rPr>
              <a:t> </a:t>
            </a:r>
            <a:r>
              <a:rPr sz="2000" spc="-10" dirty="0">
                <a:latin typeface="Calibri"/>
                <a:cs typeface="Calibri"/>
              </a:rPr>
              <a:t>ranking</a:t>
            </a:r>
            <a:r>
              <a:rPr sz="2000" spc="530" dirty="0">
                <a:latin typeface="Calibri"/>
                <a:cs typeface="Calibri"/>
              </a:rPr>
              <a:t> </a:t>
            </a:r>
            <a:r>
              <a:rPr sz="2000" spc="-20" dirty="0">
                <a:latin typeface="Calibri"/>
                <a:cs typeface="Calibri"/>
              </a:rPr>
              <a:t>for</a:t>
            </a:r>
            <a:r>
              <a:rPr sz="2000" spc="509" dirty="0">
                <a:latin typeface="Calibri"/>
                <a:cs typeface="Calibri"/>
              </a:rPr>
              <a:t> </a:t>
            </a:r>
            <a:r>
              <a:rPr sz="2000" dirty="0">
                <a:latin typeface="Calibri"/>
                <a:cs typeface="Calibri"/>
              </a:rPr>
              <a:t>each</a:t>
            </a:r>
            <a:r>
              <a:rPr sz="2000" spc="520" dirty="0">
                <a:latin typeface="Calibri"/>
                <a:cs typeface="Calibri"/>
              </a:rPr>
              <a:t> </a:t>
            </a:r>
            <a:r>
              <a:rPr sz="2000" spc="-10" dirty="0">
                <a:latin typeface="Calibri"/>
                <a:cs typeface="Calibri"/>
              </a:rPr>
              <a:t>attribute</a:t>
            </a:r>
            <a:endParaRPr sz="2000">
              <a:latin typeface="Calibri"/>
              <a:cs typeface="Calibri"/>
            </a:endParaRPr>
          </a:p>
          <a:p>
            <a:pPr marL="355600" algn="just">
              <a:lnSpc>
                <a:spcPct val="100000"/>
              </a:lnSpc>
            </a:pPr>
            <a:r>
              <a:rPr sz="2000" dirty="0">
                <a:latin typeface="Calibri"/>
                <a:cs typeface="Calibri"/>
              </a:rPr>
              <a:t>describing</a:t>
            </a:r>
            <a:r>
              <a:rPr sz="2000" spc="-25" dirty="0">
                <a:latin typeface="Calibri"/>
                <a:cs typeface="Calibri"/>
              </a:rPr>
              <a:t> </a:t>
            </a:r>
            <a:r>
              <a:rPr sz="2000" dirty="0">
                <a:latin typeface="Calibri"/>
                <a:cs typeface="Calibri"/>
              </a:rPr>
              <a:t>the</a:t>
            </a:r>
            <a:r>
              <a:rPr sz="2000" spc="-5" dirty="0">
                <a:latin typeface="Calibri"/>
                <a:cs typeface="Calibri"/>
              </a:rPr>
              <a:t> given</a:t>
            </a:r>
            <a:r>
              <a:rPr sz="2000" spc="-15" dirty="0">
                <a:latin typeface="Calibri"/>
                <a:cs typeface="Calibri"/>
              </a:rPr>
              <a:t> </a:t>
            </a:r>
            <a:r>
              <a:rPr sz="2000" spc="-5" dirty="0">
                <a:latin typeface="Calibri"/>
                <a:cs typeface="Calibri"/>
              </a:rPr>
              <a:t>training</a:t>
            </a:r>
            <a:r>
              <a:rPr sz="2000" spc="-15" dirty="0">
                <a:latin typeface="Calibri"/>
                <a:cs typeface="Calibri"/>
              </a:rPr>
              <a:t> </a:t>
            </a:r>
            <a:r>
              <a:rPr sz="2000" dirty="0">
                <a:latin typeface="Calibri"/>
                <a:cs typeface="Calibri"/>
              </a:rPr>
              <a:t>tuples</a:t>
            </a:r>
            <a:endParaRPr sz="2000">
              <a:latin typeface="Calibri"/>
              <a:cs typeface="Calibri"/>
            </a:endParaRPr>
          </a:p>
          <a:p>
            <a:pPr marL="355600" indent="-342900" algn="just">
              <a:lnSpc>
                <a:spcPct val="100000"/>
              </a:lnSpc>
              <a:spcBef>
                <a:spcPts val="480"/>
              </a:spcBef>
              <a:buFont typeface="Arial MT"/>
              <a:buChar char="•"/>
              <a:tabLst>
                <a:tab pos="355600" algn="l"/>
              </a:tabLst>
            </a:pPr>
            <a:r>
              <a:rPr sz="2000" spc="-5" dirty="0">
                <a:latin typeface="Calibri"/>
                <a:cs typeface="Calibri"/>
              </a:rPr>
              <a:t>The</a:t>
            </a:r>
            <a:r>
              <a:rPr sz="2000" spc="455" dirty="0">
                <a:latin typeface="Calibri"/>
                <a:cs typeface="Calibri"/>
              </a:rPr>
              <a:t> </a:t>
            </a:r>
            <a:r>
              <a:rPr sz="2000" spc="-10" dirty="0">
                <a:latin typeface="Calibri"/>
                <a:cs typeface="Calibri"/>
              </a:rPr>
              <a:t>attribute</a:t>
            </a:r>
            <a:r>
              <a:rPr sz="2000" spc="455" dirty="0">
                <a:latin typeface="Calibri"/>
                <a:cs typeface="Calibri"/>
              </a:rPr>
              <a:t> </a:t>
            </a:r>
            <a:r>
              <a:rPr sz="2000" spc="-10" dirty="0">
                <a:latin typeface="Calibri"/>
                <a:cs typeface="Calibri"/>
              </a:rPr>
              <a:t>having</a:t>
            </a:r>
            <a:r>
              <a:rPr sz="2000" spc="470" dirty="0">
                <a:latin typeface="Calibri"/>
                <a:cs typeface="Calibri"/>
              </a:rPr>
              <a:t> </a:t>
            </a:r>
            <a:r>
              <a:rPr sz="2000" dirty="0">
                <a:latin typeface="Calibri"/>
                <a:cs typeface="Calibri"/>
              </a:rPr>
              <a:t>the</a:t>
            </a:r>
            <a:r>
              <a:rPr sz="2000" spc="450" dirty="0">
                <a:latin typeface="Calibri"/>
                <a:cs typeface="Calibri"/>
              </a:rPr>
              <a:t> </a:t>
            </a:r>
            <a:r>
              <a:rPr sz="2000" spc="-10" dirty="0">
                <a:latin typeface="Calibri"/>
                <a:cs typeface="Calibri"/>
              </a:rPr>
              <a:t>best</a:t>
            </a:r>
            <a:r>
              <a:rPr sz="2000" spc="465" dirty="0">
                <a:latin typeface="Calibri"/>
                <a:cs typeface="Calibri"/>
              </a:rPr>
              <a:t> </a:t>
            </a:r>
            <a:r>
              <a:rPr sz="2000" spc="-10" dirty="0">
                <a:latin typeface="Calibri"/>
                <a:cs typeface="Calibri"/>
              </a:rPr>
              <a:t>score</a:t>
            </a:r>
            <a:r>
              <a:rPr sz="2000" spc="459" dirty="0">
                <a:latin typeface="Calibri"/>
                <a:cs typeface="Calibri"/>
              </a:rPr>
              <a:t> </a:t>
            </a:r>
            <a:r>
              <a:rPr sz="2000" spc="-15" dirty="0">
                <a:latin typeface="Calibri"/>
                <a:cs typeface="Calibri"/>
              </a:rPr>
              <a:t>for</a:t>
            </a:r>
            <a:r>
              <a:rPr sz="2000" spc="459" dirty="0">
                <a:latin typeface="Calibri"/>
                <a:cs typeface="Calibri"/>
              </a:rPr>
              <a:t> </a:t>
            </a:r>
            <a:r>
              <a:rPr sz="2000" dirty="0">
                <a:latin typeface="Calibri"/>
                <a:cs typeface="Calibri"/>
              </a:rPr>
              <a:t>the</a:t>
            </a:r>
            <a:r>
              <a:rPr sz="2000" spc="465" dirty="0">
                <a:latin typeface="Calibri"/>
                <a:cs typeface="Calibri"/>
              </a:rPr>
              <a:t> </a:t>
            </a:r>
            <a:r>
              <a:rPr sz="2000" spc="-5" dirty="0">
                <a:latin typeface="Calibri"/>
                <a:cs typeface="Calibri"/>
              </a:rPr>
              <a:t>measure</a:t>
            </a:r>
            <a:r>
              <a:rPr sz="2000" spc="470" dirty="0">
                <a:latin typeface="Calibri"/>
                <a:cs typeface="Calibri"/>
              </a:rPr>
              <a:t> </a:t>
            </a:r>
            <a:r>
              <a:rPr sz="2000" spc="-5" dirty="0">
                <a:latin typeface="Calibri"/>
                <a:cs typeface="Calibri"/>
              </a:rPr>
              <a:t>is</a:t>
            </a:r>
            <a:r>
              <a:rPr sz="2000" spc="470" dirty="0">
                <a:latin typeface="Calibri"/>
                <a:cs typeface="Calibri"/>
              </a:rPr>
              <a:t> </a:t>
            </a:r>
            <a:r>
              <a:rPr sz="2000" dirty="0">
                <a:latin typeface="Calibri"/>
                <a:cs typeface="Calibri"/>
              </a:rPr>
              <a:t>chosen</a:t>
            </a:r>
            <a:r>
              <a:rPr sz="2000" spc="459" dirty="0">
                <a:latin typeface="Calibri"/>
                <a:cs typeface="Calibri"/>
              </a:rPr>
              <a:t> </a:t>
            </a:r>
            <a:r>
              <a:rPr sz="2000" dirty="0">
                <a:latin typeface="Calibri"/>
                <a:cs typeface="Calibri"/>
              </a:rPr>
              <a:t>as</a:t>
            </a:r>
            <a:r>
              <a:rPr sz="2000" spc="450" dirty="0">
                <a:latin typeface="Calibri"/>
                <a:cs typeface="Calibri"/>
              </a:rPr>
              <a:t> </a:t>
            </a:r>
            <a:r>
              <a:rPr sz="2000" spc="-5" dirty="0">
                <a:latin typeface="Calibri"/>
                <a:cs typeface="Calibri"/>
              </a:rPr>
              <a:t>the</a:t>
            </a:r>
            <a:endParaRPr sz="2000">
              <a:latin typeface="Calibri"/>
              <a:cs typeface="Calibri"/>
            </a:endParaRPr>
          </a:p>
          <a:p>
            <a:pPr marL="355600" algn="just">
              <a:lnSpc>
                <a:spcPct val="100000"/>
              </a:lnSpc>
            </a:pPr>
            <a:r>
              <a:rPr sz="2000" spc="-5" dirty="0">
                <a:latin typeface="Calibri"/>
                <a:cs typeface="Calibri"/>
              </a:rPr>
              <a:t>splitting</a:t>
            </a:r>
            <a:r>
              <a:rPr sz="2000" dirty="0">
                <a:latin typeface="Calibri"/>
                <a:cs typeface="Calibri"/>
              </a:rPr>
              <a:t> </a:t>
            </a:r>
            <a:r>
              <a:rPr sz="2000" spc="-10" dirty="0">
                <a:latin typeface="Calibri"/>
                <a:cs typeface="Calibri"/>
              </a:rPr>
              <a:t>attribute</a:t>
            </a:r>
            <a:r>
              <a:rPr sz="2000" spc="5" dirty="0">
                <a:latin typeface="Calibri"/>
                <a:cs typeface="Calibri"/>
              </a:rPr>
              <a:t> </a:t>
            </a:r>
            <a:r>
              <a:rPr sz="2000" spc="-15" dirty="0">
                <a:latin typeface="Calibri"/>
                <a:cs typeface="Calibri"/>
              </a:rPr>
              <a:t>for </a:t>
            </a:r>
            <a:r>
              <a:rPr sz="2000" dirty="0">
                <a:latin typeface="Calibri"/>
                <a:cs typeface="Calibri"/>
              </a:rPr>
              <a:t>the</a:t>
            </a:r>
            <a:r>
              <a:rPr sz="2000" spc="-15" dirty="0">
                <a:latin typeface="Calibri"/>
                <a:cs typeface="Calibri"/>
              </a:rPr>
              <a:t> </a:t>
            </a:r>
            <a:r>
              <a:rPr sz="2000" spc="-5" dirty="0">
                <a:latin typeface="Calibri"/>
                <a:cs typeface="Calibri"/>
              </a:rPr>
              <a:t>given </a:t>
            </a:r>
            <a:r>
              <a:rPr sz="2000" dirty="0">
                <a:latin typeface="Calibri"/>
                <a:cs typeface="Calibri"/>
              </a:rPr>
              <a:t>tuples</a:t>
            </a:r>
            <a:endParaRPr sz="200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61641" y="385953"/>
            <a:ext cx="4219575" cy="452120"/>
          </a:xfrm>
          <a:prstGeom prst="rect">
            <a:avLst/>
          </a:prstGeom>
        </p:spPr>
        <p:txBody>
          <a:bodyPr vert="horz" wrap="square" lIns="0" tIns="12065" rIns="0" bIns="0" rtlCol="0">
            <a:spAutoFit/>
          </a:bodyPr>
          <a:lstStyle/>
          <a:p>
            <a:pPr marL="12700">
              <a:lnSpc>
                <a:spcPct val="100000"/>
              </a:lnSpc>
              <a:spcBef>
                <a:spcPts val="95"/>
              </a:spcBef>
            </a:pPr>
            <a:r>
              <a:rPr sz="2800" spc="-25" dirty="0"/>
              <a:t>Attribute</a:t>
            </a:r>
            <a:r>
              <a:rPr sz="2800" spc="20" dirty="0"/>
              <a:t> </a:t>
            </a:r>
            <a:r>
              <a:rPr sz="2800" spc="-10" dirty="0"/>
              <a:t>Selection</a:t>
            </a:r>
            <a:r>
              <a:rPr sz="2800" dirty="0"/>
              <a:t> </a:t>
            </a:r>
            <a:r>
              <a:rPr sz="2800" spc="-10" dirty="0"/>
              <a:t>Measures</a:t>
            </a:r>
            <a:endParaRPr sz="2800"/>
          </a:p>
        </p:txBody>
      </p:sp>
      <p:sp>
        <p:nvSpPr>
          <p:cNvPr id="3" name="object 3"/>
          <p:cNvSpPr txBox="1"/>
          <p:nvPr/>
        </p:nvSpPr>
        <p:spPr>
          <a:xfrm>
            <a:off x="535940" y="1189481"/>
            <a:ext cx="8073390" cy="2438488"/>
          </a:xfrm>
          <a:prstGeom prst="rect">
            <a:avLst/>
          </a:prstGeom>
        </p:spPr>
        <p:txBody>
          <a:bodyPr vert="horz" wrap="square" lIns="0" tIns="45085" rIns="0" bIns="0" rtlCol="0">
            <a:spAutoFit/>
          </a:bodyPr>
          <a:lstStyle/>
          <a:p>
            <a:pPr marL="355600" marR="5080" indent="-342900" algn="just">
              <a:lnSpc>
                <a:spcPts val="2050"/>
              </a:lnSpc>
              <a:spcBef>
                <a:spcPts val="355"/>
              </a:spcBef>
              <a:buFont typeface="Arial MT"/>
              <a:buChar char="•"/>
              <a:tabLst>
                <a:tab pos="355600" algn="l"/>
              </a:tabLst>
            </a:pPr>
            <a:r>
              <a:rPr sz="1900" spc="-5" dirty="0">
                <a:latin typeface="Calibri"/>
                <a:cs typeface="Calibri"/>
              </a:rPr>
              <a:t>If the </a:t>
            </a:r>
            <a:r>
              <a:rPr sz="1900" spc="-10" dirty="0">
                <a:latin typeface="Calibri"/>
                <a:cs typeface="Calibri"/>
              </a:rPr>
              <a:t>splitting attribute </a:t>
            </a:r>
            <a:r>
              <a:rPr sz="1900" spc="-5" dirty="0">
                <a:latin typeface="Calibri"/>
                <a:cs typeface="Calibri"/>
              </a:rPr>
              <a:t>is </a:t>
            </a:r>
            <a:r>
              <a:rPr sz="1900" spc="-10" dirty="0">
                <a:latin typeface="Calibri"/>
                <a:cs typeface="Calibri"/>
              </a:rPr>
              <a:t>continuous-valued </a:t>
            </a:r>
            <a:r>
              <a:rPr sz="1900" spc="-5" dirty="0">
                <a:latin typeface="Calibri"/>
                <a:cs typeface="Calibri"/>
              </a:rPr>
              <a:t>or if </a:t>
            </a:r>
            <a:r>
              <a:rPr sz="1900" spc="-10" dirty="0">
                <a:latin typeface="Calibri"/>
                <a:cs typeface="Calibri"/>
              </a:rPr>
              <a:t>we </a:t>
            </a:r>
            <a:r>
              <a:rPr sz="1900" spc="-15" dirty="0">
                <a:latin typeface="Calibri"/>
                <a:cs typeface="Calibri"/>
              </a:rPr>
              <a:t>are </a:t>
            </a:r>
            <a:r>
              <a:rPr sz="1900" spc="-10" dirty="0">
                <a:latin typeface="Calibri"/>
                <a:cs typeface="Calibri"/>
              </a:rPr>
              <a:t>restricted </a:t>
            </a:r>
            <a:r>
              <a:rPr sz="1900" spc="-15" dirty="0">
                <a:latin typeface="Calibri"/>
                <a:cs typeface="Calibri"/>
              </a:rPr>
              <a:t>to </a:t>
            </a:r>
            <a:r>
              <a:rPr sz="1900" spc="-5" dirty="0">
                <a:latin typeface="Calibri"/>
                <a:cs typeface="Calibri"/>
              </a:rPr>
              <a:t>binary </a:t>
            </a:r>
            <a:r>
              <a:rPr sz="1900" dirty="0">
                <a:latin typeface="Calibri"/>
                <a:cs typeface="Calibri"/>
              </a:rPr>
              <a:t> </a:t>
            </a:r>
            <a:r>
              <a:rPr sz="1900" spc="-10" dirty="0">
                <a:latin typeface="Calibri"/>
                <a:cs typeface="Calibri"/>
              </a:rPr>
              <a:t>trees </a:t>
            </a:r>
            <a:r>
              <a:rPr sz="1900" spc="-5" dirty="0">
                <a:latin typeface="Calibri"/>
                <a:cs typeface="Calibri"/>
              </a:rPr>
              <a:t>then, </a:t>
            </a:r>
            <a:r>
              <a:rPr sz="1900" spc="-15" dirty="0">
                <a:latin typeface="Calibri"/>
                <a:cs typeface="Calibri"/>
              </a:rPr>
              <a:t>respectively, </a:t>
            </a:r>
            <a:r>
              <a:rPr sz="1900" dirty="0">
                <a:latin typeface="Calibri"/>
                <a:cs typeface="Calibri"/>
              </a:rPr>
              <a:t>either </a:t>
            </a:r>
            <a:r>
              <a:rPr sz="1900" spc="-5" dirty="0">
                <a:latin typeface="Calibri"/>
                <a:cs typeface="Calibri"/>
              </a:rPr>
              <a:t>a </a:t>
            </a:r>
            <a:r>
              <a:rPr sz="1900" spc="-15" dirty="0">
                <a:latin typeface="Calibri"/>
                <a:cs typeface="Calibri"/>
              </a:rPr>
              <a:t>‘split </a:t>
            </a:r>
            <a:r>
              <a:rPr sz="1900" dirty="0">
                <a:latin typeface="Calibri"/>
                <a:cs typeface="Calibri"/>
              </a:rPr>
              <a:t>point’ or </a:t>
            </a:r>
            <a:r>
              <a:rPr sz="1900" spc="-5" dirty="0">
                <a:latin typeface="Calibri"/>
                <a:cs typeface="Calibri"/>
              </a:rPr>
              <a:t>a </a:t>
            </a:r>
            <a:r>
              <a:rPr sz="1900" spc="-15" dirty="0">
                <a:latin typeface="Calibri"/>
                <a:cs typeface="Calibri"/>
              </a:rPr>
              <a:t>‘splitting </a:t>
            </a:r>
            <a:r>
              <a:rPr sz="1900" dirty="0">
                <a:latin typeface="Calibri"/>
                <a:cs typeface="Calibri"/>
              </a:rPr>
              <a:t>subset’ </a:t>
            </a:r>
            <a:r>
              <a:rPr sz="1900" spc="-10" dirty="0">
                <a:latin typeface="Calibri"/>
                <a:cs typeface="Calibri"/>
              </a:rPr>
              <a:t>must </a:t>
            </a:r>
            <a:r>
              <a:rPr sz="1900" spc="-5" dirty="0">
                <a:latin typeface="Calibri"/>
                <a:cs typeface="Calibri"/>
              </a:rPr>
              <a:t>also </a:t>
            </a:r>
            <a:r>
              <a:rPr sz="1900" spc="5" dirty="0">
                <a:latin typeface="Calibri"/>
                <a:cs typeface="Calibri"/>
              </a:rPr>
              <a:t>be </a:t>
            </a:r>
            <a:r>
              <a:rPr sz="1900" spc="-415" dirty="0">
                <a:latin typeface="Calibri"/>
                <a:cs typeface="Calibri"/>
              </a:rPr>
              <a:t> </a:t>
            </a:r>
            <a:r>
              <a:rPr sz="1900" spc="-10" dirty="0">
                <a:latin typeface="Calibri"/>
                <a:cs typeface="Calibri"/>
              </a:rPr>
              <a:t>determined</a:t>
            </a:r>
            <a:r>
              <a:rPr sz="1900" spc="25" dirty="0">
                <a:latin typeface="Calibri"/>
                <a:cs typeface="Calibri"/>
              </a:rPr>
              <a:t> </a:t>
            </a:r>
            <a:r>
              <a:rPr sz="1900" spc="-5" dirty="0">
                <a:latin typeface="Calibri"/>
                <a:cs typeface="Calibri"/>
              </a:rPr>
              <a:t>as</a:t>
            </a:r>
            <a:r>
              <a:rPr sz="1900" spc="-10" dirty="0">
                <a:latin typeface="Calibri"/>
                <a:cs typeface="Calibri"/>
              </a:rPr>
              <a:t> </a:t>
            </a:r>
            <a:r>
              <a:rPr sz="1900" spc="-5" dirty="0">
                <a:latin typeface="Calibri"/>
                <a:cs typeface="Calibri"/>
              </a:rPr>
              <a:t>part</a:t>
            </a:r>
            <a:r>
              <a:rPr sz="1900" dirty="0">
                <a:latin typeface="Calibri"/>
                <a:cs typeface="Calibri"/>
              </a:rPr>
              <a:t> </a:t>
            </a:r>
            <a:r>
              <a:rPr sz="1900" spc="-5" dirty="0">
                <a:latin typeface="Calibri"/>
                <a:cs typeface="Calibri"/>
              </a:rPr>
              <a:t>of the</a:t>
            </a:r>
            <a:r>
              <a:rPr sz="1900" dirty="0">
                <a:latin typeface="Calibri"/>
                <a:cs typeface="Calibri"/>
              </a:rPr>
              <a:t> </a:t>
            </a:r>
            <a:r>
              <a:rPr sz="1900" spc="-10" dirty="0">
                <a:latin typeface="Calibri"/>
                <a:cs typeface="Calibri"/>
              </a:rPr>
              <a:t>splitting</a:t>
            </a:r>
            <a:r>
              <a:rPr sz="1900" spc="15" dirty="0">
                <a:latin typeface="Calibri"/>
                <a:cs typeface="Calibri"/>
              </a:rPr>
              <a:t> </a:t>
            </a:r>
            <a:r>
              <a:rPr sz="1900" spc="-10" dirty="0">
                <a:latin typeface="Calibri"/>
                <a:cs typeface="Calibri"/>
              </a:rPr>
              <a:t>criterion</a:t>
            </a:r>
            <a:endParaRPr sz="1900" dirty="0">
              <a:latin typeface="Calibri"/>
              <a:cs typeface="Calibri"/>
            </a:endParaRPr>
          </a:p>
          <a:p>
            <a:pPr>
              <a:lnSpc>
                <a:spcPct val="100000"/>
              </a:lnSpc>
              <a:spcBef>
                <a:spcPts val="25"/>
              </a:spcBef>
              <a:buFont typeface="Arial MT"/>
              <a:buChar char="•"/>
            </a:pPr>
            <a:endParaRPr sz="2200" dirty="0">
              <a:latin typeface="Calibri"/>
              <a:cs typeface="Calibri"/>
            </a:endParaRPr>
          </a:p>
          <a:p>
            <a:pPr marL="355600" indent="-342900">
              <a:lnSpc>
                <a:spcPct val="100000"/>
              </a:lnSpc>
              <a:buFont typeface="Arial MT"/>
              <a:buChar char="•"/>
              <a:tabLst>
                <a:tab pos="354965" algn="l"/>
                <a:tab pos="355600" algn="l"/>
              </a:tabLst>
            </a:pPr>
            <a:r>
              <a:rPr sz="1900" spc="-10" dirty="0">
                <a:latin typeface="Calibri"/>
                <a:cs typeface="Calibri"/>
              </a:rPr>
              <a:t>There</a:t>
            </a:r>
            <a:r>
              <a:rPr sz="1900" spc="10" dirty="0">
                <a:latin typeface="Calibri"/>
                <a:cs typeface="Calibri"/>
              </a:rPr>
              <a:t> </a:t>
            </a:r>
            <a:r>
              <a:rPr sz="1900" spc="-15" dirty="0">
                <a:latin typeface="Calibri"/>
                <a:cs typeface="Calibri"/>
              </a:rPr>
              <a:t>are</a:t>
            </a:r>
            <a:r>
              <a:rPr sz="1900" spc="10" dirty="0">
                <a:latin typeface="Calibri"/>
                <a:cs typeface="Calibri"/>
              </a:rPr>
              <a:t> </a:t>
            </a:r>
            <a:r>
              <a:rPr sz="1900" spc="-10" dirty="0">
                <a:latin typeface="Calibri"/>
                <a:cs typeface="Calibri"/>
              </a:rPr>
              <a:t>three</a:t>
            </a:r>
            <a:r>
              <a:rPr sz="1900" spc="15" dirty="0">
                <a:latin typeface="Calibri"/>
                <a:cs typeface="Calibri"/>
              </a:rPr>
              <a:t> </a:t>
            </a:r>
            <a:r>
              <a:rPr sz="1900" spc="-10" dirty="0">
                <a:latin typeface="Calibri"/>
                <a:cs typeface="Calibri"/>
              </a:rPr>
              <a:t>popular</a:t>
            </a:r>
            <a:r>
              <a:rPr sz="1900" spc="30" dirty="0">
                <a:latin typeface="Calibri"/>
                <a:cs typeface="Calibri"/>
              </a:rPr>
              <a:t> </a:t>
            </a:r>
            <a:r>
              <a:rPr sz="1900" spc="-10" dirty="0">
                <a:latin typeface="Calibri"/>
                <a:cs typeface="Calibri"/>
              </a:rPr>
              <a:t>attribute</a:t>
            </a:r>
            <a:r>
              <a:rPr sz="1900" spc="20" dirty="0">
                <a:latin typeface="Calibri"/>
                <a:cs typeface="Calibri"/>
              </a:rPr>
              <a:t> </a:t>
            </a:r>
            <a:r>
              <a:rPr sz="1900" spc="-5" dirty="0">
                <a:latin typeface="Calibri"/>
                <a:cs typeface="Calibri"/>
              </a:rPr>
              <a:t>selection</a:t>
            </a:r>
            <a:r>
              <a:rPr sz="1900" spc="5" dirty="0">
                <a:latin typeface="Calibri"/>
                <a:cs typeface="Calibri"/>
              </a:rPr>
              <a:t> </a:t>
            </a:r>
            <a:r>
              <a:rPr sz="1900" spc="-10" dirty="0">
                <a:latin typeface="Calibri"/>
                <a:cs typeface="Calibri"/>
              </a:rPr>
              <a:t>measures</a:t>
            </a:r>
            <a:endParaRPr sz="1900" dirty="0">
              <a:latin typeface="Calibri"/>
              <a:cs typeface="Calibri"/>
            </a:endParaRPr>
          </a:p>
          <a:p>
            <a:pPr marL="756285" lvl="1" indent="-287020">
              <a:lnSpc>
                <a:spcPct val="100000"/>
              </a:lnSpc>
              <a:spcBef>
                <a:spcPts val="229"/>
              </a:spcBef>
              <a:buFont typeface="Arial MT"/>
              <a:buChar char="–"/>
              <a:tabLst>
                <a:tab pos="756285" algn="l"/>
                <a:tab pos="756920" algn="l"/>
              </a:tabLst>
            </a:pPr>
            <a:r>
              <a:rPr sz="1900" u="sng" spc="-15" dirty="0">
                <a:solidFill>
                  <a:srgbClr val="FF0000"/>
                </a:solidFill>
                <a:latin typeface="Calibri"/>
                <a:cs typeface="Calibri"/>
              </a:rPr>
              <a:t>information</a:t>
            </a:r>
            <a:r>
              <a:rPr sz="1900" u="sng" spc="-5" dirty="0">
                <a:solidFill>
                  <a:srgbClr val="FF0000"/>
                </a:solidFill>
                <a:latin typeface="Calibri"/>
                <a:cs typeface="Calibri"/>
              </a:rPr>
              <a:t> </a:t>
            </a:r>
            <a:r>
              <a:rPr sz="1900" u="sng" spc="-15" dirty="0">
                <a:solidFill>
                  <a:srgbClr val="FF0000"/>
                </a:solidFill>
                <a:latin typeface="Calibri"/>
                <a:cs typeface="Calibri"/>
              </a:rPr>
              <a:t>gain</a:t>
            </a:r>
            <a:endParaRPr sz="1900" u="sng" dirty="0">
              <a:solidFill>
                <a:srgbClr val="FF0000"/>
              </a:solidFill>
              <a:latin typeface="Calibri"/>
              <a:cs typeface="Calibri"/>
            </a:endParaRPr>
          </a:p>
          <a:p>
            <a:pPr marL="756285" lvl="1" indent="-287020">
              <a:lnSpc>
                <a:spcPct val="100000"/>
              </a:lnSpc>
              <a:spcBef>
                <a:spcPts val="229"/>
              </a:spcBef>
              <a:buFont typeface="Arial MT"/>
              <a:buChar char="–"/>
              <a:tabLst>
                <a:tab pos="756285" algn="l"/>
                <a:tab pos="756920" algn="l"/>
              </a:tabLst>
            </a:pPr>
            <a:r>
              <a:rPr sz="1900" spc="-15" dirty="0">
                <a:latin typeface="Calibri"/>
                <a:cs typeface="Calibri"/>
              </a:rPr>
              <a:t>gain</a:t>
            </a:r>
            <a:r>
              <a:rPr sz="1900" spc="-5" dirty="0">
                <a:latin typeface="Calibri"/>
                <a:cs typeface="Calibri"/>
              </a:rPr>
              <a:t> </a:t>
            </a:r>
            <a:r>
              <a:rPr sz="1900" spc="-20" dirty="0">
                <a:latin typeface="Calibri"/>
                <a:cs typeface="Calibri"/>
              </a:rPr>
              <a:t>ratio,</a:t>
            </a:r>
            <a:r>
              <a:rPr sz="1900" spc="-15" dirty="0">
                <a:latin typeface="Calibri"/>
                <a:cs typeface="Calibri"/>
              </a:rPr>
              <a:t> </a:t>
            </a:r>
            <a:r>
              <a:rPr sz="1900" spc="-5" dirty="0">
                <a:latin typeface="Calibri"/>
                <a:cs typeface="Calibri"/>
              </a:rPr>
              <a:t>and</a:t>
            </a:r>
            <a:endParaRPr sz="1900" dirty="0">
              <a:latin typeface="Calibri"/>
              <a:cs typeface="Calibri"/>
            </a:endParaRPr>
          </a:p>
          <a:p>
            <a:pPr marL="756285" lvl="1" indent="-287020">
              <a:lnSpc>
                <a:spcPct val="100000"/>
              </a:lnSpc>
              <a:spcBef>
                <a:spcPts val="225"/>
              </a:spcBef>
              <a:buFont typeface="Arial MT"/>
              <a:buChar char="–"/>
              <a:tabLst>
                <a:tab pos="756285" algn="l"/>
                <a:tab pos="756920" algn="l"/>
              </a:tabLst>
            </a:pPr>
            <a:r>
              <a:rPr sz="1900" spc="-5" dirty="0">
                <a:latin typeface="Calibri"/>
                <a:cs typeface="Calibri"/>
              </a:rPr>
              <a:t>Gini</a:t>
            </a:r>
            <a:r>
              <a:rPr sz="1900" spc="-20" dirty="0">
                <a:latin typeface="Calibri"/>
                <a:cs typeface="Calibri"/>
              </a:rPr>
              <a:t> </a:t>
            </a:r>
            <a:r>
              <a:rPr sz="1900" spc="-10" dirty="0">
                <a:latin typeface="Calibri"/>
                <a:cs typeface="Calibri"/>
              </a:rPr>
              <a:t>index</a:t>
            </a:r>
            <a:endParaRPr sz="1900" dirty="0">
              <a:latin typeface="Calibri"/>
              <a:cs typeface="Calibri"/>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32</a:t>
            </a:fld>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461641" y="385953"/>
            <a:ext cx="4219575" cy="452120"/>
          </a:xfrm>
          <a:prstGeom prst="rect">
            <a:avLst/>
          </a:prstGeom>
        </p:spPr>
        <p:txBody>
          <a:bodyPr vert="horz" wrap="square" lIns="0" tIns="12065" rIns="0" bIns="0" rtlCol="0">
            <a:spAutoFit/>
          </a:bodyPr>
          <a:lstStyle/>
          <a:p>
            <a:pPr marL="12700">
              <a:lnSpc>
                <a:spcPct val="100000"/>
              </a:lnSpc>
              <a:spcBef>
                <a:spcPts val="95"/>
              </a:spcBef>
            </a:pPr>
            <a:r>
              <a:rPr sz="2800" spc="-25" dirty="0"/>
              <a:t>Attribute</a:t>
            </a:r>
            <a:r>
              <a:rPr sz="2800" spc="20" dirty="0"/>
              <a:t> </a:t>
            </a:r>
            <a:r>
              <a:rPr sz="2800" spc="-10" dirty="0"/>
              <a:t>Selection</a:t>
            </a:r>
            <a:r>
              <a:rPr sz="2800" dirty="0"/>
              <a:t> </a:t>
            </a:r>
            <a:r>
              <a:rPr sz="2800" spc="-10" dirty="0"/>
              <a:t>Measures</a:t>
            </a:r>
            <a:endParaRPr sz="2800"/>
          </a:p>
        </p:txBody>
      </p:sp>
      <p:pic>
        <p:nvPicPr>
          <p:cNvPr id="4" name="object 4"/>
          <p:cNvPicPr/>
          <p:nvPr/>
        </p:nvPicPr>
        <p:blipFill>
          <a:blip r:embed="rId2" cstate="print"/>
          <a:stretch>
            <a:fillRect/>
          </a:stretch>
        </p:blipFill>
        <p:spPr>
          <a:xfrm>
            <a:off x="457200" y="949452"/>
            <a:ext cx="7543800" cy="707898"/>
          </a:xfrm>
          <a:prstGeom prst="rect">
            <a:avLst/>
          </a:prstGeom>
        </p:spPr>
      </p:pic>
      <p:sp>
        <p:nvSpPr>
          <p:cNvPr id="14" name="object 14"/>
          <p:cNvSpPr txBox="1">
            <a:spLocks noGrp="1"/>
          </p:cNvSpPr>
          <p:nvPr>
            <p:ph type="sldNum" sz="quarter" idx="4294967295"/>
          </p:nvPr>
        </p:nvSpPr>
        <p:spPr>
          <a:xfrm>
            <a:off x="8401557" y="4830038"/>
            <a:ext cx="231775" cy="178435"/>
          </a:xfrm>
          <a:prstGeom prst="rect">
            <a:avLst/>
          </a:prstGeom>
        </p:spPr>
        <p:txBody>
          <a:bodyPr vert="horz" wrap="square" lIns="0" tIns="0" rIns="0" bIns="0" rtlCol="0">
            <a:spAutoFit/>
          </a:bodyPr>
          <a:lstStyle/>
          <a:p>
            <a:pPr marL="38100">
              <a:lnSpc>
                <a:spcPts val="1240"/>
              </a:lnSpc>
            </a:pPr>
            <a:fld id="{81D60167-4931-47E6-BA6A-407CBD079E47}" type="slidenum">
              <a:rPr dirty="0"/>
              <a:t>33</a:t>
            </a:fld>
            <a:endParaRPr dirty="0"/>
          </a:p>
        </p:txBody>
      </p:sp>
      <p:pic>
        <p:nvPicPr>
          <p:cNvPr id="7" name="Picture 6">
            <a:extLst>
              <a:ext uri="{FF2B5EF4-FFF2-40B4-BE49-F238E27FC236}">
                <a16:creationId xmlns:a16="http://schemas.microsoft.com/office/drawing/2014/main" id="{BEE729BC-9122-4928-97C7-CFAD7E167B4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9000"/>
                    </a14:imgEffect>
                  </a14:imgLayer>
                </a14:imgProps>
              </a:ext>
            </a:extLst>
          </a:blip>
          <a:stretch>
            <a:fillRect/>
          </a:stretch>
        </p:blipFill>
        <p:spPr>
          <a:xfrm>
            <a:off x="1676400" y="1652434"/>
            <a:ext cx="5017628" cy="343391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32226" y="385953"/>
            <a:ext cx="2479675" cy="452120"/>
          </a:xfrm>
          <a:prstGeom prst="rect">
            <a:avLst/>
          </a:prstGeom>
        </p:spPr>
        <p:txBody>
          <a:bodyPr vert="horz" wrap="square" lIns="0" tIns="12065" rIns="0" bIns="0" rtlCol="0">
            <a:spAutoFit/>
          </a:bodyPr>
          <a:lstStyle/>
          <a:p>
            <a:pPr marL="12700">
              <a:lnSpc>
                <a:spcPct val="100000"/>
              </a:lnSpc>
              <a:spcBef>
                <a:spcPts val="95"/>
              </a:spcBef>
            </a:pPr>
            <a:r>
              <a:rPr sz="2800" spc="-15" dirty="0"/>
              <a:t>Information</a:t>
            </a:r>
            <a:r>
              <a:rPr sz="2800" spc="-55" dirty="0"/>
              <a:t> </a:t>
            </a:r>
            <a:r>
              <a:rPr sz="2800" spc="-5" dirty="0"/>
              <a:t>Gain</a:t>
            </a:r>
            <a:endParaRPr sz="28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34</a:t>
            </a:fld>
            <a:endParaRPr dirty="0"/>
          </a:p>
        </p:txBody>
      </p:sp>
      <p:sp>
        <p:nvSpPr>
          <p:cNvPr id="3" name="object 3"/>
          <p:cNvSpPr txBox="1"/>
          <p:nvPr/>
        </p:nvSpPr>
        <p:spPr>
          <a:xfrm>
            <a:off x="535940" y="1156563"/>
            <a:ext cx="8072755" cy="2708275"/>
          </a:xfrm>
          <a:prstGeom prst="rect">
            <a:avLst/>
          </a:prstGeom>
        </p:spPr>
        <p:txBody>
          <a:bodyPr vert="horz" wrap="square" lIns="0" tIns="73660" rIns="0" bIns="0" rtlCol="0">
            <a:spAutoFit/>
          </a:bodyPr>
          <a:lstStyle/>
          <a:p>
            <a:pPr marL="355600" indent="-342900" algn="just">
              <a:lnSpc>
                <a:spcPct val="100000"/>
              </a:lnSpc>
              <a:spcBef>
                <a:spcPts val="580"/>
              </a:spcBef>
              <a:buFont typeface="Arial MT"/>
              <a:buChar char="•"/>
              <a:tabLst>
                <a:tab pos="355600" algn="l"/>
              </a:tabLst>
            </a:pPr>
            <a:r>
              <a:rPr sz="2000" spc="-5" dirty="0">
                <a:latin typeface="Calibri"/>
                <a:cs typeface="Calibri"/>
              </a:rPr>
              <a:t>This measure</a:t>
            </a:r>
            <a:r>
              <a:rPr sz="2000" spc="15" dirty="0">
                <a:latin typeface="Calibri"/>
                <a:cs typeface="Calibri"/>
              </a:rPr>
              <a:t> </a:t>
            </a:r>
            <a:r>
              <a:rPr sz="2000" spc="-5" dirty="0">
                <a:latin typeface="Calibri"/>
                <a:cs typeface="Calibri"/>
              </a:rPr>
              <a:t>studied</a:t>
            </a:r>
            <a:r>
              <a:rPr sz="2000" spc="15" dirty="0">
                <a:latin typeface="Calibri"/>
                <a:cs typeface="Calibri"/>
              </a:rPr>
              <a:t> </a:t>
            </a:r>
            <a:r>
              <a:rPr sz="2000" dirty="0">
                <a:latin typeface="Calibri"/>
                <a:cs typeface="Calibri"/>
              </a:rPr>
              <a:t>the</a:t>
            </a:r>
            <a:r>
              <a:rPr sz="2000" spc="10" dirty="0">
                <a:latin typeface="Calibri"/>
                <a:cs typeface="Calibri"/>
              </a:rPr>
              <a:t> </a:t>
            </a:r>
            <a:r>
              <a:rPr sz="2000" spc="-5" dirty="0">
                <a:latin typeface="Calibri"/>
                <a:cs typeface="Calibri"/>
              </a:rPr>
              <a:t>value or</a:t>
            </a:r>
            <a:r>
              <a:rPr sz="2000" spc="5" dirty="0">
                <a:latin typeface="Calibri"/>
                <a:cs typeface="Calibri"/>
              </a:rPr>
              <a:t> </a:t>
            </a:r>
            <a:r>
              <a:rPr sz="2000" spc="-10" dirty="0">
                <a:latin typeface="Calibri"/>
                <a:cs typeface="Calibri"/>
              </a:rPr>
              <a:t>“information</a:t>
            </a:r>
            <a:r>
              <a:rPr sz="2000" dirty="0">
                <a:latin typeface="Calibri"/>
                <a:cs typeface="Calibri"/>
              </a:rPr>
              <a:t> </a:t>
            </a:r>
            <a:r>
              <a:rPr sz="2000" spc="-5" dirty="0">
                <a:latin typeface="Calibri"/>
                <a:cs typeface="Calibri"/>
              </a:rPr>
              <a:t>content”</a:t>
            </a:r>
            <a:r>
              <a:rPr sz="2000" spc="-10" dirty="0">
                <a:latin typeface="Calibri"/>
                <a:cs typeface="Calibri"/>
              </a:rPr>
              <a:t> </a:t>
            </a:r>
            <a:r>
              <a:rPr sz="2000" dirty="0">
                <a:latin typeface="Calibri"/>
                <a:cs typeface="Calibri"/>
              </a:rPr>
              <a:t>of</a:t>
            </a:r>
            <a:r>
              <a:rPr sz="2000" spc="-5" dirty="0">
                <a:latin typeface="Calibri"/>
                <a:cs typeface="Calibri"/>
              </a:rPr>
              <a:t> messages</a:t>
            </a:r>
            <a:endParaRPr sz="2000" dirty="0">
              <a:latin typeface="Calibri"/>
              <a:cs typeface="Calibri"/>
            </a:endParaRPr>
          </a:p>
          <a:p>
            <a:pPr marL="355600" marR="5715" indent="-342900" algn="just">
              <a:lnSpc>
                <a:spcPct val="100000"/>
              </a:lnSpc>
              <a:spcBef>
                <a:spcPts val="480"/>
              </a:spcBef>
              <a:buFont typeface="Arial MT"/>
              <a:buChar char="•"/>
              <a:tabLst>
                <a:tab pos="355600" algn="l"/>
              </a:tabLst>
            </a:pPr>
            <a:r>
              <a:rPr sz="2000" spc="-5" dirty="0">
                <a:latin typeface="Calibri"/>
                <a:cs typeface="Calibri"/>
              </a:rPr>
              <a:t>The </a:t>
            </a:r>
            <a:r>
              <a:rPr sz="2000" spc="-10" dirty="0">
                <a:latin typeface="Calibri"/>
                <a:cs typeface="Calibri"/>
              </a:rPr>
              <a:t>attribute </a:t>
            </a:r>
            <a:r>
              <a:rPr sz="2000" spc="-5" dirty="0">
                <a:latin typeface="Calibri"/>
                <a:cs typeface="Calibri"/>
              </a:rPr>
              <a:t>with </a:t>
            </a:r>
            <a:r>
              <a:rPr sz="2000" dirty="0">
                <a:latin typeface="Calibri"/>
                <a:cs typeface="Calibri"/>
              </a:rPr>
              <a:t>the </a:t>
            </a:r>
            <a:r>
              <a:rPr sz="2000" spc="-10" dirty="0">
                <a:latin typeface="Calibri"/>
                <a:cs typeface="Calibri"/>
              </a:rPr>
              <a:t>highest information gain </a:t>
            </a:r>
            <a:r>
              <a:rPr sz="2000" spc="-5" dirty="0">
                <a:latin typeface="Calibri"/>
                <a:cs typeface="Calibri"/>
              </a:rPr>
              <a:t>is </a:t>
            </a:r>
            <a:r>
              <a:rPr sz="2000" dirty="0">
                <a:latin typeface="Calibri"/>
                <a:cs typeface="Calibri"/>
              </a:rPr>
              <a:t>chosen as </a:t>
            </a:r>
            <a:r>
              <a:rPr sz="2000" spc="-5" dirty="0">
                <a:latin typeface="Calibri"/>
                <a:cs typeface="Calibri"/>
              </a:rPr>
              <a:t>the </a:t>
            </a:r>
            <a:r>
              <a:rPr sz="2000" spc="-10" dirty="0">
                <a:latin typeface="Calibri"/>
                <a:cs typeface="Calibri"/>
              </a:rPr>
              <a:t>splitting </a:t>
            </a:r>
            <a:r>
              <a:rPr sz="2000" spc="-5" dirty="0">
                <a:latin typeface="Calibri"/>
                <a:cs typeface="Calibri"/>
              </a:rPr>
              <a:t> </a:t>
            </a:r>
            <a:r>
              <a:rPr sz="2000" spc="-10" dirty="0">
                <a:latin typeface="Calibri"/>
                <a:cs typeface="Calibri"/>
              </a:rPr>
              <a:t>attribute</a:t>
            </a:r>
            <a:r>
              <a:rPr sz="2000" spc="15" dirty="0">
                <a:latin typeface="Calibri"/>
                <a:cs typeface="Calibri"/>
              </a:rPr>
              <a:t> </a:t>
            </a:r>
            <a:r>
              <a:rPr sz="2000" spc="-15" dirty="0">
                <a:latin typeface="Calibri"/>
                <a:cs typeface="Calibri"/>
              </a:rPr>
              <a:t>for </a:t>
            </a:r>
            <a:r>
              <a:rPr sz="2000" dirty="0">
                <a:latin typeface="Calibri"/>
                <a:cs typeface="Calibri"/>
              </a:rPr>
              <a:t>node</a:t>
            </a:r>
          </a:p>
          <a:p>
            <a:pPr marL="355600" marR="5080" indent="-342900" algn="just">
              <a:lnSpc>
                <a:spcPct val="100000"/>
              </a:lnSpc>
              <a:spcBef>
                <a:spcPts val="480"/>
              </a:spcBef>
              <a:buFont typeface="Arial MT"/>
              <a:buChar char="•"/>
              <a:tabLst>
                <a:tab pos="355600" algn="l"/>
              </a:tabLst>
            </a:pPr>
            <a:r>
              <a:rPr sz="2000" spc="-5" dirty="0">
                <a:solidFill>
                  <a:srgbClr val="FF0000"/>
                </a:solidFill>
                <a:latin typeface="Calibri"/>
                <a:cs typeface="Calibri"/>
              </a:rPr>
              <a:t>This </a:t>
            </a:r>
            <a:r>
              <a:rPr sz="2000" spc="-10" dirty="0">
                <a:solidFill>
                  <a:srgbClr val="FF0000"/>
                </a:solidFill>
                <a:latin typeface="Calibri"/>
                <a:cs typeface="Calibri"/>
              </a:rPr>
              <a:t>attribute minimizes </a:t>
            </a:r>
            <a:r>
              <a:rPr sz="2000" dirty="0">
                <a:solidFill>
                  <a:srgbClr val="FF0000"/>
                </a:solidFill>
                <a:latin typeface="Calibri"/>
                <a:cs typeface="Calibri"/>
              </a:rPr>
              <a:t>the </a:t>
            </a:r>
            <a:r>
              <a:rPr sz="2000" spc="-10" dirty="0">
                <a:solidFill>
                  <a:srgbClr val="FF0000"/>
                </a:solidFill>
                <a:latin typeface="Calibri"/>
                <a:cs typeface="Calibri"/>
              </a:rPr>
              <a:t>information </a:t>
            </a:r>
            <a:r>
              <a:rPr sz="2000" dirty="0">
                <a:solidFill>
                  <a:srgbClr val="FF0000"/>
                </a:solidFill>
                <a:latin typeface="Calibri"/>
                <a:cs typeface="Calibri"/>
              </a:rPr>
              <a:t>needed </a:t>
            </a:r>
            <a:r>
              <a:rPr sz="2000" spc="-15" dirty="0">
                <a:solidFill>
                  <a:srgbClr val="FF0000"/>
                </a:solidFill>
                <a:latin typeface="Calibri"/>
                <a:cs typeface="Calibri"/>
              </a:rPr>
              <a:t>to </a:t>
            </a:r>
            <a:r>
              <a:rPr sz="2000" dirty="0">
                <a:solidFill>
                  <a:srgbClr val="FF0000"/>
                </a:solidFill>
                <a:latin typeface="Calibri"/>
                <a:cs typeface="Calibri"/>
              </a:rPr>
              <a:t>classify </a:t>
            </a:r>
            <a:r>
              <a:rPr sz="2000" spc="-5" dirty="0">
                <a:solidFill>
                  <a:srgbClr val="FF0000"/>
                </a:solidFill>
                <a:latin typeface="Calibri"/>
                <a:cs typeface="Calibri"/>
              </a:rPr>
              <a:t>the tuples in </a:t>
            </a:r>
            <a:r>
              <a:rPr sz="2000" dirty="0">
                <a:solidFill>
                  <a:srgbClr val="FF0000"/>
                </a:solidFill>
                <a:latin typeface="Calibri"/>
                <a:cs typeface="Calibri"/>
              </a:rPr>
              <a:t> the </a:t>
            </a:r>
            <a:r>
              <a:rPr sz="2000" spc="-5" dirty="0">
                <a:solidFill>
                  <a:srgbClr val="FF0000"/>
                </a:solidFill>
                <a:latin typeface="Calibri"/>
                <a:cs typeface="Calibri"/>
              </a:rPr>
              <a:t>resulting </a:t>
            </a:r>
            <a:r>
              <a:rPr sz="2000" dirty="0">
                <a:solidFill>
                  <a:srgbClr val="FF0000"/>
                </a:solidFill>
                <a:latin typeface="Calibri"/>
                <a:cs typeface="Calibri"/>
              </a:rPr>
              <a:t>partitions and </a:t>
            </a:r>
            <a:r>
              <a:rPr sz="2000" spc="-10" dirty="0">
                <a:solidFill>
                  <a:srgbClr val="FF0000"/>
                </a:solidFill>
                <a:latin typeface="Calibri"/>
                <a:cs typeface="Calibri"/>
              </a:rPr>
              <a:t>reﬂects </a:t>
            </a:r>
            <a:r>
              <a:rPr sz="2000" dirty="0">
                <a:solidFill>
                  <a:srgbClr val="FF0000"/>
                </a:solidFill>
                <a:latin typeface="Calibri"/>
                <a:cs typeface="Calibri"/>
              </a:rPr>
              <a:t>the </a:t>
            </a:r>
            <a:r>
              <a:rPr sz="2000" spc="-5" dirty="0">
                <a:solidFill>
                  <a:srgbClr val="FF0000"/>
                </a:solidFill>
                <a:latin typeface="Calibri"/>
                <a:cs typeface="Calibri"/>
              </a:rPr>
              <a:t>least randomness or </a:t>
            </a:r>
            <a:r>
              <a:rPr sz="2000" dirty="0">
                <a:solidFill>
                  <a:srgbClr val="FF0000"/>
                </a:solidFill>
                <a:latin typeface="Calibri"/>
                <a:cs typeface="Calibri"/>
              </a:rPr>
              <a:t>“impurity” </a:t>
            </a:r>
            <a:r>
              <a:rPr sz="2000" spc="-5" dirty="0">
                <a:solidFill>
                  <a:srgbClr val="FF0000"/>
                </a:solidFill>
                <a:latin typeface="Calibri"/>
                <a:cs typeface="Calibri"/>
              </a:rPr>
              <a:t>in </a:t>
            </a:r>
            <a:r>
              <a:rPr sz="2000" dirty="0">
                <a:solidFill>
                  <a:srgbClr val="FF0000"/>
                </a:solidFill>
                <a:latin typeface="Calibri"/>
                <a:cs typeface="Calibri"/>
              </a:rPr>
              <a:t> these</a:t>
            </a:r>
            <a:r>
              <a:rPr sz="2000" spc="5" dirty="0">
                <a:solidFill>
                  <a:srgbClr val="FF0000"/>
                </a:solidFill>
                <a:latin typeface="Calibri"/>
                <a:cs typeface="Calibri"/>
              </a:rPr>
              <a:t> </a:t>
            </a:r>
            <a:r>
              <a:rPr sz="2000" spc="-5" dirty="0">
                <a:solidFill>
                  <a:srgbClr val="FF0000"/>
                </a:solidFill>
                <a:latin typeface="Calibri"/>
                <a:cs typeface="Calibri"/>
              </a:rPr>
              <a:t>partitions</a:t>
            </a:r>
            <a:endParaRPr sz="2000" dirty="0">
              <a:solidFill>
                <a:srgbClr val="FF0000"/>
              </a:solidFill>
              <a:latin typeface="Calibri"/>
              <a:cs typeface="Calibri"/>
            </a:endParaRPr>
          </a:p>
          <a:p>
            <a:pPr marL="355600" marR="5080" indent="-342900" algn="just">
              <a:lnSpc>
                <a:spcPct val="100000"/>
              </a:lnSpc>
              <a:spcBef>
                <a:spcPts val="480"/>
              </a:spcBef>
              <a:buFont typeface="Arial MT"/>
              <a:buChar char="•"/>
              <a:tabLst>
                <a:tab pos="355600" algn="l"/>
              </a:tabLst>
            </a:pPr>
            <a:r>
              <a:rPr sz="2000" spc="-5" dirty="0">
                <a:latin typeface="Calibri"/>
                <a:cs typeface="Calibri"/>
              </a:rPr>
              <a:t>This</a:t>
            </a:r>
            <a:r>
              <a:rPr sz="2000" spc="114" dirty="0">
                <a:latin typeface="Calibri"/>
                <a:cs typeface="Calibri"/>
              </a:rPr>
              <a:t> </a:t>
            </a:r>
            <a:r>
              <a:rPr sz="2000" spc="-5" dirty="0">
                <a:latin typeface="Calibri"/>
                <a:cs typeface="Calibri"/>
              </a:rPr>
              <a:t>approach</a:t>
            </a:r>
            <a:r>
              <a:rPr sz="2000" spc="125" dirty="0">
                <a:latin typeface="Calibri"/>
                <a:cs typeface="Calibri"/>
              </a:rPr>
              <a:t> </a:t>
            </a:r>
            <a:r>
              <a:rPr sz="2000" spc="-10" dirty="0">
                <a:latin typeface="Calibri"/>
                <a:cs typeface="Calibri"/>
              </a:rPr>
              <a:t>minimizes</a:t>
            </a:r>
            <a:r>
              <a:rPr sz="2000" spc="135" dirty="0">
                <a:latin typeface="Calibri"/>
                <a:cs typeface="Calibri"/>
              </a:rPr>
              <a:t> </a:t>
            </a:r>
            <a:r>
              <a:rPr sz="2000" dirty="0">
                <a:latin typeface="Calibri"/>
                <a:cs typeface="Calibri"/>
              </a:rPr>
              <a:t>the</a:t>
            </a:r>
            <a:r>
              <a:rPr sz="2000" spc="125" dirty="0">
                <a:latin typeface="Calibri"/>
                <a:cs typeface="Calibri"/>
              </a:rPr>
              <a:t> </a:t>
            </a:r>
            <a:r>
              <a:rPr sz="2000" spc="-10" dirty="0">
                <a:latin typeface="Calibri"/>
                <a:cs typeface="Calibri"/>
              </a:rPr>
              <a:t>expected</a:t>
            </a:r>
            <a:r>
              <a:rPr sz="2000" spc="130" dirty="0">
                <a:latin typeface="Calibri"/>
                <a:cs typeface="Calibri"/>
              </a:rPr>
              <a:t> </a:t>
            </a:r>
            <a:r>
              <a:rPr sz="2000" dirty="0">
                <a:latin typeface="Calibri"/>
                <a:cs typeface="Calibri"/>
              </a:rPr>
              <a:t>number</a:t>
            </a:r>
            <a:r>
              <a:rPr sz="2000" spc="120" dirty="0">
                <a:latin typeface="Calibri"/>
                <a:cs typeface="Calibri"/>
              </a:rPr>
              <a:t> </a:t>
            </a:r>
            <a:r>
              <a:rPr sz="2000" spc="-5" dirty="0">
                <a:latin typeface="Calibri"/>
                <a:cs typeface="Calibri"/>
              </a:rPr>
              <a:t>of</a:t>
            </a:r>
            <a:r>
              <a:rPr sz="2000" spc="120" dirty="0">
                <a:latin typeface="Calibri"/>
                <a:cs typeface="Calibri"/>
              </a:rPr>
              <a:t> </a:t>
            </a:r>
            <a:r>
              <a:rPr sz="2000" spc="-10" dirty="0">
                <a:latin typeface="Calibri"/>
                <a:cs typeface="Calibri"/>
              </a:rPr>
              <a:t>tests</a:t>
            </a:r>
            <a:r>
              <a:rPr sz="2000" spc="125" dirty="0">
                <a:latin typeface="Calibri"/>
                <a:cs typeface="Calibri"/>
              </a:rPr>
              <a:t> </a:t>
            </a:r>
            <a:r>
              <a:rPr sz="2000" dirty="0">
                <a:latin typeface="Calibri"/>
                <a:cs typeface="Calibri"/>
              </a:rPr>
              <a:t>needed</a:t>
            </a:r>
            <a:r>
              <a:rPr sz="2000" spc="125" dirty="0">
                <a:latin typeface="Calibri"/>
                <a:cs typeface="Calibri"/>
              </a:rPr>
              <a:t> </a:t>
            </a:r>
            <a:r>
              <a:rPr sz="2000" spc="-15" dirty="0">
                <a:latin typeface="Calibri"/>
                <a:cs typeface="Calibri"/>
              </a:rPr>
              <a:t>to</a:t>
            </a:r>
            <a:r>
              <a:rPr sz="2000" spc="120" dirty="0">
                <a:latin typeface="Calibri"/>
                <a:cs typeface="Calibri"/>
              </a:rPr>
              <a:t> </a:t>
            </a:r>
            <a:r>
              <a:rPr sz="2000" dirty="0">
                <a:latin typeface="Calibri"/>
                <a:cs typeface="Calibri"/>
              </a:rPr>
              <a:t>classify </a:t>
            </a:r>
            <a:r>
              <a:rPr sz="2000" spc="-440" dirty="0">
                <a:latin typeface="Calibri"/>
                <a:cs typeface="Calibri"/>
              </a:rPr>
              <a:t> </a:t>
            </a:r>
            <a:r>
              <a:rPr sz="2000" dirty="0">
                <a:latin typeface="Calibri"/>
                <a:cs typeface="Calibri"/>
              </a:rPr>
              <a:t>a </a:t>
            </a:r>
            <a:r>
              <a:rPr sz="2000" spc="-5" dirty="0">
                <a:latin typeface="Calibri"/>
                <a:cs typeface="Calibri"/>
              </a:rPr>
              <a:t>given</a:t>
            </a:r>
            <a:r>
              <a:rPr sz="2000" spc="-10" dirty="0">
                <a:latin typeface="Calibri"/>
                <a:cs typeface="Calibri"/>
              </a:rPr>
              <a:t> </a:t>
            </a:r>
            <a:r>
              <a:rPr sz="2000" dirty="0">
                <a:latin typeface="Calibri"/>
                <a:cs typeface="Calibri"/>
              </a:rPr>
              <a:t>tuple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5485" y="385953"/>
            <a:ext cx="5193030" cy="452120"/>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Calibri"/>
                <a:cs typeface="Calibri"/>
              </a:rPr>
              <a:t>Information</a:t>
            </a:r>
            <a:r>
              <a:rPr lang="en-IN" b="1" spc="-15" dirty="0">
                <a:latin typeface="Calibri"/>
                <a:cs typeface="Calibri"/>
              </a:rPr>
              <a:t> or </a:t>
            </a:r>
            <a:r>
              <a:rPr sz="2800" b="1" spc="-10" dirty="0">
                <a:latin typeface="Calibri"/>
                <a:cs typeface="Calibri"/>
              </a:rPr>
              <a:t>Entropy </a:t>
            </a:r>
            <a:endParaRPr sz="2800" dirty="0">
              <a:latin typeface="Calibri"/>
              <a:cs typeface="Calibri"/>
            </a:endParaRPr>
          </a:p>
        </p:txBody>
      </p:sp>
      <p:sp>
        <p:nvSpPr>
          <p:cNvPr id="3" name="object 3"/>
          <p:cNvSpPr txBox="1"/>
          <p:nvPr/>
        </p:nvSpPr>
        <p:spPr>
          <a:xfrm>
            <a:off x="472440" y="893826"/>
            <a:ext cx="4655820" cy="3119120"/>
          </a:xfrm>
          <a:prstGeom prst="rect">
            <a:avLst/>
          </a:prstGeom>
        </p:spPr>
        <p:txBody>
          <a:bodyPr vert="horz" wrap="square" lIns="0" tIns="13335" rIns="0" bIns="0" rtlCol="0">
            <a:spAutoFit/>
          </a:bodyPr>
          <a:lstStyle/>
          <a:p>
            <a:pPr marL="419100" indent="-342900">
              <a:lnSpc>
                <a:spcPts val="1939"/>
              </a:lnSpc>
              <a:spcBef>
                <a:spcPts val="105"/>
              </a:spcBef>
              <a:buFont typeface="Arial MT"/>
              <a:buChar char="•"/>
              <a:tabLst>
                <a:tab pos="418465" algn="l"/>
                <a:tab pos="419100" algn="l"/>
              </a:tabLst>
            </a:pPr>
            <a:r>
              <a:rPr sz="1700" spc="-5" dirty="0">
                <a:latin typeface="Calibri"/>
                <a:cs typeface="Calibri"/>
              </a:rPr>
              <a:t>The</a:t>
            </a:r>
            <a:r>
              <a:rPr sz="1700" spc="135" dirty="0">
                <a:latin typeface="Calibri"/>
                <a:cs typeface="Calibri"/>
              </a:rPr>
              <a:t> </a:t>
            </a:r>
            <a:r>
              <a:rPr sz="1700" spc="-10" dirty="0">
                <a:latin typeface="Calibri"/>
                <a:cs typeface="Calibri"/>
              </a:rPr>
              <a:t>expected</a:t>
            </a:r>
            <a:r>
              <a:rPr sz="1700" spc="145" dirty="0">
                <a:latin typeface="Calibri"/>
                <a:cs typeface="Calibri"/>
              </a:rPr>
              <a:t> </a:t>
            </a:r>
            <a:r>
              <a:rPr sz="1700" spc="-10" dirty="0">
                <a:latin typeface="Calibri"/>
                <a:cs typeface="Calibri"/>
              </a:rPr>
              <a:t>information</a:t>
            </a:r>
            <a:r>
              <a:rPr sz="1700" spc="140" dirty="0">
                <a:latin typeface="Calibri"/>
                <a:cs typeface="Calibri"/>
              </a:rPr>
              <a:t> </a:t>
            </a:r>
            <a:r>
              <a:rPr sz="1700" spc="-5" dirty="0">
                <a:latin typeface="Calibri"/>
                <a:cs typeface="Calibri"/>
              </a:rPr>
              <a:t>needed</a:t>
            </a:r>
            <a:r>
              <a:rPr sz="1700" spc="140" dirty="0">
                <a:latin typeface="Calibri"/>
                <a:cs typeface="Calibri"/>
              </a:rPr>
              <a:t> </a:t>
            </a:r>
            <a:r>
              <a:rPr sz="1700" spc="-5" dirty="0">
                <a:latin typeface="Calibri"/>
                <a:cs typeface="Calibri"/>
              </a:rPr>
              <a:t>to</a:t>
            </a:r>
            <a:r>
              <a:rPr sz="1700" spc="145" dirty="0">
                <a:latin typeface="Calibri"/>
                <a:cs typeface="Calibri"/>
              </a:rPr>
              <a:t> </a:t>
            </a:r>
            <a:r>
              <a:rPr sz="1700" dirty="0">
                <a:latin typeface="Calibri"/>
                <a:cs typeface="Calibri"/>
              </a:rPr>
              <a:t>classify</a:t>
            </a:r>
            <a:r>
              <a:rPr sz="1700" spc="145" dirty="0">
                <a:latin typeface="Calibri"/>
                <a:cs typeface="Calibri"/>
              </a:rPr>
              <a:t> </a:t>
            </a:r>
            <a:r>
              <a:rPr sz="1700" dirty="0">
                <a:latin typeface="Calibri"/>
                <a:cs typeface="Calibri"/>
              </a:rPr>
              <a:t>a</a:t>
            </a:r>
            <a:endParaRPr sz="1700">
              <a:latin typeface="Calibri"/>
              <a:cs typeface="Calibri"/>
            </a:endParaRPr>
          </a:p>
          <a:p>
            <a:pPr marL="419100">
              <a:lnSpc>
                <a:spcPts val="1939"/>
              </a:lnSpc>
            </a:pPr>
            <a:r>
              <a:rPr sz="1700" dirty="0">
                <a:latin typeface="Calibri"/>
                <a:cs typeface="Calibri"/>
              </a:rPr>
              <a:t>tuple</a:t>
            </a:r>
            <a:r>
              <a:rPr sz="1700" spc="-45" dirty="0">
                <a:latin typeface="Calibri"/>
                <a:cs typeface="Calibri"/>
              </a:rPr>
              <a:t> </a:t>
            </a:r>
            <a:r>
              <a:rPr sz="1700" dirty="0">
                <a:latin typeface="Calibri"/>
                <a:cs typeface="Calibri"/>
              </a:rPr>
              <a:t>in</a:t>
            </a:r>
            <a:r>
              <a:rPr sz="1700" spc="-15" dirty="0">
                <a:latin typeface="Calibri"/>
                <a:cs typeface="Calibri"/>
              </a:rPr>
              <a:t> </a:t>
            </a:r>
            <a:r>
              <a:rPr sz="1700" i="1" dirty="0">
                <a:latin typeface="Calibri"/>
                <a:cs typeface="Calibri"/>
              </a:rPr>
              <a:t>D</a:t>
            </a:r>
            <a:r>
              <a:rPr sz="1700" i="1" spc="-5" dirty="0">
                <a:latin typeface="Calibri"/>
                <a:cs typeface="Calibri"/>
              </a:rPr>
              <a:t> </a:t>
            </a:r>
            <a:r>
              <a:rPr sz="1700" dirty="0">
                <a:latin typeface="Calibri"/>
                <a:cs typeface="Calibri"/>
              </a:rPr>
              <a:t>is</a:t>
            </a:r>
            <a:r>
              <a:rPr sz="1700" spc="-25" dirty="0">
                <a:latin typeface="Calibri"/>
                <a:cs typeface="Calibri"/>
              </a:rPr>
              <a:t> </a:t>
            </a:r>
            <a:r>
              <a:rPr sz="1700" spc="-5" dirty="0">
                <a:latin typeface="Calibri"/>
                <a:cs typeface="Calibri"/>
              </a:rPr>
              <a:t>given</a:t>
            </a:r>
            <a:r>
              <a:rPr sz="1700" spc="-25" dirty="0">
                <a:latin typeface="Calibri"/>
                <a:cs typeface="Calibri"/>
              </a:rPr>
              <a:t> </a:t>
            </a:r>
            <a:r>
              <a:rPr sz="1700" spc="-10" dirty="0">
                <a:latin typeface="Calibri"/>
                <a:cs typeface="Calibri"/>
              </a:rPr>
              <a:t>by</a:t>
            </a:r>
            <a:endParaRPr sz="1700">
              <a:latin typeface="Calibri"/>
              <a:cs typeface="Calibri"/>
            </a:endParaRPr>
          </a:p>
          <a:p>
            <a:pPr>
              <a:lnSpc>
                <a:spcPct val="100000"/>
              </a:lnSpc>
            </a:pPr>
            <a:endParaRPr sz="1700">
              <a:latin typeface="Calibri"/>
              <a:cs typeface="Calibri"/>
            </a:endParaRPr>
          </a:p>
          <a:p>
            <a:pPr>
              <a:lnSpc>
                <a:spcPct val="100000"/>
              </a:lnSpc>
              <a:spcBef>
                <a:spcPts val="50"/>
              </a:spcBef>
            </a:pPr>
            <a:endParaRPr sz="2250">
              <a:latin typeface="Calibri"/>
              <a:cs typeface="Calibri"/>
            </a:endParaRPr>
          </a:p>
          <a:p>
            <a:pPr marL="419100" marR="81280" indent="-342900" algn="just">
              <a:lnSpc>
                <a:spcPct val="91200"/>
              </a:lnSpc>
              <a:buFont typeface="Arial MT"/>
              <a:buChar char="•"/>
              <a:tabLst>
                <a:tab pos="419100" algn="l"/>
              </a:tabLst>
            </a:pPr>
            <a:r>
              <a:rPr sz="1700" spc="-5" dirty="0">
                <a:latin typeface="Calibri"/>
                <a:cs typeface="Calibri"/>
              </a:rPr>
              <a:t>Where</a:t>
            </a:r>
            <a:r>
              <a:rPr sz="1700" dirty="0">
                <a:latin typeface="Calibri"/>
                <a:cs typeface="Calibri"/>
              </a:rPr>
              <a:t> </a:t>
            </a:r>
            <a:r>
              <a:rPr sz="1700" spc="-15" dirty="0">
                <a:latin typeface="Cambria Math"/>
                <a:cs typeface="Cambria Math"/>
              </a:rPr>
              <a:t>𝑝</a:t>
            </a:r>
            <a:r>
              <a:rPr sz="1875" spc="-22" baseline="-15555" dirty="0">
                <a:latin typeface="Cambria Math"/>
                <a:cs typeface="Cambria Math"/>
              </a:rPr>
              <a:t>𝑖 </a:t>
            </a:r>
            <a:r>
              <a:rPr sz="1700" spc="-5" dirty="0">
                <a:latin typeface="Calibri"/>
                <a:cs typeface="Calibri"/>
              </a:rPr>
              <a:t>is</a:t>
            </a:r>
            <a:r>
              <a:rPr sz="1700" dirty="0">
                <a:latin typeface="Calibri"/>
                <a:cs typeface="Calibri"/>
              </a:rPr>
              <a:t> </a:t>
            </a:r>
            <a:r>
              <a:rPr sz="1700" spc="-5" dirty="0">
                <a:latin typeface="Calibri"/>
                <a:cs typeface="Calibri"/>
              </a:rPr>
              <a:t>the</a:t>
            </a:r>
            <a:r>
              <a:rPr sz="1700" dirty="0">
                <a:latin typeface="Calibri"/>
                <a:cs typeface="Calibri"/>
              </a:rPr>
              <a:t> </a:t>
            </a:r>
            <a:r>
              <a:rPr sz="1700" spc="-10" dirty="0">
                <a:latin typeface="Calibri"/>
                <a:cs typeface="Calibri"/>
              </a:rPr>
              <a:t>probability</a:t>
            </a:r>
            <a:r>
              <a:rPr sz="1700" spc="-5" dirty="0">
                <a:latin typeface="Calibri"/>
                <a:cs typeface="Calibri"/>
              </a:rPr>
              <a:t> that</a:t>
            </a:r>
            <a:r>
              <a:rPr sz="1700" dirty="0">
                <a:latin typeface="Calibri"/>
                <a:cs typeface="Calibri"/>
              </a:rPr>
              <a:t> </a:t>
            </a:r>
            <a:r>
              <a:rPr sz="1700" spc="-10" dirty="0">
                <a:latin typeface="Calibri"/>
                <a:cs typeface="Calibri"/>
              </a:rPr>
              <a:t>an</a:t>
            </a:r>
            <a:r>
              <a:rPr sz="1700" spc="-5" dirty="0">
                <a:latin typeface="Calibri"/>
                <a:cs typeface="Calibri"/>
              </a:rPr>
              <a:t> </a:t>
            </a:r>
            <a:r>
              <a:rPr sz="1700" spc="-10" dirty="0">
                <a:latin typeface="Calibri"/>
                <a:cs typeface="Calibri"/>
              </a:rPr>
              <a:t>arbitrary </a:t>
            </a:r>
            <a:r>
              <a:rPr sz="1700" spc="-5" dirty="0">
                <a:latin typeface="Calibri"/>
                <a:cs typeface="Calibri"/>
              </a:rPr>
              <a:t> tuple in</a:t>
            </a:r>
            <a:r>
              <a:rPr sz="1700" dirty="0">
                <a:latin typeface="Calibri"/>
                <a:cs typeface="Calibri"/>
              </a:rPr>
              <a:t> </a:t>
            </a:r>
            <a:r>
              <a:rPr sz="1700" i="1" dirty="0">
                <a:latin typeface="Calibri"/>
                <a:cs typeface="Calibri"/>
              </a:rPr>
              <a:t>D </a:t>
            </a:r>
            <a:r>
              <a:rPr sz="1700" spc="-5" dirty="0">
                <a:latin typeface="Calibri"/>
                <a:cs typeface="Calibri"/>
              </a:rPr>
              <a:t>belongs</a:t>
            </a:r>
            <a:r>
              <a:rPr sz="1700" dirty="0">
                <a:latin typeface="Calibri"/>
                <a:cs typeface="Calibri"/>
              </a:rPr>
              <a:t> </a:t>
            </a:r>
            <a:r>
              <a:rPr sz="1700" spc="-5" dirty="0">
                <a:latin typeface="Calibri"/>
                <a:cs typeface="Calibri"/>
              </a:rPr>
              <a:t>to</a:t>
            </a:r>
            <a:r>
              <a:rPr sz="1700" spc="370" dirty="0">
                <a:latin typeface="Calibri"/>
                <a:cs typeface="Calibri"/>
              </a:rPr>
              <a:t> </a:t>
            </a:r>
            <a:r>
              <a:rPr sz="1700" spc="-5" dirty="0">
                <a:latin typeface="Calibri"/>
                <a:cs typeface="Calibri"/>
              </a:rPr>
              <a:t>class </a:t>
            </a:r>
            <a:r>
              <a:rPr sz="1700" spc="10" dirty="0">
                <a:latin typeface="Cambria Math"/>
                <a:cs typeface="Cambria Math"/>
              </a:rPr>
              <a:t>𝐶</a:t>
            </a:r>
            <a:r>
              <a:rPr sz="1875" spc="15" baseline="-15555" dirty="0">
                <a:latin typeface="Cambria Math"/>
                <a:cs typeface="Cambria Math"/>
              </a:rPr>
              <a:t>𝑖</a:t>
            </a:r>
            <a:r>
              <a:rPr sz="1700" spc="10" dirty="0">
                <a:latin typeface="Calibri"/>
                <a:cs typeface="Calibri"/>
              </a:rPr>
              <a:t>and </a:t>
            </a:r>
            <a:r>
              <a:rPr sz="1700" spc="-5" dirty="0">
                <a:latin typeface="Calibri"/>
                <a:cs typeface="Calibri"/>
              </a:rPr>
              <a:t>is </a:t>
            </a:r>
            <a:r>
              <a:rPr sz="1700" spc="-10" dirty="0">
                <a:latin typeface="Calibri"/>
                <a:cs typeface="Calibri"/>
              </a:rPr>
              <a:t>estimated </a:t>
            </a:r>
            <a:r>
              <a:rPr sz="1700" spc="-5" dirty="0">
                <a:latin typeface="Calibri"/>
                <a:cs typeface="Calibri"/>
              </a:rPr>
              <a:t> by</a:t>
            </a:r>
            <a:r>
              <a:rPr sz="1700" spc="-10" dirty="0">
                <a:latin typeface="Calibri"/>
                <a:cs typeface="Calibri"/>
              </a:rPr>
              <a:t> </a:t>
            </a:r>
            <a:r>
              <a:rPr sz="1700" spc="-5" dirty="0">
                <a:latin typeface="Calibri"/>
                <a:cs typeface="Calibri"/>
              </a:rPr>
              <a:t>|</a:t>
            </a:r>
            <a:r>
              <a:rPr sz="1700" spc="-5" dirty="0">
                <a:latin typeface="Cambria Math"/>
                <a:cs typeface="Cambria Math"/>
              </a:rPr>
              <a:t>𝐶</a:t>
            </a:r>
            <a:r>
              <a:rPr sz="1875" spc="-7" baseline="-15555" dirty="0">
                <a:latin typeface="Cambria Math"/>
                <a:cs typeface="Cambria Math"/>
              </a:rPr>
              <a:t>𝑖,𝐷</a:t>
            </a:r>
            <a:r>
              <a:rPr sz="1875" spc="292" baseline="-15555" dirty="0">
                <a:latin typeface="Cambria Math"/>
                <a:cs typeface="Cambria Math"/>
              </a:rPr>
              <a:t> </a:t>
            </a:r>
            <a:r>
              <a:rPr sz="1700" spc="-5" dirty="0">
                <a:latin typeface="Calibri"/>
                <a:cs typeface="Calibri"/>
              </a:rPr>
              <a:t>|/|</a:t>
            </a:r>
            <a:r>
              <a:rPr sz="1700" i="1" spc="-5" dirty="0">
                <a:latin typeface="Calibri"/>
                <a:cs typeface="Calibri"/>
              </a:rPr>
              <a:t>D</a:t>
            </a:r>
            <a:r>
              <a:rPr sz="1700" spc="-5" dirty="0">
                <a:latin typeface="Calibri"/>
                <a:cs typeface="Calibri"/>
              </a:rPr>
              <a:t>|.</a:t>
            </a:r>
            <a:endParaRPr sz="1700">
              <a:latin typeface="Calibri"/>
              <a:cs typeface="Calibri"/>
            </a:endParaRPr>
          </a:p>
          <a:p>
            <a:pPr marL="419100" marR="83820" indent="-342900" algn="just">
              <a:lnSpc>
                <a:spcPts val="1839"/>
              </a:lnSpc>
              <a:spcBef>
                <a:spcPts val="455"/>
              </a:spcBef>
              <a:buFont typeface="Arial MT"/>
              <a:buChar char="•"/>
              <a:tabLst>
                <a:tab pos="419100" algn="l"/>
              </a:tabLst>
            </a:pPr>
            <a:r>
              <a:rPr sz="1700" dirty="0">
                <a:latin typeface="Calibri"/>
                <a:cs typeface="Calibri"/>
              </a:rPr>
              <a:t>A log </a:t>
            </a:r>
            <a:r>
              <a:rPr sz="1700" spc="-5" dirty="0">
                <a:latin typeface="Calibri"/>
                <a:cs typeface="Calibri"/>
              </a:rPr>
              <a:t>function to </a:t>
            </a:r>
            <a:r>
              <a:rPr sz="1700" spc="5" dirty="0">
                <a:latin typeface="Calibri"/>
                <a:cs typeface="Calibri"/>
              </a:rPr>
              <a:t>the </a:t>
            </a:r>
            <a:r>
              <a:rPr sz="1700" spc="-5" dirty="0">
                <a:latin typeface="Calibri"/>
                <a:cs typeface="Calibri"/>
              </a:rPr>
              <a:t>base </a:t>
            </a:r>
            <a:r>
              <a:rPr sz="1700" dirty="0">
                <a:latin typeface="Calibri"/>
                <a:cs typeface="Calibri"/>
              </a:rPr>
              <a:t>2 </a:t>
            </a:r>
            <a:r>
              <a:rPr sz="1700" spc="-5" dirty="0">
                <a:latin typeface="Calibri"/>
                <a:cs typeface="Calibri"/>
              </a:rPr>
              <a:t>is used, because </a:t>
            </a:r>
            <a:r>
              <a:rPr sz="1700" dirty="0">
                <a:latin typeface="Calibri"/>
                <a:cs typeface="Calibri"/>
              </a:rPr>
              <a:t> </a:t>
            </a:r>
            <a:r>
              <a:rPr sz="1700" spc="5" dirty="0">
                <a:latin typeface="Calibri"/>
                <a:cs typeface="Calibri"/>
              </a:rPr>
              <a:t>the</a:t>
            </a:r>
            <a:r>
              <a:rPr sz="1700" spc="-15" dirty="0">
                <a:latin typeface="Calibri"/>
                <a:cs typeface="Calibri"/>
              </a:rPr>
              <a:t> </a:t>
            </a:r>
            <a:r>
              <a:rPr sz="1700" spc="-5" dirty="0">
                <a:latin typeface="Calibri"/>
                <a:cs typeface="Calibri"/>
              </a:rPr>
              <a:t>information</a:t>
            </a:r>
            <a:r>
              <a:rPr sz="1700" spc="-10" dirty="0">
                <a:latin typeface="Calibri"/>
                <a:cs typeface="Calibri"/>
              </a:rPr>
              <a:t> </a:t>
            </a:r>
            <a:r>
              <a:rPr sz="1700" dirty="0">
                <a:latin typeface="Calibri"/>
                <a:cs typeface="Calibri"/>
              </a:rPr>
              <a:t>is</a:t>
            </a:r>
            <a:r>
              <a:rPr sz="1700" spc="-45" dirty="0">
                <a:latin typeface="Calibri"/>
                <a:cs typeface="Calibri"/>
              </a:rPr>
              <a:t> </a:t>
            </a:r>
            <a:r>
              <a:rPr sz="1700" spc="-5" dirty="0">
                <a:latin typeface="Calibri"/>
                <a:cs typeface="Calibri"/>
              </a:rPr>
              <a:t>encoded</a:t>
            </a:r>
            <a:r>
              <a:rPr sz="1700" spc="-30" dirty="0">
                <a:latin typeface="Calibri"/>
                <a:cs typeface="Calibri"/>
              </a:rPr>
              <a:t> </a:t>
            </a:r>
            <a:r>
              <a:rPr sz="1700" dirty="0">
                <a:latin typeface="Calibri"/>
                <a:cs typeface="Calibri"/>
              </a:rPr>
              <a:t>in</a:t>
            </a:r>
            <a:r>
              <a:rPr sz="1700" spc="-10" dirty="0">
                <a:latin typeface="Calibri"/>
                <a:cs typeface="Calibri"/>
              </a:rPr>
              <a:t> </a:t>
            </a:r>
            <a:r>
              <a:rPr sz="1700" dirty="0">
                <a:latin typeface="Calibri"/>
                <a:cs typeface="Calibri"/>
              </a:rPr>
              <a:t>bits</a:t>
            </a:r>
            <a:endParaRPr sz="1700">
              <a:latin typeface="Calibri"/>
              <a:cs typeface="Calibri"/>
            </a:endParaRPr>
          </a:p>
          <a:p>
            <a:pPr marL="419100" marR="81280" indent="-342900" algn="just">
              <a:lnSpc>
                <a:spcPct val="90100"/>
              </a:lnSpc>
              <a:spcBef>
                <a:spcPts val="375"/>
              </a:spcBef>
              <a:buFont typeface="Arial MT"/>
              <a:buChar char="•"/>
              <a:tabLst>
                <a:tab pos="419100" algn="l"/>
              </a:tabLst>
            </a:pPr>
            <a:r>
              <a:rPr sz="1700" spc="-10" dirty="0">
                <a:latin typeface="Calibri"/>
                <a:cs typeface="Calibri"/>
              </a:rPr>
              <a:t>Info(D)</a:t>
            </a:r>
            <a:r>
              <a:rPr sz="1700" spc="-5" dirty="0">
                <a:latin typeface="Calibri"/>
                <a:cs typeface="Calibri"/>
              </a:rPr>
              <a:t> (or</a:t>
            </a:r>
            <a:r>
              <a:rPr sz="1700" dirty="0">
                <a:latin typeface="Calibri"/>
                <a:cs typeface="Calibri"/>
              </a:rPr>
              <a:t> </a:t>
            </a:r>
            <a:r>
              <a:rPr sz="1700" b="1" spc="-15" dirty="0">
                <a:latin typeface="Calibri"/>
                <a:cs typeface="Calibri"/>
              </a:rPr>
              <a:t>Entropy</a:t>
            </a:r>
            <a:r>
              <a:rPr sz="1700" b="1" spc="-10" dirty="0">
                <a:latin typeface="Calibri"/>
                <a:cs typeface="Calibri"/>
              </a:rPr>
              <a:t> </a:t>
            </a:r>
            <a:r>
              <a:rPr sz="1700" dirty="0">
                <a:latin typeface="Calibri"/>
                <a:cs typeface="Calibri"/>
              </a:rPr>
              <a:t>of</a:t>
            </a:r>
            <a:r>
              <a:rPr sz="1700" spc="5" dirty="0">
                <a:latin typeface="Calibri"/>
                <a:cs typeface="Calibri"/>
              </a:rPr>
              <a:t> </a:t>
            </a:r>
            <a:r>
              <a:rPr sz="1700" dirty="0">
                <a:latin typeface="Calibri"/>
                <a:cs typeface="Calibri"/>
              </a:rPr>
              <a:t>D</a:t>
            </a:r>
            <a:r>
              <a:rPr sz="1700" spc="5" dirty="0">
                <a:latin typeface="Calibri"/>
                <a:cs typeface="Calibri"/>
              </a:rPr>
              <a:t> </a:t>
            </a:r>
            <a:r>
              <a:rPr sz="1700" spc="-5" dirty="0">
                <a:latin typeface="Calibri"/>
                <a:cs typeface="Calibri"/>
              </a:rPr>
              <a:t>)is</a:t>
            </a:r>
            <a:r>
              <a:rPr sz="1700" dirty="0">
                <a:latin typeface="Calibri"/>
                <a:cs typeface="Calibri"/>
              </a:rPr>
              <a:t> </a:t>
            </a:r>
            <a:r>
              <a:rPr sz="1700" spc="-10" dirty="0">
                <a:latin typeface="Calibri"/>
                <a:cs typeface="Calibri"/>
              </a:rPr>
              <a:t>just</a:t>
            </a:r>
            <a:r>
              <a:rPr sz="1700" spc="-5" dirty="0">
                <a:latin typeface="Calibri"/>
                <a:cs typeface="Calibri"/>
              </a:rPr>
              <a:t> </a:t>
            </a:r>
            <a:r>
              <a:rPr sz="1700" dirty="0">
                <a:latin typeface="Calibri"/>
                <a:cs typeface="Calibri"/>
              </a:rPr>
              <a:t>the</a:t>
            </a:r>
            <a:r>
              <a:rPr sz="1700" spc="5" dirty="0">
                <a:latin typeface="Calibri"/>
                <a:cs typeface="Calibri"/>
              </a:rPr>
              <a:t> </a:t>
            </a:r>
            <a:r>
              <a:rPr sz="1700" spc="-20" dirty="0">
                <a:solidFill>
                  <a:srgbClr val="FF0000"/>
                </a:solidFill>
                <a:latin typeface="Calibri"/>
                <a:cs typeface="Calibri"/>
              </a:rPr>
              <a:t>average </a:t>
            </a:r>
            <a:r>
              <a:rPr sz="1700" spc="-370" dirty="0">
                <a:solidFill>
                  <a:srgbClr val="FF0000"/>
                </a:solidFill>
                <a:latin typeface="Calibri"/>
                <a:cs typeface="Calibri"/>
              </a:rPr>
              <a:t> </a:t>
            </a:r>
            <a:r>
              <a:rPr sz="1700" spc="-5" dirty="0">
                <a:solidFill>
                  <a:srgbClr val="FF0000"/>
                </a:solidFill>
                <a:latin typeface="Calibri"/>
                <a:cs typeface="Calibri"/>
              </a:rPr>
              <a:t>amount </a:t>
            </a:r>
            <a:r>
              <a:rPr sz="1700" dirty="0">
                <a:solidFill>
                  <a:srgbClr val="FF0000"/>
                </a:solidFill>
                <a:latin typeface="Calibri"/>
                <a:cs typeface="Calibri"/>
              </a:rPr>
              <a:t>of </a:t>
            </a:r>
            <a:r>
              <a:rPr sz="1700" spc="-10" dirty="0">
                <a:solidFill>
                  <a:srgbClr val="FF0000"/>
                </a:solidFill>
                <a:latin typeface="Calibri"/>
                <a:cs typeface="Calibri"/>
              </a:rPr>
              <a:t>information </a:t>
            </a:r>
            <a:r>
              <a:rPr sz="1700" spc="-5" dirty="0">
                <a:solidFill>
                  <a:srgbClr val="FF0000"/>
                </a:solidFill>
                <a:latin typeface="Calibri"/>
                <a:cs typeface="Calibri"/>
              </a:rPr>
              <a:t>needed </a:t>
            </a:r>
            <a:r>
              <a:rPr sz="1700" spc="-10" dirty="0">
                <a:latin typeface="Calibri"/>
                <a:cs typeface="Calibri"/>
              </a:rPr>
              <a:t>to </a:t>
            </a:r>
            <a:r>
              <a:rPr sz="1700" spc="-5" dirty="0">
                <a:latin typeface="Calibri"/>
                <a:cs typeface="Calibri"/>
              </a:rPr>
              <a:t>identify </a:t>
            </a:r>
            <a:r>
              <a:rPr sz="1700" spc="5" dirty="0">
                <a:latin typeface="Calibri"/>
                <a:cs typeface="Calibri"/>
              </a:rPr>
              <a:t>the </a:t>
            </a:r>
            <a:r>
              <a:rPr sz="1700" spc="10" dirty="0">
                <a:latin typeface="Calibri"/>
                <a:cs typeface="Calibri"/>
              </a:rPr>
              <a:t> </a:t>
            </a:r>
            <a:r>
              <a:rPr sz="1700" dirty="0">
                <a:latin typeface="Calibri"/>
                <a:cs typeface="Calibri"/>
              </a:rPr>
              <a:t>class</a:t>
            </a:r>
            <a:r>
              <a:rPr sz="1700" spc="-20" dirty="0">
                <a:latin typeface="Calibri"/>
                <a:cs typeface="Calibri"/>
              </a:rPr>
              <a:t> </a:t>
            </a:r>
            <a:r>
              <a:rPr sz="1700" dirty="0">
                <a:latin typeface="Calibri"/>
                <a:cs typeface="Calibri"/>
              </a:rPr>
              <a:t>label</a:t>
            </a:r>
            <a:r>
              <a:rPr sz="1700" spc="-30" dirty="0">
                <a:latin typeface="Calibri"/>
                <a:cs typeface="Calibri"/>
              </a:rPr>
              <a:t> </a:t>
            </a:r>
            <a:r>
              <a:rPr sz="1700" dirty="0">
                <a:latin typeface="Calibri"/>
                <a:cs typeface="Calibri"/>
              </a:rPr>
              <a:t>of</a:t>
            </a:r>
            <a:r>
              <a:rPr sz="1700" spc="15" dirty="0">
                <a:latin typeface="Calibri"/>
                <a:cs typeface="Calibri"/>
              </a:rPr>
              <a:t> </a:t>
            </a:r>
            <a:r>
              <a:rPr sz="1700" dirty="0">
                <a:latin typeface="Calibri"/>
                <a:cs typeface="Calibri"/>
              </a:rPr>
              <a:t>a</a:t>
            </a:r>
            <a:r>
              <a:rPr sz="1700" spc="-5" dirty="0">
                <a:latin typeface="Calibri"/>
                <a:cs typeface="Calibri"/>
              </a:rPr>
              <a:t> </a:t>
            </a:r>
            <a:r>
              <a:rPr sz="1700" dirty="0">
                <a:latin typeface="Calibri"/>
                <a:cs typeface="Calibri"/>
              </a:rPr>
              <a:t>tuple</a:t>
            </a:r>
            <a:r>
              <a:rPr sz="1700" spc="-30" dirty="0">
                <a:latin typeface="Calibri"/>
                <a:cs typeface="Calibri"/>
              </a:rPr>
              <a:t> </a:t>
            </a:r>
            <a:r>
              <a:rPr sz="1700" dirty="0">
                <a:latin typeface="Calibri"/>
                <a:cs typeface="Calibri"/>
              </a:rPr>
              <a:t>in</a:t>
            </a:r>
            <a:r>
              <a:rPr sz="1700" spc="-20" dirty="0">
                <a:latin typeface="Calibri"/>
                <a:cs typeface="Calibri"/>
              </a:rPr>
              <a:t> </a:t>
            </a:r>
            <a:r>
              <a:rPr sz="1700" i="1" dirty="0">
                <a:latin typeface="Calibri"/>
                <a:cs typeface="Calibri"/>
              </a:rPr>
              <a:t>D</a:t>
            </a:r>
            <a:endParaRPr sz="1700">
              <a:latin typeface="Calibri"/>
              <a:cs typeface="Calibri"/>
            </a:endParaRPr>
          </a:p>
        </p:txBody>
      </p:sp>
      <p:pic>
        <p:nvPicPr>
          <p:cNvPr id="4" name="object 4"/>
          <p:cNvPicPr/>
          <p:nvPr/>
        </p:nvPicPr>
        <p:blipFill>
          <a:blip r:embed="rId2" cstate="print"/>
          <a:stretch>
            <a:fillRect/>
          </a:stretch>
        </p:blipFill>
        <p:spPr>
          <a:xfrm>
            <a:off x="2433827" y="1376172"/>
            <a:ext cx="2244852" cy="665988"/>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35</a:t>
            </a:fld>
            <a:endParaRPr dirty="0"/>
          </a:p>
        </p:txBody>
      </p:sp>
      <p:pic>
        <p:nvPicPr>
          <p:cNvPr id="13" name="object 5">
            <a:extLst>
              <a:ext uri="{FF2B5EF4-FFF2-40B4-BE49-F238E27FC236}">
                <a16:creationId xmlns:a16="http://schemas.microsoft.com/office/drawing/2014/main" id="{36EA2640-2A4E-4B43-BCFD-B28AFB3AFC52}"/>
              </a:ext>
            </a:extLst>
          </p:cNvPr>
          <p:cNvPicPr/>
          <p:nvPr/>
        </p:nvPicPr>
        <p:blipFill>
          <a:blip r:embed="rId3" cstate="print"/>
          <a:stretch>
            <a:fillRect/>
          </a:stretch>
        </p:blipFill>
        <p:spPr>
          <a:xfrm>
            <a:off x="5080015" y="1353578"/>
            <a:ext cx="4019263" cy="2749253"/>
          </a:xfrm>
          <a:prstGeom prst="rect">
            <a:avLst/>
          </a:prstGeom>
        </p:spPr>
      </p:pic>
    </p:spTree>
    <p:extLst>
      <p:ext uri="{BB962C8B-B14F-4D97-AF65-F5344CB8AC3E}">
        <p14:creationId xmlns:p14="http://schemas.microsoft.com/office/powerpoint/2010/main" val="3025203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61641" y="385953"/>
            <a:ext cx="4219575" cy="452120"/>
          </a:xfrm>
          <a:prstGeom prst="rect">
            <a:avLst/>
          </a:prstGeom>
        </p:spPr>
        <p:txBody>
          <a:bodyPr vert="horz" wrap="square" lIns="0" tIns="12065" rIns="0" bIns="0" rtlCol="0">
            <a:spAutoFit/>
          </a:bodyPr>
          <a:lstStyle/>
          <a:p>
            <a:pPr marL="12700">
              <a:lnSpc>
                <a:spcPct val="100000"/>
              </a:lnSpc>
              <a:spcBef>
                <a:spcPts val="95"/>
              </a:spcBef>
            </a:pPr>
            <a:r>
              <a:rPr sz="2800" spc="-25" dirty="0"/>
              <a:t>Attribute</a:t>
            </a:r>
            <a:r>
              <a:rPr sz="2800" spc="20" dirty="0"/>
              <a:t> </a:t>
            </a:r>
            <a:r>
              <a:rPr sz="2800" spc="-10" dirty="0"/>
              <a:t>Selection</a:t>
            </a:r>
            <a:r>
              <a:rPr sz="2800" dirty="0"/>
              <a:t> </a:t>
            </a:r>
            <a:r>
              <a:rPr sz="2800" spc="-10" dirty="0"/>
              <a:t>Measures</a:t>
            </a:r>
            <a:endParaRPr sz="2800"/>
          </a:p>
        </p:txBody>
      </p:sp>
      <p:sp>
        <p:nvSpPr>
          <p:cNvPr id="3" name="object 3"/>
          <p:cNvSpPr txBox="1"/>
          <p:nvPr/>
        </p:nvSpPr>
        <p:spPr>
          <a:xfrm>
            <a:off x="497840" y="1216913"/>
            <a:ext cx="8161020" cy="3347720"/>
          </a:xfrm>
          <a:prstGeom prst="rect">
            <a:avLst/>
          </a:prstGeom>
        </p:spPr>
        <p:txBody>
          <a:bodyPr vert="horz" wrap="square" lIns="0" tIns="13335" rIns="0" bIns="0" rtlCol="0">
            <a:spAutoFit/>
          </a:bodyPr>
          <a:lstStyle/>
          <a:p>
            <a:pPr marL="393700" marR="53975" indent="-342900" algn="just">
              <a:lnSpc>
                <a:spcPct val="100000"/>
              </a:lnSpc>
              <a:spcBef>
                <a:spcPts val="105"/>
              </a:spcBef>
              <a:buFont typeface="Arial MT"/>
              <a:buChar char="•"/>
              <a:tabLst>
                <a:tab pos="393700" algn="l"/>
              </a:tabLst>
            </a:pPr>
            <a:r>
              <a:rPr sz="2000" spc="-5" dirty="0">
                <a:latin typeface="Calibri"/>
                <a:cs typeface="Calibri"/>
              </a:rPr>
              <a:t>It is quite </a:t>
            </a:r>
            <a:r>
              <a:rPr sz="2000" spc="-10" dirty="0">
                <a:latin typeface="Calibri"/>
                <a:cs typeface="Calibri"/>
              </a:rPr>
              <a:t>likely </a:t>
            </a:r>
            <a:r>
              <a:rPr sz="2000" spc="-5" dirty="0">
                <a:latin typeface="Calibri"/>
                <a:cs typeface="Calibri"/>
              </a:rPr>
              <a:t>that the partitions will </a:t>
            </a:r>
            <a:r>
              <a:rPr sz="2000" dirty="0">
                <a:latin typeface="Calibri"/>
                <a:cs typeface="Calibri"/>
              </a:rPr>
              <a:t>be </a:t>
            </a:r>
            <a:r>
              <a:rPr sz="2000" spc="-5" dirty="0">
                <a:latin typeface="Calibri"/>
                <a:cs typeface="Calibri"/>
              </a:rPr>
              <a:t>impure (e.g., </a:t>
            </a:r>
            <a:r>
              <a:rPr sz="2000" spc="-10" dirty="0">
                <a:latin typeface="Calibri"/>
                <a:cs typeface="Calibri"/>
              </a:rPr>
              <a:t>where </a:t>
            </a:r>
            <a:r>
              <a:rPr sz="2000" dirty="0">
                <a:latin typeface="Calibri"/>
                <a:cs typeface="Calibri"/>
              </a:rPr>
              <a:t>a </a:t>
            </a:r>
            <a:r>
              <a:rPr sz="2000" spc="-5" dirty="0">
                <a:latin typeface="Calibri"/>
                <a:cs typeface="Calibri"/>
              </a:rPr>
              <a:t>partition </a:t>
            </a:r>
            <a:r>
              <a:rPr sz="2000" dirty="0">
                <a:latin typeface="Calibri"/>
                <a:cs typeface="Calibri"/>
              </a:rPr>
              <a:t> </a:t>
            </a:r>
            <a:r>
              <a:rPr sz="2000" spc="-15" dirty="0">
                <a:latin typeface="Calibri"/>
                <a:cs typeface="Calibri"/>
              </a:rPr>
              <a:t>may</a:t>
            </a:r>
            <a:r>
              <a:rPr sz="2000" spc="130" dirty="0">
                <a:latin typeface="Calibri"/>
                <a:cs typeface="Calibri"/>
              </a:rPr>
              <a:t> </a:t>
            </a:r>
            <a:r>
              <a:rPr sz="2000" spc="-10" dirty="0">
                <a:latin typeface="Calibri"/>
                <a:cs typeface="Calibri"/>
              </a:rPr>
              <a:t>contain</a:t>
            </a:r>
            <a:r>
              <a:rPr sz="2000" spc="125" dirty="0">
                <a:latin typeface="Calibri"/>
                <a:cs typeface="Calibri"/>
              </a:rPr>
              <a:t> </a:t>
            </a:r>
            <a:r>
              <a:rPr sz="2000" dirty="0">
                <a:latin typeface="Calibri"/>
                <a:cs typeface="Calibri"/>
              </a:rPr>
              <a:t>a</a:t>
            </a:r>
            <a:r>
              <a:rPr sz="2000" spc="125" dirty="0">
                <a:latin typeface="Calibri"/>
                <a:cs typeface="Calibri"/>
              </a:rPr>
              <a:t> </a:t>
            </a:r>
            <a:r>
              <a:rPr sz="2000" spc="-5" dirty="0">
                <a:latin typeface="Calibri"/>
                <a:cs typeface="Calibri"/>
              </a:rPr>
              <a:t>collection</a:t>
            </a:r>
            <a:r>
              <a:rPr sz="2000" spc="130" dirty="0">
                <a:latin typeface="Calibri"/>
                <a:cs typeface="Calibri"/>
              </a:rPr>
              <a:t> </a:t>
            </a:r>
            <a:r>
              <a:rPr sz="2000" spc="-5" dirty="0">
                <a:latin typeface="Calibri"/>
                <a:cs typeface="Calibri"/>
              </a:rPr>
              <a:t>of</a:t>
            </a:r>
            <a:r>
              <a:rPr sz="2000" spc="125" dirty="0">
                <a:latin typeface="Calibri"/>
                <a:cs typeface="Calibri"/>
              </a:rPr>
              <a:t> </a:t>
            </a:r>
            <a:r>
              <a:rPr sz="2000" dirty="0">
                <a:latin typeface="Calibri"/>
                <a:cs typeface="Calibri"/>
              </a:rPr>
              <a:t>tuples</a:t>
            </a:r>
            <a:r>
              <a:rPr sz="2000" spc="120" dirty="0">
                <a:latin typeface="Calibri"/>
                <a:cs typeface="Calibri"/>
              </a:rPr>
              <a:t> </a:t>
            </a:r>
            <a:r>
              <a:rPr sz="2000" spc="-15" dirty="0">
                <a:latin typeface="Calibri"/>
                <a:cs typeface="Calibri"/>
              </a:rPr>
              <a:t>from</a:t>
            </a:r>
            <a:r>
              <a:rPr sz="2000" spc="125" dirty="0">
                <a:latin typeface="Calibri"/>
                <a:cs typeface="Calibri"/>
              </a:rPr>
              <a:t> </a:t>
            </a:r>
            <a:r>
              <a:rPr sz="2000" spc="-15" dirty="0">
                <a:latin typeface="Calibri"/>
                <a:cs typeface="Calibri"/>
              </a:rPr>
              <a:t>different</a:t>
            </a:r>
            <a:r>
              <a:rPr sz="2000" spc="130" dirty="0">
                <a:latin typeface="Calibri"/>
                <a:cs typeface="Calibri"/>
              </a:rPr>
              <a:t> </a:t>
            </a:r>
            <a:r>
              <a:rPr sz="2000" dirty="0">
                <a:latin typeface="Calibri"/>
                <a:cs typeface="Calibri"/>
              </a:rPr>
              <a:t>classes</a:t>
            </a:r>
            <a:r>
              <a:rPr sz="2000" spc="135" dirty="0">
                <a:latin typeface="Calibri"/>
                <a:cs typeface="Calibri"/>
              </a:rPr>
              <a:t> </a:t>
            </a:r>
            <a:r>
              <a:rPr sz="2000" spc="-10" dirty="0">
                <a:latin typeface="Calibri"/>
                <a:cs typeface="Calibri"/>
              </a:rPr>
              <a:t>rather</a:t>
            </a:r>
            <a:r>
              <a:rPr sz="2000" spc="125" dirty="0">
                <a:latin typeface="Calibri"/>
                <a:cs typeface="Calibri"/>
              </a:rPr>
              <a:t> </a:t>
            </a:r>
            <a:r>
              <a:rPr sz="2000" dirty="0">
                <a:latin typeface="Calibri"/>
                <a:cs typeface="Calibri"/>
              </a:rPr>
              <a:t>than</a:t>
            </a:r>
            <a:r>
              <a:rPr sz="2000" spc="135" dirty="0">
                <a:latin typeface="Calibri"/>
                <a:cs typeface="Calibri"/>
              </a:rPr>
              <a:t> </a:t>
            </a:r>
            <a:r>
              <a:rPr sz="2000" spc="-10" dirty="0">
                <a:latin typeface="Calibri"/>
                <a:cs typeface="Calibri"/>
              </a:rPr>
              <a:t>from </a:t>
            </a:r>
            <a:r>
              <a:rPr sz="2000" spc="-440" dirty="0">
                <a:latin typeface="Calibri"/>
                <a:cs typeface="Calibri"/>
              </a:rPr>
              <a:t> </a:t>
            </a:r>
            <a:r>
              <a:rPr sz="2000" dirty="0">
                <a:latin typeface="Calibri"/>
                <a:cs typeface="Calibri"/>
              </a:rPr>
              <a:t>a </a:t>
            </a:r>
            <a:r>
              <a:rPr sz="2000" spc="-5" dirty="0">
                <a:latin typeface="Calibri"/>
                <a:cs typeface="Calibri"/>
              </a:rPr>
              <a:t>single</a:t>
            </a:r>
            <a:r>
              <a:rPr sz="2000" spc="5" dirty="0">
                <a:latin typeface="Calibri"/>
                <a:cs typeface="Calibri"/>
              </a:rPr>
              <a:t> </a:t>
            </a:r>
            <a:r>
              <a:rPr sz="2000" spc="-5" dirty="0">
                <a:latin typeface="Calibri"/>
                <a:cs typeface="Calibri"/>
              </a:rPr>
              <a:t>class).</a:t>
            </a:r>
            <a:endParaRPr sz="2000" dirty="0">
              <a:latin typeface="Calibri"/>
              <a:cs typeface="Calibri"/>
            </a:endParaRPr>
          </a:p>
          <a:p>
            <a:pPr marL="393700" marR="57785" indent="-342900" algn="just">
              <a:lnSpc>
                <a:spcPct val="100000"/>
              </a:lnSpc>
              <a:spcBef>
                <a:spcPts val="480"/>
              </a:spcBef>
              <a:buFont typeface="Arial MT"/>
              <a:buChar char="•"/>
              <a:tabLst>
                <a:tab pos="393700" algn="l"/>
              </a:tabLst>
            </a:pPr>
            <a:r>
              <a:rPr sz="2000" spc="-5" dirty="0">
                <a:latin typeface="Calibri"/>
                <a:cs typeface="Calibri"/>
              </a:rPr>
              <a:t>How much </a:t>
            </a:r>
            <a:r>
              <a:rPr sz="2000" spc="-15" dirty="0">
                <a:latin typeface="Calibri"/>
                <a:cs typeface="Calibri"/>
              </a:rPr>
              <a:t>more </a:t>
            </a:r>
            <a:r>
              <a:rPr sz="2000" spc="-10" dirty="0">
                <a:latin typeface="Calibri"/>
                <a:cs typeface="Calibri"/>
              </a:rPr>
              <a:t>information would we </a:t>
            </a:r>
            <a:r>
              <a:rPr sz="2000" spc="-5" dirty="0">
                <a:latin typeface="Calibri"/>
                <a:cs typeface="Calibri"/>
              </a:rPr>
              <a:t>still need </a:t>
            </a:r>
            <a:r>
              <a:rPr sz="2000" spc="-10" dirty="0">
                <a:latin typeface="Calibri"/>
                <a:cs typeface="Calibri"/>
              </a:rPr>
              <a:t>(after </a:t>
            </a:r>
            <a:r>
              <a:rPr sz="2000" spc="-5" dirty="0">
                <a:latin typeface="Calibri"/>
                <a:cs typeface="Calibri"/>
              </a:rPr>
              <a:t>the partitioning) in </a:t>
            </a:r>
            <a:r>
              <a:rPr sz="2000" dirty="0">
                <a:latin typeface="Calibri"/>
                <a:cs typeface="Calibri"/>
              </a:rPr>
              <a:t> </a:t>
            </a:r>
            <a:r>
              <a:rPr sz="2000" spc="-10" dirty="0">
                <a:latin typeface="Calibri"/>
                <a:cs typeface="Calibri"/>
              </a:rPr>
              <a:t>order</a:t>
            </a:r>
            <a:r>
              <a:rPr sz="2000" spc="-15" dirty="0">
                <a:latin typeface="Calibri"/>
                <a:cs typeface="Calibri"/>
              </a:rPr>
              <a:t> to</a:t>
            </a:r>
            <a:r>
              <a:rPr sz="2000" dirty="0">
                <a:latin typeface="Calibri"/>
                <a:cs typeface="Calibri"/>
              </a:rPr>
              <a:t> </a:t>
            </a:r>
            <a:r>
              <a:rPr sz="2000" spc="-10" dirty="0">
                <a:latin typeface="Calibri"/>
                <a:cs typeface="Calibri"/>
              </a:rPr>
              <a:t>arrive</a:t>
            </a:r>
            <a:r>
              <a:rPr sz="2000" spc="10" dirty="0">
                <a:latin typeface="Calibri"/>
                <a:cs typeface="Calibri"/>
              </a:rPr>
              <a:t> </a:t>
            </a:r>
            <a:r>
              <a:rPr sz="2000" spc="-15" dirty="0">
                <a:latin typeface="Calibri"/>
                <a:cs typeface="Calibri"/>
              </a:rPr>
              <a:t>at</a:t>
            </a:r>
            <a:r>
              <a:rPr sz="2000" spc="15" dirty="0">
                <a:latin typeface="Calibri"/>
                <a:cs typeface="Calibri"/>
              </a:rPr>
              <a:t> </a:t>
            </a:r>
            <a:r>
              <a:rPr sz="2000" dirty="0">
                <a:latin typeface="Calibri"/>
                <a:cs typeface="Calibri"/>
              </a:rPr>
              <a:t>an</a:t>
            </a:r>
            <a:r>
              <a:rPr sz="2000" spc="-5" dirty="0">
                <a:latin typeface="Calibri"/>
                <a:cs typeface="Calibri"/>
              </a:rPr>
              <a:t> </a:t>
            </a:r>
            <a:r>
              <a:rPr sz="2000" spc="-20" dirty="0">
                <a:latin typeface="Calibri"/>
                <a:cs typeface="Calibri"/>
              </a:rPr>
              <a:t>exact</a:t>
            </a:r>
            <a:r>
              <a:rPr sz="2000" spc="20" dirty="0">
                <a:latin typeface="Calibri"/>
                <a:cs typeface="Calibri"/>
              </a:rPr>
              <a:t> </a:t>
            </a:r>
            <a:r>
              <a:rPr sz="2000" spc="-5" dirty="0">
                <a:latin typeface="Calibri"/>
                <a:cs typeface="Calibri"/>
              </a:rPr>
              <a:t>classification?</a:t>
            </a:r>
            <a:endParaRPr sz="2000" dirty="0">
              <a:latin typeface="Calibri"/>
              <a:cs typeface="Calibri"/>
            </a:endParaRPr>
          </a:p>
          <a:p>
            <a:pPr marL="393700" indent="-342900" algn="just">
              <a:lnSpc>
                <a:spcPct val="100000"/>
              </a:lnSpc>
              <a:spcBef>
                <a:spcPts val="480"/>
              </a:spcBef>
              <a:buFont typeface="Arial MT"/>
              <a:buChar char="•"/>
              <a:tabLst>
                <a:tab pos="393700" algn="l"/>
              </a:tabLst>
            </a:pPr>
            <a:r>
              <a:rPr sz="2000" spc="-5" dirty="0">
                <a:latin typeface="Calibri"/>
                <a:cs typeface="Calibri"/>
              </a:rPr>
              <a:t>This</a:t>
            </a:r>
            <a:r>
              <a:rPr sz="2000" spc="-20" dirty="0">
                <a:latin typeface="Calibri"/>
                <a:cs typeface="Calibri"/>
              </a:rPr>
              <a:t> </a:t>
            </a:r>
            <a:r>
              <a:rPr sz="2000" spc="-5" dirty="0">
                <a:latin typeface="Calibri"/>
                <a:cs typeface="Calibri"/>
              </a:rPr>
              <a:t>amount</a:t>
            </a:r>
            <a:r>
              <a:rPr sz="2000" spc="-10" dirty="0">
                <a:latin typeface="Calibri"/>
                <a:cs typeface="Calibri"/>
              </a:rPr>
              <a:t> </a:t>
            </a:r>
            <a:r>
              <a:rPr sz="2000" spc="-5" dirty="0">
                <a:latin typeface="Calibri"/>
                <a:cs typeface="Calibri"/>
              </a:rPr>
              <a:t>is</a:t>
            </a:r>
            <a:r>
              <a:rPr sz="2000" spc="-15" dirty="0">
                <a:latin typeface="Calibri"/>
                <a:cs typeface="Calibri"/>
              </a:rPr>
              <a:t> </a:t>
            </a:r>
            <a:r>
              <a:rPr sz="2000" spc="-5" dirty="0">
                <a:latin typeface="Calibri"/>
                <a:cs typeface="Calibri"/>
              </a:rPr>
              <a:t>measured</a:t>
            </a:r>
            <a:r>
              <a:rPr sz="2000" spc="5" dirty="0">
                <a:latin typeface="Calibri"/>
                <a:cs typeface="Calibri"/>
              </a:rPr>
              <a:t> </a:t>
            </a:r>
            <a:r>
              <a:rPr sz="2000" spc="-15" dirty="0">
                <a:latin typeface="Calibri"/>
                <a:cs typeface="Calibri"/>
              </a:rPr>
              <a:t>by</a:t>
            </a:r>
            <a:endParaRPr sz="2000" dirty="0">
              <a:latin typeface="Calibri"/>
              <a:cs typeface="Calibri"/>
            </a:endParaRPr>
          </a:p>
          <a:p>
            <a:pPr>
              <a:lnSpc>
                <a:spcPct val="100000"/>
              </a:lnSpc>
              <a:spcBef>
                <a:spcPts val="55"/>
              </a:spcBef>
              <a:buFont typeface="Arial MT"/>
              <a:buChar char="•"/>
            </a:pPr>
            <a:endParaRPr sz="2700" dirty="0">
              <a:latin typeface="Calibri"/>
              <a:cs typeface="Calibri"/>
            </a:endParaRPr>
          </a:p>
          <a:p>
            <a:pPr marL="393700" marR="55880" indent="-342900" algn="just">
              <a:lnSpc>
                <a:spcPct val="103299"/>
              </a:lnSpc>
              <a:spcBef>
                <a:spcPts val="5"/>
              </a:spcBef>
              <a:buFont typeface="Arial MT"/>
              <a:buChar char="•"/>
              <a:tabLst>
                <a:tab pos="393700" algn="l"/>
              </a:tabLst>
            </a:pPr>
            <a:r>
              <a:rPr sz="2000" spc="-5" dirty="0">
                <a:latin typeface="Calibri"/>
                <a:cs typeface="Calibri"/>
              </a:rPr>
              <a:t>The</a:t>
            </a:r>
            <a:r>
              <a:rPr sz="2000" dirty="0">
                <a:latin typeface="Calibri"/>
                <a:cs typeface="Calibri"/>
              </a:rPr>
              <a:t> </a:t>
            </a:r>
            <a:r>
              <a:rPr sz="2000" spc="-5" dirty="0">
                <a:latin typeface="Calibri"/>
                <a:cs typeface="Calibri"/>
              </a:rPr>
              <a:t>term |</a:t>
            </a:r>
            <a:r>
              <a:rPr sz="2000" spc="-5" dirty="0">
                <a:latin typeface="Cambria Math"/>
                <a:cs typeface="Cambria Math"/>
              </a:rPr>
              <a:t>𝐷</a:t>
            </a:r>
            <a:r>
              <a:rPr sz="2175" spc="-7" baseline="-15325" dirty="0">
                <a:latin typeface="Cambria Math"/>
                <a:cs typeface="Cambria Math"/>
              </a:rPr>
              <a:t>𝑗</a:t>
            </a:r>
            <a:r>
              <a:rPr sz="2000" spc="-5" dirty="0">
                <a:latin typeface="Calibri"/>
                <a:cs typeface="Calibri"/>
              </a:rPr>
              <a:t>|</a:t>
            </a:r>
            <a:r>
              <a:rPr sz="2000" spc="440" dirty="0">
                <a:latin typeface="Calibri"/>
                <a:cs typeface="Calibri"/>
              </a:rPr>
              <a:t> </a:t>
            </a:r>
            <a:r>
              <a:rPr sz="2000" dirty="0">
                <a:latin typeface="Calibri"/>
                <a:cs typeface="Calibri"/>
              </a:rPr>
              <a:t>/ |</a:t>
            </a:r>
            <a:r>
              <a:rPr sz="2000" i="1" dirty="0">
                <a:latin typeface="Calibri"/>
                <a:cs typeface="Calibri"/>
              </a:rPr>
              <a:t>D</a:t>
            </a:r>
            <a:r>
              <a:rPr sz="2000" dirty="0">
                <a:latin typeface="Calibri"/>
                <a:cs typeface="Calibri"/>
              </a:rPr>
              <a:t>| acts as </a:t>
            </a:r>
            <a:r>
              <a:rPr sz="2000" spc="-5" dirty="0">
                <a:latin typeface="Calibri"/>
                <a:cs typeface="Calibri"/>
              </a:rPr>
              <a:t>the </a:t>
            </a:r>
            <a:r>
              <a:rPr sz="2000" spc="-10" dirty="0">
                <a:latin typeface="Calibri"/>
                <a:cs typeface="Calibri"/>
              </a:rPr>
              <a:t>weight </a:t>
            </a:r>
            <a:r>
              <a:rPr sz="2000" spc="-5" dirty="0">
                <a:latin typeface="Calibri"/>
                <a:cs typeface="Calibri"/>
              </a:rPr>
              <a:t>of the </a:t>
            </a:r>
            <a:r>
              <a:rPr sz="2000" spc="35" dirty="0">
                <a:latin typeface="Cambria Math"/>
                <a:cs typeface="Cambria Math"/>
              </a:rPr>
              <a:t>𝑗</a:t>
            </a:r>
            <a:r>
              <a:rPr sz="2175" spc="52" baseline="-15325" dirty="0">
                <a:latin typeface="Cambria Math"/>
                <a:cs typeface="Cambria Math"/>
              </a:rPr>
              <a:t>𝑡ℎ  </a:t>
            </a:r>
            <a:r>
              <a:rPr sz="2000" spc="-5" dirty="0">
                <a:latin typeface="Calibri"/>
                <a:cs typeface="Calibri"/>
              </a:rPr>
              <a:t>partition. </a:t>
            </a:r>
            <a:r>
              <a:rPr sz="2000" spc="-10" dirty="0">
                <a:latin typeface="Cambria Math"/>
                <a:cs typeface="Cambria Math"/>
              </a:rPr>
              <a:t>𝐼𝑛𝑓𝑜</a:t>
            </a:r>
            <a:r>
              <a:rPr sz="2175" spc="-15" baseline="-15325" dirty="0">
                <a:latin typeface="Cambria Math"/>
                <a:cs typeface="Cambria Math"/>
              </a:rPr>
              <a:t>𝐴</a:t>
            </a:r>
            <a:r>
              <a:rPr sz="2175" spc="450" baseline="-15325" dirty="0">
                <a:latin typeface="Cambria Math"/>
                <a:cs typeface="Cambria Math"/>
              </a:rPr>
              <a:t> </a:t>
            </a:r>
            <a:r>
              <a:rPr sz="2000" dirty="0">
                <a:latin typeface="Calibri"/>
                <a:cs typeface="Calibri"/>
              </a:rPr>
              <a:t>(</a:t>
            </a:r>
            <a:r>
              <a:rPr sz="2000" i="1" dirty="0">
                <a:latin typeface="Calibri"/>
                <a:cs typeface="Calibri"/>
              </a:rPr>
              <a:t>D</a:t>
            </a:r>
            <a:r>
              <a:rPr sz="2000" dirty="0">
                <a:latin typeface="Calibri"/>
                <a:cs typeface="Calibri"/>
              </a:rPr>
              <a:t>) </a:t>
            </a:r>
            <a:r>
              <a:rPr sz="2000" spc="-5" dirty="0">
                <a:latin typeface="Calibri"/>
                <a:cs typeface="Calibri"/>
              </a:rPr>
              <a:t>is </a:t>
            </a:r>
            <a:r>
              <a:rPr sz="2000" dirty="0">
                <a:latin typeface="Calibri"/>
                <a:cs typeface="Calibri"/>
              </a:rPr>
              <a:t> the </a:t>
            </a:r>
            <a:r>
              <a:rPr sz="2000" spc="-10" dirty="0">
                <a:latin typeface="Calibri"/>
                <a:cs typeface="Calibri"/>
              </a:rPr>
              <a:t>expected information required to </a:t>
            </a:r>
            <a:r>
              <a:rPr sz="2000" dirty="0">
                <a:latin typeface="Calibri"/>
                <a:cs typeface="Calibri"/>
              </a:rPr>
              <a:t>classify a </a:t>
            </a:r>
            <a:r>
              <a:rPr sz="2000" spc="-5" dirty="0">
                <a:latin typeface="Calibri"/>
                <a:cs typeface="Calibri"/>
              </a:rPr>
              <a:t>tuple </a:t>
            </a:r>
            <a:r>
              <a:rPr sz="2000" spc="-15" dirty="0">
                <a:latin typeface="Calibri"/>
                <a:cs typeface="Calibri"/>
              </a:rPr>
              <a:t>from </a:t>
            </a:r>
            <a:r>
              <a:rPr sz="2000" i="1" dirty="0">
                <a:latin typeface="Calibri"/>
                <a:cs typeface="Calibri"/>
              </a:rPr>
              <a:t>D </a:t>
            </a:r>
            <a:r>
              <a:rPr sz="2000" spc="-5" dirty="0">
                <a:latin typeface="Calibri"/>
                <a:cs typeface="Calibri"/>
              </a:rPr>
              <a:t>based on </a:t>
            </a:r>
            <a:r>
              <a:rPr sz="2000" dirty="0">
                <a:latin typeface="Calibri"/>
                <a:cs typeface="Calibri"/>
              </a:rPr>
              <a:t>the </a:t>
            </a:r>
            <a:r>
              <a:rPr sz="2000" spc="5" dirty="0">
                <a:latin typeface="Calibri"/>
                <a:cs typeface="Calibri"/>
              </a:rPr>
              <a:t> </a:t>
            </a:r>
            <a:r>
              <a:rPr sz="2000" dirty="0">
                <a:latin typeface="Calibri"/>
                <a:cs typeface="Calibri"/>
              </a:rPr>
              <a:t>partitioning</a:t>
            </a:r>
            <a:r>
              <a:rPr sz="2000" spc="-10" dirty="0">
                <a:latin typeface="Calibri"/>
                <a:cs typeface="Calibri"/>
              </a:rPr>
              <a:t> </a:t>
            </a:r>
            <a:r>
              <a:rPr sz="2000" spc="-5" dirty="0">
                <a:latin typeface="Calibri"/>
                <a:cs typeface="Calibri"/>
              </a:rPr>
              <a:t>by</a:t>
            </a:r>
            <a:r>
              <a:rPr sz="2000" spc="-20" dirty="0">
                <a:latin typeface="Calibri"/>
                <a:cs typeface="Calibri"/>
              </a:rPr>
              <a:t> </a:t>
            </a:r>
            <a:r>
              <a:rPr sz="2000" i="1" dirty="0">
                <a:latin typeface="Calibri"/>
                <a:cs typeface="Calibri"/>
              </a:rPr>
              <a:t>A</a:t>
            </a:r>
            <a:r>
              <a:rPr sz="2000" dirty="0">
                <a:latin typeface="Calibri"/>
                <a:cs typeface="Calibri"/>
              </a:rPr>
              <a:t>.</a:t>
            </a:r>
          </a:p>
        </p:txBody>
      </p:sp>
      <p:pic>
        <p:nvPicPr>
          <p:cNvPr id="5" name="object 5"/>
          <p:cNvPicPr/>
          <p:nvPr/>
        </p:nvPicPr>
        <p:blipFill>
          <a:blip r:embed="rId2" cstate="print"/>
          <a:stretch>
            <a:fillRect/>
          </a:stretch>
        </p:blipFill>
        <p:spPr>
          <a:xfrm>
            <a:off x="4343400" y="2862863"/>
            <a:ext cx="3575304" cy="755904"/>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36</a:t>
            </a:fld>
            <a:endParaRPr dirty="0"/>
          </a:p>
        </p:txBody>
      </p:sp>
    </p:spTree>
    <p:extLst>
      <p:ext uri="{BB962C8B-B14F-4D97-AF65-F5344CB8AC3E}">
        <p14:creationId xmlns:p14="http://schemas.microsoft.com/office/powerpoint/2010/main" val="2745213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32226" y="385953"/>
            <a:ext cx="2479675" cy="452120"/>
          </a:xfrm>
          <a:prstGeom prst="rect">
            <a:avLst/>
          </a:prstGeom>
        </p:spPr>
        <p:txBody>
          <a:bodyPr vert="horz" wrap="square" lIns="0" tIns="12065" rIns="0" bIns="0" rtlCol="0">
            <a:spAutoFit/>
          </a:bodyPr>
          <a:lstStyle/>
          <a:p>
            <a:pPr marL="12700">
              <a:lnSpc>
                <a:spcPct val="100000"/>
              </a:lnSpc>
              <a:spcBef>
                <a:spcPts val="95"/>
              </a:spcBef>
            </a:pPr>
            <a:r>
              <a:rPr sz="2800" spc="-15" dirty="0"/>
              <a:t>Information</a:t>
            </a:r>
            <a:r>
              <a:rPr sz="2800" spc="-55" dirty="0"/>
              <a:t> </a:t>
            </a:r>
            <a:r>
              <a:rPr sz="2800" spc="-5" dirty="0"/>
              <a:t>Gain</a:t>
            </a:r>
            <a:endParaRPr sz="2800"/>
          </a:p>
        </p:txBody>
      </p:sp>
      <p:sp>
        <p:nvSpPr>
          <p:cNvPr id="3" name="object 3"/>
          <p:cNvSpPr txBox="1"/>
          <p:nvPr/>
        </p:nvSpPr>
        <p:spPr>
          <a:xfrm>
            <a:off x="535940" y="1216913"/>
            <a:ext cx="8072755" cy="1611630"/>
          </a:xfrm>
          <a:prstGeom prst="rect">
            <a:avLst/>
          </a:prstGeom>
        </p:spPr>
        <p:txBody>
          <a:bodyPr vert="horz" wrap="square" lIns="0" tIns="13335" rIns="0" bIns="0" rtlCol="0">
            <a:spAutoFit/>
          </a:bodyPr>
          <a:lstStyle/>
          <a:p>
            <a:pPr marL="355600" marR="6985" indent="-342900" algn="just">
              <a:lnSpc>
                <a:spcPct val="100000"/>
              </a:lnSpc>
              <a:spcBef>
                <a:spcPts val="105"/>
              </a:spcBef>
              <a:buFont typeface="Arial MT"/>
              <a:buChar char="•"/>
              <a:tabLst>
                <a:tab pos="355600" algn="l"/>
              </a:tabLst>
            </a:pPr>
            <a:r>
              <a:rPr sz="2000" spc="-5" dirty="0">
                <a:latin typeface="Calibri"/>
                <a:cs typeface="Calibri"/>
              </a:rPr>
              <a:t>The</a:t>
            </a:r>
            <a:r>
              <a:rPr sz="2000" dirty="0">
                <a:latin typeface="Calibri"/>
                <a:cs typeface="Calibri"/>
              </a:rPr>
              <a:t> </a:t>
            </a:r>
            <a:r>
              <a:rPr sz="2000" spc="-5" dirty="0">
                <a:latin typeface="Calibri"/>
                <a:cs typeface="Calibri"/>
              </a:rPr>
              <a:t>smaller</a:t>
            </a:r>
            <a:r>
              <a:rPr sz="2000" dirty="0">
                <a:latin typeface="Calibri"/>
                <a:cs typeface="Calibri"/>
              </a:rPr>
              <a:t> the</a:t>
            </a:r>
            <a:r>
              <a:rPr sz="2000" spc="5" dirty="0">
                <a:latin typeface="Calibri"/>
                <a:cs typeface="Calibri"/>
              </a:rPr>
              <a:t> </a:t>
            </a:r>
            <a:r>
              <a:rPr sz="2000" spc="-10" dirty="0">
                <a:latin typeface="Calibri"/>
                <a:cs typeface="Calibri"/>
              </a:rPr>
              <a:t>expected</a:t>
            </a:r>
            <a:r>
              <a:rPr sz="2000" spc="-5" dirty="0">
                <a:latin typeface="Calibri"/>
                <a:cs typeface="Calibri"/>
              </a:rPr>
              <a:t> </a:t>
            </a:r>
            <a:r>
              <a:rPr sz="2000" spc="-10" dirty="0">
                <a:latin typeface="Calibri"/>
                <a:cs typeface="Calibri"/>
              </a:rPr>
              <a:t>information</a:t>
            </a:r>
            <a:r>
              <a:rPr sz="2000" spc="-5" dirty="0">
                <a:latin typeface="Calibri"/>
                <a:cs typeface="Calibri"/>
              </a:rPr>
              <a:t> (still)</a:t>
            </a:r>
            <a:r>
              <a:rPr sz="2000" dirty="0">
                <a:latin typeface="Calibri"/>
                <a:cs typeface="Calibri"/>
              </a:rPr>
              <a:t> </a:t>
            </a:r>
            <a:r>
              <a:rPr sz="2000" spc="-5" dirty="0">
                <a:latin typeface="Calibri"/>
                <a:cs typeface="Calibri"/>
              </a:rPr>
              <a:t>required,</a:t>
            </a:r>
            <a:r>
              <a:rPr sz="2000" dirty="0">
                <a:latin typeface="Calibri"/>
                <a:cs typeface="Calibri"/>
              </a:rPr>
              <a:t> </a:t>
            </a:r>
            <a:r>
              <a:rPr sz="2000" spc="-5" dirty="0">
                <a:latin typeface="Calibri"/>
                <a:cs typeface="Calibri"/>
              </a:rPr>
              <a:t>the</a:t>
            </a:r>
            <a:r>
              <a:rPr sz="2000" spc="440" dirty="0">
                <a:latin typeface="Calibri"/>
                <a:cs typeface="Calibri"/>
              </a:rPr>
              <a:t> </a:t>
            </a:r>
            <a:r>
              <a:rPr sz="2000" spc="-10" dirty="0">
                <a:latin typeface="Calibri"/>
                <a:cs typeface="Calibri"/>
              </a:rPr>
              <a:t>greater</a:t>
            </a:r>
            <a:r>
              <a:rPr sz="2000" spc="430" dirty="0">
                <a:latin typeface="Calibri"/>
                <a:cs typeface="Calibri"/>
              </a:rPr>
              <a:t> </a:t>
            </a:r>
            <a:r>
              <a:rPr sz="2000" dirty="0">
                <a:latin typeface="Calibri"/>
                <a:cs typeface="Calibri"/>
              </a:rPr>
              <a:t>the </a:t>
            </a:r>
            <a:r>
              <a:rPr sz="2000" spc="5" dirty="0">
                <a:latin typeface="Calibri"/>
                <a:cs typeface="Calibri"/>
              </a:rPr>
              <a:t> </a:t>
            </a:r>
            <a:r>
              <a:rPr sz="2000" spc="-5" dirty="0">
                <a:latin typeface="Calibri"/>
                <a:cs typeface="Calibri"/>
              </a:rPr>
              <a:t>purity</a:t>
            </a:r>
            <a:r>
              <a:rPr sz="2000" spc="-10" dirty="0">
                <a:latin typeface="Calibri"/>
                <a:cs typeface="Calibri"/>
              </a:rPr>
              <a:t> </a:t>
            </a:r>
            <a:r>
              <a:rPr sz="2000" spc="-5" dirty="0">
                <a:latin typeface="Calibri"/>
                <a:cs typeface="Calibri"/>
              </a:rPr>
              <a:t>of</a:t>
            </a:r>
            <a:r>
              <a:rPr sz="2000" spc="-10" dirty="0">
                <a:latin typeface="Calibri"/>
                <a:cs typeface="Calibri"/>
              </a:rPr>
              <a:t> </a:t>
            </a:r>
            <a:r>
              <a:rPr sz="2000" dirty="0">
                <a:latin typeface="Calibri"/>
                <a:cs typeface="Calibri"/>
              </a:rPr>
              <a:t>the</a:t>
            </a:r>
            <a:r>
              <a:rPr sz="2000" spc="-10" dirty="0">
                <a:latin typeface="Calibri"/>
                <a:cs typeface="Calibri"/>
              </a:rPr>
              <a:t> </a:t>
            </a:r>
            <a:r>
              <a:rPr sz="2000" spc="-5" dirty="0">
                <a:latin typeface="Calibri"/>
                <a:cs typeface="Calibri"/>
              </a:rPr>
              <a:t>partitions</a:t>
            </a:r>
            <a:endParaRPr sz="2000" dirty="0">
              <a:latin typeface="Calibri"/>
              <a:cs typeface="Calibri"/>
            </a:endParaRPr>
          </a:p>
          <a:p>
            <a:pPr marL="355600" marR="5080" indent="-342900" algn="just">
              <a:lnSpc>
                <a:spcPct val="100000"/>
              </a:lnSpc>
              <a:spcBef>
                <a:spcPts val="480"/>
              </a:spcBef>
              <a:buFont typeface="Arial MT"/>
              <a:buChar char="•"/>
              <a:tabLst>
                <a:tab pos="355600" algn="l"/>
              </a:tabLst>
            </a:pPr>
            <a:r>
              <a:rPr sz="2000" spc="-10" dirty="0">
                <a:solidFill>
                  <a:srgbClr val="FF0000"/>
                </a:solidFill>
                <a:latin typeface="Calibri"/>
                <a:cs typeface="Calibri"/>
              </a:rPr>
              <a:t>Information</a:t>
            </a:r>
            <a:r>
              <a:rPr sz="2000" spc="-5" dirty="0">
                <a:solidFill>
                  <a:srgbClr val="FF0000"/>
                </a:solidFill>
                <a:latin typeface="Calibri"/>
                <a:cs typeface="Calibri"/>
              </a:rPr>
              <a:t> </a:t>
            </a:r>
            <a:r>
              <a:rPr sz="2000" spc="-10" dirty="0">
                <a:solidFill>
                  <a:srgbClr val="FF0000"/>
                </a:solidFill>
                <a:latin typeface="Calibri"/>
                <a:cs typeface="Calibri"/>
              </a:rPr>
              <a:t>gain</a:t>
            </a:r>
            <a:r>
              <a:rPr sz="2000" spc="-5" dirty="0">
                <a:solidFill>
                  <a:srgbClr val="FF0000"/>
                </a:solidFill>
                <a:latin typeface="Calibri"/>
                <a:cs typeface="Calibri"/>
              </a:rPr>
              <a:t> is</a:t>
            </a:r>
            <a:r>
              <a:rPr sz="2000" dirty="0">
                <a:solidFill>
                  <a:srgbClr val="FF0000"/>
                </a:solidFill>
                <a:latin typeface="Calibri"/>
                <a:cs typeface="Calibri"/>
              </a:rPr>
              <a:t> </a:t>
            </a:r>
            <a:r>
              <a:rPr sz="2000" spc="-5" dirty="0">
                <a:solidFill>
                  <a:srgbClr val="FF0000"/>
                </a:solidFill>
                <a:latin typeface="Calibri"/>
                <a:cs typeface="Calibri"/>
              </a:rPr>
              <a:t>defined</a:t>
            </a:r>
            <a:r>
              <a:rPr sz="2000" dirty="0">
                <a:solidFill>
                  <a:srgbClr val="FF0000"/>
                </a:solidFill>
                <a:latin typeface="Calibri"/>
                <a:cs typeface="Calibri"/>
              </a:rPr>
              <a:t> as</a:t>
            </a:r>
            <a:r>
              <a:rPr sz="2000" spc="5" dirty="0">
                <a:solidFill>
                  <a:srgbClr val="FF0000"/>
                </a:solidFill>
                <a:latin typeface="Calibri"/>
                <a:cs typeface="Calibri"/>
              </a:rPr>
              <a:t> </a:t>
            </a:r>
            <a:r>
              <a:rPr sz="2000" dirty="0">
                <a:solidFill>
                  <a:srgbClr val="FF0000"/>
                </a:solidFill>
                <a:latin typeface="Calibri"/>
                <a:cs typeface="Calibri"/>
              </a:rPr>
              <a:t>the</a:t>
            </a:r>
            <a:r>
              <a:rPr sz="2000" spc="5" dirty="0">
                <a:solidFill>
                  <a:srgbClr val="FF0000"/>
                </a:solidFill>
                <a:latin typeface="Calibri"/>
                <a:cs typeface="Calibri"/>
              </a:rPr>
              <a:t> </a:t>
            </a:r>
            <a:r>
              <a:rPr sz="2000" spc="-15" dirty="0">
                <a:solidFill>
                  <a:srgbClr val="FF0000"/>
                </a:solidFill>
                <a:latin typeface="Calibri"/>
                <a:cs typeface="Calibri"/>
              </a:rPr>
              <a:t>difference</a:t>
            </a:r>
            <a:r>
              <a:rPr sz="2000" spc="-10" dirty="0">
                <a:solidFill>
                  <a:srgbClr val="FF0000"/>
                </a:solidFill>
                <a:latin typeface="Calibri"/>
                <a:cs typeface="Calibri"/>
              </a:rPr>
              <a:t> </a:t>
            </a:r>
            <a:r>
              <a:rPr sz="2000" spc="-5" dirty="0">
                <a:solidFill>
                  <a:srgbClr val="FF0000"/>
                </a:solidFill>
                <a:latin typeface="Calibri"/>
                <a:cs typeface="Calibri"/>
              </a:rPr>
              <a:t>between</a:t>
            </a:r>
            <a:r>
              <a:rPr sz="2000" dirty="0">
                <a:solidFill>
                  <a:srgbClr val="FF0000"/>
                </a:solidFill>
                <a:latin typeface="Calibri"/>
                <a:cs typeface="Calibri"/>
              </a:rPr>
              <a:t> the</a:t>
            </a:r>
            <a:r>
              <a:rPr sz="2000" spc="5" dirty="0">
                <a:solidFill>
                  <a:srgbClr val="FF0000"/>
                </a:solidFill>
                <a:latin typeface="Calibri"/>
                <a:cs typeface="Calibri"/>
              </a:rPr>
              <a:t> </a:t>
            </a:r>
            <a:r>
              <a:rPr sz="2000" spc="-5" dirty="0">
                <a:solidFill>
                  <a:srgbClr val="FF0000"/>
                </a:solidFill>
                <a:latin typeface="Calibri"/>
                <a:cs typeface="Calibri"/>
              </a:rPr>
              <a:t>original </a:t>
            </a:r>
            <a:r>
              <a:rPr sz="2000" dirty="0">
                <a:solidFill>
                  <a:srgbClr val="FF0000"/>
                </a:solidFill>
                <a:latin typeface="Calibri"/>
                <a:cs typeface="Calibri"/>
              </a:rPr>
              <a:t> </a:t>
            </a:r>
            <a:r>
              <a:rPr sz="2000" spc="-10" dirty="0">
                <a:solidFill>
                  <a:srgbClr val="FF0000"/>
                </a:solidFill>
                <a:latin typeface="Calibri"/>
                <a:cs typeface="Calibri"/>
              </a:rPr>
              <a:t>information requirement </a:t>
            </a:r>
            <a:r>
              <a:rPr sz="2000" spc="-5" dirty="0">
                <a:solidFill>
                  <a:srgbClr val="FF0000"/>
                </a:solidFill>
                <a:latin typeface="Calibri"/>
                <a:cs typeface="Calibri"/>
              </a:rPr>
              <a:t>(i.e., based </a:t>
            </a:r>
            <a:r>
              <a:rPr sz="2000" spc="-10" dirty="0">
                <a:solidFill>
                  <a:srgbClr val="FF0000"/>
                </a:solidFill>
                <a:latin typeface="Calibri"/>
                <a:cs typeface="Calibri"/>
              </a:rPr>
              <a:t>on just </a:t>
            </a:r>
            <a:r>
              <a:rPr sz="2000" dirty="0">
                <a:solidFill>
                  <a:srgbClr val="FF0000"/>
                </a:solidFill>
                <a:latin typeface="Calibri"/>
                <a:cs typeface="Calibri"/>
              </a:rPr>
              <a:t>the </a:t>
            </a:r>
            <a:r>
              <a:rPr sz="2000" spc="-10" dirty="0">
                <a:solidFill>
                  <a:srgbClr val="FF0000"/>
                </a:solidFill>
                <a:latin typeface="Calibri"/>
                <a:cs typeface="Calibri"/>
              </a:rPr>
              <a:t>proportion </a:t>
            </a:r>
            <a:r>
              <a:rPr sz="2000" spc="-5" dirty="0">
                <a:solidFill>
                  <a:srgbClr val="FF0000"/>
                </a:solidFill>
                <a:latin typeface="Calibri"/>
                <a:cs typeface="Calibri"/>
              </a:rPr>
              <a:t>of </a:t>
            </a:r>
            <a:r>
              <a:rPr sz="2000" dirty="0">
                <a:solidFill>
                  <a:srgbClr val="FF0000"/>
                </a:solidFill>
                <a:latin typeface="Calibri"/>
                <a:cs typeface="Calibri"/>
              </a:rPr>
              <a:t>classes) and </a:t>
            </a:r>
            <a:r>
              <a:rPr sz="2000" spc="5" dirty="0">
                <a:solidFill>
                  <a:srgbClr val="FF0000"/>
                </a:solidFill>
                <a:latin typeface="Calibri"/>
                <a:cs typeface="Calibri"/>
              </a:rPr>
              <a:t> </a:t>
            </a:r>
            <a:r>
              <a:rPr sz="2000" dirty="0">
                <a:solidFill>
                  <a:srgbClr val="FF0000"/>
                </a:solidFill>
                <a:latin typeface="Calibri"/>
                <a:cs typeface="Calibri"/>
              </a:rPr>
              <a:t>the </a:t>
            </a:r>
            <a:r>
              <a:rPr sz="2000" spc="-5" dirty="0">
                <a:solidFill>
                  <a:srgbClr val="FF0000"/>
                </a:solidFill>
                <a:latin typeface="Calibri"/>
                <a:cs typeface="Calibri"/>
              </a:rPr>
              <a:t>new</a:t>
            </a:r>
            <a:r>
              <a:rPr sz="2000" spc="-15" dirty="0">
                <a:solidFill>
                  <a:srgbClr val="FF0000"/>
                </a:solidFill>
                <a:latin typeface="Calibri"/>
                <a:cs typeface="Calibri"/>
              </a:rPr>
              <a:t> </a:t>
            </a:r>
            <a:r>
              <a:rPr sz="2000" spc="-10" dirty="0">
                <a:solidFill>
                  <a:srgbClr val="FF0000"/>
                </a:solidFill>
                <a:latin typeface="Calibri"/>
                <a:cs typeface="Calibri"/>
              </a:rPr>
              <a:t>requirement</a:t>
            </a:r>
            <a:r>
              <a:rPr sz="2000" spc="20" dirty="0">
                <a:solidFill>
                  <a:srgbClr val="FF0000"/>
                </a:solidFill>
                <a:latin typeface="Calibri"/>
                <a:cs typeface="Calibri"/>
              </a:rPr>
              <a:t> </a:t>
            </a:r>
            <a:r>
              <a:rPr sz="2000" spc="-5" dirty="0">
                <a:solidFill>
                  <a:srgbClr val="FF0000"/>
                </a:solidFill>
                <a:latin typeface="Calibri"/>
                <a:cs typeface="Calibri"/>
              </a:rPr>
              <a:t>(i.e., obtained </a:t>
            </a:r>
            <a:r>
              <a:rPr sz="2000" spc="-10" dirty="0">
                <a:solidFill>
                  <a:srgbClr val="FF0000"/>
                </a:solidFill>
                <a:latin typeface="Calibri"/>
                <a:cs typeface="Calibri"/>
              </a:rPr>
              <a:t>after</a:t>
            </a:r>
            <a:r>
              <a:rPr sz="2000" spc="10" dirty="0">
                <a:solidFill>
                  <a:srgbClr val="FF0000"/>
                </a:solidFill>
                <a:latin typeface="Calibri"/>
                <a:cs typeface="Calibri"/>
              </a:rPr>
              <a:t> </a:t>
            </a:r>
            <a:r>
              <a:rPr sz="2000" spc="-5" dirty="0">
                <a:solidFill>
                  <a:srgbClr val="FF0000"/>
                </a:solidFill>
                <a:latin typeface="Calibri"/>
                <a:cs typeface="Calibri"/>
              </a:rPr>
              <a:t>partitioning</a:t>
            </a:r>
            <a:r>
              <a:rPr sz="2000" spc="5" dirty="0">
                <a:solidFill>
                  <a:srgbClr val="FF0000"/>
                </a:solidFill>
                <a:latin typeface="Calibri"/>
                <a:cs typeface="Calibri"/>
              </a:rPr>
              <a:t> </a:t>
            </a:r>
            <a:r>
              <a:rPr sz="2000" spc="-5" dirty="0">
                <a:solidFill>
                  <a:srgbClr val="FF0000"/>
                </a:solidFill>
                <a:latin typeface="Calibri"/>
                <a:cs typeface="Calibri"/>
              </a:rPr>
              <a:t>on</a:t>
            </a:r>
            <a:r>
              <a:rPr sz="2000" dirty="0">
                <a:solidFill>
                  <a:srgbClr val="FF0000"/>
                </a:solidFill>
                <a:latin typeface="Calibri"/>
                <a:cs typeface="Calibri"/>
              </a:rPr>
              <a:t> </a:t>
            </a:r>
            <a:r>
              <a:rPr sz="2000" i="1" dirty="0">
                <a:solidFill>
                  <a:srgbClr val="FF0000"/>
                </a:solidFill>
                <a:latin typeface="Calibri"/>
                <a:cs typeface="Calibri"/>
              </a:rPr>
              <a:t>A</a:t>
            </a:r>
            <a:r>
              <a:rPr sz="2000" dirty="0">
                <a:solidFill>
                  <a:srgbClr val="FF0000"/>
                </a:solidFill>
                <a:latin typeface="Calibri"/>
                <a:cs typeface="Calibri"/>
              </a:rPr>
              <a:t>).</a:t>
            </a:r>
            <a:r>
              <a:rPr sz="2000" spc="-10" dirty="0">
                <a:solidFill>
                  <a:srgbClr val="FF0000"/>
                </a:solidFill>
                <a:latin typeface="Calibri"/>
                <a:cs typeface="Calibri"/>
              </a:rPr>
              <a:t> That</a:t>
            </a:r>
            <a:r>
              <a:rPr sz="2000" spc="10" dirty="0">
                <a:solidFill>
                  <a:srgbClr val="FF0000"/>
                </a:solidFill>
                <a:latin typeface="Calibri"/>
                <a:cs typeface="Calibri"/>
              </a:rPr>
              <a:t> </a:t>
            </a:r>
            <a:r>
              <a:rPr sz="2000" spc="-5" dirty="0">
                <a:solidFill>
                  <a:srgbClr val="FF0000"/>
                </a:solidFill>
                <a:latin typeface="Calibri"/>
                <a:cs typeface="Calibri"/>
              </a:rPr>
              <a:t>is,</a:t>
            </a:r>
            <a:endParaRPr sz="2000" dirty="0">
              <a:solidFill>
                <a:srgbClr val="FF0000"/>
              </a:solidFill>
              <a:latin typeface="Calibri"/>
              <a:cs typeface="Calibri"/>
            </a:endParaRPr>
          </a:p>
        </p:txBody>
      </p:sp>
      <p:sp>
        <p:nvSpPr>
          <p:cNvPr id="4" name="object 4"/>
          <p:cNvSpPr txBox="1"/>
          <p:nvPr/>
        </p:nvSpPr>
        <p:spPr>
          <a:xfrm>
            <a:off x="535940" y="3594861"/>
            <a:ext cx="8070850" cy="636270"/>
          </a:xfrm>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4965" algn="l"/>
                <a:tab pos="355600" algn="l"/>
              </a:tabLst>
            </a:pPr>
            <a:r>
              <a:rPr sz="2000" spc="-5" dirty="0">
                <a:latin typeface="Calibri"/>
                <a:cs typeface="Calibri"/>
              </a:rPr>
              <a:t>The</a:t>
            </a:r>
            <a:r>
              <a:rPr sz="2000" spc="175" dirty="0">
                <a:latin typeface="Calibri"/>
                <a:cs typeface="Calibri"/>
              </a:rPr>
              <a:t> </a:t>
            </a:r>
            <a:r>
              <a:rPr sz="2000" spc="-10" dirty="0">
                <a:latin typeface="Calibri"/>
                <a:cs typeface="Calibri"/>
              </a:rPr>
              <a:t>attribute</a:t>
            </a:r>
            <a:r>
              <a:rPr sz="2000" spc="175" dirty="0">
                <a:latin typeface="Calibri"/>
                <a:cs typeface="Calibri"/>
              </a:rPr>
              <a:t> </a:t>
            </a:r>
            <a:r>
              <a:rPr sz="2000" dirty="0">
                <a:latin typeface="Calibri"/>
                <a:cs typeface="Calibri"/>
              </a:rPr>
              <a:t>A</a:t>
            </a:r>
            <a:r>
              <a:rPr sz="2000" spc="180" dirty="0">
                <a:latin typeface="Calibri"/>
                <a:cs typeface="Calibri"/>
              </a:rPr>
              <a:t> </a:t>
            </a:r>
            <a:r>
              <a:rPr sz="2000" spc="-5" dirty="0">
                <a:latin typeface="Calibri"/>
                <a:cs typeface="Calibri"/>
              </a:rPr>
              <a:t>with</a:t>
            </a:r>
            <a:r>
              <a:rPr sz="2000" spc="185" dirty="0">
                <a:latin typeface="Calibri"/>
                <a:cs typeface="Calibri"/>
              </a:rPr>
              <a:t> </a:t>
            </a:r>
            <a:r>
              <a:rPr sz="2000" dirty="0">
                <a:latin typeface="Calibri"/>
                <a:cs typeface="Calibri"/>
              </a:rPr>
              <a:t>the</a:t>
            </a:r>
            <a:r>
              <a:rPr sz="2000" spc="180" dirty="0">
                <a:latin typeface="Calibri"/>
                <a:cs typeface="Calibri"/>
              </a:rPr>
              <a:t> </a:t>
            </a:r>
            <a:r>
              <a:rPr sz="2000" spc="-10" dirty="0">
                <a:solidFill>
                  <a:srgbClr val="FF0000"/>
                </a:solidFill>
                <a:latin typeface="Calibri"/>
                <a:cs typeface="Calibri"/>
              </a:rPr>
              <a:t>highest</a:t>
            </a:r>
            <a:r>
              <a:rPr sz="2000" spc="180" dirty="0">
                <a:solidFill>
                  <a:srgbClr val="FF0000"/>
                </a:solidFill>
                <a:latin typeface="Calibri"/>
                <a:cs typeface="Calibri"/>
              </a:rPr>
              <a:t> </a:t>
            </a:r>
            <a:r>
              <a:rPr sz="2000" spc="-10" dirty="0">
                <a:solidFill>
                  <a:srgbClr val="FF0000"/>
                </a:solidFill>
                <a:latin typeface="Calibri"/>
                <a:cs typeface="Calibri"/>
              </a:rPr>
              <a:t>information</a:t>
            </a:r>
            <a:r>
              <a:rPr sz="2000" spc="175" dirty="0">
                <a:solidFill>
                  <a:srgbClr val="FF0000"/>
                </a:solidFill>
                <a:latin typeface="Calibri"/>
                <a:cs typeface="Calibri"/>
              </a:rPr>
              <a:t> </a:t>
            </a:r>
            <a:r>
              <a:rPr sz="2000" spc="-10" dirty="0">
                <a:solidFill>
                  <a:srgbClr val="FF0000"/>
                </a:solidFill>
                <a:latin typeface="Calibri"/>
                <a:cs typeface="Calibri"/>
              </a:rPr>
              <a:t>gain</a:t>
            </a:r>
            <a:r>
              <a:rPr sz="2000" spc="-10" dirty="0">
                <a:latin typeface="Calibri"/>
                <a:cs typeface="Calibri"/>
              </a:rPr>
              <a:t>,</a:t>
            </a:r>
            <a:r>
              <a:rPr sz="2000" spc="185" dirty="0">
                <a:latin typeface="Calibri"/>
                <a:cs typeface="Calibri"/>
              </a:rPr>
              <a:t> </a:t>
            </a:r>
            <a:r>
              <a:rPr sz="2000" spc="-5" dirty="0">
                <a:latin typeface="Calibri"/>
                <a:cs typeface="Calibri"/>
              </a:rPr>
              <a:t>(</a:t>
            </a:r>
            <a:r>
              <a:rPr sz="2000" i="1" spc="-5" dirty="0">
                <a:latin typeface="Calibri"/>
                <a:cs typeface="Calibri"/>
              </a:rPr>
              <a:t>Gain</a:t>
            </a:r>
            <a:r>
              <a:rPr sz="2000" spc="-5" dirty="0">
                <a:latin typeface="Calibri"/>
                <a:cs typeface="Calibri"/>
              </a:rPr>
              <a:t>(</a:t>
            </a:r>
            <a:r>
              <a:rPr sz="2000" i="1" spc="-5" dirty="0">
                <a:latin typeface="Calibri"/>
                <a:cs typeface="Calibri"/>
              </a:rPr>
              <a:t>A</a:t>
            </a:r>
            <a:r>
              <a:rPr sz="2000" spc="-5" dirty="0">
                <a:latin typeface="Calibri"/>
                <a:cs typeface="Calibri"/>
              </a:rPr>
              <a:t>)),</a:t>
            </a:r>
            <a:r>
              <a:rPr sz="2000" spc="180" dirty="0">
                <a:latin typeface="Calibri"/>
                <a:cs typeface="Calibri"/>
              </a:rPr>
              <a:t> </a:t>
            </a:r>
            <a:r>
              <a:rPr sz="2000" spc="-5" dirty="0">
                <a:latin typeface="Calibri"/>
                <a:cs typeface="Calibri"/>
              </a:rPr>
              <a:t>is</a:t>
            </a:r>
            <a:r>
              <a:rPr sz="2000" spc="175" dirty="0">
                <a:latin typeface="Calibri"/>
                <a:cs typeface="Calibri"/>
              </a:rPr>
              <a:t> </a:t>
            </a:r>
            <a:r>
              <a:rPr sz="2000" dirty="0">
                <a:latin typeface="Calibri"/>
                <a:cs typeface="Calibri"/>
              </a:rPr>
              <a:t>chosen</a:t>
            </a:r>
            <a:r>
              <a:rPr sz="2000" spc="175" dirty="0">
                <a:latin typeface="Calibri"/>
                <a:cs typeface="Calibri"/>
              </a:rPr>
              <a:t> </a:t>
            </a:r>
            <a:r>
              <a:rPr sz="2000" dirty="0">
                <a:latin typeface="Calibri"/>
                <a:cs typeface="Calibri"/>
              </a:rPr>
              <a:t>as</a:t>
            </a:r>
            <a:endParaRPr sz="2000">
              <a:latin typeface="Calibri"/>
              <a:cs typeface="Calibri"/>
            </a:endParaRPr>
          </a:p>
          <a:p>
            <a:pPr marL="355600">
              <a:lnSpc>
                <a:spcPct val="100000"/>
              </a:lnSpc>
              <a:spcBef>
                <a:spcPts val="5"/>
              </a:spcBef>
            </a:pPr>
            <a:r>
              <a:rPr sz="2000" dirty="0">
                <a:latin typeface="Calibri"/>
                <a:cs typeface="Calibri"/>
              </a:rPr>
              <a:t>the </a:t>
            </a:r>
            <a:r>
              <a:rPr sz="2000" spc="-5" dirty="0">
                <a:latin typeface="Calibri"/>
                <a:cs typeface="Calibri"/>
              </a:rPr>
              <a:t>splitting</a:t>
            </a:r>
            <a:r>
              <a:rPr sz="2000" dirty="0">
                <a:latin typeface="Calibri"/>
                <a:cs typeface="Calibri"/>
              </a:rPr>
              <a:t> </a:t>
            </a:r>
            <a:r>
              <a:rPr sz="2000" spc="-10" dirty="0">
                <a:latin typeface="Calibri"/>
                <a:cs typeface="Calibri"/>
              </a:rPr>
              <a:t>attribute</a:t>
            </a:r>
            <a:r>
              <a:rPr sz="2000" spc="10" dirty="0">
                <a:latin typeface="Calibri"/>
                <a:cs typeface="Calibri"/>
              </a:rPr>
              <a:t> </a:t>
            </a:r>
            <a:r>
              <a:rPr sz="2000" spc="-15" dirty="0">
                <a:latin typeface="Calibri"/>
                <a:cs typeface="Calibri"/>
              </a:rPr>
              <a:t>at</a:t>
            </a:r>
            <a:r>
              <a:rPr sz="2000" dirty="0">
                <a:latin typeface="Calibri"/>
                <a:cs typeface="Calibri"/>
              </a:rPr>
              <a:t> </a:t>
            </a:r>
            <a:r>
              <a:rPr sz="2000" spc="-5" dirty="0">
                <a:latin typeface="Calibri"/>
                <a:cs typeface="Calibri"/>
              </a:rPr>
              <a:t>node</a:t>
            </a:r>
            <a:r>
              <a:rPr sz="2000" spc="-25" dirty="0">
                <a:latin typeface="Calibri"/>
                <a:cs typeface="Calibri"/>
              </a:rPr>
              <a:t> </a:t>
            </a:r>
            <a:r>
              <a:rPr sz="2000" dirty="0">
                <a:latin typeface="Calibri"/>
                <a:cs typeface="Calibri"/>
              </a:rPr>
              <a:t>N.</a:t>
            </a:r>
            <a:endParaRPr sz="2000">
              <a:latin typeface="Calibri"/>
              <a:cs typeface="Calibri"/>
            </a:endParaRPr>
          </a:p>
        </p:txBody>
      </p:sp>
      <p:pic>
        <p:nvPicPr>
          <p:cNvPr id="5" name="object 5"/>
          <p:cNvPicPr/>
          <p:nvPr/>
        </p:nvPicPr>
        <p:blipFill>
          <a:blip r:embed="rId2" cstate="print"/>
          <a:stretch>
            <a:fillRect/>
          </a:stretch>
        </p:blipFill>
        <p:spPr>
          <a:xfrm>
            <a:off x="2651760" y="3032760"/>
            <a:ext cx="3465576" cy="390144"/>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37</a:t>
            </a:fld>
            <a:endParaRPr dirty="0"/>
          </a:p>
        </p:txBody>
      </p:sp>
    </p:spTree>
    <p:extLst>
      <p:ext uri="{BB962C8B-B14F-4D97-AF65-F5344CB8AC3E}">
        <p14:creationId xmlns:p14="http://schemas.microsoft.com/office/powerpoint/2010/main" val="32928552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4205" y="385953"/>
            <a:ext cx="1277620" cy="452120"/>
          </a:xfrm>
          <a:prstGeom prst="rect">
            <a:avLst/>
          </a:prstGeom>
        </p:spPr>
        <p:txBody>
          <a:bodyPr vert="horz" wrap="square" lIns="0" tIns="12065" rIns="0" bIns="0" rtlCol="0">
            <a:spAutoFit/>
          </a:bodyPr>
          <a:lstStyle/>
          <a:p>
            <a:pPr marL="12700">
              <a:lnSpc>
                <a:spcPct val="100000"/>
              </a:lnSpc>
              <a:spcBef>
                <a:spcPts val="95"/>
              </a:spcBef>
            </a:pPr>
            <a:r>
              <a:rPr b="1" spc="-5" dirty="0">
                <a:latin typeface="Carlito"/>
                <a:cs typeface="Carlito"/>
              </a:rPr>
              <a:t>E</a:t>
            </a:r>
            <a:r>
              <a:rPr b="1" spc="-50" dirty="0">
                <a:latin typeface="Carlito"/>
                <a:cs typeface="Carlito"/>
              </a:rPr>
              <a:t>x</a:t>
            </a:r>
            <a:r>
              <a:rPr b="1" spc="-5" dirty="0">
                <a:latin typeface="Carlito"/>
                <a:cs typeface="Carlito"/>
              </a:rPr>
              <a:t>ample</a:t>
            </a:r>
          </a:p>
        </p:txBody>
      </p:sp>
      <p:sp>
        <p:nvSpPr>
          <p:cNvPr id="3" name="object 3"/>
          <p:cNvSpPr txBox="1"/>
          <p:nvPr/>
        </p:nvSpPr>
        <p:spPr>
          <a:xfrm>
            <a:off x="535940" y="1216913"/>
            <a:ext cx="3307079" cy="1855470"/>
          </a:xfrm>
          <a:prstGeom prst="rect">
            <a:avLst/>
          </a:prstGeom>
        </p:spPr>
        <p:txBody>
          <a:bodyPr vert="horz" wrap="square" lIns="0" tIns="13335" rIns="0" bIns="0" rtlCol="0">
            <a:spAutoFit/>
          </a:bodyPr>
          <a:lstStyle/>
          <a:p>
            <a:pPr marL="355600" marR="5080" indent="-342900">
              <a:lnSpc>
                <a:spcPct val="100000"/>
              </a:lnSpc>
              <a:spcBef>
                <a:spcPts val="105"/>
              </a:spcBef>
              <a:buFont typeface="Arial"/>
              <a:buChar char="•"/>
              <a:tabLst>
                <a:tab pos="354965" algn="l"/>
                <a:tab pos="355600" algn="l"/>
              </a:tabLst>
            </a:pPr>
            <a:r>
              <a:rPr sz="2000" spc="-5" dirty="0">
                <a:latin typeface="Carlito"/>
                <a:cs typeface="Carlito"/>
              </a:rPr>
              <a:t>The </a:t>
            </a:r>
            <a:r>
              <a:rPr sz="2000" spc="-10" dirty="0">
                <a:latin typeface="Carlito"/>
                <a:cs typeface="Carlito"/>
              </a:rPr>
              <a:t>following </a:t>
            </a:r>
            <a:r>
              <a:rPr sz="2000" spc="-35" dirty="0">
                <a:latin typeface="Carlito"/>
                <a:cs typeface="Carlito"/>
              </a:rPr>
              <a:t>Table </a:t>
            </a:r>
            <a:r>
              <a:rPr sz="2000" spc="-5" dirty="0">
                <a:latin typeface="Carlito"/>
                <a:cs typeface="Carlito"/>
              </a:rPr>
              <a:t>presents  </a:t>
            </a:r>
            <a:r>
              <a:rPr sz="2000" dirty="0">
                <a:latin typeface="Carlito"/>
                <a:cs typeface="Carlito"/>
              </a:rPr>
              <a:t>a </a:t>
            </a:r>
            <a:r>
              <a:rPr sz="2000" spc="-5" dirty="0">
                <a:latin typeface="Carlito"/>
                <a:cs typeface="Carlito"/>
              </a:rPr>
              <a:t>training set, </a:t>
            </a:r>
            <a:r>
              <a:rPr sz="2000" spc="-25" dirty="0">
                <a:latin typeface="Carlito"/>
                <a:cs typeface="Carlito"/>
              </a:rPr>
              <a:t>D, </a:t>
            </a:r>
            <a:r>
              <a:rPr sz="2000" spc="-5" dirty="0">
                <a:latin typeface="Carlito"/>
                <a:cs typeface="Carlito"/>
              </a:rPr>
              <a:t>of class-  labeled </a:t>
            </a:r>
            <a:r>
              <a:rPr sz="2000" dirty="0">
                <a:latin typeface="Carlito"/>
                <a:cs typeface="Carlito"/>
              </a:rPr>
              <a:t>tuples </a:t>
            </a:r>
            <a:r>
              <a:rPr sz="2000" spc="-5" dirty="0">
                <a:latin typeface="Carlito"/>
                <a:cs typeface="Carlito"/>
              </a:rPr>
              <a:t>randomly  selected </a:t>
            </a:r>
            <a:r>
              <a:rPr sz="2000" spc="-15" dirty="0">
                <a:latin typeface="Carlito"/>
                <a:cs typeface="Carlito"/>
              </a:rPr>
              <a:t>from </a:t>
            </a:r>
            <a:r>
              <a:rPr sz="2000" dirty="0">
                <a:latin typeface="Carlito"/>
                <a:cs typeface="Carlito"/>
              </a:rPr>
              <a:t>the  </a:t>
            </a:r>
            <a:r>
              <a:rPr sz="2000" spc="-5" dirty="0">
                <a:latin typeface="Carlito"/>
                <a:cs typeface="Carlito"/>
              </a:rPr>
              <a:t>AllElectronics </a:t>
            </a:r>
            <a:r>
              <a:rPr sz="2000" spc="-10" dirty="0">
                <a:latin typeface="Carlito"/>
                <a:cs typeface="Carlito"/>
              </a:rPr>
              <a:t>customer  </a:t>
            </a:r>
            <a:r>
              <a:rPr sz="2000" spc="-5" dirty="0">
                <a:latin typeface="Carlito"/>
                <a:cs typeface="Carlito"/>
              </a:rPr>
              <a:t>database</a:t>
            </a:r>
            <a:endParaRPr sz="2000" dirty="0">
              <a:latin typeface="Carlito"/>
              <a:cs typeface="Carlito"/>
            </a:endParaRPr>
          </a:p>
        </p:txBody>
      </p:sp>
      <p:sp>
        <p:nvSpPr>
          <p:cNvPr id="5" name="object 5"/>
          <p:cNvSpPr/>
          <p:nvPr/>
        </p:nvSpPr>
        <p:spPr>
          <a:xfrm>
            <a:off x="3995928" y="1132332"/>
            <a:ext cx="5024628" cy="3456432"/>
          </a:xfrm>
          <a:prstGeom prst="rect">
            <a:avLst/>
          </a:prstGeom>
          <a:blipFill>
            <a:blip r:embed="rId2" cstate="print"/>
            <a:stretch>
              <a:fillRect/>
            </a:stretch>
          </a:blipFill>
        </p:spPr>
        <p:txBody>
          <a:bodyPr wrap="square" lIns="0" tIns="0" rIns="0" bIns="0" rtlCol="0"/>
          <a:lstStyle/>
          <a:p>
            <a:endParaRPr/>
          </a:p>
        </p:txBody>
      </p:sp>
      <p:sp>
        <p:nvSpPr>
          <p:cNvPr id="7" name="object 7"/>
          <p:cNvSpPr txBox="1"/>
          <p:nvPr/>
        </p:nvSpPr>
        <p:spPr>
          <a:xfrm>
            <a:off x="330200" y="3534283"/>
            <a:ext cx="3320415" cy="330200"/>
          </a:xfrm>
          <a:prstGeom prst="rect">
            <a:avLst/>
          </a:prstGeom>
        </p:spPr>
        <p:txBody>
          <a:bodyPr vert="horz" wrap="square" lIns="0" tIns="12065" rIns="0" bIns="0" rtlCol="0">
            <a:spAutoFit/>
          </a:bodyPr>
          <a:lstStyle/>
          <a:p>
            <a:pPr marL="12700" marR="5080">
              <a:lnSpc>
                <a:spcPct val="100000"/>
              </a:lnSpc>
              <a:spcBef>
                <a:spcPts val="95"/>
              </a:spcBef>
            </a:pPr>
            <a:r>
              <a:rPr sz="1000" spc="-5" dirty="0">
                <a:latin typeface="Carlito"/>
                <a:cs typeface="Carlito"/>
              </a:rPr>
              <a:t>Han, </a:t>
            </a:r>
            <a:r>
              <a:rPr sz="1000" spc="-10" dirty="0">
                <a:latin typeface="Carlito"/>
                <a:cs typeface="Carlito"/>
              </a:rPr>
              <a:t>J., </a:t>
            </a:r>
            <a:r>
              <a:rPr sz="1000" spc="-5" dirty="0">
                <a:latin typeface="Carlito"/>
                <a:cs typeface="Carlito"/>
              </a:rPr>
              <a:t>Pei, </a:t>
            </a:r>
            <a:r>
              <a:rPr sz="1000" spc="-10" dirty="0">
                <a:latin typeface="Carlito"/>
                <a:cs typeface="Carlito"/>
              </a:rPr>
              <a:t>J. </a:t>
            </a:r>
            <a:r>
              <a:rPr sz="1000" spc="-5" dirty="0">
                <a:latin typeface="Carlito"/>
                <a:cs typeface="Carlito"/>
              </a:rPr>
              <a:t>and Kamber, M., 2011. </a:t>
            </a:r>
            <a:r>
              <a:rPr sz="1000" i="1" spc="-5" dirty="0">
                <a:latin typeface="Carlito"/>
                <a:cs typeface="Carlito"/>
              </a:rPr>
              <a:t>Data mining: concepts and  techniques</a:t>
            </a:r>
            <a:r>
              <a:rPr sz="1000" spc="-5" dirty="0">
                <a:latin typeface="Carlito"/>
                <a:cs typeface="Carlito"/>
              </a:rPr>
              <a:t>.</a:t>
            </a:r>
            <a:r>
              <a:rPr sz="1000" spc="-40" dirty="0">
                <a:latin typeface="Carlito"/>
                <a:cs typeface="Carlito"/>
              </a:rPr>
              <a:t> </a:t>
            </a:r>
            <a:r>
              <a:rPr sz="1000" spc="-5" dirty="0">
                <a:latin typeface="Carlito"/>
                <a:cs typeface="Carlito"/>
              </a:rPr>
              <a:t>Elsevier.</a:t>
            </a:r>
            <a:endParaRPr sz="1000">
              <a:latin typeface="Carlito"/>
              <a:cs typeface="Carlito"/>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38</a:t>
            </a:fld>
            <a:endParaRPr dirty="0"/>
          </a:p>
        </p:txBody>
      </p:sp>
    </p:spTree>
    <p:extLst>
      <p:ext uri="{BB962C8B-B14F-4D97-AF65-F5344CB8AC3E}">
        <p14:creationId xmlns:p14="http://schemas.microsoft.com/office/powerpoint/2010/main" val="46046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4205" y="385953"/>
            <a:ext cx="1277620" cy="452120"/>
          </a:xfrm>
          <a:prstGeom prst="rect">
            <a:avLst/>
          </a:prstGeom>
        </p:spPr>
        <p:txBody>
          <a:bodyPr vert="horz" wrap="square" lIns="0" tIns="12065" rIns="0" bIns="0" rtlCol="0">
            <a:spAutoFit/>
          </a:bodyPr>
          <a:lstStyle/>
          <a:p>
            <a:pPr marL="12700">
              <a:lnSpc>
                <a:spcPct val="100000"/>
              </a:lnSpc>
              <a:spcBef>
                <a:spcPts val="95"/>
              </a:spcBef>
            </a:pPr>
            <a:r>
              <a:rPr b="1" spc="-5" dirty="0">
                <a:latin typeface="Carlito"/>
                <a:cs typeface="Carlito"/>
              </a:rPr>
              <a:t>E</a:t>
            </a:r>
            <a:r>
              <a:rPr b="1" spc="-50" dirty="0">
                <a:latin typeface="Carlito"/>
                <a:cs typeface="Carlito"/>
              </a:rPr>
              <a:t>x</a:t>
            </a:r>
            <a:r>
              <a:rPr b="1" spc="-5" dirty="0">
                <a:latin typeface="Carlito"/>
                <a:cs typeface="Carlito"/>
              </a:rPr>
              <a:t>ample</a:t>
            </a:r>
          </a:p>
        </p:txBody>
      </p:sp>
      <p:sp>
        <p:nvSpPr>
          <p:cNvPr id="3" name="object 3"/>
          <p:cNvSpPr txBox="1"/>
          <p:nvPr/>
        </p:nvSpPr>
        <p:spPr>
          <a:xfrm>
            <a:off x="497840" y="1156563"/>
            <a:ext cx="7950834" cy="2525395"/>
          </a:xfrm>
          <a:prstGeom prst="rect">
            <a:avLst/>
          </a:prstGeom>
        </p:spPr>
        <p:txBody>
          <a:bodyPr vert="horz" wrap="square" lIns="0" tIns="73660" rIns="0" bIns="0" rtlCol="0">
            <a:spAutoFit/>
          </a:bodyPr>
          <a:lstStyle/>
          <a:p>
            <a:pPr marL="393700" indent="-342900">
              <a:lnSpc>
                <a:spcPct val="100000"/>
              </a:lnSpc>
              <a:spcBef>
                <a:spcPts val="580"/>
              </a:spcBef>
              <a:buFont typeface="Arial"/>
              <a:buChar char="•"/>
              <a:tabLst>
                <a:tab pos="393065" algn="l"/>
                <a:tab pos="393700" algn="l"/>
              </a:tabLst>
            </a:pPr>
            <a:r>
              <a:rPr sz="2000" dirty="0">
                <a:latin typeface="Carlito"/>
                <a:cs typeface="Carlito"/>
              </a:rPr>
              <a:t>In this </a:t>
            </a:r>
            <a:r>
              <a:rPr sz="2000" spc="-10" dirty="0">
                <a:latin typeface="Carlito"/>
                <a:cs typeface="Carlito"/>
              </a:rPr>
              <a:t>example, </a:t>
            </a:r>
            <a:r>
              <a:rPr sz="2000" dirty="0">
                <a:latin typeface="Carlito"/>
                <a:cs typeface="Carlito"/>
              </a:rPr>
              <a:t>each </a:t>
            </a:r>
            <a:r>
              <a:rPr sz="2000" spc="-10" dirty="0">
                <a:latin typeface="Carlito"/>
                <a:cs typeface="Carlito"/>
              </a:rPr>
              <a:t>attribute </a:t>
            </a:r>
            <a:r>
              <a:rPr sz="2000" dirty="0">
                <a:latin typeface="Carlito"/>
                <a:cs typeface="Carlito"/>
              </a:rPr>
              <a:t>is</a:t>
            </a:r>
            <a:r>
              <a:rPr sz="2000" spc="40" dirty="0">
                <a:latin typeface="Carlito"/>
                <a:cs typeface="Carlito"/>
              </a:rPr>
              <a:t> </a:t>
            </a:r>
            <a:r>
              <a:rPr sz="2000" spc="-10" dirty="0">
                <a:latin typeface="Carlito"/>
                <a:cs typeface="Carlito"/>
              </a:rPr>
              <a:t>discrete-valued</a:t>
            </a:r>
            <a:endParaRPr sz="2000" dirty="0">
              <a:latin typeface="Carlito"/>
              <a:cs typeface="Carlito"/>
            </a:endParaRPr>
          </a:p>
          <a:p>
            <a:pPr marL="393700" indent="-342900">
              <a:lnSpc>
                <a:spcPct val="100000"/>
              </a:lnSpc>
              <a:spcBef>
                <a:spcPts val="480"/>
              </a:spcBef>
              <a:buFont typeface="Arial"/>
              <a:buChar char="•"/>
              <a:tabLst>
                <a:tab pos="393065" algn="l"/>
                <a:tab pos="393700" algn="l"/>
              </a:tabLst>
            </a:pPr>
            <a:r>
              <a:rPr sz="2000" spc="-5" dirty="0">
                <a:latin typeface="Carlito"/>
                <a:cs typeface="Carlito"/>
              </a:rPr>
              <a:t>Continuous-valued </a:t>
            </a:r>
            <a:r>
              <a:rPr sz="2000" spc="-10" dirty="0">
                <a:latin typeface="Carlito"/>
                <a:cs typeface="Carlito"/>
              </a:rPr>
              <a:t>attributes </a:t>
            </a:r>
            <a:r>
              <a:rPr sz="2000" spc="-20" dirty="0">
                <a:latin typeface="Carlito"/>
                <a:cs typeface="Carlito"/>
              </a:rPr>
              <a:t>have </a:t>
            </a:r>
            <a:r>
              <a:rPr sz="2000" spc="-5" dirty="0">
                <a:latin typeface="Carlito"/>
                <a:cs typeface="Carlito"/>
              </a:rPr>
              <a:t>been</a:t>
            </a:r>
            <a:r>
              <a:rPr sz="2000" spc="40" dirty="0">
                <a:latin typeface="Carlito"/>
                <a:cs typeface="Carlito"/>
              </a:rPr>
              <a:t> </a:t>
            </a:r>
            <a:r>
              <a:rPr sz="2000" spc="-10" dirty="0">
                <a:latin typeface="Carlito"/>
                <a:cs typeface="Carlito"/>
              </a:rPr>
              <a:t>generalized</a:t>
            </a:r>
            <a:endParaRPr sz="2000" dirty="0">
              <a:latin typeface="Carlito"/>
              <a:cs typeface="Carlito"/>
            </a:endParaRPr>
          </a:p>
          <a:p>
            <a:pPr marL="393700" indent="-342900">
              <a:lnSpc>
                <a:spcPct val="100000"/>
              </a:lnSpc>
              <a:spcBef>
                <a:spcPts val="480"/>
              </a:spcBef>
              <a:buFont typeface="Arial"/>
              <a:buChar char="•"/>
              <a:tabLst>
                <a:tab pos="393065" algn="l"/>
                <a:tab pos="393700" algn="l"/>
              </a:tabLst>
            </a:pPr>
            <a:r>
              <a:rPr sz="2000" spc="-5" dirty="0">
                <a:latin typeface="Carlito"/>
                <a:cs typeface="Carlito"/>
              </a:rPr>
              <a:t>The </a:t>
            </a:r>
            <a:r>
              <a:rPr sz="2000" dirty="0">
                <a:latin typeface="Carlito"/>
                <a:cs typeface="Carlito"/>
              </a:rPr>
              <a:t>class label </a:t>
            </a:r>
            <a:r>
              <a:rPr sz="2000" spc="-10" dirty="0">
                <a:latin typeface="Carlito"/>
                <a:cs typeface="Carlito"/>
              </a:rPr>
              <a:t>attribute, </a:t>
            </a:r>
            <a:r>
              <a:rPr sz="2000" spc="-5" dirty="0">
                <a:latin typeface="Carlito"/>
                <a:cs typeface="Carlito"/>
              </a:rPr>
              <a:t>buys </a:t>
            </a:r>
            <a:r>
              <a:rPr sz="2000" spc="-25" dirty="0">
                <a:latin typeface="Carlito"/>
                <a:cs typeface="Carlito"/>
              </a:rPr>
              <a:t>computer, </a:t>
            </a:r>
            <a:r>
              <a:rPr sz="2000" spc="-5" dirty="0">
                <a:latin typeface="Carlito"/>
                <a:cs typeface="Carlito"/>
              </a:rPr>
              <a:t>has </a:t>
            </a:r>
            <a:r>
              <a:rPr sz="2000" spc="-10" dirty="0">
                <a:latin typeface="Carlito"/>
                <a:cs typeface="Carlito"/>
              </a:rPr>
              <a:t>two </a:t>
            </a:r>
            <a:r>
              <a:rPr sz="2000" spc="-5" dirty="0">
                <a:latin typeface="Carlito"/>
                <a:cs typeface="Carlito"/>
              </a:rPr>
              <a:t>distinct values</a:t>
            </a:r>
            <a:r>
              <a:rPr sz="2000" spc="60" dirty="0">
                <a:latin typeface="Carlito"/>
                <a:cs typeface="Carlito"/>
              </a:rPr>
              <a:t> </a:t>
            </a:r>
            <a:r>
              <a:rPr sz="2000" spc="-20" dirty="0">
                <a:latin typeface="Carlito"/>
                <a:cs typeface="Carlito"/>
              </a:rPr>
              <a:t>(namely,</a:t>
            </a:r>
            <a:endParaRPr sz="2000" dirty="0">
              <a:latin typeface="Carlito"/>
              <a:cs typeface="Carlito"/>
            </a:endParaRPr>
          </a:p>
          <a:p>
            <a:pPr marL="393700">
              <a:lnSpc>
                <a:spcPct val="100000"/>
              </a:lnSpc>
            </a:pPr>
            <a:r>
              <a:rPr sz="2000" spc="-5" dirty="0">
                <a:latin typeface="Carlito"/>
                <a:cs typeface="Carlito"/>
              </a:rPr>
              <a:t>{yes, </a:t>
            </a:r>
            <a:r>
              <a:rPr sz="2000" dirty="0">
                <a:latin typeface="Carlito"/>
                <a:cs typeface="Carlito"/>
              </a:rPr>
              <a:t>no}); </a:t>
            </a:r>
            <a:r>
              <a:rPr sz="2000" spc="-15" dirty="0">
                <a:latin typeface="Carlito"/>
                <a:cs typeface="Carlito"/>
              </a:rPr>
              <a:t>therefore, </a:t>
            </a:r>
            <a:r>
              <a:rPr sz="2000" spc="-5" dirty="0">
                <a:latin typeface="Carlito"/>
                <a:cs typeface="Carlito"/>
              </a:rPr>
              <a:t>there </a:t>
            </a:r>
            <a:r>
              <a:rPr sz="2000" spc="-10" dirty="0">
                <a:latin typeface="Carlito"/>
                <a:cs typeface="Carlito"/>
              </a:rPr>
              <a:t>are two </a:t>
            </a:r>
            <a:r>
              <a:rPr sz="2000" spc="-5" dirty="0">
                <a:latin typeface="Carlito"/>
                <a:cs typeface="Carlito"/>
              </a:rPr>
              <a:t>distinct </a:t>
            </a:r>
            <a:r>
              <a:rPr sz="2000" dirty="0">
                <a:latin typeface="Carlito"/>
                <a:cs typeface="Carlito"/>
              </a:rPr>
              <a:t>classes </a:t>
            </a:r>
            <a:r>
              <a:rPr sz="2000" spc="-5" dirty="0">
                <a:latin typeface="Carlito"/>
                <a:cs typeface="Carlito"/>
              </a:rPr>
              <a:t>(that </a:t>
            </a:r>
            <a:r>
              <a:rPr sz="2000" dirty="0">
                <a:latin typeface="Carlito"/>
                <a:cs typeface="Carlito"/>
              </a:rPr>
              <a:t>is, m =</a:t>
            </a:r>
            <a:r>
              <a:rPr sz="2000" spc="15" dirty="0">
                <a:latin typeface="Carlito"/>
                <a:cs typeface="Carlito"/>
              </a:rPr>
              <a:t> </a:t>
            </a:r>
            <a:r>
              <a:rPr sz="2000" dirty="0">
                <a:latin typeface="Carlito"/>
                <a:cs typeface="Carlito"/>
              </a:rPr>
              <a:t>2)</a:t>
            </a:r>
          </a:p>
          <a:p>
            <a:pPr marL="393700" indent="-342900">
              <a:lnSpc>
                <a:spcPct val="100000"/>
              </a:lnSpc>
              <a:spcBef>
                <a:spcPts val="480"/>
              </a:spcBef>
              <a:buFont typeface="Arial"/>
              <a:buChar char="•"/>
              <a:tabLst>
                <a:tab pos="393065" algn="l"/>
                <a:tab pos="393700" algn="l"/>
              </a:tabLst>
            </a:pPr>
            <a:r>
              <a:rPr sz="2000" spc="-5" dirty="0">
                <a:latin typeface="Carlito"/>
                <a:cs typeface="Carlito"/>
              </a:rPr>
              <a:t>Let </a:t>
            </a:r>
            <a:r>
              <a:rPr sz="2000" dirty="0">
                <a:latin typeface="Carlito"/>
                <a:cs typeface="Carlito"/>
              </a:rPr>
              <a:t>class </a:t>
            </a:r>
            <a:r>
              <a:rPr sz="2000" spc="5" dirty="0">
                <a:latin typeface="Carlito"/>
                <a:cs typeface="Carlito"/>
              </a:rPr>
              <a:t>C</a:t>
            </a:r>
            <a:r>
              <a:rPr sz="1950" spc="7" baseline="-21367" dirty="0">
                <a:latin typeface="Carlito"/>
                <a:cs typeface="Carlito"/>
              </a:rPr>
              <a:t>1 </a:t>
            </a:r>
            <a:r>
              <a:rPr sz="2000" spc="-5" dirty="0">
                <a:latin typeface="Carlito"/>
                <a:cs typeface="Carlito"/>
              </a:rPr>
              <a:t>correspond </a:t>
            </a:r>
            <a:r>
              <a:rPr sz="2000" spc="-15" dirty="0">
                <a:latin typeface="Carlito"/>
                <a:cs typeface="Carlito"/>
              </a:rPr>
              <a:t>to </a:t>
            </a:r>
            <a:r>
              <a:rPr sz="2000" spc="-5" dirty="0">
                <a:latin typeface="Carlito"/>
                <a:cs typeface="Carlito"/>
              </a:rPr>
              <a:t>‘yes’ </a:t>
            </a:r>
            <a:r>
              <a:rPr sz="2000" dirty="0">
                <a:latin typeface="Carlito"/>
                <a:cs typeface="Carlito"/>
              </a:rPr>
              <a:t>and class </a:t>
            </a:r>
            <a:r>
              <a:rPr sz="2000" spc="5" dirty="0">
                <a:latin typeface="Carlito"/>
                <a:cs typeface="Carlito"/>
              </a:rPr>
              <a:t>C</a:t>
            </a:r>
            <a:r>
              <a:rPr sz="1950" spc="7" baseline="-21367" dirty="0">
                <a:latin typeface="Carlito"/>
                <a:cs typeface="Carlito"/>
              </a:rPr>
              <a:t>2 </a:t>
            </a:r>
            <a:r>
              <a:rPr sz="2000" spc="-5" dirty="0">
                <a:latin typeface="Carlito"/>
                <a:cs typeface="Carlito"/>
              </a:rPr>
              <a:t>correspond </a:t>
            </a:r>
            <a:r>
              <a:rPr sz="2000" spc="-15" dirty="0">
                <a:latin typeface="Carlito"/>
                <a:cs typeface="Carlito"/>
              </a:rPr>
              <a:t>to</a:t>
            </a:r>
            <a:r>
              <a:rPr sz="2000" spc="-315" dirty="0">
                <a:latin typeface="Carlito"/>
                <a:cs typeface="Carlito"/>
              </a:rPr>
              <a:t> </a:t>
            </a:r>
            <a:r>
              <a:rPr sz="2000" spc="-40" dirty="0">
                <a:latin typeface="Carlito"/>
                <a:cs typeface="Carlito"/>
              </a:rPr>
              <a:t>‘no’.</a:t>
            </a:r>
            <a:endParaRPr sz="2000" dirty="0">
              <a:latin typeface="Carlito"/>
              <a:cs typeface="Carlito"/>
            </a:endParaRPr>
          </a:p>
          <a:p>
            <a:pPr marL="393700" indent="-342900">
              <a:lnSpc>
                <a:spcPct val="100000"/>
              </a:lnSpc>
              <a:spcBef>
                <a:spcPts val="480"/>
              </a:spcBef>
              <a:buFont typeface="Arial"/>
              <a:buChar char="•"/>
              <a:tabLst>
                <a:tab pos="393065" algn="l"/>
                <a:tab pos="393700" algn="l"/>
              </a:tabLst>
            </a:pPr>
            <a:r>
              <a:rPr sz="2000" spc="-10" dirty="0">
                <a:latin typeface="Carlito"/>
                <a:cs typeface="Carlito"/>
              </a:rPr>
              <a:t>There are </a:t>
            </a:r>
            <a:r>
              <a:rPr sz="2000" spc="-5" dirty="0">
                <a:latin typeface="Carlito"/>
                <a:cs typeface="Carlito"/>
              </a:rPr>
              <a:t>nine </a:t>
            </a:r>
            <a:r>
              <a:rPr sz="2000" dirty="0">
                <a:latin typeface="Carlito"/>
                <a:cs typeface="Carlito"/>
              </a:rPr>
              <a:t>tuples </a:t>
            </a:r>
            <a:r>
              <a:rPr sz="2000" spc="-5" dirty="0">
                <a:latin typeface="Carlito"/>
                <a:cs typeface="Carlito"/>
              </a:rPr>
              <a:t>of class ‘yes’ </a:t>
            </a:r>
            <a:r>
              <a:rPr sz="2000" dirty="0">
                <a:latin typeface="Carlito"/>
                <a:cs typeface="Carlito"/>
              </a:rPr>
              <a:t>and </a:t>
            </a:r>
            <a:r>
              <a:rPr sz="2000" spc="-15" dirty="0">
                <a:latin typeface="Carlito"/>
                <a:cs typeface="Carlito"/>
              </a:rPr>
              <a:t>ﬁve </a:t>
            </a:r>
            <a:r>
              <a:rPr sz="2000" dirty="0">
                <a:latin typeface="Carlito"/>
                <a:cs typeface="Carlito"/>
              </a:rPr>
              <a:t>tuples </a:t>
            </a:r>
            <a:r>
              <a:rPr sz="2000" spc="-5" dirty="0">
                <a:latin typeface="Carlito"/>
                <a:cs typeface="Carlito"/>
              </a:rPr>
              <a:t>of </a:t>
            </a:r>
            <a:r>
              <a:rPr sz="2000" dirty="0">
                <a:latin typeface="Carlito"/>
                <a:cs typeface="Carlito"/>
              </a:rPr>
              <a:t>class</a:t>
            </a:r>
            <a:r>
              <a:rPr sz="2000" spc="70" dirty="0">
                <a:latin typeface="Carlito"/>
                <a:cs typeface="Carlito"/>
              </a:rPr>
              <a:t> </a:t>
            </a:r>
            <a:r>
              <a:rPr sz="2000" spc="-40" dirty="0">
                <a:latin typeface="Carlito"/>
                <a:cs typeface="Carlito"/>
              </a:rPr>
              <a:t>‘no’.</a:t>
            </a:r>
            <a:endParaRPr sz="2000" dirty="0">
              <a:latin typeface="Carlito"/>
              <a:cs typeface="Carlito"/>
            </a:endParaRPr>
          </a:p>
          <a:p>
            <a:pPr marL="393700" indent="-342900">
              <a:lnSpc>
                <a:spcPct val="100000"/>
              </a:lnSpc>
              <a:spcBef>
                <a:spcPts val="480"/>
              </a:spcBef>
              <a:buFont typeface="Arial"/>
              <a:buChar char="•"/>
              <a:tabLst>
                <a:tab pos="393065" algn="l"/>
                <a:tab pos="393700" algn="l"/>
              </a:tabLst>
            </a:pPr>
            <a:r>
              <a:rPr sz="2000" dirty="0">
                <a:latin typeface="Carlito"/>
                <a:cs typeface="Carlito"/>
              </a:rPr>
              <a:t>A </a:t>
            </a:r>
            <a:r>
              <a:rPr sz="2000" spc="-10" dirty="0">
                <a:latin typeface="Carlito"/>
                <a:cs typeface="Carlito"/>
              </a:rPr>
              <a:t>(root) </a:t>
            </a:r>
            <a:r>
              <a:rPr sz="2000" dirty="0">
                <a:latin typeface="Carlito"/>
                <a:cs typeface="Carlito"/>
              </a:rPr>
              <a:t>node N is </a:t>
            </a:r>
            <a:r>
              <a:rPr sz="2000" spc="-10" dirty="0">
                <a:latin typeface="Carlito"/>
                <a:cs typeface="Carlito"/>
              </a:rPr>
              <a:t>created </a:t>
            </a:r>
            <a:r>
              <a:rPr sz="2000" spc="-15" dirty="0">
                <a:latin typeface="Carlito"/>
                <a:cs typeface="Carlito"/>
              </a:rPr>
              <a:t>for </a:t>
            </a:r>
            <a:r>
              <a:rPr sz="2000" dirty="0">
                <a:latin typeface="Carlito"/>
                <a:cs typeface="Carlito"/>
              </a:rPr>
              <a:t>the tuples in</a:t>
            </a:r>
            <a:r>
              <a:rPr sz="2000" spc="-5" dirty="0">
                <a:latin typeface="Carlito"/>
                <a:cs typeface="Carlito"/>
              </a:rPr>
              <a:t> </a:t>
            </a:r>
            <a:r>
              <a:rPr sz="2000" dirty="0">
                <a:latin typeface="Carlito"/>
                <a:cs typeface="Carlito"/>
              </a:rPr>
              <a:t>D</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39</a:t>
            </a:fld>
            <a:endParaRPr dirty="0"/>
          </a:p>
        </p:txBody>
      </p:sp>
    </p:spTree>
    <p:extLst>
      <p:ext uri="{BB962C8B-B14F-4D97-AF65-F5344CB8AC3E}">
        <p14:creationId xmlns:p14="http://schemas.microsoft.com/office/powerpoint/2010/main" val="347801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6602" y="385953"/>
            <a:ext cx="7531100" cy="452120"/>
          </a:xfrm>
          <a:prstGeom prst="rect">
            <a:avLst/>
          </a:prstGeom>
        </p:spPr>
        <p:txBody>
          <a:bodyPr vert="horz" wrap="square" lIns="0" tIns="12065" rIns="0" bIns="0" rtlCol="0">
            <a:spAutoFit/>
          </a:bodyPr>
          <a:lstStyle/>
          <a:p>
            <a:pPr marL="12700">
              <a:lnSpc>
                <a:spcPct val="100000"/>
              </a:lnSpc>
              <a:spcBef>
                <a:spcPts val="95"/>
              </a:spcBef>
            </a:pPr>
            <a:r>
              <a:rPr spc="-10" dirty="0"/>
              <a:t>Expected </a:t>
            </a:r>
            <a:r>
              <a:rPr spc="-15" dirty="0"/>
              <a:t>information </a:t>
            </a:r>
            <a:r>
              <a:rPr spc="-10" dirty="0"/>
              <a:t>needed </a:t>
            </a:r>
            <a:r>
              <a:rPr spc="-20" dirty="0"/>
              <a:t>to </a:t>
            </a:r>
            <a:r>
              <a:rPr spc="-5" dirty="0"/>
              <a:t>classify a tuple in</a:t>
            </a:r>
            <a:r>
              <a:rPr spc="145" dirty="0"/>
              <a:t> </a:t>
            </a:r>
            <a:r>
              <a:rPr i="1" spc="-5" dirty="0">
                <a:latin typeface="Carlito"/>
                <a:cs typeface="Carlito"/>
              </a:rPr>
              <a:t>D</a:t>
            </a:r>
          </a:p>
        </p:txBody>
      </p:sp>
      <p:sp>
        <p:nvSpPr>
          <p:cNvPr id="3" name="object 3"/>
          <p:cNvSpPr txBox="1"/>
          <p:nvPr/>
        </p:nvSpPr>
        <p:spPr>
          <a:xfrm>
            <a:off x="497840" y="1216912"/>
            <a:ext cx="3478056" cy="2301271"/>
          </a:xfrm>
          <a:prstGeom prst="rect">
            <a:avLst/>
          </a:prstGeom>
        </p:spPr>
        <p:txBody>
          <a:bodyPr vert="horz" wrap="square" lIns="0" tIns="13335" rIns="0" bIns="0" rtlCol="0">
            <a:spAutoFit/>
          </a:bodyPr>
          <a:lstStyle/>
          <a:p>
            <a:pPr marL="393700" indent="-342900">
              <a:lnSpc>
                <a:spcPct val="100000"/>
              </a:lnSpc>
              <a:spcBef>
                <a:spcPts val="105"/>
              </a:spcBef>
              <a:buFont typeface="Arial"/>
              <a:buChar char="•"/>
              <a:tabLst>
                <a:tab pos="393065" algn="l"/>
                <a:tab pos="393700" algn="l"/>
              </a:tabLst>
            </a:pPr>
            <a:r>
              <a:rPr sz="1400" spc="-95" dirty="0">
                <a:latin typeface="Carlito"/>
                <a:cs typeface="Carlito"/>
              </a:rPr>
              <a:t>To </a:t>
            </a:r>
            <a:r>
              <a:rPr sz="1400" spc="-5" dirty="0">
                <a:latin typeface="Carlito"/>
                <a:cs typeface="Carlito"/>
              </a:rPr>
              <a:t>ﬁnd </a:t>
            </a:r>
            <a:r>
              <a:rPr sz="1400" dirty="0">
                <a:latin typeface="Carlito"/>
                <a:cs typeface="Carlito"/>
              </a:rPr>
              <a:t>the </a:t>
            </a:r>
            <a:r>
              <a:rPr sz="1400" spc="-5" dirty="0">
                <a:latin typeface="Carlito"/>
                <a:cs typeface="Carlito"/>
              </a:rPr>
              <a:t>splitting criterion </a:t>
            </a:r>
            <a:r>
              <a:rPr sz="1400" spc="-15" dirty="0">
                <a:latin typeface="Carlito"/>
                <a:cs typeface="Carlito"/>
              </a:rPr>
              <a:t>for </a:t>
            </a:r>
            <a:r>
              <a:rPr sz="1400" dirty="0">
                <a:latin typeface="Carlito"/>
                <a:cs typeface="Carlito"/>
              </a:rPr>
              <a:t>these tuples, </a:t>
            </a:r>
            <a:r>
              <a:rPr sz="1400" spc="-10" dirty="0">
                <a:latin typeface="Carlito"/>
                <a:cs typeface="Carlito"/>
              </a:rPr>
              <a:t>we must compute</a:t>
            </a:r>
            <a:r>
              <a:rPr sz="1400" spc="130" dirty="0">
                <a:latin typeface="Carlito"/>
                <a:cs typeface="Carlito"/>
              </a:rPr>
              <a:t> </a:t>
            </a:r>
            <a:r>
              <a:rPr sz="1400" dirty="0">
                <a:latin typeface="Carlito"/>
                <a:cs typeface="Carlito"/>
              </a:rPr>
              <a:t>the</a:t>
            </a:r>
          </a:p>
          <a:p>
            <a:pPr marL="393700">
              <a:lnSpc>
                <a:spcPct val="100000"/>
              </a:lnSpc>
            </a:pPr>
            <a:r>
              <a:rPr sz="1400" spc="-10" dirty="0">
                <a:latin typeface="Carlito"/>
                <a:cs typeface="Carlito"/>
              </a:rPr>
              <a:t>information gain </a:t>
            </a:r>
            <a:r>
              <a:rPr sz="1400" spc="-5" dirty="0">
                <a:latin typeface="Carlito"/>
                <a:cs typeface="Carlito"/>
              </a:rPr>
              <a:t>of </a:t>
            </a:r>
            <a:r>
              <a:rPr sz="1400" dirty="0">
                <a:latin typeface="Carlito"/>
                <a:cs typeface="Carlito"/>
              </a:rPr>
              <a:t>each</a:t>
            </a:r>
            <a:r>
              <a:rPr sz="1400" spc="-10" dirty="0">
                <a:latin typeface="Carlito"/>
                <a:cs typeface="Carlito"/>
              </a:rPr>
              <a:t> attribute</a:t>
            </a:r>
            <a:endParaRPr sz="1400" dirty="0">
              <a:latin typeface="Carlito"/>
              <a:cs typeface="Carlito"/>
            </a:endParaRPr>
          </a:p>
          <a:p>
            <a:pPr marL="393700" indent="-342900">
              <a:lnSpc>
                <a:spcPct val="100000"/>
              </a:lnSpc>
              <a:spcBef>
                <a:spcPts val="480"/>
              </a:spcBef>
              <a:buFont typeface="Arial"/>
              <a:buChar char="•"/>
              <a:tabLst>
                <a:tab pos="393065" algn="l"/>
                <a:tab pos="393700" algn="l"/>
              </a:tabLst>
            </a:pPr>
            <a:r>
              <a:rPr sz="1400" spc="-5" dirty="0">
                <a:latin typeface="Carlito"/>
                <a:cs typeface="Carlito"/>
              </a:rPr>
              <a:t>Let us consider Class: buys computer </a:t>
            </a:r>
            <a:r>
              <a:rPr sz="1400" dirty="0">
                <a:latin typeface="Carlito"/>
                <a:cs typeface="Carlito"/>
              </a:rPr>
              <a:t>as </a:t>
            </a:r>
            <a:r>
              <a:rPr sz="1400" spc="-5" dirty="0">
                <a:latin typeface="Carlito"/>
                <a:cs typeface="Carlito"/>
              </a:rPr>
              <a:t>decision criteria</a:t>
            </a:r>
            <a:r>
              <a:rPr sz="1400" spc="40" dirty="0">
                <a:latin typeface="Carlito"/>
                <a:cs typeface="Carlito"/>
              </a:rPr>
              <a:t> </a:t>
            </a:r>
            <a:r>
              <a:rPr sz="1400" dirty="0">
                <a:latin typeface="Carlito"/>
                <a:cs typeface="Carlito"/>
              </a:rPr>
              <a:t>D</a:t>
            </a:r>
          </a:p>
          <a:p>
            <a:pPr marL="393700" indent="-342900">
              <a:lnSpc>
                <a:spcPct val="100000"/>
              </a:lnSpc>
              <a:spcBef>
                <a:spcPts val="480"/>
              </a:spcBef>
              <a:buFont typeface="Arial"/>
              <a:buChar char="•"/>
              <a:tabLst>
                <a:tab pos="393065" algn="l"/>
                <a:tab pos="393700" algn="l"/>
              </a:tabLst>
            </a:pPr>
            <a:r>
              <a:rPr sz="1400" spc="-10" dirty="0">
                <a:latin typeface="Carlito"/>
                <a:cs typeface="Carlito"/>
              </a:rPr>
              <a:t>Calculate</a:t>
            </a:r>
            <a:r>
              <a:rPr sz="1400" spc="-5" dirty="0">
                <a:latin typeface="Carlito"/>
                <a:cs typeface="Carlito"/>
              </a:rPr>
              <a:t> </a:t>
            </a:r>
            <a:r>
              <a:rPr sz="1400" spc="-10" dirty="0">
                <a:latin typeface="Carlito"/>
                <a:cs typeface="Carlito"/>
              </a:rPr>
              <a:t>information</a:t>
            </a:r>
            <a:r>
              <a:rPr lang="en-US" sz="1400" spc="-10" dirty="0">
                <a:latin typeface="Carlito"/>
                <a:cs typeface="Carlito"/>
              </a:rPr>
              <a:t>/entropy</a:t>
            </a:r>
            <a:endParaRPr sz="1400" dirty="0">
              <a:latin typeface="Carlito"/>
              <a:cs typeface="Carlito"/>
            </a:endParaRPr>
          </a:p>
          <a:p>
            <a:pPr marL="50800">
              <a:lnSpc>
                <a:spcPct val="100000"/>
              </a:lnSpc>
              <a:spcBef>
                <a:spcPts val="480"/>
              </a:spcBef>
              <a:tabLst>
                <a:tab pos="393065" algn="l"/>
              </a:tabLst>
            </a:pPr>
            <a:r>
              <a:rPr sz="1400" dirty="0">
                <a:latin typeface="Arial"/>
                <a:cs typeface="Arial"/>
              </a:rPr>
              <a:t>•	</a:t>
            </a:r>
            <a:r>
              <a:rPr sz="1400" dirty="0">
                <a:latin typeface="Carlito"/>
                <a:cs typeface="Carlito"/>
              </a:rPr>
              <a:t>= -p</a:t>
            </a:r>
            <a:r>
              <a:rPr sz="1400" baseline="-21367" dirty="0">
                <a:latin typeface="Carlito"/>
                <a:cs typeface="Carlito"/>
              </a:rPr>
              <a:t>y </a:t>
            </a:r>
            <a:r>
              <a:rPr sz="1400" dirty="0">
                <a:latin typeface="Carlito"/>
                <a:cs typeface="Carlito"/>
              </a:rPr>
              <a:t>log</a:t>
            </a:r>
            <a:r>
              <a:rPr sz="1400" baseline="-21367" dirty="0">
                <a:latin typeface="Carlito"/>
                <a:cs typeface="Carlito"/>
              </a:rPr>
              <a:t>2 </a:t>
            </a:r>
            <a:r>
              <a:rPr sz="1400" dirty="0">
                <a:latin typeface="Carlito"/>
                <a:cs typeface="Carlito"/>
              </a:rPr>
              <a:t>(p</a:t>
            </a:r>
            <a:r>
              <a:rPr sz="1400" baseline="-21367" dirty="0">
                <a:latin typeface="Carlito"/>
                <a:cs typeface="Carlito"/>
              </a:rPr>
              <a:t>y</a:t>
            </a:r>
            <a:r>
              <a:rPr sz="1400" dirty="0">
                <a:latin typeface="Carlito"/>
                <a:cs typeface="Carlito"/>
              </a:rPr>
              <a:t>) – </a:t>
            </a:r>
            <a:r>
              <a:rPr sz="1400" spc="5" dirty="0">
                <a:latin typeface="Carlito"/>
                <a:cs typeface="Carlito"/>
              </a:rPr>
              <a:t>p</a:t>
            </a:r>
            <a:r>
              <a:rPr sz="1400" spc="7" baseline="-21367" dirty="0">
                <a:latin typeface="Carlito"/>
                <a:cs typeface="Carlito"/>
              </a:rPr>
              <a:t>n </a:t>
            </a:r>
            <a:r>
              <a:rPr sz="1400" spc="5" dirty="0">
                <a:latin typeface="Carlito"/>
                <a:cs typeface="Carlito"/>
              </a:rPr>
              <a:t>log</a:t>
            </a:r>
            <a:r>
              <a:rPr sz="1400" spc="7" baseline="-21367" dirty="0">
                <a:latin typeface="Carlito"/>
                <a:cs typeface="Carlito"/>
              </a:rPr>
              <a:t>2 </a:t>
            </a:r>
            <a:r>
              <a:rPr sz="1400" spc="330" baseline="-21367" dirty="0">
                <a:latin typeface="Carlito"/>
                <a:cs typeface="Carlito"/>
              </a:rPr>
              <a:t> </a:t>
            </a:r>
            <a:r>
              <a:rPr sz="1400" dirty="0">
                <a:latin typeface="Carlito"/>
                <a:cs typeface="Carlito"/>
              </a:rPr>
              <a:t>(p</a:t>
            </a:r>
            <a:r>
              <a:rPr sz="1400" baseline="-21367" dirty="0">
                <a:latin typeface="Carlito"/>
                <a:cs typeface="Carlito"/>
              </a:rPr>
              <a:t>n</a:t>
            </a:r>
            <a:r>
              <a:rPr sz="1400" dirty="0">
                <a:latin typeface="Carlito"/>
                <a:cs typeface="Carlito"/>
              </a:rPr>
              <a:t>)</a:t>
            </a:r>
          </a:p>
          <a:p>
            <a:pPr marL="393700" indent="-342900">
              <a:lnSpc>
                <a:spcPct val="100000"/>
              </a:lnSpc>
              <a:spcBef>
                <a:spcPts val="480"/>
              </a:spcBef>
              <a:buFont typeface="Arial"/>
              <a:buChar char="•"/>
              <a:tabLst>
                <a:tab pos="393065" algn="l"/>
                <a:tab pos="393700" algn="l"/>
              </a:tabLst>
            </a:pPr>
            <a:r>
              <a:rPr sz="1400" spc="-5" dirty="0">
                <a:latin typeface="Carlito"/>
                <a:cs typeface="Carlito"/>
              </a:rPr>
              <a:t>Where </a:t>
            </a:r>
            <a:r>
              <a:rPr sz="1400" dirty="0">
                <a:latin typeface="Carlito"/>
                <a:cs typeface="Carlito"/>
              </a:rPr>
              <a:t>p</a:t>
            </a:r>
            <a:r>
              <a:rPr sz="1400" baseline="-21367" dirty="0">
                <a:latin typeface="Carlito"/>
                <a:cs typeface="Carlito"/>
              </a:rPr>
              <a:t>y </a:t>
            </a:r>
            <a:r>
              <a:rPr sz="1400" dirty="0">
                <a:latin typeface="Carlito"/>
                <a:cs typeface="Carlito"/>
              </a:rPr>
              <a:t>is </a:t>
            </a:r>
            <a:r>
              <a:rPr sz="1400" spc="-5" dirty="0">
                <a:latin typeface="Carlito"/>
                <a:cs typeface="Carlito"/>
              </a:rPr>
              <a:t>probability of ‘yes’ </a:t>
            </a:r>
            <a:r>
              <a:rPr sz="1400" dirty="0">
                <a:latin typeface="Carlito"/>
                <a:cs typeface="Carlito"/>
              </a:rPr>
              <a:t>and </a:t>
            </a:r>
            <a:r>
              <a:rPr sz="1400" spc="5" dirty="0">
                <a:latin typeface="Carlito"/>
                <a:cs typeface="Carlito"/>
              </a:rPr>
              <a:t>p</a:t>
            </a:r>
            <a:r>
              <a:rPr sz="1400" spc="7" baseline="-21367" dirty="0">
                <a:latin typeface="Carlito"/>
                <a:cs typeface="Carlito"/>
              </a:rPr>
              <a:t>n </a:t>
            </a:r>
            <a:r>
              <a:rPr sz="1400" dirty="0">
                <a:latin typeface="Carlito"/>
                <a:cs typeface="Carlito"/>
              </a:rPr>
              <a:t>is </a:t>
            </a:r>
            <a:r>
              <a:rPr sz="1400" spc="-5" dirty="0">
                <a:latin typeface="Carlito"/>
                <a:cs typeface="Carlito"/>
              </a:rPr>
              <a:t>probability of</a:t>
            </a:r>
            <a:r>
              <a:rPr sz="1400" spc="245" dirty="0">
                <a:latin typeface="Carlito"/>
                <a:cs typeface="Carlito"/>
              </a:rPr>
              <a:t> </a:t>
            </a:r>
            <a:r>
              <a:rPr sz="1400" dirty="0">
                <a:latin typeface="Carlito"/>
                <a:cs typeface="Carlito"/>
              </a:rPr>
              <a:t>‘no</a:t>
            </a:r>
            <a:r>
              <a:rPr sz="2000" dirty="0">
                <a:latin typeface="Carlito"/>
                <a:cs typeface="Carlito"/>
              </a:rPr>
              <a:t>’</a:t>
            </a:r>
          </a:p>
        </p:txBody>
      </p:sp>
      <p:sp>
        <p:nvSpPr>
          <p:cNvPr id="4" name="object 4"/>
          <p:cNvSpPr/>
          <p:nvPr/>
        </p:nvSpPr>
        <p:spPr>
          <a:xfrm>
            <a:off x="659363" y="3575340"/>
            <a:ext cx="3717128" cy="473388"/>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40</a:t>
            </a:fld>
            <a:endParaRPr dirty="0"/>
          </a:p>
        </p:txBody>
      </p:sp>
      <p:pic>
        <p:nvPicPr>
          <p:cNvPr id="7" name="Picture 6">
            <a:extLst>
              <a:ext uri="{FF2B5EF4-FFF2-40B4-BE49-F238E27FC236}">
                <a16:creationId xmlns:a16="http://schemas.microsoft.com/office/drawing/2014/main" id="{2D9CC84A-90F7-48F1-8505-65485756708E}"/>
              </a:ext>
            </a:extLst>
          </p:cNvPr>
          <p:cNvPicPr>
            <a:picLocks noChangeAspect="1"/>
          </p:cNvPicPr>
          <p:nvPr/>
        </p:nvPicPr>
        <p:blipFill>
          <a:blip r:embed="rId3"/>
          <a:stretch>
            <a:fillRect/>
          </a:stretch>
        </p:blipFill>
        <p:spPr>
          <a:xfrm>
            <a:off x="4376491" y="1094772"/>
            <a:ext cx="4683414" cy="3222688"/>
          </a:xfrm>
          <a:prstGeom prst="rect">
            <a:avLst/>
          </a:prstGeom>
        </p:spPr>
      </p:pic>
      <p:sp>
        <p:nvSpPr>
          <p:cNvPr id="8" name="TextBox 7">
            <a:extLst>
              <a:ext uri="{FF2B5EF4-FFF2-40B4-BE49-F238E27FC236}">
                <a16:creationId xmlns:a16="http://schemas.microsoft.com/office/drawing/2014/main" id="{B665E88B-D39A-471F-83E6-FEF9999769C0}"/>
              </a:ext>
            </a:extLst>
          </p:cNvPr>
          <p:cNvSpPr txBox="1"/>
          <p:nvPr/>
        </p:nvSpPr>
        <p:spPr>
          <a:xfrm>
            <a:off x="685800" y="4362577"/>
            <a:ext cx="4882400" cy="646331"/>
          </a:xfrm>
          <a:prstGeom prst="rect">
            <a:avLst/>
          </a:prstGeom>
          <a:noFill/>
        </p:spPr>
        <p:txBody>
          <a:bodyPr wrap="square" rtlCol="0">
            <a:spAutoFit/>
          </a:bodyPr>
          <a:lstStyle/>
          <a:p>
            <a:r>
              <a:rPr lang="en-US" dirty="0">
                <a:solidFill>
                  <a:srgbClr val="FF0000"/>
                </a:solidFill>
              </a:rPr>
              <a:t>Note Info/information means entropy don’t mix it with information gain</a:t>
            </a:r>
            <a:endParaRPr lang="en-IN" dirty="0">
              <a:solidFill>
                <a:srgbClr val="FF0000"/>
              </a:solidFill>
            </a:endParaRPr>
          </a:p>
        </p:txBody>
      </p:sp>
    </p:spTree>
    <p:extLst>
      <p:ext uri="{BB962C8B-B14F-4D97-AF65-F5344CB8AC3E}">
        <p14:creationId xmlns:p14="http://schemas.microsoft.com/office/powerpoint/2010/main" val="21188468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5504" y="385953"/>
            <a:ext cx="4871085" cy="452120"/>
          </a:xfrm>
          <a:prstGeom prst="rect">
            <a:avLst/>
          </a:prstGeom>
        </p:spPr>
        <p:txBody>
          <a:bodyPr vert="horz" wrap="square" lIns="0" tIns="12065" rIns="0" bIns="0" rtlCol="0">
            <a:spAutoFit/>
          </a:bodyPr>
          <a:lstStyle/>
          <a:p>
            <a:pPr marL="12700">
              <a:lnSpc>
                <a:spcPct val="100000"/>
              </a:lnSpc>
              <a:spcBef>
                <a:spcPts val="95"/>
              </a:spcBef>
            </a:pPr>
            <a:r>
              <a:rPr spc="-10" dirty="0"/>
              <a:t>Calculation </a:t>
            </a:r>
            <a:r>
              <a:rPr spc="-5" dirty="0"/>
              <a:t>of </a:t>
            </a:r>
            <a:r>
              <a:rPr spc="-20" dirty="0"/>
              <a:t>entropy </a:t>
            </a:r>
            <a:r>
              <a:rPr spc="-25" dirty="0"/>
              <a:t>for </a:t>
            </a:r>
            <a:r>
              <a:rPr spc="-5" dirty="0"/>
              <a:t>‘</a:t>
            </a:r>
            <a:r>
              <a:rPr spc="55" dirty="0"/>
              <a:t> </a:t>
            </a:r>
            <a:r>
              <a:rPr spc="-40" dirty="0"/>
              <a:t>Youth’</a:t>
            </a:r>
          </a:p>
        </p:txBody>
      </p:sp>
      <p:sp>
        <p:nvSpPr>
          <p:cNvPr id="3" name="object 3"/>
          <p:cNvSpPr txBox="1"/>
          <p:nvPr/>
        </p:nvSpPr>
        <p:spPr>
          <a:xfrm>
            <a:off x="535940" y="1156563"/>
            <a:ext cx="2125980" cy="1854835"/>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spc="-5" dirty="0">
                <a:latin typeface="Carlito"/>
                <a:cs typeface="Carlito"/>
              </a:rPr>
              <a:t>Age can</a:t>
            </a:r>
            <a:r>
              <a:rPr sz="2000" spc="-35" dirty="0">
                <a:latin typeface="Carlito"/>
                <a:cs typeface="Carlito"/>
              </a:rPr>
              <a:t> </a:t>
            </a:r>
            <a:r>
              <a:rPr sz="2000" dirty="0">
                <a:latin typeface="Carlito"/>
                <a:cs typeface="Carlito"/>
              </a:rPr>
              <a:t>be:</a:t>
            </a:r>
          </a:p>
          <a:p>
            <a:pPr marL="756285" lvl="1" indent="-287020">
              <a:lnSpc>
                <a:spcPct val="100000"/>
              </a:lnSpc>
              <a:spcBef>
                <a:spcPts val="480"/>
              </a:spcBef>
              <a:buFont typeface="Arial"/>
              <a:buChar char="–"/>
              <a:tabLst>
                <a:tab pos="756285" algn="l"/>
                <a:tab pos="756920" algn="l"/>
              </a:tabLst>
            </a:pPr>
            <a:r>
              <a:rPr sz="2000" spc="-10" dirty="0">
                <a:latin typeface="Carlito"/>
                <a:cs typeface="Carlito"/>
              </a:rPr>
              <a:t>youth</a:t>
            </a:r>
            <a:endParaRPr sz="2000" dirty="0">
              <a:latin typeface="Carlito"/>
              <a:cs typeface="Carlito"/>
            </a:endParaRPr>
          </a:p>
          <a:p>
            <a:pPr marL="756285" lvl="1" indent="-287020">
              <a:lnSpc>
                <a:spcPct val="100000"/>
              </a:lnSpc>
              <a:spcBef>
                <a:spcPts val="480"/>
              </a:spcBef>
              <a:buFont typeface="Arial"/>
              <a:buChar char="–"/>
              <a:tabLst>
                <a:tab pos="756285" algn="l"/>
                <a:tab pos="756920" algn="l"/>
              </a:tabLst>
            </a:pPr>
            <a:r>
              <a:rPr sz="2000" dirty="0">
                <a:latin typeface="Carlito"/>
                <a:cs typeface="Carlito"/>
              </a:rPr>
              <a:t>Middle_a</a:t>
            </a:r>
            <a:r>
              <a:rPr sz="2000" spc="-15" dirty="0">
                <a:latin typeface="Carlito"/>
                <a:cs typeface="Carlito"/>
              </a:rPr>
              <a:t>g</a:t>
            </a:r>
            <a:r>
              <a:rPr sz="2000" dirty="0">
                <a:latin typeface="Carlito"/>
                <a:cs typeface="Carlito"/>
              </a:rPr>
              <a:t>ed</a:t>
            </a:r>
          </a:p>
          <a:p>
            <a:pPr marL="756285" lvl="1" indent="-287020">
              <a:lnSpc>
                <a:spcPct val="100000"/>
              </a:lnSpc>
              <a:spcBef>
                <a:spcPts val="480"/>
              </a:spcBef>
              <a:buFont typeface="Arial"/>
              <a:buChar char="–"/>
              <a:tabLst>
                <a:tab pos="756285" algn="l"/>
                <a:tab pos="756920" algn="l"/>
              </a:tabLst>
            </a:pPr>
            <a:r>
              <a:rPr sz="2000" dirty="0">
                <a:latin typeface="Carlito"/>
                <a:cs typeface="Carlito"/>
              </a:rPr>
              <a:t>Senior</a:t>
            </a:r>
          </a:p>
          <a:p>
            <a:pPr marL="355600" indent="-342900">
              <a:lnSpc>
                <a:spcPct val="100000"/>
              </a:lnSpc>
              <a:spcBef>
                <a:spcPts val="480"/>
              </a:spcBef>
              <a:buFont typeface="Arial"/>
              <a:buChar char="•"/>
              <a:tabLst>
                <a:tab pos="354965" algn="l"/>
                <a:tab pos="355600" algn="l"/>
              </a:tabLst>
            </a:pPr>
            <a:r>
              <a:rPr sz="2000" spc="-30" dirty="0">
                <a:latin typeface="Carlito"/>
                <a:cs typeface="Carlito"/>
              </a:rPr>
              <a:t>Youth</a:t>
            </a:r>
            <a:endParaRPr sz="2000" dirty="0">
              <a:latin typeface="Carlito"/>
              <a:cs typeface="Carlito"/>
            </a:endParaRPr>
          </a:p>
        </p:txBody>
      </p:sp>
      <p:graphicFrame>
        <p:nvGraphicFramePr>
          <p:cNvPr id="4" name="object 4"/>
          <p:cNvGraphicFramePr>
            <a:graphicFrameLocks noGrp="1"/>
          </p:cNvGraphicFramePr>
          <p:nvPr>
            <p:extLst>
              <p:ext uri="{D42A27DB-BD31-4B8C-83A1-F6EECF244321}">
                <p14:modId xmlns:p14="http://schemas.microsoft.com/office/powerpoint/2010/main" val="1573560146"/>
              </p:ext>
            </p:extLst>
          </p:nvPr>
        </p:nvGraphicFramePr>
        <p:xfrm>
          <a:off x="815110" y="3011398"/>
          <a:ext cx="3264535" cy="1097265"/>
        </p:xfrm>
        <a:graphic>
          <a:graphicData uri="http://schemas.openxmlformats.org/drawingml/2006/table">
            <a:tbl>
              <a:tblPr firstRow="1" bandRow="1">
                <a:tableStyleId>{2D5ABB26-0587-4C30-8999-92F81FD0307C}</a:tableStyleId>
              </a:tblPr>
              <a:tblGrid>
                <a:gridCol w="815975">
                  <a:extLst>
                    <a:ext uri="{9D8B030D-6E8A-4147-A177-3AD203B41FA5}">
                      <a16:colId xmlns:a16="http://schemas.microsoft.com/office/drawing/2014/main" val="20000"/>
                    </a:ext>
                  </a:extLst>
                </a:gridCol>
                <a:gridCol w="2448560">
                  <a:extLst>
                    <a:ext uri="{9D8B030D-6E8A-4147-A177-3AD203B41FA5}">
                      <a16:colId xmlns:a16="http://schemas.microsoft.com/office/drawing/2014/main" val="20001"/>
                    </a:ext>
                  </a:extLst>
                </a:gridCol>
              </a:tblGrid>
              <a:tr h="365759">
                <a:tc>
                  <a:txBody>
                    <a:bodyPr/>
                    <a:lstStyle/>
                    <a:p>
                      <a:pPr algn="ctr">
                        <a:lnSpc>
                          <a:spcPct val="100000"/>
                        </a:lnSpc>
                        <a:spcBef>
                          <a:spcPts val="245"/>
                        </a:spcBef>
                      </a:pPr>
                      <a:r>
                        <a:rPr sz="1800" b="1" spc="-30" dirty="0">
                          <a:solidFill>
                            <a:srgbClr val="FFFFFF"/>
                          </a:solidFill>
                          <a:latin typeface="Carlito"/>
                          <a:cs typeface="Carlito"/>
                        </a:rPr>
                        <a:t>Youth</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5"/>
                        </a:spcBef>
                      </a:pPr>
                      <a:r>
                        <a:rPr sz="1800" b="1" spc="-5" dirty="0">
                          <a:solidFill>
                            <a:srgbClr val="FFFFFF"/>
                          </a:solidFill>
                          <a:latin typeface="Carlito"/>
                          <a:cs typeface="Carlito"/>
                        </a:rPr>
                        <a:t>Class: buys</a:t>
                      </a:r>
                      <a:r>
                        <a:rPr sz="1800" b="1" spc="-65" dirty="0">
                          <a:solidFill>
                            <a:srgbClr val="FFFFFF"/>
                          </a:solidFill>
                          <a:latin typeface="Carlito"/>
                          <a:cs typeface="Carlito"/>
                        </a:rPr>
                        <a:t> </a:t>
                      </a:r>
                      <a:r>
                        <a:rPr sz="1800" b="1" spc="-5" dirty="0">
                          <a:solidFill>
                            <a:srgbClr val="FFFFFF"/>
                          </a:solidFill>
                          <a:latin typeface="Carlito"/>
                          <a:cs typeface="Carlito"/>
                        </a:rPr>
                        <a:t>computer</a:t>
                      </a:r>
                      <a:endParaRPr sz="1800" dirty="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47">
                <a:tc>
                  <a:txBody>
                    <a:bodyPr/>
                    <a:lstStyle/>
                    <a:p>
                      <a:pPr algn="ctr">
                        <a:lnSpc>
                          <a:spcPct val="100000"/>
                        </a:lnSpc>
                        <a:spcBef>
                          <a:spcPts val="245"/>
                        </a:spcBef>
                      </a:pPr>
                      <a:r>
                        <a:rPr sz="1800" spc="-45" dirty="0">
                          <a:latin typeface="Carlito"/>
                          <a:cs typeface="Carlito"/>
                        </a:rPr>
                        <a:t>Yes</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2</a:t>
                      </a: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59">
                <a:tc>
                  <a:txBody>
                    <a:bodyPr/>
                    <a:lstStyle/>
                    <a:p>
                      <a:pPr algn="ctr">
                        <a:lnSpc>
                          <a:spcPct val="100000"/>
                        </a:lnSpc>
                        <a:spcBef>
                          <a:spcPts val="250"/>
                        </a:spcBef>
                      </a:pPr>
                      <a:r>
                        <a:rPr sz="1800" dirty="0">
                          <a:latin typeface="Carlito"/>
                          <a:cs typeface="Carlito"/>
                        </a:rPr>
                        <a:t>No</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50"/>
                        </a:spcBef>
                      </a:pPr>
                      <a:r>
                        <a:rPr sz="1800" dirty="0">
                          <a:latin typeface="Carlito"/>
                          <a:cs typeface="Carlito"/>
                        </a:rPr>
                        <a:t>3</a:t>
                      </a: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pSp>
        <p:nvGrpSpPr>
          <p:cNvPr id="5" name="object 5"/>
          <p:cNvGrpSpPr/>
          <p:nvPr/>
        </p:nvGrpSpPr>
        <p:grpSpPr>
          <a:xfrm>
            <a:off x="4312058" y="1307911"/>
            <a:ext cx="4815840" cy="3313176"/>
            <a:chOff x="881392" y="1751506"/>
            <a:chExt cx="4815840" cy="3313176"/>
          </a:xfrm>
        </p:grpSpPr>
        <p:sp>
          <p:nvSpPr>
            <p:cNvPr id="6" name="object 6"/>
            <p:cNvSpPr/>
            <p:nvPr/>
          </p:nvSpPr>
          <p:spPr>
            <a:xfrm>
              <a:off x="881392" y="1751506"/>
              <a:ext cx="4815840" cy="3313176"/>
            </a:xfrm>
            <a:prstGeom prst="rect">
              <a:avLst/>
            </a:prstGeom>
            <a:blipFill>
              <a:blip r:embed="rId2" cstate="print"/>
              <a:stretch>
                <a:fillRect/>
              </a:stretch>
            </a:blipFill>
          </p:spPr>
          <p:txBody>
            <a:bodyPr wrap="square" lIns="0" tIns="0" rIns="0" bIns="0" rtlCol="0"/>
            <a:lstStyle/>
            <a:p>
              <a:endParaRPr dirty="0"/>
            </a:p>
          </p:txBody>
        </p:sp>
        <p:sp>
          <p:nvSpPr>
            <p:cNvPr id="7" name="object 7"/>
            <p:cNvSpPr/>
            <p:nvPr/>
          </p:nvSpPr>
          <p:spPr>
            <a:xfrm>
              <a:off x="1144598" y="1787891"/>
              <a:ext cx="792480" cy="3240405"/>
            </a:xfrm>
            <a:custGeom>
              <a:avLst/>
              <a:gdLst/>
              <a:ahLst/>
              <a:cxnLst/>
              <a:rect l="l" t="t" r="r" b="b"/>
              <a:pathLst>
                <a:path w="792479" h="3240404">
                  <a:moveTo>
                    <a:pt x="0" y="3240024"/>
                  </a:moveTo>
                  <a:lnTo>
                    <a:pt x="792479" y="3240024"/>
                  </a:lnTo>
                  <a:lnTo>
                    <a:pt x="792479" y="0"/>
                  </a:lnTo>
                  <a:lnTo>
                    <a:pt x="0" y="0"/>
                  </a:lnTo>
                  <a:lnTo>
                    <a:pt x="0" y="3240024"/>
                  </a:lnTo>
                  <a:close/>
                </a:path>
              </a:pathLst>
            </a:custGeom>
            <a:ln w="38100">
              <a:solidFill>
                <a:srgbClr val="385D89"/>
              </a:solidFill>
            </a:ln>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41</a:t>
            </a:fld>
            <a:endParaRPr dirty="0"/>
          </a:p>
        </p:txBody>
      </p:sp>
      <p:sp>
        <p:nvSpPr>
          <p:cNvPr id="16" name="object 4">
            <a:extLst>
              <a:ext uri="{FF2B5EF4-FFF2-40B4-BE49-F238E27FC236}">
                <a16:creationId xmlns:a16="http://schemas.microsoft.com/office/drawing/2014/main" id="{0AD07D8D-9DA1-4E39-BF12-43CC82B54447}"/>
              </a:ext>
            </a:extLst>
          </p:cNvPr>
          <p:cNvSpPr/>
          <p:nvPr/>
        </p:nvSpPr>
        <p:spPr>
          <a:xfrm>
            <a:off x="2068507" y="4449919"/>
            <a:ext cx="1583436" cy="463295"/>
          </a:xfrm>
          <a:prstGeom prst="rect">
            <a:avLst/>
          </a:prstGeom>
          <a:blipFill>
            <a:blip r:embed="rId3" cstate="print"/>
            <a:stretch>
              <a:fillRect/>
            </a:stretch>
          </a:blipFill>
        </p:spPr>
        <p:txBody>
          <a:bodyPr wrap="square" lIns="0" tIns="0" rIns="0" bIns="0" rtlCol="0"/>
          <a:lstStyle/>
          <a:p>
            <a:endParaRPr/>
          </a:p>
        </p:txBody>
      </p:sp>
      <p:sp>
        <p:nvSpPr>
          <p:cNvPr id="18" name="TextBox 17">
            <a:extLst>
              <a:ext uri="{FF2B5EF4-FFF2-40B4-BE49-F238E27FC236}">
                <a16:creationId xmlns:a16="http://schemas.microsoft.com/office/drawing/2014/main" id="{4A317539-DE7C-41B5-83E2-8E483C5D8CB5}"/>
              </a:ext>
            </a:extLst>
          </p:cNvPr>
          <p:cNvSpPr txBox="1"/>
          <p:nvPr/>
        </p:nvSpPr>
        <p:spPr>
          <a:xfrm>
            <a:off x="233177" y="4496900"/>
            <a:ext cx="1946632" cy="369332"/>
          </a:xfrm>
          <a:prstGeom prst="rect">
            <a:avLst/>
          </a:prstGeom>
          <a:noFill/>
        </p:spPr>
        <p:txBody>
          <a:bodyPr wrap="square">
            <a:spAutoFit/>
          </a:bodyPr>
          <a:lstStyle/>
          <a:p>
            <a:pPr marL="12700">
              <a:lnSpc>
                <a:spcPct val="100000"/>
              </a:lnSpc>
              <a:spcBef>
                <a:spcPts val="480"/>
              </a:spcBef>
              <a:tabLst>
                <a:tab pos="354965" algn="l"/>
                <a:tab pos="355600" algn="l"/>
              </a:tabLst>
            </a:pPr>
            <a:r>
              <a:rPr lang="en-IN" sz="1800" spc="-10" dirty="0">
                <a:latin typeface="Carlito"/>
                <a:cs typeface="Carlito"/>
              </a:rPr>
              <a:t>Entropy </a:t>
            </a:r>
            <a:r>
              <a:rPr lang="en-IN" sz="1800" spc="-5" dirty="0">
                <a:latin typeface="Carlito"/>
                <a:cs typeface="Carlito"/>
              </a:rPr>
              <a:t>youth</a:t>
            </a:r>
            <a:r>
              <a:rPr lang="en-IN" sz="1800" spc="-55" dirty="0">
                <a:latin typeface="Carlito"/>
                <a:cs typeface="Carlito"/>
              </a:rPr>
              <a:t> </a:t>
            </a:r>
            <a:r>
              <a:rPr lang="en-IN" sz="1800" dirty="0">
                <a:latin typeface="Carlito"/>
                <a:cs typeface="Carlito"/>
              </a:rPr>
              <a:t>=</a:t>
            </a:r>
          </a:p>
        </p:txBody>
      </p:sp>
    </p:spTree>
    <p:extLst>
      <p:ext uri="{BB962C8B-B14F-4D97-AF65-F5344CB8AC3E}">
        <p14:creationId xmlns:p14="http://schemas.microsoft.com/office/powerpoint/2010/main" val="29431278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5504" y="385953"/>
            <a:ext cx="4871085" cy="452120"/>
          </a:xfrm>
          <a:prstGeom prst="rect">
            <a:avLst/>
          </a:prstGeom>
        </p:spPr>
        <p:txBody>
          <a:bodyPr vert="horz" wrap="square" lIns="0" tIns="12065" rIns="0" bIns="0" rtlCol="0">
            <a:spAutoFit/>
          </a:bodyPr>
          <a:lstStyle/>
          <a:p>
            <a:pPr marL="12700">
              <a:lnSpc>
                <a:spcPct val="100000"/>
              </a:lnSpc>
              <a:spcBef>
                <a:spcPts val="95"/>
              </a:spcBef>
            </a:pPr>
            <a:r>
              <a:rPr spc="-10" dirty="0"/>
              <a:t>Calculation </a:t>
            </a:r>
            <a:r>
              <a:rPr spc="-5" dirty="0"/>
              <a:t>of </a:t>
            </a:r>
            <a:r>
              <a:rPr spc="-20" dirty="0"/>
              <a:t>entropy </a:t>
            </a:r>
            <a:r>
              <a:rPr spc="-25" dirty="0"/>
              <a:t>for </a:t>
            </a:r>
            <a:r>
              <a:rPr spc="-5" dirty="0"/>
              <a:t>‘</a:t>
            </a:r>
            <a:r>
              <a:rPr spc="55" dirty="0"/>
              <a:t> </a:t>
            </a:r>
            <a:r>
              <a:rPr spc="-40" dirty="0"/>
              <a:t>Youth’</a:t>
            </a:r>
          </a:p>
        </p:txBody>
      </p:sp>
      <p:sp>
        <p:nvSpPr>
          <p:cNvPr id="3" name="object 3"/>
          <p:cNvSpPr txBox="1"/>
          <p:nvPr/>
        </p:nvSpPr>
        <p:spPr>
          <a:xfrm>
            <a:off x="716630" y="1106791"/>
            <a:ext cx="3981881" cy="382156"/>
          </a:xfrm>
          <a:prstGeom prst="rect">
            <a:avLst/>
          </a:prstGeom>
        </p:spPr>
        <p:txBody>
          <a:bodyPr vert="horz" wrap="square" lIns="0" tIns="73660" rIns="0" bIns="0" rtlCol="0">
            <a:spAutoFit/>
          </a:bodyPr>
          <a:lstStyle/>
          <a:p>
            <a:pPr marL="355600" indent="-342900">
              <a:lnSpc>
                <a:spcPct val="100000"/>
              </a:lnSpc>
              <a:spcBef>
                <a:spcPts val="5"/>
              </a:spcBef>
              <a:buFont typeface="Arial"/>
              <a:buChar char="•"/>
              <a:tabLst>
                <a:tab pos="354965" algn="l"/>
                <a:tab pos="355600" algn="l"/>
              </a:tabLst>
            </a:pPr>
            <a:r>
              <a:rPr sz="2000" dirty="0" err="1">
                <a:latin typeface="Carlito"/>
                <a:cs typeface="Carlito"/>
              </a:rPr>
              <a:t>Middle_aged</a:t>
            </a:r>
            <a:endParaRPr sz="2000" dirty="0">
              <a:latin typeface="Carlito"/>
              <a:cs typeface="Carlito"/>
            </a:endParaRPr>
          </a:p>
        </p:txBody>
      </p:sp>
      <p:graphicFrame>
        <p:nvGraphicFramePr>
          <p:cNvPr id="5" name="object 5"/>
          <p:cNvGraphicFramePr>
            <a:graphicFrameLocks noGrp="1"/>
          </p:cNvGraphicFramePr>
          <p:nvPr>
            <p:extLst>
              <p:ext uri="{D42A27DB-BD31-4B8C-83A1-F6EECF244321}">
                <p14:modId xmlns:p14="http://schemas.microsoft.com/office/powerpoint/2010/main" val="4084024604"/>
              </p:ext>
            </p:extLst>
          </p:nvPr>
        </p:nvGraphicFramePr>
        <p:xfrm>
          <a:off x="838200" y="2023117"/>
          <a:ext cx="3264535" cy="1097265"/>
        </p:xfrm>
        <a:graphic>
          <a:graphicData uri="http://schemas.openxmlformats.org/drawingml/2006/table">
            <a:tbl>
              <a:tblPr firstRow="1" bandRow="1">
                <a:tableStyleId>{2D5ABB26-0587-4C30-8999-92F81FD0307C}</a:tableStyleId>
              </a:tblPr>
              <a:tblGrid>
                <a:gridCol w="864235">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tblGrid>
              <a:tr h="365759">
                <a:tc>
                  <a:txBody>
                    <a:bodyPr/>
                    <a:lstStyle/>
                    <a:p>
                      <a:pPr marL="635" algn="ctr">
                        <a:lnSpc>
                          <a:spcPct val="100000"/>
                        </a:lnSpc>
                        <a:spcBef>
                          <a:spcPts val="245"/>
                        </a:spcBef>
                      </a:pPr>
                      <a:r>
                        <a:rPr sz="1800" b="1" spc="-5" dirty="0">
                          <a:solidFill>
                            <a:srgbClr val="FFFFFF"/>
                          </a:solidFill>
                          <a:latin typeface="Carlito"/>
                          <a:cs typeface="Carlito"/>
                        </a:rPr>
                        <a:t>middle</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5"/>
                        </a:spcBef>
                      </a:pPr>
                      <a:r>
                        <a:rPr sz="1800" b="1" spc="-5" dirty="0">
                          <a:solidFill>
                            <a:srgbClr val="FFFFFF"/>
                          </a:solidFill>
                          <a:latin typeface="Carlito"/>
                          <a:cs typeface="Carlito"/>
                        </a:rPr>
                        <a:t>Class: buys</a:t>
                      </a:r>
                      <a:r>
                        <a:rPr sz="1800" b="1" spc="-70" dirty="0">
                          <a:solidFill>
                            <a:srgbClr val="FFFFFF"/>
                          </a:solidFill>
                          <a:latin typeface="Carlito"/>
                          <a:cs typeface="Carlito"/>
                        </a:rPr>
                        <a:t> </a:t>
                      </a:r>
                      <a:r>
                        <a:rPr sz="1800" b="1" spc="-5" dirty="0">
                          <a:solidFill>
                            <a:srgbClr val="FFFFFF"/>
                          </a:solidFill>
                          <a:latin typeface="Carlito"/>
                          <a:cs typeface="Carlito"/>
                        </a:rPr>
                        <a:t>computer</a:t>
                      </a:r>
                      <a:endParaRPr sz="1800" dirty="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47">
                <a:tc>
                  <a:txBody>
                    <a:bodyPr/>
                    <a:lstStyle/>
                    <a:p>
                      <a:pPr algn="ctr">
                        <a:lnSpc>
                          <a:spcPct val="100000"/>
                        </a:lnSpc>
                        <a:spcBef>
                          <a:spcPts val="245"/>
                        </a:spcBef>
                      </a:pPr>
                      <a:r>
                        <a:rPr sz="1800" spc="-45" dirty="0">
                          <a:latin typeface="Carlito"/>
                          <a:cs typeface="Carlito"/>
                        </a:rPr>
                        <a:t>Yes</a:t>
                      </a:r>
                      <a:endParaRPr sz="1800" dirty="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35" algn="ctr">
                        <a:lnSpc>
                          <a:spcPct val="100000"/>
                        </a:lnSpc>
                        <a:spcBef>
                          <a:spcPts val="245"/>
                        </a:spcBef>
                      </a:pPr>
                      <a:r>
                        <a:rPr sz="1800" dirty="0">
                          <a:latin typeface="Carlito"/>
                          <a:cs typeface="Carlito"/>
                        </a:rPr>
                        <a:t>4</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59">
                <a:tc>
                  <a:txBody>
                    <a:bodyPr/>
                    <a:lstStyle/>
                    <a:p>
                      <a:pPr algn="ctr">
                        <a:lnSpc>
                          <a:spcPct val="100000"/>
                        </a:lnSpc>
                        <a:spcBef>
                          <a:spcPts val="250"/>
                        </a:spcBef>
                      </a:pPr>
                      <a:r>
                        <a:rPr sz="1800" dirty="0">
                          <a:latin typeface="Carlito"/>
                          <a:cs typeface="Carlito"/>
                        </a:rPr>
                        <a:t>No</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 algn="ctr">
                        <a:lnSpc>
                          <a:spcPct val="100000"/>
                        </a:lnSpc>
                        <a:spcBef>
                          <a:spcPts val="250"/>
                        </a:spcBef>
                      </a:pPr>
                      <a:r>
                        <a:rPr sz="1800" dirty="0">
                          <a:latin typeface="Carlito"/>
                          <a:cs typeface="Carlito"/>
                        </a:rPr>
                        <a:t>0</a:t>
                      </a: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pSp>
        <p:nvGrpSpPr>
          <p:cNvPr id="7" name="object 7"/>
          <p:cNvGrpSpPr/>
          <p:nvPr/>
        </p:nvGrpSpPr>
        <p:grpSpPr>
          <a:xfrm>
            <a:off x="4740906" y="1710054"/>
            <a:ext cx="4370832" cy="3006852"/>
            <a:chOff x="3076553" y="1417964"/>
            <a:chExt cx="4370832" cy="3006852"/>
          </a:xfrm>
        </p:grpSpPr>
        <p:sp>
          <p:nvSpPr>
            <p:cNvPr id="8" name="object 8"/>
            <p:cNvSpPr/>
            <p:nvPr/>
          </p:nvSpPr>
          <p:spPr>
            <a:xfrm>
              <a:off x="3076553" y="1417964"/>
              <a:ext cx="4370832" cy="3006852"/>
            </a:xfrm>
            <a:prstGeom prst="rect">
              <a:avLst/>
            </a:prstGeom>
            <a:blipFill>
              <a:blip r:embed="rId2" cstate="print"/>
              <a:stretch>
                <a:fillRect/>
              </a:stretch>
            </a:blipFill>
          </p:spPr>
          <p:txBody>
            <a:bodyPr wrap="square" lIns="0" tIns="0" rIns="0" bIns="0" rtlCol="0"/>
            <a:lstStyle/>
            <a:p>
              <a:endParaRPr dirty="0"/>
            </a:p>
          </p:txBody>
        </p:sp>
        <p:sp>
          <p:nvSpPr>
            <p:cNvPr id="9" name="object 9"/>
            <p:cNvSpPr/>
            <p:nvPr/>
          </p:nvSpPr>
          <p:spPr>
            <a:xfrm>
              <a:off x="3426986" y="1417964"/>
              <a:ext cx="624840" cy="2941320"/>
            </a:xfrm>
            <a:custGeom>
              <a:avLst/>
              <a:gdLst/>
              <a:ahLst/>
              <a:cxnLst/>
              <a:rect l="l" t="t" r="r" b="b"/>
              <a:pathLst>
                <a:path w="624839" h="2941320">
                  <a:moveTo>
                    <a:pt x="0" y="2941320"/>
                  </a:moveTo>
                  <a:lnTo>
                    <a:pt x="624839" y="2941320"/>
                  </a:lnTo>
                  <a:lnTo>
                    <a:pt x="624839" y="0"/>
                  </a:lnTo>
                  <a:lnTo>
                    <a:pt x="0" y="0"/>
                  </a:lnTo>
                  <a:lnTo>
                    <a:pt x="0" y="2941320"/>
                  </a:lnTo>
                  <a:close/>
                </a:path>
              </a:pathLst>
            </a:custGeom>
            <a:ln w="38100">
              <a:solidFill>
                <a:srgbClr val="385D89"/>
              </a:solidFill>
            </a:ln>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42</a:t>
            </a:fld>
            <a:endParaRPr dirty="0"/>
          </a:p>
        </p:txBody>
      </p:sp>
      <p:sp>
        <p:nvSpPr>
          <p:cNvPr id="19" name="object 4">
            <a:extLst>
              <a:ext uri="{FF2B5EF4-FFF2-40B4-BE49-F238E27FC236}">
                <a16:creationId xmlns:a16="http://schemas.microsoft.com/office/drawing/2014/main" id="{4AA9D203-F068-43ED-99D7-2C8F02E6F04E}"/>
              </a:ext>
            </a:extLst>
          </p:cNvPr>
          <p:cNvSpPr/>
          <p:nvPr/>
        </p:nvSpPr>
        <p:spPr>
          <a:xfrm>
            <a:off x="2448238" y="3437565"/>
            <a:ext cx="1513331" cy="454151"/>
          </a:xfrm>
          <a:prstGeom prst="rect">
            <a:avLst/>
          </a:prstGeom>
          <a:blipFill>
            <a:blip r:embed="rId3" cstate="print"/>
            <a:stretch>
              <a:fillRect/>
            </a:stretch>
          </a:blipFill>
        </p:spPr>
        <p:txBody>
          <a:bodyPr wrap="square" lIns="0" tIns="0" rIns="0" bIns="0" rtlCol="0"/>
          <a:lstStyle/>
          <a:p>
            <a:endParaRPr/>
          </a:p>
        </p:txBody>
      </p:sp>
      <p:sp>
        <p:nvSpPr>
          <p:cNvPr id="21" name="TextBox 20">
            <a:extLst>
              <a:ext uri="{FF2B5EF4-FFF2-40B4-BE49-F238E27FC236}">
                <a16:creationId xmlns:a16="http://schemas.microsoft.com/office/drawing/2014/main" id="{C64175DE-FAA3-441B-B15E-D557EA67724F}"/>
              </a:ext>
            </a:extLst>
          </p:cNvPr>
          <p:cNvSpPr txBox="1"/>
          <p:nvPr/>
        </p:nvSpPr>
        <p:spPr>
          <a:xfrm>
            <a:off x="200254" y="3341476"/>
            <a:ext cx="2085746" cy="646331"/>
          </a:xfrm>
          <a:prstGeom prst="rect">
            <a:avLst/>
          </a:prstGeom>
          <a:noFill/>
        </p:spPr>
        <p:txBody>
          <a:bodyPr wrap="square">
            <a:spAutoFit/>
          </a:bodyPr>
          <a:lstStyle/>
          <a:p>
            <a:r>
              <a:rPr lang="en-IN" sz="1800" spc="-10" dirty="0">
                <a:latin typeface="Carlito"/>
                <a:cs typeface="Carlito"/>
              </a:rPr>
              <a:t>Entropy </a:t>
            </a:r>
            <a:r>
              <a:rPr lang="en-IN" sz="1800" spc="-15" dirty="0">
                <a:latin typeface="Carlito"/>
                <a:cs typeface="Carlito"/>
              </a:rPr>
              <a:t>for</a:t>
            </a:r>
            <a:r>
              <a:rPr lang="en-IN" sz="1800" spc="-20" dirty="0">
                <a:latin typeface="Carlito"/>
                <a:cs typeface="Carlito"/>
              </a:rPr>
              <a:t> </a:t>
            </a:r>
            <a:r>
              <a:rPr lang="en-IN" sz="1800" spc="-5" dirty="0" err="1">
                <a:latin typeface="Carlito"/>
                <a:cs typeface="Carlito"/>
              </a:rPr>
              <a:t>middle_aged</a:t>
            </a:r>
            <a:endParaRPr lang="en-IN" dirty="0"/>
          </a:p>
        </p:txBody>
      </p:sp>
      <p:sp>
        <p:nvSpPr>
          <p:cNvPr id="23" name="TextBox 22">
            <a:extLst>
              <a:ext uri="{FF2B5EF4-FFF2-40B4-BE49-F238E27FC236}">
                <a16:creationId xmlns:a16="http://schemas.microsoft.com/office/drawing/2014/main" id="{376F94E5-C638-43C9-8EE7-FD8F43D9768D}"/>
              </a:ext>
            </a:extLst>
          </p:cNvPr>
          <p:cNvSpPr txBox="1"/>
          <p:nvPr/>
        </p:nvSpPr>
        <p:spPr>
          <a:xfrm>
            <a:off x="2454303" y="4273455"/>
            <a:ext cx="1736697" cy="369332"/>
          </a:xfrm>
          <a:prstGeom prst="rect">
            <a:avLst/>
          </a:prstGeom>
          <a:noFill/>
        </p:spPr>
        <p:txBody>
          <a:bodyPr wrap="square">
            <a:spAutoFit/>
          </a:bodyPr>
          <a:lstStyle/>
          <a:p>
            <a:r>
              <a:rPr lang="en-IN" sz="1800" dirty="0">
                <a:latin typeface="Carlito"/>
                <a:cs typeface="Carlito"/>
              </a:rPr>
              <a:t>=</a:t>
            </a:r>
            <a:r>
              <a:rPr lang="en-IN" sz="1800" spc="-5" dirty="0">
                <a:latin typeface="Carlito"/>
                <a:cs typeface="Carlito"/>
              </a:rPr>
              <a:t> </a:t>
            </a:r>
            <a:r>
              <a:rPr lang="en-IN" sz="1800" dirty="0">
                <a:latin typeface="Carlito"/>
                <a:cs typeface="Carlito"/>
              </a:rPr>
              <a:t>0</a:t>
            </a:r>
            <a:endParaRPr lang="en-IN" dirty="0"/>
          </a:p>
        </p:txBody>
      </p:sp>
    </p:spTree>
    <p:extLst>
      <p:ext uri="{BB962C8B-B14F-4D97-AF65-F5344CB8AC3E}">
        <p14:creationId xmlns:p14="http://schemas.microsoft.com/office/powerpoint/2010/main" val="35162527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7073" y="385953"/>
            <a:ext cx="5690870" cy="452120"/>
          </a:xfrm>
          <a:prstGeom prst="rect">
            <a:avLst/>
          </a:prstGeom>
        </p:spPr>
        <p:txBody>
          <a:bodyPr vert="horz" wrap="square" lIns="0" tIns="12065" rIns="0" bIns="0" rtlCol="0">
            <a:spAutoFit/>
          </a:bodyPr>
          <a:lstStyle/>
          <a:p>
            <a:pPr marL="12700">
              <a:lnSpc>
                <a:spcPct val="100000"/>
              </a:lnSpc>
              <a:spcBef>
                <a:spcPts val="95"/>
              </a:spcBef>
            </a:pPr>
            <a:r>
              <a:rPr spc="-10" dirty="0"/>
              <a:t>Calculation </a:t>
            </a:r>
            <a:r>
              <a:rPr spc="-5" dirty="0"/>
              <a:t>of </a:t>
            </a:r>
            <a:r>
              <a:rPr spc="-20" dirty="0"/>
              <a:t>entropy </a:t>
            </a:r>
            <a:r>
              <a:rPr spc="-25" dirty="0"/>
              <a:t>for </a:t>
            </a:r>
            <a:r>
              <a:rPr spc="-5" dirty="0"/>
              <a:t>‘ </a:t>
            </a:r>
            <a:r>
              <a:rPr spc="-10" dirty="0"/>
              <a:t>Middle</a:t>
            </a:r>
            <a:r>
              <a:rPr spc="120" dirty="0"/>
              <a:t> </a:t>
            </a:r>
            <a:r>
              <a:rPr spc="-10" dirty="0"/>
              <a:t>Age’</a:t>
            </a:r>
          </a:p>
        </p:txBody>
      </p:sp>
      <p:sp>
        <p:nvSpPr>
          <p:cNvPr id="3" name="object 3"/>
          <p:cNvSpPr txBox="1"/>
          <p:nvPr/>
        </p:nvSpPr>
        <p:spPr>
          <a:xfrm>
            <a:off x="587755" y="1077823"/>
            <a:ext cx="3926840" cy="805349"/>
          </a:xfrm>
          <a:prstGeom prst="rect">
            <a:avLst/>
          </a:prstGeom>
        </p:spPr>
        <p:txBody>
          <a:bodyPr vert="horz" wrap="square" lIns="0" tIns="73660" rIns="0" bIns="0" rtlCol="0">
            <a:spAutoFit/>
          </a:bodyPr>
          <a:lstStyle/>
          <a:p>
            <a:pPr>
              <a:lnSpc>
                <a:spcPct val="100000"/>
              </a:lnSpc>
              <a:spcBef>
                <a:spcPts val="5"/>
              </a:spcBef>
            </a:pPr>
            <a:endParaRPr sz="2750" dirty="0">
              <a:latin typeface="Carlito"/>
              <a:cs typeface="Carlito"/>
            </a:endParaRPr>
          </a:p>
          <a:p>
            <a:pPr marL="355600" indent="-342900">
              <a:lnSpc>
                <a:spcPct val="100000"/>
              </a:lnSpc>
              <a:buFont typeface="Arial"/>
              <a:buChar char="•"/>
              <a:tabLst>
                <a:tab pos="354965" algn="l"/>
                <a:tab pos="355600" algn="l"/>
              </a:tabLst>
            </a:pPr>
            <a:r>
              <a:rPr sz="2000" spc="-10" dirty="0">
                <a:latin typeface="Carlito"/>
                <a:cs typeface="Carlito"/>
              </a:rPr>
              <a:t>For</a:t>
            </a:r>
            <a:r>
              <a:rPr sz="2000" spc="-20" dirty="0">
                <a:latin typeface="Carlito"/>
                <a:cs typeface="Carlito"/>
              </a:rPr>
              <a:t> </a:t>
            </a:r>
            <a:r>
              <a:rPr sz="2000" dirty="0">
                <a:latin typeface="Carlito"/>
                <a:cs typeface="Carlito"/>
              </a:rPr>
              <a:t>Senior</a:t>
            </a:r>
          </a:p>
        </p:txBody>
      </p:sp>
      <p:graphicFrame>
        <p:nvGraphicFramePr>
          <p:cNvPr id="5" name="object 5"/>
          <p:cNvGraphicFramePr>
            <a:graphicFrameLocks noGrp="1"/>
          </p:cNvGraphicFramePr>
          <p:nvPr>
            <p:extLst>
              <p:ext uri="{D42A27DB-BD31-4B8C-83A1-F6EECF244321}">
                <p14:modId xmlns:p14="http://schemas.microsoft.com/office/powerpoint/2010/main" val="69176922"/>
              </p:ext>
            </p:extLst>
          </p:nvPr>
        </p:nvGraphicFramePr>
        <p:xfrm>
          <a:off x="918907" y="2168996"/>
          <a:ext cx="3264535" cy="1097265"/>
        </p:xfrm>
        <a:graphic>
          <a:graphicData uri="http://schemas.openxmlformats.org/drawingml/2006/table">
            <a:tbl>
              <a:tblPr firstRow="1" bandRow="1">
                <a:tableStyleId>{2D5ABB26-0587-4C30-8999-92F81FD0307C}</a:tableStyleId>
              </a:tblPr>
              <a:tblGrid>
                <a:gridCol w="815975">
                  <a:extLst>
                    <a:ext uri="{9D8B030D-6E8A-4147-A177-3AD203B41FA5}">
                      <a16:colId xmlns:a16="http://schemas.microsoft.com/office/drawing/2014/main" val="20000"/>
                    </a:ext>
                  </a:extLst>
                </a:gridCol>
                <a:gridCol w="2448560">
                  <a:extLst>
                    <a:ext uri="{9D8B030D-6E8A-4147-A177-3AD203B41FA5}">
                      <a16:colId xmlns:a16="http://schemas.microsoft.com/office/drawing/2014/main" val="20001"/>
                    </a:ext>
                  </a:extLst>
                </a:gridCol>
              </a:tblGrid>
              <a:tr h="365759">
                <a:tc>
                  <a:txBody>
                    <a:bodyPr/>
                    <a:lstStyle/>
                    <a:p>
                      <a:pPr marL="635" algn="ctr">
                        <a:lnSpc>
                          <a:spcPct val="100000"/>
                        </a:lnSpc>
                        <a:spcBef>
                          <a:spcPts val="245"/>
                        </a:spcBef>
                      </a:pPr>
                      <a:r>
                        <a:rPr sz="1800" b="1" dirty="0">
                          <a:solidFill>
                            <a:srgbClr val="FFFFFF"/>
                          </a:solidFill>
                          <a:latin typeface="Carlito"/>
                          <a:cs typeface="Carlito"/>
                        </a:rPr>
                        <a:t>Senior</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5"/>
                        </a:spcBef>
                      </a:pPr>
                      <a:r>
                        <a:rPr sz="1800" b="1" spc="-5" dirty="0">
                          <a:solidFill>
                            <a:srgbClr val="FFFFFF"/>
                          </a:solidFill>
                          <a:latin typeface="Carlito"/>
                          <a:cs typeface="Carlito"/>
                        </a:rPr>
                        <a:t>Class: buys</a:t>
                      </a:r>
                      <a:r>
                        <a:rPr sz="1800" b="1" spc="-65" dirty="0">
                          <a:solidFill>
                            <a:srgbClr val="FFFFFF"/>
                          </a:solidFill>
                          <a:latin typeface="Carlito"/>
                          <a:cs typeface="Carlito"/>
                        </a:rPr>
                        <a:t> </a:t>
                      </a:r>
                      <a:r>
                        <a:rPr sz="1800" b="1" spc="-5" dirty="0">
                          <a:solidFill>
                            <a:srgbClr val="FFFFFF"/>
                          </a:solidFill>
                          <a:latin typeface="Carlito"/>
                          <a:cs typeface="Carlito"/>
                        </a:rPr>
                        <a:t>computer</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47">
                <a:tc>
                  <a:txBody>
                    <a:bodyPr/>
                    <a:lstStyle/>
                    <a:p>
                      <a:pPr algn="ctr">
                        <a:lnSpc>
                          <a:spcPct val="100000"/>
                        </a:lnSpc>
                        <a:spcBef>
                          <a:spcPts val="245"/>
                        </a:spcBef>
                      </a:pPr>
                      <a:r>
                        <a:rPr sz="1800" spc="-45" dirty="0">
                          <a:latin typeface="Carlito"/>
                          <a:cs typeface="Carlito"/>
                        </a:rPr>
                        <a:t>Yes</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3</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59">
                <a:tc>
                  <a:txBody>
                    <a:bodyPr/>
                    <a:lstStyle/>
                    <a:p>
                      <a:pPr algn="ctr">
                        <a:lnSpc>
                          <a:spcPct val="100000"/>
                        </a:lnSpc>
                        <a:spcBef>
                          <a:spcPts val="250"/>
                        </a:spcBef>
                      </a:pPr>
                      <a:r>
                        <a:rPr sz="1800" dirty="0">
                          <a:latin typeface="Carlito"/>
                          <a:cs typeface="Carlito"/>
                        </a:rPr>
                        <a:t>No</a:t>
                      </a:r>
                      <a:endParaRPr sz="1800">
                        <a:latin typeface="Carlito"/>
                        <a:cs typeface="Carlito"/>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50"/>
                        </a:spcBef>
                      </a:pPr>
                      <a:r>
                        <a:rPr sz="1800" dirty="0">
                          <a:latin typeface="Carlito"/>
                          <a:cs typeface="Carlito"/>
                        </a:rPr>
                        <a:t>2</a:t>
                      </a: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43</a:t>
            </a:fld>
            <a:endParaRPr dirty="0"/>
          </a:p>
        </p:txBody>
      </p:sp>
      <p:sp>
        <p:nvSpPr>
          <p:cNvPr id="16" name="object 8">
            <a:extLst>
              <a:ext uri="{FF2B5EF4-FFF2-40B4-BE49-F238E27FC236}">
                <a16:creationId xmlns:a16="http://schemas.microsoft.com/office/drawing/2014/main" id="{A8E30565-5C1B-4502-AAE0-A8C8152F3ECE}"/>
              </a:ext>
            </a:extLst>
          </p:cNvPr>
          <p:cNvSpPr/>
          <p:nvPr/>
        </p:nvSpPr>
        <p:spPr>
          <a:xfrm>
            <a:off x="4740906" y="1710054"/>
            <a:ext cx="4370832" cy="3006852"/>
          </a:xfrm>
          <a:prstGeom prst="rect">
            <a:avLst/>
          </a:prstGeom>
          <a:blipFill>
            <a:blip r:embed="rId2" cstate="print"/>
            <a:stretch>
              <a:fillRect/>
            </a:stretch>
          </a:blipFill>
        </p:spPr>
        <p:txBody>
          <a:bodyPr wrap="square" lIns="0" tIns="0" rIns="0" bIns="0" rtlCol="0"/>
          <a:lstStyle/>
          <a:p>
            <a:endParaRPr dirty="0"/>
          </a:p>
        </p:txBody>
      </p:sp>
      <p:sp>
        <p:nvSpPr>
          <p:cNvPr id="17" name="object 9">
            <a:extLst>
              <a:ext uri="{FF2B5EF4-FFF2-40B4-BE49-F238E27FC236}">
                <a16:creationId xmlns:a16="http://schemas.microsoft.com/office/drawing/2014/main" id="{BAE52AF9-4681-48D5-B456-9BF473FB88FA}"/>
              </a:ext>
            </a:extLst>
          </p:cNvPr>
          <p:cNvSpPr/>
          <p:nvPr/>
        </p:nvSpPr>
        <p:spPr>
          <a:xfrm>
            <a:off x="5091339" y="1710054"/>
            <a:ext cx="624840" cy="2941320"/>
          </a:xfrm>
          <a:custGeom>
            <a:avLst/>
            <a:gdLst/>
            <a:ahLst/>
            <a:cxnLst/>
            <a:rect l="l" t="t" r="r" b="b"/>
            <a:pathLst>
              <a:path w="624839" h="2941320">
                <a:moveTo>
                  <a:pt x="0" y="2941320"/>
                </a:moveTo>
                <a:lnTo>
                  <a:pt x="624839" y="2941320"/>
                </a:lnTo>
                <a:lnTo>
                  <a:pt x="624839" y="0"/>
                </a:lnTo>
                <a:lnTo>
                  <a:pt x="0" y="0"/>
                </a:lnTo>
                <a:lnTo>
                  <a:pt x="0" y="2941320"/>
                </a:lnTo>
                <a:close/>
              </a:path>
            </a:pathLst>
          </a:custGeom>
          <a:ln w="38100">
            <a:solidFill>
              <a:srgbClr val="385D89"/>
            </a:solidFill>
          </a:ln>
        </p:spPr>
        <p:txBody>
          <a:bodyPr wrap="square" lIns="0" tIns="0" rIns="0" bIns="0" rtlCol="0"/>
          <a:lstStyle/>
          <a:p>
            <a:endParaRPr/>
          </a:p>
        </p:txBody>
      </p:sp>
      <p:sp>
        <p:nvSpPr>
          <p:cNvPr id="18" name="object 4">
            <a:extLst>
              <a:ext uri="{FF2B5EF4-FFF2-40B4-BE49-F238E27FC236}">
                <a16:creationId xmlns:a16="http://schemas.microsoft.com/office/drawing/2014/main" id="{E3B45CE2-9732-48FF-95A6-1F81576FDE90}"/>
              </a:ext>
            </a:extLst>
          </p:cNvPr>
          <p:cNvSpPr txBox="1"/>
          <p:nvPr/>
        </p:nvSpPr>
        <p:spPr>
          <a:xfrm>
            <a:off x="1019445" y="3552085"/>
            <a:ext cx="2597785" cy="57404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rlito"/>
                <a:cs typeface="Carlito"/>
              </a:rPr>
              <a:t>Calculate Entropy </a:t>
            </a:r>
            <a:r>
              <a:rPr sz="1800" spc="-15" dirty="0">
                <a:latin typeface="Carlito"/>
                <a:cs typeface="Carlito"/>
              </a:rPr>
              <a:t>for</a:t>
            </a:r>
            <a:r>
              <a:rPr sz="1800" spc="-30" dirty="0">
                <a:latin typeface="Carlito"/>
                <a:cs typeface="Carlito"/>
              </a:rPr>
              <a:t> </a:t>
            </a:r>
            <a:r>
              <a:rPr sz="1800" spc="-5" dirty="0">
                <a:latin typeface="Carlito"/>
                <a:cs typeface="Carlito"/>
              </a:rPr>
              <a:t>senior</a:t>
            </a:r>
            <a:endParaRPr sz="1800" dirty="0">
              <a:latin typeface="Carlito"/>
              <a:cs typeface="Carlito"/>
            </a:endParaRPr>
          </a:p>
          <a:p>
            <a:pPr marL="12700">
              <a:lnSpc>
                <a:spcPct val="100000"/>
              </a:lnSpc>
            </a:pPr>
            <a:r>
              <a:rPr sz="1800" dirty="0">
                <a:latin typeface="Carlito"/>
                <a:cs typeface="Carlito"/>
              </a:rPr>
              <a:t>=</a:t>
            </a:r>
          </a:p>
        </p:txBody>
      </p:sp>
      <p:sp>
        <p:nvSpPr>
          <p:cNvPr id="19" name="object 3">
            <a:extLst>
              <a:ext uri="{FF2B5EF4-FFF2-40B4-BE49-F238E27FC236}">
                <a16:creationId xmlns:a16="http://schemas.microsoft.com/office/drawing/2014/main" id="{CABBC947-10CF-483D-8E4C-B066F0FD1E0C}"/>
              </a:ext>
            </a:extLst>
          </p:cNvPr>
          <p:cNvSpPr/>
          <p:nvPr/>
        </p:nvSpPr>
        <p:spPr>
          <a:xfrm>
            <a:off x="1484709" y="4048936"/>
            <a:ext cx="1667256" cy="490728"/>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9092467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ctrTitle"/>
          </p:nvPr>
        </p:nvSpPr>
        <p:spPr>
          <a:prstGeom prst="rect">
            <a:avLst/>
          </a:prstGeom>
        </p:spPr>
        <p:txBody>
          <a:bodyPr vert="horz" wrap="square" lIns="0" tIns="12065" rIns="0" bIns="0" rtlCol="0">
            <a:spAutoFit/>
          </a:bodyPr>
          <a:lstStyle/>
          <a:p>
            <a:pPr marL="2580640" marR="5080" indent="-2568575">
              <a:lnSpc>
                <a:spcPct val="100000"/>
              </a:lnSpc>
              <a:spcBef>
                <a:spcPts val="95"/>
              </a:spcBef>
            </a:pPr>
            <a:r>
              <a:rPr spc="-10" dirty="0"/>
              <a:t>The </a:t>
            </a:r>
            <a:r>
              <a:rPr spc="-15" dirty="0"/>
              <a:t>expected </a:t>
            </a:r>
            <a:r>
              <a:rPr spc="-10" dirty="0"/>
              <a:t>information needed </a:t>
            </a:r>
            <a:r>
              <a:rPr spc="-15" dirty="0"/>
              <a:t>to </a:t>
            </a:r>
            <a:r>
              <a:rPr spc="-5" dirty="0"/>
              <a:t>classify a tuple in D  </a:t>
            </a:r>
            <a:r>
              <a:rPr spc="-10" dirty="0"/>
              <a:t>according </a:t>
            </a:r>
            <a:r>
              <a:rPr spc="-15" dirty="0"/>
              <a:t>to</a:t>
            </a:r>
            <a:r>
              <a:rPr dirty="0"/>
              <a:t> </a:t>
            </a:r>
            <a:r>
              <a:rPr spc="-15" dirty="0"/>
              <a:t>age</a:t>
            </a:r>
          </a:p>
        </p:txBody>
      </p:sp>
      <p:sp>
        <p:nvSpPr>
          <p:cNvPr id="4" name="object 4"/>
          <p:cNvSpPr txBox="1"/>
          <p:nvPr/>
        </p:nvSpPr>
        <p:spPr>
          <a:xfrm>
            <a:off x="727049" y="2312924"/>
            <a:ext cx="7515859" cy="635635"/>
          </a:xfrm>
          <a:prstGeom prst="rect">
            <a:avLst/>
          </a:prstGeom>
        </p:spPr>
        <p:txBody>
          <a:bodyPr vert="horz" wrap="square" lIns="0" tIns="12700" rIns="0" bIns="0" rtlCol="0">
            <a:spAutoFit/>
          </a:bodyPr>
          <a:lstStyle/>
          <a:p>
            <a:pPr marL="12700" marR="5080">
              <a:lnSpc>
                <a:spcPct val="100000"/>
              </a:lnSpc>
              <a:spcBef>
                <a:spcPts val="100"/>
              </a:spcBef>
            </a:pPr>
            <a:r>
              <a:rPr sz="2000" spc="-5" dirty="0">
                <a:latin typeface="Carlito"/>
                <a:cs typeface="Carlito"/>
              </a:rPr>
              <a:t>The </a:t>
            </a:r>
            <a:r>
              <a:rPr sz="2000" spc="-10" dirty="0">
                <a:latin typeface="Carlito"/>
                <a:cs typeface="Carlito"/>
              </a:rPr>
              <a:t>expected information </a:t>
            </a:r>
            <a:r>
              <a:rPr sz="2000" spc="-5" dirty="0">
                <a:latin typeface="Carlito"/>
                <a:cs typeface="Carlito"/>
              </a:rPr>
              <a:t>needed </a:t>
            </a:r>
            <a:r>
              <a:rPr sz="2000" spc="-15" dirty="0">
                <a:latin typeface="Carlito"/>
                <a:cs typeface="Carlito"/>
              </a:rPr>
              <a:t>to </a:t>
            </a:r>
            <a:r>
              <a:rPr sz="2000" spc="-5" dirty="0">
                <a:latin typeface="Carlito"/>
                <a:cs typeface="Carlito"/>
              </a:rPr>
              <a:t>classify </a:t>
            </a:r>
            <a:r>
              <a:rPr sz="2000" dirty="0">
                <a:latin typeface="Carlito"/>
                <a:cs typeface="Carlito"/>
              </a:rPr>
              <a:t>a tuple in D if the tuples </a:t>
            </a:r>
            <a:r>
              <a:rPr sz="2000" spc="-10" dirty="0">
                <a:latin typeface="Carlito"/>
                <a:cs typeface="Carlito"/>
              </a:rPr>
              <a:t>are  </a:t>
            </a:r>
            <a:r>
              <a:rPr sz="2000" spc="-5" dirty="0">
                <a:latin typeface="Carlito"/>
                <a:cs typeface="Carlito"/>
              </a:rPr>
              <a:t>partitioned according </a:t>
            </a:r>
            <a:r>
              <a:rPr sz="2000" spc="-15" dirty="0">
                <a:latin typeface="Carlito"/>
                <a:cs typeface="Carlito"/>
              </a:rPr>
              <a:t>to </a:t>
            </a:r>
            <a:r>
              <a:rPr sz="2000" dirty="0">
                <a:latin typeface="Carlito"/>
                <a:cs typeface="Carlito"/>
              </a:rPr>
              <a:t>age</a:t>
            </a:r>
            <a:r>
              <a:rPr sz="2000" spc="-25" dirty="0">
                <a:latin typeface="Carlito"/>
                <a:cs typeface="Carlito"/>
              </a:rPr>
              <a:t> </a:t>
            </a:r>
            <a:r>
              <a:rPr sz="2000" dirty="0">
                <a:latin typeface="Carlito"/>
                <a:cs typeface="Carlito"/>
              </a:rPr>
              <a:t>is</a:t>
            </a:r>
            <a:endParaRPr sz="2000">
              <a:latin typeface="Carlito"/>
              <a:cs typeface="Carlito"/>
            </a:endParaRPr>
          </a:p>
        </p:txBody>
      </p:sp>
      <p:sp>
        <p:nvSpPr>
          <p:cNvPr id="5" name="object 5"/>
          <p:cNvSpPr/>
          <p:nvPr/>
        </p:nvSpPr>
        <p:spPr>
          <a:xfrm>
            <a:off x="3924300" y="2692907"/>
            <a:ext cx="4133088" cy="1940052"/>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44</a:t>
            </a:fld>
            <a:endParaRPr dirty="0"/>
          </a:p>
        </p:txBody>
      </p:sp>
    </p:spTree>
    <p:extLst>
      <p:ext uri="{BB962C8B-B14F-4D97-AF65-F5344CB8AC3E}">
        <p14:creationId xmlns:p14="http://schemas.microsoft.com/office/powerpoint/2010/main" val="16381954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2625" y="385953"/>
            <a:ext cx="5236210" cy="452120"/>
          </a:xfrm>
          <a:prstGeom prst="rect">
            <a:avLst/>
          </a:prstGeom>
        </p:spPr>
        <p:txBody>
          <a:bodyPr vert="horz" wrap="square" lIns="0" tIns="12065" rIns="0" bIns="0" rtlCol="0">
            <a:spAutoFit/>
          </a:bodyPr>
          <a:lstStyle/>
          <a:p>
            <a:pPr marL="12700">
              <a:lnSpc>
                <a:spcPct val="100000"/>
              </a:lnSpc>
              <a:spcBef>
                <a:spcPts val="95"/>
              </a:spcBef>
              <a:tabLst>
                <a:tab pos="4674870" algn="l"/>
              </a:tabLst>
            </a:pPr>
            <a:r>
              <a:rPr spc="-10" dirty="0"/>
              <a:t>Calcu</a:t>
            </a:r>
            <a:r>
              <a:rPr spc="-20" dirty="0"/>
              <a:t>l</a:t>
            </a:r>
            <a:r>
              <a:rPr spc="-25" dirty="0"/>
              <a:t>a</a:t>
            </a:r>
            <a:r>
              <a:rPr spc="-5" dirty="0"/>
              <a:t>tion</a:t>
            </a:r>
            <a:r>
              <a:rPr dirty="0"/>
              <a:t> </a:t>
            </a:r>
            <a:r>
              <a:rPr spc="-5" dirty="0"/>
              <a:t>i</a:t>
            </a:r>
            <a:r>
              <a:rPr spc="-30" dirty="0"/>
              <a:t>n</a:t>
            </a:r>
            <a:r>
              <a:rPr spc="-70" dirty="0"/>
              <a:t>f</a:t>
            </a:r>
            <a:r>
              <a:rPr spc="-10" dirty="0"/>
              <a:t>orm</a:t>
            </a:r>
            <a:r>
              <a:rPr spc="-30" dirty="0"/>
              <a:t>a</a:t>
            </a:r>
            <a:r>
              <a:rPr spc="-5" dirty="0"/>
              <a:t>tion</a:t>
            </a:r>
            <a:r>
              <a:rPr spc="15" dirty="0"/>
              <a:t> </a:t>
            </a:r>
            <a:r>
              <a:rPr spc="-5" dirty="0"/>
              <a:t>Gain </a:t>
            </a:r>
            <a:r>
              <a:rPr spc="-10" dirty="0"/>
              <a:t>o</a:t>
            </a:r>
            <a:r>
              <a:rPr spc="-5" dirty="0"/>
              <a:t>f</a:t>
            </a:r>
            <a:r>
              <a:rPr dirty="0"/>
              <a:t>	A</a:t>
            </a:r>
            <a:r>
              <a:rPr spc="-25" dirty="0"/>
              <a:t>g</a:t>
            </a:r>
            <a:r>
              <a:rPr spc="-5" dirty="0"/>
              <a:t>e</a:t>
            </a:r>
          </a:p>
        </p:txBody>
      </p:sp>
      <p:sp>
        <p:nvSpPr>
          <p:cNvPr id="3" name="object 3"/>
          <p:cNvSpPr txBox="1"/>
          <p:nvPr/>
        </p:nvSpPr>
        <p:spPr>
          <a:xfrm>
            <a:off x="535940" y="1216913"/>
            <a:ext cx="1630680"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5" dirty="0">
                <a:latin typeface="Carlito"/>
                <a:cs typeface="Carlito"/>
              </a:rPr>
              <a:t>Gain of</a:t>
            </a:r>
            <a:r>
              <a:rPr sz="2000" spc="-50" dirty="0">
                <a:latin typeface="Carlito"/>
                <a:cs typeface="Carlito"/>
              </a:rPr>
              <a:t> </a:t>
            </a:r>
            <a:r>
              <a:rPr sz="2000" spc="-5" dirty="0">
                <a:latin typeface="Carlito"/>
                <a:cs typeface="Carlito"/>
              </a:rPr>
              <a:t>Age:</a:t>
            </a:r>
            <a:endParaRPr sz="2000">
              <a:latin typeface="Carlito"/>
              <a:cs typeface="Carlito"/>
            </a:endParaRPr>
          </a:p>
        </p:txBody>
      </p:sp>
      <p:sp>
        <p:nvSpPr>
          <p:cNvPr id="5" name="object 5"/>
          <p:cNvSpPr/>
          <p:nvPr/>
        </p:nvSpPr>
        <p:spPr>
          <a:xfrm>
            <a:off x="1260347" y="1961388"/>
            <a:ext cx="6257544" cy="409956"/>
          </a:xfrm>
          <a:prstGeom prst="rect">
            <a:avLst/>
          </a:prstGeom>
          <a:blipFill>
            <a:blip r:embed="rId2" cstate="print"/>
            <a:stretch>
              <a:fillRect/>
            </a:stretch>
          </a:blipFill>
        </p:spPr>
        <p:txBody>
          <a:bodyPr wrap="square" lIns="0" tIns="0" rIns="0" bIns="0" rtlCol="0"/>
          <a:lstStyle/>
          <a:p>
            <a:endParaRPr dirty="0"/>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45</a:t>
            </a:fld>
            <a:endParaRPr dirty="0"/>
          </a:p>
        </p:txBody>
      </p:sp>
    </p:spTree>
    <p:extLst>
      <p:ext uri="{BB962C8B-B14F-4D97-AF65-F5344CB8AC3E}">
        <p14:creationId xmlns:p14="http://schemas.microsoft.com/office/powerpoint/2010/main" val="25159467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90497" y="385953"/>
            <a:ext cx="5762625" cy="452120"/>
          </a:xfrm>
          <a:prstGeom prst="rect">
            <a:avLst/>
          </a:prstGeom>
        </p:spPr>
        <p:txBody>
          <a:bodyPr vert="horz" wrap="square" lIns="0" tIns="12065" rIns="0" bIns="0" rtlCol="0">
            <a:spAutoFit/>
          </a:bodyPr>
          <a:lstStyle/>
          <a:p>
            <a:pPr marL="12700">
              <a:lnSpc>
                <a:spcPct val="100000"/>
              </a:lnSpc>
              <a:spcBef>
                <a:spcPts val="95"/>
              </a:spcBef>
              <a:tabLst>
                <a:tab pos="4678045" algn="l"/>
              </a:tabLst>
            </a:pPr>
            <a:r>
              <a:rPr spc="-10" dirty="0"/>
              <a:t>Calcu</a:t>
            </a:r>
            <a:r>
              <a:rPr spc="-20" dirty="0"/>
              <a:t>l</a:t>
            </a:r>
            <a:r>
              <a:rPr spc="-25" dirty="0"/>
              <a:t>a</a:t>
            </a:r>
            <a:r>
              <a:rPr spc="-5" dirty="0"/>
              <a:t>tion</a:t>
            </a:r>
            <a:r>
              <a:rPr dirty="0"/>
              <a:t> </a:t>
            </a:r>
            <a:r>
              <a:rPr spc="-5" dirty="0"/>
              <a:t>i</a:t>
            </a:r>
            <a:r>
              <a:rPr spc="-30" dirty="0"/>
              <a:t>n</a:t>
            </a:r>
            <a:r>
              <a:rPr spc="-70" dirty="0"/>
              <a:t>f</a:t>
            </a:r>
            <a:r>
              <a:rPr spc="-10" dirty="0"/>
              <a:t>orm</a:t>
            </a:r>
            <a:r>
              <a:rPr spc="-30" dirty="0"/>
              <a:t>a</a:t>
            </a:r>
            <a:r>
              <a:rPr spc="-5" dirty="0"/>
              <a:t>tion</a:t>
            </a:r>
            <a:r>
              <a:rPr spc="15" dirty="0"/>
              <a:t> </a:t>
            </a:r>
            <a:r>
              <a:rPr spc="-5" dirty="0"/>
              <a:t>Gain </a:t>
            </a:r>
            <a:r>
              <a:rPr spc="-10" dirty="0"/>
              <a:t>o</a:t>
            </a:r>
            <a:r>
              <a:rPr spc="-5" dirty="0"/>
              <a:t>f</a:t>
            </a:r>
            <a:r>
              <a:rPr dirty="0"/>
              <a:t>	</a:t>
            </a:r>
            <a:r>
              <a:rPr spc="-5" dirty="0"/>
              <a:t>In</a:t>
            </a:r>
            <a:r>
              <a:rPr spc="-20" dirty="0"/>
              <a:t>c</a:t>
            </a:r>
            <a:r>
              <a:rPr spc="-10" dirty="0"/>
              <a:t>ome</a:t>
            </a:r>
          </a:p>
        </p:txBody>
      </p:sp>
      <p:sp>
        <p:nvSpPr>
          <p:cNvPr id="3" name="object 3"/>
          <p:cNvSpPr txBox="1"/>
          <p:nvPr/>
        </p:nvSpPr>
        <p:spPr>
          <a:xfrm>
            <a:off x="535940" y="1156563"/>
            <a:ext cx="3509645" cy="1854835"/>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spc="-5" dirty="0">
                <a:latin typeface="Carlito"/>
                <a:cs typeface="Carlito"/>
              </a:rPr>
              <a:t>Calculation of </a:t>
            </a:r>
            <a:r>
              <a:rPr sz="2000" spc="-10" dirty="0">
                <a:latin typeface="Carlito"/>
                <a:cs typeface="Carlito"/>
              </a:rPr>
              <a:t>gain </a:t>
            </a:r>
            <a:r>
              <a:rPr sz="2000" spc="-15" dirty="0">
                <a:latin typeface="Carlito"/>
                <a:cs typeface="Carlito"/>
              </a:rPr>
              <a:t>for</a:t>
            </a:r>
            <a:r>
              <a:rPr sz="2000" spc="-40" dirty="0">
                <a:latin typeface="Carlito"/>
                <a:cs typeface="Carlito"/>
              </a:rPr>
              <a:t> </a:t>
            </a:r>
            <a:r>
              <a:rPr sz="2000" spc="-5" dirty="0">
                <a:latin typeface="Carlito"/>
                <a:cs typeface="Carlito"/>
              </a:rPr>
              <a:t>income:</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dirty="0">
                <a:latin typeface="Carlito"/>
                <a:cs typeface="Carlito"/>
              </a:rPr>
              <a:t>Income </a:t>
            </a:r>
            <a:r>
              <a:rPr sz="2000" spc="-5" dirty="0">
                <a:latin typeface="Carlito"/>
                <a:cs typeface="Carlito"/>
              </a:rPr>
              <a:t>cane</a:t>
            </a:r>
            <a:r>
              <a:rPr sz="2000" spc="-40" dirty="0">
                <a:latin typeface="Carlito"/>
                <a:cs typeface="Carlito"/>
              </a:rPr>
              <a:t> </a:t>
            </a:r>
            <a:r>
              <a:rPr sz="2000" dirty="0">
                <a:latin typeface="Carlito"/>
                <a:cs typeface="Carlito"/>
              </a:rPr>
              <a:t>be:</a:t>
            </a:r>
            <a:endParaRPr sz="2000">
              <a:latin typeface="Carlito"/>
              <a:cs typeface="Carlito"/>
            </a:endParaRPr>
          </a:p>
          <a:p>
            <a:pPr marL="756285" lvl="1" indent="-287020">
              <a:lnSpc>
                <a:spcPct val="100000"/>
              </a:lnSpc>
              <a:spcBef>
                <a:spcPts val="480"/>
              </a:spcBef>
              <a:buFont typeface="Arial"/>
              <a:buChar char="–"/>
              <a:tabLst>
                <a:tab pos="756285" algn="l"/>
                <a:tab pos="756920" algn="l"/>
              </a:tabLst>
            </a:pPr>
            <a:r>
              <a:rPr sz="2000" spc="-5" dirty="0">
                <a:latin typeface="Carlito"/>
                <a:cs typeface="Carlito"/>
              </a:rPr>
              <a:t>High</a:t>
            </a:r>
            <a:endParaRPr sz="2000">
              <a:latin typeface="Carlito"/>
              <a:cs typeface="Carlito"/>
            </a:endParaRPr>
          </a:p>
          <a:p>
            <a:pPr marL="756285" lvl="1" indent="-287020">
              <a:lnSpc>
                <a:spcPct val="100000"/>
              </a:lnSpc>
              <a:spcBef>
                <a:spcPts val="480"/>
              </a:spcBef>
              <a:buFont typeface="Arial"/>
              <a:buChar char="–"/>
              <a:tabLst>
                <a:tab pos="756285" algn="l"/>
                <a:tab pos="756920" algn="l"/>
              </a:tabLst>
            </a:pPr>
            <a:r>
              <a:rPr sz="2000" dirty="0">
                <a:latin typeface="Carlito"/>
                <a:cs typeface="Carlito"/>
              </a:rPr>
              <a:t>Medium</a:t>
            </a:r>
            <a:endParaRPr sz="2000">
              <a:latin typeface="Carlito"/>
              <a:cs typeface="Carlito"/>
            </a:endParaRPr>
          </a:p>
          <a:p>
            <a:pPr marL="756285" lvl="1" indent="-287020">
              <a:lnSpc>
                <a:spcPct val="100000"/>
              </a:lnSpc>
              <a:spcBef>
                <a:spcPts val="480"/>
              </a:spcBef>
              <a:buFont typeface="Arial"/>
              <a:buChar char="–"/>
              <a:tabLst>
                <a:tab pos="756285" algn="l"/>
                <a:tab pos="756920" algn="l"/>
              </a:tabLst>
            </a:pPr>
            <a:r>
              <a:rPr sz="2000" spc="-5" dirty="0">
                <a:latin typeface="Carlito"/>
                <a:cs typeface="Carlito"/>
              </a:rPr>
              <a:t>Low</a:t>
            </a:r>
            <a:endParaRPr sz="2000">
              <a:latin typeface="Carlito"/>
              <a:cs typeface="Carlito"/>
            </a:endParaRPr>
          </a:p>
        </p:txBody>
      </p:sp>
      <p:grpSp>
        <p:nvGrpSpPr>
          <p:cNvPr id="4" name="object 4"/>
          <p:cNvGrpSpPr/>
          <p:nvPr/>
        </p:nvGrpSpPr>
        <p:grpSpPr>
          <a:xfrm>
            <a:off x="4623815" y="1563624"/>
            <a:ext cx="4395216" cy="3025140"/>
            <a:chOff x="4623815" y="1563624"/>
            <a:chExt cx="4395216" cy="3025140"/>
          </a:xfrm>
        </p:grpSpPr>
        <p:sp>
          <p:nvSpPr>
            <p:cNvPr id="5" name="object 5"/>
            <p:cNvSpPr/>
            <p:nvPr/>
          </p:nvSpPr>
          <p:spPr>
            <a:xfrm>
              <a:off x="4623815" y="1563624"/>
              <a:ext cx="4395216" cy="3025140"/>
            </a:xfrm>
            <a:prstGeom prst="rect">
              <a:avLst/>
            </a:prstGeom>
            <a:blipFill>
              <a:blip r:embed="rId2" cstate="print"/>
              <a:stretch>
                <a:fillRect/>
              </a:stretch>
            </a:blipFill>
          </p:spPr>
          <p:txBody>
            <a:bodyPr wrap="square" lIns="0" tIns="0" rIns="0" bIns="0" rtlCol="0"/>
            <a:lstStyle/>
            <a:p>
              <a:endParaRPr dirty="0"/>
            </a:p>
          </p:txBody>
        </p:sp>
        <p:sp>
          <p:nvSpPr>
            <p:cNvPr id="6" name="object 6"/>
            <p:cNvSpPr/>
            <p:nvPr/>
          </p:nvSpPr>
          <p:spPr>
            <a:xfrm>
              <a:off x="5641085" y="1597914"/>
              <a:ext cx="660400" cy="2958465"/>
            </a:xfrm>
            <a:custGeom>
              <a:avLst/>
              <a:gdLst/>
              <a:ahLst/>
              <a:cxnLst/>
              <a:rect l="l" t="t" r="r" b="b"/>
              <a:pathLst>
                <a:path w="660400" h="2958465">
                  <a:moveTo>
                    <a:pt x="0" y="2958084"/>
                  </a:moveTo>
                  <a:lnTo>
                    <a:pt x="659891" y="2958084"/>
                  </a:lnTo>
                  <a:lnTo>
                    <a:pt x="659891" y="0"/>
                  </a:lnTo>
                  <a:lnTo>
                    <a:pt x="0" y="0"/>
                  </a:lnTo>
                  <a:lnTo>
                    <a:pt x="0" y="2958084"/>
                  </a:lnTo>
                  <a:close/>
                </a:path>
              </a:pathLst>
            </a:custGeom>
            <a:ln w="38100">
              <a:solidFill>
                <a:srgbClr val="385D89"/>
              </a:solidFill>
            </a:ln>
          </p:spPr>
          <p:txBody>
            <a:bodyPr wrap="square" lIns="0" tIns="0" rIns="0" bIns="0" rtlCol="0"/>
            <a:lstStyle/>
            <a:p>
              <a:endParaRPr/>
            </a:p>
          </p:txBody>
        </p:sp>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46</a:t>
            </a:fld>
            <a:endParaRPr dirty="0"/>
          </a:p>
        </p:txBody>
      </p:sp>
    </p:spTree>
    <p:extLst>
      <p:ext uri="{BB962C8B-B14F-4D97-AF65-F5344CB8AC3E}">
        <p14:creationId xmlns:p14="http://schemas.microsoft.com/office/powerpoint/2010/main" val="11665188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9766" y="385953"/>
            <a:ext cx="3743325" cy="452120"/>
          </a:xfrm>
          <a:prstGeom prst="rect">
            <a:avLst/>
          </a:prstGeom>
        </p:spPr>
        <p:txBody>
          <a:bodyPr vert="horz" wrap="square" lIns="0" tIns="12065" rIns="0" bIns="0" rtlCol="0">
            <a:spAutoFit/>
          </a:bodyPr>
          <a:lstStyle/>
          <a:p>
            <a:pPr marL="12700">
              <a:lnSpc>
                <a:spcPct val="100000"/>
              </a:lnSpc>
              <a:spcBef>
                <a:spcPts val="95"/>
              </a:spcBef>
            </a:pPr>
            <a:r>
              <a:rPr spc="-15" dirty="0"/>
              <a:t>Calculate </a:t>
            </a:r>
            <a:r>
              <a:rPr spc="-20" dirty="0"/>
              <a:t>Entropy </a:t>
            </a:r>
            <a:r>
              <a:rPr spc="-25" dirty="0"/>
              <a:t>for</a:t>
            </a:r>
            <a:r>
              <a:rPr spc="5" dirty="0"/>
              <a:t> </a:t>
            </a:r>
            <a:r>
              <a:rPr spc="-10" dirty="0"/>
              <a:t>high</a:t>
            </a:r>
          </a:p>
        </p:txBody>
      </p:sp>
      <p:sp>
        <p:nvSpPr>
          <p:cNvPr id="3" name="object 3"/>
          <p:cNvSpPr txBox="1"/>
          <p:nvPr/>
        </p:nvSpPr>
        <p:spPr>
          <a:xfrm>
            <a:off x="535940" y="1216913"/>
            <a:ext cx="964565"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5" dirty="0">
                <a:latin typeface="Carlito"/>
                <a:cs typeface="Carlito"/>
              </a:rPr>
              <a:t>High</a:t>
            </a:r>
            <a:r>
              <a:rPr sz="2000" spc="-75" dirty="0">
                <a:latin typeface="Carlito"/>
                <a:cs typeface="Carlito"/>
              </a:rPr>
              <a:t> </a:t>
            </a:r>
            <a:r>
              <a:rPr sz="2000" dirty="0">
                <a:latin typeface="Carlito"/>
                <a:cs typeface="Carlito"/>
              </a:rPr>
              <a:t>:</a:t>
            </a:r>
            <a:endParaRPr sz="2000">
              <a:latin typeface="Carlito"/>
              <a:cs typeface="Carlito"/>
            </a:endParaRPr>
          </a:p>
        </p:txBody>
      </p:sp>
      <p:sp>
        <p:nvSpPr>
          <p:cNvPr id="4" name="object 4"/>
          <p:cNvSpPr txBox="1"/>
          <p:nvPr/>
        </p:nvSpPr>
        <p:spPr>
          <a:xfrm>
            <a:off x="510540" y="2985871"/>
            <a:ext cx="3785870" cy="756920"/>
          </a:xfrm>
          <a:prstGeom prst="rect">
            <a:avLst/>
          </a:prstGeom>
        </p:spPr>
        <p:txBody>
          <a:bodyPr vert="horz" wrap="square" lIns="0" tIns="73660" rIns="0" bIns="0" rtlCol="0">
            <a:spAutoFit/>
          </a:bodyPr>
          <a:lstStyle/>
          <a:p>
            <a:pPr marL="381000" indent="-342900">
              <a:lnSpc>
                <a:spcPct val="100000"/>
              </a:lnSpc>
              <a:spcBef>
                <a:spcPts val="580"/>
              </a:spcBef>
              <a:buFont typeface="Arial"/>
              <a:buChar char="•"/>
              <a:tabLst>
                <a:tab pos="380365" algn="l"/>
                <a:tab pos="381000" algn="l"/>
              </a:tabLst>
            </a:pPr>
            <a:r>
              <a:rPr sz="2000" spc="-10" dirty="0">
                <a:latin typeface="Carlito"/>
                <a:cs typeface="Carlito"/>
              </a:rPr>
              <a:t>Calculate Entropy </a:t>
            </a:r>
            <a:r>
              <a:rPr sz="2000" spc="-15" dirty="0">
                <a:latin typeface="Carlito"/>
                <a:cs typeface="Carlito"/>
              </a:rPr>
              <a:t>for</a:t>
            </a:r>
            <a:r>
              <a:rPr sz="2000" spc="-20" dirty="0">
                <a:latin typeface="Carlito"/>
                <a:cs typeface="Carlito"/>
              </a:rPr>
              <a:t> </a:t>
            </a:r>
            <a:r>
              <a:rPr sz="2000" dirty="0">
                <a:latin typeface="Carlito"/>
                <a:cs typeface="Carlito"/>
              </a:rPr>
              <a:t>high:</a:t>
            </a:r>
          </a:p>
          <a:p>
            <a:pPr marL="438784">
              <a:lnSpc>
                <a:spcPct val="100000"/>
              </a:lnSpc>
              <a:spcBef>
                <a:spcPts val="480"/>
              </a:spcBef>
            </a:pPr>
            <a:r>
              <a:rPr sz="2000" dirty="0">
                <a:latin typeface="Carlito"/>
                <a:cs typeface="Carlito"/>
              </a:rPr>
              <a:t>= -(2/4)log</a:t>
            </a:r>
            <a:r>
              <a:rPr sz="1950" baseline="-21367" dirty="0">
                <a:latin typeface="Carlito"/>
                <a:cs typeface="Carlito"/>
              </a:rPr>
              <a:t>2</a:t>
            </a:r>
            <a:r>
              <a:rPr sz="2000" dirty="0">
                <a:latin typeface="Carlito"/>
                <a:cs typeface="Carlito"/>
              </a:rPr>
              <a:t>(2/4) -</a:t>
            </a:r>
            <a:r>
              <a:rPr sz="2000" spc="-75" dirty="0">
                <a:latin typeface="Carlito"/>
                <a:cs typeface="Carlito"/>
              </a:rPr>
              <a:t> </a:t>
            </a:r>
            <a:r>
              <a:rPr sz="2000" dirty="0">
                <a:latin typeface="Carlito"/>
                <a:cs typeface="Carlito"/>
              </a:rPr>
              <a:t>(2/4)log</a:t>
            </a:r>
            <a:r>
              <a:rPr sz="1950" baseline="-21367" dirty="0">
                <a:latin typeface="Carlito"/>
                <a:cs typeface="Carlito"/>
              </a:rPr>
              <a:t>2</a:t>
            </a:r>
            <a:r>
              <a:rPr sz="2000" dirty="0">
                <a:latin typeface="Carlito"/>
                <a:cs typeface="Carlito"/>
              </a:rPr>
              <a:t>(2/4)</a:t>
            </a:r>
          </a:p>
        </p:txBody>
      </p:sp>
      <p:graphicFrame>
        <p:nvGraphicFramePr>
          <p:cNvPr id="5" name="object 5"/>
          <p:cNvGraphicFramePr>
            <a:graphicFrameLocks noGrp="1"/>
          </p:cNvGraphicFramePr>
          <p:nvPr/>
        </p:nvGraphicFramePr>
        <p:xfrm>
          <a:off x="1109268" y="1684147"/>
          <a:ext cx="3264535" cy="1097278"/>
        </p:xfrm>
        <a:graphic>
          <a:graphicData uri="http://schemas.openxmlformats.org/drawingml/2006/table">
            <a:tbl>
              <a:tblPr firstRow="1" bandRow="1">
                <a:tableStyleId>{2D5ABB26-0587-4C30-8999-92F81FD0307C}</a:tableStyleId>
              </a:tblPr>
              <a:tblGrid>
                <a:gridCol w="815975">
                  <a:extLst>
                    <a:ext uri="{9D8B030D-6E8A-4147-A177-3AD203B41FA5}">
                      <a16:colId xmlns:a16="http://schemas.microsoft.com/office/drawing/2014/main" val="20000"/>
                    </a:ext>
                  </a:extLst>
                </a:gridCol>
                <a:gridCol w="2448560">
                  <a:extLst>
                    <a:ext uri="{9D8B030D-6E8A-4147-A177-3AD203B41FA5}">
                      <a16:colId xmlns:a16="http://schemas.microsoft.com/office/drawing/2014/main" val="20001"/>
                    </a:ext>
                  </a:extLst>
                </a:gridCol>
              </a:tblGrid>
              <a:tr h="365759">
                <a:tc>
                  <a:txBody>
                    <a:bodyPr/>
                    <a:lstStyle/>
                    <a:p>
                      <a:pPr algn="ctr">
                        <a:lnSpc>
                          <a:spcPct val="100000"/>
                        </a:lnSpc>
                        <a:spcBef>
                          <a:spcPts val="244"/>
                        </a:spcBef>
                      </a:pPr>
                      <a:r>
                        <a:rPr sz="1800" b="1" spc="-5" dirty="0">
                          <a:solidFill>
                            <a:srgbClr val="FFFFFF"/>
                          </a:solidFill>
                          <a:latin typeface="Carlito"/>
                          <a:cs typeface="Carlito"/>
                        </a:rPr>
                        <a:t>High</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4"/>
                        </a:spcBef>
                      </a:pPr>
                      <a:r>
                        <a:rPr sz="1800" b="1" spc="-5" dirty="0">
                          <a:solidFill>
                            <a:srgbClr val="FFFFFF"/>
                          </a:solidFill>
                          <a:latin typeface="Carlito"/>
                          <a:cs typeface="Carlito"/>
                        </a:rPr>
                        <a:t>Class: buys</a:t>
                      </a:r>
                      <a:r>
                        <a:rPr sz="1800" b="1" spc="-65" dirty="0">
                          <a:solidFill>
                            <a:srgbClr val="FFFFFF"/>
                          </a:solidFill>
                          <a:latin typeface="Carlito"/>
                          <a:cs typeface="Carlito"/>
                        </a:rPr>
                        <a:t> </a:t>
                      </a:r>
                      <a:r>
                        <a:rPr sz="1800" b="1" spc="-5" dirty="0">
                          <a:solidFill>
                            <a:srgbClr val="FFFFFF"/>
                          </a:solidFill>
                          <a:latin typeface="Carlito"/>
                          <a:cs typeface="Carlito"/>
                        </a:rPr>
                        <a:t>computer</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algn="ctr">
                        <a:lnSpc>
                          <a:spcPct val="100000"/>
                        </a:lnSpc>
                        <a:spcBef>
                          <a:spcPts val="244"/>
                        </a:spcBef>
                      </a:pPr>
                      <a:r>
                        <a:rPr sz="1800" spc="-45" dirty="0">
                          <a:latin typeface="Carlito"/>
                          <a:cs typeface="Carlito"/>
                        </a:rPr>
                        <a:t>Yes</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4"/>
                        </a:spcBef>
                      </a:pPr>
                      <a:r>
                        <a:rPr sz="1800" dirty="0">
                          <a:latin typeface="Carlito"/>
                          <a:cs typeface="Carlito"/>
                        </a:rPr>
                        <a:t>2</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59">
                <a:tc>
                  <a:txBody>
                    <a:bodyPr/>
                    <a:lstStyle/>
                    <a:p>
                      <a:pPr algn="ctr">
                        <a:lnSpc>
                          <a:spcPct val="100000"/>
                        </a:lnSpc>
                        <a:spcBef>
                          <a:spcPts val="245"/>
                        </a:spcBef>
                      </a:pPr>
                      <a:r>
                        <a:rPr sz="1800" dirty="0">
                          <a:latin typeface="Carlito"/>
                          <a:cs typeface="Carlito"/>
                        </a:rPr>
                        <a:t>No</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pSp>
        <p:nvGrpSpPr>
          <p:cNvPr id="6" name="object 6"/>
          <p:cNvGrpSpPr/>
          <p:nvPr/>
        </p:nvGrpSpPr>
        <p:grpSpPr>
          <a:xfrm>
            <a:off x="4623815" y="1563624"/>
            <a:ext cx="4395216" cy="3025140"/>
            <a:chOff x="4623815" y="1563624"/>
            <a:chExt cx="4395216" cy="3025140"/>
          </a:xfrm>
        </p:grpSpPr>
        <p:sp>
          <p:nvSpPr>
            <p:cNvPr id="7" name="object 7"/>
            <p:cNvSpPr/>
            <p:nvPr/>
          </p:nvSpPr>
          <p:spPr>
            <a:xfrm>
              <a:off x="4623815" y="1563624"/>
              <a:ext cx="4395216" cy="3025140"/>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5641085" y="1597914"/>
              <a:ext cx="660400" cy="2958465"/>
            </a:xfrm>
            <a:custGeom>
              <a:avLst/>
              <a:gdLst/>
              <a:ahLst/>
              <a:cxnLst/>
              <a:rect l="l" t="t" r="r" b="b"/>
              <a:pathLst>
                <a:path w="660400" h="2958465">
                  <a:moveTo>
                    <a:pt x="0" y="2958084"/>
                  </a:moveTo>
                  <a:lnTo>
                    <a:pt x="659891" y="2958084"/>
                  </a:lnTo>
                  <a:lnTo>
                    <a:pt x="659891" y="0"/>
                  </a:lnTo>
                  <a:lnTo>
                    <a:pt x="0" y="0"/>
                  </a:lnTo>
                  <a:lnTo>
                    <a:pt x="0" y="2958084"/>
                  </a:lnTo>
                  <a:close/>
                </a:path>
              </a:pathLst>
            </a:custGeom>
            <a:ln w="38100">
              <a:solidFill>
                <a:srgbClr val="385D89"/>
              </a:solidFill>
            </a:ln>
          </p:spPr>
          <p:txBody>
            <a:bodyPr wrap="square" lIns="0" tIns="0" rIns="0" bIns="0" rtlCol="0"/>
            <a:lstStyle/>
            <a:p>
              <a:endParaRPr/>
            </a:p>
          </p:txBody>
        </p:sp>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47</a:t>
            </a:fld>
            <a:endParaRPr dirty="0"/>
          </a:p>
        </p:txBody>
      </p:sp>
    </p:spTree>
    <p:extLst>
      <p:ext uri="{BB962C8B-B14F-4D97-AF65-F5344CB8AC3E}">
        <p14:creationId xmlns:p14="http://schemas.microsoft.com/office/powerpoint/2010/main" val="8091141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22957" y="385953"/>
            <a:ext cx="4498975" cy="452120"/>
          </a:xfrm>
          <a:prstGeom prst="rect">
            <a:avLst/>
          </a:prstGeom>
        </p:spPr>
        <p:txBody>
          <a:bodyPr vert="horz" wrap="square" lIns="0" tIns="12065" rIns="0" bIns="0" rtlCol="0">
            <a:spAutoFit/>
          </a:bodyPr>
          <a:lstStyle/>
          <a:p>
            <a:pPr marL="12700">
              <a:lnSpc>
                <a:spcPct val="100000"/>
              </a:lnSpc>
              <a:spcBef>
                <a:spcPts val="95"/>
              </a:spcBef>
            </a:pPr>
            <a:r>
              <a:rPr spc="-15" dirty="0"/>
              <a:t>Calculate </a:t>
            </a:r>
            <a:r>
              <a:rPr spc="-20" dirty="0"/>
              <a:t>Entropy </a:t>
            </a:r>
            <a:r>
              <a:rPr spc="-25" dirty="0"/>
              <a:t>for</a:t>
            </a:r>
            <a:r>
              <a:rPr spc="20" dirty="0"/>
              <a:t> </a:t>
            </a:r>
            <a:r>
              <a:rPr spc="-5" dirty="0"/>
              <a:t>‘medium’</a:t>
            </a:r>
          </a:p>
        </p:txBody>
      </p:sp>
      <p:sp>
        <p:nvSpPr>
          <p:cNvPr id="3" name="object 3"/>
          <p:cNvSpPr txBox="1"/>
          <p:nvPr/>
        </p:nvSpPr>
        <p:spPr>
          <a:xfrm>
            <a:off x="535940" y="1216913"/>
            <a:ext cx="1311910"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dirty="0">
                <a:latin typeface="Carlito"/>
                <a:cs typeface="Carlito"/>
              </a:rPr>
              <a:t>Me</a:t>
            </a:r>
            <a:r>
              <a:rPr sz="2000" spc="10" dirty="0">
                <a:latin typeface="Carlito"/>
                <a:cs typeface="Carlito"/>
              </a:rPr>
              <a:t>d</a:t>
            </a:r>
            <a:r>
              <a:rPr sz="2000" dirty="0">
                <a:latin typeface="Carlito"/>
                <a:cs typeface="Carlito"/>
              </a:rPr>
              <a:t>ium:</a:t>
            </a:r>
            <a:endParaRPr sz="2000">
              <a:latin typeface="Carlito"/>
              <a:cs typeface="Carlito"/>
            </a:endParaRPr>
          </a:p>
        </p:txBody>
      </p:sp>
      <p:sp>
        <p:nvSpPr>
          <p:cNvPr id="4" name="object 4"/>
          <p:cNvSpPr txBox="1"/>
          <p:nvPr/>
        </p:nvSpPr>
        <p:spPr>
          <a:xfrm>
            <a:off x="510540" y="2985871"/>
            <a:ext cx="3785870" cy="756920"/>
          </a:xfrm>
          <a:prstGeom prst="rect">
            <a:avLst/>
          </a:prstGeom>
        </p:spPr>
        <p:txBody>
          <a:bodyPr vert="horz" wrap="square" lIns="0" tIns="73660" rIns="0" bIns="0" rtlCol="0">
            <a:spAutoFit/>
          </a:bodyPr>
          <a:lstStyle/>
          <a:p>
            <a:pPr marL="381000" indent="-342900">
              <a:lnSpc>
                <a:spcPct val="100000"/>
              </a:lnSpc>
              <a:spcBef>
                <a:spcPts val="580"/>
              </a:spcBef>
              <a:buFont typeface="Arial"/>
              <a:buChar char="•"/>
              <a:tabLst>
                <a:tab pos="380365" algn="l"/>
                <a:tab pos="381000" algn="l"/>
              </a:tabLst>
            </a:pPr>
            <a:r>
              <a:rPr sz="2000" spc="-10" dirty="0">
                <a:latin typeface="Carlito"/>
                <a:cs typeface="Carlito"/>
              </a:rPr>
              <a:t>Calculate Entropy </a:t>
            </a:r>
            <a:r>
              <a:rPr sz="2000" spc="-15" dirty="0">
                <a:latin typeface="Carlito"/>
                <a:cs typeface="Carlito"/>
              </a:rPr>
              <a:t>for</a:t>
            </a:r>
            <a:r>
              <a:rPr sz="2000" spc="-20" dirty="0">
                <a:latin typeface="Carlito"/>
                <a:cs typeface="Carlito"/>
              </a:rPr>
              <a:t> </a:t>
            </a:r>
            <a:r>
              <a:rPr sz="2000" dirty="0">
                <a:latin typeface="Carlito"/>
                <a:cs typeface="Carlito"/>
              </a:rPr>
              <a:t>Medium:</a:t>
            </a:r>
          </a:p>
          <a:p>
            <a:pPr marL="438784">
              <a:lnSpc>
                <a:spcPct val="100000"/>
              </a:lnSpc>
              <a:spcBef>
                <a:spcPts val="480"/>
              </a:spcBef>
            </a:pPr>
            <a:r>
              <a:rPr sz="2000" dirty="0">
                <a:latin typeface="Carlito"/>
                <a:cs typeface="Carlito"/>
              </a:rPr>
              <a:t>= -(4/6)log</a:t>
            </a:r>
            <a:r>
              <a:rPr sz="1950" baseline="-21367" dirty="0">
                <a:latin typeface="Carlito"/>
                <a:cs typeface="Carlito"/>
              </a:rPr>
              <a:t>2</a:t>
            </a:r>
            <a:r>
              <a:rPr sz="2000" dirty="0">
                <a:latin typeface="Carlito"/>
                <a:cs typeface="Carlito"/>
              </a:rPr>
              <a:t>(4/6) -</a:t>
            </a:r>
            <a:r>
              <a:rPr sz="2000" spc="-75" dirty="0">
                <a:latin typeface="Carlito"/>
                <a:cs typeface="Carlito"/>
              </a:rPr>
              <a:t> </a:t>
            </a:r>
            <a:r>
              <a:rPr sz="2000" dirty="0">
                <a:latin typeface="Carlito"/>
                <a:cs typeface="Carlito"/>
              </a:rPr>
              <a:t>(2/6)log</a:t>
            </a:r>
            <a:r>
              <a:rPr sz="1950" baseline="-21367" dirty="0">
                <a:latin typeface="Carlito"/>
                <a:cs typeface="Carlito"/>
              </a:rPr>
              <a:t>2</a:t>
            </a:r>
            <a:r>
              <a:rPr sz="2000" dirty="0">
                <a:latin typeface="Carlito"/>
                <a:cs typeface="Carlito"/>
              </a:rPr>
              <a:t>(2/6)</a:t>
            </a:r>
          </a:p>
        </p:txBody>
      </p:sp>
      <p:graphicFrame>
        <p:nvGraphicFramePr>
          <p:cNvPr id="5" name="object 5"/>
          <p:cNvGraphicFramePr>
            <a:graphicFrameLocks noGrp="1"/>
          </p:cNvGraphicFramePr>
          <p:nvPr/>
        </p:nvGraphicFramePr>
        <p:xfrm>
          <a:off x="1397253" y="1701292"/>
          <a:ext cx="3264535" cy="1097280"/>
        </p:xfrm>
        <a:graphic>
          <a:graphicData uri="http://schemas.openxmlformats.org/drawingml/2006/table">
            <a:tbl>
              <a:tblPr firstRow="1" bandRow="1">
                <a:tableStyleId>{2D5ABB26-0587-4C30-8999-92F81FD0307C}</a:tableStyleId>
              </a:tblPr>
              <a:tblGrid>
                <a:gridCol w="1008380">
                  <a:extLst>
                    <a:ext uri="{9D8B030D-6E8A-4147-A177-3AD203B41FA5}">
                      <a16:colId xmlns:a16="http://schemas.microsoft.com/office/drawing/2014/main" val="20000"/>
                    </a:ext>
                  </a:extLst>
                </a:gridCol>
                <a:gridCol w="2256155">
                  <a:extLst>
                    <a:ext uri="{9D8B030D-6E8A-4147-A177-3AD203B41FA5}">
                      <a16:colId xmlns:a16="http://schemas.microsoft.com/office/drawing/2014/main" val="20001"/>
                    </a:ext>
                  </a:extLst>
                </a:gridCol>
              </a:tblGrid>
              <a:tr h="365760">
                <a:tc>
                  <a:txBody>
                    <a:bodyPr/>
                    <a:lstStyle/>
                    <a:p>
                      <a:pPr algn="ctr">
                        <a:lnSpc>
                          <a:spcPct val="100000"/>
                        </a:lnSpc>
                        <a:spcBef>
                          <a:spcPts val="240"/>
                        </a:spcBef>
                      </a:pPr>
                      <a:r>
                        <a:rPr sz="1800" b="1" dirty="0">
                          <a:solidFill>
                            <a:srgbClr val="FFFFFF"/>
                          </a:solidFill>
                          <a:latin typeface="Carlito"/>
                          <a:cs typeface="Carlito"/>
                        </a:rPr>
                        <a:t>Medium</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0"/>
                        </a:spcBef>
                      </a:pPr>
                      <a:r>
                        <a:rPr sz="1800" b="1" spc="-5" dirty="0">
                          <a:solidFill>
                            <a:srgbClr val="FFFFFF"/>
                          </a:solidFill>
                          <a:latin typeface="Carlito"/>
                          <a:cs typeface="Carlito"/>
                        </a:rPr>
                        <a:t>Class: buys</a:t>
                      </a:r>
                      <a:r>
                        <a:rPr sz="1800" b="1" spc="-65" dirty="0">
                          <a:solidFill>
                            <a:srgbClr val="FFFFFF"/>
                          </a:solidFill>
                          <a:latin typeface="Carlito"/>
                          <a:cs typeface="Carlito"/>
                        </a:rPr>
                        <a:t> </a:t>
                      </a:r>
                      <a:r>
                        <a:rPr sz="1800" b="1" spc="-5" dirty="0">
                          <a:solidFill>
                            <a:srgbClr val="FFFFFF"/>
                          </a:solidFill>
                          <a:latin typeface="Carlito"/>
                          <a:cs typeface="Carlito"/>
                        </a:rPr>
                        <a:t>computer</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algn="ctr">
                        <a:lnSpc>
                          <a:spcPct val="100000"/>
                        </a:lnSpc>
                        <a:spcBef>
                          <a:spcPts val="245"/>
                        </a:spcBef>
                      </a:pPr>
                      <a:r>
                        <a:rPr sz="1800" spc="-45" dirty="0">
                          <a:latin typeface="Carlito"/>
                          <a:cs typeface="Carlito"/>
                        </a:rPr>
                        <a:t>Yes</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4</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60">
                <a:tc>
                  <a:txBody>
                    <a:bodyPr/>
                    <a:lstStyle/>
                    <a:p>
                      <a:pPr algn="ctr">
                        <a:lnSpc>
                          <a:spcPct val="100000"/>
                        </a:lnSpc>
                        <a:spcBef>
                          <a:spcPts val="245"/>
                        </a:spcBef>
                      </a:pPr>
                      <a:r>
                        <a:rPr sz="1800" dirty="0">
                          <a:latin typeface="Carlito"/>
                          <a:cs typeface="Carlito"/>
                        </a:rPr>
                        <a:t>No</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48</a:t>
            </a:fld>
            <a:endParaRPr dirty="0"/>
          </a:p>
        </p:txBody>
      </p:sp>
      <p:sp>
        <p:nvSpPr>
          <p:cNvPr id="21" name="object 11">
            <a:extLst>
              <a:ext uri="{FF2B5EF4-FFF2-40B4-BE49-F238E27FC236}">
                <a16:creationId xmlns:a16="http://schemas.microsoft.com/office/drawing/2014/main" id="{C75473F8-34E4-4234-B2CA-9418378494A2}"/>
              </a:ext>
            </a:extLst>
          </p:cNvPr>
          <p:cNvSpPr/>
          <p:nvPr/>
        </p:nvSpPr>
        <p:spPr>
          <a:xfrm>
            <a:off x="4751093" y="1694581"/>
            <a:ext cx="4395216" cy="2935070"/>
          </a:xfrm>
          <a:prstGeom prst="rect">
            <a:avLst/>
          </a:prstGeom>
          <a:blipFill>
            <a:blip r:embed="rId2" cstate="print"/>
            <a:stretch>
              <a:fillRect/>
            </a:stretch>
          </a:blipFill>
        </p:spPr>
        <p:txBody>
          <a:bodyPr wrap="square" lIns="0" tIns="0" rIns="0" bIns="0" rtlCol="0"/>
          <a:lstStyle/>
          <a:p>
            <a:endParaRPr/>
          </a:p>
        </p:txBody>
      </p:sp>
      <p:sp>
        <p:nvSpPr>
          <p:cNvPr id="22" name="object 12">
            <a:extLst>
              <a:ext uri="{FF2B5EF4-FFF2-40B4-BE49-F238E27FC236}">
                <a16:creationId xmlns:a16="http://schemas.microsoft.com/office/drawing/2014/main" id="{4D13EA0F-ACF9-4421-BAA3-F2EB39A2B60D}"/>
              </a:ext>
            </a:extLst>
          </p:cNvPr>
          <p:cNvSpPr/>
          <p:nvPr/>
        </p:nvSpPr>
        <p:spPr>
          <a:xfrm>
            <a:off x="5715000" y="1758409"/>
            <a:ext cx="660400" cy="2807413"/>
          </a:xfrm>
          <a:custGeom>
            <a:avLst/>
            <a:gdLst/>
            <a:ahLst/>
            <a:cxnLst/>
            <a:rect l="l" t="t" r="r" b="b"/>
            <a:pathLst>
              <a:path w="660400" h="2958465">
                <a:moveTo>
                  <a:pt x="0" y="2958084"/>
                </a:moveTo>
                <a:lnTo>
                  <a:pt x="659891" y="2958084"/>
                </a:lnTo>
                <a:lnTo>
                  <a:pt x="659891" y="0"/>
                </a:lnTo>
                <a:lnTo>
                  <a:pt x="0" y="0"/>
                </a:lnTo>
                <a:lnTo>
                  <a:pt x="0" y="2958084"/>
                </a:lnTo>
                <a:close/>
              </a:path>
            </a:pathLst>
          </a:custGeom>
          <a:ln w="38100">
            <a:solidFill>
              <a:srgbClr val="385D89"/>
            </a:solidFill>
          </a:ln>
        </p:spPr>
        <p:txBody>
          <a:bodyPr wrap="square" lIns="0" tIns="0" rIns="0" bIns="0" rtlCol="0"/>
          <a:lstStyle/>
          <a:p>
            <a:endParaRPr/>
          </a:p>
        </p:txBody>
      </p:sp>
    </p:spTree>
    <p:extLst>
      <p:ext uri="{BB962C8B-B14F-4D97-AF65-F5344CB8AC3E}">
        <p14:creationId xmlns:p14="http://schemas.microsoft.com/office/powerpoint/2010/main" val="15419397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55189" y="385953"/>
            <a:ext cx="3833495" cy="452120"/>
          </a:xfrm>
          <a:prstGeom prst="rect">
            <a:avLst/>
          </a:prstGeom>
        </p:spPr>
        <p:txBody>
          <a:bodyPr vert="horz" wrap="square" lIns="0" tIns="12065" rIns="0" bIns="0" rtlCol="0">
            <a:spAutoFit/>
          </a:bodyPr>
          <a:lstStyle/>
          <a:p>
            <a:pPr marL="12700">
              <a:lnSpc>
                <a:spcPct val="100000"/>
              </a:lnSpc>
              <a:spcBef>
                <a:spcPts val="95"/>
              </a:spcBef>
            </a:pPr>
            <a:r>
              <a:rPr spc="-15" dirty="0"/>
              <a:t>Calculate </a:t>
            </a:r>
            <a:r>
              <a:rPr spc="-20" dirty="0"/>
              <a:t>Entropy </a:t>
            </a:r>
            <a:r>
              <a:rPr spc="-25" dirty="0"/>
              <a:t>for</a:t>
            </a:r>
            <a:r>
              <a:rPr spc="10" dirty="0"/>
              <a:t> ‘low’</a:t>
            </a:r>
          </a:p>
        </p:txBody>
      </p:sp>
      <p:sp>
        <p:nvSpPr>
          <p:cNvPr id="3" name="object 3"/>
          <p:cNvSpPr txBox="1"/>
          <p:nvPr/>
        </p:nvSpPr>
        <p:spPr>
          <a:xfrm>
            <a:off x="535940" y="1216913"/>
            <a:ext cx="914400"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5" dirty="0">
                <a:latin typeface="Carlito"/>
                <a:cs typeface="Carlito"/>
              </a:rPr>
              <a:t>Low</a:t>
            </a:r>
            <a:r>
              <a:rPr sz="2000" spc="-95" dirty="0">
                <a:latin typeface="Carlito"/>
                <a:cs typeface="Carlito"/>
              </a:rPr>
              <a:t> </a:t>
            </a:r>
            <a:r>
              <a:rPr sz="2000" dirty="0">
                <a:latin typeface="Carlito"/>
                <a:cs typeface="Carlito"/>
              </a:rPr>
              <a:t>:</a:t>
            </a:r>
            <a:endParaRPr sz="2000">
              <a:latin typeface="Carlito"/>
              <a:cs typeface="Carlito"/>
            </a:endParaRPr>
          </a:p>
        </p:txBody>
      </p:sp>
      <p:sp>
        <p:nvSpPr>
          <p:cNvPr id="4" name="object 4"/>
          <p:cNvSpPr txBox="1"/>
          <p:nvPr/>
        </p:nvSpPr>
        <p:spPr>
          <a:xfrm>
            <a:off x="510540" y="2985871"/>
            <a:ext cx="3786504" cy="756920"/>
          </a:xfrm>
          <a:prstGeom prst="rect">
            <a:avLst/>
          </a:prstGeom>
        </p:spPr>
        <p:txBody>
          <a:bodyPr vert="horz" wrap="square" lIns="0" tIns="73660" rIns="0" bIns="0" rtlCol="0">
            <a:spAutoFit/>
          </a:bodyPr>
          <a:lstStyle/>
          <a:p>
            <a:pPr marL="381000" indent="-342900">
              <a:lnSpc>
                <a:spcPct val="100000"/>
              </a:lnSpc>
              <a:spcBef>
                <a:spcPts val="580"/>
              </a:spcBef>
              <a:buFont typeface="Arial"/>
              <a:buChar char="•"/>
              <a:tabLst>
                <a:tab pos="380365" algn="l"/>
                <a:tab pos="381000" algn="l"/>
              </a:tabLst>
            </a:pPr>
            <a:r>
              <a:rPr sz="2000" spc="-10" dirty="0">
                <a:latin typeface="Carlito"/>
                <a:cs typeface="Carlito"/>
              </a:rPr>
              <a:t>Calculate Entropy </a:t>
            </a:r>
            <a:r>
              <a:rPr sz="2000" spc="-15" dirty="0">
                <a:latin typeface="Carlito"/>
                <a:cs typeface="Carlito"/>
              </a:rPr>
              <a:t>for</a:t>
            </a:r>
            <a:r>
              <a:rPr sz="2000" spc="-20" dirty="0">
                <a:latin typeface="Carlito"/>
                <a:cs typeface="Carlito"/>
              </a:rPr>
              <a:t> </a:t>
            </a:r>
            <a:r>
              <a:rPr sz="2000" spc="-5" dirty="0">
                <a:latin typeface="Carlito"/>
                <a:cs typeface="Carlito"/>
              </a:rPr>
              <a:t>Low:</a:t>
            </a:r>
            <a:endParaRPr sz="2000">
              <a:latin typeface="Carlito"/>
              <a:cs typeface="Carlito"/>
            </a:endParaRPr>
          </a:p>
          <a:p>
            <a:pPr marL="438784">
              <a:lnSpc>
                <a:spcPct val="100000"/>
              </a:lnSpc>
              <a:spcBef>
                <a:spcPts val="480"/>
              </a:spcBef>
            </a:pPr>
            <a:r>
              <a:rPr sz="2000" dirty="0">
                <a:latin typeface="Carlito"/>
                <a:cs typeface="Carlito"/>
              </a:rPr>
              <a:t>= -(1/4)log</a:t>
            </a:r>
            <a:r>
              <a:rPr sz="1950" baseline="-21367" dirty="0">
                <a:latin typeface="Carlito"/>
                <a:cs typeface="Carlito"/>
              </a:rPr>
              <a:t>2</a:t>
            </a:r>
            <a:r>
              <a:rPr sz="2000" dirty="0">
                <a:latin typeface="Carlito"/>
                <a:cs typeface="Carlito"/>
              </a:rPr>
              <a:t>(1/4) -</a:t>
            </a:r>
            <a:r>
              <a:rPr sz="2000" spc="-70" dirty="0">
                <a:latin typeface="Carlito"/>
                <a:cs typeface="Carlito"/>
              </a:rPr>
              <a:t> </a:t>
            </a:r>
            <a:r>
              <a:rPr sz="2000" dirty="0">
                <a:latin typeface="Carlito"/>
                <a:cs typeface="Carlito"/>
              </a:rPr>
              <a:t>(3/4)log</a:t>
            </a:r>
            <a:r>
              <a:rPr sz="1950" baseline="-21367" dirty="0">
                <a:latin typeface="Carlito"/>
                <a:cs typeface="Carlito"/>
              </a:rPr>
              <a:t>2</a:t>
            </a:r>
            <a:r>
              <a:rPr sz="2000" dirty="0">
                <a:latin typeface="Carlito"/>
                <a:cs typeface="Carlito"/>
              </a:rPr>
              <a:t>(3/4)</a:t>
            </a:r>
            <a:endParaRPr sz="2000">
              <a:latin typeface="Carlito"/>
              <a:cs typeface="Carlito"/>
            </a:endParaRPr>
          </a:p>
        </p:txBody>
      </p:sp>
      <p:grpSp>
        <p:nvGrpSpPr>
          <p:cNvPr id="5" name="object 5"/>
          <p:cNvGrpSpPr/>
          <p:nvPr/>
        </p:nvGrpSpPr>
        <p:grpSpPr>
          <a:xfrm>
            <a:off x="2363470" y="1707642"/>
            <a:ext cx="2448560" cy="1097280"/>
            <a:chOff x="2363470" y="1707642"/>
            <a:chExt cx="2448560" cy="1097280"/>
          </a:xfrm>
        </p:grpSpPr>
        <p:sp>
          <p:nvSpPr>
            <p:cNvPr id="6" name="object 6"/>
            <p:cNvSpPr/>
            <p:nvPr/>
          </p:nvSpPr>
          <p:spPr>
            <a:xfrm>
              <a:off x="2363470" y="1707642"/>
              <a:ext cx="2448560" cy="365760"/>
            </a:xfrm>
            <a:custGeom>
              <a:avLst/>
              <a:gdLst/>
              <a:ahLst/>
              <a:cxnLst/>
              <a:rect l="l" t="t" r="r" b="b"/>
              <a:pathLst>
                <a:path w="2448560" h="365760">
                  <a:moveTo>
                    <a:pt x="2448306" y="0"/>
                  </a:moveTo>
                  <a:lnTo>
                    <a:pt x="0" y="0"/>
                  </a:lnTo>
                  <a:lnTo>
                    <a:pt x="0" y="365760"/>
                  </a:lnTo>
                  <a:lnTo>
                    <a:pt x="2448306" y="365760"/>
                  </a:lnTo>
                  <a:lnTo>
                    <a:pt x="2448306" y="0"/>
                  </a:lnTo>
                  <a:close/>
                </a:path>
              </a:pathLst>
            </a:custGeom>
            <a:solidFill>
              <a:srgbClr val="4F81BC"/>
            </a:solidFill>
          </p:spPr>
          <p:txBody>
            <a:bodyPr wrap="square" lIns="0" tIns="0" rIns="0" bIns="0" rtlCol="0"/>
            <a:lstStyle/>
            <a:p>
              <a:endParaRPr/>
            </a:p>
          </p:txBody>
        </p:sp>
        <p:sp>
          <p:nvSpPr>
            <p:cNvPr id="7" name="object 7"/>
            <p:cNvSpPr/>
            <p:nvPr/>
          </p:nvSpPr>
          <p:spPr>
            <a:xfrm>
              <a:off x="2363470" y="2073402"/>
              <a:ext cx="2448560" cy="365760"/>
            </a:xfrm>
            <a:custGeom>
              <a:avLst/>
              <a:gdLst/>
              <a:ahLst/>
              <a:cxnLst/>
              <a:rect l="l" t="t" r="r" b="b"/>
              <a:pathLst>
                <a:path w="2448560" h="365760">
                  <a:moveTo>
                    <a:pt x="2448306" y="0"/>
                  </a:moveTo>
                  <a:lnTo>
                    <a:pt x="0" y="0"/>
                  </a:lnTo>
                  <a:lnTo>
                    <a:pt x="0" y="365760"/>
                  </a:lnTo>
                  <a:lnTo>
                    <a:pt x="2448306" y="365760"/>
                  </a:lnTo>
                  <a:lnTo>
                    <a:pt x="2448306" y="0"/>
                  </a:lnTo>
                  <a:close/>
                </a:path>
              </a:pathLst>
            </a:custGeom>
            <a:solidFill>
              <a:srgbClr val="D0D7E8"/>
            </a:solidFill>
          </p:spPr>
          <p:txBody>
            <a:bodyPr wrap="square" lIns="0" tIns="0" rIns="0" bIns="0" rtlCol="0"/>
            <a:lstStyle/>
            <a:p>
              <a:endParaRPr/>
            </a:p>
          </p:txBody>
        </p:sp>
        <p:sp>
          <p:nvSpPr>
            <p:cNvPr id="8" name="object 8"/>
            <p:cNvSpPr/>
            <p:nvPr/>
          </p:nvSpPr>
          <p:spPr>
            <a:xfrm>
              <a:off x="2363470" y="2439162"/>
              <a:ext cx="2448560" cy="365760"/>
            </a:xfrm>
            <a:custGeom>
              <a:avLst/>
              <a:gdLst/>
              <a:ahLst/>
              <a:cxnLst/>
              <a:rect l="l" t="t" r="r" b="b"/>
              <a:pathLst>
                <a:path w="2448560" h="365760">
                  <a:moveTo>
                    <a:pt x="2448306" y="0"/>
                  </a:moveTo>
                  <a:lnTo>
                    <a:pt x="0" y="0"/>
                  </a:lnTo>
                  <a:lnTo>
                    <a:pt x="0" y="365760"/>
                  </a:lnTo>
                  <a:lnTo>
                    <a:pt x="2448306" y="365760"/>
                  </a:lnTo>
                  <a:lnTo>
                    <a:pt x="2448306" y="0"/>
                  </a:lnTo>
                  <a:close/>
                </a:path>
              </a:pathLst>
            </a:custGeom>
            <a:solidFill>
              <a:srgbClr val="E9ECF4"/>
            </a:solidFill>
          </p:spPr>
          <p:txBody>
            <a:bodyPr wrap="square" lIns="0" tIns="0" rIns="0" bIns="0" rtlCol="0"/>
            <a:lstStyle/>
            <a:p>
              <a:endParaRPr/>
            </a:p>
          </p:txBody>
        </p:sp>
      </p:grpSp>
      <p:graphicFrame>
        <p:nvGraphicFramePr>
          <p:cNvPr id="9" name="object 9"/>
          <p:cNvGraphicFramePr>
            <a:graphicFrameLocks noGrp="1"/>
          </p:cNvGraphicFramePr>
          <p:nvPr/>
        </p:nvGraphicFramePr>
        <p:xfrm>
          <a:off x="1541272" y="1701292"/>
          <a:ext cx="3264535" cy="1097280"/>
        </p:xfrm>
        <a:graphic>
          <a:graphicData uri="http://schemas.openxmlformats.org/drawingml/2006/table">
            <a:tbl>
              <a:tblPr firstRow="1" bandRow="1">
                <a:tableStyleId>{2D5ABB26-0587-4C30-8999-92F81FD0307C}</a:tableStyleId>
              </a:tblPr>
              <a:tblGrid>
                <a:gridCol w="815975">
                  <a:extLst>
                    <a:ext uri="{9D8B030D-6E8A-4147-A177-3AD203B41FA5}">
                      <a16:colId xmlns:a16="http://schemas.microsoft.com/office/drawing/2014/main" val="20000"/>
                    </a:ext>
                  </a:extLst>
                </a:gridCol>
                <a:gridCol w="2448560">
                  <a:extLst>
                    <a:ext uri="{9D8B030D-6E8A-4147-A177-3AD203B41FA5}">
                      <a16:colId xmlns:a16="http://schemas.microsoft.com/office/drawing/2014/main" val="20001"/>
                    </a:ext>
                  </a:extLst>
                </a:gridCol>
              </a:tblGrid>
              <a:tr h="365760">
                <a:tc>
                  <a:txBody>
                    <a:bodyPr/>
                    <a:lstStyle/>
                    <a:p>
                      <a:pPr algn="ctr">
                        <a:lnSpc>
                          <a:spcPct val="100000"/>
                        </a:lnSpc>
                        <a:spcBef>
                          <a:spcPts val="240"/>
                        </a:spcBef>
                      </a:pPr>
                      <a:r>
                        <a:rPr sz="1800" b="1" spc="-5" dirty="0">
                          <a:solidFill>
                            <a:srgbClr val="FFFFFF"/>
                          </a:solidFill>
                          <a:latin typeface="Carlito"/>
                          <a:cs typeface="Carlito"/>
                        </a:rPr>
                        <a:t>Low</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0"/>
                        </a:spcBef>
                      </a:pPr>
                      <a:r>
                        <a:rPr sz="1800" b="1" spc="-5" dirty="0">
                          <a:solidFill>
                            <a:srgbClr val="FFFFFF"/>
                          </a:solidFill>
                          <a:latin typeface="Carlito"/>
                          <a:cs typeface="Carlito"/>
                        </a:rPr>
                        <a:t>Class: buys</a:t>
                      </a:r>
                      <a:r>
                        <a:rPr sz="1800" b="1" spc="-60" dirty="0">
                          <a:solidFill>
                            <a:srgbClr val="FFFFFF"/>
                          </a:solidFill>
                          <a:latin typeface="Carlito"/>
                          <a:cs typeface="Carlito"/>
                        </a:rPr>
                        <a:t> </a:t>
                      </a:r>
                      <a:r>
                        <a:rPr sz="1800" b="1" spc="-5" dirty="0">
                          <a:solidFill>
                            <a:srgbClr val="FFFFFF"/>
                          </a:solidFill>
                          <a:latin typeface="Carlito"/>
                          <a:cs typeface="Carlito"/>
                        </a:rPr>
                        <a:t>computer</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tcPr>
                </a:tc>
                <a:extLst>
                  <a:ext uri="{0D108BD9-81ED-4DB2-BD59-A6C34878D82A}">
                    <a16:rowId xmlns:a16="http://schemas.microsoft.com/office/drawing/2014/main" val="10000"/>
                  </a:ext>
                </a:extLst>
              </a:tr>
              <a:tr h="365760">
                <a:tc>
                  <a:txBody>
                    <a:bodyPr/>
                    <a:lstStyle/>
                    <a:p>
                      <a:pPr algn="ctr">
                        <a:lnSpc>
                          <a:spcPct val="100000"/>
                        </a:lnSpc>
                        <a:spcBef>
                          <a:spcPts val="245"/>
                        </a:spcBef>
                      </a:pPr>
                      <a:r>
                        <a:rPr sz="1800" dirty="0">
                          <a:latin typeface="Carlito"/>
                          <a:cs typeface="Carlito"/>
                        </a:rPr>
                        <a:t>No</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tcPr>
                </a:tc>
                <a:extLst>
                  <a:ext uri="{0D108BD9-81ED-4DB2-BD59-A6C34878D82A}">
                    <a16:rowId xmlns:a16="http://schemas.microsoft.com/office/drawing/2014/main" val="10001"/>
                  </a:ext>
                </a:extLst>
              </a:tr>
              <a:tr h="365760">
                <a:tc>
                  <a:txBody>
                    <a:bodyPr/>
                    <a:lstStyle/>
                    <a:p>
                      <a:pPr algn="ctr">
                        <a:lnSpc>
                          <a:spcPct val="100000"/>
                        </a:lnSpc>
                        <a:spcBef>
                          <a:spcPts val="245"/>
                        </a:spcBef>
                      </a:pPr>
                      <a:r>
                        <a:rPr sz="1800" spc="-45" dirty="0">
                          <a:latin typeface="Carlito"/>
                          <a:cs typeface="Carlito"/>
                        </a:rPr>
                        <a:t>Yes</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3</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tcPr>
                </a:tc>
                <a:extLst>
                  <a:ext uri="{0D108BD9-81ED-4DB2-BD59-A6C34878D82A}">
                    <a16:rowId xmlns:a16="http://schemas.microsoft.com/office/drawing/2014/main" val="10002"/>
                  </a:ext>
                </a:extLst>
              </a:tr>
            </a:tbl>
          </a:graphicData>
        </a:graphic>
      </p:graphicFrame>
      <p:sp>
        <p:nvSpPr>
          <p:cNvPr id="11" name="object 11"/>
          <p:cNvSpPr/>
          <p:nvPr/>
        </p:nvSpPr>
        <p:spPr>
          <a:xfrm>
            <a:off x="4760329" y="2062708"/>
            <a:ext cx="4395216" cy="2935070"/>
          </a:xfrm>
          <a:prstGeom prst="rect">
            <a:avLst/>
          </a:prstGeom>
          <a:blipFill>
            <a:blip r:embed="rId3" cstate="print"/>
            <a:stretch>
              <a:fillRect/>
            </a:stretch>
          </a:blipFill>
        </p:spPr>
        <p:txBody>
          <a:bodyPr wrap="square" lIns="0" tIns="0" rIns="0" bIns="0" rtlCol="0"/>
          <a:lstStyle/>
          <a:p>
            <a:endParaRPr/>
          </a:p>
        </p:txBody>
      </p:sp>
      <p:sp>
        <p:nvSpPr>
          <p:cNvPr id="22" name="object 2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49</a:t>
            </a:fld>
            <a:endParaRPr dirty="0"/>
          </a:p>
        </p:txBody>
      </p:sp>
      <p:sp>
        <p:nvSpPr>
          <p:cNvPr id="23" name="object 12">
            <a:extLst>
              <a:ext uri="{FF2B5EF4-FFF2-40B4-BE49-F238E27FC236}">
                <a16:creationId xmlns:a16="http://schemas.microsoft.com/office/drawing/2014/main" id="{3E6A98D7-B9AF-4897-A382-EAAE1B2D56C9}"/>
              </a:ext>
            </a:extLst>
          </p:cNvPr>
          <p:cNvSpPr/>
          <p:nvPr/>
        </p:nvSpPr>
        <p:spPr>
          <a:xfrm>
            <a:off x="5835211" y="2111842"/>
            <a:ext cx="660400" cy="2807413"/>
          </a:xfrm>
          <a:custGeom>
            <a:avLst/>
            <a:gdLst/>
            <a:ahLst/>
            <a:cxnLst/>
            <a:rect l="l" t="t" r="r" b="b"/>
            <a:pathLst>
              <a:path w="660400" h="2958465">
                <a:moveTo>
                  <a:pt x="0" y="2958084"/>
                </a:moveTo>
                <a:lnTo>
                  <a:pt x="659891" y="2958084"/>
                </a:lnTo>
                <a:lnTo>
                  <a:pt x="659891" y="0"/>
                </a:lnTo>
                <a:lnTo>
                  <a:pt x="0" y="0"/>
                </a:lnTo>
                <a:lnTo>
                  <a:pt x="0" y="2958084"/>
                </a:lnTo>
                <a:close/>
              </a:path>
            </a:pathLst>
          </a:custGeom>
          <a:ln w="38100">
            <a:solidFill>
              <a:srgbClr val="385D89"/>
            </a:solidFill>
          </a:ln>
        </p:spPr>
        <p:txBody>
          <a:bodyPr wrap="square" lIns="0" tIns="0" rIns="0" bIns="0" rtlCol="0"/>
          <a:lstStyle/>
          <a:p>
            <a:endParaRPr/>
          </a:p>
        </p:txBody>
      </p:sp>
    </p:spTree>
    <p:extLst>
      <p:ext uri="{BB962C8B-B14F-4D97-AF65-F5344CB8AC3E}">
        <p14:creationId xmlns:p14="http://schemas.microsoft.com/office/powerpoint/2010/main" val="37075155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9385" y="385953"/>
            <a:ext cx="2206625" cy="452120"/>
          </a:xfrm>
          <a:prstGeom prst="rect">
            <a:avLst/>
          </a:prstGeom>
        </p:spPr>
        <p:txBody>
          <a:bodyPr vert="horz" wrap="square" lIns="0" tIns="12065" rIns="0" bIns="0" rtlCol="0">
            <a:spAutoFit/>
          </a:bodyPr>
          <a:lstStyle/>
          <a:p>
            <a:pPr marL="12700">
              <a:lnSpc>
                <a:spcPct val="100000"/>
              </a:lnSpc>
              <a:spcBef>
                <a:spcPts val="95"/>
              </a:spcBef>
            </a:pPr>
            <a:r>
              <a:rPr spc="-5" dirty="0"/>
              <a:t>Gain of</a:t>
            </a:r>
            <a:r>
              <a:rPr spc="-80" dirty="0"/>
              <a:t> </a:t>
            </a:r>
            <a:r>
              <a:rPr spc="-10" dirty="0"/>
              <a:t>income</a:t>
            </a:r>
          </a:p>
        </p:txBody>
      </p:sp>
      <p:sp>
        <p:nvSpPr>
          <p:cNvPr id="3" name="object 3"/>
          <p:cNvSpPr txBox="1"/>
          <p:nvPr/>
        </p:nvSpPr>
        <p:spPr>
          <a:xfrm>
            <a:off x="497840" y="1216913"/>
            <a:ext cx="7955280" cy="2830830"/>
          </a:xfrm>
          <a:prstGeom prst="rect">
            <a:avLst/>
          </a:prstGeom>
        </p:spPr>
        <p:txBody>
          <a:bodyPr vert="horz" wrap="square" lIns="0" tIns="13335" rIns="0" bIns="0" rtlCol="0">
            <a:spAutoFit/>
          </a:bodyPr>
          <a:lstStyle/>
          <a:p>
            <a:pPr marL="393700" marR="55880" indent="-342900">
              <a:lnSpc>
                <a:spcPct val="100000"/>
              </a:lnSpc>
              <a:spcBef>
                <a:spcPts val="105"/>
              </a:spcBef>
              <a:buFont typeface="Arial"/>
              <a:buChar char="•"/>
              <a:tabLst>
                <a:tab pos="393065" algn="l"/>
                <a:tab pos="393700" algn="l"/>
              </a:tabLst>
            </a:pPr>
            <a:r>
              <a:rPr sz="2000" spc="-5" dirty="0">
                <a:latin typeface="Carlito"/>
                <a:cs typeface="Carlito"/>
              </a:rPr>
              <a:t>The </a:t>
            </a:r>
            <a:r>
              <a:rPr sz="2000" spc="-10" dirty="0">
                <a:latin typeface="Carlito"/>
                <a:cs typeface="Carlito"/>
              </a:rPr>
              <a:t>expected information </a:t>
            </a:r>
            <a:r>
              <a:rPr sz="2000" dirty="0">
                <a:latin typeface="Carlito"/>
                <a:cs typeface="Carlito"/>
              </a:rPr>
              <a:t>needed </a:t>
            </a:r>
            <a:r>
              <a:rPr sz="2000" spc="-15" dirty="0">
                <a:latin typeface="Carlito"/>
                <a:cs typeface="Carlito"/>
              </a:rPr>
              <a:t>to </a:t>
            </a:r>
            <a:r>
              <a:rPr sz="2000" spc="-5" dirty="0">
                <a:latin typeface="Carlito"/>
                <a:cs typeface="Carlito"/>
              </a:rPr>
              <a:t>classify </a:t>
            </a:r>
            <a:r>
              <a:rPr sz="2000" dirty="0">
                <a:latin typeface="Carlito"/>
                <a:cs typeface="Carlito"/>
              </a:rPr>
              <a:t>a tuple in D if the tuples </a:t>
            </a:r>
            <a:r>
              <a:rPr sz="2000" spc="-10" dirty="0">
                <a:latin typeface="Carlito"/>
                <a:cs typeface="Carlito"/>
              </a:rPr>
              <a:t>are  </a:t>
            </a:r>
            <a:r>
              <a:rPr sz="2000" dirty="0">
                <a:latin typeface="Carlito"/>
                <a:cs typeface="Carlito"/>
              </a:rPr>
              <a:t>partitioned </a:t>
            </a:r>
            <a:r>
              <a:rPr sz="2000" spc="-5" dirty="0">
                <a:latin typeface="Carlito"/>
                <a:cs typeface="Carlito"/>
              </a:rPr>
              <a:t>according </a:t>
            </a:r>
            <a:r>
              <a:rPr sz="2000" spc="-15" dirty="0">
                <a:latin typeface="Carlito"/>
                <a:cs typeface="Carlito"/>
              </a:rPr>
              <a:t>to </a:t>
            </a:r>
            <a:r>
              <a:rPr sz="2000" spc="-5" dirty="0">
                <a:latin typeface="Carlito"/>
                <a:cs typeface="Carlito"/>
              </a:rPr>
              <a:t>income</a:t>
            </a:r>
            <a:r>
              <a:rPr sz="2000" spc="-30" dirty="0">
                <a:latin typeface="Carlito"/>
                <a:cs typeface="Carlito"/>
              </a:rPr>
              <a:t> </a:t>
            </a:r>
            <a:r>
              <a:rPr sz="2000" spc="-5" dirty="0">
                <a:latin typeface="Carlito"/>
                <a:cs typeface="Carlito"/>
              </a:rPr>
              <a:t>is:</a:t>
            </a:r>
            <a:endParaRPr sz="2000" dirty="0">
              <a:latin typeface="Carlito"/>
              <a:cs typeface="Carlito"/>
            </a:endParaRPr>
          </a:p>
          <a:p>
            <a:pPr marL="342265" marR="1816100" indent="-342265" algn="r">
              <a:lnSpc>
                <a:spcPct val="100000"/>
              </a:lnSpc>
              <a:spcBef>
                <a:spcPts val="480"/>
              </a:spcBef>
              <a:buFont typeface="Arial"/>
              <a:buChar char="•"/>
              <a:tabLst>
                <a:tab pos="342265" algn="l"/>
                <a:tab pos="342900" algn="l"/>
              </a:tabLst>
            </a:pPr>
            <a:r>
              <a:rPr sz="2000" spc="-15" dirty="0">
                <a:latin typeface="Carlito"/>
                <a:cs typeface="Carlito"/>
              </a:rPr>
              <a:t>Info </a:t>
            </a:r>
            <a:r>
              <a:rPr sz="1950" spc="15" baseline="-21367" dirty="0">
                <a:latin typeface="Carlito"/>
                <a:cs typeface="Carlito"/>
              </a:rPr>
              <a:t>income </a:t>
            </a:r>
            <a:r>
              <a:rPr sz="2000" dirty="0">
                <a:latin typeface="Carlito"/>
                <a:cs typeface="Carlito"/>
              </a:rPr>
              <a:t>(D) = (4/14) ( -(2/4)log</a:t>
            </a:r>
            <a:r>
              <a:rPr sz="1950" baseline="-21367" dirty="0">
                <a:latin typeface="Carlito"/>
                <a:cs typeface="Carlito"/>
              </a:rPr>
              <a:t>2</a:t>
            </a:r>
            <a:r>
              <a:rPr sz="2000" dirty="0">
                <a:latin typeface="Carlito"/>
                <a:cs typeface="Carlito"/>
              </a:rPr>
              <a:t>(2/4) - (2/4)log</a:t>
            </a:r>
            <a:r>
              <a:rPr sz="1950" baseline="-21367" dirty="0">
                <a:latin typeface="Carlito"/>
                <a:cs typeface="Carlito"/>
              </a:rPr>
              <a:t>2</a:t>
            </a:r>
            <a:r>
              <a:rPr sz="2000" dirty="0">
                <a:latin typeface="Carlito"/>
                <a:cs typeface="Carlito"/>
              </a:rPr>
              <a:t>(2/4))</a:t>
            </a:r>
            <a:r>
              <a:rPr sz="2000" spc="-254" dirty="0">
                <a:latin typeface="Carlito"/>
                <a:cs typeface="Carlito"/>
              </a:rPr>
              <a:t> </a:t>
            </a:r>
            <a:r>
              <a:rPr sz="2000" dirty="0">
                <a:latin typeface="Carlito"/>
                <a:cs typeface="Carlito"/>
              </a:rPr>
              <a:t>+</a:t>
            </a:r>
          </a:p>
          <a:p>
            <a:pPr marR="1864995" algn="r">
              <a:lnSpc>
                <a:spcPct val="100000"/>
              </a:lnSpc>
              <a:spcBef>
                <a:spcPts val="480"/>
              </a:spcBef>
            </a:pPr>
            <a:r>
              <a:rPr sz="2000" dirty="0">
                <a:latin typeface="Carlito"/>
                <a:cs typeface="Carlito"/>
              </a:rPr>
              <a:t>(6/14) ( -(4/6)log</a:t>
            </a:r>
            <a:r>
              <a:rPr sz="1950" baseline="-21367" dirty="0">
                <a:latin typeface="Carlito"/>
                <a:cs typeface="Carlito"/>
              </a:rPr>
              <a:t>2</a:t>
            </a:r>
            <a:r>
              <a:rPr sz="2000" dirty="0">
                <a:latin typeface="Carlito"/>
                <a:cs typeface="Carlito"/>
              </a:rPr>
              <a:t>(4/6) - (2/6)log</a:t>
            </a:r>
            <a:r>
              <a:rPr sz="1950" baseline="-21367" dirty="0">
                <a:latin typeface="Carlito"/>
                <a:cs typeface="Carlito"/>
              </a:rPr>
              <a:t>2</a:t>
            </a:r>
            <a:r>
              <a:rPr sz="2000" dirty="0">
                <a:latin typeface="Carlito"/>
                <a:cs typeface="Carlito"/>
              </a:rPr>
              <a:t>(2/6))</a:t>
            </a:r>
            <a:r>
              <a:rPr sz="2000" spc="-95" dirty="0">
                <a:latin typeface="Carlito"/>
                <a:cs typeface="Carlito"/>
              </a:rPr>
              <a:t> </a:t>
            </a:r>
            <a:r>
              <a:rPr sz="2000" dirty="0">
                <a:latin typeface="Carlito"/>
                <a:cs typeface="Carlito"/>
              </a:rPr>
              <a:t>+</a:t>
            </a:r>
          </a:p>
          <a:p>
            <a:pPr marL="1879600">
              <a:lnSpc>
                <a:spcPct val="100000"/>
              </a:lnSpc>
              <a:spcBef>
                <a:spcPts val="480"/>
              </a:spcBef>
            </a:pPr>
            <a:r>
              <a:rPr sz="2000" dirty="0">
                <a:latin typeface="Carlito"/>
                <a:cs typeface="Carlito"/>
              </a:rPr>
              <a:t>(4/14) -(1/4)log</a:t>
            </a:r>
            <a:r>
              <a:rPr sz="1950" baseline="-21367" dirty="0">
                <a:latin typeface="Carlito"/>
                <a:cs typeface="Carlito"/>
              </a:rPr>
              <a:t>2</a:t>
            </a:r>
            <a:r>
              <a:rPr sz="2000" dirty="0">
                <a:latin typeface="Carlito"/>
                <a:cs typeface="Carlito"/>
              </a:rPr>
              <a:t>(1/4) -</a:t>
            </a:r>
            <a:r>
              <a:rPr sz="2000" spc="-55" dirty="0">
                <a:latin typeface="Carlito"/>
                <a:cs typeface="Carlito"/>
              </a:rPr>
              <a:t> </a:t>
            </a:r>
            <a:r>
              <a:rPr sz="2000" dirty="0">
                <a:latin typeface="Carlito"/>
                <a:cs typeface="Carlito"/>
              </a:rPr>
              <a:t>(3/4)log</a:t>
            </a:r>
            <a:r>
              <a:rPr sz="1950" baseline="-21367" dirty="0">
                <a:latin typeface="Carlito"/>
                <a:cs typeface="Carlito"/>
              </a:rPr>
              <a:t>2</a:t>
            </a:r>
            <a:r>
              <a:rPr sz="2000" dirty="0">
                <a:latin typeface="Carlito"/>
                <a:cs typeface="Carlito"/>
              </a:rPr>
              <a:t>(3/4)</a:t>
            </a:r>
          </a:p>
          <a:p>
            <a:pPr marL="1879600">
              <a:lnSpc>
                <a:spcPct val="100000"/>
              </a:lnSpc>
              <a:spcBef>
                <a:spcPts val="480"/>
              </a:spcBef>
            </a:pPr>
            <a:r>
              <a:rPr sz="2000" dirty="0">
                <a:latin typeface="Carlito"/>
                <a:cs typeface="Carlito"/>
              </a:rPr>
              <a:t>=</a:t>
            </a:r>
            <a:r>
              <a:rPr sz="2000" spc="-5" dirty="0">
                <a:latin typeface="Carlito"/>
                <a:cs typeface="Carlito"/>
              </a:rPr>
              <a:t> </a:t>
            </a:r>
            <a:r>
              <a:rPr sz="2000" dirty="0">
                <a:latin typeface="Carlito"/>
                <a:cs typeface="Carlito"/>
              </a:rPr>
              <a:t>0.911</a:t>
            </a:r>
          </a:p>
          <a:p>
            <a:pPr marR="3837940" algn="r">
              <a:lnSpc>
                <a:spcPct val="100000"/>
              </a:lnSpc>
              <a:spcBef>
                <a:spcPts val="480"/>
              </a:spcBef>
            </a:pPr>
            <a:r>
              <a:rPr sz="2000" spc="-5" dirty="0">
                <a:latin typeface="Carlito"/>
                <a:cs typeface="Carlito"/>
              </a:rPr>
              <a:t>Gain of income </a:t>
            </a:r>
            <a:r>
              <a:rPr sz="2000" dirty="0">
                <a:latin typeface="Carlito"/>
                <a:cs typeface="Carlito"/>
              </a:rPr>
              <a:t>: </a:t>
            </a:r>
            <a:r>
              <a:rPr sz="2000" spc="-10" dirty="0">
                <a:latin typeface="Carlito"/>
                <a:cs typeface="Carlito"/>
              </a:rPr>
              <a:t>Info(D) </a:t>
            </a:r>
            <a:r>
              <a:rPr sz="2000" dirty="0">
                <a:latin typeface="Carlito"/>
                <a:cs typeface="Carlito"/>
              </a:rPr>
              <a:t>- </a:t>
            </a:r>
            <a:r>
              <a:rPr sz="2000" spc="-15" dirty="0">
                <a:latin typeface="Carlito"/>
                <a:cs typeface="Carlito"/>
              </a:rPr>
              <a:t>Info </a:t>
            </a:r>
            <a:r>
              <a:rPr sz="1950" spc="15" baseline="-21367" dirty="0">
                <a:latin typeface="Carlito"/>
                <a:cs typeface="Carlito"/>
              </a:rPr>
              <a:t>income</a:t>
            </a:r>
            <a:r>
              <a:rPr sz="1950" spc="-292" baseline="-21367" dirty="0">
                <a:latin typeface="Carlito"/>
                <a:cs typeface="Carlito"/>
              </a:rPr>
              <a:t> </a:t>
            </a:r>
            <a:r>
              <a:rPr sz="2000" dirty="0">
                <a:latin typeface="Carlito"/>
                <a:cs typeface="Carlito"/>
              </a:rPr>
              <a:t>(D)</a:t>
            </a:r>
          </a:p>
          <a:p>
            <a:pPr marR="3794125" algn="r">
              <a:lnSpc>
                <a:spcPct val="100000"/>
              </a:lnSpc>
              <a:spcBef>
                <a:spcPts val="480"/>
              </a:spcBef>
            </a:pPr>
            <a:r>
              <a:rPr sz="2000" dirty="0">
                <a:latin typeface="Carlito"/>
                <a:cs typeface="Carlito"/>
              </a:rPr>
              <a:t>= 0.94 – 0.911 =</a:t>
            </a:r>
            <a:r>
              <a:rPr sz="2000" spc="-125" dirty="0">
                <a:latin typeface="Carlito"/>
                <a:cs typeface="Carlito"/>
              </a:rPr>
              <a:t> </a:t>
            </a:r>
            <a:r>
              <a:rPr sz="2000" dirty="0">
                <a:latin typeface="Carlito"/>
                <a:cs typeface="Carlito"/>
              </a:rPr>
              <a:t>0.029</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50</a:t>
            </a:fld>
            <a:endParaRPr dirty="0"/>
          </a:p>
        </p:txBody>
      </p:sp>
    </p:spTree>
    <p:extLst>
      <p:ext uri="{BB962C8B-B14F-4D97-AF65-F5344CB8AC3E}">
        <p14:creationId xmlns:p14="http://schemas.microsoft.com/office/powerpoint/2010/main" val="3924118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93060" y="385953"/>
            <a:ext cx="4359910" cy="452120"/>
          </a:xfrm>
          <a:prstGeom prst="rect">
            <a:avLst/>
          </a:prstGeom>
        </p:spPr>
        <p:txBody>
          <a:bodyPr vert="horz" wrap="square" lIns="0" tIns="12065" rIns="0" bIns="0" rtlCol="0">
            <a:spAutoFit/>
          </a:bodyPr>
          <a:lstStyle/>
          <a:p>
            <a:pPr marL="12700">
              <a:lnSpc>
                <a:spcPct val="100000"/>
              </a:lnSpc>
              <a:spcBef>
                <a:spcPts val="95"/>
              </a:spcBef>
            </a:pPr>
            <a:r>
              <a:rPr spc="-10" dirty="0"/>
              <a:t>Calculation </a:t>
            </a:r>
            <a:r>
              <a:rPr spc="-5" dirty="0"/>
              <a:t>of </a:t>
            </a:r>
            <a:r>
              <a:rPr spc="-15" dirty="0"/>
              <a:t>gain </a:t>
            </a:r>
            <a:r>
              <a:rPr spc="-25" dirty="0"/>
              <a:t>for</a:t>
            </a:r>
            <a:r>
              <a:rPr spc="-5" dirty="0"/>
              <a:t> </a:t>
            </a:r>
            <a:r>
              <a:rPr spc="-15" dirty="0"/>
              <a:t>student</a:t>
            </a:r>
          </a:p>
        </p:txBody>
      </p:sp>
      <p:sp>
        <p:nvSpPr>
          <p:cNvPr id="3" name="object 3"/>
          <p:cNvSpPr txBox="1"/>
          <p:nvPr/>
        </p:nvSpPr>
        <p:spPr>
          <a:xfrm>
            <a:off x="535940" y="1156563"/>
            <a:ext cx="3472179" cy="1489075"/>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spc="-5" dirty="0">
                <a:latin typeface="Carlito"/>
                <a:cs typeface="Carlito"/>
              </a:rPr>
              <a:t>Calculation of </a:t>
            </a:r>
            <a:r>
              <a:rPr sz="2000" spc="-10" dirty="0">
                <a:latin typeface="Carlito"/>
                <a:cs typeface="Carlito"/>
              </a:rPr>
              <a:t>gain </a:t>
            </a:r>
            <a:r>
              <a:rPr sz="2000" spc="-15" dirty="0">
                <a:latin typeface="Carlito"/>
                <a:cs typeface="Carlito"/>
              </a:rPr>
              <a:t>for</a:t>
            </a:r>
            <a:r>
              <a:rPr sz="2000" spc="-30" dirty="0">
                <a:latin typeface="Carlito"/>
                <a:cs typeface="Carlito"/>
              </a:rPr>
              <a:t> </a:t>
            </a:r>
            <a:r>
              <a:rPr sz="2000" spc="-10" dirty="0">
                <a:latin typeface="Carlito"/>
                <a:cs typeface="Carlito"/>
              </a:rPr>
              <a:t>student</a:t>
            </a:r>
            <a:endParaRPr sz="2000" dirty="0">
              <a:latin typeface="Carlito"/>
              <a:cs typeface="Carlito"/>
            </a:endParaRPr>
          </a:p>
          <a:p>
            <a:pPr marL="355600" indent="-342900">
              <a:lnSpc>
                <a:spcPct val="100000"/>
              </a:lnSpc>
              <a:spcBef>
                <a:spcPts val="480"/>
              </a:spcBef>
              <a:buFont typeface="Arial"/>
              <a:buChar char="•"/>
              <a:tabLst>
                <a:tab pos="354965" algn="l"/>
                <a:tab pos="355600" algn="l"/>
              </a:tabLst>
            </a:pPr>
            <a:r>
              <a:rPr sz="2000" spc="-5" dirty="0">
                <a:latin typeface="Carlito"/>
                <a:cs typeface="Carlito"/>
              </a:rPr>
              <a:t>Student can</a:t>
            </a:r>
            <a:r>
              <a:rPr sz="2000" spc="-15" dirty="0">
                <a:latin typeface="Carlito"/>
                <a:cs typeface="Carlito"/>
              </a:rPr>
              <a:t> </a:t>
            </a:r>
            <a:r>
              <a:rPr sz="2000" dirty="0">
                <a:latin typeface="Carlito"/>
                <a:cs typeface="Carlito"/>
              </a:rPr>
              <a:t>be:</a:t>
            </a:r>
          </a:p>
          <a:p>
            <a:pPr marL="756285" lvl="1" indent="-287020">
              <a:lnSpc>
                <a:spcPct val="100000"/>
              </a:lnSpc>
              <a:spcBef>
                <a:spcPts val="480"/>
              </a:spcBef>
              <a:buFont typeface="Arial"/>
              <a:buChar char="–"/>
              <a:tabLst>
                <a:tab pos="756285" algn="l"/>
                <a:tab pos="756920" algn="l"/>
              </a:tabLst>
            </a:pPr>
            <a:r>
              <a:rPr sz="2000" spc="-50" dirty="0">
                <a:latin typeface="Carlito"/>
                <a:cs typeface="Carlito"/>
              </a:rPr>
              <a:t>Yes</a:t>
            </a:r>
            <a:endParaRPr sz="2000" dirty="0">
              <a:latin typeface="Carlito"/>
              <a:cs typeface="Carlito"/>
            </a:endParaRPr>
          </a:p>
          <a:p>
            <a:pPr marL="756285" lvl="1" indent="-287020">
              <a:lnSpc>
                <a:spcPct val="100000"/>
              </a:lnSpc>
              <a:spcBef>
                <a:spcPts val="480"/>
              </a:spcBef>
              <a:buFont typeface="Arial"/>
              <a:buChar char="–"/>
              <a:tabLst>
                <a:tab pos="756285" algn="l"/>
                <a:tab pos="756920" algn="l"/>
              </a:tabLst>
            </a:pPr>
            <a:r>
              <a:rPr sz="2000" dirty="0">
                <a:latin typeface="Carlito"/>
                <a:cs typeface="Carlito"/>
              </a:rPr>
              <a:t>No</a:t>
            </a:r>
          </a:p>
        </p:txBody>
      </p:sp>
      <p:grpSp>
        <p:nvGrpSpPr>
          <p:cNvPr id="4" name="object 4"/>
          <p:cNvGrpSpPr/>
          <p:nvPr/>
        </p:nvGrpSpPr>
        <p:grpSpPr>
          <a:xfrm>
            <a:off x="4623815" y="1545336"/>
            <a:ext cx="4395470" cy="3043555"/>
            <a:chOff x="4623815" y="1545336"/>
            <a:chExt cx="4395470" cy="3043555"/>
          </a:xfrm>
        </p:grpSpPr>
        <p:sp>
          <p:nvSpPr>
            <p:cNvPr id="5" name="object 5"/>
            <p:cNvSpPr/>
            <p:nvPr/>
          </p:nvSpPr>
          <p:spPr>
            <a:xfrm>
              <a:off x="4623815" y="1563624"/>
              <a:ext cx="4395216" cy="302514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6176009" y="1564386"/>
              <a:ext cx="660400" cy="2959735"/>
            </a:xfrm>
            <a:custGeom>
              <a:avLst/>
              <a:gdLst/>
              <a:ahLst/>
              <a:cxnLst/>
              <a:rect l="l" t="t" r="r" b="b"/>
              <a:pathLst>
                <a:path w="660400" h="2959735">
                  <a:moveTo>
                    <a:pt x="0" y="2959608"/>
                  </a:moveTo>
                  <a:lnTo>
                    <a:pt x="659891" y="2959608"/>
                  </a:lnTo>
                  <a:lnTo>
                    <a:pt x="659891" y="0"/>
                  </a:lnTo>
                  <a:lnTo>
                    <a:pt x="0" y="0"/>
                  </a:lnTo>
                  <a:lnTo>
                    <a:pt x="0" y="2959608"/>
                  </a:lnTo>
                  <a:close/>
                </a:path>
              </a:pathLst>
            </a:custGeom>
            <a:ln w="38100">
              <a:solidFill>
                <a:srgbClr val="385D89"/>
              </a:solidFill>
            </a:ln>
          </p:spPr>
          <p:txBody>
            <a:bodyPr wrap="square" lIns="0" tIns="0" rIns="0" bIns="0" rtlCol="0"/>
            <a:lstStyle/>
            <a:p>
              <a:endParaRPr/>
            </a:p>
          </p:txBody>
        </p:sp>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51</a:t>
            </a:fld>
            <a:endParaRPr dirty="0"/>
          </a:p>
        </p:txBody>
      </p:sp>
    </p:spTree>
    <p:extLst>
      <p:ext uri="{BB962C8B-B14F-4D97-AF65-F5344CB8AC3E}">
        <p14:creationId xmlns:p14="http://schemas.microsoft.com/office/powerpoint/2010/main" val="6995070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1873" y="385953"/>
            <a:ext cx="3539490" cy="452120"/>
          </a:xfrm>
          <a:prstGeom prst="rect">
            <a:avLst/>
          </a:prstGeom>
        </p:spPr>
        <p:txBody>
          <a:bodyPr vert="horz" wrap="square" lIns="0" tIns="12065" rIns="0" bIns="0" rtlCol="0">
            <a:spAutoFit/>
          </a:bodyPr>
          <a:lstStyle/>
          <a:p>
            <a:pPr marL="12700">
              <a:lnSpc>
                <a:spcPct val="100000"/>
              </a:lnSpc>
              <a:spcBef>
                <a:spcPts val="95"/>
              </a:spcBef>
            </a:pPr>
            <a:r>
              <a:rPr spc="-15" dirty="0"/>
              <a:t>Calculate </a:t>
            </a:r>
            <a:r>
              <a:rPr spc="-20" dirty="0"/>
              <a:t>Entropy </a:t>
            </a:r>
            <a:r>
              <a:rPr spc="-25" dirty="0"/>
              <a:t>for</a:t>
            </a:r>
            <a:r>
              <a:rPr spc="20" dirty="0"/>
              <a:t> </a:t>
            </a:r>
            <a:r>
              <a:rPr spc="-10" dirty="0"/>
              <a:t>No</a:t>
            </a:r>
          </a:p>
        </p:txBody>
      </p:sp>
      <p:sp>
        <p:nvSpPr>
          <p:cNvPr id="3" name="object 3"/>
          <p:cNvSpPr txBox="1"/>
          <p:nvPr/>
        </p:nvSpPr>
        <p:spPr>
          <a:xfrm>
            <a:off x="535940" y="1216913"/>
            <a:ext cx="791210"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dirty="0">
                <a:latin typeface="Carlito"/>
                <a:cs typeface="Carlito"/>
              </a:rPr>
              <a:t>No</a:t>
            </a:r>
            <a:r>
              <a:rPr sz="2000" spc="-95" dirty="0">
                <a:latin typeface="Carlito"/>
                <a:cs typeface="Carlito"/>
              </a:rPr>
              <a:t> </a:t>
            </a:r>
            <a:r>
              <a:rPr sz="2000" dirty="0">
                <a:latin typeface="Carlito"/>
                <a:cs typeface="Carlito"/>
              </a:rPr>
              <a:t>:</a:t>
            </a:r>
            <a:endParaRPr sz="2000">
              <a:latin typeface="Carlito"/>
              <a:cs typeface="Carlito"/>
            </a:endParaRPr>
          </a:p>
        </p:txBody>
      </p:sp>
      <p:sp>
        <p:nvSpPr>
          <p:cNvPr id="4" name="object 4"/>
          <p:cNvSpPr txBox="1"/>
          <p:nvPr/>
        </p:nvSpPr>
        <p:spPr>
          <a:xfrm>
            <a:off x="510540" y="2985871"/>
            <a:ext cx="3785870" cy="756920"/>
          </a:xfrm>
          <a:prstGeom prst="rect">
            <a:avLst/>
          </a:prstGeom>
        </p:spPr>
        <p:txBody>
          <a:bodyPr vert="horz" wrap="square" lIns="0" tIns="73660" rIns="0" bIns="0" rtlCol="0">
            <a:spAutoFit/>
          </a:bodyPr>
          <a:lstStyle/>
          <a:p>
            <a:pPr marL="381000" indent="-342900">
              <a:lnSpc>
                <a:spcPct val="100000"/>
              </a:lnSpc>
              <a:spcBef>
                <a:spcPts val="580"/>
              </a:spcBef>
              <a:buFont typeface="Arial"/>
              <a:buChar char="•"/>
              <a:tabLst>
                <a:tab pos="380365" algn="l"/>
                <a:tab pos="381000" algn="l"/>
              </a:tabLst>
            </a:pPr>
            <a:r>
              <a:rPr sz="2000" spc="-10" dirty="0">
                <a:latin typeface="Carlito"/>
                <a:cs typeface="Carlito"/>
              </a:rPr>
              <a:t>Calculate Entropy </a:t>
            </a:r>
            <a:r>
              <a:rPr sz="2000" spc="-15" dirty="0">
                <a:latin typeface="Carlito"/>
                <a:cs typeface="Carlito"/>
              </a:rPr>
              <a:t>for</a:t>
            </a:r>
            <a:r>
              <a:rPr sz="2000" spc="-20" dirty="0">
                <a:latin typeface="Carlito"/>
                <a:cs typeface="Carlito"/>
              </a:rPr>
              <a:t> </a:t>
            </a:r>
            <a:r>
              <a:rPr sz="2000" dirty="0">
                <a:latin typeface="Carlito"/>
                <a:cs typeface="Carlito"/>
              </a:rPr>
              <a:t>No:</a:t>
            </a:r>
            <a:endParaRPr sz="2000">
              <a:latin typeface="Carlito"/>
              <a:cs typeface="Carlito"/>
            </a:endParaRPr>
          </a:p>
          <a:p>
            <a:pPr marL="438784">
              <a:lnSpc>
                <a:spcPct val="100000"/>
              </a:lnSpc>
              <a:spcBef>
                <a:spcPts val="480"/>
              </a:spcBef>
            </a:pPr>
            <a:r>
              <a:rPr sz="2000" dirty="0">
                <a:latin typeface="Carlito"/>
                <a:cs typeface="Carlito"/>
              </a:rPr>
              <a:t>= -(3/7)log</a:t>
            </a:r>
            <a:r>
              <a:rPr sz="1950" baseline="-21367" dirty="0">
                <a:latin typeface="Carlito"/>
                <a:cs typeface="Carlito"/>
              </a:rPr>
              <a:t>2</a:t>
            </a:r>
            <a:r>
              <a:rPr sz="2000" dirty="0">
                <a:latin typeface="Carlito"/>
                <a:cs typeface="Carlito"/>
              </a:rPr>
              <a:t>(3/7) -</a:t>
            </a:r>
            <a:r>
              <a:rPr sz="2000" spc="-75" dirty="0">
                <a:latin typeface="Carlito"/>
                <a:cs typeface="Carlito"/>
              </a:rPr>
              <a:t> </a:t>
            </a:r>
            <a:r>
              <a:rPr sz="2000" dirty="0">
                <a:latin typeface="Carlito"/>
                <a:cs typeface="Carlito"/>
              </a:rPr>
              <a:t>(4/7)log</a:t>
            </a:r>
            <a:r>
              <a:rPr sz="1950" baseline="-21367" dirty="0">
                <a:latin typeface="Carlito"/>
                <a:cs typeface="Carlito"/>
              </a:rPr>
              <a:t>2</a:t>
            </a:r>
            <a:r>
              <a:rPr sz="2000" dirty="0">
                <a:latin typeface="Carlito"/>
                <a:cs typeface="Carlito"/>
              </a:rPr>
              <a:t>(4/7)</a:t>
            </a:r>
            <a:endParaRPr sz="2000">
              <a:latin typeface="Carlito"/>
              <a:cs typeface="Carlito"/>
            </a:endParaRPr>
          </a:p>
        </p:txBody>
      </p:sp>
      <p:graphicFrame>
        <p:nvGraphicFramePr>
          <p:cNvPr id="5" name="object 5"/>
          <p:cNvGraphicFramePr>
            <a:graphicFrameLocks noGrp="1"/>
          </p:cNvGraphicFramePr>
          <p:nvPr/>
        </p:nvGraphicFramePr>
        <p:xfrm>
          <a:off x="893241" y="1701292"/>
          <a:ext cx="3264535" cy="1097280"/>
        </p:xfrm>
        <a:graphic>
          <a:graphicData uri="http://schemas.openxmlformats.org/drawingml/2006/table">
            <a:tbl>
              <a:tblPr firstRow="1" bandRow="1">
                <a:tableStyleId>{2D5ABB26-0587-4C30-8999-92F81FD0307C}</a:tableStyleId>
              </a:tblPr>
              <a:tblGrid>
                <a:gridCol w="815975">
                  <a:extLst>
                    <a:ext uri="{9D8B030D-6E8A-4147-A177-3AD203B41FA5}">
                      <a16:colId xmlns:a16="http://schemas.microsoft.com/office/drawing/2014/main" val="20000"/>
                    </a:ext>
                  </a:extLst>
                </a:gridCol>
                <a:gridCol w="2448560">
                  <a:extLst>
                    <a:ext uri="{9D8B030D-6E8A-4147-A177-3AD203B41FA5}">
                      <a16:colId xmlns:a16="http://schemas.microsoft.com/office/drawing/2014/main" val="20001"/>
                    </a:ext>
                  </a:extLst>
                </a:gridCol>
              </a:tblGrid>
              <a:tr h="365760">
                <a:tc>
                  <a:txBody>
                    <a:bodyPr/>
                    <a:lstStyle/>
                    <a:p>
                      <a:pPr marL="270510">
                        <a:lnSpc>
                          <a:spcPct val="100000"/>
                        </a:lnSpc>
                        <a:spcBef>
                          <a:spcPts val="240"/>
                        </a:spcBef>
                      </a:pPr>
                      <a:r>
                        <a:rPr sz="1800" b="1" dirty="0">
                          <a:solidFill>
                            <a:srgbClr val="FFFFFF"/>
                          </a:solidFill>
                          <a:latin typeface="Carlito"/>
                          <a:cs typeface="Carlito"/>
                        </a:rPr>
                        <a:t>No</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0"/>
                        </a:spcBef>
                      </a:pPr>
                      <a:r>
                        <a:rPr sz="1800" b="1" spc="-5" dirty="0">
                          <a:solidFill>
                            <a:srgbClr val="FFFFFF"/>
                          </a:solidFill>
                          <a:latin typeface="Carlito"/>
                          <a:cs typeface="Carlito"/>
                        </a:rPr>
                        <a:t>Class: buys</a:t>
                      </a:r>
                      <a:r>
                        <a:rPr sz="1800" b="1" spc="-60" dirty="0">
                          <a:solidFill>
                            <a:srgbClr val="FFFFFF"/>
                          </a:solidFill>
                          <a:latin typeface="Carlito"/>
                          <a:cs typeface="Carlito"/>
                        </a:rPr>
                        <a:t> </a:t>
                      </a:r>
                      <a:r>
                        <a:rPr sz="1800" b="1" spc="-5" dirty="0">
                          <a:solidFill>
                            <a:srgbClr val="FFFFFF"/>
                          </a:solidFill>
                          <a:latin typeface="Carlito"/>
                          <a:cs typeface="Carlito"/>
                        </a:rPr>
                        <a:t>computer</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marL="257810">
                        <a:lnSpc>
                          <a:spcPct val="100000"/>
                        </a:lnSpc>
                        <a:spcBef>
                          <a:spcPts val="245"/>
                        </a:spcBef>
                      </a:pPr>
                      <a:r>
                        <a:rPr sz="1800" spc="-45" dirty="0">
                          <a:latin typeface="Carlito"/>
                          <a:cs typeface="Carlito"/>
                        </a:rPr>
                        <a:t>Yes</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3</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60">
                <a:tc>
                  <a:txBody>
                    <a:bodyPr/>
                    <a:lstStyle/>
                    <a:p>
                      <a:pPr marL="273050">
                        <a:lnSpc>
                          <a:spcPct val="100000"/>
                        </a:lnSpc>
                        <a:spcBef>
                          <a:spcPts val="245"/>
                        </a:spcBef>
                      </a:pPr>
                      <a:r>
                        <a:rPr sz="1800" dirty="0">
                          <a:latin typeface="Carlito"/>
                          <a:cs typeface="Carlito"/>
                        </a:rPr>
                        <a:t>No</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4</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pSp>
        <p:nvGrpSpPr>
          <p:cNvPr id="6" name="object 6"/>
          <p:cNvGrpSpPr/>
          <p:nvPr/>
        </p:nvGrpSpPr>
        <p:grpSpPr>
          <a:xfrm>
            <a:off x="4419600" y="1473301"/>
            <a:ext cx="4395216" cy="3025140"/>
            <a:chOff x="4623815" y="1563624"/>
            <a:chExt cx="4395216" cy="3025140"/>
          </a:xfrm>
        </p:grpSpPr>
        <p:sp>
          <p:nvSpPr>
            <p:cNvPr id="7" name="object 7"/>
            <p:cNvSpPr/>
            <p:nvPr/>
          </p:nvSpPr>
          <p:spPr>
            <a:xfrm>
              <a:off x="4623815" y="1563624"/>
              <a:ext cx="4395216" cy="3025140"/>
            </a:xfrm>
            <a:prstGeom prst="rect">
              <a:avLst/>
            </a:prstGeom>
            <a:blipFill>
              <a:blip r:embed="rId2" cstate="print"/>
              <a:stretch>
                <a:fillRect/>
              </a:stretch>
            </a:blipFill>
          </p:spPr>
          <p:txBody>
            <a:bodyPr wrap="square" lIns="0" tIns="0" rIns="0" bIns="0" rtlCol="0"/>
            <a:lstStyle/>
            <a:p>
              <a:endParaRPr dirty="0"/>
            </a:p>
          </p:txBody>
        </p:sp>
        <p:sp>
          <p:nvSpPr>
            <p:cNvPr id="8" name="object 8"/>
            <p:cNvSpPr/>
            <p:nvPr/>
          </p:nvSpPr>
          <p:spPr>
            <a:xfrm>
              <a:off x="6176009" y="1564386"/>
              <a:ext cx="660400" cy="2959735"/>
            </a:xfrm>
            <a:custGeom>
              <a:avLst/>
              <a:gdLst/>
              <a:ahLst/>
              <a:cxnLst/>
              <a:rect l="l" t="t" r="r" b="b"/>
              <a:pathLst>
                <a:path w="660400" h="2959735">
                  <a:moveTo>
                    <a:pt x="0" y="2959608"/>
                  </a:moveTo>
                  <a:lnTo>
                    <a:pt x="659891" y="2959608"/>
                  </a:lnTo>
                  <a:lnTo>
                    <a:pt x="659891" y="0"/>
                  </a:lnTo>
                  <a:lnTo>
                    <a:pt x="0" y="0"/>
                  </a:lnTo>
                  <a:lnTo>
                    <a:pt x="0" y="2959608"/>
                  </a:lnTo>
                  <a:close/>
                </a:path>
              </a:pathLst>
            </a:custGeom>
            <a:ln w="38100">
              <a:solidFill>
                <a:srgbClr val="385D89"/>
              </a:solidFill>
            </a:ln>
          </p:spPr>
          <p:txBody>
            <a:bodyPr wrap="square" lIns="0" tIns="0" rIns="0" bIns="0" rtlCol="0"/>
            <a:lstStyle/>
            <a:p>
              <a:endParaRPr/>
            </a:p>
          </p:txBody>
        </p:sp>
      </p:gr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52</a:t>
            </a:fld>
            <a:endParaRPr dirty="0"/>
          </a:p>
        </p:txBody>
      </p:sp>
    </p:spTree>
    <p:extLst>
      <p:ext uri="{BB962C8B-B14F-4D97-AF65-F5344CB8AC3E}">
        <p14:creationId xmlns:p14="http://schemas.microsoft.com/office/powerpoint/2010/main" val="10384394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6050" y="385953"/>
            <a:ext cx="3771900" cy="452120"/>
          </a:xfrm>
          <a:prstGeom prst="rect">
            <a:avLst/>
          </a:prstGeom>
        </p:spPr>
        <p:txBody>
          <a:bodyPr vert="horz" wrap="square" lIns="0" tIns="12065" rIns="0" bIns="0" rtlCol="0">
            <a:spAutoFit/>
          </a:bodyPr>
          <a:lstStyle/>
          <a:p>
            <a:pPr marL="12700">
              <a:lnSpc>
                <a:spcPct val="100000"/>
              </a:lnSpc>
              <a:spcBef>
                <a:spcPts val="95"/>
              </a:spcBef>
            </a:pPr>
            <a:r>
              <a:rPr spc="-15" dirty="0"/>
              <a:t>Calculate </a:t>
            </a:r>
            <a:r>
              <a:rPr spc="-20" dirty="0"/>
              <a:t>Entropy </a:t>
            </a:r>
            <a:r>
              <a:rPr spc="-25" dirty="0"/>
              <a:t>for</a:t>
            </a:r>
            <a:r>
              <a:rPr spc="30" dirty="0"/>
              <a:t> </a:t>
            </a:r>
            <a:r>
              <a:rPr spc="-35" dirty="0"/>
              <a:t>‘Yes’</a:t>
            </a:r>
          </a:p>
        </p:txBody>
      </p:sp>
      <p:sp>
        <p:nvSpPr>
          <p:cNvPr id="3" name="object 3"/>
          <p:cNvSpPr txBox="1"/>
          <p:nvPr/>
        </p:nvSpPr>
        <p:spPr>
          <a:xfrm>
            <a:off x="535940" y="1216913"/>
            <a:ext cx="883919"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50" dirty="0">
                <a:latin typeface="Carlito"/>
                <a:cs typeface="Carlito"/>
              </a:rPr>
              <a:t>Yes</a:t>
            </a:r>
            <a:r>
              <a:rPr sz="2000" spc="-30" dirty="0">
                <a:latin typeface="Carlito"/>
                <a:cs typeface="Carlito"/>
              </a:rPr>
              <a:t> </a:t>
            </a:r>
            <a:r>
              <a:rPr sz="2000" dirty="0">
                <a:latin typeface="Carlito"/>
                <a:cs typeface="Carlito"/>
              </a:rPr>
              <a:t>:</a:t>
            </a:r>
            <a:endParaRPr sz="2000">
              <a:latin typeface="Carlito"/>
              <a:cs typeface="Carlito"/>
            </a:endParaRPr>
          </a:p>
        </p:txBody>
      </p:sp>
      <p:sp>
        <p:nvSpPr>
          <p:cNvPr id="4" name="object 4"/>
          <p:cNvSpPr txBox="1"/>
          <p:nvPr/>
        </p:nvSpPr>
        <p:spPr>
          <a:xfrm>
            <a:off x="510540" y="2985871"/>
            <a:ext cx="3785870" cy="756920"/>
          </a:xfrm>
          <a:prstGeom prst="rect">
            <a:avLst/>
          </a:prstGeom>
        </p:spPr>
        <p:txBody>
          <a:bodyPr vert="horz" wrap="square" lIns="0" tIns="73660" rIns="0" bIns="0" rtlCol="0">
            <a:spAutoFit/>
          </a:bodyPr>
          <a:lstStyle/>
          <a:p>
            <a:pPr marL="381000" indent="-342900">
              <a:lnSpc>
                <a:spcPct val="100000"/>
              </a:lnSpc>
              <a:spcBef>
                <a:spcPts val="580"/>
              </a:spcBef>
              <a:buFont typeface="Arial"/>
              <a:buChar char="•"/>
              <a:tabLst>
                <a:tab pos="380365" algn="l"/>
                <a:tab pos="381000" algn="l"/>
              </a:tabLst>
            </a:pPr>
            <a:r>
              <a:rPr sz="2000" spc="-10" dirty="0">
                <a:latin typeface="Carlito"/>
                <a:cs typeface="Carlito"/>
              </a:rPr>
              <a:t>Calculate Entropy </a:t>
            </a:r>
            <a:r>
              <a:rPr sz="2000" spc="-15" dirty="0">
                <a:latin typeface="Carlito"/>
                <a:cs typeface="Carlito"/>
              </a:rPr>
              <a:t>for </a:t>
            </a:r>
            <a:r>
              <a:rPr sz="2000" spc="-40" dirty="0">
                <a:latin typeface="Carlito"/>
                <a:cs typeface="Carlito"/>
              </a:rPr>
              <a:t>Yes:</a:t>
            </a:r>
            <a:endParaRPr sz="2000">
              <a:latin typeface="Carlito"/>
              <a:cs typeface="Carlito"/>
            </a:endParaRPr>
          </a:p>
          <a:p>
            <a:pPr marL="438784">
              <a:lnSpc>
                <a:spcPct val="100000"/>
              </a:lnSpc>
              <a:spcBef>
                <a:spcPts val="480"/>
              </a:spcBef>
            </a:pPr>
            <a:r>
              <a:rPr sz="2000" dirty="0">
                <a:latin typeface="Carlito"/>
                <a:cs typeface="Carlito"/>
              </a:rPr>
              <a:t>= -(6/7)log</a:t>
            </a:r>
            <a:r>
              <a:rPr sz="1950" baseline="-21367" dirty="0">
                <a:latin typeface="Carlito"/>
                <a:cs typeface="Carlito"/>
              </a:rPr>
              <a:t>2</a:t>
            </a:r>
            <a:r>
              <a:rPr sz="2000" dirty="0">
                <a:latin typeface="Carlito"/>
                <a:cs typeface="Carlito"/>
              </a:rPr>
              <a:t>(6/7) -</a:t>
            </a:r>
            <a:r>
              <a:rPr sz="2000" spc="-75" dirty="0">
                <a:latin typeface="Carlito"/>
                <a:cs typeface="Carlito"/>
              </a:rPr>
              <a:t> </a:t>
            </a:r>
            <a:r>
              <a:rPr sz="2000" dirty="0">
                <a:latin typeface="Carlito"/>
                <a:cs typeface="Carlito"/>
              </a:rPr>
              <a:t>(1/7)log</a:t>
            </a:r>
            <a:r>
              <a:rPr sz="1950" baseline="-21367" dirty="0">
                <a:latin typeface="Carlito"/>
                <a:cs typeface="Carlito"/>
              </a:rPr>
              <a:t>2</a:t>
            </a:r>
            <a:r>
              <a:rPr sz="2000" dirty="0">
                <a:latin typeface="Carlito"/>
                <a:cs typeface="Carlito"/>
              </a:rPr>
              <a:t>(1/7)</a:t>
            </a:r>
            <a:endParaRPr sz="2000">
              <a:latin typeface="Carlito"/>
              <a:cs typeface="Carlito"/>
            </a:endParaRPr>
          </a:p>
        </p:txBody>
      </p:sp>
      <p:graphicFrame>
        <p:nvGraphicFramePr>
          <p:cNvPr id="5" name="object 5"/>
          <p:cNvGraphicFramePr>
            <a:graphicFrameLocks noGrp="1"/>
          </p:cNvGraphicFramePr>
          <p:nvPr/>
        </p:nvGraphicFramePr>
        <p:xfrm>
          <a:off x="1253286" y="1701292"/>
          <a:ext cx="3264535" cy="1097280"/>
        </p:xfrm>
        <a:graphic>
          <a:graphicData uri="http://schemas.openxmlformats.org/drawingml/2006/table">
            <a:tbl>
              <a:tblPr firstRow="1" bandRow="1">
                <a:tableStyleId>{2D5ABB26-0587-4C30-8999-92F81FD0307C}</a:tableStyleId>
              </a:tblPr>
              <a:tblGrid>
                <a:gridCol w="815975">
                  <a:extLst>
                    <a:ext uri="{9D8B030D-6E8A-4147-A177-3AD203B41FA5}">
                      <a16:colId xmlns:a16="http://schemas.microsoft.com/office/drawing/2014/main" val="20000"/>
                    </a:ext>
                  </a:extLst>
                </a:gridCol>
                <a:gridCol w="2448560">
                  <a:extLst>
                    <a:ext uri="{9D8B030D-6E8A-4147-A177-3AD203B41FA5}">
                      <a16:colId xmlns:a16="http://schemas.microsoft.com/office/drawing/2014/main" val="20001"/>
                    </a:ext>
                  </a:extLst>
                </a:gridCol>
              </a:tblGrid>
              <a:tr h="365760">
                <a:tc>
                  <a:txBody>
                    <a:bodyPr/>
                    <a:lstStyle/>
                    <a:p>
                      <a:pPr marL="253365">
                        <a:lnSpc>
                          <a:spcPct val="100000"/>
                        </a:lnSpc>
                        <a:spcBef>
                          <a:spcPts val="240"/>
                        </a:spcBef>
                      </a:pPr>
                      <a:r>
                        <a:rPr sz="1800" b="1" spc="-55" dirty="0">
                          <a:solidFill>
                            <a:srgbClr val="FFFFFF"/>
                          </a:solidFill>
                          <a:latin typeface="Carlito"/>
                          <a:cs typeface="Carlito"/>
                        </a:rPr>
                        <a:t>Yes</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0"/>
                        </a:spcBef>
                      </a:pPr>
                      <a:r>
                        <a:rPr sz="1800" b="1" spc="-5" dirty="0">
                          <a:solidFill>
                            <a:srgbClr val="FFFFFF"/>
                          </a:solidFill>
                          <a:latin typeface="Carlito"/>
                          <a:cs typeface="Carlito"/>
                        </a:rPr>
                        <a:t>Class: buys</a:t>
                      </a:r>
                      <a:r>
                        <a:rPr sz="1800" b="1" spc="-60" dirty="0">
                          <a:solidFill>
                            <a:srgbClr val="FFFFFF"/>
                          </a:solidFill>
                          <a:latin typeface="Carlito"/>
                          <a:cs typeface="Carlito"/>
                        </a:rPr>
                        <a:t> </a:t>
                      </a:r>
                      <a:r>
                        <a:rPr sz="1800" b="1" spc="-5" dirty="0">
                          <a:solidFill>
                            <a:srgbClr val="FFFFFF"/>
                          </a:solidFill>
                          <a:latin typeface="Carlito"/>
                          <a:cs typeface="Carlito"/>
                        </a:rPr>
                        <a:t>computer</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60">
                <a:tc>
                  <a:txBody>
                    <a:bodyPr/>
                    <a:lstStyle/>
                    <a:p>
                      <a:pPr marL="257810">
                        <a:lnSpc>
                          <a:spcPct val="100000"/>
                        </a:lnSpc>
                        <a:spcBef>
                          <a:spcPts val="245"/>
                        </a:spcBef>
                      </a:pPr>
                      <a:r>
                        <a:rPr sz="1800" spc="-45" dirty="0">
                          <a:latin typeface="Carlito"/>
                          <a:cs typeface="Carlito"/>
                        </a:rPr>
                        <a:t>Yes</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5"/>
                        </a:spcBef>
                      </a:pPr>
                      <a:r>
                        <a:rPr sz="1800" dirty="0">
                          <a:latin typeface="Carlito"/>
                          <a:cs typeface="Carlito"/>
                        </a:rPr>
                        <a:t>6</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60">
                <a:tc>
                  <a:txBody>
                    <a:bodyPr/>
                    <a:lstStyle/>
                    <a:p>
                      <a:pPr marL="273050">
                        <a:lnSpc>
                          <a:spcPct val="100000"/>
                        </a:lnSpc>
                        <a:spcBef>
                          <a:spcPts val="245"/>
                        </a:spcBef>
                      </a:pPr>
                      <a:r>
                        <a:rPr sz="1800" dirty="0">
                          <a:latin typeface="Carlito"/>
                          <a:cs typeface="Carlito"/>
                        </a:rPr>
                        <a:t>No</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grpSp>
        <p:nvGrpSpPr>
          <p:cNvPr id="6" name="object 6"/>
          <p:cNvGrpSpPr/>
          <p:nvPr/>
        </p:nvGrpSpPr>
        <p:grpSpPr>
          <a:xfrm>
            <a:off x="4623815" y="1563624"/>
            <a:ext cx="4395216" cy="3025140"/>
            <a:chOff x="4623815" y="1563624"/>
            <a:chExt cx="4395216" cy="3025140"/>
          </a:xfrm>
        </p:grpSpPr>
        <p:sp>
          <p:nvSpPr>
            <p:cNvPr id="7" name="object 7"/>
            <p:cNvSpPr/>
            <p:nvPr/>
          </p:nvSpPr>
          <p:spPr>
            <a:xfrm>
              <a:off x="4623815" y="1563624"/>
              <a:ext cx="4395216" cy="3025140"/>
            </a:xfrm>
            <a:prstGeom prst="rect">
              <a:avLst/>
            </a:prstGeom>
            <a:blipFill>
              <a:blip r:embed="rId2" cstate="print"/>
              <a:stretch>
                <a:fillRect/>
              </a:stretch>
            </a:blipFill>
          </p:spPr>
          <p:txBody>
            <a:bodyPr wrap="square" lIns="0" tIns="0" rIns="0" bIns="0" rtlCol="0"/>
            <a:lstStyle/>
            <a:p>
              <a:endParaRPr dirty="0"/>
            </a:p>
          </p:txBody>
        </p:sp>
        <p:sp>
          <p:nvSpPr>
            <p:cNvPr id="8" name="object 8"/>
            <p:cNvSpPr/>
            <p:nvPr/>
          </p:nvSpPr>
          <p:spPr>
            <a:xfrm>
              <a:off x="6176009" y="1564386"/>
              <a:ext cx="660400" cy="2959735"/>
            </a:xfrm>
            <a:custGeom>
              <a:avLst/>
              <a:gdLst/>
              <a:ahLst/>
              <a:cxnLst/>
              <a:rect l="l" t="t" r="r" b="b"/>
              <a:pathLst>
                <a:path w="660400" h="2959735">
                  <a:moveTo>
                    <a:pt x="0" y="2959608"/>
                  </a:moveTo>
                  <a:lnTo>
                    <a:pt x="659891" y="2959608"/>
                  </a:lnTo>
                  <a:lnTo>
                    <a:pt x="659891" y="0"/>
                  </a:lnTo>
                  <a:lnTo>
                    <a:pt x="0" y="0"/>
                  </a:lnTo>
                  <a:lnTo>
                    <a:pt x="0" y="2959608"/>
                  </a:lnTo>
                  <a:close/>
                </a:path>
              </a:pathLst>
            </a:custGeom>
            <a:ln w="38100">
              <a:solidFill>
                <a:srgbClr val="385D89"/>
              </a:solidFill>
            </a:ln>
          </p:spPr>
          <p:txBody>
            <a:bodyPr wrap="square" lIns="0" tIns="0" rIns="0" bIns="0" rtlCol="0"/>
            <a:lstStyle/>
            <a:p>
              <a:endParaRPr/>
            </a:p>
          </p:txBody>
        </p:sp>
      </p:gr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53</a:t>
            </a:fld>
            <a:endParaRPr dirty="0"/>
          </a:p>
        </p:txBody>
      </p:sp>
    </p:spTree>
    <p:extLst>
      <p:ext uri="{BB962C8B-B14F-4D97-AF65-F5344CB8AC3E}">
        <p14:creationId xmlns:p14="http://schemas.microsoft.com/office/powerpoint/2010/main" val="26462488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8050" y="385953"/>
            <a:ext cx="2248535" cy="452120"/>
          </a:xfrm>
          <a:prstGeom prst="rect">
            <a:avLst/>
          </a:prstGeom>
        </p:spPr>
        <p:txBody>
          <a:bodyPr vert="horz" wrap="square" lIns="0" tIns="12065" rIns="0" bIns="0" rtlCol="0">
            <a:spAutoFit/>
          </a:bodyPr>
          <a:lstStyle/>
          <a:p>
            <a:pPr marL="12700">
              <a:lnSpc>
                <a:spcPct val="100000"/>
              </a:lnSpc>
              <a:spcBef>
                <a:spcPts val="95"/>
              </a:spcBef>
            </a:pPr>
            <a:r>
              <a:rPr spc="-5" dirty="0"/>
              <a:t>Gain of</a:t>
            </a:r>
            <a:r>
              <a:rPr spc="-70" dirty="0"/>
              <a:t> </a:t>
            </a:r>
            <a:r>
              <a:rPr spc="-15" dirty="0"/>
              <a:t>student</a:t>
            </a:r>
          </a:p>
        </p:txBody>
      </p:sp>
      <p:sp>
        <p:nvSpPr>
          <p:cNvPr id="3" name="object 3"/>
          <p:cNvSpPr txBox="1"/>
          <p:nvPr/>
        </p:nvSpPr>
        <p:spPr>
          <a:xfrm>
            <a:off x="485140" y="1216913"/>
            <a:ext cx="7980680" cy="2830830"/>
          </a:xfrm>
          <a:prstGeom prst="rect">
            <a:avLst/>
          </a:prstGeom>
        </p:spPr>
        <p:txBody>
          <a:bodyPr vert="horz" wrap="square" lIns="0" tIns="13335" rIns="0" bIns="0" rtlCol="0">
            <a:spAutoFit/>
          </a:bodyPr>
          <a:lstStyle/>
          <a:p>
            <a:pPr marL="406400" marR="68580" indent="-342900">
              <a:lnSpc>
                <a:spcPct val="100000"/>
              </a:lnSpc>
              <a:spcBef>
                <a:spcPts val="105"/>
              </a:spcBef>
              <a:buFont typeface="Arial"/>
              <a:buChar char="•"/>
              <a:tabLst>
                <a:tab pos="405765" algn="l"/>
                <a:tab pos="406400" algn="l"/>
              </a:tabLst>
            </a:pPr>
            <a:r>
              <a:rPr sz="2000" spc="-5" dirty="0">
                <a:latin typeface="Carlito"/>
                <a:cs typeface="Carlito"/>
              </a:rPr>
              <a:t>The </a:t>
            </a:r>
            <a:r>
              <a:rPr sz="2000" spc="-10" dirty="0">
                <a:latin typeface="Carlito"/>
                <a:cs typeface="Carlito"/>
              </a:rPr>
              <a:t>expected information </a:t>
            </a:r>
            <a:r>
              <a:rPr sz="2000" dirty="0">
                <a:latin typeface="Carlito"/>
                <a:cs typeface="Carlito"/>
              </a:rPr>
              <a:t>needed </a:t>
            </a:r>
            <a:r>
              <a:rPr sz="2000" spc="-15" dirty="0">
                <a:latin typeface="Carlito"/>
                <a:cs typeface="Carlito"/>
              </a:rPr>
              <a:t>to </a:t>
            </a:r>
            <a:r>
              <a:rPr sz="2000" spc="-5" dirty="0">
                <a:latin typeface="Carlito"/>
                <a:cs typeface="Carlito"/>
              </a:rPr>
              <a:t>classify </a:t>
            </a:r>
            <a:r>
              <a:rPr sz="2000" dirty="0">
                <a:latin typeface="Carlito"/>
                <a:cs typeface="Carlito"/>
              </a:rPr>
              <a:t>a tuple in D if the tuples </a:t>
            </a:r>
            <a:r>
              <a:rPr sz="2000" spc="-10" dirty="0">
                <a:latin typeface="Carlito"/>
                <a:cs typeface="Carlito"/>
              </a:rPr>
              <a:t>are  </a:t>
            </a:r>
            <a:r>
              <a:rPr sz="2000" dirty="0">
                <a:latin typeface="Carlito"/>
                <a:cs typeface="Carlito"/>
              </a:rPr>
              <a:t>partitioned </a:t>
            </a:r>
            <a:r>
              <a:rPr sz="2000" spc="-5" dirty="0">
                <a:latin typeface="Carlito"/>
                <a:cs typeface="Carlito"/>
              </a:rPr>
              <a:t>according </a:t>
            </a:r>
            <a:r>
              <a:rPr sz="2000" spc="-15" dirty="0">
                <a:latin typeface="Carlito"/>
                <a:cs typeface="Carlito"/>
              </a:rPr>
              <a:t>to </a:t>
            </a:r>
            <a:r>
              <a:rPr sz="2000" spc="-10" dirty="0">
                <a:latin typeface="Carlito"/>
                <a:cs typeface="Carlito"/>
              </a:rPr>
              <a:t>student </a:t>
            </a:r>
            <a:r>
              <a:rPr sz="2000" spc="-5" dirty="0">
                <a:latin typeface="Carlito"/>
                <a:cs typeface="Carlito"/>
              </a:rPr>
              <a:t>is:</a:t>
            </a:r>
            <a:endParaRPr sz="2000" dirty="0">
              <a:latin typeface="Carlito"/>
              <a:cs typeface="Carlito"/>
            </a:endParaRPr>
          </a:p>
          <a:p>
            <a:pPr marL="406400" indent="-342900">
              <a:lnSpc>
                <a:spcPct val="100000"/>
              </a:lnSpc>
              <a:spcBef>
                <a:spcPts val="480"/>
              </a:spcBef>
              <a:buFont typeface="Arial"/>
              <a:buChar char="•"/>
              <a:tabLst>
                <a:tab pos="405765" algn="l"/>
                <a:tab pos="406400" algn="l"/>
              </a:tabLst>
            </a:pPr>
            <a:r>
              <a:rPr sz="2000" spc="-15" dirty="0">
                <a:latin typeface="Carlito"/>
                <a:cs typeface="Carlito"/>
              </a:rPr>
              <a:t>Info </a:t>
            </a:r>
            <a:r>
              <a:rPr sz="1950" spc="7" baseline="-21367" dirty="0">
                <a:latin typeface="Carlito"/>
                <a:cs typeface="Carlito"/>
              </a:rPr>
              <a:t>Student </a:t>
            </a:r>
            <a:r>
              <a:rPr sz="2000" dirty="0">
                <a:latin typeface="Carlito"/>
                <a:cs typeface="Carlito"/>
              </a:rPr>
              <a:t>(D) = (7/14) (-(3/7)log</a:t>
            </a:r>
            <a:r>
              <a:rPr sz="1950" baseline="-21367" dirty="0">
                <a:latin typeface="Carlito"/>
                <a:cs typeface="Carlito"/>
              </a:rPr>
              <a:t>2</a:t>
            </a:r>
            <a:r>
              <a:rPr sz="2000" dirty="0">
                <a:latin typeface="Carlito"/>
                <a:cs typeface="Carlito"/>
              </a:rPr>
              <a:t>(3/7) - (4/7)log</a:t>
            </a:r>
            <a:r>
              <a:rPr sz="1950" baseline="-21367" dirty="0">
                <a:latin typeface="Carlito"/>
                <a:cs typeface="Carlito"/>
              </a:rPr>
              <a:t>2</a:t>
            </a:r>
            <a:r>
              <a:rPr sz="2000" dirty="0">
                <a:latin typeface="Carlito"/>
                <a:cs typeface="Carlito"/>
              </a:rPr>
              <a:t>(4/7))</a:t>
            </a:r>
            <a:r>
              <a:rPr sz="2000" spc="-240" dirty="0">
                <a:latin typeface="Carlito"/>
                <a:cs typeface="Carlito"/>
              </a:rPr>
              <a:t> </a:t>
            </a:r>
            <a:r>
              <a:rPr sz="2000" dirty="0">
                <a:latin typeface="Carlito"/>
                <a:cs typeface="Carlito"/>
              </a:rPr>
              <a:t>+</a:t>
            </a:r>
          </a:p>
          <a:p>
            <a:pPr marL="1892300">
              <a:lnSpc>
                <a:spcPct val="100000"/>
              </a:lnSpc>
              <a:spcBef>
                <a:spcPts val="480"/>
              </a:spcBef>
            </a:pPr>
            <a:r>
              <a:rPr sz="2000" dirty="0">
                <a:latin typeface="Carlito"/>
                <a:cs typeface="Carlito"/>
              </a:rPr>
              <a:t>(7/14) (-(6/7)log</a:t>
            </a:r>
            <a:r>
              <a:rPr sz="1950" baseline="-21367" dirty="0">
                <a:latin typeface="Carlito"/>
                <a:cs typeface="Carlito"/>
              </a:rPr>
              <a:t>2</a:t>
            </a:r>
            <a:r>
              <a:rPr sz="2000" dirty="0">
                <a:latin typeface="Carlito"/>
                <a:cs typeface="Carlito"/>
              </a:rPr>
              <a:t>(6/7) -</a:t>
            </a:r>
            <a:r>
              <a:rPr sz="2000" spc="-60" dirty="0">
                <a:latin typeface="Carlito"/>
                <a:cs typeface="Carlito"/>
              </a:rPr>
              <a:t> </a:t>
            </a:r>
            <a:r>
              <a:rPr sz="2000" dirty="0">
                <a:latin typeface="Carlito"/>
                <a:cs typeface="Carlito"/>
              </a:rPr>
              <a:t>(1/7)log</a:t>
            </a:r>
            <a:r>
              <a:rPr sz="1950" baseline="-21367" dirty="0">
                <a:latin typeface="Carlito"/>
                <a:cs typeface="Carlito"/>
              </a:rPr>
              <a:t>2</a:t>
            </a:r>
            <a:r>
              <a:rPr sz="2000" dirty="0">
                <a:latin typeface="Carlito"/>
                <a:cs typeface="Carlito"/>
              </a:rPr>
              <a:t>(1/7))</a:t>
            </a:r>
          </a:p>
          <a:p>
            <a:pPr marL="1892300">
              <a:lnSpc>
                <a:spcPct val="100000"/>
              </a:lnSpc>
              <a:spcBef>
                <a:spcPts val="480"/>
              </a:spcBef>
            </a:pPr>
            <a:r>
              <a:rPr sz="2000" spc="-5" dirty="0">
                <a:latin typeface="Carlito"/>
                <a:cs typeface="Carlito"/>
              </a:rPr>
              <a:t>=0.789</a:t>
            </a:r>
            <a:endParaRPr sz="2000" dirty="0">
              <a:latin typeface="Carlito"/>
              <a:cs typeface="Carlito"/>
            </a:endParaRPr>
          </a:p>
          <a:p>
            <a:pPr marL="577215" lvl="1" indent="-400050">
              <a:lnSpc>
                <a:spcPct val="100000"/>
              </a:lnSpc>
              <a:spcBef>
                <a:spcPts val="480"/>
              </a:spcBef>
              <a:buFont typeface="Arial"/>
              <a:buChar char="•"/>
              <a:tabLst>
                <a:tab pos="577215" algn="l"/>
                <a:tab pos="577850" algn="l"/>
              </a:tabLst>
            </a:pPr>
            <a:r>
              <a:rPr sz="2000" spc="-5" dirty="0">
                <a:latin typeface="Carlito"/>
                <a:cs typeface="Carlito"/>
              </a:rPr>
              <a:t>Gain(student)</a:t>
            </a:r>
            <a:r>
              <a:rPr sz="2000" spc="15" dirty="0">
                <a:latin typeface="Carlito"/>
                <a:cs typeface="Carlito"/>
              </a:rPr>
              <a:t> </a:t>
            </a:r>
            <a:r>
              <a:rPr sz="2000" dirty="0">
                <a:latin typeface="Carlito"/>
                <a:cs typeface="Carlito"/>
              </a:rPr>
              <a:t>:</a:t>
            </a:r>
          </a:p>
          <a:p>
            <a:pPr marL="1892300">
              <a:lnSpc>
                <a:spcPct val="100000"/>
              </a:lnSpc>
              <a:spcBef>
                <a:spcPts val="480"/>
              </a:spcBef>
            </a:pPr>
            <a:r>
              <a:rPr sz="2000" spc="-10" dirty="0">
                <a:latin typeface="Carlito"/>
                <a:cs typeface="Carlito"/>
              </a:rPr>
              <a:t>Info(D) </a:t>
            </a:r>
            <a:r>
              <a:rPr sz="2000" dirty="0">
                <a:latin typeface="Carlito"/>
                <a:cs typeface="Carlito"/>
              </a:rPr>
              <a:t>- </a:t>
            </a:r>
            <a:r>
              <a:rPr sz="2000" spc="-15" dirty="0">
                <a:latin typeface="Carlito"/>
                <a:cs typeface="Carlito"/>
              </a:rPr>
              <a:t>Info </a:t>
            </a:r>
            <a:r>
              <a:rPr sz="1950" spc="7" baseline="-21367" dirty="0">
                <a:latin typeface="Carlito"/>
                <a:cs typeface="Carlito"/>
              </a:rPr>
              <a:t>student</a:t>
            </a:r>
            <a:r>
              <a:rPr sz="1950" spc="-240" baseline="-21367" dirty="0">
                <a:latin typeface="Carlito"/>
                <a:cs typeface="Carlito"/>
              </a:rPr>
              <a:t> </a:t>
            </a:r>
            <a:r>
              <a:rPr sz="2000" dirty="0">
                <a:latin typeface="Carlito"/>
                <a:cs typeface="Carlito"/>
              </a:rPr>
              <a:t>(D)</a:t>
            </a:r>
          </a:p>
          <a:p>
            <a:pPr marL="1892300">
              <a:lnSpc>
                <a:spcPct val="100000"/>
              </a:lnSpc>
              <a:spcBef>
                <a:spcPts val="480"/>
              </a:spcBef>
            </a:pPr>
            <a:r>
              <a:rPr sz="2000" dirty="0">
                <a:latin typeface="Carlito"/>
                <a:cs typeface="Carlito"/>
              </a:rPr>
              <a:t>= 0.94 – 0.789 =</a:t>
            </a:r>
            <a:r>
              <a:rPr sz="2000" spc="-70" dirty="0">
                <a:latin typeface="Carlito"/>
                <a:cs typeface="Carlito"/>
              </a:rPr>
              <a:t> </a:t>
            </a:r>
            <a:r>
              <a:rPr sz="2000" dirty="0">
                <a:latin typeface="Carlito"/>
                <a:cs typeface="Carlito"/>
              </a:rPr>
              <a:t>0.151</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54</a:t>
            </a:fld>
            <a:endParaRPr dirty="0"/>
          </a:p>
        </p:txBody>
      </p:sp>
    </p:spTree>
    <p:extLst>
      <p:ext uri="{BB962C8B-B14F-4D97-AF65-F5344CB8AC3E}">
        <p14:creationId xmlns:p14="http://schemas.microsoft.com/office/powerpoint/2010/main" val="32537445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68448" y="385953"/>
            <a:ext cx="5006340" cy="452120"/>
          </a:xfrm>
          <a:prstGeom prst="rect">
            <a:avLst/>
          </a:prstGeom>
        </p:spPr>
        <p:txBody>
          <a:bodyPr vert="horz" wrap="square" lIns="0" tIns="12065" rIns="0" bIns="0" rtlCol="0">
            <a:spAutoFit/>
          </a:bodyPr>
          <a:lstStyle/>
          <a:p>
            <a:pPr marL="12700">
              <a:lnSpc>
                <a:spcPct val="100000"/>
              </a:lnSpc>
              <a:spcBef>
                <a:spcPts val="95"/>
              </a:spcBef>
            </a:pPr>
            <a:r>
              <a:rPr spc="-10" dirty="0"/>
              <a:t>Calculation </a:t>
            </a:r>
            <a:r>
              <a:rPr spc="-5" dirty="0"/>
              <a:t>of </a:t>
            </a:r>
            <a:r>
              <a:rPr spc="-15" dirty="0"/>
              <a:t>gain </a:t>
            </a:r>
            <a:r>
              <a:rPr spc="-25" dirty="0"/>
              <a:t>for </a:t>
            </a:r>
            <a:r>
              <a:rPr spc="-10" dirty="0"/>
              <a:t>credit</a:t>
            </a:r>
            <a:r>
              <a:rPr spc="30" dirty="0"/>
              <a:t> </a:t>
            </a:r>
            <a:r>
              <a:rPr spc="-20" dirty="0"/>
              <a:t>rating</a:t>
            </a:r>
          </a:p>
        </p:txBody>
      </p:sp>
      <p:sp>
        <p:nvSpPr>
          <p:cNvPr id="3" name="object 3"/>
          <p:cNvSpPr txBox="1"/>
          <p:nvPr/>
        </p:nvSpPr>
        <p:spPr>
          <a:xfrm>
            <a:off x="535940" y="1156563"/>
            <a:ext cx="3934460" cy="1489075"/>
          </a:xfrm>
          <a:prstGeom prst="rect">
            <a:avLst/>
          </a:prstGeom>
        </p:spPr>
        <p:txBody>
          <a:bodyPr vert="horz" wrap="square" lIns="0" tIns="73660" rIns="0" bIns="0" rtlCol="0">
            <a:spAutoFit/>
          </a:bodyPr>
          <a:lstStyle/>
          <a:p>
            <a:pPr marL="355600" indent="-342900">
              <a:lnSpc>
                <a:spcPct val="100000"/>
              </a:lnSpc>
              <a:spcBef>
                <a:spcPts val="580"/>
              </a:spcBef>
              <a:buFont typeface="Arial"/>
              <a:buChar char="•"/>
              <a:tabLst>
                <a:tab pos="354965" algn="l"/>
                <a:tab pos="355600" algn="l"/>
              </a:tabLst>
            </a:pPr>
            <a:r>
              <a:rPr sz="2000" spc="-5" dirty="0">
                <a:latin typeface="Carlito"/>
                <a:cs typeface="Carlito"/>
              </a:rPr>
              <a:t>Calculation of </a:t>
            </a:r>
            <a:r>
              <a:rPr sz="2000" spc="-10" dirty="0">
                <a:latin typeface="Carlito"/>
                <a:cs typeface="Carlito"/>
              </a:rPr>
              <a:t>gain </a:t>
            </a:r>
            <a:r>
              <a:rPr sz="2000" spc="-15" dirty="0">
                <a:latin typeface="Carlito"/>
                <a:cs typeface="Carlito"/>
              </a:rPr>
              <a:t>for </a:t>
            </a:r>
            <a:r>
              <a:rPr sz="2000" spc="-5" dirty="0">
                <a:latin typeface="Carlito"/>
                <a:cs typeface="Carlito"/>
              </a:rPr>
              <a:t>credit</a:t>
            </a:r>
            <a:r>
              <a:rPr sz="2000" spc="-35" dirty="0">
                <a:latin typeface="Carlito"/>
                <a:cs typeface="Carlito"/>
              </a:rPr>
              <a:t> </a:t>
            </a:r>
            <a:r>
              <a:rPr sz="2000" spc="-10" dirty="0">
                <a:latin typeface="Carlito"/>
                <a:cs typeface="Carlito"/>
              </a:rPr>
              <a:t>rating</a:t>
            </a:r>
            <a:endParaRPr sz="2000" dirty="0">
              <a:latin typeface="Carlito"/>
              <a:cs typeface="Carlito"/>
            </a:endParaRPr>
          </a:p>
          <a:p>
            <a:pPr marL="355600" indent="-342900">
              <a:lnSpc>
                <a:spcPct val="100000"/>
              </a:lnSpc>
              <a:spcBef>
                <a:spcPts val="480"/>
              </a:spcBef>
              <a:buFont typeface="Arial"/>
              <a:buChar char="•"/>
              <a:tabLst>
                <a:tab pos="354965" algn="l"/>
                <a:tab pos="355600" algn="l"/>
              </a:tabLst>
            </a:pPr>
            <a:r>
              <a:rPr sz="2000" spc="-5" dirty="0">
                <a:latin typeface="Carlito"/>
                <a:cs typeface="Carlito"/>
              </a:rPr>
              <a:t>Credit </a:t>
            </a:r>
            <a:r>
              <a:rPr sz="2000" spc="-10" dirty="0">
                <a:latin typeface="Carlito"/>
                <a:cs typeface="Carlito"/>
              </a:rPr>
              <a:t>rating </a:t>
            </a:r>
            <a:r>
              <a:rPr sz="2000" spc="-5" dirty="0">
                <a:latin typeface="Carlito"/>
                <a:cs typeface="Carlito"/>
              </a:rPr>
              <a:t>can</a:t>
            </a:r>
            <a:r>
              <a:rPr sz="2000" spc="-15" dirty="0">
                <a:latin typeface="Carlito"/>
                <a:cs typeface="Carlito"/>
              </a:rPr>
              <a:t> </a:t>
            </a:r>
            <a:r>
              <a:rPr sz="2000" spc="-5" dirty="0">
                <a:latin typeface="Carlito"/>
                <a:cs typeface="Carlito"/>
              </a:rPr>
              <a:t>be:</a:t>
            </a:r>
            <a:endParaRPr sz="2000" dirty="0">
              <a:latin typeface="Carlito"/>
              <a:cs typeface="Carlito"/>
            </a:endParaRPr>
          </a:p>
          <a:p>
            <a:pPr marL="756285" lvl="1" indent="-287020">
              <a:lnSpc>
                <a:spcPct val="100000"/>
              </a:lnSpc>
              <a:spcBef>
                <a:spcPts val="480"/>
              </a:spcBef>
              <a:buFont typeface="Arial"/>
              <a:buChar char="–"/>
              <a:tabLst>
                <a:tab pos="756285" algn="l"/>
                <a:tab pos="756920" algn="l"/>
              </a:tabLst>
            </a:pPr>
            <a:r>
              <a:rPr sz="2000" spc="-10" dirty="0">
                <a:latin typeface="Carlito"/>
                <a:cs typeface="Carlito"/>
              </a:rPr>
              <a:t>Fair</a:t>
            </a:r>
            <a:endParaRPr sz="2000" dirty="0">
              <a:latin typeface="Carlito"/>
              <a:cs typeface="Carlito"/>
            </a:endParaRPr>
          </a:p>
          <a:p>
            <a:pPr marL="756285" lvl="1" indent="-287020">
              <a:lnSpc>
                <a:spcPct val="100000"/>
              </a:lnSpc>
              <a:spcBef>
                <a:spcPts val="480"/>
              </a:spcBef>
              <a:buFont typeface="Arial"/>
              <a:buChar char="–"/>
              <a:tabLst>
                <a:tab pos="756285" algn="l"/>
                <a:tab pos="756920" algn="l"/>
              </a:tabLst>
            </a:pPr>
            <a:r>
              <a:rPr sz="2000" spc="-10" dirty="0">
                <a:latin typeface="Carlito"/>
                <a:cs typeface="Carlito"/>
              </a:rPr>
              <a:t>Excellent</a:t>
            </a:r>
            <a:endParaRPr sz="2000" dirty="0">
              <a:latin typeface="Carlito"/>
              <a:cs typeface="Carlito"/>
            </a:endParaRPr>
          </a:p>
        </p:txBody>
      </p:sp>
      <p:grpSp>
        <p:nvGrpSpPr>
          <p:cNvPr id="4" name="object 4"/>
          <p:cNvGrpSpPr/>
          <p:nvPr/>
        </p:nvGrpSpPr>
        <p:grpSpPr>
          <a:xfrm>
            <a:off x="4460747" y="1501139"/>
            <a:ext cx="4395470" cy="3043555"/>
            <a:chOff x="4460747" y="1501139"/>
            <a:chExt cx="4395470" cy="3043555"/>
          </a:xfrm>
        </p:grpSpPr>
        <p:sp>
          <p:nvSpPr>
            <p:cNvPr id="5" name="object 5"/>
            <p:cNvSpPr/>
            <p:nvPr/>
          </p:nvSpPr>
          <p:spPr>
            <a:xfrm>
              <a:off x="4460747" y="1519427"/>
              <a:ext cx="4395215" cy="302514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6680453" y="1520189"/>
              <a:ext cx="844550" cy="2959735"/>
            </a:xfrm>
            <a:custGeom>
              <a:avLst/>
              <a:gdLst/>
              <a:ahLst/>
              <a:cxnLst/>
              <a:rect l="l" t="t" r="r" b="b"/>
              <a:pathLst>
                <a:path w="844550" h="2959735">
                  <a:moveTo>
                    <a:pt x="0" y="2959608"/>
                  </a:moveTo>
                  <a:lnTo>
                    <a:pt x="844296" y="2959608"/>
                  </a:lnTo>
                  <a:lnTo>
                    <a:pt x="844296" y="0"/>
                  </a:lnTo>
                  <a:lnTo>
                    <a:pt x="0" y="0"/>
                  </a:lnTo>
                  <a:lnTo>
                    <a:pt x="0" y="2959608"/>
                  </a:lnTo>
                  <a:close/>
                </a:path>
              </a:pathLst>
            </a:custGeom>
            <a:ln w="38100">
              <a:solidFill>
                <a:srgbClr val="385D89"/>
              </a:solidFill>
            </a:ln>
          </p:spPr>
          <p:txBody>
            <a:bodyPr wrap="square" lIns="0" tIns="0" rIns="0" bIns="0" rtlCol="0"/>
            <a:lstStyle/>
            <a:p>
              <a:endParaRPr/>
            </a:p>
          </p:txBody>
        </p:sp>
      </p:grpSp>
      <p:sp>
        <p:nvSpPr>
          <p:cNvPr id="10" name="object 10"/>
          <p:cNvSpPr/>
          <p:nvPr/>
        </p:nvSpPr>
        <p:spPr>
          <a:xfrm>
            <a:off x="2253614" y="2474086"/>
            <a:ext cx="38735" cy="16510"/>
          </a:xfrm>
          <a:custGeom>
            <a:avLst/>
            <a:gdLst/>
            <a:ahLst/>
            <a:cxnLst/>
            <a:rect l="l" t="t" r="r" b="b"/>
            <a:pathLst>
              <a:path w="38735" h="16510">
                <a:moveTo>
                  <a:pt x="8014" y="15600"/>
                </a:moveTo>
                <a:lnTo>
                  <a:pt x="9525" y="15875"/>
                </a:lnTo>
                <a:lnTo>
                  <a:pt x="12192" y="16510"/>
                </a:lnTo>
                <a:lnTo>
                  <a:pt x="14463" y="15620"/>
                </a:lnTo>
                <a:lnTo>
                  <a:pt x="8216" y="15617"/>
                </a:lnTo>
                <a:lnTo>
                  <a:pt x="8014" y="15600"/>
                </a:lnTo>
                <a:close/>
              </a:path>
              <a:path w="38735" h="16510">
                <a:moveTo>
                  <a:pt x="8053" y="2468"/>
                </a:moveTo>
                <a:lnTo>
                  <a:pt x="6985" y="2539"/>
                </a:lnTo>
                <a:lnTo>
                  <a:pt x="4826" y="2920"/>
                </a:lnTo>
                <a:lnTo>
                  <a:pt x="4572" y="3048"/>
                </a:lnTo>
                <a:lnTo>
                  <a:pt x="1952" y="4072"/>
                </a:lnTo>
                <a:lnTo>
                  <a:pt x="1443" y="4557"/>
                </a:lnTo>
                <a:lnTo>
                  <a:pt x="712" y="5851"/>
                </a:lnTo>
                <a:lnTo>
                  <a:pt x="508" y="8508"/>
                </a:lnTo>
                <a:lnTo>
                  <a:pt x="395" y="9484"/>
                </a:lnTo>
                <a:lnTo>
                  <a:pt x="5587" y="15367"/>
                </a:lnTo>
                <a:lnTo>
                  <a:pt x="5842" y="15493"/>
                </a:lnTo>
                <a:lnTo>
                  <a:pt x="7874" y="15620"/>
                </a:lnTo>
                <a:lnTo>
                  <a:pt x="7537" y="15561"/>
                </a:lnTo>
                <a:lnTo>
                  <a:pt x="6731" y="15493"/>
                </a:lnTo>
                <a:lnTo>
                  <a:pt x="8763" y="15493"/>
                </a:lnTo>
                <a:lnTo>
                  <a:pt x="9652" y="15367"/>
                </a:lnTo>
                <a:lnTo>
                  <a:pt x="15497" y="14758"/>
                </a:lnTo>
                <a:lnTo>
                  <a:pt x="16723" y="12826"/>
                </a:lnTo>
                <a:lnTo>
                  <a:pt x="18287" y="10540"/>
                </a:lnTo>
                <a:lnTo>
                  <a:pt x="18287" y="7493"/>
                </a:lnTo>
                <a:lnTo>
                  <a:pt x="16637" y="5206"/>
                </a:lnTo>
                <a:lnTo>
                  <a:pt x="15112" y="2793"/>
                </a:lnTo>
                <a:lnTo>
                  <a:pt x="14788" y="2667"/>
                </a:lnTo>
                <a:lnTo>
                  <a:pt x="7112" y="2667"/>
                </a:lnTo>
                <a:lnTo>
                  <a:pt x="8053" y="2468"/>
                </a:lnTo>
                <a:close/>
              </a:path>
              <a:path w="38735" h="16510">
                <a:moveTo>
                  <a:pt x="8040" y="15597"/>
                </a:moveTo>
                <a:lnTo>
                  <a:pt x="8255" y="15620"/>
                </a:lnTo>
                <a:lnTo>
                  <a:pt x="8040" y="15597"/>
                </a:lnTo>
                <a:close/>
              </a:path>
              <a:path w="38735" h="16510">
                <a:moveTo>
                  <a:pt x="15497" y="14758"/>
                </a:moveTo>
                <a:lnTo>
                  <a:pt x="9652" y="15367"/>
                </a:lnTo>
                <a:lnTo>
                  <a:pt x="8040" y="15597"/>
                </a:lnTo>
                <a:lnTo>
                  <a:pt x="8255" y="15620"/>
                </a:lnTo>
                <a:lnTo>
                  <a:pt x="14463" y="15620"/>
                </a:lnTo>
                <a:lnTo>
                  <a:pt x="15112" y="15367"/>
                </a:lnTo>
                <a:lnTo>
                  <a:pt x="15497" y="14758"/>
                </a:lnTo>
                <a:close/>
              </a:path>
              <a:path w="38735" h="16510">
                <a:moveTo>
                  <a:pt x="7537" y="15561"/>
                </a:moveTo>
                <a:lnTo>
                  <a:pt x="7896" y="15617"/>
                </a:lnTo>
                <a:lnTo>
                  <a:pt x="7537" y="15561"/>
                </a:lnTo>
                <a:close/>
              </a:path>
              <a:path w="38735" h="16510">
                <a:moveTo>
                  <a:pt x="7112" y="15493"/>
                </a:moveTo>
                <a:lnTo>
                  <a:pt x="7537" y="15561"/>
                </a:lnTo>
                <a:lnTo>
                  <a:pt x="8040" y="15597"/>
                </a:lnTo>
                <a:lnTo>
                  <a:pt x="7112" y="15493"/>
                </a:lnTo>
                <a:close/>
              </a:path>
              <a:path w="38735" h="16510">
                <a:moveTo>
                  <a:pt x="8763" y="15493"/>
                </a:moveTo>
                <a:lnTo>
                  <a:pt x="7112" y="15493"/>
                </a:lnTo>
                <a:lnTo>
                  <a:pt x="8040" y="15597"/>
                </a:lnTo>
                <a:lnTo>
                  <a:pt x="8763" y="15493"/>
                </a:lnTo>
                <a:close/>
              </a:path>
              <a:path w="38735" h="16510">
                <a:moveTo>
                  <a:pt x="7112" y="15493"/>
                </a:moveTo>
                <a:lnTo>
                  <a:pt x="6731" y="15493"/>
                </a:lnTo>
                <a:lnTo>
                  <a:pt x="7537" y="15561"/>
                </a:lnTo>
                <a:lnTo>
                  <a:pt x="7112" y="15493"/>
                </a:lnTo>
                <a:close/>
              </a:path>
              <a:path w="38735" h="16510">
                <a:moveTo>
                  <a:pt x="2909" y="14831"/>
                </a:moveTo>
                <a:lnTo>
                  <a:pt x="3683" y="15493"/>
                </a:lnTo>
                <a:lnTo>
                  <a:pt x="5842" y="15493"/>
                </a:lnTo>
                <a:lnTo>
                  <a:pt x="5587" y="15367"/>
                </a:lnTo>
                <a:lnTo>
                  <a:pt x="2909" y="14831"/>
                </a:lnTo>
                <a:close/>
              </a:path>
              <a:path w="38735" h="16510">
                <a:moveTo>
                  <a:pt x="1636" y="13739"/>
                </a:moveTo>
                <a:lnTo>
                  <a:pt x="2412" y="14731"/>
                </a:lnTo>
                <a:lnTo>
                  <a:pt x="2909" y="14831"/>
                </a:lnTo>
                <a:lnTo>
                  <a:pt x="1636" y="13739"/>
                </a:lnTo>
                <a:close/>
              </a:path>
              <a:path w="38735" h="16510">
                <a:moveTo>
                  <a:pt x="22860" y="2031"/>
                </a:moveTo>
                <a:lnTo>
                  <a:pt x="14986" y="2286"/>
                </a:lnTo>
                <a:lnTo>
                  <a:pt x="13879" y="2311"/>
                </a:lnTo>
                <a:lnTo>
                  <a:pt x="15112" y="2793"/>
                </a:lnTo>
                <a:lnTo>
                  <a:pt x="16637" y="5206"/>
                </a:lnTo>
                <a:lnTo>
                  <a:pt x="18287" y="7493"/>
                </a:lnTo>
                <a:lnTo>
                  <a:pt x="18287" y="10540"/>
                </a:lnTo>
                <a:lnTo>
                  <a:pt x="16476" y="13207"/>
                </a:lnTo>
                <a:lnTo>
                  <a:pt x="15497" y="14758"/>
                </a:lnTo>
                <a:lnTo>
                  <a:pt x="15748" y="14731"/>
                </a:lnTo>
                <a:lnTo>
                  <a:pt x="16383" y="14731"/>
                </a:lnTo>
                <a:lnTo>
                  <a:pt x="24257" y="13081"/>
                </a:lnTo>
                <a:lnTo>
                  <a:pt x="25146" y="12826"/>
                </a:lnTo>
                <a:lnTo>
                  <a:pt x="35179" y="8889"/>
                </a:lnTo>
                <a:lnTo>
                  <a:pt x="37211" y="8000"/>
                </a:lnTo>
                <a:lnTo>
                  <a:pt x="38285" y="5851"/>
                </a:lnTo>
                <a:lnTo>
                  <a:pt x="38234" y="5206"/>
                </a:lnTo>
                <a:lnTo>
                  <a:pt x="37846" y="3556"/>
                </a:lnTo>
                <a:lnTo>
                  <a:pt x="37435" y="2158"/>
                </a:lnTo>
                <a:lnTo>
                  <a:pt x="22225" y="2158"/>
                </a:lnTo>
                <a:lnTo>
                  <a:pt x="22860" y="2031"/>
                </a:lnTo>
                <a:close/>
              </a:path>
              <a:path w="38735" h="16510">
                <a:moveTo>
                  <a:pt x="960" y="12876"/>
                </a:moveTo>
                <a:lnTo>
                  <a:pt x="1016" y="13207"/>
                </a:lnTo>
                <a:lnTo>
                  <a:pt x="1636" y="13739"/>
                </a:lnTo>
                <a:lnTo>
                  <a:pt x="960" y="12876"/>
                </a:lnTo>
                <a:close/>
              </a:path>
              <a:path w="38735" h="16510">
                <a:moveTo>
                  <a:pt x="395" y="9484"/>
                </a:moveTo>
                <a:lnTo>
                  <a:pt x="127" y="11811"/>
                </a:lnTo>
                <a:lnTo>
                  <a:pt x="960" y="12876"/>
                </a:lnTo>
                <a:lnTo>
                  <a:pt x="395" y="9484"/>
                </a:lnTo>
                <a:close/>
              </a:path>
              <a:path w="38735" h="16510">
                <a:moveTo>
                  <a:pt x="712" y="5851"/>
                </a:moveTo>
                <a:lnTo>
                  <a:pt x="0" y="7112"/>
                </a:lnTo>
                <a:lnTo>
                  <a:pt x="395" y="9484"/>
                </a:lnTo>
                <a:lnTo>
                  <a:pt x="508" y="8508"/>
                </a:lnTo>
                <a:lnTo>
                  <a:pt x="712" y="5851"/>
                </a:lnTo>
                <a:close/>
              </a:path>
              <a:path w="38735" h="16510">
                <a:moveTo>
                  <a:pt x="1443" y="4557"/>
                </a:moveTo>
                <a:lnTo>
                  <a:pt x="762" y="5206"/>
                </a:lnTo>
                <a:lnTo>
                  <a:pt x="712" y="5851"/>
                </a:lnTo>
                <a:lnTo>
                  <a:pt x="1443" y="4557"/>
                </a:lnTo>
                <a:close/>
              </a:path>
              <a:path w="38735" h="16510">
                <a:moveTo>
                  <a:pt x="1952" y="4072"/>
                </a:moveTo>
                <a:lnTo>
                  <a:pt x="1651" y="4190"/>
                </a:lnTo>
                <a:lnTo>
                  <a:pt x="1443" y="4557"/>
                </a:lnTo>
                <a:lnTo>
                  <a:pt x="1952" y="4072"/>
                </a:lnTo>
                <a:close/>
              </a:path>
              <a:path w="38735" h="16510">
                <a:moveTo>
                  <a:pt x="6985" y="2539"/>
                </a:moveTo>
                <a:lnTo>
                  <a:pt x="3429" y="2667"/>
                </a:lnTo>
                <a:lnTo>
                  <a:pt x="1952" y="4072"/>
                </a:lnTo>
                <a:lnTo>
                  <a:pt x="4572" y="3048"/>
                </a:lnTo>
                <a:lnTo>
                  <a:pt x="4826" y="2920"/>
                </a:lnTo>
                <a:lnTo>
                  <a:pt x="6985" y="2539"/>
                </a:lnTo>
                <a:close/>
              </a:path>
              <a:path w="38735" h="16510">
                <a:moveTo>
                  <a:pt x="13879" y="2311"/>
                </a:moveTo>
                <a:lnTo>
                  <a:pt x="8890" y="2412"/>
                </a:lnTo>
                <a:lnTo>
                  <a:pt x="8053" y="2468"/>
                </a:lnTo>
                <a:lnTo>
                  <a:pt x="7112" y="2667"/>
                </a:lnTo>
                <a:lnTo>
                  <a:pt x="8255" y="2539"/>
                </a:lnTo>
                <a:lnTo>
                  <a:pt x="14463" y="2539"/>
                </a:lnTo>
                <a:lnTo>
                  <a:pt x="13879" y="2311"/>
                </a:lnTo>
                <a:close/>
              </a:path>
              <a:path w="38735" h="16510">
                <a:moveTo>
                  <a:pt x="14463" y="2539"/>
                </a:moveTo>
                <a:lnTo>
                  <a:pt x="8255" y="2539"/>
                </a:lnTo>
                <a:lnTo>
                  <a:pt x="7112" y="2667"/>
                </a:lnTo>
                <a:lnTo>
                  <a:pt x="14788" y="2667"/>
                </a:lnTo>
                <a:lnTo>
                  <a:pt x="14463" y="2539"/>
                </a:lnTo>
                <a:close/>
              </a:path>
              <a:path w="38735" h="16510">
                <a:moveTo>
                  <a:pt x="12192" y="1650"/>
                </a:moveTo>
                <a:lnTo>
                  <a:pt x="8053" y="2468"/>
                </a:lnTo>
                <a:lnTo>
                  <a:pt x="8890" y="2412"/>
                </a:lnTo>
                <a:lnTo>
                  <a:pt x="13879" y="2311"/>
                </a:lnTo>
                <a:lnTo>
                  <a:pt x="12192" y="1650"/>
                </a:lnTo>
                <a:close/>
              </a:path>
              <a:path w="38735" h="16510">
                <a:moveTo>
                  <a:pt x="35052" y="0"/>
                </a:moveTo>
                <a:lnTo>
                  <a:pt x="22225" y="2158"/>
                </a:lnTo>
                <a:lnTo>
                  <a:pt x="37435" y="2158"/>
                </a:lnTo>
                <a:lnTo>
                  <a:pt x="37211" y="1396"/>
                </a:lnTo>
                <a:lnTo>
                  <a:pt x="35052" y="0"/>
                </a:lnTo>
                <a:close/>
              </a:path>
            </a:pathLst>
          </a:custGeom>
          <a:solidFill>
            <a:srgbClr val="FF0000"/>
          </a:solidFill>
        </p:spPr>
        <p:txBody>
          <a:bodyPr wrap="square" lIns="0" tIns="0" rIns="0" bIns="0" rtlCol="0"/>
          <a:lstStyle/>
          <a:p>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55</a:t>
            </a:fld>
            <a:endParaRPr dirty="0"/>
          </a:p>
        </p:txBody>
      </p:sp>
    </p:spTree>
    <p:extLst>
      <p:ext uri="{BB962C8B-B14F-4D97-AF65-F5344CB8AC3E}">
        <p14:creationId xmlns:p14="http://schemas.microsoft.com/office/powerpoint/2010/main" val="29469992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3172" y="522859"/>
            <a:ext cx="3651250" cy="452120"/>
          </a:xfrm>
          <a:prstGeom prst="rect">
            <a:avLst/>
          </a:prstGeom>
        </p:spPr>
        <p:txBody>
          <a:bodyPr vert="horz" wrap="square" lIns="0" tIns="12065" rIns="0" bIns="0" rtlCol="0">
            <a:spAutoFit/>
          </a:bodyPr>
          <a:lstStyle/>
          <a:p>
            <a:pPr marL="12700">
              <a:lnSpc>
                <a:spcPct val="100000"/>
              </a:lnSpc>
              <a:spcBef>
                <a:spcPts val="95"/>
              </a:spcBef>
            </a:pPr>
            <a:r>
              <a:rPr spc="-15" dirty="0"/>
              <a:t>Calculate </a:t>
            </a:r>
            <a:r>
              <a:rPr spc="-20" dirty="0"/>
              <a:t>Entropy </a:t>
            </a:r>
            <a:r>
              <a:rPr spc="-25" dirty="0"/>
              <a:t>for</a:t>
            </a:r>
            <a:r>
              <a:rPr spc="10" dirty="0"/>
              <a:t> </a:t>
            </a:r>
            <a:r>
              <a:rPr spc="-25" dirty="0"/>
              <a:t>Fair</a:t>
            </a:r>
          </a:p>
        </p:txBody>
      </p:sp>
      <p:sp>
        <p:nvSpPr>
          <p:cNvPr id="3" name="object 3"/>
          <p:cNvSpPr txBox="1"/>
          <p:nvPr/>
        </p:nvSpPr>
        <p:spPr>
          <a:xfrm>
            <a:off x="535940" y="1216913"/>
            <a:ext cx="873760"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latin typeface="Carlito"/>
                <a:cs typeface="Carlito"/>
              </a:rPr>
              <a:t>Fair</a:t>
            </a:r>
            <a:r>
              <a:rPr sz="2000" spc="-90" dirty="0">
                <a:latin typeface="Carlito"/>
                <a:cs typeface="Carlito"/>
              </a:rPr>
              <a:t> </a:t>
            </a:r>
            <a:r>
              <a:rPr sz="2000" dirty="0">
                <a:latin typeface="Carlito"/>
                <a:cs typeface="Carlito"/>
              </a:rPr>
              <a:t>:</a:t>
            </a:r>
            <a:endParaRPr sz="2000">
              <a:latin typeface="Carlito"/>
              <a:cs typeface="Carlito"/>
            </a:endParaRPr>
          </a:p>
        </p:txBody>
      </p:sp>
      <p:sp>
        <p:nvSpPr>
          <p:cNvPr id="4" name="object 4"/>
          <p:cNvSpPr txBox="1"/>
          <p:nvPr/>
        </p:nvSpPr>
        <p:spPr>
          <a:xfrm>
            <a:off x="510540" y="2985871"/>
            <a:ext cx="3785870" cy="756920"/>
          </a:xfrm>
          <a:prstGeom prst="rect">
            <a:avLst/>
          </a:prstGeom>
        </p:spPr>
        <p:txBody>
          <a:bodyPr vert="horz" wrap="square" lIns="0" tIns="73660" rIns="0" bIns="0" rtlCol="0">
            <a:spAutoFit/>
          </a:bodyPr>
          <a:lstStyle/>
          <a:p>
            <a:pPr marL="381000" indent="-342900">
              <a:lnSpc>
                <a:spcPct val="100000"/>
              </a:lnSpc>
              <a:spcBef>
                <a:spcPts val="580"/>
              </a:spcBef>
              <a:buFont typeface="Arial"/>
              <a:buChar char="•"/>
              <a:tabLst>
                <a:tab pos="380365" algn="l"/>
                <a:tab pos="381000" algn="l"/>
              </a:tabLst>
            </a:pPr>
            <a:r>
              <a:rPr sz="2000" spc="-10" dirty="0">
                <a:latin typeface="Carlito"/>
                <a:cs typeface="Carlito"/>
              </a:rPr>
              <a:t>Calculate Entropy </a:t>
            </a:r>
            <a:r>
              <a:rPr sz="2000" spc="-15" dirty="0">
                <a:latin typeface="Carlito"/>
                <a:cs typeface="Carlito"/>
              </a:rPr>
              <a:t>for</a:t>
            </a:r>
            <a:r>
              <a:rPr sz="2000" spc="-20" dirty="0">
                <a:latin typeface="Carlito"/>
                <a:cs typeface="Carlito"/>
              </a:rPr>
              <a:t> </a:t>
            </a:r>
            <a:r>
              <a:rPr sz="2000" spc="-10" dirty="0">
                <a:latin typeface="Carlito"/>
                <a:cs typeface="Carlito"/>
              </a:rPr>
              <a:t>Fair:</a:t>
            </a:r>
            <a:endParaRPr sz="2000">
              <a:latin typeface="Carlito"/>
              <a:cs typeface="Carlito"/>
            </a:endParaRPr>
          </a:p>
          <a:p>
            <a:pPr marL="438784">
              <a:lnSpc>
                <a:spcPct val="100000"/>
              </a:lnSpc>
              <a:spcBef>
                <a:spcPts val="480"/>
              </a:spcBef>
            </a:pPr>
            <a:r>
              <a:rPr sz="2000" dirty="0">
                <a:latin typeface="Carlito"/>
                <a:cs typeface="Carlito"/>
              </a:rPr>
              <a:t>= -(6/8)log</a:t>
            </a:r>
            <a:r>
              <a:rPr sz="1950" baseline="-21367" dirty="0">
                <a:latin typeface="Carlito"/>
                <a:cs typeface="Carlito"/>
              </a:rPr>
              <a:t>2</a:t>
            </a:r>
            <a:r>
              <a:rPr sz="2000" dirty="0">
                <a:latin typeface="Carlito"/>
                <a:cs typeface="Carlito"/>
              </a:rPr>
              <a:t>(6/8) -</a:t>
            </a:r>
            <a:r>
              <a:rPr sz="2000" spc="-75" dirty="0">
                <a:latin typeface="Carlito"/>
                <a:cs typeface="Carlito"/>
              </a:rPr>
              <a:t> </a:t>
            </a:r>
            <a:r>
              <a:rPr sz="2000" dirty="0">
                <a:latin typeface="Carlito"/>
                <a:cs typeface="Carlito"/>
              </a:rPr>
              <a:t>(2/8)log</a:t>
            </a:r>
            <a:r>
              <a:rPr sz="1950" baseline="-21367" dirty="0">
                <a:latin typeface="Carlito"/>
                <a:cs typeface="Carlito"/>
              </a:rPr>
              <a:t>2</a:t>
            </a:r>
            <a:r>
              <a:rPr sz="2000" dirty="0">
                <a:latin typeface="Carlito"/>
                <a:cs typeface="Carlito"/>
              </a:rPr>
              <a:t>(2/8)</a:t>
            </a:r>
            <a:endParaRPr sz="2000">
              <a:latin typeface="Carlito"/>
              <a:cs typeface="Carlito"/>
            </a:endParaRPr>
          </a:p>
        </p:txBody>
      </p:sp>
      <p:graphicFrame>
        <p:nvGraphicFramePr>
          <p:cNvPr id="5" name="object 5"/>
          <p:cNvGraphicFramePr>
            <a:graphicFrameLocks noGrp="1"/>
          </p:cNvGraphicFramePr>
          <p:nvPr/>
        </p:nvGraphicFramePr>
        <p:xfrm>
          <a:off x="677214" y="1629282"/>
          <a:ext cx="3264535" cy="1097278"/>
        </p:xfrm>
        <a:graphic>
          <a:graphicData uri="http://schemas.openxmlformats.org/drawingml/2006/table">
            <a:tbl>
              <a:tblPr firstRow="1" bandRow="1">
                <a:tableStyleId>{2D5ABB26-0587-4C30-8999-92F81FD0307C}</a:tableStyleId>
              </a:tblPr>
              <a:tblGrid>
                <a:gridCol w="815975">
                  <a:extLst>
                    <a:ext uri="{9D8B030D-6E8A-4147-A177-3AD203B41FA5}">
                      <a16:colId xmlns:a16="http://schemas.microsoft.com/office/drawing/2014/main" val="20000"/>
                    </a:ext>
                  </a:extLst>
                </a:gridCol>
                <a:gridCol w="2448560">
                  <a:extLst>
                    <a:ext uri="{9D8B030D-6E8A-4147-A177-3AD203B41FA5}">
                      <a16:colId xmlns:a16="http://schemas.microsoft.com/office/drawing/2014/main" val="20001"/>
                    </a:ext>
                  </a:extLst>
                </a:gridCol>
              </a:tblGrid>
              <a:tr h="365759">
                <a:tc>
                  <a:txBody>
                    <a:bodyPr/>
                    <a:lstStyle/>
                    <a:p>
                      <a:pPr marL="233679">
                        <a:lnSpc>
                          <a:spcPct val="100000"/>
                        </a:lnSpc>
                        <a:spcBef>
                          <a:spcPts val="240"/>
                        </a:spcBef>
                      </a:pPr>
                      <a:r>
                        <a:rPr sz="1800" b="1" spc="-15" dirty="0">
                          <a:solidFill>
                            <a:srgbClr val="FFFFFF"/>
                          </a:solidFill>
                          <a:latin typeface="Carlito"/>
                          <a:cs typeface="Carlito"/>
                        </a:rPr>
                        <a:t>Fair</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0"/>
                        </a:spcBef>
                      </a:pPr>
                      <a:r>
                        <a:rPr sz="1800" b="1" spc="-5" dirty="0">
                          <a:solidFill>
                            <a:srgbClr val="FFFFFF"/>
                          </a:solidFill>
                          <a:latin typeface="Carlito"/>
                          <a:cs typeface="Carlito"/>
                        </a:rPr>
                        <a:t>Class: buys</a:t>
                      </a:r>
                      <a:r>
                        <a:rPr sz="1800" b="1" spc="-65" dirty="0">
                          <a:solidFill>
                            <a:srgbClr val="FFFFFF"/>
                          </a:solidFill>
                          <a:latin typeface="Carlito"/>
                          <a:cs typeface="Carlito"/>
                        </a:rPr>
                        <a:t> </a:t>
                      </a:r>
                      <a:r>
                        <a:rPr sz="1800" b="1" spc="-5" dirty="0">
                          <a:solidFill>
                            <a:srgbClr val="FFFFFF"/>
                          </a:solidFill>
                          <a:latin typeface="Carlito"/>
                          <a:cs typeface="Carlito"/>
                        </a:rPr>
                        <a:t>computer</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59">
                <a:tc>
                  <a:txBody>
                    <a:bodyPr/>
                    <a:lstStyle/>
                    <a:p>
                      <a:pPr marL="257810">
                        <a:lnSpc>
                          <a:spcPct val="100000"/>
                        </a:lnSpc>
                        <a:spcBef>
                          <a:spcPts val="240"/>
                        </a:spcBef>
                      </a:pPr>
                      <a:r>
                        <a:rPr sz="1800" spc="-45" dirty="0">
                          <a:latin typeface="Carlito"/>
                          <a:cs typeface="Carlito"/>
                        </a:rPr>
                        <a:t>Yes</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0"/>
                        </a:spcBef>
                      </a:pPr>
                      <a:r>
                        <a:rPr sz="1800" dirty="0">
                          <a:latin typeface="Carlito"/>
                          <a:cs typeface="Carlito"/>
                        </a:rPr>
                        <a:t>6</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60">
                <a:tc>
                  <a:txBody>
                    <a:bodyPr/>
                    <a:lstStyle/>
                    <a:p>
                      <a:pPr marL="273050">
                        <a:lnSpc>
                          <a:spcPct val="100000"/>
                        </a:lnSpc>
                        <a:spcBef>
                          <a:spcPts val="245"/>
                        </a:spcBef>
                      </a:pPr>
                      <a:r>
                        <a:rPr sz="1800" dirty="0">
                          <a:latin typeface="Carlito"/>
                          <a:cs typeface="Carlito"/>
                        </a:rPr>
                        <a:t>No</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2</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56</a:t>
            </a:fld>
            <a:endParaRPr dirty="0"/>
          </a:p>
        </p:txBody>
      </p:sp>
      <p:sp>
        <p:nvSpPr>
          <p:cNvPr id="16" name="object 7">
            <a:extLst>
              <a:ext uri="{FF2B5EF4-FFF2-40B4-BE49-F238E27FC236}">
                <a16:creationId xmlns:a16="http://schemas.microsoft.com/office/drawing/2014/main" id="{0FA377BA-48FD-461E-A825-48EE171C9387}"/>
              </a:ext>
            </a:extLst>
          </p:cNvPr>
          <p:cNvSpPr/>
          <p:nvPr/>
        </p:nvSpPr>
        <p:spPr>
          <a:xfrm>
            <a:off x="4748785" y="1473301"/>
            <a:ext cx="4395215" cy="3025140"/>
          </a:xfrm>
          <a:prstGeom prst="rect">
            <a:avLst/>
          </a:prstGeom>
          <a:blipFill>
            <a:blip r:embed="rId2" cstate="print"/>
            <a:stretch>
              <a:fillRect/>
            </a:stretch>
          </a:blipFill>
        </p:spPr>
        <p:txBody>
          <a:bodyPr wrap="square" lIns="0" tIns="0" rIns="0" bIns="0" rtlCol="0"/>
          <a:lstStyle/>
          <a:p>
            <a:endParaRPr dirty="0"/>
          </a:p>
        </p:txBody>
      </p:sp>
      <p:sp>
        <p:nvSpPr>
          <p:cNvPr id="17" name="object 8">
            <a:extLst>
              <a:ext uri="{FF2B5EF4-FFF2-40B4-BE49-F238E27FC236}">
                <a16:creationId xmlns:a16="http://schemas.microsoft.com/office/drawing/2014/main" id="{CC252F5A-579E-48D1-A4D5-8E894653690F}"/>
              </a:ext>
            </a:extLst>
          </p:cNvPr>
          <p:cNvSpPr/>
          <p:nvPr/>
        </p:nvSpPr>
        <p:spPr>
          <a:xfrm>
            <a:off x="6817792" y="1506003"/>
            <a:ext cx="844550" cy="2959735"/>
          </a:xfrm>
          <a:custGeom>
            <a:avLst/>
            <a:gdLst/>
            <a:ahLst/>
            <a:cxnLst/>
            <a:rect l="l" t="t" r="r" b="b"/>
            <a:pathLst>
              <a:path w="844550" h="2959735">
                <a:moveTo>
                  <a:pt x="0" y="2959608"/>
                </a:moveTo>
                <a:lnTo>
                  <a:pt x="844296" y="2959608"/>
                </a:lnTo>
                <a:lnTo>
                  <a:pt x="844296" y="0"/>
                </a:lnTo>
                <a:lnTo>
                  <a:pt x="0" y="0"/>
                </a:lnTo>
                <a:lnTo>
                  <a:pt x="0" y="2959608"/>
                </a:lnTo>
                <a:close/>
              </a:path>
            </a:pathLst>
          </a:custGeom>
          <a:ln w="38100">
            <a:solidFill>
              <a:srgbClr val="385D89"/>
            </a:solidFill>
          </a:ln>
        </p:spPr>
        <p:txBody>
          <a:bodyPr wrap="square" lIns="0" tIns="0" rIns="0" bIns="0" rtlCol="0"/>
          <a:lstStyle/>
          <a:p>
            <a:endParaRPr/>
          </a:p>
        </p:txBody>
      </p:sp>
    </p:spTree>
    <p:extLst>
      <p:ext uri="{BB962C8B-B14F-4D97-AF65-F5344CB8AC3E}">
        <p14:creationId xmlns:p14="http://schemas.microsoft.com/office/powerpoint/2010/main" val="37599440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5629" y="385953"/>
            <a:ext cx="4412615" cy="452120"/>
          </a:xfrm>
          <a:prstGeom prst="rect">
            <a:avLst/>
          </a:prstGeom>
        </p:spPr>
        <p:txBody>
          <a:bodyPr vert="horz" wrap="square" lIns="0" tIns="12065" rIns="0" bIns="0" rtlCol="0">
            <a:spAutoFit/>
          </a:bodyPr>
          <a:lstStyle/>
          <a:p>
            <a:pPr marL="12700">
              <a:lnSpc>
                <a:spcPct val="100000"/>
              </a:lnSpc>
              <a:spcBef>
                <a:spcPts val="95"/>
              </a:spcBef>
            </a:pPr>
            <a:r>
              <a:rPr spc="-15" dirty="0"/>
              <a:t>Calculate </a:t>
            </a:r>
            <a:r>
              <a:rPr spc="-20" dirty="0"/>
              <a:t>Entropy </a:t>
            </a:r>
            <a:r>
              <a:rPr spc="-25" dirty="0"/>
              <a:t>for</a:t>
            </a:r>
            <a:r>
              <a:rPr spc="30" dirty="0"/>
              <a:t> </a:t>
            </a:r>
            <a:r>
              <a:rPr spc="-15" dirty="0"/>
              <a:t>Excellent</a:t>
            </a:r>
          </a:p>
        </p:txBody>
      </p:sp>
      <p:sp>
        <p:nvSpPr>
          <p:cNvPr id="3" name="object 3"/>
          <p:cNvSpPr txBox="1"/>
          <p:nvPr/>
        </p:nvSpPr>
        <p:spPr>
          <a:xfrm>
            <a:off x="535940" y="1216913"/>
            <a:ext cx="1418590"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10" dirty="0">
                <a:latin typeface="Carlito"/>
                <a:cs typeface="Carlito"/>
              </a:rPr>
              <a:t>Excellent</a:t>
            </a:r>
            <a:r>
              <a:rPr sz="2000" spc="-50" dirty="0">
                <a:latin typeface="Carlito"/>
                <a:cs typeface="Carlito"/>
              </a:rPr>
              <a:t> </a:t>
            </a:r>
            <a:r>
              <a:rPr sz="2000" dirty="0">
                <a:latin typeface="Carlito"/>
                <a:cs typeface="Carlito"/>
              </a:rPr>
              <a:t>:</a:t>
            </a:r>
            <a:endParaRPr sz="2000">
              <a:latin typeface="Carlito"/>
              <a:cs typeface="Carlito"/>
            </a:endParaRPr>
          </a:p>
        </p:txBody>
      </p:sp>
      <p:sp>
        <p:nvSpPr>
          <p:cNvPr id="4" name="object 4"/>
          <p:cNvSpPr txBox="1"/>
          <p:nvPr/>
        </p:nvSpPr>
        <p:spPr>
          <a:xfrm>
            <a:off x="510540" y="2985871"/>
            <a:ext cx="3786504" cy="756920"/>
          </a:xfrm>
          <a:prstGeom prst="rect">
            <a:avLst/>
          </a:prstGeom>
        </p:spPr>
        <p:txBody>
          <a:bodyPr vert="horz" wrap="square" lIns="0" tIns="73660" rIns="0" bIns="0" rtlCol="0">
            <a:spAutoFit/>
          </a:bodyPr>
          <a:lstStyle/>
          <a:p>
            <a:pPr marL="381000" indent="-342900">
              <a:lnSpc>
                <a:spcPct val="100000"/>
              </a:lnSpc>
              <a:spcBef>
                <a:spcPts val="580"/>
              </a:spcBef>
              <a:buFont typeface="Arial"/>
              <a:buChar char="•"/>
              <a:tabLst>
                <a:tab pos="380365" algn="l"/>
                <a:tab pos="381000" algn="l"/>
              </a:tabLst>
            </a:pPr>
            <a:r>
              <a:rPr sz="2000" spc="-10" dirty="0">
                <a:latin typeface="Carlito"/>
                <a:cs typeface="Carlito"/>
              </a:rPr>
              <a:t>Calculate Entropy </a:t>
            </a:r>
            <a:r>
              <a:rPr sz="2000" spc="-15" dirty="0">
                <a:latin typeface="Carlito"/>
                <a:cs typeface="Carlito"/>
              </a:rPr>
              <a:t>for </a:t>
            </a:r>
            <a:r>
              <a:rPr sz="2000" spc="-10" dirty="0">
                <a:latin typeface="Carlito"/>
                <a:cs typeface="Carlito"/>
              </a:rPr>
              <a:t>Excellent:</a:t>
            </a:r>
            <a:endParaRPr sz="2000">
              <a:latin typeface="Carlito"/>
              <a:cs typeface="Carlito"/>
            </a:endParaRPr>
          </a:p>
          <a:p>
            <a:pPr marL="438784">
              <a:lnSpc>
                <a:spcPct val="100000"/>
              </a:lnSpc>
              <a:spcBef>
                <a:spcPts val="480"/>
              </a:spcBef>
            </a:pPr>
            <a:r>
              <a:rPr sz="2000" dirty="0">
                <a:latin typeface="Carlito"/>
                <a:cs typeface="Carlito"/>
              </a:rPr>
              <a:t>= -(3/6)log</a:t>
            </a:r>
            <a:r>
              <a:rPr sz="1950" baseline="-21367" dirty="0">
                <a:latin typeface="Carlito"/>
                <a:cs typeface="Carlito"/>
              </a:rPr>
              <a:t>2</a:t>
            </a:r>
            <a:r>
              <a:rPr sz="2000" dirty="0">
                <a:latin typeface="Carlito"/>
                <a:cs typeface="Carlito"/>
              </a:rPr>
              <a:t>(3/6) -</a:t>
            </a:r>
            <a:r>
              <a:rPr sz="2000" spc="-75" dirty="0">
                <a:latin typeface="Carlito"/>
                <a:cs typeface="Carlito"/>
              </a:rPr>
              <a:t> </a:t>
            </a:r>
            <a:r>
              <a:rPr sz="2000" dirty="0">
                <a:latin typeface="Carlito"/>
                <a:cs typeface="Carlito"/>
              </a:rPr>
              <a:t>(3/6)log</a:t>
            </a:r>
            <a:r>
              <a:rPr sz="1950" baseline="-21367" dirty="0">
                <a:latin typeface="Carlito"/>
                <a:cs typeface="Carlito"/>
              </a:rPr>
              <a:t>2</a:t>
            </a:r>
            <a:r>
              <a:rPr sz="2000" dirty="0">
                <a:latin typeface="Carlito"/>
                <a:cs typeface="Carlito"/>
              </a:rPr>
              <a:t>(3/6)</a:t>
            </a:r>
            <a:endParaRPr sz="2000">
              <a:latin typeface="Carlito"/>
              <a:cs typeface="Carlito"/>
            </a:endParaRPr>
          </a:p>
        </p:txBody>
      </p:sp>
      <p:graphicFrame>
        <p:nvGraphicFramePr>
          <p:cNvPr id="5" name="object 5"/>
          <p:cNvGraphicFramePr>
            <a:graphicFrameLocks noGrp="1"/>
          </p:cNvGraphicFramePr>
          <p:nvPr/>
        </p:nvGraphicFramePr>
        <p:xfrm>
          <a:off x="1181277" y="1629282"/>
          <a:ext cx="3264535" cy="1097278"/>
        </p:xfrm>
        <a:graphic>
          <a:graphicData uri="http://schemas.openxmlformats.org/drawingml/2006/table">
            <a:tbl>
              <a:tblPr firstRow="1" bandRow="1">
                <a:tableStyleId>{2D5ABB26-0587-4C30-8999-92F81FD0307C}</a:tableStyleId>
              </a:tblPr>
              <a:tblGrid>
                <a:gridCol w="815975">
                  <a:extLst>
                    <a:ext uri="{9D8B030D-6E8A-4147-A177-3AD203B41FA5}">
                      <a16:colId xmlns:a16="http://schemas.microsoft.com/office/drawing/2014/main" val="20000"/>
                    </a:ext>
                  </a:extLst>
                </a:gridCol>
                <a:gridCol w="2448560">
                  <a:extLst>
                    <a:ext uri="{9D8B030D-6E8A-4147-A177-3AD203B41FA5}">
                      <a16:colId xmlns:a16="http://schemas.microsoft.com/office/drawing/2014/main" val="20001"/>
                    </a:ext>
                  </a:extLst>
                </a:gridCol>
              </a:tblGrid>
              <a:tr h="365759">
                <a:tc>
                  <a:txBody>
                    <a:bodyPr/>
                    <a:lstStyle/>
                    <a:p>
                      <a:pPr algn="ctr">
                        <a:lnSpc>
                          <a:spcPct val="100000"/>
                        </a:lnSpc>
                        <a:spcBef>
                          <a:spcPts val="240"/>
                        </a:spcBef>
                      </a:pPr>
                      <a:r>
                        <a:rPr sz="1800" b="1" spc="-50" dirty="0">
                          <a:solidFill>
                            <a:srgbClr val="FFFFFF"/>
                          </a:solidFill>
                          <a:latin typeface="Carlito"/>
                          <a:cs typeface="Carlito"/>
                        </a:rPr>
                        <a:t>Yes</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40"/>
                        </a:spcBef>
                      </a:pPr>
                      <a:r>
                        <a:rPr sz="1800" b="1" spc="-5" dirty="0">
                          <a:solidFill>
                            <a:srgbClr val="FFFFFF"/>
                          </a:solidFill>
                          <a:latin typeface="Carlito"/>
                          <a:cs typeface="Carlito"/>
                        </a:rPr>
                        <a:t>Class: buys</a:t>
                      </a:r>
                      <a:r>
                        <a:rPr sz="1800" b="1" spc="-65" dirty="0">
                          <a:solidFill>
                            <a:srgbClr val="FFFFFF"/>
                          </a:solidFill>
                          <a:latin typeface="Carlito"/>
                          <a:cs typeface="Carlito"/>
                        </a:rPr>
                        <a:t> </a:t>
                      </a:r>
                      <a:r>
                        <a:rPr sz="1800" b="1" spc="-5" dirty="0">
                          <a:solidFill>
                            <a:srgbClr val="FFFFFF"/>
                          </a:solidFill>
                          <a:latin typeface="Carlito"/>
                          <a:cs typeface="Carlito"/>
                        </a:rPr>
                        <a:t>computer</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65759">
                <a:tc>
                  <a:txBody>
                    <a:bodyPr/>
                    <a:lstStyle/>
                    <a:p>
                      <a:pPr algn="ctr">
                        <a:lnSpc>
                          <a:spcPct val="100000"/>
                        </a:lnSpc>
                        <a:spcBef>
                          <a:spcPts val="240"/>
                        </a:spcBef>
                      </a:pPr>
                      <a:r>
                        <a:rPr sz="1800" spc="-45" dirty="0">
                          <a:latin typeface="Carlito"/>
                          <a:cs typeface="Carlito"/>
                        </a:rPr>
                        <a:t>Yes</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gn="ctr">
                        <a:lnSpc>
                          <a:spcPct val="100000"/>
                        </a:lnSpc>
                        <a:spcBef>
                          <a:spcPts val="240"/>
                        </a:spcBef>
                      </a:pPr>
                      <a:r>
                        <a:rPr sz="1800" dirty="0">
                          <a:latin typeface="Carlito"/>
                          <a:cs typeface="Carlito"/>
                        </a:rPr>
                        <a:t>3</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65760">
                <a:tc>
                  <a:txBody>
                    <a:bodyPr/>
                    <a:lstStyle/>
                    <a:p>
                      <a:pPr algn="ctr">
                        <a:lnSpc>
                          <a:spcPct val="100000"/>
                        </a:lnSpc>
                        <a:spcBef>
                          <a:spcPts val="245"/>
                        </a:spcBef>
                      </a:pPr>
                      <a:r>
                        <a:rPr sz="1800" dirty="0">
                          <a:latin typeface="Carlito"/>
                          <a:cs typeface="Carlito"/>
                        </a:rPr>
                        <a:t>No</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gn="ctr">
                        <a:lnSpc>
                          <a:spcPct val="100000"/>
                        </a:lnSpc>
                        <a:spcBef>
                          <a:spcPts val="245"/>
                        </a:spcBef>
                      </a:pPr>
                      <a:r>
                        <a:rPr sz="1800" dirty="0">
                          <a:latin typeface="Carlito"/>
                          <a:cs typeface="Carlito"/>
                        </a:rPr>
                        <a:t>3</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
        <p:nvSpPr>
          <p:cNvPr id="7" name="object 7"/>
          <p:cNvSpPr/>
          <p:nvPr/>
        </p:nvSpPr>
        <p:spPr>
          <a:xfrm>
            <a:off x="4748785" y="1473301"/>
            <a:ext cx="4395215" cy="3025140"/>
          </a:xfrm>
          <a:prstGeom prst="rect">
            <a:avLst/>
          </a:prstGeom>
          <a:blipFill>
            <a:blip r:embed="rId2" cstate="print"/>
            <a:stretch>
              <a:fillRect/>
            </a:stretch>
          </a:blipFill>
        </p:spPr>
        <p:txBody>
          <a:bodyPr wrap="square" lIns="0" tIns="0" rIns="0" bIns="0" rtlCol="0"/>
          <a:lstStyle/>
          <a:p>
            <a:endParaRPr dirty="0"/>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57</a:t>
            </a:fld>
            <a:endParaRPr dirty="0"/>
          </a:p>
        </p:txBody>
      </p:sp>
      <p:sp>
        <p:nvSpPr>
          <p:cNvPr id="14" name="object 8">
            <a:extLst>
              <a:ext uri="{FF2B5EF4-FFF2-40B4-BE49-F238E27FC236}">
                <a16:creationId xmlns:a16="http://schemas.microsoft.com/office/drawing/2014/main" id="{E2E19123-51DF-4C72-8545-D6E3C674202B}"/>
              </a:ext>
            </a:extLst>
          </p:cNvPr>
          <p:cNvSpPr/>
          <p:nvPr/>
        </p:nvSpPr>
        <p:spPr>
          <a:xfrm>
            <a:off x="6817792" y="1506003"/>
            <a:ext cx="844550" cy="2959735"/>
          </a:xfrm>
          <a:custGeom>
            <a:avLst/>
            <a:gdLst/>
            <a:ahLst/>
            <a:cxnLst/>
            <a:rect l="l" t="t" r="r" b="b"/>
            <a:pathLst>
              <a:path w="844550" h="2959735">
                <a:moveTo>
                  <a:pt x="0" y="2959608"/>
                </a:moveTo>
                <a:lnTo>
                  <a:pt x="844296" y="2959608"/>
                </a:lnTo>
                <a:lnTo>
                  <a:pt x="844296" y="0"/>
                </a:lnTo>
                <a:lnTo>
                  <a:pt x="0" y="0"/>
                </a:lnTo>
                <a:lnTo>
                  <a:pt x="0" y="2959608"/>
                </a:lnTo>
                <a:close/>
              </a:path>
            </a:pathLst>
          </a:custGeom>
          <a:ln w="38100">
            <a:solidFill>
              <a:srgbClr val="385D89"/>
            </a:solidFill>
          </a:ln>
        </p:spPr>
        <p:txBody>
          <a:bodyPr wrap="square" lIns="0" tIns="0" rIns="0" bIns="0" rtlCol="0"/>
          <a:lstStyle/>
          <a:p>
            <a:endParaRPr/>
          </a:p>
        </p:txBody>
      </p:sp>
    </p:spTree>
    <p:extLst>
      <p:ext uri="{BB962C8B-B14F-4D97-AF65-F5344CB8AC3E}">
        <p14:creationId xmlns:p14="http://schemas.microsoft.com/office/powerpoint/2010/main" val="37883675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65526" y="385953"/>
            <a:ext cx="3011805" cy="452120"/>
          </a:xfrm>
          <a:prstGeom prst="rect">
            <a:avLst/>
          </a:prstGeom>
        </p:spPr>
        <p:txBody>
          <a:bodyPr vert="horz" wrap="square" lIns="0" tIns="12065" rIns="0" bIns="0" rtlCol="0">
            <a:spAutoFit/>
          </a:bodyPr>
          <a:lstStyle/>
          <a:p>
            <a:pPr marL="12700">
              <a:lnSpc>
                <a:spcPct val="100000"/>
              </a:lnSpc>
              <a:spcBef>
                <a:spcPts val="95"/>
              </a:spcBef>
            </a:pPr>
            <a:r>
              <a:rPr spc="-5" dirty="0"/>
              <a:t>Gain </a:t>
            </a:r>
            <a:r>
              <a:rPr spc="-25" dirty="0"/>
              <a:t>for </a:t>
            </a:r>
            <a:r>
              <a:rPr spc="-10" dirty="0"/>
              <a:t>credit</a:t>
            </a:r>
            <a:r>
              <a:rPr spc="-30" dirty="0"/>
              <a:t> </a:t>
            </a:r>
            <a:r>
              <a:rPr spc="-20" dirty="0"/>
              <a:t>rating</a:t>
            </a:r>
          </a:p>
        </p:txBody>
      </p:sp>
      <p:sp>
        <p:nvSpPr>
          <p:cNvPr id="3" name="object 3"/>
          <p:cNvSpPr txBox="1"/>
          <p:nvPr/>
        </p:nvSpPr>
        <p:spPr>
          <a:xfrm>
            <a:off x="485140" y="1216913"/>
            <a:ext cx="7980680" cy="2830830"/>
          </a:xfrm>
          <a:prstGeom prst="rect">
            <a:avLst/>
          </a:prstGeom>
        </p:spPr>
        <p:txBody>
          <a:bodyPr vert="horz" wrap="square" lIns="0" tIns="13335" rIns="0" bIns="0" rtlCol="0">
            <a:spAutoFit/>
          </a:bodyPr>
          <a:lstStyle/>
          <a:p>
            <a:pPr marL="406400" marR="68580" indent="-342900">
              <a:lnSpc>
                <a:spcPct val="100000"/>
              </a:lnSpc>
              <a:spcBef>
                <a:spcPts val="105"/>
              </a:spcBef>
              <a:buFont typeface="Arial"/>
              <a:buChar char="•"/>
              <a:tabLst>
                <a:tab pos="405765" algn="l"/>
                <a:tab pos="406400" algn="l"/>
              </a:tabLst>
            </a:pPr>
            <a:r>
              <a:rPr sz="2000" spc="-5" dirty="0">
                <a:latin typeface="Carlito"/>
                <a:cs typeface="Carlito"/>
              </a:rPr>
              <a:t>The </a:t>
            </a:r>
            <a:r>
              <a:rPr sz="2000" spc="-10" dirty="0">
                <a:latin typeface="Carlito"/>
                <a:cs typeface="Carlito"/>
              </a:rPr>
              <a:t>expected information </a:t>
            </a:r>
            <a:r>
              <a:rPr sz="2000" dirty="0">
                <a:latin typeface="Carlito"/>
                <a:cs typeface="Carlito"/>
              </a:rPr>
              <a:t>needed </a:t>
            </a:r>
            <a:r>
              <a:rPr sz="2000" spc="-15" dirty="0">
                <a:latin typeface="Carlito"/>
                <a:cs typeface="Carlito"/>
              </a:rPr>
              <a:t>to </a:t>
            </a:r>
            <a:r>
              <a:rPr sz="2000" spc="-5" dirty="0">
                <a:latin typeface="Carlito"/>
                <a:cs typeface="Carlito"/>
              </a:rPr>
              <a:t>classify </a:t>
            </a:r>
            <a:r>
              <a:rPr sz="2000" dirty="0">
                <a:latin typeface="Carlito"/>
                <a:cs typeface="Carlito"/>
              </a:rPr>
              <a:t>a tuple in D if the tuples </a:t>
            </a:r>
            <a:r>
              <a:rPr sz="2000" spc="-10" dirty="0">
                <a:latin typeface="Carlito"/>
                <a:cs typeface="Carlito"/>
              </a:rPr>
              <a:t>are  </a:t>
            </a:r>
            <a:r>
              <a:rPr sz="2000" dirty="0">
                <a:latin typeface="Carlito"/>
                <a:cs typeface="Carlito"/>
              </a:rPr>
              <a:t>partitioned </a:t>
            </a:r>
            <a:r>
              <a:rPr sz="2000" spc="-5" dirty="0">
                <a:latin typeface="Carlito"/>
                <a:cs typeface="Carlito"/>
              </a:rPr>
              <a:t>according </a:t>
            </a:r>
            <a:r>
              <a:rPr sz="2000" spc="-15" dirty="0">
                <a:latin typeface="Carlito"/>
                <a:cs typeface="Carlito"/>
              </a:rPr>
              <a:t>to </a:t>
            </a:r>
            <a:r>
              <a:rPr sz="2000" spc="-5" dirty="0">
                <a:latin typeface="Carlito"/>
                <a:cs typeface="Carlito"/>
              </a:rPr>
              <a:t>Credit </a:t>
            </a:r>
            <a:r>
              <a:rPr sz="2000" spc="-10" dirty="0">
                <a:latin typeface="Carlito"/>
                <a:cs typeface="Carlito"/>
              </a:rPr>
              <a:t>rating</a:t>
            </a:r>
            <a:r>
              <a:rPr sz="2000" spc="-25" dirty="0">
                <a:latin typeface="Carlito"/>
                <a:cs typeface="Carlito"/>
              </a:rPr>
              <a:t> </a:t>
            </a:r>
            <a:r>
              <a:rPr sz="2000" spc="-5" dirty="0">
                <a:latin typeface="Carlito"/>
                <a:cs typeface="Carlito"/>
              </a:rPr>
              <a:t>is:</a:t>
            </a:r>
            <a:endParaRPr sz="2000">
              <a:latin typeface="Carlito"/>
              <a:cs typeface="Carlito"/>
            </a:endParaRPr>
          </a:p>
          <a:p>
            <a:pPr marL="405765" marR="1520825" indent="-405765">
              <a:lnSpc>
                <a:spcPct val="120000"/>
              </a:lnSpc>
              <a:buFont typeface="Arial"/>
              <a:buChar char="•"/>
              <a:tabLst>
                <a:tab pos="405765" algn="l"/>
                <a:tab pos="406400" algn="l"/>
              </a:tabLst>
            </a:pPr>
            <a:r>
              <a:rPr sz="2000" spc="-15" dirty="0">
                <a:latin typeface="Carlito"/>
                <a:cs typeface="Carlito"/>
              </a:rPr>
              <a:t>Info </a:t>
            </a:r>
            <a:r>
              <a:rPr sz="1950" spc="7" baseline="-21367" dirty="0">
                <a:latin typeface="Carlito"/>
                <a:cs typeface="Carlito"/>
              </a:rPr>
              <a:t>Credit </a:t>
            </a:r>
            <a:r>
              <a:rPr sz="1950" baseline="-21367" dirty="0">
                <a:latin typeface="Carlito"/>
                <a:cs typeface="Carlito"/>
              </a:rPr>
              <a:t>rating </a:t>
            </a:r>
            <a:r>
              <a:rPr sz="2000" dirty="0">
                <a:latin typeface="Carlito"/>
                <a:cs typeface="Carlito"/>
              </a:rPr>
              <a:t>(D) = (8/14) (-(6/8)log</a:t>
            </a:r>
            <a:r>
              <a:rPr sz="1950" baseline="-21367" dirty="0">
                <a:latin typeface="Carlito"/>
                <a:cs typeface="Carlito"/>
              </a:rPr>
              <a:t>2</a:t>
            </a:r>
            <a:r>
              <a:rPr sz="2000" dirty="0">
                <a:latin typeface="Carlito"/>
                <a:cs typeface="Carlito"/>
              </a:rPr>
              <a:t>(6/8) - (2/8)log</a:t>
            </a:r>
            <a:r>
              <a:rPr sz="1950" baseline="-21367" dirty="0">
                <a:latin typeface="Carlito"/>
                <a:cs typeface="Carlito"/>
              </a:rPr>
              <a:t>2</a:t>
            </a:r>
            <a:r>
              <a:rPr sz="2000" dirty="0">
                <a:latin typeface="Carlito"/>
                <a:cs typeface="Carlito"/>
              </a:rPr>
              <a:t>(2/8)) +  (6/14) (-(3/6)log</a:t>
            </a:r>
            <a:r>
              <a:rPr sz="1950" baseline="-21367" dirty="0">
                <a:latin typeface="Carlito"/>
                <a:cs typeface="Carlito"/>
              </a:rPr>
              <a:t>2</a:t>
            </a:r>
            <a:r>
              <a:rPr sz="2000" dirty="0">
                <a:latin typeface="Carlito"/>
                <a:cs typeface="Carlito"/>
              </a:rPr>
              <a:t>(3/6) -</a:t>
            </a:r>
            <a:r>
              <a:rPr sz="2000" spc="-60" dirty="0">
                <a:latin typeface="Carlito"/>
                <a:cs typeface="Carlito"/>
              </a:rPr>
              <a:t> </a:t>
            </a:r>
            <a:r>
              <a:rPr sz="2000" dirty="0">
                <a:latin typeface="Carlito"/>
                <a:cs typeface="Carlito"/>
              </a:rPr>
              <a:t>(3/6)log</a:t>
            </a:r>
            <a:r>
              <a:rPr sz="1950" baseline="-21367" dirty="0">
                <a:latin typeface="Carlito"/>
                <a:cs typeface="Carlito"/>
              </a:rPr>
              <a:t>2</a:t>
            </a:r>
            <a:r>
              <a:rPr sz="2000" dirty="0">
                <a:latin typeface="Carlito"/>
                <a:cs typeface="Carlito"/>
              </a:rPr>
              <a:t>(3/6))</a:t>
            </a:r>
            <a:endParaRPr sz="2000">
              <a:latin typeface="Carlito"/>
              <a:cs typeface="Carlito"/>
            </a:endParaRPr>
          </a:p>
          <a:p>
            <a:pPr marL="1892300">
              <a:lnSpc>
                <a:spcPct val="100000"/>
              </a:lnSpc>
              <a:spcBef>
                <a:spcPts val="480"/>
              </a:spcBef>
            </a:pPr>
            <a:r>
              <a:rPr sz="2000" spc="-5" dirty="0">
                <a:latin typeface="Carlito"/>
                <a:cs typeface="Carlito"/>
              </a:rPr>
              <a:t>=0.892</a:t>
            </a:r>
            <a:endParaRPr sz="2000">
              <a:latin typeface="Carlito"/>
              <a:cs typeface="Carlito"/>
            </a:endParaRPr>
          </a:p>
          <a:p>
            <a:pPr marL="577215" lvl="1" indent="-400050">
              <a:lnSpc>
                <a:spcPct val="100000"/>
              </a:lnSpc>
              <a:spcBef>
                <a:spcPts val="480"/>
              </a:spcBef>
              <a:buFont typeface="Arial"/>
              <a:buChar char="•"/>
              <a:tabLst>
                <a:tab pos="577215" algn="l"/>
                <a:tab pos="577850" algn="l"/>
              </a:tabLst>
            </a:pPr>
            <a:r>
              <a:rPr sz="2000" spc="-5" dirty="0">
                <a:latin typeface="Carlito"/>
                <a:cs typeface="Carlito"/>
              </a:rPr>
              <a:t>Gain </a:t>
            </a:r>
            <a:r>
              <a:rPr sz="2000" spc="-15" dirty="0">
                <a:latin typeface="Carlito"/>
                <a:cs typeface="Carlito"/>
              </a:rPr>
              <a:t>for </a:t>
            </a:r>
            <a:r>
              <a:rPr sz="2000" spc="-5" dirty="0">
                <a:latin typeface="Carlito"/>
                <a:cs typeface="Carlito"/>
              </a:rPr>
              <a:t>credit </a:t>
            </a:r>
            <a:r>
              <a:rPr sz="2000" spc="-10" dirty="0">
                <a:latin typeface="Carlito"/>
                <a:cs typeface="Carlito"/>
              </a:rPr>
              <a:t>rating</a:t>
            </a:r>
            <a:r>
              <a:rPr sz="2000" spc="5" dirty="0">
                <a:latin typeface="Carlito"/>
                <a:cs typeface="Carlito"/>
              </a:rPr>
              <a:t> </a:t>
            </a:r>
            <a:r>
              <a:rPr sz="2000" dirty="0">
                <a:latin typeface="Carlito"/>
                <a:cs typeface="Carlito"/>
              </a:rPr>
              <a:t>:</a:t>
            </a:r>
            <a:endParaRPr sz="2000">
              <a:latin typeface="Carlito"/>
              <a:cs typeface="Carlito"/>
            </a:endParaRPr>
          </a:p>
          <a:p>
            <a:pPr marL="1892300">
              <a:lnSpc>
                <a:spcPct val="100000"/>
              </a:lnSpc>
              <a:spcBef>
                <a:spcPts val="480"/>
              </a:spcBef>
            </a:pPr>
            <a:r>
              <a:rPr sz="2000" spc="-10" dirty="0">
                <a:latin typeface="Carlito"/>
                <a:cs typeface="Carlito"/>
              </a:rPr>
              <a:t>Info(D) </a:t>
            </a:r>
            <a:r>
              <a:rPr sz="2000" dirty="0">
                <a:latin typeface="Carlito"/>
                <a:cs typeface="Carlito"/>
              </a:rPr>
              <a:t>- </a:t>
            </a:r>
            <a:r>
              <a:rPr sz="2000" spc="-15" dirty="0">
                <a:latin typeface="Carlito"/>
                <a:cs typeface="Carlito"/>
              </a:rPr>
              <a:t>Info </a:t>
            </a:r>
            <a:r>
              <a:rPr sz="1950" spc="7" baseline="-21367" dirty="0">
                <a:latin typeface="Carlito"/>
                <a:cs typeface="Carlito"/>
              </a:rPr>
              <a:t>Credit </a:t>
            </a:r>
            <a:r>
              <a:rPr sz="1950" baseline="-21367" dirty="0">
                <a:latin typeface="Carlito"/>
                <a:cs typeface="Carlito"/>
              </a:rPr>
              <a:t>rating</a:t>
            </a:r>
            <a:r>
              <a:rPr sz="1950" spc="-277" baseline="-21367" dirty="0">
                <a:latin typeface="Carlito"/>
                <a:cs typeface="Carlito"/>
              </a:rPr>
              <a:t> </a:t>
            </a:r>
            <a:r>
              <a:rPr sz="2000" dirty="0">
                <a:latin typeface="Carlito"/>
                <a:cs typeface="Carlito"/>
              </a:rPr>
              <a:t>(D)</a:t>
            </a:r>
            <a:endParaRPr sz="2000">
              <a:latin typeface="Carlito"/>
              <a:cs typeface="Carlito"/>
            </a:endParaRPr>
          </a:p>
          <a:p>
            <a:pPr marL="1892300">
              <a:lnSpc>
                <a:spcPct val="100000"/>
              </a:lnSpc>
              <a:spcBef>
                <a:spcPts val="480"/>
              </a:spcBef>
            </a:pPr>
            <a:r>
              <a:rPr sz="2000" dirty="0">
                <a:latin typeface="Carlito"/>
                <a:cs typeface="Carlito"/>
              </a:rPr>
              <a:t>= 0.94 – 0.892 =</a:t>
            </a:r>
            <a:r>
              <a:rPr sz="2000" spc="-70" dirty="0">
                <a:latin typeface="Carlito"/>
                <a:cs typeface="Carlito"/>
              </a:rPr>
              <a:t> </a:t>
            </a:r>
            <a:r>
              <a:rPr sz="2000" dirty="0">
                <a:latin typeface="Carlito"/>
                <a:cs typeface="Carlito"/>
              </a:rPr>
              <a:t>0.048</a:t>
            </a:r>
            <a:endParaRPr sz="2000">
              <a:latin typeface="Carlito"/>
              <a:cs typeface="Carlito"/>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58</a:t>
            </a:fld>
            <a:endParaRPr dirty="0"/>
          </a:p>
        </p:txBody>
      </p:sp>
    </p:spTree>
    <p:extLst>
      <p:ext uri="{BB962C8B-B14F-4D97-AF65-F5344CB8AC3E}">
        <p14:creationId xmlns:p14="http://schemas.microsoft.com/office/powerpoint/2010/main" val="32593554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50850" y="1193800"/>
          <a:ext cx="8229600" cy="1854197"/>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39">
                <a:tc>
                  <a:txBody>
                    <a:bodyPr/>
                    <a:lstStyle/>
                    <a:p>
                      <a:pPr marL="1015365">
                        <a:lnSpc>
                          <a:spcPct val="100000"/>
                        </a:lnSpc>
                        <a:spcBef>
                          <a:spcPts val="244"/>
                        </a:spcBef>
                      </a:pPr>
                      <a:r>
                        <a:rPr sz="1800" b="1" spc="-10" dirty="0">
                          <a:solidFill>
                            <a:srgbClr val="FFFFFF"/>
                          </a:solidFill>
                          <a:latin typeface="Carlito"/>
                          <a:cs typeface="Carlito"/>
                        </a:rPr>
                        <a:t>Independent </a:t>
                      </a:r>
                      <a:r>
                        <a:rPr sz="1800" b="1" spc="-5" dirty="0">
                          <a:solidFill>
                            <a:srgbClr val="FFFFFF"/>
                          </a:solidFill>
                          <a:latin typeface="Carlito"/>
                          <a:cs typeface="Carlito"/>
                        </a:rPr>
                        <a:t>variable</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244"/>
                        </a:spcBef>
                      </a:pPr>
                      <a:r>
                        <a:rPr sz="1800" b="1" spc="-5" dirty="0">
                          <a:solidFill>
                            <a:srgbClr val="FFFFFF"/>
                          </a:solidFill>
                          <a:latin typeface="Carlito"/>
                          <a:cs typeface="Carlito"/>
                        </a:rPr>
                        <a:t>Information </a:t>
                      </a:r>
                      <a:r>
                        <a:rPr sz="1800" b="1" spc="-10" dirty="0">
                          <a:solidFill>
                            <a:srgbClr val="FFFFFF"/>
                          </a:solidFill>
                          <a:latin typeface="Carlito"/>
                          <a:cs typeface="Carlito"/>
                        </a:rPr>
                        <a:t>gain</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70840">
                <a:tc>
                  <a:txBody>
                    <a:bodyPr/>
                    <a:lstStyle/>
                    <a:p>
                      <a:pPr marL="91440">
                        <a:lnSpc>
                          <a:spcPct val="100000"/>
                        </a:lnSpc>
                        <a:spcBef>
                          <a:spcPts val="244"/>
                        </a:spcBef>
                      </a:pPr>
                      <a:r>
                        <a:rPr sz="1800" spc="-5" dirty="0">
                          <a:latin typeface="Carlito"/>
                          <a:cs typeface="Carlito"/>
                        </a:rPr>
                        <a:t>Age</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44"/>
                        </a:spcBef>
                      </a:pPr>
                      <a:r>
                        <a:rPr sz="1800" dirty="0">
                          <a:latin typeface="Carlito"/>
                          <a:cs typeface="Carlito"/>
                        </a:rPr>
                        <a:t>0.246</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70839">
                <a:tc>
                  <a:txBody>
                    <a:bodyPr/>
                    <a:lstStyle/>
                    <a:p>
                      <a:pPr marL="91440">
                        <a:lnSpc>
                          <a:spcPct val="100000"/>
                        </a:lnSpc>
                        <a:spcBef>
                          <a:spcPts val="245"/>
                        </a:spcBef>
                      </a:pPr>
                      <a:r>
                        <a:rPr sz="1800" spc="-10" dirty="0">
                          <a:latin typeface="Carlito"/>
                          <a:cs typeface="Carlito"/>
                        </a:rPr>
                        <a:t>Income</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45"/>
                        </a:spcBef>
                      </a:pPr>
                      <a:r>
                        <a:rPr sz="1800" dirty="0">
                          <a:latin typeface="Carlito"/>
                          <a:cs typeface="Carlito"/>
                        </a:rPr>
                        <a:t>0.029</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70840">
                <a:tc>
                  <a:txBody>
                    <a:bodyPr/>
                    <a:lstStyle/>
                    <a:p>
                      <a:pPr marL="91440">
                        <a:lnSpc>
                          <a:spcPct val="100000"/>
                        </a:lnSpc>
                        <a:spcBef>
                          <a:spcPts val="245"/>
                        </a:spcBef>
                      </a:pPr>
                      <a:r>
                        <a:rPr sz="1800" spc="-5" dirty="0">
                          <a:latin typeface="Carlito"/>
                          <a:cs typeface="Carlito"/>
                        </a:rPr>
                        <a:t>Student</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45"/>
                        </a:spcBef>
                      </a:pPr>
                      <a:r>
                        <a:rPr sz="1800" dirty="0">
                          <a:latin typeface="Carlito"/>
                          <a:cs typeface="Carlito"/>
                        </a:rPr>
                        <a:t>0.151</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70839">
                <a:tc>
                  <a:txBody>
                    <a:bodyPr/>
                    <a:lstStyle/>
                    <a:p>
                      <a:pPr marL="91440">
                        <a:lnSpc>
                          <a:spcPct val="100000"/>
                        </a:lnSpc>
                        <a:spcBef>
                          <a:spcPts val="245"/>
                        </a:spcBef>
                      </a:pPr>
                      <a:r>
                        <a:rPr sz="1800" spc="-10" dirty="0">
                          <a:latin typeface="Carlito"/>
                          <a:cs typeface="Carlito"/>
                        </a:rPr>
                        <a:t>Credit_rating</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45"/>
                        </a:spcBef>
                      </a:pPr>
                      <a:r>
                        <a:rPr sz="1800" dirty="0">
                          <a:latin typeface="Carlito"/>
                          <a:cs typeface="Carlito"/>
                        </a:rPr>
                        <a:t>0.048</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bl>
          </a:graphicData>
        </a:graphic>
      </p:graphicFrame>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59</a:t>
            </a:fld>
            <a:endParaRPr dirty="0"/>
          </a:p>
        </p:txBody>
      </p:sp>
    </p:spTree>
    <p:extLst>
      <p:ext uri="{BB962C8B-B14F-4D97-AF65-F5344CB8AC3E}">
        <p14:creationId xmlns:p14="http://schemas.microsoft.com/office/powerpoint/2010/main" val="26655319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8242" y="385953"/>
            <a:ext cx="3745229" cy="452120"/>
          </a:xfrm>
          <a:prstGeom prst="rect">
            <a:avLst/>
          </a:prstGeom>
        </p:spPr>
        <p:txBody>
          <a:bodyPr vert="horz" wrap="square" lIns="0" tIns="12065" rIns="0" bIns="0" rtlCol="0">
            <a:spAutoFit/>
          </a:bodyPr>
          <a:lstStyle/>
          <a:p>
            <a:pPr marL="12700">
              <a:lnSpc>
                <a:spcPct val="100000"/>
              </a:lnSpc>
              <a:spcBef>
                <a:spcPts val="95"/>
              </a:spcBef>
            </a:pPr>
            <a:r>
              <a:rPr spc="-10" dirty="0"/>
              <a:t>Selection </a:t>
            </a:r>
            <a:r>
              <a:rPr spc="-5" dirty="0"/>
              <a:t>of </a:t>
            </a:r>
            <a:r>
              <a:rPr spc="-20" dirty="0"/>
              <a:t>root</a:t>
            </a:r>
            <a:r>
              <a:rPr spc="-15" dirty="0"/>
              <a:t> </a:t>
            </a:r>
            <a:r>
              <a:rPr spc="-5" dirty="0"/>
              <a:t>classifier</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60</a:t>
            </a:fld>
            <a:endParaRPr dirty="0"/>
          </a:p>
        </p:txBody>
      </p:sp>
      <p:sp>
        <p:nvSpPr>
          <p:cNvPr id="3" name="object 3"/>
          <p:cNvSpPr txBox="1"/>
          <p:nvPr/>
        </p:nvSpPr>
        <p:spPr>
          <a:xfrm>
            <a:off x="535940" y="1216913"/>
            <a:ext cx="7830184" cy="3013710"/>
          </a:xfrm>
          <a:prstGeom prst="rect">
            <a:avLst/>
          </a:prstGeom>
        </p:spPr>
        <p:txBody>
          <a:bodyPr vert="horz" wrap="square" lIns="0" tIns="13335" rIns="0" bIns="0" rtlCol="0">
            <a:spAutoFit/>
          </a:bodyPr>
          <a:lstStyle/>
          <a:p>
            <a:pPr marL="355600" marR="80010" indent="-342900">
              <a:lnSpc>
                <a:spcPct val="100000"/>
              </a:lnSpc>
              <a:spcBef>
                <a:spcPts val="105"/>
              </a:spcBef>
              <a:buFont typeface="Arial"/>
              <a:buChar char="•"/>
              <a:tabLst>
                <a:tab pos="354965" algn="l"/>
                <a:tab pos="355600" algn="l"/>
              </a:tabLst>
            </a:pPr>
            <a:r>
              <a:rPr sz="2000" dirty="0">
                <a:latin typeface="Carlito"/>
                <a:cs typeface="Carlito"/>
              </a:rPr>
              <a:t>Because </a:t>
            </a:r>
            <a:r>
              <a:rPr sz="2000" spc="-5" dirty="0">
                <a:latin typeface="Carlito"/>
                <a:cs typeface="Carlito"/>
              </a:rPr>
              <a:t>age has </a:t>
            </a:r>
            <a:r>
              <a:rPr sz="2000" dirty="0">
                <a:latin typeface="Carlito"/>
                <a:cs typeface="Carlito"/>
              </a:rPr>
              <a:t>the </a:t>
            </a:r>
            <a:r>
              <a:rPr sz="2000" spc="-5" dirty="0">
                <a:latin typeface="Carlito"/>
                <a:cs typeface="Carlito"/>
              </a:rPr>
              <a:t>highest </a:t>
            </a:r>
            <a:r>
              <a:rPr sz="2000" spc="-10" dirty="0">
                <a:latin typeface="Carlito"/>
                <a:cs typeface="Carlito"/>
              </a:rPr>
              <a:t>information gain </a:t>
            </a:r>
            <a:r>
              <a:rPr sz="2000" dirty="0">
                <a:latin typeface="Carlito"/>
                <a:cs typeface="Carlito"/>
              </a:rPr>
              <a:t>among the </a:t>
            </a:r>
            <a:r>
              <a:rPr sz="2000" spc="-10" dirty="0">
                <a:latin typeface="Carlito"/>
                <a:cs typeface="Carlito"/>
              </a:rPr>
              <a:t>attributes, </a:t>
            </a:r>
            <a:r>
              <a:rPr sz="2000" dirty="0">
                <a:latin typeface="Carlito"/>
                <a:cs typeface="Carlito"/>
              </a:rPr>
              <a:t>it </a:t>
            </a:r>
            <a:r>
              <a:rPr sz="2000" spc="-5" dirty="0">
                <a:latin typeface="Carlito"/>
                <a:cs typeface="Carlito"/>
              </a:rPr>
              <a:t>is  selected </a:t>
            </a:r>
            <a:r>
              <a:rPr sz="2000" dirty="0">
                <a:latin typeface="Carlito"/>
                <a:cs typeface="Carlito"/>
              </a:rPr>
              <a:t>as the </a:t>
            </a:r>
            <a:r>
              <a:rPr sz="2000" spc="-5" dirty="0">
                <a:latin typeface="Carlito"/>
                <a:cs typeface="Carlito"/>
              </a:rPr>
              <a:t>splitting</a:t>
            </a:r>
            <a:r>
              <a:rPr sz="2000" spc="15" dirty="0">
                <a:latin typeface="Carlito"/>
                <a:cs typeface="Carlito"/>
              </a:rPr>
              <a:t> </a:t>
            </a:r>
            <a:r>
              <a:rPr sz="2000" spc="-10" dirty="0">
                <a:latin typeface="Carlito"/>
                <a:cs typeface="Carlito"/>
              </a:rPr>
              <a:t>attribute</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dirty="0">
                <a:latin typeface="Carlito"/>
                <a:cs typeface="Carlito"/>
              </a:rPr>
              <a:t>Node N is </a:t>
            </a:r>
            <a:r>
              <a:rPr sz="2000" spc="-5" dirty="0">
                <a:latin typeface="Carlito"/>
                <a:cs typeface="Carlito"/>
              </a:rPr>
              <a:t>labelled with age, </a:t>
            </a:r>
            <a:r>
              <a:rPr sz="2000" dirty="0">
                <a:latin typeface="Carlito"/>
                <a:cs typeface="Carlito"/>
              </a:rPr>
              <a:t>and </a:t>
            </a:r>
            <a:r>
              <a:rPr sz="2000" spc="-5" dirty="0">
                <a:latin typeface="Carlito"/>
                <a:cs typeface="Carlito"/>
              </a:rPr>
              <a:t>branches </a:t>
            </a:r>
            <a:r>
              <a:rPr sz="2000" spc="-10" dirty="0">
                <a:latin typeface="Carlito"/>
                <a:cs typeface="Carlito"/>
              </a:rPr>
              <a:t>are grown </a:t>
            </a:r>
            <a:r>
              <a:rPr sz="2000" spc="-20" dirty="0">
                <a:latin typeface="Carlito"/>
                <a:cs typeface="Carlito"/>
              </a:rPr>
              <a:t>for </a:t>
            </a:r>
            <a:r>
              <a:rPr sz="2000" dirty="0">
                <a:latin typeface="Carlito"/>
                <a:cs typeface="Carlito"/>
              </a:rPr>
              <a:t>each </a:t>
            </a:r>
            <a:r>
              <a:rPr sz="2000" spc="-5" dirty="0">
                <a:latin typeface="Carlito"/>
                <a:cs typeface="Carlito"/>
              </a:rPr>
              <a:t>of</a:t>
            </a:r>
            <a:r>
              <a:rPr sz="2000" spc="35" dirty="0">
                <a:latin typeface="Carlito"/>
                <a:cs typeface="Carlito"/>
              </a:rPr>
              <a:t> </a:t>
            </a:r>
            <a:r>
              <a:rPr sz="2000" dirty="0">
                <a:latin typeface="Carlito"/>
                <a:cs typeface="Carlito"/>
              </a:rPr>
              <a:t>the</a:t>
            </a:r>
            <a:endParaRPr sz="2000">
              <a:latin typeface="Carlito"/>
              <a:cs typeface="Carlito"/>
            </a:endParaRPr>
          </a:p>
          <a:p>
            <a:pPr marL="355600">
              <a:lnSpc>
                <a:spcPct val="100000"/>
              </a:lnSpc>
            </a:pPr>
            <a:r>
              <a:rPr sz="2000" spc="-20" dirty="0">
                <a:latin typeface="Carlito"/>
                <a:cs typeface="Carlito"/>
              </a:rPr>
              <a:t>attribute’s</a:t>
            </a:r>
            <a:r>
              <a:rPr sz="2000" spc="5" dirty="0">
                <a:latin typeface="Carlito"/>
                <a:cs typeface="Carlito"/>
              </a:rPr>
              <a:t> </a:t>
            </a:r>
            <a:r>
              <a:rPr sz="2000" spc="-5" dirty="0">
                <a:latin typeface="Carlito"/>
                <a:cs typeface="Carlito"/>
              </a:rPr>
              <a:t>values</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spc="-5" dirty="0">
                <a:latin typeface="Carlito"/>
                <a:cs typeface="Carlito"/>
              </a:rPr>
              <a:t>The </a:t>
            </a:r>
            <a:r>
              <a:rPr sz="2000" dirty="0">
                <a:latin typeface="Carlito"/>
                <a:cs typeface="Carlito"/>
              </a:rPr>
              <a:t>tuples </a:t>
            </a:r>
            <a:r>
              <a:rPr sz="2000" spc="-10" dirty="0">
                <a:latin typeface="Carlito"/>
                <a:cs typeface="Carlito"/>
              </a:rPr>
              <a:t>are </a:t>
            </a:r>
            <a:r>
              <a:rPr sz="2000" dirty="0">
                <a:latin typeface="Carlito"/>
                <a:cs typeface="Carlito"/>
              </a:rPr>
              <a:t>then </a:t>
            </a:r>
            <a:r>
              <a:rPr sz="2000" spc="-5" dirty="0">
                <a:latin typeface="Carlito"/>
                <a:cs typeface="Carlito"/>
              </a:rPr>
              <a:t>partitioned</a:t>
            </a:r>
            <a:r>
              <a:rPr sz="2000" spc="30" dirty="0">
                <a:latin typeface="Carlito"/>
                <a:cs typeface="Carlito"/>
              </a:rPr>
              <a:t> </a:t>
            </a:r>
            <a:r>
              <a:rPr sz="2000" spc="-5" dirty="0">
                <a:latin typeface="Carlito"/>
                <a:cs typeface="Carlito"/>
              </a:rPr>
              <a:t>accordingly</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dirty="0">
                <a:latin typeface="Carlito"/>
                <a:cs typeface="Carlito"/>
              </a:rPr>
              <a:t>Notice </a:t>
            </a:r>
            <a:r>
              <a:rPr sz="2000" spc="-5" dirty="0">
                <a:latin typeface="Carlito"/>
                <a:cs typeface="Carlito"/>
              </a:rPr>
              <a:t>that </a:t>
            </a:r>
            <a:r>
              <a:rPr sz="2000" dirty="0">
                <a:latin typeface="Carlito"/>
                <a:cs typeface="Carlito"/>
              </a:rPr>
              <a:t>the </a:t>
            </a:r>
            <a:r>
              <a:rPr sz="2000" spc="-5" dirty="0">
                <a:latin typeface="Carlito"/>
                <a:cs typeface="Carlito"/>
              </a:rPr>
              <a:t>tuples </a:t>
            </a:r>
            <a:r>
              <a:rPr sz="2000" spc="-10" dirty="0">
                <a:latin typeface="Carlito"/>
                <a:cs typeface="Carlito"/>
              </a:rPr>
              <a:t>falling </a:t>
            </a:r>
            <a:r>
              <a:rPr sz="2000" spc="-15" dirty="0">
                <a:latin typeface="Carlito"/>
                <a:cs typeface="Carlito"/>
              </a:rPr>
              <a:t>into </a:t>
            </a:r>
            <a:r>
              <a:rPr sz="2000" dirty="0">
                <a:latin typeface="Carlito"/>
                <a:cs typeface="Carlito"/>
              </a:rPr>
              <a:t>the </a:t>
            </a:r>
            <a:r>
              <a:rPr sz="2000" spc="-5" dirty="0">
                <a:latin typeface="Carlito"/>
                <a:cs typeface="Carlito"/>
              </a:rPr>
              <a:t>partition </a:t>
            </a:r>
            <a:r>
              <a:rPr sz="2000" spc="-15" dirty="0">
                <a:latin typeface="Carlito"/>
                <a:cs typeface="Carlito"/>
              </a:rPr>
              <a:t>for </a:t>
            </a:r>
            <a:r>
              <a:rPr sz="2000" spc="-5" dirty="0">
                <a:latin typeface="Carlito"/>
                <a:cs typeface="Carlito"/>
              </a:rPr>
              <a:t>age </a:t>
            </a:r>
            <a:r>
              <a:rPr sz="2000" dirty="0">
                <a:latin typeface="Carlito"/>
                <a:cs typeface="Carlito"/>
              </a:rPr>
              <a:t>= middle aged</a:t>
            </a:r>
            <a:r>
              <a:rPr sz="2000" spc="25" dirty="0">
                <a:latin typeface="Carlito"/>
                <a:cs typeface="Carlito"/>
              </a:rPr>
              <a:t> </a:t>
            </a:r>
            <a:r>
              <a:rPr sz="2000" spc="-5" dirty="0">
                <a:latin typeface="Carlito"/>
                <a:cs typeface="Carlito"/>
              </a:rPr>
              <a:t>all</a:t>
            </a:r>
            <a:endParaRPr sz="2000">
              <a:latin typeface="Carlito"/>
              <a:cs typeface="Carlito"/>
            </a:endParaRPr>
          </a:p>
          <a:p>
            <a:pPr marL="355600">
              <a:lnSpc>
                <a:spcPct val="100000"/>
              </a:lnSpc>
            </a:pPr>
            <a:r>
              <a:rPr sz="2000" dirty="0">
                <a:latin typeface="Carlito"/>
                <a:cs typeface="Carlito"/>
              </a:rPr>
              <a:t>belong </a:t>
            </a:r>
            <a:r>
              <a:rPr sz="2000" spc="-15" dirty="0">
                <a:latin typeface="Carlito"/>
                <a:cs typeface="Carlito"/>
              </a:rPr>
              <a:t>to </a:t>
            </a:r>
            <a:r>
              <a:rPr sz="2000" dirty="0">
                <a:latin typeface="Carlito"/>
                <a:cs typeface="Carlito"/>
              </a:rPr>
              <a:t>the </a:t>
            </a:r>
            <a:r>
              <a:rPr sz="2000" spc="-5" dirty="0">
                <a:latin typeface="Carlito"/>
                <a:cs typeface="Carlito"/>
              </a:rPr>
              <a:t>same</a:t>
            </a:r>
            <a:r>
              <a:rPr sz="2000" spc="-15" dirty="0">
                <a:latin typeface="Carlito"/>
                <a:cs typeface="Carlito"/>
              </a:rPr>
              <a:t> </a:t>
            </a:r>
            <a:r>
              <a:rPr sz="2000" dirty="0">
                <a:latin typeface="Carlito"/>
                <a:cs typeface="Carlito"/>
              </a:rPr>
              <a:t>class</a:t>
            </a:r>
            <a:endParaRPr sz="2000">
              <a:latin typeface="Carlito"/>
              <a:cs typeface="Carlito"/>
            </a:endParaRPr>
          </a:p>
          <a:p>
            <a:pPr marL="355600" indent="-342900">
              <a:lnSpc>
                <a:spcPct val="100000"/>
              </a:lnSpc>
              <a:spcBef>
                <a:spcPts val="480"/>
              </a:spcBef>
              <a:buFont typeface="Arial"/>
              <a:buChar char="•"/>
              <a:tabLst>
                <a:tab pos="354965" algn="l"/>
                <a:tab pos="355600" algn="l"/>
              </a:tabLst>
            </a:pPr>
            <a:r>
              <a:rPr sz="2000" dirty="0">
                <a:latin typeface="Carlito"/>
                <a:cs typeface="Carlito"/>
              </a:rPr>
              <a:t>Because </a:t>
            </a:r>
            <a:r>
              <a:rPr sz="2000" spc="-5" dirty="0">
                <a:latin typeface="Carlito"/>
                <a:cs typeface="Carlito"/>
              </a:rPr>
              <a:t>they </a:t>
            </a:r>
            <a:r>
              <a:rPr sz="2000" dirty="0">
                <a:latin typeface="Carlito"/>
                <a:cs typeface="Carlito"/>
              </a:rPr>
              <a:t>all </a:t>
            </a:r>
            <a:r>
              <a:rPr sz="2000" spc="-5" dirty="0">
                <a:latin typeface="Carlito"/>
                <a:cs typeface="Carlito"/>
              </a:rPr>
              <a:t>belong </a:t>
            </a:r>
            <a:r>
              <a:rPr sz="2000" spc="-15" dirty="0">
                <a:latin typeface="Carlito"/>
                <a:cs typeface="Carlito"/>
              </a:rPr>
              <a:t>to </a:t>
            </a:r>
            <a:r>
              <a:rPr sz="2000" dirty="0">
                <a:latin typeface="Carlito"/>
                <a:cs typeface="Carlito"/>
              </a:rPr>
              <a:t>class </a:t>
            </a:r>
            <a:r>
              <a:rPr sz="2000" spc="-25" dirty="0">
                <a:latin typeface="Carlito"/>
                <a:cs typeface="Carlito"/>
              </a:rPr>
              <a:t>“yes,” </a:t>
            </a:r>
            <a:r>
              <a:rPr sz="2000" dirty="0">
                <a:latin typeface="Carlito"/>
                <a:cs typeface="Carlito"/>
              </a:rPr>
              <a:t>a </a:t>
            </a:r>
            <a:r>
              <a:rPr sz="2000" spc="-5" dirty="0">
                <a:latin typeface="Carlito"/>
                <a:cs typeface="Carlito"/>
              </a:rPr>
              <a:t>leaf should </a:t>
            </a:r>
            <a:r>
              <a:rPr sz="2000" spc="-15" dirty="0">
                <a:latin typeface="Carlito"/>
                <a:cs typeface="Carlito"/>
              </a:rPr>
              <a:t>therefore </a:t>
            </a:r>
            <a:r>
              <a:rPr sz="2000" spc="-5" dirty="0">
                <a:latin typeface="Carlito"/>
                <a:cs typeface="Carlito"/>
              </a:rPr>
              <a:t>be</a:t>
            </a:r>
            <a:r>
              <a:rPr sz="2000" spc="45" dirty="0">
                <a:latin typeface="Carlito"/>
                <a:cs typeface="Carlito"/>
              </a:rPr>
              <a:t> </a:t>
            </a:r>
            <a:r>
              <a:rPr sz="2000" spc="-10" dirty="0">
                <a:latin typeface="Carlito"/>
                <a:cs typeface="Carlito"/>
              </a:rPr>
              <a:t>created</a:t>
            </a:r>
            <a:endParaRPr sz="2000">
              <a:latin typeface="Carlito"/>
              <a:cs typeface="Carlito"/>
            </a:endParaRPr>
          </a:p>
          <a:p>
            <a:pPr marL="355600">
              <a:lnSpc>
                <a:spcPct val="100000"/>
              </a:lnSpc>
            </a:pPr>
            <a:r>
              <a:rPr sz="2000" spc="-10" dirty="0">
                <a:latin typeface="Carlito"/>
                <a:cs typeface="Carlito"/>
              </a:rPr>
              <a:t>at </a:t>
            </a:r>
            <a:r>
              <a:rPr sz="2000" dirty="0">
                <a:latin typeface="Carlito"/>
                <a:cs typeface="Carlito"/>
              </a:rPr>
              <a:t>the end of this </a:t>
            </a:r>
            <a:r>
              <a:rPr sz="2000" spc="-5" dirty="0">
                <a:latin typeface="Carlito"/>
                <a:cs typeface="Carlito"/>
              </a:rPr>
              <a:t>branch </a:t>
            </a:r>
            <a:r>
              <a:rPr sz="2000" dirty="0">
                <a:latin typeface="Carlito"/>
                <a:cs typeface="Carlito"/>
              </a:rPr>
              <a:t>and </a:t>
            </a:r>
            <a:r>
              <a:rPr sz="2000" spc="-5" dirty="0">
                <a:latin typeface="Carlito"/>
                <a:cs typeface="Carlito"/>
              </a:rPr>
              <a:t>labelled </a:t>
            </a:r>
            <a:r>
              <a:rPr sz="2000" dirty="0">
                <a:latin typeface="Carlito"/>
                <a:cs typeface="Carlito"/>
              </a:rPr>
              <a:t>with </a:t>
            </a:r>
            <a:r>
              <a:rPr sz="2000" spc="-30" dirty="0">
                <a:latin typeface="Carlito"/>
                <a:cs typeface="Carlito"/>
              </a:rPr>
              <a:t>“yes.”</a:t>
            </a:r>
            <a:endParaRPr sz="2000">
              <a:latin typeface="Carlito"/>
              <a:cs typeface="Carlito"/>
            </a:endParaRPr>
          </a:p>
        </p:txBody>
      </p:sp>
    </p:spTree>
    <p:extLst>
      <p:ext uri="{BB962C8B-B14F-4D97-AF65-F5344CB8AC3E}">
        <p14:creationId xmlns:p14="http://schemas.microsoft.com/office/powerpoint/2010/main" val="4849053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612388" y="385953"/>
            <a:ext cx="1919223" cy="452119"/>
          </a:xfrm>
          <a:prstGeom prst="rect">
            <a:avLst/>
          </a:prstGeom>
        </p:spPr>
        <p:txBody>
          <a:bodyPr vert="horz" wrap="square" lIns="0" tIns="12065" rIns="0" bIns="0" rtlCol="0">
            <a:spAutoFit/>
          </a:bodyPr>
          <a:lstStyle/>
          <a:p>
            <a:pPr marL="12700">
              <a:lnSpc>
                <a:spcPct val="100000"/>
              </a:lnSpc>
              <a:spcBef>
                <a:spcPts val="95"/>
              </a:spcBef>
            </a:pPr>
            <a:r>
              <a:rPr spc="-10" dirty="0"/>
              <a:t>Decision</a:t>
            </a:r>
            <a:r>
              <a:rPr spc="-35" dirty="0"/>
              <a:t> </a:t>
            </a:r>
            <a:r>
              <a:rPr spc="-15" dirty="0"/>
              <a:t>tree</a:t>
            </a:r>
          </a:p>
        </p:txBody>
      </p:sp>
      <p:grpSp>
        <p:nvGrpSpPr>
          <p:cNvPr id="3" name="object 3"/>
          <p:cNvGrpSpPr/>
          <p:nvPr/>
        </p:nvGrpSpPr>
        <p:grpSpPr>
          <a:xfrm>
            <a:off x="1908048" y="830580"/>
            <a:ext cx="5975604" cy="3764279"/>
            <a:chOff x="1908048" y="830580"/>
            <a:chExt cx="5975604" cy="3764279"/>
          </a:xfrm>
        </p:grpSpPr>
        <p:sp>
          <p:nvSpPr>
            <p:cNvPr id="4" name="object 4"/>
            <p:cNvSpPr/>
            <p:nvPr/>
          </p:nvSpPr>
          <p:spPr>
            <a:xfrm>
              <a:off x="1908048" y="830580"/>
              <a:ext cx="5975604" cy="3764279"/>
            </a:xfrm>
            <a:prstGeom prst="rect">
              <a:avLst/>
            </a:prstGeom>
            <a:blipFill>
              <a:blip r:embed="rId2" cstate="print"/>
              <a:stretch>
                <a:fillRect/>
              </a:stretch>
            </a:blipFill>
          </p:spPr>
          <p:txBody>
            <a:bodyPr wrap="square" lIns="0" tIns="0" rIns="0" bIns="0" rtlCol="0"/>
            <a:lstStyle/>
            <a:p>
              <a:endParaRPr dirty="0"/>
            </a:p>
          </p:txBody>
        </p:sp>
        <p:sp>
          <p:nvSpPr>
            <p:cNvPr id="7" name="object 7"/>
            <p:cNvSpPr/>
            <p:nvPr/>
          </p:nvSpPr>
          <p:spPr>
            <a:xfrm>
              <a:off x="5459768" y="2471800"/>
              <a:ext cx="457200" cy="103505"/>
            </a:xfrm>
            <a:custGeom>
              <a:avLst/>
              <a:gdLst/>
              <a:ahLst/>
              <a:cxnLst/>
              <a:rect l="l" t="t" r="r" b="b"/>
              <a:pathLst>
                <a:path w="457200" h="103505">
                  <a:moveTo>
                    <a:pt x="48348" y="53213"/>
                  </a:moveTo>
                  <a:lnTo>
                    <a:pt x="47967" y="51689"/>
                  </a:lnTo>
                  <a:lnTo>
                    <a:pt x="47459" y="50165"/>
                  </a:lnTo>
                  <a:lnTo>
                    <a:pt x="46062" y="49276"/>
                  </a:lnTo>
                  <a:lnTo>
                    <a:pt x="38315" y="49911"/>
                  </a:lnTo>
                  <a:lnTo>
                    <a:pt x="37934" y="50038"/>
                  </a:lnTo>
                  <a:lnTo>
                    <a:pt x="31330" y="51054"/>
                  </a:lnTo>
                  <a:lnTo>
                    <a:pt x="30949" y="51181"/>
                  </a:lnTo>
                  <a:lnTo>
                    <a:pt x="24599" y="52832"/>
                  </a:lnTo>
                  <a:lnTo>
                    <a:pt x="19011" y="54864"/>
                  </a:lnTo>
                  <a:lnTo>
                    <a:pt x="0" y="79502"/>
                  </a:lnTo>
                  <a:lnTo>
                    <a:pt x="292" y="84074"/>
                  </a:lnTo>
                  <a:lnTo>
                    <a:pt x="342" y="85217"/>
                  </a:lnTo>
                  <a:lnTo>
                    <a:pt x="1358" y="92329"/>
                  </a:lnTo>
                  <a:lnTo>
                    <a:pt x="1358" y="92456"/>
                  </a:lnTo>
                  <a:lnTo>
                    <a:pt x="2247" y="98298"/>
                  </a:lnTo>
                  <a:lnTo>
                    <a:pt x="2628" y="101219"/>
                  </a:lnTo>
                  <a:lnTo>
                    <a:pt x="5295" y="103124"/>
                  </a:lnTo>
                  <a:lnTo>
                    <a:pt x="11010" y="102362"/>
                  </a:lnTo>
                  <a:lnTo>
                    <a:pt x="12915" y="99822"/>
                  </a:lnTo>
                  <a:lnTo>
                    <a:pt x="11798" y="91186"/>
                  </a:lnTo>
                  <a:lnTo>
                    <a:pt x="11836" y="91059"/>
                  </a:lnTo>
                  <a:lnTo>
                    <a:pt x="11899" y="91186"/>
                  </a:lnTo>
                  <a:lnTo>
                    <a:pt x="11874" y="90932"/>
                  </a:lnTo>
                  <a:lnTo>
                    <a:pt x="11366" y="85217"/>
                  </a:lnTo>
                  <a:lnTo>
                    <a:pt x="11264" y="84582"/>
                  </a:lnTo>
                  <a:lnTo>
                    <a:pt x="11264" y="84074"/>
                  </a:lnTo>
                  <a:lnTo>
                    <a:pt x="11264" y="79502"/>
                  </a:lnTo>
                  <a:lnTo>
                    <a:pt x="11391" y="78613"/>
                  </a:lnTo>
                  <a:lnTo>
                    <a:pt x="11772" y="75946"/>
                  </a:lnTo>
                  <a:lnTo>
                    <a:pt x="14185" y="71247"/>
                  </a:lnTo>
                  <a:lnTo>
                    <a:pt x="15316" y="70104"/>
                  </a:lnTo>
                  <a:lnTo>
                    <a:pt x="28790" y="63246"/>
                  </a:lnTo>
                  <a:lnTo>
                    <a:pt x="28663" y="63246"/>
                  </a:lnTo>
                  <a:lnTo>
                    <a:pt x="34251" y="60960"/>
                  </a:lnTo>
                  <a:lnTo>
                    <a:pt x="40347" y="58293"/>
                  </a:lnTo>
                  <a:lnTo>
                    <a:pt x="40601" y="58293"/>
                  </a:lnTo>
                  <a:lnTo>
                    <a:pt x="46189" y="55499"/>
                  </a:lnTo>
                  <a:lnTo>
                    <a:pt x="47586" y="54737"/>
                  </a:lnTo>
                  <a:lnTo>
                    <a:pt x="48348" y="53213"/>
                  </a:lnTo>
                  <a:close/>
                </a:path>
                <a:path w="457200" h="103505">
                  <a:moveTo>
                    <a:pt x="457034" y="4445"/>
                  </a:moveTo>
                  <a:lnTo>
                    <a:pt x="456399" y="2667"/>
                  </a:lnTo>
                  <a:lnTo>
                    <a:pt x="455764" y="1016"/>
                  </a:lnTo>
                  <a:lnTo>
                    <a:pt x="453859" y="0"/>
                  </a:lnTo>
                  <a:lnTo>
                    <a:pt x="451954" y="508"/>
                  </a:lnTo>
                  <a:lnTo>
                    <a:pt x="438111" y="4826"/>
                  </a:lnTo>
                  <a:lnTo>
                    <a:pt x="437857" y="4953"/>
                  </a:lnTo>
                  <a:lnTo>
                    <a:pt x="426173" y="9144"/>
                  </a:lnTo>
                  <a:lnTo>
                    <a:pt x="415759" y="13843"/>
                  </a:lnTo>
                  <a:lnTo>
                    <a:pt x="415378" y="13970"/>
                  </a:lnTo>
                  <a:lnTo>
                    <a:pt x="406615" y="18669"/>
                  </a:lnTo>
                  <a:lnTo>
                    <a:pt x="388772" y="42672"/>
                  </a:lnTo>
                  <a:lnTo>
                    <a:pt x="389470" y="46736"/>
                  </a:lnTo>
                  <a:lnTo>
                    <a:pt x="389724" y="47625"/>
                  </a:lnTo>
                  <a:lnTo>
                    <a:pt x="391248" y="51689"/>
                  </a:lnTo>
                  <a:lnTo>
                    <a:pt x="392391" y="54864"/>
                  </a:lnTo>
                  <a:lnTo>
                    <a:pt x="392899" y="56388"/>
                  </a:lnTo>
                  <a:lnTo>
                    <a:pt x="394169" y="57404"/>
                  </a:lnTo>
                  <a:lnTo>
                    <a:pt x="397471" y="57912"/>
                  </a:lnTo>
                  <a:lnTo>
                    <a:pt x="398995" y="57404"/>
                  </a:lnTo>
                  <a:lnTo>
                    <a:pt x="401027" y="54864"/>
                  </a:lnTo>
                  <a:lnTo>
                    <a:pt x="401281" y="53086"/>
                  </a:lnTo>
                  <a:lnTo>
                    <a:pt x="399529" y="48895"/>
                  </a:lnTo>
                  <a:lnTo>
                    <a:pt x="399427" y="48653"/>
                  </a:lnTo>
                  <a:lnTo>
                    <a:pt x="399376" y="48514"/>
                  </a:lnTo>
                  <a:lnTo>
                    <a:pt x="398500" y="45593"/>
                  </a:lnTo>
                  <a:lnTo>
                    <a:pt x="398411" y="44704"/>
                  </a:lnTo>
                  <a:lnTo>
                    <a:pt x="398233" y="42672"/>
                  </a:lnTo>
                  <a:lnTo>
                    <a:pt x="398170" y="41922"/>
                  </a:lnTo>
                  <a:lnTo>
                    <a:pt x="398068" y="42291"/>
                  </a:lnTo>
                  <a:lnTo>
                    <a:pt x="398106" y="41021"/>
                  </a:lnTo>
                  <a:lnTo>
                    <a:pt x="398170" y="41922"/>
                  </a:lnTo>
                  <a:lnTo>
                    <a:pt x="398411" y="41021"/>
                  </a:lnTo>
                  <a:lnTo>
                    <a:pt x="398741" y="39751"/>
                  </a:lnTo>
                  <a:lnTo>
                    <a:pt x="398919" y="39077"/>
                  </a:lnTo>
                  <a:lnTo>
                    <a:pt x="399402" y="38354"/>
                  </a:lnTo>
                  <a:lnTo>
                    <a:pt x="400824" y="36195"/>
                  </a:lnTo>
                  <a:lnTo>
                    <a:pt x="401116" y="35750"/>
                  </a:lnTo>
                  <a:lnTo>
                    <a:pt x="401574" y="35306"/>
                  </a:lnTo>
                  <a:lnTo>
                    <a:pt x="405307" y="31750"/>
                  </a:lnTo>
                  <a:lnTo>
                    <a:pt x="405561" y="31521"/>
                  </a:lnTo>
                  <a:lnTo>
                    <a:pt x="405968" y="31242"/>
                  </a:lnTo>
                  <a:lnTo>
                    <a:pt x="411441" y="27559"/>
                  </a:lnTo>
                  <a:lnTo>
                    <a:pt x="411911" y="27305"/>
                  </a:lnTo>
                  <a:lnTo>
                    <a:pt x="420204" y="22860"/>
                  </a:lnTo>
                  <a:lnTo>
                    <a:pt x="419950" y="22860"/>
                  </a:lnTo>
                  <a:lnTo>
                    <a:pt x="429983" y="18161"/>
                  </a:lnTo>
                  <a:lnTo>
                    <a:pt x="429856" y="18161"/>
                  </a:lnTo>
                  <a:lnTo>
                    <a:pt x="454494" y="7239"/>
                  </a:lnTo>
                  <a:lnTo>
                    <a:pt x="456272" y="6477"/>
                  </a:lnTo>
                  <a:lnTo>
                    <a:pt x="457034" y="4445"/>
                  </a:lnTo>
                  <a:close/>
                </a:path>
              </a:pathLst>
            </a:custGeom>
            <a:solidFill>
              <a:srgbClr val="FF0000"/>
            </a:solidFill>
          </p:spPr>
          <p:txBody>
            <a:bodyPr wrap="square" lIns="0" tIns="0" rIns="0" bIns="0" rtlCol="0"/>
            <a:lstStyle/>
            <a:p>
              <a:endParaRPr/>
            </a:p>
          </p:txBody>
        </p:sp>
        <p:sp>
          <p:nvSpPr>
            <p:cNvPr id="10" name="object 10"/>
            <p:cNvSpPr/>
            <p:nvPr/>
          </p:nvSpPr>
          <p:spPr>
            <a:xfrm>
              <a:off x="6592569" y="2464053"/>
              <a:ext cx="36830" cy="30480"/>
            </a:xfrm>
            <a:custGeom>
              <a:avLst/>
              <a:gdLst/>
              <a:ahLst/>
              <a:cxnLst/>
              <a:rect l="l" t="t" r="r" b="b"/>
              <a:pathLst>
                <a:path w="36829" h="30480">
                  <a:moveTo>
                    <a:pt x="30860" y="0"/>
                  </a:moveTo>
                  <a:lnTo>
                    <a:pt x="22986" y="3175"/>
                  </a:lnTo>
                  <a:lnTo>
                    <a:pt x="17145" y="5968"/>
                  </a:lnTo>
                  <a:lnTo>
                    <a:pt x="16509" y="6222"/>
                  </a:lnTo>
                  <a:lnTo>
                    <a:pt x="2031" y="18668"/>
                  </a:lnTo>
                  <a:lnTo>
                    <a:pt x="380" y="20446"/>
                  </a:lnTo>
                  <a:lnTo>
                    <a:pt x="0" y="22987"/>
                  </a:lnTo>
                  <a:lnTo>
                    <a:pt x="1524" y="27558"/>
                  </a:lnTo>
                  <a:lnTo>
                    <a:pt x="3555" y="29209"/>
                  </a:lnTo>
                  <a:lnTo>
                    <a:pt x="8254" y="29971"/>
                  </a:lnTo>
                  <a:lnTo>
                    <a:pt x="10668" y="29082"/>
                  </a:lnTo>
                  <a:lnTo>
                    <a:pt x="12191" y="27177"/>
                  </a:lnTo>
                  <a:lnTo>
                    <a:pt x="15120" y="23621"/>
                  </a:lnTo>
                  <a:lnTo>
                    <a:pt x="14858" y="23621"/>
                  </a:lnTo>
                  <a:lnTo>
                    <a:pt x="19061" y="20065"/>
                  </a:lnTo>
                  <a:lnTo>
                    <a:pt x="18923" y="20065"/>
                  </a:lnTo>
                  <a:lnTo>
                    <a:pt x="19811" y="19431"/>
                  </a:lnTo>
                  <a:lnTo>
                    <a:pt x="19981" y="19431"/>
                  </a:lnTo>
                  <a:lnTo>
                    <a:pt x="23156" y="17525"/>
                  </a:lnTo>
                  <a:lnTo>
                    <a:pt x="28448" y="14477"/>
                  </a:lnTo>
                  <a:lnTo>
                    <a:pt x="29209" y="13969"/>
                  </a:lnTo>
                  <a:lnTo>
                    <a:pt x="33781" y="10413"/>
                  </a:lnTo>
                  <a:lnTo>
                    <a:pt x="35940" y="8762"/>
                  </a:lnTo>
                  <a:lnTo>
                    <a:pt x="36449" y="5841"/>
                  </a:lnTo>
                  <a:lnTo>
                    <a:pt x="35178" y="3428"/>
                  </a:lnTo>
                  <a:lnTo>
                    <a:pt x="33781" y="1015"/>
                  </a:lnTo>
                  <a:lnTo>
                    <a:pt x="30860" y="0"/>
                  </a:lnTo>
                  <a:close/>
                </a:path>
                <a:path w="36829" h="30480">
                  <a:moveTo>
                    <a:pt x="15721" y="22892"/>
                  </a:moveTo>
                  <a:lnTo>
                    <a:pt x="14858" y="23621"/>
                  </a:lnTo>
                  <a:lnTo>
                    <a:pt x="15120" y="23621"/>
                  </a:lnTo>
                  <a:lnTo>
                    <a:pt x="15721" y="22892"/>
                  </a:lnTo>
                  <a:close/>
                </a:path>
                <a:path w="36829" h="30480">
                  <a:moveTo>
                    <a:pt x="19811" y="19431"/>
                  </a:moveTo>
                  <a:lnTo>
                    <a:pt x="18923" y="20065"/>
                  </a:lnTo>
                  <a:lnTo>
                    <a:pt x="19399" y="19780"/>
                  </a:lnTo>
                  <a:lnTo>
                    <a:pt x="19811" y="19431"/>
                  </a:lnTo>
                  <a:close/>
                </a:path>
                <a:path w="36829" h="30480">
                  <a:moveTo>
                    <a:pt x="19399" y="19780"/>
                  </a:moveTo>
                  <a:lnTo>
                    <a:pt x="18923" y="20065"/>
                  </a:lnTo>
                  <a:lnTo>
                    <a:pt x="19061" y="20065"/>
                  </a:lnTo>
                  <a:lnTo>
                    <a:pt x="19399" y="19780"/>
                  </a:lnTo>
                  <a:close/>
                </a:path>
                <a:path w="36829" h="30480">
                  <a:moveTo>
                    <a:pt x="19981" y="19431"/>
                  </a:moveTo>
                  <a:lnTo>
                    <a:pt x="19811" y="19431"/>
                  </a:lnTo>
                  <a:lnTo>
                    <a:pt x="19399" y="19780"/>
                  </a:lnTo>
                  <a:lnTo>
                    <a:pt x="19981" y="19431"/>
                  </a:lnTo>
                  <a:close/>
                </a:path>
                <a:path w="36829" h="30480">
                  <a:moveTo>
                    <a:pt x="23368" y="17398"/>
                  </a:moveTo>
                  <a:lnTo>
                    <a:pt x="23113" y="17525"/>
                  </a:lnTo>
                  <a:lnTo>
                    <a:pt x="23368" y="17398"/>
                  </a:lnTo>
                  <a:close/>
                </a:path>
              </a:pathLst>
            </a:custGeom>
            <a:solidFill>
              <a:srgbClr val="FF0000"/>
            </a:solidFill>
          </p:spPr>
          <p:txBody>
            <a:bodyPr wrap="square" lIns="0" tIns="0" rIns="0" bIns="0" rtlCol="0"/>
            <a:lstStyle/>
            <a:p>
              <a:endParaRPr/>
            </a:p>
          </p:txBody>
        </p:sp>
      </p:grpSp>
      <p:sp>
        <p:nvSpPr>
          <p:cNvPr id="11" name="object 11"/>
          <p:cNvSpPr txBox="1">
            <a:spLocks noGrp="1"/>
          </p:cNvSpPr>
          <p:nvPr>
            <p:ph type="sldNum" sz="quarter" idx="4294967295"/>
          </p:nvPr>
        </p:nvSpPr>
        <p:spPr>
          <a:xfrm>
            <a:off x="8401557" y="4830038"/>
            <a:ext cx="231775" cy="178435"/>
          </a:xfrm>
          <a:prstGeom prst="rect">
            <a:avLst/>
          </a:prstGeom>
        </p:spPr>
        <p:txBody>
          <a:bodyPr vert="horz" wrap="square" lIns="0" tIns="0" rIns="0" bIns="0" rtlCol="0">
            <a:spAutoFit/>
          </a:bodyPr>
          <a:lstStyle/>
          <a:p>
            <a:pPr marL="38100">
              <a:lnSpc>
                <a:spcPts val="1240"/>
              </a:lnSpc>
            </a:pPr>
            <a:fld id="{81D60167-4931-47E6-BA6A-407CBD079E47}" type="slidenum">
              <a:rPr dirty="0"/>
              <a:t>61</a:t>
            </a:fld>
            <a:endParaRPr dirty="0"/>
          </a:p>
        </p:txBody>
      </p:sp>
    </p:spTree>
    <p:extLst>
      <p:ext uri="{BB962C8B-B14F-4D97-AF65-F5344CB8AC3E}">
        <p14:creationId xmlns:p14="http://schemas.microsoft.com/office/powerpoint/2010/main" val="22084484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Decision</a:t>
            </a:r>
            <a:r>
              <a:rPr spc="-35" dirty="0"/>
              <a:t> </a:t>
            </a:r>
            <a:r>
              <a:rPr spc="-15" dirty="0"/>
              <a:t>tree</a:t>
            </a:r>
          </a:p>
        </p:txBody>
      </p:sp>
      <p:sp>
        <p:nvSpPr>
          <p:cNvPr id="3" name="object 3"/>
          <p:cNvSpPr txBox="1"/>
          <p:nvPr/>
        </p:nvSpPr>
        <p:spPr>
          <a:xfrm>
            <a:off x="535940" y="1216913"/>
            <a:ext cx="7288530" cy="330835"/>
          </a:xfrm>
          <a:prstGeom prst="rect">
            <a:avLst/>
          </a:prstGeom>
        </p:spPr>
        <p:txBody>
          <a:bodyPr vert="horz" wrap="square" lIns="0" tIns="13335" rIns="0" bIns="0" rtlCol="0">
            <a:spAutoFit/>
          </a:bodyPr>
          <a:lstStyle/>
          <a:p>
            <a:pPr marL="355600" indent="-342900">
              <a:lnSpc>
                <a:spcPct val="100000"/>
              </a:lnSpc>
              <a:spcBef>
                <a:spcPts val="105"/>
              </a:spcBef>
              <a:buFont typeface="Arial"/>
              <a:buChar char="•"/>
              <a:tabLst>
                <a:tab pos="354965" algn="l"/>
                <a:tab pos="355600" algn="l"/>
              </a:tabLst>
            </a:pPr>
            <a:r>
              <a:rPr sz="2000" spc="-5" dirty="0">
                <a:latin typeface="Carlito"/>
                <a:cs typeface="Carlito"/>
              </a:rPr>
              <a:t>The ﬁnal </a:t>
            </a:r>
            <a:r>
              <a:rPr sz="2000" dirty="0">
                <a:latin typeface="Carlito"/>
                <a:cs typeface="Carlito"/>
              </a:rPr>
              <a:t>decision </a:t>
            </a:r>
            <a:r>
              <a:rPr sz="2000" spc="-5" dirty="0">
                <a:latin typeface="Carlito"/>
                <a:cs typeface="Carlito"/>
              </a:rPr>
              <a:t>tree returned by </a:t>
            </a:r>
            <a:r>
              <a:rPr sz="2000" dirty="0">
                <a:latin typeface="Carlito"/>
                <a:cs typeface="Carlito"/>
              </a:rPr>
              <a:t>the </a:t>
            </a:r>
            <a:r>
              <a:rPr sz="2000" spc="-5" dirty="0">
                <a:latin typeface="Carlito"/>
                <a:cs typeface="Carlito"/>
              </a:rPr>
              <a:t>algorithm </a:t>
            </a:r>
            <a:r>
              <a:rPr sz="2000" dirty="0">
                <a:latin typeface="Carlito"/>
                <a:cs typeface="Carlito"/>
              </a:rPr>
              <a:t>is </a:t>
            </a:r>
            <a:r>
              <a:rPr sz="2000" spc="-5" dirty="0">
                <a:latin typeface="Carlito"/>
                <a:cs typeface="Carlito"/>
              </a:rPr>
              <a:t>shown in</a:t>
            </a:r>
            <a:r>
              <a:rPr sz="2000" spc="-25" dirty="0">
                <a:latin typeface="Carlito"/>
                <a:cs typeface="Carlito"/>
              </a:rPr>
              <a:t> </a:t>
            </a:r>
            <a:r>
              <a:rPr sz="2000" spc="-5" dirty="0">
                <a:latin typeface="Carlito"/>
                <a:cs typeface="Carlito"/>
              </a:rPr>
              <a:t>Figure</a:t>
            </a:r>
            <a:endParaRPr sz="2000">
              <a:latin typeface="Carlito"/>
              <a:cs typeface="Carlito"/>
            </a:endParaRPr>
          </a:p>
        </p:txBody>
      </p:sp>
      <p:sp>
        <p:nvSpPr>
          <p:cNvPr id="4" name="object 4"/>
          <p:cNvSpPr/>
          <p:nvPr/>
        </p:nvSpPr>
        <p:spPr>
          <a:xfrm>
            <a:off x="2412492" y="1691639"/>
            <a:ext cx="4430267" cy="2580132"/>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62</a:t>
            </a:fld>
            <a:endParaRPr dirty="0"/>
          </a:p>
        </p:txBody>
      </p:sp>
    </p:spTree>
    <p:extLst>
      <p:ext uri="{BB962C8B-B14F-4D97-AF65-F5344CB8AC3E}">
        <p14:creationId xmlns:p14="http://schemas.microsoft.com/office/powerpoint/2010/main" val="7832787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0" name="Rectangle 2">
            <a:extLst>
              <a:ext uri="{FF2B5EF4-FFF2-40B4-BE49-F238E27FC236}">
                <a16:creationId xmlns:a16="http://schemas.microsoft.com/office/drawing/2014/main" id="{F0D7B7F3-039E-477A-9629-038D64E58533}"/>
              </a:ext>
            </a:extLst>
          </p:cNvPr>
          <p:cNvSpPr>
            <a:spLocks noGrp="1" noChangeArrowheads="1"/>
          </p:cNvSpPr>
          <p:nvPr>
            <p:ph type="title"/>
          </p:nvPr>
        </p:nvSpPr>
        <p:spPr>
          <a:xfrm>
            <a:off x="205563" y="291508"/>
            <a:ext cx="8915400" cy="965781"/>
          </a:xfrm>
        </p:spPr>
        <p:txBody>
          <a:bodyPr rtlCol="0">
            <a:normAutofit/>
          </a:bodyPr>
          <a:lstStyle/>
          <a:p>
            <a:pPr>
              <a:lnSpc>
                <a:spcPct val="80000"/>
              </a:lnSpc>
              <a:defRPr/>
            </a:pPr>
            <a:r>
              <a:rPr lang="en-US" dirty="0"/>
              <a:t>Disorder is bad Homogeneity is good</a:t>
            </a:r>
          </a:p>
        </p:txBody>
      </p:sp>
      <p:sp>
        <p:nvSpPr>
          <p:cNvPr id="48131" name="Oval 3">
            <a:extLst>
              <a:ext uri="{FF2B5EF4-FFF2-40B4-BE49-F238E27FC236}">
                <a16:creationId xmlns:a16="http://schemas.microsoft.com/office/drawing/2014/main" id="{CE7A5D27-6C20-4460-B6C0-81FEF432E7F4}"/>
              </a:ext>
            </a:extLst>
          </p:cNvPr>
          <p:cNvSpPr>
            <a:spLocks noChangeArrowheads="1"/>
          </p:cNvSpPr>
          <p:nvPr/>
        </p:nvSpPr>
        <p:spPr bwMode="auto">
          <a:xfrm>
            <a:off x="3429000" y="13716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32" name="Oval 4">
            <a:extLst>
              <a:ext uri="{FF2B5EF4-FFF2-40B4-BE49-F238E27FC236}">
                <a16:creationId xmlns:a16="http://schemas.microsoft.com/office/drawing/2014/main" id="{5B8FE7F0-9EDC-4C76-961A-77AD2B96064B}"/>
              </a:ext>
            </a:extLst>
          </p:cNvPr>
          <p:cNvSpPr>
            <a:spLocks noChangeArrowheads="1"/>
          </p:cNvSpPr>
          <p:nvPr/>
        </p:nvSpPr>
        <p:spPr bwMode="auto">
          <a:xfrm>
            <a:off x="3257550" y="142875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33" name="Oval 5">
            <a:extLst>
              <a:ext uri="{FF2B5EF4-FFF2-40B4-BE49-F238E27FC236}">
                <a16:creationId xmlns:a16="http://schemas.microsoft.com/office/drawing/2014/main" id="{57C84E59-D64B-45A2-99DE-C13045B66ED8}"/>
              </a:ext>
            </a:extLst>
          </p:cNvPr>
          <p:cNvSpPr>
            <a:spLocks noChangeArrowheads="1"/>
          </p:cNvSpPr>
          <p:nvPr/>
        </p:nvSpPr>
        <p:spPr bwMode="auto">
          <a:xfrm>
            <a:off x="3543300" y="165735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34" name="Oval 6">
            <a:extLst>
              <a:ext uri="{FF2B5EF4-FFF2-40B4-BE49-F238E27FC236}">
                <a16:creationId xmlns:a16="http://schemas.microsoft.com/office/drawing/2014/main" id="{5740A920-7E36-44A8-8ECC-13B22E70A645}"/>
              </a:ext>
            </a:extLst>
          </p:cNvPr>
          <p:cNvSpPr>
            <a:spLocks noChangeArrowheads="1"/>
          </p:cNvSpPr>
          <p:nvPr/>
        </p:nvSpPr>
        <p:spPr bwMode="auto">
          <a:xfrm>
            <a:off x="3143250" y="18288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35" name="Oval 7">
            <a:extLst>
              <a:ext uri="{FF2B5EF4-FFF2-40B4-BE49-F238E27FC236}">
                <a16:creationId xmlns:a16="http://schemas.microsoft.com/office/drawing/2014/main" id="{9C5C004D-FF4A-4640-A63A-FF57137CB5C0}"/>
              </a:ext>
            </a:extLst>
          </p:cNvPr>
          <p:cNvSpPr>
            <a:spLocks noChangeArrowheads="1"/>
          </p:cNvSpPr>
          <p:nvPr/>
        </p:nvSpPr>
        <p:spPr bwMode="auto">
          <a:xfrm>
            <a:off x="3486150" y="19431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36" name="Oval 8">
            <a:extLst>
              <a:ext uri="{FF2B5EF4-FFF2-40B4-BE49-F238E27FC236}">
                <a16:creationId xmlns:a16="http://schemas.microsoft.com/office/drawing/2014/main" id="{1150D7B5-3639-4407-AED2-ACFDAD9DAE93}"/>
              </a:ext>
            </a:extLst>
          </p:cNvPr>
          <p:cNvSpPr>
            <a:spLocks noChangeArrowheads="1"/>
          </p:cNvSpPr>
          <p:nvPr/>
        </p:nvSpPr>
        <p:spPr bwMode="auto">
          <a:xfrm>
            <a:off x="3714750" y="12573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37" name="Oval 9">
            <a:extLst>
              <a:ext uri="{FF2B5EF4-FFF2-40B4-BE49-F238E27FC236}">
                <a16:creationId xmlns:a16="http://schemas.microsoft.com/office/drawing/2014/main" id="{B0B6B6A2-BDB7-4816-A2B2-4FDD7CFD8777}"/>
              </a:ext>
            </a:extLst>
          </p:cNvPr>
          <p:cNvSpPr>
            <a:spLocks noChangeArrowheads="1"/>
          </p:cNvSpPr>
          <p:nvPr/>
        </p:nvSpPr>
        <p:spPr bwMode="auto">
          <a:xfrm>
            <a:off x="4000500" y="16002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38" name="Oval 10">
            <a:extLst>
              <a:ext uri="{FF2B5EF4-FFF2-40B4-BE49-F238E27FC236}">
                <a16:creationId xmlns:a16="http://schemas.microsoft.com/office/drawing/2014/main" id="{545221EF-8614-481F-945C-6331AA01E708}"/>
              </a:ext>
            </a:extLst>
          </p:cNvPr>
          <p:cNvSpPr>
            <a:spLocks noChangeArrowheads="1"/>
          </p:cNvSpPr>
          <p:nvPr/>
        </p:nvSpPr>
        <p:spPr bwMode="auto">
          <a:xfrm>
            <a:off x="3714750" y="21717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39" name="AutoShape 11">
            <a:extLst>
              <a:ext uri="{FF2B5EF4-FFF2-40B4-BE49-F238E27FC236}">
                <a16:creationId xmlns:a16="http://schemas.microsoft.com/office/drawing/2014/main" id="{117F644E-9E31-4C61-BDD7-36DFBF99CDE8}"/>
              </a:ext>
            </a:extLst>
          </p:cNvPr>
          <p:cNvSpPr>
            <a:spLocks noChangeArrowheads="1"/>
          </p:cNvSpPr>
          <p:nvPr/>
        </p:nvSpPr>
        <p:spPr bwMode="auto">
          <a:xfrm>
            <a:off x="3314700" y="160020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40" name="AutoShape 12">
            <a:extLst>
              <a:ext uri="{FF2B5EF4-FFF2-40B4-BE49-F238E27FC236}">
                <a16:creationId xmlns:a16="http://schemas.microsoft.com/office/drawing/2014/main" id="{C0B70B33-8630-45E0-8FEE-3CC7ED78E9CF}"/>
              </a:ext>
            </a:extLst>
          </p:cNvPr>
          <p:cNvSpPr>
            <a:spLocks noChangeArrowheads="1"/>
          </p:cNvSpPr>
          <p:nvPr/>
        </p:nvSpPr>
        <p:spPr bwMode="auto">
          <a:xfrm>
            <a:off x="3657600" y="142875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41" name="AutoShape 13">
            <a:extLst>
              <a:ext uri="{FF2B5EF4-FFF2-40B4-BE49-F238E27FC236}">
                <a16:creationId xmlns:a16="http://schemas.microsoft.com/office/drawing/2014/main" id="{9E536780-0FD4-442F-96E6-C29889D799CA}"/>
              </a:ext>
            </a:extLst>
          </p:cNvPr>
          <p:cNvSpPr>
            <a:spLocks noChangeArrowheads="1"/>
          </p:cNvSpPr>
          <p:nvPr/>
        </p:nvSpPr>
        <p:spPr bwMode="auto">
          <a:xfrm>
            <a:off x="3028950" y="148590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42" name="AutoShape 14">
            <a:extLst>
              <a:ext uri="{FF2B5EF4-FFF2-40B4-BE49-F238E27FC236}">
                <a16:creationId xmlns:a16="http://schemas.microsoft.com/office/drawing/2014/main" id="{257EA3F7-694F-414F-9C10-97504448B83B}"/>
              </a:ext>
            </a:extLst>
          </p:cNvPr>
          <p:cNvSpPr>
            <a:spLocks noChangeArrowheads="1"/>
          </p:cNvSpPr>
          <p:nvPr/>
        </p:nvSpPr>
        <p:spPr bwMode="auto">
          <a:xfrm>
            <a:off x="3257550" y="205740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43" name="AutoShape 15">
            <a:extLst>
              <a:ext uri="{FF2B5EF4-FFF2-40B4-BE49-F238E27FC236}">
                <a16:creationId xmlns:a16="http://schemas.microsoft.com/office/drawing/2014/main" id="{A5112204-C94D-476B-BC69-4A40EC0D80F2}"/>
              </a:ext>
            </a:extLst>
          </p:cNvPr>
          <p:cNvSpPr>
            <a:spLocks noChangeArrowheads="1"/>
          </p:cNvSpPr>
          <p:nvPr/>
        </p:nvSpPr>
        <p:spPr bwMode="auto">
          <a:xfrm>
            <a:off x="3771900" y="182880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44" name="AutoShape 16">
            <a:extLst>
              <a:ext uri="{FF2B5EF4-FFF2-40B4-BE49-F238E27FC236}">
                <a16:creationId xmlns:a16="http://schemas.microsoft.com/office/drawing/2014/main" id="{E83AF9EA-D948-436B-9319-FE49FA5DD655}"/>
              </a:ext>
            </a:extLst>
          </p:cNvPr>
          <p:cNvSpPr>
            <a:spLocks noChangeArrowheads="1"/>
          </p:cNvSpPr>
          <p:nvPr/>
        </p:nvSpPr>
        <p:spPr bwMode="auto">
          <a:xfrm>
            <a:off x="4000500" y="137160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05" name="Oval 17">
            <a:extLst>
              <a:ext uri="{FF2B5EF4-FFF2-40B4-BE49-F238E27FC236}">
                <a16:creationId xmlns:a16="http://schemas.microsoft.com/office/drawing/2014/main" id="{F87FF76D-E3D1-4EA5-AFF1-EBC32C21586E}"/>
              </a:ext>
            </a:extLst>
          </p:cNvPr>
          <p:cNvSpPr>
            <a:spLocks noChangeArrowheads="1"/>
          </p:cNvSpPr>
          <p:nvPr/>
        </p:nvSpPr>
        <p:spPr bwMode="auto">
          <a:xfrm>
            <a:off x="4629150" y="35433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06" name="Oval 18">
            <a:extLst>
              <a:ext uri="{FF2B5EF4-FFF2-40B4-BE49-F238E27FC236}">
                <a16:creationId xmlns:a16="http://schemas.microsoft.com/office/drawing/2014/main" id="{CAED9D9F-23DC-438C-AC4E-3832BA6B1120}"/>
              </a:ext>
            </a:extLst>
          </p:cNvPr>
          <p:cNvSpPr>
            <a:spLocks noChangeArrowheads="1"/>
          </p:cNvSpPr>
          <p:nvPr/>
        </p:nvSpPr>
        <p:spPr bwMode="auto">
          <a:xfrm>
            <a:off x="4743450" y="36576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07" name="Oval 19">
            <a:extLst>
              <a:ext uri="{FF2B5EF4-FFF2-40B4-BE49-F238E27FC236}">
                <a16:creationId xmlns:a16="http://schemas.microsoft.com/office/drawing/2014/main" id="{878DB57F-6476-4E58-BB57-327C980D9209}"/>
              </a:ext>
            </a:extLst>
          </p:cNvPr>
          <p:cNvSpPr>
            <a:spLocks noChangeArrowheads="1"/>
          </p:cNvSpPr>
          <p:nvPr/>
        </p:nvSpPr>
        <p:spPr bwMode="auto">
          <a:xfrm>
            <a:off x="4857750" y="37719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08" name="Oval 20">
            <a:extLst>
              <a:ext uri="{FF2B5EF4-FFF2-40B4-BE49-F238E27FC236}">
                <a16:creationId xmlns:a16="http://schemas.microsoft.com/office/drawing/2014/main" id="{F3EB148F-C399-4DB6-979E-B90EFA5C5C4D}"/>
              </a:ext>
            </a:extLst>
          </p:cNvPr>
          <p:cNvSpPr>
            <a:spLocks noChangeArrowheads="1"/>
          </p:cNvSpPr>
          <p:nvPr/>
        </p:nvSpPr>
        <p:spPr bwMode="auto">
          <a:xfrm>
            <a:off x="4972050" y="38862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09" name="Oval 21">
            <a:extLst>
              <a:ext uri="{FF2B5EF4-FFF2-40B4-BE49-F238E27FC236}">
                <a16:creationId xmlns:a16="http://schemas.microsoft.com/office/drawing/2014/main" id="{E1544CE1-0EE3-42F9-A4E3-8E915236B5BC}"/>
              </a:ext>
            </a:extLst>
          </p:cNvPr>
          <p:cNvSpPr>
            <a:spLocks noChangeArrowheads="1"/>
          </p:cNvSpPr>
          <p:nvPr/>
        </p:nvSpPr>
        <p:spPr bwMode="auto">
          <a:xfrm>
            <a:off x="4457700" y="36576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10" name="Oval 22">
            <a:extLst>
              <a:ext uri="{FF2B5EF4-FFF2-40B4-BE49-F238E27FC236}">
                <a16:creationId xmlns:a16="http://schemas.microsoft.com/office/drawing/2014/main" id="{08E6820C-06B4-4E24-87C5-B28D6F6DEB6C}"/>
              </a:ext>
            </a:extLst>
          </p:cNvPr>
          <p:cNvSpPr>
            <a:spLocks noChangeArrowheads="1"/>
          </p:cNvSpPr>
          <p:nvPr/>
        </p:nvSpPr>
        <p:spPr bwMode="auto">
          <a:xfrm>
            <a:off x="4572000" y="37719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11" name="Oval 23">
            <a:extLst>
              <a:ext uri="{FF2B5EF4-FFF2-40B4-BE49-F238E27FC236}">
                <a16:creationId xmlns:a16="http://schemas.microsoft.com/office/drawing/2014/main" id="{4D6D86CC-A589-40ED-963D-33310BEF609A}"/>
              </a:ext>
            </a:extLst>
          </p:cNvPr>
          <p:cNvSpPr>
            <a:spLocks noChangeArrowheads="1"/>
          </p:cNvSpPr>
          <p:nvPr/>
        </p:nvSpPr>
        <p:spPr bwMode="auto">
          <a:xfrm>
            <a:off x="4572000" y="38862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12" name="Oval 24">
            <a:extLst>
              <a:ext uri="{FF2B5EF4-FFF2-40B4-BE49-F238E27FC236}">
                <a16:creationId xmlns:a16="http://schemas.microsoft.com/office/drawing/2014/main" id="{CDD61858-7FD0-438D-A52B-5CF47EDB9371}"/>
              </a:ext>
            </a:extLst>
          </p:cNvPr>
          <p:cNvSpPr>
            <a:spLocks noChangeArrowheads="1"/>
          </p:cNvSpPr>
          <p:nvPr/>
        </p:nvSpPr>
        <p:spPr bwMode="auto">
          <a:xfrm>
            <a:off x="4800600" y="38862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13" name="AutoShape 25">
            <a:extLst>
              <a:ext uri="{FF2B5EF4-FFF2-40B4-BE49-F238E27FC236}">
                <a16:creationId xmlns:a16="http://schemas.microsoft.com/office/drawing/2014/main" id="{47EFE21F-D894-4776-963E-21DEBC9B3A6B}"/>
              </a:ext>
            </a:extLst>
          </p:cNvPr>
          <p:cNvSpPr>
            <a:spLocks noChangeArrowheads="1"/>
          </p:cNvSpPr>
          <p:nvPr/>
        </p:nvSpPr>
        <p:spPr bwMode="auto">
          <a:xfrm flipV="1">
            <a:off x="2628900" y="3486150"/>
            <a:ext cx="228600" cy="17145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14" name="AutoShape 26">
            <a:extLst>
              <a:ext uri="{FF2B5EF4-FFF2-40B4-BE49-F238E27FC236}">
                <a16:creationId xmlns:a16="http://schemas.microsoft.com/office/drawing/2014/main" id="{26126306-66A3-49D7-8131-EEA697654E36}"/>
              </a:ext>
            </a:extLst>
          </p:cNvPr>
          <p:cNvSpPr>
            <a:spLocks noChangeArrowheads="1"/>
          </p:cNvSpPr>
          <p:nvPr/>
        </p:nvSpPr>
        <p:spPr bwMode="auto">
          <a:xfrm flipV="1">
            <a:off x="2743200" y="3600450"/>
            <a:ext cx="228600" cy="17145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15" name="AutoShape 27">
            <a:extLst>
              <a:ext uri="{FF2B5EF4-FFF2-40B4-BE49-F238E27FC236}">
                <a16:creationId xmlns:a16="http://schemas.microsoft.com/office/drawing/2014/main" id="{F5662971-4219-494C-9023-25FC7DFF5036}"/>
              </a:ext>
            </a:extLst>
          </p:cNvPr>
          <p:cNvSpPr>
            <a:spLocks noChangeArrowheads="1"/>
          </p:cNvSpPr>
          <p:nvPr/>
        </p:nvSpPr>
        <p:spPr bwMode="auto">
          <a:xfrm flipV="1">
            <a:off x="2857500" y="3714750"/>
            <a:ext cx="228600" cy="17145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16" name="AutoShape 28">
            <a:extLst>
              <a:ext uri="{FF2B5EF4-FFF2-40B4-BE49-F238E27FC236}">
                <a16:creationId xmlns:a16="http://schemas.microsoft.com/office/drawing/2014/main" id="{EED46913-526B-4C6C-9F0C-D06CEC5FEF3F}"/>
              </a:ext>
            </a:extLst>
          </p:cNvPr>
          <p:cNvSpPr>
            <a:spLocks noChangeArrowheads="1"/>
          </p:cNvSpPr>
          <p:nvPr/>
        </p:nvSpPr>
        <p:spPr bwMode="auto">
          <a:xfrm flipV="1">
            <a:off x="2971800" y="3829050"/>
            <a:ext cx="228600" cy="17145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17" name="AutoShape 29">
            <a:extLst>
              <a:ext uri="{FF2B5EF4-FFF2-40B4-BE49-F238E27FC236}">
                <a16:creationId xmlns:a16="http://schemas.microsoft.com/office/drawing/2014/main" id="{81340774-B3A5-4560-A7DF-55C1B45F88E7}"/>
              </a:ext>
            </a:extLst>
          </p:cNvPr>
          <p:cNvSpPr>
            <a:spLocks noChangeArrowheads="1"/>
          </p:cNvSpPr>
          <p:nvPr/>
        </p:nvSpPr>
        <p:spPr bwMode="auto">
          <a:xfrm>
            <a:off x="3028950" y="348615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18" name="AutoShape 30">
            <a:extLst>
              <a:ext uri="{FF2B5EF4-FFF2-40B4-BE49-F238E27FC236}">
                <a16:creationId xmlns:a16="http://schemas.microsoft.com/office/drawing/2014/main" id="{59C6D7FB-1F29-4A94-8789-295B7ED03CC1}"/>
              </a:ext>
            </a:extLst>
          </p:cNvPr>
          <p:cNvSpPr>
            <a:spLocks noChangeArrowheads="1"/>
          </p:cNvSpPr>
          <p:nvPr/>
        </p:nvSpPr>
        <p:spPr bwMode="auto">
          <a:xfrm>
            <a:off x="3143250" y="360045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19" name="Oval 31">
            <a:extLst>
              <a:ext uri="{FF2B5EF4-FFF2-40B4-BE49-F238E27FC236}">
                <a16:creationId xmlns:a16="http://schemas.microsoft.com/office/drawing/2014/main" id="{1318DA19-CA91-4B6D-90C8-3A77DC55D271}"/>
              </a:ext>
            </a:extLst>
          </p:cNvPr>
          <p:cNvSpPr>
            <a:spLocks noChangeArrowheads="1"/>
          </p:cNvSpPr>
          <p:nvPr/>
        </p:nvSpPr>
        <p:spPr bwMode="auto">
          <a:xfrm>
            <a:off x="2343150" y="3257550"/>
            <a:ext cx="1257300" cy="97155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20" name="Oval 32">
            <a:extLst>
              <a:ext uri="{FF2B5EF4-FFF2-40B4-BE49-F238E27FC236}">
                <a16:creationId xmlns:a16="http://schemas.microsoft.com/office/drawing/2014/main" id="{95C255D9-7F91-4CA6-85FB-2F6EBC7EB0DF}"/>
              </a:ext>
            </a:extLst>
          </p:cNvPr>
          <p:cNvSpPr>
            <a:spLocks noChangeArrowheads="1"/>
          </p:cNvSpPr>
          <p:nvPr/>
        </p:nvSpPr>
        <p:spPr bwMode="auto">
          <a:xfrm>
            <a:off x="4114800" y="3371850"/>
            <a:ext cx="1257300" cy="97155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48161" name="Oval 33">
            <a:extLst>
              <a:ext uri="{FF2B5EF4-FFF2-40B4-BE49-F238E27FC236}">
                <a16:creationId xmlns:a16="http://schemas.microsoft.com/office/drawing/2014/main" id="{3959ABDF-9991-4A52-B688-94859DBD7114}"/>
              </a:ext>
            </a:extLst>
          </p:cNvPr>
          <p:cNvSpPr>
            <a:spLocks noChangeArrowheads="1"/>
          </p:cNvSpPr>
          <p:nvPr/>
        </p:nvSpPr>
        <p:spPr bwMode="auto">
          <a:xfrm>
            <a:off x="2914650" y="1143000"/>
            <a:ext cx="1543050" cy="131445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22" name="Oval 34">
            <a:extLst>
              <a:ext uri="{FF2B5EF4-FFF2-40B4-BE49-F238E27FC236}">
                <a16:creationId xmlns:a16="http://schemas.microsoft.com/office/drawing/2014/main" id="{09BB4C85-F217-408C-B2F7-61148C547D5E}"/>
              </a:ext>
            </a:extLst>
          </p:cNvPr>
          <p:cNvSpPr>
            <a:spLocks noChangeArrowheads="1"/>
          </p:cNvSpPr>
          <p:nvPr/>
        </p:nvSpPr>
        <p:spPr bwMode="auto">
          <a:xfrm>
            <a:off x="6686550" y="120015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23" name="Oval 35">
            <a:extLst>
              <a:ext uri="{FF2B5EF4-FFF2-40B4-BE49-F238E27FC236}">
                <a16:creationId xmlns:a16="http://schemas.microsoft.com/office/drawing/2014/main" id="{DDADB653-41C7-4C5C-9581-53DE361D475C}"/>
              </a:ext>
            </a:extLst>
          </p:cNvPr>
          <p:cNvSpPr>
            <a:spLocks noChangeArrowheads="1"/>
          </p:cNvSpPr>
          <p:nvPr/>
        </p:nvSpPr>
        <p:spPr bwMode="auto">
          <a:xfrm>
            <a:off x="6572250" y="18288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24" name="Oval 36">
            <a:extLst>
              <a:ext uri="{FF2B5EF4-FFF2-40B4-BE49-F238E27FC236}">
                <a16:creationId xmlns:a16="http://schemas.microsoft.com/office/drawing/2014/main" id="{A01E7828-55DE-4F80-805B-F308FFEE72C4}"/>
              </a:ext>
            </a:extLst>
          </p:cNvPr>
          <p:cNvSpPr>
            <a:spLocks noChangeArrowheads="1"/>
          </p:cNvSpPr>
          <p:nvPr/>
        </p:nvSpPr>
        <p:spPr bwMode="auto">
          <a:xfrm>
            <a:off x="6457950" y="24003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25" name="Oval 37">
            <a:extLst>
              <a:ext uri="{FF2B5EF4-FFF2-40B4-BE49-F238E27FC236}">
                <a16:creationId xmlns:a16="http://schemas.microsoft.com/office/drawing/2014/main" id="{AEE6528A-0BDF-4130-A971-B57F7FC82792}"/>
              </a:ext>
            </a:extLst>
          </p:cNvPr>
          <p:cNvSpPr>
            <a:spLocks noChangeArrowheads="1"/>
          </p:cNvSpPr>
          <p:nvPr/>
        </p:nvSpPr>
        <p:spPr bwMode="auto">
          <a:xfrm>
            <a:off x="6858000" y="280035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26" name="Oval 38">
            <a:extLst>
              <a:ext uri="{FF2B5EF4-FFF2-40B4-BE49-F238E27FC236}">
                <a16:creationId xmlns:a16="http://schemas.microsoft.com/office/drawing/2014/main" id="{C6ACF3BF-D8F4-4B00-B298-A054B9C4E1FB}"/>
              </a:ext>
            </a:extLst>
          </p:cNvPr>
          <p:cNvSpPr>
            <a:spLocks noChangeArrowheads="1"/>
          </p:cNvSpPr>
          <p:nvPr/>
        </p:nvSpPr>
        <p:spPr bwMode="auto">
          <a:xfrm>
            <a:off x="6286500" y="171450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27" name="Oval 39">
            <a:extLst>
              <a:ext uri="{FF2B5EF4-FFF2-40B4-BE49-F238E27FC236}">
                <a16:creationId xmlns:a16="http://schemas.microsoft.com/office/drawing/2014/main" id="{CD839D8D-4651-4F2D-B23B-2D30F3E5DED1}"/>
              </a:ext>
            </a:extLst>
          </p:cNvPr>
          <p:cNvSpPr>
            <a:spLocks noChangeArrowheads="1"/>
          </p:cNvSpPr>
          <p:nvPr/>
        </p:nvSpPr>
        <p:spPr bwMode="auto">
          <a:xfrm>
            <a:off x="6457950" y="268605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28" name="Oval 40">
            <a:extLst>
              <a:ext uri="{FF2B5EF4-FFF2-40B4-BE49-F238E27FC236}">
                <a16:creationId xmlns:a16="http://schemas.microsoft.com/office/drawing/2014/main" id="{F61C4068-C47B-4657-93A9-62F5FA63B2D3}"/>
              </a:ext>
            </a:extLst>
          </p:cNvPr>
          <p:cNvSpPr>
            <a:spLocks noChangeArrowheads="1"/>
          </p:cNvSpPr>
          <p:nvPr/>
        </p:nvSpPr>
        <p:spPr bwMode="auto">
          <a:xfrm>
            <a:off x="6457950" y="280035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29" name="Oval 41">
            <a:extLst>
              <a:ext uri="{FF2B5EF4-FFF2-40B4-BE49-F238E27FC236}">
                <a16:creationId xmlns:a16="http://schemas.microsoft.com/office/drawing/2014/main" id="{D71353E3-5CFC-41AE-8112-7D738750EBA5}"/>
              </a:ext>
            </a:extLst>
          </p:cNvPr>
          <p:cNvSpPr>
            <a:spLocks noChangeArrowheads="1"/>
          </p:cNvSpPr>
          <p:nvPr/>
        </p:nvSpPr>
        <p:spPr bwMode="auto">
          <a:xfrm>
            <a:off x="6686550" y="2800350"/>
            <a:ext cx="114300" cy="114300"/>
          </a:xfrm>
          <a:prstGeom prst="ellipse">
            <a:avLst/>
          </a:prstGeom>
          <a:solidFill>
            <a:srgbClr val="FF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31" name="AutoShape 43">
            <a:extLst>
              <a:ext uri="{FF2B5EF4-FFF2-40B4-BE49-F238E27FC236}">
                <a16:creationId xmlns:a16="http://schemas.microsoft.com/office/drawing/2014/main" id="{B74B437F-4B86-4FF7-AB75-4A687A57D745}"/>
              </a:ext>
            </a:extLst>
          </p:cNvPr>
          <p:cNvSpPr>
            <a:spLocks noChangeArrowheads="1"/>
          </p:cNvSpPr>
          <p:nvPr/>
        </p:nvSpPr>
        <p:spPr bwMode="auto">
          <a:xfrm flipV="1">
            <a:off x="6515100" y="3028950"/>
            <a:ext cx="228600" cy="17145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32" name="AutoShape 44">
            <a:extLst>
              <a:ext uri="{FF2B5EF4-FFF2-40B4-BE49-F238E27FC236}">
                <a16:creationId xmlns:a16="http://schemas.microsoft.com/office/drawing/2014/main" id="{31332618-FBF7-456B-8C17-EF3DAD54B32C}"/>
              </a:ext>
            </a:extLst>
          </p:cNvPr>
          <p:cNvSpPr>
            <a:spLocks noChangeArrowheads="1"/>
          </p:cNvSpPr>
          <p:nvPr/>
        </p:nvSpPr>
        <p:spPr bwMode="auto">
          <a:xfrm flipV="1">
            <a:off x="6572250" y="2571750"/>
            <a:ext cx="228600" cy="17145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33" name="AutoShape 45">
            <a:extLst>
              <a:ext uri="{FF2B5EF4-FFF2-40B4-BE49-F238E27FC236}">
                <a16:creationId xmlns:a16="http://schemas.microsoft.com/office/drawing/2014/main" id="{F451E5B5-7902-469F-8E41-E17CBDAE65CF}"/>
              </a:ext>
            </a:extLst>
          </p:cNvPr>
          <p:cNvSpPr>
            <a:spLocks noChangeArrowheads="1"/>
          </p:cNvSpPr>
          <p:nvPr/>
        </p:nvSpPr>
        <p:spPr bwMode="auto">
          <a:xfrm flipV="1">
            <a:off x="6115050" y="2800350"/>
            <a:ext cx="228600" cy="17145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34" name="AutoShape 46">
            <a:extLst>
              <a:ext uri="{FF2B5EF4-FFF2-40B4-BE49-F238E27FC236}">
                <a16:creationId xmlns:a16="http://schemas.microsoft.com/office/drawing/2014/main" id="{5A2690B0-BF5B-4E81-955D-347EFCD0A5B0}"/>
              </a:ext>
            </a:extLst>
          </p:cNvPr>
          <p:cNvSpPr>
            <a:spLocks noChangeArrowheads="1"/>
          </p:cNvSpPr>
          <p:nvPr/>
        </p:nvSpPr>
        <p:spPr bwMode="auto">
          <a:xfrm>
            <a:off x="6743700" y="148590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35" name="AutoShape 47">
            <a:extLst>
              <a:ext uri="{FF2B5EF4-FFF2-40B4-BE49-F238E27FC236}">
                <a16:creationId xmlns:a16="http://schemas.microsoft.com/office/drawing/2014/main" id="{B1A18057-579D-447A-A23A-00F9AEBFCC82}"/>
              </a:ext>
            </a:extLst>
          </p:cNvPr>
          <p:cNvSpPr>
            <a:spLocks noChangeArrowheads="1"/>
          </p:cNvSpPr>
          <p:nvPr/>
        </p:nvSpPr>
        <p:spPr bwMode="auto">
          <a:xfrm>
            <a:off x="6858000" y="160020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36" name="Oval 48">
            <a:extLst>
              <a:ext uri="{FF2B5EF4-FFF2-40B4-BE49-F238E27FC236}">
                <a16:creationId xmlns:a16="http://schemas.microsoft.com/office/drawing/2014/main" id="{F24B31CA-CB5D-404E-99CD-31E61AD4A0F5}"/>
              </a:ext>
            </a:extLst>
          </p:cNvPr>
          <p:cNvSpPr>
            <a:spLocks noChangeArrowheads="1"/>
          </p:cNvSpPr>
          <p:nvPr/>
        </p:nvSpPr>
        <p:spPr bwMode="auto">
          <a:xfrm>
            <a:off x="6000750" y="1085850"/>
            <a:ext cx="1257300" cy="97155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37" name="Oval 49">
            <a:extLst>
              <a:ext uri="{FF2B5EF4-FFF2-40B4-BE49-F238E27FC236}">
                <a16:creationId xmlns:a16="http://schemas.microsoft.com/office/drawing/2014/main" id="{112D7E6A-ED67-46BB-9DCD-C663056E3C90}"/>
              </a:ext>
            </a:extLst>
          </p:cNvPr>
          <p:cNvSpPr>
            <a:spLocks noChangeArrowheads="1"/>
          </p:cNvSpPr>
          <p:nvPr/>
        </p:nvSpPr>
        <p:spPr bwMode="auto">
          <a:xfrm>
            <a:off x="6000750" y="2286000"/>
            <a:ext cx="1257300" cy="97155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1010738" name="Line 50">
            <a:extLst>
              <a:ext uri="{FF2B5EF4-FFF2-40B4-BE49-F238E27FC236}">
                <a16:creationId xmlns:a16="http://schemas.microsoft.com/office/drawing/2014/main" id="{91CE479F-69BB-49D6-8C52-F1AE3C989D3D}"/>
              </a:ext>
            </a:extLst>
          </p:cNvPr>
          <p:cNvSpPr>
            <a:spLocks noChangeShapeType="1"/>
          </p:cNvSpPr>
          <p:nvPr/>
        </p:nvSpPr>
        <p:spPr bwMode="auto">
          <a:xfrm>
            <a:off x="3714750" y="2628900"/>
            <a:ext cx="0" cy="62865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sz="1350"/>
          </a:p>
        </p:txBody>
      </p:sp>
      <p:sp>
        <p:nvSpPr>
          <p:cNvPr id="1010739" name="Line 51">
            <a:extLst>
              <a:ext uri="{FF2B5EF4-FFF2-40B4-BE49-F238E27FC236}">
                <a16:creationId xmlns:a16="http://schemas.microsoft.com/office/drawing/2014/main" id="{BB139A95-3B1C-42C3-AFBE-51886A1B4DEC}"/>
              </a:ext>
            </a:extLst>
          </p:cNvPr>
          <p:cNvSpPr>
            <a:spLocks noChangeShapeType="1"/>
          </p:cNvSpPr>
          <p:nvPr/>
        </p:nvSpPr>
        <p:spPr bwMode="auto">
          <a:xfrm>
            <a:off x="4686300" y="1771650"/>
            <a:ext cx="9144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sz="1350"/>
          </a:p>
        </p:txBody>
      </p:sp>
      <p:sp>
        <p:nvSpPr>
          <p:cNvPr id="1010740" name="Text Box 52">
            <a:extLst>
              <a:ext uri="{FF2B5EF4-FFF2-40B4-BE49-F238E27FC236}">
                <a16:creationId xmlns:a16="http://schemas.microsoft.com/office/drawing/2014/main" id="{E210F38A-6529-4EE5-A06C-2FDD525896E2}"/>
              </a:ext>
            </a:extLst>
          </p:cNvPr>
          <p:cNvSpPr txBox="1">
            <a:spLocks noChangeArrowheads="1"/>
          </p:cNvSpPr>
          <p:nvPr/>
        </p:nvSpPr>
        <p:spPr bwMode="auto">
          <a:xfrm>
            <a:off x="4674394" y="1200151"/>
            <a:ext cx="623440" cy="592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en-US" sz="1350">
                <a:solidFill>
                  <a:schemeClr val="accent2"/>
                </a:solidFill>
              </a:rPr>
              <a:t>No </a:t>
            </a:r>
          </a:p>
          <a:p>
            <a:pPr eaLnBrk="1" hangingPunct="1">
              <a:lnSpc>
                <a:spcPct val="125000"/>
              </a:lnSpc>
              <a:spcBef>
                <a:spcPct val="0"/>
              </a:spcBef>
              <a:buFontTx/>
              <a:buNone/>
            </a:pPr>
            <a:r>
              <a:rPr lang="en-US" altLang="en-US" sz="1350">
                <a:solidFill>
                  <a:schemeClr val="accent2"/>
                </a:solidFill>
              </a:rPr>
              <a:t>Better</a:t>
            </a:r>
          </a:p>
        </p:txBody>
      </p:sp>
      <p:sp>
        <p:nvSpPr>
          <p:cNvPr id="1010741" name="Text Box 53">
            <a:extLst>
              <a:ext uri="{FF2B5EF4-FFF2-40B4-BE49-F238E27FC236}">
                <a16:creationId xmlns:a16="http://schemas.microsoft.com/office/drawing/2014/main" id="{031DADC4-5CFB-494C-B029-6AE16AAD66B0}"/>
              </a:ext>
            </a:extLst>
          </p:cNvPr>
          <p:cNvSpPr txBox="1">
            <a:spLocks noChangeArrowheads="1"/>
          </p:cNvSpPr>
          <p:nvPr/>
        </p:nvSpPr>
        <p:spPr bwMode="auto">
          <a:xfrm>
            <a:off x="3714750" y="2746772"/>
            <a:ext cx="56778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solidFill>
                  <a:schemeClr val="accent2"/>
                </a:solidFill>
              </a:rPr>
              <a:t>Good</a:t>
            </a:r>
          </a:p>
        </p:txBody>
      </p:sp>
      <p:sp>
        <p:nvSpPr>
          <p:cNvPr id="48181" name="Text Box 54">
            <a:extLst>
              <a:ext uri="{FF2B5EF4-FFF2-40B4-BE49-F238E27FC236}">
                <a16:creationId xmlns:a16="http://schemas.microsoft.com/office/drawing/2014/main" id="{B2E6FC3A-E7CD-42F1-9365-ABF299129AAE}"/>
              </a:ext>
            </a:extLst>
          </p:cNvPr>
          <p:cNvSpPr txBox="1">
            <a:spLocks noChangeArrowheads="1"/>
          </p:cNvSpPr>
          <p:nvPr/>
        </p:nvSpPr>
        <p:spPr bwMode="auto">
          <a:xfrm>
            <a:off x="2209800" y="1314450"/>
            <a:ext cx="45397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solidFill>
                  <a:schemeClr val="accent2"/>
                </a:solidFill>
              </a:rPr>
              <a:t>Bad</a:t>
            </a:r>
          </a:p>
        </p:txBody>
      </p:sp>
      <p:sp>
        <p:nvSpPr>
          <p:cNvPr id="55" name="AutoShape 47">
            <a:extLst>
              <a:ext uri="{FF2B5EF4-FFF2-40B4-BE49-F238E27FC236}">
                <a16:creationId xmlns:a16="http://schemas.microsoft.com/office/drawing/2014/main" id="{8BDB7414-CCEA-40FE-BCAC-5B27A43B0822}"/>
              </a:ext>
            </a:extLst>
          </p:cNvPr>
          <p:cNvSpPr>
            <a:spLocks noChangeArrowheads="1"/>
          </p:cNvSpPr>
          <p:nvPr/>
        </p:nvSpPr>
        <p:spPr bwMode="auto">
          <a:xfrm>
            <a:off x="6229350" y="1314450"/>
            <a:ext cx="228600" cy="228600"/>
          </a:xfrm>
          <a:prstGeom prst="plus">
            <a:avLst>
              <a:gd name="adj" fmla="val 25000"/>
            </a:avLst>
          </a:prstGeom>
          <a:solidFill>
            <a:srgbClr val="00CC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Tree>
    <p:extLst>
      <p:ext uri="{BB962C8B-B14F-4D97-AF65-F5344CB8AC3E}">
        <p14:creationId xmlns:p14="http://schemas.microsoft.com/office/powerpoint/2010/main" val="1806242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07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07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107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107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107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107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107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107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107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107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107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107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07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107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1073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107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1074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1070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1070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1070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1070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1070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107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1071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1071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1071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1071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1071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1071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1071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1071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1071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1072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1073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01074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0705" grpId="0" animBg="1"/>
      <p:bldP spid="1010706" grpId="0" animBg="1"/>
      <p:bldP spid="1010707" grpId="0" animBg="1"/>
      <p:bldP spid="1010708" grpId="0" animBg="1"/>
      <p:bldP spid="1010709" grpId="0" animBg="1"/>
      <p:bldP spid="1010710" grpId="0" animBg="1"/>
      <p:bldP spid="1010711" grpId="0" animBg="1"/>
      <p:bldP spid="1010712" grpId="0" animBg="1"/>
      <p:bldP spid="1010713" grpId="0" animBg="1"/>
      <p:bldP spid="1010714" grpId="0" animBg="1"/>
      <p:bldP spid="1010715" grpId="0" animBg="1"/>
      <p:bldP spid="1010716" grpId="0" animBg="1"/>
      <p:bldP spid="1010717" grpId="0" animBg="1"/>
      <p:bldP spid="1010718" grpId="0" animBg="1"/>
      <p:bldP spid="1010719" grpId="0" animBg="1"/>
      <p:bldP spid="1010720" grpId="0" animBg="1"/>
      <p:bldP spid="1010722" grpId="0" animBg="1"/>
      <p:bldP spid="1010723" grpId="0" animBg="1"/>
      <p:bldP spid="1010724" grpId="0" animBg="1"/>
      <p:bldP spid="1010725" grpId="0" animBg="1"/>
      <p:bldP spid="1010726" grpId="0" animBg="1"/>
      <p:bldP spid="1010727" grpId="0" animBg="1"/>
      <p:bldP spid="1010728" grpId="0" animBg="1"/>
      <p:bldP spid="1010729" grpId="0" animBg="1"/>
      <p:bldP spid="1010731" grpId="0" animBg="1"/>
      <p:bldP spid="1010732" grpId="0" animBg="1"/>
      <p:bldP spid="1010733" grpId="0" animBg="1"/>
      <p:bldP spid="1010734" grpId="0" animBg="1"/>
      <p:bldP spid="1010735" grpId="0" animBg="1"/>
      <p:bldP spid="1010736" grpId="0" animBg="1"/>
      <p:bldP spid="1010737" grpId="0" animBg="1"/>
      <p:bldP spid="1010740" grpId="0"/>
      <p:bldP spid="1010741" grpId="0"/>
      <p:bldP spid="5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3">
            <a:extLst>
              <a:ext uri="{FF2B5EF4-FFF2-40B4-BE49-F238E27FC236}">
                <a16:creationId xmlns:a16="http://schemas.microsoft.com/office/drawing/2014/main" id="{A4F3B2BE-B4D9-4EB2-811B-85F8F09F6C13}"/>
              </a:ext>
            </a:extLst>
          </p:cNvPr>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l">
              <a:defRPr/>
            </a:pPr>
            <a:endParaRPr lang="en-US" dirty="0"/>
          </a:p>
        </p:txBody>
      </p:sp>
      <p:sp>
        <p:nvSpPr>
          <p:cNvPr id="49155" name="Rectangle 2">
            <a:extLst>
              <a:ext uri="{FF2B5EF4-FFF2-40B4-BE49-F238E27FC236}">
                <a16:creationId xmlns:a16="http://schemas.microsoft.com/office/drawing/2014/main" id="{B13A639C-A5E4-42C6-BD36-23A25885CFD3}"/>
              </a:ext>
            </a:extLst>
          </p:cNvPr>
          <p:cNvSpPr>
            <a:spLocks noGrp="1"/>
          </p:cNvSpPr>
          <p:nvPr>
            <p:ph type="title"/>
          </p:nvPr>
        </p:nvSpPr>
        <p:spPr>
          <a:xfrm>
            <a:off x="971550" y="171450"/>
            <a:ext cx="1943100" cy="415498"/>
          </a:xfrm>
        </p:spPr>
        <p:txBody>
          <a:bodyPr/>
          <a:lstStyle/>
          <a:p>
            <a:pPr eaLnBrk="1" hangingPunct="1"/>
            <a:r>
              <a:rPr lang="en-US" altLang="en-US" sz="2700"/>
              <a:t>Entropy</a:t>
            </a:r>
          </a:p>
        </p:txBody>
      </p:sp>
      <p:sp>
        <p:nvSpPr>
          <p:cNvPr id="49156" name="Line 3">
            <a:extLst>
              <a:ext uri="{FF2B5EF4-FFF2-40B4-BE49-F238E27FC236}">
                <a16:creationId xmlns:a16="http://schemas.microsoft.com/office/drawing/2014/main" id="{C8E649FF-D3AA-46F0-907E-3F381768034F}"/>
              </a:ext>
            </a:extLst>
          </p:cNvPr>
          <p:cNvSpPr>
            <a:spLocks noChangeShapeType="1"/>
          </p:cNvSpPr>
          <p:nvPr/>
        </p:nvSpPr>
        <p:spPr bwMode="auto">
          <a:xfrm>
            <a:off x="1885950" y="971550"/>
            <a:ext cx="0" cy="33718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350"/>
          </a:p>
        </p:txBody>
      </p:sp>
      <p:sp>
        <p:nvSpPr>
          <p:cNvPr id="49157" name="Line 4">
            <a:extLst>
              <a:ext uri="{FF2B5EF4-FFF2-40B4-BE49-F238E27FC236}">
                <a16:creationId xmlns:a16="http://schemas.microsoft.com/office/drawing/2014/main" id="{A4F5ADB1-92DC-4D57-8233-B5BBD43DEBDF}"/>
              </a:ext>
            </a:extLst>
          </p:cNvPr>
          <p:cNvSpPr>
            <a:spLocks noChangeShapeType="1"/>
          </p:cNvSpPr>
          <p:nvPr/>
        </p:nvSpPr>
        <p:spPr bwMode="auto">
          <a:xfrm flipH="1">
            <a:off x="1943100" y="4286250"/>
            <a:ext cx="38290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350"/>
          </a:p>
        </p:txBody>
      </p:sp>
      <p:sp>
        <p:nvSpPr>
          <p:cNvPr id="49158" name="Text Box 5">
            <a:extLst>
              <a:ext uri="{FF2B5EF4-FFF2-40B4-BE49-F238E27FC236}">
                <a16:creationId xmlns:a16="http://schemas.microsoft.com/office/drawing/2014/main" id="{D70036D5-9A2B-436A-B833-DEFDD17FA2F1}"/>
              </a:ext>
            </a:extLst>
          </p:cNvPr>
          <p:cNvSpPr txBox="1">
            <a:spLocks noChangeArrowheads="1"/>
          </p:cNvSpPr>
          <p:nvPr/>
        </p:nvSpPr>
        <p:spPr bwMode="auto">
          <a:xfrm>
            <a:off x="1816894" y="4374356"/>
            <a:ext cx="452720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.00		            .50		        1.00</a:t>
            </a:r>
          </a:p>
        </p:txBody>
      </p:sp>
      <p:sp>
        <p:nvSpPr>
          <p:cNvPr id="49159" name="Text Box 6">
            <a:extLst>
              <a:ext uri="{FF2B5EF4-FFF2-40B4-BE49-F238E27FC236}">
                <a16:creationId xmlns:a16="http://schemas.microsoft.com/office/drawing/2014/main" id="{892C353A-672C-409A-8815-03EA9A0617DB}"/>
              </a:ext>
            </a:extLst>
          </p:cNvPr>
          <p:cNvSpPr txBox="1">
            <a:spLocks noChangeArrowheads="1"/>
          </p:cNvSpPr>
          <p:nvPr/>
        </p:nvSpPr>
        <p:spPr bwMode="auto">
          <a:xfrm>
            <a:off x="1428750" y="1257300"/>
            <a:ext cx="401072"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1.0</a:t>
            </a:r>
          </a:p>
          <a:p>
            <a:pPr eaLnBrk="1" hangingPunct="1">
              <a:spcBef>
                <a:spcPct val="0"/>
              </a:spcBef>
              <a:buFontTx/>
              <a:buNone/>
            </a:pPr>
            <a:endParaRPr lang="en-US" altLang="en-US" sz="1350">
              <a:latin typeface="Times New Roman" panose="02020603050405020304" pitchFamily="18" charset="0"/>
            </a:endParaRPr>
          </a:p>
          <a:p>
            <a:pPr eaLnBrk="1" hangingPunct="1">
              <a:spcBef>
                <a:spcPct val="0"/>
              </a:spcBef>
              <a:buFontTx/>
              <a:buNone/>
            </a:pPr>
            <a:endParaRPr lang="en-US" altLang="en-US" sz="1350">
              <a:latin typeface="Times New Roman" panose="02020603050405020304" pitchFamily="18" charset="0"/>
            </a:endParaRPr>
          </a:p>
          <a:p>
            <a:pPr eaLnBrk="1" hangingPunct="1">
              <a:spcBef>
                <a:spcPct val="0"/>
              </a:spcBef>
              <a:buFontTx/>
              <a:buNone/>
            </a:pPr>
            <a:endParaRPr lang="en-US" altLang="en-US" sz="1350">
              <a:latin typeface="Times New Roman" panose="02020603050405020304" pitchFamily="18" charset="0"/>
            </a:endParaRPr>
          </a:p>
          <a:p>
            <a:pPr eaLnBrk="1" hangingPunct="1">
              <a:spcBef>
                <a:spcPct val="0"/>
              </a:spcBef>
              <a:buFontTx/>
              <a:buNone/>
            </a:pPr>
            <a:endParaRPr lang="en-US" altLang="en-US" sz="1350">
              <a:latin typeface="Times New Roman" panose="02020603050405020304" pitchFamily="18" charset="0"/>
            </a:endParaRPr>
          </a:p>
          <a:p>
            <a:pPr eaLnBrk="1" hangingPunct="1">
              <a:spcBef>
                <a:spcPct val="0"/>
              </a:spcBef>
              <a:buFontTx/>
              <a:buNone/>
            </a:pPr>
            <a:r>
              <a:rPr lang="en-US" altLang="en-US" sz="1350">
                <a:latin typeface="Times New Roman" panose="02020603050405020304" pitchFamily="18" charset="0"/>
              </a:rPr>
              <a:t>0.5</a:t>
            </a:r>
          </a:p>
        </p:txBody>
      </p:sp>
      <p:sp>
        <p:nvSpPr>
          <p:cNvPr id="49160" name="AutoShape 7">
            <a:extLst>
              <a:ext uri="{FF2B5EF4-FFF2-40B4-BE49-F238E27FC236}">
                <a16:creationId xmlns:a16="http://schemas.microsoft.com/office/drawing/2014/main" id="{C5C9B3EE-4F1B-4781-9758-35ECA86A4F94}"/>
              </a:ext>
            </a:extLst>
          </p:cNvPr>
          <p:cNvSpPr>
            <a:spLocks noChangeArrowheads="1"/>
          </p:cNvSpPr>
          <p:nvPr/>
        </p:nvSpPr>
        <p:spPr bwMode="auto">
          <a:xfrm>
            <a:off x="1885950" y="1314450"/>
            <a:ext cx="3943350" cy="60579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434 w 21600"/>
              <a:gd name="T13" fmla="*/ 0 h 21600"/>
              <a:gd name="T14" fmla="*/ 21166 w 21600"/>
              <a:gd name="T15" fmla="*/ 13744 h 21600"/>
            </a:gdLst>
            <a:ahLst/>
            <a:cxnLst>
              <a:cxn ang="T8">
                <a:pos x="T0" y="T1"/>
              </a:cxn>
              <a:cxn ang="T9">
                <a:pos x="T2" y="T3"/>
              </a:cxn>
              <a:cxn ang="T10">
                <a:pos x="T4" y="T5"/>
              </a:cxn>
              <a:cxn ang="T11">
                <a:pos x="T6" y="T7"/>
              </a:cxn>
            </a:cxnLst>
            <a:rect l="T12" t="T13" r="T14" b="T15"/>
            <a:pathLst>
              <a:path w="21600" h="21600">
                <a:moveTo>
                  <a:pt x="313" y="10749"/>
                </a:moveTo>
                <a:cubicBezTo>
                  <a:pt x="341" y="4977"/>
                  <a:pt x="5028" y="312"/>
                  <a:pt x="10800" y="313"/>
                </a:cubicBezTo>
                <a:cubicBezTo>
                  <a:pt x="16571" y="313"/>
                  <a:pt x="21258" y="4977"/>
                  <a:pt x="21286" y="10749"/>
                </a:cubicBezTo>
                <a:lnTo>
                  <a:pt x="21599" y="10747"/>
                </a:lnTo>
                <a:cubicBezTo>
                  <a:pt x="21570" y="4803"/>
                  <a:pt x="16744" y="-1"/>
                  <a:pt x="10799" y="0"/>
                </a:cubicBezTo>
                <a:cubicBezTo>
                  <a:pt x="4855" y="0"/>
                  <a:pt x="29" y="4803"/>
                  <a:pt x="0" y="10747"/>
                </a:cubicBezTo>
                <a:lnTo>
                  <a:pt x="313" y="10749"/>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en-IN" sz="1350"/>
          </a:p>
        </p:txBody>
      </p:sp>
      <p:sp>
        <p:nvSpPr>
          <p:cNvPr id="49161" name="Rectangle 8">
            <a:extLst>
              <a:ext uri="{FF2B5EF4-FFF2-40B4-BE49-F238E27FC236}">
                <a16:creationId xmlns:a16="http://schemas.microsoft.com/office/drawing/2014/main" id="{E8CACD26-FB9A-40C3-BF20-434023AB35BC}"/>
              </a:ext>
            </a:extLst>
          </p:cNvPr>
          <p:cNvSpPr>
            <a:spLocks noChangeArrowheads="1"/>
          </p:cNvSpPr>
          <p:nvPr/>
        </p:nvSpPr>
        <p:spPr bwMode="auto">
          <a:xfrm>
            <a:off x="1485900" y="4343400"/>
            <a:ext cx="5143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a:solidFill>
                  <a:srgbClr val="FF3300"/>
                </a:solidFill>
              </a:rPr>
              <a:t>% of example that are positive</a:t>
            </a:r>
          </a:p>
        </p:txBody>
      </p:sp>
      <p:cxnSp>
        <p:nvCxnSpPr>
          <p:cNvPr id="14" name="Straight Connector 13">
            <a:extLst>
              <a:ext uri="{FF2B5EF4-FFF2-40B4-BE49-F238E27FC236}">
                <a16:creationId xmlns:a16="http://schemas.microsoft.com/office/drawing/2014/main" id="{23D8A20D-978F-4235-B68D-CE3125EF66F4}"/>
              </a:ext>
            </a:extLst>
          </p:cNvPr>
          <p:cNvCxnSpPr>
            <a:stCxn id="49160" idx="2"/>
          </p:cNvCxnSpPr>
          <p:nvPr/>
        </p:nvCxnSpPr>
        <p:spPr>
          <a:xfrm>
            <a:off x="3857625" y="1402557"/>
            <a:ext cx="28575" cy="2940844"/>
          </a:xfrm>
          <a:prstGeom prst="line">
            <a:avLst/>
          </a:prstGeom>
          <a:ln w="44450">
            <a:solidFill>
              <a:srgbClr val="00B050"/>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AE39AEDB-7F00-467F-A83B-9CD8BA5F20B8}"/>
              </a:ext>
            </a:extLst>
          </p:cNvPr>
          <p:cNvSpPr/>
          <p:nvPr/>
        </p:nvSpPr>
        <p:spPr>
          <a:xfrm>
            <a:off x="5600700" y="4114800"/>
            <a:ext cx="400050" cy="285750"/>
          </a:xfrm>
          <a:prstGeom prst="ellipse">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7" name="Rounded Rectangular Callout 16">
            <a:extLst>
              <a:ext uri="{FF2B5EF4-FFF2-40B4-BE49-F238E27FC236}">
                <a16:creationId xmlns:a16="http://schemas.microsoft.com/office/drawing/2014/main" id="{C545D386-DA12-4032-B3F4-D6EECE9DDF6D}"/>
              </a:ext>
            </a:extLst>
          </p:cNvPr>
          <p:cNvSpPr/>
          <p:nvPr/>
        </p:nvSpPr>
        <p:spPr>
          <a:xfrm>
            <a:off x="4457700" y="457200"/>
            <a:ext cx="2400300" cy="800100"/>
          </a:xfrm>
          <a:prstGeom prst="wedgeRoundRectCallout">
            <a:avLst>
              <a:gd name="adj1" fmla="val -75344"/>
              <a:gd name="adj2" fmla="val 65370"/>
              <a:gd name="adj3" fmla="val 16667"/>
            </a:avLst>
          </a:prstGeom>
          <a:noFill/>
          <a:ln w="444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50-50 class split</a:t>
            </a:r>
          </a:p>
          <a:p>
            <a:pPr algn="ctr">
              <a:defRPr/>
            </a:pPr>
            <a:r>
              <a:rPr lang="en-US" dirty="0">
                <a:solidFill>
                  <a:schemeClr val="tx1"/>
                </a:solidFill>
              </a:rPr>
              <a:t>Maximum disorder</a:t>
            </a:r>
            <a:endParaRPr lang="en-US" sz="1350" dirty="0"/>
          </a:p>
        </p:txBody>
      </p:sp>
      <p:sp>
        <p:nvSpPr>
          <p:cNvPr id="18" name="Rounded Rectangular Callout 17">
            <a:extLst>
              <a:ext uri="{FF2B5EF4-FFF2-40B4-BE49-F238E27FC236}">
                <a16:creationId xmlns:a16="http://schemas.microsoft.com/office/drawing/2014/main" id="{0BA4D7B9-46D5-4BB4-8579-187707E4D146}"/>
              </a:ext>
            </a:extLst>
          </p:cNvPr>
          <p:cNvSpPr/>
          <p:nvPr/>
        </p:nvSpPr>
        <p:spPr>
          <a:xfrm>
            <a:off x="5486400" y="1943100"/>
            <a:ext cx="2400300" cy="800100"/>
          </a:xfrm>
          <a:prstGeom prst="wedgeRoundRectCallout">
            <a:avLst>
              <a:gd name="adj1" fmla="val -36246"/>
              <a:gd name="adj2" fmla="val 219881"/>
              <a:gd name="adj3" fmla="val 16667"/>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All positive</a:t>
            </a:r>
          </a:p>
          <a:p>
            <a:pPr algn="ctr">
              <a:defRPr/>
            </a:pPr>
            <a:r>
              <a:rPr lang="en-US" dirty="0">
                <a:solidFill>
                  <a:schemeClr val="tx1"/>
                </a:solidFill>
              </a:rPr>
              <a:t>Pure distribution</a:t>
            </a:r>
            <a:endParaRPr lang="en-US" sz="1350" dirty="0"/>
          </a:p>
        </p:txBody>
      </p:sp>
    </p:spTree>
    <p:extLst>
      <p:ext uri="{BB962C8B-B14F-4D97-AF65-F5344CB8AC3E}">
        <p14:creationId xmlns:p14="http://schemas.microsoft.com/office/powerpoint/2010/main" val="32666486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381ADEA-E0A2-44F2-A4A5-BA6BA91B7804}"/>
              </a:ext>
            </a:extLst>
          </p:cNvPr>
          <p:cNvSpPr>
            <a:spLocks noGrp="1"/>
          </p:cNvSpPr>
          <p:nvPr>
            <p:ph type="title"/>
          </p:nvPr>
        </p:nvSpPr>
        <p:spPr>
          <a:xfrm>
            <a:off x="762000" y="289465"/>
            <a:ext cx="5867400" cy="892552"/>
          </a:xfrm>
        </p:spPr>
        <p:txBody>
          <a:bodyPr/>
          <a:lstStyle/>
          <a:p>
            <a:pPr eaLnBrk="1" hangingPunct="1"/>
            <a:r>
              <a:rPr lang="en-US" altLang="en-US" dirty="0"/>
              <a:t>Information</a:t>
            </a:r>
            <a:r>
              <a:rPr lang="en-US" altLang="en-US" sz="3000" dirty="0"/>
              <a:t> Gain</a:t>
            </a:r>
            <a:endParaRPr lang="en-US" altLang="en-US" sz="2700" dirty="0"/>
          </a:p>
        </p:txBody>
      </p:sp>
      <p:sp>
        <p:nvSpPr>
          <p:cNvPr id="51203" name="Rectangle 3">
            <a:extLst>
              <a:ext uri="{FF2B5EF4-FFF2-40B4-BE49-F238E27FC236}">
                <a16:creationId xmlns:a16="http://schemas.microsoft.com/office/drawing/2014/main" id="{55836A8A-7475-4D4E-8989-00AED2BBF53A}"/>
              </a:ext>
            </a:extLst>
          </p:cNvPr>
          <p:cNvSpPr>
            <a:spLocks noGrp="1"/>
          </p:cNvSpPr>
          <p:nvPr>
            <p:ph type="body" idx="1"/>
          </p:nvPr>
        </p:nvSpPr>
        <p:spPr>
          <a:xfrm>
            <a:off x="535940" y="1216913"/>
            <a:ext cx="8072119" cy="553998"/>
          </a:xfrm>
        </p:spPr>
        <p:txBody>
          <a:bodyPr/>
          <a:lstStyle/>
          <a:p>
            <a:pPr eaLnBrk="1" hangingPunct="1"/>
            <a:r>
              <a:rPr lang="en-US" altLang="en-US" b="1" dirty="0"/>
              <a:t>Measure of expected </a:t>
            </a:r>
            <a:r>
              <a:rPr lang="en-US" altLang="en-US" i="1" dirty="0">
                <a:solidFill>
                  <a:srgbClr val="FF33CC"/>
                </a:solidFill>
              </a:rPr>
              <a:t>reduction</a:t>
            </a:r>
            <a:r>
              <a:rPr lang="en-US" altLang="en-US" b="1" dirty="0"/>
              <a:t> in entropy </a:t>
            </a:r>
          </a:p>
          <a:p>
            <a:pPr eaLnBrk="1" hangingPunct="1"/>
            <a:r>
              <a:rPr lang="en-US" altLang="en-US" b="1" dirty="0"/>
              <a:t>Resulting from splitting along an attribute</a:t>
            </a:r>
          </a:p>
        </p:txBody>
      </p:sp>
      <p:sp>
        <p:nvSpPr>
          <p:cNvPr id="51204" name="Text Box 4">
            <a:extLst>
              <a:ext uri="{FF2B5EF4-FFF2-40B4-BE49-F238E27FC236}">
                <a16:creationId xmlns:a16="http://schemas.microsoft.com/office/drawing/2014/main" id="{6F4B9486-90AE-450E-B053-0520F740CDFE}"/>
              </a:ext>
            </a:extLst>
          </p:cNvPr>
          <p:cNvSpPr txBox="1">
            <a:spLocks noChangeArrowheads="1"/>
          </p:cNvSpPr>
          <p:nvPr/>
        </p:nvSpPr>
        <p:spPr bwMode="auto">
          <a:xfrm>
            <a:off x="1257300" y="2343150"/>
            <a:ext cx="6673622" cy="2262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Times New Roman" panose="02020603050405020304" pitchFamily="18" charset="0"/>
              </a:rPr>
              <a:t>Gain(S,A) = Entropy(S) -         </a:t>
            </a:r>
            <a:r>
              <a:rPr lang="en-US" altLang="en-US" sz="2400">
                <a:latin typeface="Times New Roman" panose="02020603050405020304" pitchFamily="18" charset="0"/>
                <a:sym typeface="Symbol" panose="05050102010706020507" pitchFamily="18" charset="2"/>
              </a:rPr>
              <a:t>(|S</a:t>
            </a:r>
            <a:r>
              <a:rPr lang="en-US" altLang="en-US" sz="1350">
                <a:latin typeface="Times New Roman" panose="02020603050405020304" pitchFamily="18" charset="0"/>
                <a:sym typeface="Symbol" panose="05050102010706020507" pitchFamily="18" charset="2"/>
              </a:rPr>
              <a:t>v</a:t>
            </a:r>
            <a:r>
              <a:rPr lang="en-US" altLang="en-US" sz="2400">
                <a:latin typeface="Times New Roman" panose="02020603050405020304" pitchFamily="18" charset="0"/>
                <a:sym typeface="Symbol" panose="05050102010706020507" pitchFamily="18" charset="2"/>
              </a:rPr>
              <a:t>| / |S|) </a:t>
            </a:r>
            <a:r>
              <a:rPr lang="en-US" altLang="en-US" sz="2400">
                <a:latin typeface="Times New Roman" panose="02020603050405020304" pitchFamily="18" charset="0"/>
              </a:rPr>
              <a:t>Entropy(S</a:t>
            </a:r>
            <a:r>
              <a:rPr lang="en-US" altLang="en-US" sz="1350">
                <a:latin typeface="Times New Roman" panose="02020603050405020304" pitchFamily="18" charset="0"/>
              </a:rPr>
              <a:t>v</a:t>
            </a:r>
            <a:r>
              <a:rPr lang="en-US" altLang="en-US" sz="2400">
                <a:latin typeface="Times New Roman" panose="02020603050405020304" pitchFamily="18" charset="0"/>
              </a:rPr>
              <a:t>)</a:t>
            </a:r>
          </a:p>
          <a:p>
            <a:pPr eaLnBrk="1" hangingPunct="1">
              <a:spcBef>
                <a:spcPct val="0"/>
              </a:spcBef>
              <a:buFontTx/>
              <a:buNone/>
            </a:pPr>
            <a:endParaRPr lang="en-US" altLang="en-US" sz="2400">
              <a:latin typeface="Times New Roman" panose="02020603050405020304" pitchFamily="18" charset="0"/>
            </a:endParaRPr>
          </a:p>
          <a:p>
            <a:pPr eaLnBrk="1" hangingPunct="1">
              <a:spcBef>
                <a:spcPct val="0"/>
              </a:spcBef>
              <a:buFontTx/>
              <a:buNone/>
            </a:pPr>
            <a:endParaRPr lang="en-US" altLang="en-US" sz="2400">
              <a:latin typeface="Times New Roman" panose="02020603050405020304" pitchFamily="18" charset="0"/>
            </a:endParaRPr>
          </a:p>
          <a:p>
            <a:pPr eaLnBrk="1" hangingPunct="1">
              <a:spcBef>
                <a:spcPct val="0"/>
              </a:spcBef>
              <a:buFontTx/>
              <a:buNone/>
            </a:pPr>
            <a:endParaRPr lang="en-US" altLang="en-US" sz="2400">
              <a:latin typeface="Times New Roman" panose="02020603050405020304" pitchFamily="18" charset="0"/>
            </a:endParaRPr>
          </a:p>
          <a:p>
            <a:pPr eaLnBrk="1" hangingPunct="1">
              <a:spcBef>
                <a:spcPct val="0"/>
              </a:spcBef>
              <a:buFontTx/>
              <a:buNone/>
            </a:pPr>
            <a:r>
              <a:rPr lang="en-US" altLang="en-US" sz="2100">
                <a:latin typeface="Times New Roman" panose="02020603050405020304" pitchFamily="18" charset="0"/>
              </a:rPr>
              <a:t>Where Entropy(S) = -</a:t>
            </a:r>
            <a:r>
              <a:rPr lang="en-US" altLang="en-US" sz="2100">
                <a:solidFill>
                  <a:srgbClr val="00B050"/>
                </a:solidFill>
                <a:latin typeface="Times New Roman" panose="02020603050405020304" pitchFamily="18" charset="0"/>
              </a:rPr>
              <a:t>P</a:t>
            </a:r>
            <a:r>
              <a:rPr lang="en-US" altLang="en-US" sz="2100">
                <a:latin typeface="Times New Roman" panose="02020603050405020304" pitchFamily="18" charset="0"/>
              </a:rPr>
              <a:t> log</a:t>
            </a:r>
            <a:r>
              <a:rPr lang="en-US" altLang="en-US" sz="1350" baseline="-25000">
                <a:latin typeface="Times New Roman" panose="02020603050405020304" pitchFamily="18" charset="0"/>
              </a:rPr>
              <a:t>2</a:t>
            </a:r>
            <a:r>
              <a:rPr lang="en-US" altLang="en-US" sz="2100">
                <a:latin typeface="Times New Roman" panose="02020603050405020304" pitchFamily="18" charset="0"/>
              </a:rPr>
              <a:t>(</a:t>
            </a:r>
            <a:r>
              <a:rPr lang="en-US" altLang="en-US" sz="2100">
                <a:solidFill>
                  <a:srgbClr val="00B050"/>
                </a:solidFill>
                <a:latin typeface="Times New Roman" panose="02020603050405020304" pitchFamily="18" charset="0"/>
              </a:rPr>
              <a:t>P</a:t>
            </a:r>
            <a:r>
              <a:rPr lang="en-US" altLang="en-US" sz="2100">
                <a:latin typeface="Times New Roman" panose="02020603050405020304" pitchFamily="18" charset="0"/>
              </a:rPr>
              <a:t>) - </a:t>
            </a:r>
            <a:r>
              <a:rPr lang="en-US" altLang="en-US" sz="2100">
                <a:solidFill>
                  <a:srgbClr val="FF0000"/>
                </a:solidFill>
                <a:latin typeface="Times New Roman" panose="02020603050405020304" pitchFamily="18" charset="0"/>
              </a:rPr>
              <a:t>N</a:t>
            </a:r>
            <a:r>
              <a:rPr lang="en-US" altLang="en-US" sz="2100">
                <a:latin typeface="Times New Roman" panose="02020603050405020304" pitchFamily="18" charset="0"/>
              </a:rPr>
              <a:t> log</a:t>
            </a:r>
            <a:r>
              <a:rPr lang="en-US" altLang="en-US" sz="1500" baseline="-25000">
                <a:latin typeface="Times New Roman" panose="02020603050405020304" pitchFamily="18" charset="0"/>
              </a:rPr>
              <a:t>2</a:t>
            </a:r>
            <a:r>
              <a:rPr lang="en-US" altLang="en-US" sz="2100">
                <a:latin typeface="Times New Roman" panose="02020603050405020304" pitchFamily="18" charset="0"/>
              </a:rPr>
              <a:t>(</a:t>
            </a:r>
            <a:r>
              <a:rPr lang="en-US" altLang="en-US" sz="2100">
                <a:solidFill>
                  <a:srgbClr val="FF0000"/>
                </a:solidFill>
                <a:latin typeface="Times New Roman" panose="02020603050405020304" pitchFamily="18" charset="0"/>
              </a:rPr>
              <a:t>N</a:t>
            </a:r>
            <a:r>
              <a:rPr lang="en-US" altLang="en-US" sz="2100">
                <a:latin typeface="Times New Roman" panose="02020603050405020304" pitchFamily="18" charset="0"/>
              </a:rPr>
              <a:t>)</a:t>
            </a:r>
          </a:p>
          <a:p>
            <a:pPr eaLnBrk="1" hangingPunct="1">
              <a:spcBef>
                <a:spcPct val="0"/>
              </a:spcBef>
              <a:buFontTx/>
              <a:buNone/>
            </a:pPr>
            <a:endParaRPr lang="en-US" altLang="en-US" sz="2400">
              <a:latin typeface="Times New Roman" panose="02020603050405020304" pitchFamily="18" charset="0"/>
            </a:endParaRPr>
          </a:p>
        </p:txBody>
      </p:sp>
      <p:sp>
        <p:nvSpPr>
          <p:cNvPr id="51205" name="Text Box 5">
            <a:extLst>
              <a:ext uri="{FF2B5EF4-FFF2-40B4-BE49-F238E27FC236}">
                <a16:creationId xmlns:a16="http://schemas.microsoft.com/office/drawing/2014/main" id="{82E2538C-6CD6-471C-BCFA-E242A24A0862}"/>
              </a:ext>
            </a:extLst>
          </p:cNvPr>
          <p:cNvSpPr txBox="1">
            <a:spLocks noChangeArrowheads="1"/>
          </p:cNvSpPr>
          <p:nvPr/>
        </p:nvSpPr>
        <p:spPr bwMode="auto">
          <a:xfrm>
            <a:off x="4057650" y="2171700"/>
            <a:ext cx="173368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4500">
                <a:latin typeface="Times New Roman" panose="02020603050405020304" pitchFamily="18" charset="0"/>
                <a:sym typeface="Symbol" panose="05050102010706020507" pitchFamily="18" charset="2"/>
              </a:rPr>
              <a:t>    </a:t>
            </a:r>
            <a:r>
              <a:rPr lang="en-US" altLang="en-US" sz="2100">
                <a:latin typeface="Times New Roman" panose="02020603050405020304" pitchFamily="18" charset="0"/>
                <a:sym typeface="Symbol" panose="05050102010706020507" pitchFamily="18" charset="2"/>
              </a:rPr>
              <a:t> </a:t>
            </a:r>
          </a:p>
          <a:p>
            <a:pPr eaLnBrk="1" hangingPunct="1">
              <a:spcBef>
                <a:spcPct val="0"/>
              </a:spcBef>
              <a:buFontTx/>
              <a:buNone/>
            </a:pPr>
            <a:r>
              <a:rPr lang="en-US" altLang="en-US" sz="2100">
                <a:latin typeface="Times New Roman" panose="02020603050405020304" pitchFamily="18" charset="0"/>
                <a:sym typeface="Symbol" panose="05050102010706020507" pitchFamily="18" charset="2"/>
              </a:rPr>
              <a:t>v  Values(A)</a:t>
            </a:r>
          </a:p>
        </p:txBody>
      </p:sp>
    </p:spTree>
    <p:extLst>
      <p:ext uri="{BB962C8B-B14F-4D97-AF65-F5344CB8AC3E}">
        <p14:creationId xmlns:p14="http://schemas.microsoft.com/office/powerpoint/2010/main" val="37654648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95DBC8A0-CD54-4AB3-B299-F3A21E6714AC}"/>
              </a:ext>
            </a:extLst>
          </p:cNvPr>
          <p:cNvSpPr>
            <a:spLocks noGrp="1"/>
          </p:cNvSpPr>
          <p:nvPr>
            <p:ph type="title"/>
          </p:nvPr>
        </p:nvSpPr>
        <p:spPr>
          <a:xfrm>
            <a:off x="3612388" y="385953"/>
            <a:ext cx="4160012" cy="430887"/>
          </a:xfrm>
        </p:spPr>
        <p:txBody>
          <a:bodyPr/>
          <a:lstStyle/>
          <a:p>
            <a:pPr eaLnBrk="1" hangingPunct="1"/>
            <a:r>
              <a:rPr lang="en-US" altLang="en-US" dirty="0"/>
              <a:t>Issues in  Decision Tree</a:t>
            </a:r>
          </a:p>
        </p:txBody>
      </p:sp>
      <p:sp>
        <p:nvSpPr>
          <p:cNvPr id="60419" name="Content Placeholder 2">
            <a:extLst>
              <a:ext uri="{FF2B5EF4-FFF2-40B4-BE49-F238E27FC236}">
                <a16:creationId xmlns:a16="http://schemas.microsoft.com/office/drawing/2014/main" id="{925F65CC-586F-491F-8035-E2DD666364C4}"/>
              </a:ext>
            </a:extLst>
          </p:cNvPr>
          <p:cNvSpPr>
            <a:spLocks noGrp="1"/>
          </p:cNvSpPr>
          <p:nvPr>
            <p:ph idx="1"/>
          </p:nvPr>
        </p:nvSpPr>
        <p:spPr>
          <a:xfrm>
            <a:off x="535940" y="1216913"/>
            <a:ext cx="8072119" cy="830997"/>
          </a:xfrm>
        </p:spPr>
        <p:txBody>
          <a:bodyPr/>
          <a:lstStyle/>
          <a:p>
            <a:pPr marL="342900" indent="-342900" eaLnBrk="1" hangingPunct="1">
              <a:buFont typeface="+mj-lt"/>
              <a:buAutoNum type="arabicPeriod"/>
            </a:pPr>
            <a:r>
              <a:rPr lang="en-US" altLang="en-US" dirty="0"/>
              <a:t>Missing data</a:t>
            </a:r>
          </a:p>
          <a:p>
            <a:pPr marL="342900" indent="-342900" eaLnBrk="1" hangingPunct="1">
              <a:buFont typeface="+mj-lt"/>
              <a:buAutoNum type="arabicPeriod"/>
            </a:pPr>
            <a:r>
              <a:rPr lang="en-US" altLang="en-US" dirty="0"/>
              <a:t>Real-valued attributes</a:t>
            </a:r>
          </a:p>
          <a:p>
            <a:pPr marL="342900" indent="-342900" eaLnBrk="1" hangingPunct="1">
              <a:buFont typeface="+mj-lt"/>
              <a:buAutoNum type="arabicPeriod"/>
            </a:pPr>
            <a:r>
              <a:rPr lang="en-US" altLang="en-US" dirty="0">
                <a:solidFill>
                  <a:srgbClr val="FF0000"/>
                </a:solidFill>
              </a:rPr>
              <a:t>Overfitting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A1434-2A9B-457F-A615-023675EA8426}"/>
              </a:ext>
            </a:extLst>
          </p:cNvPr>
          <p:cNvSpPr>
            <a:spLocks noGrp="1"/>
          </p:cNvSpPr>
          <p:nvPr>
            <p:ph type="title"/>
          </p:nvPr>
        </p:nvSpPr>
        <p:spPr>
          <a:xfrm>
            <a:off x="2362200" y="514350"/>
            <a:ext cx="5455412" cy="433197"/>
          </a:xfrm>
        </p:spPr>
        <p:txBody>
          <a:bodyPr/>
          <a:lstStyle/>
          <a:p>
            <a:r>
              <a:rPr lang="en-IN" b="1" i="0" dirty="0">
                <a:solidFill>
                  <a:srgbClr val="292929"/>
                </a:solidFill>
                <a:effectLst/>
                <a:latin typeface="sohne"/>
              </a:rPr>
              <a:t>Handling Missing Attribute Value</a:t>
            </a:r>
            <a:br>
              <a:rPr lang="en-IN" b="1" i="0" dirty="0">
                <a:solidFill>
                  <a:srgbClr val="292929"/>
                </a:solidFill>
                <a:effectLst/>
                <a:latin typeface="sohne"/>
              </a:rPr>
            </a:br>
            <a:endParaRPr lang="en-IN" dirty="0"/>
          </a:p>
        </p:txBody>
      </p:sp>
      <p:sp>
        <p:nvSpPr>
          <p:cNvPr id="3" name="Content Placeholder 2">
            <a:extLst>
              <a:ext uri="{FF2B5EF4-FFF2-40B4-BE49-F238E27FC236}">
                <a16:creationId xmlns:a16="http://schemas.microsoft.com/office/drawing/2014/main" id="{97955E08-CEC2-4F9E-A6CB-8C444898960F}"/>
              </a:ext>
            </a:extLst>
          </p:cNvPr>
          <p:cNvSpPr>
            <a:spLocks noGrp="1"/>
          </p:cNvSpPr>
          <p:nvPr>
            <p:ph idx="1"/>
          </p:nvPr>
        </p:nvSpPr>
        <p:spPr/>
        <p:txBody>
          <a:bodyPr>
            <a:normAutofit/>
          </a:bodyPr>
          <a:lstStyle/>
          <a:p>
            <a:pPr algn="just"/>
            <a:r>
              <a:rPr lang="en-US" b="0" i="0" dirty="0">
                <a:solidFill>
                  <a:srgbClr val="292929"/>
                </a:solidFill>
                <a:effectLst/>
                <a:latin typeface="charter"/>
              </a:rPr>
              <a:t>In certain cases, the available data may be missing values for some attributes. For example, in a medical domain in which we wish to predict patient outcome based on various laboratory tests, it may be that the Blood-Test-Result is available only for a subset of the patients. In such cases, it is common to estimate the missing attribute value based on other examples for which this attribute has a known value.</a:t>
            </a:r>
          </a:p>
          <a:p>
            <a:pPr algn="just"/>
            <a:r>
              <a:rPr lang="en-US" b="0" i="0" dirty="0">
                <a:solidFill>
                  <a:srgbClr val="292929"/>
                </a:solidFill>
                <a:effectLst/>
                <a:latin typeface="charter"/>
              </a:rPr>
              <a:t>Consider the situation in which Gain(S, A) is to be calculated at node n in the decision tree to evaluate whether the attribute A is the best attribute to test at this decision node. Suppose that (x, c(x)) is one of the training examples in S and that the value A(x) is unknown.</a:t>
            </a:r>
          </a:p>
          <a:p>
            <a:endParaRPr lang="en-IN" dirty="0"/>
          </a:p>
        </p:txBody>
      </p:sp>
    </p:spTree>
    <p:extLst>
      <p:ext uri="{BB962C8B-B14F-4D97-AF65-F5344CB8AC3E}">
        <p14:creationId xmlns:p14="http://schemas.microsoft.com/office/powerpoint/2010/main" val="14339222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1208C-4BCA-40E5-8204-6C409DBCD75F}"/>
              </a:ext>
            </a:extLst>
          </p:cNvPr>
          <p:cNvSpPr>
            <a:spLocks noGrp="1"/>
          </p:cNvSpPr>
          <p:nvPr>
            <p:ph type="title"/>
          </p:nvPr>
        </p:nvSpPr>
        <p:spPr>
          <a:xfrm>
            <a:off x="3612388" y="385953"/>
            <a:ext cx="1919223" cy="430887"/>
          </a:xfrm>
        </p:spPr>
        <p:txBody>
          <a:bodyPr/>
          <a:lstStyle/>
          <a:p>
            <a:endParaRPr lang="en-IN"/>
          </a:p>
        </p:txBody>
      </p:sp>
      <p:sp>
        <p:nvSpPr>
          <p:cNvPr id="3" name="Content Placeholder 2">
            <a:extLst>
              <a:ext uri="{FF2B5EF4-FFF2-40B4-BE49-F238E27FC236}">
                <a16:creationId xmlns:a16="http://schemas.microsoft.com/office/drawing/2014/main" id="{7C343E7F-B0A8-43B9-A4DE-ED83198F08D9}"/>
              </a:ext>
            </a:extLst>
          </p:cNvPr>
          <p:cNvSpPr>
            <a:spLocks noGrp="1"/>
          </p:cNvSpPr>
          <p:nvPr>
            <p:ph idx="1"/>
          </p:nvPr>
        </p:nvSpPr>
        <p:spPr>
          <a:xfrm>
            <a:off x="535940" y="1216913"/>
            <a:ext cx="8072119" cy="1384995"/>
          </a:xfrm>
        </p:spPr>
        <p:txBody>
          <a:bodyPr/>
          <a:lstStyle/>
          <a:p>
            <a:r>
              <a:rPr lang="en-US" b="0" i="0" dirty="0">
                <a:solidFill>
                  <a:srgbClr val="292929"/>
                </a:solidFill>
                <a:effectLst/>
                <a:latin typeface="charter"/>
              </a:rPr>
              <a:t>One strategy for dealing with the missing attribute value is to assign it the value that is most common among training examples at node n. Alternatively, we might assign it the most common value among examples at node n that have the classification c(x). The elaborated training example using this estimated value for A(x) can then be used directly by the existing decision tree learning algorithm.</a:t>
            </a:r>
            <a:endParaRPr lang="en-IN" dirty="0"/>
          </a:p>
        </p:txBody>
      </p:sp>
    </p:spTree>
    <p:extLst>
      <p:ext uri="{BB962C8B-B14F-4D97-AF65-F5344CB8AC3E}">
        <p14:creationId xmlns:p14="http://schemas.microsoft.com/office/powerpoint/2010/main" val="39052703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CAF50-B20A-4DD0-9D6A-F7DA255B316E}"/>
              </a:ext>
            </a:extLst>
          </p:cNvPr>
          <p:cNvSpPr>
            <a:spLocks noGrp="1"/>
          </p:cNvSpPr>
          <p:nvPr>
            <p:ph type="title"/>
          </p:nvPr>
        </p:nvSpPr>
        <p:spPr>
          <a:xfrm>
            <a:off x="1371600" y="590550"/>
            <a:ext cx="5912612" cy="433197"/>
          </a:xfrm>
        </p:spPr>
        <p:txBody>
          <a:bodyPr/>
          <a:lstStyle/>
          <a:p>
            <a:r>
              <a:rPr lang="en-IN" dirty="0"/>
              <a:t>Solution for missing values</a:t>
            </a:r>
          </a:p>
        </p:txBody>
      </p:sp>
      <p:sp>
        <p:nvSpPr>
          <p:cNvPr id="3" name="Text Placeholder 2">
            <a:extLst>
              <a:ext uri="{FF2B5EF4-FFF2-40B4-BE49-F238E27FC236}">
                <a16:creationId xmlns:a16="http://schemas.microsoft.com/office/drawing/2014/main" id="{CCC1F075-1405-4B64-99E8-2ED9A0848AB2}"/>
              </a:ext>
            </a:extLst>
          </p:cNvPr>
          <p:cNvSpPr>
            <a:spLocks noGrp="1"/>
          </p:cNvSpPr>
          <p:nvPr>
            <p:ph type="body" idx="1"/>
          </p:nvPr>
        </p:nvSpPr>
        <p:spPr>
          <a:xfrm>
            <a:off x="535940" y="1216913"/>
            <a:ext cx="8072119" cy="1107996"/>
          </a:xfrm>
        </p:spPr>
        <p:txBody>
          <a:bodyPr/>
          <a:lstStyle/>
          <a:p>
            <a:r>
              <a:rPr lang="en-IN" dirty="0"/>
              <a:t>Deleting records where missing values are there but leads to loss of information</a:t>
            </a:r>
          </a:p>
          <a:p>
            <a:r>
              <a:rPr lang="en-IN" dirty="0"/>
              <a:t>Create a model to predict missing values</a:t>
            </a:r>
          </a:p>
          <a:p>
            <a:r>
              <a:rPr lang="en-IN" dirty="0"/>
              <a:t>Using some statistical methods: mean , median, mode (imputation)</a:t>
            </a:r>
          </a:p>
          <a:p>
            <a:endParaRPr lang="en-IN" dirty="0"/>
          </a:p>
        </p:txBody>
      </p:sp>
    </p:spTree>
    <p:extLst>
      <p:ext uri="{BB962C8B-B14F-4D97-AF65-F5344CB8AC3E}">
        <p14:creationId xmlns:p14="http://schemas.microsoft.com/office/powerpoint/2010/main" val="35612144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2F6A9-3841-4808-8994-0748A94A9ECF}"/>
              </a:ext>
            </a:extLst>
          </p:cNvPr>
          <p:cNvSpPr>
            <a:spLocks noGrp="1"/>
          </p:cNvSpPr>
          <p:nvPr>
            <p:ph type="title"/>
          </p:nvPr>
        </p:nvSpPr>
        <p:spPr>
          <a:xfrm>
            <a:off x="690881" y="385953"/>
            <a:ext cx="8072119" cy="2585323"/>
          </a:xfrm>
        </p:spPr>
        <p:txBody>
          <a:bodyPr/>
          <a:lstStyle/>
          <a:p>
            <a:r>
              <a:rPr lang="en-US" b="0" i="0" dirty="0">
                <a:effectLst/>
                <a:latin typeface="Roboto" panose="02000000000000000000" pitchFamily="2" charset="0"/>
              </a:rPr>
              <a:t>Handle Missing Values in Categorical Features</a:t>
            </a:r>
            <a:br>
              <a:rPr lang="en-US" b="0" i="0" dirty="0">
                <a:effectLst/>
                <a:latin typeface="Roboto" panose="02000000000000000000" pitchFamily="2" charset="0"/>
              </a:rPr>
            </a:br>
            <a:endParaRPr lang="en-IN" dirty="0"/>
          </a:p>
        </p:txBody>
      </p:sp>
      <p:sp>
        <p:nvSpPr>
          <p:cNvPr id="3" name="Text Placeholder 2">
            <a:extLst>
              <a:ext uri="{FF2B5EF4-FFF2-40B4-BE49-F238E27FC236}">
                <a16:creationId xmlns:a16="http://schemas.microsoft.com/office/drawing/2014/main" id="{93BC4AAE-519D-4503-BD51-0E2404994F77}"/>
              </a:ext>
            </a:extLst>
          </p:cNvPr>
          <p:cNvSpPr>
            <a:spLocks noGrp="1"/>
          </p:cNvSpPr>
          <p:nvPr>
            <p:ph type="body" idx="1"/>
          </p:nvPr>
        </p:nvSpPr>
        <p:spPr>
          <a:xfrm>
            <a:off x="535940" y="1216913"/>
            <a:ext cx="8072119" cy="2492990"/>
          </a:xfrm>
        </p:spPr>
        <p:txBody>
          <a:bodyPr/>
          <a:lstStyle/>
          <a:p>
            <a:r>
              <a:rPr lang="en-IN" dirty="0"/>
              <a:t>1)Delete rows: but the problem is that useful information may be lost</a:t>
            </a:r>
          </a:p>
          <a:p>
            <a:r>
              <a:rPr lang="en-IN" dirty="0"/>
              <a:t>2)Replace with the most frequent value: but the problem is unbalanced dataset within the category.</a:t>
            </a:r>
          </a:p>
          <a:p>
            <a:r>
              <a:rPr lang="en-IN" dirty="0"/>
              <a:t>3)Create a classifier to predict the category: in this  we treat the column where missing vales are there as dependent variable and all other attributes as independent variable, and we predict dependent variable with the help of independent variable. Time and computational requirements are more.</a:t>
            </a:r>
          </a:p>
          <a:p>
            <a:r>
              <a:rPr lang="en-IN" dirty="0"/>
              <a:t>4) Use unsupervised ML algorithm</a:t>
            </a:r>
          </a:p>
          <a:p>
            <a:endParaRPr lang="en-IN" dirty="0"/>
          </a:p>
        </p:txBody>
      </p:sp>
    </p:spTree>
    <p:extLst>
      <p:ext uri="{BB962C8B-B14F-4D97-AF65-F5344CB8AC3E}">
        <p14:creationId xmlns:p14="http://schemas.microsoft.com/office/powerpoint/2010/main" val="16691742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EC3BA65D-F8E1-4380-B412-3BE0D6C8BE3F}"/>
              </a:ext>
            </a:extLst>
          </p:cNvPr>
          <p:cNvSpPr>
            <a:spLocks noGrp="1"/>
          </p:cNvSpPr>
          <p:nvPr>
            <p:ph type="title"/>
          </p:nvPr>
        </p:nvSpPr>
        <p:spPr>
          <a:xfrm>
            <a:off x="1981200" y="243818"/>
            <a:ext cx="5654263" cy="861774"/>
          </a:xfrm>
        </p:spPr>
        <p:txBody>
          <a:bodyPr>
            <a:normAutofit/>
          </a:bodyPr>
          <a:lstStyle/>
          <a:p>
            <a:pPr eaLnBrk="1" hangingPunct="1"/>
            <a:r>
              <a:rPr lang="en-US" altLang="en-US" dirty="0"/>
              <a:t>How to handle Real-valued Features</a:t>
            </a:r>
          </a:p>
        </p:txBody>
      </p:sp>
      <p:sp>
        <p:nvSpPr>
          <p:cNvPr id="63491" name="Content Placeholder 2">
            <a:extLst>
              <a:ext uri="{FF2B5EF4-FFF2-40B4-BE49-F238E27FC236}">
                <a16:creationId xmlns:a16="http://schemas.microsoft.com/office/drawing/2014/main" id="{1207BA69-B7FE-4B28-8FE0-219B93EA97F6}"/>
              </a:ext>
            </a:extLst>
          </p:cNvPr>
          <p:cNvSpPr>
            <a:spLocks noGrp="1"/>
          </p:cNvSpPr>
          <p:nvPr>
            <p:ph idx="1"/>
          </p:nvPr>
        </p:nvSpPr>
        <p:spPr>
          <a:xfrm>
            <a:off x="535941" y="1216913"/>
            <a:ext cx="8072119" cy="830997"/>
          </a:xfrm>
        </p:spPr>
        <p:txBody>
          <a:bodyPr/>
          <a:lstStyle/>
          <a:p>
            <a:pPr eaLnBrk="1" hangingPunct="1"/>
            <a:r>
              <a:rPr lang="en-US" altLang="en-US" dirty="0"/>
              <a:t>Discretize?</a:t>
            </a:r>
          </a:p>
          <a:p>
            <a:pPr eaLnBrk="1" hangingPunct="1"/>
            <a:r>
              <a:rPr lang="en-US" altLang="en-US" dirty="0"/>
              <a:t>Threshold split using observed values?</a:t>
            </a:r>
          </a:p>
          <a:p>
            <a:pPr eaLnBrk="1" hangingPunct="1"/>
            <a:endParaRPr lang="en-US" altLang="en-US" dirty="0"/>
          </a:p>
        </p:txBody>
      </p:sp>
      <p:sp>
        <p:nvSpPr>
          <p:cNvPr id="3" name="TextBox 2">
            <a:extLst>
              <a:ext uri="{FF2B5EF4-FFF2-40B4-BE49-F238E27FC236}">
                <a16:creationId xmlns:a16="http://schemas.microsoft.com/office/drawing/2014/main" id="{21D47873-D265-CCFD-00E6-0F283C043DA9}"/>
              </a:ext>
            </a:extLst>
          </p:cNvPr>
          <p:cNvSpPr txBox="1"/>
          <p:nvPr/>
        </p:nvSpPr>
        <p:spPr>
          <a:xfrm>
            <a:off x="838200" y="1885950"/>
            <a:ext cx="7467600" cy="1477328"/>
          </a:xfrm>
          <a:prstGeom prst="rect">
            <a:avLst/>
          </a:prstGeom>
          <a:noFill/>
        </p:spPr>
        <p:txBody>
          <a:bodyPr wrap="square">
            <a:spAutoFit/>
          </a:bodyPr>
          <a:lstStyle/>
          <a:p>
            <a:r>
              <a:rPr lang="en-US" b="1" dirty="0"/>
              <a:t>Discretization (Binning):</a:t>
            </a:r>
          </a:p>
          <a:p>
            <a:pPr>
              <a:buFont typeface="Arial" panose="020B0604020202020204" pitchFamily="34" charset="0"/>
              <a:buChar char="•"/>
            </a:pPr>
            <a:r>
              <a:rPr lang="en-US" dirty="0"/>
              <a:t>Approach is to </a:t>
            </a:r>
            <a:r>
              <a:rPr lang="en-US" b="1" dirty="0"/>
              <a:t>bin</a:t>
            </a:r>
            <a:r>
              <a:rPr lang="en-US" dirty="0"/>
              <a:t> real-valued features into categories. For instance, a continuous variable like age could be binned into age </a:t>
            </a:r>
          </a:p>
          <a:p>
            <a:pPr>
              <a:buFont typeface="Arial" panose="020B0604020202020204" pitchFamily="34" charset="0"/>
              <a:buChar char="•"/>
            </a:pPr>
            <a:r>
              <a:rPr lang="en-US" dirty="0"/>
              <a:t>This method transforms continuous values into discrete categories that the decision tree can handle naturally.</a:t>
            </a:r>
          </a:p>
        </p:txBody>
      </p:sp>
      <p:pic>
        <p:nvPicPr>
          <p:cNvPr id="5" name="Picture 4">
            <a:extLst>
              <a:ext uri="{FF2B5EF4-FFF2-40B4-BE49-F238E27FC236}">
                <a16:creationId xmlns:a16="http://schemas.microsoft.com/office/drawing/2014/main" id="{4AD8DF55-B14E-E5B3-E651-0FDF10FD35FD}"/>
              </a:ext>
            </a:extLst>
          </p:cNvPr>
          <p:cNvPicPr>
            <a:picLocks noChangeAspect="1"/>
          </p:cNvPicPr>
          <p:nvPr/>
        </p:nvPicPr>
        <p:blipFill>
          <a:blip r:embed="rId2"/>
          <a:stretch>
            <a:fillRect/>
          </a:stretch>
        </p:blipFill>
        <p:spPr>
          <a:xfrm>
            <a:off x="6019800" y="2453149"/>
            <a:ext cx="2103302" cy="34293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D2049F30-5E25-4EC1-8899-13B0F9BE8FCD}"/>
              </a:ext>
            </a:extLst>
          </p:cNvPr>
          <p:cNvSpPr>
            <a:spLocks noGrp="1"/>
          </p:cNvSpPr>
          <p:nvPr>
            <p:ph type="title"/>
          </p:nvPr>
        </p:nvSpPr>
        <p:spPr>
          <a:xfrm>
            <a:off x="609600" y="385953"/>
            <a:ext cx="7162800" cy="861774"/>
          </a:xfrm>
        </p:spPr>
        <p:txBody>
          <a:bodyPr/>
          <a:lstStyle/>
          <a:p>
            <a:pPr eaLnBrk="1" hangingPunct="1"/>
            <a:r>
              <a:rPr lang="en-US" altLang="en-US" dirty="0"/>
              <a:t>Overfitting in Decision Trees Definition</a:t>
            </a:r>
          </a:p>
        </p:txBody>
      </p:sp>
      <p:sp>
        <p:nvSpPr>
          <p:cNvPr id="3" name="Content Placeholder 2">
            <a:extLst>
              <a:ext uri="{FF2B5EF4-FFF2-40B4-BE49-F238E27FC236}">
                <a16:creationId xmlns:a16="http://schemas.microsoft.com/office/drawing/2014/main" id="{AEBE38EC-087E-4E74-A742-6EBA71D67818}"/>
              </a:ext>
            </a:extLst>
          </p:cNvPr>
          <p:cNvSpPr>
            <a:spLocks noGrp="1"/>
          </p:cNvSpPr>
          <p:nvPr>
            <p:ph idx="1"/>
          </p:nvPr>
        </p:nvSpPr>
        <p:spPr/>
        <p:txBody>
          <a:bodyPr rtlCol="0">
            <a:normAutofit fontScale="92500" lnSpcReduction="10000"/>
          </a:bodyPr>
          <a:lstStyle/>
          <a:p>
            <a:pPr>
              <a:lnSpc>
                <a:spcPct val="90000"/>
              </a:lnSpc>
              <a:defRPr/>
            </a:pPr>
            <a:r>
              <a:rPr lang="en-US" dirty="0"/>
              <a:t>DT is </a:t>
            </a:r>
            <a:r>
              <a:rPr lang="en-US" i="1" dirty="0" err="1">
                <a:solidFill>
                  <a:srgbClr val="CC0000"/>
                </a:solidFill>
              </a:rPr>
              <a:t>overfit</a:t>
            </a:r>
            <a:r>
              <a:rPr lang="en-US" dirty="0"/>
              <a:t> when exists another DT’ and</a:t>
            </a:r>
          </a:p>
          <a:p>
            <a:pPr lvl="1">
              <a:lnSpc>
                <a:spcPct val="90000"/>
              </a:lnSpc>
              <a:defRPr/>
            </a:pPr>
            <a:r>
              <a:rPr lang="en-US" dirty="0"/>
              <a:t>DT has </a:t>
            </a:r>
            <a:r>
              <a:rPr lang="en-US" b="1" i="1" dirty="0">
                <a:solidFill>
                  <a:schemeClr val="tx2"/>
                </a:solidFill>
              </a:rPr>
              <a:t>smaller</a:t>
            </a:r>
            <a:r>
              <a:rPr lang="en-US" dirty="0"/>
              <a:t> error  on training examples, but</a:t>
            </a:r>
          </a:p>
          <a:p>
            <a:pPr lvl="1">
              <a:lnSpc>
                <a:spcPct val="90000"/>
              </a:lnSpc>
              <a:defRPr/>
            </a:pPr>
            <a:r>
              <a:rPr lang="en-US" dirty="0"/>
              <a:t>DT has </a:t>
            </a:r>
            <a:r>
              <a:rPr lang="en-US" b="1" i="1" dirty="0">
                <a:solidFill>
                  <a:schemeClr val="tx2"/>
                </a:solidFill>
              </a:rPr>
              <a:t>bigger</a:t>
            </a:r>
            <a:r>
              <a:rPr lang="en-US" dirty="0"/>
              <a:t> error on test examples</a:t>
            </a:r>
          </a:p>
          <a:p>
            <a:pPr>
              <a:lnSpc>
                <a:spcPct val="90000"/>
              </a:lnSpc>
              <a:defRPr/>
            </a:pPr>
            <a:r>
              <a:rPr lang="en-US" dirty="0"/>
              <a:t>Causes of </a:t>
            </a:r>
            <a:r>
              <a:rPr lang="en-US" dirty="0" err="1"/>
              <a:t>overfitting</a:t>
            </a:r>
            <a:endParaRPr lang="en-US" dirty="0"/>
          </a:p>
          <a:p>
            <a:pPr lvl="1">
              <a:lnSpc>
                <a:spcPct val="90000"/>
              </a:lnSpc>
              <a:defRPr/>
            </a:pPr>
            <a:r>
              <a:rPr lang="en-US" dirty="0"/>
              <a:t>Noisy data, or</a:t>
            </a:r>
          </a:p>
          <a:p>
            <a:pPr lvl="1">
              <a:lnSpc>
                <a:spcPct val="90000"/>
              </a:lnSpc>
              <a:defRPr/>
            </a:pPr>
            <a:r>
              <a:rPr lang="en-US" dirty="0"/>
              <a:t>Training set is too small </a:t>
            </a:r>
          </a:p>
          <a:p>
            <a:pPr lvl="1">
              <a:lnSpc>
                <a:spcPct val="90000"/>
              </a:lnSpc>
              <a:defRPr/>
            </a:pPr>
            <a:r>
              <a:rPr lang="en-US" dirty="0"/>
              <a:t>Model is complex</a:t>
            </a:r>
          </a:p>
          <a:p>
            <a:pPr lvl="1">
              <a:lnSpc>
                <a:spcPct val="90000"/>
              </a:lnSpc>
              <a:defRPr/>
            </a:pPr>
            <a:r>
              <a:rPr lang="en-US" dirty="0"/>
              <a:t>High variance model</a:t>
            </a:r>
          </a:p>
          <a:p>
            <a:pPr lvl="1">
              <a:lnSpc>
                <a:spcPct val="90000"/>
              </a:lnSpc>
              <a:defRPr/>
            </a:pPr>
            <a:r>
              <a:rPr lang="en-US" dirty="0"/>
              <a:t>More nodes and more depth</a:t>
            </a:r>
          </a:p>
          <a:p>
            <a:pPr lvl="1">
              <a:lnSpc>
                <a:spcPct val="90000"/>
              </a:lnSpc>
              <a:defRPr/>
            </a:pPr>
            <a:r>
              <a:rPr lang="en-US" dirty="0"/>
              <a:t>Over grown tree</a:t>
            </a:r>
          </a:p>
          <a:p>
            <a:pPr>
              <a:lnSpc>
                <a:spcPct val="90000"/>
              </a:lnSpc>
              <a:defRPr/>
            </a:pPr>
            <a:r>
              <a:rPr lang="en-US" dirty="0"/>
              <a:t>Solutions</a:t>
            </a:r>
          </a:p>
          <a:p>
            <a:pPr lvl="1">
              <a:lnSpc>
                <a:spcPct val="90000"/>
              </a:lnSpc>
              <a:defRPr/>
            </a:pPr>
            <a:r>
              <a:rPr lang="en-US" dirty="0"/>
              <a:t>Reduced error pruning/ post pruning</a:t>
            </a:r>
          </a:p>
          <a:p>
            <a:pPr lvl="1">
              <a:lnSpc>
                <a:spcPct val="90000"/>
              </a:lnSpc>
              <a:defRPr/>
            </a:pPr>
            <a:r>
              <a:rPr lang="en-US" dirty="0"/>
              <a:t>Early stopping/ pre pruning</a:t>
            </a:r>
          </a:p>
          <a:p>
            <a:pPr>
              <a:defRPr/>
            </a:pP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7A0D0-609C-3B4B-D8C6-3F638230D640}"/>
              </a:ext>
            </a:extLst>
          </p:cNvPr>
          <p:cNvSpPr>
            <a:spLocks noGrp="1"/>
          </p:cNvSpPr>
          <p:nvPr>
            <p:ph type="title"/>
          </p:nvPr>
        </p:nvSpPr>
        <p:spPr>
          <a:xfrm>
            <a:off x="1905000" y="570582"/>
            <a:ext cx="5150612" cy="1292662"/>
          </a:xfrm>
        </p:spPr>
        <p:txBody>
          <a:bodyPr/>
          <a:lstStyle/>
          <a:p>
            <a:r>
              <a:rPr lang="en-US" dirty="0"/>
              <a:t>What is overfitting in decision tree</a:t>
            </a:r>
          </a:p>
        </p:txBody>
      </p:sp>
      <p:sp>
        <p:nvSpPr>
          <p:cNvPr id="3" name="Text Placeholder 2">
            <a:extLst>
              <a:ext uri="{FF2B5EF4-FFF2-40B4-BE49-F238E27FC236}">
                <a16:creationId xmlns:a16="http://schemas.microsoft.com/office/drawing/2014/main" id="{D30AE0D9-BF6D-5900-BFCE-8DFB3385907F}"/>
              </a:ext>
            </a:extLst>
          </p:cNvPr>
          <p:cNvSpPr>
            <a:spLocks noGrp="1"/>
          </p:cNvSpPr>
          <p:nvPr>
            <p:ph type="body" idx="1"/>
          </p:nvPr>
        </p:nvSpPr>
        <p:spPr>
          <a:xfrm>
            <a:off x="535940" y="1216913"/>
            <a:ext cx="8072119" cy="2769989"/>
          </a:xfrm>
        </p:spPr>
        <p:txBody>
          <a:bodyPr/>
          <a:lstStyle/>
          <a:p>
            <a:r>
              <a:rPr lang="en-US" b="1" dirty="0"/>
              <a:t>Overfitting in decision trees</a:t>
            </a:r>
            <a:r>
              <a:rPr lang="en-US" dirty="0"/>
              <a:t> occurs when the model becomes </a:t>
            </a:r>
            <a:r>
              <a:rPr lang="en-US" b="1" dirty="0"/>
              <a:t>too complex</a:t>
            </a:r>
            <a:r>
              <a:rPr lang="en-US" dirty="0"/>
              <a:t> and starts capturing noise or irrelevant patterns in the training data rather than general patterns that apply to unseen data.</a:t>
            </a:r>
          </a:p>
          <a:p>
            <a:r>
              <a:rPr lang="en-US" b="1" dirty="0"/>
              <a:t>Key Characteristics of Overfitting:</a:t>
            </a:r>
          </a:p>
          <a:p>
            <a:pPr>
              <a:buFont typeface="Arial" panose="020B0604020202020204" pitchFamily="34" charset="0"/>
              <a:buChar char="•"/>
            </a:pPr>
            <a:r>
              <a:rPr lang="en-US" b="1" dirty="0"/>
              <a:t>High training accuracy</a:t>
            </a:r>
            <a:r>
              <a:rPr lang="en-US" dirty="0"/>
              <a:t> but </a:t>
            </a:r>
            <a:r>
              <a:rPr lang="en-US" b="1" dirty="0"/>
              <a:t>poor performance on test data</a:t>
            </a:r>
            <a:r>
              <a:rPr lang="en-US" dirty="0"/>
              <a:t> or new, unseen data.</a:t>
            </a:r>
          </a:p>
          <a:p>
            <a:pPr>
              <a:buFont typeface="Arial" panose="020B0604020202020204" pitchFamily="34" charset="0"/>
              <a:buChar char="•"/>
            </a:pPr>
            <a:r>
              <a:rPr lang="en-US" dirty="0"/>
              <a:t>The tree becomes overly specific, with </a:t>
            </a:r>
            <a:r>
              <a:rPr lang="en-US" b="1" dirty="0"/>
              <a:t>too many branches</a:t>
            </a:r>
            <a:r>
              <a:rPr lang="en-US" dirty="0"/>
              <a:t> and splits, leading to a deep and complex tree structure.</a:t>
            </a:r>
          </a:p>
          <a:p>
            <a:pPr>
              <a:buFont typeface="Arial" panose="020B0604020202020204" pitchFamily="34" charset="0"/>
              <a:buChar char="•"/>
            </a:pPr>
            <a:r>
              <a:rPr lang="en-US" dirty="0"/>
              <a:t>It captures </a:t>
            </a:r>
            <a:r>
              <a:rPr lang="en-US" b="1" dirty="0"/>
              <a:t>minor fluctuations</a:t>
            </a:r>
            <a:r>
              <a:rPr lang="en-US" dirty="0"/>
              <a:t> or outliers in the training set, which do not generalize well to the test set.</a:t>
            </a:r>
          </a:p>
          <a:p>
            <a:endParaRPr lang="en-US" dirty="0"/>
          </a:p>
        </p:txBody>
      </p:sp>
    </p:spTree>
    <p:extLst>
      <p:ext uri="{BB962C8B-B14F-4D97-AF65-F5344CB8AC3E}">
        <p14:creationId xmlns:p14="http://schemas.microsoft.com/office/powerpoint/2010/main" val="15355270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2C2AE-8A6B-3101-1062-B4E7E4DFC46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ADFE86A-1270-BDA8-8882-E514AC92E7F1}"/>
              </a:ext>
            </a:extLst>
          </p:cNvPr>
          <p:cNvSpPr>
            <a:spLocks noGrp="1"/>
          </p:cNvSpPr>
          <p:nvPr>
            <p:ph type="body" idx="1"/>
          </p:nvPr>
        </p:nvSpPr>
        <p:spPr>
          <a:xfrm>
            <a:off x="535940" y="1216913"/>
            <a:ext cx="8072119" cy="3231654"/>
          </a:xfrm>
        </p:spPr>
        <p:txBody>
          <a:bodyPr/>
          <a:lstStyle/>
          <a:p>
            <a:r>
              <a:rPr lang="en-US" sz="1400" b="1" dirty="0"/>
              <a:t>Why Overfitting Happens in Decision Trees:</a:t>
            </a:r>
          </a:p>
          <a:p>
            <a:pPr>
              <a:buFont typeface="+mj-lt"/>
              <a:buAutoNum type="arabicPeriod"/>
            </a:pPr>
            <a:r>
              <a:rPr lang="en-US" sz="1400" b="1" dirty="0"/>
              <a:t>Deep Trees</a:t>
            </a:r>
            <a:r>
              <a:rPr lang="en-US" sz="1400" dirty="0"/>
              <a:t>: If there are no constraints (like depth limit), the tree keeps splitting until each leaf contains only a single data point. This leads to a very complex model that perfectly fits the training data.</a:t>
            </a:r>
          </a:p>
          <a:p>
            <a:pPr>
              <a:buFont typeface="+mj-lt"/>
              <a:buAutoNum type="arabicPeriod"/>
            </a:pPr>
            <a:r>
              <a:rPr lang="en-US" sz="1400" b="1" dirty="0"/>
              <a:t>Noisy Data</a:t>
            </a:r>
            <a:r>
              <a:rPr lang="en-US" sz="1400" dirty="0"/>
              <a:t>: If the training data contains noise or outliers, the decision tree might create specific branches to fit those exceptions.</a:t>
            </a:r>
          </a:p>
          <a:p>
            <a:pPr>
              <a:buFont typeface="+mj-lt"/>
              <a:buAutoNum type="arabicPeriod"/>
            </a:pPr>
            <a:r>
              <a:rPr lang="en-US" sz="1400" b="1" dirty="0"/>
              <a:t>High Cardinality Features</a:t>
            </a:r>
            <a:r>
              <a:rPr lang="en-US" sz="1400" dirty="0"/>
              <a:t>: When features have many distinct values, the tree may create overly specific rules that are not generalizable.</a:t>
            </a:r>
          </a:p>
          <a:p>
            <a:r>
              <a:rPr lang="en-US" sz="1400" b="1" dirty="0"/>
              <a:t>Example:</a:t>
            </a:r>
          </a:p>
          <a:p>
            <a:r>
              <a:rPr lang="en-US" sz="1400" dirty="0"/>
              <a:t>Consider a decision tree that perfectly classifies every data point in the training set by making highly specific decisions at each branch (e.g., "if age is 25 and salary is exactly $50,000, then class A"). This tree will have </a:t>
            </a:r>
            <a:r>
              <a:rPr lang="en-US" sz="1400" b="1" dirty="0"/>
              <a:t>high accuracy</a:t>
            </a:r>
            <a:r>
              <a:rPr lang="en-US" sz="1400" dirty="0"/>
              <a:t> on the training set but likely perform poorly on new data, as these rules do not generalize well.</a:t>
            </a:r>
          </a:p>
          <a:p>
            <a:r>
              <a:rPr lang="en-US" sz="1400" b="1" dirty="0"/>
              <a:t>Symptoms of Overfitting:</a:t>
            </a:r>
          </a:p>
          <a:p>
            <a:pPr>
              <a:buFont typeface="Arial" panose="020B0604020202020204" pitchFamily="34" charset="0"/>
              <a:buChar char="•"/>
            </a:pPr>
            <a:r>
              <a:rPr lang="en-US" sz="1400" dirty="0"/>
              <a:t>The decision tree has too many nodes and branches.</a:t>
            </a:r>
          </a:p>
          <a:p>
            <a:pPr>
              <a:buFont typeface="Arial" panose="020B0604020202020204" pitchFamily="34" charset="0"/>
              <a:buChar char="•"/>
            </a:pPr>
            <a:r>
              <a:rPr lang="en-US" sz="1400" dirty="0"/>
              <a:t>Training accuracy is high, but test accuracy is significantly lower.</a:t>
            </a:r>
          </a:p>
          <a:p>
            <a:endParaRPr lang="en-US" sz="1400" dirty="0"/>
          </a:p>
        </p:txBody>
      </p:sp>
    </p:spTree>
    <p:extLst>
      <p:ext uri="{BB962C8B-B14F-4D97-AF65-F5344CB8AC3E}">
        <p14:creationId xmlns:p14="http://schemas.microsoft.com/office/powerpoint/2010/main" val="30776679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ooter Placeholder 2">
            <a:extLst>
              <a:ext uri="{FF2B5EF4-FFF2-40B4-BE49-F238E27FC236}">
                <a16:creationId xmlns:a16="http://schemas.microsoft.com/office/drawing/2014/main" id="{5E08189B-B6C7-4861-A8FC-E2A97872F9ED}"/>
              </a:ext>
            </a:extLst>
          </p:cNvPr>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l">
              <a:defRPr/>
            </a:pPr>
            <a:endParaRPr lang="en-US"/>
          </a:p>
        </p:txBody>
      </p:sp>
      <p:sp>
        <p:nvSpPr>
          <p:cNvPr id="69635" name="Slide Number Placeholder 3">
            <a:extLst>
              <a:ext uri="{FF2B5EF4-FFF2-40B4-BE49-F238E27FC236}">
                <a16:creationId xmlns:a16="http://schemas.microsoft.com/office/drawing/2014/main" id="{B58FAF17-0E91-4218-AE31-9DF74531C98A}"/>
              </a:ext>
            </a:extLst>
          </p:cNvPr>
          <p:cNvSpPr>
            <a:spLocks noGrp="1" noChangeArrowheads="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spcBef>
                <a:spcPct val="0"/>
              </a:spcBef>
              <a:buFontTx/>
              <a:buNone/>
              <a:defRPr/>
            </a:pPr>
            <a:fld id="{9B983161-3236-4EF2-8CCB-A4527C6AFEC0}" type="slidenum">
              <a:rPr lang="en-US" altLang="en-US" smtClean="0"/>
              <a:pPr algn="ctr">
                <a:spcBef>
                  <a:spcPct val="0"/>
                </a:spcBef>
                <a:buFontTx/>
                <a:buNone/>
                <a:defRPr/>
              </a:pPr>
              <a:t>75</a:t>
            </a:fld>
            <a:endParaRPr lang="en-US" altLang="en-US" sz="900">
              <a:solidFill>
                <a:srgbClr val="898989"/>
              </a:solidFill>
            </a:endParaRPr>
          </a:p>
        </p:txBody>
      </p:sp>
      <p:sp>
        <p:nvSpPr>
          <p:cNvPr id="69636" name="Rectangle 2">
            <a:extLst>
              <a:ext uri="{FF2B5EF4-FFF2-40B4-BE49-F238E27FC236}">
                <a16:creationId xmlns:a16="http://schemas.microsoft.com/office/drawing/2014/main" id="{3593C2A9-7235-462D-81D3-78B09A4A1161}"/>
              </a:ext>
            </a:extLst>
          </p:cNvPr>
          <p:cNvSpPr>
            <a:spLocks noGrp="1"/>
          </p:cNvSpPr>
          <p:nvPr>
            <p:ph type="title" idx="4294967295"/>
          </p:nvPr>
        </p:nvSpPr>
        <p:spPr>
          <a:xfrm>
            <a:off x="3612388" y="385953"/>
            <a:ext cx="1919223" cy="430887"/>
          </a:xfrm>
        </p:spPr>
        <p:txBody>
          <a:bodyPr/>
          <a:lstStyle/>
          <a:p>
            <a:pPr eaLnBrk="1" hangingPunct="1"/>
            <a:r>
              <a:rPr lang="en-US" altLang="en-US" dirty="0"/>
              <a:t>Overfitting</a:t>
            </a:r>
          </a:p>
        </p:txBody>
      </p:sp>
      <p:sp>
        <p:nvSpPr>
          <p:cNvPr id="69637" name="Line 3">
            <a:extLst>
              <a:ext uri="{FF2B5EF4-FFF2-40B4-BE49-F238E27FC236}">
                <a16:creationId xmlns:a16="http://schemas.microsoft.com/office/drawing/2014/main" id="{FFB05364-9765-4DFC-AE60-7D782B29D927}"/>
              </a:ext>
            </a:extLst>
          </p:cNvPr>
          <p:cNvSpPr>
            <a:spLocks noChangeShapeType="1"/>
          </p:cNvSpPr>
          <p:nvPr/>
        </p:nvSpPr>
        <p:spPr bwMode="auto">
          <a:xfrm flipH="1">
            <a:off x="1714500" y="1314450"/>
            <a:ext cx="0" cy="2857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38" name="Line 4">
            <a:extLst>
              <a:ext uri="{FF2B5EF4-FFF2-40B4-BE49-F238E27FC236}">
                <a16:creationId xmlns:a16="http://schemas.microsoft.com/office/drawing/2014/main" id="{81C1A619-56A5-4E92-92E5-53D6AEBBC0E2}"/>
              </a:ext>
            </a:extLst>
          </p:cNvPr>
          <p:cNvSpPr>
            <a:spLocks noChangeShapeType="1"/>
          </p:cNvSpPr>
          <p:nvPr/>
        </p:nvSpPr>
        <p:spPr bwMode="auto">
          <a:xfrm flipH="1">
            <a:off x="1714500" y="4171950"/>
            <a:ext cx="502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39" name="Text Box 5">
            <a:extLst>
              <a:ext uri="{FF2B5EF4-FFF2-40B4-BE49-F238E27FC236}">
                <a16:creationId xmlns:a16="http://schemas.microsoft.com/office/drawing/2014/main" id="{9340EDB6-E525-4BDD-A9B9-5879D48E46AF}"/>
              </a:ext>
            </a:extLst>
          </p:cNvPr>
          <p:cNvSpPr txBox="1">
            <a:spLocks noChangeArrowheads="1"/>
          </p:cNvSpPr>
          <p:nvPr/>
        </p:nvSpPr>
        <p:spPr bwMode="auto">
          <a:xfrm>
            <a:off x="2331244" y="4260056"/>
            <a:ext cx="256512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Number of Nodes in Decision tree</a:t>
            </a:r>
          </a:p>
        </p:txBody>
      </p:sp>
      <p:sp>
        <p:nvSpPr>
          <p:cNvPr id="69640" name="Text Box 6">
            <a:extLst>
              <a:ext uri="{FF2B5EF4-FFF2-40B4-BE49-F238E27FC236}">
                <a16:creationId xmlns:a16="http://schemas.microsoft.com/office/drawing/2014/main" id="{F6AC3EEF-2AFF-4C68-AE63-5B01F23F7B2A}"/>
              </a:ext>
            </a:extLst>
          </p:cNvPr>
          <p:cNvSpPr txBox="1">
            <a:spLocks noChangeArrowheads="1"/>
          </p:cNvSpPr>
          <p:nvPr/>
        </p:nvSpPr>
        <p:spPr bwMode="auto">
          <a:xfrm>
            <a:off x="1485900" y="857250"/>
            <a:ext cx="84830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dirty="0">
                <a:latin typeface="Times New Roman" panose="02020603050405020304" pitchFamily="18" charset="0"/>
              </a:rPr>
              <a:t>Accuracy</a:t>
            </a:r>
          </a:p>
        </p:txBody>
      </p:sp>
      <p:sp>
        <p:nvSpPr>
          <p:cNvPr id="69641" name="Text Box 7">
            <a:extLst>
              <a:ext uri="{FF2B5EF4-FFF2-40B4-BE49-F238E27FC236}">
                <a16:creationId xmlns:a16="http://schemas.microsoft.com/office/drawing/2014/main" id="{79A63973-5ED6-4F1B-ACB1-80ED9769C67F}"/>
              </a:ext>
            </a:extLst>
          </p:cNvPr>
          <p:cNvSpPr txBox="1">
            <a:spLocks noChangeArrowheads="1"/>
          </p:cNvSpPr>
          <p:nvPr/>
        </p:nvSpPr>
        <p:spPr bwMode="auto">
          <a:xfrm>
            <a:off x="1257300" y="1371600"/>
            <a:ext cx="4010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0.9</a:t>
            </a:r>
          </a:p>
        </p:txBody>
      </p:sp>
      <p:sp>
        <p:nvSpPr>
          <p:cNvPr id="69642" name="Text Box 8">
            <a:extLst>
              <a:ext uri="{FF2B5EF4-FFF2-40B4-BE49-F238E27FC236}">
                <a16:creationId xmlns:a16="http://schemas.microsoft.com/office/drawing/2014/main" id="{2802DB7A-3A1A-472D-ADCD-3D04C8A79D09}"/>
              </a:ext>
            </a:extLst>
          </p:cNvPr>
          <p:cNvSpPr txBox="1">
            <a:spLocks noChangeArrowheads="1"/>
          </p:cNvSpPr>
          <p:nvPr/>
        </p:nvSpPr>
        <p:spPr bwMode="auto">
          <a:xfrm>
            <a:off x="1257300" y="2057400"/>
            <a:ext cx="4010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0.8</a:t>
            </a:r>
          </a:p>
        </p:txBody>
      </p:sp>
      <p:sp>
        <p:nvSpPr>
          <p:cNvPr id="69643" name="Text Box 9">
            <a:extLst>
              <a:ext uri="{FF2B5EF4-FFF2-40B4-BE49-F238E27FC236}">
                <a16:creationId xmlns:a16="http://schemas.microsoft.com/office/drawing/2014/main" id="{E2243D1F-A737-4ACE-AE1A-1AC772042528}"/>
              </a:ext>
            </a:extLst>
          </p:cNvPr>
          <p:cNvSpPr txBox="1">
            <a:spLocks noChangeArrowheads="1"/>
          </p:cNvSpPr>
          <p:nvPr/>
        </p:nvSpPr>
        <p:spPr bwMode="auto">
          <a:xfrm>
            <a:off x="1257300" y="2686050"/>
            <a:ext cx="4010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0.7</a:t>
            </a:r>
          </a:p>
        </p:txBody>
      </p:sp>
      <p:sp>
        <p:nvSpPr>
          <p:cNvPr id="69644" name="Text Box 10">
            <a:extLst>
              <a:ext uri="{FF2B5EF4-FFF2-40B4-BE49-F238E27FC236}">
                <a16:creationId xmlns:a16="http://schemas.microsoft.com/office/drawing/2014/main" id="{A7B59AD3-F5E2-48C9-B8C7-98C4883DA9B0}"/>
              </a:ext>
            </a:extLst>
          </p:cNvPr>
          <p:cNvSpPr txBox="1">
            <a:spLocks noChangeArrowheads="1"/>
          </p:cNvSpPr>
          <p:nvPr/>
        </p:nvSpPr>
        <p:spPr bwMode="auto">
          <a:xfrm>
            <a:off x="1257300" y="3314700"/>
            <a:ext cx="4010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0.6</a:t>
            </a:r>
          </a:p>
        </p:txBody>
      </p:sp>
      <p:grpSp>
        <p:nvGrpSpPr>
          <p:cNvPr id="69645" name="Group 11">
            <a:extLst>
              <a:ext uri="{FF2B5EF4-FFF2-40B4-BE49-F238E27FC236}">
                <a16:creationId xmlns:a16="http://schemas.microsoft.com/office/drawing/2014/main" id="{A2EBE212-085C-492D-8781-3FFF24C0C40D}"/>
              </a:ext>
            </a:extLst>
          </p:cNvPr>
          <p:cNvGrpSpPr>
            <a:grpSpLocks/>
          </p:cNvGrpSpPr>
          <p:nvPr/>
        </p:nvGrpSpPr>
        <p:grpSpPr bwMode="auto">
          <a:xfrm>
            <a:off x="1718930" y="1428750"/>
            <a:ext cx="4972050" cy="1943100"/>
            <a:chOff x="480" y="1200"/>
            <a:chExt cx="4176" cy="1632"/>
          </a:xfrm>
        </p:grpSpPr>
        <p:sp>
          <p:nvSpPr>
            <p:cNvPr id="69656" name="Line 12">
              <a:extLst>
                <a:ext uri="{FF2B5EF4-FFF2-40B4-BE49-F238E27FC236}">
                  <a16:creationId xmlns:a16="http://schemas.microsoft.com/office/drawing/2014/main" id="{89A738A3-93C9-4A0B-888B-6F660D37CA60}"/>
                </a:ext>
              </a:extLst>
            </p:cNvPr>
            <p:cNvSpPr>
              <a:spLocks noChangeShapeType="1"/>
            </p:cNvSpPr>
            <p:nvPr/>
          </p:nvSpPr>
          <p:spPr bwMode="auto">
            <a:xfrm flipV="1">
              <a:off x="480" y="2160"/>
              <a:ext cx="240"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57" name="Line 13">
              <a:extLst>
                <a:ext uri="{FF2B5EF4-FFF2-40B4-BE49-F238E27FC236}">
                  <a16:creationId xmlns:a16="http://schemas.microsoft.com/office/drawing/2014/main" id="{1051836E-7E11-408C-85D4-27ACDD67106C}"/>
                </a:ext>
              </a:extLst>
            </p:cNvPr>
            <p:cNvSpPr>
              <a:spLocks noChangeShapeType="1"/>
            </p:cNvSpPr>
            <p:nvPr/>
          </p:nvSpPr>
          <p:spPr bwMode="auto">
            <a:xfrm flipV="1">
              <a:off x="720" y="1872"/>
              <a:ext cx="14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58" name="Line 14">
              <a:extLst>
                <a:ext uri="{FF2B5EF4-FFF2-40B4-BE49-F238E27FC236}">
                  <a16:creationId xmlns:a16="http://schemas.microsoft.com/office/drawing/2014/main" id="{CD1A2F32-D493-42B4-B5FE-31AD57FA523D}"/>
                </a:ext>
              </a:extLst>
            </p:cNvPr>
            <p:cNvSpPr>
              <a:spLocks noChangeShapeType="1"/>
            </p:cNvSpPr>
            <p:nvPr/>
          </p:nvSpPr>
          <p:spPr bwMode="auto">
            <a:xfrm flipV="1">
              <a:off x="864" y="1632"/>
              <a:ext cx="43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59" name="Line 15">
              <a:extLst>
                <a:ext uri="{FF2B5EF4-FFF2-40B4-BE49-F238E27FC236}">
                  <a16:creationId xmlns:a16="http://schemas.microsoft.com/office/drawing/2014/main" id="{53D8B6F4-66D7-42B2-8D60-0131E00525D0}"/>
                </a:ext>
              </a:extLst>
            </p:cNvPr>
            <p:cNvSpPr>
              <a:spLocks noChangeShapeType="1"/>
            </p:cNvSpPr>
            <p:nvPr/>
          </p:nvSpPr>
          <p:spPr bwMode="auto">
            <a:xfrm flipV="1">
              <a:off x="1296" y="1536"/>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60" name="Line 16">
              <a:extLst>
                <a:ext uri="{FF2B5EF4-FFF2-40B4-BE49-F238E27FC236}">
                  <a16:creationId xmlns:a16="http://schemas.microsoft.com/office/drawing/2014/main" id="{EF632C11-D8D0-4D26-8552-D4B7B4C3B158}"/>
                </a:ext>
              </a:extLst>
            </p:cNvPr>
            <p:cNvSpPr>
              <a:spLocks noChangeShapeType="1"/>
            </p:cNvSpPr>
            <p:nvPr/>
          </p:nvSpPr>
          <p:spPr bwMode="auto">
            <a:xfrm flipV="1">
              <a:off x="1392" y="1440"/>
              <a:ext cx="86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61" name="Line 17">
              <a:extLst>
                <a:ext uri="{FF2B5EF4-FFF2-40B4-BE49-F238E27FC236}">
                  <a16:creationId xmlns:a16="http://schemas.microsoft.com/office/drawing/2014/main" id="{1074F001-0EAC-43BD-AE81-9489AF9992C0}"/>
                </a:ext>
              </a:extLst>
            </p:cNvPr>
            <p:cNvSpPr>
              <a:spLocks noChangeShapeType="1"/>
            </p:cNvSpPr>
            <p:nvPr/>
          </p:nvSpPr>
          <p:spPr bwMode="auto">
            <a:xfrm flipV="1">
              <a:off x="2256" y="1392"/>
              <a:ext cx="144"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62" name="Line 18">
              <a:extLst>
                <a:ext uri="{FF2B5EF4-FFF2-40B4-BE49-F238E27FC236}">
                  <a16:creationId xmlns:a16="http://schemas.microsoft.com/office/drawing/2014/main" id="{D9C098C4-A7CE-406D-BA4D-4F6F6AC88B66}"/>
                </a:ext>
              </a:extLst>
            </p:cNvPr>
            <p:cNvSpPr>
              <a:spLocks noChangeShapeType="1"/>
            </p:cNvSpPr>
            <p:nvPr/>
          </p:nvSpPr>
          <p:spPr bwMode="auto">
            <a:xfrm flipV="1">
              <a:off x="2400" y="1296"/>
              <a:ext cx="86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63" name="Line 19">
              <a:extLst>
                <a:ext uri="{FF2B5EF4-FFF2-40B4-BE49-F238E27FC236}">
                  <a16:creationId xmlns:a16="http://schemas.microsoft.com/office/drawing/2014/main" id="{4EAC0F52-0A70-46C6-8267-55C2209166AF}"/>
                </a:ext>
              </a:extLst>
            </p:cNvPr>
            <p:cNvSpPr>
              <a:spLocks noChangeShapeType="1"/>
            </p:cNvSpPr>
            <p:nvPr/>
          </p:nvSpPr>
          <p:spPr bwMode="auto">
            <a:xfrm flipV="1">
              <a:off x="3264" y="1200"/>
              <a:ext cx="13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grpSp>
      <p:sp>
        <p:nvSpPr>
          <p:cNvPr id="69646" name="Line 20">
            <a:extLst>
              <a:ext uri="{FF2B5EF4-FFF2-40B4-BE49-F238E27FC236}">
                <a16:creationId xmlns:a16="http://schemas.microsoft.com/office/drawing/2014/main" id="{B2AD91A8-20C1-4816-94C0-DB3DC126957C}"/>
              </a:ext>
            </a:extLst>
          </p:cNvPr>
          <p:cNvSpPr>
            <a:spLocks noChangeShapeType="1"/>
          </p:cNvSpPr>
          <p:nvPr/>
        </p:nvSpPr>
        <p:spPr bwMode="auto">
          <a:xfrm flipV="1">
            <a:off x="1714500" y="2457450"/>
            <a:ext cx="285750" cy="97155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47" name="Line 21">
            <a:extLst>
              <a:ext uri="{FF2B5EF4-FFF2-40B4-BE49-F238E27FC236}">
                <a16:creationId xmlns:a16="http://schemas.microsoft.com/office/drawing/2014/main" id="{DC1EE3AF-0159-462E-A9A0-401974CF761D}"/>
              </a:ext>
            </a:extLst>
          </p:cNvPr>
          <p:cNvSpPr>
            <a:spLocks noChangeShapeType="1"/>
          </p:cNvSpPr>
          <p:nvPr/>
        </p:nvSpPr>
        <p:spPr bwMode="auto">
          <a:xfrm flipV="1">
            <a:off x="2000250" y="2228850"/>
            <a:ext cx="285750" cy="228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48" name="Line 22">
            <a:extLst>
              <a:ext uri="{FF2B5EF4-FFF2-40B4-BE49-F238E27FC236}">
                <a16:creationId xmlns:a16="http://schemas.microsoft.com/office/drawing/2014/main" id="{1148A17F-5B67-48F0-B55E-F27566DD54C2}"/>
              </a:ext>
            </a:extLst>
          </p:cNvPr>
          <p:cNvSpPr>
            <a:spLocks noChangeShapeType="1"/>
          </p:cNvSpPr>
          <p:nvPr/>
        </p:nvSpPr>
        <p:spPr bwMode="auto">
          <a:xfrm flipV="1">
            <a:off x="2286000" y="2057400"/>
            <a:ext cx="628650" cy="17145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49" name="Line 23">
            <a:extLst>
              <a:ext uri="{FF2B5EF4-FFF2-40B4-BE49-F238E27FC236}">
                <a16:creationId xmlns:a16="http://schemas.microsoft.com/office/drawing/2014/main" id="{32096789-3CAA-4419-97C1-3CAEBAF1D5E3}"/>
              </a:ext>
            </a:extLst>
          </p:cNvPr>
          <p:cNvSpPr>
            <a:spLocks noChangeShapeType="1"/>
          </p:cNvSpPr>
          <p:nvPr/>
        </p:nvSpPr>
        <p:spPr bwMode="auto">
          <a:xfrm flipV="1">
            <a:off x="4572000" y="2400300"/>
            <a:ext cx="62865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50" name="Line 24">
            <a:extLst>
              <a:ext uri="{FF2B5EF4-FFF2-40B4-BE49-F238E27FC236}">
                <a16:creationId xmlns:a16="http://schemas.microsoft.com/office/drawing/2014/main" id="{1637AF87-93C7-4E63-8108-B6B769402874}"/>
              </a:ext>
            </a:extLst>
          </p:cNvPr>
          <p:cNvSpPr>
            <a:spLocks noChangeShapeType="1"/>
          </p:cNvSpPr>
          <p:nvPr/>
        </p:nvSpPr>
        <p:spPr bwMode="auto">
          <a:xfrm>
            <a:off x="2914650" y="2057400"/>
            <a:ext cx="628650" cy="17145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51" name="Line 25">
            <a:extLst>
              <a:ext uri="{FF2B5EF4-FFF2-40B4-BE49-F238E27FC236}">
                <a16:creationId xmlns:a16="http://schemas.microsoft.com/office/drawing/2014/main" id="{2B722FB9-61FB-43D3-80F2-1A2C37CAF426}"/>
              </a:ext>
            </a:extLst>
          </p:cNvPr>
          <p:cNvSpPr>
            <a:spLocks noChangeShapeType="1"/>
          </p:cNvSpPr>
          <p:nvPr/>
        </p:nvSpPr>
        <p:spPr bwMode="auto">
          <a:xfrm flipV="1">
            <a:off x="3543300" y="2171700"/>
            <a:ext cx="285750" cy="5715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52" name="Line 26">
            <a:extLst>
              <a:ext uri="{FF2B5EF4-FFF2-40B4-BE49-F238E27FC236}">
                <a16:creationId xmlns:a16="http://schemas.microsoft.com/office/drawing/2014/main" id="{1021ACBF-D561-47BE-B5D4-B7447AFF0E90}"/>
              </a:ext>
            </a:extLst>
          </p:cNvPr>
          <p:cNvSpPr>
            <a:spLocks noChangeShapeType="1"/>
          </p:cNvSpPr>
          <p:nvPr/>
        </p:nvSpPr>
        <p:spPr bwMode="auto">
          <a:xfrm>
            <a:off x="3829050" y="2171700"/>
            <a:ext cx="742950" cy="228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53" name="Line 27">
            <a:extLst>
              <a:ext uri="{FF2B5EF4-FFF2-40B4-BE49-F238E27FC236}">
                <a16:creationId xmlns:a16="http://schemas.microsoft.com/office/drawing/2014/main" id="{D201F6BE-4E42-4C74-9A3E-CC66C77AFB2B}"/>
              </a:ext>
            </a:extLst>
          </p:cNvPr>
          <p:cNvSpPr>
            <a:spLocks noChangeShapeType="1"/>
          </p:cNvSpPr>
          <p:nvPr/>
        </p:nvSpPr>
        <p:spPr bwMode="auto">
          <a:xfrm>
            <a:off x="5200650" y="2400300"/>
            <a:ext cx="857250" cy="228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54" name="Line 28">
            <a:extLst>
              <a:ext uri="{FF2B5EF4-FFF2-40B4-BE49-F238E27FC236}">
                <a16:creationId xmlns:a16="http://schemas.microsoft.com/office/drawing/2014/main" id="{D56C9DBF-AE99-444C-AADC-12AED3EF4230}"/>
              </a:ext>
            </a:extLst>
          </p:cNvPr>
          <p:cNvSpPr>
            <a:spLocks noChangeShapeType="1"/>
          </p:cNvSpPr>
          <p:nvPr/>
        </p:nvSpPr>
        <p:spPr bwMode="auto">
          <a:xfrm>
            <a:off x="6057900" y="2628900"/>
            <a:ext cx="628650" cy="1143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69655" name="Text Box 29">
            <a:extLst>
              <a:ext uri="{FF2B5EF4-FFF2-40B4-BE49-F238E27FC236}">
                <a16:creationId xmlns:a16="http://schemas.microsoft.com/office/drawing/2014/main" id="{6858EB5A-B3FD-4A7B-906E-0671B1EA90D9}"/>
              </a:ext>
            </a:extLst>
          </p:cNvPr>
          <p:cNvSpPr txBox="1">
            <a:spLocks noChangeArrowheads="1"/>
          </p:cNvSpPr>
          <p:nvPr/>
        </p:nvSpPr>
        <p:spPr bwMode="auto">
          <a:xfrm>
            <a:off x="5772150" y="742951"/>
            <a:ext cx="130997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On training data</a:t>
            </a:r>
          </a:p>
          <a:p>
            <a:pPr eaLnBrk="1" hangingPunct="1">
              <a:spcBef>
                <a:spcPct val="0"/>
              </a:spcBef>
              <a:buFontTx/>
              <a:buNone/>
            </a:pPr>
            <a:r>
              <a:rPr lang="en-US" altLang="en-US" sz="1350">
                <a:solidFill>
                  <a:schemeClr val="accent2"/>
                </a:solidFill>
                <a:latin typeface="Times New Roman" panose="02020603050405020304" pitchFamily="18" charset="0"/>
              </a:rPr>
              <a:t>On test data</a:t>
            </a:r>
          </a:p>
        </p:txBody>
      </p:sp>
    </p:spTree>
  </p:cSld>
  <p:clrMapOvr>
    <a:masterClrMapping/>
  </p:clrMapOvr>
  <p:transition advClick="0" advTm="13000"/>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3355E-E59A-41DB-9E7E-EA01E9FBE997}"/>
              </a:ext>
            </a:extLst>
          </p:cNvPr>
          <p:cNvSpPr>
            <a:spLocks noGrp="1"/>
          </p:cNvSpPr>
          <p:nvPr>
            <p:ph type="title"/>
          </p:nvPr>
        </p:nvSpPr>
        <p:spPr>
          <a:xfrm>
            <a:off x="1295400" y="385953"/>
            <a:ext cx="6858000" cy="430887"/>
          </a:xfrm>
        </p:spPr>
        <p:txBody>
          <a:bodyPr/>
          <a:lstStyle/>
          <a:p>
            <a:pPr algn="ctr"/>
            <a:r>
              <a:rPr lang="en-US" dirty="0"/>
              <a:t>Underfitting and Overfitting</a:t>
            </a:r>
            <a:endParaRPr lang="en-IN" dirty="0"/>
          </a:p>
        </p:txBody>
      </p:sp>
      <p:sp>
        <p:nvSpPr>
          <p:cNvPr id="3" name="Text Placeholder 2">
            <a:extLst>
              <a:ext uri="{FF2B5EF4-FFF2-40B4-BE49-F238E27FC236}">
                <a16:creationId xmlns:a16="http://schemas.microsoft.com/office/drawing/2014/main" id="{F2F0286F-2311-45B5-AA3E-2C4F82A9F4EA}"/>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04F20B90-501C-4D53-AED5-A7DAC811D80D}"/>
              </a:ext>
            </a:extLst>
          </p:cNvPr>
          <p:cNvPicPr>
            <a:picLocks noChangeAspect="1"/>
          </p:cNvPicPr>
          <p:nvPr/>
        </p:nvPicPr>
        <p:blipFill>
          <a:blip r:embed="rId2"/>
          <a:stretch>
            <a:fillRect/>
          </a:stretch>
        </p:blipFill>
        <p:spPr>
          <a:xfrm>
            <a:off x="1124392" y="1047750"/>
            <a:ext cx="6895214" cy="3587645"/>
          </a:xfrm>
          <a:prstGeom prst="rect">
            <a:avLst/>
          </a:prstGeom>
        </p:spPr>
      </p:pic>
    </p:spTree>
    <p:extLst>
      <p:ext uri="{BB962C8B-B14F-4D97-AF65-F5344CB8AC3E}">
        <p14:creationId xmlns:p14="http://schemas.microsoft.com/office/powerpoint/2010/main" val="18001459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5A55C-0D3F-48E5-9969-65B9D1022C6D}"/>
              </a:ext>
            </a:extLst>
          </p:cNvPr>
          <p:cNvSpPr>
            <a:spLocks noGrp="1"/>
          </p:cNvSpPr>
          <p:nvPr>
            <p:ph type="title"/>
          </p:nvPr>
        </p:nvSpPr>
        <p:spPr>
          <a:xfrm>
            <a:off x="2590800" y="594696"/>
            <a:ext cx="4007611" cy="861774"/>
          </a:xfrm>
        </p:spPr>
        <p:txBody>
          <a:bodyPr/>
          <a:lstStyle/>
          <a:p>
            <a:r>
              <a:rPr lang="en-US" dirty="0"/>
              <a:t>Overfitting due to noise</a:t>
            </a:r>
            <a:endParaRPr lang="en-IN" dirty="0"/>
          </a:p>
        </p:txBody>
      </p:sp>
      <p:sp>
        <p:nvSpPr>
          <p:cNvPr id="3" name="Text Placeholder 2">
            <a:extLst>
              <a:ext uri="{FF2B5EF4-FFF2-40B4-BE49-F238E27FC236}">
                <a16:creationId xmlns:a16="http://schemas.microsoft.com/office/drawing/2014/main" id="{DAE0C5F8-B4FB-4CF0-B9A3-3B1E8D22B871}"/>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B0E8DBC3-C479-479A-8585-416BCE1AC798}"/>
              </a:ext>
            </a:extLst>
          </p:cNvPr>
          <p:cNvPicPr>
            <a:picLocks noChangeAspect="1"/>
          </p:cNvPicPr>
          <p:nvPr/>
        </p:nvPicPr>
        <p:blipFill>
          <a:blip r:embed="rId2"/>
          <a:stretch>
            <a:fillRect/>
          </a:stretch>
        </p:blipFill>
        <p:spPr>
          <a:xfrm>
            <a:off x="1905000" y="1216913"/>
            <a:ext cx="5110162" cy="3586327"/>
          </a:xfrm>
          <a:prstGeom prst="rect">
            <a:avLst/>
          </a:prstGeom>
        </p:spPr>
      </p:pic>
    </p:spTree>
    <p:extLst>
      <p:ext uri="{BB962C8B-B14F-4D97-AF65-F5344CB8AC3E}">
        <p14:creationId xmlns:p14="http://schemas.microsoft.com/office/powerpoint/2010/main" val="14475371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E280E-C6CC-49D0-998A-579180DEB5B1}"/>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728E5FF-E107-4A41-9712-638429FC7A7C}"/>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D54FE7E4-921F-4698-B11F-D91163B4F3E2}"/>
              </a:ext>
            </a:extLst>
          </p:cNvPr>
          <p:cNvPicPr>
            <a:picLocks noChangeAspect="1"/>
          </p:cNvPicPr>
          <p:nvPr/>
        </p:nvPicPr>
        <p:blipFill>
          <a:blip r:embed="rId2"/>
          <a:stretch>
            <a:fillRect/>
          </a:stretch>
        </p:blipFill>
        <p:spPr>
          <a:xfrm>
            <a:off x="1295400" y="663989"/>
            <a:ext cx="5943600" cy="4088685"/>
          </a:xfrm>
          <a:prstGeom prst="rect">
            <a:avLst/>
          </a:prstGeom>
        </p:spPr>
      </p:pic>
    </p:spTree>
    <p:extLst>
      <p:ext uri="{BB962C8B-B14F-4D97-AF65-F5344CB8AC3E}">
        <p14:creationId xmlns:p14="http://schemas.microsoft.com/office/powerpoint/2010/main" val="143062600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45E60-1F15-43C7-8E5B-4BA1B2E7A422}"/>
              </a:ext>
            </a:extLst>
          </p:cNvPr>
          <p:cNvSpPr>
            <a:spLocks noGrp="1"/>
          </p:cNvSpPr>
          <p:nvPr>
            <p:ph type="title"/>
          </p:nvPr>
        </p:nvSpPr>
        <p:spPr>
          <a:xfrm>
            <a:off x="1143000" y="385953"/>
            <a:ext cx="7086600" cy="430887"/>
          </a:xfrm>
        </p:spPr>
        <p:txBody>
          <a:bodyPr/>
          <a:lstStyle/>
          <a:p>
            <a:r>
              <a:rPr lang="en-US" dirty="0"/>
              <a:t>How to avoid overfitting in Decision trees</a:t>
            </a:r>
            <a:endParaRPr lang="en-IN" dirty="0"/>
          </a:p>
        </p:txBody>
      </p:sp>
      <p:sp>
        <p:nvSpPr>
          <p:cNvPr id="3" name="Text Placeholder 2">
            <a:extLst>
              <a:ext uri="{FF2B5EF4-FFF2-40B4-BE49-F238E27FC236}">
                <a16:creationId xmlns:a16="http://schemas.microsoft.com/office/drawing/2014/main" id="{517038F2-889A-4D13-B72D-2FBAC0ED385E}"/>
              </a:ext>
            </a:extLst>
          </p:cNvPr>
          <p:cNvSpPr>
            <a:spLocks noGrp="1"/>
          </p:cNvSpPr>
          <p:nvPr>
            <p:ph type="body" idx="1"/>
          </p:nvPr>
        </p:nvSpPr>
        <p:spPr>
          <a:xfrm>
            <a:off x="535940" y="1216913"/>
            <a:ext cx="8072119" cy="830997"/>
          </a:xfrm>
        </p:spPr>
        <p:txBody>
          <a:bodyPr/>
          <a:lstStyle/>
          <a:p>
            <a:r>
              <a:rPr lang="en-US" dirty="0"/>
              <a:t>There are two types of methods used to prevent overfitting.</a:t>
            </a:r>
          </a:p>
          <a:p>
            <a:endParaRPr lang="en-US" dirty="0"/>
          </a:p>
          <a:p>
            <a:r>
              <a:rPr lang="en-US" dirty="0"/>
              <a:t>Pre-pruning type of methods and post-pruning type of methods.</a:t>
            </a:r>
            <a:endParaRPr lang="en-IN" dirty="0"/>
          </a:p>
        </p:txBody>
      </p:sp>
    </p:spTree>
    <p:extLst>
      <p:ext uri="{BB962C8B-B14F-4D97-AF65-F5344CB8AC3E}">
        <p14:creationId xmlns:p14="http://schemas.microsoft.com/office/powerpoint/2010/main" val="17051592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2666" y="254260"/>
            <a:ext cx="5337734" cy="440505"/>
          </a:xfrm>
          <a:prstGeom prst="rect">
            <a:avLst/>
          </a:prstGeom>
        </p:spPr>
        <p:txBody>
          <a:bodyPr vert="horz" wrap="square" lIns="0" tIns="9525" rIns="0" bIns="0" rtlCol="0">
            <a:spAutoFit/>
          </a:bodyPr>
          <a:lstStyle/>
          <a:p>
            <a:pPr marL="9525">
              <a:spcBef>
                <a:spcPts val="75"/>
              </a:spcBef>
            </a:pPr>
            <a:r>
              <a:rPr spc="-4" dirty="0">
                <a:latin typeface="Times New Roman"/>
                <a:cs typeface="Times New Roman"/>
              </a:rPr>
              <a:t>Avoiding</a:t>
            </a:r>
            <a:r>
              <a:rPr spc="-53" dirty="0">
                <a:latin typeface="Times New Roman"/>
                <a:cs typeface="Times New Roman"/>
              </a:rPr>
              <a:t> </a:t>
            </a:r>
            <a:r>
              <a:rPr spc="-4" dirty="0">
                <a:latin typeface="Times New Roman"/>
                <a:cs typeface="Times New Roman"/>
              </a:rPr>
              <a:t>Overfitting</a:t>
            </a:r>
          </a:p>
        </p:txBody>
      </p:sp>
      <p:sp>
        <p:nvSpPr>
          <p:cNvPr id="4" name="object 4"/>
          <p:cNvSpPr txBox="1">
            <a:spLocks noGrp="1"/>
          </p:cNvSpPr>
          <p:nvPr>
            <p:ph type="sldNum" sz="quarter" idx="7"/>
          </p:nvPr>
        </p:nvSpPr>
        <p:spPr>
          <a:xfrm>
            <a:off x="7444168" y="3622529"/>
            <a:ext cx="173831" cy="309957"/>
          </a:xfrm>
          <a:prstGeom prst="rect">
            <a:avLst/>
          </a:prstGeom>
        </p:spPr>
        <p:txBody>
          <a:bodyPr vert="horz" wrap="square" lIns="0" tIns="0" rIns="0" bIns="0" rtlCol="0">
            <a:spAutoFit/>
          </a:bodyPr>
          <a:lstStyle/>
          <a:p>
            <a:pPr marL="28575">
              <a:lnSpc>
                <a:spcPts val="1223"/>
              </a:lnSpc>
            </a:pPr>
            <a:fld id="{81D60167-4931-47E6-BA6A-407CBD079E47}" type="slidenum">
              <a:rPr dirty="0"/>
              <a:pPr marL="28575">
                <a:lnSpc>
                  <a:spcPts val="1223"/>
                </a:lnSpc>
              </a:pPr>
              <a:t>80</a:t>
            </a:fld>
            <a:endParaRPr dirty="0"/>
          </a:p>
        </p:txBody>
      </p:sp>
      <p:sp>
        <p:nvSpPr>
          <p:cNvPr id="3" name="object 3"/>
          <p:cNvSpPr txBox="1"/>
          <p:nvPr/>
        </p:nvSpPr>
        <p:spPr>
          <a:xfrm>
            <a:off x="1536316" y="978942"/>
            <a:ext cx="5939313" cy="3477940"/>
          </a:xfrm>
          <a:prstGeom prst="rect">
            <a:avLst/>
          </a:prstGeom>
        </p:spPr>
        <p:txBody>
          <a:bodyPr vert="horz" wrap="square" lIns="0" tIns="9525" rIns="0" bIns="0" rtlCol="0">
            <a:spAutoFit/>
          </a:bodyPr>
          <a:lstStyle/>
          <a:p>
            <a:pPr marL="123825" indent="-114776">
              <a:spcBef>
                <a:spcPts val="75"/>
              </a:spcBef>
              <a:buClr>
                <a:srgbClr val="000000"/>
              </a:buClr>
              <a:buFont typeface="Arial MT"/>
              <a:buChar char="•"/>
              <a:tabLst>
                <a:tab pos="124301" algn="l"/>
              </a:tabLst>
            </a:pPr>
            <a:r>
              <a:rPr sz="1500" dirty="0">
                <a:solidFill>
                  <a:srgbClr val="000066"/>
                </a:solidFill>
                <a:latin typeface="Times New Roman"/>
                <a:cs typeface="Times New Roman"/>
              </a:rPr>
              <a:t>Two</a:t>
            </a:r>
            <a:r>
              <a:rPr sz="1500" spc="-8" dirty="0">
                <a:solidFill>
                  <a:srgbClr val="000066"/>
                </a:solidFill>
                <a:latin typeface="Times New Roman"/>
                <a:cs typeface="Times New Roman"/>
              </a:rPr>
              <a:t> </a:t>
            </a:r>
            <a:r>
              <a:rPr sz="1500" spc="-4" dirty="0">
                <a:solidFill>
                  <a:srgbClr val="000066"/>
                </a:solidFill>
                <a:latin typeface="Times New Roman"/>
                <a:cs typeface="Times New Roman"/>
              </a:rPr>
              <a:t>basic</a:t>
            </a:r>
            <a:r>
              <a:rPr sz="1500" spc="-11" dirty="0">
                <a:solidFill>
                  <a:srgbClr val="000066"/>
                </a:solidFill>
                <a:latin typeface="Times New Roman"/>
                <a:cs typeface="Times New Roman"/>
              </a:rPr>
              <a:t> </a:t>
            </a:r>
            <a:r>
              <a:rPr sz="1500" dirty="0">
                <a:solidFill>
                  <a:srgbClr val="000066"/>
                </a:solidFill>
                <a:latin typeface="Times New Roman"/>
                <a:cs typeface="Times New Roman"/>
              </a:rPr>
              <a:t>approaches</a:t>
            </a:r>
            <a:endParaRPr sz="1500">
              <a:latin typeface="Times New Roman"/>
              <a:cs typeface="Times New Roman"/>
            </a:endParaRPr>
          </a:p>
          <a:p>
            <a:pPr marL="393859" marR="1055846" lvl="1" indent="-144780">
              <a:buClr>
                <a:srgbClr val="000066"/>
              </a:buClr>
              <a:buChar char="-"/>
              <a:tabLst>
                <a:tab pos="410051" algn="l"/>
                <a:tab pos="410528" algn="l"/>
                <a:tab pos="1410176" algn="l"/>
              </a:tabLst>
            </a:pPr>
            <a:r>
              <a:rPr sz="1500" dirty="0">
                <a:solidFill>
                  <a:srgbClr val="0000FF"/>
                </a:solidFill>
                <a:latin typeface="Times New Roman"/>
                <a:cs typeface="Times New Roman"/>
              </a:rPr>
              <a:t>Prepruning:	</a:t>
            </a:r>
            <a:r>
              <a:rPr sz="1500" spc="-4" dirty="0">
                <a:solidFill>
                  <a:srgbClr val="000066"/>
                </a:solidFill>
                <a:latin typeface="Times New Roman"/>
                <a:cs typeface="Times New Roman"/>
              </a:rPr>
              <a:t>Stop</a:t>
            </a:r>
            <a:r>
              <a:rPr sz="1500" spc="8" dirty="0">
                <a:solidFill>
                  <a:srgbClr val="000066"/>
                </a:solidFill>
                <a:latin typeface="Times New Roman"/>
                <a:cs typeface="Times New Roman"/>
              </a:rPr>
              <a:t> </a:t>
            </a:r>
            <a:r>
              <a:rPr sz="1500" dirty="0">
                <a:solidFill>
                  <a:srgbClr val="000066"/>
                </a:solidFill>
                <a:latin typeface="Times New Roman"/>
                <a:cs typeface="Times New Roman"/>
              </a:rPr>
              <a:t>growing</a:t>
            </a:r>
            <a:r>
              <a:rPr sz="1500" spc="4" dirty="0">
                <a:solidFill>
                  <a:srgbClr val="000066"/>
                </a:solidFill>
                <a:latin typeface="Times New Roman"/>
                <a:cs typeface="Times New Roman"/>
              </a:rPr>
              <a:t> </a:t>
            </a:r>
            <a:r>
              <a:rPr sz="1500" spc="-4" dirty="0">
                <a:solidFill>
                  <a:srgbClr val="000066"/>
                </a:solidFill>
                <a:latin typeface="Times New Roman"/>
                <a:cs typeface="Times New Roman"/>
              </a:rPr>
              <a:t>the tree</a:t>
            </a:r>
            <a:r>
              <a:rPr sz="1500" dirty="0">
                <a:solidFill>
                  <a:srgbClr val="000066"/>
                </a:solidFill>
                <a:latin typeface="Times New Roman"/>
                <a:cs typeface="Times New Roman"/>
              </a:rPr>
              <a:t> at some</a:t>
            </a:r>
            <a:r>
              <a:rPr sz="1500" spc="-4" dirty="0">
                <a:solidFill>
                  <a:srgbClr val="000066"/>
                </a:solidFill>
                <a:latin typeface="Times New Roman"/>
                <a:cs typeface="Times New Roman"/>
              </a:rPr>
              <a:t> </a:t>
            </a:r>
            <a:r>
              <a:rPr sz="1500" dirty="0">
                <a:solidFill>
                  <a:srgbClr val="000066"/>
                </a:solidFill>
                <a:latin typeface="Times New Roman"/>
                <a:cs typeface="Times New Roman"/>
              </a:rPr>
              <a:t>point during </a:t>
            </a:r>
            <a:r>
              <a:rPr sz="1500" spc="4" dirty="0">
                <a:solidFill>
                  <a:srgbClr val="000066"/>
                </a:solidFill>
                <a:latin typeface="Times New Roman"/>
                <a:cs typeface="Times New Roman"/>
              </a:rPr>
              <a:t> </a:t>
            </a:r>
            <a:r>
              <a:rPr sz="1500" spc="-4" dirty="0">
                <a:solidFill>
                  <a:srgbClr val="000066"/>
                </a:solidFill>
                <a:latin typeface="Times New Roman"/>
                <a:cs typeface="Times New Roman"/>
              </a:rPr>
              <a:t>construction</a:t>
            </a:r>
            <a:r>
              <a:rPr sz="1500" spc="8" dirty="0">
                <a:solidFill>
                  <a:srgbClr val="000066"/>
                </a:solidFill>
                <a:latin typeface="Times New Roman"/>
                <a:cs typeface="Times New Roman"/>
              </a:rPr>
              <a:t> </a:t>
            </a:r>
            <a:r>
              <a:rPr sz="1500" dirty="0">
                <a:solidFill>
                  <a:srgbClr val="000066"/>
                </a:solidFill>
                <a:latin typeface="Times New Roman"/>
                <a:cs typeface="Times New Roman"/>
              </a:rPr>
              <a:t>when</a:t>
            </a:r>
            <a:r>
              <a:rPr sz="1500" spc="8" dirty="0">
                <a:solidFill>
                  <a:srgbClr val="000066"/>
                </a:solidFill>
                <a:latin typeface="Times New Roman"/>
                <a:cs typeface="Times New Roman"/>
              </a:rPr>
              <a:t> </a:t>
            </a:r>
            <a:r>
              <a:rPr sz="1500" dirty="0">
                <a:solidFill>
                  <a:srgbClr val="000066"/>
                </a:solidFill>
                <a:latin typeface="Times New Roman"/>
                <a:cs typeface="Times New Roman"/>
              </a:rPr>
              <a:t>it</a:t>
            </a:r>
            <a:r>
              <a:rPr sz="1500" spc="-4" dirty="0">
                <a:solidFill>
                  <a:srgbClr val="000066"/>
                </a:solidFill>
                <a:latin typeface="Times New Roman"/>
                <a:cs typeface="Times New Roman"/>
              </a:rPr>
              <a:t> is</a:t>
            </a:r>
            <a:r>
              <a:rPr sz="1500" spc="8" dirty="0">
                <a:solidFill>
                  <a:srgbClr val="000066"/>
                </a:solidFill>
                <a:latin typeface="Times New Roman"/>
                <a:cs typeface="Times New Roman"/>
              </a:rPr>
              <a:t> </a:t>
            </a:r>
            <a:r>
              <a:rPr sz="1500" spc="-4" dirty="0">
                <a:solidFill>
                  <a:srgbClr val="000066"/>
                </a:solidFill>
                <a:latin typeface="Times New Roman"/>
                <a:cs typeface="Times New Roman"/>
              </a:rPr>
              <a:t>determined</a:t>
            </a:r>
            <a:r>
              <a:rPr sz="1500" spc="15" dirty="0">
                <a:solidFill>
                  <a:srgbClr val="000066"/>
                </a:solidFill>
                <a:latin typeface="Times New Roman"/>
                <a:cs typeface="Times New Roman"/>
              </a:rPr>
              <a:t> </a:t>
            </a:r>
            <a:r>
              <a:rPr sz="1500" spc="-4" dirty="0">
                <a:solidFill>
                  <a:srgbClr val="000066"/>
                </a:solidFill>
                <a:latin typeface="Times New Roman"/>
                <a:cs typeface="Times New Roman"/>
              </a:rPr>
              <a:t>that</a:t>
            </a:r>
            <a:r>
              <a:rPr sz="1500" spc="4" dirty="0">
                <a:solidFill>
                  <a:srgbClr val="000066"/>
                </a:solidFill>
                <a:latin typeface="Times New Roman"/>
                <a:cs typeface="Times New Roman"/>
              </a:rPr>
              <a:t> </a:t>
            </a:r>
            <a:r>
              <a:rPr sz="1500" spc="-4" dirty="0">
                <a:solidFill>
                  <a:srgbClr val="000066"/>
                </a:solidFill>
                <a:latin typeface="Times New Roman"/>
                <a:cs typeface="Times New Roman"/>
              </a:rPr>
              <a:t>there</a:t>
            </a:r>
            <a:r>
              <a:rPr sz="1500" spc="4" dirty="0">
                <a:solidFill>
                  <a:srgbClr val="000066"/>
                </a:solidFill>
                <a:latin typeface="Times New Roman"/>
                <a:cs typeface="Times New Roman"/>
              </a:rPr>
              <a:t> </a:t>
            </a:r>
            <a:r>
              <a:rPr sz="1500" spc="-4" dirty="0">
                <a:solidFill>
                  <a:srgbClr val="000066"/>
                </a:solidFill>
                <a:latin typeface="Times New Roman"/>
                <a:cs typeface="Times New Roman"/>
              </a:rPr>
              <a:t>is</a:t>
            </a:r>
            <a:r>
              <a:rPr sz="1500" spc="11" dirty="0">
                <a:solidFill>
                  <a:srgbClr val="000066"/>
                </a:solidFill>
                <a:latin typeface="Times New Roman"/>
                <a:cs typeface="Times New Roman"/>
              </a:rPr>
              <a:t> </a:t>
            </a:r>
            <a:r>
              <a:rPr sz="1500" dirty="0">
                <a:solidFill>
                  <a:srgbClr val="000066"/>
                </a:solidFill>
                <a:latin typeface="Times New Roman"/>
                <a:cs typeface="Times New Roman"/>
              </a:rPr>
              <a:t>not</a:t>
            </a:r>
            <a:r>
              <a:rPr sz="1500" spc="4" dirty="0">
                <a:solidFill>
                  <a:srgbClr val="000066"/>
                </a:solidFill>
                <a:latin typeface="Times New Roman"/>
                <a:cs typeface="Times New Roman"/>
              </a:rPr>
              <a:t> </a:t>
            </a:r>
            <a:r>
              <a:rPr sz="1500" dirty="0">
                <a:solidFill>
                  <a:srgbClr val="000066"/>
                </a:solidFill>
                <a:latin typeface="Times New Roman"/>
                <a:cs typeface="Times New Roman"/>
              </a:rPr>
              <a:t>enough </a:t>
            </a:r>
            <a:r>
              <a:rPr sz="1500" spc="-363" dirty="0">
                <a:solidFill>
                  <a:srgbClr val="000066"/>
                </a:solidFill>
                <a:latin typeface="Times New Roman"/>
                <a:cs typeface="Times New Roman"/>
              </a:rPr>
              <a:t> </a:t>
            </a:r>
            <a:r>
              <a:rPr sz="1500" spc="-4" dirty="0">
                <a:solidFill>
                  <a:srgbClr val="000066"/>
                </a:solidFill>
                <a:latin typeface="Times New Roman"/>
                <a:cs typeface="Times New Roman"/>
              </a:rPr>
              <a:t>data</a:t>
            </a:r>
            <a:r>
              <a:rPr sz="1500" dirty="0">
                <a:solidFill>
                  <a:srgbClr val="000066"/>
                </a:solidFill>
                <a:latin typeface="Times New Roman"/>
                <a:cs typeface="Times New Roman"/>
              </a:rPr>
              <a:t> </a:t>
            </a:r>
            <a:r>
              <a:rPr sz="1500" spc="-4" dirty="0">
                <a:solidFill>
                  <a:srgbClr val="000066"/>
                </a:solidFill>
                <a:latin typeface="Times New Roman"/>
                <a:cs typeface="Times New Roman"/>
              </a:rPr>
              <a:t>to</a:t>
            </a:r>
            <a:r>
              <a:rPr sz="1500" spc="4" dirty="0">
                <a:solidFill>
                  <a:srgbClr val="000066"/>
                </a:solidFill>
                <a:latin typeface="Times New Roman"/>
                <a:cs typeface="Times New Roman"/>
              </a:rPr>
              <a:t> </a:t>
            </a:r>
            <a:r>
              <a:rPr sz="1500" dirty="0">
                <a:solidFill>
                  <a:srgbClr val="000066"/>
                </a:solidFill>
                <a:latin typeface="Times New Roman"/>
                <a:cs typeface="Times New Roman"/>
              </a:rPr>
              <a:t>make </a:t>
            </a:r>
            <a:r>
              <a:rPr sz="1500" spc="-4" dirty="0">
                <a:solidFill>
                  <a:srgbClr val="000066"/>
                </a:solidFill>
                <a:latin typeface="Times New Roman"/>
                <a:cs typeface="Times New Roman"/>
              </a:rPr>
              <a:t>reliable</a:t>
            </a:r>
            <a:r>
              <a:rPr sz="1500" dirty="0">
                <a:solidFill>
                  <a:srgbClr val="000066"/>
                </a:solidFill>
                <a:latin typeface="Times New Roman"/>
                <a:cs typeface="Times New Roman"/>
              </a:rPr>
              <a:t> </a:t>
            </a:r>
            <a:r>
              <a:rPr sz="1500" spc="-4" dirty="0">
                <a:solidFill>
                  <a:srgbClr val="000066"/>
                </a:solidFill>
                <a:latin typeface="Times New Roman"/>
                <a:cs typeface="Times New Roman"/>
              </a:rPr>
              <a:t>choices.</a:t>
            </a:r>
            <a:endParaRPr sz="1500">
              <a:latin typeface="Times New Roman"/>
              <a:cs typeface="Times New Roman"/>
            </a:endParaRPr>
          </a:p>
          <a:p>
            <a:pPr marL="393859" marR="1170146" lvl="1" indent="-144780">
              <a:spcBef>
                <a:spcPts val="8"/>
              </a:spcBef>
              <a:buClr>
                <a:srgbClr val="000066"/>
              </a:buClr>
              <a:buChar char="-"/>
              <a:tabLst>
                <a:tab pos="410051" algn="l"/>
                <a:tab pos="410528" algn="l"/>
                <a:tab pos="1484471" algn="l"/>
              </a:tabLst>
            </a:pPr>
            <a:r>
              <a:rPr sz="1500" dirty="0">
                <a:solidFill>
                  <a:srgbClr val="0000FF"/>
                </a:solidFill>
                <a:latin typeface="Times New Roman"/>
                <a:cs typeface="Times New Roman"/>
              </a:rPr>
              <a:t>Postpruning:	</a:t>
            </a:r>
            <a:r>
              <a:rPr sz="1500" dirty="0">
                <a:solidFill>
                  <a:srgbClr val="000066"/>
                </a:solidFill>
                <a:latin typeface="Times New Roman"/>
                <a:cs typeface="Times New Roman"/>
              </a:rPr>
              <a:t>Grow</a:t>
            </a:r>
            <a:r>
              <a:rPr sz="1500" spc="4" dirty="0">
                <a:solidFill>
                  <a:srgbClr val="000066"/>
                </a:solidFill>
                <a:latin typeface="Times New Roman"/>
                <a:cs typeface="Times New Roman"/>
              </a:rPr>
              <a:t> </a:t>
            </a:r>
            <a:r>
              <a:rPr sz="1500" spc="-4" dirty="0">
                <a:solidFill>
                  <a:srgbClr val="000066"/>
                </a:solidFill>
                <a:latin typeface="Times New Roman"/>
                <a:cs typeface="Times New Roman"/>
              </a:rPr>
              <a:t>the</a:t>
            </a:r>
            <a:r>
              <a:rPr sz="1500" dirty="0">
                <a:solidFill>
                  <a:srgbClr val="000066"/>
                </a:solidFill>
                <a:latin typeface="Times New Roman"/>
                <a:cs typeface="Times New Roman"/>
              </a:rPr>
              <a:t> </a:t>
            </a:r>
            <a:r>
              <a:rPr sz="1500" spc="-4" dirty="0">
                <a:solidFill>
                  <a:srgbClr val="000066"/>
                </a:solidFill>
                <a:latin typeface="Times New Roman"/>
                <a:cs typeface="Times New Roman"/>
              </a:rPr>
              <a:t>full</a:t>
            </a:r>
            <a:r>
              <a:rPr sz="1500" dirty="0">
                <a:solidFill>
                  <a:srgbClr val="000066"/>
                </a:solidFill>
                <a:latin typeface="Times New Roman"/>
                <a:cs typeface="Times New Roman"/>
              </a:rPr>
              <a:t> </a:t>
            </a:r>
            <a:r>
              <a:rPr sz="1500" spc="-4" dirty="0">
                <a:solidFill>
                  <a:srgbClr val="000066"/>
                </a:solidFill>
                <a:latin typeface="Times New Roman"/>
                <a:cs typeface="Times New Roman"/>
              </a:rPr>
              <a:t>tree</a:t>
            </a:r>
            <a:r>
              <a:rPr sz="1500" dirty="0">
                <a:solidFill>
                  <a:srgbClr val="000066"/>
                </a:solidFill>
                <a:latin typeface="Times New Roman"/>
                <a:cs typeface="Times New Roman"/>
              </a:rPr>
              <a:t> and</a:t>
            </a:r>
            <a:r>
              <a:rPr sz="1500" spc="4" dirty="0">
                <a:solidFill>
                  <a:srgbClr val="000066"/>
                </a:solidFill>
                <a:latin typeface="Times New Roman"/>
                <a:cs typeface="Times New Roman"/>
              </a:rPr>
              <a:t> </a:t>
            </a:r>
            <a:r>
              <a:rPr sz="1500" spc="-4" dirty="0">
                <a:solidFill>
                  <a:srgbClr val="000066"/>
                </a:solidFill>
                <a:latin typeface="Times New Roman"/>
                <a:cs typeface="Times New Roman"/>
              </a:rPr>
              <a:t>then</a:t>
            </a:r>
            <a:r>
              <a:rPr sz="1500" spc="4" dirty="0">
                <a:solidFill>
                  <a:srgbClr val="000066"/>
                </a:solidFill>
                <a:latin typeface="Times New Roman"/>
                <a:cs typeface="Times New Roman"/>
              </a:rPr>
              <a:t> </a:t>
            </a:r>
            <a:r>
              <a:rPr sz="1500" dirty="0">
                <a:solidFill>
                  <a:srgbClr val="000066"/>
                </a:solidFill>
                <a:latin typeface="Times New Roman"/>
                <a:cs typeface="Times New Roman"/>
              </a:rPr>
              <a:t>remove nodes </a:t>
            </a:r>
            <a:r>
              <a:rPr sz="1500" spc="4" dirty="0">
                <a:solidFill>
                  <a:srgbClr val="000066"/>
                </a:solidFill>
                <a:latin typeface="Times New Roman"/>
                <a:cs typeface="Times New Roman"/>
              </a:rPr>
              <a:t> </a:t>
            </a:r>
            <a:r>
              <a:rPr sz="1500" spc="-4" dirty="0">
                <a:solidFill>
                  <a:srgbClr val="000066"/>
                </a:solidFill>
                <a:latin typeface="Times New Roman"/>
                <a:cs typeface="Times New Roman"/>
              </a:rPr>
              <a:t>that</a:t>
            </a:r>
            <a:r>
              <a:rPr sz="1500" dirty="0">
                <a:solidFill>
                  <a:srgbClr val="000066"/>
                </a:solidFill>
                <a:latin typeface="Times New Roman"/>
                <a:cs typeface="Times New Roman"/>
              </a:rPr>
              <a:t> </a:t>
            </a:r>
            <a:r>
              <a:rPr sz="1500" spc="-4" dirty="0">
                <a:solidFill>
                  <a:srgbClr val="000066"/>
                </a:solidFill>
                <a:latin typeface="Times New Roman"/>
                <a:cs typeface="Times New Roman"/>
              </a:rPr>
              <a:t>seem</a:t>
            </a:r>
            <a:r>
              <a:rPr sz="1500" spc="4" dirty="0">
                <a:solidFill>
                  <a:srgbClr val="000066"/>
                </a:solidFill>
                <a:latin typeface="Times New Roman"/>
                <a:cs typeface="Times New Roman"/>
              </a:rPr>
              <a:t> </a:t>
            </a:r>
            <a:r>
              <a:rPr sz="1500" dirty="0">
                <a:solidFill>
                  <a:srgbClr val="000066"/>
                </a:solidFill>
                <a:latin typeface="Times New Roman"/>
                <a:cs typeface="Times New Roman"/>
              </a:rPr>
              <a:t>not</a:t>
            </a:r>
            <a:r>
              <a:rPr sz="1500" spc="-4" dirty="0">
                <a:solidFill>
                  <a:srgbClr val="000066"/>
                </a:solidFill>
                <a:latin typeface="Times New Roman"/>
                <a:cs typeface="Times New Roman"/>
              </a:rPr>
              <a:t> to</a:t>
            </a:r>
            <a:r>
              <a:rPr sz="1500" spc="15" dirty="0">
                <a:solidFill>
                  <a:srgbClr val="000066"/>
                </a:solidFill>
                <a:latin typeface="Times New Roman"/>
                <a:cs typeface="Times New Roman"/>
              </a:rPr>
              <a:t> </a:t>
            </a:r>
            <a:r>
              <a:rPr sz="1500" dirty="0">
                <a:solidFill>
                  <a:srgbClr val="000066"/>
                </a:solidFill>
                <a:latin typeface="Times New Roman"/>
                <a:cs typeface="Times New Roman"/>
              </a:rPr>
              <a:t>have </a:t>
            </a:r>
            <a:r>
              <a:rPr sz="1500" spc="-4" dirty="0">
                <a:solidFill>
                  <a:srgbClr val="000066"/>
                </a:solidFill>
                <a:latin typeface="Times New Roman"/>
                <a:cs typeface="Times New Roman"/>
              </a:rPr>
              <a:t>sufficient</a:t>
            </a:r>
            <a:r>
              <a:rPr sz="1500" spc="4" dirty="0">
                <a:solidFill>
                  <a:srgbClr val="000066"/>
                </a:solidFill>
                <a:latin typeface="Times New Roman"/>
                <a:cs typeface="Times New Roman"/>
              </a:rPr>
              <a:t> </a:t>
            </a:r>
            <a:r>
              <a:rPr sz="1500" dirty="0">
                <a:solidFill>
                  <a:srgbClr val="000066"/>
                </a:solidFill>
                <a:latin typeface="Times New Roman"/>
                <a:cs typeface="Times New Roman"/>
              </a:rPr>
              <a:t>evidence.</a:t>
            </a:r>
            <a:r>
              <a:rPr sz="1500" spc="23" dirty="0">
                <a:solidFill>
                  <a:srgbClr val="000066"/>
                </a:solidFill>
                <a:latin typeface="Times New Roman"/>
                <a:cs typeface="Times New Roman"/>
              </a:rPr>
              <a:t> </a:t>
            </a:r>
            <a:r>
              <a:rPr sz="1500" dirty="0">
                <a:solidFill>
                  <a:srgbClr val="0000CC"/>
                </a:solidFill>
                <a:latin typeface="Times New Roman"/>
                <a:cs typeface="Times New Roman"/>
              </a:rPr>
              <a:t>(more</a:t>
            </a:r>
            <a:r>
              <a:rPr sz="1500" spc="4" dirty="0">
                <a:solidFill>
                  <a:srgbClr val="0000CC"/>
                </a:solidFill>
                <a:latin typeface="Times New Roman"/>
                <a:cs typeface="Times New Roman"/>
              </a:rPr>
              <a:t> </a:t>
            </a:r>
            <a:r>
              <a:rPr sz="1500" dirty="0">
                <a:solidFill>
                  <a:srgbClr val="0000CC"/>
                </a:solidFill>
                <a:latin typeface="Times New Roman"/>
                <a:cs typeface="Times New Roman"/>
              </a:rPr>
              <a:t>popular)</a:t>
            </a:r>
            <a:endParaRPr sz="1500">
              <a:latin typeface="Times New Roman"/>
              <a:cs typeface="Times New Roman"/>
            </a:endParaRPr>
          </a:p>
          <a:p>
            <a:pPr lvl="1">
              <a:spcBef>
                <a:spcPts val="34"/>
              </a:spcBef>
              <a:buClr>
                <a:srgbClr val="000066"/>
              </a:buClr>
              <a:buFont typeface="Times New Roman"/>
              <a:buChar char="-"/>
            </a:pPr>
            <a:endParaRPr sz="1538">
              <a:latin typeface="Times New Roman"/>
              <a:cs typeface="Times New Roman"/>
            </a:endParaRPr>
          </a:p>
          <a:p>
            <a:pPr marL="123825" indent="-114776">
              <a:lnSpc>
                <a:spcPts val="1800"/>
              </a:lnSpc>
              <a:buFont typeface="Arial MT"/>
              <a:buChar char="•"/>
              <a:tabLst>
                <a:tab pos="124301" algn="l"/>
              </a:tabLst>
            </a:pPr>
            <a:r>
              <a:rPr sz="1500" spc="-4" dirty="0">
                <a:solidFill>
                  <a:srgbClr val="000066"/>
                </a:solidFill>
                <a:latin typeface="Times New Roman"/>
                <a:cs typeface="Times New Roman"/>
              </a:rPr>
              <a:t>Methods</a:t>
            </a:r>
            <a:r>
              <a:rPr sz="1500" spc="8" dirty="0">
                <a:solidFill>
                  <a:srgbClr val="000066"/>
                </a:solidFill>
                <a:latin typeface="Times New Roman"/>
                <a:cs typeface="Times New Roman"/>
              </a:rPr>
              <a:t> </a:t>
            </a:r>
            <a:r>
              <a:rPr sz="1500" dirty="0">
                <a:solidFill>
                  <a:srgbClr val="000066"/>
                </a:solidFill>
                <a:latin typeface="Times New Roman"/>
                <a:cs typeface="Times New Roman"/>
              </a:rPr>
              <a:t>for </a:t>
            </a:r>
            <a:r>
              <a:rPr sz="1500" spc="-4" dirty="0">
                <a:solidFill>
                  <a:srgbClr val="000066"/>
                </a:solidFill>
                <a:latin typeface="Times New Roman"/>
                <a:cs typeface="Times New Roman"/>
              </a:rPr>
              <a:t>evaluating</a:t>
            </a:r>
            <a:r>
              <a:rPr sz="1500" spc="4" dirty="0">
                <a:solidFill>
                  <a:srgbClr val="000066"/>
                </a:solidFill>
                <a:latin typeface="Times New Roman"/>
                <a:cs typeface="Times New Roman"/>
              </a:rPr>
              <a:t> </a:t>
            </a:r>
            <a:r>
              <a:rPr sz="1500" dirty="0">
                <a:solidFill>
                  <a:srgbClr val="000066"/>
                </a:solidFill>
                <a:latin typeface="Times New Roman"/>
                <a:cs typeface="Times New Roman"/>
              </a:rPr>
              <a:t>subtrees </a:t>
            </a:r>
            <a:r>
              <a:rPr sz="1500" spc="-4" dirty="0">
                <a:solidFill>
                  <a:srgbClr val="000066"/>
                </a:solidFill>
                <a:latin typeface="Times New Roman"/>
                <a:cs typeface="Times New Roman"/>
              </a:rPr>
              <a:t>to</a:t>
            </a:r>
            <a:r>
              <a:rPr sz="1500" spc="4" dirty="0">
                <a:solidFill>
                  <a:srgbClr val="000066"/>
                </a:solidFill>
                <a:latin typeface="Times New Roman"/>
                <a:cs typeface="Times New Roman"/>
              </a:rPr>
              <a:t> </a:t>
            </a:r>
            <a:r>
              <a:rPr sz="1500" dirty="0">
                <a:solidFill>
                  <a:srgbClr val="000066"/>
                </a:solidFill>
                <a:latin typeface="Times New Roman"/>
                <a:cs typeface="Times New Roman"/>
              </a:rPr>
              <a:t>prune:</a:t>
            </a:r>
            <a:endParaRPr sz="1500">
              <a:latin typeface="Times New Roman"/>
              <a:cs typeface="Times New Roman"/>
            </a:endParaRPr>
          </a:p>
          <a:p>
            <a:pPr marL="410051" lvl="1" indent="-161449">
              <a:buClr>
                <a:srgbClr val="000066"/>
              </a:buClr>
              <a:buChar char="-"/>
              <a:tabLst>
                <a:tab pos="410051" algn="l"/>
                <a:tab pos="410528" algn="l"/>
              </a:tabLst>
            </a:pPr>
            <a:r>
              <a:rPr sz="1500" spc="-4" dirty="0">
                <a:solidFill>
                  <a:srgbClr val="0000FF"/>
                </a:solidFill>
                <a:latin typeface="Times New Roman"/>
                <a:cs typeface="Times New Roman"/>
              </a:rPr>
              <a:t>Cross-validation:</a:t>
            </a:r>
            <a:r>
              <a:rPr sz="1500" spc="11" dirty="0">
                <a:solidFill>
                  <a:srgbClr val="0000FF"/>
                </a:solidFill>
                <a:latin typeface="Times New Roman"/>
                <a:cs typeface="Times New Roman"/>
              </a:rPr>
              <a:t> </a:t>
            </a:r>
            <a:r>
              <a:rPr sz="1500" spc="-4" dirty="0">
                <a:solidFill>
                  <a:srgbClr val="000066"/>
                </a:solidFill>
                <a:latin typeface="Times New Roman"/>
                <a:cs typeface="Times New Roman"/>
              </a:rPr>
              <a:t>Reserve</a:t>
            </a:r>
            <a:r>
              <a:rPr sz="1500" spc="11" dirty="0">
                <a:solidFill>
                  <a:srgbClr val="000066"/>
                </a:solidFill>
                <a:latin typeface="Times New Roman"/>
                <a:cs typeface="Times New Roman"/>
              </a:rPr>
              <a:t> </a:t>
            </a:r>
            <a:r>
              <a:rPr sz="1500" dirty="0">
                <a:solidFill>
                  <a:srgbClr val="000066"/>
                </a:solidFill>
                <a:latin typeface="Times New Roman"/>
                <a:cs typeface="Times New Roman"/>
              </a:rPr>
              <a:t>hold-out </a:t>
            </a:r>
            <a:r>
              <a:rPr sz="1500" spc="-4" dirty="0">
                <a:solidFill>
                  <a:srgbClr val="000066"/>
                </a:solidFill>
                <a:latin typeface="Times New Roman"/>
                <a:cs typeface="Times New Roman"/>
              </a:rPr>
              <a:t>set</a:t>
            </a:r>
            <a:r>
              <a:rPr sz="1500" spc="11" dirty="0">
                <a:solidFill>
                  <a:srgbClr val="000066"/>
                </a:solidFill>
                <a:latin typeface="Times New Roman"/>
                <a:cs typeface="Times New Roman"/>
              </a:rPr>
              <a:t> </a:t>
            </a:r>
            <a:r>
              <a:rPr sz="1500" spc="-4" dirty="0">
                <a:solidFill>
                  <a:srgbClr val="000066"/>
                </a:solidFill>
                <a:latin typeface="Times New Roman"/>
                <a:cs typeface="Times New Roman"/>
              </a:rPr>
              <a:t>to</a:t>
            </a:r>
            <a:r>
              <a:rPr sz="1500" spc="11" dirty="0">
                <a:solidFill>
                  <a:srgbClr val="000066"/>
                </a:solidFill>
                <a:latin typeface="Times New Roman"/>
                <a:cs typeface="Times New Roman"/>
              </a:rPr>
              <a:t> </a:t>
            </a:r>
            <a:r>
              <a:rPr sz="1500" spc="-4" dirty="0">
                <a:solidFill>
                  <a:srgbClr val="000066"/>
                </a:solidFill>
                <a:latin typeface="Times New Roman"/>
                <a:cs typeface="Times New Roman"/>
              </a:rPr>
              <a:t>evaluate</a:t>
            </a:r>
            <a:r>
              <a:rPr sz="1500" spc="11" dirty="0">
                <a:solidFill>
                  <a:srgbClr val="000066"/>
                </a:solidFill>
                <a:latin typeface="Times New Roman"/>
                <a:cs typeface="Times New Roman"/>
              </a:rPr>
              <a:t> </a:t>
            </a:r>
            <a:r>
              <a:rPr sz="1500" spc="-8" dirty="0">
                <a:solidFill>
                  <a:srgbClr val="000066"/>
                </a:solidFill>
                <a:latin typeface="Times New Roman"/>
                <a:cs typeface="Times New Roman"/>
              </a:rPr>
              <a:t>utility</a:t>
            </a:r>
            <a:r>
              <a:rPr sz="1500" spc="38" dirty="0">
                <a:solidFill>
                  <a:srgbClr val="000066"/>
                </a:solidFill>
                <a:latin typeface="Times New Roman"/>
                <a:cs typeface="Times New Roman"/>
              </a:rPr>
              <a:t> </a:t>
            </a:r>
            <a:r>
              <a:rPr sz="1500" dirty="0">
                <a:solidFill>
                  <a:srgbClr val="0000CC"/>
                </a:solidFill>
                <a:latin typeface="Times New Roman"/>
                <a:cs typeface="Times New Roman"/>
              </a:rPr>
              <a:t>(more</a:t>
            </a:r>
            <a:r>
              <a:rPr sz="1500" spc="11" dirty="0">
                <a:solidFill>
                  <a:srgbClr val="0000CC"/>
                </a:solidFill>
                <a:latin typeface="Times New Roman"/>
                <a:cs typeface="Times New Roman"/>
              </a:rPr>
              <a:t> </a:t>
            </a:r>
            <a:r>
              <a:rPr sz="1500" dirty="0">
                <a:solidFill>
                  <a:srgbClr val="0000CC"/>
                </a:solidFill>
                <a:latin typeface="Times New Roman"/>
                <a:cs typeface="Times New Roman"/>
              </a:rPr>
              <a:t>popular)</a:t>
            </a:r>
            <a:endParaRPr sz="1500">
              <a:latin typeface="Times New Roman"/>
              <a:cs typeface="Times New Roman"/>
            </a:endParaRPr>
          </a:p>
          <a:p>
            <a:pPr marL="393859" marR="1272064" lvl="1" indent="-144780">
              <a:buClr>
                <a:srgbClr val="000066"/>
              </a:buClr>
              <a:buChar char="-"/>
              <a:tabLst>
                <a:tab pos="410051" algn="l"/>
                <a:tab pos="410528" algn="l"/>
              </a:tabLst>
            </a:pPr>
            <a:r>
              <a:rPr sz="1500" spc="-4" dirty="0">
                <a:solidFill>
                  <a:srgbClr val="0000FF"/>
                </a:solidFill>
                <a:latin typeface="Times New Roman"/>
                <a:cs typeface="Times New Roman"/>
              </a:rPr>
              <a:t>Statistical</a:t>
            </a:r>
            <a:r>
              <a:rPr sz="1500" dirty="0">
                <a:solidFill>
                  <a:srgbClr val="0000FF"/>
                </a:solidFill>
                <a:latin typeface="Times New Roman"/>
                <a:cs typeface="Times New Roman"/>
              </a:rPr>
              <a:t> </a:t>
            </a:r>
            <a:r>
              <a:rPr sz="1500" spc="-4" dirty="0">
                <a:solidFill>
                  <a:srgbClr val="0000FF"/>
                </a:solidFill>
                <a:latin typeface="Times New Roman"/>
                <a:cs typeface="Times New Roman"/>
              </a:rPr>
              <a:t>testing:</a:t>
            </a:r>
            <a:r>
              <a:rPr sz="1500" spc="8" dirty="0">
                <a:solidFill>
                  <a:srgbClr val="0000FF"/>
                </a:solidFill>
                <a:latin typeface="Times New Roman"/>
                <a:cs typeface="Times New Roman"/>
              </a:rPr>
              <a:t> </a:t>
            </a:r>
            <a:r>
              <a:rPr sz="1500" spc="-4" dirty="0">
                <a:solidFill>
                  <a:srgbClr val="000066"/>
                </a:solidFill>
                <a:latin typeface="Times New Roman"/>
                <a:cs typeface="Times New Roman"/>
              </a:rPr>
              <a:t>Test</a:t>
            </a:r>
            <a:r>
              <a:rPr sz="1500" spc="4" dirty="0">
                <a:solidFill>
                  <a:srgbClr val="000066"/>
                </a:solidFill>
                <a:latin typeface="Times New Roman"/>
                <a:cs typeface="Times New Roman"/>
              </a:rPr>
              <a:t> </a:t>
            </a:r>
            <a:r>
              <a:rPr sz="1500" spc="-4" dirty="0">
                <a:solidFill>
                  <a:srgbClr val="000066"/>
                </a:solidFill>
                <a:latin typeface="Times New Roman"/>
                <a:cs typeface="Times New Roman"/>
              </a:rPr>
              <a:t>if</a:t>
            </a:r>
            <a:r>
              <a:rPr sz="1500" dirty="0">
                <a:solidFill>
                  <a:srgbClr val="000066"/>
                </a:solidFill>
                <a:latin typeface="Times New Roman"/>
                <a:cs typeface="Times New Roman"/>
              </a:rPr>
              <a:t> </a:t>
            </a:r>
            <a:r>
              <a:rPr sz="1500" spc="-4" dirty="0">
                <a:solidFill>
                  <a:srgbClr val="000066"/>
                </a:solidFill>
                <a:latin typeface="Times New Roman"/>
                <a:cs typeface="Times New Roman"/>
              </a:rPr>
              <a:t>the</a:t>
            </a:r>
            <a:r>
              <a:rPr sz="1500" spc="4" dirty="0">
                <a:solidFill>
                  <a:srgbClr val="000066"/>
                </a:solidFill>
                <a:latin typeface="Times New Roman"/>
                <a:cs typeface="Times New Roman"/>
              </a:rPr>
              <a:t> </a:t>
            </a:r>
            <a:r>
              <a:rPr sz="1500" dirty="0">
                <a:solidFill>
                  <a:srgbClr val="000066"/>
                </a:solidFill>
                <a:latin typeface="Times New Roman"/>
                <a:cs typeface="Times New Roman"/>
              </a:rPr>
              <a:t>observed</a:t>
            </a:r>
            <a:r>
              <a:rPr sz="1500" spc="8" dirty="0">
                <a:solidFill>
                  <a:srgbClr val="000066"/>
                </a:solidFill>
                <a:latin typeface="Times New Roman"/>
                <a:cs typeface="Times New Roman"/>
              </a:rPr>
              <a:t> </a:t>
            </a:r>
            <a:r>
              <a:rPr sz="1500" spc="-4" dirty="0">
                <a:solidFill>
                  <a:srgbClr val="000066"/>
                </a:solidFill>
                <a:latin typeface="Times New Roman"/>
                <a:cs typeface="Times New Roman"/>
              </a:rPr>
              <a:t>regularity</a:t>
            </a:r>
            <a:r>
              <a:rPr sz="1500" spc="4" dirty="0">
                <a:solidFill>
                  <a:srgbClr val="000066"/>
                </a:solidFill>
                <a:latin typeface="Times New Roman"/>
                <a:cs typeface="Times New Roman"/>
              </a:rPr>
              <a:t> </a:t>
            </a:r>
            <a:r>
              <a:rPr sz="1500" dirty="0">
                <a:solidFill>
                  <a:srgbClr val="000066"/>
                </a:solidFill>
                <a:latin typeface="Times New Roman"/>
                <a:cs typeface="Times New Roman"/>
              </a:rPr>
              <a:t>can</a:t>
            </a:r>
            <a:r>
              <a:rPr sz="1500" spc="8" dirty="0">
                <a:solidFill>
                  <a:srgbClr val="000066"/>
                </a:solidFill>
                <a:latin typeface="Times New Roman"/>
                <a:cs typeface="Times New Roman"/>
              </a:rPr>
              <a:t> </a:t>
            </a:r>
            <a:r>
              <a:rPr sz="1500" dirty="0">
                <a:solidFill>
                  <a:srgbClr val="000066"/>
                </a:solidFill>
                <a:latin typeface="Times New Roman"/>
                <a:cs typeface="Times New Roman"/>
              </a:rPr>
              <a:t>be </a:t>
            </a:r>
            <a:r>
              <a:rPr sz="1500" spc="-363" dirty="0">
                <a:solidFill>
                  <a:srgbClr val="000066"/>
                </a:solidFill>
                <a:latin typeface="Times New Roman"/>
                <a:cs typeface="Times New Roman"/>
              </a:rPr>
              <a:t> </a:t>
            </a:r>
            <a:r>
              <a:rPr sz="1500" spc="-4" dirty="0">
                <a:solidFill>
                  <a:srgbClr val="000066"/>
                </a:solidFill>
                <a:latin typeface="Times New Roman"/>
                <a:cs typeface="Times New Roman"/>
              </a:rPr>
              <a:t>dismissed</a:t>
            </a:r>
            <a:r>
              <a:rPr sz="1500" dirty="0">
                <a:solidFill>
                  <a:srgbClr val="000066"/>
                </a:solidFill>
                <a:latin typeface="Times New Roman"/>
                <a:cs typeface="Times New Roman"/>
              </a:rPr>
              <a:t> as</a:t>
            </a:r>
            <a:r>
              <a:rPr sz="1500" spc="-4" dirty="0">
                <a:solidFill>
                  <a:srgbClr val="000066"/>
                </a:solidFill>
                <a:latin typeface="Times New Roman"/>
                <a:cs typeface="Times New Roman"/>
              </a:rPr>
              <a:t> likely</a:t>
            </a:r>
            <a:r>
              <a:rPr sz="1500" spc="4" dirty="0">
                <a:solidFill>
                  <a:srgbClr val="000066"/>
                </a:solidFill>
                <a:latin typeface="Times New Roman"/>
                <a:cs typeface="Times New Roman"/>
              </a:rPr>
              <a:t> </a:t>
            </a:r>
            <a:r>
              <a:rPr sz="1500" dirty="0">
                <a:solidFill>
                  <a:srgbClr val="000066"/>
                </a:solidFill>
                <a:latin typeface="Times New Roman"/>
                <a:cs typeface="Times New Roman"/>
              </a:rPr>
              <a:t>to be occur</a:t>
            </a:r>
            <a:r>
              <a:rPr sz="1500" spc="8" dirty="0">
                <a:solidFill>
                  <a:srgbClr val="000066"/>
                </a:solidFill>
                <a:latin typeface="Times New Roman"/>
                <a:cs typeface="Times New Roman"/>
              </a:rPr>
              <a:t> </a:t>
            </a:r>
            <a:r>
              <a:rPr sz="1500" dirty="0">
                <a:solidFill>
                  <a:srgbClr val="000066"/>
                </a:solidFill>
                <a:latin typeface="Times New Roman"/>
                <a:cs typeface="Times New Roman"/>
              </a:rPr>
              <a:t>by</a:t>
            </a:r>
            <a:r>
              <a:rPr sz="1500" spc="8" dirty="0">
                <a:solidFill>
                  <a:srgbClr val="000066"/>
                </a:solidFill>
                <a:latin typeface="Times New Roman"/>
                <a:cs typeface="Times New Roman"/>
              </a:rPr>
              <a:t> </a:t>
            </a:r>
            <a:r>
              <a:rPr sz="1500" dirty="0">
                <a:solidFill>
                  <a:srgbClr val="000066"/>
                </a:solidFill>
                <a:latin typeface="Times New Roman"/>
                <a:cs typeface="Times New Roman"/>
              </a:rPr>
              <a:t>chance</a:t>
            </a:r>
            <a:endParaRPr sz="1500">
              <a:latin typeface="Times New Roman"/>
              <a:cs typeface="Times New Roman"/>
            </a:endParaRPr>
          </a:p>
          <a:p>
            <a:pPr marL="345757" marR="785336" lvl="1" indent="-96679">
              <a:buClr>
                <a:srgbClr val="000066"/>
              </a:buClr>
              <a:buFont typeface="Times New Roman"/>
              <a:buChar char="-"/>
              <a:tabLst>
                <a:tab pos="410051" algn="l"/>
                <a:tab pos="410528" algn="l"/>
              </a:tabLst>
            </a:pPr>
            <a:r>
              <a:rPr sz="1350" dirty="0"/>
              <a:t>	</a:t>
            </a:r>
            <a:r>
              <a:rPr sz="1500" spc="-4" dirty="0">
                <a:solidFill>
                  <a:srgbClr val="0000FF"/>
                </a:solidFill>
                <a:latin typeface="Times New Roman"/>
                <a:cs typeface="Times New Roman"/>
              </a:rPr>
              <a:t>Minimum</a:t>
            </a:r>
            <a:r>
              <a:rPr sz="1500" spc="15" dirty="0">
                <a:solidFill>
                  <a:srgbClr val="0000FF"/>
                </a:solidFill>
                <a:latin typeface="Times New Roman"/>
                <a:cs typeface="Times New Roman"/>
              </a:rPr>
              <a:t> </a:t>
            </a:r>
            <a:r>
              <a:rPr sz="1500" spc="-4" dirty="0">
                <a:solidFill>
                  <a:srgbClr val="0000FF"/>
                </a:solidFill>
                <a:latin typeface="Times New Roman"/>
                <a:cs typeface="Times New Roman"/>
              </a:rPr>
              <a:t>Description</a:t>
            </a:r>
            <a:r>
              <a:rPr sz="1500" spc="11" dirty="0">
                <a:solidFill>
                  <a:srgbClr val="0000FF"/>
                </a:solidFill>
                <a:latin typeface="Times New Roman"/>
                <a:cs typeface="Times New Roman"/>
              </a:rPr>
              <a:t> </a:t>
            </a:r>
            <a:r>
              <a:rPr sz="1500" dirty="0">
                <a:solidFill>
                  <a:srgbClr val="0000FF"/>
                </a:solidFill>
                <a:latin typeface="Times New Roman"/>
                <a:cs typeface="Times New Roman"/>
              </a:rPr>
              <a:t>Length:</a:t>
            </a:r>
            <a:r>
              <a:rPr sz="1500" spc="23" dirty="0">
                <a:solidFill>
                  <a:srgbClr val="0000FF"/>
                </a:solidFill>
                <a:latin typeface="Times New Roman"/>
                <a:cs typeface="Times New Roman"/>
              </a:rPr>
              <a:t> </a:t>
            </a:r>
            <a:r>
              <a:rPr sz="1500" dirty="0">
                <a:solidFill>
                  <a:srgbClr val="000066"/>
                </a:solidFill>
                <a:latin typeface="Times New Roman"/>
                <a:cs typeface="Times New Roman"/>
              </a:rPr>
              <a:t>Is</a:t>
            </a:r>
            <a:r>
              <a:rPr sz="1500" spc="4" dirty="0">
                <a:solidFill>
                  <a:srgbClr val="000066"/>
                </a:solidFill>
                <a:latin typeface="Times New Roman"/>
                <a:cs typeface="Times New Roman"/>
              </a:rPr>
              <a:t> </a:t>
            </a:r>
            <a:r>
              <a:rPr sz="1500" spc="-4" dirty="0">
                <a:solidFill>
                  <a:srgbClr val="000066"/>
                </a:solidFill>
                <a:latin typeface="Times New Roman"/>
                <a:cs typeface="Times New Roman"/>
              </a:rPr>
              <a:t>the</a:t>
            </a:r>
            <a:r>
              <a:rPr sz="1500" spc="8" dirty="0">
                <a:solidFill>
                  <a:srgbClr val="000066"/>
                </a:solidFill>
                <a:latin typeface="Times New Roman"/>
                <a:cs typeface="Times New Roman"/>
              </a:rPr>
              <a:t> </a:t>
            </a:r>
            <a:r>
              <a:rPr sz="1500" spc="-4" dirty="0">
                <a:solidFill>
                  <a:srgbClr val="000066"/>
                </a:solidFill>
                <a:latin typeface="Times New Roman"/>
                <a:cs typeface="Times New Roman"/>
              </a:rPr>
              <a:t>additional</a:t>
            </a:r>
            <a:r>
              <a:rPr sz="1500" dirty="0">
                <a:solidFill>
                  <a:srgbClr val="000066"/>
                </a:solidFill>
                <a:latin typeface="Times New Roman"/>
                <a:cs typeface="Times New Roman"/>
              </a:rPr>
              <a:t> </a:t>
            </a:r>
            <a:r>
              <a:rPr sz="1500" spc="-4" dirty="0">
                <a:solidFill>
                  <a:srgbClr val="000066"/>
                </a:solidFill>
                <a:latin typeface="Times New Roman"/>
                <a:cs typeface="Times New Roman"/>
              </a:rPr>
              <a:t>complexity</a:t>
            </a:r>
            <a:r>
              <a:rPr sz="1500" spc="11" dirty="0">
                <a:solidFill>
                  <a:srgbClr val="000066"/>
                </a:solidFill>
                <a:latin typeface="Times New Roman"/>
                <a:cs typeface="Times New Roman"/>
              </a:rPr>
              <a:t> </a:t>
            </a:r>
            <a:r>
              <a:rPr sz="1500" dirty="0">
                <a:solidFill>
                  <a:srgbClr val="000066"/>
                </a:solidFill>
                <a:latin typeface="Times New Roman"/>
                <a:cs typeface="Times New Roman"/>
              </a:rPr>
              <a:t>of </a:t>
            </a:r>
            <a:r>
              <a:rPr sz="1500" spc="-363" dirty="0">
                <a:solidFill>
                  <a:srgbClr val="000066"/>
                </a:solidFill>
                <a:latin typeface="Times New Roman"/>
                <a:cs typeface="Times New Roman"/>
              </a:rPr>
              <a:t> </a:t>
            </a:r>
            <a:r>
              <a:rPr sz="1500" dirty="0">
                <a:solidFill>
                  <a:srgbClr val="000066"/>
                </a:solidFill>
                <a:latin typeface="Times New Roman"/>
                <a:cs typeface="Times New Roman"/>
              </a:rPr>
              <a:t>the</a:t>
            </a:r>
            <a:r>
              <a:rPr sz="1500" spc="-4" dirty="0">
                <a:solidFill>
                  <a:srgbClr val="000066"/>
                </a:solidFill>
                <a:latin typeface="Times New Roman"/>
                <a:cs typeface="Times New Roman"/>
              </a:rPr>
              <a:t> </a:t>
            </a:r>
            <a:r>
              <a:rPr sz="1500" dirty="0">
                <a:solidFill>
                  <a:srgbClr val="000066"/>
                </a:solidFill>
                <a:latin typeface="Times New Roman"/>
                <a:cs typeface="Times New Roman"/>
              </a:rPr>
              <a:t>hypothesis</a:t>
            </a:r>
            <a:r>
              <a:rPr sz="1500" spc="-8" dirty="0">
                <a:solidFill>
                  <a:srgbClr val="000066"/>
                </a:solidFill>
                <a:latin typeface="Times New Roman"/>
                <a:cs typeface="Times New Roman"/>
              </a:rPr>
              <a:t> </a:t>
            </a:r>
            <a:r>
              <a:rPr sz="1500" spc="-4" dirty="0">
                <a:solidFill>
                  <a:srgbClr val="000066"/>
                </a:solidFill>
                <a:latin typeface="Times New Roman"/>
                <a:cs typeface="Times New Roman"/>
              </a:rPr>
              <a:t>smaller</a:t>
            </a:r>
            <a:r>
              <a:rPr sz="1500" spc="8" dirty="0">
                <a:solidFill>
                  <a:srgbClr val="000066"/>
                </a:solidFill>
                <a:latin typeface="Times New Roman"/>
                <a:cs typeface="Times New Roman"/>
              </a:rPr>
              <a:t> </a:t>
            </a:r>
            <a:r>
              <a:rPr sz="1500" spc="-4" dirty="0">
                <a:solidFill>
                  <a:srgbClr val="000066"/>
                </a:solidFill>
                <a:latin typeface="Times New Roman"/>
                <a:cs typeface="Times New Roman"/>
              </a:rPr>
              <a:t>than</a:t>
            </a:r>
            <a:r>
              <a:rPr sz="1500" dirty="0">
                <a:solidFill>
                  <a:srgbClr val="000066"/>
                </a:solidFill>
                <a:latin typeface="Times New Roman"/>
                <a:cs typeface="Times New Roman"/>
              </a:rPr>
              <a:t> remembering</a:t>
            </a:r>
            <a:r>
              <a:rPr sz="1500" spc="8" dirty="0">
                <a:solidFill>
                  <a:srgbClr val="000066"/>
                </a:solidFill>
                <a:latin typeface="Times New Roman"/>
                <a:cs typeface="Times New Roman"/>
              </a:rPr>
              <a:t> </a:t>
            </a:r>
            <a:r>
              <a:rPr sz="1500" spc="-4" dirty="0">
                <a:solidFill>
                  <a:srgbClr val="000066"/>
                </a:solidFill>
                <a:latin typeface="Times New Roman"/>
                <a:cs typeface="Times New Roman"/>
              </a:rPr>
              <a:t>the</a:t>
            </a:r>
            <a:r>
              <a:rPr sz="1500" dirty="0">
                <a:solidFill>
                  <a:srgbClr val="000066"/>
                </a:solidFill>
                <a:latin typeface="Times New Roman"/>
                <a:cs typeface="Times New Roman"/>
              </a:rPr>
              <a:t> exceptions</a:t>
            </a:r>
            <a:r>
              <a:rPr sz="1500" spc="-8" dirty="0">
                <a:solidFill>
                  <a:srgbClr val="000066"/>
                </a:solidFill>
                <a:latin typeface="Times New Roman"/>
                <a:cs typeface="Times New Roman"/>
              </a:rPr>
              <a:t> </a:t>
            </a:r>
            <a:r>
              <a:rPr sz="1500" dirty="0">
                <a:solidFill>
                  <a:srgbClr val="000066"/>
                </a:solidFill>
                <a:latin typeface="Times New Roman"/>
                <a:cs typeface="Times New Roman"/>
              </a:rPr>
              <a:t>?</a:t>
            </a:r>
            <a:endParaRPr sz="1500">
              <a:latin typeface="Times New Roman"/>
              <a:cs typeface="Times New Roman"/>
            </a:endParaRPr>
          </a:p>
          <a:p>
            <a:pPr marL="873919" marR="584835" indent="-179070"/>
            <a:r>
              <a:rPr sz="1500" dirty="0">
                <a:latin typeface="Times New Roman"/>
                <a:cs typeface="Times New Roman"/>
              </a:rPr>
              <a:t>This</a:t>
            </a:r>
            <a:r>
              <a:rPr sz="1500" spc="-4" dirty="0">
                <a:latin typeface="Times New Roman"/>
                <a:cs typeface="Times New Roman"/>
              </a:rPr>
              <a:t> </a:t>
            </a:r>
            <a:r>
              <a:rPr sz="1500" dirty="0">
                <a:latin typeface="Times New Roman"/>
                <a:cs typeface="Times New Roman"/>
              </a:rPr>
              <a:t>is </a:t>
            </a:r>
            <a:r>
              <a:rPr sz="1500" spc="-4" dirty="0">
                <a:latin typeface="Times New Roman"/>
                <a:cs typeface="Times New Roman"/>
              </a:rPr>
              <a:t>related</a:t>
            </a:r>
            <a:r>
              <a:rPr sz="1500" spc="4" dirty="0">
                <a:latin typeface="Times New Roman"/>
                <a:cs typeface="Times New Roman"/>
              </a:rPr>
              <a:t> </a:t>
            </a:r>
            <a:r>
              <a:rPr sz="1500" spc="-4" dirty="0">
                <a:latin typeface="Times New Roman"/>
                <a:cs typeface="Times New Roman"/>
              </a:rPr>
              <a:t>to</a:t>
            </a:r>
            <a:r>
              <a:rPr sz="1500" spc="11" dirty="0">
                <a:latin typeface="Times New Roman"/>
                <a:cs typeface="Times New Roman"/>
              </a:rPr>
              <a:t> </a:t>
            </a:r>
            <a:r>
              <a:rPr sz="1500" spc="-4" dirty="0">
                <a:latin typeface="Times New Roman"/>
                <a:cs typeface="Times New Roman"/>
              </a:rPr>
              <a:t>the</a:t>
            </a:r>
            <a:r>
              <a:rPr sz="1500" spc="11" dirty="0">
                <a:latin typeface="Times New Roman"/>
                <a:cs typeface="Times New Roman"/>
              </a:rPr>
              <a:t> </a:t>
            </a:r>
            <a:r>
              <a:rPr sz="1500" dirty="0">
                <a:latin typeface="Times New Roman"/>
                <a:cs typeface="Times New Roman"/>
              </a:rPr>
              <a:t>notion</a:t>
            </a:r>
            <a:r>
              <a:rPr sz="1500" spc="11" dirty="0">
                <a:latin typeface="Times New Roman"/>
                <a:cs typeface="Times New Roman"/>
              </a:rPr>
              <a:t> </a:t>
            </a:r>
            <a:r>
              <a:rPr sz="1500" dirty="0">
                <a:latin typeface="Times New Roman"/>
                <a:cs typeface="Times New Roman"/>
              </a:rPr>
              <a:t>of</a:t>
            </a:r>
            <a:r>
              <a:rPr sz="1500" spc="23" dirty="0">
                <a:latin typeface="Times New Roman"/>
                <a:cs typeface="Times New Roman"/>
              </a:rPr>
              <a:t> </a:t>
            </a:r>
            <a:r>
              <a:rPr sz="1500" spc="-4" dirty="0">
                <a:solidFill>
                  <a:srgbClr val="0000FF"/>
                </a:solidFill>
                <a:latin typeface="Times New Roman"/>
                <a:cs typeface="Times New Roman"/>
              </a:rPr>
              <a:t>regularization</a:t>
            </a:r>
            <a:r>
              <a:rPr sz="1500" spc="15" dirty="0">
                <a:solidFill>
                  <a:srgbClr val="0000FF"/>
                </a:solidFill>
                <a:latin typeface="Times New Roman"/>
                <a:cs typeface="Times New Roman"/>
              </a:rPr>
              <a:t> </a:t>
            </a:r>
            <a:r>
              <a:rPr sz="1500" dirty="0">
                <a:latin typeface="Times New Roman"/>
                <a:cs typeface="Times New Roman"/>
              </a:rPr>
              <a:t>that</a:t>
            </a:r>
            <a:r>
              <a:rPr sz="1500" spc="4" dirty="0">
                <a:latin typeface="Times New Roman"/>
                <a:cs typeface="Times New Roman"/>
              </a:rPr>
              <a:t> </a:t>
            </a:r>
            <a:r>
              <a:rPr sz="1500" dirty="0">
                <a:latin typeface="Times New Roman"/>
                <a:cs typeface="Times New Roman"/>
              </a:rPr>
              <a:t>we </a:t>
            </a:r>
            <a:r>
              <a:rPr sz="1500" spc="-4" dirty="0">
                <a:latin typeface="Times New Roman"/>
                <a:cs typeface="Times New Roman"/>
              </a:rPr>
              <a:t>will</a:t>
            </a:r>
            <a:r>
              <a:rPr sz="1500" spc="-8" dirty="0">
                <a:latin typeface="Times New Roman"/>
                <a:cs typeface="Times New Roman"/>
              </a:rPr>
              <a:t> </a:t>
            </a:r>
            <a:r>
              <a:rPr sz="1500" spc="-4" dirty="0">
                <a:latin typeface="Times New Roman"/>
                <a:cs typeface="Times New Roman"/>
              </a:rPr>
              <a:t>see </a:t>
            </a:r>
            <a:r>
              <a:rPr sz="1500" spc="-363" dirty="0">
                <a:latin typeface="Times New Roman"/>
                <a:cs typeface="Times New Roman"/>
              </a:rPr>
              <a:t> </a:t>
            </a:r>
            <a:r>
              <a:rPr sz="1500" spc="-4" dirty="0">
                <a:latin typeface="Times New Roman"/>
                <a:cs typeface="Times New Roman"/>
              </a:rPr>
              <a:t>in</a:t>
            </a:r>
            <a:r>
              <a:rPr sz="1500" dirty="0">
                <a:latin typeface="Times New Roman"/>
                <a:cs typeface="Times New Roman"/>
              </a:rPr>
              <a:t> </a:t>
            </a:r>
            <a:r>
              <a:rPr sz="1500" spc="-4" dirty="0">
                <a:latin typeface="Times New Roman"/>
                <a:cs typeface="Times New Roman"/>
              </a:rPr>
              <a:t>other</a:t>
            </a:r>
            <a:r>
              <a:rPr sz="1500" spc="8" dirty="0">
                <a:latin typeface="Times New Roman"/>
                <a:cs typeface="Times New Roman"/>
              </a:rPr>
              <a:t> </a:t>
            </a:r>
            <a:r>
              <a:rPr sz="1500" dirty="0">
                <a:latin typeface="Times New Roman"/>
                <a:cs typeface="Times New Roman"/>
              </a:rPr>
              <a:t>contexts–</a:t>
            </a:r>
            <a:r>
              <a:rPr sz="1500" spc="4" dirty="0">
                <a:latin typeface="Times New Roman"/>
                <a:cs typeface="Times New Roman"/>
              </a:rPr>
              <a:t> </a:t>
            </a:r>
            <a:r>
              <a:rPr sz="1500" spc="-4" dirty="0">
                <a:latin typeface="Times New Roman"/>
                <a:cs typeface="Times New Roman"/>
              </a:rPr>
              <a:t>keep</a:t>
            </a:r>
            <a:r>
              <a:rPr sz="1500" dirty="0">
                <a:latin typeface="Times New Roman"/>
                <a:cs typeface="Times New Roman"/>
              </a:rPr>
              <a:t> the</a:t>
            </a:r>
            <a:r>
              <a:rPr sz="1500" spc="8" dirty="0">
                <a:latin typeface="Times New Roman"/>
                <a:cs typeface="Times New Roman"/>
              </a:rPr>
              <a:t> </a:t>
            </a:r>
            <a:r>
              <a:rPr sz="1500" dirty="0">
                <a:latin typeface="Times New Roman"/>
                <a:cs typeface="Times New Roman"/>
              </a:rPr>
              <a:t>hypothesis</a:t>
            </a:r>
            <a:r>
              <a:rPr sz="1500" spc="-4" dirty="0">
                <a:latin typeface="Times New Roman"/>
                <a:cs typeface="Times New Roman"/>
              </a:rPr>
              <a:t> simple.</a:t>
            </a:r>
            <a:endParaRPr sz="1500">
              <a:latin typeface="Times New Roman"/>
              <a:cs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50741" y="385953"/>
            <a:ext cx="1842770" cy="452120"/>
          </a:xfrm>
          <a:prstGeom prst="rect">
            <a:avLst/>
          </a:prstGeom>
        </p:spPr>
        <p:txBody>
          <a:bodyPr vert="horz" wrap="square" lIns="0" tIns="12065" rIns="0" bIns="0" rtlCol="0">
            <a:spAutoFit/>
          </a:bodyPr>
          <a:lstStyle/>
          <a:p>
            <a:pPr marL="12700">
              <a:lnSpc>
                <a:spcPct val="100000"/>
              </a:lnSpc>
              <a:spcBef>
                <a:spcPts val="95"/>
              </a:spcBef>
            </a:pPr>
            <a:r>
              <a:rPr sz="2800" spc="-55" dirty="0"/>
              <a:t>Tree</a:t>
            </a:r>
            <a:r>
              <a:rPr sz="2800" spc="-80" dirty="0"/>
              <a:t> </a:t>
            </a:r>
            <a:r>
              <a:rPr sz="2800" spc="-10" dirty="0"/>
              <a:t>Pruning</a:t>
            </a:r>
            <a:endParaRPr sz="28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81</a:t>
            </a:fld>
            <a:endParaRPr dirty="0"/>
          </a:p>
        </p:txBody>
      </p:sp>
      <p:sp>
        <p:nvSpPr>
          <p:cNvPr id="3" name="object 3"/>
          <p:cNvSpPr txBox="1">
            <a:spLocks noGrp="1"/>
          </p:cNvSpPr>
          <p:nvPr>
            <p:ph type="body" idx="1"/>
          </p:nvPr>
        </p:nvSpPr>
        <p:spPr>
          <a:xfrm>
            <a:off x="535940" y="1216913"/>
            <a:ext cx="8072119" cy="2421817"/>
          </a:xfrm>
          <a:prstGeom prst="rect">
            <a:avLst/>
          </a:prstGeom>
        </p:spPr>
        <p:txBody>
          <a:bodyPr vert="horz" wrap="square" lIns="0" tIns="13335" rIns="0" bIns="0" rtlCol="0">
            <a:spAutoFit/>
          </a:bodyPr>
          <a:lstStyle/>
          <a:p>
            <a:pPr marL="356235" marR="5080" indent="-342900">
              <a:lnSpc>
                <a:spcPct val="100000"/>
              </a:lnSpc>
              <a:spcBef>
                <a:spcPts val="105"/>
              </a:spcBef>
              <a:buFont typeface="Arial MT"/>
              <a:buChar char="•"/>
              <a:tabLst>
                <a:tab pos="355600" algn="l"/>
                <a:tab pos="356235" algn="l"/>
              </a:tabLst>
            </a:pPr>
            <a:r>
              <a:rPr dirty="0"/>
              <a:t>When</a:t>
            </a:r>
            <a:r>
              <a:rPr spc="95" dirty="0"/>
              <a:t> </a:t>
            </a:r>
            <a:r>
              <a:rPr dirty="0"/>
              <a:t>a</a:t>
            </a:r>
            <a:r>
              <a:rPr spc="100" dirty="0"/>
              <a:t> </a:t>
            </a:r>
            <a:r>
              <a:rPr spc="-5" dirty="0"/>
              <a:t>decision</a:t>
            </a:r>
            <a:r>
              <a:rPr spc="110" dirty="0"/>
              <a:t> </a:t>
            </a:r>
            <a:r>
              <a:rPr spc="-10" dirty="0"/>
              <a:t>tree</a:t>
            </a:r>
            <a:r>
              <a:rPr spc="114" dirty="0"/>
              <a:t> </a:t>
            </a:r>
            <a:r>
              <a:rPr spc="-5" dirty="0"/>
              <a:t>is</a:t>
            </a:r>
            <a:r>
              <a:rPr spc="110" dirty="0"/>
              <a:t> </a:t>
            </a:r>
            <a:r>
              <a:rPr spc="-5" dirty="0"/>
              <a:t>built,</a:t>
            </a:r>
            <a:r>
              <a:rPr spc="125" dirty="0"/>
              <a:t> </a:t>
            </a:r>
            <a:r>
              <a:rPr spc="-15" dirty="0"/>
              <a:t>many</a:t>
            </a:r>
            <a:r>
              <a:rPr spc="95" dirty="0"/>
              <a:t> </a:t>
            </a:r>
            <a:r>
              <a:rPr spc="-5" dirty="0"/>
              <a:t>of</a:t>
            </a:r>
            <a:r>
              <a:rPr spc="105" dirty="0"/>
              <a:t> </a:t>
            </a:r>
            <a:r>
              <a:rPr dirty="0"/>
              <a:t>the</a:t>
            </a:r>
            <a:r>
              <a:rPr spc="105" dirty="0"/>
              <a:t> </a:t>
            </a:r>
            <a:r>
              <a:rPr spc="-5" dirty="0"/>
              <a:t>branches</a:t>
            </a:r>
            <a:r>
              <a:rPr spc="110" dirty="0"/>
              <a:t> </a:t>
            </a:r>
            <a:r>
              <a:rPr spc="-5" dirty="0"/>
              <a:t>will</a:t>
            </a:r>
            <a:r>
              <a:rPr spc="114" dirty="0"/>
              <a:t> </a:t>
            </a:r>
            <a:r>
              <a:rPr spc="-10" dirty="0"/>
              <a:t>reﬂect</a:t>
            </a:r>
            <a:r>
              <a:rPr spc="120" dirty="0"/>
              <a:t> </a:t>
            </a:r>
            <a:r>
              <a:rPr dirty="0"/>
              <a:t>anomalies </a:t>
            </a:r>
            <a:r>
              <a:rPr spc="-440" dirty="0"/>
              <a:t> </a:t>
            </a:r>
            <a:r>
              <a:rPr spc="-5" dirty="0"/>
              <a:t>in</a:t>
            </a:r>
            <a:r>
              <a:rPr dirty="0"/>
              <a:t> the</a:t>
            </a:r>
            <a:r>
              <a:rPr spc="-10" dirty="0"/>
              <a:t> </a:t>
            </a:r>
            <a:r>
              <a:rPr spc="-5" dirty="0"/>
              <a:t>training </a:t>
            </a:r>
            <a:r>
              <a:rPr spc="-15" dirty="0"/>
              <a:t>data</a:t>
            </a:r>
            <a:r>
              <a:rPr spc="5" dirty="0"/>
              <a:t> </a:t>
            </a:r>
            <a:r>
              <a:rPr dirty="0"/>
              <a:t>due</a:t>
            </a:r>
            <a:r>
              <a:rPr spc="-10" dirty="0"/>
              <a:t> </a:t>
            </a:r>
            <a:r>
              <a:rPr spc="-15" dirty="0"/>
              <a:t>to</a:t>
            </a:r>
            <a:r>
              <a:rPr dirty="0"/>
              <a:t> </a:t>
            </a:r>
            <a:r>
              <a:rPr spc="-5" dirty="0"/>
              <a:t>noise</a:t>
            </a:r>
            <a:r>
              <a:rPr dirty="0"/>
              <a:t> </a:t>
            </a:r>
            <a:r>
              <a:rPr spc="-5" dirty="0"/>
              <a:t>or</a:t>
            </a:r>
            <a:r>
              <a:rPr spc="-15" dirty="0"/>
              <a:t> </a:t>
            </a:r>
            <a:r>
              <a:rPr spc="-10" dirty="0"/>
              <a:t>outliers</a:t>
            </a:r>
          </a:p>
          <a:p>
            <a:pPr marL="356235" marR="6985" indent="-342900">
              <a:lnSpc>
                <a:spcPct val="100000"/>
              </a:lnSpc>
              <a:spcBef>
                <a:spcPts val="480"/>
              </a:spcBef>
              <a:buFont typeface="Arial MT"/>
              <a:buChar char="•"/>
              <a:tabLst>
                <a:tab pos="355600" algn="l"/>
                <a:tab pos="356235" algn="l"/>
                <a:tab pos="971550" algn="l"/>
                <a:tab pos="1941195" algn="l"/>
                <a:tab pos="2470150" algn="l"/>
                <a:tab pos="3608704" algn="l"/>
                <a:tab pos="4774565" algn="l"/>
                <a:tab pos="5160645" algn="l"/>
                <a:tab pos="6114415" algn="l"/>
                <a:tab pos="6630034" algn="l"/>
                <a:tab pos="7288530" algn="l"/>
              </a:tabLst>
            </a:pPr>
            <a:r>
              <a:rPr spc="-125" dirty="0"/>
              <a:t>T</a:t>
            </a:r>
            <a:r>
              <a:rPr spc="-30" dirty="0"/>
              <a:t>r</a:t>
            </a:r>
            <a:r>
              <a:rPr dirty="0"/>
              <a:t>ee	</a:t>
            </a:r>
            <a:r>
              <a:rPr spc="-5" dirty="0"/>
              <a:t>pru</a:t>
            </a:r>
            <a:r>
              <a:rPr spc="5" dirty="0"/>
              <a:t>n</a:t>
            </a:r>
            <a:r>
              <a:rPr dirty="0"/>
              <a:t>i</a:t>
            </a:r>
            <a:r>
              <a:rPr spc="-15" dirty="0"/>
              <a:t>n</a:t>
            </a:r>
            <a:r>
              <a:rPr dirty="0"/>
              <a:t>g	</a:t>
            </a:r>
            <a:r>
              <a:rPr spc="-5" dirty="0"/>
              <a:t>us</a:t>
            </a:r>
            <a:r>
              <a:rPr dirty="0"/>
              <a:t>e	</a:t>
            </a:r>
            <a:r>
              <a:rPr spc="-30" dirty="0"/>
              <a:t>s</a:t>
            </a:r>
            <a:r>
              <a:rPr spc="-25" dirty="0"/>
              <a:t>ta</a:t>
            </a:r>
            <a:r>
              <a:rPr dirty="0"/>
              <a:t>t</a:t>
            </a:r>
            <a:r>
              <a:rPr spc="5" dirty="0"/>
              <a:t>i</a:t>
            </a:r>
            <a:r>
              <a:rPr spc="-30" dirty="0"/>
              <a:t>s</a:t>
            </a:r>
            <a:r>
              <a:rPr spc="10" dirty="0"/>
              <a:t>t</a:t>
            </a:r>
            <a:r>
              <a:rPr dirty="0"/>
              <a:t>i</a:t>
            </a:r>
            <a:r>
              <a:rPr spc="-15" dirty="0"/>
              <a:t>c</a:t>
            </a:r>
            <a:r>
              <a:rPr dirty="0"/>
              <a:t>al	m</a:t>
            </a:r>
            <a:r>
              <a:rPr spc="-10" dirty="0"/>
              <a:t>e</a:t>
            </a:r>
            <a:r>
              <a:rPr dirty="0"/>
              <a:t>asu</a:t>
            </a:r>
            <a:r>
              <a:rPr spc="-30" dirty="0"/>
              <a:t>r</a:t>
            </a:r>
            <a:r>
              <a:rPr spc="5" dirty="0"/>
              <a:t>e</a:t>
            </a:r>
            <a:r>
              <a:rPr dirty="0"/>
              <a:t>s	</a:t>
            </a:r>
            <a:r>
              <a:rPr spc="-25" dirty="0"/>
              <a:t>t</a:t>
            </a:r>
            <a:r>
              <a:rPr dirty="0"/>
              <a:t>o	</a:t>
            </a:r>
            <a:r>
              <a:rPr spc="-30" dirty="0"/>
              <a:t>r</a:t>
            </a:r>
            <a:r>
              <a:rPr dirty="0"/>
              <a:t>e</a:t>
            </a:r>
            <a:r>
              <a:rPr spc="-10" dirty="0"/>
              <a:t>m</a:t>
            </a:r>
            <a:r>
              <a:rPr spc="-15" dirty="0"/>
              <a:t>o</a:t>
            </a:r>
            <a:r>
              <a:rPr spc="-30" dirty="0"/>
              <a:t>v</a:t>
            </a:r>
            <a:r>
              <a:rPr dirty="0"/>
              <a:t>e	the	</a:t>
            </a:r>
            <a:r>
              <a:rPr u="sng" dirty="0"/>
              <a:t>l</a:t>
            </a:r>
            <a:r>
              <a:rPr u="sng" spc="-5" dirty="0"/>
              <a:t>e</a:t>
            </a:r>
            <a:r>
              <a:rPr u="sng" dirty="0"/>
              <a:t>a</a:t>
            </a:r>
            <a:r>
              <a:rPr u="sng" spc="-20" dirty="0"/>
              <a:t>s</a:t>
            </a:r>
            <a:r>
              <a:rPr u="sng" dirty="0"/>
              <a:t>t	</a:t>
            </a:r>
            <a:r>
              <a:rPr u="sng" spc="-30" dirty="0"/>
              <a:t>r</a:t>
            </a:r>
            <a:r>
              <a:rPr u="sng" dirty="0"/>
              <a:t>e</a:t>
            </a:r>
            <a:r>
              <a:rPr u="sng" spc="-10" dirty="0"/>
              <a:t>l</a:t>
            </a:r>
            <a:r>
              <a:rPr u="sng" spc="5" dirty="0"/>
              <a:t>i</a:t>
            </a:r>
            <a:r>
              <a:rPr u="sng" dirty="0"/>
              <a:t>able  </a:t>
            </a:r>
            <a:r>
              <a:rPr u="sng" spc="-5" dirty="0"/>
              <a:t>branches</a:t>
            </a:r>
          </a:p>
          <a:p>
            <a:pPr marL="356235" indent="-342900">
              <a:lnSpc>
                <a:spcPct val="100000"/>
              </a:lnSpc>
              <a:spcBef>
                <a:spcPts val="480"/>
              </a:spcBef>
              <a:buFont typeface="Arial MT"/>
              <a:buChar char="•"/>
              <a:tabLst>
                <a:tab pos="355600" algn="l"/>
                <a:tab pos="356235" algn="l"/>
              </a:tabLst>
            </a:pPr>
            <a:r>
              <a:rPr dirty="0"/>
              <a:t>Pruned</a:t>
            </a:r>
            <a:r>
              <a:rPr spc="375" dirty="0"/>
              <a:t> </a:t>
            </a:r>
            <a:r>
              <a:rPr spc="-5" dirty="0"/>
              <a:t>trees</a:t>
            </a:r>
            <a:r>
              <a:rPr spc="380" dirty="0"/>
              <a:t> </a:t>
            </a:r>
            <a:r>
              <a:rPr spc="-5" dirty="0"/>
              <a:t>tend</a:t>
            </a:r>
            <a:r>
              <a:rPr spc="395" dirty="0"/>
              <a:t> </a:t>
            </a:r>
            <a:r>
              <a:rPr spc="-15" dirty="0"/>
              <a:t>to</a:t>
            </a:r>
            <a:r>
              <a:rPr spc="375" dirty="0"/>
              <a:t> </a:t>
            </a:r>
            <a:r>
              <a:rPr dirty="0"/>
              <a:t>be</a:t>
            </a:r>
            <a:r>
              <a:rPr spc="375" dirty="0"/>
              <a:t> </a:t>
            </a:r>
            <a:r>
              <a:rPr spc="-5" dirty="0"/>
              <a:t>smaller</a:t>
            </a:r>
            <a:r>
              <a:rPr spc="385" dirty="0"/>
              <a:t> </a:t>
            </a:r>
            <a:r>
              <a:rPr dirty="0"/>
              <a:t>and</a:t>
            </a:r>
            <a:r>
              <a:rPr spc="395" dirty="0"/>
              <a:t> </a:t>
            </a:r>
            <a:r>
              <a:rPr spc="-5" dirty="0"/>
              <a:t>less</a:t>
            </a:r>
            <a:r>
              <a:rPr spc="375" dirty="0"/>
              <a:t> </a:t>
            </a:r>
            <a:r>
              <a:rPr spc="-10" dirty="0"/>
              <a:t>complex</a:t>
            </a:r>
            <a:r>
              <a:rPr spc="385" dirty="0"/>
              <a:t> </a:t>
            </a:r>
            <a:r>
              <a:rPr spc="-5" dirty="0"/>
              <a:t>and,</a:t>
            </a:r>
            <a:r>
              <a:rPr spc="385" dirty="0"/>
              <a:t> </a:t>
            </a:r>
            <a:r>
              <a:rPr dirty="0"/>
              <a:t>thus,</a:t>
            </a:r>
            <a:r>
              <a:rPr spc="375" dirty="0"/>
              <a:t> </a:t>
            </a:r>
            <a:r>
              <a:rPr u="sng" dirty="0"/>
              <a:t>easier</a:t>
            </a:r>
            <a:r>
              <a:rPr u="sng" spc="395" dirty="0"/>
              <a:t> </a:t>
            </a:r>
            <a:r>
              <a:rPr u="sng" spc="-25" dirty="0"/>
              <a:t>to</a:t>
            </a:r>
          </a:p>
          <a:p>
            <a:pPr marL="356235">
              <a:lnSpc>
                <a:spcPct val="100000"/>
              </a:lnSpc>
            </a:pPr>
            <a:r>
              <a:rPr u="sng" spc="-5" dirty="0"/>
              <a:t>comprehend</a:t>
            </a:r>
          </a:p>
          <a:p>
            <a:pPr marL="356235" marR="6985" indent="-342900">
              <a:lnSpc>
                <a:spcPct val="100000"/>
              </a:lnSpc>
              <a:spcBef>
                <a:spcPts val="480"/>
              </a:spcBef>
              <a:buFont typeface="Arial MT"/>
              <a:buChar char="•"/>
              <a:tabLst>
                <a:tab pos="414020" algn="l"/>
                <a:tab pos="414655" algn="l"/>
              </a:tabLst>
            </a:pPr>
            <a:r>
              <a:rPr dirty="0"/>
              <a:t>	</a:t>
            </a:r>
            <a:r>
              <a:rPr spc="-5" dirty="0"/>
              <a:t>They</a:t>
            </a:r>
            <a:r>
              <a:rPr spc="5" dirty="0"/>
              <a:t> </a:t>
            </a:r>
            <a:r>
              <a:rPr spc="-10" dirty="0"/>
              <a:t>are</a:t>
            </a:r>
            <a:r>
              <a:rPr spc="15" dirty="0"/>
              <a:t> </a:t>
            </a:r>
            <a:r>
              <a:rPr u="sng" spc="-5" dirty="0"/>
              <a:t>usually</a:t>
            </a:r>
            <a:r>
              <a:rPr u="sng" spc="25" dirty="0"/>
              <a:t> </a:t>
            </a:r>
            <a:r>
              <a:rPr u="sng" spc="-15" dirty="0"/>
              <a:t>faster</a:t>
            </a:r>
            <a:r>
              <a:rPr spc="15" dirty="0"/>
              <a:t> </a:t>
            </a:r>
            <a:r>
              <a:rPr dirty="0"/>
              <a:t>and</a:t>
            </a:r>
            <a:r>
              <a:rPr spc="25" dirty="0"/>
              <a:t> </a:t>
            </a:r>
            <a:r>
              <a:rPr spc="-10" dirty="0"/>
              <a:t>better</a:t>
            </a:r>
            <a:r>
              <a:rPr spc="25" dirty="0"/>
              <a:t> </a:t>
            </a:r>
            <a:r>
              <a:rPr spc="-15" dirty="0"/>
              <a:t>at</a:t>
            </a:r>
            <a:r>
              <a:rPr spc="15" dirty="0"/>
              <a:t> </a:t>
            </a:r>
            <a:r>
              <a:rPr spc="-5" dirty="0"/>
              <a:t>correctly</a:t>
            </a:r>
            <a:r>
              <a:rPr spc="20" dirty="0"/>
              <a:t> </a:t>
            </a:r>
            <a:r>
              <a:rPr dirty="0"/>
              <a:t>classifying</a:t>
            </a:r>
            <a:r>
              <a:rPr spc="25" dirty="0"/>
              <a:t> </a:t>
            </a:r>
            <a:r>
              <a:rPr spc="-5" dirty="0"/>
              <a:t>independent</a:t>
            </a:r>
            <a:r>
              <a:rPr spc="20" dirty="0"/>
              <a:t> </a:t>
            </a:r>
            <a:r>
              <a:rPr spc="-15" dirty="0"/>
              <a:t>test </a:t>
            </a:r>
            <a:r>
              <a:rPr spc="-440" dirty="0"/>
              <a:t> </a:t>
            </a:r>
            <a:r>
              <a:rPr spc="-15" dirty="0"/>
              <a:t>data</a:t>
            </a:r>
            <a:r>
              <a:rPr dirty="0"/>
              <a:t> than</a:t>
            </a:r>
            <a:r>
              <a:rPr spc="-5" dirty="0"/>
              <a:t> </a:t>
            </a:r>
            <a:r>
              <a:rPr dirty="0"/>
              <a:t>unpruned</a:t>
            </a:r>
            <a:r>
              <a:rPr spc="-25" dirty="0"/>
              <a:t> </a:t>
            </a:r>
            <a:r>
              <a:rPr spc="-5" dirty="0"/>
              <a:t>trees</a:t>
            </a:r>
          </a:p>
        </p:txBody>
      </p:sp>
    </p:spTree>
    <p:extLst>
      <p:ext uri="{BB962C8B-B14F-4D97-AF65-F5344CB8AC3E}">
        <p14:creationId xmlns:p14="http://schemas.microsoft.com/office/powerpoint/2010/main" val="17179884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2392" y="385953"/>
            <a:ext cx="4380865" cy="452120"/>
          </a:xfrm>
          <a:prstGeom prst="rect">
            <a:avLst/>
          </a:prstGeom>
        </p:spPr>
        <p:txBody>
          <a:bodyPr vert="horz" wrap="square" lIns="0" tIns="12065" rIns="0" bIns="0" rtlCol="0">
            <a:spAutoFit/>
          </a:bodyPr>
          <a:lstStyle/>
          <a:p>
            <a:pPr marL="12700">
              <a:lnSpc>
                <a:spcPct val="100000"/>
              </a:lnSpc>
              <a:spcBef>
                <a:spcPts val="95"/>
              </a:spcBef>
            </a:pPr>
            <a:r>
              <a:rPr sz="2800" spc="-10" dirty="0"/>
              <a:t>How</a:t>
            </a:r>
            <a:r>
              <a:rPr sz="2800" dirty="0"/>
              <a:t> </a:t>
            </a:r>
            <a:r>
              <a:rPr sz="2800" spc="-10" dirty="0"/>
              <a:t>does</a:t>
            </a:r>
            <a:r>
              <a:rPr sz="2800" spc="5" dirty="0"/>
              <a:t> </a:t>
            </a:r>
            <a:r>
              <a:rPr sz="2800" spc="-55" dirty="0"/>
              <a:t>Tree</a:t>
            </a:r>
            <a:r>
              <a:rPr sz="2800" spc="-15" dirty="0"/>
              <a:t> </a:t>
            </a:r>
            <a:r>
              <a:rPr sz="2800" spc="-10" dirty="0"/>
              <a:t>Pruning</a:t>
            </a:r>
            <a:r>
              <a:rPr sz="2800" spc="20" dirty="0"/>
              <a:t> </a:t>
            </a:r>
            <a:r>
              <a:rPr sz="2800" spc="-30" dirty="0"/>
              <a:t>Work?</a:t>
            </a:r>
            <a:endParaRPr sz="28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82</a:t>
            </a:fld>
            <a:endParaRPr dirty="0"/>
          </a:p>
        </p:txBody>
      </p:sp>
      <p:sp>
        <p:nvSpPr>
          <p:cNvPr id="3" name="object 3"/>
          <p:cNvSpPr txBox="1"/>
          <p:nvPr/>
        </p:nvSpPr>
        <p:spPr>
          <a:xfrm>
            <a:off x="535940" y="1216913"/>
            <a:ext cx="8074025" cy="2282190"/>
          </a:xfrm>
          <a:prstGeom prst="rect">
            <a:avLst/>
          </a:prstGeom>
        </p:spPr>
        <p:txBody>
          <a:bodyPr vert="horz" wrap="square" lIns="0" tIns="13335" rIns="0" bIns="0" rtlCol="0">
            <a:spAutoFit/>
          </a:bodyPr>
          <a:lstStyle/>
          <a:p>
            <a:pPr marL="355600" marR="5080" indent="-342900" algn="just">
              <a:lnSpc>
                <a:spcPct val="100000"/>
              </a:lnSpc>
              <a:spcBef>
                <a:spcPts val="105"/>
              </a:spcBef>
              <a:buFont typeface="Arial MT"/>
              <a:buChar char="•"/>
              <a:tabLst>
                <a:tab pos="355600" algn="l"/>
              </a:tabLst>
            </a:pPr>
            <a:r>
              <a:rPr sz="2000" spc="-10" dirty="0">
                <a:latin typeface="Calibri"/>
                <a:cs typeface="Calibri"/>
              </a:rPr>
              <a:t>There are two </a:t>
            </a:r>
            <a:r>
              <a:rPr sz="2000" spc="-5" dirty="0">
                <a:latin typeface="Calibri"/>
                <a:cs typeface="Calibri"/>
              </a:rPr>
              <a:t>common </a:t>
            </a:r>
            <a:r>
              <a:rPr sz="2000" spc="-10" dirty="0">
                <a:latin typeface="Calibri"/>
                <a:cs typeface="Calibri"/>
              </a:rPr>
              <a:t>approaches </a:t>
            </a:r>
            <a:r>
              <a:rPr sz="2000" spc="-15" dirty="0">
                <a:latin typeface="Calibri"/>
                <a:cs typeface="Calibri"/>
              </a:rPr>
              <a:t>to </a:t>
            </a:r>
            <a:r>
              <a:rPr sz="2000" spc="-10" dirty="0">
                <a:latin typeface="Calibri"/>
                <a:cs typeface="Calibri"/>
              </a:rPr>
              <a:t>tree </a:t>
            </a:r>
            <a:r>
              <a:rPr sz="2000" spc="-5" dirty="0">
                <a:latin typeface="Calibri"/>
                <a:cs typeface="Calibri"/>
              </a:rPr>
              <a:t>pruning: </a:t>
            </a:r>
            <a:r>
              <a:rPr sz="2000" b="1" spc="-5" dirty="0">
                <a:latin typeface="Calibri"/>
                <a:cs typeface="Calibri"/>
              </a:rPr>
              <a:t>pre-pruning </a:t>
            </a:r>
            <a:r>
              <a:rPr sz="2000" spc="-5" dirty="0">
                <a:latin typeface="Calibri"/>
                <a:cs typeface="Calibri"/>
              </a:rPr>
              <a:t>and </a:t>
            </a:r>
            <a:r>
              <a:rPr sz="2000" b="1" spc="-10" dirty="0">
                <a:latin typeface="Calibri"/>
                <a:cs typeface="Calibri"/>
              </a:rPr>
              <a:t>post- </a:t>
            </a:r>
            <a:r>
              <a:rPr sz="2000" b="1" spc="-440" dirty="0">
                <a:latin typeface="Calibri"/>
                <a:cs typeface="Calibri"/>
              </a:rPr>
              <a:t> </a:t>
            </a:r>
            <a:r>
              <a:rPr sz="2000" b="1" dirty="0">
                <a:latin typeface="Calibri"/>
                <a:cs typeface="Calibri"/>
              </a:rPr>
              <a:t>pruning</a:t>
            </a:r>
            <a:r>
              <a:rPr sz="2000" dirty="0">
                <a:latin typeface="Calibri"/>
                <a:cs typeface="Calibri"/>
              </a:rPr>
              <a:t>.</a:t>
            </a:r>
          </a:p>
          <a:p>
            <a:pPr marL="355600" marR="5080" indent="-342900" algn="just">
              <a:lnSpc>
                <a:spcPct val="100000"/>
              </a:lnSpc>
              <a:spcBef>
                <a:spcPts val="480"/>
              </a:spcBef>
              <a:buFont typeface="Arial MT"/>
              <a:buChar char="•"/>
              <a:tabLst>
                <a:tab pos="355600" algn="l"/>
              </a:tabLst>
            </a:pPr>
            <a:r>
              <a:rPr sz="2000" spc="-5" dirty="0">
                <a:latin typeface="Calibri"/>
                <a:cs typeface="Calibri"/>
              </a:rPr>
              <a:t>In </a:t>
            </a:r>
            <a:r>
              <a:rPr sz="2000" dirty="0">
                <a:latin typeface="Calibri"/>
                <a:cs typeface="Calibri"/>
              </a:rPr>
              <a:t>the </a:t>
            </a:r>
            <a:r>
              <a:rPr sz="2000" b="1" spc="-5" dirty="0">
                <a:latin typeface="Calibri"/>
                <a:cs typeface="Calibri"/>
              </a:rPr>
              <a:t>pre-pruning </a:t>
            </a:r>
            <a:r>
              <a:rPr sz="2000" spc="-5" dirty="0">
                <a:latin typeface="Calibri"/>
                <a:cs typeface="Calibri"/>
              </a:rPr>
              <a:t>approach, </a:t>
            </a:r>
            <a:r>
              <a:rPr sz="2000" dirty="0">
                <a:latin typeface="Calibri"/>
                <a:cs typeface="Calibri"/>
              </a:rPr>
              <a:t>a </a:t>
            </a:r>
            <a:r>
              <a:rPr sz="2000" spc="-10" dirty="0">
                <a:latin typeface="Calibri"/>
                <a:cs typeface="Calibri"/>
              </a:rPr>
              <a:t>tree </a:t>
            </a:r>
            <a:r>
              <a:rPr sz="2000" spc="-5" dirty="0">
                <a:latin typeface="Calibri"/>
                <a:cs typeface="Calibri"/>
              </a:rPr>
              <a:t>is “pruned” </a:t>
            </a:r>
            <a:r>
              <a:rPr sz="2000" spc="-15" dirty="0">
                <a:latin typeface="Calibri"/>
                <a:cs typeface="Calibri"/>
              </a:rPr>
              <a:t>by </a:t>
            </a:r>
            <a:r>
              <a:rPr sz="2000" spc="-5" dirty="0">
                <a:latin typeface="Calibri"/>
                <a:cs typeface="Calibri"/>
              </a:rPr>
              <a:t>halting </a:t>
            </a:r>
            <a:r>
              <a:rPr sz="2000" dirty="0">
                <a:latin typeface="Calibri"/>
                <a:cs typeface="Calibri"/>
              </a:rPr>
              <a:t>its </a:t>
            </a:r>
            <a:r>
              <a:rPr sz="2000" spc="-5" dirty="0">
                <a:latin typeface="Calibri"/>
                <a:cs typeface="Calibri"/>
              </a:rPr>
              <a:t>construction </a:t>
            </a:r>
            <a:r>
              <a:rPr sz="2000" dirty="0">
                <a:latin typeface="Calibri"/>
                <a:cs typeface="Calibri"/>
              </a:rPr>
              <a:t> </a:t>
            </a:r>
            <a:r>
              <a:rPr sz="2000" spc="-5" dirty="0">
                <a:latin typeface="Calibri"/>
                <a:cs typeface="Calibri"/>
              </a:rPr>
              <a:t>early</a:t>
            </a:r>
            <a:r>
              <a:rPr sz="2000" dirty="0">
                <a:latin typeface="Calibri"/>
                <a:cs typeface="Calibri"/>
              </a:rPr>
              <a:t> (e.g.,</a:t>
            </a:r>
            <a:r>
              <a:rPr sz="2000" spc="5" dirty="0">
                <a:latin typeface="Calibri"/>
                <a:cs typeface="Calibri"/>
              </a:rPr>
              <a:t> </a:t>
            </a:r>
            <a:r>
              <a:rPr sz="2000" spc="-15" dirty="0">
                <a:latin typeface="Calibri"/>
                <a:cs typeface="Calibri"/>
              </a:rPr>
              <a:t>by</a:t>
            </a:r>
            <a:r>
              <a:rPr sz="2000" spc="-10" dirty="0">
                <a:latin typeface="Calibri"/>
                <a:cs typeface="Calibri"/>
              </a:rPr>
              <a:t> </a:t>
            </a:r>
            <a:r>
              <a:rPr sz="2000" dirty="0">
                <a:latin typeface="Calibri"/>
                <a:cs typeface="Calibri"/>
              </a:rPr>
              <a:t>deciding</a:t>
            </a:r>
            <a:r>
              <a:rPr sz="2000" spc="5" dirty="0">
                <a:latin typeface="Calibri"/>
                <a:cs typeface="Calibri"/>
              </a:rPr>
              <a:t> </a:t>
            </a:r>
            <a:r>
              <a:rPr sz="2000" spc="-5" dirty="0">
                <a:latin typeface="Calibri"/>
                <a:cs typeface="Calibri"/>
              </a:rPr>
              <a:t>not</a:t>
            </a:r>
            <a:r>
              <a:rPr sz="2000" dirty="0">
                <a:latin typeface="Calibri"/>
                <a:cs typeface="Calibri"/>
              </a:rPr>
              <a:t> </a:t>
            </a:r>
            <a:r>
              <a:rPr sz="2000" spc="-15" dirty="0">
                <a:latin typeface="Calibri"/>
                <a:cs typeface="Calibri"/>
              </a:rPr>
              <a:t>to</a:t>
            </a:r>
            <a:r>
              <a:rPr sz="2000" spc="-10" dirty="0">
                <a:latin typeface="Calibri"/>
                <a:cs typeface="Calibri"/>
              </a:rPr>
              <a:t> </a:t>
            </a:r>
            <a:r>
              <a:rPr sz="2000" spc="-5" dirty="0">
                <a:latin typeface="Calibri"/>
                <a:cs typeface="Calibri"/>
              </a:rPr>
              <a:t>further</a:t>
            </a:r>
            <a:r>
              <a:rPr sz="2000" dirty="0">
                <a:latin typeface="Calibri"/>
                <a:cs typeface="Calibri"/>
              </a:rPr>
              <a:t> </a:t>
            </a:r>
            <a:r>
              <a:rPr sz="2000" spc="-5" dirty="0">
                <a:latin typeface="Calibri"/>
                <a:cs typeface="Calibri"/>
              </a:rPr>
              <a:t>split</a:t>
            </a:r>
            <a:r>
              <a:rPr sz="2000" dirty="0">
                <a:latin typeface="Calibri"/>
                <a:cs typeface="Calibri"/>
              </a:rPr>
              <a:t> </a:t>
            </a:r>
            <a:r>
              <a:rPr sz="2000" spc="-5" dirty="0">
                <a:latin typeface="Calibri"/>
                <a:cs typeface="Calibri"/>
              </a:rPr>
              <a:t>or</a:t>
            </a:r>
            <a:r>
              <a:rPr sz="2000" dirty="0">
                <a:latin typeface="Calibri"/>
                <a:cs typeface="Calibri"/>
              </a:rPr>
              <a:t> partition</a:t>
            </a:r>
            <a:r>
              <a:rPr sz="2000" spc="5"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subset</a:t>
            </a:r>
            <a:r>
              <a:rPr sz="2000" spc="430" dirty="0">
                <a:latin typeface="Calibri"/>
                <a:cs typeface="Calibri"/>
              </a:rPr>
              <a:t> </a:t>
            </a:r>
            <a:r>
              <a:rPr sz="2000" spc="-5" dirty="0">
                <a:latin typeface="Calibri"/>
                <a:cs typeface="Calibri"/>
              </a:rPr>
              <a:t>of </a:t>
            </a:r>
            <a:r>
              <a:rPr sz="2000" dirty="0">
                <a:latin typeface="Calibri"/>
                <a:cs typeface="Calibri"/>
              </a:rPr>
              <a:t> </a:t>
            </a:r>
            <a:r>
              <a:rPr sz="2000" spc="-5" dirty="0">
                <a:latin typeface="Calibri"/>
                <a:cs typeface="Calibri"/>
              </a:rPr>
              <a:t>training</a:t>
            </a:r>
            <a:r>
              <a:rPr sz="2000" spc="-10" dirty="0">
                <a:latin typeface="Calibri"/>
                <a:cs typeface="Calibri"/>
              </a:rPr>
              <a:t> </a:t>
            </a:r>
            <a:r>
              <a:rPr sz="2000" dirty="0">
                <a:latin typeface="Calibri"/>
                <a:cs typeface="Calibri"/>
              </a:rPr>
              <a:t>tuples</a:t>
            </a:r>
            <a:r>
              <a:rPr sz="2000" spc="-5" dirty="0">
                <a:latin typeface="Calibri"/>
                <a:cs typeface="Calibri"/>
              </a:rPr>
              <a:t> </a:t>
            </a:r>
            <a:r>
              <a:rPr sz="2000" spc="-15" dirty="0">
                <a:latin typeface="Calibri"/>
                <a:cs typeface="Calibri"/>
              </a:rPr>
              <a:t>at</a:t>
            </a:r>
            <a:r>
              <a:rPr sz="2000" spc="15" dirty="0">
                <a:latin typeface="Calibri"/>
                <a:cs typeface="Calibri"/>
              </a:rPr>
              <a:t> </a:t>
            </a:r>
            <a:r>
              <a:rPr sz="2000" dirty="0">
                <a:latin typeface="Calibri"/>
                <a:cs typeface="Calibri"/>
              </a:rPr>
              <a:t>a</a:t>
            </a:r>
            <a:r>
              <a:rPr sz="2000" spc="-10" dirty="0">
                <a:latin typeface="Calibri"/>
                <a:cs typeface="Calibri"/>
              </a:rPr>
              <a:t> </a:t>
            </a:r>
            <a:r>
              <a:rPr sz="2000" spc="-5" dirty="0">
                <a:latin typeface="Calibri"/>
                <a:cs typeface="Calibri"/>
              </a:rPr>
              <a:t>given</a:t>
            </a:r>
            <a:r>
              <a:rPr sz="2000" dirty="0">
                <a:latin typeface="Calibri"/>
                <a:cs typeface="Calibri"/>
              </a:rPr>
              <a:t> node).</a:t>
            </a:r>
          </a:p>
          <a:p>
            <a:pPr marL="355600" indent="-342900" algn="just">
              <a:lnSpc>
                <a:spcPct val="100000"/>
              </a:lnSpc>
              <a:spcBef>
                <a:spcPts val="480"/>
              </a:spcBef>
              <a:buFont typeface="Arial MT"/>
              <a:buChar char="•"/>
              <a:tabLst>
                <a:tab pos="355600" algn="l"/>
              </a:tabLst>
            </a:pPr>
            <a:r>
              <a:rPr sz="2000" spc="-5" dirty="0">
                <a:latin typeface="Calibri"/>
                <a:cs typeface="Calibri"/>
              </a:rPr>
              <a:t>When</a:t>
            </a:r>
            <a:r>
              <a:rPr sz="2000" spc="790" dirty="0">
                <a:latin typeface="Calibri"/>
                <a:cs typeface="Calibri"/>
              </a:rPr>
              <a:t> </a:t>
            </a:r>
            <a:r>
              <a:rPr sz="2000" spc="-5" dirty="0">
                <a:latin typeface="Calibri"/>
                <a:cs typeface="Calibri"/>
              </a:rPr>
              <a:t>constructing</a:t>
            </a:r>
            <a:r>
              <a:rPr sz="2000" spc="800" dirty="0">
                <a:latin typeface="Calibri"/>
                <a:cs typeface="Calibri"/>
              </a:rPr>
              <a:t> </a:t>
            </a:r>
            <a:r>
              <a:rPr sz="2000" dirty="0">
                <a:latin typeface="Calibri"/>
                <a:cs typeface="Calibri"/>
              </a:rPr>
              <a:t>a</a:t>
            </a:r>
            <a:r>
              <a:rPr sz="2000" spc="800" dirty="0">
                <a:latin typeface="Calibri"/>
                <a:cs typeface="Calibri"/>
              </a:rPr>
              <a:t> </a:t>
            </a:r>
            <a:r>
              <a:rPr sz="2000" spc="-10" dirty="0">
                <a:latin typeface="Calibri"/>
                <a:cs typeface="Calibri"/>
              </a:rPr>
              <a:t>tree,</a:t>
            </a:r>
            <a:r>
              <a:rPr sz="2000" spc="795" dirty="0">
                <a:latin typeface="Calibri"/>
                <a:cs typeface="Calibri"/>
              </a:rPr>
              <a:t> </a:t>
            </a:r>
            <a:r>
              <a:rPr sz="2000" spc="-5" dirty="0">
                <a:latin typeface="Calibri"/>
                <a:cs typeface="Calibri"/>
              </a:rPr>
              <a:t>measures</a:t>
            </a:r>
            <a:r>
              <a:rPr sz="2000" spc="800" dirty="0">
                <a:latin typeface="Calibri"/>
                <a:cs typeface="Calibri"/>
              </a:rPr>
              <a:t> </a:t>
            </a:r>
            <a:r>
              <a:rPr sz="2000" spc="-5" dirty="0">
                <a:latin typeface="Calibri"/>
                <a:cs typeface="Calibri"/>
              </a:rPr>
              <a:t>such</a:t>
            </a:r>
            <a:r>
              <a:rPr sz="2000" spc="790" dirty="0">
                <a:latin typeface="Calibri"/>
                <a:cs typeface="Calibri"/>
              </a:rPr>
              <a:t> </a:t>
            </a:r>
            <a:r>
              <a:rPr sz="2000" dirty="0">
                <a:latin typeface="Calibri"/>
                <a:cs typeface="Calibri"/>
              </a:rPr>
              <a:t>as</a:t>
            </a:r>
            <a:r>
              <a:rPr sz="2000" spc="800" dirty="0">
                <a:latin typeface="Calibri"/>
                <a:cs typeface="Calibri"/>
              </a:rPr>
              <a:t> </a:t>
            </a:r>
            <a:r>
              <a:rPr sz="2000" spc="-10" dirty="0">
                <a:latin typeface="Calibri"/>
                <a:cs typeface="Calibri"/>
              </a:rPr>
              <a:t>statistical</a:t>
            </a:r>
            <a:r>
              <a:rPr sz="2000" spc="800" dirty="0">
                <a:latin typeface="Calibri"/>
                <a:cs typeface="Calibri"/>
              </a:rPr>
              <a:t> </a:t>
            </a:r>
            <a:r>
              <a:rPr sz="2000" spc="-5" dirty="0">
                <a:latin typeface="Calibri"/>
                <a:cs typeface="Calibri"/>
              </a:rPr>
              <a:t>significance,</a:t>
            </a:r>
            <a:endParaRPr sz="2000" dirty="0">
              <a:latin typeface="Calibri"/>
              <a:cs typeface="Calibri"/>
            </a:endParaRPr>
          </a:p>
          <a:p>
            <a:pPr marL="355600" algn="just">
              <a:lnSpc>
                <a:spcPct val="100000"/>
              </a:lnSpc>
            </a:pPr>
            <a:r>
              <a:rPr sz="2000" spc="-10" dirty="0">
                <a:latin typeface="Calibri"/>
                <a:cs typeface="Calibri"/>
              </a:rPr>
              <a:t>information</a:t>
            </a:r>
            <a:r>
              <a:rPr sz="2000" dirty="0">
                <a:latin typeface="Calibri"/>
                <a:cs typeface="Calibri"/>
              </a:rPr>
              <a:t> </a:t>
            </a:r>
            <a:r>
              <a:rPr sz="2000" spc="-10" dirty="0">
                <a:latin typeface="Calibri"/>
                <a:cs typeface="Calibri"/>
              </a:rPr>
              <a:t>gain,</a:t>
            </a:r>
            <a:r>
              <a:rPr sz="2000" spc="-15" dirty="0">
                <a:latin typeface="Calibri"/>
                <a:cs typeface="Calibri"/>
              </a:rPr>
              <a:t> </a:t>
            </a:r>
            <a:r>
              <a:rPr sz="2000" spc="-5" dirty="0">
                <a:latin typeface="Calibri"/>
                <a:cs typeface="Calibri"/>
              </a:rPr>
              <a:t>Gini</a:t>
            </a:r>
            <a:r>
              <a:rPr sz="2000" spc="25" dirty="0">
                <a:latin typeface="Calibri"/>
                <a:cs typeface="Calibri"/>
              </a:rPr>
              <a:t> </a:t>
            </a:r>
            <a:r>
              <a:rPr sz="2000" spc="-10" dirty="0">
                <a:latin typeface="Calibri"/>
                <a:cs typeface="Calibri"/>
              </a:rPr>
              <a:t>index </a:t>
            </a:r>
            <a:r>
              <a:rPr sz="2000" spc="-5" dirty="0">
                <a:latin typeface="Calibri"/>
                <a:cs typeface="Calibri"/>
              </a:rPr>
              <a:t>can</a:t>
            </a:r>
            <a:r>
              <a:rPr sz="2000" dirty="0">
                <a:latin typeface="Calibri"/>
                <a:cs typeface="Calibri"/>
              </a:rPr>
              <a:t> be</a:t>
            </a:r>
            <a:r>
              <a:rPr sz="2000" spc="-5" dirty="0">
                <a:latin typeface="Calibri"/>
                <a:cs typeface="Calibri"/>
              </a:rPr>
              <a:t> used</a:t>
            </a:r>
            <a:r>
              <a:rPr sz="2000" spc="10" dirty="0">
                <a:latin typeface="Calibri"/>
                <a:cs typeface="Calibri"/>
              </a:rPr>
              <a:t> </a:t>
            </a:r>
            <a:r>
              <a:rPr sz="2000" spc="-15" dirty="0">
                <a:latin typeface="Calibri"/>
                <a:cs typeface="Calibri"/>
              </a:rPr>
              <a:t>to</a:t>
            </a:r>
            <a:r>
              <a:rPr sz="2000" dirty="0">
                <a:latin typeface="Calibri"/>
                <a:cs typeface="Calibri"/>
              </a:rPr>
              <a:t> assess</a:t>
            </a:r>
            <a:r>
              <a:rPr sz="2000" spc="30" dirty="0">
                <a:latin typeface="Calibri"/>
                <a:cs typeface="Calibri"/>
              </a:rPr>
              <a:t> </a:t>
            </a:r>
            <a:r>
              <a:rPr sz="2000" dirty="0">
                <a:latin typeface="Calibri"/>
                <a:cs typeface="Calibri"/>
              </a:rPr>
              <a:t>the</a:t>
            </a:r>
            <a:r>
              <a:rPr sz="2000" spc="-5" dirty="0">
                <a:latin typeface="Calibri"/>
                <a:cs typeface="Calibri"/>
              </a:rPr>
              <a:t> goodness</a:t>
            </a:r>
            <a:r>
              <a:rPr sz="2000" spc="-10" dirty="0">
                <a:latin typeface="Calibri"/>
                <a:cs typeface="Calibri"/>
              </a:rPr>
              <a:t> </a:t>
            </a:r>
            <a:r>
              <a:rPr sz="2000" spc="-5" dirty="0">
                <a:latin typeface="Calibri"/>
                <a:cs typeface="Calibri"/>
              </a:rPr>
              <a:t>of </a:t>
            </a:r>
            <a:r>
              <a:rPr sz="2000" dirty="0">
                <a:latin typeface="Calibri"/>
                <a:cs typeface="Calibri"/>
              </a:rPr>
              <a:t>a</a:t>
            </a:r>
            <a:r>
              <a:rPr sz="2000" spc="-5" dirty="0">
                <a:latin typeface="Calibri"/>
                <a:cs typeface="Calibri"/>
              </a:rPr>
              <a:t> split.</a:t>
            </a:r>
            <a:endParaRPr sz="2000" dirty="0">
              <a:latin typeface="Calibri"/>
              <a:cs typeface="Calibri"/>
            </a:endParaRPr>
          </a:p>
        </p:txBody>
      </p:sp>
    </p:spTree>
    <p:extLst>
      <p:ext uri="{BB962C8B-B14F-4D97-AF65-F5344CB8AC3E}">
        <p14:creationId xmlns:p14="http://schemas.microsoft.com/office/powerpoint/2010/main" val="39664560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2392" y="385953"/>
            <a:ext cx="4381500" cy="452120"/>
          </a:xfrm>
          <a:prstGeom prst="rect">
            <a:avLst/>
          </a:prstGeom>
        </p:spPr>
        <p:txBody>
          <a:bodyPr vert="horz" wrap="square" lIns="0" tIns="12065" rIns="0" bIns="0" rtlCol="0">
            <a:spAutoFit/>
          </a:bodyPr>
          <a:lstStyle/>
          <a:p>
            <a:pPr marL="12700">
              <a:lnSpc>
                <a:spcPct val="100000"/>
              </a:lnSpc>
              <a:spcBef>
                <a:spcPts val="95"/>
              </a:spcBef>
            </a:pPr>
            <a:r>
              <a:rPr sz="2800" spc="-10" dirty="0"/>
              <a:t>How</a:t>
            </a:r>
            <a:r>
              <a:rPr sz="2800" dirty="0"/>
              <a:t> </a:t>
            </a:r>
            <a:r>
              <a:rPr sz="2800" spc="-10" dirty="0"/>
              <a:t>does</a:t>
            </a:r>
            <a:r>
              <a:rPr sz="2800" spc="10" dirty="0"/>
              <a:t> </a:t>
            </a:r>
            <a:r>
              <a:rPr sz="2800" spc="-55" dirty="0"/>
              <a:t>Tree</a:t>
            </a:r>
            <a:r>
              <a:rPr sz="2800" spc="-5" dirty="0"/>
              <a:t> </a:t>
            </a:r>
            <a:r>
              <a:rPr sz="2800" spc="-10" dirty="0"/>
              <a:t>Pruning</a:t>
            </a:r>
            <a:r>
              <a:rPr sz="2800" spc="30" dirty="0"/>
              <a:t> </a:t>
            </a:r>
            <a:r>
              <a:rPr sz="2800" spc="-35" dirty="0"/>
              <a:t>Work?</a:t>
            </a:r>
            <a:endParaRPr sz="28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83</a:t>
            </a:fld>
            <a:endParaRPr dirty="0"/>
          </a:p>
        </p:txBody>
      </p:sp>
      <p:sp>
        <p:nvSpPr>
          <p:cNvPr id="3" name="object 3"/>
          <p:cNvSpPr txBox="1"/>
          <p:nvPr/>
        </p:nvSpPr>
        <p:spPr>
          <a:xfrm>
            <a:off x="535940" y="1156563"/>
            <a:ext cx="8073390" cy="3134995"/>
          </a:xfrm>
          <a:prstGeom prst="rect">
            <a:avLst/>
          </a:prstGeom>
        </p:spPr>
        <p:txBody>
          <a:bodyPr vert="horz" wrap="square" lIns="0" tIns="73660" rIns="0" bIns="0" rtlCol="0">
            <a:spAutoFit/>
          </a:bodyPr>
          <a:lstStyle/>
          <a:p>
            <a:pPr marL="355600" indent="-342900">
              <a:lnSpc>
                <a:spcPct val="100000"/>
              </a:lnSpc>
              <a:spcBef>
                <a:spcPts val="580"/>
              </a:spcBef>
              <a:buFont typeface="Arial MT"/>
              <a:buChar char="•"/>
              <a:tabLst>
                <a:tab pos="354965" algn="l"/>
                <a:tab pos="355600" algn="l"/>
              </a:tabLst>
            </a:pPr>
            <a:r>
              <a:rPr sz="2000" spc="-5" dirty="0">
                <a:latin typeface="Calibri"/>
                <a:cs typeface="Calibri"/>
              </a:rPr>
              <a:t>The</a:t>
            </a:r>
            <a:r>
              <a:rPr sz="2000" spc="5" dirty="0">
                <a:latin typeface="Calibri"/>
                <a:cs typeface="Calibri"/>
              </a:rPr>
              <a:t> </a:t>
            </a:r>
            <a:r>
              <a:rPr sz="2000" b="1" spc="-5" dirty="0">
                <a:latin typeface="Calibri"/>
                <a:cs typeface="Calibri"/>
              </a:rPr>
              <a:t>post-pruning</a:t>
            </a:r>
            <a:r>
              <a:rPr sz="2000" b="1" spc="-25" dirty="0">
                <a:latin typeface="Calibri"/>
                <a:cs typeface="Calibri"/>
              </a:rPr>
              <a:t> </a:t>
            </a:r>
            <a:r>
              <a:rPr sz="2000" spc="-5" dirty="0">
                <a:latin typeface="Calibri"/>
                <a:cs typeface="Calibri"/>
              </a:rPr>
              <a:t>approach</a:t>
            </a:r>
            <a:r>
              <a:rPr sz="2000" dirty="0">
                <a:latin typeface="Calibri"/>
                <a:cs typeface="Calibri"/>
              </a:rPr>
              <a:t> </a:t>
            </a:r>
            <a:r>
              <a:rPr sz="2000" spc="-15" dirty="0">
                <a:latin typeface="Calibri"/>
                <a:cs typeface="Calibri"/>
              </a:rPr>
              <a:t>removes</a:t>
            </a:r>
            <a:r>
              <a:rPr sz="2000" spc="30" dirty="0">
                <a:latin typeface="Calibri"/>
                <a:cs typeface="Calibri"/>
              </a:rPr>
              <a:t> </a:t>
            </a:r>
            <a:r>
              <a:rPr sz="2000" spc="-5" dirty="0">
                <a:latin typeface="Calibri"/>
                <a:cs typeface="Calibri"/>
              </a:rPr>
              <a:t>sub_trees</a:t>
            </a:r>
            <a:r>
              <a:rPr sz="2000" spc="10" dirty="0">
                <a:latin typeface="Calibri"/>
                <a:cs typeface="Calibri"/>
              </a:rPr>
              <a:t> </a:t>
            </a:r>
            <a:r>
              <a:rPr sz="2000" spc="-15" dirty="0">
                <a:latin typeface="Calibri"/>
                <a:cs typeface="Calibri"/>
              </a:rPr>
              <a:t>from</a:t>
            </a:r>
            <a:r>
              <a:rPr sz="2000" dirty="0">
                <a:latin typeface="Calibri"/>
                <a:cs typeface="Calibri"/>
              </a:rPr>
              <a:t> a</a:t>
            </a:r>
            <a:r>
              <a:rPr sz="2000" spc="10" dirty="0">
                <a:latin typeface="Calibri"/>
                <a:cs typeface="Calibri"/>
              </a:rPr>
              <a:t> </a:t>
            </a:r>
            <a:r>
              <a:rPr sz="2000" spc="-5" dirty="0">
                <a:latin typeface="Calibri"/>
                <a:cs typeface="Calibri"/>
              </a:rPr>
              <a:t>“fully</a:t>
            </a:r>
            <a:r>
              <a:rPr sz="2000" dirty="0">
                <a:latin typeface="Calibri"/>
                <a:cs typeface="Calibri"/>
              </a:rPr>
              <a:t> </a:t>
            </a:r>
            <a:r>
              <a:rPr sz="2000" spc="-10" dirty="0">
                <a:latin typeface="Calibri"/>
                <a:cs typeface="Calibri"/>
              </a:rPr>
              <a:t>grown”</a:t>
            </a:r>
            <a:r>
              <a:rPr sz="2000" dirty="0">
                <a:latin typeface="Calibri"/>
                <a:cs typeface="Calibri"/>
              </a:rPr>
              <a:t> </a:t>
            </a:r>
            <a:r>
              <a:rPr sz="2000" spc="-10" dirty="0">
                <a:latin typeface="Calibri"/>
                <a:cs typeface="Calibri"/>
              </a:rPr>
              <a:t>tree</a:t>
            </a:r>
            <a:endParaRPr sz="2000" dirty="0">
              <a:latin typeface="Calibri"/>
              <a:cs typeface="Calibri"/>
            </a:endParaRPr>
          </a:p>
          <a:p>
            <a:pPr marL="355600" marR="5080" indent="-342900">
              <a:lnSpc>
                <a:spcPct val="100000"/>
              </a:lnSpc>
              <a:spcBef>
                <a:spcPts val="480"/>
              </a:spcBef>
              <a:buFont typeface="Arial MT"/>
              <a:buChar char="•"/>
              <a:tabLst>
                <a:tab pos="354965" algn="l"/>
                <a:tab pos="355600" algn="l"/>
                <a:tab pos="641985" algn="l"/>
                <a:tab pos="1570355" algn="l"/>
                <a:tab pos="1914525" algn="l"/>
                <a:tab pos="2174875" algn="l"/>
                <a:tab pos="2864485" algn="l"/>
                <a:tab pos="3528695" algn="l"/>
                <a:tab pos="3824604" algn="l"/>
                <a:tab pos="4712970" algn="l"/>
                <a:tab pos="5099050" algn="l"/>
                <a:tab pos="6209665" algn="l"/>
                <a:tab pos="6591300" algn="l"/>
                <a:tab pos="7671434" algn="l"/>
              </a:tabLst>
            </a:pPr>
            <a:r>
              <a:rPr sz="2000" dirty="0">
                <a:latin typeface="Calibri"/>
                <a:cs typeface="Calibri"/>
              </a:rPr>
              <a:t>A	</a:t>
            </a:r>
            <a:r>
              <a:rPr sz="2000" spc="-5" dirty="0">
                <a:latin typeface="Calibri"/>
                <a:cs typeface="Calibri"/>
              </a:rPr>
              <a:t>su</a:t>
            </a:r>
            <a:r>
              <a:rPr sz="2000" spc="-10" dirty="0">
                <a:latin typeface="Calibri"/>
                <a:cs typeface="Calibri"/>
              </a:rPr>
              <a:t>b</a:t>
            </a:r>
            <a:r>
              <a:rPr sz="2000" dirty="0">
                <a:latin typeface="Calibri"/>
                <a:cs typeface="Calibri"/>
              </a:rPr>
              <a:t>t</a:t>
            </a:r>
            <a:r>
              <a:rPr sz="2000" spc="-30" dirty="0">
                <a:latin typeface="Calibri"/>
                <a:cs typeface="Calibri"/>
              </a:rPr>
              <a:t>r</a:t>
            </a:r>
            <a:r>
              <a:rPr sz="2000" dirty="0">
                <a:latin typeface="Calibri"/>
                <a:cs typeface="Calibri"/>
              </a:rPr>
              <a:t>ee	</a:t>
            </a:r>
            <a:r>
              <a:rPr sz="2000" spc="-25" dirty="0">
                <a:latin typeface="Calibri"/>
                <a:cs typeface="Calibri"/>
              </a:rPr>
              <a:t>a</a:t>
            </a:r>
            <a:r>
              <a:rPr sz="2000" dirty="0">
                <a:latin typeface="Calibri"/>
                <a:cs typeface="Calibri"/>
              </a:rPr>
              <a:t>t	a	gi</a:t>
            </a:r>
            <a:r>
              <a:rPr sz="2000" spc="-30" dirty="0">
                <a:latin typeface="Calibri"/>
                <a:cs typeface="Calibri"/>
              </a:rPr>
              <a:t>v</a:t>
            </a:r>
            <a:r>
              <a:rPr sz="2000" dirty="0">
                <a:latin typeface="Calibri"/>
                <a:cs typeface="Calibri"/>
              </a:rPr>
              <a:t>en	</a:t>
            </a:r>
            <a:r>
              <a:rPr sz="2000" spc="-10" dirty="0">
                <a:latin typeface="Calibri"/>
                <a:cs typeface="Calibri"/>
              </a:rPr>
              <a:t>n</a:t>
            </a:r>
            <a:r>
              <a:rPr sz="2000" spc="-5" dirty="0">
                <a:latin typeface="Calibri"/>
                <a:cs typeface="Calibri"/>
              </a:rPr>
              <a:t>od</a:t>
            </a:r>
            <a:r>
              <a:rPr sz="2000" dirty="0">
                <a:latin typeface="Calibri"/>
                <a:cs typeface="Calibri"/>
              </a:rPr>
              <a:t>e	</a:t>
            </a:r>
            <a:r>
              <a:rPr sz="2000" spc="-5" dirty="0">
                <a:latin typeface="Calibri"/>
                <a:cs typeface="Calibri"/>
              </a:rPr>
              <a:t>i</a:t>
            </a:r>
            <a:r>
              <a:rPr sz="2000" dirty="0">
                <a:latin typeface="Calibri"/>
                <a:cs typeface="Calibri"/>
              </a:rPr>
              <a:t>s	</a:t>
            </a:r>
            <a:r>
              <a:rPr sz="2000" spc="-5" dirty="0">
                <a:latin typeface="Calibri"/>
                <a:cs typeface="Calibri"/>
              </a:rPr>
              <a:t>pru</a:t>
            </a:r>
            <a:r>
              <a:rPr sz="2000" spc="5" dirty="0">
                <a:latin typeface="Calibri"/>
                <a:cs typeface="Calibri"/>
              </a:rPr>
              <a:t>n</a:t>
            </a:r>
            <a:r>
              <a:rPr sz="2000" dirty="0">
                <a:latin typeface="Calibri"/>
                <a:cs typeface="Calibri"/>
              </a:rPr>
              <a:t>ed	</a:t>
            </a:r>
            <a:r>
              <a:rPr sz="2000" spc="-25" dirty="0">
                <a:latin typeface="Calibri"/>
                <a:cs typeface="Calibri"/>
              </a:rPr>
              <a:t>b</a:t>
            </a:r>
            <a:r>
              <a:rPr sz="2000" dirty="0">
                <a:latin typeface="Calibri"/>
                <a:cs typeface="Calibri"/>
              </a:rPr>
              <a:t>y	</a:t>
            </a:r>
            <a:r>
              <a:rPr sz="2000" spc="-30" dirty="0">
                <a:latin typeface="Calibri"/>
                <a:cs typeface="Calibri"/>
              </a:rPr>
              <a:t>r</a:t>
            </a:r>
            <a:r>
              <a:rPr sz="2000" dirty="0">
                <a:latin typeface="Calibri"/>
                <a:cs typeface="Calibri"/>
              </a:rPr>
              <a:t>e</a:t>
            </a:r>
            <a:r>
              <a:rPr sz="2000" spc="-10" dirty="0">
                <a:latin typeface="Calibri"/>
                <a:cs typeface="Calibri"/>
              </a:rPr>
              <a:t>m</a:t>
            </a:r>
            <a:r>
              <a:rPr sz="2000" spc="-15" dirty="0">
                <a:latin typeface="Calibri"/>
                <a:cs typeface="Calibri"/>
              </a:rPr>
              <a:t>o</a:t>
            </a:r>
            <a:r>
              <a:rPr sz="2000" dirty="0">
                <a:latin typeface="Calibri"/>
                <a:cs typeface="Calibri"/>
              </a:rPr>
              <a:t>v</a:t>
            </a:r>
            <a:r>
              <a:rPr sz="2000" spc="-10" dirty="0">
                <a:latin typeface="Calibri"/>
                <a:cs typeface="Calibri"/>
              </a:rPr>
              <a:t>in</a:t>
            </a:r>
            <a:r>
              <a:rPr sz="2000" dirty="0">
                <a:latin typeface="Calibri"/>
                <a:cs typeface="Calibri"/>
              </a:rPr>
              <a:t>g	its	</a:t>
            </a:r>
            <a:r>
              <a:rPr sz="2000" spc="-5" dirty="0">
                <a:latin typeface="Calibri"/>
                <a:cs typeface="Calibri"/>
              </a:rPr>
              <a:t>b</a:t>
            </a:r>
            <a:r>
              <a:rPr sz="2000" spc="-40" dirty="0">
                <a:latin typeface="Calibri"/>
                <a:cs typeface="Calibri"/>
              </a:rPr>
              <a:t>r</a:t>
            </a:r>
            <a:r>
              <a:rPr sz="2000" dirty="0">
                <a:latin typeface="Calibri"/>
                <a:cs typeface="Calibri"/>
              </a:rPr>
              <a:t>an</a:t>
            </a:r>
            <a:r>
              <a:rPr sz="2000" spc="5" dirty="0">
                <a:latin typeface="Calibri"/>
                <a:cs typeface="Calibri"/>
              </a:rPr>
              <a:t>c</a:t>
            </a:r>
            <a:r>
              <a:rPr sz="2000" spc="-5" dirty="0">
                <a:latin typeface="Calibri"/>
                <a:cs typeface="Calibri"/>
              </a:rPr>
              <a:t>he</a:t>
            </a:r>
            <a:r>
              <a:rPr sz="2000" dirty="0">
                <a:latin typeface="Calibri"/>
                <a:cs typeface="Calibri"/>
              </a:rPr>
              <a:t>s	</a:t>
            </a:r>
            <a:r>
              <a:rPr sz="2000" spc="-15" dirty="0">
                <a:latin typeface="Calibri"/>
                <a:cs typeface="Calibri"/>
              </a:rPr>
              <a:t>a</a:t>
            </a:r>
            <a:r>
              <a:rPr sz="2000" spc="-5" dirty="0">
                <a:latin typeface="Calibri"/>
                <a:cs typeface="Calibri"/>
              </a:rPr>
              <a:t>nd  replacing</a:t>
            </a:r>
            <a:r>
              <a:rPr sz="2000" spc="-15" dirty="0">
                <a:latin typeface="Calibri"/>
                <a:cs typeface="Calibri"/>
              </a:rPr>
              <a:t> </a:t>
            </a:r>
            <a:r>
              <a:rPr sz="2000" spc="-5" dirty="0">
                <a:latin typeface="Calibri"/>
                <a:cs typeface="Calibri"/>
              </a:rPr>
              <a:t>it</a:t>
            </a:r>
            <a:r>
              <a:rPr sz="2000" dirty="0">
                <a:latin typeface="Calibri"/>
                <a:cs typeface="Calibri"/>
              </a:rPr>
              <a:t> </a:t>
            </a:r>
            <a:r>
              <a:rPr sz="2000" spc="-5" dirty="0">
                <a:latin typeface="Calibri"/>
                <a:cs typeface="Calibri"/>
              </a:rPr>
              <a:t>with</a:t>
            </a:r>
            <a:r>
              <a:rPr sz="2000" spc="5" dirty="0">
                <a:latin typeface="Calibri"/>
                <a:cs typeface="Calibri"/>
              </a:rPr>
              <a:t> </a:t>
            </a:r>
            <a:r>
              <a:rPr sz="2000" dirty="0">
                <a:latin typeface="Calibri"/>
                <a:cs typeface="Calibri"/>
              </a:rPr>
              <a:t>a </a:t>
            </a:r>
            <a:r>
              <a:rPr sz="2000" spc="-5" dirty="0">
                <a:latin typeface="Calibri"/>
                <a:cs typeface="Calibri"/>
              </a:rPr>
              <a:t>leaf</a:t>
            </a:r>
            <a:endParaRPr sz="2000" dirty="0">
              <a:latin typeface="Calibri"/>
              <a:cs typeface="Calibri"/>
            </a:endParaRPr>
          </a:p>
          <a:p>
            <a:pPr marL="355600" marR="5080" indent="-342900">
              <a:lnSpc>
                <a:spcPct val="100000"/>
              </a:lnSpc>
              <a:spcBef>
                <a:spcPts val="480"/>
              </a:spcBef>
              <a:buFont typeface="Arial MT"/>
              <a:buChar char="•"/>
              <a:tabLst>
                <a:tab pos="354965" algn="l"/>
                <a:tab pos="355600" algn="l"/>
              </a:tabLst>
            </a:pPr>
            <a:r>
              <a:rPr sz="2000" spc="-5" dirty="0">
                <a:latin typeface="Calibri"/>
                <a:cs typeface="Calibri"/>
              </a:rPr>
              <a:t>The</a:t>
            </a:r>
            <a:r>
              <a:rPr sz="2000" spc="90" dirty="0">
                <a:latin typeface="Calibri"/>
                <a:cs typeface="Calibri"/>
              </a:rPr>
              <a:t> </a:t>
            </a:r>
            <a:r>
              <a:rPr sz="2000" spc="-5" dirty="0">
                <a:latin typeface="Calibri"/>
                <a:cs typeface="Calibri"/>
              </a:rPr>
              <a:t>leaf</a:t>
            </a:r>
            <a:r>
              <a:rPr sz="2000" spc="105" dirty="0">
                <a:latin typeface="Calibri"/>
                <a:cs typeface="Calibri"/>
              </a:rPr>
              <a:t> </a:t>
            </a:r>
            <a:r>
              <a:rPr sz="2000" spc="-5" dirty="0">
                <a:latin typeface="Calibri"/>
                <a:cs typeface="Calibri"/>
              </a:rPr>
              <a:t>is</a:t>
            </a:r>
            <a:r>
              <a:rPr sz="2000" spc="100" dirty="0">
                <a:latin typeface="Calibri"/>
                <a:cs typeface="Calibri"/>
              </a:rPr>
              <a:t> </a:t>
            </a:r>
            <a:r>
              <a:rPr sz="2000" dirty="0">
                <a:latin typeface="Calibri"/>
                <a:cs typeface="Calibri"/>
              </a:rPr>
              <a:t>labelled</a:t>
            </a:r>
            <a:r>
              <a:rPr sz="2000" spc="100" dirty="0">
                <a:latin typeface="Calibri"/>
                <a:cs typeface="Calibri"/>
              </a:rPr>
              <a:t> </a:t>
            </a:r>
            <a:r>
              <a:rPr sz="2000" spc="-5" dirty="0">
                <a:latin typeface="Calibri"/>
                <a:cs typeface="Calibri"/>
              </a:rPr>
              <a:t>with</a:t>
            </a:r>
            <a:r>
              <a:rPr sz="2000" spc="95" dirty="0">
                <a:latin typeface="Calibri"/>
                <a:cs typeface="Calibri"/>
              </a:rPr>
              <a:t> </a:t>
            </a:r>
            <a:r>
              <a:rPr sz="2000" dirty="0">
                <a:latin typeface="Calibri"/>
                <a:cs typeface="Calibri"/>
              </a:rPr>
              <a:t>the</a:t>
            </a:r>
            <a:r>
              <a:rPr sz="2000" spc="100" dirty="0">
                <a:latin typeface="Calibri"/>
                <a:cs typeface="Calibri"/>
              </a:rPr>
              <a:t> </a:t>
            </a:r>
            <a:r>
              <a:rPr sz="2000" spc="-10" dirty="0">
                <a:latin typeface="Calibri"/>
                <a:cs typeface="Calibri"/>
              </a:rPr>
              <a:t>most</a:t>
            </a:r>
            <a:r>
              <a:rPr sz="2000" spc="90" dirty="0">
                <a:latin typeface="Calibri"/>
                <a:cs typeface="Calibri"/>
              </a:rPr>
              <a:t> </a:t>
            </a:r>
            <a:r>
              <a:rPr sz="2000" spc="-10" dirty="0">
                <a:latin typeface="Calibri"/>
                <a:cs typeface="Calibri"/>
              </a:rPr>
              <a:t>frequent</a:t>
            </a:r>
            <a:r>
              <a:rPr sz="2000" spc="105" dirty="0">
                <a:latin typeface="Calibri"/>
                <a:cs typeface="Calibri"/>
              </a:rPr>
              <a:t> </a:t>
            </a:r>
            <a:r>
              <a:rPr sz="2000" dirty="0">
                <a:latin typeface="Calibri"/>
                <a:cs typeface="Calibri"/>
              </a:rPr>
              <a:t>class</a:t>
            </a:r>
            <a:r>
              <a:rPr sz="2000" spc="90" dirty="0">
                <a:latin typeface="Calibri"/>
                <a:cs typeface="Calibri"/>
              </a:rPr>
              <a:t> </a:t>
            </a:r>
            <a:r>
              <a:rPr sz="2000" dirty="0">
                <a:latin typeface="Calibri"/>
                <a:cs typeface="Calibri"/>
              </a:rPr>
              <a:t>among</a:t>
            </a:r>
            <a:r>
              <a:rPr sz="2000" spc="100" dirty="0">
                <a:latin typeface="Calibri"/>
                <a:cs typeface="Calibri"/>
              </a:rPr>
              <a:t> </a:t>
            </a:r>
            <a:r>
              <a:rPr sz="2000" dirty="0">
                <a:latin typeface="Calibri"/>
                <a:cs typeface="Calibri"/>
              </a:rPr>
              <a:t>the</a:t>
            </a:r>
            <a:r>
              <a:rPr sz="2000" spc="85" dirty="0">
                <a:latin typeface="Calibri"/>
                <a:cs typeface="Calibri"/>
              </a:rPr>
              <a:t> </a:t>
            </a:r>
            <a:r>
              <a:rPr sz="2000" spc="-10" dirty="0">
                <a:latin typeface="Calibri"/>
                <a:cs typeface="Calibri"/>
              </a:rPr>
              <a:t>subtree</a:t>
            </a:r>
            <a:r>
              <a:rPr sz="2000" spc="90" dirty="0">
                <a:latin typeface="Calibri"/>
                <a:cs typeface="Calibri"/>
              </a:rPr>
              <a:t> </a:t>
            </a:r>
            <a:r>
              <a:rPr sz="2000" dirty="0">
                <a:latin typeface="Calibri"/>
                <a:cs typeface="Calibri"/>
              </a:rPr>
              <a:t>being </a:t>
            </a:r>
            <a:r>
              <a:rPr sz="2000" spc="-440" dirty="0">
                <a:latin typeface="Calibri"/>
                <a:cs typeface="Calibri"/>
              </a:rPr>
              <a:t> </a:t>
            </a:r>
            <a:r>
              <a:rPr sz="2000" spc="-5" dirty="0">
                <a:latin typeface="Calibri"/>
                <a:cs typeface="Calibri"/>
              </a:rPr>
              <a:t>replaced</a:t>
            </a:r>
            <a:r>
              <a:rPr lang="en-IN" sz="2000" spc="-5" dirty="0">
                <a:latin typeface="Calibri"/>
                <a:cs typeface="Calibri"/>
              </a:rPr>
              <a:t> (next slide)</a:t>
            </a:r>
            <a:endParaRPr sz="2000" dirty="0">
              <a:latin typeface="Calibri"/>
              <a:cs typeface="Calibri"/>
            </a:endParaRPr>
          </a:p>
          <a:p>
            <a:pPr marL="355600" indent="-342900">
              <a:lnSpc>
                <a:spcPct val="100000"/>
              </a:lnSpc>
              <a:spcBef>
                <a:spcPts val="480"/>
              </a:spcBef>
              <a:buFont typeface="Arial MT"/>
              <a:buChar char="•"/>
              <a:tabLst>
                <a:tab pos="354965" algn="l"/>
                <a:tab pos="355600" algn="l"/>
              </a:tabLst>
            </a:pPr>
            <a:r>
              <a:rPr sz="2000" spc="-10" dirty="0">
                <a:latin typeface="Calibri"/>
                <a:cs typeface="Calibri"/>
              </a:rPr>
              <a:t>For</a:t>
            </a:r>
            <a:r>
              <a:rPr sz="2000" spc="-15" dirty="0">
                <a:latin typeface="Calibri"/>
                <a:cs typeface="Calibri"/>
              </a:rPr>
              <a:t> example,</a:t>
            </a:r>
            <a:r>
              <a:rPr sz="2000" spc="20" dirty="0">
                <a:latin typeface="Calibri"/>
                <a:cs typeface="Calibri"/>
              </a:rPr>
              <a:t> </a:t>
            </a:r>
            <a:r>
              <a:rPr sz="2000" dirty="0">
                <a:latin typeface="Calibri"/>
                <a:cs typeface="Calibri"/>
              </a:rPr>
              <a:t>the</a:t>
            </a:r>
            <a:r>
              <a:rPr sz="2000" spc="-10" dirty="0">
                <a:latin typeface="Calibri"/>
                <a:cs typeface="Calibri"/>
              </a:rPr>
              <a:t> </a:t>
            </a:r>
            <a:r>
              <a:rPr sz="2000" spc="-5" dirty="0">
                <a:latin typeface="Calibri"/>
                <a:cs typeface="Calibri"/>
              </a:rPr>
              <a:t>subtree</a:t>
            </a:r>
            <a:r>
              <a:rPr sz="2000" spc="10" dirty="0">
                <a:latin typeface="Calibri"/>
                <a:cs typeface="Calibri"/>
              </a:rPr>
              <a:t> </a:t>
            </a:r>
            <a:r>
              <a:rPr sz="2000" spc="-15" dirty="0">
                <a:latin typeface="Calibri"/>
                <a:cs typeface="Calibri"/>
              </a:rPr>
              <a:t>at</a:t>
            </a:r>
            <a:r>
              <a:rPr sz="2000" spc="5" dirty="0">
                <a:latin typeface="Calibri"/>
                <a:cs typeface="Calibri"/>
              </a:rPr>
              <a:t> </a:t>
            </a:r>
            <a:r>
              <a:rPr sz="2000" spc="-5" dirty="0">
                <a:latin typeface="Calibri"/>
                <a:cs typeface="Calibri"/>
              </a:rPr>
              <a:t>node</a:t>
            </a:r>
            <a:r>
              <a:rPr sz="2000" spc="-10" dirty="0">
                <a:latin typeface="Calibri"/>
                <a:cs typeface="Calibri"/>
              </a:rPr>
              <a:t> </a:t>
            </a:r>
            <a:r>
              <a:rPr sz="2000" spc="-25" dirty="0">
                <a:latin typeface="Calibri"/>
                <a:cs typeface="Calibri"/>
              </a:rPr>
              <a:t>“A3?”</a:t>
            </a:r>
            <a:r>
              <a:rPr sz="2000" spc="-20" dirty="0">
                <a:latin typeface="Calibri"/>
                <a:cs typeface="Calibri"/>
              </a:rPr>
              <a:t> </a:t>
            </a:r>
            <a:r>
              <a:rPr sz="2000" spc="-5" dirty="0">
                <a:latin typeface="Calibri"/>
                <a:cs typeface="Calibri"/>
              </a:rPr>
              <a:t>in</a:t>
            </a:r>
            <a:r>
              <a:rPr sz="2000" spc="-10" dirty="0">
                <a:latin typeface="Calibri"/>
                <a:cs typeface="Calibri"/>
              </a:rPr>
              <a:t> </a:t>
            </a:r>
            <a:r>
              <a:rPr sz="2000" dirty="0">
                <a:latin typeface="Calibri"/>
                <a:cs typeface="Calibri"/>
              </a:rPr>
              <a:t>the unpruned</a:t>
            </a:r>
            <a:r>
              <a:rPr sz="2000" spc="-35" dirty="0">
                <a:latin typeface="Calibri"/>
                <a:cs typeface="Calibri"/>
              </a:rPr>
              <a:t> </a:t>
            </a:r>
            <a:r>
              <a:rPr sz="2000" spc="-5" dirty="0">
                <a:latin typeface="Calibri"/>
                <a:cs typeface="Calibri"/>
              </a:rPr>
              <a:t>tree</a:t>
            </a:r>
            <a:r>
              <a:rPr sz="2000" spc="15" dirty="0">
                <a:latin typeface="Calibri"/>
                <a:cs typeface="Calibri"/>
              </a:rPr>
              <a:t> </a:t>
            </a:r>
            <a:r>
              <a:rPr sz="2000" dirty="0">
                <a:latin typeface="Calibri"/>
                <a:cs typeface="Calibri"/>
              </a:rPr>
              <a:t>of</a:t>
            </a:r>
            <a:r>
              <a:rPr sz="2000" spc="-10" dirty="0">
                <a:latin typeface="Calibri"/>
                <a:cs typeface="Calibri"/>
              </a:rPr>
              <a:t> </a:t>
            </a:r>
            <a:r>
              <a:rPr sz="2000" spc="-5" dirty="0">
                <a:latin typeface="Calibri"/>
                <a:cs typeface="Calibri"/>
              </a:rPr>
              <a:t>Figure</a:t>
            </a:r>
            <a:r>
              <a:rPr sz="2000" spc="-10" dirty="0">
                <a:latin typeface="Calibri"/>
                <a:cs typeface="Calibri"/>
              </a:rPr>
              <a:t> </a:t>
            </a:r>
            <a:r>
              <a:rPr sz="2000" dirty="0">
                <a:latin typeface="Calibri"/>
                <a:cs typeface="Calibri"/>
              </a:rPr>
              <a:t>1.2</a:t>
            </a:r>
          </a:p>
          <a:p>
            <a:pPr marL="355600" indent="-342900">
              <a:lnSpc>
                <a:spcPct val="100000"/>
              </a:lnSpc>
              <a:spcBef>
                <a:spcPts val="480"/>
              </a:spcBef>
              <a:buFont typeface="Arial MT"/>
              <a:buChar char="•"/>
              <a:tabLst>
                <a:tab pos="354965" algn="l"/>
                <a:tab pos="355600" algn="l"/>
              </a:tabLst>
            </a:pPr>
            <a:r>
              <a:rPr sz="2000" spc="-5" dirty="0">
                <a:latin typeface="Calibri"/>
                <a:cs typeface="Calibri"/>
              </a:rPr>
              <a:t>The</a:t>
            </a:r>
            <a:r>
              <a:rPr sz="2000" dirty="0">
                <a:latin typeface="Calibri"/>
                <a:cs typeface="Calibri"/>
              </a:rPr>
              <a:t> </a:t>
            </a:r>
            <a:r>
              <a:rPr sz="2000" spc="-10" dirty="0">
                <a:latin typeface="Calibri"/>
                <a:cs typeface="Calibri"/>
              </a:rPr>
              <a:t>most</a:t>
            </a:r>
            <a:r>
              <a:rPr sz="2000" dirty="0">
                <a:latin typeface="Calibri"/>
                <a:cs typeface="Calibri"/>
              </a:rPr>
              <a:t> </a:t>
            </a:r>
            <a:r>
              <a:rPr sz="2000" spc="-5" dirty="0">
                <a:latin typeface="Calibri"/>
                <a:cs typeface="Calibri"/>
              </a:rPr>
              <a:t>common</a:t>
            </a:r>
            <a:r>
              <a:rPr sz="2000" spc="-20" dirty="0">
                <a:latin typeface="Calibri"/>
                <a:cs typeface="Calibri"/>
              </a:rPr>
              <a:t> </a:t>
            </a:r>
            <a:r>
              <a:rPr sz="2000" dirty="0">
                <a:latin typeface="Calibri"/>
                <a:cs typeface="Calibri"/>
              </a:rPr>
              <a:t>class</a:t>
            </a:r>
            <a:r>
              <a:rPr sz="2000" spc="15" dirty="0">
                <a:latin typeface="Calibri"/>
                <a:cs typeface="Calibri"/>
              </a:rPr>
              <a:t> </a:t>
            </a:r>
            <a:r>
              <a:rPr sz="2000" dirty="0">
                <a:latin typeface="Calibri"/>
                <a:cs typeface="Calibri"/>
              </a:rPr>
              <a:t>within</a:t>
            </a:r>
            <a:r>
              <a:rPr sz="2000" spc="5" dirty="0">
                <a:latin typeface="Calibri"/>
                <a:cs typeface="Calibri"/>
              </a:rPr>
              <a:t> </a:t>
            </a:r>
            <a:r>
              <a:rPr sz="2000" dirty="0">
                <a:latin typeface="Calibri"/>
                <a:cs typeface="Calibri"/>
              </a:rPr>
              <a:t>this</a:t>
            </a:r>
            <a:r>
              <a:rPr sz="2000" spc="-5" dirty="0">
                <a:latin typeface="Calibri"/>
                <a:cs typeface="Calibri"/>
              </a:rPr>
              <a:t> </a:t>
            </a:r>
            <a:r>
              <a:rPr sz="2000" spc="-10" dirty="0">
                <a:latin typeface="Calibri"/>
                <a:cs typeface="Calibri"/>
              </a:rPr>
              <a:t>subtree</a:t>
            </a:r>
            <a:r>
              <a:rPr sz="2000" spc="15" dirty="0">
                <a:latin typeface="Calibri"/>
                <a:cs typeface="Calibri"/>
              </a:rPr>
              <a:t> </a:t>
            </a:r>
            <a:r>
              <a:rPr sz="2000" spc="-5" dirty="0">
                <a:latin typeface="Calibri"/>
                <a:cs typeface="Calibri"/>
              </a:rPr>
              <a:t>is</a:t>
            </a:r>
            <a:r>
              <a:rPr sz="2000" dirty="0">
                <a:latin typeface="Calibri"/>
                <a:cs typeface="Calibri"/>
              </a:rPr>
              <a:t> </a:t>
            </a:r>
            <a:r>
              <a:rPr sz="2000" spc="-20" dirty="0">
                <a:latin typeface="Calibri"/>
                <a:cs typeface="Calibri"/>
              </a:rPr>
              <a:t>“class</a:t>
            </a:r>
            <a:r>
              <a:rPr sz="2000" spc="20" dirty="0">
                <a:latin typeface="Calibri"/>
                <a:cs typeface="Calibri"/>
              </a:rPr>
              <a:t> </a:t>
            </a:r>
            <a:r>
              <a:rPr sz="2000" dirty="0">
                <a:latin typeface="Calibri"/>
                <a:cs typeface="Calibri"/>
              </a:rPr>
              <a:t>B”</a:t>
            </a:r>
          </a:p>
          <a:p>
            <a:pPr marL="355600" indent="-342900">
              <a:lnSpc>
                <a:spcPct val="100000"/>
              </a:lnSpc>
              <a:spcBef>
                <a:spcPts val="480"/>
              </a:spcBef>
              <a:buFont typeface="Arial MT"/>
              <a:buChar char="•"/>
              <a:tabLst>
                <a:tab pos="354965" algn="l"/>
                <a:tab pos="355600" algn="l"/>
              </a:tabLst>
            </a:pPr>
            <a:r>
              <a:rPr sz="2000" spc="-5" dirty="0">
                <a:latin typeface="Calibri"/>
                <a:cs typeface="Calibri"/>
              </a:rPr>
              <a:t>In</a:t>
            </a:r>
            <a:r>
              <a:rPr sz="2000" spc="300" dirty="0">
                <a:latin typeface="Calibri"/>
                <a:cs typeface="Calibri"/>
              </a:rPr>
              <a:t> </a:t>
            </a:r>
            <a:r>
              <a:rPr sz="2000" dirty="0">
                <a:latin typeface="Calibri"/>
                <a:cs typeface="Calibri"/>
              </a:rPr>
              <a:t>the</a:t>
            </a:r>
            <a:r>
              <a:rPr sz="2000" spc="295" dirty="0">
                <a:latin typeface="Calibri"/>
                <a:cs typeface="Calibri"/>
              </a:rPr>
              <a:t> </a:t>
            </a:r>
            <a:r>
              <a:rPr sz="2000" spc="-5" dirty="0">
                <a:latin typeface="Calibri"/>
                <a:cs typeface="Calibri"/>
              </a:rPr>
              <a:t>pruned</a:t>
            </a:r>
            <a:r>
              <a:rPr sz="2000" spc="300" dirty="0">
                <a:latin typeface="Calibri"/>
                <a:cs typeface="Calibri"/>
              </a:rPr>
              <a:t> </a:t>
            </a:r>
            <a:r>
              <a:rPr sz="2000" spc="-15" dirty="0">
                <a:latin typeface="Calibri"/>
                <a:cs typeface="Calibri"/>
              </a:rPr>
              <a:t>version</a:t>
            </a:r>
            <a:r>
              <a:rPr sz="2000" spc="310" dirty="0">
                <a:latin typeface="Calibri"/>
                <a:cs typeface="Calibri"/>
              </a:rPr>
              <a:t> </a:t>
            </a:r>
            <a:r>
              <a:rPr sz="2000" spc="-5" dirty="0">
                <a:latin typeface="Calibri"/>
                <a:cs typeface="Calibri"/>
              </a:rPr>
              <a:t>of</a:t>
            </a:r>
            <a:r>
              <a:rPr sz="2000" spc="295" dirty="0">
                <a:latin typeface="Calibri"/>
                <a:cs typeface="Calibri"/>
              </a:rPr>
              <a:t> </a:t>
            </a:r>
            <a:r>
              <a:rPr sz="2000" spc="-5" dirty="0">
                <a:latin typeface="Calibri"/>
                <a:cs typeface="Calibri"/>
              </a:rPr>
              <a:t>the</a:t>
            </a:r>
            <a:r>
              <a:rPr sz="2000" spc="305" dirty="0">
                <a:latin typeface="Calibri"/>
                <a:cs typeface="Calibri"/>
              </a:rPr>
              <a:t> </a:t>
            </a:r>
            <a:r>
              <a:rPr sz="2000" spc="-5" dirty="0">
                <a:latin typeface="Calibri"/>
                <a:cs typeface="Calibri"/>
              </a:rPr>
              <a:t>tree,</a:t>
            </a:r>
            <a:r>
              <a:rPr sz="2000" spc="305" dirty="0">
                <a:latin typeface="Calibri"/>
                <a:cs typeface="Calibri"/>
              </a:rPr>
              <a:t> </a:t>
            </a:r>
            <a:r>
              <a:rPr sz="2000" dirty="0">
                <a:latin typeface="Calibri"/>
                <a:cs typeface="Calibri"/>
              </a:rPr>
              <a:t>the</a:t>
            </a:r>
            <a:r>
              <a:rPr sz="2000" spc="295" dirty="0">
                <a:latin typeface="Calibri"/>
                <a:cs typeface="Calibri"/>
              </a:rPr>
              <a:t> </a:t>
            </a:r>
            <a:r>
              <a:rPr sz="2000" spc="-10" dirty="0">
                <a:latin typeface="Calibri"/>
                <a:cs typeface="Calibri"/>
              </a:rPr>
              <a:t>subtree</a:t>
            </a:r>
            <a:r>
              <a:rPr sz="2000" spc="300" dirty="0">
                <a:latin typeface="Calibri"/>
                <a:cs typeface="Calibri"/>
              </a:rPr>
              <a:t> </a:t>
            </a:r>
            <a:r>
              <a:rPr sz="2000" spc="-5" dirty="0">
                <a:latin typeface="Calibri"/>
                <a:cs typeface="Calibri"/>
              </a:rPr>
              <a:t>in</a:t>
            </a:r>
            <a:r>
              <a:rPr sz="2000" spc="295" dirty="0">
                <a:latin typeface="Calibri"/>
                <a:cs typeface="Calibri"/>
              </a:rPr>
              <a:t> </a:t>
            </a:r>
            <a:r>
              <a:rPr sz="2000" spc="-5" dirty="0">
                <a:latin typeface="Calibri"/>
                <a:cs typeface="Calibri"/>
              </a:rPr>
              <a:t>question</a:t>
            </a:r>
            <a:r>
              <a:rPr sz="2000" spc="305" dirty="0">
                <a:latin typeface="Calibri"/>
                <a:cs typeface="Calibri"/>
              </a:rPr>
              <a:t> </a:t>
            </a:r>
            <a:r>
              <a:rPr sz="2000" spc="-5" dirty="0">
                <a:latin typeface="Calibri"/>
                <a:cs typeface="Calibri"/>
              </a:rPr>
              <a:t>is</a:t>
            </a:r>
            <a:r>
              <a:rPr sz="2000" spc="290" dirty="0">
                <a:latin typeface="Calibri"/>
                <a:cs typeface="Calibri"/>
              </a:rPr>
              <a:t> </a:t>
            </a:r>
            <a:r>
              <a:rPr sz="2000" dirty="0">
                <a:latin typeface="Calibri"/>
                <a:cs typeface="Calibri"/>
              </a:rPr>
              <a:t>pruned</a:t>
            </a:r>
            <a:r>
              <a:rPr sz="2000" spc="285" dirty="0">
                <a:latin typeface="Calibri"/>
                <a:cs typeface="Calibri"/>
              </a:rPr>
              <a:t> </a:t>
            </a:r>
            <a:r>
              <a:rPr sz="2000" spc="-10" dirty="0">
                <a:latin typeface="Calibri"/>
                <a:cs typeface="Calibri"/>
              </a:rPr>
              <a:t>by</a:t>
            </a:r>
            <a:endParaRPr sz="2000" dirty="0">
              <a:latin typeface="Calibri"/>
              <a:cs typeface="Calibri"/>
            </a:endParaRPr>
          </a:p>
          <a:p>
            <a:pPr marL="355600">
              <a:lnSpc>
                <a:spcPct val="100000"/>
              </a:lnSpc>
            </a:pPr>
            <a:r>
              <a:rPr sz="2000" spc="-5" dirty="0">
                <a:latin typeface="Calibri"/>
                <a:cs typeface="Calibri"/>
              </a:rPr>
              <a:t>replacing</a:t>
            </a:r>
            <a:r>
              <a:rPr sz="2000" spc="-20" dirty="0">
                <a:latin typeface="Calibri"/>
                <a:cs typeface="Calibri"/>
              </a:rPr>
              <a:t> </a:t>
            </a:r>
            <a:r>
              <a:rPr sz="2000" spc="-5" dirty="0">
                <a:latin typeface="Calibri"/>
                <a:cs typeface="Calibri"/>
              </a:rPr>
              <a:t>it</a:t>
            </a:r>
            <a:r>
              <a:rPr sz="2000" dirty="0">
                <a:latin typeface="Calibri"/>
                <a:cs typeface="Calibri"/>
              </a:rPr>
              <a:t> with</a:t>
            </a:r>
            <a:r>
              <a:rPr sz="2000" spc="-5" dirty="0">
                <a:latin typeface="Calibri"/>
                <a:cs typeface="Calibri"/>
              </a:rPr>
              <a:t> </a:t>
            </a:r>
            <a:r>
              <a:rPr sz="2000" dirty="0">
                <a:latin typeface="Calibri"/>
                <a:cs typeface="Calibri"/>
              </a:rPr>
              <a:t>the</a:t>
            </a:r>
            <a:r>
              <a:rPr sz="2000" spc="5" dirty="0">
                <a:latin typeface="Calibri"/>
                <a:cs typeface="Calibri"/>
              </a:rPr>
              <a:t> </a:t>
            </a:r>
            <a:r>
              <a:rPr sz="2000" spc="-5" dirty="0">
                <a:latin typeface="Calibri"/>
                <a:cs typeface="Calibri"/>
              </a:rPr>
              <a:t>leaf </a:t>
            </a:r>
            <a:r>
              <a:rPr sz="2000" spc="-20" dirty="0">
                <a:latin typeface="Calibri"/>
                <a:cs typeface="Calibri"/>
              </a:rPr>
              <a:t>“class</a:t>
            </a:r>
            <a:r>
              <a:rPr sz="2000" spc="20" dirty="0">
                <a:latin typeface="Calibri"/>
                <a:cs typeface="Calibri"/>
              </a:rPr>
              <a:t> </a:t>
            </a:r>
            <a:r>
              <a:rPr sz="2000" dirty="0">
                <a:latin typeface="Calibri"/>
                <a:cs typeface="Calibri"/>
              </a:rPr>
              <a:t>B</a:t>
            </a:r>
          </a:p>
        </p:txBody>
      </p:sp>
    </p:spTree>
    <p:extLst>
      <p:ext uri="{BB962C8B-B14F-4D97-AF65-F5344CB8AC3E}">
        <p14:creationId xmlns:p14="http://schemas.microsoft.com/office/powerpoint/2010/main" val="281744485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2392" y="385953"/>
            <a:ext cx="4381500" cy="452120"/>
          </a:xfrm>
          <a:prstGeom prst="rect">
            <a:avLst/>
          </a:prstGeom>
        </p:spPr>
        <p:txBody>
          <a:bodyPr vert="horz" wrap="square" lIns="0" tIns="12065" rIns="0" bIns="0" rtlCol="0">
            <a:spAutoFit/>
          </a:bodyPr>
          <a:lstStyle/>
          <a:p>
            <a:pPr marL="12700">
              <a:lnSpc>
                <a:spcPct val="100000"/>
              </a:lnSpc>
              <a:spcBef>
                <a:spcPts val="95"/>
              </a:spcBef>
            </a:pPr>
            <a:r>
              <a:rPr sz="2800" spc="-10" dirty="0"/>
              <a:t>How</a:t>
            </a:r>
            <a:r>
              <a:rPr sz="2800" dirty="0"/>
              <a:t> </a:t>
            </a:r>
            <a:r>
              <a:rPr sz="2800" spc="-10" dirty="0"/>
              <a:t>does</a:t>
            </a:r>
            <a:r>
              <a:rPr sz="2800" spc="10" dirty="0"/>
              <a:t> </a:t>
            </a:r>
            <a:r>
              <a:rPr sz="2800" spc="-55" dirty="0"/>
              <a:t>Tree</a:t>
            </a:r>
            <a:r>
              <a:rPr sz="2800" spc="-5" dirty="0"/>
              <a:t> </a:t>
            </a:r>
            <a:r>
              <a:rPr sz="2800" spc="-10" dirty="0"/>
              <a:t>Pruning</a:t>
            </a:r>
            <a:r>
              <a:rPr sz="2800" spc="30" dirty="0"/>
              <a:t> </a:t>
            </a:r>
            <a:r>
              <a:rPr sz="2800" spc="-35" dirty="0"/>
              <a:t>Work?</a:t>
            </a:r>
            <a:endParaRPr sz="2800"/>
          </a:p>
        </p:txBody>
      </p:sp>
      <p:pic>
        <p:nvPicPr>
          <p:cNvPr id="3" name="object 3"/>
          <p:cNvPicPr/>
          <p:nvPr/>
        </p:nvPicPr>
        <p:blipFill>
          <a:blip r:embed="rId2" cstate="print"/>
          <a:stretch>
            <a:fillRect/>
          </a:stretch>
        </p:blipFill>
        <p:spPr>
          <a:xfrm>
            <a:off x="1716023" y="1200911"/>
            <a:ext cx="5777483" cy="2714244"/>
          </a:xfrm>
          <a:prstGeom prst="rect">
            <a:avLst/>
          </a:prstGeom>
        </p:spPr>
      </p:pic>
      <p:sp>
        <p:nvSpPr>
          <p:cNvPr id="4" name="object 4"/>
          <p:cNvSpPr txBox="1"/>
          <p:nvPr/>
        </p:nvSpPr>
        <p:spPr>
          <a:xfrm>
            <a:off x="1490217" y="3934155"/>
            <a:ext cx="655193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Figure:</a:t>
            </a:r>
            <a:r>
              <a:rPr sz="1800" spc="5" dirty="0">
                <a:latin typeface="Calibri"/>
                <a:cs typeface="Calibri"/>
              </a:rPr>
              <a:t> </a:t>
            </a:r>
            <a:r>
              <a:rPr sz="1800" dirty="0">
                <a:latin typeface="Calibri"/>
                <a:cs typeface="Calibri"/>
              </a:rPr>
              <a:t>1.2 An</a:t>
            </a:r>
            <a:r>
              <a:rPr sz="1800" spc="5" dirty="0">
                <a:latin typeface="Calibri"/>
                <a:cs typeface="Calibri"/>
              </a:rPr>
              <a:t> </a:t>
            </a:r>
            <a:r>
              <a:rPr sz="1800" spc="-5" dirty="0">
                <a:latin typeface="Calibri"/>
                <a:cs typeface="Calibri"/>
              </a:rPr>
              <a:t>unpruned</a:t>
            </a:r>
            <a:r>
              <a:rPr sz="1800" spc="25" dirty="0">
                <a:latin typeface="Calibri"/>
                <a:cs typeface="Calibri"/>
              </a:rPr>
              <a:t> </a:t>
            </a:r>
            <a:r>
              <a:rPr sz="1800" spc="-5" dirty="0">
                <a:latin typeface="Calibri"/>
                <a:cs typeface="Calibri"/>
              </a:rPr>
              <a:t>decision</a:t>
            </a:r>
            <a:r>
              <a:rPr sz="1800" spc="10" dirty="0">
                <a:latin typeface="Calibri"/>
                <a:cs typeface="Calibri"/>
              </a:rPr>
              <a:t> </a:t>
            </a:r>
            <a:r>
              <a:rPr sz="1800" spc="-10" dirty="0">
                <a:latin typeface="Calibri"/>
                <a:cs typeface="Calibri"/>
              </a:rPr>
              <a:t>tree</a:t>
            </a:r>
            <a:r>
              <a:rPr sz="1800" spc="10" dirty="0">
                <a:latin typeface="Calibri"/>
                <a:cs typeface="Calibri"/>
              </a:rPr>
              <a:t> </a:t>
            </a:r>
            <a:r>
              <a:rPr sz="1800" dirty="0">
                <a:latin typeface="Calibri"/>
                <a:cs typeface="Calibri"/>
              </a:rPr>
              <a:t>and</a:t>
            </a:r>
            <a:r>
              <a:rPr sz="1800" spc="5" dirty="0">
                <a:latin typeface="Calibri"/>
                <a:cs typeface="Calibri"/>
              </a:rPr>
              <a:t> </a:t>
            </a:r>
            <a:r>
              <a:rPr sz="1800" dirty="0">
                <a:latin typeface="Calibri"/>
                <a:cs typeface="Calibri"/>
              </a:rPr>
              <a:t>a</a:t>
            </a:r>
            <a:r>
              <a:rPr sz="1800" spc="30" dirty="0">
                <a:latin typeface="Calibri"/>
                <a:cs typeface="Calibri"/>
              </a:rPr>
              <a:t> </a:t>
            </a:r>
            <a:r>
              <a:rPr sz="1800" spc="-5" dirty="0">
                <a:latin typeface="Calibri"/>
                <a:cs typeface="Calibri"/>
              </a:rPr>
              <a:t>post-pruned decision</a:t>
            </a:r>
            <a:r>
              <a:rPr sz="1800" spc="20" dirty="0">
                <a:latin typeface="Calibri"/>
                <a:cs typeface="Calibri"/>
              </a:rPr>
              <a:t> </a:t>
            </a:r>
            <a:r>
              <a:rPr sz="1800" spc="-10" dirty="0">
                <a:latin typeface="Calibri"/>
                <a:cs typeface="Calibri"/>
              </a:rPr>
              <a:t>tree</a:t>
            </a:r>
            <a:endParaRPr sz="1800" dirty="0">
              <a:latin typeface="Calibri"/>
              <a:cs typeface="Calibri"/>
            </a:endParaRPr>
          </a:p>
        </p:txBody>
      </p:sp>
      <p:sp>
        <p:nvSpPr>
          <p:cNvPr id="5" name="object 5"/>
          <p:cNvSpPr/>
          <p:nvPr/>
        </p:nvSpPr>
        <p:spPr>
          <a:xfrm>
            <a:off x="233603" y="4885474"/>
            <a:ext cx="50165" cy="28575"/>
          </a:xfrm>
          <a:custGeom>
            <a:avLst/>
            <a:gdLst/>
            <a:ahLst/>
            <a:cxnLst/>
            <a:rect l="l" t="t" r="r" b="b"/>
            <a:pathLst>
              <a:path w="50164" h="28575">
                <a:moveTo>
                  <a:pt x="10172" y="1841"/>
                </a:moveTo>
                <a:lnTo>
                  <a:pt x="10007" y="1917"/>
                </a:lnTo>
                <a:lnTo>
                  <a:pt x="10172" y="1841"/>
                </a:lnTo>
                <a:close/>
              </a:path>
              <a:path w="50164" h="28575">
                <a:moveTo>
                  <a:pt x="16751" y="9613"/>
                </a:moveTo>
                <a:lnTo>
                  <a:pt x="16141" y="7721"/>
                </a:lnTo>
                <a:lnTo>
                  <a:pt x="16002" y="7620"/>
                </a:lnTo>
                <a:lnTo>
                  <a:pt x="16268" y="7251"/>
                </a:lnTo>
                <a:lnTo>
                  <a:pt x="16167" y="5740"/>
                </a:lnTo>
                <a:lnTo>
                  <a:pt x="15875" y="4127"/>
                </a:lnTo>
                <a:lnTo>
                  <a:pt x="15773" y="3581"/>
                </a:lnTo>
                <a:lnTo>
                  <a:pt x="15989" y="4025"/>
                </a:lnTo>
                <a:lnTo>
                  <a:pt x="16065" y="4165"/>
                </a:lnTo>
                <a:lnTo>
                  <a:pt x="15989" y="4025"/>
                </a:lnTo>
                <a:lnTo>
                  <a:pt x="16027" y="4165"/>
                </a:lnTo>
                <a:lnTo>
                  <a:pt x="16141" y="4622"/>
                </a:lnTo>
                <a:lnTo>
                  <a:pt x="16090" y="4241"/>
                </a:lnTo>
                <a:lnTo>
                  <a:pt x="16052" y="3835"/>
                </a:lnTo>
                <a:lnTo>
                  <a:pt x="16002" y="3302"/>
                </a:lnTo>
                <a:lnTo>
                  <a:pt x="15849" y="1587"/>
                </a:lnTo>
                <a:lnTo>
                  <a:pt x="15176" y="1016"/>
                </a:lnTo>
                <a:lnTo>
                  <a:pt x="14008" y="0"/>
                </a:lnTo>
                <a:lnTo>
                  <a:pt x="12750" y="76"/>
                </a:lnTo>
                <a:lnTo>
                  <a:pt x="12750" y="8178"/>
                </a:lnTo>
                <a:lnTo>
                  <a:pt x="12725" y="8318"/>
                </a:lnTo>
                <a:lnTo>
                  <a:pt x="12712" y="8496"/>
                </a:lnTo>
                <a:lnTo>
                  <a:pt x="12700" y="8343"/>
                </a:lnTo>
                <a:lnTo>
                  <a:pt x="12649" y="8204"/>
                </a:lnTo>
                <a:lnTo>
                  <a:pt x="12700" y="8343"/>
                </a:lnTo>
                <a:lnTo>
                  <a:pt x="12750" y="8178"/>
                </a:lnTo>
                <a:lnTo>
                  <a:pt x="12750" y="76"/>
                </a:lnTo>
                <a:lnTo>
                  <a:pt x="12446" y="88"/>
                </a:lnTo>
                <a:lnTo>
                  <a:pt x="12446" y="10756"/>
                </a:lnTo>
                <a:lnTo>
                  <a:pt x="12039" y="11176"/>
                </a:lnTo>
                <a:lnTo>
                  <a:pt x="11620" y="11544"/>
                </a:lnTo>
                <a:lnTo>
                  <a:pt x="12052" y="11226"/>
                </a:lnTo>
                <a:lnTo>
                  <a:pt x="11925" y="11264"/>
                </a:lnTo>
                <a:lnTo>
                  <a:pt x="10718" y="11645"/>
                </a:lnTo>
                <a:lnTo>
                  <a:pt x="11620" y="11353"/>
                </a:lnTo>
                <a:lnTo>
                  <a:pt x="11963" y="11226"/>
                </a:lnTo>
                <a:lnTo>
                  <a:pt x="12446" y="10756"/>
                </a:lnTo>
                <a:lnTo>
                  <a:pt x="12446" y="88"/>
                </a:lnTo>
                <a:lnTo>
                  <a:pt x="12268" y="101"/>
                </a:lnTo>
                <a:lnTo>
                  <a:pt x="12268" y="4914"/>
                </a:lnTo>
                <a:lnTo>
                  <a:pt x="11950" y="4660"/>
                </a:lnTo>
                <a:lnTo>
                  <a:pt x="12268" y="4914"/>
                </a:lnTo>
                <a:lnTo>
                  <a:pt x="12268" y="101"/>
                </a:lnTo>
                <a:lnTo>
                  <a:pt x="12217" y="2133"/>
                </a:lnTo>
                <a:lnTo>
                  <a:pt x="11772" y="2032"/>
                </a:lnTo>
                <a:lnTo>
                  <a:pt x="11772" y="4508"/>
                </a:lnTo>
                <a:lnTo>
                  <a:pt x="11518" y="4292"/>
                </a:lnTo>
                <a:lnTo>
                  <a:pt x="11557" y="4419"/>
                </a:lnTo>
                <a:lnTo>
                  <a:pt x="11442" y="4241"/>
                </a:lnTo>
                <a:lnTo>
                  <a:pt x="11569" y="4330"/>
                </a:lnTo>
                <a:lnTo>
                  <a:pt x="11772" y="4508"/>
                </a:lnTo>
                <a:lnTo>
                  <a:pt x="11772" y="2032"/>
                </a:lnTo>
                <a:lnTo>
                  <a:pt x="11277" y="1917"/>
                </a:lnTo>
                <a:lnTo>
                  <a:pt x="12217" y="2133"/>
                </a:lnTo>
                <a:lnTo>
                  <a:pt x="12217" y="101"/>
                </a:lnTo>
                <a:lnTo>
                  <a:pt x="11074" y="177"/>
                </a:lnTo>
                <a:lnTo>
                  <a:pt x="11074" y="1739"/>
                </a:lnTo>
                <a:lnTo>
                  <a:pt x="10642" y="1752"/>
                </a:lnTo>
                <a:lnTo>
                  <a:pt x="10515" y="1752"/>
                </a:lnTo>
                <a:lnTo>
                  <a:pt x="10185" y="1841"/>
                </a:lnTo>
                <a:lnTo>
                  <a:pt x="10922" y="1841"/>
                </a:lnTo>
                <a:lnTo>
                  <a:pt x="10172" y="1917"/>
                </a:lnTo>
                <a:lnTo>
                  <a:pt x="9715" y="2057"/>
                </a:lnTo>
                <a:lnTo>
                  <a:pt x="10083" y="1917"/>
                </a:lnTo>
                <a:lnTo>
                  <a:pt x="9931" y="1943"/>
                </a:lnTo>
                <a:lnTo>
                  <a:pt x="10083" y="1866"/>
                </a:lnTo>
                <a:lnTo>
                  <a:pt x="9779" y="1943"/>
                </a:lnTo>
                <a:lnTo>
                  <a:pt x="10058" y="1866"/>
                </a:lnTo>
                <a:lnTo>
                  <a:pt x="10185" y="1841"/>
                </a:lnTo>
                <a:lnTo>
                  <a:pt x="10515" y="1752"/>
                </a:lnTo>
                <a:lnTo>
                  <a:pt x="11074" y="1739"/>
                </a:lnTo>
                <a:lnTo>
                  <a:pt x="11074" y="177"/>
                </a:lnTo>
                <a:lnTo>
                  <a:pt x="9740" y="241"/>
                </a:lnTo>
                <a:lnTo>
                  <a:pt x="8966" y="1066"/>
                </a:lnTo>
                <a:lnTo>
                  <a:pt x="8470" y="1079"/>
                </a:lnTo>
                <a:lnTo>
                  <a:pt x="8470" y="3581"/>
                </a:lnTo>
                <a:lnTo>
                  <a:pt x="8128" y="4851"/>
                </a:lnTo>
                <a:lnTo>
                  <a:pt x="8115" y="4699"/>
                </a:lnTo>
                <a:lnTo>
                  <a:pt x="8140" y="4457"/>
                </a:lnTo>
                <a:lnTo>
                  <a:pt x="8128" y="4800"/>
                </a:lnTo>
                <a:lnTo>
                  <a:pt x="8216" y="4457"/>
                </a:lnTo>
                <a:lnTo>
                  <a:pt x="8470" y="3606"/>
                </a:lnTo>
                <a:lnTo>
                  <a:pt x="8470" y="1079"/>
                </a:lnTo>
                <a:lnTo>
                  <a:pt x="8001" y="1079"/>
                </a:lnTo>
                <a:lnTo>
                  <a:pt x="7683" y="1079"/>
                </a:lnTo>
                <a:lnTo>
                  <a:pt x="6731" y="1193"/>
                </a:lnTo>
                <a:lnTo>
                  <a:pt x="4229" y="990"/>
                </a:lnTo>
                <a:lnTo>
                  <a:pt x="1549" y="2882"/>
                </a:lnTo>
                <a:lnTo>
                  <a:pt x="0" y="8559"/>
                </a:lnTo>
                <a:lnTo>
                  <a:pt x="1257" y="11341"/>
                </a:lnTo>
                <a:lnTo>
                  <a:pt x="1384" y="11557"/>
                </a:lnTo>
                <a:lnTo>
                  <a:pt x="4165" y="12915"/>
                </a:lnTo>
                <a:lnTo>
                  <a:pt x="4483" y="13017"/>
                </a:lnTo>
                <a:lnTo>
                  <a:pt x="5435" y="13538"/>
                </a:lnTo>
                <a:lnTo>
                  <a:pt x="6604" y="14071"/>
                </a:lnTo>
                <a:lnTo>
                  <a:pt x="7454" y="14376"/>
                </a:lnTo>
                <a:lnTo>
                  <a:pt x="8534" y="14668"/>
                </a:lnTo>
                <a:lnTo>
                  <a:pt x="10274" y="14973"/>
                </a:lnTo>
                <a:lnTo>
                  <a:pt x="11925" y="14960"/>
                </a:lnTo>
                <a:lnTo>
                  <a:pt x="14351" y="14528"/>
                </a:lnTo>
                <a:lnTo>
                  <a:pt x="15455" y="13512"/>
                </a:lnTo>
                <a:lnTo>
                  <a:pt x="15760" y="13233"/>
                </a:lnTo>
                <a:lnTo>
                  <a:pt x="15887" y="12915"/>
                </a:lnTo>
                <a:lnTo>
                  <a:pt x="16751" y="9613"/>
                </a:lnTo>
                <a:close/>
              </a:path>
              <a:path w="50164" h="28575">
                <a:moveTo>
                  <a:pt x="49263" y="21386"/>
                </a:moveTo>
                <a:lnTo>
                  <a:pt x="49187" y="21805"/>
                </a:lnTo>
                <a:lnTo>
                  <a:pt x="49263" y="21386"/>
                </a:lnTo>
                <a:close/>
              </a:path>
              <a:path w="50164" h="28575">
                <a:moveTo>
                  <a:pt x="49784" y="18516"/>
                </a:moveTo>
                <a:lnTo>
                  <a:pt x="49403" y="17602"/>
                </a:lnTo>
                <a:lnTo>
                  <a:pt x="49250" y="17221"/>
                </a:lnTo>
                <a:lnTo>
                  <a:pt x="47498" y="16014"/>
                </a:lnTo>
                <a:lnTo>
                  <a:pt x="47498" y="17602"/>
                </a:lnTo>
                <a:lnTo>
                  <a:pt x="47167" y="17386"/>
                </a:lnTo>
                <a:lnTo>
                  <a:pt x="47498" y="17602"/>
                </a:lnTo>
                <a:lnTo>
                  <a:pt x="47498" y="16014"/>
                </a:lnTo>
                <a:lnTo>
                  <a:pt x="47117" y="15748"/>
                </a:lnTo>
                <a:lnTo>
                  <a:pt x="45720" y="15697"/>
                </a:lnTo>
                <a:lnTo>
                  <a:pt x="44488" y="16421"/>
                </a:lnTo>
                <a:lnTo>
                  <a:pt x="43980" y="16306"/>
                </a:lnTo>
                <a:lnTo>
                  <a:pt x="41211" y="15811"/>
                </a:lnTo>
                <a:lnTo>
                  <a:pt x="39458" y="15595"/>
                </a:lnTo>
                <a:lnTo>
                  <a:pt x="38709" y="15506"/>
                </a:lnTo>
                <a:lnTo>
                  <a:pt x="38569" y="15468"/>
                </a:lnTo>
                <a:lnTo>
                  <a:pt x="34023" y="14376"/>
                </a:lnTo>
                <a:lnTo>
                  <a:pt x="31267" y="15430"/>
                </a:lnTo>
                <a:lnTo>
                  <a:pt x="28206" y="19888"/>
                </a:lnTo>
                <a:lnTo>
                  <a:pt x="28206" y="22834"/>
                </a:lnTo>
                <a:lnTo>
                  <a:pt x="31267" y="27305"/>
                </a:lnTo>
                <a:lnTo>
                  <a:pt x="34023" y="28359"/>
                </a:lnTo>
                <a:lnTo>
                  <a:pt x="38569" y="27266"/>
                </a:lnTo>
                <a:lnTo>
                  <a:pt x="38722" y="27241"/>
                </a:lnTo>
                <a:lnTo>
                  <a:pt x="39458" y="27139"/>
                </a:lnTo>
                <a:lnTo>
                  <a:pt x="41097" y="26936"/>
                </a:lnTo>
                <a:lnTo>
                  <a:pt x="43535" y="26708"/>
                </a:lnTo>
                <a:lnTo>
                  <a:pt x="44818" y="26416"/>
                </a:lnTo>
                <a:lnTo>
                  <a:pt x="47993" y="25273"/>
                </a:lnTo>
                <a:lnTo>
                  <a:pt x="49288" y="23393"/>
                </a:lnTo>
                <a:lnTo>
                  <a:pt x="49187" y="21805"/>
                </a:lnTo>
                <a:lnTo>
                  <a:pt x="49263" y="20993"/>
                </a:lnTo>
                <a:lnTo>
                  <a:pt x="49263" y="21386"/>
                </a:lnTo>
                <a:lnTo>
                  <a:pt x="49326" y="20993"/>
                </a:lnTo>
                <a:lnTo>
                  <a:pt x="49784" y="18516"/>
                </a:lnTo>
                <a:close/>
              </a:path>
            </a:pathLst>
          </a:custGeom>
          <a:solidFill>
            <a:srgbClr val="FF0000"/>
          </a:solidFill>
        </p:spPr>
        <p:txBody>
          <a:bodyPr wrap="square" lIns="0" tIns="0" rIns="0" bIns="0" rtlCol="0"/>
          <a:lstStyle/>
          <a:p>
            <a:endParaRPr/>
          </a:p>
        </p:txBody>
      </p:sp>
      <p:grpSp>
        <p:nvGrpSpPr>
          <p:cNvPr id="6" name="object 6"/>
          <p:cNvGrpSpPr/>
          <p:nvPr/>
        </p:nvGrpSpPr>
        <p:grpSpPr>
          <a:xfrm>
            <a:off x="3353180" y="2010676"/>
            <a:ext cx="4084954" cy="1955800"/>
            <a:chOff x="3353180" y="2010676"/>
            <a:chExt cx="4084954" cy="1955800"/>
          </a:xfrm>
        </p:grpSpPr>
        <p:pic>
          <p:nvPicPr>
            <p:cNvPr id="7" name="object 7"/>
            <p:cNvPicPr/>
            <p:nvPr/>
          </p:nvPicPr>
          <p:blipFill>
            <a:blip r:embed="rId3" cstate="print"/>
            <a:stretch>
              <a:fillRect/>
            </a:stretch>
          </p:blipFill>
          <p:spPr>
            <a:xfrm>
              <a:off x="3353180" y="2010676"/>
              <a:ext cx="1760347" cy="1955800"/>
            </a:xfrm>
            <a:prstGeom prst="rect">
              <a:avLst/>
            </a:prstGeom>
          </p:spPr>
        </p:pic>
        <p:sp>
          <p:nvSpPr>
            <p:cNvPr id="8" name="object 8"/>
            <p:cNvSpPr/>
            <p:nvPr/>
          </p:nvSpPr>
          <p:spPr>
            <a:xfrm>
              <a:off x="6748398" y="2013584"/>
              <a:ext cx="689610" cy="528320"/>
            </a:xfrm>
            <a:custGeom>
              <a:avLst/>
              <a:gdLst/>
              <a:ahLst/>
              <a:cxnLst/>
              <a:rect l="l" t="t" r="r" b="b"/>
              <a:pathLst>
                <a:path w="689609" h="528319">
                  <a:moveTo>
                    <a:pt x="86105" y="469900"/>
                  </a:moveTo>
                  <a:lnTo>
                    <a:pt x="86359" y="471169"/>
                  </a:lnTo>
                  <a:lnTo>
                    <a:pt x="69215" y="471169"/>
                  </a:lnTo>
                  <a:lnTo>
                    <a:pt x="79755" y="478789"/>
                  </a:lnTo>
                  <a:lnTo>
                    <a:pt x="80009" y="478789"/>
                  </a:lnTo>
                  <a:lnTo>
                    <a:pt x="91185" y="487680"/>
                  </a:lnTo>
                  <a:lnTo>
                    <a:pt x="91567" y="487680"/>
                  </a:lnTo>
                  <a:lnTo>
                    <a:pt x="102997" y="494030"/>
                  </a:lnTo>
                  <a:lnTo>
                    <a:pt x="115824" y="500380"/>
                  </a:lnTo>
                  <a:lnTo>
                    <a:pt x="116077" y="501650"/>
                  </a:lnTo>
                  <a:lnTo>
                    <a:pt x="128777" y="506730"/>
                  </a:lnTo>
                  <a:lnTo>
                    <a:pt x="143764" y="511809"/>
                  </a:lnTo>
                  <a:lnTo>
                    <a:pt x="144018" y="511809"/>
                  </a:lnTo>
                  <a:lnTo>
                    <a:pt x="157733" y="516889"/>
                  </a:lnTo>
                  <a:lnTo>
                    <a:pt x="157987" y="516889"/>
                  </a:lnTo>
                  <a:lnTo>
                    <a:pt x="173608" y="520700"/>
                  </a:lnTo>
                  <a:lnTo>
                    <a:pt x="173862" y="520700"/>
                  </a:lnTo>
                  <a:lnTo>
                    <a:pt x="189102" y="523239"/>
                  </a:lnTo>
                  <a:lnTo>
                    <a:pt x="189356" y="523239"/>
                  </a:lnTo>
                  <a:lnTo>
                    <a:pt x="205231" y="525780"/>
                  </a:lnTo>
                  <a:lnTo>
                    <a:pt x="205485" y="525780"/>
                  </a:lnTo>
                  <a:lnTo>
                    <a:pt x="223647" y="527050"/>
                  </a:lnTo>
                  <a:lnTo>
                    <a:pt x="223900" y="527050"/>
                  </a:lnTo>
                  <a:lnTo>
                    <a:pt x="241807" y="528319"/>
                  </a:lnTo>
                  <a:lnTo>
                    <a:pt x="318770" y="528319"/>
                  </a:lnTo>
                  <a:lnTo>
                    <a:pt x="338962" y="527050"/>
                  </a:lnTo>
                  <a:lnTo>
                    <a:pt x="360806" y="524509"/>
                  </a:lnTo>
                  <a:lnTo>
                    <a:pt x="361060" y="524509"/>
                  </a:lnTo>
                  <a:lnTo>
                    <a:pt x="381380" y="521969"/>
                  </a:lnTo>
                  <a:lnTo>
                    <a:pt x="401954" y="519430"/>
                  </a:lnTo>
                  <a:lnTo>
                    <a:pt x="402208" y="519430"/>
                  </a:lnTo>
                  <a:lnTo>
                    <a:pt x="423925" y="515619"/>
                  </a:lnTo>
                  <a:lnTo>
                    <a:pt x="242570" y="515619"/>
                  </a:lnTo>
                  <a:lnTo>
                    <a:pt x="224535" y="514350"/>
                  </a:lnTo>
                  <a:lnTo>
                    <a:pt x="224790" y="514350"/>
                  </a:lnTo>
                  <a:lnTo>
                    <a:pt x="206628" y="513080"/>
                  </a:lnTo>
                  <a:lnTo>
                    <a:pt x="206882" y="513080"/>
                  </a:lnTo>
                  <a:lnTo>
                    <a:pt x="191007" y="510539"/>
                  </a:lnTo>
                  <a:lnTo>
                    <a:pt x="191261" y="510539"/>
                  </a:lnTo>
                  <a:lnTo>
                    <a:pt x="176022" y="508000"/>
                  </a:lnTo>
                  <a:lnTo>
                    <a:pt x="176402" y="508000"/>
                  </a:lnTo>
                  <a:lnTo>
                    <a:pt x="160781" y="504189"/>
                  </a:lnTo>
                  <a:lnTo>
                    <a:pt x="161162" y="504189"/>
                  </a:lnTo>
                  <a:lnTo>
                    <a:pt x="147447" y="500380"/>
                  </a:lnTo>
                  <a:lnTo>
                    <a:pt x="147827" y="500380"/>
                  </a:lnTo>
                  <a:lnTo>
                    <a:pt x="133223" y="495300"/>
                  </a:lnTo>
                  <a:lnTo>
                    <a:pt x="133476" y="495300"/>
                  </a:lnTo>
                  <a:lnTo>
                    <a:pt x="120776" y="490219"/>
                  </a:lnTo>
                  <a:lnTo>
                    <a:pt x="121030" y="490219"/>
                  </a:lnTo>
                  <a:lnTo>
                    <a:pt x="108457" y="483869"/>
                  </a:lnTo>
                  <a:lnTo>
                    <a:pt x="108711" y="483869"/>
                  </a:lnTo>
                  <a:lnTo>
                    <a:pt x="97154" y="477519"/>
                  </a:lnTo>
                  <a:lnTo>
                    <a:pt x="97408" y="477519"/>
                  </a:lnTo>
                  <a:lnTo>
                    <a:pt x="86105" y="469900"/>
                  </a:lnTo>
                  <a:close/>
                </a:path>
                <a:path w="689609" h="528319">
                  <a:moveTo>
                    <a:pt x="652779" y="394969"/>
                  </a:moveTo>
                  <a:lnTo>
                    <a:pt x="645286" y="405130"/>
                  </a:lnTo>
                  <a:lnTo>
                    <a:pt x="645795" y="405130"/>
                  </a:lnTo>
                  <a:lnTo>
                    <a:pt x="637158" y="414019"/>
                  </a:lnTo>
                  <a:lnTo>
                    <a:pt x="637667" y="414019"/>
                  </a:lnTo>
                  <a:lnTo>
                    <a:pt x="626618" y="422909"/>
                  </a:lnTo>
                  <a:lnTo>
                    <a:pt x="627126" y="422909"/>
                  </a:lnTo>
                  <a:lnTo>
                    <a:pt x="614933" y="431800"/>
                  </a:lnTo>
                  <a:lnTo>
                    <a:pt x="615442" y="431800"/>
                  </a:lnTo>
                  <a:lnTo>
                    <a:pt x="601599" y="440689"/>
                  </a:lnTo>
                  <a:lnTo>
                    <a:pt x="602106" y="440689"/>
                  </a:lnTo>
                  <a:lnTo>
                    <a:pt x="587121" y="448309"/>
                  </a:lnTo>
                  <a:lnTo>
                    <a:pt x="587501" y="448309"/>
                  </a:lnTo>
                  <a:lnTo>
                    <a:pt x="571119" y="455930"/>
                  </a:lnTo>
                  <a:lnTo>
                    <a:pt x="571500" y="455930"/>
                  </a:lnTo>
                  <a:lnTo>
                    <a:pt x="553974" y="463550"/>
                  </a:lnTo>
                  <a:lnTo>
                    <a:pt x="554354" y="463550"/>
                  </a:lnTo>
                  <a:lnTo>
                    <a:pt x="537464" y="468630"/>
                  </a:lnTo>
                  <a:lnTo>
                    <a:pt x="519429" y="474980"/>
                  </a:lnTo>
                  <a:lnTo>
                    <a:pt x="519683" y="474980"/>
                  </a:lnTo>
                  <a:lnTo>
                    <a:pt x="500887" y="481330"/>
                  </a:lnTo>
                  <a:lnTo>
                    <a:pt x="501015" y="481330"/>
                  </a:lnTo>
                  <a:lnTo>
                    <a:pt x="481456" y="486409"/>
                  </a:lnTo>
                  <a:lnTo>
                    <a:pt x="481710" y="486409"/>
                  </a:lnTo>
                  <a:lnTo>
                    <a:pt x="461645" y="491489"/>
                  </a:lnTo>
                  <a:lnTo>
                    <a:pt x="441198" y="496569"/>
                  </a:lnTo>
                  <a:lnTo>
                    <a:pt x="441451" y="496569"/>
                  </a:lnTo>
                  <a:lnTo>
                    <a:pt x="421004" y="500380"/>
                  </a:lnTo>
                  <a:lnTo>
                    <a:pt x="421258" y="500380"/>
                  </a:lnTo>
                  <a:lnTo>
                    <a:pt x="399542" y="504189"/>
                  </a:lnTo>
                  <a:lnTo>
                    <a:pt x="379349" y="508000"/>
                  </a:lnTo>
                  <a:lnTo>
                    <a:pt x="359155" y="510539"/>
                  </a:lnTo>
                  <a:lnTo>
                    <a:pt x="359409" y="510539"/>
                  </a:lnTo>
                  <a:lnTo>
                    <a:pt x="337693" y="513080"/>
                  </a:lnTo>
                  <a:lnTo>
                    <a:pt x="337947" y="513080"/>
                  </a:lnTo>
                  <a:lnTo>
                    <a:pt x="317753" y="514350"/>
                  </a:lnTo>
                  <a:lnTo>
                    <a:pt x="318007" y="514350"/>
                  </a:lnTo>
                  <a:lnTo>
                    <a:pt x="298703" y="515619"/>
                  </a:lnTo>
                  <a:lnTo>
                    <a:pt x="424179" y="515619"/>
                  </a:lnTo>
                  <a:lnTo>
                    <a:pt x="444500" y="511809"/>
                  </a:lnTo>
                  <a:lnTo>
                    <a:pt x="465200" y="506730"/>
                  </a:lnTo>
                  <a:lnTo>
                    <a:pt x="465454" y="506730"/>
                  </a:lnTo>
                  <a:lnTo>
                    <a:pt x="485521" y="501650"/>
                  </a:lnTo>
                  <a:lnTo>
                    <a:pt x="505205" y="495300"/>
                  </a:lnTo>
                  <a:lnTo>
                    <a:pt x="524255" y="490219"/>
                  </a:lnTo>
                  <a:lnTo>
                    <a:pt x="542544" y="483869"/>
                  </a:lnTo>
                  <a:lnTo>
                    <a:pt x="559561" y="477519"/>
                  </a:lnTo>
                  <a:lnTo>
                    <a:pt x="559816" y="477519"/>
                  </a:lnTo>
                  <a:lnTo>
                    <a:pt x="577342" y="469900"/>
                  </a:lnTo>
                  <a:lnTo>
                    <a:pt x="577723" y="469900"/>
                  </a:lnTo>
                  <a:lnTo>
                    <a:pt x="594105" y="462280"/>
                  </a:lnTo>
                  <a:lnTo>
                    <a:pt x="594486" y="462280"/>
                  </a:lnTo>
                  <a:lnTo>
                    <a:pt x="609473" y="453389"/>
                  </a:lnTo>
                  <a:lnTo>
                    <a:pt x="623697" y="444500"/>
                  </a:lnTo>
                  <a:lnTo>
                    <a:pt x="624204" y="444500"/>
                  </a:lnTo>
                  <a:lnTo>
                    <a:pt x="647953" y="425450"/>
                  </a:lnTo>
                  <a:lnTo>
                    <a:pt x="648334" y="424180"/>
                  </a:lnTo>
                  <a:lnTo>
                    <a:pt x="657098" y="415289"/>
                  </a:lnTo>
                  <a:lnTo>
                    <a:pt x="657478" y="414019"/>
                  </a:lnTo>
                  <a:lnTo>
                    <a:pt x="664972" y="405130"/>
                  </a:lnTo>
                  <a:lnTo>
                    <a:pt x="665352" y="403859"/>
                  </a:lnTo>
                  <a:lnTo>
                    <a:pt x="670210" y="396239"/>
                  </a:lnTo>
                  <a:lnTo>
                    <a:pt x="652399" y="396239"/>
                  </a:lnTo>
                  <a:lnTo>
                    <a:pt x="652779" y="394969"/>
                  </a:lnTo>
                  <a:close/>
                </a:path>
                <a:path w="689609" h="528319">
                  <a:moveTo>
                    <a:pt x="257555" y="68579"/>
                  </a:moveTo>
                  <a:lnTo>
                    <a:pt x="203200" y="68579"/>
                  </a:lnTo>
                  <a:lnTo>
                    <a:pt x="190373" y="72389"/>
                  </a:lnTo>
                  <a:lnTo>
                    <a:pt x="177673" y="77469"/>
                  </a:lnTo>
                  <a:lnTo>
                    <a:pt x="165100" y="81279"/>
                  </a:lnTo>
                  <a:lnTo>
                    <a:pt x="153797" y="86360"/>
                  </a:lnTo>
                  <a:lnTo>
                    <a:pt x="141731" y="91439"/>
                  </a:lnTo>
                  <a:lnTo>
                    <a:pt x="130048" y="97789"/>
                  </a:lnTo>
                  <a:lnTo>
                    <a:pt x="118999" y="104139"/>
                  </a:lnTo>
                  <a:lnTo>
                    <a:pt x="118745" y="104139"/>
                  </a:lnTo>
                  <a:lnTo>
                    <a:pt x="107823" y="110489"/>
                  </a:lnTo>
                  <a:lnTo>
                    <a:pt x="107696" y="111760"/>
                  </a:lnTo>
                  <a:lnTo>
                    <a:pt x="96393" y="119379"/>
                  </a:lnTo>
                  <a:lnTo>
                    <a:pt x="86232" y="127000"/>
                  </a:lnTo>
                  <a:lnTo>
                    <a:pt x="85978" y="127000"/>
                  </a:lnTo>
                  <a:lnTo>
                    <a:pt x="76073" y="135889"/>
                  </a:lnTo>
                  <a:lnTo>
                    <a:pt x="66548" y="144780"/>
                  </a:lnTo>
                  <a:lnTo>
                    <a:pt x="57657" y="153669"/>
                  </a:lnTo>
                  <a:lnTo>
                    <a:pt x="50037" y="162559"/>
                  </a:lnTo>
                  <a:lnTo>
                    <a:pt x="43179" y="171450"/>
                  </a:lnTo>
                  <a:lnTo>
                    <a:pt x="36575" y="181609"/>
                  </a:lnTo>
                  <a:lnTo>
                    <a:pt x="36322" y="181609"/>
                  </a:lnTo>
                  <a:lnTo>
                    <a:pt x="30479" y="191769"/>
                  </a:lnTo>
                  <a:lnTo>
                    <a:pt x="30225" y="191769"/>
                  </a:lnTo>
                  <a:lnTo>
                    <a:pt x="25273" y="201930"/>
                  </a:lnTo>
                  <a:lnTo>
                    <a:pt x="20574" y="213359"/>
                  </a:lnTo>
                  <a:lnTo>
                    <a:pt x="16382" y="224789"/>
                  </a:lnTo>
                  <a:lnTo>
                    <a:pt x="12573" y="236219"/>
                  </a:lnTo>
                  <a:lnTo>
                    <a:pt x="9398" y="248919"/>
                  </a:lnTo>
                  <a:lnTo>
                    <a:pt x="6476" y="260350"/>
                  </a:lnTo>
                  <a:lnTo>
                    <a:pt x="4064" y="273050"/>
                  </a:lnTo>
                  <a:lnTo>
                    <a:pt x="2285" y="285750"/>
                  </a:lnTo>
                  <a:lnTo>
                    <a:pt x="889" y="298450"/>
                  </a:lnTo>
                  <a:lnTo>
                    <a:pt x="126" y="311150"/>
                  </a:lnTo>
                  <a:lnTo>
                    <a:pt x="0" y="328930"/>
                  </a:lnTo>
                  <a:lnTo>
                    <a:pt x="126" y="335280"/>
                  </a:lnTo>
                  <a:lnTo>
                    <a:pt x="889" y="347980"/>
                  </a:lnTo>
                  <a:lnTo>
                    <a:pt x="2412" y="360680"/>
                  </a:lnTo>
                  <a:lnTo>
                    <a:pt x="2540" y="360680"/>
                  </a:lnTo>
                  <a:lnTo>
                    <a:pt x="4825" y="373380"/>
                  </a:lnTo>
                  <a:lnTo>
                    <a:pt x="8254" y="384809"/>
                  </a:lnTo>
                  <a:lnTo>
                    <a:pt x="12446" y="396239"/>
                  </a:lnTo>
                  <a:lnTo>
                    <a:pt x="16891" y="406400"/>
                  </a:lnTo>
                  <a:lnTo>
                    <a:pt x="17145" y="406400"/>
                  </a:lnTo>
                  <a:lnTo>
                    <a:pt x="22098" y="416559"/>
                  </a:lnTo>
                  <a:lnTo>
                    <a:pt x="22351" y="416559"/>
                  </a:lnTo>
                  <a:lnTo>
                    <a:pt x="28194" y="426719"/>
                  </a:lnTo>
                  <a:lnTo>
                    <a:pt x="35178" y="435609"/>
                  </a:lnTo>
                  <a:lnTo>
                    <a:pt x="35305" y="436880"/>
                  </a:lnTo>
                  <a:lnTo>
                    <a:pt x="42164" y="444500"/>
                  </a:lnTo>
                  <a:lnTo>
                    <a:pt x="42418" y="444500"/>
                  </a:lnTo>
                  <a:lnTo>
                    <a:pt x="50419" y="453389"/>
                  </a:lnTo>
                  <a:lnTo>
                    <a:pt x="59562" y="462280"/>
                  </a:lnTo>
                  <a:lnTo>
                    <a:pt x="68960" y="471169"/>
                  </a:lnTo>
                  <a:lnTo>
                    <a:pt x="86359" y="471169"/>
                  </a:lnTo>
                  <a:lnTo>
                    <a:pt x="75692" y="462280"/>
                  </a:lnTo>
                  <a:lnTo>
                    <a:pt x="75946" y="462280"/>
                  </a:lnTo>
                  <a:lnTo>
                    <a:pt x="66421" y="454659"/>
                  </a:lnTo>
                  <a:lnTo>
                    <a:pt x="66675" y="454659"/>
                  </a:lnTo>
                  <a:lnTo>
                    <a:pt x="59163" y="447039"/>
                  </a:lnTo>
                  <a:lnTo>
                    <a:pt x="58166" y="447039"/>
                  </a:lnTo>
                  <a:lnTo>
                    <a:pt x="50165" y="438150"/>
                  </a:lnTo>
                  <a:lnTo>
                    <a:pt x="50419" y="438150"/>
                  </a:lnTo>
                  <a:lnTo>
                    <a:pt x="43560" y="429259"/>
                  </a:lnTo>
                  <a:lnTo>
                    <a:pt x="43815" y="429259"/>
                  </a:lnTo>
                  <a:lnTo>
                    <a:pt x="36956" y="420369"/>
                  </a:lnTo>
                  <a:lnTo>
                    <a:pt x="37210" y="420369"/>
                  </a:lnTo>
                  <a:lnTo>
                    <a:pt x="31242" y="411480"/>
                  </a:lnTo>
                  <a:lnTo>
                    <a:pt x="31496" y="411480"/>
                  </a:lnTo>
                  <a:lnTo>
                    <a:pt x="27050" y="402589"/>
                  </a:lnTo>
                  <a:lnTo>
                    <a:pt x="26543" y="402589"/>
                  </a:lnTo>
                  <a:lnTo>
                    <a:pt x="21971" y="392430"/>
                  </a:lnTo>
                  <a:lnTo>
                    <a:pt x="18287" y="382269"/>
                  </a:lnTo>
                  <a:lnTo>
                    <a:pt x="18415" y="382269"/>
                  </a:lnTo>
                  <a:lnTo>
                    <a:pt x="15112" y="370839"/>
                  </a:lnTo>
                  <a:lnTo>
                    <a:pt x="15240" y="370839"/>
                  </a:lnTo>
                  <a:lnTo>
                    <a:pt x="12826" y="359409"/>
                  </a:lnTo>
                  <a:lnTo>
                    <a:pt x="11582" y="347980"/>
                  </a:lnTo>
                  <a:lnTo>
                    <a:pt x="11429" y="347980"/>
                  </a:lnTo>
                  <a:lnTo>
                    <a:pt x="10668" y="335280"/>
                  </a:lnTo>
                  <a:lnTo>
                    <a:pt x="10541" y="328930"/>
                  </a:lnTo>
                  <a:lnTo>
                    <a:pt x="10414" y="323850"/>
                  </a:lnTo>
                  <a:lnTo>
                    <a:pt x="10668" y="311150"/>
                  </a:lnTo>
                  <a:lnTo>
                    <a:pt x="11429" y="298450"/>
                  </a:lnTo>
                  <a:lnTo>
                    <a:pt x="11569" y="298450"/>
                  </a:lnTo>
                  <a:lnTo>
                    <a:pt x="12826" y="287019"/>
                  </a:lnTo>
                  <a:lnTo>
                    <a:pt x="14477" y="274319"/>
                  </a:lnTo>
                  <a:lnTo>
                    <a:pt x="16764" y="262889"/>
                  </a:lnTo>
                  <a:lnTo>
                    <a:pt x="19557" y="251459"/>
                  </a:lnTo>
                  <a:lnTo>
                    <a:pt x="22732" y="240030"/>
                  </a:lnTo>
                  <a:lnTo>
                    <a:pt x="26416" y="227330"/>
                  </a:lnTo>
                  <a:lnTo>
                    <a:pt x="30352" y="217169"/>
                  </a:lnTo>
                  <a:lnTo>
                    <a:pt x="34925" y="205739"/>
                  </a:lnTo>
                  <a:lnTo>
                    <a:pt x="39624" y="196850"/>
                  </a:lnTo>
                  <a:lnTo>
                    <a:pt x="45339" y="186689"/>
                  </a:lnTo>
                  <a:lnTo>
                    <a:pt x="45211" y="186689"/>
                  </a:lnTo>
                  <a:lnTo>
                    <a:pt x="51689" y="177800"/>
                  </a:lnTo>
                  <a:lnTo>
                    <a:pt x="51561" y="177800"/>
                  </a:lnTo>
                  <a:lnTo>
                    <a:pt x="58293" y="168909"/>
                  </a:lnTo>
                  <a:lnTo>
                    <a:pt x="58039" y="168909"/>
                  </a:lnTo>
                  <a:lnTo>
                    <a:pt x="65658" y="160019"/>
                  </a:lnTo>
                  <a:lnTo>
                    <a:pt x="66638" y="160019"/>
                  </a:lnTo>
                  <a:lnTo>
                    <a:pt x="74041" y="152400"/>
                  </a:lnTo>
                  <a:lnTo>
                    <a:pt x="83184" y="143509"/>
                  </a:lnTo>
                  <a:lnTo>
                    <a:pt x="93091" y="135889"/>
                  </a:lnTo>
                  <a:lnTo>
                    <a:pt x="92836" y="135889"/>
                  </a:lnTo>
                  <a:lnTo>
                    <a:pt x="102997" y="128269"/>
                  </a:lnTo>
                  <a:lnTo>
                    <a:pt x="102743" y="128269"/>
                  </a:lnTo>
                  <a:lnTo>
                    <a:pt x="113919" y="120650"/>
                  </a:lnTo>
                  <a:lnTo>
                    <a:pt x="124586" y="114300"/>
                  </a:lnTo>
                  <a:lnTo>
                    <a:pt x="135508" y="107950"/>
                  </a:lnTo>
                  <a:lnTo>
                    <a:pt x="146811" y="101600"/>
                  </a:lnTo>
                  <a:lnTo>
                    <a:pt x="158369" y="96519"/>
                  </a:lnTo>
                  <a:lnTo>
                    <a:pt x="158115" y="96519"/>
                  </a:lnTo>
                  <a:lnTo>
                    <a:pt x="169291" y="91439"/>
                  </a:lnTo>
                  <a:lnTo>
                    <a:pt x="169036" y="91439"/>
                  </a:lnTo>
                  <a:lnTo>
                    <a:pt x="181482" y="87629"/>
                  </a:lnTo>
                  <a:lnTo>
                    <a:pt x="181228" y="87629"/>
                  </a:lnTo>
                  <a:lnTo>
                    <a:pt x="193801" y="83819"/>
                  </a:lnTo>
                  <a:lnTo>
                    <a:pt x="193548" y="83819"/>
                  </a:lnTo>
                  <a:lnTo>
                    <a:pt x="206375" y="80010"/>
                  </a:lnTo>
                  <a:lnTo>
                    <a:pt x="219328" y="76200"/>
                  </a:lnTo>
                  <a:lnTo>
                    <a:pt x="219075" y="76200"/>
                  </a:lnTo>
                  <a:lnTo>
                    <a:pt x="232028" y="73660"/>
                  </a:lnTo>
                  <a:lnTo>
                    <a:pt x="245109" y="71119"/>
                  </a:lnTo>
                  <a:lnTo>
                    <a:pt x="257555" y="68579"/>
                  </a:lnTo>
                  <a:close/>
                </a:path>
                <a:path w="689609" h="528319">
                  <a:moveTo>
                    <a:pt x="57911" y="445769"/>
                  </a:moveTo>
                  <a:lnTo>
                    <a:pt x="58166" y="447039"/>
                  </a:lnTo>
                  <a:lnTo>
                    <a:pt x="59163" y="447039"/>
                  </a:lnTo>
                  <a:lnTo>
                    <a:pt x="57911" y="445769"/>
                  </a:lnTo>
                  <a:close/>
                </a:path>
                <a:path w="689609" h="528319">
                  <a:moveTo>
                    <a:pt x="26416" y="401319"/>
                  </a:moveTo>
                  <a:lnTo>
                    <a:pt x="26543" y="402589"/>
                  </a:lnTo>
                  <a:lnTo>
                    <a:pt x="27050" y="402589"/>
                  </a:lnTo>
                  <a:lnTo>
                    <a:pt x="26416" y="401319"/>
                  </a:lnTo>
                  <a:close/>
                </a:path>
                <a:path w="689609" h="528319">
                  <a:moveTo>
                    <a:pt x="663321" y="375919"/>
                  </a:moveTo>
                  <a:lnTo>
                    <a:pt x="658368" y="386080"/>
                  </a:lnTo>
                  <a:lnTo>
                    <a:pt x="658876" y="386080"/>
                  </a:lnTo>
                  <a:lnTo>
                    <a:pt x="652399" y="396239"/>
                  </a:lnTo>
                  <a:lnTo>
                    <a:pt x="670210" y="396239"/>
                  </a:lnTo>
                  <a:lnTo>
                    <a:pt x="671829" y="393700"/>
                  </a:lnTo>
                  <a:lnTo>
                    <a:pt x="677545" y="382269"/>
                  </a:lnTo>
                  <a:lnTo>
                    <a:pt x="679351" y="377189"/>
                  </a:lnTo>
                  <a:lnTo>
                    <a:pt x="662940" y="377189"/>
                  </a:lnTo>
                  <a:lnTo>
                    <a:pt x="663321" y="375919"/>
                  </a:lnTo>
                  <a:close/>
                </a:path>
                <a:path w="689609" h="528319">
                  <a:moveTo>
                    <a:pt x="666750" y="365759"/>
                  </a:moveTo>
                  <a:lnTo>
                    <a:pt x="662940" y="377189"/>
                  </a:lnTo>
                  <a:lnTo>
                    <a:pt x="679351" y="377189"/>
                  </a:lnTo>
                  <a:lnTo>
                    <a:pt x="681608" y="370839"/>
                  </a:lnTo>
                  <a:lnTo>
                    <a:pt x="682523" y="367030"/>
                  </a:lnTo>
                  <a:lnTo>
                    <a:pt x="666496" y="367030"/>
                  </a:lnTo>
                  <a:lnTo>
                    <a:pt x="666750" y="365759"/>
                  </a:lnTo>
                  <a:close/>
                </a:path>
                <a:path w="689609" h="528319">
                  <a:moveTo>
                    <a:pt x="684174" y="193039"/>
                  </a:moveTo>
                  <a:lnTo>
                    <a:pt x="666242" y="193039"/>
                  </a:lnTo>
                  <a:lnTo>
                    <a:pt x="669417" y="212089"/>
                  </a:lnTo>
                  <a:lnTo>
                    <a:pt x="669417" y="213359"/>
                  </a:lnTo>
                  <a:lnTo>
                    <a:pt x="671068" y="229869"/>
                  </a:lnTo>
                  <a:lnTo>
                    <a:pt x="671956" y="247650"/>
                  </a:lnTo>
                  <a:lnTo>
                    <a:pt x="672083" y="264159"/>
                  </a:lnTo>
                  <a:lnTo>
                    <a:pt x="672337" y="280669"/>
                  </a:lnTo>
                  <a:lnTo>
                    <a:pt x="672719" y="298450"/>
                  </a:lnTo>
                  <a:lnTo>
                    <a:pt x="672803" y="314959"/>
                  </a:lnTo>
                  <a:lnTo>
                    <a:pt x="672337" y="328930"/>
                  </a:lnTo>
                  <a:lnTo>
                    <a:pt x="671195" y="342900"/>
                  </a:lnTo>
                  <a:lnTo>
                    <a:pt x="669290" y="355600"/>
                  </a:lnTo>
                  <a:lnTo>
                    <a:pt x="666496" y="367030"/>
                  </a:lnTo>
                  <a:lnTo>
                    <a:pt x="682523" y="367030"/>
                  </a:lnTo>
                  <a:lnTo>
                    <a:pt x="684656" y="358139"/>
                  </a:lnTo>
                  <a:lnTo>
                    <a:pt x="686943" y="345439"/>
                  </a:lnTo>
                  <a:lnTo>
                    <a:pt x="688467" y="330200"/>
                  </a:lnTo>
                  <a:lnTo>
                    <a:pt x="689355" y="314959"/>
                  </a:lnTo>
                  <a:lnTo>
                    <a:pt x="689590" y="299719"/>
                  </a:lnTo>
                  <a:lnTo>
                    <a:pt x="689482" y="246380"/>
                  </a:lnTo>
                  <a:lnTo>
                    <a:pt x="688775" y="229869"/>
                  </a:lnTo>
                  <a:lnTo>
                    <a:pt x="688721" y="227330"/>
                  </a:lnTo>
                  <a:lnTo>
                    <a:pt x="686943" y="209550"/>
                  </a:lnTo>
                  <a:lnTo>
                    <a:pt x="684174" y="193039"/>
                  </a:lnTo>
                  <a:close/>
                </a:path>
                <a:path w="689609" h="528319">
                  <a:moveTo>
                    <a:pt x="11429" y="346709"/>
                  </a:moveTo>
                  <a:lnTo>
                    <a:pt x="11429" y="347980"/>
                  </a:lnTo>
                  <a:lnTo>
                    <a:pt x="11582" y="347980"/>
                  </a:lnTo>
                  <a:lnTo>
                    <a:pt x="11429" y="346709"/>
                  </a:lnTo>
                  <a:close/>
                </a:path>
                <a:path w="689609" h="528319">
                  <a:moveTo>
                    <a:pt x="10426" y="323215"/>
                  </a:moveTo>
                  <a:lnTo>
                    <a:pt x="10414" y="323850"/>
                  </a:lnTo>
                  <a:lnTo>
                    <a:pt x="10426" y="323215"/>
                  </a:lnTo>
                  <a:close/>
                </a:path>
                <a:path w="689609" h="528319">
                  <a:moveTo>
                    <a:pt x="10439" y="322580"/>
                  </a:moveTo>
                  <a:lnTo>
                    <a:pt x="10426" y="323215"/>
                  </a:lnTo>
                  <a:lnTo>
                    <a:pt x="10439" y="322580"/>
                  </a:lnTo>
                  <a:close/>
                </a:path>
                <a:path w="689609" h="528319">
                  <a:moveTo>
                    <a:pt x="11569" y="298450"/>
                  </a:moveTo>
                  <a:lnTo>
                    <a:pt x="11429" y="298450"/>
                  </a:lnTo>
                  <a:lnTo>
                    <a:pt x="11429" y="299719"/>
                  </a:lnTo>
                  <a:lnTo>
                    <a:pt x="11569" y="298450"/>
                  </a:lnTo>
                  <a:close/>
                </a:path>
                <a:path w="689609" h="528319">
                  <a:moveTo>
                    <a:pt x="679983" y="175259"/>
                  </a:moveTo>
                  <a:lnTo>
                    <a:pt x="661797" y="175259"/>
                  </a:lnTo>
                  <a:lnTo>
                    <a:pt x="666369" y="194309"/>
                  </a:lnTo>
                  <a:lnTo>
                    <a:pt x="666242" y="193039"/>
                  </a:lnTo>
                  <a:lnTo>
                    <a:pt x="684174" y="193039"/>
                  </a:lnTo>
                  <a:lnTo>
                    <a:pt x="683768" y="190500"/>
                  </a:lnTo>
                  <a:lnTo>
                    <a:pt x="679983" y="175259"/>
                  </a:lnTo>
                  <a:close/>
                </a:path>
                <a:path w="689609" h="528319">
                  <a:moveTo>
                    <a:pt x="667670" y="139700"/>
                  </a:moveTo>
                  <a:lnTo>
                    <a:pt x="648207" y="139700"/>
                  </a:lnTo>
                  <a:lnTo>
                    <a:pt x="655954" y="158750"/>
                  </a:lnTo>
                  <a:lnTo>
                    <a:pt x="661924" y="176530"/>
                  </a:lnTo>
                  <a:lnTo>
                    <a:pt x="661797" y="175259"/>
                  </a:lnTo>
                  <a:lnTo>
                    <a:pt x="679983" y="175259"/>
                  </a:lnTo>
                  <a:lnTo>
                    <a:pt x="679069" y="171450"/>
                  </a:lnTo>
                  <a:lnTo>
                    <a:pt x="678815" y="171450"/>
                  </a:lnTo>
                  <a:lnTo>
                    <a:pt x="672846" y="152400"/>
                  </a:lnTo>
                  <a:lnTo>
                    <a:pt x="672592" y="152400"/>
                  </a:lnTo>
                  <a:lnTo>
                    <a:pt x="667670" y="139700"/>
                  </a:lnTo>
                  <a:close/>
                </a:path>
                <a:path w="689609" h="528319">
                  <a:moveTo>
                    <a:pt x="66638" y="160019"/>
                  </a:moveTo>
                  <a:lnTo>
                    <a:pt x="65658" y="160019"/>
                  </a:lnTo>
                  <a:lnTo>
                    <a:pt x="65404" y="161289"/>
                  </a:lnTo>
                  <a:lnTo>
                    <a:pt x="66638" y="160019"/>
                  </a:lnTo>
                  <a:close/>
                </a:path>
                <a:path w="689609" h="528319">
                  <a:moveTo>
                    <a:pt x="659079" y="120650"/>
                  </a:moveTo>
                  <a:lnTo>
                    <a:pt x="638936" y="120650"/>
                  </a:lnTo>
                  <a:lnTo>
                    <a:pt x="648461" y="140969"/>
                  </a:lnTo>
                  <a:lnTo>
                    <a:pt x="648207" y="139700"/>
                  </a:lnTo>
                  <a:lnTo>
                    <a:pt x="667670" y="139700"/>
                  </a:lnTo>
                  <a:lnTo>
                    <a:pt x="664718" y="132080"/>
                  </a:lnTo>
                  <a:lnTo>
                    <a:pt x="659079" y="120650"/>
                  </a:lnTo>
                  <a:close/>
                </a:path>
                <a:path w="689609" h="528319">
                  <a:moveTo>
                    <a:pt x="624458" y="67310"/>
                  </a:moveTo>
                  <a:lnTo>
                    <a:pt x="599058" y="67310"/>
                  </a:lnTo>
                  <a:lnTo>
                    <a:pt x="615187" y="85089"/>
                  </a:lnTo>
                  <a:lnTo>
                    <a:pt x="614552" y="85089"/>
                  </a:lnTo>
                  <a:lnTo>
                    <a:pt x="628269" y="102869"/>
                  </a:lnTo>
                  <a:lnTo>
                    <a:pt x="627760" y="102869"/>
                  </a:lnTo>
                  <a:lnTo>
                    <a:pt x="639191" y="121919"/>
                  </a:lnTo>
                  <a:lnTo>
                    <a:pt x="638936" y="120650"/>
                  </a:lnTo>
                  <a:lnTo>
                    <a:pt x="659079" y="120650"/>
                  </a:lnTo>
                  <a:lnTo>
                    <a:pt x="655320" y="113029"/>
                  </a:lnTo>
                  <a:lnTo>
                    <a:pt x="643762" y="92710"/>
                  </a:lnTo>
                  <a:lnTo>
                    <a:pt x="643254" y="92710"/>
                  </a:lnTo>
                  <a:lnTo>
                    <a:pt x="629666" y="73660"/>
                  </a:lnTo>
                  <a:lnTo>
                    <a:pt x="629030" y="72389"/>
                  </a:lnTo>
                  <a:lnTo>
                    <a:pt x="624458" y="67310"/>
                  </a:lnTo>
                  <a:close/>
                </a:path>
                <a:path w="689609" h="528319">
                  <a:moveTo>
                    <a:pt x="427227" y="100329"/>
                  </a:moveTo>
                  <a:lnTo>
                    <a:pt x="412876" y="100329"/>
                  </a:lnTo>
                  <a:lnTo>
                    <a:pt x="415798" y="104139"/>
                  </a:lnTo>
                  <a:lnTo>
                    <a:pt x="418337" y="106679"/>
                  </a:lnTo>
                  <a:lnTo>
                    <a:pt x="421131" y="110489"/>
                  </a:lnTo>
                  <a:lnTo>
                    <a:pt x="423925" y="114300"/>
                  </a:lnTo>
                  <a:lnTo>
                    <a:pt x="426974" y="118110"/>
                  </a:lnTo>
                  <a:lnTo>
                    <a:pt x="428751" y="120650"/>
                  </a:lnTo>
                  <a:lnTo>
                    <a:pt x="432053" y="120650"/>
                  </a:lnTo>
                  <a:lnTo>
                    <a:pt x="434594" y="119379"/>
                  </a:lnTo>
                  <a:lnTo>
                    <a:pt x="437006" y="118110"/>
                  </a:lnTo>
                  <a:lnTo>
                    <a:pt x="437515" y="114300"/>
                  </a:lnTo>
                  <a:lnTo>
                    <a:pt x="435736" y="111760"/>
                  </a:lnTo>
                  <a:lnTo>
                    <a:pt x="432689" y="107950"/>
                  </a:lnTo>
                  <a:lnTo>
                    <a:pt x="429895" y="104139"/>
                  </a:lnTo>
                  <a:lnTo>
                    <a:pt x="427227" y="100329"/>
                  </a:lnTo>
                  <a:close/>
                </a:path>
                <a:path w="689609" h="528319">
                  <a:moveTo>
                    <a:pt x="394461" y="69850"/>
                  </a:moveTo>
                  <a:lnTo>
                    <a:pt x="355473" y="69850"/>
                  </a:lnTo>
                  <a:lnTo>
                    <a:pt x="363347" y="71119"/>
                  </a:lnTo>
                  <a:lnTo>
                    <a:pt x="363093" y="71119"/>
                  </a:lnTo>
                  <a:lnTo>
                    <a:pt x="370077" y="73660"/>
                  </a:lnTo>
                  <a:lnTo>
                    <a:pt x="369824" y="73660"/>
                  </a:lnTo>
                  <a:lnTo>
                    <a:pt x="376808" y="76200"/>
                  </a:lnTo>
                  <a:lnTo>
                    <a:pt x="376554" y="76200"/>
                  </a:lnTo>
                  <a:lnTo>
                    <a:pt x="383285" y="78739"/>
                  </a:lnTo>
                  <a:lnTo>
                    <a:pt x="382904" y="78739"/>
                  </a:lnTo>
                  <a:lnTo>
                    <a:pt x="388620" y="81279"/>
                  </a:lnTo>
                  <a:lnTo>
                    <a:pt x="388239" y="81279"/>
                  </a:lnTo>
                  <a:lnTo>
                    <a:pt x="393319" y="83819"/>
                  </a:lnTo>
                  <a:lnTo>
                    <a:pt x="392937" y="83819"/>
                  </a:lnTo>
                  <a:lnTo>
                    <a:pt x="397382" y="86360"/>
                  </a:lnTo>
                  <a:lnTo>
                    <a:pt x="397001" y="86360"/>
                  </a:lnTo>
                  <a:lnTo>
                    <a:pt x="400939" y="88900"/>
                  </a:lnTo>
                  <a:lnTo>
                    <a:pt x="400684" y="88900"/>
                  </a:lnTo>
                  <a:lnTo>
                    <a:pt x="404241" y="91439"/>
                  </a:lnTo>
                  <a:lnTo>
                    <a:pt x="403986" y="91439"/>
                  </a:lnTo>
                  <a:lnTo>
                    <a:pt x="407670" y="95250"/>
                  </a:lnTo>
                  <a:lnTo>
                    <a:pt x="410082" y="97789"/>
                  </a:lnTo>
                  <a:lnTo>
                    <a:pt x="413003" y="100329"/>
                  </a:lnTo>
                  <a:lnTo>
                    <a:pt x="427100" y="100329"/>
                  </a:lnTo>
                  <a:lnTo>
                    <a:pt x="424687" y="96519"/>
                  </a:lnTo>
                  <a:lnTo>
                    <a:pt x="421894" y="92710"/>
                  </a:lnTo>
                  <a:lnTo>
                    <a:pt x="418973" y="90169"/>
                  </a:lnTo>
                  <a:lnTo>
                    <a:pt x="416432" y="86360"/>
                  </a:lnTo>
                  <a:lnTo>
                    <a:pt x="412369" y="82550"/>
                  </a:lnTo>
                  <a:lnTo>
                    <a:pt x="408812" y="80010"/>
                  </a:lnTo>
                  <a:lnTo>
                    <a:pt x="408431" y="78739"/>
                  </a:lnTo>
                  <a:lnTo>
                    <a:pt x="404622" y="76200"/>
                  </a:lnTo>
                  <a:lnTo>
                    <a:pt x="399542" y="72389"/>
                  </a:lnTo>
                  <a:lnTo>
                    <a:pt x="394461" y="69850"/>
                  </a:lnTo>
                  <a:close/>
                </a:path>
                <a:path w="689609" h="528319">
                  <a:moveTo>
                    <a:pt x="388239" y="67310"/>
                  </a:moveTo>
                  <a:lnTo>
                    <a:pt x="337439" y="67310"/>
                  </a:lnTo>
                  <a:lnTo>
                    <a:pt x="347091" y="68579"/>
                  </a:lnTo>
                  <a:lnTo>
                    <a:pt x="346836" y="68579"/>
                  </a:lnTo>
                  <a:lnTo>
                    <a:pt x="355726" y="69850"/>
                  </a:lnTo>
                  <a:lnTo>
                    <a:pt x="393953" y="69850"/>
                  </a:lnTo>
                  <a:lnTo>
                    <a:pt x="388239" y="67310"/>
                  </a:lnTo>
                  <a:close/>
                </a:path>
                <a:path w="689609" h="528319">
                  <a:moveTo>
                    <a:pt x="306704" y="64769"/>
                  </a:moveTo>
                  <a:lnTo>
                    <a:pt x="216534" y="64769"/>
                  </a:lnTo>
                  <a:lnTo>
                    <a:pt x="203453" y="68579"/>
                  </a:lnTo>
                  <a:lnTo>
                    <a:pt x="257301" y="68579"/>
                  </a:lnTo>
                  <a:lnTo>
                    <a:pt x="269621" y="67310"/>
                  </a:lnTo>
                  <a:lnTo>
                    <a:pt x="282575" y="66039"/>
                  </a:lnTo>
                  <a:lnTo>
                    <a:pt x="294512" y="66039"/>
                  </a:lnTo>
                  <a:lnTo>
                    <a:pt x="306704" y="64769"/>
                  </a:lnTo>
                  <a:close/>
                </a:path>
                <a:path w="689609" h="528319">
                  <a:moveTo>
                    <a:pt x="595385" y="39369"/>
                  </a:moveTo>
                  <a:lnTo>
                    <a:pt x="561212" y="39369"/>
                  </a:lnTo>
                  <a:lnTo>
                    <a:pt x="582549" y="53339"/>
                  </a:lnTo>
                  <a:lnTo>
                    <a:pt x="581532" y="53339"/>
                  </a:lnTo>
                  <a:lnTo>
                    <a:pt x="599821" y="68579"/>
                  </a:lnTo>
                  <a:lnTo>
                    <a:pt x="599058" y="67310"/>
                  </a:lnTo>
                  <a:lnTo>
                    <a:pt x="624458" y="67310"/>
                  </a:lnTo>
                  <a:lnTo>
                    <a:pt x="613028" y="54610"/>
                  </a:lnTo>
                  <a:lnTo>
                    <a:pt x="612267" y="54610"/>
                  </a:lnTo>
                  <a:lnTo>
                    <a:pt x="595385" y="39369"/>
                  </a:lnTo>
                  <a:close/>
                </a:path>
                <a:path w="689609" h="528319">
                  <a:moveTo>
                    <a:pt x="373633" y="62229"/>
                  </a:moveTo>
                  <a:lnTo>
                    <a:pt x="229616" y="62229"/>
                  </a:lnTo>
                  <a:lnTo>
                    <a:pt x="216661" y="64769"/>
                  </a:lnTo>
                  <a:lnTo>
                    <a:pt x="317500" y="64769"/>
                  </a:lnTo>
                  <a:lnTo>
                    <a:pt x="328041" y="66039"/>
                  </a:lnTo>
                  <a:lnTo>
                    <a:pt x="327786" y="66039"/>
                  </a:lnTo>
                  <a:lnTo>
                    <a:pt x="337693" y="67310"/>
                  </a:lnTo>
                  <a:lnTo>
                    <a:pt x="387730" y="67310"/>
                  </a:lnTo>
                  <a:lnTo>
                    <a:pt x="381000" y="64769"/>
                  </a:lnTo>
                  <a:lnTo>
                    <a:pt x="373633" y="62229"/>
                  </a:lnTo>
                  <a:close/>
                </a:path>
                <a:path w="689609" h="528319">
                  <a:moveTo>
                    <a:pt x="366268" y="59689"/>
                  </a:moveTo>
                  <a:lnTo>
                    <a:pt x="242950" y="59689"/>
                  </a:lnTo>
                  <a:lnTo>
                    <a:pt x="229743" y="62229"/>
                  </a:lnTo>
                  <a:lnTo>
                    <a:pt x="373379" y="62229"/>
                  </a:lnTo>
                  <a:lnTo>
                    <a:pt x="366268" y="59689"/>
                  </a:lnTo>
                  <a:close/>
                </a:path>
                <a:path w="689609" h="528319">
                  <a:moveTo>
                    <a:pt x="348996" y="55879"/>
                  </a:moveTo>
                  <a:lnTo>
                    <a:pt x="268097" y="55879"/>
                  </a:lnTo>
                  <a:lnTo>
                    <a:pt x="255904" y="57150"/>
                  </a:lnTo>
                  <a:lnTo>
                    <a:pt x="255650" y="57150"/>
                  </a:lnTo>
                  <a:lnTo>
                    <a:pt x="243204" y="59689"/>
                  </a:lnTo>
                  <a:lnTo>
                    <a:pt x="366014" y="59689"/>
                  </a:lnTo>
                  <a:lnTo>
                    <a:pt x="358267" y="58419"/>
                  </a:lnTo>
                  <a:lnTo>
                    <a:pt x="358012" y="58419"/>
                  </a:lnTo>
                  <a:lnTo>
                    <a:pt x="348996" y="55879"/>
                  </a:lnTo>
                  <a:close/>
                </a:path>
                <a:path w="689609" h="528319">
                  <a:moveTo>
                    <a:pt x="318134" y="53339"/>
                  </a:moveTo>
                  <a:lnTo>
                    <a:pt x="294004" y="53339"/>
                  </a:lnTo>
                  <a:lnTo>
                    <a:pt x="268350" y="55879"/>
                  </a:lnTo>
                  <a:lnTo>
                    <a:pt x="348742" y="55879"/>
                  </a:lnTo>
                  <a:lnTo>
                    <a:pt x="339090" y="54610"/>
                  </a:lnTo>
                  <a:lnTo>
                    <a:pt x="328929" y="54610"/>
                  </a:lnTo>
                  <a:lnTo>
                    <a:pt x="318134" y="53339"/>
                  </a:lnTo>
                  <a:close/>
                </a:path>
                <a:path w="689609" h="528319">
                  <a:moveTo>
                    <a:pt x="476884" y="0"/>
                  </a:moveTo>
                  <a:lnTo>
                    <a:pt x="475869" y="0"/>
                  </a:lnTo>
                  <a:lnTo>
                    <a:pt x="434212" y="1269"/>
                  </a:lnTo>
                  <a:lnTo>
                    <a:pt x="433958" y="1269"/>
                  </a:lnTo>
                  <a:lnTo>
                    <a:pt x="387476" y="5079"/>
                  </a:lnTo>
                  <a:lnTo>
                    <a:pt x="385699" y="5079"/>
                  </a:lnTo>
                  <a:lnTo>
                    <a:pt x="384301" y="7619"/>
                  </a:lnTo>
                  <a:lnTo>
                    <a:pt x="384301" y="10160"/>
                  </a:lnTo>
                  <a:lnTo>
                    <a:pt x="385825" y="12700"/>
                  </a:lnTo>
                  <a:lnTo>
                    <a:pt x="387603" y="12700"/>
                  </a:lnTo>
                  <a:lnTo>
                    <a:pt x="475615" y="17779"/>
                  </a:lnTo>
                  <a:lnTo>
                    <a:pt x="474979" y="17779"/>
                  </a:lnTo>
                  <a:lnTo>
                    <a:pt x="510412" y="21589"/>
                  </a:lnTo>
                  <a:lnTo>
                    <a:pt x="509270" y="21589"/>
                  </a:lnTo>
                  <a:lnTo>
                    <a:pt x="538099" y="29210"/>
                  </a:lnTo>
                  <a:lnTo>
                    <a:pt x="536828" y="29210"/>
                  </a:lnTo>
                  <a:lnTo>
                    <a:pt x="562482" y="40639"/>
                  </a:lnTo>
                  <a:lnTo>
                    <a:pt x="561212" y="39369"/>
                  </a:lnTo>
                  <a:lnTo>
                    <a:pt x="595385" y="39369"/>
                  </a:lnTo>
                  <a:lnTo>
                    <a:pt x="593978" y="38100"/>
                  </a:lnTo>
                  <a:lnTo>
                    <a:pt x="592962" y="38100"/>
                  </a:lnTo>
                  <a:lnTo>
                    <a:pt x="571500" y="24129"/>
                  </a:lnTo>
                  <a:lnTo>
                    <a:pt x="570102" y="22860"/>
                  </a:lnTo>
                  <a:lnTo>
                    <a:pt x="544322" y="11429"/>
                  </a:lnTo>
                  <a:lnTo>
                    <a:pt x="542798" y="11429"/>
                  </a:lnTo>
                  <a:lnTo>
                    <a:pt x="513842" y="3810"/>
                  </a:lnTo>
                  <a:lnTo>
                    <a:pt x="512572" y="3810"/>
                  </a:lnTo>
                  <a:lnTo>
                    <a:pt x="476884" y="0"/>
                  </a:lnTo>
                  <a:close/>
                </a:path>
              </a:pathLst>
            </a:custGeom>
            <a:solidFill>
              <a:srgbClr val="FF0000"/>
            </a:solidFill>
          </p:spPr>
          <p:txBody>
            <a:bodyPr wrap="square" lIns="0" tIns="0" rIns="0" bIns="0" rtlCol="0"/>
            <a:lstStyle/>
            <a:p>
              <a:endParaRPr/>
            </a:p>
          </p:txBody>
        </p:sp>
      </p:gr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84</a:t>
            </a:fld>
            <a:endParaRPr dirty="0"/>
          </a:p>
        </p:txBody>
      </p:sp>
    </p:spTree>
    <p:extLst>
      <p:ext uri="{BB962C8B-B14F-4D97-AF65-F5344CB8AC3E}">
        <p14:creationId xmlns:p14="http://schemas.microsoft.com/office/powerpoint/2010/main" val="7171240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0738" y="276139"/>
            <a:ext cx="5987396" cy="440505"/>
          </a:xfrm>
          <a:prstGeom prst="rect">
            <a:avLst/>
          </a:prstGeom>
        </p:spPr>
        <p:txBody>
          <a:bodyPr vert="horz" wrap="square" lIns="0" tIns="9525" rIns="0" bIns="0" rtlCol="0">
            <a:spAutoFit/>
          </a:bodyPr>
          <a:lstStyle/>
          <a:p>
            <a:pPr marL="9525">
              <a:spcBef>
                <a:spcPts val="75"/>
              </a:spcBef>
            </a:pPr>
            <a:r>
              <a:rPr spc="-4" dirty="0">
                <a:latin typeface="Times New Roman"/>
                <a:cs typeface="Times New Roman"/>
              </a:rPr>
              <a:t>Reduced-Error</a:t>
            </a:r>
            <a:r>
              <a:rPr spc="-38" dirty="0">
                <a:latin typeface="Times New Roman"/>
                <a:cs typeface="Times New Roman"/>
              </a:rPr>
              <a:t> </a:t>
            </a:r>
            <a:r>
              <a:rPr spc="-4" dirty="0">
                <a:latin typeface="Times New Roman"/>
                <a:cs typeface="Times New Roman"/>
              </a:rPr>
              <a:t>Pruning</a:t>
            </a:r>
          </a:p>
        </p:txBody>
      </p:sp>
      <p:sp>
        <p:nvSpPr>
          <p:cNvPr id="5" name="object 5"/>
          <p:cNvSpPr txBox="1">
            <a:spLocks noGrp="1"/>
          </p:cNvSpPr>
          <p:nvPr>
            <p:ph type="sldNum" sz="quarter" idx="7"/>
          </p:nvPr>
        </p:nvSpPr>
        <p:spPr>
          <a:xfrm>
            <a:off x="7444168" y="3622529"/>
            <a:ext cx="173831" cy="309957"/>
          </a:xfrm>
          <a:prstGeom prst="rect">
            <a:avLst/>
          </a:prstGeom>
        </p:spPr>
        <p:txBody>
          <a:bodyPr vert="horz" wrap="square" lIns="0" tIns="0" rIns="0" bIns="0" rtlCol="0">
            <a:spAutoFit/>
          </a:bodyPr>
          <a:lstStyle/>
          <a:p>
            <a:pPr marL="28575">
              <a:lnSpc>
                <a:spcPts val="1223"/>
              </a:lnSpc>
            </a:pPr>
            <a:fld id="{81D60167-4931-47E6-BA6A-407CBD079E47}" type="slidenum">
              <a:rPr dirty="0"/>
              <a:pPr marL="28575">
                <a:lnSpc>
                  <a:spcPts val="1223"/>
                </a:lnSpc>
              </a:pPr>
              <a:t>85</a:t>
            </a:fld>
            <a:endParaRPr dirty="0"/>
          </a:p>
        </p:txBody>
      </p:sp>
      <p:sp>
        <p:nvSpPr>
          <p:cNvPr id="3" name="object 3"/>
          <p:cNvSpPr txBox="1"/>
          <p:nvPr/>
        </p:nvSpPr>
        <p:spPr>
          <a:xfrm>
            <a:off x="1445866" y="956272"/>
            <a:ext cx="6433661" cy="3056606"/>
          </a:xfrm>
          <a:prstGeom prst="rect">
            <a:avLst/>
          </a:prstGeom>
        </p:spPr>
        <p:txBody>
          <a:bodyPr vert="horz" wrap="square" lIns="0" tIns="9525" rIns="0" bIns="0" rtlCol="0">
            <a:spAutoFit/>
          </a:bodyPr>
          <a:lstStyle/>
          <a:p>
            <a:pPr marL="146685" indent="-137160">
              <a:spcBef>
                <a:spcPts val="75"/>
              </a:spcBef>
              <a:buClr>
                <a:srgbClr val="000000"/>
              </a:buClr>
              <a:buFont typeface="Arial MT"/>
              <a:buChar char="•"/>
              <a:tabLst>
                <a:tab pos="146685" algn="l"/>
              </a:tabLst>
            </a:pPr>
            <a:r>
              <a:rPr dirty="0">
                <a:solidFill>
                  <a:srgbClr val="000066"/>
                </a:solidFill>
                <a:latin typeface="Times New Roman"/>
                <a:cs typeface="Times New Roman"/>
              </a:rPr>
              <a:t>A</a:t>
            </a:r>
            <a:r>
              <a:rPr spc="-23" dirty="0">
                <a:solidFill>
                  <a:srgbClr val="000066"/>
                </a:solidFill>
                <a:latin typeface="Times New Roman"/>
                <a:cs typeface="Times New Roman"/>
              </a:rPr>
              <a:t> </a:t>
            </a:r>
            <a:r>
              <a:rPr dirty="0">
                <a:solidFill>
                  <a:srgbClr val="000066"/>
                </a:solidFill>
                <a:latin typeface="Times New Roman"/>
                <a:cs typeface="Times New Roman"/>
              </a:rPr>
              <a:t>post-pruning,</a:t>
            </a:r>
            <a:r>
              <a:rPr spc="-8" dirty="0">
                <a:solidFill>
                  <a:srgbClr val="000066"/>
                </a:solidFill>
                <a:latin typeface="Times New Roman"/>
                <a:cs typeface="Times New Roman"/>
              </a:rPr>
              <a:t> </a:t>
            </a:r>
            <a:r>
              <a:rPr dirty="0">
                <a:solidFill>
                  <a:srgbClr val="0000FF"/>
                </a:solidFill>
                <a:latin typeface="Times New Roman"/>
                <a:cs typeface="Times New Roman"/>
              </a:rPr>
              <a:t>cross</a:t>
            </a:r>
            <a:r>
              <a:rPr spc="-8" dirty="0">
                <a:solidFill>
                  <a:srgbClr val="0000FF"/>
                </a:solidFill>
                <a:latin typeface="Times New Roman"/>
                <a:cs typeface="Times New Roman"/>
              </a:rPr>
              <a:t> </a:t>
            </a:r>
            <a:r>
              <a:rPr dirty="0">
                <a:solidFill>
                  <a:srgbClr val="0000FF"/>
                </a:solidFill>
                <a:latin typeface="Times New Roman"/>
                <a:cs typeface="Times New Roman"/>
              </a:rPr>
              <a:t>validation</a:t>
            </a:r>
            <a:r>
              <a:rPr spc="-8" dirty="0">
                <a:solidFill>
                  <a:srgbClr val="0000FF"/>
                </a:solidFill>
                <a:latin typeface="Times New Roman"/>
                <a:cs typeface="Times New Roman"/>
              </a:rPr>
              <a:t> </a:t>
            </a:r>
            <a:r>
              <a:rPr spc="-4" dirty="0">
                <a:solidFill>
                  <a:srgbClr val="0000FF"/>
                </a:solidFill>
                <a:latin typeface="Times New Roman"/>
                <a:cs typeface="Times New Roman"/>
              </a:rPr>
              <a:t>approach</a:t>
            </a:r>
            <a:endParaRPr dirty="0">
              <a:latin typeface="Times New Roman"/>
              <a:cs typeface="Times New Roman"/>
            </a:endParaRPr>
          </a:p>
          <a:p>
            <a:pPr marL="485299" lvl="1" indent="-190976">
              <a:buChar char="-"/>
              <a:tabLst>
                <a:tab pos="485299" algn="l"/>
                <a:tab pos="485775" algn="l"/>
              </a:tabLst>
            </a:pPr>
            <a:r>
              <a:rPr dirty="0">
                <a:solidFill>
                  <a:srgbClr val="000066"/>
                </a:solidFill>
                <a:latin typeface="Times New Roman"/>
                <a:cs typeface="Times New Roman"/>
              </a:rPr>
              <a:t>Partition</a:t>
            </a:r>
            <a:r>
              <a:rPr spc="-11" dirty="0">
                <a:solidFill>
                  <a:srgbClr val="000066"/>
                </a:solidFill>
                <a:latin typeface="Times New Roman"/>
                <a:cs typeface="Times New Roman"/>
              </a:rPr>
              <a:t> </a:t>
            </a:r>
            <a:r>
              <a:rPr dirty="0">
                <a:solidFill>
                  <a:srgbClr val="000066"/>
                </a:solidFill>
                <a:latin typeface="Times New Roman"/>
                <a:cs typeface="Times New Roman"/>
              </a:rPr>
              <a:t>training</a:t>
            </a:r>
            <a:r>
              <a:rPr spc="-4" dirty="0">
                <a:solidFill>
                  <a:srgbClr val="000066"/>
                </a:solidFill>
                <a:latin typeface="Times New Roman"/>
                <a:cs typeface="Times New Roman"/>
              </a:rPr>
              <a:t> </a:t>
            </a:r>
            <a:r>
              <a:rPr dirty="0">
                <a:solidFill>
                  <a:srgbClr val="000066"/>
                </a:solidFill>
                <a:latin typeface="Times New Roman"/>
                <a:cs typeface="Times New Roman"/>
              </a:rPr>
              <a:t>data</a:t>
            </a:r>
            <a:r>
              <a:rPr spc="-8" dirty="0">
                <a:solidFill>
                  <a:srgbClr val="000066"/>
                </a:solidFill>
                <a:latin typeface="Times New Roman"/>
                <a:cs typeface="Times New Roman"/>
              </a:rPr>
              <a:t> </a:t>
            </a:r>
            <a:r>
              <a:rPr dirty="0">
                <a:solidFill>
                  <a:srgbClr val="000066"/>
                </a:solidFill>
                <a:latin typeface="Times New Roman"/>
                <a:cs typeface="Times New Roman"/>
              </a:rPr>
              <a:t>into</a:t>
            </a:r>
            <a:r>
              <a:rPr spc="15" dirty="0">
                <a:solidFill>
                  <a:srgbClr val="000066"/>
                </a:solidFill>
                <a:latin typeface="Times New Roman"/>
                <a:cs typeface="Times New Roman"/>
              </a:rPr>
              <a:t> </a:t>
            </a:r>
            <a:r>
              <a:rPr dirty="0">
                <a:solidFill>
                  <a:srgbClr val="0000FF"/>
                </a:solidFill>
                <a:latin typeface="Times New Roman"/>
                <a:cs typeface="Times New Roman"/>
              </a:rPr>
              <a:t>“grow”</a:t>
            </a:r>
            <a:r>
              <a:rPr spc="-11" dirty="0">
                <a:solidFill>
                  <a:srgbClr val="0000FF"/>
                </a:solidFill>
                <a:latin typeface="Times New Roman"/>
                <a:cs typeface="Times New Roman"/>
              </a:rPr>
              <a:t> </a:t>
            </a:r>
            <a:r>
              <a:rPr dirty="0">
                <a:solidFill>
                  <a:srgbClr val="000066"/>
                </a:solidFill>
                <a:latin typeface="Times New Roman"/>
                <a:cs typeface="Times New Roman"/>
              </a:rPr>
              <a:t>set</a:t>
            </a:r>
            <a:r>
              <a:rPr spc="-8" dirty="0">
                <a:solidFill>
                  <a:srgbClr val="000066"/>
                </a:solidFill>
                <a:latin typeface="Times New Roman"/>
                <a:cs typeface="Times New Roman"/>
              </a:rPr>
              <a:t> </a:t>
            </a:r>
            <a:r>
              <a:rPr dirty="0">
                <a:solidFill>
                  <a:srgbClr val="000066"/>
                </a:solidFill>
                <a:latin typeface="Times New Roman"/>
                <a:cs typeface="Times New Roman"/>
              </a:rPr>
              <a:t>and</a:t>
            </a:r>
            <a:r>
              <a:rPr spc="-4" dirty="0">
                <a:solidFill>
                  <a:srgbClr val="000066"/>
                </a:solidFill>
                <a:latin typeface="Times New Roman"/>
                <a:cs typeface="Times New Roman"/>
              </a:rPr>
              <a:t> </a:t>
            </a:r>
            <a:r>
              <a:rPr dirty="0">
                <a:solidFill>
                  <a:srgbClr val="0000FF"/>
                </a:solidFill>
                <a:latin typeface="Times New Roman"/>
                <a:cs typeface="Times New Roman"/>
              </a:rPr>
              <a:t>“validation”</a:t>
            </a:r>
            <a:r>
              <a:rPr spc="-4" dirty="0">
                <a:solidFill>
                  <a:srgbClr val="0000FF"/>
                </a:solidFill>
                <a:latin typeface="Times New Roman"/>
                <a:cs typeface="Times New Roman"/>
              </a:rPr>
              <a:t> </a:t>
            </a:r>
            <a:r>
              <a:rPr spc="-4" dirty="0">
                <a:solidFill>
                  <a:srgbClr val="000066"/>
                </a:solidFill>
                <a:latin typeface="Times New Roman"/>
                <a:cs typeface="Times New Roman"/>
              </a:rPr>
              <a:t>set.</a:t>
            </a:r>
            <a:endParaRPr dirty="0">
              <a:latin typeface="Times New Roman"/>
              <a:cs typeface="Times New Roman"/>
            </a:endParaRPr>
          </a:p>
          <a:p>
            <a:pPr marL="485299" lvl="1" indent="-190976">
              <a:buChar char="-"/>
              <a:tabLst>
                <a:tab pos="485299" algn="l"/>
                <a:tab pos="485775" algn="l"/>
              </a:tabLst>
            </a:pPr>
            <a:r>
              <a:rPr spc="-4" dirty="0">
                <a:solidFill>
                  <a:srgbClr val="000066"/>
                </a:solidFill>
                <a:latin typeface="Times New Roman"/>
                <a:cs typeface="Times New Roman"/>
              </a:rPr>
              <a:t>Build</a:t>
            </a:r>
            <a:r>
              <a:rPr spc="-8" dirty="0">
                <a:solidFill>
                  <a:srgbClr val="000066"/>
                </a:solidFill>
                <a:latin typeface="Times New Roman"/>
                <a:cs typeface="Times New Roman"/>
              </a:rPr>
              <a:t> </a:t>
            </a:r>
            <a:r>
              <a:rPr dirty="0">
                <a:solidFill>
                  <a:srgbClr val="000066"/>
                </a:solidFill>
                <a:latin typeface="Times New Roman"/>
                <a:cs typeface="Times New Roman"/>
              </a:rPr>
              <a:t>a</a:t>
            </a:r>
            <a:r>
              <a:rPr spc="-4" dirty="0">
                <a:solidFill>
                  <a:srgbClr val="000066"/>
                </a:solidFill>
                <a:latin typeface="Times New Roman"/>
                <a:cs typeface="Times New Roman"/>
              </a:rPr>
              <a:t> </a:t>
            </a:r>
            <a:r>
              <a:rPr dirty="0">
                <a:solidFill>
                  <a:srgbClr val="000066"/>
                </a:solidFill>
                <a:latin typeface="Times New Roman"/>
                <a:cs typeface="Times New Roman"/>
              </a:rPr>
              <a:t>complete</a:t>
            </a:r>
            <a:r>
              <a:rPr spc="-4" dirty="0">
                <a:solidFill>
                  <a:srgbClr val="000066"/>
                </a:solidFill>
                <a:latin typeface="Times New Roman"/>
                <a:cs typeface="Times New Roman"/>
              </a:rPr>
              <a:t> </a:t>
            </a:r>
            <a:r>
              <a:rPr dirty="0">
                <a:solidFill>
                  <a:srgbClr val="000066"/>
                </a:solidFill>
                <a:latin typeface="Times New Roman"/>
                <a:cs typeface="Times New Roman"/>
              </a:rPr>
              <a:t>tree</a:t>
            </a:r>
            <a:r>
              <a:rPr spc="-8" dirty="0">
                <a:solidFill>
                  <a:srgbClr val="000066"/>
                </a:solidFill>
                <a:latin typeface="Times New Roman"/>
                <a:cs typeface="Times New Roman"/>
              </a:rPr>
              <a:t> </a:t>
            </a:r>
            <a:r>
              <a:rPr dirty="0">
                <a:solidFill>
                  <a:srgbClr val="000066"/>
                </a:solidFill>
                <a:latin typeface="Times New Roman"/>
                <a:cs typeface="Times New Roman"/>
              </a:rPr>
              <a:t>for</a:t>
            </a:r>
            <a:r>
              <a:rPr spc="-4" dirty="0">
                <a:solidFill>
                  <a:srgbClr val="000066"/>
                </a:solidFill>
                <a:latin typeface="Times New Roman"/>
                <a:cs typeface="Times New Roman"/>
              </a:rPr>
              <a:t> </a:t>
            </a:r>
            <a:r>
              <a:rPr dirty="0">
                <a:solidFill>
                  <a:srgbClr val="000066"/>
                </a:solidFill>
                <a:latin typeface="Times New Roman"/>
                <a:cs typeface="Times New Roman"/>
              </a:rPr>
              <a:t>the</a:t>
            </a:r>
            <a:r>
              <a:rPr spc="11" dirty="0">
                <a:solidFill>
                  <a:srgbClr val="000066"/>
                </a:solidFill>
                <a:latin typeface="Times New Roman"/>
                <a:cs typeface="Times New Roman"/>
              </a:rPr>
              <a:t> </a:t>
            </a:r>
            <a:r>
              <a:rPr spc="-4" dirty="0">
                <a:solidFill>
                  <a:srgbClr val="0000FF"/>
                </a:solidFill>
                <a:latin typeface="Times New Roman"/>
                <a:cs typeface="Times New Roman"/>
              </a:rPr>
              <a:t>“grow”</a:t>
            </a:r>
            <a:r>
              <a:rPr dirty="0">
                <a:solidFill>
                  <a:srgbClr val="0000FF"/>
                </a:solidFill>
                <a:latin typeface="Times New Roman"/>
                <a:cs typeface="Times New Roman"/>
              </a:rPr>
              <a:t> </a:t>
            </a:r>
            <a:r>
              <a:rPr dirty="0">
                <a:solidFill>
                  <a:srgbClr val="000066"/>
                </a:solidFill>
                <a:latin typeface="Times New Roman"/>
                <a:cs typeface="Times New Roman"/>
              </a:rPr>
              <a:t>data</a:t>
            </a:r>
            <a:endParaRPr dirty="0">
              <a:latin typeface="Times New Roman"/>
              <a:cs typeface="Times New Roman"/>
            </a:endParaRPr>
          </a:p>
          <a:p>
            <a:pPr marL="752475" marR="1686401" lvl="1" indent="-457676">
              <a:buChar char="-"/>
              <a:tabLst>
                <a:tab pos="485299" algn="l"/>
                <a:tab pos="485775" algn="l"/>
              </a:tabLst>
            </a:pPr>
            <a:r>
              <a:rPr spc="-4" dirty="0">
                <a:solidFill>
                  <a:srgbClr val="000066"/>
                </a:solidFill>
                <a:latin typeface="Times New Roman"/>
                <a:cs typeface="Times New Roman"/>
              </a:rPr>
              <a:t>Until</a:t>
            </a:r>
            <a:r>
              <a:rPr spc="8" dirty="0">
                <a:solidFill>
                  <a:srgbClr val="000066"/>
                </a:solidFill>
                <a:latin typeface="Times New Roman"/>
                <a:cs typeface="Times New Roman"/>
              </a:rPr>
              <a:t> </a:t>
            </a:r>
            <a:r>
              <a:rPr spc="-4" dirty="0">
                <a:solidFill>
                  <a:srgbClr val="000066"/>
                </a:solidFill>
                <a:latin typeface="Times New Roman"/>
                <a:cs typeface="Times New Roman"/>
              </a:rPr>
              <a:t>accuracy</a:t>
            </a:r>
            <a:r>
              <a:rPr dirty="0">
                <a:solidFill>
                  <a:srgbClr val="000066"/>
                </a:solidFill>
                <a:latin typeface="Times New Roman"/>
                <a:cs typeface="Times New Roman"/>
              </a:rPr>
              <a:t> on</a:t>
            </a:r>
            <a:r>
              <a:rPr spc="4" dirty="0">
                <a:solidFill>
                  <a:srgbClr val="000066"/>
                </a:solidFill>
                <a:latin typeface="Times New Roman"/>
                <a:cs typeface="Times New Roman"/>
              </a:rPr>
              <a:t> </a:t>
            </a:r>
            <a:r>
              <a:rPr dirty="0">
                <a:solidFill>
                  <a:srgbClr val="0000FF"/>
                </a:solidFill>
                <a:latin typeface="Times New Roman"/>
                <a:cs typeface="Times New Roman"/>
              </a:rPr>
              <a:t>validation</a:t>
            </a:r>
            <a:r>
              <a:rPr spc="-4" dirty="0">
                <a:solidFill>
                  <a:srgbClr val="0000FF"/>
                </a:solidFill>
                <a:latin typeface="Times New Roman"/>
                <a:cs typeface="Times New Roman"/>
              </a:rPr>
              <a:t> set</a:t>
            </a:r>
            <a:r>
              <a:rPr spc="11" dirty="0">
                <a:solidFill>
                  <a:srgbClr val="0000FF"/>
                </a:solidFill>
                <a:latin typeface="Times New Roman"/>
                <a:cs typeface="Times New Roman"/>
              </a:rPr>
              <a:t> </a:t>
            </a:r>
            <a:r>
              <a:rPr spc="-4" dirty="0">
                <a:solidFill>
                  <a:srgbClr val="000066"/>
                </a:solidFill>
                <a:latin typeface="Times New Roman"/>
                <a:cs typeface="Times New Roman"/>
              </a:rPr>
              <a:t>decreases,</a:t>
            </a:r>
            <a:r>
              <a:rPr dirty="0">
                <a:solidFill>
                  <a:srgbClr val="000066"/>
                </a:solidFill>
                <a:latin typeface="Times New Roman"/>
                <a:cs typeface="Times New Roman"/>
              </a:rPr>
              <a:t> do: </a:t>
            </a:r>
            <a:r>
              <a:rPr spc="-439" dirty="0">
                <a:solidFill>
                  <a:srgbClr val="000066"/>
                </a:solidFill>
                <a:latin typeface="Times New Roman"/>
                <a:cs typeface="Times New Roman"/>
              </a:rPr>
              <a:t> </a:t>
            </a:r>
            <a:r>
              <a:rPr spc="-4" dirty="0">
                <a:solidFill>
                  <a:srgbClr val="000066"/>
                </a:solidFill>
                <a:latin typeface="Times New Roman"/>
                <a:cs typeface="Times New Roman"/>
              </a:rPr>
              <a:t>For</a:t>
            </a:r>
            <a:r>
              <a:rPr dirty="0">
                <a:solidFill>
                  <a:srgbClr val="000066"/>
                </a:solidFill>
                <a:latin typeface="Times New Roman"/>
                <a:cs typeface="Times New Roman"/>
              </a:rPr>
              <a:t> </a:t>
            </a:r>
            <a:r>
              <a:rPr spc="-4" dirty="0">
                <a:solidFill>
                  <a:srgbClr val="000066"/>
                </a:solidFill>
                <a:latin typeface="Times New Roman"/>
                <a:cs typeface="Times New Roman"/>
              </a:rPr>
              <a:t>each </a:t>
            </a:r>
            <a:r>
              <a:rPr dirty="0">
                <a:solidFill>
                  <a:srgbClr val="000066"/>
                </a:solidFill>
                <a:latin typeface="Times New Roman"/>
                <a:cs typeface="Times New Roman"/>
              </a:rPr>
              <a:t>non-leaf node</a:t>
            </a:r>
            <a:r>
              <a:rPr spc="4" dirty="0">
                <a:solidFill>
                  <a:srgbClr val="000066"/>
                </a:solidFill>
                <a:latin typeface="Times New Roman"/>
                <a:cs typeface="Times New Roman"/>
              </a:rPr>
              <a:t> </a:t>
            </a:r>
            <a:r>
              <a:rPr dirty="0">
                <a:solidFill>
                  <a:srgbClr val="000066"/>
                </a:solidFill>
                <a:latin typeface="Times New Roman"/>
                <a:cs typeface="Times New Roman"/>
              </a:rPr>
              <a:t>in</a:t>
            </a:r>
            <a:r>
              <a:rPr spc="-4" dirty="0">
                <a:solidFill>
                  <a:srgbClr val="000066"/>
                </a:solidFill>
                <a:latin typeface="Times New Roman"/>
                <a:cs typeface="Times New Roman"/>
              </a:rPr>
              <a:t> </a:t>
            </a:r>
            <a:r>
              <a:rPr dirty="0">
                <a:solidFill>
                  <a:srgbClr val="000066"/>
                </a:solidFill>
                <a:latin typeface="Times New Roman"/>
                <a:cs typeface="Times New Roman"/>
              </a:rPr>
              <a:t>the tree</a:t>
            </a:r>
            <a:endParaRPr dirty="0">
              <a:latin typeface="Times New Roman"/>
              <a:cs typeface="Times New Roman"/>
            </a:endParaRPr>
          </a:p>
          <a:p>
            <a:pPr marL="752475" marR="3810"/>
            <a:r>
              <a:rPr spc="-4" dirty="0">
                <a:solidFill>
                  <a:srgbClr val="000066"/>
                </a:solidFill>
                <a:latin typeface="Times New Roman"/>
                <a:cs typeface="Times New Roman"/>
              </a:rPr>
              <a:t>Temporarily</a:t>
            </a:r>
            <a:r>
              <a:rPr spc="-8" dirty="0">
                <a:solidFill>
                  <a:srgbClr val="000066"/>
                </a:solidFill>
                <a:latin typeface="Times New Roman"/>
                <a:cs typeface="Times New Roman"/>
              </a:rPr>
              <a:t> </a:t>
            </a:r>
            <a:r>
              <a:rPr dirty="0">
                <a:solidFill>
                  <a:srgbClr val="000066"/>
                </a:solidFill>
                <a:latin typeface="Times New Roman"/>
                <a:cs typeface="Times New Roman"/>
              </a:rPr>
              <a:t>prune</a:t>
            </a:r>
            <a:r>
              <a:rPr spc="4" dirty="0">
                <a:solidFill>
                  <a:srgbClr val="000066"/>
                </a:solidFill>
                <a:latin typeface="Times New Roman"/>
                <a:cs typeface="Times New Roman"/>
              </a:rPr>
              <a:t> </a:t>
            </a:r>
            <a:r>
              <a:rPr dirty="0">
                <a:solidFill>
                  <a:srgbClr val="000066"/>
                </a:solidFill>
                <a:latin typeface="Times New Roman"/>
                <a:cs typeface="Times New Roman"/>
              </a:rPr>
              <a:t>the</a:t>
            </a:r>
            <a:r>
              <a:rPr spc="4" dirty="0">
                <a:solidFill>
                  <a:srgbClr val="000066"/>
                </a:solidFill>
                <a:latin typeface="Times New Roman"/>
                <a:cs typeface="Times New Roman"/>
              </a:rPr>
              <a:t> </a:t>
            </a:r>
            <a:r>
              <a:rPr dirty="0">
                <a:solidFill>
                  <a:srgbClr val="000066"/>
                </a:solidFill>
                <a:latin typeface="Times New Roman"/>
                <a:cs typeface="Times New Roman"/>
              </a:rPr>
              <a:t>tree</a:t>
            </a:r>
            <a:r>
              <a:rPr spc="-4" dirty="0">
                <a:solidFill>
                  <a:srgbClr val="000066"/>
                </a:solidFill>
                <a:latin typeface="Times New Roman"/>
                <a:cs typeface="Times New Roman"/>
              </a:rPr>
              <a:t> below;</a:t>
            </a:r>
            <a:r>
              <a:rPr dirty="0">
                <a:solidFill>
                  <a:srgbClr val="000066"/>
                </a:solidFill>
                <a:latin typeface="Times New Roman"/>
                <a:cs typeface="Times New Roman"/>
              </a:rPr>
              <a:t> replace it</a:t>
            </a:r>
            <a:r>
              <a:rPr spc="-4" dirty="0">
                <a:solidFill>
                  <a:srgbClr val="000066"/>
                </a:solidFill>
                <a:latin typeface="Times New Roman"/>
                <a:cs typeface="Times New Roman"/>
              </a:rPr>
              <a:t> </a:t>
            </a:r>
            <a:r>
              <a:rPr dirty="0">
                <a:solidFill>
                  <a:srgbClr val="000066"/>
                </a:solidFill>
                <a:latin typeface="Times New Roman"/>
                <a:cs typeface="Times New Roman"/>
              </a:rPr>
              <a:t>by majority vote. </a:t>
            </a:r>
            <a:r>
              <a:rPr spc="-439" dirty="0">
                <a:solidFill>
                  <a:srgbClr val="000066"/>
                </a:solidFill>
                <a:latin typeface="Times New Roman"/>
                <a:cs typeface="Times New Roman"/>
              </a:rPr>
              <a:t> </a:t>
            </a:r>
            <a:r>
              <a:rPr spc="-4" dirty="0">
                <a:solidFill>
                  <a:srgbClr val="000066"/>
                </a:solidFill>
                <a:latin typeface="Times New Roman"/>
                <a:cs typeface="Times New Roman"/>
              </a:rPr>
              <a:t>Test </a:t>
            </a:r>
            <a:r>
              <a:rPr dirty="0">
                <a:solidFill>
                  <a:srgbClr val="000066"/>
                </a:solidFill>
                <a:latin typeface="Times New Roman"/>
                <a:cs typeface="Times New Roman"/>
              </a:rPr>
              <a:t>the accuracy </a:t>
            </a:r>
            <a:r>
              <a:rPr spc="-4" dirty="0">
                <a:solidFill>
                  <a:srgbClr val="000066"/>
                </a:solidFill>
                <a:latin typeface="Times New Roman"/>
                <a:cs typeface="Times New Roman"/>
              </a:rPr>
              <a:t>of </a:t>
            </a:r>
            <a:r>
              <a:rPr dirty="0">
                <a:solidFill>
                  <a:srgbClr val="000066"/>
                </a:solidFill>
                <a:latin typeface="Times New Roman"/>
                <a:cs typeface="Times New Roman"/>
              </a:rPr>
              <a:t>the hypothesis on the validation </a:t>
            </a:r>
            <a:r>
              <a:rPr spc="-4" dirty="0">
                <a:solidFill>
                  <a:srgbClr val="000066"/>
                </a:solidFill>
                <a:latin typeface="Times New Roman"/>
                <a:cs typeface="Times New Roman"/>
              </a:rPr>
              <a:t>set </a:t>
            </a:r>
            <a:r>
              <a:rPr dirty="0">
                <a:solidFill>
                  <a:srgbClr val="000066"/>
                </a:solidFill>
                <a:latin typeface="Times New Roman"/>
                <a:cs typeface="Times New Roman"/>
              </a:rPr>
              <a:t> Permanently</a:t>
            </a:r>
            <a:r>
              <a:rPr spc="-4" dirty="0">
                <a:solidFill>
                  <a:srgbClr val="000066"/>
                </a:solidFill>
                <a:latin typeface="Times New Roman"/>
                <a:cs typeface="Times New Roman"/>
              </a:rPr>
              <a:t> </a:t>
            </a:r>
            <a:r>
              <a:rPr dirty="0">
                <a:solidFill>
                  <a:srgbClr val="000066"/>
                </a:solidFill>
                <a:latin typeface="Times New Roman"/>
                <a:cs typeface="Times New Roman"/>
              </a:rPr>
              <a:t>prune</a:t>
            </a:r>
            <a:r>
              <a:rPr spc="4" dirty="0">
                <a:solidFill>
                  <a:srgbClr val="000066"/>
                </a:solidFill>
                <a:latin typeface="Times New Roman"/>
                <a:cs typeface="Times New Roman"/>
              </a:rPr>
              <a:t> </a:t>
            </a:r>
            <a:r>
              <a:rPr dirty="0">
                <a:solidFill>
                  <a:srgbClr val="000066"/>
                </a:solidFill>
                <a:latin typeface="Times New Roman"/>
                <a:cs typeface="Times New Roman"/>
              </a:rPr>
              <a:t>the</a:t>
            </a:r>
            <a:r>
              <a:rPr spc="4" dirty="0">
                <a:solidFill>
                  <a:srgbClr val="000066"/>
                </a:solidFill>
                <a:latin typeface="Times New Roman"/>
                <a:cs typeface="Times New Roman"/>
              </a:rPr>
              <a:t> </a:t>
            </a:r>
            <a:r>
              <a:rPr dirty="0">
                <a:solidFill>
                  <a:srgbClr val="000066"/>
                </a:solidFill>
                <a:latin typeface="Times New Roman"/>
                <a:cs typeface="Times New Roman"/>
              </a:rPr>
              <a:t>node</a:t>
            </a:r>
            <a:r>
              <a:rPr spc="4" dirty="0">
                <a:solidFill>
                  <a:srgbClr val="000066"/>
                </a:solidFill>
                <a:latin typeface="Times New Roman"/>
                <a:cs typeface="Times New Roman"/>
              </a:rPr>
              <a:t> </a:t>
            </a:r>
            <a:r>
              <a:rPr spc="-4" dirty="0">
                <a:solidFill>
                  <a:srgbClr val="000066"/>
                </a:solidFill>
                <a:latin typeface="Times New Roman"/>
                <a:cs typeface="Times New Roman"/>
              </a:rPr>
              <a:t>with </a:t>
            </a:r>
            <a:r>
              <a:rPr dirty="0">
                <a:solidFill>
                  <a:srgbClr val="000066"/>
                </a:solidFill>
                <a:latin typeface="Times New Roman"/>
                <a:cs typeface="Times New Roman"/>
              </a:rPr>
              <a:t>the</a:t>
            </a:r>
            <a:r>
              <a:rPr spc="4" dirty="0">
                <a:solidFill>
                  <a:srgbClr val="000066"/>
                </a:solidFill>
                <a:latin typeface="Times New Roman"/>
                <a:cs typeface="Times New Roman"/>
              </a:rPr>
              <a:t> </a:t>
            </a:r>
            <a:r>
              <a:rPr spc="-4" dirty="0">
                <a:solidFill>
                  <a:srgbClr val="000066"/>
                </a:solidFill>
                <a:latin typeface="Times New Roman"/>
                <a:cs typeface="Times New Roman"/>
              </a:rPr>
              <a:t>greatest</a:t>
            </a:r>
            <a:r>
              <a:rPr spc="8" dirty="0">
                <a:solidFill>
                  <a:srgbClr val="000066"/>
                </a:solidFill>
                <a:latin typeface="Times New Roman"/>
                <a:cs typeface="Times New Roman"/>
              </a:rPr>
              <a:t> </a:t>
            </a:r>
            <a:r>
              <a:rPr spc="-4" dirty="0">
                <a:solidFill>
                  <a:srgbClr val="000066"/>
                </a:solidFill>
                <a:latin typeface="Times New Roman"/>
                <a:cs typeface="Times New Roman"/>
              </a:rPr>
              <a:t>increase</a:t>
            </a:r>
            <a:endParaRPr dirty="0">
              <a:latin typeface="Times New Roman"/>
              <a:cs typeface="Times New Roman"/>
            </a:endParaRPr>
          </a:p>
          <a:p>
            <a:pPr marL="752475"/>
            <a:r>
              <a:rPr dirty="0">
                <a:solidFill>
                  <a:srgbClr val="000066"/>
                </a:solidFill>
                <a:latin typeface="Times New Roman"/>
                <a:cs typeface="Times New Roman"/>
              </a:rPr>
              <a:t>in</a:t>
            </a:r>
            <a:r>
              <a:rPr spc="-11" dirty="0">
                <a:solidFill>
                  <a:srgbClr val="000066"/>
                </a:solidFill>
                <a:latin typeface="Times New Roman"/>
                <a:cs typeface="Times New Roman"/>
              </a:rPr>
              <a:t> </a:t>
            </a:r>
            <a:r>
              <a:rPr dirty="0">
                <a:solidFill>
                  <a:srgbClr val="000066"/>
                </a:solidFill>
                <a:latin typeface="Times New Roman"/>
                <a:cs typeface="Times New Roman"/>
              </a:rPr>
              <a:t>accuracy</a:t>
            </a:r>
            <a:r>
              <a:rPr spc="-11" dirty="0">
                <a:solidFill>
                  <a:srgbClr val="000066"/>
                </a:solidFill>
                <a:latin typeface="Times New Roman"/>
                <a:cs typeface="Times New Roman"/>
              </a:rPr>
              <a:t> </a:t>
            </a:r>
            <a:r>
              <a:rPr dirty="0">
                <a:solidFill>
                  <a:srgbClr val="000066"/>
                </a:solidFill>
                <a:latin typeface="Times New Roman"/>
                <a:cs typeface="Times New Roman"/>
              </a:rPr>
              <a:t>on</a:t>
            </a:r>
            <a:r>
              <a:rPr spc="-11" dirty="0">
                <a:solidFill>
                  <a:srgbClr val="000066"/>
                </a:solidFill>
                <a:latin typeface="Times New Roman"/>
                <a:cs typeface="Times New Roman"/>
              </a:rPr>
              <a:t> </a:t>
            </a:r>
            <a:r>
              <a:rPr dirty="0">
                <a:solidFill>
                  <a:srgbClr val="000066"/>
                </a:solidFill>
                <a:latin typeface="Times New Roman"/>
                <a:cs typeface="Times New Roman"/>
              </a:rPr>
              <a:t>the</a:t>
            </a:r>
            <a:r>
              <a:rPr spc="-8" dirty="0">
                <a:solidFill>
                  <a:srgbClr val="000066"/>
                </a:solidFill>
                <a:latin typeface="Times New Roman"/>
                <a:cs typeface="Times New Roman"/>
              </a:rPr>
              <a:t> </a:t>
            </a:r>
            <a:r>
              <a:rPr dirty="0">
                <a:solidFill>
                  <a:srgbClr val="000066"/>
                </a:solidFill>
                <a:latin typeface="Times New Roman"/>
                <a:cs typeface="Times New Roman"/>
              </a:rPr>
              <a:t>validation</a:t>
            </a:r>
            <a:r>
              <a:rPr spc="-11" dirty="0">
                <a:solidFill>
                  <a:srgbClr val="000066"/>
                </a:solidFill>
                <a:latin typeface="Times New Roman"/>
                <a:cs typeface="Times New Roman"/>
              </a:rPr>
              <a:t> </a:t>
            </a:r>
            <a:r>
              <a:rPr dirty="0">
                <a:solidFill>
                  <a:srgbClr val="000066"/>
                </a:solidFill>
                <a:latin typeface="Times New Roman"/>
                <a:cs typeface="Times New Roman"/>
              </a:rPr>
              <a:t>test.</a:t>
            </a:r>
            <a:endParaRPr dirty="0">
              <a:latin typeface="Times New Roman"/>
              <a:cs typeface="Times New Roman"/>
            </a:endParaRPr>
          </a:p>
          <a:p>
            <a:pPr marL="202406" indent="-193358">
              <a:buFont typeface="Arial MT"/>
              <a:buChar char="•"/>
              <a:tabLst>
                <a:tab pos="202406" algn="l"/>
                <a:tab pos="202883" algn="l"/>
              </a:tabLst>
            </a:pPr>
            <a:r>
              <a:rPr dirty="0">
                <a:solidFill>
                  <a:srgbClr val="000066"/>
                </a:solidFill>
                <a:latin typeface="Times New Roman"/>
                <a:cs typeface="Times New Roman"/>
              </a:rPr>
              <a:t>Problem:</a:t>
            </a:r>
            <a:r>
              <a:rPr spc="-8" dirty="0">
                <a:solidFill>
                  <a:srgbClr val="000066"/>
                </a:solidFill>
                <a:latin typeface="Times New Roman"/>
                <a:cs typeface="Times New Roman"/>
              </a:rPr>
              <a:t> </a:t>
            </a:r>
            <a:r>
              <a:rPr spc="-4" dirty="0">
                <a:solidFill>
                  <a:srgbClr val="000066"/>
                </a:solidFill>
                <a:latin typeface="Times New Roman"/>
                <a:cs typeface="Times New Roman"/>
              </a:rPr>
              <a:t>Uses</a:t>
            </a:r>
            <a:r>
              <a:rPr spc="-8" dirty="0">
                <a:solidFill>
                  <a:srgbClr val="000066"/>
                </a:solidFill>
                <a:latin typeface="Times New Roman"/>
                <a:cs typeface="Times New Roman"/>
              </a:rPr>
              <a:t> </a:t>
            </a:r>
            <a:r>
              <a:rPr dirty="0">
                <a:solidFill>
                  <a:srgbClr val="000066"/>
                </a:solidFill>
                <a:latin typeface="Times New Roman"/>
                <a:cs typeface="Times New Roman"/>
              </a:rPr>
              <a:t>less</a:t>
            </a:r>
            <a:r>
              <a:rPr spc="-4" dirty="0">
                <a:solidFill>
                  <a:srgbClr val="000066"/>
                </a:solidFill>
                <a:latin typeface="Times New Roman"/>
                <a:cs typeface="Times New Roman"/>
              </a:rPr>
              <a:t> </a:t>
            </a:r>
            <a:r>
              <a:rPr dirty="0">
                <a:solidFill>
                  <a:srgbClr val="000066"/>
                </a:solidFill>
                <a:latin typeface="Times New Roman"/>
                <a:cs typeface="Times New Roman"/>
              </a:rPr>
              <a:t>data</a:t>
            </a:r>
            <a:r>
              <a:rPr spc="-11" dirty="0">
                <a:solidFill>
                  <a:srgbClr val="000066"/>
                </a:solidFill>
                <a:latin typeface="Times New Roman"/>
                <a:cs typeface="Times New Roman"/>
              </a:rPr>
              <a:t> </a:t>
            </a:r>
            <a:r>
              <a:rPr dirty="0">
                <a:solidFill>
                  <a:srgbClr val="000066"/>
                </a:solidFill>
                <a:latin typeface="Times New Roman"/>
                <a:cs typeface="Times New Roman"/>
              </a:rPr>
              <a:t>to</a:t>
            </a:r>
            <a:r>
              <a:rPr spc="-8" dirty="0">
                <a:solidFill>
                  <a:srgbClr val="000066"/>
                </a:solidFill>
                <a:latin typeface="Times New Roman"/>
                <a:cs typeface="Times New Roman"/>
              </a:rPr>
              <a:t> </a:t>
            </a:r>
            <a:r>
              <a:rPr dirty="0">
                <a:solidFill>
                  <a:srgbClr val="000066"/>
                </a:solidFill>
                <a:latin typeface="Times New Roman"/>
                <a:cs typeface="Times New Roman"/>
              </a:rPr>
              <a:t>construct</a:t>
            </a:r>
            <a:r>
              <a:rPr spc="-4" dirty="0">
                <a:solidFill>
                  <a:srgbClr val="000066"/>
                </a:solidFill>
                <a:latin typeface="Times New Roman"/>
                <a:cs typeface="Times New Roman"/>
              </a:rPr>
              <a:t> </a:t>
            </a:r>
            <a:r>
              <a:rPr dirty="0">
                <a:solidFill>
                  <a:srgbClr val="000066"/>
                </a:solidFill>
                <a:latin typeface="Times New Roman"/>
                <a:cs typeface="Times New Roman"/>
              </a:rPr>
              <a:t>the</a:t>
            </a:r>
            <a:r>
              <a:rPr spc="-11" dirty="0">
                <a:solidFill>
                  <a:srgbClr val="000066"/>
                </a:solidFill>
                <a:latin typeface="Times New Roman"/>
                <a:cs typeface="Times New Roman"/>
              </a:rPr>
              <a:t> </a:t>
            </a:r>
            <a:r>
              <a:rPr dirty="0">
                <a:solidFill>
                  <a:srgbClr val="000066"/>
                </a:solidFill>
                <a:latin typeface="Times New Roman"/>
                <a:cs typeface="Times New Roman"/>
              </a:rPr>
              <a:t>tree</a:t>
            </a:r>
            <a:endParaRPr dirty="0">
              <a:latin typeface="Times New Roman"/>
              <a:cs typeface="Times New Roman"/>
            </a:endParaRPr>
          </a:p>
          <a:p>
            <a:pPr marL="202406" indent="-193358">
              <a:buFont typeface="Arial MT"/>
              <a:buChar char="•"/>
              <a:tabLst>
                <a:tab pos="202406" algn="l"/>
                <a:tab pos="202883" algn="l"/>
              </a:tabLst>
            </a:pPr>
            <a:r>
              <a:rPr dirty="0">
                <a:solidFill>
                  <a:srgbClr val="000066"/>
                </a:solidFill>
                <a:latin typeface="Times New Roman"/>
                <a:cs typeface="Times New Roman"/>
              </a:rPr>
              <a:t>Sometimes</a:t>
            </a:r>
            <a:r>
              <a:rPr spc="-11" dirty="0">
                <a:solidFill>
                  <a:srgbClr val="000066"/>
                </a:solidFill>
                <a:latin typeface="Times New Roman"/>
                <a:cs typeface="Times New Roman"/>
              </a:rPr>
              <a:t> </a:t>
            </a:r>
            <a:r>
              <a:rPr dirty="0">
                <a:solidFill>
                  <a:srgbClr val="000066"/>
                </a:solidFill>
                <a:latin typeface="Times New Roman"/>
                <a:cs typeface="Times New Roman"/>
              </a:rPr>
              <a:t>done</a:t>
            </a:r>
            <a:r>
              <a:rPr spc="-15" dirty="0">
                <a:solidFill>
                  <a:srgbClr val="000066"/>
                </a:solidFill>
                <a:latin typeface="Times New Roman"/>
                <a:cs typeface="Times New Roman"/>
              </a:rPr>
              <a:t> </a:t>
            </a:r>
            <a:r>
              <a:rPr dirty="0">
                <a:solidFill>
                  <a:srgbClr val="000066"/>
                </a:solidFill>
                <a:latin typeface="Times New Roman"/>
                <a:cs typeface="Times New Roman"/>
              </a:rPr>
              <a:t>at</a:t>
            </a:r>
            <a:r>
              <a:rPr spc="-4" dirty="0">
                <a:solidFill>
                  <a:srgbClr val="000066"/>
                </a:solidFill>
                <a:latin typeface="Times New Roman"/>
                <a:cs typeface="Times New Roman"/>
              </a:rPr>
              <a:t> </a:t>
            </a:r>
            <a:r>
              <a:rPr dirty="0">
                <a:solidFill>
                  <a:srgbClr val="000066"/>
                </a:solidFill>
                <a:latin typeface="Times New Roman"/>
                <a:cs typeface="Times New Roman"/>
              </a:rPr>
              <a:t>the</a:t>
            </a:r>
            <a:r>
              <a:rPr spc="-8" dirty="0">
                <a:solidFill>
                  <a:srgbClr val="000066"/>
                </a:solidFill>
                <a:latin typeface="Times New Roman"/>
                <a:cs typeface="Times New Roman"/>
              </a:rPr>
              <a:t> </a:t>
            </a:r>
            <a:r>
              <a:rPr dirty="0">
                <a:solidFill>
                  <a:srgbClr val="0000FF"/>
                </a:solidFill>
                <a:latin typeface="Times New Roman"/>
                <a:cs typeface="Times New Roman"/>
              </a:rPr>
              <a:t>rules</a:t>
            </a:r>
            <a:r>
              <a:rPr spc="-15" dirty="0">
                <a:solidFill>
                  <a:srgbClr val="0000FF"/>
                </a:solidFill>
                <a:latin typeface="Times New Roman"/>
                <a:cs typeface="Times New Roman"/>
              </a:rPr>
              <a:t> </a:t>
            </a:r>
            <a:r>
              <a:rPr dirty="0">
                <a:solidFill>
                  <a:srgbClr val="0000FF"/>
                </a:solidFill>
                <a:latin typeface="Times New Roman"/>
                <a:cs typeface="Times New Roman"/>
              </a:rPr>
              <a:t>level</a:t>
            </a:r>
            <a:endParaRPr dirty="0">
              <a:latin typeface="Times New Roman"/>
              <a:cs typeface="Times New Roman"/>
            </a:endParaRPr>
          </a:p>
        </p:txBody>
      </p:sp>
      <p:sp>
        <p:nvSpPr>
          <p:cNvPr id="4" name="object 4"/>
          <p:cNvSpPr txBox="1"/>
          <p:nvPr/>
        </p:nvSpPr>
        <p:spPr>
          <a:xfrm>
            <a:off x="2886932" y="4289488"/>
            <a:ext cx="3232309" cy="242855"/>
          </a:xfrm>
          <a:prstGeom prst="rect">
            <a:avLst/>
          </a:prstGeom>
          <a:ln w="9359">
            <a:solidFill>
              <a:srgbClr val="33CC33"/>
            </a:solidFill>
          </a:ln>
        </p:spPr>
        <p:txBody>
          <a:bodyPr vert="horz" wrap="square" lIns="0" tIns="34766" rIns="0" bIns="0" rtlCol="0">
            <a:spAutoFit/>
          </a:bodyPr>
          <a:lstStyle/>
          <a:p>
            <a:pPr marL="67628">
              <a:spcBef>
                <a:spcPts val="274"/>
              </a:spcBef>
            </a:pPr>
            <a:r>
              <a:rPr sz="1350" b="1" spc="-8" dirty="0">
                <a:latin typeface="Arial"/>
                <a:cs typeface="Arial"/>
              </a:rPr>
              <a:t>General</a:t>
            </a:r>
            <a:r>
              <a:rPr sz="1350" b="1" spc="4" dirty="0">
                <a:latin typeface="Arial"/>
                <a:cs typeface="Arial"/>
              </a:rPr>
              <a:t> </a:t>
            </a:r>
            <a:r>
              <a:rPr sz="1350" b="1" spc="-8" dirty="0">
                <a:latin typeface="Arial"/>
                <a:cs typeface="Arial"/>
              </a:rPr>
              <a:t>Strategy:</a:t>
            </a:r>
            <a:r>
              <a:rPr sz="1350" b="1" dirty="0">
                <a:latin typeface="Arial"/>
                <a:cs typeface="Arial"/>
              </a:rPr>
              <a:t> </a:t>
            </a:r>
            <a:r>
              <a:rPr sz="1350" b="1" spc="-8" dirty="0">
                <a:latin typeface="Arial"/>
                <a:cs typeface="Arial"/>
              </a:rPr>
              <a:t>Overfit</a:t>
            </a:r>
            <a:r>
              <a:rPr sz="1350" b="1" spc="8" dirty="0">
                <a:latin typeface="Arial"/>
                <a:cs typeface="Arial"/>
              </a:rPr>
              <a:t> </a:t>
            </a:r>
            <a:r>
              <a:rPr sz="1350" b="1" spc="-4" dirty="0">
                <a:latin typeface="Arial"/>
                <a:cs typeface="Arial"/>
              </a:rPr>
              <a:t>and</a:t>
            </a:r>
            <a:r>
              <a:rPr sz="1350" b="1" spc="8" dirty="0">
                <a:latin typeface="Arial"/>
                <a:cs typeface="Arial"/>
              </a:rPr>
              <a:t> </a:t>
            </a:r>
            <a:r>
              <a:rPr sz="1350" b="1" spc="-4" dirty="0">
                <a:latin typeface="Arial"/>
                <a:cs typeface="Arial"/>
              </a:rPr>
              <a:t>Simplify</a:t>
            </a:r>
            <a:endParaRPr sz="1350">
              <a:latin typeface="Arial"/>
              <a:cs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538A2952-F462-4F91-B918-4D76AE0333AF}"/>
              </a:ext>
            </a:extLst>
          </p:cNvPr>
          <p:cNvSpPr>
            <a:spLocks noGrp="1"/>
          </p:cNvSpPr>
          <p:nvPr>
            <p:ph type="title"/>
          </p:nvPr>
        </p:nvSpPr>
        <p:spPr>
          <a:xfrm>
            <a:off x="609600" y="385953"/>
            <a:ext cx="7239000" cy="861774"/>
          </a:xfrm>
        </p:spPr>
        <p:txBody>
          <a:bodyPr/>
          <a:lstStyle/>
          <a:p>
            <a:pPr eaLnBrk="1" hangingPunct="1"/>
            <a:r>
              <a:rPr lang="en-US" altLang="en-US" dirty="0"/>
              <a:t>Reduced Error Pruning ( a post pruning method)</a:t>
            </a:r>
          </a:p>
        </p:txBody>
      </p:sp>
      <p:sp>
        <p:nvSpPr>
          <p:cNvPr id="71683" name="Content Placeholder 2">
            <a:extLst>
              <a:ext uri="{FF2B5EF4-FFF2-40B4-BE49-F238E27FC236}">
                <a16:creationId xmlns:a16="http://schemas.microsoft.com/office/drawing/2014/main" id="{9146FF61-3E98-49EF-8D39-378AC8C5A6D9}"/>
              </a:ext>
            </a:extLst>
          </p:cNvPr>
          <p:cNvSpPr>
            <a:spLocks noGrp="1"/>
          </p:cNvSpPr>
          <p:nvPr>
            <p:ph idx="1"/>
          </p:nvPr>
        </p:nvSpPr>
        <p:spPr>
          <a:xfrm>
            <a:off x="535940" y="1216913"/>
            <a:ext cx="8072119" cy="2769989"/>
          </a:xfrm>
        </p:spPr>
        <p:txBody>
          <a:bodyPr/>
          <a:lstStyle/>
          <a:p>
            <a:pPr eaLnBrk="1" hangingPunct="1"/>
            <a:r>
              <a:rPr lang="en-US" altLang="en-US" dirty="0"/>
              <a:t>Split data into train and validation set</a:t>
            </a:r>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Repeat until pruning is harmful</a:t>
            </a:r>
          </a:p>
          <a:p>
            <a:pPr lvl="1" eaLnBrk="1" hangingPunct="1"/>
            <a:r>
              <a:rPr lang="en-US" altLang="en-US" dirty="0"/>
              <a:t>Remove each subtree and replace it with majority class and evaluate on validation set</a:t>
            </a:r>
          </a:p>
          <a:p>
            <a:pPr lvl="1" eaLnBrk="1" hangingPunct="1"/>
            <a:r>
              <a:rPr lang="en-US" altLang="en-US" dirty="0"/>
              <a:t>Remove subtree that leads to largest gain in accuracy</a:t>
            </a:r>
          </a:p>
        </p:txBody>
      </p:sp>
      <p:sp>
        <p:nvSpPr>
          <p:cNvPr id="71684" name="Rectangle 5">
            <a:extLst>
              <a:ext uri="{FF2B5EF4-FFF2-40B4-BE49-F238E27FC236}">
                <a16:creationId xmlns:a16="http://schemas.microsoft.com/office/drawing/2014/main" id="{967CB378-48ED-4728-A984-BDCEDAC4ED82}"/>
              </a:ext>
            </a:extLst>
          </p:cNvPr>
          <p:cNvSpPr>
            <a:spLocks noChangeArrowheads="1"/>
          </p:cNvSpPr>
          <p:nvPr/>
        </p:nvSpPr>
        <p:spPr bwMode="auto">
          <a:xfrm>
            <a:off x="1893094" y="1847232"/>
            <a:ext cx="184731" cy="300082"/>
          </a:xfrm>
          <a:prstGeom prst="rect">
            <a:avLst/>
          </a:prstGeom>
          <a:solidFill>
            <a:srgbClr val="00CC00"/>
          </a:solidFill>
          <a:ln w="2857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71685" name="Rectangle 6">
            <a:extLst>
              <a:ext uri="{FF2B5EF4-FFF2-40B4-BE49-F238E27FC236}">
                <a16:creationId xmlns:a16="http://schemas.microsoft.com/office/drawing/2014/main" id="{E015A9B9-9EDF-4AD6-83A2-BF9FD6C0D15B}"/>
              </a:ext>
            </a:extLst>
          </p:cNvPr>
          <p:cNvSpPr>
            <a:spLocks noChangeArrowheads="1"/>
          </p:cNvSpPr>
          <p:nvPr/>
        </p:nvSpPr>
        <p:spPr bwMode="auto">
          <a:xfrm>
            <a:off x="2324101" y="1847232"/>
            <a:ext cx="184731" cy="300082"/>
          </a:xfrm>
          <a:prstGeom prst="rect">
            <a:avLst/>
          </a:prstGeom>
          <a:solidFill>
            <a:srgbClr val="00CC00"/>
          </a:solidFill>
          <a:ln w="2857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71686" name="Rectangle 7">
            <a:extLst>
              <a:ext uri="{FF2B5EF4-FFF2-40B4-BE49-F238E27FC236}">
                <a16:creationId xmlns:a16="http://schemas.microsoft.com/office/drawing/2014/main" id="{3C59C796-9D29-4CB9-982D-F6B3802BD03C}"/>
              </a:ext>
            </a:extLst>
          </p:cNvPr>
          <p:cNvSpPr>
            <a:spLocks noChangeArrowheads="1"/>
          </p:cNvSpPr>
          <p:nvPr/>
        </p:nvSpPr>
        <p:spPr bwMode="auto">
          <a:xfrm>
            <a:off x="2755107" y="1847232"/>
            <a:ext cx="184731" cy="300082"/>
          </a:xfrm>
          <a:prstGeom prst="rect">
            <a:avLst/>
          </a:prstGeom>
          <a:solidFill>
            <a:srgbClr val="00CC00"/>
          </a:solidFill>
          <a:ln w="2857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71687" name="Rectangle 8">
            <a:extLst>
              <a:ext uri="{FF2B5EF4-FFF2-40B4-BE49-F238E27FC236}">
                <a16:creationId xmlns:a16="http://schemas.microsoft.com/office/drawing/2014/main" id="{411567FF-5FEA-4809-95C2-8D59E724D7C3}"/>
              </a:ext>
            </a:extLst>
          </p:cNvPr>
          <p:cNvSpPr>
            <a:spLocks noChangeArrowheads="1"/>
          </p:cNvSpPr>
          <p:nvPr/>
        </p:nvSpPr>
        <p:spPr bwMode="auto">
          <a:xfrm>
            <a:off x="3186113" y="1847232"/>
            <a:ext cx="184731" cy="300082"/>
          </a:xfrm>
          <a:prstGeom prst="rect">
            <a:avLst/>
          </a:prstGeom>
          <a:solidFill>
            <a:srgbClr val="00CC00"/>
          </a:solidFill>
          <a:ln w="2857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71688" name="Rectangle 9">
            <a:extLst>
              <a:ext uri="{FF2B5EF4-FFF2-40B4-BE49-F238E27FC236}">
                <a16:creationId xmlns:a16="http://schemas.microsoft.com/office/drawing/2014/main" id="{A1EAA317-FA6D-4E84-8D83-D0F1FDBBF47B}"/>
              </a:ext>
            </a:extLst>
          </p:cNvPr>
          <p:cNvSpPr>
            <a:spLocks noChangeArrowheads="1"/>
          </p:cNvSpPr>
          <p:nvPr/>
        </p:nvSpPr>
        <p:spPr bwMode="auto">
          <a:xfrm>
            <a:off x="3617119" y="1847232"/>
            <a:ext cx="184731" cy="300082"/>
          </a:xfrm>
          <a:prstGeom prst="rect">
            <a:avLst/>
          </a:prstGeom>
          <a:solidFill>
            <a:srgbClr val="00CC00"/>
          </a:solidFill>
          <a:ln w="2857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71689" name="Rectangle 10">
            <a:extLst>
              <a:ext uri="{FF2B5EF4-FFF2-40B4-BE49-F238E27FC236}">
                <a16:creationId xmlns:a16="http://schemas.microsoft.com/office/drawing/2014/main" id="{ACAF9118-9E59-4C43-83E3-439A4EAE42B9}"/>
              </a:ext>
            </a:extLst>
          </p:cNvPr>
          <p:cNvSpPr>
            <a:spLocks noChangeArrowheads="1"/>
          </p:cNvSpPr>
          <p:nvPr/>
        </p:nvSpPr>
        <p:spPr bwMode="auto">
          <a:xfrm>
            <a:off x="4048126" y="1847232"/>
            <a:ext cx="184731" cy="300082"/>
          </a:xfrm>
          <a:prstGeom prst="rect">
            <a:avLst/>
          </a:prstGeom>
          <a:solidFill>
            <a:srgbClr val="0070C0"/>
          </a:solidFill>
          <a:ln w="2857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71690" name="Rectangle 11">
            <a:extLst>
              <a:ext uri="{FF2B5EF4-FFF2-40B4-BE49-F238E27FC236}">
                <a16:creationId xmlns:a16="http://schemas.microsoft.com/office/drawing/2014/main" id="{BD2C98E3-B8DB-4D59-AD6A-C5B62877F614}"/>
              </a:ext>
            </a:extLst>
          </p:cNvPr>
          <p:cNvSpPr>
            <a:spLocks noChangeArrowheads="1"/>
          </p:cNvSpPr>
          <p:nvPr/>
        </p:nvSpPr>
        <p:spPr bwMode="auto">
          <a:xfrm>
            <a:off x="4479132" y="1847232"/>
            <a:ext cx="184731" cy="300082"/>
          </a:xfrm>
          <a:prstGeom prst="rect">
            <a:avLst/>
          </a:prstGeom>
          <a:solidFill>
            <a:srgbClr val="0070C0"/>
          </a:solidFill>
          <a:ln w="2857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71691" name="Rectangle 12">
            <a:extLst>
              <a:ext uri="{FF2B5EF4-FFF2-40B4-BE49-F238E27FC236}">
                <a16:creationId xmlns:a16="http://schemas.microsoft.com/office/drawing/2014/main" id="{48750607-606B-4237-B535-B7BFAD59BCB3}"/>
              </a:ext>
            </a:extLst>
          </p:cNvPr>
          <p:cNvSpPr>
            <a:spLocks noChangeArrowheads="1"/>
          </p:cNvSpPr>
          <p:nvPr/>
        </p:nvSpPr>
        <p:spPr bwMode="auto">
          <a:xfrm>
            <a:off x="4910138" y="1847232"/>
            <a:ext cx="184731" cy="300082"/>
          </a:xfrm>
          <a:prstGeom prst="rect">
            <a:avLst/>
          </a:prstGeom>
          <a:solidFill>
            <a:srgbClr val="0070C0"/>
          </a:solidFill>
          <a:ln w="28575">
            <a:solidFill>
              <a:schemeClr val="tx1"/>
            </a:solidFill>
            <a:miter lim="800000"/>
            <a:headEnd/>
            <a:tailEnd/>
          </a:ln>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71692" name="Rectangle 13">
            <a:extLst>
              <a:ext uri="{FF2B5EF4-FFF2-40B4-BE49-F238E27FC236}">
                <a16:creationId xmlns:a16="http://schemas.microsoft.com/office/drawing/2014/main" id="{1388EB10-E6AB-471D-AADD-BC3B58525593}"/>
              </a:ext>
            </a:extLst>
          </p:cNvPr>
          <p:cNvSpPr>
            <a:spLocks noChangeArrowheads="1"/>
          </p:cNvSpPr>
          <p:nvPr/>
        </p:nvSpPr>
        <p:spPr bwMode="auto">
          <a:xfrm>
            <a:off x="5341144" y="1847232"/>
            <a:ext cx="184731" cy="30008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350"/>
          </a:p>
        </p:txBody>
      </p:sp>
      <p:sp>
        <p:nvSpPr>
          <p:cNvPr id="71693" name="Text Box 15">
            <a:extLst>
              <a:ext uri="{FF2B5EF4-FFF2-40B4-BE49-F238E27FC236}">
                <a16:creationId xmlns:a16="http://schemas.microsoft.com/office/drawing/2014/main" id="{5858F483-8E18-4607-AF83-7FC0D2EF9358}"/>
              </a:ext>
            </a:extLst>
          </p:cNvPr>
          <p:cNvSpPr txBox="1">
            <a:spLocks noChangeArrowheads="1"/>
          </p:cNvSpPr>
          <p:nvPr/>
        </p:nvSpPr>
        <p:spPr bwMode="auto">
          <a:xfrm rot="16200000">
            <a:off x="5190725" y="1852213"/>
            <a:ext cx="46391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dirty="0"/>
              <a:t>Test</a:t>
            </a:r>
          </a:p>
        </p:txBody>
      </p:sp>
      <p:sp>
        <p:nvSpPr>
          <p:cNvPr id="71694" name="Text Box 15">
            <a:extLst>
              <a:ext uri="{FF2B5EF4-FFF2-40B4-BE49-F238E27FC236}">
                <a16:creationId xmlns:a16="http://schemas.microsoft.com/office/drawing/2014/main" id="{0435E8B9-A0CC-40F1-86E7-CD5207F2A702}"/>
              </a:ext>
            </a:extLst>
          </p:cNvPr>
          <p:cNvSpPr txBox="1">
            <a:spLocks noChangeArrowheads="1"/>
          </p:cNvSpPr>
          <p:nvPr/>
        </p:nvSpPr>
        <p:spPr bwMode="auto">
          <a:xfrm rot="16200000">
            <a:off x="4879390" y="1828778"/>
            <a:ext cx="52822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solidFill>
                  <a:schemeClr val="bg1"/>
                </a:solidFill>
              </a:rPr>
              <a:t>Tune</a:t>
            </a:r>
          </a:p>
        </p:txBody>
      </p:sp>
      <p:sp>
        <p:nvSpPr>
          <p:cNvPr id="71695" name="Text Box 15">
            <a:extLst>
              <a:ext uri="{FF2B5EF4-FFF2-40B4-BE49-F238E27FC236}">
                <a16:creationId xmlns:a16="http://schemas.microsoft.com/office/drawing/2014/main" id="{1FD553C4-A09E-4A08-B869-C921811E64B9}"/>
              </a:ext>
            </a:extLst>
          </p:cNvPr>
          <p:cNvSpPr txBox="1">
            <a:spLocks noChangeArrowheads="1"/>
          </p:cNvSpPr>
          <p:nvPr/>
        </p:nvSpPr>
        <p:spPr bwMode="auto">
          <a:xfrm rot="16200000">
            <a:off x="4446598" y="1838303"/>
            <a:ext cx="52822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solidFill>
                  <a:schemeClr val="bg1"/>
                </a:solidFill>
              </a:rPr>
              <a:t>Tune</a:t>
            </a:r>
          </a:p>
        </p:txBody>
      </p:sp>
      <p:sp>
        <p:nvSpPr>
          <p:cNvPr id="71696" name="Text Box 15">
            <a:extLst>
              <a:ext uri="{FF2B5EF4-FFF2-40B4-BE49-F238E27FC236}">
                <a16:creationId xmlns:a16="http://schemas.microsoft.com/office/drawing/2014/main" id="{6622D3E3-50D1-42D6-938E-DD6FF051BF7A}"/>
              </a:ext>
            </a:extLst>
          </p:cNvPr>
          <p:cNvSpPr txBox="1">
            <a:spLocks noChangeArrowheads="1"/>
          </p:cNvSpPr>
          <p:nvPr/>
        </p:nvSpPr>
        <p:spPr bwMode="auto">
          <a:xfrm>
            <a:off x="4137253" y="2259834"/>
            <a:ext cx="52822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dirty="0"/>
              <a:t>Tune</a:t>
            </a:r>
          </a:p>
        </p:txBody>
      </p:sp>
      <p:cxnSp>
        <p:nvCxnSpPr>
          <p:cNvPr id="3" name="Straight Connector 2">
            <a:extLst>
              <a:ext uri="{FF2B5EF4-FFF2-40B4-BE49-F238E27FC236}">
                <a16:creationId xmlns:a16="http://schemas.microsoft.com/office/drawing/2014/main" id="{A9A6827D-BACA-46C6-A050-7C756856FA90}"/>
              </a:ext>
            </a:extLst>
          </p:cNvPr>
          <p:cNvCxnSpPr/>
          <p:nvPr/>
        </p:nvCxnSpPr>
        <p:spPr>
          <a:xfrm flipH="1">
            <a:off x="1925242" y="1725174"/>
            <a:ext cx="1993106" cy="9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84B643E-77A9-46D4-8F06-98BE706304F6}"/>
              </a:ext>
            </a:extLst>
          </p:cNvPr>
          <p:cNvCxnSpPr>
            <a:cxnSpLocks/>
          </p:cNvCxnSpPr>
          <p:nvPr/>
        </p:nvCxnSpPr>
        <p:spPr>
          <a:xfrm flipH="1">
            <a:off x="4137253" y="1724233"/>
            <a:ext cx="899609"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9439D04-06E7-4207-8D7D-D8EAE1EF60DF}"/>
              </a:ext>
            </a:extLst>
          </p:cNvPr>
          <p:cNvSpPr txBox="1"/>
          <p:nvPr/>
        </p:nvSpPr>
        <p:spPr>
          <a:xfrm>
            <a:off x="2147692" y="1447898"/>
            <a:ext cx="1539294" cy="369332"/>
          </a:xfrm>
          <a:prstGeom prst="rect">
            <a:avLst/>
          </a:prstGeom>
          <a:noFill/>
        </p:spPr>
        <p:txBody>
          <a:bodyPr wrap="square" rtlCol="0">
            <a:spAutoFit/>
          </a:bodyPr>
          <a:lstStyle/>
          <a:p>
            <a:r>
              <a:rPr lang="en-IN" dirty="0"/>
              <a:t>train</a:t>
            </a:r>
          </a:p>
        </p:txBody>
      </p:sp>
      <p:cxnSp>
        <p:nvCxnSpPr>
          <p:cNvPr id="22" name="Straight Connector 21">
            <a:extLst>
              <a:ext uri="{FF2B5EF4-FFF2-40B4-BE49-F238E27FC236}">
                <a16:creationId xmlns:a16="http://schemas.microsoft.com/office/drawing/2014/main" id="{CABDA190-E867-47A3-8093-1DE4029D70FF}"/>
              </a:ext>
            </a:extLst>
          </p:cNvPr>
          <p:cNvCxnSpPr/>
          <p:nvPr/>
        </p:nvCxnSpPr>
        <p:spPr>
          <a:xfrm flipH="1">
            <a:off x="1893094" y="1714708"/>
            <a:ext cx="1993106" cy="9525"/>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153CB93-9B69-41BA-8777-ADD94E88254A}"/>
              </a:ext>
            </a:extLst>
          </p:cNvPr>
          <p:cNvSpPr txBox="1"/>
          <p:nvPr/>
        </p:nvSpPr>
        <p:spPr>
          <a:xfrm>
            <a:off x="4325222" y="1375342"/>
            <a:ext cx="1539294" cy="369332"/>
          </a:xfrm>
          <a:prstGeom prst="rect">
            <a:avLst/>
          </a:prstGeom>
          <a:noFill/>
        </p:spPr>
        <p:txBody>
          <a:bodyPr wrap="square" rtlCol="0">
            <a:spAutoFit/>
          </a:bodyPr>
          <a:lstStyle/>
          <a:p>
            <a:r>
              <a:rPr lang="en-IN" dirty="0"/>
              <a:t>validate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56A625E1-004B-41E4-A9B1-BC0571200AE1}"/>
              </a:ext>
            </a:extLst>
          </p:cNvPr>
          <p:cNvSpPr>
            <a:spLocks noGrp="1"/>
          </p:cNvSpPr>
          <p:nvPr>
            <p:ph type="title" idx="4294967295"/>
          </p:nvPr>
        </p:nvSpPr>
        <p:spPr>
          <a:xfrm>
            <a:off x="304812" y="385953"/>
            <a:ext cx="5226800" cy="1723549"/>
          </a:xfrm>
        </p:spPr>
        <p:txBody>
          <a:bodyPr/>
          <a:lstStyle/>
          <a:p>
            <a:pPr eaLnBrk="1" hangingPunct="1"/>
            <a:r>
              <a:rPr lang="en-US" altLang="en-US" dirty="0"/>
              <a:t>Reduced Error Pruning Example</a:t>
            </a:r>
          </a:p>
        </p:txBody>
      </p:sp>
      <p:sp>
        <p:nvSpPr>
          <p:cNvPr id="3" name="Rectangle 2">
            <a:extLst>
              <a:ext uri="{FF2B5EF4-FFF2-40B4-BE49-F238E27FC236}">
                <a16:creationId xmlns:a16="http://schemas.microsoft.com/office/drawing/2014/main" id="{8E1F244B-5E8C-4815-9063-D4FFEB1B8232}"/>
              </a:ext>
            </a:extLst>
          </p:cNvPr>
          <p:cNvSpPr/>
          <p:nvPr/>
        </p:nvSpPr>
        <p:spPr>
          <a:xfrm>
            <a:off x="4171950" y="1028700"/>
            <a:ext cx="120015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Outlook</a:t>
            </a:r>
          </a:p>
        </p:txBody>
      </p:sp>
      <p:sp>
        <p:nvSpPr>
          <p:cNvPr id="4" name="Rectangle 3">
            <a:extLst>
              <a:ext uri="{FF2B5EF4-FFF2-40B4-BE49-F238E27FC236}">
                <a16:creationId xmlns:a16="http://schemas.microsoft.com/office/drawing/2014/main" id="{FE1CA043-9094-42B9-9C84-4C97F9E028AA}"/>
              </a:ext>
            </a:extLst>
          </p:cNvPr>
          <p:cNvSpPr/>
          <p:nvPr/>
        </p:nvSpPr>
        <p:spPr>
          <a:xfrm>
            <a:off x="2628900" y="1943100"/>
            <a:ext cx="1200150" cy="400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Humidity</a:t>
            </a:r>
          </a:p>
        </p:txBody>
      </p:sp>
      <p:sp>
        <p:nvSpPr>
          <p:cNvPr id="5" name="Rectangle 4">
            <a:extLst>
              <a:ext uri="{FF2B5EF4-FFF2-40B4-BE49-F238E27FC236}">
                <a16:creationId xmlns:a16="http://schemas.microsoft.com/office/drawing/2014/main" id="{5DDB1857-9151-4BC9-AD66-8578C0E71E6E}"/>
              </a:ext>
            </a:extLst>
          </p:cNvPr>
          <p:cNvSpPr/>
          <p:nvPr/>
        </p:nvSpPr>
        <p:spPr>
          <a:xfrm>
            <a:off x="6172200" y="2057400"/>
            <a:ext cx="1314450"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Wind</a:t>
            </a:r>
          </a:p>
        </p:txBody>
      </p:sp>
      <p:cxnSp>
        <p:nvCxnSpPr>
          <p:cNvPr id="7" name="Straight Arrow Connector 6">
            <a:extLst>
              <a:ext uri="{FF2B5EF4-FFF2-40B4-BE49-F238E27FC236}">
                <a16:creationId xmlns:a16="http://schemas.microsoft.com/office/drawing/2014/main" id="{826C5430-C7EB-42D6-A84E-F62798AEE475}"/>
              </a:ext>
            </a:extLst>
          </p:cNvPr>
          <p:cNvCxnSpPr>
            <a:stCxn id="3" idx="1"/>
            <a:endCxn id="4" idx="0"/>
          </p:cNvCxnSpPr>
          <p:nvPr/>
        </p:nvCxnSpPr>
        <p:spPr>
          <a:xfrm rot="10800000" flipV="1">
            <a:off x="3228975" y="1257300"/>
            <a:ext cx="942975" cy="6858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C8C1217-75D4-43C3-B597-3E2660F3E7F6}"/>
              </a:ext>
            </a:extLst>
          </p:cNvPr>
          <p:cNvCxnSpPr>
            <a:stCxn id="3" idx="3"/>
            <a:endCxn id="5" idx="0"/>
          </p:cNvCxnSpPr>
          <p:nvPr/>
        </p:nvCxnSpPr>
        <p:spPr>
          <a:xfrm>
            <a:off x="5372100" y="1257300"/>
            <a:ext cx="1457325" cy="8001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5C70589-EAAC-45D7-8CFE-3187A88DE20B}"/>
              </a:ext>
            </a:extLst>
          </p:cNvPr>
          <p:cNvSpPr/>
          <p:nvPr/>
        </p:nvSpPr>
        <p:spPr>
          <a:xfrm>
            <a:off x="2914650" y="1314450"/>
            <a:ext cx="8572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Sunny</a:t>
            </a:r>
          </a:p>
        </p:txBody>
      </p:sp>
      <p:sp>
        <p:nvSpPr>
          <p:cNvPr id="13" name="Rectangle 12">
            <a:extLst>
              <a:ext uri="{FF2B5EF4-FFF2-40B4-BE49-F238E27FC236}">
                <a16:creationId xmlns:a16="http://schemas.microsoft.com/office/drawing/2014/main" id="{4D2A7717-4DFA-4930-9591-C721D11C47ED}"/>
              </a:ext>
            </a:extLst>
          </p:cNvPr>
          <p:cNvSpPr/>
          <p:nvPr/>
        </p:nvSpPr>
        <p:spPr>
          <a:xfrm>
            <a:off x="5829300" y="13144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Rain</a:t>
            </a:r>
          </a:p>
        </p:txBody>
      </p:sp>
      <p:sp>
        <p:nvSpPr>
          <p:cNvPr id="14" name="Rectangle 13">
            <a:extLst>
              <a:ext uri="{FF2B5EF4-FFF2-40B4-BE49-F238E27FC236}">
                <a16:creationId xmlns:a16="http://schemas.microsoft.com/office/drawing/2014/main" id="{6E32239A-BE58-4E1A-B4C7-95CA099B5F3D}"/>
              </a:ext>
            </a:extLst>
          </p:cNvPr>
          <p:cNvSpPr/>
          <p:nvPr/>
        </p:nvSpPr>
        <p:spPr>
          <a:xfrm>
            <a:off x="4171950" y="15430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Overcast</a:t>
            </a:r>
          </a:p>
        </p:txBody>
      </p:sp>
      <p:sp>
        <p:nvSpPr>
          <p:cNvPr id="17" name="Rectangle 16">
            <a:extLst>
              <a:ext uri="{FF2B5EF4-FFF2-40B4-BE49-F238E27FC236}">
                <a16:creationId xmlns:a16="http://schemas.microsoft.com/office/drawing/2014/main" id="{207A7DD3-AEC4-4F8B-A8E6-0FCAA5FAC533}"/>
              </a:ext>
            </a:extLst>
          </p:cNvPr>
          <p:cNvSpPr/>
          <p:nvPr/>
        </p:nvSpPr>
        <p:spPr>
          <a:xfrm>
            <a:off x="1828800" y="26289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High</a:t>
            </a:r>
          </a:p>
        </p:txBody>
      </p:sp>
      <p:sp>
        <p:nvSpPr>
          <p:cNvPr id="18" name="Rectangle 17">
            <a:extLst>
              <a:ext uri="{FF2B5EF4-FFF2-40B4-BE49-F238E27FC236}">
                <a16:creationId xmlns:a16="http://schemas.microsoft.com/office/drawing/2014/main" id="{414A728A-6AA6-4892-A1DF-843ADE7015B3}"/>
              </a:ext>
            </a:extLst>
          </p:cNvPr>
          <p:cNvSpPr/>
          <p:nvPr/>
        </p:nvSpPr>
        <p:spPr>
          <a:xfrm>
            <a:off x="3200400" y="26289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Low</a:t>
            </a:r>
          </a:p>
        </p:txBody>
      </p:sp>
      <p:sp>
        <p:nvSpPr>
          <p:cNvPr id="19" name="Rectangle 18">
            <a:extLst>
              <a:ext uri="{FF2B5EF4-FFF2-40B4-BE49-F238E27FC236}">
                <a16:creationId xmlns:a16="http://schemas.microsoft.com/office/drawing/2014/main" id="{5A130F68-58ED-45CA-BAD1-78E33BFFEC2F}"/>
              </a:ext>
            </a:extLst>
          </p:cNvPr>
          <p:cNvSpPr/>
          <p:nvPr/>
        </p:nvSpPr>
        <p:spPr>
          <a:xfrm>
            <a:off x="6800850" y="25146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Weak</a:t>
            </a:r>
          </a:p>
        </p:txBody>
      </p:sp>
      <p:sp>
        <p:nvSpPr>
          <p:cNvPr id="20" name="Rectangle 19">
            <a:extLst>
              <a:ext uri="{FF2B5EF4-FFF2-40B4-BE49-F238E27FC236}">
                <a16:creationId xmlns:a16="http://schemas.microsoft.com/office/drawing/2014/main" id="{FAAF976E-7BAD-48D0-913C-7A92FAC2FB3C}"/>
              </a:ext>
            </a:extLst>
          </p:cNvPr>
          <p:cNvSpPr/>
          <p:nvPr/>
        </p:nvSpPr>
        <p:spPr>
          <a:xfrm>
            <a:off x="5600700" y="25146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Strong</a:t>
            </a:r>
          </a:p>
        </p:txBody>
      </p:sp>
      <p:cxnSp>
        <p:nvCxnSpPr>
          <p:cNvPr id="27" name="Straight Arrow Connector 26">
            <a:extLst>
              <a:ext uri="{FF2B5EF4-FFF2-40B4-BE49-F238E27FC236}">
                <a16:creationId xmlns:a16="http://schemas.microsoft.com/office/drawing/2014/main" id="{B5A0682F-0CB5-4205-BADE-8C311172FF50}"/>
              </a:ext>
            </a:extLst>
          </p:cNvPr>
          <p:cNvCxnSpPr>
            <a:stCxn id="4" idx="2"/>
            <a:endCxn id="48" idx="0"/>
          </p:cNvCxnSpPr>
          <p:nvPr/>
        </p:nvCxnSpPr>
        <p:spPr>
          <a:xfrm rot="5400000">
            <a:off x="2343150" y="2428875"/>
            <a:ext cx="971550" cy="8001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8586736-64CD-4601-9E79-4FCD09535988}"/>
              </a:ext>
            </a:extLst>
          </p:cNvPr>
          <p:cNvCxnSpPr>
            <a:stCxn id="4" idx="2"/>
          </p:cNvCxnSpPr>
          <p:nvPr/>
        </p:nvCxnSpPr>
        <p:spPr>
          <a:xfrm rot="16200000" flipH="1">
            <a:off x="3014663" y="2557463"/>
            <a:ext cx="971550" cy="542925"/>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8DB1836-2E59-4D44-83A7-C3D2C958F8EC}"/>
              </a:ext>
            </a:extLst>
          </p:cNvPr>
          <p:cNvCxnSpPr>
            <a:stCxn id="5" idx="2"/>
          </p:cNvCxnSpPr>
          <p:nvPr/>
        </p:nvCxnSpPr>
        <p:spPr>
          <a:xfrm rot="5400000">
            <a:off x="6129338" y="2500313"/>
            <a:ext cx="800100" cy="600075"/>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6E7888C-7689-46AE-B3AD-ECA592E8E690}"/>
              </a:ext>
            </a:extLst>
          </p:cNvPr>
          <p:cNvCxnSpPr>
            <a:stCxn id="5" idx="2"/>
            <a:endCxn id="70" idx="0"/>
          </p:cNvCxnSpPr>
          <p:nvPr/>
        </p:nvCxnSpPr>
        <p:spPr>
          <a:xfrm rot="16200000" flipH="1">
            <a:off x="6715125" y="2514600"/>
            <a:ext cx="800100" cy="5715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1716BD7-4C22-4A20-A0B9-CDEF07160E88}"/>
              </a:ext>
            </a:extLst>
          </p:cNvPr>
          <p:cNvCxnSpPr/>
          <p:nvPr/>
        </p:nvCxnSpPr>
        <p:spPr>
          <a:xfrm rot="16200000" flipH="1">
            <a:off x="4543425" y="2085975"/>
            <a:ext cx="400050" cy="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94F6CCE-F55A-4A48-8D9A-567F44465E4A}"/>
              </a:ext>
            </a:extLst>
          </p:cNvPr>
          <p:cNvCxnSpPr/>
          <p:nvPr/>
        </p:nvCxnSpPr>
        <p:spPr>
          <a:xfrm rot="5400000">
            <a:off x="4657726" y="1571626"/>
            <a:ext cx="171450" cy="2381"/>
          </a:xfrm>
          <a:prstGeom prst="straightConnector1">
            <a:avLst/>
          </a:prstGeom>
          <a:ln w="444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129C7DE5-EE34-4201-93A3-1E668ED13287}"/>
              </a:ext>
            </a:extLst>
          </p:cNvPr>
          <p:cNvSpPr/>
          <p:nvPr/>
        </p:nvSpPr>
        <p:spPr>
          <a:xfrm>
            <a:off x="3200400" y="33147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46" name="Rectangle 45">
            <a:extLst>
              <a:ext uri="{FF2B5EF4-FFF2-40B4-BE49-F238E27FC236}">
                <a16:creationId xmlns:a16="http://schemas.microsoft.com/office/drawing/2014/main" id="{CF4BC340-D820-4A73-A6FC-5781D54D987A}"/>
              </a:ext>
            </a:extLst>
          </p:cNvPr>
          <p:cNvSpPr/>
          <p:nvPr/>
        </p:nvSpPr>
        <p:spPr>
          <a:xfrm>
            <a:off x="4114800" y="22860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48" name="Rectangle 47">
            <a:extLst>
              <a:ext uri="{FF2B5EF4-FFF2-40B4-BE49-F238E27FC236}">
                <a16:creationId xmlns:a16="http://schemas.microsoft.com/office/drawing/2014/main" id="{73E5581A-C953-4FF2-90A5-942AB1984B38}"/>
              </a:ext>
            </a:extLst>
          </p:cNvPr>
          <p:cNvSpPr/>
          <p:nvPr/>
        </p:nvSpPr>
        <p:spPr>
          <a:xfrm>
            <a:off x="1828800" y="33147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sp>
        <p:nvSpPr>
          <p:cNvPr id="70" name="Rectangle 69">
            <a:extLst>
              <a:ext uri="{FF2B5EF4-FFF2-40B4-BE49-F238E27FC236}">
                <a16:creationId xmlns:a16="http://schemas.microsoft.com/office/drawing/2014/main" id="{854FB8FA-8CA8-45D0-A00F-896F9C5F13AD}"/>
              </a:ext>
            </a:extLst>
          </p:cNvPr>
          <p:cNvSpPr/>
          <p:nvPr/>
        </p:nvSpPr>
        <p:spPr>
          <a:xfrm>
            <a:off x="6858000" y="3200400"/>
            <a:ext cx="10858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71" name="Rectangle 70">
            <a:extLst>
              <a:ext uri="{FF2B5EF4-FFF2-40B4-BE49-F238E27FC236}">
                <a16:creationId xmlns:a16="http://schemas.microsoft.com/office/drawing/2014/main" id="{929CFE84-6926-43F9-BD12-0D7931FA3331}"/>
              </a:ext>
            </a:extLst>
          </p:cNvPr>
          <p:cNvSpPr/>
          <p:nvPr/>
        </p:nvSpPr>
        <p:spPr>
          <a:xfrm>
            <a:off x="5543550" y="32004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cxnSp>
        <p:nvCxnSpPr>
          <p:cNvPr id="29" name="Straight Connector 28">
            <a:extLst>
              <a:ext uri="{FF2B5EF4-FFF2-40B4-BE49-F238E27FC236}">
                <a16:creationId xmlns:a16="http://schemas.microsoft.com/office/drawing/2014/main" id="{97D0A456-4514-4C47-B015-FB915709DE6E}"/>
              </a:ext>
            </a:extLst>
          </p:cNvPr>
          <p:cNvCxnSpPr>
            <a:cxnSpLocks/>
          </p:cNvCxnSpPr>
          <p:nvPr/>
        </p:nvCxnSpPr>
        <p:spPr>
          <a:xfrm>
            <a:off x="1743075" y="2000250"/>
            <a:ext cx="2828925" cy="2171700"/>
          </a:xfrm>
          <a:prstGeom prst="line">
            <a:avLst/>
          </a:prstGeom>
          <a:ln w="44450">
            <a:solidFill>
              <a:srgbClr val="FF33CC"/>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82D895F-ED6B-4CCF-B120-6FF779CA0329}"/>
              </a:ext>
            </a:extLst>
          </p:cNvPr>
          <p:cNvCxnSpPr/>
          <p:nvPr/>
        </p:nvCxnSpPr>
        <p:spPr>
          <a:xfrm flipV="1">
            <a:off x="1828800" y="2000250"/>
            <a:ext cx="2286000" cy="2171700"/>
          </a:xfrm>
          <a:prstGeom prst="line">
            <a:avLst/>
          </a:prstGeom>
          <a:ln w="44450">
            <a:solidFill>
              <a:srgbClr val="FF33CC"/>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70D8199-9A84-469E-BBBE-BF4501FD8232}"/>
              </a:ext>
            </a:extLst>
          </p:cNvPr>
          <p:cNvSpPr txBox="1">
            <a:spLocks noChangeArrowheads="1"/>
          </p:cNvSpPr>
          <p:nvPr/>
        </p:nvSpPr>
        <p:spPr bwMode="auto">
          <a:xfrm>
            <a:off x="2286000" y="4454129"/>
            <a:ext cx="5791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dirty="0"/>
              <a:t>Full grown tree Validation set accuracy = 0.75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65D627A1-35E3-464D-A563-59DD20B8EDEA}"/>
              </a:ext>
            </a:extLst>
          </p:cNvPr>
          <p:cNvSpPr>
            <a:spLocks noGrp="1"/>
          </p:cNvSpPr>
          <p:nvPr>
            <p:ph type="title" idx="4294967295"/>
          </p:nvPr>
        </p:nvSpPr>
        <p:spPr>
          <a:xfrm>
            <a:off x="457208" y="385953"/>
            <a:ext cx="5074404" cy="1723549"/>
          </a:xfrm>
        </p:spPr>
        <p:txBody>
          <a:bodyPr/>
          <a:lstStyle/>
          <a:p>
            <a:pPr eaLnBrk="1" hangingPunct="1"/>
            <a:r>
              <a:rPr lang="en-US" altLang="en-US" dirty="0"/>
              <a:t>Reduced Error Pruning Example</a:t>
            </a:r>
          </a:p>
        </p:txBody>
      </p:sp>
      <p:sp>
        <p:nvSpPr>
          <p:cNvPr id="3" name="Rectangle 2">
            <a:extLst>
              <a:ext uri="{FF2B5EF4-FFF2-40B4-BE49-F238E27FC236}">
                <a16:creationId xmlns:a16="http://schemas.microsoft.com/office/drawing/2014/main" id="{A9EB2D29-0DD2-484C-90EE-0941DD8BD18F}"/>
              </a:ext>
            </a:extLst>
          </p:cNvPr>
          <p:cNvSpPr/>
          <p:nvPr/>
        </p:nvSpPr>
        <p:spPr>
          <a:xfrm>
            <a:off x="4171950" y="1028700"/>
            <a:ext cx="120015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Outlook</a:t>
            </a:r>
          </a:p>
        </p:txBody>
      </p:sp>
      <p:sp>
        <p:nvSpPr>
          <p:cNvPr id="5" name="Rectangle 4">
            <a:extLst>
              <a:ext uri="{FF2B5EF4-FFF2-40B4-BE49-F238E27FC236}">
                <a16:creationId xmlns:a16="http://schemas.microsoft.com/office/drawing/2014/main" id="{AD122AA5-083B-4EDA-9B57-D1AAE779AD20}"/>
              </a:ext>
            </a:extLst>
          </p:cNvPr>
          <p:cNvSpPr/>
          <p:nvPr/>
        </p:nvSpPr>
        <p:spPr>
          <a:xfrm>
            <a:off x="6172200" y="2057400"/>
            <a:ext cx="1314450"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Wind</a:t>
            </a:r>
          </a:p>
        </p:txBody>
      </p:sp>
      <p:cxnSp>
        <p:nvCxnSpPr>
          <p:cNvPr id="7" name="Straight Arrow Connector 6">
            <a:extLst>
              <a:ext uri="{FF2B5EF4-FFF2-40B4-BE49-F238E27FC236}">
                <a16:creationId xmlns:a16="http://schemas.microsoft.com/office/drawing/2014/main" id="{C8D6C3B8-710C-428F-B3BA-3C8FB8963920}"/>
              </a:ext>
            </a:extLst>
          </p:cNvPr>
          <p:cNvCxnSpPr>
            <a:stCxn id="3" idx="1"/>
          </p:cNvCxnSpPr>
          <p:nvPr/>
        </p:nvCxnSpPr>
        <p:spPr>
          <a:xfrm rot="10800000" flipV="1">
            <a:off x="3228975" y="1257300"/>
            <a:ext cx="942975" cy="6858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0AF1465-4F84-417B-9C05-7AAE8BE2F7AC}"/>
              </a:ext>
            </a:extLst>
          </p:cNvPr>
          <p:cNvCxnSpPr>
            <a:stCxn id="3" idx="3"/>
            <a:endCxn id="5" idx="0"/>
          </p:cNvCxnSpPr>
          <p:nvPr/>
        </p:nvCxnSpPr>
        <p:spPr>
          <a:xfrm>
            <a:off x="5372100" y="1257300"/>
            <a:ext cx="1457325" cy="8001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E4E36FF-0969-4CFE-BFA2-D72CFA29FCBB}"/>
              </a:ext>
            </a:extLst>
          </p:cNvPr>
          <p:cNvSpPr/>
          <p:nvPr/>
        </p:nvSpPr>
        <p:spPr>
          <a:xfrm>
            <a:off x="2914650" y="1314450"/>
            <a:ext cx="8572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Sunny</a:t>
            </a:r>
          </a:p>
        </p:txBody>
      </p:sp>
      <p:sp>
        <p:nvSpPr>
          <p:cNvPr id="13" name="Rectangle 12">
            <a:extLst>
              <a:ext uri="{FF2B5EF4-FFF2-40B4-BE49-F238E27FC236}">
                <a16:creationId xmlns:a16="http://schemas.microsoft.com/office/drawing/2014/main" id="{F51FBA7D-CF58-4EC8-AFE9-2D5879E61A86}"/>
              </a:ext>
            </a:extLst>
          </p:cNvPr>
          <p:cNvSpPr/>
          <p:nvPr/>
        </p:nvSpPr>
        <p:spPr>
          <a:xfrm>
            <a:off x="5829300" y="13144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Rain</a:t>
            </a:r>
          </a:p>
        </p:txBody>
      </p:sp>
      <p:sp>
        <p:nvSpPr>
          <p:cNvPr id="14" name="Rectangle 13">
            <a:extLst>
              <a:ext uri="{FF2B5EF4-FFF2-40B4-BE49-F238E27FC236}">
                <a16:creationId xmlns:a16="http://schemas.microsoft.com/office/drawing/2014/main" id="{2C93C223-0B5E-48A6-A8C8-211278292F14}"/>
              </a:ext>
            </a:extLst>
          </p:cNvPr>
          <p:cNvSpPr/>
          <p:nvPr/>
        </p:nvSpPr>
        <p:spPr>
          <a:xfrm>
            <a:off x="4171950" y="15430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Overcast</a:t>
            </a:r>
          </a:p>
        </p:txBody>
      </p:sp>
      <p:sp>
        <p:nvSpPr>
          <p:cNvPr id="19" name="Rectangle 18">
            <a:extLst>
              <a:ext uri="{FF2B5EF4-FFF2-40B4-BE49-F238E27FC236}">
                <a16:creationId xmlns:a16="http://schemas.microsoft.com/office/drawing/2014/main" id="{FF0CCA82-0EB4-4CB7-9484-071594B3AA87}"/>
              </a:ext>
            </a:extLst>
          </p:cNvPr>
          <p:cNvSpPr/>
          <p:nvPr/>
        </p:nvSpPr>
        <p:spPr>
          <a:xfrm>
            <a:off x="6800850" y="25146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Weak</a:t>
            </a:r>
          </a:p>
        </p:txBody>
      </p:sp>
      <p:sp>
        <p:nvSpPr>
          <p:cNvPr id="20" name="Rectangle 19">
            <a:extLst>
              <a:ext uri="{FF2B5EF4-FFF2-40B4-BE49-F238E27FC236}">
                <a16:creationId xmlns:a16="http://schemas.microsoft.com/office/drawing/2014/main" id="{3936E65C-5173-4E6A-953B-2CD1D170C198}"/>
              </a:ext>
            </a:extLst>
          </p:cNvPr>
          <p:cNvSpPr/>
          <p:nvPr/>
        </p:nvSpPr>
        <p:spPr>
          <a:xfrm>
            <a:off x="5600700" y="25146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Strong</a:t>
            </a:r>
          </a:p>
        </p:txBody>
      </p:sp>
      <p:cxnSp>
        <p:nvCxnSpPr>
          <p:cNvPr id="37" name="Straight Arrow Connector 36">
            <a:extLst>
              <a:ext uri="{FF2B5EF4-FFF2-40B4-BE49-F238E27FC236}">
                <a16:creationId xmlns:a16="http://schemas.microsoft.com/office/drawing/2014/main" id="{4797A5E4-1389-4FFE-B361-85F9AB2D0722}"/>
              </a:ext>
            </a:extLst>
          </p:cNvPr>
          <p:cNvCxnSpPr>
            <a:stCxn id="5" idx="2"/>
          </p:cNvCxnSpPr>
          <p:nvPr/>
        </p:nvCxnSpPr>
        <p:spPr>
          <a:xfrm rot="5400000">
            <a:off x="6129338" y="2500313"/>
            <a:ext cx="800100" cy="600075"/>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AE0E120-BB7E-4E41-BE09-2CF8AE99F4D1}"/>
              </a:ext>
            </a:extLst>
          </p:cNvPr>
          <p:cNvCxnSpPr>
            <a:stCxn id="5" idx="2"/>
            <a:endCxn id="70" idx="0"/>
          </p:cNvCxnSpPr>
          <p:nvPr/>
        </p:nvCxnSpPr>
        <p:spPr>
          <a:xfrm rot="16200000" flipH="1">
            <a:off x="6715125" y="2514600"/>
            <a:ext cx="800100" cy="5715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36A28A7-EE7E-49D1-B71E-3D6E8F3C25B2}"/>
              </a:ext>
            </a:extLst>
          </p:cNvPr>
          <p:cNvCxnSpPr/>
          <p:nvPr/>
        </p:nvCxnSpPr>
        <p:spPr>
          <a:xfrm rot="16200000" flipH="1">
            <a:off x="4543425" y="2085975"/>
            <a:ext cx="400050" cy="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86E9A88-ADE4-45F9-BF8A-07F155EAF23A}"/>
              </a:ext>
            </a:extLst>
          </p:cNvPr>
          <p:cNvCxnSpPr/>
          <p:nvPr/>
        </p:nvCxnSpPr>
        <p:spPr>
          <a:xfrm rot="5400000">
            <a:off x="4657726" y="1571626"/>
            <a:ext cx="171450" cy="2381"/>
          </a:xfrm>
          <a:prstGeom prst="straightConnector1">
            <a:avLst/>
          </a:prstGeom>
          <a:ln w="444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66530163-6B8A-487A-8538-457806CF8C45}"/>
              </a:ext>
            </a:extLst>
          </p:cNvPr>
          <p:cNvSpPr/>
          <p:nvPr/>
        </p:nvSpPr>
        <p:spPr>
          <a:xfrm>
            <a:off x="4114800" y="22860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48" name="Rectangle 47">
            <a:extLst>
              <a:ext uri="{FF2B5EF4-FFF2-40B4-BE49-F238E27FC236}">
                <a16:creationId xmlns:a16="http://schemas.microsoft.com/office/drawing/2014/main" id="{467557C2-2FD4-4000-9DFF-371C5674C8A9}"/>
              </a:ext>
            </a:extLst>
          </p:cNvPr>
          <p:cNvSpPr/>
          <p:nvPr/>
        </p:nvSpPr>
        <p:spPr>
          <a:xfrm>
            <a:off x="2457450" y="19431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sp>
        <p:nvSpPr>
          <p:cNvPr id="70" name="Rectangle 69">
            <a:extLst>
              <a:ext uri="{FF2B5EF4-FFF2-40B4-BE49-F238E27FC236}">
                <a16:creationId xmlns:a16="http://schemas.microsoft.com/office/drawing/2014/main" id="{01A372AD-7251-47E7-BD34-F1E8B6D9DAD8}"/>
              </a:ext>
            </a:extLst>
          </p:cNvPr>
          <p:cNvSpPr/>
          <p:nvPr/>
        </p:nvSpPr>
        <p:spPr>
          <a:xfrm>
            <a:off x="6858000" y="3200400"/>
            <a:ext cx="10858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71" name="Rectangle 70">
            <a:extLst>
              <a:ext uri="{FF2B5EF4-FFF2-40B4-BE49-F238E27FC236}">
                <a16:creationId xmlns:a16="http://schemas.microsoft.com/office/drawing/2014/main" id="{84FD49AA-4431-4225-9B6D-3279AAC8656B}"/>
              </a:ext>
            </a:extLst>
          </p:cNvPr>
          <p:cNvSpPr/>
          <p:nvPr/>
        </p:nvSpPr>
        <p:spPr>
          <a:xfrm>
            <a:off x="5543550" y="32004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sp>
        <p:nvSpPr>
          <p:cNvPr id="26" name="TextBox 25">
            <a:extLst>
              <a:ext uri="{FF2B5EF4-FFF2-40B4-BE49-F238E27FC236}">
                <a16:creationId xmlns:a16="http://schemas.microsoft.com/office/drawing/2014/main" id="{ED4FB552-72CA-4F45-8F0D-589FCC47E36E}"/>
              </a:ext>
            </a:extLst>
          </p:cNvPr>
          <p:cNvSpPr txBox="1">
            <a:spLocks noChangeArrowheads="1"/>
          </p:cNvSpPr>
          <p:nvPr/>
        </p:nvSpPr>
        <p:spPr bwMode="auto">
          <a:xfrm>
            <a:off x="2743200" y="4054079"/>
            <a:ext cx="2971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dirty="0"/>
              <a:t>Validation set accuracy = 0.80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D1D44656-11C9-4E95-896B-94A5D18D36C4}"/>
              </a:ext>
            </a:extLst>
          </p:cNvPr>
          <p:cNvSpPr>
            <a:spLocks noGrp="1"/>
          </p:cNvSpPr>
          <p:nvPr>
            <p:ph type="title" idx="4294967295"/>
          </p:nvPr>
        </p:nvSpPr>
        <p:spPr>
          <a:xfrm>
            <a:off x="228602" y="385953"/>
            <a:ext cx="5303010" cy="1723549"/>
          </a:xfrm>
        </p:spPr>
        <p:txBody>
          <a:bodyPr/>
          <a:lstStyle/>
          <a:p>
            <a:pPr eaLnBrk="1" hangingPunct="1"/>
            <a:r>
              <a:rPr lang="en-US" altLang="en-US" dirty="0"/>
              <a:t>Reduced Error Pruning Example</a:t>
            </a:r>
          </a:p>
        </p:txBody>
      </p:sp>
      <p:sp>
        <p:nvSpPr>
          <p:cNvPr id="3" name="Rectangle 2">
            <a:extLst>
              <a:ext uri="{FF2B5EF4-FFF2-40B4-BE49-F238E27FC236}">
                <a16:creationId xmlns:a16="http://schemas.microsoft.com/office/drawing/2014/main" id="{99CCFC7A-5A10-4989-B5A2-FAFF312959DB}"/>
              </a:ext>
            </a:extLst>
          </p:cNvPr>
          <p:cNvSpPr/>
          <p:nvPr/>
        </p:nvSpPr>
        <p:spPr>
          <a:xfrm>
            <a:off x="4171950" y="1028700"/>
            <a:ext cx="120015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Outlook</a:t>
            </a:r>
          </a:p>
        </p:txBody>
      </p:sp>
      <p:sp>
        <p:nvSpPr>
          <p:cNvPr id="4" name="Rectangle 3">
            <a:extLst>
              <a:ext uri="{FF2B5EF4-FFF2-40B4-BE49-F238E27FC236}">
                <a16:creationId xmlns:a16="http://schemas.microsoft.com/office/drawing/2014/main" id="{D79AE073-7811-49CC-A12C-9E34FF8A2ABC}"/>
              </a:ext>
            </a:extLst>
          </p:cNvPr>
          <p:cNvSpPr/>
          <p:nvPr/>
        </p:nvSpPr>
        <p:spPr>
          <a:xfrm>
            <a:off x="2628900" y="1943100"/>
            <a:ext cx="1200150" cy="400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Humidity</a:t>
            </a:r>
          </a:p>
        </p:txBody>
      </p:sp>
      <p:cxnSp>
        <p:nvCxnSpPr>
          <p:cNvPr id="7" name="Straight Arrow Connector 6">
            <a:extLst>
              <a:ext uri="{FF2B5EF4-FFF2-40B4-BE49-F238E27FC236}">
                <a16:creationId xmlns:a16="http://schemas.microsoft.com/office/drawing/2014/main" id="{52B5E124-8605-426C-96B4-B25ED7010342}"/>
              </a:ext>
            </a:extLst>
          </p:cNvPr>
          <p:cNvCxnSpPr>
            <a:stCxn id="3" idx="1"/>
            <a:endCxn id="4" idx="0"/>
          </p:cNvCxnSpPr>
          <p:nvPr/>
        </p:nvCxnSpPr>
        <p:spPr>
          <a:xfrm rot="10800000" flipV="1">
            <a:off x="3228975" y="1257300"/>
            <a:ext cx="942975" cy="6858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400FF1C-4257-49D6-A128-8C14AB325547}"/>
              </a:ext>
            </a:extLst>
          </p:cNvPr>
          <p:cNvCxnSpPr>
            <a:stCxn id="3" idx="3"/>
          </p:cNvCxnSpPr>
          <p:nvPr/>
        </p:nvCxnSpPr>
        <p:spPr>
          <a:xfrm>
            <a:off x="5372100" y="1257300"/>
            <a:ext cx="1457325" cy="8001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28BA09E-10AB-48FB-90C9-DD4F8B3BA3B4}"/>
              </a:ext>
            </a:extLst>
          </p:cNvPr>
          <p:cNvSpPr/>
          <p:nvPr/>
        </p:nvSpPr>
        <p:spPr>
          <a:xfrm>
            <a:off x="2914650" y="1314450"/>
            <a:ext cx="8572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Sunny</a:t>
            </a:r>
          </a:p>
        </p:txBody>
      </p:sp>
      <p:sp>
        <p:nvSpPr>
          <p:cNvPr id="13" name="Rectangle 12">
            <a:extLst>
              <a:ext uri="{FF2B5EF4-FFF2-40B4-BE49-F238E27FC236}">
                <a16:creationId xmlns:a16="http://schemas.microsoft.com/office/drawing/2014/main" id="{9753BC1D-D540-4775-B37C-5B3F29F85761}"/>
              </a:ext>
            </a:extLst>
          </p:cNvPr>
          <p:cNvSpPr/>
          <p:nvPr/>
        </p:nvSpPr>
        <p:spPr>
          <a:xfrm>
            <a:off x="5829300" y="13144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Rain</a:t>
            </a:r>
          </a:p>
        </p:txBody>
      </p:sp>
      <p:sp>
        <p:nvSpPr>
          <p:cNvPr id="14" name="Rectangle 13">
            <a:extLst>
              <a:ext uri="{FF2B5EF4-FFF2-40B4-BE49-F238E27FC236}">
                <a16:creationId xmlns:a16="http://schemas.microsoft.com/office/drawing/2014/main" id="{F62D2C7F-BD35-4B15-AD4D-9FCC6BF0D206}"/>
              </a:ext>
            </a:extLst>
          </p:cNvPr>
          <p:cNvSpPr/>
          <p:nvPr/>
        </p:nvSpPr>
        <p:spPr>
          <a:xfrm>
            <a:off x="4171950" y="15430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Overcast</a:t>
            </a:r>
          </a:p>
        </p:txBody>
      </p:sp>
      <p:sp>
        <p:nvSpPr>
          <p:cNvPr id="17" name="Rectangle 16">
            <a:extLst>
              <a:ext uri="{FF2B5EF4-FFF2-40B4-BE49-F238E27FC236}">
                <a16:creationId xmlns:a16="http://schemas.microsoft.com/office/drawing/2014/main" id="{3D8505D7-6BD5-4EA6-998F-7AA2F0897E61}"/>
              </a:ext>
            </a:extLst>
          </p:cNvPr>
          <p:cNvSpPr/>
          <p:nvPr/>
        </p:nvSpPr>
        <p:spPr>
          <a:xfrm>
            <a:off x="1828800" y="26289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High</a:t>
            </a:r>
          </a:p>
        </p:txBody>
      </p:sp>
      <p:sp>
        <p:nvSpPr>
          <p:cNvPr id="18" name="Rectangle 17">
            <a:extLst>
              <a:ext uri="{FF2B5EF4-FFF2-40B4-BE49-F238E27FC236}">
                <a16:creationId xmlns:a16="http://schemas.microsoft.com/office/drawing/2014/main" id="{B3CAA2CF-D00D-47CA-A03A-5DD4F23123DD}"/>
              </a:ext>
            </a:extLst>
          </p:cNvPr>
          <p:cNvSpPr/>
          <p:nvPr/>
        </p:nvSpPr>
        <p:spPr>
          <a:xfrm>
            <a:off x="3200400" y="26289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Low</a:t>
            </a:r>
          </a:p>
        </p:txBody>
      </p:sp>
      <p:cxnSp>
        <p:nvCxnSpPr>
          <p:cNvPr id="27" name="Straight Arrow Connector 26">
            <a:extLst>
              <a:ext uri="{FF2B5EF4-FFF2-40B4-BE49-F238E27FC236}">
                <a16:creationId xmlns:a16="http://schemas.microsoft.com/office/drawing/2014/main" id="{5DEC8944-070B-4CC9-A9E0-36C8F3193E5F}"/>
              </a:ext>
            </a:extLst>
          </p:cNvPr>
          <p:cNvCxnSpPr>
            <a:stCxn id="4" idx="2"/>
            <a:endCxn id="48" idx="0"/>
          </p:cNvCxnSpPr>
          <p:nvPr/>
        </p:nvCxnSpPr>
        <p:spPr>
          <a:xfrm rot="5400000">
            <a:off x="2343150" y="2428875"/>
            <a:ext cx="971550" cy="8001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E585C18-9BE7-46C1-8F7F-D2E18DDD7C24}"/>
              </a:ext>
            </a:extLst>
          </p:cNvPr>
          <p:cNvCxnSpPr>
            <a:stCxn id="4" idx="2"/>
          </p:cNvCxnSpPr>
          <p:nvPr/>
        </p:nvCxnSpPr>
        <p:spPr>
          <a:xfrm rot="16200000" flipH="1">
            <a:off x="3014663" y="2557463"/>
            <a:ext cx="971550" cy="542925"/>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344B711-7B21-4F7A-90FA-84D08DFDA65B}"/>
              </a:ext>
            </a:extLst>
          </p:cNvPr>
          <p:cNvCxnSpPr/>
          <p:nvPr/>
        </p:nvCxnSpPr>
        <p:spPr>
          <a:xfrm rot="16200000" flipH="1">
            <a:off x="4543425" y="2085975"/>
            <a:ext cx="400050" cy="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8E26CB8-0203-4A1F-9466-A289ACEA0990}"/>
              </a:ext>
            </a:extLst>
          </p:cNvPr>
          <p:cNvCxnSpPr/>
          <p:nvPr/>
        </p:nvCxnSpPr>
        <p:spPr>
          <a:xfrm rot="5400000">
            <a:off x="4657726" y="1571626"/>
            <a:ext cx="171450" cy="2381"/>
          </a:xfrm>
          <a:prstGeom prst="straightConnector1">
            <a:avLst/>
          </a:prstGeom>
          <a:ln w="444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4097A4EE-CE9C-40BD-97A9-BEEFAC08B56F}"/>
              </a:ext>
            </a:extLst>
          </p:cNvPr>
          <p:cNvSpPr/>
          <p:nvPr/>
        </p:nvSpPr>
        <p:spPr>
          <a:xfrm>
            <a:off x="3200400" y="33147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46" name="Rectangle 45">
            <a:extLst>
              <a:ext uri="{FF2B5EF4-FFF2-40B4-BE49-F238E27FC236}">
                <a16:creationId xmlns:a16="http://schemas.microsoft.com/office/drawing/2014/main" id="{B1D267E6-631D-414C-BE87-EE6F057DF748}"/>
              </a:ext>
            </a:extLst>
          </p:cNvPr>
          <p:cNvSpPr/>
          <p:nvPr/>
        </p:nvSpPr>
        <p:spPr>
          <a:xfrm>
            <a:off x="4114800" y="22860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48" name="Rectangle 47">
            <a:extLst>
              <a:ext uri="{FF2B5EF4-FFF2-40B4-BE49-F238E27FC236}">
                <a16:creationId xmlns:a16="http://schemas.microsoft.com/office/drawing/2014/main" id="{3718ACBA-1066-469E-B63A-E367AA0B8066}"/>
              </a:ext>
            </a:extLst>
          </p:cNvPr>
          <p:cNvSpPr/>
          <p:nvPr/>
        </p:nvSpPr>
        <p:spPr>
          <a:xfrm>
            <a:off x="1828800" y="33147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sp>
        <p:nvSpPr>
          <p:cNvPr id="70" name="Rectangle 69">
            <a:extLst>
              <a:ext uri="{FF2B5EF4-FFF2-40B4-BE49-F238E27FC236}">
                <a16:creationId xmlns:a16="http://schemas.microsoft.com/office/drawing/2014/main" id="{0C1A9DE2-43F2-45D8-BDEA-54A2F9A4D110}"/>
              </a:ext>
            </a:extLst>
          </p:cNvPr>
          <p:cNvSpPr/>
          <p:nvPr/>
        </p:nvSpPr>
        <p:spPr>
          <a:xfrm>
            <a:off x="6457950" y="2114550"/>
            <a:ext cx="10858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74772" name="TextBox 34">
            <a:extLst>
              <a:ext uri="{FF2B5EF4-FFF2-40B4-BE49-F238E27FC236}">
                <a16:creationId xmlns:a16="http://schemas.microsoft.com/office/drawing/2014/main" id="{923F0020-B574-4A93-8719-E573EE8BB7AE}"/>
              </a:ext>
            </a:extLst>
          </p:cNvPr>
          <p:cNvSpPr txBox="1">
            <a:spLocks noChangeArrowheads="1"/>
          </p:cNvSpPr>
          <p:nvPr/>
        </p:nvSpPr>
        <p:spPr bwMode="auto">
          <a:xfrm>
            <a:off x="2286000" y="4454129"/>
            <a:ext cx="2971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t>Validation set accuracy = 0.70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2D75235C-2A8B-42CA-B3CF-A61FFA2ABEF9}"/>
              </a:ext>
            </a:extLst>
          </p:cNvPr>
          <p:cNvSpPr>
            <a:spLocks noGrp="1"/>
          </p:cNvSpPr>
          <p:nvPr>
            <p:ph type="title" idx="4294967295"/>
          </p:nvPr>
        </p:nvSpPr>
        <p:spPr>
          <a:xfrm>
            <a:off x="457202" y="385953"/>
            <a:ext cx="5074410" cy="1723549"/>
          </a:xfrm>
        </p:spPr>
        <p:txBody>
          <a:bodyPr/>
          <a:lstStyle/>
          <a:p>
            <a:pPr eaLnBrk="1" hangingPunct="1"/>
            <a:r>
              <a:rPr lang="en-US" altLang="en-US" dirty="0"/>
              <a:t>Reduced Error Pruning Example</a:t>
            </a:r>
          </a:p>
        </p:txBody>
      </p:sp>
      <p:sp>
        <p:nvSpPr>
          <p:cNvPr id="3" name="Rectangle 2">
            <a:extLst>
              <a:ext uri="{FF2B5EF4-FFF2-40B4-BE49-F238E27FC236}">
                <a16:creationId xmlns:a16="http://schemas.microsoft.com/office/drawing/2014/main" id="{4F45B7BE-7954-4F7E-BBB7-AD5FDBB900BD}"/>
              </a:ext>
            </a:extLst>
          </p:cNvPr>
          <p:cNvSpPr/>
          <p:nvPr/>
        </p:nvSpPr>
        <p:spPr>
          <a:xfrm>
            <a:off x="4171950" y="1028700"/>
            <a:ext cx="120015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Outlook</a:t>
            </a:r>
          </a:p>
        </p:txBody>
      </p:sp>
      <p:sp>
        <p:nvSpPr>
          <p:cNvPr id="5" name="Rectangle 4">
            <a:extLst>
              <a:ext uri="{FF2B5EF4-FFF2-40B4-BE49-F238E27FC236}">
                <a16:creationId xmlns:a16="http://schemas.microsoft.com/office/drawing/2014/main" id="{860EB625-2E84-4174-B133-192B569FB39F}"/>
              </a:ext>
            </a:extLst>
          </p:cNvPr>
          <p:cNvSpPr/>
          <p:nvPr/>
        </p:nvSpPr>
        <p:spPr>
          <a:xfrm>
            <a:off x="6172200" y="2057400"/>
            <a:ext cx="1314450" cy="342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Wind</a:t>
            </a:r>
          </a:p>
        </p:txBody>
      </p:sp>
      <p:cxnSp>
        <p:nvCxnSpPr>
          <p:cNvPr id="7" name="Straight Arrow Connector 6">
            <a:extLst>
              <a:ext uri="{FF2B5EF4-FFF2-40B4-BE49-F238E27FC236}">
                <a16:creationId xmlns:a16="http://schemas.microsoft.com/office/drawing/2014/main" id="{41B31BB3-9EFA-4913-934C-FFEF551C5607}"/>
              </a:ext>
            </a:extLst>
          </p:cNvPr>
          <p:cNvCxnSpPr>
            <a:stCxn id="3" idx="1"/>
          </p:cNvCxnSpPr>
          <p:nvPr/>
        </p:nvCxnSpPr>
        <p:spPr>
          <a:xfrm rot="10800000" flipV="1">
            <a:off x="3228975" y="1257300"/>
            <a:ext cx="942975" cy="6858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FC728F3-A805-43C2-82F7-4369E232C603}"/>
              </a:ext>
            </a:extLst>
          </p:cNvPr>
          <p:cNvCxnSpPr>
            <a:stCxn id="3" idx="3"/>
            <a:endCxn id="5" idx="0"/>
          </p:cNvCxnSpPr>
          <p:nvPr/>
        </p:nvCxnSpPr>
        <p:spPr>
          <a:xfrm>
            <a:off x="5372100" y="1257300"/>
            <a:ext cx="1457325" cy="8001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6BCA218-F1E7-4CA4-8D9F-7E4936478185}"/>
              </a:ext>
            </a:extLst>
          </p:cNvPr>
          <p:cNvSpPr/>
          <p:nvPr/>
        </p:nvSpPr>
        <p:spPr>
          <a:xfrm>
            <a:off x="2914650" y="1314450"/>
            <a:ext cx="8572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Sunny</a:t>
            </a:r>
          </a:p>
        </p:txBody>
      </p:sp>
      <p:sp>
        <p:nvSpPr>
          <p:cNvPr id="13" name="Rectangle 12">
            <a:extLst>
              <a:ext uri="{FF2B5EF4-FFF2-40B4-BE49-F238E27FC236}">
                <a16:creationId xmlns:a16="http://schemas.microsoft.com/office/drawing/2014/main" id="{6D3FE7F6-BEB8-44E1-A9F1-DA04D363BE93}"/>
              </a:ext>
            </a:extLst>
          </p:cNvPr>
          <p:cNvSpPr/>
          <p:nvPr/>
        </p:nvSpPr>
        <p:spPr>
          <a:xfrm>
            <a:off x="5829300" y="13144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Rain</a:t>
            </a:r>
          </a:p>
        </p:txBody>
      </p:sp>
      <p:sp>
        <p:nvSpPr>
          <p:cNvPr id="14" name="Rectangle 13">
            <a:extLst>
              <a:ext uri="{FF2B5EF4-FFF2-40B4-BE49-F238E27FC236}">
                <a16:creationId xmlns:a16="http://schemas.microsoft.com/office/drawing/2014/main" id="{3DA5A985-629C-4B80-A5F9-20405A3BC0EF}"/>
              </a:ext>
            </a:extLst>
          </p:cNvPr>
          <p:cNvSpPr/>
          <p:nvPr/>
        </p:nvSpPr>
        <p:spPr>
          <a:xfrm>
            <a:off x="4171950" y="154305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Overcast</a:t>
            </a:r>
          </a:p>
        </p:txBody>
      </p:sp>
      <p:sp>
        <p:nvSpPr>
          <p:cNvPr id="19" name="Rectangle 18">
            <a:extLst>
              <a:ext uri="{FF2B5EF4-FFF2-40B4-BE49-F238E27FC236}">
                <a16:creationId xmlns:a16="http://schemas.microsoft.com/office/drawing/2014/main" id="{BA8FD1BB-F146-4655-8785-A35ED90B88EC}"/>
              </a:ext>
            </a:extLst>
          </p:cNvPr>
          <p:cNvSpPr/>
          <p:nvPr/>
        </p:nvSpPr>
        <p:spPr>
          <a:xfrm>
            <a:off x="6800850" y="25146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Weak</a:t>
            </a:r>
          </a:p>
        </p:txBody>
      </p:sp>
      <p:sp>
        <p:nvSpPr>
          <p:cNvPr id="20" name="Rectangle 19">
            <a:extLst>
              <a:ext uri="{FF2B5EF4-FFF2-40B4-BE49-F238E27FC236}">
                <a16:creationId xmlns:a16="http://schemas.microsoft.com/office/drawing/2014/main" id="{ED8DFE20-537B-4C70-94C3-E98197C742DE}"/>
              </a:ext>
            </a:extLst>
          </p:cNvPr>
          <p:cNvSpPr/>
          <p:nvPr/>
        </p:nvSpPr>
        <p:spPr>
          <a:xfrm>
            <a:off x="5600700" y="2514600"/>
            <a:ext cx="120015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Strong</a:t>
            </a:r>
          </a:p>
        </p:txBody>
      </p:sp>
      <p:cxnSp>
        <p:nvCxnSpPr>
          <p:cNvPr id="37" name="Straight Arrow Connector 36">
            <a:extLst>
              <a:ext uri="{FF2B5EF4-FFF2-40B4-BE49-F238E27FC236}">
                <a16:creationId xmlns:a16="http://schemas.microsoft.com/office/drawing/2014/main" id="{A680CF93-FAE5-4C8C-86E9-834BB9971953}"/>
              </a:ext>
            </a:extLst>
          </p:cNvPr>
          <p:cNvCxnSpPr>
            <a:stCxn id="5" idx="2"/>
          </p:cNvCxnSpPr>
          <p:nvPr/>
        </p:nvCxnSpPr>
        <p:spPr>
          <a:xfrm rot="5400000">
            <a:off x="6129338" y="2500313"/>
            <a:ext cx="800100" cy="600075"/>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A531D0C-1E34-46B5-A6D3-8AD30C1B21B7}"/>
              </a:ext>
            </a:extLst>
          </p:cNvPr>
          <p:cNvCxnSpPr>
            <a:stCxn id="5" idx="2"/>
            <a:endCxn id="70" idx="0"/>
          </p:cNvCxnSpPr>
          <p:nvPr/>
        </p:nvCxnSpPr>
        <p:spPr>
          <a:xfrm rot="16200000" flipH="1">
            <a:off x="6715125" y="2514600"/>
            <a:ext cx="800100" cy="57150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D16020A-A493-41FB-981A-4740273EF309}"/>
              </a:ext>
            </a:extLst>
          </p:cNvPr>
          <p:cNvCxnSpPr/>
          <p:nvPr/>
        </p:nvCxnSpPr>
        <p:spPr>
          <a:xfrm rot="16200000" flipH="1">
            <a:off x="4543425" y="2085975"/>
            <a:ext cx="400050" cy="0"/>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32AB82F-06D8-43FB-81A1-A06B2404FC81}"/>
              </a:ext>
            </a:extLst>
          </p:cNvPr>
          <p:cNvCxnSpPr/>
          <p:nvPr/>
        </p:nvCxnSpPr>
        <p:spPr>
          <a:xfrm rot="5400000">
            <a:off x="4657726" y="1571626"/>
            <a:ext cx="171450" cy="2381"/>
          </a:xfrm>
          <a:prstGeom prst="straightConnector1">
            <a:avLst/>
          </a:prstGeom>
          <a:ln w="444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48BBF540-AE87-4B21-953A-7A001B2813AA}"/>
              </a:ext>
            </a:extLst>
          </p:cNvPr>
          <p:cNvSpPr/>
          <p:nvPr/>
        </p:nvSpPr>
        <p:spPr>
          <a:xfrm>
            <a:off x="4114800" y="22860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48" name="Rectangle 47">
            <a:extLst>
              <a:ext uri="{FF2B5EF4-FFF2-40B4-BE49-F238E27FC236}">
                <a16:creationId xmlns:a16="http://schemas.microsoft.com/office/drawing/2014/main" id="{E24ADD9E-CCA5-4CCF-B767-1CDC3DDE36F4}"/>
              </a:ext>
            </a:extLst>
          </p:cNvPr>
          <p:cNvSpPr/>
          <p:nvPr/>
        </p:nvSpPr>
        <p:spPr>
          <a:xfrm>
            <a:off x="2457450" y="19431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sp>
        <p:nvSpPr>
          <p:cNvPr id="70" name="Rectangle 69">
            <a:extLst>
              <a:ext uri="{FF2B5EF4-FFF2-40B4-BE49-F238E27FC236}">
                <a16:creationId xmlns:a16="http://schemas.microsoft.com/office/drawing/2014/main" id="{8A895C5B-2343-4531-AAFA-D10DEE047A37}"/>
              </a:ext>
            </a:extLst>
          </p:cNvPr>
          <p:cNvSpPr/>
          <p:nvPr/>
        </p:nvSpPr>
        <p:spPr>
          <a:xfrm>
            <a:off x="6858000" y="3200400"/>
            <a:ext cx="10858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Play</a:t>
            </a:r>
          </a:p>
        </p:txBody>
      </p:sp>
      <p:sp>
        <p:nvSpPr>
          <p:cNvPr id="71" name="Rectangle 70">
            <a:extLst>
              <a:ext uri="{FF2B5EF4-FFF2-40B4-BE49-F238E27FC236}">
                <a16:creationId xmlns:a16="http://schemas.microsoft.com/office/drawing/2014/main" id="{015EE004-2904-4DBB-9E20-A911D2FEDB30}"/>
              </a:ext>
            </a:extLst>
          </p:cNvPr>
          <p:cNvSpPr/>
          <p:nvPr/>
        </p:nvSpPr>
        <p:spPr>
          <a:xfrm>
            <a:off x="5543550" y="3200400"/>
            <a:ext cx="120015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Don’t play</a:t>
            </a:r>
          </a:p>
        </p:txBody>
      </p:sp>
      <p:sp>
        <p:nvSpPr>
          <p:cNvPr id="75796" name="TextBox 25">
            <a:extLst>
              <a:ext uri="{FF2B5EF4-FFF2-40B4-BE49-F238E27FC236}">
                <a16:creationId xmlns:a16="http://schemas.microsoft.com/office/drawing/2014/main" id="{143B9CC2-9226-441F-889C-46303C2EFD10}"/>
              </a:ext>
            </a:extLst>
          </p:cNvPr>
          <p:cNvSpPr txBox="1">
            <a:spLocks noChangeArrowheads="1"/>
          </p:cNvSpPr>
          <p:nvPr/>
        </p:nvSpPr>
        <p:spPr bwMode="auto">
          <a:xfrm>
            <a:off x="2057400" y="4057650"/>
            <a:ext cx="2971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None/>
            </a:pPr>
            <a:r>
              <a:rPr lang="en-US" altLang="en-US" sz="1800" dirty="0"/>
              <a:t>Use this as final tree where Validation set accuracy = 0.80 </a:t>
            </a:r>
          </a:p>
          <a:p>
            <a:pPr eaLnBrk="1" hangingPunct="1">
              <a:spcBef>
                <a:spcPct val="0"/>
              </a:spcBef>
              <a:buFontTx/>
              <a:buNone/>
            </a:pPr>
            <a:endParaRPr lang="en-US" altLang="en-US" sz="1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ooter Placeholder 2">
            <a:extLst>
              <a:ext uri="{FF2B5EF4-FFF2-40B4-BE49-F238E27FC236}">
                <a16:creationId xmlns:a16="http://schemas.microsoft.com/office/drawing/2014/main" id="{38C7CAD5-D9A8-4B4B-8F77-B375DAB95687}"/>
              </a:ext>
            </a:extLst>
          </p:cNvPr>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l">
              <a:defRPr/>
            </a:pPr>
            <a:endParaRPr lang="en-US"/>
          </a:p>
        </p:txBody>
      </p:sp>
      <p:sp>
        <p:nvSpPr>
          <p:cNvPr id="76803" name="Slide Number Placeholder 3">
            <a:extLst>
              <a:ext uri="{FF2B5EF4-FFF2-40B4-BE49-F238E27FC236}">
                <a16:creationId xmlns:a16="http://schemas.microsoft.com/office/drawing/2014/main" id="{CD45B3DF-990C-4A7D-8F5E-EE00D3588EC0}"/>
              </a:ext>
            </a:extLst>
          </p:cNvPr>
          <p:cNvSpPr>
            <a:spLocks noGrp="1" noChangeArrowheads="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spcBef>
                <a:spcPct val="0"/>
              </a:spcBef>
              <a:buFontTx/>
              <a:buNone/>
              <a:defRPr/>
            </a:pPr>
            <a:fld id="{9B983161-3236-4EF2-8CCB-A4527C6AFEC0}" type="slidenum">
              <a:rPr lang="en-US" altLang="en-US" smtClean="0"/>
              <a:pPr algn="ctr">
                <a:spcBef>
                  <a:spcPct val="0"/>
                </a:spcBef>
                <a:buFontTx/>
                <a:buNone/>
                <a:defRPr/>
              </a:pPr>
              <a:t>91</a:t>
            </a:fld>
            <a:endParaRPr lang="en-US" altLang="en-US" sz="900">
              <a:solidFill>
                <a:srgbClr val="898989"/>
              </a:solidFill>
            </a:endParaRPr>
          </a:p>
        </p:txBody>
      </p:sp>
      <p:sp>
        <p:nvSpPr>
          <p:cNvPr id="76804" name="Rectangle 2">
            <a:extLst>
              <a:ext uri="{FF2B5EF4-FFF2-40B4-BE49-F238E27FC236}">
                <a16:creationId xmlns:a16="http://schemas.microsoft.com/office/drawing/2014/main" id="{8F0245ED-121A-4BC9-863E-7C1FCA104B8B}"/>
              </a:ext>
            </a:extLst>
          </p:cNvPr>
          <p:cNvSpPr>
            <a:spLocks noGrp="1"/>
          </p:cNvSpPr>
          <p:nvPr>
            <p:ph type="title" idx="4294967295"/>
          </p:nvPr>
        </p:nvSpPr>
        <p:spPr>
          <a:xfrm>
            <a:off x="3612388" y="385953"/>
            <a:ext cx="1919223" cy="861774"/>
          </a:xfrm>
        </p:spPr>
        <p:txBody>
          <a:bodyPr/>
          <a:lstStyle/>
          <a:p>
            <a:pPr eaLnBrk="1" hangingPunct="1"/>
            <a:r>
              <a:rPr lang="en-US" altLang="en-US"/>
              <a:t>Early Stopping</a:t>
            </a:r>
          </a:p>
        </p:txBody>
      </p:sp>
      <p:sp>
        <p:nvSpPr>
          <p:cNvPr id="76805" name="Line 3">
            <a:extLst>
              <a:ext uri="{FF2B5EF4-FFF2-40B4-BE49-F238E27FC236}">
                <a16:creationId xmlns:a16="http://schemas.microsoft.com/office/drawing/2014/main" id="{B5C600B7-EEDC-440E-88F4-8FC1703F44F4}"/>
              </a:ext>
            </a:extLst>
          </p:cNvPr>
          <p:cNvSpPr>
            <a:spLocks noChangeShapeType="1"/>
          </p:cNvSpPr>
          <p:nvPr/>
        </p:nvSpPr>
        <p:spPr bwMode="auto">
          <a:xfrm flipH="1">
            <a:off x="1714500" y="1314450"/>
            <a:ext cx="0" cy="2857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06" name="Line 4">
            <a:extLst>
              <a:ext uri="{FF2B5EF4-FFF2-40B4-BE49-F238E27FC236}">
                <a16:creationId xmlns:a16="http://schemas.microsoft.com/office/drawing/2014/main" id="{15D3A7B3-82E7-4B1C-8BB6-7DF3935A4019}"/>
              </a:ext>
            </a:extLst>
          </p:cNvPr>
          <p:cNvSpPr>
            <a:spLocks noChangeShapeType="1"/>
          </p:cNvSpPr>
          <p:nvPr/>
        </p:nvSpPr>
        <p:spPr bwMode="auto">
          <a:xfrm flipH="1">
            <a:off x="1714500" y="4171950"/>
            <a:ext cx="502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07" name="Text Box 5">
            <a:extLst>
              <a:ext uri="{FF2B5EF4-FFF2-40B4-BE49-F238E27FC236}">
                <a16:creationId xmlns:a16="http://schemas.microsoft.com/office/drawing/2014/main" id="{93BB62BA-B3DF-44FA-8C62-E7158FFAB444}"/>
              </a:ext>
            </a:extLst>
          </p:cNvPr>
          <p:cNvSpPr txBox="1">
            <a:spLocks noChangeArrowheads="1"/>
          </p:cNvSpPr>
          <p:nvPr/>
        </p:nvSpPr>
        <p:spPr bwMode="auto">
          <a:xfrm>
            <a:off x="2331244" y="4260056"/>
            <a:ext cx="256512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Number of Nodes in Decision tree</a:t>
            </a:r>
          </a:p>
        </p:txBody>
      </p:sp>
      <p:sp>
        <p:nvSpPr>
          <p:cNvPr id="76808" name="Text Box 6">
            <a:extLst>
              <a:ext uri="{FF2B5EF4-FFF2-40B4-BE49-F238E27FC236}">
                <a16:creationId xmlns:a16="http://schemas.microsoft.com/office/drawing/2014/main" id="{C135E337-5918-42A9-9D59-836C20AF6A2E}"/>
              </a:ext>
            </a:extLst>
          </p:cNvPr>
          <p:cNvSpPr txBox="1">
            <a:spLocks noChangeArrowheads="1"/>
          </p:cNvSpPr>
          <p:nvPr/>
        </p:nvSpPr>
        <p:spPr bwMode="auto">
          <a:xfrm>
            <a:off x="1485900" y="857250"/>
            <a:ext cx="84830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Accuracy</a:t>
            </a:r>
          </a:p>
        </p:txBody>
      </p:sp>
      <p:sp>
        <p:nvSpPr>
          <p:cNvPr id="76809" name="Text Box 7">
            <a:extLst>
              <a:ext uri="{FF2B5EF4-FFF2-40B4-BE49-F238E27FC236}">
                <a16:creationId xmlns:a16="http://schemas.microsoft.com/office/drawing/2014/main" id="{CF151342-A7C7-426B-A58C-593561790F31}"/>
              </a:ext>
            </a:extLst>
          </p:cNvPr>
          <p:cNvSpPr txBox="1">
            <a:spLocks noChangeArrowheads="1"/>
          </p:cNvSpPr>
          <p:nvPr/>
        </p:nvSpPr>
        <p:spPr bwMode="auto">
          <a:xfrm>
            <a:off x="1257300" y="1371600"/>
            <a:ext cx="4010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0.9</a:t>
            </a:r>
          </a:p>
        </p:txBody>
      </p:sp>
      <p:sp>
        <p:nvSpPr>
          <p:cNvPr id="76810" name="Text Box 8">
            <a:extLst>
              <a:ext uri="{FF2B5EF4-FFF2-40B4-BE49-F238E27FC236}">
                <a16:creationId xmlns:a16="http://schemas.microsoft.com/office/drawing/2014/main" id="{CFF2F65E-CDA0-426F-87A4-0B178A9C0209}"/>
              </a:ext>
            </a:extLst>
          </p:cNvPr>
          <p:cNvSpPr txBox="1">
            <a:spLocks noChangeArrowheads="1"/>
          </p:cNvSpPr>
          <p:nvPr/>
        </p:nvSpPr>
        <p:spPr bwMode="auto">
          <a:xfrm>
            <a:off x="1257300" y="2057400"/>
            <a:ext cx="4010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0.8</a:t>
            </a:r>
          </a:p>
        </p:txBody>
      </p:sp>
      <p:sp>
        <p:nvSpPr>
          <p:cNvPr id="76811" name="Text Box 9">
            <a:extLst>
              <a:ext uri="{FF2B5EF4-FFF2-40B4-BE49-F238E27FC236}">
                <a16:creationId xmlns:a16="http://schemas.microsoft.com/office/drawing/2014/main" id="{18FB9B64-139E-4658-912F-5A9E66297C39}"/>
              </a:ext>
            </a:extLst>
          </p:cNvPr>
          <p:cNvSpPr txBox="1">
            <a:spLocks noChangeArrowheads="1"/>
          </p:cNvSpPr>
          <p:nvPr/>
        </p:nvSpPr>
        <p:spPr bwMode="auto">
          <a:xfrm>
            <a:off x="1257300" y="2686050"/>
            <a:ext cx="4010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0.7</a:t>
            </a:r>
          </a:p>
        </p:txBody>
      </p:sp>
      <p:sp>
        <p:nvSpPr>
          <p:cNvPr id="76812" name="Text Box 10">
            <a:extLst>
              <a:ext uri="{FF2B5EF4-FFF2-40B4-BE49-F238E27FC236}">
                <a16:creationId xmlns:a16="http://schemas.microsoft.com/office/drawing/2014/main" id="{1AD6FDD8-5660-4A8C-BD19-A4CCEFC2FDBC}"/>
              </a:ext>
            </a:extLst>
          </p:cNvPr>
          <p:cNvSpPr txBox="1">
            <a:spLocks noChangeArrowheads="1"/>
          </p:cNvSpPr>
          <p:nvPr/>
        </p:nvSpPr>
        <p:spPr bwMode="auto">
          <a:xfrm>
            <a:off x="1257300" y="3314700"/>
            <a:ext cx="4010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0.6</a:t>
            </a:r>
          </a:p>
        </p:txBody>
      </p:sp>
      <p:grpSp>
        <p:nvGrpSpPr>
          <p:cNvPr id="76813" name="Group 11">
            <a:extLst>
              <a:ext uri="{FF2B5EF4-FFF2-40B4-BE49-F238E27FC236}">
                <a16:creationId xmlns:a16="http://schemas.microsoft.com/office/drawing/2014/main" id="{07273D74-F1CA-4AD4-8813-0D3E14981060}"/>
              </a:ext>
            </a:extLst>
          </p:cNvPr>
          <p:cNvGrpSpPr>
            <a:grpSpLocks/>
          </p:cNvGrpSpPr>
          <p:nvPr/>
        </p:nvGrpSpPr>
        <p:grpSpPr bwMode="auto">
          <a:xfrm>
            <a:off x="1714500" y="1428750"/>
            <a:ext cx="4972050" cy="1943100"/>
            <a:chOff x="480" y="1200"/>
            <a:chExt cx="4176" cy="1632"/>
          </a:xfrm>
        </p:grpSpPr>
        <p:sp>
          <p:nvSpPr>
            <p:cNvPr id="76832" name="Line 12">
              <a:extLst>
                <a:ext uri="{FF2B5EF4-FFF2-40B4-BE49-F238E27FC236}">
                  <a16:creationId xmlns:a16="http://schemas.microsoft.com/office/drawing/2014/main" id="{22AC0955-4FF7-4C8C-BAEB-385E6948B3B3}"/>
                </a:ext>
              </a:extLst>
            </p:cNvPr>
            <p:cNvSpPr>
              <a:spLocks noChangeShapeType="1"/>
            </p:cNvSpPr>
            <p:nvPr/>
          </p:nvSpPr>
          <p:spPr bwMode="auto">
            <a:xfrm flipV="1">
              <a:off x="480" y="2160"/>
              <a:ext cx="240"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33" name="Line 13">
              <a:extLst>
                <a:ext uri="{FF2B5EF4-FFF2-40B4-BE49-F238E27FC236}">
                  <a16:creationId xmlns:a16="http://schemas.microsoft.com/office/drawing/2014/main" id="{95785313-A49F-443F-A0EF-A232C89F92BA}"/>
                </a:ext>
              </a:extLst>
            </p:cNvPr>
            <p:cNvSpPr>
              <a:spLocks noChangeShapeType="1"/>
            </p:cNvSpPr>
            <p:nvPr/>
          </p:nvSpPr>
          <p:spPr bwMode="auto">
            <a:xfrm flipV="1">
              <a:off x="720" y="1872"/>
              <a:ext cx="14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34" name="Line 14">
              <a:extLst>
                <a:ext uri="{FF2B5EF4-FFF2-40B4-BE49-F238E27FC236}">
                  <a16:creationId xmlns:a16="http://schemas.microsoft.com/office/drawing/2014/main" id="{CC29DD0E-89FB-4147-AD87-409720444061}"/>
                </a:ext>
              </a:extLst>
            </p:cNvPr>
            <p:cNvSpPr>
              <a:spLocks noChangeShapeType="1"/>
            </p:cNvSpPr>
            <p:nvPr/>
          </p:nvSpPr>
          <p:spPr bwMode="auto">
            <a:xfrm flipV="1">
              <a:off x="864" y="1632"/>
              <a:ext cx="43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35" name="Line 15">
              <a:extLst>
                <a:ext uri="{FF2B5EF4-FFF2-40B4-BE49-F238E27FC236}">
                  <a16:creationId xmlns:a16="http://schemas.microsoft.com/office/drawing/2014/main" id="{E6A3E0C4-E054-45F7-A0A3-5047F00AEB97}"/>
                </a:ext>
              </a:extLst>
            </p:cNvPr>
            <p:cNvSpPr>
              <a:spLocks noChangeShapeType="1"/>
            </p:cNvSpPr>
            <p:nvPr/>
          </p:nvSpPr>
          <p:spPr bwMode="auto">
            <a:xfrm flipV="1">
              <a:off x="1296" y="1536"/>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36" name="Line 16">
              <a:extLst>
                <a:ext uri="{FF2B5EF4-FFF2-40B4-BE49-F238E27FC236}">
                  <a16:creationId xmlns:a16="http://schemas.microsoft.com/office/drawing/2014/main" id="{ACCE5C22-B5D5-45B9-9429-C5F2849B90B3}"/>
                </a:ext>
              </a:extLst>
            </p:cNvPr>
            <p:cNvSpPr>
              <a:spLocks noChangeShapeType="1"/>
            </p:cNvSpPr>
            <p:nvPr/>
          </p:nvSpPr>
          <p:spPr bwMode="auto">
            <a:xfrm flipV="1">
              <a:off x="1392" y="1440"/>
              <a:ext cx="86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37" name="Line 17">
              <a:extLst>
                <a:ext uri="{FF2B5EF4-FFF2-40B4-BE49-F238E27FC236}">
                  <a16:creationId xmlns:a16="http://schemas.microsoft.com/office/drawing/2014/main" id="{313621CC-8031-493D-903B-6B73E137FF25}"/>
                </a:ext>
              </a:extLst>
            </p:cNvPr>
            <p:cNvSpPr>
              <a:spLocks noChangeShapeType="1"/>
            </p:cNvSpPr>
            <p:nvPr/>
          </p:nvSpPr>
          <p:spPr bwMode="auto">
            <a:xfrm flipV="1">
              <a:off x="2256" y="1392"/>
              <a:ext cx="144"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38" name="Line 18">
              <a:extLst>
                <a:ext uri="{FF2B5EF4-FFF2-40B4-BE49-F238E27FC236}">
                  <a16:creationId xmlns:a16="http://schemas.microsoft.com/office/drawing/2014/main" id="{73B3AC8A-37BE-4EEA-8616-D2E9467FAF09}"/>
                </a:ext>
              </a:extLst>
            </p:cNvPr>
            <p:cNvSpPr>
              <a:spLocks noChangeShapeType="1"/>
            </p:cNvSpPr>
            <p:nvPr/>
          </p:nvSpPr>
          <p:spPr bwMode="auto">
            <a:xfrm flipV="1">
              <a:off x="2400" y="1296"/>
              <a:ext cx="86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39" name="Line 19">
              <a:extLst>
                <a:ext uri="{FF2B5EF4-FFF2-40B4-BE49-F238E27FC236}">
                  <a16:creationId xmlns:a16="http://schemas.microsoft.com/office/drawing/2014/main" id="{D32334A3-5E5F-4613-B066-188A14062A6C}"/>
                </a:ext>
              </a:extLst>
            </p:cNvPr>
            <p:cNvSpPr>
              <a:spLocks noChangeShapeType="1"/>
            </p:cNvSpPr>
            <p:nvPr/>
          </p:nvSpPr>
          <p:spPr bwMode="auto">
            <a:xfrm flipV="1">
              <a:off x="3264" y="1200"/>
              <a:ext cx="13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sz="1350"/>
            </a:p>
          </p:txBody>
        </p:sp>
      </p:grpSp>
      <p:sp>
        <p:nvSpPr>
          <p:cNvPr id="76814" name="Line 20">
            <a:extLst>
              <a:ext uri="{FF2B5EF4-FFF2-40B4-BE49-F238E27FC236}">
                <a16:creationId xmlns:a16="http://schemas.microsoft.com/office/drawing/2014/main" id="{1F146FA8-4A97-4493-8EA1-0FD268047E1D}"/>
              </a:ext>
            </a:extLst>
          </p:cNvPr>
          <p:cNvSpPr>
            <a:spLocks noChangeShapeType="1"/>
          </p:cNvSpPr>
          <p:nvPr/>
        </p:nvSpPr>
        <p:spPr bwMode="auto">
          <a:xfrm flipV="1">
            <a:off x="1714500" y="2457450"/>
            <a:ext cx="285750" cy="97155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15" name="Line 21">
            <a:extLst>
              <a:ext uri="{FF2B5EF4-FFF2-40B4-BE49-F238E27FC236}">
                <a16:creationId xmlns:a16="http://schemas.microsoft.com/office/drawing/2014/main" id="{6A23558D-8A27-466A-9F41-D85F554B0789}"/>
              </a:ext>
            </a:extLst>
          </p:cNvPr>
          <p:cNvSpPr>
            <a:spLocks noChangeShapeType="1"/>
          </p:cNvSpPr>
          <p:nvPr/>
        </p:nvSpPr>
        <p:spPr bwMode="auto">
          <a:xfrm flipV="1">
            <a:off x="2000250" y="2228850"/>
            <a:ext cx="285750" cy="228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16" name="Line 22">
            <a:extLst>
              <a:ext uri="{FF2B5EF4-FFF2-40B4-BE49-F238E27FC236}">
                <a16:creationId xmlns:a16="http://schemas.microsoft.com/office/drawing/2014/main" id="{4FC9A6FA-DE56-45E5-B09C-C16C61AF1938}"/>
              </a:ext>
            </a:extLst>
          </p:cNvPr>
          <p:cNvSpPr>
            <a:spLocks noChangeShapeType="1"/>
          </p:cNvSpPr>
          <p:nvPr/>
        </p:nvSpPr>
        <p:spPr bwMode="auto">
          <a:xfrm flipV="1">
            <a:off x="2286000" y="2057400"/>
            <a:ext cx="628650" cy="17145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17" name="Line 23">
            <a:extLst>
              <a:ext uri="{FF2B5EF4-FFF2-40B4-BE49-F238E27FC236}">
                <a16:creationId xmlns:a16="http://schemas.microsoft.com/office/drawing/2014/main" id="{878C18BD-04FB-408D-8EAB-340FCB6D5912}"/>
              </a:ext>
            </a:extLst>
          </p:cNvPr>
          <p:cNvSpPr>
            <a:spLocks noChangeShapeType="1"/>
          </p:cNvSpPr>
          <p:nvPr/>
        </p:nvSpPr>
        <p:spPr bwMode="auto">
          <a:xfrm flipV="1">
            <a:off x="4572000" y="2400300"/>
            <a:ext cx="62865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18" name="Line 24">
            <a:extLst>
              <a:ext uri="{FF2B5EF4-FFF2-40B4-BE49-F238E27FC236}">
                <a16:creationId xmlns:a16="http://schemas.microsoft.com/office/drawing/2014/main" id="{6491A14D-CF72-44F4-9177-CC94C4D84D8A}"/>
              </a:ext>
            </a:extLst>
          </p:cNvPr>
          <p:cNvSpPr>
            <a:spLocks noChangeShapeType="1"/>
          </p:cNvSpPr>
          <p:nvPr/>
        </p:nvSpPr>
        <p:spPr bwMode="auto">
          <a:xfrm>
            <a:off x="2914650" y="2057400"/>
            <a:ext cx="628650" cy="17145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19" name="Line 25">
            <a:extLst>
              <a:ext uri="{FF2B5EF4-FFF2-40B4-BE49-F238E27FC236}">
                <a16:creationId xmlns:a16="http://schemas.microsoft.com/office/drawing/2014/main" id="{6EA35676-7FF3-4976-A1B4-DFC4B0C5A972}"/>
              </a:ext>
            </a:extLst>
          </p:cNvPr>
          <p:cNvSpPr>
            <a:spLocks noChangeShapeType="1"/>
          </p:cNvSpPr>
          <p:nvPr/>
        </p:nvSpPr>
        <p:spPr bwMode="auto">
          <a:xfrm flipV="1">
            <a:off x="3543300" y="2171700"/>
            <a:ext cx="285750" cy="5715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20" name="Line 26">
            <a:extLst>
              <a:ext uri="{FF2B5EF4-FFF2-40B4-BE49-F238E27FC236}">
                <a16:creationId xmlns:a16="http://schemas.microsoft.com/office/drawing/2014/main" id="{5380194C-EB95-4F6E-8639-DA2DD161CBBE}"/>
              </a:ext>
            </a:extLst>
          </p:cNvPr>
          <p:cNvSpPr>
            <a:spLocks noChangeShapeType="1"/>
          </p:cNvSpPr>
          <p:nvPr/>
        </p:nvSpPr>
        <p:spPr bwMode="auto">
          <a:xfrm>
            <a:off x="3829050" y="2171700"/>
            <a:ext cx="742950" cy="228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21" name="Line 27">
            <a:extLst>
              <a:ext uri="{FF2B5EF4-FFF2-40B4-BE49-F238E27FC236}">
                <a16:creationId xmlns:a16="http://schemas.microsoft.com/office/drawing/2014/main" id="{E3FC5C06-ED98-4FAE-9C71-6F23BBC7DD6F}"/>
              </a:ext>
            </a:extLst>
          </p:cNvPr>
          <p:cNvSpPr>
            <a:spLocks noChangeShapeType="1"/>
          </p:cNvSpPr>
          <p:nvPr/>
        </p:nvSpPr>
        <p:spPr bwMode="auto">
          <a:xfrm>
            <a:off x="5200650" y="2400300"/>
            <a:ext cx="857250" cy="228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22" name="Line 28">
            <a:extLst>
              <a:ext uri="{FF2B5EF4-FFF2-40B4-BE49-F238E27FC236}">
                <a16:creationId xmlns:a16="http://schemas.microsoft.com/office/drawing/2014/main" id="{CB97247F-F7C9-43C0-B4E7-4D7463DCE976}"/>
              </a:ext>
            </a:extLst>
          </p:cNvPr>
          <p:cNvSpPr>
            <a:spLocks noChangeShapeType="1"/>
          </p:cNvSpPr>
          <p:nvPr/>
        </p:nvSpPr>
        <p:spPr bwMode="auto">
          <a:xfrm>
            <a:off x="6057900" y="2628900"/>
            <a:ext cx="628650" cy="1143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23" name="Text Box 29">
            <a:extLst>
              <a:ext uri="{FF2B5EF4-FFF2-40B4-BE49-F238E27FC236}">
                <a16:creationId xmlns:a16="http://schemas.microsoft.com/office/drawing/2014/main" id="{5C247304-847C-41E4-AF7D-B9CC0FDD1D75}"/>
              </a:ext>
            </a:extLst>
          </p:cNvPr>
          <p:cNvSpPr txBox="1">
            <a:spLocks noChangeArrowheads="1"/>
          </p:cNvSpPr>
          <p:nvPr/>
        </p:nvSpPr>
        <p:spPr bwMode="auto">
          <a:xfrm>
            <a:off x="5772150" y="742950"/>
            <a:ext cx="1463862"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350">
                <a:latin typeface="Times New Roman" panose="02020603050405020304" pitchFamily="18" charset="0"/>
              </a:rPr>
              <a:t>On training data</a:t>
            </a:r>
          </a:p>
          <a:p>
            <a:pPr eaLnBrk="1" hangingPunct="1">
              <a:spcBef>
                <a:spcPct val="0"/>
              </a:spcBef>
              <a:buFontTx/>
              <a:buNone/>
            </a:pPr>
            <a:r>
              <a:rPr lang="en-US" altLang="en-US" sz="1350">
                <a:solidFill>
                  <a:schemeClr val="accent2"/>
                </a:solidFill>
                <a:latin typeface="Times New Roman" panose="02020603050405020304" pitchFamily="18" charset="0"/>
              </a:rPr>
              <a:t>On test data</a:t>
            </a:r>
          </a:p>
          <a:p>
            <a:pPr eaLnBrk="1" hangingPunct="1">
              <a:spcBef>
                <a:spcPct val="0"/>
              </a:spcBef>
              <a:buFontTx/>
              <a:buNone/>
            </a:pPr>
            <a:r>
              <a:rPr lang="en-US" altLang="en-US" sz="1350">
                <a:solidFill>
                  <a:srgbClr val="92D050"/>
                </a:solidFill>
                <a:latin typeface="Times New Roman" panose="02020603050405020304" pitchFamily="18" charset="0"/>
              </a:rPr>
              <a:t>On validation data</a:t>
            </a:r>
          </a:p>
        </p:txBody>
      </p:sp>
      <p:grpSp>
        <p:nvGrpSpPr>
          <p:cNvPr id="76824" name="Group 37">
            <a:extLst>
              <a:ext uri="{FF2B5EF4-FFF2-40B4-BE49-F238E27FC236}">
                <a16:creationId xmlns:a16="http://schemas.microsoft.com/office/drawing/2014/main" id="{B0097661-0174-483E-B34E-8AF573C90AFB}"/>
              </a:ext>
            </a:extLst>
          </p:cNvPr>
          <p:cNvGrpSpPr>
            <a:grpSpLocks/>
          </p:cNvGrpSpPr>
          <p:nvPr/>
        </p:nvGrpSpPr>
        <p:grpSpPr bwMode="auto">
          <a:xfrm>
            <a:off x="1714500" y="1943100"/>
            <a:ext cx="4914900" cy="1600200"/>
            <a:chOff x="762000" y="2590800"/>
            <a:chExt cx="6553200" cy="2133600"/>
          </a:xfrm>
        </p:grpSpPr>
        <p:sp>
          <p:nvSpPr>
            <p:cNvPr id="76827" name="Line 20">
              <a:extLst>
                <a:ext uri="{FF2B5EF4-FFF2-40B4-BE49-F238E27FC236}">
                  <a16:creationId xmlns:a16="http://schemas.microsoft.com/office/drawing/2014/main" id="{4348356E-27D8-4083-AE20-58A50E2AC616}"/>
                </a:ext>
              </a:extLst>
            </p:cNvPr>
            <p:cNvSpPr>
              <a:spLocks noChangeShapeType="1"/>
            </p:cNvSpPr>
            <p:nvPr/>
          </p:nvSpPr>
          <p:spPr bwMode="auto">
            <a:xfrm flipV="1">
              <a:off x="762000" y="2743200"/>
              <a:ext cx="1066800" cy="1981200"/>
            </a:xfrm>
            <a:prstGeom prst="line">
              <a:avLst/>
            </a:prstGeom>
            <a:noFill/>
            <a:ln w="28575">
              <a:solidFill>
                <a:srgbClr val="92D050"/>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28" name="Line 22">
              <a:extLst>
                <a:ext uri="{FF2B5EF4-FFF2-40B4-BE49-F238E27FC236}">
                  <a16:creationId xmlns:a16="http://schemas.microsoft.com/office/drawing/2014/main" id="{EABCDC96-D52C-49BC-BCF0-E36A6AED57AD}"/>
                </a:ext>
              </a:extLst>
            </p:cNvPr>
            <p:cNvSpPr>
              <a:spLocks noChangeShapeType="1"/>
            </p:cNvSpPr>
            <p:nvPr/>
          </p:nvSpPr>
          <p:spPr bwMode="auto">
            <a:xfrm flipV="1">
              <a:off x="1828800" y="2590800"/>
              <a:ext cx="1143000" cy="152400"/>
            </a:xfrm>
            <a:prstGeom prst="line">
              <a:avLst/>
            </a:prstGeom>
            <a:noFill/>
            <a:ln w="28575">
              <a:solidFill>
                <a:srgbClr val="92D050"/>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29" name="Line 24">
              <a:extLst>
                <a:ext uri="{FF2B5EF4-FFF2-40B4-BE49-F238E27FC236}">
                  <a16:creationId xmlns:a16="http://schemas.microsoft.com/office/drawing/2014/main" id="{7D48F9A7-EB87-4B1B-BDCE-4E7FF1B1245A}"/>
                </a:ext>
              </a:extLst>
            </p:cNvPr>
            <p:cNvSpPr>
              <a:spLocks noChangeShapeType="1"/>
            </p:cNvSpPr>
            <p:nvPr/>
          </p:nvSpPr>
          <p:spPr bwMode="auto">
            <a:xfrm>
              <a:off x="2971800" y="2590800"/>
              <a:ext cx="838200" cy="76200"/>
            </a:xfrm>
            <a:prstGeom prst="line">
              <a:avLst/>
            </a:prstGeom>
            <a:noFill/>
            <a:ln w="28575">
              <a:solidFill>
                <a:srgbClr val="92D050"/>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30" name="Line 24">
              <a:extLst>
                <a:ext uri="{FF2B5EF4-FFF2-40B4-BE49-F238E27FC236}">
                  <a16:creationId xmlns:a16="http://schemas.microsoft.com/office/drawing/2014/main" id="{322616F6-E7B7-415A-AF3A-85482E93F8AD}"/>
                </a:ext>
              </a:extLst>
            </p:cNvPr>
            <p:cNvSpPr>
              <a:spLocks noChangeShapeType="1"/>
            </p:cNvSpPr>
            <p:nvPr/>
          </p:nvSpPr>
          <p:spPr bwMode="auto">
            <a:xfrm>
              <a:off x="3810000" y="2667000"/>
              <a:ext cx="838200" cy="304800"/>
            </a:xfrm>
            <a:prstGeom prst="line">
              <a:avLst/>
            </a:prstGeom>
            <a:noFill/>
            <a:ln w="28575">
              <a:solidFill>
                <a:srgbClr val="92D050"/>
              </a:solidFill>
              <a:round/>
              <a:headEnd/>
              <a:tailEnd/>
            </a:ln>
            <a:extLst>
              <a:ext uri="{909E8E84-426E-40DD-AFC4-6F175D3DCCD1}">
                <a14:hiddenFill xmlns:a14="http://schemas.microsoft.com/office/drawing/2010/main">
                  <a:noFill/>
                </a14:hiddenFill>
              </a:ext>
            </a:extLst>
          </p:spPr>
          <p:txBody>
            <a:bodyPr/>
            <a:lstStyle/>
            <a:p>
              <a:endParaRPr lang="en-IN" sz="1350"/>
            </a:p>
          </p:txBody>
        </p:sp>
        <p:sp>
          <p:nvSpPr>
            <p:cNvPr id="76831" name="Line 24">
              <a:extLst>
                <a:ext uri="{FF2B5EF4-FFF2-40B4-BE49-F238E27FC236}">
                  <a16:creationId xmlns:a16="http://schemas.microsoft.com/office/drawing/2014/main" id="{F939D589-594E-423C-AF93-B46065DECBE8}"/>
                </a:ext>
              </a:extLst>
            </p:cNvPr>
            <p:cNvSpPr>
              <a:spLocks noChangeShapeType="1"/>
            </p:cNvSpPr>
            <p:nvPr/>
          </p:nvSpPr>
          <p:spPr bwMode="auto">
            <a:xfrm>
              <a:off x="4648200" y="2971800"/>
              <a:ext cx="2667000" cy="381000"/>
            </a:xfrm>
            <a:prstGeom prst="line">
              <a:avLst/>
            </a:prstGeom>
            <a:noFill/>
            <a:ln w="28575">
              <a:solidFill>
                <a:srgbClr val="92D050"/>
              </a:solidFill>
              <a:round/>
              <a:headEnd/>
              <a:tailEnd/>
            </a:ln>
            <a:extLst>
              <a:ext uri="{909E8E84-426E-40DD-AFC4-6F175D3DCCD1}">
                <a14:hiddenFill xmlns:a14="http://schemas.microsoft.com/office/drawing/2010/main">
                  <a:noFill/>
                </a14:hiddenFill>
              </a:ext>
            </a:extLst>
          </p:spPr>
          <p:txBody>
            <a:bodyPr/>
            <a:lstStyle/>
            <a:p>
              <a:endParaRPr lang="en-IN" sz="1350"/>
            </a:p>
          </p:txBody>
        </p:sp>
      </p:grpSp>
      <p:sp>
        <p:nvSpPr>
          <p:cNvPr id="41" name="Oval 40">
            <a:extLst>
              <a:ext uri="{FF2B5EF4-FFF2-40B4-BE49-F238E27FC236}">
                <a16:creationId xmlns:a16="http://schemas.microsoft.com/office/drawing/2014/main" id="{5E6D2FB8-0A93-46F2-A1DC-A5A594A07445}"/>
              </a:ext>
            </a:extLst>
          </p:cNvPr>
          <p:cNvSpPr/>
          <p:nvPr/>
        </p:nvSpPr>
        <p:spPr>
          <a:xfrm>
            <a:off x="3200400" y="1771650"/>
            <a:ext cx="342900" cy="342900"/>
          </a:xfrm>
          <a:prstGeom prst="ellipse">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2" name="Rounded Rectangular Callout 41">
            <a:extLst>
              <a:ext uri="{FF2B5EF4-FFF2-40B4-BE49-F238E27FC236}">
                <a16:creationId xmlns:a16="http://schemas.microsoft.com/office/drawing/2014/main" id="{2EC7956D-011C-44E1-8FB2-39FBD609264D}"/>
              </a:ext>
            </a:extLst>
          </p:cNvPr>
          <p:cNvSpPr/>
          <p:nvPr/>
        </p:nvSpPr>
        <p:spPr>
          <a:xfrm>
            <a:off x="2371725" y="847677"/>
            <a:ext cx="2628900" cy="571500"/>
          </a:xfrm>
          <a:prstGeom prst="wedgeRoundRectCallout">
            <a:avLst>
              <a:gd name="adj1" fmla="val -9682"/>
              <a:gd name="adj2" fmla="val 11144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t>Remember this tree and use it as the final classifier</a:t>
            </a:r>
          </a:p>
        </p:txBody>
      </p:sp>
    </p:spTree>
  </p:cSld>
  <p:clrMapOvr>
    <a:masterClrMapping/>
  </p:clrMapOvr>
  <p:transition advClick="0" advTm="13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270463"/>
            <a:ext cx="5470331" cy="440505"/>
          </a:xfrm>
          <a:prstGeom prst="rect">
            <a:avLst/>
          </a:prstGeom>
        </p:spPr>
        <p:txBody>
          <a:bodyPr vert="horz" wrap="square" lIns="0" tIns="9525" rIns="0" bIns="0" rtlCol="0">
            <a:spAutoFit/>
          </a:bodyPr>
          <a:lstStyle/>
          <a:p>
            <a:pPr marL="9525">
              <a:spcBef>
                <a:spcPts val="75"/>
              </a:spcBef>
            </a:pPr>
            <a:r>
              <a:rPr spc="-4" dirty="0">
                <a:latin typeface="Times New Roman"/>
                <a:cs typeface="Times New Roman"/>
              </a:rPr>
              <a:t>When</a:t>
            </a:r>
            <a:r>
              <a:rPr spc="-8" dirty="0">
                <a:latin typeface="Times New Roman"/>
                <a:cs typeface="Times New Roman"/>
              </a:rPr>
              <a:t> </a:t>
            </a:r>
            <a:r>
              <a:rPr spc="-4" dirty="0">
                <a:latin typeface="Times New Roman"/>
                <a:cs typeface="Times New Roman"/>
              </a:rPr>
              <a:t>Are</a:t>
            </a:r>
            <a:r>
              <a:rPr spc="-8" dirty="0">
                <a:latin typeface="Times New Roman"/>
                <a:cs typeface="Times New Roman"/>
              </a:rPr>
              <a:t> Decision</a:t>
            </a:r>
            <a:r>
              <a:rPr spc="-15" dirty="0">
                <a:latin typeface="Times New Roman"/>
                <a:cs typeface="Times New Roman"/>
              </a:rPr>
              <a:t> </a:t>
            </a:r>
            <a:r>
              <a:rPr spc="-8" dirty="0">
                <a:latin typeface="Times New Roman"/>
                <a:cs typeface="Times New Roman"/>
              </a:rPr>
              <a:t>Trees</a:t>
            </a:r>
            <a:r>
              <a:rPr spc="-11" dirty="0">
                <a:latin typeface="Times New Roman"/>
                <a:cs typeface="Times New Roman"/>
              </a:rPr>
              <a:t> </a:t>
            </a:r>
            <a:r>
              <a:rPr spc="-4" dirty="0">
                <a:latin typeface="Times New Roman"/>
                <a:cs typeface="Times New Roman"/>
              </a:rPr>
              <a:t>Useful</a:t>
            </a:r>
            <a:r>
              <a:rPr spc="-11" dirty="0">
                <a:latin typeface="Times New Roman"/>
                <a:cs typeface="Times New Roman"/>
              </a:rPr>
              <a:t> </a:t>
            </a:r>
            <a:r>
              <a:rPr b="0" dirty="0">
                <a:latin typeface="Times New Roman"/>
                <a:cs typeface="Times New Roman"/>
              </a:rPr>
              <a:t>?</a:t>
            </a:r>
          </a:p>
        </p:txBody>
      </p:sp>
      <p:sp>
        <p:nvSpPr>
          <p:cNvPr id="4" name="object 4"/>
          <p:cNvSpPr txBox="1"/>
          <p:nvPr/>
        </p:nvSpPr>
        <p:spPr>
          <a:xfrm>
            <a:off x="7245582" y="4708396"/>
            <a:ext cx="219551" cy="174567"/>
          </a:xfrm>
          <a:prstGeom prst="rect">
            <a:avLst/>
          </a:prstGeom>
        </p:spPr>
        <p:txBody>
          <a:bodyPr vert="horz" wrap="square" lIns="0" tIns="12859" rIns="0" bIns="0" rtlCol="0">
            <a:spAutoFit/>
          </a:bodyPr>
          <a:lstStyle/>
          <a:p>
            <a:pPr marL="38100">
              <a:spcBef>
                <a:spcPts val="101"/>
              </a:spcBef>
            </a:pPr>
            <a:fld id="{81D60167-4931-47E6-BA6A-407CBD079E47}" type="slidenum">
              <a:rPr sz="1050" dirty="0">
                <a:latin typeface="Times New Roman"/>
                <a:cs typeface="Times New Roman"/>
              </a:rPr>
              <a:pPr marL="38100">
                <a:spcBef>
                  <a:spcPts val="101"/>
                </a:spcBef>
              </a:pPr>
              <a:t>92</a:t>
            </a:fld>
            <a:endParaRPr sz="1050">
              <a:latin typeface="Times New Roman"/>
              <a:cs typeface="Times New Roman"/>
            </a:endParaRPr>
          </a:p>
        </p:txBody>
      </p:sp>
      <p:sp>
        <p:nvSpPr>
          <p:cNvPr id="3" name="object 3"/>
          <p:cNvSpPr txBox="1"/>
          <p:nvPr/>
        </p:nvSpPr>
        <p:spPr>
          <a:xfrm>
            <a:off x="1716405" y="872388"/>
            <a:ext cx="5578793" cy="3375283"/>
          </a:xfrm>
          <a:prstGeom prst="rect">
            <a:avLst/>
          </a:prstGeom>
        </p:spPr>
        <p:txBody>
          <a:bodyPr vert="horz" wrap="square" lIns="0" tIns="76200" rIns="0" bIns="0" rtlCol="0">
            <a:spAutoFit/>
          </a:bodyPr>
          <a:lstStyle/>
          <a:p>
            <a:pPr marL="265748" indent="-256699">
              <a:spcBef>
                <a:spcPts val="600"/>
              </a:spcBef>
              <a:buChar char="•"/>
              <a:tabLst>
                <a:tab pos="265271" algn="l"/>
                <a:tab pos="266224" algn="l"/>
              </a:tabLst>
            </a:pPr>
            <a:r>
              <a:rPr sz="2100" spc="-4" dirty="0">
                <a:latin typeface="Times New Roman"/>
                <a:cs typeface="Times New Roman"/>
              </a:rPr>
              <a:t>Advantages</a:t>
            </a:r>
            <a:endParaRPr sz="2100">
              <a:latin typeface="Times New Roman"/>
              <a:cs typeface="Times New Roman"/>
            </a:endParaRPr>
          </a:p>
          <a:p>
            <a:pPr marL="565309" marR="264319" lvl="1" indent="-213360">
              <a:spcBef>
                <a:spcPts val="450"/>
              </a:spcBef>
              <a:buChar char="–"/>
              <a:tabLst>
                <a:tab pos="565309" algn="l"/>
                <a:tab pos="565785" algn="l"/>
              </a:tabLst>
            </a:pPr>
            <a:r>
              <a:rPr spc="-4" dirty="0">
                <a:latin typeface="Times New Roman"/>
                <a:cs typeface="Times New Roman"/>
              </a:rPr>
              <a:t>Very </a:t>
            </a:r>
            <a:r>
              <a:rPr dirty="0">
                <a:latin typeface="Times New Roman"/>
                <a:cs typeface="Times New Roman"/>
              </a:rPr>
              <a:t>fast: </a:t>
            </a:r>
            <a:r>
              <a:rPr spc="-4" dirty="0">
                <a:latin typeface="Times New Roman"/>
                <a:cs typeface="Times New Roman"/>
              </a:rPr>
              <a:t>can </a:t>
            </a:r>
            <a:r>
              <a:rPr dirty="0">
                <a:latin typeface="Times New Roman"/>
                <a:cs typeface="Times New Roman"/>
              </a:rPr>
              <a:t>handle very large datasets </a:t>
            </a:r>
            <a:r>
              <a:rPr spc="-4" dirty="0">
                <a:latin typeface="Times New Roman"/>
                <a:cs typeface="Times New Roman"/>
              </a:rPr>
              <a:t>with </a:t>
            </a:r>
            <a:r>
              <a:rPr dirty="0">
                <a:latin typeface="Times New Roman"/>
                <a:cs typeface="Times New Roman"/>
              </a:rPr>
              <a:t>many </a:t>
            </a:r>
            <a:r>
              <a:rPr spc="-439" dirty="0">
                <a:latin typeface="Times New Roman"/>
                <a:cs typeface="Times New Roman"/>
              </a:rPr>
              <a:t> </a:t>
            </a:r>
            <a:r>
              <a:rPr dirty="0">
                <a:latin typeface="Times New Roman"/>
                <a:cs typeface="Times New Roman"/>
              </a:rPr>
              <a:t>attributes</a:t>
            </a:r>
            <a:endParaRPr>
              <a:latin typeface="Times New Roman"/>
              <a:cs typeface="Times New Roman"/>
            </a:endParaRPr>
          </a:p>
          <a:p>
            <a:pPr marL="565309" marR="415766" lvl="1" indent="-213360">
              <a:spcBef>
                <a:spcPts val="450"/>
              </a:spcBef>
              <a:buChar char="–"/>
              <a:tabLst>
                <a:tab pos="565309" algn="l"/>
                <a:tab pos="565785" algn="l"/>
              </a:tabLst>
            </a:pPr>
            <a:r>
              <a:rPr spc="-4" dirty="0">
                <a:latin typeface="Times New Roman"/>
                <a:cs typeface="Times New Roman"/>
              </a:rPr>
              <a:t>Flexible:</a:t>
            </a:r>
            <a:r>
              <a:rPr dirty="0">
                <a:latin typeface="Times New Roman"/>
                <a:cs typeface="Times New Roman"/>
              </a:rPr>
              <a:t> several</a:t>
            </a:r>
            <a:r>
              <a:rPr spc="4" dirty="0">
                <a:latin typeface="Times New Roman"/>
                <a:cs typeface="Times New Roman"/>
              </a:rPr>
              <a:t> </a:t>
            </a:r>
            <a:r>
              <a:rPr dirty="0">
                <a:latin typeface="Times New Roman"/>
                <a:cs typeface="Times New Roman"/>
              </a:rPr>
              <a:t>attribute</a:t>
            </a:r>
            <a:r>
              <a:rPr spc="4" dirty="0">
                <a:latin typeface="Times New Roman"/>
                <a:cs typeface="Times New Roman"/>
              </a:rPr>
              <a:t> </a:t>
            </a:r>
            <a:r>
              <a:rPr spc="-4" dirty="0">
                <a:latin typeface="Times New Roman"/>
                <a:cs typeface="Times New Roman"/>
              </a:rPr>
              <a:t>types,</a:t>
            </a:r>
            <a:r>
              <a:rPr spc="4" dirty="0">
                <a:latin typeface="Times New Roman"/>
                <a:cs typeface="Times New Roman"/>
              </a:rPr>
              <a:t> </a:t>
            </a:r>
            <a:r>
              <a:rPr spc="-4" dirty="0">
                <a:latin typeface="Times New Roman"/>
                <a:cs typeface="Times New Roman"/>
              </a:rPr>
              <a:t>classification</a:t>
            </a:r>
            <a:r>
              <a:rPr spc="4" dirty="0">
                <a:latin typeface="Times New Roman"/>
                <a:cs typeface="Times New Roman"/>
              </a:rPr>
              <a:t> </a:t>
            </a:r>
            <a:r>
              <a:rPr dirty="0">
                <a:latin typeface="Times New Roman"/>
                <a:cs typeface="Times New Roman"/>
              </a:rPr>
              <a:t>and </a:t>
            </a:r>
            <a:r>
              <a:rPr spc="-439" dirty="0">
                <a:latin typeface="Times New Roman"/>
                <a:cs typeface="Times New Roman"/>
              </a:rPr>
              <a:t> </a:t>
            </a:r>
            <a:r>
              <a:rPr spc="-4" dirty="0">
                <a:latin typeface="Times New Roman"/>
                <a:cs typeface="Times New Roman"/>
              </a:rPr>
              <a:t>regression</a:t>
            </a:r>
            <a:r>
              <a:rPr spc="4" dirty="0">
                <a:latin typeface="Times New Roman"/>
                <a:cs typeface="Times New Roman"/>
              </a:rPr>
              <a:t> </a:t>
            </a:r>
            <a:r>
              <a:rPr dirty="0">
                <a:latin typeface="Times New Roman"/>
                <a:cs typeface="Times New Roman"/>
              </a:rPr>
              <a:t>problems, </a:t>
            </a:r>
            <a:r>
              <a:rPr spc="-4" dirty="0">
                <a:latin typeface="Times New Roman"/>
                <a:cs typeface="Times New Roman"/>
              </a:rPr>
              <a:t>missing values…</a:t>
            </a:r>
            <a:endParaRPr>
              <a:latin typeface="Times New Roman"/>
              <a:cs typeface="Times New Roman"/>
            </a:endParaRPr>
          </a:p>
          <a:p>
            <a:pPr marL="565309" lvl="1" indent="-213360">
              <a:spcBef>
                <a:spcPts val="450"/>
              </a:spcBef>
              <a:buChar char="–"/>
              <a:tabLst>
                <a:tab pos="565309" algn="l"/>
                <a:tab pos="565785" algn="l"/>
              </a:tabLst>
            </a:pPr>
            <a:r>
              <a:rPr dirty="0">
                <a:latin typeface="Times New Roman"/>
                <a:cs typeface="Times New Roman"/>
              </a:rPr>
              <a:t>Interpretability:</a:t>
            </a:r>
            <a:r>
              <a:rPr spc="-4" dirty="0">
                <a:latin typeface="Times New Roman"/>
                <a:cs typeface="Times New Roman"/>
              </a:rPr>
              <a:t> </a:t>
            </a:r>
            <a:r>
              <a:rPr dirty="0">
                <a:latin typeface="Times New Roman"/>
                <a:cs typeface="Times New Roman"/>
              </a:rPr>
              <a:t>provide</a:t>
            </a:r>
            <a:r>
              <a:rPr spc="-8" dirty="0">
                <a:latin typeface="Times New Roman"/>
                <a:cs typeface="Times New Roman"/>
              </a:rPr>
              <a:t> </a:t>
            </a:r>
            <a:r>
              <a:rPr dirty="0">
                <a:latin typeface="Times New Roman"/>
                <a:cs typeface="Times New Roman"/>
              </a:rPr>
              <a:t>rules</a:t>
            </a:r>
            <a:r>
              <a:rPr spc="-11" dirty="0">
                <a:latin typeface="Times New Roman"/>
                <a:cs typeface="Times New Roman"/>
              </a:rPr>
              <a:t> </a:t>
            </a:r>
            <a:r>
              <a:rPr dirty="0">
                <a:latin typeface="Times New Roman"/>
                <a:cs typeface="Times New Roman"/>
              </a:rPr>
              <a:t>and</a:t>
            </a:r>
            <a:r>
              <a:rPr spc="-11" dirty="0">
                <a:latin typeface="Times New Roman"/>
                <a:cs typeface="Times New Roman"/>
              </a:rPr>
              <a:t> </a:t>
            </a:r>
            <a:r>
              <a:rPr dirty="0">
                <a:latin typeface="Times New Roman"/>
                <a:cs typeface="Times New Roman"/>
              </a:rPr>
              <a:t>attribute</a:t>
            </a:r>
            <a:r>
              <a:rPr spc="-11" dirty="0">
                <a:latin typeface="Times New Roman"/>
                <a:cs typeface="Times New Roman"/>
              </a:rPr>
              <a:t> </a:t>
            </a:r>
            <a:r>
              <a:rPr dirty="0">
                <a:latin typeface="Times New Roman"/>
                <a:cs typeface="Times New Roman"/>
              </a:rPr>
              <a:t>importance</a:t>
            </a:r>
            <a:endParaRPr>
              <a:latin typeface="Times New Roman"/>
              <a:cs typeface="Times New Roman"/>
            </a:endParaRPr>
          </a:p>
          <a:p>
            <a:pPr marL="265748" indent="-256699">
              <a:spcBef>
                <a:spcPts val="915"/>
              </a:spcBef>
              <a:buChar char="•"/>
              <a:tabLst>
                <a:tab pos="265271" algn="l"/>
                <a:tab pos="266224" algn="l"/>
              </a:tabLst>
            </a:pPr>
            <a:r>
              <a:rPr sz="2100" spc="-4" dirty="0">
                <a:latin typeface="Times New Roman"/>
                <a:cs typeface="Times New Roman"/>
              </a:rPr>
              <a:t>Disadvantages</a:t>
            </a:r>
            <a:endParaRPr sz="2100">
              <a:latin typeface="Times New Roman"/>
              <a:cs typeface="Times New Roman"/>
            </a:endParaRPr>
          </a:p>
          <a:p>
            <a:pPr marL="565309" lvl="1" indent="-213360">
              <a:spcBef>
                <a:spcPts val="450"/>
              </a:spcBef>
              <a:buChar char="–"/>
              <a:tabLst>
                <a:tab pos="565309" algn="l"/>
                <a:tab pos="565785" algn="l"/>
              </a:tabLst>
            </a:pPr>
            <a:r>
              <a:rPr dirty="0">
                <a:latin typeface="Times New Roman"/>
                <a:cs typeface="Times New Roman"/>
              </a:rPr>
              <a:t>Instability</a:t>
            </a:r>
            <a:r>
              <a:rPr spc="-15" dirty="0">
                <a:latin typeface="Times New Roman"/>
                <a:cs typeface="Times New Roman"/>
              </a:rPr>
              <a:t> </a:t>
            </a:r>
            <a:r>
              <a:rPr spc="-4" dirty="0">
                <a:latin typeface="Times New Roman"/>
                <a:cs typeface="Times New Roman"/>
              </a:rPr>
              <a:t>of</a:t>
            </a:r>
            <a:r>
              <a:rPr spc="-8" dirty="0">
                <a:latin typeface="Times New Roman"/>
                <a:cs typeface="Times New Roman"/>
              </a:rPr>
              <a:t> </a:t>
            </a:r>
            <a:r>
              <a:rPr dirty="0">
                <a:latin typeface="Times New Roman"/>
                <a:cs typeface="Times New Roman"/>
              </a:rPr>
              <a:t>the</a:t>
            </a:r>
            <a:r>
              <a:rPr spc="-8" dirty="0">
                <a:latin typeface="Times New Roman"/>
                <a:cs typeface="Times New Roman"/>
              </a:rPr>
              <a:t> </a:t>
            </a:r>
            <a:r>
              <a:rPr dirty="0">
                <a:latin typeface="Times New Roman"/>
                <a:cs typeface="Times New Roman"/>
              </a:rPr>
              <a:t>trees</a:t>
            </a:r>
            <a:r>
              <a:rPr spc="-8" dirty="0">
                <a:latin typeface="Times New Roman"/>
                <a:cs typeface="Times New Roman"/>
              </a:rPr>
              <a:t> </a:t>
            </a:r>
            <a:r>
              <a:rPr dirty="0">
                <a:latin typeface="Times New Roman"/>
                <a:cs typeface="Times New Roman"/>
              </a:rPr>
              <a:t>(high</a:t>
            </a:r>
            <a:r>
              <a:rPr spc="-11" dirty="0">
                <a:latin typeface="Times New Roman"/>
                <a:cs typeface="Times New Roman"/>
              </a:rPr>
              <a:t> </a:t>
            </a:r>
            <a:r>
              <a:rPr dirty="0">
                <a:latin typeface="Times New Roman"/>
                <a:cs typeface="Times New Roman"/>
              </a:rPr>
              <a:t>variance)</a:t>
            </a:r>
            <a:endParaRPr>
              <a:latin typeface="Times New Roman"/>
              <a:cs typeface="Times New Roman"/>
            </a:endParaRPr>
          </a:p>
          <a:p>
            <a:pPr marL="565309" marR="3810" lvl="1" indent="-213360">
              <a:spcBef>
                <a:spcPts val="450"/>
              </a:spcBef>
              <a:buChar char="–"/>
              <a:tabLst>
                <a:tab pos="565309" algn="l"/>
                <a:tab pos="565785" algn="l"/>
              </a:tabLst>
            </a:pPr>
            <a:r>
              <a:rPr spc="-4" dirty="0">
                <a:latin typeface="Times New Roman"/>
                <a:cs typeface="Times New Roman"/>
              </a:rPr>
              <a:t>Not always </a:t>
            </a:r>
            <a:r>
              <a:rPr dirty="0">
                <a:latin typeface="Times New Roman"/>
                <a:cs typeface="Times New Roman"/>
              </a:rPr>
              <a:t>competitive </a:t>
            </a:r>
            <a:r>
              <a:rPr spc="-4" dirty="0">
                <a:latin typeface="Times New Roman"/>
                <a:cs typeface="Times New Roman"/>
              </a:rPr>
              <a:t>with </a:t>
            </a:r>
            <a:r>
              <a:rPr dirty="0">
                <a:latin typeface="Times New Roman"/>
                <a:cs typeface="Times New Roman"/>
              </a:rPr>
              <a:t>other algorithms </a:t>
            </a:r>
            <a:r>
              <a:rPr spc="4" dirty="0">
                <a:latin typeface="Times New Roman"/>
                <a:cs typeface="Times New Roman"/>
              </a:rPr>
              <a:t>in </a:t>
            </a:r>
            <a:r>
              <a:rPr dirty="0">
                <a:latin typeface="Times New Roman"/>
                <a:cs typeface="Times New Roman"/>
              </a:rPr>
              <a:t>terms </a:t>
            </a:r>
            <a:r>
              <a:rPr spc="-439" dirty="0">
                <a:latin typeface="Times New Roman"/>
                <a:cs typeface="Times New Roman"/>
              </a:rPr>
              <a:t> </a:t>
            </a:r>
            <a:r>
              <a:rPr dirty="0">
                <a:latin typeface="Times New Roman"/>
                <a:cs typeface="Times New Roman"/>
              </a:rPr>
              <a:t>of</a:t>
            </a:r>
            <a:r>
              <a:rPr spc="-4" dirty="0">
                <a:latin typeface="Times New Roman"/>
                <a:cs typeface="Times New Roman"/>
              </a:rPr>
              <a:t> accuracy</a:t>
            </a:r>
            <a:endParaRPr>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41628</TotalTime>
  <Words>5239</Words>
  <Application>Microsoft Office PowerPoint</Application>
  <PresentationFormat>On-screen Show (16:9)</PresentationFormat>
  <Paragraphs>808</Paragraphs>
  <Slides>92</Slides>
  <Notes>3</Notes>
  <HiddenSlides>3</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92</vt:i4>
      </vt:variant>
    </vt:vector>
  </HeadingPairs>
  <TitlesOfParts>
    <vt:vector size="106" baseType="lpstr">
      <vt:lpstr>Adobe Caslon Pro</vt:lpstr>
      <vt:lpstr>Arial</vt:lpstr>
      <vt:lpstr>Arial</vt:lpstr>
      <vt:lpstr>Arial MT</vt:lpstr>
      <vt:lpstr>Calibri</vt:lpstr>
      <vt:lpstr>Cambria</vt:lpstr>
      <vt:lpstr>Cambria Math</vt:lpstr>
      <vt:lpstr>Carlito</vt:lpstr>
      <vt:lpstr>charter</vt:lpstr>
      <vt:lpstr>Roboto</vt:lpstr>
      <vt:lpstr>sohne</vt:lpstr>
      <vt:lpstr>Times New Roman</vt:lpstr>
      <vt:lpstr>Wingdings</vt:lpstr>
      <vt:lpstr>Office Theme</vt:lpstr>
      <vt:lpstr>PowerPoint Presentation</vt:lpstr>
      <vt:lpstr>PowerPoint Presentation</vt:lpstr>
      <vt:lpstr>Introduction</vt:lpstr>
      <vt:lpstr>What is a decision tree</vt:lpstr>
      <vt:lpstr>Problem Description for Illustration</vt:lpstr>
      <vt:lpstr>Root Node, Internal Node, leaf Node</vt:lpstr>
      <vt:lpstr>Root Node, Internal Node, leaf Node</vt:lpstr>
      <vt:lpstr>Root Node, Internal Node, leaf Node</vt:lpstr>
      <vt:lpstr>Decision tree</vt:lpstr>
      <vt:lpstr>PowerPoint Presentation</vt:lpstr>
      <vt:lpstr>Decision Tree Representation</vt:lpstr>
      <vt:lpstr>Experience: “Good day for tennis”</vt:lpstr>
      <vt:lpstr>Numeric Attributes</vt:lpstr>
      <vt:lpstr>PowerPoint Presentation</vt:lpstr>
      <vt:lpstr>Possible Splits</vt:lpstr>
      <vt:lpstr>When to stop</vt:lpstr>
      <vt:lpstr>Decision Tree</vt:lpstr>
      <vt:lpstr>Decision Tree Algorithm</vt:lpstr>
      <vt:lpstr>Decision Tree Algorithm</vt:lpstr>
      <vt:lpstr>Decision Tree Algorithm</vt:lpstr>
      <vt:lpstr>Decision Tree Method</vt:lpstr>
      <vt:lpstr>Decision Tree Method step 1 to 6</vt:lpstr>
      <vt:lpstr>Decision Tree Method step 1 to 6</vt:lpstr>
      <vt:lpstr>Decision Tree Method - Step 7 - 11</vt:lpstr>
      <vt:lpstr>Decision Tree Method – termination condition</vt:lpstr>
      <vt:lpstr>PowerPoint Presentation</vt:lpstr>
      <vt:lpstr>ID3 algorithm</vt:lpstr>
      <vt:lpstr>ID3 algorithm</vt:lpstr>
      <vt:lpstr>Top Down Induction of Decision Tree ID3  ID3 stands for Iterative Dichotomiser 3 </vt:lpstr>
      <vt:lpstr>Which attribute is the best</vt:lpstr>
      <vt:lpstr>Attribute Selection Measures</vt:lpstr>
      <vt:lpstr>Attribute Selection Measures</vt:lpstr>
      <vt:lpstr>Attribute Selection Measures</vt:lpstr>
      <vt:lpstr>Information Gain</vt:lpstr>
      <vt:lpstr>Information or Entropy </vt:lpstr>
      <vt:lpstr>Attribute Selection Measures</vt:lpstr>
      <vt:lpstr>Information Gain</vt:lpstr>
      <vt:lpstr>Example</vt:lpstr>
      <vt:lpstr>Example</vt:lpstr>
      <vt:lpstr>Expected information needed to classify a tuple in D</vt:lpstr>
      <vt:lpstr>Calculation of entropy for ‘ Youth’</vt:lpstr>
      <vt:lpstr>Calculation of entropy for ‘ Youth’</vt:lpstr>
      <vt:lpstr>Calculation of entropy for ‘ Middle Age’</vt:lpstr>
      <vt:lpstr>The expected information needed to classify a tuple in D  according to age</vt:lpstr>
      <vt:lpstr>Calculation information Gain of Age</vt:lpstr>
      <vt:lpstr>Calculation information Gain of Income</vt:lpstr>
      <vt:lpstr>Calculate Entropy for high</vt:lpstr>
      <vt:lpstr>Calculate Entropy for ‘medium’</vt:lpstr>
      <vt:lpstr>Calculate Entropy for ‘low’</vt:lpstr>
      <vt:lpstr>Gain of income</vt:lpstr>
      <vt:lpstr>Calculation of gain for student</vt:lpstr>
      <vt:lpstr>Calculate Entropy for No</vt:lpstr>
      <vt:lpstr>Calculate Entropy for ‘Yes’</vt:lpstr>
      <vt:lpstr>Gain of student</vt:lpstr>
      <vt:lpstr>Calculation of gain for credit rating</vt:lpstr>
      <vt:lpstr>Calculate Entropy for Fair</vt:lpstr>
      <vt:lpstr>Calculate Entropy for Excellent</vt:lpstr>
      <vt:lpstr>Gain for credit rating</vt:lpstr>
      <vt:lpstr>PowerPoint Presentation</vt:lpstr>
      <vt:lpstr>Selection of root classifier</vt:lpstr>
      <vt:lpstr>Decision tree</vt:lpstr>
      <vt:lpstr>Decision tree</vt:lpstr>
      <vt:lpstr>Disorder is bad Homogeneity is good</vt:lpstr>
      <vt:lpstr>Entropy</vt:lpstr>
      <vt:lpstr>Information Gain</vt:lpstr>
      <vt:lpstr>Issues in  Decision Tree</vt:lpstr>
      <vt:lpstr>Handling Missing Attribute Value </vt:lpstr>
      <vt:lpstr>PowerPoint Presentation</vt:lpstr>
      <vt:lpstr>Solution for missing values</vt:lpstr>
      <vt:lpstr>Handle Missing Values in Categorical Features </vt:lpstr>
      <vt:lpstr>How to handle Real-valued Features</vt:lpstr>
      <vt:lpstr>Overfitting in Decision Trees Definition</vt:lpstr>
      <vt:lpstr>What is overfitting in decision tree</vt:lpstr>
      <vt:lpstr>PowerPoint Presentation</vt:lpstr>
      <vt:lpstr>Overfitting</vt:lpstr>
      <vt:lpstr>Underfitting and Overfitting</vt:lpstr>
      <vt:lpstr>Overfitting due to noise</vt:lpstr>
      <vt:lpstr>PowerPoint Presentation</vt:lpstr>
      <vt:lpstr>How to avoid overfitting in Decision trees</vt:lpstr>
      <vt:lpstr>Avoiding Overfitting</vt:lpstr>
      <vt:lpstr>Tree Pruning</vt:lpstr>
      <vt:lpstr>How does Tree Pruning Work?</vt:lpstr>
      <vt:lpstr>How does Tree Pruning Work?</vt:lpstr>
      <vt:lpstr>How does Tree Pruning Work?</vt:lpstr>
      <vt:lpstr>Reduced-Error Pruning</vt:lpstr>
      <vt:lpstr>Reduced Error Pruning ( a post pruning method)</vt:lpstr>
      <vt:lpstr>Reduced Error Pruning Example</vt:lpstr>
      <vt:lpstr>Reduced Error Pruning Example</vt:lpstr>
      <vt:lpstr>Reduced Error Pruning Example</vt:lpstr>
      <vt:lpstr>Reduced Error Pruning Example</vt:lpstr>
      <vt:lpstr>Early Stopping</vt:lpstr>
      <vt:lpstr>When Are Decision Trees Useful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IITR</dc:creator>
  <cp:lastModifiedBy>Kriti Ohri</cp:lastModifiedBy>
  <cp:revision>64</cp:revision>
  <dcterms:created xsi:type="dcterms:W3CDTF">2021-04-19T09:15:40Z</dcterms:created>
  <dcterms:modified xsi:type="dcterms:W3CDTF">2024-09-23T07:53:10Z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2020-01-03T00:00:00Z</vt:filetime>
  </property>
  <property fmtid="{D5CDD505-2E9C-101B-9397-08002B2CF9AE}" pid="3" name="Creator">
    <vt:lpwstr>Microsoft® PowerPoint® 2016</vt:lpwstr>
  </property>
  <property fmtid="{D5CDD505-2E9C-101B-9397-08002B2CF9AE}" pid="4" name="LastSaved">
    <vt:filetime>2021-04-19T00:00:00Z</vt:filetime>
  </property>
</Properties>
</file>