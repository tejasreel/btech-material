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76" r:id="rId6"/>
    <p:sldId id="277" r:id="rId7"/>
    <p:sldId id="278" r:id="rId8"/>
    <p:sldId id="279" r:id="rId9"/>
    <p:sldId id="262" r:id="rId10"/>
    <p:sldId id="264" r:id="rId11"/>
    <p:sldId id="265" r:id="rId12"/>
    <p:sldId id="269" r:id="rId13"/>
    <p:sldId id="272" r:id="rId14"/>
    <p:sldId id="280" r:id="rId15"/>
    <p:sldId id="274" r:id="rId16"/>
    <p:sldId id="275" r:id="rId17"/>
    <p:sldId id="270" r:id="rId18"/>
    <p:sldId id="271" r:id="rId19"/>
    <p:sldId id="266" r:id="rId20"/>
    <p:sldId id="267" r:id="rId21"/>
    <p:sldId id="26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78" d="100"/>
          <a:sy n="78" d="100"/>
        </p:scale>
        <p:origin x="77"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F6CEB-963B-43C5-8072-BB3DF1F6D9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9DB7E5-EEA2-4ACD-855B-05AEB69A86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9CCD0E-7DC5-4B3D-B038-5600E8525496}"/>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5" name="Footer Placeholder 4">
            <a:extLst>
              <a:ext uri="{FF2B5EF4-FFF2-40B4-BE49-F238E27FC236}">
                <a16:creationId xmlns:a16="http://schemas.microsoft.com/office/drawing/2014/main" id="{57214D1B-09FC-455A-9AE7-C063248C3E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F3FE1E-3D32-4820-9210-5BB02F445A51}"/>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4266704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10A27-56D5-483C-A92D-05DC9819DE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D31924-59B8-4150-892C-2D27A33E33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5F5908-2720-478F-A20E-1B85B9200437}"/>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5" name="Footer Placeholder 4">
            <a:extLst>
              <a:ext uri="{FF2B5EF4-FFF2-40B4-BE49-F238E27FC236}">
                <a16:creationId xmlns:a16="http://schemas.microsoft.com/office/drawing/2014/main" id="{C4F7B883-A11E-447B-88D1-2E33524477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7826F3-D6B8-4996-BDE1-57643C1C3010}"/>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2378576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FF438-D7A5-445A-AC08-8A4383635C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3C74F0-0342-4407-B1DF-72D8599383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1F4A96-105D-43E3-BB24-31121FAF3663}"/>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5" name="Footer Placeholder 4">
            <a:extLst>
              <a:ext uri="{FF2B5EF4-FFF2-40B4-BE49-F238E27FC236}">
                <a16:creationId xmlns:a16="http://schemas.microsoft.com/office/drawing/2014/main" id="{C58B40CC-DF48-4F07-9351-2C6E8018D0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A3050-FF30-49C3-B8A9-EADCCE90904C}"/>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358761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C84DC-A558-4C61-A918-AA19DFA6C9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6BD788-B1DC-4580-94B2-FB8E199C9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597B40-7EDB-4366-B541-78EB127EDC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FF437A-C28B-45EF-B3A9-5ED0997C84C6}"/>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6" name="Footer Placeholder 5">
            <a:extLst>
              <a:ext uri="{FF2B5EF4-FFF2-40B4-BE49-F238E27FC236}">
                <a16:creationId xmlns:a16="http://schemas.microsoft.com/office/drawing/2014/main" id="{0ADD605C-EB9A-43FD-8D4A-299ACA70EC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4A3EFD-F107-4A61-AF0F-B72D9DFE4F87}"/>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3517495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6483B-E65D-4D5D-84AA-ACD13CC6B8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AA184B-B565-400C-AED6-2A7604F7BF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450531-3137-4ADA-BE08-676CDF2694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FA5FEC-A4F4-433F-BCFB-FF67728E39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1A051E-82C8-44EA-BCAD-CEDF0A0DB4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6554E7-F847-4A40-BF64-FB04855661B2}"/>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8" name="Footer Placeholder 7">
            <a:extLst>
              <a:ext uri="{FF2B5EF4-FFF2-40B4-BE49-F238E27FC236}">
                <a16:creationId xmlns:a16="http://schemas.microsoft.com/office/drawing/2014/main" id="{60B23E48-1C4D-4B09-BBFD-47EAAA1FA1D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58FB8B-391D-49F1-92DC-B4513B0644F8}"/>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4235004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6FE9-CFA2-4951-9CA4-39338DF979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0270E7-4F66-444B-90C9-D93E7090F024}"/>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4" name="Footer Placeholder 3">
            <a:extLst>
              <a:ext uri="{FF2B5EF4-FFF2-40B4-BE49-F238E27FC236}">
                <a16:creationId xmlns:a16="http://schemas.microsoft.com/office/drawing/2014/main" id="{408D76CB-6113-41DE-BAF6-930D67B67F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5BF6C5-1916-4B0A-90AB-F03A1300D7CE}"/>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4151051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C145D8-06F2-406B-BBC2-AA7D0BDDBCCA}"/>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3" name="Footer Placeholder 2">
            <a:extLst>
              <a:ext uri="{FF2B5EF4-FFF2-40B4-BE49-F238E27FC236}">
                <a16:creationId xmlns:a16="http://schemas.microsoft.com/office/drawing/2014/main" id="{DE6D71C5-0A20-4885-8F3C-16FFA061F1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14844F-90BA-43EE-93E8-8EE90D1D4235}"/>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1381105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4F54-34F4-4EDF-8788-3BD7859D5A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49AF1B4-A6D2-4BC1-97F5-34243D4224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8C17B2-2B5D-417E-9216-95E559957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F01CA2-8F7A-47A7-AF60-95CE7DF21B2E}"/>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6" name="Footer Placeholder 5">
            <a:extLst>
              <a:ext uri="{FF2B5EF4-FFF2-40B4-BE49-F238E27FC236}">
                <a16:creationId xmlns:a16="http://schemas.microsoft.com/office/drawing/2014/main" id="{DBBAA467-3409-42F3-808F-7406915ACC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6049AB-8E54-4D84-86B0-CED2A965E606}"/>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1878557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B10EA-5CA9-45F7-B1D0-7029248CAC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97B116-4A9B-4F37-840C-41310DC52C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A3DA86-6350-483A-A557-5A197FD311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19E3AA-4468-4A6A-ABC7-21F1DCC17A31}"/>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6" name="Footer Placeholder 5">
            <a:extLst>
              <a:ext uri="{FF2B5EF4-FFF2-40B4-BE49-F238E27FC236}">
                <a16:creationId xmlns:a16="http://schemas.microsoft.com/office/drawing/2014/main" id="{0A16ED7A-6ECF-4F26-BF13-F40F0842CF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9EDB0B-31BD-48D8-A82F-3357448DD6D1}"/>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1189231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5B195-9930-4A2E-BFA9-2E5504CE631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D03C1-455D-4883-BF1A-9C2F17468B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75C841-D3AB-472D-B157-E2C1B65357AE}"/>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5" name="Footer Placeholder 4">
            <a:extLst>
              <a:ext uri="{FF2B5EF4-FFF2-40B4-BE49-F238E27FC236}">
                <a16:creationId xmlns:a16="http://schemas.microsoft.com/office/drawing/2014/main" id="{77B41387-CD33-4220-96E6-F85369C90E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236D8C-5D61-4378-885E-A4BEBFDB4335}"/>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4178519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29A764-BD68-4999-AF4A-02AC09C792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D9C412-6F61-40BB-9605-4579485C4A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A7D7FA-7D4A-4866-8254-5F5F475A874F}"/>
              </a:ext>
            </a:extLst>
          </p:cNvPr>
          <p:cNvSpPr>
            <a:spLocks noGrp="1"/>
          </p:cNvSpPr>
          <p:nvPr>
            <p:ph type="dt" sz="half" idx="10"/>
          </p:nvPr>
        </p:nvSpPr>
        <p:spPr/>
        <p:txBody>
          <a:bodyPr/>
          <a:lstStyle/>
          <a:p>
            <a:fld id="{ED364182-F4A2-4FAC-A380-AF489CB82D17}" type="datetimeFigureOut">
              <a:rPr lang="en-IN" smtClean="0"/>
              <a:t>19-11-2024</a:t>
            </a:fld>
            <a:endParaRPr lang="en-IN"/>
          </a:p>
        </p:txBody>
      </p:sp>
      <p:sp>
        <p:nvSpPr>
          <p:cNvPr id="5" name="Footer Placeholder 4">
            <a:extLst>
              <a:ext uri="{FF2B5EF4-FFF2-40B4-BE49-F238E27FC236}">
                <a16:creationId xmlns:a16="http://schemas.microsoft.com/office/drawing/2014/main" id="{75E44FEE-FF88-4DBD-B4EE-8806709779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48DC7D-4B98-4592-989D-C4D34A0F6E4C}"/>
              </a:ext>
            </a:extLst>
          </p:cNvPr>
          <p:cNvSpPr>
            <a:spLocks noGrp="1"/>
          </p:cNvSpPr>
          <p:nvPr>
            <p:ph type="sldNum" sz="quarter" idx="12"/>
          </p:nvPr>
        </p:nvSpPr>
        <p:spPr/>
        <p:txBody>
          <a:bodyPr/>
          <a:lstStyle/>
          <a:p>
            <a:fld id="{2473A4AE-E79E-4BF8-AE4C-08039697D84B}" type="slidenum">
              <a:rPr lang="en-IN" smtClean="0"/>
              <a:t>‹#›</a:t>
            </a:fld>
            <a:endParaRPr lang="en-IN"/>
          </a:p>
        </p:txBody>
      </p:sp>
    </p:spTree>
    <p:extLst>
      <p:ext uri="{BB962C8B-B14F-4D97-AF65-F5344CB8AC3E}">
        <p14:creationId xmlns:p14="http://schemas.microsoft.com/office/powerpoint/2010/main" val="998316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1F28F9-2CF7-409B-A436-1693787552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389977-445F-4AB0-A5C4-EB45521FB9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FCBAD3-CF21-4320-B637-73CC257A69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364182-F4A2-4FAC-A380-AF489CB82D17}" type="datetimeFigureOut">
              <a:rPr lang="en-IN" smtClean="0"/>
              <a:t>19-11-2024</a:t>
            </a:fld>
            <a:endParaRPr lang="en-IN"/>
          </a:p>
        </p:txBody>
      </p:sp>
      <p:sp>
        <p:nvSpPr>
          <p:cNvPr id="5" name="Footer Placeholder 4">
            <a:extLst>
              <a:ext uri="{FF2B5EF4-FFF2-40B4-BE49-F238E27FC236}">
                <a16:creationId xmlns:a16="http://schemas.microsoft.com/office/drawing/2014/main" id="{C32CCC9F-C1C4-4619-86E5-A97BF958BA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9EEF2C7-BD80-4080-888E-C6647E2E4D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73A4AE-E79E-4BF8-AE4C-08039697D84B}" type="slidenum">
              <a:rPr lang="en-IN" smtClean="0"/>
              <a:t>‹#›</a:t>
            </a:fld>
            <a:endParaRPr lang="en-IN"/>
          </a:p>
        </p:txBody>
      </p:sp>
    </p:spTree>
    <p:extLst>
      <p:ext uri="{BB962C8B-B14F-4D97-AF65-F5344CB8AC3E}">
        <p14:creationId xmlns:p14="http://schemas.microsoft.com/office/powerpoint/2010/main" val="1294292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edureka.co/blog/statistics-and-probability/#Probability%20Distributi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xy96ArOpntA" TargetMode="External"/><Relationship Id="rId2" Type="http://schemas.openxmlformats.org/officeDocument/2006/relationships/hyperlink" Target="https://www.youtube.com/watch?v=3Ij1lIsC1X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5470-19E0-4394-A218-B6F9E4C134BB}"/>
              </a:ext>
            </a:extLst>
          </p:cNvPr>
          <p:cNvSpPr>
            <a:spLocks noGrp="1"/>
          </p:cNvSpPr>
          <p:nvPr>
            <p:ph type="ctrTitle"/>
          </p:nvPr>
        </p:nvSpPr>
        <p:spPr/>
        <p:txBody>
          <a:bodyPr/>
          <a:lstStyle/>
          <a:p>
            <a:r>
              <a:rPr lang="en-US" b="1" i="0" dirty="0">
                <a:solidFill>
                  <a:srgbClr val="4A4A4A"/>
                </a:solidFill>
                <a:effectLst/>
                <a:latin typeface="Open Sans" panose="020B0606030504020204" pitchFamily="34" charset="0"/>
              </a:rPr>
              <a:t>EM Algorithm</a:t>
            </a:r>
            <a:endParaRPr lang="en-IN" dirty="0"/>
          </a:p>
        </p:txBody>
      </p:sp>
      <p:sp>
        <p:nvSpPr>
          <p:cNvPr id="3" name="Subtitle 2">
            <a:extLst>
              <a:ext uri="{FF2B5EF4-FFF2-40B4-BE49-F238E27FC236}">
                <a16:creationId xmlns:a16="http://schemas.microsoft.com/office/drawing/2014/main" id="{660BF5A2-2DC2-4FA1-B867-7B154400F4C5}"/>
              </a:ext>
            </a:extLst>
          </p:cNvPr>
          <p:cNvSpPr>
            <a:spLocks noGrp="1"/>
          </p:cNvSpPr>
          <p:nvPr>
            <p:ph type="subTitle" idx="1"/>
          </p:nvPr>
        </p:nvSpPr>
        <p:spPr/>
        <p:txBody>
          <a:bodyPr/>
          <a:lstStyle/>
          <a:p>
            <a:r>
              <a:rPr lang="en-IN" dirty="0"/>
              <a:t>Expectation and Maximization algorithm</a:t>
            </a:r>
          </a:p>
        </p:txBody>
      </p:sp>
    </p:spTree>
    <p:extLst>
      <p:ext uri="{BB962C8B-B14F-4D97-AF65-F5344CB8AC3E}">
        <p14:creationId xmlns:p14="http://schemas.microsoft.com/office/powerpoint/2010/main" val="2163166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E6E1-04A3-425D-92AE-99A4D6DD9A1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E6B991D-E5C5-4070-933B-2831C1FA5F7C}"/>
              </a:ext>
            </a:extLst>
          </p:cNvPr>
          <p:cNvSpPr>
            <a:spLocks noGrp="1"/>
          </p:cNvSpPr>
          <p:nvPr>
            <p:ph idx="1"/>
          </p:nvPr>
        </p:nvSpPr>
        <p:spPr/>
        <p:txBody>
          <a:bodyPr>
            <a:normAutofit/>
          </a:bodyPr>
          <a:lstStyle/>
          <a:p>
            <a:r>
              <a:rPr lang="en-US" sz="2000" b="0" i="0" dirty="0">
                <a:solidFill>
                  <a:srgbClr val="4A4A4A"/>
                </a:solidFill>
                <a:effectLst/>
                <a:latin typeface="Open Sans" panose="020B0606030504020204" pitchFamily="34" charset="0"/>
              </a:rPr>
              <a:t>In a machine learning application, there might a few relevant variables present in the data set that may go unobserved while learning. In this article, we will learn about the Expectation-Maximization or EM algorithm in learning to understand the estimation of latent variables using the observed data.</a:t>
            </a:r>
          </a:p>
          <a:p>
            <a:pPr algn="just"/>
            <a:r>
              <a:rPr lang="en-US" sz="2000" b="1" i="0" dirty="0">
                <a:solidFill>
                  <a:srgbClr val="4A4A4A"/>
                </a:solidFill>
                <a:effectLst/>
                <a:latin typeface="Open Sans" panose="020B0606030504020204" pitchFamily="34" charset="0"/>
              </a:rPr>
              <a:t>Problem Of Latent Variables For Maximum Likelihood</a:t>
            </a:r>
            <a:endParaRPr lang="en-US" sz="2000" b="0" i="0" dirty="0">
              <a:solidFill>
                <a:srgbClr val="4A4A4A"/>
              </a:solidFill>
              <a:effectLst/>
              <a:latin typeface="Open Sans" panose="020B0606030504020204" pitchFamily="34" charset="0"/>
            </a:endParaRPr>
          </a:p>
          <a:p>
            <a:pPr algn="just"/>
            <a:r>
              <a:rPr lang="en-US" sz="2000" b="0" i="0" dirty="0">
                <a:solidFill>
                  <a:srgbClr val="4A4A4A"/>
                </a:solidFill>
                <a:effectLst/>
                <a:latin typeface="Open Sans" panose="020B0606030504020204" pitchFamily="34" charset="0"/>
              </a:rPr>
              <a:t>In statistic modeling, a common problem arises as to how can we try to estimate the </a:t>
            </a:r>
            <a:r>
              <a:rPr lang="en-US" sz="2000" b="0" i="0" u="none" strike="noStrike" dirty="0">
                <a:solidFill>
                  <a:srgbClr val="007BFF"/>
                </a:solidFill>
                <a:effectLst/>
                <a:latin typeface="Open Sans" panose="020B0606030504020204" pitchFamily="34" charset="0"/>
                <a:hlinkClick r:id="rId2"/>
              </a:rPr>
              <a:t>joint probability distribution</a:t>
            </a:r>
            <a:r>
              <a:rPr lang="en-US" sz="2000" b="0" i="0" dirty="0">
                <a:solidFill>
                  <a:srgbClr val="4A4A4A"/>
                </a:solidFill>
                <a:effectLst/>
                <a:latin typeface="Open Sans" panose="020B0606030504020204" pitchFamily="34" charset="0"/>
              </a:rPr>
              <a:t> for a data set.</a:t>
            </a:r>
          </a:p>
          <a:p>
            <a:pPr algn="just"/>
            <a:r>
              <a:rPr lang="en-US" sz="2000" b="1" i="0" dirty="0">
                <a:solidFill>
                  <a:srgbClr val="4A4A4A"/>
                </a:solidFill>
                <a:effectLst/>
                <a:latin typeface="Open Sans" panose="020B0606030504020204" pitchFamily="34" charset="0"/>
              </a:rPr>
              <a:t>Probability Density estimation</a:t>
            </a:r>
            <a:r>
              <a:rPr lang="en-US" sz="2000" b="0" i="0" dirty="0">
                <a:solidFill>
                  <a:srgbClr val="4A4A4A"/>
                </a:solidFill>
                <a:effectLst/>
                <a:latin typeface="Open Sans" panose="020B0606030504020204" pitchFamily="34" charset="0"/>
              </a:rPr>
              <a:t> is basically the construction of an estimate based on observed data. It involves selecting a probability distribution function and the parameters of that function that best explains the joint probability of the observed data.</a:t>
            </a:r>
          </a:p>
          <a:p>
            <a:endParaRPr lang="en-IN" dirty="0"/>
          </a:p>
        </p:txBody>
      </p:sp>
    </p:spTree>
    <p:extLst>
      <p:ext uri="{BB962C8B-B14F-4D97-AF65-F5344CB8AC3E}">
        <p14:creationId xmlns:p14="http://schemas.microsoft.com/office/powerpoint/2010/main" val="427280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A69A-52AC-4CE5-A0C4-89B9FF4615EA}"/>
              </a:ext>
            </a:extLst>
          </p:cNvPr>
          <p:cNvSpPr>
            <a:spLocks noGrp="1"/>
          </p:cNvSpPr>
          <p:nvPr>
            <p:ph type="title"/>
          </p:nvPr>
        </p:nvSpPr>
        <p:spPr/>
        <p:txBody>
          <a:bodyPr>
            <a:normAutofit fontScale="90000"/>
          </a:bodyPr>
          <a:lstStyle/>
          <a:p>
            <a:r>
              <a:rPr lang="en-US" b="1" i="0" dirty="0">
                <a:solidFill>
                  <a:srgbClr val="4A4A4A"/>
                </a:solidFill>
                <a:effectLst/>
                <a:latin typeface="Open Sans" panose="020B0606030504020204" pitchFamily="34" charset="0"/>
              </a:rPr>
              <a:t>What is EM Algorithm In Machine Learning?</a:t>
            </a:r>
            <a:br>
              <a:rPr lang="en-US" b="0" i="0" dirty="0">
                <a:solidFill>
                  <a:srgbClr val="4A4A4A"/>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F6BF7E7E-66D4-4803-A7A0-8E99CB5DED49}"/>
              </a:ext>
            </a:extLst>
          </p:cNvPr>
          <p:cNvSpPr>
            <a:spLocks noGrp="1"/>
          </p:cNvSpPr>
          <p:nvPr>
            <p:ph idx="1"/>
          </p:nvPr>
        </p:nvSpPr>
        <p:spPr/>
        <p:txBody>
          <a:bodyPr/>
          <a:lstStyle/>
          <a:p>
            <a:r>
              <a:rPr lang="en-US" sz="2000" dirty="0">
                <a:solidFill>
                  <a:srgbClr val="4A4A4A"/>
                </a:solidFill>
                <a:latin typeface="Open Sans" panose="020B0606030504020204" pitchFamily="34" charset="0"/>
              </a:rPr>
              <a:t>EM algorithm was proposed in 1997 by Arthur Dempster, Nan Laird, and Donald Rubin. It is basically used to find the local maximum likelihood parameters of a statistical model in case the latent variables are present or the data is missing or incomplete.</a:t>
            </a:r>
            <a:endParaRPr lang="en-IN" sz="2000" dirty="0">
              <a:solidFill>
                <a:srgbClr val="4A4A4A"/>
              </a:solidFill>
              <a:latin typeface="Open Sans" panose="020B0606030504020204" pitchFamily="34" charset="0"/>
            </a:endParaRPr>
          </a:p>
          <a:p>
            <a:endParaRPr lang="en-IN" dirty="0"/>
          </a:p>
        </p:txBody>
      </p:sp>
    </p:spTree>
    <p:extLst>
      <p:ext uri="{BB962C8B-B14F-4D97-AF65-F5344CB8AC3E}">
        <p14:creationId xmlns:p14="http://schemas.microsoft.com/office/powerpoint/2010/main" val="55012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4046-AA05-468C-97CD-C3646DA92B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BDED05-4CC3-4D67-B310-5F8EBF003D58}"/>
              </a:ext>
            </a:extLst>
          </p:cNvPr>
          <p:cNvSpPr>
            <a:spLocks noGrp="1"/>
          </p:cNvSpPr>
          <p:nvPr>
            <p:ph idx="1"/>
          </p:nvPr>
        </p:nvSpPr>
        <p:spPr/>
        <p:txBody>
          <a:bodyPr>
            <a:normAutofit fontScale="85000" lnSpcReduction="20000"/>
          </a:bodyPr>
          <a:lstStyle/>
          <a:p>
            <a:pPr>
              <a:lnSpc>
                <a:spcPct val="110000"/>
              </a:lnSpc>
            </a:pPr>
            <a:r>
              <a:rPr lang="en-US" sz="2400" dirty="0">
                <a:solidFill>
                  <a:srgbClr val="4A4A4A"/>
                </a:solidFill>
                <a:latin typeface="Open Sans" panose="020B0606030504020204" pitchFamily="34" charset="0"/>
              </a:rPr>
              <a:t>The EM Algorithm follows the following steps in order to find the relevant model parameters in the presence of latent variables.</a:t>
            </a:r>
          </a:p>
          <a:p>
            <a:pPr>
              <a:lnSpc>
                <a:spcPct val="110000"/>
              </a:lnSpc>
            </a:pPr>
            <a:r>
              <a:rPr lang="en-US" sz="2400" dirty="0">
                <a:solidFill>
                  <a:srgbClr val="4A4A4A"/>
                </a:solidFill>
                <a:latin typeface="Open Sans" panose="020B0606030504020204" pitchFamily="34" charset="0"/>
              </a:rPr>
              <a:t>Consider a set of starting parameters in incomplete data.</a:t>
            </a:r>
          </a:p>
          <a:p>
            <a:pPr>
              <a:lnSpc>
                <a:spcPct val="110000"/>
              </a:lnSpc>
            </a:pPr>
            <a:r>
              <a:rPr lang="en-US" sz="2400" b="1" dirty="0">
                <a:solidFill>
                  <a:srgbClr val="4A4A4A"/>
                </a:solidFill>
                <a:latin typeface="Open Sans" panose="020B0606030504020204" pitchFamily="34" charset="0"/>
              </a:rPr>
              <a:t>Expectation Step </a:t>
            </a:r>
            <a:r>
              <a:rPr lang="en-US" sz="2400" dirty="0">
                <a:solidFill>
                  <a:srgbClr val="4A4A4A"/>
                </a:solidFill>
                <a:latin typeface="Open Sans" panose="020B0606030504020204" pitchFamily="34" charset="0"/>
              </a:rPr>
              <a:t>– This step is used to estimate the values of the missing values in the data. It involves the observed data to basically guess the values in the missing data.</a:t>
            </a:r>
          </a:p>
          <a:p>
            <a:pPr>
              <a:lnSpc>
                <a:spcPct val="110000"/>
              </a:lnSpc>
            </a:pPr>
            <a:r>
              <a:rPr lang="en-US" sz="2400" b="1" dirty="0">
                <a:solidFill>
                  <a:srgbClr val="4A4A4A"/>
                </a:solidFill>
                <a:latin typeface="Open Sans" panose="020B0606030504020204" pitchFamily="34" charset="0"/>
              </a:rPr>
              <a:t>Maximization Step </a:t>
            </a:r>
            <a:r>
              <a:rPr lang="en-US" sz="2400" dirty="0">
                <a:solidFill>
                  <a:srgbClr val="4A4A4A"/>
                </a:solidFill>
                <a:latin typeface="Open Sans" panose="020B0606030504020204" pitchFamily="34" charset="0"/>
              </a:rPr>
              <a:t>– This step generates complete data after the Expectation step updates the missing values in the data.</a:t>
            </a:r>
          </a:p>
          <a:p>
            <a:pPr>
              <a:lnSpc>
                <a:spcPct val="110000"/>
              </a:lnSpc>
            </a:pPr>
            <a:r>
              <a:rPr lang="en-US" sz="2400" dirty="0">
                <a:solidFill>
                  <a:srgbClr val="4A4A4A"/>
                </a:solidFill>
                <a:latin typeface="Open Sans" panose="020B0606030504020204" pitchFamily="34" charset="0"/>
              </a:rPr>
              <a:t>Execute the step 2 and 3 until the convergence is met.</a:t>
            </a:r>
          </a:p>
          <a:p>
            <a:pPr>
              <a:lnSpc>
                <a:spcPct val="110000"/>
              </a:lnSpc>
            </a:pPr>
            <a:r>
              <a:rPr lang="en-US" sz="2400" b="1" dirty="0">
                <a:solidFill>
                  <a:srgbClr val="4A4A4A"/>
                </a:solidFill>
                <a:latin typeface="Open Sans" panose="020B0606030504020204" pitchFamily="34" charset="0"/>
              </a:rPr>
              <a:t>Convergence</a:t>
            </a:r>
            <a:r>
              <a:rPr lang="en-US" sz="2400" dirty="0">
                <a:solidFill>
                  <a:srgbClr val="4A4A4A"/>
                </a:solidFill>
                <a:latin typeface="Open Sans" panose="020B0606030504020204" pitchFamily="34" charset="0"/>
              </a:rPr>
              <a:t> – The concept of convergence in probability is based on intuition. Let’s say we have two random variables if the probability of their difference is very small, it is said to be converged. In this case, convergence means if the values match each other.</a:t>
            </a:r>
          </a:p>
          <a:p>
            <a:endParaRPr lang="en-IN" dirty="0"/>
          </a:p>
        </p:txBody>
      </p:sp>
    </p:spTree>
    <p:extLst>
      <p:ext uri="{BB962C8B-B14F-4D97-AF65-F5344CB8AC3E}">
        <p14:creationId xmlns:p14="http://schemas.microsoft.com/office/powerpoint/2010/main" val="556500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D12F7-5F75-ED05-5272-FF88C8F6A61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A3A35EF-C7DB-7D8A-D5F4-E95606EE0BE5}"/>
              </a:ext>
            </a:extLst>
          </p:cNvPr>
          <p:cNvPicPr>
            <a:picLocks noGrp="1" noChangeAspect="1"/>
          </p:cNvPicPr>
          <p:nvPr>
            <p:ph idx="1"/>
          </p:nvPr>
        </p:nvPicPr>
        <p:blipFill>
          <a:blip r:embed="rId2"/>
          <a:stretch>
            <a:fillRect/>
          </a:stretch>
        </p:blipFill>
        <p:spPr>
          <a:xfrm>
            <a:off x="1039964" y="2002687"/>
            <a:ext cx="9432090" cy="3192531"/>
          </a:xfrm>
        </p:spPr>
      </p:pic>
    </p:spTree>
    <p:extLst>
      <p:ext uri="{BB962C8B-B14F-4D97-AF65-F5344CB8AC3E}">
        <p14:creationId xmlns:p14="http://schemas.microsoft.com/office/powerpoint/2010/main" val="654415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85A0F-F1AB-4186-4849-6A6C84C8FB5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AC66B40-1E83-FC3D-6F1A-9B420C0CE8FD}"/>
              </a:ext>
            </a:extLst>
          </p:cNvPr>
          <p:cNvPicPr>
            <a:picLocks noGrp="1" noChangeAspect="1"/>
          </p:cNvPicPr>
          <p:nvPr>
            <p:ph idx="1"/>
          </p:nvPr>
        </p:nvPicPr>
        <p:blipFill>
          <a:blip r:embed="rId2"/>
          <a:stretch>
            <a:fillRect/>
          </a:stretch>
        </p:blipFill>
        <p:spPr>
          <a:xfrm>
            <a:off x="1885585" y="2107560"/>
            <a:ext cx="8420830" cy="3787468"/>
          </a:xfrm>
        </p:spPr>
      </p:pic>
      <p:pic>
        <p:nvPicPr>
          <p:cNvPr id="7" name="Picture 6">
            <a:extLst>
              <a:ext uri="{FF2B5EF4-FFF2-40B4-BE49-F238E27FC236}">
                <a16:creationId xmlns:a16="http://schemas.microsoft.com/office/drawing/2014/main" id="{432A8B77-2EB4-95D9-EA8B-CE33DE49ECC5}"/>
              </a:ext>
            </a:extLst>
          </p:cNvPr>
          <p:cNvPicPr>
            <a:picLocks noChangeAspect="1"/>
          </p:cNvPicPr>
          <p:nvPr/>
        </p:nvPicPr>
        <p:blipFill>
          <a:blip r:embed="rId3"/>
          <a:stretch>
            <a:fillRect/>
          </a:stretch>
        </p:blipFill>
        <p:spPr>
          <a:xfrm>
            <a:off x="1801758" y="1234250"/>
            <a:ext cx="8588484" cy="4389500"/>
          </a:xfrm>
          <a:prstGeom prst="rect">
            <a:avLst/>
          </a:prstGeom>
        </p:spPr>
      </p:pic>
    </p:spTree>
    <p:extLst>
      <p:ext uri="{BB962C8B-B14F-4D97-AF65-F5344CB8AC3E}">
        <p14:creationId xmlns:p14="http://schemas.microsoft.com/office/powerpoint/2010/main" val="2280370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F18B0-6FA7-24B6-2EFB-21AD18E17FE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B9D1ED1-F24E-9101-DFED-DF288036071B}"/>
              </a:ext>
            </a:extLst>
          </p:cNvPr>
          <p:cNvPicPr>
            <a:picLocks noGrp="1" noChangeAspect="1"/>
          </p:cNvPicPr>
          <p:nvPr>
            <p:ph idx="1"/>
          </p:nvPr>
        </p:nvPicPr>
        <p:blipFill>
          <a:blip r:embed="rId2"/>
          <a:stretch>
            <a:fillRect/>
          </a:stretch>
        </p:blipFill>
        <p:spPr>
          <a:xfrm>
            <a:off x="1897016" y="2031353"/>
            <a:ext cx="8397968" cy="3939881"/>
          </a:xfrm>
        </p:spPr>
      </p:pic>
    </p:spTree>
    <p:extLst>
      <p:ext uri="{BB962C8B-B14F-4D97-AF65-F5344CB8AC3E}">
        <p14:creationId xmlns:p14="http://schemas.microsoft.com/office/powerpoint/2010/main" val="2253251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44D52-203F-F9A0-7EB5-D71EF813778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B967223-DC85-958A-6742-166DF578390E}"/>
              </a:ext>
            </a:extLst>
          </p:cNvPr>
          <p:cNvPicPr>
            <a:picLocks noGrp="1" noChangeAspect="1"/>
          </p:cNvPicPr>
          <p:nvPr>
            <p:ph idx="1"/>
          </p:nvPr>
        </p:nvPicPr>
        <p:blipFill>
          <a:blip r:embed="rId2"/>
          <a:stretch>
            <a:fillRect/>
          </a:stretch>
        </p:blipFill>
        <p:spPr>
          <a:xfrm>
            <a:off x="2106584" y="2244732"/>
            <a:ext cx="7978831" cy="3513124"/>
          </a:xfrm>
        </p:spPr>
      </p:pic>
    </p:spTree>
    <p:extLst>
      <p:ext uri="{BB962C8B-B14F-4D97-AF65-F5344CB8AC3E}">
        <p14:creationId xmlns:p14="http://schemas.microsoft.com/office/powerpoint/2010/main" val="2574453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4542B-FD2E-465D-BD13-17660DF689C1}"/>
              </a:ext>
            </a:extLst>
          </p:cNvPr>
          <p:cNvSpPr>
            <a:spLocks noGrp="1"/>
          </p:cNvSpPr>
          <p:nvPr>
            <p:ph type="title"/>
          </p:nvPr>
        </p:nvSpPr>
        <p:spPr/>
        <p:txBody>
          <a:bodyPr/>
          <a:lstStyle/>
          <a:p>
            <a:r>
              <a:rPr lang="en-IN" b="1" i="0" dirty="0">
                <a:solidFill>
                  <a:srgbClr val="4A4A4A"/>
                </a:solidFill>
                <a:effectLst/>
                <a:latin typeface="Open Sans" panose="020B0606030504020204" pitchFamily="34" charset="0"/>
              </a:rPr>
              <a:t>How Does It Work?</a:t>
            </a:r>
            <a:br>
              <a:rPr lang="en-IN" b="0" i="0" dirty="0">
                <a:solidFill>
                  <a:srgbClr val="4A4A4A"/>
                </a:solidFill>
                <a:effectLst/>
                <a:latin typeface="Open Sans" panose="020B0606030504020204" pitchFamily="34" charset="0"/>
              </a:rPr>
            </a:br>
            <a:endParaRPr lang="en-IN" dirty="0"/>
          </a:p>
        </p:txBody>
      </p:sp>
      <p:pic>
        <p:nvPicPr>
          <p:cNvPr id="2050" name="Picture 2" descr="flowchart - em algorithm in machine learning - edureka">
            <a:extLst>
              <a:ext uri="{FF2B5EF4-FFF2-40B4-BE49-F238E27FC236}">
                <a16:creationId xmlns:a16="http://schemas.microsoft.com/office/drawing/2014/main" id="{A021140F-9456-4CFC-ADA9-6C434404C7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35606" y="1606119"/>
            <a:ext cx="6558649" cy="44308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2F99082-0CD8-402B-A1EE-17BD1DD0D5BF}"/>
              </a:ext>
            </a:extLst>
          </p:cNvPr>
          <p:cNvSpPr txBox="1"/>
          <p:nvPr/>
        </p:nvSpPr>
        <p:spPr>
          <a:xfrm>
            <a:off x="3593990" y="5349442"/>
            <a:ext cx="818984" cy="369332"/>
          </a:xfrm>
          <a:prstGeom prst="rect">
            <a:avLst/>
          </a:prstGeom>
          <a:solidFill>
            <a:schemeClr val="bg1"/>
          </a:solidFill>
        </p:spPr>
        <p:txBody>
          <a:bodyPr wrap="square" rtlCol="0">
            <a:spAutoFit/>
          </a:bodyPr>
          <a:lstStyle/>
          <a:p>
            <a:endParaRPr lang="en-IN" dirty="0">
              <a:solidFill>
                <a:schemeClr val="bg1"/>
              </a:solidFill>
            </a:endParaRPr>
          </a:p>
        </p:txBody>
      </p:sp>
    </p:spTree>
    <p:extLst>
      <p:ext uri="{BB962C8B-B14F-4D97-AF65-F5344CB8AC3E}">
        <p14:creationId xmlns:p14="http://schemas.microsoft.com/office/powerpoint/2010/main" val="395703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6C5F-90BF-47A9-A27B-D4FC42BD7A48}"/>
              </a:ext>
            </a:extLst>
          </p:cNvPr>
          <p:cNvSpPr>
            <a:spLocks noGrp="1"/>
          </p:cNvSpPr>
          <p:nvPr>
            <p:ph type="title"/>
          </p:nvPr>
        </p:nvSpPr>
        <p:spPr/>
        <p:txBody>
          <a:bodyPr>
            <a:normAutofit fontScale="90000"/>
          </a:bodyPr>
          <a:lstStyle/>
          <a:p>
            <a:r>
              <a:rPr lang="en-IN" b="1" i="0" dirty="0">
                <a:solidFill>
                  <a:srgbClr val="4A4A4A"/>
                </a:solidFill>
                <a:effectLst/>
                <a:latin typeface="Open Sans" panose="020B0606030504020204" pitchFamily="34" charset="0"/>
              </a:rPr>
              <a:t>Advantages And Disadvantages of EM</a:t>
            </a:r>
            <a:br>
              <a:rPr lang="en-IN" b="0" i="0" dirty="0">
                <a:solidFill>
                  <a:srgbClr val="4A4A4A"/>
                </a:solidFill>
                <a:effectLst/>
                <a:latin typeface="Open Sans" panose="020B0606030504020204" pitchFamily="34" charset="0"/>
              </a:rPr>
            </a:br>
            <a:endParaRPr lang="en-IN" dirty="0"/>
          </a:p>
        </p:txBody>
      </p:sp>
      <p:pic>
        <p:nvPicPr>
          <p:cNvPr id="5" name="Content Placeholder 4">
            <a:extLst>
              <a:ext uri="{FF2B5EF4-FFF2-40B4-BE49-F238E27FC236}">
                <a16:creationId xmlns:a16="http://schemas.microsoft.com/office/drawing/2014/main" id="{ADC73920-4411-4F6C-AEE0-59A9D316EF48}"/>
              </a:ext>
            </a:extLst>
          </p:cNvPr>
          <p:cNvPicPr>
            <a:picLocks noGrp="1" noChangeAspect="1"/>
          </p:cNvPicPr>
          <p:nvPr>
            <p:ph idx="1"/>
          </p:nvPr>
        </p:nvPicPr>
        <p:blipFill>
          <a:blip r:embed="rId2"/>
          <a:stretch>
            <a:fillRect/>
          </a:stretch>
        </p:blipFill>
        <p:spPr>
          <a:xfrm>
            <a:off x="1422430" y="2790909"/>
            <a:ext cx="9178895" cy="2377198"/>
          </a:xfrm>
        </p:spPr>
      </p:pic>
    </p:spTree>
    <p:extLst>
      <p:ext uri="{BB962C8B-B14F-4D97-AF65-F5344CB8AC3E}">
        <p14:creationId xmlns:p14="http://schemas.microsoft.com/office/powerpoint/2010/main" val="155371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4D902-3105-4CE9-9EB3-0B02C55C821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769BD0A-15B1-4C1F-AD07-378C86B2D0A6}"/>
              </a:ext>
            </a:extLst>
          </p:cNvPr>
          <p:cNvPicPr>
            <a:picLocks noGrp="1" noChangeAspect="1"/>
          </p:cNvPicPr>
          <p:nvPr>
            <p:ph idx="1"/>
          </p:nvPr>
        </p:nvPicPr>
        <p:blipFill>
          <a:blip r:embed="rId2"/>
          <a:stretch>
            <a:fillRect/>
          </a:stretch>
        </p:blipFill>
        <p:spPr>
          <a:xfrm>
            <a:off x="838200" y="2097235"/>
            <a:ext cx="10515600" cy="3808118"/>
          </a:xfrm>
        </p:spPr>
      </p:pic>
    </p:spTree>
    <p:extLst>
      <p:ext uri="{BB962C8B-B14F-4D97-AF65-F5344CB8AC3E}">
        <p14:creationId xmlns:p14="http://schemas.microsoft.com/office/powerpoint/2010/main" val="1490015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83E81-9745-4D43-BDEC-4BBA8D0E76ED}"/>
              </a:ext>
            </a:extLst>
          </p:cNvPr>
          <p:cNvSpPr>
            <a:spLocks noGrp="1"/>
          </p:cNvSpPr>
          <p:nvPr>
            <p:ph type="title"/>
          </p:nvPr>
        </p:nvSpPr>
        <p:spPr/>
        <p:txBody>
          <a:bodyPr/>
          <a:lstStyle/>
          <a:p>
            <a:r>
              <a:rPr lang="en-IN" b="0" i="0" dirty="0">
                <a:effectLst/>
                <a:latin typeface="Roboto" panose="02000000000000000000" pitchFamily="2" charset="0"/>
              </a:rPr>
              <a:t>EM algorithm for Clustering</a:t>
            </a:r>
            <a:br>
              <a:rPr lang="en-IN" b="0" i="0" dirty="0">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B50D6405-EA5D-4950-B09F-5935E6A71665}"/>
              </a:ext>
            </a:extLst>
          </p:cNvPr>
          <p:cNvSpPr>
            <a:spLocks noGrp="1"/>
          </p:cNvSpPr>
          <p:nvPr>
            <p:ph idx="1"/>
          </p:nvPr>
        </p:nvSpPr>
        <p:spPr/>
        <p:txBody>
          <a:bodyPr/>
          <a:lstStyle/>
          <a:p>
            <a:r>
              <a:rPr lang="en-US" dirty="0"/>
              <a:t>Why we need EM for clustering even when we have  </a:t>
            </a:r>
            <a:r>
              <a:rPr lang="en-US" dirty="0" err="1"/>
              <a:t>Kmeans</a:t>
            </a:r>
            <a:r>
              <a:rPr lang="en-US" dirty="0"/>
              <a:t> clustering</a:t>
            </a:r>
          </a:p>
          <a:p>
            <a:endParaRPr lang="en-IN" dirty="0"/>
          </a:p>
        </p:txBody>
      </p:sp>
      <p:pic>
        <p:nvPicPr>
          <p:cNvPr id="5" name="Picture 4">
            <a:extLst>
              <a:ext uri="{FF2B5EF4-FFF2-40B4-BE49-F238E27FC236}">
                <a16:creationId xmlns:a16="http://schemas.microsoft.com/office/drawing/2014/main" id="{8F386926-86A0-4EB4-9A01-247207BE8902}"/>
              </a:ext>
            </a:extLst>
          </p:cNvPr>
          <p:cNvPicPr>
            <a:picLocks noChangeAspect="1"/>
          </p:cNvPicPr>
          <p:nvPr/>
        </p:nvPicPr>
        <p:blipFill>
          <a:blip r:embed="rId2"/>
          <a:stretch>
            <a:fillRect/>
          </a:stretch>
        </p:blipFill>
        <p:spPr>
          <a:xfrm>
            <a:off x="3363814" y="2639833"/>
            <a:ext cx="4946467" cy="4079204"/>
          </a:xfrm>
          <a:prstGeom prst="rect">
            <a:avLst/>
          </a:prstGeom>
        </p:spPr>
      </p:pic>
      <p:sp>
        <p:nvSpPr>
          <p:cNvPr id="4" name="Rectangle 3">
            <a:extLst>
              <a:ext uri="{FF2B5EF4-FFF2-40B4-BE49-F238E27FC236}">
                <a16:creationId xmlns:a16="http://schemas.microsoft.com/office/drawing/2014/main" id="{A2A0E9CA-586E-25F6-DBE0-B94B217976DE}"/>
              </a:ext>
            </a:extLst>
          </p:cNvPr>
          <p:cNvSpPr/>
          <p:nvPr/>
        </p:nvSpPr>
        <p:spPr>
          <a:xfrm>
            <a:off x="5761704" y="3320845"/>
            <a:ext cx="1474838" cy="2163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8659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CCDF-8F47-B794-220E-0AE3BCB3CF2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7F1685B-5162-8ED1-8F3E-29D3B21492A8}"/>
              </a:ext>
            </a:extLst>
          </p:cNvPr>
          <p:cNvPicPr>
            <a:picLocks noGrp="1" noChangeAspect="1"/>
          </p:cNvPicPr>
          <p:nvPr>
            <p:ph idx="1"/>
          </p:nvPr>
        </p:nvPicPr>
        <p:blipFill>
          <a:blip r:embed="rId2"/>
          <a:stretch>
            <a:fillRect/>
          </a:stretch>
        </p:blipFill>
        <p:spPr>
          <a:xfrm>
            <a:off x="1278194" y="1171467"/>
            <a:ext cx="9114503" cy="5370531"/>
          </a:xfrm>
        </p:spPr>
      </p:pic>
    </p:spTree>
    <p:extLst>
      <p:ext uri="{BB962C8B-B14F-4D97-AF65-F5344CB8AC3E}">
        <p14:creationId xmlns:p14="http://schemas.microsoft.com/office/powerpoint/2010/main" val="3602253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F352E-825C-F227-582F-C7ED1C365FB5}"/>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42139624-8815-763E-6CDC-5E59CABF5A5A}"/>
              </a:ext>
            </a:extLst>
          </p:cNvPr>
          <p:cNvSpPr txBox="1">
            <a:spLocks noGrp="1"/>
          </p:cNvSpPr>
          <p:nvPr>
            <p:ph idx="1"/>
          </p:nvPr>
        </p:nvSpPr>
        <p:spPr>
          <a:xfrm>
            <a:off x="838200" y="1825625"/>
            <a:ext cx="10515600" cy="1255728"/>
          </a:xfrm>
          <a:prstGeom prst="rect">
            <a:avLst/>
          </a:prstGeom>
          <a:noFill/>
        </p:spPr>
        <p:txBody>
          <a:bodyPr wrap="square">
            <a:spAutoFit/>
          </a:bodyPr>
          <a:lstStyle/>
          <a:p>
            <a:pPr algn="just"/>
            <a:r>
              <a:rPr lang="en-US" dirty="0"/>
              <a:t>In the context of clustering, a generative model refers to a probabilistic model that assumes that the data is generated from a specific underlying distribution or process.</a:t>
            </a:r>
          </a:p>
        </p:txBody>
      </p:sp>
    </p:spTree>
    <p:extLst>
      <p:ext uri="{BB962C8B-B14F-4D97-AF65-F5344CB8AC3E}">
        <p14:creationId xmlns:p14="http://schemas.microsoft.com/office/powerpoint/2010/main" val="1018192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6702F-92FC-8F41-81AD-FCC6CB15B8F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E433D55-1F31-DEBA-86BF-BC654EB0850D}"/>
              </a:ext>
            </a:extLst>
          </p:cNvPr>
          <p:cNvPicPr>
            <a:picLocks noGrp="1" noChangeAspect="1"/>
          </p:cNvPicPr>
          <p:nvPr>
            <p:ph idx="1"/>
          </p:nvPr>
        </p:nvPicPr>
        <p:blipFill>
          <a:blip r:embed="rId2"/>
          <a:stretch>
            <a:fillRect/>
          </a:stretch>
        </p:blipFill>
        <p:spPr>
          <a:xfrm>
            <a:off x="2032017" y="1484672"/>
            <a:ext cx="7862856" cy="4741722"/>
          </a:xfrm>
        </p:spPr>
      </p:pic>
    </p:spTree>
    <p:extLst>
      <p:ext uri="{BB962C8B-B14F-4D97-AF65-F5344CB8AC3E}">
        <p14:creationId xmlns:p14="http://schemas.microsoft.com/office/powerpoint/2010/main" val="2022140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C8D92-62BD-46FC-C3FA-CAFFE7A689A5}"/>
              </a:ext>
            </a:extLst>
          </p:cNvPr>
          <p:cNvSpPr>
            <a:spLocks noGrp="1"/>
          </p:cNvSpPr>
          <p:nvPr>
            <p:ph type="title"/>
          </p:nvPr>
        </p:nvSpPr>
        <p:spPr/>
        <p:txBody>
          <a:bodyPr/>
          <a:lstStyle/>
          <a:p>
            <a:endParaRPr lang="en-IN"/>
          </a:p>
        </p:txBody>
      </p:sp>
      <p:pic>
        <p:nvPicPr>
          <p:cNvPr id="1026" name="Picture 2" descr="ML | Expectation-Maximization Algorithm - GeeksforGeeks">
            <a:extLst>
              <a:ext uri="{FF2B5EF4-FFF2-40B4-BE49-F238E27FC236}">
                <a16:creationId xmlns:a16="http://schemas.microsoft.com/office/drawing/2014/main" id="{202B9BD1-59EA-F5F4-D8BE-06F1BA20AA4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04004" y="365125"/>
            <a:ext cx="4591050" cy="23050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1490137-E337-9EF6-7347-4B14FF693C77}"/>
              </a:ext>
            </a:extLst>
          </p:cNvPr>
          <p:cNvSpPr txBox="1"/>
          <p:nvPr/>
        </p:nvSpPr>
        <p:spPr>
          <a:xfrm>
            <a:off x="1640541" y="3264985"/>
            <a:ext cx="8659906" cy="1477328"/>
          </a:xfrm>
          <a:prstGeom prst="rect">
            <a:avLst/>
          </a:prstGeom>
          <a:noFill/>
        </p:spPr>
        <p:txBody>
          <a:bodyPr wrap="square">
            <a:spAutoFit/>
          </a:bodyPr>
          <a:lstStyle/>
          <a:p>
            <a:r>
              <a:rPr lang="en-US" dirty="0"/>
              <a:t>In the E step, the algorithm computes the latent variables i.e. expectation of the log-likelihood using the current parameter estimates. </a:t>
            </a:r>
          </a:p>
          <a:p>
            <a:r>
              <a:rPr lang="en-US" dirty="0"/>
              <a:t>In the M step, the algorithm determines the parameters that maximize the expected log-likelihood obtained in the E step, and corresponding model parameters are updated based on the estimated latent variables. </a:t>
            </a:r>
          </a:p>
        </p:txBody>
      </p:sp>
    </p:spTree>
    <p:extLst>
      <p:ext uri="{BB962C8B-B14F-4D97-AF65-F5344CB8AC3E}">
        <p14:creationId xmlns:p14="http://schemas.microsoft.com/office/powerpoint/2010/main" val="4107045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5C621-304B-436C-928E-A0748C8BAF71}"/>
              </a:ext>
            </a:extLst>
          </p:cNvPr>
          <p:cNvSpPr>
            <a:spLocks noGrp="1"/>
          </p:cNvSpPr>
          <p:nvPr>
            <p:ph type="title"/>
          </p:nvPr>
        </p:nvSpPr>
        <p:spPr/>
        <p:txBody>
          <a:bodyPr/>
          <a:lstStyle/>
          <a:p>
            <a:r>
              <a:rPr lang="en-IN" b="0" i="0" dirty="0">
                <a:effectLst/>
                <a:latin typeface="Roboto" panose="02000000000000000000" pitchFamily="2" charset="0"/>
              </a:rPr>
              <a:t>EM algorithm for Clustering</a:t>
            </a:r>
            <a:br>
              <a:rPr lang="en-IN" b="0" i="0" dirty="0">
                <a:effectLst/>
                <a:latin typeface="Roboto" panose="02000000000000000000" pitchFamily="2" charset="0"/>
              </a:rPr>
            </a:br>
            <a:endParaRPr lang="en-IN" dirty="0"/>
          </a:p>
        </p:txBody>
      </p:sp>
      <p:pic>
        <p:nvPicPr>
          <p:cNvPr id="5" name="Content Placeholder 4">
            <a:extLst>
              <a:ext uri="{FF2B5EF4-FFF2-40B4-BE49-F238E27FC236}">
                <a16:creationId xmlns:a16="http://schemas.microsoft.com/office/drawing/2014/main" id="{1CC13EC8-3236-4AFE-8818-DCD93F4A62F9}"/>
              </a:ext>
            </a:extLst>
          </p:cNvPr>
          <p:cNvPicPr>
            <a:picLocks noGrp="1" noChangeAspect="1"/>
          </p:cNvPicPr>
          <p:nvPr>
            <p:ph idx="1"/>
          </p:nvPr>
        </p:nvPicPr>
        <p:blipFill>
          <a:blip r:embed="rId2"/>
          <a:stretch>
            <a:fillRect/>
          </a:stretch>
        </p:blipFill>
        <p:spPr>
          <a:xfrm>
            <a:off x="3264310" y="1569985"/>
            <a:ext cx="5125135" cy="4779973"/>
          </a:xfrm>
        </p:spPr>
      </p:pic>
    </p:spTree>
    <p:extLst>
      <p:ext uri="{BB962C8B-B14F-4D97-AF65-F5344CB8AC3E}">
        <p14:creationId xmlns:p14="http://schemas.microsoft.com/office/powerpoint/2010/main" val="3955252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CF5E-E488-4D92-B25D-17F9BDE3F69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14C186B-F41D-48AD-99FE-E2DB395C313F}"/>
              </a:ext>
            </a:extLst>
          </p:cNvPr>
          <p:cNvPicPr>
            <a:picLocks noGrp="1" noChangeAspect="1"/>
          </p:cNvPicPr>
          <p:nvPr>
            <p:ph idx="1"/>
          </p:nvPr>
        </p:nvPicPr>
        <p:blipFill>
          <a:blip r:embed="rId2"/>
          <a:stretch>
            <a:fillRect/>
          </a:stretch>
        </p:blipFill>
        <p:spPr>
          <a:xfrm>
            <a:off x="3274142" y="542078"/>
            <a:ext cx="4699819" cy="6226836"/>
          </a:xfrm>
        </p:spPr>
      </p:pic>
    </p:spTree>
    <p:extLst>
      <p:ext uri="{BB962C8B-B14F-4D97-AF65-F5344CB8AC3E}">
        <p14:creationId xmlns:p14="http://schemas.microsoft.com/office/powerpoint/2010/main" val="2742129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09822-9A2C-4E5F-BE56-F85B2489BBE7}"/>
              </a:ext>
            </a:extLst>
          </p:cNvPr>
          <p:cNvSpPr>
            <a:spLocks noGrp="1"/>
          </p:cNvSpPr>
          <p:nvPr>
            <p:ph type="title"/>
          </p:nvPr>
        </p:nvSpPr>
        <p:spPr>
          <a:xfrm>
            <a:off x="838200" y="365125"/>
            <a:ext cx="10515600" cy="421455"/>
          </a:xfrm>
        </p:spPr>
        <p:txBody>
          <a:bodyPr>
            <a:normAutofit/>
          </a:bodyPr>
          <a:lstStyle/>
          <a:p>
            <a:r>
              <a:rPr lang="en-US" sz="2400" b="1" dirty="0">
                <a:solidFill>
                  <a:srgbClr val="FF0000"/>
                </a:solidFill>
              </a:rPr>
              <a:t>Expectation-Maximization (EM) algorithm for unsupervised learning clustering (imp)</a:t>
            </a:r>
            <a:endParaRPr lang="en-IN" sz="2400" b="1" dirty="0">
              <a:solidFill>
                <a:srgbClr val="FF0000"/>
              </a:solidFill>
            </a:endParaRPr>
          </a:p>
        </p:txBody>
      </p:sp>
      <p:sp>
        <p:nvSpPr>
          <p:cNvPr id="7" name="Content Placeholder 6">
            <a:extLst>
              <a:ext uri="{FF2B5EF4-FFF2-40B4-BE49-F238E27FC236}">
                <a16:creationId xmlns:a16="http://schemas.microsoft.com/office/drawing/2014/main" id="{24583740-221C-4EE1-B3E1-E6227999CCF4}"/>
              </a:ext>
            </a:extLst>
          </p:cNvPr>
          <p:cNvSpPr>
            <a:spLocks noGrp="1"/>
          </p:cNvSpPr>
          <p:nvPr>
            <p:ph idx="1"/>
          </p:nvPr>
        </p:nvSpPr>
        <p:spPr/>
        <p:txBody>
          <a:bodyPr/>
          <a:lstStyle/>
          <a:p>
            <a:endParaRPr lang="en-IN" dirty="0"/>
          </a:p>
        </p:txBody>
      </p:sp>
      <p:cxnSp>
        <p:nvCxnSpPr>
          <p:cNvPr id="11" name="Straight Arrow Connector 10">
            <a:extLst>
              <a:ext uri="{FF2B5EF4-FFF2-40B4-BE49-F238E27FC236}">
                <a16:creationId xmlns:a16="http://schemas.microsoft.com/office/drawing/2014/main" id="{5A05B6FF-92F0-49B5-87C7-E8BBCBA6BA0C}"/>
              </a:ext>
            </a:extLst>
          </p:cNvPr>
          <p:cNvCxnSpPr/>
          <p:nvPr/>
        </p:nvCxnSpPr>
        <p:spPr>
          <a:xfrm>
            <a:off x="4601497" y="2428567"/>
            <a:ext cx="6685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914B9CB-E8C8-4717-9397-505A5867D087}"/>
              </a:ext>
            </a:extLst>
          </p:cNvPr>
          <p:cNvSpPr txBox="1"/>
          <p:nvPr/>
        </p:nvSpPr>
        <p:spPr>
          <a:xfrm>
            <a:off x="8832691" y="2393079"/>
            <a:ext cx="3803016" cy="738664"/>
          </a:xfrm>
          <a:prstGeom prst="rect">
            <a:avLst/>
          </a:prstGeom>
          <a:noFill/>
        </p:spPr>
        <p:txBody>
          <a:bodyPr wrap="square" rtlCol="0">
            <a:spAutoFit/>
          </a:bodyPr>
          <a:lstStyle/>
          <a:p>
            <a:r>
              <a:rPr lang="en-US" sz="1400" dirty="0"/>
              <a:t>N: Sum over N datapoints</a:t>
            </a:r>
          </a:p>
          <a:p>
            <a:r>
              <a:rPr lang="en-US" sz="1400" dirty="0"/>
              <a:t> K-data generated from k gaussian mixture models </a:t>
            </a:r>
            <a:endParaRPr lang="en-IN" sz="1400" dirty="0"/>
          </a:p>
        </p:txBody>
      </p:sp>
      <p:cxnSp>
        <p:nvCxnSpPr>
          <p:cNvPr id="15" name="Straight Arrow Connector 14">
            <a:extLst>
              <a:ext uri="{FF2B5EF4-FFF2-40B4-BE49-F238E27FC236}">
                <a16:creationId xmlns:a16="http://schemas.microsoft.com/office/drawing/2014/main" id="{B13866E1-BF24-4F13-9B77-94886EDDB0E6}"/>
              </a:ext>
            </a:extLst>
          </p:cNvPr>
          <p:cNvCxnSpPr>
            <a:cxnSpLocks/>
          </p:cNvCxnSpPr>
          <p:nvPr/>
        </p:nvCxnSpPr>
        <p:spPr>
          <a:xfrm>
            <a:off x="2846367" y="2762411"/>
            <a:ext cx="5129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D9A4FC2-8632-44B6-B5A0-AE80258A1395}"/>
              </a:ext>
            </a:extLst>
          </p:cNvPr>
          <p:cNvSpPr txBox="1"/>
          <p:nvPr/>
        </p:nvSpPr>
        <p:spPr>
          <a:xfrm>
            <a:off x="1329217" y="2582455"/>
            <a:ext cx="1773621" cy="307777"/>
          </a:xfrm>
          <a:prstGeom prst="rect">
            <a:avLst/>
          </a:prstGeom>
          <a:noFill/>
        </p:spPr>
        <p:txBody>
          <a:bodyPr wrap="square" rtlCol="0">
            <a:spAutoFit/>
          </a:bodyPr>
          <a:lstStyle/>
          <a:p>
            <a:r>
              <a:rPr lang="en-US" sz="1400" dirty="0"/>
              <a:t>Likelihood of  data </a:t>
            </a:r>
            <a:endParaRPr lang="en-IN" sz="1400" dirty="0"/>
          </a:p>
        </p:txBody>
      </p:sp>
      <p:pic>
        <p:nvPicPr>
          <p:cNvPr id="20" name="Picture 19">
            <a:extLst>
              <a:ext uri="{FF2B5EF4-FFF2-40B4-BE49-F238E27FC236}">
                <a16:creationId xmlns:a16="http://schemas.microsoft.com/office/drawing/2014/main" id="{19D5ABE5-EF57-42EC-91A3-C0CCDD71045E}"/>
              </a:ext>
            </a:extLst>
          </p:cNvPr>
          <p:cNvPicPr>
            <a:picLocks noChangeAspect="1"/>
          </p:cNvPicPr>
          <p:nvPr/>
        </p:nvPicPr>
        <p:blipFill>
          <a:blip r:embed="rId2"/>
          <a:stretch>
            <a:fillRect/>
          </a:stretch>
        </p:blipFill>
        <p:spPr>
          <a:xfrm>
            <a:off x="3524250" y="786580"/>
            <a:ext cx="5143500" cy="6071419"/>
          </a:xfrm>
          <a:prstGeom prst="rect">
            <a:avLst/>
          </a:prstGeom>
        </p:spPr>
      </p:pic>
      <p:sp>
        <p:nvSpPr>
          <p:cNvPr id="12" name="TextBox 11">
            <a:extLst>
              <a:ext uri="{FF2B5EF4-FFF2-40B4-BE49-F238E27FC236}">
                <a16:creationId xmlns:a16="http://schemas.microsoft.com/office/drawing/2014/main" id="{7F9AEA96-DF7D-42F8-A218-DF9E237F1115}"/>
              </a:ext>
            </a:extLst>
          </p:cNvPr>
          <p:cNvSpPr txBox="1"/>
          <p:nvPr/>
        </p:nvSpPr>
        <p:spPr>
          <a:xfrm>
            <a:off x="6411662" y="1742387"/>
            <a:ext cx="5107079" cy="307777"/>
          </a:xfrm>
          <a:prstGeom prst="rect">
            <a:avLst/>
          </a:prstGeom>
          <a:noFill/>
        </p:spPr>
        <p:txBody>
          <a:bodyPr wrap="square" rtlCol="0">
            <a:spAutoFit/>
          </a:bodyPr>
          <a:lstStyle/>
          <a:p>
            <a:r>
              <a:rPr lang="en-US" sz="1400" dirty="0"/>
              <a:t>Mixing weight, mean, covariance matrix</a:t>
            </a:r>
            <a:endParaRPr lang="en-IN" sz="1400" dirty="0"/>
          </a:p>
        </p:txBody>
      </p:sp>
      <p:cxnSp>
        <p:nvCxnSpPr>
          <p:cNvPr id="4" name="Straight Arrow Connector 3">
            <a:extLst>
              <a:ext uri="{FF2B5EF4-FFF2-40B4-BE49-F238E27FC236}">
                <a16:creationId xmlns:a16="http://schemas.microsoft.com/office/drawing/2014/main" id="{ABF1F8E0-B325-F764-E1F8-3012AA89AD94}"/>
              </a:ext>
            </a:extLst>
          </p:cNvPr>
          <p:cNvCxnSpPr/>
          <p:nvPr/>
        </p:nvCxnSpPr>
        <p:spPr>
          <a:xfrm>
            <a:off x="7352522" y="3974841"/>
            <a:ext cx="1688841" cy="298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3E18CCF-A867-09FF-20BD-2AEEE8EA0667}"/>
              </a:ext>
            </a:extLst>
          </p:cNvPr>
          <p:cNvSpPr txBox="1"/>
          <p:nvPr/>
        </p:nvSpPr>
        <p:spPr>
          <a:xfrm>
            <a:off x="9246637" y="3928188"/>
            <a:ext cx="1922106" cy="830997"/>
          </a:xfrm>
          <a:prstGeom prst="rect">
            <a:avLst/>
          </a:prstGeom>
          <a:noFill/>
        </p:spPr>
        <p:txBody>
          <a:bodyPr wrap="square" rtlCol="0">
            <a:spAutoFit/>
          </a:bodyPr>
          <a:lstStyle/>
          <a:p>
            <a:r>
              <a:rPr lang="en-US" sz="1600" dirty="0"/>
              <a:t>Probability that x belongs to a cluster or distribution</a:t>
            </a:r>
          </a:p>
        </p:txBody>
      </p:sp>
      <p:sp>
        <p:nvSpPr>
          <p:cNvPr id="6" name="TextBox 5">
            <a:extLst>
              <a:ext uri="{FF2B5EF4-FFF2-40B4-BE49-F238E27FC236}">
                <a16:creationId xmlns:a16="http://schemas.microsoft.com/office/drawing/2014/main" id="{4C1AF3F5-16DD-2284-B1BF-DB7ECFEAF41F}"/>
              </a:ext>
            </a:extLst>
          </p:cNvPr>
          <p:cNvSpPr txBox="1"/>
          <p:nvPr/>
        </p:nvSpPr>
        <p:spPr>
          <a:xfrm>
            <a:off x="3694922" y="5116518"/>
            <a:ext cx="5107079" cy="1741481"/>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cxnSp>
        <p:nvCxnSpPr>
          <p:cNvPr id="9" name="Straight Arrow Connector 8">
            <a:extLst>
              <a:ext uri="{FF2B5EF4-FFF2-40B4-BE49-F238E27FC236}">
                <a16:creationId xmlns:a16="http://schemas.microsoft.com/office/drawing/2014/main" id="{2BC2A609-F2B0-689D-502A-0906EA4DD74E}"/>
              </a:ext>
            </a:extLst>
          </p:cNvPr>
          <p:cNvCxnSpPr/>
          <p:nvPr/>
        </p:nvCxnSpPr>
        <p:spPr>
          <a:xfrm>
            <a:off x="7669161" y="4817806"/>
            <a:ext cx="1577476" cy="747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65166B5-0D5F-B57F-0A15-F131BAC34065}"/>
              </a:ext>
            </a:extLst>
          </p:cNvPr>
          <p:cNvSpPr txBox="1"/>
          <p:nvPr/>
        </p:nvSpPr>
        <p:spPr>
          <a:xfrm>
            <a:off x="9527458" y="5309408"/>
            <a:ext cx="1425677" cy="646331"/>
          </a:xfrm>
          <a:prstGeom prst="rect">
            <a:avLst/>
          </a:prstGeom>
          <a:noFill/>
        </p:spPr>
        <p:txBody>
          <a:bodyPr wrap="square" rtlCol="0">
            <a:spAutoFit/>
          </a:bodyPr>
          <a:lstStyle/>
          <a:p>
            <a:r>
              <a:rPr lang="en-US" dirty="0"/>
              <a:t>Refine the parameters</a:t>
            </a:r>
          </a:p>
        </p:txBody>
      </p:sp>
    </p:spTree>
    <p:extLst>
      <p:ext uri="{BB962C8B-B14F-4D97-AF65-F5344CB8AC3E}">
        <p14:creationId xmlns:p14="http://schemas.microsoft.com/office/powerpoint/2010/main" val="22018029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EAC2-2B15-400E-8C12-E3D8F6F2684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9FBEFD0-523E-496B-B826-B7CB6AF59E7F}"/>
              </a:ext>
            </a:extLst>
          </p:cNvPr>
          <p:cNvPicPr>
            <a:picLocks noGrp="1" noChangeAspect="1"/>
          </p:cNvPicPr>
          <p:nvPr>
            <p:ph idx="1"/>
          </p:nvPr>
        </p:nvPicPr>
        <p:blipFill>
          <a:blip r:embed="rId2"/>
          <a:stretch>
            <a:fillRect/>
          </a:stretch>
        </p:blipFill>
        <p:spPr>
          <a:xfrm>
            <a:off x="1744855" y="2081212"/>
            <a:ext cx="5267325" cy="2695575"/>
          </a:xfrm>
        </p:spPr>
      </p:pic>
    </p:spTree>
    <p:extLst>
      <p:ext uri="{BB962C8B-B14F-4D97-AF65-F5344CB8AC3E}">
        <p14:creationId xmlns:p14="http://schemas.microsoft.com/office/powerpoint/2010/main" val="1844673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793F7-85D5-4AF0-A976-FAA30B3747C9}"/>
              </a:ext>
            </a:extLst>
          </p:cNvPr>
          <p:cNvSpPr>
            <a:spLocks noGrp="1"/>
          </p:cNvSpPr>
          <p:nvPr>
            <p:ph type="title"/>
          </p:nvPr>
        </p:nvSpPr>
        <p:spPr/>
        <p:txBody>
          <a:bodyPr/>
          <a:lstStyle/>
          <a:p>
            <a:r>
              <a:rPr lang="en-US"/>
              <a:t>Important References</a:t>
            </a:r>
            <a:endParaRPr lang="en-IN" dirty="0"/>
          </a:p>
        </p:txBody>
      </p:sp>
      <p:sp>
        <p:nvSpPr>
          <p:cNvPr id="7" name="Content Placeholder 6">
            <a:extLst>
              <a:ext uri="{FF2B5EF4-FFF2-40B4-BE49-F238E27FC236}">
                <a16:creationId xmlns:a16="http://schemas.microsoft.com/office/drawing/2014/main" id="{D760D0C6-FA06-46A5-A4DF-56AD2CD82760}"/>
              </a:ext>
            </a:extLst>
          </p:cNvPr>
          <p:cNvSpPr>
            <a:spLocks noGrp="1"/>
          </p:cNvSpPr>
          <p:nvPr>
            <p:ph idx="1"/>
          </p:nvPr>
        </p:nvSpPr>
        <p:spPr/>
        <p:txBody>
          <a:bodyPr/>
          <a:lstStyle/>
          <a:p>
            <a:r>
              <a:rPr lang="en-US" dirty="0">
                <a:hlinkClick r:id="rId2"/>
              </a:rPr>
              <a:t>How to use Gaussian Mixture Models, EM algorithm for Clustering? | Machine Learning Step By Step – YouTube</a:t>
            </a:r>
            <a:endParaRPr lang="en-US" dirty="0"/>
          </a:p>
          <a:p>
            <a:endParaRPr lang="en-US" dirty="0"/>
          </a:p>
          <a:p>
            <a:r>
              <a:rPr lang="pt-BR" dirty="0">
                <a:hlinkClick r:id="rId3"/>
              </a:rPr>
              <a:t>EM Algorithm : Data Science Concepts - YouTube</a:t>
            </a:r>
            <a:endParaRPr lang="en-IN" dirty="0"/>
          </a:p>
        </p:txBody>
      </p:sp>
    </p:spTree>
    <p:extLst>
      <p:ext uri="{BB962C8B-B14F-4D97-AF65-F5344CB8AC3E}">
        <p14:creationId xmlns:p14="http://schemas.microsoft.com/office/powerpoint/2010/main" val="3279752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7590</TotalTime>
  <Words>532</Words>
  <Application>Microsoft Office PowerPoint</Application>
  <PresentationFormat>Widescreen</PresentationFormat>
  <Paragraphs>33</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Open Sans</vt:lpstr>
      <vt:lpstr>Roboto</vt:lpstr>
      <vt:lpstr>Office Theme</vt:lpstr>
      <vt:lpstr>EM Algorithm</vt:lpstr>
      <vt:lpstr>PowerPoint Presentation</vt:lpstr>
      <vt:lpstr>What is EM Algorithm In Machine Learning? </vt:lpstr>
      <vt:lpstr>PowerPoint Presentation</vt:lpstr>
      <vt:lpstr>PowerPoint Presentation</vt:lpstr>
      <vt:lpstr>PowerPoint Presentation</vt:lpstr>
      <vt:lpstr>PowerPoint Presentation</vt:lpstr>
      <vt:lpstr>PowerPoint Presentation</vt:lpstr>
      <vt:lpstr>How Does It Work? </vt:lpstr>
      <vt:lpstr>Advantages And Disadvantages of EM </vt:lpstr>
      <vt:lpstr>PowerPoint Presentation</vt:lpstr>
      <vt:lpstr>EM algorithm for Clustering </vt:lpstr>
      <vt:lpstr>PowerPoint Presentation</vt:lpstr>
      <vt:lpstr>PowerPoint Presentation</vt:lpstr>
      <vt:lpstr>PowerPoint Presentation</vt:lpstr>
      <vt:lpstr>PowerPoint Presentation</vt:lpstr>
      <vt:lpstr>EM algorithm for Clustering </vt:lpstr>
      <vt:lpstr>PowerPoint Presentation</vt:lpstr>
      <vt:lpstr>Expectation-Maximization (EM) algorithm for unsupervised learning clustering (imp)</vt:lpstr>
      <vt:lpstr>PowerPoint Presentation</vt:lpstr>
      <vt:lpstr>Important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 Algorithm</dc:title>
  <dc:creator>kriti ohri</dc:creator>
  <cp:lastModifiedBy>Kriti Ohri</cp:lastModifiedBy>
  <cp:revision>6</cp:revision>
  <dcterms:created xsi:type="dcterms:W3CDTF">2021-12-09T04:16:52Z</dcterms:created>
  <dcterms:modified xsi:type="dcterms:W3CDTF">2024-11-21T04:53:52Z</dcterms:modified>
</cp:coreProperties>
</file>