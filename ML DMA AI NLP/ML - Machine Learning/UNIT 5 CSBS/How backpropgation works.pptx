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62" r:id="rId2"/>
    <p:sldId id="553" r:id="rId3"/>
    <p:sldId id="538" r:id="rId4"/>
    <p:sldId id="555" r:id="rId5"/>
    <p:sldId id="556" r:id="rId6"/>
    <p:sldId id="539" r:id="rId7"/>
    <p:sldId id="540" r:id="rId8"/>
    <p:sldId id="541" r:id="rId9"/>
    <p:sldId id="542" r:id="rId10"/>
    <p:sldId id="544" r:id="rId11"/>
    <p:sldId id="545" r:id="rId12"/>
    <p:sldId id="546" r:id="rId13"/>
    <p:sldId id="552" r:id="rId14"/>
    <p:sldId id="548" r:id="rId15"/>
    <p:sldId id="549" r:id="rId16"/>
    <p:sldId id="554" r:id="rId17"/>
    <p:sldId id="55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D171B-E177-40D5-BA92-78E54A8091B3}" type="datetimeFigureOut">
              <a:rPr lang="en-IN" smtClean="0"/>
              <a:t>16-11-2024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D89E7E-C1F7-4DF7-8EC6-3B6F8E4413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144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4E39B-21D3-4B52-8E8D-29E5E4252E7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904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8B7BA-20B4-4FF5-A2E7-D115BBB3C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F6EA9-F8AC-46F3-BBA6-89A596936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AD58A-9C60-46E3-8FF0-F401377A9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4A53-D9EA-43BD-B26D-BA9D29B4BD67}" type="datetimeFigureOut">
              <a:rPr lang="en-IN" smtClean="0"/>
              <a:t>16-11-2024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0A302-70C7-4AA0-B009-1A8940283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C1A40-3BF9-472F-988F-BD3FEBB2E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ED3B-78C9-4556-8B67-2FAE34E4C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178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EC4A9-F9D2-4B34-AB56-4170C4B6E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84210-BB59-411F-B1D4-A269AB057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9243E-C7E8-4AC5-92D2-715C6D747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4A53-D9EA-43BD-B26D-BA9D29B4BD67}" type="datetimeFigureOut">
              <a:rPr lang="en-IN" smtClean="0"/>
              <a:t>16-11-2024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0CA57-AFC8-4AD8-8127-1F7E6929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C03C3-C24D-42CA-A2CA-576026A88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ED3B-78C9-4556-8B67-2FAE34E4C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547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2486F-AEF2-4549-AE4B-F2CA66E13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360B2-6448-42D8-8A2A-519A508FF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28778-3B95-4F92-96BB-06B099ED6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4A53-D9EA-43BD-B26D-BA9D29B4BD67}" type="datetimeFigureOut">
              <a:rPr lang="en-IN" smtClean="0"/>
              <a:t>16-11-2024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5FEC7-7E68-4A77-9A6D-8928F6EE3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7B913-91FA-4FF0-83A9-C4227AFD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ED3B-78C9-4556-8B67-2FAE34E4C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615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6CBB8-5A3F-495F-BE1C-DCCAD34A4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28D7A-7262-40E3-BC8E-702D3D3137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A26DD-CDDB-4BDD-BE05-D190E2792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5A57B-1A22-4EC2-84F3-83D087E4C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4A53-D9EA-43BD-B26D-BA9D29B4BD67}" type="datetimeFigureOut">
              <a:rPr lang="en-IN" smtClean="0"/>
              <a:t>16-11-2024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54EE3-8AFB-4C2C-B4E1-3186C091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D34FF-888F-460D-830F-D8C07204E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ED3B-78C9-4556-8B67-2FAE34E4C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206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6BACD-F4B8-4719-9AE8-3CFF15FE0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A9059-622A-4932-918E-BD0FBA041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AFF8A9-E527-4D9F-A930-0DEFAE522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BCBD67-9F82-4602-BE84-CC00973943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437062-A661-489B-953C-0FFD90FEB8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6A31B7-E2DF-4FFF-BABB-F259108C3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4A53-D9EA-43BD-B26D-BA9D29B4BD67}" type="datetimeFigureOut">
              <a:rPr lang="en-IN" smtClean="0"/>
              <a:t>16-11-2024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34D3B1-B0D3-4313-8133-B12835601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25AD5-F440-4C14-B478-3A74AF185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ED3B-78C9-4556-8B67-2FAE34E4C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658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BC86-8963-4DA0-BF27-6CB842B11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85598-BF22-40C3-8587-FDB5136A3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4A53-D9EA-43BD-B26D-BA9D29B4BD67}" type="datetimeFigureOut">
              <a:rPr lang="en-IN" smtClean="0"/>
              <a:t>16-11-2024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232242-EA19-47F7-9449-CDCA6B1F1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88622-F28E-4076-909F-BA562DD3E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ED3B-78C9-4556-8B67-2FAE34E4C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33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FDBCA8-0FCB-4796-9962-1DCDE2742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4A53-D9EA-43BD-B26D-BA9D29B4BD67}" type="datetimeFigureOut">
              <a:rPr lang="en-IN" smtClean="0"/>
              <a:t>16-11-2024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85D97E-90E3-41C7-B6A8-528ECFBA6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49D81-BF2D-42C6-8BFB-23C36E53C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ED3B-78C9-4556-8B67-2FAE34E4C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461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1ED13-A3E0-4767-A039-E2ED2A92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300C5-DB83-48F7-A146-3CD2C023E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123968-4A06-4E4A-852A-BF779CCFD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059BB-1959-4F8D-AF54-FAB9DC099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4A53-D9EA-43BD-B26D-BA9D29B4BD67}" type="datetimeFigureOut">
              <a:rPr lang="en-IN" smtClean="0"/>
              <a:t>16-11-2024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EC132-0B15-4649-BA96-68F322EA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78E7A-C48C-44F7-A836-CD5C88826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ED3B-78C9-4556-8B67-2FAE34E4C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696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69C6C-D4AD-49D5-8607-38D6D27EC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83020-4832-456C-A97B-913B93BBD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5481A-6DD3-42E2-BA56-C88C70DC9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4BE2C-B92E-45E8-B8E8-80478367F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4A53-D9EA-43BD-B26D-BA9D29B4BD67}" type="datetimeFigureOut">
              <a:rPr lang="en-IN" smtClean="0"/>
              <a:t>16-11-2024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27E61-706C-40DE-8E54-6F30D78DA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D4F66-A546-49F3-ADA0-81A0BE02B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ED3B-78C9-4556-8B67-2FAE34E4C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54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3D9F-F703-4D2B-8335-00239F367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AD8997-BBDB-4D96-B412-09A9FCB2B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1779A-B8F9-477E-A12F-E6017F38B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4A53-D9EA-43BD-B26D-BA9D29B4BD67}" type="datetimeFigureOut">
              <a:rPr lang="en-IN" smtClean="0"/>
              <a:t>16-11-2024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81366-84DF-4DBA-A8F7-CA36BB830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FD88-14AC-4B1B-9744-9BB64198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ED3B-78C9-4556-8B67-2FAE34E4C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274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BFBFF2-0A16-4BD5-AFFD-20F6C9CE78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E9C87-6E8B-433F-8D48-71FF4260B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AE6FA-95FB-4021-9E4B-A6D8ACEA0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4A53-D9EA-43BD-B26D-BA9D29B4BD67}" type="datetimeFigureOut">
              <a:rPr lang="en-IN" smtClean="0"/>
              <a:t>16-11-2024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A2EFE-702E-4A3F-AA63-C28E385CB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EF3CB-974A-47D2-940D-82B76349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ED3B-78C9-4556-8B67-2FAE34E4C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140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60A1E0-EF1F-4F49-B90B-E9F3FCDD8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50B17-420A-4B92-8CCB-5B6EE55EE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BA8EA-0F48-41DD-AB76-6034887D8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4A53-D9EA-43BD-B26D-BA9D29B4BD67}" type="datetimeFigureOut">
              <a:rPr lang="en-IN" smtClean="0"/>
              <a:t>16-11-2024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DF752-482D-40E8-9E85-DB714CAE3E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DF79B-F680-42CD-9405-D997EE344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7ED3B-78C9-4556-8B67-2FAE34E4C9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901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14D4819-D7DD-F22A-4C68-D50A73BD6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058" y="270120"/>
            <a:ext cx="11801419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VALLURUPALLI NAGESWARA RAO VIGNANA JYOTHI </a:t>
            </a:r>
            <a:r>
              <a:rPr lang="en-US" altLang="en-US" sz="2800" dirty="0"/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INSTITUTE OF ENGINEERING AND TECHNOLOGY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2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2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Science and Engineering </a:t>
            </a: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Backpropagation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Picture 3">
            <a:extLst>
              <a:ext uri="{FF2B5EF4-FFF2-40B4-BE49-F238E27FC236}">
                <a16:creationId xmlns:a16="http://schemas.microsoft.com/office/drawing/2014/main" id="{1F402572-1AC1-C244-FE3C-D3880CA04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3417" y="1335521"/>
            <a:ext cx="1790700" cy="166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75C2-6977-6830-5E74-51E385023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Machine Learning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4C03E4-1F28-2FB0-9B80-AE079E772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Kriti Ohri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0E109-75B6-7E45-AD9E-A8C351A7B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B91F-2838-4F0A-92F6-55B92061FE4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33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857BD-1FB8-457F-8955-E02A26387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backpropagation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F97D6E-2781-4A89-8EF0-706BA0404457}"/>
              </a:ext>
            </a:extLst>
          </p:cNvPr>
          <p:cNvSpPr txBox="1"/>
          <p:nvPr/>
        </p:nvSpPr>
        <p:spPr>
          <a:xfrm>
            <a:off x="933061" y="2024743"/>
            <a:ext cx="105062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What is Backpropagation?</a:t>
            </a:r>
            <a:endParaRPr lang="en-US" b="0" i="0" dirty="0">
              <a:solidFill>
                <a:srgbClr val="4A4A4A"/>
              </a:solidFill>
              <a:effectLst/>
              <a:latin typeface="Open Sans" panose="020B0606030504020204" pitchFamily="34" charset="0"/>
            </a:endParaRPr>
          </a:p>
          <a:p>
            <a:pPr algn="just"/>
            <a:r>
              <a:rPr lang="en-US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The Backpropagation algorithm looks for the minimum value of the error function in weight space using a technique called the </a:t>
            </a:r>
            <a:r>
              <a:rPr lang="en-US" b="0" i="0" dirty="0">
                <a:solidFill>
                  <a:srgbClr val="4A4A4A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delta rule or gradient descent</a:t>
            </a:r>
            <a:r>
              <a:rPr lang="en-US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. The weights that minimize the error function is then considered to be a solution to the learning problem. </a:t>
            </a:r>
          </a:p>
        </p:txBody>
      </p:sp>
    </p:spTree>
    <p:extLst>
      <p:ext uri="{BB962C8B-B14F-4D97-AF65-F5344CB8AC3E}">
        <p14:creationId xmlns:p14="http://schemas.microsoft.com/office/powerpoint/2010/main" val="4258187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5AC0E-6E67-435A-9872-DC5352782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Steps involved in Backpropagation: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C8340-BD4A-4D5C-BE81-58F647C5A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Below are the steps involved in Backpropagation:</a:t>
            </a:r>
          </a:p>
          <a:p>
            <a:endParaRPr lang="en-US" dirty="0"/>
          </a:p>
          <a:p>
            <a:r>
              <a:rPr lang="en-US" dirty="0"/>
              <a:t>Step – 1: Forward Propagation</a:t>
            </a:r>
          </a:p>
          <a:p>
            <a:r>
              <a:rPr lang="en-US" dirty="0"/>
              <a:t>Step – 2: Backward Propagation </a:t>
            </a:r>
          </a:p>
          <a:p>
            <a:r>
              <a:rPr lang="en-US" dirty="0"/>
              <a:t>Step – 3: Putting all the values together and calculating the updated weight value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7097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2E86E-7351-9126-FB6C-1785CB877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Mastering Machine Learning: How Backpropagation Powers Neural Network  Training | by Berry Wahlberg | Medium">
            <a:extLst>
              <a:ext uri="{FF2B5EF4-FFF2-40B4-BE49-F238E27FC236}">
                <a16:creationId xmlns:a16="http://schemas.microsoft.com/office/drawing/2014/main" id="{73E256D0-5A56-2913-B1CC-457DF291A66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922" y="886761"/>
            <a:ext cx="8259007" cy="5606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65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2339D-3F3E-E8BB-6247-19B6BA213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Backpropagation algorithm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7B370-AB03-8C9D-A574-7BA53CB52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Perform a forward pass to compute outputs and loss.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Compute the error signal at the output layer.</a:t>
            </a:r>
          </a:p>
          <a:p>
            <a:pPr>
              <a:buFont typeface="+mj-lt"/>
              <a:buAutoNum type="arabicPeriod"/>
            </a:pPr>
            <a:r>
              <a:rPr lang="en-US" dirty="0"/>
              <a:t>Propagate the error backward through the network using the chain rule.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Compute gradients for weights and biases.</a:t>
            </a:r>
          </a:p>
          <a:p>
            <a:pPr>
              <a:buFont typeface="+mj-lt"/>
              <a:buAutoNum type="arabicPeriod"/>
            </a:pPr>
            <a:r>
              <a:rPr lang="en-US" dirty="0"/>
              <a:t>Update weights and biases using gradient descent or similar optimization methods.</a:t>
            </a:r>
          </a:p>
          <a:p>
            <a:pPr>
              <a:buFont typeface="+mj-lt"/>
              <a:buAutoNum type="arabicPeriod"/>
            </a:pPr>
            <a:r>
              <a:rPr lang="en-US" dirty="0"/>
              <a:t>Repeat the process over multiple epochs with training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039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16EFC-7EB9-46C4-B71B-D48E8C013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n-IN" b="1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How Backpropagation Works?</a:t>
            </a:r>
            <a:br>
              <a:rPr lang="en-IN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</a:br>
            <a:endParaRPr lang="en-IN" dirty="0"/>
          </a:p>
        </p:txBody>
      </p:sp>
      <p:pic>
        <p:nvPicPr>
          <p:cNvPr id="1026" name="Picture 2" descr="Backpropagation Example - Backpropagation - Edureka">
            <a:extLst>
              <a:ext uri="{FF2B5EF4-FFF2-40B4-BE49-F238E27FC236}">
                <a16:creationId xmlns:a16="http://schemas.microsoft.com/office/drawing/2014/main" id="{F0BCE99D-EB15-4E70-B9B8-619EC46662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64" y="1690688"/>
            <a:ext cx="840879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EF3D03-DD7D-07C4-ADED-04B18F3DFC17}"/>
              </a:ext>
            </a:extLst>
          </p:cNvPr>
          <p:cNvSpPr/>
          <p:nvPr/>
        </p:nvSpPr>
        <p:spPr>
          <a:xfrm>
            <a:off x="8889476" y="1404594"/>
            <a:ext cx="2464324" cy="4873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i1-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h1=0.15</a:t>
            </a:r>
          </a:p>
          <a:p>
            <a:pPr algn="ctr"/>
            <a:r>
              <a:rPr lang="en-IN" dirty="0"/>
              <a:t>i2-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h1=0.20</a:t>
            </a:r>
          </a:p>
          <a:p>
            <a:pPr algn="ctr"/>
            <a:r>
              <a:rPr lang="en-IN" dirty="0"/>
              <a:t>1-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h1=0.35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i1-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h2=0.25</a:t>
            </a:r>
          </a:p>
          <a:p>
            <a:pPr algn="ctr"/>
            <a:r>
              <a:rPr lang="en-IN" dirty="0"/>
              <a:t>i2-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h2=0.30</a:t>
            </a:r>
          </a:p>
          <a:p>
            <a:pPr algn="ctr"/>
            <a:r>
              <a:rPr lang="en-IN" dirty="0"/>
              <a:t>1-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h2=0.35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h1-</a:t>
            </a:r>
            <a:r>
              <a:rPr lang="en-IN" dirty="0">
                <a:sym typeface="Wingdings" panose="05000000000000000000" pitchFamily="2" charset="2"/>
              </a:rPr>
              <a:t>o1</a:t>
            </a:r>
            <a:r>
              <a:rPr lang="en-IN" dirty="0"/>
              <a:t>=0.40</a:t>
            </a:r>
          </a:p>
          <a:p>
            <a:pPr algn="ctr"/>
            <a:r>
              <a:rPr lang="en-IN" dirty="0"/>
              <a:t>h2-</a:t>
            </a:r>
            <a:r>
              <a:rPr lang="en-IN" dirty="0">
                <a:sym typeface="Wingdings" panose="05000000000000000000" pitchFamily="2" charset="2"/>
              </a:rPr>
              <a:t>o1</a:t>
            </a:r>
            <a:r>
              <a:rPr lang="en-IN" dirty="0"/>
              <a:t>=0.45</a:t>
            </a:r>
          </a:p>
          <a:p>
            <a:pPr algn="ctr"/>
            <a:r>
              <a:rPr lang="en-IN" dirty="0"/>
              <a:t>1-</a:t>
            </a:r>
            <a:r>
              <a:rPr lang="en-IN" dirty="0">
                <a:sym typeface="Wingdings" panose="05000000000000000000" pitchFamily="2" charset="2"/>
              </a:rPr>
              <a:t>o1</a:t>
            </a:r>
            <a:r>
              <a:rPr lang="en-IN" dirty="0"/>
              <a:t>=0.60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h1-</a:t>
            </a:r>
            <a:r>
              <a:rPr lang="en-IN" dirty="0">
                <a:sym typeface="Wingdings" panose="05000000000000000000" pitchFamily="2" charset="2"/>
              </a:rPr>
              <a:t>o2</a:t>
            </a:r>
            <a:r>
              <a:rPr lang="en-IN" dirty="0"/>
              <a:t>=0.50</a:t>
            </a:r>
          </a:p>
          <a:p>
            <a:pPr algn="ctr"/>
            <a:r>
              <a:rPr lang="en-IN" dirty="0"/>
              <a:t>h2-</a:t>
            </a:r>
            <a:r>
              <a:rPr lang="en-IN" dirty="0">
                <a:sym typeface="Wingdings" panose="05000000000000000000" pitchFamily="2" charset="2"/>
              </a:rPr>
              <a:t>o2</a:t>
            </a:r>
            <a:r>
              <a:rPr lang="en-IN" dirty="0"/>
              <a:t>=0.55</a:t>
            </a:r>
          </a:p>
          <a:p>
            <a:pPr algn="ctr"/>
            <a:r>
              <a:rPr lang="en-IN" dirty="0"/>
              <a:t>1-</a:t>
            </a:r>
            <a:r>
              <a:rPr lang="en-IN" dirty="0">
                <a:sym typeface="Wingdings" panose="05000000000000000000" pitchFamily="2" charset="2"/>
              </a:rPr>
              <a:t>o</a:t>
            </a:r>
            <a:r>
              <a:rPr lang="en-IN" dirty="0"/>
              <a:t>2=0.60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4781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D0A68-693B-4D05-AD7D-4A789B47E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B03E6-7633-4E61-B70C-51670C369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above network contains the following:</a:t>
            </a:r>
          </a:p>
          <a:p>
            <a:endParaRPr lang="en-US" dirty="0"/>
          </a:p>
          <a:p>
            <a:r>
              <a:rPr lang="en-US" dirty="0"/>
              <a:t>two inputs</a:t>
            </a:r>
          </a:p>
          <a:p>
            <a:r>
              <a:rPr lang="en-US" dirty="0"/>
              <a:t>two hidden neurons</a:t>
            </a:r>
          </a:p>
          <a:p>
            <a:r>
              <a:rPr lang="en-US" dirty="0"/>
              <a:t>two output neurons</a:t>
            </a:r>
          </a:p>
          <a:p>
            <a:r>
              <a:rPr lang="en-US" dirty="0"/>
              <a:t>two biases</a:t>
            </a:r>
          </a:p>
          <a:p>
            <a:r>
              <a:rPr lang="en-US" dirty="0"/>
              <a:t>Below are the steps involved in Backpropagation:</a:t>
            </a:r>
          </a:p>
          <a:p>
            <a:endParaRPr lang="en-US" dirty="0"/>
          </a:p>
          <a:p>
            <a:r>
              <a:rPr lang="en-US" dirty="0"/>
              <a:t>Step – 1: Forward Propagation</a:t>
            </a:r>
          </a:p>
          <a:p>
            <a:r>
              <a:rPr lang="en-US" dirty="0"/>
              <a:t>Step – 2: Backward Propagation </a:t>
            </a:r>
          </a:p>
          <a:p>
            <a:r>
              <a:rPr lang="en-US" dirty="0"/>
              <a:t>Step – 3: Putting all the values together and calculating the updated weight value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2632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45695-E9AF-460E-8EC9-5B134BB12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CA23E-387A-4164-A6F6-D0139E124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Step – 1: Forward Propagation </a:t>
            </a:r>
            <a:endParaRPr lang="en-IN" sz="1800" b="0" i="0" dirty="0">
              <a:solidFill>
                <a:srgbClr val="4A4A4A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1800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We will start by propagating forward.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 descr="Forward Propagation - Backpropagation - Edureka">
            <a:extLst>
              <a:ext uri="{FF2B5EF4-FFF2-40B4-BE49-F238E27FC236}">
                <a16:creationId xmlns:a16="http://schemas.microsoft.com/office/drawing/2014/main" id="{D6241D20-6024-4ADC-A123-5410CD085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49" y="3028576"/>
            <a:ext cx="8948782" cy="3464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Backpropagation Example - Backpropagation - Edureka">
            <a:extLst>
              <a:ext uri="{FF2B5EF4-FFF2-40B4-BE49-F238E27FC236}">
                <a16:creationId xmlns:a16="http://schemas.microsoft.com/office/drawing/2014/main" id="{F3C90B4D-041A-4AEE-B864-6C6E8EFD7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746" y="469727"/>
            <a:ext cx="5595232" cy="2895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A692D47-CA4B-4925-9200-0107D1365ABC}"/>
              </a:ext>
            </a:extLst>
          </p:cNvPr>
          <p:cNvSpPr/>
          <p:nvPr/>
        </p:nvSpPr>
        <p:spPr>
          <a:xfrm>
            <a:off x="8597246" y="4631951"/>
            <a:ext cx="1913640" cy="12315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D6DB51-C7CA-4B4C-B04F-9CD29A7787F5}"/>
              </a:ext>
            </a:extLst>
          </p:cNvPr>
          <p:cNvCxnSpPr>
            <a:cxnSpLocks/>
            <a:stCxn id="4" idx="0"/>
            <a:endCxn id="4" idx="4"/>
          </p:cNvCxnSpPr>
          <p:nvPr/>
        </p:nvCxnSpPr>
        <p:spPr>
          <a:xfrm>
            <a:off x="9554066" y="4631951"/>
            <a:ext cx="0" cy="123152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B8AFB1-F843-4ED5-B3E8-17587A60A504}"/>
              </a:ext>
            </a:extLst>
          </p:cNvPr>
          <p:cNvSpPr txBox="1"/>
          <p:nvPr/>
        </p:nvSpPr>
        <p:spPr>
          <a:xfrm>
            <a:off x="6655325" y="5693790"/>
            <a:ext cx="2205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Pre-activation</a:t>
            </a:r>
          </a:p>
          <a:p>
            <a:r>
              <a:rPr lang="en-US" dirty="0"/>
              <a:t>Sum of products of inputs and weights</a:t>
            </a:r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27CEA6-C27B-4948-BE79-CFA2051FC7B6}"/>
              </a:ext>
            </a:extLst>
          </p:cNvPr>
          <p:cNvCxnSpPr/>
          <p:nvPr/>
        </p:nvCxnSpPr>
        <p:spPr>
          <a:xfrm flipH="1">
            <a:off x="8305014" y="5269584"/>
            <a:ext cx="801279" cy="461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23719E-08FD-47AB-843A-D3AD603052AF}"/>
              </a:ext>
            </a:extLst>
          </p:cNvPr>
          <p:cNvCxnSpPr/>
          <p:nvPr/>
        </p:nvCxnSpPr>
        <p:spPr>
          <a:xfrm>
            <a:off x="10143241" y="5362165"/>
            <a:ext cx="688157" cy="276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CC5ABCE-350C-4F98-AB0A-B8E893169C34}"/>
              </a:ext>
            </a:extLst>
          </p:cNvPr>
          <p:cNvSpPr txBox="1"/>
          <p:nvPr/>
        </p:nvSpPr>
        <p:spPr>
          <a:xfrm>
            <a:off x="10464024" y="5731497"/>
            <a:ext cx="15080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 linear activation function/ activation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8349CD-B631-401D-BE65-1F6E201D7A1D}"/>
              </a:ext>
            </a:extLst>
          </p:cNvPr>
          <p:cNvSpPr txBox="1"/>
          <p:nvPr/>
        </p:nvSpPr>
        <p:spPr>
          <a:xfrm>
            <a:off x="8711152" y="4938927"/>
            <a:ext cx="842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Net h1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727E88-61B5-467A-BDD7-75CC29268CF0}"/>
              </a:ext>
            </a:extLst>
          </p:cNvPr>
          <p:cNvSpPr txBox="1"/>
          <p:nvPr/>
        </p:nvSpPr>
        <p:spPr>
          <a:xfrm>
            <a:off x="9624499" y="4904611"/>
            <a:ext cx="167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Out h1</a:t>
            </a:r>
          </a:p>
          <a:p>
            <a:r>
              <a:rPr lang="en-US" dirty="0"/>
              <a:t>Sigmoid(net h1)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15AF38-D79A-16DE-FC7C-F7725AD09877}"/>
              </a:ext>
            </a:extLst>
          </p:cNvPr>
          <p:cNvSpPr/>
          <p:nvPr/>
        </p:nvSpPr>
        <p:spPr>
          <a:xfrm>
            <a:off x="10410213" y="122548"/>
            <a:ext cx="1615637" cy="4689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i1-</a:t>
            </a:r>
            <a:r>
              <a:rPr lang="en-IN" sz="1400" dirty="0">
                <a:sym typeface="Wingdings" panose="05000000000000000000" pitchFamily="2" charset="2"/>
              </a:rPr>
              <a:t></a:t>
            </a:r>
            <a:r>
              <a:rPr lang="en-IN" sz="1400" dirty="0"/>
              <a:t>h1=0.15</a:t>
            </a:r>
          </a:p>
          <a:p>
            <a:pPr algn="ctr"/>
            <a:r>
              <a:rPr lang="en-IN" sz="1400" dirty="0"/>
              <a:t>i2-</a:t>
            </a:r>
            <a:r>
              <a:rPr lang="en-IN" sz="1400" dirty="0">
                <a:sym typeface="Wingdings" panose="05000000000000000000" pitchFamily="2" charset="2"/>
              </a:rPr>
              <a:t></a:t>
            </a:r>
            <a:r>
              <a:rPr lang="en-IN" sz="1400" dirty="0"/>
              <a:t>h1=0.20</a:t>
            </a:r>
          </a:p>
          <a:p>
            <a:pPr algn="ctr"/>
            <a:r>
              <a:rPr lang="en-IN" sz="1400" dirty="0"/>
              <a:t>1-</a:t>
            </a:r>
            <a:r>
              <a:rPr lang="en-IN" sz="1400" dirty="0">
                <a:sym typeface="Wingdings" panose="05000000000000000000" pitchFamily="2" charset="2"/>
              </a:rPr>
              <a:t></a:t>
            </a:r>
            <a:r>
              <a:rPr lang="en-IN" sz="1400" dirty="0"/>
              <a:t>h1=0.35</a:t>
            </a:r>
          </a:p>
          <a:p>
            <a:pPr algn="ctr"/>
            <a:endParaRPr lang="en-IN" sz="1400" dirty="0"/>
          </a:p>
          <a:p>
            <a:pPr algn="ctr"/>
            <a:r>
              <a:rPr lang="en-IN" sz="1400" dirty="0"/>
              <a:t>i1-</a:t>
            </a:r>
            <a:r>
              <a:rPr lang="en-IN" sz="1400" dirty="0">
                <a:sym typeface="Wingdings" panose="05000000000000000000" pitchFamily="2" charset="2"/>
              </a:rPr>
              <a:t></a:t>
            </a:r>
            <a:r>
              <a:rPr lang="en-IN" sz="1400" dirty="0"/>
              <a:t>h2=0.25</a:t>
            </a:r>
          </a:p>
          <a:p>
            <a:pPr algn="ctr"/>
            <a:r>
              <a:rPr lang="en-IN" sz="1400" dirty="0"/>
              <a:t>i2-</a:t>
            </a:r>
            <a:r>
              <a:rPr lang="en-IN" sz="1400" dirty="0">
                <a:sym typeface="Wingdings" panose="05000000000000000000" pitchFamily="2" charset="2"/>
              </a:rPr>
              <a:t></a:t>
            </a:r>
            <a:r>
              <a:rPr lang="en-IN" sz="1400" dirty="0"/>
              <a:t>h2=0.30</a:t>
            </a:r>
          </a:p>
          <a:p>
            <a:pPr algn="ctr"/>
            <a:r>
              <a:rPr lang="en-IN" sz="1400" dirty="0"/>
              <a:t>1-</a:t>
            </a:r>
            <a:r>
              <a:rPr lang="en-IN" sz="1400" dirty="0">
                <a:sym typeface="Wingdings" panose="05000000000000000000" pitchFamily="2" charset="2"/>
              </a:rPr>
              <a:t></a:t>
            </a:r>
            <a:r>
              <a:rPr lang="en-IN" sz="1400" dirty="0"/>
              <a:t>h2=0.35</a:t>
            </a:r>
          </a:p>
          <a:p>
            <a:pPr algn="ctr"/>
            <a:endParaRPr lang="en-IN" sz="1400" dirty="0"/>
          </a:p>
          <a:p>
            <a:pPr algn="ctr"/>
            <a:r>
              <a:rPr lang="en-IN" sz="1400" dirty="0"/>
              <a:t>h1-</a:t>
            </a:r>
            <a:r>
              <a:rPr lang="en-IN" sz="1400" dirty="0">
                <a:sym typeface="Wingdings" panose="05000000000000000000" pitchFamily="2" charset="2"/>
              </a:rPr>
              <a:t>o1</a:t>
            </a:r>
            <a:r>
              <a:rPr lang="en-IN" sz="1400" dirty="0"/>
              <a:t>=0.40</a:t>
            </a:r>
          </a:p>
          <a:p>
            <a:pPr algn="ctr"/>
            <a:r>
              <a:rPr lang="en-IN" sz="1400" dirty="0"/>
              <a:t>h2-</a:t>
            </a:r>
            <a:r>
              <a:rPr lang="en-IN" sz="1400" dirty="0">
                <a:sym typeface="Wingdings" panose="05000000000000000000" pitchFamily="2" charset="2"/>
              </a:rPr>
              <a:t>o1</a:t>
            </a:r>
            <a:r>
              <a:rPr lang="en-IN" sz="1400" dirty="0"/>
              <a:t>=0.45</a:t>
            </a:r>
          </a:p>
          <a:p>
            <a:pPr algn="ctr"/>
            <a:r>
              <a:rPr lang="en-IN" sz="1400" dirty="0"/>
              <a:t>1-</a:t>
            </a:r>
            <a:r>
              <a:rPr lang="en-IN" sz="1400" dirty="0">
                <a:sym typeface="Wingdings" panose="05000000000000000000" pitchFamily="2" charset="2"/>
              </a:rPr>
              <a:t>o1</a:t>
            </a:r>
            <a:r>
              <a:rPr lang="en-IN" sz="1400" dirty="0"/>
              <a:t>=0.60</a:t>
            </a:r>
          </a:p>
          <a:p>
            <a:pPr algn="ctr"/>
            <a:endParaRPr lang="en-IN" sz="1400" dirty="0"/>
          </a:p>
          <a:p>
            <a:pPr algn="ctr"/>
            <a:r>
              <a:rPr lang="en-IN" sz="1400" dirty="0"/>
              <a:t>h1-</a:t>
            </a:r>
            <a:r>
              <a:rPr lang="en-IN" sz="1400" dirty="0">
                <a:sym typeface="Wingdings" panose="05000000000000000000" pitchFamily="2" charset="2"/>
              </a:rPr>
              <a:t>o2</a:t>
            </a:r>
            <a:r>
              <a:rPr lang="en-IN" sz="1400" dirty="0"/>
              <a:t>=0.50</a:t>
            </a:r>
          </a:p>
          <a:p>
            <a:pPr algn="ctr"/>
            <a:r>
              <a:rPr lang="en-IN" sz="1400" dirty="0"/>
              <a:t>h2-</a:t>
            </a:r>
            <a:r>
              <a:rPr lang="en-IN" sz="1400" dirty="0">
                <a:sym typeface="Wingdings" panose="05000000000000000000" pitchFamily="2" charset="2"/>
              </a:rPr>
              <a:t>o2</a:t>
            </a:r>
            <a:r>
              <a:rPr lang="en-IN" sz="1400" dirty="0"/>
              <a:t>=0.55</a:t>
            </a:r>
          </a:p>
          <a:p>
            <a:pPr algn="ctr"/>
            <a:r>
              <a:rPr lang="en-IN" sz="1400" dirty="0"/>
              <a:t>1-</a:t>
            </a:r>
            <a:r>
              <a:rPr lang="en-IN" sz="1400" dirty="0">
                <a:sym typeface="Wingdings" panose="05000000000000000000" pitchFamily="2" charset="2"/>
              </a:rPr>
              <a:t>o</a:t>
            </a:r>
            <a:r>
              <a:rPr lang="en-IN" sz="1400" dirty="0"/>
              <a:t>2=0.60</a:t>
            </a:r>
          </a:p>
          <a:p>
            <a:pPr algn="ctr"/>
            <a:endParaRPr lang="en-IN" sz="1400" dirty="0"/>
          </a:p>
          <a:p>
            <a:pPr algn="ctr"/>
            <a:endParaRPr lang="en-IN" sz="1400" dirty="0"/>
          </a:p>
          <a:p>
            <a:pPr algn="ctr"/>
            <a:endParaRPr lang="en-IN" sz="1400" dirty="0"/>
          </a:p>
          <a:p>
            <a:pPr algn="ctr"/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850242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56780-F2C8-4F28-B768-862ECCBC6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We will repeat this process for the output layer neurons, using the output from the hidden layer neurons as inputs.</a:t>
            </a:r>
            <a:br>
              <a:rPr lang="en-US" sz="4400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DB72E-5BD5-4269-80F3-994ED3460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074" name="Picture 2" descr="Output Forward Propagation - Backpropagation - Edureka">
            <a:extLst>
              <a:ext uri="{FF2B5EF4-FFF2-40B4-BE49-F238E27FC236}">
                <a16:creationId xmlns:a16="http://schemas.microsoft.com/office/drawing/2014/main" id="{C63893A8-3360-48B0-85FC-5CE153466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07" y="1530372"/>
            <a:ext cx="7024763" cy="2470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Backpropagation Example - Backpropagation - Edureka">
            <a:extLst>
              <a:ext uri="{FF2B5EF4-FFF2-40B4-BE49-F238E27FC236}">
                <a16:creationId xmlns:a16="http://schemas.microsoft.com/office/drawing/2014/main" id="{A0B29B44-1226-4530-97BE-ECA8836C5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112" y="3429000"/>
            <a:ext cx="5478823" cy="283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5FDE41-5BA4-7FD1-C5C8-94BCB8A2158B}"/>
              </a:ext>
            </a:extLst>
          </p:cNvPr>
          <p:cNvSpPr txBox="1"/>
          <p:nvPr/>
        </p:nvSpPr>
        <p:spPr>
          <a:xfrm>
            <a:off x="371208" y="4001294"/>
            <a:ext cx="3129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Same process as above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FC6353-6B51-F84D-9D19-307568EC4489}"/>
              </a:ext>
            </a:extLst>
          </p:cNvPr>
          <p:cNvSpPr/>
          <p:nvPr/>
        </p:nvSpPr>
        <p:spPr>
          <a:xfrm>
            <a:off x="9356468" y="1027906"/>
            <a:ext cx="2464324" cy="4873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i1-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h1=0.15</a:t>
            </a:r>
          </a:p>
          <a:p>
            <a:pPr algn="ctr"/>
            <a:r>
              <a:rPr lang="en-IN" dirty="0"/>
              <a:t>i2-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h1=0.20</a:t>
            </a:r>
          </a:p>
          <a:p>
            <a:pPr algn="ctr"/>
            <a:r>
              <a:rPr lang="en-IN" dirty="0"/>
              <a:t>1-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h1=0.35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i1-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h2=0.25</a:t>
            </a:r>
          </a:p>
          <a:p>
            <a:pPr algn="ctr"/>
            <a:r>
              <a:rPr lang="en-IN" dirty="0"/>
              <a:t>i2-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h2=0.30</a:t>
            </a:r>
          </a:p>
          <a:p>
            <a:pPr algn="ctr"/>
            <a:r>
              <a:rPr lang="en-IN" dirty="0"/>
              <a:t>1-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h2=0.35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h1-</a:t>
            </a:r>
            <a:r>
              <a:rPr lang="en-IN" dirty="0">
                <a:sym typeface="Wingdings" panose="05000000000000000000" pitchFamily="2" charset="2"/>
              </a:rPr>
              <a:t>o1</a:t>
            </a:r>
            <a:r>
              <a:rPr lang="en-IN" dirty="0"/>
              <a:t>=0.40</a:t>
            </a:r>
          </a:p>
          <a:p>
            <a:pPr algn="ctr"/>
            <a:r>
              <a:rPr lang="en-IN" dirty="0"/>
              <a:t>h2-</a:t>
            </a:r>
            <a:r>
              <a:rPr lang="en-IN" dirty="0">
                <a:sym typeface="Wingdings" panose="05000000000000000000" pitchFamily="2" charset="2"/>
              </a:rPr>
              <a:t>o1</a:t>
            </a:r>
            <a:r>
              <a:rPr lang="en-IN" dirty="0"/>
              <a:t>=0.45</a:t>
            </a:r>
          </a:p>
          <a:p>
            <a:pPr algn="ctr"/>
            <a:r>
              <a:rPr lang="en-IN" dirty="0"/>
              <a:t>1-</a:t>
            </a:r>
            <a:r>
              <a:rPr lang="en-IN" dirty="0">
                <a:sym typeface="Wingdings" panose="05000000000000000000" pitchFamily="2" charset="2"/>
              </a:rPr>
              <a:t>o1</a:t>
            </a:r>
            <a:r>
              <a:rPr lang="en-IN" dirty="0"/>
              <a:t>=0.60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h1-</a:t>
            </a:r>
            <a:r>
              <a:rPr lang="en-IN" dirty="0">
                <a:sym typeface="Wingdings" panose="05000000000000000000" pitchFamily="2" charset="2"/>
              </a:rPr>
              <a:t>o2</a:t>
            </a:r>
            <a:r>
              <a:rPr lang="en-IN" dirty="0"/>
              <a:t>=0.50</a:t>
            </a:r>
          </a:p>
          <a:p>
            <a:pPr algn="ctr"/>
            <a:r>
              <a:rPr lang="en-IN" dirty="0"/>
              <a:t>h2-</a:t>
            </a:r>
            <a:r>
              <a:rPr lang="en-IN" dirty="0">
                <a:sym typeface="Wingdings" panose="05000000000000000000" pitchFamily="2" charset="2"/>
              </a:rPr>
              <a:t>o2</a:t>
            </a:r>
            <a:r>
              <a:rPr lang="en-IN" dirty="0"/>
              <a:t>=0.55</a:t>
            </a:r>
          </a:p>
          <a:p>
            <a:pPr algn="ctr"/>
            <a:r>
              <a:rPr lang="en-IN" dirty="0"/>
              <a:t>1-</a:t>
            </a:r>
            <a:r>
              <a:rPr lang="en-IN" dirty="0">
                <a:sym typeface="Wingdings" panose="05000000000000000000" pitchFamily="2" charset="2"/>
              </a:rPr>
              <a:t>o</a:t>
            </a:r>
            <a:r>
              <a:rPr lang="en-IN" dirty="0"/>
              <a:t>2=0.60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1783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311F6-2CA5-4DD3-956A-558886963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6F293-0FFE-47EE-B14F-29B9F696C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866" y="1923280"/>
            <a:ext cx="10515600" cy="4351338"/>
          </a:xfrm>
        </p:spPr>
        <p:txBody>
          <a:bodyPr/>
          <a:lstStyle/>
          <a:p>
            <a:pPr algn="just"/>
            <a:r>
              <a:rPr lang="en-US" sz="1800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Now, let’s see what is the value of the error</a:t>
            </a:r>
            <a:r>
              <a:rPr lang="en-US" sz="2400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: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5122" name="Picture 2" descr="Error - Backpropagation - Edureka">
            <a:extLst>
              <a:ext uri="{FF2B5EF4-FFF2-40B4-BE49-F238E27FC236}">
                <a16:creationId xmlns:a16="http://schemas.microsoft.com/office/drawing/2014/main" id="{0C884E91-7185-4766-B657-D7044E52A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51" y="2367017"/>
            <a:ext cx="8326792" cy="403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Backpropagation Example - Backpropagation - Edureka">
            <a:extLst>
              <a:ext uri="{FF2B5EF4-FFF2-40B4-BE49-F238E27FC236}">
                <a16:creationId xmlns:a16="http://schemas.microsoft.com/office/drawing/2014/main" id="{84F5F2C9-C9C0-423E-84A3-B9F883FE6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352" y="323174"/>
            <a:ext cx="5285336" cy="2735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868775-E19F-EDE3-F695-863BAF4D32BE}"/>
              </a:ext>
            </a:extLst>
          </p:cNvPr>
          <p:cNvSpPr/>
          <p:nvPr/>
        </p:nvSpPr>
        <p:spPr>
          <a:xfrm>
            <a:off x="9727676" y="2064682"/>
            <a:ext cx="2464324" cy="4873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i1-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h1=0.15</a:t>
            </a:r>
          </a:p>
          <a:p>
            <a:pPr algn="ctr"/>
            <a:r>
              <a:rPr lang="en-IN" dirty="0"/>
              <a:t>i2-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h1=0.20</a:t>
            </a:r>
          </a:p>
          <a:p>
            <a:pPr algn="ctr"/>
            <a:r>
              <a:rPr lang="en-IN" dirty="0"/>
              <a:t>1-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h1=0.35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i1-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h2=0.25</a:t>
            </a:r>
          </a:p>
          <a:p>
            <a:pPr algn="ctr"/>
            <a:r>
              <a:rPr lang="en-IN" dirty="0"/>
              <a:t>i2-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h2=0.30</a:t>
            </a:r>
          </a:p>
          <a:p>
            <a:pPr algn="ctr"/>
            <a:r>
              <a:rPr lang="en-IN" dirty="0"/>
              <a:t>1-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h2=0.35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h1-</a:t>
            </a:r>
            <a:r>
              <a:rPr lang="en-IN" dirty="0">
                <a:sym typeface="Wingdings" panose="05000000000000000000" pitchFamily="2" charset="2"/>
              </a:rPr>
              <a:t>o1</a:t>
            </a:r>
            <a:r>
              <a:rPr lang="en-IN" dirty="0"/>
              <a:t>=0.40</a:t>
            </a:r>
          </a:p>
          <a:p>
            <a:pPr algn="ctr"/>
            <a:r>
              <a:rPr lang="en-IN" dirty="0"/>
              <a:t>h2-</a:t>
            </a:r>
            <a:r>
              <a:rPr lang="en-IN" dirty="0">
                <a:sym typeface="Wingdings" panose="05000000000000000000" pitchFamily="2" charset="2"/>
              </a:rPr>
              <a:t>o1</a:t>
            </a:r>
            <a:r>
              <a:rPr lang="en-IN" dirty="0"/>
              <a:t>=0.45</a:t>
            </a:r>
          </a:p>
          <a:p>
            <a:pPr algn="ctr"/>
            <a:r>
              <a:rPr lang="en-IN" dirty="0"/>
              <a:t>1-</a:t>
            </a:r>
            <a:r>
              <a:rPr lang="en-IN" dirty="0">
                <a:sym typeface="Wingdings" panose="05000000000000000000" pitchFamily="2" charset="2"/>
              </a:rPr>
              <a:t>o1</a:t>
            </a:r>
            <a:r>
              <a:rPr lang="en-IN" dirty="0"/>
              <a:t>=0.60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h1-</a:t>
            </a:r>
            <a:r>
              <a:rPr lang="en-IN" dirty="0">
                <a:sym typeface="Wingdings" panose="05000000000000000000" pitchFamily="2" charset="2"/>
              </a:rPr>
              <a:t>o2</a:t>
            </a:r>
            <a:r>
              <a:rPr lang="en-IN" dirty="0"/>
              <a:t>=0.50</a:t>
            </a:r>
          </a:p>
          <a:p>
            <a:pPr algn="ctr"/>
            <a:r>
              <a:rPr lang="en-IN" dirty="0"/>
              <a:t>h2-</a:t>
            </a:r>
            <a:r>
              <a:rPr lang="en-IN" dirty="0">
                <a:sym typeface="Wingdings" panose="05000000000000000000" pitchFamily="2" charset="2"/>
              </a:rPr>
              <a:t>o2</a:t>
            </a:r>
            <a:r>
              <a:rPr lang="en-IN" dirty="0"/>
              <a:t>=0.55</a:t>
            </a:r>
          </a:p>
          <a:p>
            <a:pPr algn="ctr"/>
            <a:r>
              <a:rPr lang="en-IN" dirty="0"/>
              <a:t>1-</a:t>
            </a:r>
            <a:r>
              <a:rPr lang="en-IN" dirty="0">
                <a:sym typeface="Wingdings" panose="05000000000000000000" pitchFamily="2" charset="2"/>
              </a:rPr>
              <a:t>o</a:t>
            </a:r>
            <a:r>
              <a:rPr lang="en-IN" dirty="0"/>
              <a:t>2=0.60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1965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BCC3-311A-4CC1-8325-96990DDD6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Step – 2: Backward Propagation</a:t>
            </a:r>
            <a:br>
              <a:rPr lang="en-IN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</a:b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033DD3-3395-4B42-9AB5-960AEC89D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554" y="2566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4A4A4A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Now, we will propagate backwards. This way we will try to reduce the error by changing the values of weights and biases.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4A4A4A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Consider W5, we will calculate the rate of change of error w.r.t change in weight W5.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4A4A4A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kumimoji="0" lang="en-US" altLang="en-US" sz="13900" b="0" i="0" u="none" strike="noStrike" cap="none" normalizeH="0" baseline="0">
                <a:ln>
                  <a:noFill/>
                </a:ln>
                <a:solidFill>
                  <a:srgbClr val="4A4A4A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                           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50" name="Picture 6" descr="Backward Propagation - Backpropagation - Edureka">
            <a:extLst>
              <a:ext uri="{FF2B5EF4-FFF2-40B4-BE49-F238E27FC236}">
                <a16:creationId xmlns:a16="http://schemas.microsoft.com/office/drawing/2014/main" id="{5A5CC0A2-EFBF-47AA-934B-8C6872ABD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30" y="1672026"/>
            <a:ext cx="10999956" cy="2641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DDDFC5-21D2-47AE-A20C-C84793F833E0}"/>
              </a:ext>
            </a:extLst>
          </p:cNvPr>
          <p:cNvSpPr txBox="1"/>
          <p:nvPr/>
        </p:nvSpPr>
        <p:spPr>
          <a:xfrm>
            <a:off x="838200" y="4297343"/>
            <a:ext cx="6183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Since we are propagating backwards, first thing we need to do is, calculate the change in total errors w.r.t the output O1 and O2.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5037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883F-8CF7-44FC-BBBB-7998EFE36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 descr="Backward Propagation - 1 - Backpropagation - Edureka">
            <a:extLst>
              <a:ext uri="{FF2B5EF4-FFF2-40B4-BE49-F238E27FC236}">
                <a16:creationId xmlns:a16="http://schemas.microsoft.com/office/drawing/2014/main" id="{7A21660F-E3AE-4067-92E2-290D0296B0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52" y="2407281"/>
            <a:ext cx="11236712" cy="1614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C4BE35-BCEF-4CB6-81E9-7A207146CBCD}"/>
                  </a:ext>
                </a:extLst>
              </p:cNvPr>
              <p:cNvSpPr txBox="1"/>
              <p:nvPr/>
            </p:nvSpPr>
            <p:spPr>
              <a:xfrm>
                <a:off x="3016576" y="4599722"/>
                <a:ext cx="4769964" cy="7956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∗2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0.01−0.75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0.01−0.75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=0.74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C4BE35-BCEF-4CB6-81E9-7A207146C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576" y="4599722"/>
                <a:ext cx="4769964" cy="795602"/>
              </a:xfrm>
              <a:prstGeom prst="rect">
                <a:avLst/>
              </a:prstGeom>
              <a:blipFill>
                <a:blip r:embed="rId3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AEF141C-74AA-F9FE-BCAD-4C1456E4E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9198" y="289277"/>
            <a:ext cx="3604572" cy="182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804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81982-AB43-4459-AAED-1AB811A8F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43106-515E-4711-893D-C362C8D71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Now, we will propagate further backwards and calculate the change in output O1 w.r.t to its total net input.</a:t>
            </a:r>
          </a:p>
          <a:p>
            <a:endParaRPr lang="en-US" sz="2800" b="0" i="0" dirty="0">
              <a:solidFill>
                <a:srgbClr val="4A4A4A"/>
              </a:solidFill>
              <a:effectLst/>
              <a:latin typeface="Open Sans" panose="020B0606030504020204" pitchFamily="34" charset="0"/>
            </a:endParaRPr>
          </a:p>
          <a:p>
            <a:endParaRPr lang="en-IN" dirty="0"/>
          </a:p>
        </p:txBody>
      </p:sp>
      <p:pic>
        <p:nvPicPr>
          <p:cNvPr id="4" name="Picture 2" descr="Backward Propagation - 2 - Backpropagation - Edureka">
            <a:extLst>
              <a:ext uri="{FF2B5EF4-FFF2-40B4-BE49-F238E27FC236}">
                <a16:creationId xmlns:a16="http://schemas.microsoft.com/office/drawing/2014/main" id="{35895674-A5F6-4CCF-9F84-61A001355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7" y="2709862"/>
            <a:ext cx="10029825" cy="143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677739-00C4-4341-95FF-DE6AED1197E2}"/>
                  </a:ext>
                </a:extLst>
              </p:cNvPr>
              <p:cNvSpPr txBox="1"/>
              <p:nvPr/>
            </p:nvSpPr>
            <p:spPr>
              <a:xfrm>
                <a:off x="1291473" y="4576713"/>
                <a:ext cx="2379754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677739-00C4-4341-95FF-DE6AED119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473" y="4576713"/>
                <a:ext cx="2379754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315044-7F55-4D45-87AA-486E52536D77}"/>
                  </a:ext>
                </a:extLst>
              </p:cNvPr>
              <p:cNvSpPr txBox="1"/>
              <p:nvPr/>
            </p:nvSpPr>
            <p:spPr>
              <a:xfrm>
                <a:off x="150041" y="5456423"/>
                <a:ext cx="11963402" cy="4711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𝑛𝑒𝑡𝑜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𝑛𝑒𝑡𝑜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𝑛𝑒𝑡𝑜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𝑛𝑒𝑡𝑜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(1+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𝑛𝑒𝑡𝑜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𝑛𝑒𝑡𝑜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dirty="0"/>
                  <a:t>.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𝑛𝑒𝑡𝑜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IN" dirty="0"/>
                  <a:t> 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𝑛𝑒𝑡𝑜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dirty="0"/>
                  <a:t>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𝑛𝑒𝑡𝑜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)−1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𝑛𝑒𝑡𝑜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𝑜𝑢𝑡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1[1−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𝑜𝑢𝑡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1]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315044-7F55-4D45-87AA-486E52536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41" y="5456423"/>
                <a:ext cx="11963402" cy="471155"/>
              </a:xfrm>
              <a:prstGeom prst="rect">
                <a:avLst/>
              </a:prstGeom>
              <a:blipFill>
                <a:blip r:embed="rId4"/>
                <a:stretch>
                  <a:fillRect b="-11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A952B2-5582-48E6-B1FD-2D96ACD06833}"/>
                  </a:ext>
                </a:extLst>
              </p:cNvPr>
              <p:cNvSpPr txBox="1"/>
              <p:nvPr/>
            </p:nvSpPr>
            <p:spPr>
              <a:xfrm>
                <a:off x="4977352" y="4600085"/>
                <a:ext cx="1743811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A952B2-5582-48E6-B1FD-2D96ACD06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352" y="4600085"/>
                <a:ext cx="1743811" cy="5259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B00699B-ED95-6AAB-62EC-7C89623A1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316" y="113427"/>
            <a:ext cx="3404944" cy="172766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1C29A8-F937-E57C-ECB8-140AAD93E559}"/>
              </a:ext>
            </a:extLst>
          </p:cNvPr>
          <p:cNvCxnSpPr>
            <a:cxnSpLocks/>
          </p:cNvCxnSpPr>
          <p:nvPr/>
        </p:nvCxnSpPr>
        <p:spPr>
          <a:xfrm flipH="1">
            <a:off x="1081087" y="5262544"/>
            <a:ext cx="1927584" cy="224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952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E5E6E-E2D8-478A-806B-A599983EA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0CDBA-70EA-4AC7-9655-F0516FE38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Let’s see now how much does the total net input of O1 changes w.r.t  W5?</a:t>
            </a:r>
          </a:p>
          <a:p>
            <a:endParaRPr lang="en-IN" dirty="0"/>
          </a:p>
        </p:txBody>
      </p:sp>
      <p:pic>
        <p:nvPicPr>
          <p:cNvPr id="9218" name="Picture 2" descr="Backward Propagation -3 - Backpropagation - Edureka.">
            <a:extLst>
              <a:ext uri="{FF2B5EF4-FFF2-40B4-BE49-F238E27FC236}">
                <a16:creationId xmlns:a16="http://schemas.microsoft.com/office/drawing/2014/main" id="{437CAF0E-E7B3-4FFB-AF5F-9DB0FBFB8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425" y="2705100"/>
            <a:ext cx="691515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E14FB3-D0E3-2436-2173-F1751CC55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856" y="4597494"/>
            <a:ext cx="3404944" cy="172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37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581A4-E9FC-4C2B-9CF8-632B6137C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b="1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Step – 3: Putting all the values together and calculating the updated weight value: </a:t>
            </a:r>
            <a:r>
              <a:rPr lang="en-US" sz="2700" b="1" i="0" dirty="0">
                <a:solidFill>
                  <a:srgbClr val="4A4A4A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weight </a:t>
            </a:r>
            <a:r>
              <a:rPr lang="en-US" sz="2700" b="1" i="0" dirty="0" err="1">
                <a:solidFill>
                  <a:srgbClr val="4A4A4A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updation</a:t>
            </a:r>
            <a:r>
              <a:rPr lang="en-US" sz="2700" b="1" i="0" dirty="0">
                <a:solidFill>
                  <a:srgbClr val="4A4A4A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 rule or delta rule</a:t>
            </a:r>
            <a:br>
              <a:rPr lang="en-US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A4C41-0BD0-4CCD-B64F-5780E465C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056" y="1577050"/>
            <a:ext cx="10515600" cy="4351338"/>
          </a:xfrm>
        </p:spPr>
        <p:txBody>
          <a:bodyPr/>
          <a:lstStyle/>
          <a:p>
            <a:r>
              <a:rPr lang="en-US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Now, let’s put all the values together:</a:t>
            </a:r>
          </a:p>
          <a:p>
            <a:endParaRPr lang="en-IN" dirty="0"/>
          </a:p>
        </p:txBody>
      </p:sp>
      <p:pic>
        <p:nvPicPr>
          <p:cNvPr id="10244" name="Picture 4" descr="Change In Error W.R.T Weight - Backpropagation - Edureka">
            <a:extLst>
              <a:ext uri="{FF2B5EF4-FFF2-40B4-BE49-F238E27FC236}">
                <a16:creationId xmlns:a16="http://schemas.microsoft.com/office/drawing/2014/main" id="{DC42591D-AC99-415E-AFC2-D2F683A65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703" y="2275003"/>
            <a:ext cx="1055370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46137E-5663-43FD-A2E5-324ADF7715CE}"/>
              </a:ext>
            </a:extLst>
          </p:cNvPr>
          <p:cNvSpPr txBox="1"/>
          <p:nvPr/>
        </p:nvSpPr>
        <p:spPr>
          <a:xfrm>
            <a:off x="996703" y="3511265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Let’s calculate the updated value of W5:</a:t>
            </a:r>
          </a:p>
          <a:p>
            <a:endParaRPr lang="en-IN" dirty="0"/>
          </a:p>
        </p:txBody>
      </p:sp>
      <p:pic>
        <p:nvPicPr>
          <p:cNvPr id="10246" name="Picture 6" descr="Updated Weight Value - Backpropagation - Edureka">
            <a:extLst>
              <a:ext uri="{FF2B5EF4-FFF2-40B4-BE49-F238E27FC236}">
                <a16:creationId xmlns:a16="http://schemas.microsoft.com/office/drawing/2014/main" id="{A47941E6-0990-4047-A4B0-CA7E7BFEB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992" y="4368943"/>
            <a:ext cx="8096250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44EDBA1-A286-0B80-17F9-58C5DE5BA1E2}"/>
              </a:ext>
            </a:extLst>
          </p:cNvPr>
          <p:cNvCxnSpPr/>
          <p:nvPr/>
        </p:nvCxnSpPr>
        <p:spPr>
          <a:xfrm flipV="1">
            <a:off x="3139126" y="4024845"/>
            <a:ext cx="565608" cy="433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333C39F-9CB2-05A3-4A95-662B5E5FA992}"/>
              </a:ext>
            </a:extLst>
          </p:cNvPr>
          <p:cNvSpPr txBox="1"/>
          <p:nvPr/>
        </p:nvSpPr>
        <p:spPr>
          <a:xfrm>
            <a:off x="3683715" y="3872329"/>
            <a:ext cx="1414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Learning rate</a:t>
            </a:r>
          </a:p>
        </p:txBody>
      </p:sp>
    </p:spTree>
    <p:extLst>
      <p:ext uri="{BB962C8B-B14F-4D97-AF65-F5344CB8AC3E}">
        <p14:creationId xmlns:p14="http://schemas.microsoft.com/office/powerpoint/2010/main" val="3890968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F3383-6317-2C34-A75A-76A781100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ED644-9DC1-2CCA-6766-2BC0649D2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The </a:t>
            </a:r>
            <a:r>
              <a:rPr lang="en-US" b="0" i="0" dirty="0">
                <a:solidFill>
                  <a:srgbClr val="040C28"/>
                </a:solidFill>
                <a:effectLst/>
                <a:highlight>
                  <a:srgbClr val="FFFF00"/>
                </a:highlight>
                <a:latin typeface="Google Sans"/>
              </a:rPr>
              <a:t>Delta rule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 searches for these weight vectors and uses them to generate the output for a given training example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. Then by measuring the error, it would update the previously chosen weights to new values in a way that the output for the subsequent training examples would get closer to the ground truth.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260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2A2C9-EFD5-4C2D-AD2E-85901FA37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955E5-8238-46BD-A9AA-B09916D04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4A4A4A"/>
              </a:solidFill>
              <a:effectLst/>
              <a:latin typeface="Open Sans" panose="020B0606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55555"/>
                </a:solidFill>
                <a:effectLst/>
                <a:latin typeface="Helvetica Neue"/>
              </a:rPr>
              <a:t>The </a:t>
            </a:r>
            <a:r>
              <a:rPr lang="en-US" b="0" i="0" dirty="0">
                <a:solidFill>
                  <a:srgbClr val="555555"/>
                </a:solidFill>
                <a:effectLst/>
                <a:highlight>
                  <a:srgbClr val="FFFF00"/>
                </a:highlight>
                <a:latin typeface="Helvetica Neue"/>
              </a:rPr>
              <a:t>learning rate </a:t>
            </a:r>
            <a:r>
              <a:rPr lang="en-US" b="0" i="0" dirty="0">
                <a:solidFill>
                  <a:srgbClr val="555555"/>
                </a:solidFill>
                <a:effectLst/>
                <a:latin typeface="Helvetica Neue"/>
              </a:rPr>
              <a:t>is a hyperparameter that controls how much to change the model in response to the estimated error each time the model weights are updated. Choosing the learning rate is challenging as a value too small may result in a long training process that could get stuck, whereas a value too large may result in learning a sub-optimal set of weights too fast or an unstable training process.</a:t>
            </a:r>
            <a:endParaRPr lang="en-US" dirty="0">
              <a:solidFill>
                <a:srgbClr val="4A4A4A"/>
              </a:solidFill>
              <a:latin typeface="Open Sans" panose="020B0606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Similarly, we can calculate the other weight values as well.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After that we will again propagate forward and calculate the output. Again, we will calculate the error.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If the error is minimum we will stop right there, else we will again propagate backwards and update the weight values.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This process will keep on repeating until error becomes minimum.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9264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16357</TotalTime>
  <Words>871</Words>
  <Application>Microsoft Office PowerPoint</Application>
  <PresentationFormat>Widescreen</PresentationFormat>
  <Paragraphs>146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Calibri</vt:lpstr>
      <vt:lpstr>Calibri Light</vt:lpstr>
      <vt:lpstr>Cambria</vt:lpstr>
      <vt:lpstr>Cambria Math</vt:lpstr>
      <vt:lpstr>Google Sans</vt:lpstr>
      <vt:lpstr>Helvetica Neue</vt:lpstr>
      <vt:lpstr>Open Sans</vt:lpstr>
      <vt:lpstr>Wingdings</vt:lpstr>
      <vt:lpstr>Office Theme</vt:lpstr>
      <vt:lpstr>PowerPoint Presentation</vt:lpstr>
      <vt:lpstr>What is backpropagation</vt:lpstr>
      <vt:lpstr>Steps involved in Backpropagation: </vt:lpstr>
      <vt:lpstr>PowerPoint Presentation</vt:lpstr>
      <vt:lpstr>Backpropagation algorithm steps</vt:lpstr>
      <vt:lpstr> How Backpropagation Works? </vt:lpstr>
      <vt:lpstr>PowerPoint Presentation</vt:lpstr>
      <vt:lpstr>PowerPoint Presentation</vt:lpstr>
      <vt:lpstr>We will repeat this process for the output layer neurons, using the output from the hidden layer neurons as inputs. </vt:lpstr>
      <vt:lpstr>PowerPoint Presentation</vt:lpstr>
      <vt:lpstr>Step – 2: Backward Propagation </vt:lpstr>
      <vt:lpstr>PowerPoint Presentation</vt:lpstr>
      <vt:lpstr>PowerPoint Presentation</vt:lpstr>
      <vt:lpstr>PowerPoint Presentation</vt:lpstr>
      <vt:lpstr>Step – 3: Putting all the values together and calculating the updated weight value: weight updation rule or delta rule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backpropagation</dc:title>
  <dc:creator>kriti ohri</dc:creator>
  <cp:lastModifiedBy>Kriti Ohri</cp:lastModifiedBy>
  <cp:revision>9</cp:revision>
  <dcterms:created xsi:type="dcterms:W3CDTF">2021-07-23T19:27:31Z</dcterms:created>
  <dcterms:modified xsi:type="dcterms:W3CDTF">2024-11-18T04:03:01Z</dcterms:modified>
</cp:coreProperties>
</file>