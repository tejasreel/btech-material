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72" r:id="rId4"/>
    <p:sldId id="257" r:id="rId5"/>
    <p:sldId id="258" r:id="rId6"/>
    <p:sldId id="273" r:id="rId7"/>
    <p:sldId id="279" r:id="rId8"/>
    <p:sldId id="259" r:id="rId9"/>
    <p:sldId id="260" r:id="rId10"/>
    <p:sldId id="261" r:id="rId11"/>
    <p:sldId id="274" r:id="rId12"/>
    <p:sldId id="262" r:id="rId13"/>
    <p:sldId id="263" r:id="rId14"/>
    <p:sldId id="265" r:id="rId15"/>
    <p:sldId id="266" r:id="rId16"/>
    <p:sldId id="267" r:id="rId17"/>
    <p:sldId id="264" r:id="rId18"/>
    <p:sldId id="268" r:id="rId19"/>
    <p:sldId id="269" r:id="rId20"/>
    <p:sldId id="270" r:id="rId21"/>
    <p:sldId id="271" r:id="rId22"/>
    <p:sldId id="276" r:id="rId23"/>
    <p:sldId id="278"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EE1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78" autoAdjust="0"/>
    <p:restoredTop sz="94660"/>
  </p:normalViewPr>
  <p:slideViewPr>
    <p:cSldViewPr snapToGrid="0">
      <p:cViewPr varScale="1">
        <p:scale>
          <a:sx n="85" d="100"/>
          <a:sy n="85" d="100"/>
        </p:scale>
        <p:origin x="42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7F111-35DF-4498-AB7D-FA43D19C38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294B46-D249-4BA5-8E4F-699E54E371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103562-BEA2-42FC-A306-E45E73E451E8}"/>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9FEFB906-D569-400E-AC47-B5FC9AF3E3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C0FD87-E763-4B35-BA40-74E537BAED9A}"/>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3948536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D953C-A55C-4ADC-9304-A22771EC8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2F8DCE-4693-4185-85C4-37334D49E6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EC9AE5-CD63-4D6F-A91B-B58E05ACDB14}"/>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7F322B32-6F6E-4CCD-BCE8-BC7C2855C3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0679F0-BC4C-4D72-AF78-50E772395A6B}"/>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1887899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A47-2C18-441A-B356-AA0385E728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3E64A4-B318-48FB-A29B-657935FD31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15272A-5C3B-4EE2-91A6-A0B490CDD9C3}"/>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8AA819F9-AA09-4505-A623-FFE7624D01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C15EC8-033C-48FC-9B99-39B711A0736A}"/>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102906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3AF81-4438-4772-89B2-918BB5CD40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96816E-D12E-4844-A5D7-190732EF3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6FDC02-4DF2-480F-8694-50AFF67013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199698-0C47-452B-8399-AF3873360E37}"/>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6" name="Footer Placeholder 5">
            <a:extLst>
              <a:ext uri="{FF2B5EF4-FFF2-40B4-BE49-F238E27FC236}">
                <a16:creationId xmlns:a16="http://schemas.microsoft.com/office/drawing/2014/main" id="{F864361E-08F2-42B1-9557-4BD486EDD7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E3A6B9-E261-4D72-8904-FE25E3BD9196}"/>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2255459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4BA1-AC9E-4B8C-9220-67DB73406E3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FE17B8-C9C1-413D-90E9-237BD38163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D16D1-AEB8-496D-8A3B-4D3B461F4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479F87-BB03-46B7-903F-362384B0F7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144F68-074D-4EA9-9396-764D3A0847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F6B444-4EB0-4609-B20D-2B4BC1C1EC24}"/>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8" name="Footer Placeholder 7">
            <a:extLst>
              <a:ext uri="{FF2B5EF4-FFF2-40B4-BE49-F238E27FC236}">
                <a16:creationId xmlns:a16="http://schemas.microsoft.com/office/drawing/2014/main" id="{63187257-43E4-419B-8D93-CD9812EF36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3CDBD9D-DFB6-4169-B25B-B55BAFF7E730}"/>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3859659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93567-1897-4397-9030-468515C71C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FDB20D-AFB7-461A-B760-AAC7B582FA03}"/>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4" name="Footer Placeholder 3">
            <a:extLst>
              <a:ext uri="{FF2B5EF4-FFF2-40B4-BE49-F238E27FC236}">
                <a16:creationId xmlns:a16="http://schemas.microsoft.com/office/drawing/2014/main" id="{C9033EBB-2FF6-4744-B72D-982CA24D01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5C8B2B-D6C3-447A-BFF6-261EF9803854}"/>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2794382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0D072-70CD-47B9-A88C-977B2E28B572}"/>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3" name="Footer Placeholder 2">
            <a:extLst>
              <a:ext uri="{FF2B5EF4-FFF2-40B4-BE49-F238E27FC236}">
                <a16:creationId xmlns:a16="http://schemas.microsoft.com/office/drawing/2014/main" id="{314CCDA4-0F1E-420D-922E-14D237850D3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F1D8E6-42E8-4544-8B4F-57D695FCCFD1}"/>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1764794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1DB8-B83D-4F24-8747-B87B39AC87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DF6F6A-8396-4963-A2F1-67FC46D6CF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2232A0-62DB-49DF-9A32-DD3530099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D66C41-AEEE-4032-84EE-8AC492B1E5F4}"/>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6" name="Footer Placeholder 5">
            <a:extLst>
              <a:ext uri="{FF2B5EF4-FFF2-40B4-BE49-F238E27FC236}">
                <a16:creationId xmlns:a16="http://schemas.microsoft.com/office/drawing/2014/main" id="{A531842F-1AB1-4B5E-932C-DB9E3C4D66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79F6D-B78A-4C93-9C36-0396757EC452}"/>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2316915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2FF19-EAE3-4666-BE2B-0A52177892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472AD8-84A9-4C52-B21D-7AFB7817E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B7BD88-A3A4-45A2-8DCE-1D28B143C3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3696E-24F8-421B-820F-48118F66B59C}"/>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6" name="Footer Placeholder 5">
            <a:extLst>
              <a:ext uri="{FF2B5EF4-FFF2-40B4-BE49-F238E27FC236}">
                <a16:creationId xmlns:a16="http://schemas.microsoft.com/office/drawing/2014/main" id="{A8D2EF71-E6E6-4E70-B281-CB895DE8FE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A38710-733E-4581-B2A5-2B6CF64D88E4}"/>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384990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45940-6C98-4B56-BFEF-04529BA143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D69FE1-63FD-4325-9983-B579A05EB8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6F31AC-E630-4464-9B54-1F3440E34D5C}"/>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43AF17D1-6BB5-46AC-A4DF-0761EB307D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CB796A-510F-455D-B900-6F46C39C4888}"/>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37995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756FEB-0DA0-47E5-A1C4-07F3FE291B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03955D-76AA-4A93-84CD-5C7D67177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501217-81AA-4DD9-9EE3-D4A7D5A38C60}"/>
              </a:ext>
            </a:extLst>
          </p:cNvPr>
          <p:cNvSpPr>
            <a:spLocks noGrp="1"/>
          </p:cNvSpPr>
          <p:nvPr>
            <p:ph type="dt" sz="half" idx="10"/>
          </p:nvPr>
        </p:nvSpPr>
        <p:spPr/>
        <p:txBody>
          <a:body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6F9EF04F-DEF9-4C35-BF12-E4274AA7A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095C0E-F66F-4183-B926-DB4C24B8083E}"/>
              </a:ext>
            </a:extLst>
          </p:cNvPr>
          <p:cNvSpPr>
            <a:spLocks noGrp="1"/>
          </p:cNvSpPr>
          <p:nvPr>
            <p:ph type="sldNum" sz="quarter" idx="12"/>
          </p:nvPr>
        </p:nvSpPr>
        <p:spPr/>
        <p:txBody>
          <a:bodyPr/>
          <a:lstStyle/>
          <a:p>
            <a:fld id="{4096EC10-691D-4B19-B441-C064DC6902BE}" type="slidenum">
              <a:rPr lang="en-IN" smtClean="0"/>
              <a:t>‹#›</a:t>
            </a:fld>
            <a:endParaRPr lang="en-IN"/>
          </a:p>
        </p:txBody>
      </p:sp>
    </p:spTree>
    <p:extLst>
      <p:ext uri="{BB962C8B-B14F-4D97-AF65-F5344CB8AC3E}">
        <p14:creationId xmlns:p14="http://schemas.microsoft.com/office/powerpoint/2010/main" val="3180372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D334-A0E5-4FFF-828D-8FC9B9BA59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981901-0F3F-4AB1-8B5F-BF26465264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D08D85-AB1B-48AA-AEA5-2869BCD3FD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9E375E-555F-4D70-AD3B-88B1E76CDECA}" type="datetimeFigureOut">
              <a:rPr lang="en-IN" smtClean="0"/>
              <a:t>18-12-2023</a:t>
            </a:fld>
            <a:endParaRPr lang="en-IN"/>
          </a:p>
        </p:txBody>
      </p:sp>
      <p:sp>
        <p:nvSpPr>
          <p:cNvPr id="5" name="Footer Placeholder 4">
            <a:extLst>
              <a:ext uri="{FF2B5EF4-FFF2-40B4-BE49-F238E27FC236}">
                <a16:creationId xmlns:a16="http://schemas.microsoft.com/office/drawing/2014/main" id="{194C1E74-F5A6-4D49-A9A6-A43B8A9B7F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F15A9E-AB5F-4CC6-86F9-D32990A3A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96EC10-691D-4B19-B441-C064DC6902BE}" type="slidenum">
              <a:rPr lang="en-IN" smtClean="0"/>
              <a:t>‹#›</a:t>
            </a:fld>
            <a:endParaRPr lang="en-IN"/>
          </a:p>
        </p:txBody>
      </p:sp>
    </p:spTree>
    <p:extLst>
      <p:ext uri="{BB962C8B-B14F-4D97-AF65-F5344CB8AC3E}">
        <p14:creationId xmlns:p14="http://schemas.microsoft.com/office/powerpoint/2010/main" val="92989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mygreatlearning.com/blog/apriori-algorithm-explaine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mygreatlearning.com/blog/understanding-fp-growth-algorith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2339-8143-4C0A-B4EF-79116063DA0E}"/>
              </a:ext>
            </a:extLst>
          </p:cNvPr>
          <p:cNvSpPr>
            <a:spLocks noGrp="1"/>
          </p:cNvSpPr>
          <p:nvPr>
            <p:ph type="ctrTitle"/>
          </p:nvPr>
        </p:nvSpPr>
        <p:spPr/>
        <p:txBody>
          <a:bodyPr>
            <a:normAutofit fontScale="90000"/>
          </a:bodyPr>
          <a:lstStyle/>
          <a:p>
            <a:r>
              <a:rPr lang="en-US" b="0" i="0" dirty="0">
                <a:effectLst/>
                <a:latin typeface="Roboto" panose="02000000000000000000" pitchFamily="2" charset="0"/>
              </a:rPr>
              <a:t>Association rule mining with FP Growth method</a:t>
            </a:r>
            <a:br>
              <a:rPr lang="en-US" b="0" i="0" dirty="0">
                <a:effectLst/>
                <a:latin typeface="Roboto" panose="02000000000000000000" pitchFamily="2" charset="0"/>
              </a:rPr>
            </a:br>
            <a:endParaRPr lang="en-IN" dirty="0"/>
          </a:p>
        </p:txBody>
      </p:sp>
      <p:sp>
        <p:nvSpPr>
          <p:cNvPr id="3" name="Subtitle 2">
            <a:extLst>
              <a:ext uri="{FF2B5EF4-FFF2-40B4-BE49-F238E27FC236}">
                <a16:creationId xmlns:a16="http://schemas.microsoft.com/office/drawing/2014/main" id="{51D4E44C-1AE4-481C-B160-30FE10C0E56C}"/>
              </a:ext>
            </a:extLst>
          </p:cNvPr>
          <p:cNvSpPr>
            <a:spLocks noGrp="1"/>
          </p:cNvSpPr>
          <p:nvPr>
            <p:ph type="subTitle" idx="1"/>
          </p:nvPr>
        </p:nvSpPr>
        <p:spPr/>
        <p:txBody>
          <a:bodyPr/>
          <a:lstStyle/>
          <a:p>
            <a:r>
              <a:rPr lang="en-US" b="1" i="0" dirty="0">
                <a:solidFill>
                  <a:srgbClr val="002060"/>
                </a:solidFill>
                <a:effectLst/>
                <a:latin typeface="Poppins" panose="00000500000000000000" pitchFamily="2" charset="0"/>
              </a:rPr>
              <a:t>(Frequent Pattern) FP Growth Algorithm</a:t>
            </a:r>
          </a:p>
          <a:p>
            <a:endParaRPr lang="en-IN" dirty="0"/>
          </a:p>
        </p:txBody>
      </p:sp>
    </p:spTree>
    <p:extLst>
      <p:ext uri="{BB962C8B-B14F-4D97-AF65-F5344CB8AC3E}">
        <p14:creationId xmlns:p14="http://schemas.microsoft.com/office/powerpoint/2010/main" val="268406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B3F2E-7327-45D1-ACC4-017516C48BDB}"/>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15E0BE40-F25C-4B4B-949E-0EEE3AB8F986}"/>
              </a:ext>
            </a:extLst>
          </p:cNvPr>
          <p:cNvSpPr>
            <a:spLocks noGrp="1"/>
          </p:cNvSpPr>
          <p:nvPr>
            <p:ph idx="1"/>
          </p:nvPr>
        </p:nvSpPr>
        <p:spPr/>
        <p:txBody>
          <a:bodyPr/>
          <a:lstStyle/>
          <a:p>
            <a:r>
              <a:rPr lang="en-US" dirty="0"/>
              <a:t>Practice this question from this link:</a:t>
            </a:r>
          </a:p>
          <a:p>
            <a:pPr marL="0" indent="0">
              <a:buNone/>
            </a:pPr>
            <a:r>
              <a:rPr lang="en-US" dirty="0"/>
              <a:t>https://www.mygreatlearning.com/blog/understanding-fp-growth-algorithm/</a:t>
            </a:r>
          </a:p>
          <a:p>
            <a:r>
              <a:rPr lang="en-US" dirty="0"/>
              <a:t>YouTube link of the problem discussed in the slides</a:t>
            </a:r>
          </a:p>
          <a:p>
            <a:pPr marL="0" indent="0">
              <a:buNone/>
            </a:pPr>
            <a:r>
              <a:rPr lang="en-US" dirty="0"/>
              <a:t>https://www.youtube.com/watch?v=ToswH_dA7KU</a:t>
            </a:r>
          </a:p>
          <a:p>
            <a:endParaRPr lang="en-IN" dirty="0"/>
          </a:p>
        </p:txBody>
      </p:sp>
    </p:spTree>
    <p:extLst>
      <p:ext uri="{BB962C8B-B14F-4D97-AF65-F5344CB8AC3E}">
        <p14:creationId xmlns:p14="http://schemas.microsoft.com/office/powerpoint/2010/main" val="99836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EC740-8864-4EE1-B82E-AE7C50ADB035}"/>
              </a:ext>
            </a:extLst>
          </p:cNvPr>
          <p:cNvSpPr>
            <a:spLocks noGrp="1"/>
          </p:cNvSpPr>
          <p:nvPr>
            <p:ph type="title"/>
          </p:nvPr>
        </p:nvSpPr>
        <p:spPr/>
        <p:txBody>
          <a:bodyPr/>
          <a:lstStyle/>
          <a:p>
            <a:r>
              <a:rPr lang="en-IN" sz="4400" b="1" i="0" dirty="0">
                <a:solidFill>
                  <a:srgbClr val="111111"/>
                </a:solidFill>
                <a:effectLst/>
                <a:latin typeface="Poppins" panose="00000500000000000000" pitchFamily="2" charset="0"/>
              </a:rPr>
              <a:t>Finding Frequent </a:t>
            </a:r>
            <a:r>
              <a:rPr lang="en-IN" sz="4400" b="1" i="0" dirty="0" err="1">
                <a:solidFill>
                  <a:srgbClr val="111111"/>
                </a:solidFill>
                <a:effectLst/>
                <a:latin typeface="Poppins" panose="00000500000000000000" pitchFamily="2" charset="0"/>
              </a:rPr>
              <a:t>Itemsets</a:t>
            </a:r>
            <a:br>
              <a:rPr lang="en-IN" sz="4400" b="0" i="0" dirty="0">
                <a:solidFill>
                  <a:srgbClr val="111111"/>
                </a:solidFill>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9FBA35C5-CC43-451E-92DD-68A8F1A7E333}"/>
              </a:ext>
            </a:extLst>
          </p:cNvPr>
          <p:cNvSpPr>
            <a:spLocks noGrp="1"/>
          </p:cNvSpPr>
          <p:nvPr>
            <p:ph idx="1"/>
          </p:nvPr>
        </p:nvSpPr>
        <p:spPr/>
        <p:txBody>
          <a:bodyPr>
            <a:normAutofit fontScale="92500"/>
          </a:bodyPr>
          <a:lstStyle/>
          <a:p>
            <a:pPr algn="just"/>
            <a:r>
              <a:rPr lang="en-US" sz="2200" b="0" i="0" dirty="0">
                <a:solidFill>
                  <a:srgbClr val="000000"/>
                </a:solidFill>
                <a:effectLst/>
                <a:latin typeface="Poppins" panose="00000500000000000000" pitchFamily="2" charset="0"/>
              </a:rPr>
              <a:t>Frequent </a:t>
            </a:r>
            <a:r>
              <a:rPr lang="en-US" sz="2200" b="0" i="0" dirty="0" err="1">
                <a:solidFill>
                  <a:srgbClr val="000000"/>
                </a:solidFill>
                <a:effectLst/>
                <a:latin typeface="Poppins" panose="00000500000000000000" pitchFamily="2" charset="0"/>
              </a:rPr>
              <a:t>itemsets</a:t>
            </a:r>
            <a:r>
              <a:rPr lang="en-US" sz="2200" b="0" i="0" dirty="0">
                <a:solidFill>
                  <a:srgbClr val="000000"/>
                </a:solidFill>
                <a:effectLst/>
                <a:latin typeface="Poppins" panose="00000500000000000000" pitchFamily="2" charset="0"/>
              </a:rPr>
              <a:t> can be found using tw</a:t>
            </a:r>
            <a:r>
              <a:rPr lang="en-US" sz="2200" dirty="0">
                <a:solidFill>
                  <a:srgbClr val="000000"/>
                </a:solidFill>
                <a:latin typeface="Poppins" panose="00000500000000000000" pitchFamily="2" charset="0"/>
              </a:rPr>
              <a:t>o methods, viz </a:t>
            </a:r>
            <a:r>
              <a:rPr lang="en-US" sz="2200" dirty="0">
                <a:solidFill>
                  <a:srgbClr val="000000"/>
                </a:solidFill>
                <a:latin typeface="Poppins" panose="00000500000000000000" pitchFamily="2" charset="0"/>
                <a:hlinkClick r:id="rId2">
                  <a:extLst>
                    <a:ext uri="{A12FA001-AC4F-418D-AE19-62706E023703}">
                      <ahyp:hlinkClr xmlns:ahyp="http://schemas.microsoft.com/office/drawing/2018/hyperlinkcolor" val="tx"/>
                    </a:ext>
                  </a:extLst>
                </a:hlinkClick>
              </a:rPr>
              <a:t>Apriori Algorithm</a:t>
            </a:r>
            <a:r>
              <a:rPr lang="en-US" sz="2200" dirty="0">
                <a:solidFill>
                  <a:srgbClr val="000000"/>
                </a:solidFill>
                <a:latin typeface="Poppins" panose="00000500000000000000" pitchFamily="2" charset="0"/>
              </a:rPr>
              <a:t> </a:t>
            </a:r>
            <a:r>
              <a:rPr lang="en-US" sz="2200" b="0" i="0" dirty="0">
                <a:solidFill>
                  <a:srgbClr val="000000"/>
                </a:solidFill>
                <a:effectLst/>
                <a:latin typeface="Poppins" panose="00000500000000000000" pitchFamily="2" charset="0"/>
              </a:rPr>
              <a:t>and FP growth algorithm. </a:t>
            </a:r>
          </a:p>
          <a:p>
            <a:pPr algn="just"/>
            <a:r>
              <a:rPr lang="en-US" sz="2200" b="0" i="0" dirty="0">
                <a:solidFill>
                  <a:srgbClr val="000000"/>
                </a:solidFill>
                <a:effectLst/>
                <a:latin typeface="Poppins" panose="00000500000000000000" pitchFamily="2" charset="0"/>
              </a:rPr>
              <a:t>Apriori algorithm generates all </a:t>
            </a:r>
            <a:r>
              <a:rPr lang="en-US" sz="2200" b="0" i="0" dirty="0" err="1">
                <a:solidFill>
                  <a:srgbClr val="000000"/>
                </a:solidFill>
                <a:effectLst/>
                <a:latin typeface="Poppins" panose="00000500000000000000" pitchFamily="2" charset="0"/>
              </a:rPr>
              <a:t>itemsets</a:t>
            </a:r>
            <a:r>
              <a:rPr lang="en-US" sz="2200" b="0" i="0" dirty="0">
                <a:solidFill>
                  <a:srgbClr val="000000"/>
                </a:solidFill>
                <a:effectLst/>
                <a:latin typeface="Poppins" panose="00000500000000000000" pitchFamily="2" charset="0"/>
              </a:rPr>
              <a:t> by scanning the full transactional database. Whereas the FP growth algorithm only generates the frequent </a:t>
            </a:r>
            <a:r>
              <a:rPr lang="en-US" sz="2200" b="0" i="0" dirty="0" err="1">
                <a:solidFill>
                  <a:srgbClr val="000000"/>
                </a:solidFill>
                <a:effectLst/>
                <a:latin typeface="Poppins" panose="00000500000000000000" pitchFamily="2" charset="0"/>
              </a:rPr>
              <a:t>itemsets</a:t>
            </a:r>
            <a:r>
              <a:rPr lang="en-US" sz="2200" b="0" i="0" dirty="0">
                <a:solidFill>
                  <a:srgbClr val="000000"/>
                </a:solidFill>
                <a:effectLst/>
                <a:latin typeface="Poppins" panose="00000500000000000000" pitchFamily="2" charset="0"/>
              </a:rPr>
              <a:t> according to the minimum support defined by the user. Since Apriori scans the whole database multiple times, it Is more resource-hungry and the time to generate the association rules increases exponentially with the increase in the database size. On the other hand, the FP growth algorithm doesn’t scan the whole database multiple times and the scanning time increases linearly. Hence, the FP growth algorithm is much faster than the Apriori algorithm.</a:t>
            </a:r>
          </a:p>
          <a:p>
            <a:pPr algn="just"/>
            <a:r>
              <a:rPr lang="en-US" sz="2200" dirty="0">
                <a:solidFill>
                  <a:srgbClr val="000000"/>
                </a:solidFill>
                <a:latin typeface="Poppins" panose="00000500000000000000" pitchFamily="2" charset="0"/>
              </a:rPr>
              <a:t>In </a:t>
            </a:r>
            <a:r>
              <a:rPr lang="en-US" sz="2200" dirty="0" err="1">
                <a:solidFill>
                  <a:srgbClr val="000000"/>
                </a:solidFill>
                <a:latin typeface="Poppins" panose="00000500000000000000" pitchFamily="2" charset="0"/>
              </a:rPr>
              <a:t>apriori</a:t>
            </a:r>
            <a:r>
              <a:rPr lang="en-US" sz="2200" dirty="0">
                <a:solidFill>
                  <a:srgbClr val="000000"/>
                </a:solidFill>
                <a:latin typeface="Poppins" panose="00000500000000000000" pitchFamily="2" charset="0"/>
              </a:rPr>
              <a:t> algorithm we generate </a:t>
            </a:r>
            <a:r>
              <a:rPr lang="en-US" sz="2200" dirty="0" err="1">
                <a:solidFill>
                  <a:srgbClr val="000000"/>
                </a:solidFill>
                <a:latin typeface="Poppins" panose="00000500000000000000" pitchFamily="2" charset="0"/>
              </a:rPr>
              <a:t>itemsets</a:t>
            </a:r>
            <a:r>
              <a:rPr lang="en-US" sz="2200" dirty="0">
                <a:solidFill>
                  <a:srgbClr val="000000"/>
                </a:solidFill>
                <a:latin typeface="Poppins" panose="00000500000000000000" pitchFamily="2" charset="0"/>
              </a:rPr>
              <a:t> ,  and some of the </a:t>
            </a:r>
            <a:r>
              <a:rPr lang="en-US" sz="2200" dirty="0" err="1">
                <a:solidFill>
                  <a:srgbClr val="000000"/>
                </a:solidFill>
                <a:latin typeface="Poppins" panose="00000500000000000000" pitchFamily="2" charset="0"/>
              </a:rPr>
              <a:t>itemsets</a:t>
            </a:r>
            <a:r>
              <a:rPr lang="en-US" sz="2200" dirty="0">
                <a:solidFill>
                  <a:srgbClr val="000000"/>
                </a:solidFill>
                <a:latin typeface="Poppins" panose="00000500000000000000" pitchFamily="2" charset="0"/>
              </a:rPr>
              <a:t> may not be frequent. Generating all the </a:t>
            </a:r>
            <a:r>
              <a:rPr lang="en-US" sz="2200" dirty="0" err="1">
                <a:solidFill>
                  <a:srgbClr val="000000"/>
                </a:solidFill>
                <a:latin typeface="Poppins" panose="00000500000000000000" pitchFamily="2" charset="0"/>
              </a:rPr>
              <a:t>itemsets</a:t>
            </a:r>
            <a:r>
              <a:rPr lang="en-US" sz="2200" dirty="0">
                <a:solidFill>
                  <a:srgbClr val="000000"/>
                </a:solidFill>
                <a:latin typeface="Poppins" panose="00000500000000000000" pitchFamily="2" charset="0"/>
              </a:rPr>
              <a:t> is complex. But in FP tree we generate </a:t>
            </a:r>
            <a:r>
              <a:rPr lang="en-US" sz="2200" dirty="0" err="1">
                <a:solidFill>
                  <a:srgbClr val="000000"/>
                </a:solidFill>
                <a:latin typeface="Poppins" panose="00000500000000000000" pitchFamily="2" charset="0"/>
              </a:rPr>
              <a:t>itemsets</a:t>
            </a:r>
            <a:r>
              <a:rPr lang="en-US" sz="2200" dirty="0">
                <a:solidFill>
                  <a:srgbClr val="000000"/>
                </a:solidFill>
                <a:latin typeface="Poppins" panose="00000500000000000000" pitchFamily="2" charset="0"/>
              </a:rPr>
              <a:t> which are frequent, we don’t generate all </a:t>
            </a:r>
            <a:r>
              <a:rPr lang="en-US" sz="2200" dirty="0" err="1">
                <a:solidFill>
                  <a:srgbClr val="000000"/>
                </a:solidFill>
                <a:latin typeface="Poppins" panose="00000500000000000000" pitchFamily="2" charset="0"/>
              </a:rPr>
              <a:t>itemsets</a:t>
            </a:r>
            <a:r>
              <a:rPr lang="en-US" sz="2200" dirty="0">
                <a:solidFill>
                  <a:srgbClr val="000000"/>
                </a:solidFill>
                <a:latin typeface="Poppins" panose="00000500000000000000" pitchFamily="2" charset="0"/>
              </a:rPr>
              <a:t>.</a:t>
            </a:r>
            <a:endParaRPr lang="en-US" sz="2200" b="0" i="0" dirty="0">
              <a:solidFill>
                <a:srgbClr val="000000"/>
              </a:solidFill>
              <a:effectLst/>
              <a:latin typeface="Poppins" panose="00000500000000000000" pitchFamily="2" charset="0"/>
            </a:endParaRPr>
          </a:p>
          <a:p>
            <a:endParaRPr lang="en-IN" dirty="0"/>
          </a:p>
        </p:txBody>
      </p:sp>
    </p:spTree>
    <p:extLst>
      <p:ext uri="{BB962C8B-B14F-4D97-AF65-F5344CB8AC3E}">
        <p14:creationId xmlns:p14="http://schemas.microsoft.com/office/powerpoint/2010/main" val="3379683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6805-91DE-4742-92B7-F166566F34F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93CF1DE-08A5-423B-B6F1-5C8E51BD9321}"/>
              </a:ext>
            </a:extLst>
          </p:cNvPr>
          <p:cNvPicPr>
            <a:picLocks noGrp="1" noChangeAspect="1"/>
          </p:cNvPicPr>
          <p:nvPr>
            <p:ph idx="1"/>
          </p:nvPr>
        </p:nvPicPr>
        <p:blipFill>
          <a:blip r:embed="rId2"/>
          <a:stretch>
            <a:fillRect/>
          </a:stretch>
        </p:blipFill>
        <p:spPr>
          <a:xfrm>
            <a:off x="2440330" y="1825625"/>
            <a:ext cx="7311339" cy="4351338"/>
          </a:xfrm>
        </p:spPr>
      </p:pic>
    </p:spTree>
    <p:extLst>
      <p:ext uri="{BB962C8B-B14F-4D97-AF65-F5344CB8AC3E}">
        <p14:creationId xmlns:p14="http://schemas.microsoft.com/office/powerpoint/2010/main" val="2037368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4F63-3B20-4FAB-A40C-94686467078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5100F39-1DD7-4E4D-8103-0BFE83EB5049}"/>
              </a:ext>
            </a:extLst>
          </p:cNvPr>
          <p:cNvPicPr>
            <a:picLocks noGrp="1" noChangeAspect="1"/>
          </p:cNvPicPr>
          <p:nvPr>
            <p:ph idx="1"/>
          </p:nvPr>
        </p:nvPicPr>
        <p:blipFill>
          <a:blip r:embed="rId2"/>
          <a:stretch>
            <a:fillRect/>
          </a:stretch>
        </p:blipFill>
        <p:spPr>
          <a:xfrm>
            <a:off x="1675303" y="1825625"/>
            <a:ext cx="8841393" cy="4351338"/>
          </a:xfrm>
        </p:spPr>
      </p:pic>
    </p:spTree>
    <p:extLst>
      <p:ext uri="{BB962C8B-B14F-4D97-AF65-F5344CB8AC3E}">
        <p14:creationId xmlns:p14="http://schemas.microsoft.com/office/powerpoint/2010/main" val="3147986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C655-7B43-4E0A-893B-F32938CDE19D}"/>
              </a:ext>
            </a:extLst>
          </p:cNvPr>
          <p:cNvSpPr>
            <a:spLocks noGrp="1"/>
          </p:cNvSpPr>
          <p:nvPr>
            <p:ph type="title"/>
          </p:nvPr>
        </p:nvSpPr>
        <p:spPr/>
        <p:txBody>
          <a:bodyPr/>
          <a:lstStyle/>
          <a:p>
            <a:r>
              <a:rPr lang="en-US" dirty="0"/>
              <a:t>Steps for FP growth Algorithm</a:t>
            </a:r>
            <a:endParaRPr lang="en-IN" dirty="0"/>
          </a:p>
        </p:txBody>
      </p:sp>
      <p:sp>
        <p:nvSpPr>
          <p:cNvPr id="3" name="Content Placeholder 2">
            <a:extLst>
              <a:ext uri="{FF2B5EF4-FFF2-40B4-BE49-F238E27FC236}">
                <a16:creationId xmlns:a16="http://schemas.microsoft.com/office/drawing/2014/main" id="{84D9A35C-CCAD-49FE-948F-7F39F19F8401}"/>
              </a:ext>
            </a:extLst>
          </p:cNvPr>
          <p:cNvSpPr>
            <a:spLocks noGrp="1"/>
          </p:cNvSpPr>
          <p:nvPr>
            <p:ph idx="1"/>
          </p:nvPr>
        </p:nvSpPr>
        <p:spPr/>
        <p:txBody>
          <a:bodyPr>
            <a:normAutofit/>
          </a:bodyPr>
          <a:lstStyle/>
          <a:p>
            <a:pPr algn="l"/>
            <a:r>
              <a:rPr lang="en-US" sz="1050" b="1" i="0" dirty="0">
                <a:solidFill>
                  <a:srgbClr val="3A3A3A"/>
                </a:solidFill>
                <a:effectLst/>
                <a:latin typeface="Work Sans" pitchFamily="2" charset="0"/>
              </a:rPr>
              <a:t>#1)</a:t>
            </a:r>
            <a:r>
              <a:rPr lang="en-US" sz="1050" b="0" i="0" dirty="0">
                <a:solidFill>
                  <a:srgbClr val="3A3A3A"/>
                </a:solidFill>
                <a:effectLst/>
                <a:latin typeface="Work Sans" pitchFamily="2" charset="0"/>
              </a:rPr>
              <a:t> The first step is to scan the database to find the occurrences of the </a:t>
            </a:r>
            <a:r>
              <a:rPr lang="en-US" sz="1050" b="0" i="0" dirty="0" err="1">
                <a:solidFill>
                  <a:srgbClr val="3A3A3A"/>
                </a:solidFill>
                <a:effectLst/>
                <a:latin typeface="Work Sans" pitchFamily="2" charset="0"/>
              </a:rPr>
              <a:t>itemsets</a:t>
            </a:r>
            <a:r>
              <a:rPr lang="en-US" sz="1050" b="0" i="0" dirty="0">
                <a:solidFill>
                  <a:srgbClr val="3A3A3A"/>
                </a:solidFill>
                <a:effectLst/>
                <a:latin typeface="Work Sans" pitchFamily="2" charset="0"/>
              </a:rPr>
              <a:t> in the database. This step is the same as the first step of </a:t>
            </a:r>
            <a:r>
              <a:rPr lang="en-US" sz="1050" b="0" i="0" dirty="0" err="1">
                <a:solidFill>
                  <a:srgbClr val="3A3A3A"/>
                </a:solidFill>
                <a:effectLst/>
                <a:latin typeface="Work Sans" pitchFamily="2" charset="0"/>
              </a:rPr>
              <a:t>Apriori</a:t>
            </a:r>
            <a:r>
              <a:rPr lang="en-US" sz="1050" b="0" i="0" dirty="0">
                <a:solidFill>
                  <a:srgbClr val="3A3A3A"/>
                </a:solidFill>
                <a:effectLst/>
                <a:latin typeface="Work Sans" pitchFamily="2" charset="0"/>
              </a:rPr>
              <a:t>. The count of 1-itemsets in the database is called support count or frequency of 1-itemset.</a:t>
            </a:r>
          </a:p>
          <a:p>
            <a:pPr algn="l"/>
            <a:r>
              <a:rPr lang="en-US" sz="1050" b="1" i="0" dirty="0">
                <a:solidFill>
                  <a:srgbClr val="3A3A3A"/>
                </a:solidFill>
                <a:effectLst/>
                <a:latin typeface="Work Sans" pitchFamily="2" charset="0"/>
              </a:rPr>
              <a:t>#2)</a:t>
            </a:r>
            <a:r>
              <a:rPr lang="en-US" sz="1050" b="0" i="0" dirty="0">
                <a:solidFill>
                  <a:srgbClr val="3A3A3A"/>
                </a:solidFill>
                <a:effectLst/>
                <a:latin typeface="Work Sans" pitchFamily="2" charset="0"/>
              </a:rPr>
              <a:t> The second step is to construct the FP tree. For this, create the root of the tree. The root is represented by null.</a:t>
            </a:r>
          </a:p>
          <a:p>
            <a:pPr algn="l"/>
            <a:r>
              <a:rPr lang="en-US" sz="1050" b="1" i="0" dirty="0">
                <a:solidFill>
                  <a:srgbClr val="3A3A3A"/>
                </a:solidFill>
                <a:effectLst/>
                <a:latin typeface="Work Sans" pitchFamily="2" charset="0"/>
              </a:rPr>
              <a:t>#3) </a:t>
            </a:r>
            <a:r>
              <a:rPr lang="en-US" sz="1050" b="0" i="0" dirty="0">
                <a:solidFill>
                  <a:srgbClr val="3A3A3A"/>
                </a:solidFill>
                <a:effectLst/>
                <a:latin typeface="Work Sans" pitchFamily="2" charset="0"/>
              </a:rPr>
              <a:t>The next step is to scan the database again and examine the transactions. Examine the first transaction and find out the itemset in it. The itemset with the max count is taken at the top, the next itemset with lower count and so on. It means that the branch of the tree is constructed with transaction </a:t>
            </a:r>
            <a:r>
              <a:rPr lang="en-US" sz="1050" b="0" i="0" dirty="0" err="1">
                <a:solidFill>
                  <a:srgbClr val="3A3A3A"/>
                </a:solidFill>
                <a:effectLst/>
                <a:latin typeface="Work Sans" pitchFamily="2" charset="0"/>
              </a:rPr>
              <a:t>itemsets</a:t>
            </a:r>
            <a:r>
              <a:rPr lang="en-US" sz="1050" b="0" i="0" dirty="0">
                <a:solidFill>
                  <a:srgbClr val="3A3A3A"/>
                </a:solidFill>
                <a:effectLst/>
                <a:latin typeface="Work Sans" pitchFamily="2" charset="0"/>
              </a:rPr>
              <a:t> in descending order of count.</a:t>
            </a:r>
          </a:p>
          <a:p>
            <a:pPr algn="l"/>
            <a:r>
              <a:rPr lang="en-US" sz="1050" b="1" i="0" dirty="0">
                <a:solidFill>
                  <a:srgbClr val="3A3A3A"/>
                </a:solidFill>
                <a:effectLst/>
                <a:latin typeface="Work Sans" pitchFamily="2" charset="0"/>
              </a:rPr>
              <a:t>#4)</a:t>
            </a:r>
            <a:r>
              <a:rPr lang="en-US" sz="1050" b="0" i="0" dirty="0">
                <a:solidFill>
                  <a:srgbClr val="3A3A3A"/>
                </a:solidFill>
                <a:effectLst/>
                <a:latin typeface="Work Sans" pitchFamily="2" charset="0"/>
              </a:rPr>
              <a:t> The next transaction in the database is examined. The </a:t>
            </a:r>
            <a:r>
              <a:rPr lang="en-US" sz="1050" b="0" i="0" dirty="0" err="1">
                <a:solidFill>
                  <a:srgbClr val="3A3A3A"/>
                </a:solidFill>
                <a:effectLst/>
                <a:latin typeface="Work Sans" pitchFamily="2" charset="0"/>
              </a:rPr>
              <a:t>itemsets</a:t>
            </a:r>
            <a:r>
              <a:rPr lang="en-US" sz="1050" b="0" i="0" dirty="0">
                <a:solidFill>
                  <a:srgbClr val="3A3A3A"/>
                </a:solidFill>
                <a:effectLst/>
                <a:latin typeface="Work Sans" pitchFamily="2" charset="0"/>
              </a:rPr>
              <a:t> are ordered in descending order of count. If any itemset of this transaction is already present in another branch (for example in the 1st transaction), then this transaction branch would share a common prefix to the root.</a:t>
            </a:r>
          </a:p>
          <a:p>
            <a:pPr algn="l"/>
            <a:r>
              <a:rPr lang="en-US" sz="1050" b="0" i="0" dirty="0">
                <a:solidFill>
                  <a:srgbClr val="3A3A3A"/>
                </a:solidFill>
                <a:effectLst/>
                <a:latin typeface="Work Sans" pitchFamily="2" charset="0"/>
              </a:rPr>
              <a:t>This means that the common itemset is linked to the new node of another itemset in this transaction.</a:t>
            </a:r>
          </a:p>
          <a:p>
            <a:pPr algn="l"/>
            <a:r>
              <a:rPr lang="en-US" sz="1050" b="1" i="0" dirty="0">
                <a:solidFill>
                  <a:srgbClr val="3A3A3A"/>
                </a:solidFill>
                <a:effectLst/>
                <a:latin typeface="Work Sans" pitchFamily="2" charset="0"/>
              </a:rPr>
              <a:t>#5)</a:t>
            </a:r>
            <a:r>
              <a:rPr lang="en-US" sz="1050" b="0" i="0" dirty="0">
                <a:solidFill>
                  <a:srgbClr val="3A3A3A"/>
                </a:solidFill>
                <a:effectLst/>
                <a:latin typeface="Work Sans" pitchFamily="2" charset="0"/>
              </a:rPr>
              <a:t> Also, the count of the itemset is incremented as it occurs in the transactions. Both the common node and new node count is increased by 1 as they are created and linked according to transactions.</a:t>
            </a:r>
          </a:p>
          <a:p>
            <a:pPr algn="l"/>
            <a:r>
              <a:rPr lang="en-US" sz="1050" b="1" i="0" dirty="0">
                <a:solidFill>
                  <a:srgbClr val="3A3A3A"/>
                </a:solidFill>
                <a:effectLst/>
                <a:latin typeface="Work Sans" pitchFamily="2" charset="0"/>
              </a:rPr>
              <a:t>#6)</a:t>
            </a:r>
            <a:r>
              <a:rPr lang="en-US" sz="1050" b="0" i="0" dirty="0">
                <a:solidFill>
                  <a:srgbClr val="3A3A3A"/>
                </a:solidFill>
                <a:effectLst/>
                <a:latin typeface="Work Sans" pitchFamily="2" charset="0"/>
              </a:rPr>
              <a:t> The next step is to mine the created FP Tree. For this, the lowest node is examined first along with the links of the lowest nodes. The lowest node represents the frequency pattern length 1. From this, traverse the path in the FP Tree. This path or paths are called a conditional pattern base.</a:t>
            </a:r>
          </a:p>
          <a:p>
            <a:pPr algn="l"/>
            <a:r>
              <a:rPr lang="en-US" sz="1050" b="0" i="0" dirty="0">
                <a:solidFill>
                  <a:srgbClr val="3A3A3A"/>
                </a:solidFill>
                <a:effectLst/>
                <a:latin typeface="Work Sans" pitchFamily="2" charset="0"/>
              </a:rPr>
              <a:t>Conditional pattern base is a sub-database consisting of prefix paths in the FP tree occurring with the lowest node (suffix).</a:t>
            </a:r>
          </a:p>
          <a:p>
            <a:pPr algn="l"/>
            <a:r>
              <a:rPr lang="en-US" sz="1050" b="1" i="0" dirty="0">
                <a:solidFill>
                  <a:srgbClr val="3A3A3A"/>
                </a:solidFill>
                <a:effectLst/>
                <a:latin typeface="Work Sans" pitchFamily="2" charset="0"/>
              </a:rPr>
              <a:t>#7)</a:t>
            </a:r>
            <a:r>
              <a:rPr lang="en-US" sz="1050" b="0" i="0" dirty="0">
                <a:solidFill>
                  <a:srgbClr val="3A3A3A"/>
                </a:solidFill>
                <a:effectLst/>
                <a:latin typeface="Work Sans" pitchFamily="2" charset="0"/>
              </a:rPr>
              <a:t> Construct a Conditional FP Tree, which is formed by a count of </a:t>
            </a:r>
            <a:r>
              <a:rPr lang="en-US" sz="1050" b="0" i="0" dirty="0" err="1">
                <a:solidFill>
                  <a:srgbClr val="3A3A3A"/>
                </a:solidFill>
                <a:effectLst/>
                <a:latin typeface="Work Sans" pitchFamily="2" charset="0"/>
              </a:rPr>
              <a:t>itemsets</a:t>
            </a:r>
            <a:r>
              <a:rPr lang="en-US" sz="1050" b="0" i="0" dirty="0">
                <a:solidFill>
                  <a:srgbClr val="3A3A3A"/>
                </a:solidFill>
                <a:effectLst/>
                <a:latin typeface="Work Sans" pitchFamily="2" charset="0"/>
              </a:rPr>
              <a:t> in the path. The </a:t>
            </a:r>
            <a:r>
              <a:rPr lang="en-US" sz="1050" b="0" i="0" dirty="0" err="1">
                <a:solidFill>
                  <a:srgbClr val="3A3A3A"/>
                </a:solidFill>
                <a:effectLst/>
                <a:latin typeface="Work Sans" pitchFamily="2" charset="0"/>
              </a:rPr>
              <a:t>itemsets</a:t>
            </a:r>
            <a:r>
              <a:rPr lang="en-US" sz="1050" b="0" i="0" dirty="0">
                <a:solidFill>
                  <a:srgbClr val="3A3A3A"/>
                </a:solidFill>
                <a:effectLst/>
                <a:latin typeface="Work Sans" pitchFamily="2" charset="0"/>
              </a:rPr>
              <a:t> meeting the threshold support are considered in the Conditional FP Tree.</a:t>
            </a:r>
          </a:p>
          <a:p>
            <a:pPr algn="l"/>
            <a:r>
              <a:rPr lang="en-US" sz="1050" b="1" i="0" dirty="0">
                <a:solidFill>
                  <a:srgbClr val="3A3A3A"/>
                </a:solidFill>
                <a:effectLst/>
                <a:latin typeface="Work Sans" pitchFamily="2" charset="0"/>
              </a:rPr>
              <a:t>#8)</a:t>
            </a:r>
            <a:r>
              <a:rPr lang="en-US" sz="1050" b="0" i="0" dirty="0">
                <a:solidFill>
                  <a:srgbClr val="3A3A3A"/>
                </a:solidFill>
                <a:effectLst/>
                <a:latin typeface="Work Sans" pitchFamily="2" charset="0"/>
              </a:rPr>
              <a:t> Frequent Patterns are generated from the Conditional FP Tree.</a:t>
            </a:r>
          </a:p>
          <a:p>
            <a:endParaRPr lang="en-US" sz="1400" b="0" i="0" dirty="0">
              <a:effectLst/>
              <a:latin typeface="Poppins" panose="00000500000000000000" pitchFamily="2" charset="0"/>
            </a:endParaRPr>
          </a:p>
          <a:p>
            <a:endParaRPr lang="en-IN" dirty="0"/>
          </a:p>
        </p:txBody>
      </p:sp>
    </p:spTree>
    <p:extLst>
      <p:ext uri="{BB962C8B-B14F-4D97-AF65-F5344CB8AC3E}">
        <p14:creationId xmlns:p14="http://schemas.microsoft.com/office/powerpoint/2010/main" val="2277934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5C88-8CE3-4A25-BF26-90DD47764E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A5B92C-127A-47BC-AE88-3D2AB3AB0B75}"/>
              </a:ext>
            </a:extLst>
          </p:cNvPr>
          <p:cNvSpPr>
            <a:spLocks noGrp="1"/>
          </p:cNvSpPr>
          <p:nvPr>
            <p:ph idx="1"/>
          </p:nvPr>
        </p:nvSpPr>
        <p:spPr/>
        <p:txBody>
          <a:bodyPr/>
          <a:lstStyle/>
          <a:p>
            <a:pPr>
              <a:lnSpc>
                <a:spcPct val="80000"/>
              </a:lnSpc>
            </a:pPr>
            <a:r>
              <a:rPr lang="en-US" altLang="zh-CN" sz="2400" b="1" dirty="0">
                <a:ea typeface="SimSun" pitchFamily="2" charset="-122"/>
              </a:rPr>
              <a:t>FP-Growth</a:t>
            </a:r>
            <a:r>
              <a:rPr lang="en-US" altLang="zh-CN" sz="2400" dirty="0">
                <a:ea typeface="SimSun" pitchFamily="2" charset="-122"/>
              </a:rPr>
              <a:t>: allows frequent itemset discovery without candidate generation. Two step:</a:t>
            </a:r>
          </a:p>
          <a:p>
            <a:pPr lvl="1">
              <a:lnSpc>
                <a:spcPct val="80000"/>
              </a:lnSpc>
            </a:pPr>
            <a:r>
              <a:rPr lang="en-US" altLang="zh-CN" sz="2000" dirty="0">
                <a:ea typeface="SimSun" pitchFamily="2" charset="-122"/>
              </a:rPr>
              <a:t>1.Build a compact data structure called the FP-tree</a:t>
            </a:r>
          </a:p>
          <a:p>
            <a:pPr lvl="2">
              <a:lnSpc>
                <a:spcPct val="80000"/>
              </a:lnSpc>
            </a:pPr>
            <a:r>
              <a:rPr lang="en-US" altLang="zh-CN" sz="1800" dirty="0">
                <a:ea typeface="SimSun" pitchFamily="2" charset="-122"/>
              </a:rPr>
              <a:t>2 passes over the database</a:t>
            </a:r>
          </a:p>
          <a:p>
            <a:pPr lvl="1">
              <a:lnSpc>
                <a:spcPct val="80000"/>
              </a:lnSpc>
            </a:pPr>
            <a:r>
              <a:rPr lang="en-US" altLang="zh-CN" sz="2000" dirty="0">
                <a:ea typeface="SimSun" pitchFamily="2" charset="-122"/>
              </a:rPr>
              <a:t>2.extracts frequent </a:t>
            </a:r>
            <a:r>
              <a:rPr lang="en-US" altLang="zh-CN" sz="2000" dirty="0" err="1">
                <a:ea typeface="SimSun" pitchFamily="2" charset="-122"/>
              </a:rPr>
              <a:t>itemsets</a:t>
            </a:r>
            <a:r>
              <a:rPr lang="en-US" altLang="zh-CN" sz="2000" dirty="0">
                <a:ea typeface="SimSun" pitchFamily="2" charset="-122"/>
              </a:rPr>
              <a:t> directly from the FP-tree</a:t>
            </a:r>
          </a:p>
          <a:p>
            <a:pPr lvl="2">
              <a:lnSpc>
                <a:spcPct val="80000"/>
              </a:lnSpc>
            </a:pPr>
            <a:r>
              <a:rPr lang="en-US" altLang="zh-CN" sz="1800">
                <a:ea typeface="SimSun" pitchFamily="2" charset="-122"/>
              </a:rPr>
              <a:t>Traverse through FP-tree</a:t>
            </a:r>
          </a:p>
          <a:p>
            <a:endParaRPr lang="en-IN"/>
          </a:p>
        </p:txBody>
      </p:sp>
    </p:spTree>
    <p:extLst>
      <p:ext uri="{BB962C8B-B14F-4D97-AF65-F5344CB8AC3E}">
        <p14:creationId xmlns:p14="http://schemas.microsoft.com/office/powerpoint/2010/main" val="44961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3391C-6B1B-483D-A0B8-D16F739F192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BF533F3-C094-4B0D-B37D-AA6D064D43C7}"/>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3997166" y="108946"/>
            <a:ext cx="2743200" cy="3152775"/>
          </a:xfrm>
        </p:spPr>
      </p:pic>
      <p:sp>
        <p:nvSpPr>
          <p:cNvPr id="6" name="TextBox 5">
            <a:extLst>
              <a:ext uri="{FF2B5EF4-FFF2-40B4-BE49-F238E27FC236}">
                <a16:creationId xmlns:a16="http://schemas.microsoft.com/office/drawing/2014/main" id="{7B42488C-F580-4F2F-8D99-E146BC380978}"/>
              </a:ext>
            </a:extLst>
          </p:cNvPr>
          <p:cNvSpPr txBox="1"/>
          <p:nvPr/>
        </p:nvSpPr>
        <p:spPr>
          <a:xfrm>
            <a:off x="6815160" y="1786889"/>
            <a:ext cx="2743199" cy="646331"/>
          </a:xfrm>
          <a:prstGeom prst="rect">
            <a:avLst/>
          </a:prstGeom>
          <a:noFill/>
        </p:spPr>
        <p:txBody>
          <a:bodyPr wrap="square" rtlCol="0">
            <a:spAutoFit/>
          </a:bodyPr>
          <a:lstStyle/>
          <a:p>
            <a:r>
              <a:rPr lang="en-US" dirty="0">
                <a:solidFill>
                  <a:schemeClr val="accent2"/>
                </a:solidFill>
              </a:rPr>
              <a:t>Minimum support count 2</a:t>
            </a:r>
          </a:p>
          <a:p>
            <a:r>
              <a:rPr lang="en-US" dirty="0">
                <a:solidFill>
                  <a:schemeClr val="accent2"/>
                </a:solidFill>
              </a:rPr>
              <a:t>Min confidence 60%</a:t>
            </a:r>
            <a:endParaRPr lang="en-IN" dirty="0">
              <a:solidFill>
                <a:schemeClr val="accent2"/>
              </a:solidFill>
            </a:endParaRPr>
          </a:p>
        </p:txBody>
      </p:sp>
      <p:graphicFrame>
        <p:nvGraphicFramePr>
          <p:cNvPr id="7" name="Table 7">
            <a:extLst>
              <a:ext uri="{FF2B5EF4-FFF2-40B4-BE49-F238E27FC236}">
                <a16:creationId xmlns:a16="http://schemas.microsoft.com/office/drawing/2014/main" id="{697B6287-1787-4192-AB34-2C7CB71AA00B}"/>
              </a:ext>
            </a:extLst>
          </p:cNvPr>
          <p:cNvGraphicFramePr>
            <a:graphicFrameLocks noGrp="1"/>
          </p:cNvGraphicFramePr>
          <p:nvPr>
            <p:extLst>
              <p:ext uri="{D42A27DB-BD31-4B8C-83A1-F6EECF244321}">
                <p14:modId xmlns:p14="http://schemas.microsoft.com/office/powerpoint/2010/main" val="2125827412"/>
              </p:ext>
            </p:extLst>
          </p:nvPr>
        </p:nvGraphicFramePr>
        <p:xfrm>
          <a:off x="926224" y="3966212"/>
          <a:ext cx="3070942" cy="2891788"/>
        </p:xfrm>
        <a:graphic>
          <a:graphicData uri="http://schemas.openxmlformats.org/drawingml/2006/table">
            <a:tbl>
              <a:tblPr firstRow="1" bandRow="1">
                <a:tableStyleId>{5C22544A-7EE6-4342-B048-85BDC9FD1C3A}</a:tableStyleId>
              </a:tblPr>
              <a:tblGrid>
                <a:gridCol w="1535471">
                  <a:extLst>
                    <a:ext uri="{9D8B030D-6E8A-4147-A177-3AD203B41FA5}">
                      <a16:colId xmlns:a16="http://schemas.microsoft.com/office/drawing/2014/main" val="2875575535"/>
                    </a:ext>
                  </a:extLst>
                </a:gridCol>
                <a:gridCol w="1535471">
                  <a:extLst>
                    <a:ext uri="{9D8B030D-6E8A-4147-A177-3AD203B41FA5}">
                      <a16:colId xmlns:a16="http://schemas.microsoft.com/office/drawing/2014/main" val="732305895"/>
                    </a:ext>
                  </a:extLst>
                </a:gridCol>
              </a:tblGrid>
              <a:tr h="409574">
                <a:tc>
                  <a:txBody>
                    <a:bodyPr/>
                    <a:lstStyle/>
                    <a:p>
                      <a:r>
                        <a:rPr lang="en-US" sz="1400" dirty="0"/>
                        <a:t>Itemset</a:t>
                      </a:r>
                      <a:endParaRPr lang="en-IN" sz="1400" dirty="0"/>
                    </a:p>
                  </a:txBody>
                  <a:tcPr/>
                </a:tc>
                <a:tc>
                  <a:txBody>
                    <a:bodyPr/>
                    <a:lstStyle/>
                    <a:p>
                      <a:r>
                        <a:rPr lang="en-US" sz="1400" dirty="0"/>
                        <a:t>Support count</a:t>
                      </a:r>
                      <a:endParaRPr lang="en-IN" sz="1400" dirty="0"/>
                    </a:p>
                  </a:txBody>
                  <a:tcPr/>
                </a:tc>
                <a:extLst>
                  <a:ext uri="{0D108BD9-81ED-4DB2-BD59-A6C34878D82A}">
                    <a16:rowId xmlns:a16="http://schemas.microsoft.com/office/drawing/2014/main" val="2685841072"/>
                  </a:ext>
                </a:extLst>
              </a:tr>
              <a:tr h="409574">
                <a:tc>
                  <a:txBody>
                    <a:bodyPr/>
                    <a:lstStyle/>
                    <a:p>
                      <a:r>
                        <a:rPr lang="en-US" sz="1400" dirty="0"/>
                        <a:t>{I1}</a:t>
                      </a:r>
                      <a:endParaRPr lang="en-IN" sz="1400" dirty="0"/>
                    </a:p>
                  </a:txBody>
                  <a:tcPr/>
                </a:tc>
                <a:tc>
                  <a:txBody>
                    <a:bodyPr/>
                    <a:lstStyle/>
                    <a:p>
                      <a:r>
                        <a:rPr lang="en-US" sz="1400" dirty="0"/>
                        <a:t>6</a:t>
                      </a:r>
                      <a:endParaRPr lang="en-IN" sz="1400" dirty="0"/>
                    </a:p>
                  </a:txBody>
                  <a:tcPr/>
                </a:tc>
                <a:extLst>
                  <a:ext uri="{0D108BD9-81ED-4DB2-BD59-A6C34878D82A}">
                    <a16:rowId xmlns:a16="http://schemas.microsoft.com/office/drawing/2014/main" val="431019227"/>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{I2}</a:t>
                      </a:r>
                      <a:endParaRPr lang="en-IN" sz="1400" dirty="0"/>
                    </a:p>
                    <a:p>
                      <a:endParaRPr lang="en-IN" sz="1400" dirty="0"/>
                    </a:p>
                  </a:txBody>
                  <a:tcPr/>
                </a:tc>
                <a:tc>
                  <a:txBody>
                    <a:bodyPr/>
                    <a:lstStyle/>
                    <a:p>
                      <a:r>
                        <a:rPr lang="en-US" sz="1400" dirty="0"/>
                        <a:t>7</a:t>
                      </a:r>
                      <a:endParaRPr lang="en-IN" sz="1400" dirty="0"/>
                    </a:p>
                  </a:txBody>
                  <a:tcPr/>
                </a:tc>
                <a:extLst>
                  <a:ext uri="{0D108BD9-81ED-4DB2-BD59-A6C34878D82A}">
                    <a16:rowId xmlns:a16="http://schemas.microsoft.com/office/drawing/2014/main" val="771853245"/>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{I3}</a:t>
                      </a:r>
                      <a:endParaRPr lang="en-IN" sz="1400" dirty="0"/>
                    </a:p>
                    <a:p>
                      <a:endParaRPr lang="en-IN" sz="1400" dirty="0"/>
                    </a:p>
                  </a:txBody>
                  <a:tcPr/>
                </a:tc>
                <a:tc>
                  <a:txBody>
                    <a:bodyPr/>
                    <a:lstStyle/>
                    <a:p>
                      <a:r>
                        <a:rPr lang="en-US" sz="1400" dirty="0"/>
                        <a:t>6</a:t>
                      </a:r>
                      <a:endParaRPr lang="en-IN" sz="1400" dirty="0"/>
                    </a:p>
                  </a:txBody>
                  <a:tcPr/>
                </a:tc>
                <a:extLst>
                  <a:ext uri="{0D108BD9-81ED-4DB2-BD59-A6C34878D82A}">
                    <a16:rowId xmlns:a16="http://schemas.microsoft.com/office/drawing/2014/main" val="1764248732"/>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{I4}</a:t>
                      </a:r>
                      <a:endParaRPr lang="en-IN" sz="1400" dirty="0"/>
                    </a:p>
                    <a:p>
                      <a:endParaRPr lang="en-IN" sz="1400" dirty="0"/>
                    </a:p>
                  </a:txBody>
                  <a:tcPr/>
                </a:tc>
                <a:tc>
                  <a:txBody>
                    <a:bodyPr/>
                    <a:lstStyle/>
                    <a:p>
                      <a:r>
                        <a:rPr lang="en-US" sz="1400" dirty="0"/>
                        <a:t>2</a:t>
                      </a:r>
                      <a:endParaRPr lang="en-IN" sz="1400" dirty="0"/>
                    </a:p>
                  </a:txBody>
                  <a:tcPr/>
                </a:tc>
                <a:extLst>
                  <a:ext uri="{0D108BD9-81ED-4DB2-BD59-A6C34878D82A}">
                    <a16:rowId xmlns:a16="http://schemas.microsoft.com/office/drawing/2014/main" val="1615734122"/>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{I5}</a:t>
                      </a:r>
                      <a:endParaRPr lang="en-IN" sz="1400" dirty="0"/>
                    </a:p>
                    <a:p>
                      <a:endParaRPr lang="en-IN" sz="1400" dirty="0"/>
                    </a:p>
                  </a:txBody>
                  <a:tcPr/>
                </a:tc>
                <a:tc>
                  <a:txBody>
                    <a:bodyPr/>
                    <a:lstStyle/>
                    <a:p>
                      <a:r>
                        <a:rPr lang="en-US" sz="1400" dirty="0"/>
                        <a:t>2</a:t>
                      </a:r>
                      <a:endParaRPr lang="en-IN" sz="1400" dirty="0"/>
                    </a:p>
                  </a:txBody>
                  <a:tcPr/>
                </a:tc>
                <a:extLst>
                  <a:ext uri="{0D108BD9-81ED-4DB2-BD59-A6C34878D82A}">
                    <a16:rowId xmlns:a16="http://schemas.microsoft.com/office/drawing/2014/main" val="326566291"/>
                  </a:ext>
                </a:extLst>
              </a:tr>
            </a:tbl>
          </a:graphicData>
        </a:graphic>
      </p:graphicFrame>
      <p:sp>
        <p:nvSpPr>
          <p:cNvPr id="8" name="TextBox 7">
            <a:extLst>
              <a:ext uri="{FF2B5EF4-FFF2-40B4-BE49-F238E27FC236}">
                <a16:creationId xmlns:a16="http://schemas.microsoft.com/office/drawing/2014/main" id="{271AF3D2-EAE8-44DC-8114-C2E871E2E71F}"/>
              </a:ext>
            </a:extLst>
          </p:cNvPr>
          <p:cNvSpPr txBox="1"/>
          <p:nvPr/>
        </p:nvSpPr>
        <p:spPr>
          <a:xfrm>
            <a:off x="1876676" y="3625566"/>
            <a:ext cx="1170039" cy="369332"/>
          </a:xfrm>
          <a:prstGeom prst="rect">
            <a:avLst/>
          </a:prstGeom>
          <a:noFill/>
        </p:spPr>
        <p:txBody>
          <a:bodyPr wrap="square" rtlCol="0">
            <a:spAutoFit/>
          </a:bodyPr>
          <a:lstStyle/>
          <a:p>
            <a:r>
              <a:rPr lang="en-US" dirty="0"/>
              <a:t>L1</a:t>
            </a:r>
            <a:endParaRPr lang="en-IN" dirty="0"/>
          </a:p>
        </p:txBody>
      </p:sp>
      <p:sp>
        <p:nvSpPr>
          <p:cNvPr id="9" name="TextBox 8">
            <a:extLst>
              <a:ext uri="{FF2B5EF4-FFF2-40B4-BE49-F238E27FC236}">
                <a16:creationId xmlns:a16="http://schemas.microsoft.com/office/drawing/2014/main" id="{6BC4A357-4972-45F9-BA03-449EC8D9C0B4}"/>
              </a:ext>
            </a:extLst>
          </p:cNvPr>
          <p:cNvSpPr txBox="1"/>
          <p:nvPr/>
        </p:nvSpPr>
        <p:spPr>
          <a:xfrm>
            <a:off x="4493342" y="4534943"/>
            <a:ext cx="1602658" cy="1231106"/>
          </a:xfrm>
          <a:prstGeom prst="rect">
            <a:avLst/>
          </a:prstGeom>
          <a:noFill/>
        </p:spPr>
        <p:txBody>
          <a:bodyPr wrap="square" rtlCol="0">
            <a:spAutoFit/>
          </a:bodyPr>
          <a:lstStyle/>
          <a:p>
            <a:r>
              <a:rPr lang="en-US" dirty="0">
                <a:solidFill>
                  <a:schemeClr val="accent2"/>
                </a:solidFill>
              </a:rPr>
              <a:t>Step 2: </a:t>
            </a:r>
            <a:r>
              <a:rPr lang="en-US" sz="1400" dirty="0"/>
              <a:t>Arrange the items in order of descending order of  their support count</a:t>
            </a:r>
            <a:endParaRPr lang="en-IN" sz="1400" dirty="0"/>
          </a:p>
        </p:txBody>
      </p:sp>
      <p:graphicFrame>
        <p:nvGraphicFramePr>
          <p:cNvPr id="10" name="Table 7">
            <a:extLst>
              <a:ext uri="{FF2B5EF4-FFF2-40B4-BE49-F238E27FC236}">
                <a16:creationId xmlns:a16="http://schemas.microsoft.com/office/drawing/2014/main" id="{D4ECA9B0-2FE7-4CF5-AA8B-8C16278F59C5}"/>
              </a:ext>
            </a:extLst>
          </p:cNvPr>
          <p:cNvGraphicFramePr>
            <a:graphicFrameLocks noGrp="1"/>
          </p:cNvGraphicFramePr>
          <p:nvPr>
            <p:extLst>
              <p:ext uri="{D42A27DB-BD31-4B8C-83A1-F6EECF244321}">
                <p14:modId xmlns:p14="http://schemas.microsoft.com/office/powerpoint/2010/main" val="2424276220"/>
              </p:ext>
            </p:extLst>
          </p:nvPr>
        </p:nvGraphicFramePr>
        <p:xfrm>
          <a:off x="6384768" y="3810232"/>
          <a:ext cx="3070942" cy="2891788"/>
        </p:xfrm>
        <a:graphic>
          <a:graphicData uri="http://schemas.openxmlformats.org/drawingml/2006/table">
            <a:tbl>
              <a:tblPr firstRow="1" bandRow="1">
                <a:tableStyleId>{5C22544A-7EE6-4342-B048-85BDC9FD1C3A}</a:tableStyleId>
              </a:tblPr>
              <a:tblGrid>
                <a:gridCol w="1535471">
                  <a:extLst>
                    <a:ext uri="{9D8B030D-6E8A-4147-A177-3AD203B41FA5}">
                      <a16:colId xmlns:a16="http://schemas.microsoft.com/office/drawing/2014/main" val="2875575535"/>
                    </a:ext>
                  </a:extLst>
                </a:gridCol>
                <a:gridCol w="1535471">
                  <a:extLst>
                    <a:ext uri="{9D8B030D-6E8A-4147-A177-3AD203B41FA5}">
                      <a16:colId xmlns:a16="http://schemas.microsoft.com/office/drawing/2014/main" val="732305895"/>
                    </a:ext>
                  </a:extLst>
                </a:gridCol>
              </a:tblGrid>
              <a:tr h="409574">
                <a:tc>
                  <a:txBody>
                    <a:bodyPr/>
                    <a:lstStyle/>
                    <a:p>
                      <a:r>
                        <a:rPr lang="en-US" sz="1400" dirty="0"/>
                        <a:t>Items</a:t>
                      </a:r>
                      <a:endParaRPr lang="en-IN" sz="1400" dirty="0"/>
                    </a:p>
                  </a:txBody>
                  <a:tcPr/>
                </a:tc>
                <a:tc>
                  <a:txBody>
                    <a:bodyPr/>
                    <a:lstStyle/>
                    <a:p>
                      <a:r>
                        <a:rPr lang="en-US" sz="1400" dirty="0"/>
                        <a:t>Support count</a:t>
                      </a:r>
                      <a:endParaRPr lang="en-IN" sz="1400" dirty="0"/>
                    </a:p>
                  </a:txBody>
                  <a:tcPr/>
                </a:tc>
                <a:extLst>
                  <a:ext uri="{0D108BD9-81ED-4DB2-BD59-A6C34878D82A}">
                    <a16:rowId xmlns:a16="http://schemas.microsoft.com/office/drawing/2014/main" val="2685841072"/>
                  </a:ext>
                </a:extLst>
              </a:tr>
              <a:tr h="409574">
                <a:tc>
                  <a:txBody>
                    <a:bodyPr/>
                    <a:lstStyle/>
                    <a:p>
                      <a:r>
                        <a:rPr lang="en-US" sz="1400" dirty="0"/>
                        <a:t>{I2}</a:t>
                      </a:r>
                      <a:endParaRPr lang="en-IN" sz="1400" dirty="0"/>
                    </a:p>
                  </a:txBody>
                  <a:tcPr/>
                </a:tc>
                <a:tc>
                  <a:txBody>
                    <a:bodyPr/>
                    <a:lstStyle/>
                    <a:p>
                      <a:r>
                        <a:rPr lang="en-US" sz="1400" dirty="0"/>
                        <a:t>7</a:t>
                      </a:r>
                      <a:endParaRPr lang="en-IN" sz="1400" dirty="0"/>
                    </a:p>
                  </a:txBody>
                  <a:tcPr/>
                </a:tc>
                <a:extLst>
                  <a:ext uri="{0D108BD9-81ED-4DB2-BD59-A6C34878D82A}">
                    <a16:rowId xmlns:a16="http://schemas.microsoft.com/office/drawing/2014/main" val="431019227"/>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{I1}</a:t>
                      </a:r>
                      <a:endParaRPr lang="en-IN" sz="1400" dirty="0"/>
                    </a:p>
                    <a:p>
                      <a:endParaRPr lang="en-IN" sz="1400" dirty="0"/>
                    </a:p>
                  </a:txBody>
                  <a:tcPr/>
                </a:tc>
                <a:tc>
                  <a:txBody>
                    <a:bodyPr/>
                    <a:lstStyle/>
                    <a:p>
                      <a:r>
                        <a:rPr lang="en-US" sz="1400" dirty="0"/>
                        <a:t>6</a:t>
                      </a:r>
                      <a:endParaRPr lang="en-IN" sz="1400" dirty="0"/>
                    </a:p>
                  </a:txBody>
                  <a:tcPr/>
                </a:tc>
                <a:extLst>
                  <a:ext uri="{0D108BD9-81ED-4DB2-BD59-A6C34878D82A}">
                    <a16:rowId xmlns:a16="http://schemas.microsoft.com/office/drawing/2014/main" val="771853245"/>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{I3}</a:t>
                      </a:r>
                      <a:endParaRPr lang="en-IN" sz="1400" dirty="0"/>
                    </a:p>
                    <a:p>
                      <a:endParaRPr lang="en-IN" sz="1400" dirty="0"/>
                    </a:p>
                  </a:txBody>
                  <a:tcPr/>
                </a:tc>
                <a:tc>
                  <a:txBody>
                    <a:bodyPr/>
                    <a:lstStyle/>
                    <a:p>
                      <a:r>
                        <a:rPr lang="en-US" sz="1400" dirty="0"/>
                        <a:t>6</a:t>
                      </a:r>
                      <a:endParaRPr lang="en-IN" sz="1400" dirty="0"/>
                    </a:p>
                  </a:txBody>
                  <a:tcPr/>
                </a:tc>
                <a:extLst>
                  <a:ext uri="{0D108BD9-81ED-4DB2-BD59-A6C34878D82A}">
                    <a16:rowId xmlns:a16="http://schemas.microsoft.com/office/drawing/2014/main" val="1764248732"/>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{I4}</a:t>
                      </a:r>
                      <a:endParaRPr lang="en-IN" sz="1400" dirty="0"/>
                    </a:p>
                    <a:p>
                      <a:endParaRPr lang="en-IN" sz="1400" dirty="0"/>
                    </a:p>
                  </a:txBody>
                  <a:tcPr/>
                </a:tc>
                <a:tc>
                  <a:txBody>
                    <a:bodyPr/>
                    <a:lstStyle/>
                    <a:p>
                      <a:r>
                        <a:rPr lang="en-US" sz="1400" dirty="0"/>
                        <a:t>2</a:t>
                      </a:r>
                      <a:endParaRPr lang="en-IN" sz="1400" dirty="0"/>
                    </a:p>
                  </a:txBody>
                  <a:tcPr/>
                </a:tc>
                <a:extLst>
                  <a:ext uri="{0D108BD9-81ED-4DB2-BD59-A6C34878D82A}">
                    <a16:rowId xmlns:a16="http://schemas.microsoft.com/office/drawing/2014/main" val="1615734122"/>
                  </a:ext>
                </a:extLst>
              </a:tr>
              <a:tr h="409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{I5}</a:t>
                      </a:r>
                      <a:endParaRPr lang="en-IN" sz="1400" dirty="0"/>
                    </a:p>
                    <a:p>
                      <a:endParaRPr lang="en-IN" sz="1400" dirty="0"/>
                    </a:p>
                  </a:txBody>
                  <a:tcPr/>
                </a:tc>
                <a:tc>
                  <a:txBody>
                    <a:bodyPr/>
                    <a:lstStyle/>
                    <a:p>
                      <a:r>
                        <a:rPr lang="en-US" sz="1400" dirty="0"/>
                        <a:t>2</a:t>
                      </a:r>
                      <a:endParaRPr lang="en-IN" sz="1400" dirty="0"/>
                    </a:p>
                  </a:txBody>
                  <a:tcPr/>
                </a:tc>
                <a:extLst>
                  <a:ext uri="{0D108BD9-81ED-4DB2-BD59-A6C34878D82A}">
                    <a16:rowId xmlns:a16="http://schemas.microsoft.com/office/drawing/2014/main" val="326566291"/>
                  </a:ext>
                </a:extLst>
              </a:tr>
            </a:tbl>
          </a:graphicData>
        </a:graphic>
      </p:graphicFrame>
      <p:sp>
        <p:nvSpPr>
          <p:cNvPr id="11" name="TextBox 10">
            <a:extLst>
              <a:ext uri="{FF2B5EF4-FFF2-40B4-BE49-F238E27FC236}">
                <a16:creationId xmlns:a16="http://schemas.microsoft.com/office/drawing/2014/main" id="{A8B13DEF-D0CA-4F52-861F-52A1BC5391D8}"/>
              </a:ext>
            </a:extLst>
          </p:cNvPr>
          <p:cNvSpPr txBox="1"/>
          <p:nvPr/>
        </p:nvSpPr>
        <p:spPr>
          <a:xfrm>
            <a:off x="340855" y="2939241"/>
            <a:ext cx="4428494" cy="738664"/>
          </a:xfrm>
          <a:prstGeom prst="rect">
            <a:avLst/>
          </a:prstGeom>
          <a:noFill/>
        </p:spPr>
        <p:txBody>
          <a:bodyPr wrap="square" rtlCol="0">
            <a:spAutoFit/>
          </a:bodyPr>
          <a:lstStyle/>
          <a:p>
            <a:r>
              <a:rPr lang="en-US" sz="1400" dirty="0">
                <a:solidFill>
                  <a:schemeClr val="accent2"/>
                </a:solidFill>
              </a:rPr>
              <a:t>Step 1: </a:t>
            </a:r>
            <a:r>
              <a:rPr lang="en-US" sz="1400" dirty="0"/>
              <a:t>determine the support count of itemset of size1, and eliminate the items whose support count is lesser than the min support count.</a:t>
            </a:r>
            <a:endParaRPr lang="en-IN" sz="1400" dirty="0"/>
          </a:p>
        </p:txBody>
      </p:sp>
      <p:sp>
        <p:nvSpPr>
          <p:cNvPr id="12" name="TextBox 11">
            <a:extLst>
              <a:ext uri="{FF2B5EF4-FFF2-40B4-BE49-F238E27FC236}">
                <a16:creationId xmlns:a16="http://schemas.microsoft.com/office/drawing/2014/main" id="{553F8E2E-A901-412D-A251-C7F511B7FC26}"/>
              </a:ext>
            </a:extLst>
          </p:cNvPr>
          <p:cNvSpPr txBox="1"/>
          <p:nvPr/>
        </p:nvSpPr>
        <p:spPr>
          <a:xfrm>
            <a:off x="9901084" y="4739148"/>
            <a:ext cx="2202426" cy="646331"/>
          </a:xfrm>
          <a:prstGeom prst="rect">
            <a:avLst/>
          </a:prstGeom>
          <a:noFill/>
        </p:spPr>
        <p:txBody>
          <a:bodyPr wrap="square" rtlCol="0">
            <a:spAutoFit/>
          </a:bodyPr>
          <a:lstStyle/>
          <a:p>
            <a:r>
              <a:rPr lang="en-US" dirty="0"/>
              <a:t>Descending Order is I2, I1,I3,I4,I5</a:t>
            </a:r>
            <a:endParaRPr lang="en-IN" dirty="0"/>
          </a:p>
        </p:txBody>
      </p:sp>
    </p:spTree>
    <p:extLst>
      <p:ext uri="{BB962C8B-B14F-4D97-AF65-F5344CB8AC3E}">
        <p14:creationId xmlns:p14="http://schemas.microsoft.com/office/powerpoint/2010/main" val="279479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a:extLst>
              <a:ext uri="{FF2B5EF4-FFF2-40B4-BE49-F238E27FC236}">
                <a16:creationId xmlns:a16="http://schemas.microsoft.com/office/drawing/2014/main" id="{45A17188-566F-472B-AEBC-4DE25A1A9192}"/>
              </a:ext>
            </a:extLst>
          </p:cNvPr>
          <p:cNvGraphicFramePr>
            <a:graphicFrameLocks noGrp="1"/>
          </p:cNvGraphicFramePr>
          <p:nvPr>
            <p:extLst>
              <p:ext uri="{D42A27DB-BD31-4B8C-83A1-F6EECF244321}">
                <p14:modId xmlns:p14="http://schemas.microsoft.com/office/powerpoint/2010/main" val="930618115"/>
              </p:ext>
            </p:extLst>
          </p:nvPr>
        </p:nvGraphicFramePr>
        <p:xfrm>
          <a:off x="485062" y="1227314"/>
          <a:ext cx="3254476" cy="3635136"/>
        </p:xfrm>
        <a:graphic>
          <a:graphicData uri="http://schemas.openxmlformats.org/drawingml/2006/table">
            <a:tbl>
              <a:tblPr firstRow="1" bandRow="1">
                <a:tableStyleId>{5C22544A-7EE6-4342-B048-85BDC9FD1C3A}</a:tableStyleId>
              </a:tblPr>
              <a:tblGrid>
                <a:gridCol w="589934">
                  <a:extLst>
                    <a:ext uri="{9D8B030D-6E8A-4147-A177-3AD203B41FA5}">
                      <a16:colId xmlns:a16="http://schemas.microsoft.com/office/drawing/2014/main" val="2089958048"/>
                    </a:ext>
                  </a:extLst>
                </a:gridCol>
                <a:gridCol w="806246">
                  <a:extLst>
                    <a:ext uri="{9D8B030D-6E8A-4147-A177-3AD203B41FA5}">
                      <a16:colId xmlns:a16="http://schemas.microsoft.com/office/drawing/2014/main" val="3280447403"/>
                    </a:ext>
                  </a:extLst>
                </a:gridCol>
                <a:gridCol w="1858296">
                  <a:extLst>
                    <a:ext uri="{9D8B030D-6E8A-4147-A177-3AD203B41FA5}">
                      <a16:colId xmlns:a16="http://schemas.microsoft.com/office/drawing/2014/main" val="3220225652"/>
                    </a:ext>
                  </a:extLst>
                </a:gridCol>
              </a:tblGrid>
              <a:tr h="465898">
                <a:tc>
                  <a:txBody>
                    <a:bodyPr/>
                    <a:lstStyle/>
                    <a:p>
                      <a:r>
                        <a:rPr lang="en-US" sz="1200" dirty="0"/>
                        <a:t>TID</a:t>
                      </a:r>
                      <a:endParaRPr lang="en-IN" sz="1200" dirty="0"/>
                    </a:p>
                  </a:txBody>
                  <a:tcPr/>
                </a:tc>
                <a:tc>
                  <a:txBody>
                    <a:bodyPr/>
                    <a:lstStyle/>
                    <a:p>
                      <a:r>
                        <a:rPr lang="en-US" sz="1200" dirty="0"/>
                        <a:t>List of </a:t>
                      </a:r>
                      <a:r>
                        <a:rPr lang="en-US" sz="1200" dirty="0" err="1"/>
                        <a:t>Item_IDs</a:t>
                      </a:r>
                      <a:endParaRPr lang="en-IN" sz="1200" dirty="0"/>
                    </a:p>
                  </a:txBody>
                  <a:tcPr/>
                </a:tc>
                <a:tc>
                  <a:txBody>
                    <a:bodyPr/>
                    <a:lstStyle/>
                    <a:p>
                      <a:r>
                        <a:rPr lang="en-US" sz="1200" dirty="0"/>
                        <a:t>Arrange in order</a:t>
                      </a:r>
                    </a:p>
                    <a:p>
                      <a:r>
                        <a:rPr lang="en-US" sz="1200" dirty="0"/>
                        <a:t>of descending order of support count</a:t>
                      </a:r>
                      <a:endParaRPr lang="en-IN" sz="1200" dirty="0"/>
                    </a:p>
                  </a:txBody>
                  <a:tcPr/>
                </a:tc>
                <a:extLst>
                  <a:ext uri="{0D108BD9-81ED-4DB2-BD59-A6C34878D82A}">
                    <a16:rowId xmlns:a16="http://schemas.microsoft.com/office/drawing/2014/main" val="2960376312"/>
                  </a:ext>
                </a:extLst>
              </a:tr>
              <a:tr h="332784">
                <a:tc>
                  <a:txBody>
                    <a:bodyPr/>
                    <a:lstStyle/>
                    <a:p>
                      <a:r>
                        <a:rPr lang="en-US" sz="1200" dirty="0"/>
                        <a:t>T100</a:t>
                      </a:r>
                      <a:endParaRPr lang="en-IN" sz="1200" dirty="0"/>
                    </a:p>
                  </a:txBody>
                  <a:tcPr/>
                </a:tc>
                <a:tc>
                  <a:txBody>
                    <a:bodyPr/>
                    <a:lstStyle/>
                    <a:p>
                      <a:r>
                        <a:rPr lang="en-US" sz="1200" dirty="0"/>
                        <a:t>I1,I2,I5</a:t>
                      </a:r>
                      <a:endParaRPr lang="en-IN" sz="1200" dirty="0"/>
                    </a:p>
                  </a:txBody>
                  <a:tcPr/>
                </a:tc>
                <a:tc>
                  <a:txBody>
                    <a:bodyPr/>
                    <a:lstStyle/>
                    <a:p>
                      <a:r>
                        <a:rPr lang="en-US" sz="1200" dirty="0"/>
                        <a:t>I2,I1,I5</a:t>
                      </a:r>
                      <a:endParaRPr lang="en-IN" sz="1200" dirty="0"/>
                    </a:p>
                  </a:txBody>
                  <a:tcPr/>
                </a:tc>
                <a:extLst>
                  <a:ext uri="{0D108BD9-81ED-4DB2-BD59-A6C34878D82A}">
                    <a16:rowId xmlns:a16="http://schemas.microsoft.com/office/drawing/2014/main" val="737851926"/>
                  </a:ext>
                </a:extLst>
              </a:tr>
              <a:tr h="332784">
                <a:tc>
                  <a:txBody>
                    <a:bodyPr/>
                    <a:lstStyle/>
                    <a:p>
                      <a:r>
                        <a:rPr lang="en-US" sz="1200" dirty="0"/>
                        <a:t>T200</a:t>
                      </a:r>
                      <a:endParaRPr lang="en-IN" sz="1200" dirty="0"/>
                    </a:p>
                  </a:txBody>
                  <a:tcPr/>
                </a:tc>
                <a:tc>
                  <a:txBody>
                    <a:bodyPr/>
                    <a:lstStyle/>
                    <a:p>
                      <a:r>
                        <a:rPr lang="en-US" sz="1200" dirty="0"/>
                        <a:t>I2,I4</a:t>
                      </a:r>
                      <a:endParaRPr lang="en-IN" sz="1200" dirty="0"/>
                    </a:p>
                  </a:txBody>
                  <a:tcPr/>
                </a:tc>
                <a:tc>
                  <a:txBody>
                    <a:bodyPr/>
                    <a:lstStyle/>
                    <a:p>
                      <a:r>
                        <a:rPr lang="en-US" sz="1200" dirty="0"/>
                        <a:t>I2,I4</a:t>
                      </a:r>
                      <a:endParaRPr lang="en-IN" sz="1200" dirty="0"/>
                    </a:p>
                  </a:txBody>
                  <a:tcPr/>
                </a:tc>
                <a:extLst>
                  <a:ext uri="{0D108BD9-81ED-4DB2-BD59-A6C34878D82A}">
                    <a16:rowId xmlns:a16="http://schemas.microsoft.com/office/drawing/2014/main" val="561569752"/>
                  </a:ext>
                </a:extLst>
              </a:tr>
              <a:tr h="332784">
                <a:tc>
                  <a:txBody>
                    <a:bodyPr/>
                    <a:lstStyle/>
                    <a:p>
                      <a:r>
                        <a:rPr lang="en-US" sz="1200" dirty="0"/>
                        <a:t>T300</a:t>
                      </a:r>
                      <a:endParaRPr lang="en-IN" sz="1200" dirty="0"/>
                    </a:p>
                  </a:txBody>
                  <a:tcPr/>
                </a:tc>
                <a:tc>
                  <a:txBody>
                    <a:bodyPr/>
                    <a:lstStyle/>
                    <a:p>
                      <a:r>
                        <a:rPr lang="en-US" sz="1200" dirty="0"/>
                        <a:t>I2,I3</a:t>
                      </a:r>
                      <a:endParaRPr lang="en-IN" sz="1200" dirty="0"/>
                    </a:p>
                  </a:txBody>
                  <a:tcPr/>
                </a:tc>
                <a:tc>
                  <a:txBody>
                    <a:bodyPr/>
                    <a:lstStyle/>
                    <a:p>
                      <a:r>
                        <a:rPr lang="en-US" sz="1200" dirty="0"/>
                        <a:t>I2,I3</a:t>
                      </a:r>
                      <a:endParaRPr lang="en-IN" sz="1200" dirty="0"/>
                    </a:p>
                  </a:txBody>
                  <a:tcPr/>
                </a:tc>
                <a:extLst>
                  <a:ext uri="{0D108BD9-81ED-4DB2-BD59-A6C34878D82A}">
                    <a16:rowId xmlns:a16="http://schemas.microsoft.com/office/drawing/2014/main" val="476897194"/>
                  </a:ext>
                </a:extLst>
              </a:tr>
              <a:tr h="332784">
                <a:tc>
                  <a:txBody>
                    <a:bodyPr/>
                    <a:lstStyle/>
                    <a:p>
                      <a:r>
                        <a:rPr lang="en-US" sz="1200" dirty="0"/>
                        <a:t>T400</a:t>
                      </a:r>
                      <a:endParaRPr lang="en-IN" sz="1200" dirty="0"/>
                    </a:p>
                  </a:txBody>
                  <a:tcPr/>
                </a:tc>
                <a:tc>
                  <a:txBody>
                    <a:bodyPr/>
                    <a:lstStyle/>
                    <a:p>
                      <a:r>
                        <a:rPr lang="en-US" sz="1200" dirty="0"/>
                        <a:t>I1,I2,I4</a:t>
                      </a:r>
                      <a:endParaRPr lang="en-IN" sz="1200" dirty="0"/>
                    </a:p>
                  </a:txBody>
                  <a:tcPr/>
                </a:tc>
                <a:tc>
                  <a:txBody>
                    <a:bodyPr/>
                    <a:lstStyle/>
                    <a:p>
                      <a:r>
                        <a:rPr lang="en-US" sz="1200" dirty="0"/>
                        <a:t>I2,I1,I4</a:t>
                      </a:r>
                      <a:endParaRPr lang="en-IN" sz="1200" dirty="0"/>
                    </a:p>
                  </a:txBody>
                  <a:tcPr/>
                </a:tc>
                <a:extLst>
                  <a:ext uri="{0D108BD9-81ED-4DB2-BD59-A6C34878D82A}">
                    <a16:rowId xmlns:a16="http://schemas.microsoft.com/office/drawing/2014/main" val="74398350"/>
                  </a:ext>
                </a:extLst>
              </a:tr>
              <a:tr h="332784">
                <a:tc>
                  <a:txBody>
                    <a:bodyPr/>
                    <a:lstStyle/>
                    <a:p>
                      <a:r>
                        <a:rPr lang="en-US" sz="1200" dirty="0"/>
                        <a:t>T500</a:t>
                      </a:r>
                      <a:endParaRPr lang="en-IN" sz="1200" dirty="0"/>
                    </a:p>
                  </a:txBody>
                  <a:tcPr/>
                </a:tc>
                <a:tc>
                  <a:txBody>
                    <a:bodyPr/>
                    <a:lstStyle/>
                    <a:p>
                      <a:r>
                        <a:rPr lang="en-US" sz="1200" dirty="0"/>
                        <a:t>I1,I3</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I1,I3</a:t>
                      </a:r>
                      <a:endParaRPr lang="en-IN" sz="1200" dirty="0"/>
                    </a:p>
                  </a:txBody>
                  <a:tcPr/>
                </a:tc>
                <a:extLst>
                  <a:ext uri="{0D108BD9-81ED-4DB2-BD59-A6C34878D82A}">
                    <a16:rowId xmlns:a16="http://schemas.microsoft.com/office/drawing/2014/main" val="559758240"/>
                  </a:ext>
                </a:extLst>
              </a:tr>
              <a:tr h="332784">
                <a:tc>
                  <a:txBody>
                    <a:bodyPr/>
                    <a:lstStyle/>
                    <a:p>
                      <a:r>
                        <a:rPr lang="en-US" sz="1200" dirty="0"/>
                        <a:t>T600</a:t>
                      </a:r>
                      <a:endParaRPr lang="en-IN" sz="1200" dirty="0"/>
                    </a:p>
                  </a:txBody>
                  <a:tcPr/>
                </a:tc>
                <a:tc>
                  <a:txBody>
                    <a:bodyPr/>
                    <a:lstStyle/>
                    <a:p>
                      <a:r>
                        <a:rPr lang="en-US" sz="1200" dirty="0"/>
                        <a:t>I2,I3</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I2,I3</a:t>
                      </a:r>
                      <a:endParaRPr lang="en-IN" sz="1200" dirty="0"/>
                    </a:p>
                  </a:txBody>
                  <a:tcPr/>
                </a:tc>
                <a:extLst>
                  <a:ext uri="{0D108BD9-81ED-4DB2-BD59-A6C34878D82A}">
                    <a16:rowId xmlns:a16="http://schemas.microsoft.com/office/drawing/2014/main" val="318516075"/>
                  </a:ext>
                </a:extLst>
              </a:tr>
              <a:tr h="332784">
                <a:tc>
                  <a:txBody>
                    <a:bodyPr/>
                    <a:lstStyle/>
                    <a:p>
                      <a:r>
                        <a:rPr lang="en-US" sz="1200" dirty="0"/>
                        <a:t>T700</a:t>
                      </a:r>
                      <a:endParaRPr lang="en-IN" sz="1200" dirty="0"/>
                    </a:p>
                  </a:txBody>
                  <a:tcPr/>
                </a:tc>
                <a:tc>
                  <a:txBody>
                    <a:bodyPr/>
                    <a:lstStyle/>
                    <a:p>
                      <a:r>
                        <a:rPr lang="en-US" sz="1200" dirty="0"/>
                        <a:t>I1,I3</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I1,I3</a:t>
                      </a:r>
                      <a:endParaRPr lang="en-IN" sz="1200" dirty="0"/>
                    </a:p>
                  </a:txBody>
                  <a:tcPr/>
                </a:tc>
                <a:extLst>
                  <a:ext uri="{0D108BD9-81ED-4DB2-BD59-A6C34878D82A}">
                    <a16:rowId xmlns:a16="http://schemas.microsoft.com/office/drawing/2014/main" val="1665682771"/>
                  </a:ext>
                </a:extLst>
              </a:tr>
              <a:tr h="332784">
                <a:tc>
                  <a:txBody>
                    <a:bodyPr/>
                    <a:lstStyle/>
                    <a:p>
                      <a:r>
                        <a:rPr lang="en-US" sz="1200" dirty="0"/>
                        <a:t>T800</a:t>
                      </a:r>
                      <a:endParaRPr lang="en-IN" sz="1200" dirty="0"/>
                    </a:p>
                  </a:txBody>
                  <a:tcPr/>
                </a:tc>
                <a:tc>
                  <a:txBody>
                    <a:bodyPr/>
                    <a:lstStyle/>
                    <a:p>
                      <a:r>
                        <a:rPr lang="en-US" sz="1200" dirty="0"/>
                        <a:t>I1,I2,I3,I5</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I2, I1, I3,I5</a:t>
                      </a:r>
                      <a:endParaRPr lang="en-IN" sz="1200" dirty="0"/>
                    </a:p>
                  </a:txBody>
                  <a:tcPr/>
                </a:tc>
                <a:extLst>
                  <a:ext uri="{0D108BD9-81ED-4DB2-BD59-A6C34878D82A}">
                    <a16:rowId xmlns:a16="http://schemas.microsoft.com/office/drawing/2014/main" val="3614935757"/>
                  </a:ext>
                </a:extLst>
              </a:tr>
              <a:tr h="332784">
                <a:tc>
                  <a:txBody>
                    <a:bodyPr/>
                    <a:lstStyle/>
                    <a:p>
                      <a:r>
                        <a:rPr lang="en-US" sz="1200" dirty="0"/>
                        <a:t>T900</a:t>
                      </a:r>
                      <a:endParaRPr lang="en-IN" sz="1200" dirty="0"/>
                    </a:p>
                  </a:txBody>
                  <a:tcPr/>
                </a:tc>
                <a:tc>
                  <a:txBody>
                    <a:bodyPr/>
                    <a:lstStyle/>
                    <a:p>
                      <a:r>
                        <a:rPr lang="en-US" sz="1200" dirty="0"/>
                        <a:t>I1,I2,I3</a:t>
                      </a:r>
                      <a:endParaRPr lang="en-IN" sz="1200" dirty="0"/>
                    </a:p>
                  </a:txBody>
                  <a:tcPr/>
                </a:tc>
                <a:tc>
                  <a:txBody>
                    <a:bodyPr/>
                    <a:lstStyle/>
                    <a:p>
                      <a:r>
                        <a:rPr lang="en-US" sz="1200" dirty="0"/>
                        <a:t>I2,I1,I3</a:t>
                      </a:r>
                      <a:endParaRPr lang="en-IN" sz="1200" dirty="0"/>
                    </a:p>
                  </a:txBody>
                  <a:tcPr/>
                </a:tc>
                <a:extLst>
                  <a:ext uri="{0D108BD9-81ED-4DB2-BD59-A6C34878D82A}">
                    <a16:rowId xmlns:a16="http://schemas.microsoft.com/office/drawing/2014/main" val="566447919"/>
                  </a:ext>
                </a:extLst>
              </a:tr>
            </a:tbl>
          </a:graphicData>
        </a:graphic>
      </p:graphicFrame>
      <p:sp>
        <p:nvSpPr>
          <p:cNvPr id="11" name="TextBox 10">
            <a:extLst>
              <a:ext uri="{FF2B5EF4-FFF2-40B4-BE49-F238E27FC236}">
                <a16:creationId xmlns:a16="http://schemas.microsoft.com/office/drawing/2014/main" id="{1286EB21-71C7-4EC6-8F6B-FBFEFD2A489D}"/>
              </a:ext>
            </a:extLst>
          </p:cNvPr>
          <p:cNvSpPr txBox="1"/>
          <p:nvPr/>
        </p:nvSpPr>
        <p:spPr>
          <a:xfrm>
            <a:off x="4160446" y="865924"/>
            <a:ext cx="2866531" cy="369332"/>
          </a:xfrm>
          <a:prstGeom prst="rect">
            <a:avLst/>
          </a:prstGeom>
          <a:noFill/>
        </p:spPr>
        <p:txBody>
          <a:bodyPr wrap="square" rtlCol="0">
            <a:spAutoFit/>
          </a:bodyPr>
          <a:lstStyle/>
          <a:p>
            <a:r>
              <a:rPr lang="en-US" dirty="0"/>
              <a:t>Desc order is I2, I1,I3,I4,I5</a:t>
            </a:r>
            <a:endParaRPr lang="en-IN" dirty="0"/>
          </a:p>
        </p:txBody>
      </p:sp>
      <p:graphicFrame>
        <p:nvGraphicFramePr>
          <p:cNvPr id="13" name="Table 13">
            <a:extLst>
              <a:ext uri="{FF2B5EF4-FFF2-40B4-BE49-F238E27FC236}">
                <a16:creationId xmlns:a16="http://schemas.microsoft.com/office/drawing/2014/main" id="{1D035156-1274-4DE6-B7B6-B18EF9D84131}"/>
              </a:ext>
            </a:extLst>
          </p:cNvPr>
          <p:cNvGraphicFramePr>
            <a:graphicFrameLocks noGrp="1"/>
          </p:cNvGraphicFramePr>
          <p:nvPr>
            <p:extLst>
              <p:ext uri="{D42A27DB-BD31-4B8C-83A1-F6EECF244321}">
                <p14:modId xmlns:p14="http://schemas.microsoft.com/office/powerpoint/2010/main" val="3043925494"/>
              </p:ext>
            </p:extLst>
          </p:nvPr>
        </p:nvGraphicFramePr>
        <p:xfrm>
          <a:off x="4078751" y="2453569"/>
          <a:ext cx="2284362" cy="2372360"/>
        </p:xfrm>
        <a:graphic>
          <a:graphicData uri="http://schemas.openxmlformats.org/drawingml/2006/table">
            <a:tbl>
              <a:tblPr firstRow="1" bandRow="1">
                <a:tableStyleId>{5C22544A-7EE6-4342-B048-85BDC9FD1C3A}</a:tableStyleId>
              </a:tblPr>
              <a:tblGrid>
                <a:gridCol w="761454">
                  <a:extLst>
                    <a:ext uri="{9D8B030D-6E8A-4147-A177-3AD203B41FA5}">
                      <a16:colId xmlns:a16="http://schemas.microsoft.com/office/drawing/2014/main" val="2296473895"/>
                    </a:ext>
                  </a:extLst>
                </a:gridCol>
                <a:gridCol w="852673">
                  <a:extLst>
                    <a:ext uri="{9D8B030D-6E8A-4147-A177-3AD203B41FA5}">
                      <a16:colId xmlns:a16="http://schemas.microsoft.com/office/drawing/2014/main" val="756557507"/>
                    </a:ext>
                  </a:extLst>
                </a:gridCol>
                <a:gridCol w="670235">
                  <a:extLst>
                    <a:ext uri="{9D8B030D-6E8A-4147-A177-3AD203B41FA5}">
                      <a16:colId xmlns:a16="http://schemas.microsoft.com/office/drawing/2014/main" val="1248109893"/>
                    </a:ext>
                  </a:extLst>
                </a:gridCol>
              </a:tblGrid>
              <a:tr h="370840">
                <a:tc>
                  <a:txBody>
                    <a:bodyPr/>
                    <a:lstStyle/>
                    <a:p>
                      <a:r>
                        <a:rPr lang="en-US" sz="1400" b="1" kern="1200" dirty="0">
                          <a:solidFill>
                            <a:schemeClr val="lt1"/>
                          </a:solidFill>
                          <a:latin typeface="+mn-lt"/>
                          <a:ea typeface="+mn-ea"/>
                          <a:cs typeface="+mn-cs"/>
                        </a:rPr>
                        <a:t>Items</a:t>
                      </a:r>
                      <a:endParaRPr lang="en-IN" sz="1400" b="1" kern="1200" dirty="0">
                        <a:solidFill>
                          <a:schemeClr val="lt1"/>
                        </a:solidFill>
                        <a:latin typeface="+mn-lt"/>
                        <a:ea typeface="+mn-ea"/>
                        <a:cs typeface="+mn-cs"/>
                      </a:endParaRPr>
                    </a:p>
                  </a:txBody>
                  <a:tcPr/>
                </a:tc>
                <a:tc>
                  <a:txBody>
                    <a:bodyPr/>
                    <a:lstStyle/>
                    <a:p>
                      <a:r>
                        <a:rPr lang="en-US" sz="1400" b="1" kern="1200" dirty="0">
                          <a:solidFill>
                            <a:schemeClr val="lt1"/>
                          </a:solidFill>
                          <a:latin typeface="+mn-lt"/>
                          <a:ea typeface="+mn-ea"/>
                          <a:cs typeface="+mn-cs"/>
                        </a:rPr>
                        <a:t>Support count</a:t>
                      </a:r>
                      <a:endParaRPr lang="en-IN" sz="1400" b="1" kern="1200" dirty="0">
                        <a:solidFill>
                          <a:schemeClr val="lt1"/>
                        </a:solidFill>
                        <a:latin typeface="+mn-lt"/>
                        <a:ea typeface="+mn-ea"/>
                        <a:cs typeface="+mn-cs"/>
                      </a:endParaRPr>
                    </a:p>
                  </a:txBody>
                  <a:tcPr/>
                </a:tc>
                <a:tc>
                  <a:txBody>
                    <a:bodyPr/>
                    <a:lstStyle/>
                    <a:p>
                      <a:r>
                        <a:rPr lang="en-US" sz="1400" b="1" kern="1200" dirty="0">
                          <a:solidFill>
                            <a:schemeClr val="lt1"/>
                          </a:solidFill>
                          <a:latin typeface="+mn-lt"/>
                          <a:ea typeface="+mn-ea"/>
                          <a:cs typeface="+mn-cs"/>
                        </a:rPr>
                        <a:t>Node link</a:t>
                      </a:r>
                      <a:endParaRPr lang="en-IN" sz="1400" b="1" kern="1200" dirty="0">
                        <a:solidFill>
                          <a:schemeClr val="lt1"/>
                        </a:solidFill>
                        <a:latin typeface="+mn-lt"/>
                        <a:ea typeface="+mn-ea"/>
                        <a:cs typeface="+mn-cs"/>
                      </a:endParaRPr>
                    </a:p>
                  </a:txBody>
                  <a:tcPr/>
                </a:tc>
                <a:extLst>
                  <a:ext uri="{0D108BD9-81ED-4DB2-BD59-A6C34878D82A}">
                    <a16:rowId xmlns:a16="http://schemas.microsoft.com/office/drawing/2014/main" val="4105137439"/>
                  </a:ext>
                </a:extLst>
              </a:tr>
              <a:tr h="370840">
                <a:tc>
                  <a:txBody>
                    <a:bodyPr/>
                    <a:lstStyle/>
                    <a:p>
                      <a:r>
                        <a:rPr lang="en-US" sz="1400" dirty="0"/>
                        <a:t>{I2}</a:t>
                      </a:r>
                      <a:endParaRPr lang="en-IN" sz="1400" dirty="0"/>
                    </a:p>
                  </a:txBody>
                  <a:tcPr/>
                </a:tc>
                <a:tc>
                  <a:txBody>
                    <a:bodyPr/>
                    <a:lstStyle/>
                    <a:p>
                      <a:r>
                        <a:rPr lang="en-US" sz="1400" dirty="0"/>
                        <a:t>7</a:t>
                      </a:r>
                      <a:endParaRPr lang="en-IN" sz="1400" dirty="0"/>
                    </a:p>
                  </a:txBody>
                  <a:tcPr/>
                </a:tc>
                <a:tc>
                  <a:txBody>
                    <a:bodyPr/>
                    <a:lstStyle/>
                    <a:p>
                      <a:endParaRPr lang="en-IN"/>
                    </a:p>
                  </a:txBody>
                  <a:tcPr/>
                </a:tc>
                <a:extLst>
                  <a:ext uri="{0D108BD9-81ED-4DB2-BD59-A6C34878D82A}">
                    <a16:rowId xmlns:a16="http://schemas.microsoft.com/office/drawing/2014/main" val="2935134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{I1}</a:t>
                      </a:r>
                      <a:endParaRPr lang="en-IN" sz="1400" dirty="0"/>
                    </a:p>
                  </a:txBody>
                  <a:tcPr/>
                </a:tc>
                <a:tc>
                  <a:txBody>
                    <a:bodyPr/>
                    <a:lstStyle/>
                    <a:p>
                      <a:r>
                        <a:rPr lang="en-US" sz="1400" dirty="0"/>
                        <a:t>6</a:t>
                      </a:r>
                      <a:endParaRPr lang="en-IN" sz="1400" dirty="0"/>
                    </a:p>
                  </a:txBody>
                  <a:tcPr/>
                </a:tc>
                <a:tc>
                  <a:txBody>
                    <a:bodyPr/>
                    <a:lstStyle/>
                    <a:p>
                      <a:endParaRPr lang="en-IN"/>
                    </a:p>
                  </a:txBody>
                  <a:tcPr/>
                </a:tc>
                <a:extLst>
                  <a:ext uri="{0D108BD9-81ED-4DB2-BD59-A6C34878D82A}">
                    <a16:rowId xmlns:a16="http://schemas.microsoft.com/office/drawing/2014/main" val="510138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{I3}</a:t>
                      </a:r>
                      <a:endParaRPr lang="en-IN" sz="1400" dirty="0"/>
                    </a:p>
                  </a:txBody>
                  <a:tcPr/>
                </a:tc>
                <a:tc>
                  <a:txBody>
                    <a:bodyPr/>
                    <a:lstStyle/>
                    <a:p>
                      <a:r>
                        <a:rPr lang="en-US" sz="1400" dirty="0"/>
                        <a:t>6</a:t>
                      </a:r>
                      <a:endParaRPr lang="en-IN" sz="1400" dirty="0"/>
                    </a:p>
                  </a:txBody>
                  <a:tcPr/>
                </a:tc>
                <a:tc>
                  <a:txBody>
                    <a:bodyPr/>
                    <a:lstStyle/>
                    <a:p>
                      <a:endParaRPr lang="en-IN"/>
                    </a:p>
                  </a:txBody>
                  <a:tcPr/>
                </a:tc>
                <a:extLst>
                  <a:ext uri="{0D108BD9-81ED-4DB2-BD59-A6C34878D82A}">
                    <a16:rowId xmlns:a16="http://schemas.microsoft.com/office/drawing/2014/main" val="34629815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{I4}</a:t>
                      </a:r>
                      <a:endParaRPr lang="en-IN" sz="1400" dirty="0"/>
                    </a:p>
                  </a:txBody>
                  <a:tcPr/>
                </a:tc>
                <a:tc>
                  <a:txBody>
                    <a:bodyPr/>
                    <a:lstStyle/>
                    <a:p>
                      <a:r>
                        <a:rPr lang="en-US" sz="1400" dirty="0"/>
                        <a:t>2</a:t>
                      </a:r>
                      <a:endParaRPr lang="en-IN" sz="1400" dirty="0"/>
                    </a:p>
                  </a:txBody>
                  <a:tcPr/>
                </a:tc>
                <a:tc>
                  <a:txBody>
                    <a:bodyPr/>
                    <a:lstStyle/>
                    <a:p>
                      <a:endParaRPr lang="en-IN"/>
                    </a:p>
                  </a:txBody>
                  <a:tcPr/>
                </a:tc>
                <a:extLst>
                  <a:ext uri="{0D108BD9-81ED-4DB2-BD59-A6C34878D82A}">
                    <a16:rowId xmlns:a16="http://schemas.microsoft.com/office/drawing/2014/main" val="12880867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{I5}</a:t>
                      </a:r>
                      <a:endParaRPr lang="en-IN" sz="1400" dirty="0"/>
                    </a:p>
                  </a:txBody>
                  <a:tcPr/>
                </a:tc>
                <a:tc>
                  <a:txBody>
                    <a:bodyPr/>
                    <a:lstStyle/>
                    <a:p>
                      <a:r>
                        <a:rPr lang="en-US" sz="1400" dirty="0"/>
                        <a:t>2</a:t>
                      </a:r>
                      <a:endParaRPr lang="en-IN" sz="1400" dirty="0"/>
                    </a:p>
                  </a:txBody>
                  <a:tcPr/>
                </a:tc>
                <a:tc>
                  <a:txBody>
                    <a:bodyPr/>
                    <a:lstStyle/>
                    <a:p>
                      <a:endParaRPr lang="en-IN" dirty="0"/>
                    </a:p>
                  </a:txBody>
                  <a:tcPr/>
                </a:tc>
                <a:extLst>
                  <a:ext uri="{0D108BD9-81ED-4DB2-BD59-A6C34878D82A}">
                    <a16:rowId xmlns:a16="http://schemas.microsoft.com/office/drawing/2014/main" val="2428843055"/>
                  </a:ext>
                </a:extLst>
              </a:tr>
            </a:tbl>
          </a:graphicData>
        </a:graphic>
      </p:graphicFrame>
      <p:sp>
        <p:nvSpPr>
          <p:cNvPr id="14" name="Oval 13">
            <a:extLst>
              <a:ext uri="{FF2B5EF4-FFF2-40B4-BE49-F238E27FC236}">
                <a16:creationId xmlns:a16="http://schemas.microsoft.com/office/drawing/2014/main" id="{2666B38D-7D44-49F0-9B1E-EBB98B296D79}"/>
              </a:ext>
            </a:extLst>
          </p:cNvPr>
          <p:cNvSpPr/>
          <p:nvPr/>
        </p:nvSpPr>
        <p:spPr>
          <a:xfrm>
            <a:off x="9045679" y="1995948"/>
            <a:ext cx="678426" cy="45762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Null</a:t>
            </a:r>
            <a:endParaRPr lang="en-IN" sz="1200" dirty="0"/>
          </a:p>
        </p:txBody>
      </p:sp>
      <p:sp>
        <p:nvSpPr>
          <p:cNvPr id="15" name="Oval 14">
            <a:extLst>
              <a:ext uri="{FF2B5EF4-FFF2-40B4-BE49-F238E27FC236}">
                <a16:creationId xmlns:a16="http://schemas.microsoft.com/office/drawing/2014/main" id="{C14B7611-EA9C-4F11-BB4E-647CD77C8B10}"/>
              </a:ext>
            </a:extLst>
          </p:cNvPr>
          <p:cNvSpPr/>
          <p:nvPr/>
        </p:nvSpPr>
        <p:spPr>
          <a:xfrm>
            <a:off x="8181260" y="2656815"/>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0337E5A2-56EF-45EF-B44C-694BF85EFFD5}"/>
              </a:ext>
            </a:extLst>
          </p:cNvPr>
          <p:cNvSpPr/>
          <p:nvPr/>
        </p:nvSpPr>
        <p:spPr>
          <a:xfrm>
            <a:off x="7606073" y="3528601"/>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7532096D-551F-49BD-92E4-141B164E0D4F}"/>
              </a:ext>
            </a:extLst>
          </p:cNvPr>
          <p:cNvSpPr/>
          <p:nvPr/>
        </p:nvSpPr>
        <p:spPr>
          <a:xfrm>
            <a:off x="6875935" y="4433814"/>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2FCE3073-DD63-45A5-BFB7-2B1F484B0575}"/>
              </a:ext>
            </a:extLst>
          </p:cNvPr>
          <p:cNvCxnSpPr>
            <a:stCxn id="14" idx="3"/>
            <a:endCxn id="15" idx="7"/>
          </p:cNvCxnSpPr>
          <p:nvPr/>
        </p:nvCxnSpPr>
        <p:spPr>
          <a:xfrm flipH="1">
            <a:off x="8642839" y="2386552"/>
            <a:ext cx="502193" cy="341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F5AD4DD-18AB-446C-870A-FAA758489DB7}"/>
              </a:ext>
            </a:extLst>
          </p:cNvPr>
          <p:cNvSpPr txBox="1"/>
          <p:nvPr/>
        </p:nvSpPr>
        <p:spPr>
          <a:xfrm>
            <a:off x="7740041" y="2562958"/>
            <a:ext cx="777787" cy="369332"/>
          </a:xfrm>
          <a:prstGeom prst="rect">
            <a:avLst/>
          </a:prstGeom>
          <a:noFill/>
        </p:spPr>
        <p:txBody>
          <a:bodyPr wrap="square" rtlCol="0">
            <a:spAutoFit/>
          </a:bodyPr>
          <a:lstStyle/>
          <a:p>
            <a:r>
              <a:rPr lang="en-US" dirty="0"/>
              <a:t>I2:7</a:t>
            </a:r>
            <a:endParaRPr lang="en-IN" dirty="0"/>
          </a:p>
        </p:txBody>
      </p:sp>
      <p:sp>
        <p:nvSpPr>
          <p:cNvPr id="21" name="TextBox 20">
            <a:extLst>
              <a:ext uri="{FF2B5EF4-FFF2-40B4-BE49-F238E27FC236}">
                <a16:creationId xmlns:a16="http://schemas.microsoft.com/office/drawing/2014/main" id="{6A32DDA1-34E1-4F91-8B11-E468B678841E}"/>
              </a:ext>
            </a:extLst>
          </p:cNvPr>
          <p:cNvSpPr txBox="1"/>
          <p:nvPr/>
        </p:nvSpPr>
        <p:spPr>
          <a:xfrm>
            <a:off x="7212564" y="3270838"/>
            <a:ext cx="740366" cy="369332"/>
          </a:xfrm>
          <a:prstGeom prst="rect">
            <a:avLst/>
          </a:prstGeom>
          <a:noFill/>
        </p:spPr>
        <p:txBody>
          <a:bodyPr wrap="square" rtlCol="0">
            <a:spAutoFit/>
          </a:bodyPr>
          <a:lstStyle/>
          <a:p>
            <a:r>
              <a:rPr lang="en-US" dirty="0"/>
              <a:t>I1:4</a:t>
            </a:r>
            <a:endParaRPr lang="en-IN" dirty="0"/>
          </a:p>
        </p:txBody>
      </p:sp>
      <p:sp>
        <p:nvSpPr>
          <p:cNvPr id="22" name="TextBox 21">
            <a:extLst>
              <a:ext uri="{FF2B5EF4-FFF2-40B4-BE49-F238E27FC236}">
                <a16:creationId xmlns:a16="http://schemas.microsoft.com/office/drawing/2014/main" id="{1748BDFB-2AEA-40F7-832F-272AABBF4912}"/>
              </a:ext>
            </a:extLst>
          </p:cNvPr>
          <p:cNvSpPr txBox="1"/>
          <p:nvPr/>
        </p:nvSpPr>
        <p:spPr>
          <a:xfrm>
            <a:off x="6458667" y="4507904"/>
            <a:ext cx="568310" cy="382442"/>
          </a:xfrm>
          <a:prstGeom prst="rect">
            <a:avLst/>
          </a:prstGeom>
          <a:noFill/>
        </p:spPr>
        <p:txBody>
          <a:bodyPr wrap="square" rtlCol="0">
            <a:spAutoFit/>
          </a:bodyPr>
          <a:lstStyle/>
          <a:p>
            <a:r>
              <a:rPr lang="en-US" dirty="0"/>
              <a:t>I5:1</a:t>
            </a:r>
            <a:endParaRPr lang="en-IN" dirty="0"/>
          </a:p>
        </p:txBody>
      </p:sp>
      <p:cxnSp>
        <p:nvCxnSpPr>
          <p:cNvPr id="23" name="Straight Arrow Connector 22">
            <a:extLst>
              <a:ext uri="{FF2B5EF4-FFF2-40B4-BE49-F238E27FC236}">
                <a16:creationId xmlns:a16="http://schemas.microsoft.com/office/drawing/2014/main" id="{D51952E9-9971-4DE7-9385-7AED7FE51D41}"/>
              </a:ext>
            </a:extLst>
          </p:cNvPr>
          <p:cNvCxnSpPr>
            <a:cxnSpLocks/>
            <a:stCxn id="15" idx="3"/>
          </p:cNvCxnSpPr>
          <p:nvPr/>
        </p:nvCxnSpPr>
        <p:spPr>
          <a:xfrm flipH="1">
            <a:off x="7949455" y="3074335"/>
            <a:ext cx="311000" cy="479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FA0D6C0-7992-42E9-8FD0-6C1E25B268FC}"/>
              </a:ext>
            </a:extLst>
          </p:cNvPr>
          <p:cNvCxnSpPr>
            <a:cxnSpLocks/>
          </p:cNvCxnSpPr>
          <p:nvPr/>
        </p:nvCxnSpPr>
        <p:spPr>
          <a:xfrm flipH="1">
            <a:off x="7344660" y="3953857"/>
            <a:ext cx="311000" cy="479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F5D3B4D-0454-41E6-AE36-F2ACEF35AFAF}"/>
              </a:ext>
            </a:extLst>
          </p:cNvPr>
          <p:cNvCxnSpPr>
            <a:cxnSpLocks/>
          </p:cNvCxnSpPr>
          <p:nvPr/>
        </p:nvCxnSpPr>
        <p:spPr>
          <a:xfrm>
            <a:off x="9724105" y="2316617"/>
            <a:ext cx="516478" cy="481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6F2C44C9-AA5D-4C74-816F-B3C20B04C0AD}"/>
              </a:ext>
            </a:extLst>
          </p:cNvPr>
          <p:cNvSpPr/>
          <p:nvPr/>
        </p:nvSpPr>
        <p:spPr>
          <a:xfrm>
            <a:off x="10127226" y="2768689"/>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576E81DB-B5A2-4321-B6F0-D6A04ECDAA62}"/>
              </a:ext>
            </a:extLst>
          </p:cNvPr>
          <p:cNvSpPr/>
          <p:nvPr/>
        </p:nvSpPr>
        <p:spPr>
          <a:xfrm>
            <a:off x="8233760" y="3593271"/>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1" name="Straight Arrow Connector 30">
            <a:extLst>
              <a:ext uri="{FF2B5EF4-FFF2-40B4-BE49-F238E27FC236}">
                <a16:creationId xmlns:a16="http://schemas.microsoft.com/office/drawing/2014/main" id="{41A13031-5C1E-49E0-9676-C20F06B05A54}"/>
              </a:ext>
            </a:extLst>
          </p:cNvPr>
          <p:cNvCxnSpPr>
            <a:cxnSpLocks/>
          </p:cNvCxnSpPr>
          <p:nvPr/>
        </p:nvCxnSpPr>
        <p:spPr>
          <a:xfrm>
            <a:off x="8451647" y="3145970"/>
            <a:ext cx="0" cy="447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459C9758-AB28-4FA0-ADAA-E5702DAF047A}"/>
              </a:ext>
            </a:extLst>
          </p:cNvPr>
          <p:cNvSpPr/>
          <p:nvPr/>
        </p:nvSpPr>
        <p:spPr>
          <a:xfrm>
            <a:off x="8948314" y="3528601"/>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5DD6FB7A-A81B-4B90-80CA-DAB0DD7217E2}"/>
              </a:ext>
            </a:extLst>
          </p:cNvPr>
          <p:cNvSpPr/>
          <p:nvPr/>
        </p:nvSpPr>
        <p:spPr>
          <a:xfrm>
            <a:off x="7598056" y="4483582"/>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6CD3153B-A9C4-476E-A7F0-B3DA5296772C}"/>
              </a:ext>
            </a:extLst>
          </p:cNvPr>
          <p:cNvSpPr/>
          <p:nvPr/>
        </p:nvSpPr>
        <p:spPr>
          <a:xfrm>
            <a:off x="9769919" y="3682017"/>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C07FB8C9-9E8C-4DDF-B952-AECEF8BD9A36}"/>
              </a:ext>
            </a:extLst>
          </p:cNvPr>
          <p:cNvCxnSpPr>
            <a:cxnSpLocks/>
          </p:cNvCxnSpPr>
          <p:nvPr/>
        </p:nvCxnSpPr>
        <p:spPr>
          <a:xfrm>
            <a:off x="8504154" y="2978010"/>
            <a:ext cx="601875" cy="592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5CFCC04-D7CA-4D03-955F-91DCEED7893A}"/>
              </a:ext>
            </a:extLst>
          </p:cNvPr>
          <p:cNvCxnSpPr>
            <a:stCxn id="28" idx="4"/>
          </p:cNvCxnSpPr>
          <p:nvPr/>
        </p:nvCxnSpPr>
        <p:spPr>
          <a:xfrm flipH="1">
            <a:off x="10127226" y="3257844"/>
            <a:ext cx="270387" cy="424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9542DE10-541E-453F-88F4-7F96D6864324}"/>
              </a:ext>
            </a:extLst>
          </p:cNvPr>
          <p:cNvSpPr/>
          <p:nvPr/>
        </p:nvSpPr>
        <p:spPr>
          <a:xfrm>
            <a:off x="8225610" y="4432332"/>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Arrow Connector 39">
            <a:extLst>
              <a:ext uri="{FF2B5EF4-FFF2-40B4-BE49-F238E27FC236}">
                <a16:creationId xmlns:a16="http://schemas.microsoft.com/office/drawing/2014/main" id="{2C21C294-FB65-4F5B-9AC7-5416D1FA976C}"/>
              </a:ext>
            </a:extLst>
          </p:cNvPr>
          <p:cNvCxnSpPr>
            <a:cxnSpLocks/>
          </p:cNvCxnSpPr>
          <p:nvPr/>
        </p:nvCxnSpPr>
        <p:spPr>
          <a:xfrm flipH="1">
            <a:off x="7882973" y="4002515"/>
            <a:ext cx="1" cy="4951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96F6E6F-97E1-45B8-BB8C-937A05FD803F}"/>
              </a:ext>
            </a:extLst>
          </p:cNvPr>
          <p:cNvCxnSpPr>
            <a:cxnSpLocks/>
          </p:cNvCxnSpPr>
          <p:nvPr/>
        </p:nvCxnSpPr>
        <p:spPr>
          <a:xfrm>
            <a:off x="8107512" y="3926594"/>
            <a:ext cx="217276" cy="577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82D3192-9D9F-42D4-97C5-0A1E8E35DE0B}"/>
              </a:ext>
            </a:extLst>
          </p:cNvPr>
          <p:cNvSpPr/>
          <p:nvPr/>
        </p:nvSpPr>
        <p:spPr>
          <a:xfrm>
            <a:off x="7784014" y="5519525"/>
            <a:ext cx="540774" cy="489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Arrow Connector 47">
            <a:extLst>
              <a:ext uri="{FF2B5EF4-FFF2-40B4-BE49-F238E27FC236}">
                <a16:creationId xmlns:a16="http://schemas.microsoft.com/office/drawing/2014/main" id="{7D75DE0B-8EC9-42BF-BC6D-1E9355EAA6A6}"/>
              </a:ext>
            </a:extLst>
          </p:cNvPr>
          <p:cNvCxnSpPr>
            <a:cxnSpLocks/>
            <a:endCxn id="47" idx="0"/>
          </p:cNvCxnSpPr>
          <p:nvPr/>
        </p:nvCxnSpPr>
        <p:spPr>
          <a:xfrm>
            <a:off x="7916443" y="4921487"/>
            <a:ext cx="137958" cy="598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EAE947F-CD72-4E74-9157-9FD10C4B1672}"/>
              </a:ext>
            </a:extLst>
          </p:cNvPr>
          <p:cNvSpPr txBox="1"/>
          <p:nvPr/>
        </p:nvSpPr>
        <p:spPr>
          <a:xfrm>
            <a:off x="8318303" y="5639348"/>
            <a:ext cx="727376" cy="369332"/>
          </a:xfrm>
          <a:prstGeom prst="rect">
            <a:avLst/>
          </a:prstGeom>
          <a:noFill/>
        </p:spPr>
        <p:txBody>
          <a:bodyPr wrap="square" rtlCol="0">
            <a:spAutoFit/>
          </a:bodyPr>
          <a:lstStyle/>
          <a:p>
            <a:r>
              <a:rPr lang="en-US" dirty="0"/>
              <a:t>I5:1</a:t>
            </a:r>
            <a:endParaRPr lang="en-IN" dirty="0"/>
          </a:p>
        </p:txBody>
      </p:sp>
      <p:sp>
        <p:nvSpPr>
          <p:cNvPr id="51" name="TextBox 50">
            <a:extLst>
              <a:ext uri="{FF2B5EF4-FFF2-40B4-BE49-F238E27FC236}">
                <a16:creationId xmlns:a16="http://schemas.microsoft.com/office/drawing/2014/main" id="{A2C067F4-3A0B-4D51-BE68-EBF1B964219A}"/>
              </a:ext>
            </a:extLst>
          </p:cNvPr>
          <p:cNvSpPr txBox="1"/>
          <p:nvPr/>
        </p:nvSpPr>
        <p:spPr>
          <a:xfrm>
            <a:off x="10643704" y="2795210"/>
            <a:ext cx="810877" cy="369332"/>
          </a:xfrm>
          <a:prstGeom prst="rect">
            <a:avLst/>
          </a:prstGeom>
          <a:noFill/>
        </p:spPr>
        <p:txBody>
          <a:bodyPr wrap="square" rtlCol="0">
            <a:spAutoFit/>
          </a:bodyPr>
          <a:lstStyle/>
          <a:p>
            <a:r>
              <a:rPr lang="en-US" dirty="0"/>
              <a:t>I1:2</a:t>
            </a:r>
            <a:endParaRPr lang="en-IN" dirty="0"/>
          </a:p>
        </p:txBody>
      </p:sp>
      <p:sp>
        <p:nvSpPr>
          <p:cNvPr id="52" name="TextBox 51">
            <a:extLst>
              <a:ext uri="{FF2B5EF4-FFF2-40B4-BE49-F238E27FC236}">
                <a16:creationId xmlns:a16="http://schemas.microsoft.com/office/drawing/2014/main" id="{71859887-34E4-42D8-81A7-1EC75F778E02}"/>
              </a:ext>
            </a:extLst>
          </p:cNvPr>
          <p:cNvSpPr txBox="1"/>
          <p:nvPr/>
        </p:nvSpPr>
        <p:spPr>
          <a:xfrm>
            <a:off x="10310693" y="3794025"/>
            <a:ext cx="913471" cy="369332"/>
          </a:xfrm>
          <a:prstGeom prst="rect">
            <a:avLst/>
          </a:prstGeom>
          <a:noFill/>
        </p:spPr>
        <p:txBody>
          <a:bodyPr wrap="square" rtlCol="0">
            <a:spAutoFit/>
          </a:bodyPr>
          <a:lstStyle/>
          <a:p>
            <a:r>
              <a:rPr lang="en-US" dirty="0"/>
              <a:t>I3:2</a:t>
            </a:r>
            <a:endParaRPr lang="en-IN" dirty="0"/>
          </a:p>
        </p:txBody>
      </p:sp>
      <p:sp>
        <p:nvSpPr>
          <p:cNvPr id="53" name="TextBox 52">
            <a:extLst>
              <a:ext uri="{FF2B5EF4-FFF2-40B4-BE49-F238E27FC236}">
                <a16:creationId xmlns:a16="http://schemas.microsoft.com/office/drawing/2014/main" id="{8E9C11BF-4114-4883-AFD9-9EC5430F65E1}"/>
              </a:ext>
            </a:extLst>
          </p:cNvPr>
          <p:cNvSpPr txBox="1"/>
          <p:nvPr/>
        </p:nvSpPr>
        <p:spPr>
          <a:xfrm>
            <a:off x="8442183" y="3292687"/>
            <a:ext cx="555163" cy="369332"/>
          </a:xfrm>
          <a:prstGeom prst="rect">
            <a:avLst/>
          </a:prstGeom>
          <a:noFill/>
        </p:spPr>
        <p:txBody>
          <a:bodyPr wrap="square" rtlCol="0">
            <a:spAutoFit/>
          </a:bodyPr>
          <a:lstStyle/>
          <a:p>
            <a:r>
              <a:rPr lang="en-US" dirty="0"/>
              <a:t>I3:2</a:t>
            </a:r>
            <a:endParaRPr lang="en-IN" dirty="0"/>
          </a:p>
        </p:txBody>
      </p:sp>
      <p:sp>
        <p:nvSpPr>
          <p:cNvPr id="54" name="TextBox 53">
            <a:extLst>
              <a:ext uri="{FF2B5EF4-FFF2-40B4-BE49-F238E27FC236}">
                <a16:creationId xmlns:a16="http://schemas.microsoft.com/office/drawing/2014/main" id="{937B2A99-9B11-412E-8505-6B1501B2918B}"/>
              </a:ext>
            </a:extLst>
          </p:cNvPr>
          <p:cNvSpPr txBox="1"/>
          <p:nvPr/>
        </p:nvSpPr>
        <p:spPr>
          <a:xfrm>
            <a:off x="9049846" y="3191839"/>
            <a:ext cx="655740" cy="369332"/>
          </a:xfrm>
          <a:prstGeom prst="rect">
            <a:avLst/>
          </a:prstGeom>
          <a:noFill/>
        </p:spPr>
        <p:txBody>
          <a:bodyPr wrap="square" rtlCol="0">
            <a:spAutoFit/>
          </a:bodyPr>
          <a:lstStyle/>
          <a:p>
            <a:r>
              <a:rPr lang="en-US" dirty="0"/>
              <a:t>I4:1</a:t>
            </a:r>
            <a:endParaRPr lang="en-IN" dirty="0"/>
          </a:p>
        </p:txBody>
      </p:sp>
      <p:sp>
        <p:nvSpPr>
          <p:cNvPr id="56" name="TextBox 55">
            <a:extLst>
              <a:ext uri="{FF2B5EF4-FFF2-40B4-BE49-F238E27FC236}">
                <a16:creationId xmlns:a16="http://schemas.microsoft.com/office/drawing/2014/main" id="{BD391A9B-B7FA-480B-BDAD-8B83998383D1}"/>
              </a:ext>
            </a:extLst>
          </p:cNvPr>
          <p:cNvSpPr txBox="1"/>
          <p:nvPr/>
        </p:nvSpPr>
        <p:spPr>
          <a:xfrm>
            <a:off x="7341254" y="4258219"/>
            <a:ext cx="715540" cy="369332"/>
          </a:xfrm>
          <a:prstGeom prst="rect">
            <a:avLst/>
          </a:prstGeom>
          <a:noFill/>
        </p:spPr>
        <p:txBody>
          <a:bodyPr wrap="square" rtlCol="0">
            <a:spAutoFit/>
          </a:bodyPr>
          <a:lstStyle/>
          <a:p>
            <a:r>
              <a:rPr lang="en-US" dirty="0"/>
              <a:t>I3:2</a:t>
            </a:r>
            <a:endParaRPr lang="en-IN" dirty="0"/>
          </a:p>
        </p:txBody>
      </p:sp>
      <p:sp>
        <p:nvSpPr>
          <p:cNvPr id="57" name="TextBox 56">
            <a:extLst>
              <a:ext uri="{FF2B5EF4-FFF2-40B4-BE49-F238E27FC236}">
                <a16:creationId xmlns:a16="http://schemas.microsoft.com/office/drawing/2014/main" id="{E1816A0D-0C7D-4291-875E-D21C26BA615B}"/>
              </a:ext>
            </a:extLst>
          </p:cNvPr>
          <p:cNvSpPr txBox="1"/>
          <p:nvPr/>
        </p:nvSpPr>
        <p:spPr>
          <a:xfrm>
            <a:off x="8724984" y="4523494"/>
            <a:ext cx="775881" cy="369332"/>
          </a:xfrm>
          <a:prstGeom prst="rect">
            <a:avLst/>
          </a:prstGeom>
          <a:noFill/>
        </p:spPr>
        <p:txBody>
          <a:bodyPr wrap="square" rtlCol="0">
            <a:spAutoFit/>
          </a:bodyPr>
          <a:lstStyle/>
          <a:p>
            <a:r>
              <a:rPr lang="en-US" dirty="0"/>
              <a:t>I4:1</a:t>
            </a:r>
            <a:endParaRPr lang="en-IN" dirty="0"/>
          </a:p>
        </p:txBody>
      </p:sp>
      <p:sp>
        <p:nvSpPr>
          <p:cNvPr id="58" name="TextBox 57">
            <a:extLst>
              <a:ext uri="{FF2B5EF4-FFF2-40B4-BE49-F238E27FC236}">
                <a16:creationId xmlns:a16="http://schemas.microsoft.com/office/drawing/2014/main" id="{DFB9290B-4AF8-4ADA-82F0-64EB5023802A}"/>
              </a:ext>
            </a:extLst>
          </p:cNvPr>
          <p:cNvSpPr txBox="1"/>
          <p:nvPr/>
        </p:nvSpPr>
        <p:spPr>
          <a:xfrm>
            <a:off x="7949454" y="1273312"/>
            <a:ext cx="2945345" cy="646331"/>
          </a:xfrm>
          <a:prstGeom prst="rect">
            <a:avLst/>
          </a:prstGeom>
          <a:noFill/>
        </p:spPr>
        <p:txBody>
          <a:bodyPr wrap="square" rtlCol="0">
            <a:spAutoFit/>
          </a:bodyPr>
          <a:lstStyle/>
          <a:p>
            <a:r>
              <a:rPr lang="en-US" dirty="0">
                <a:solidFill>
                  <a:schemeClr val="accent2"/>
                </a:solidFill>
              </a:rPr>
              <a:t>Step 3: </a:t>
            </a:r>
            <a:r>
              <a:rPr lang="en-US" dirty="0"/>
              <a:t>Generate FP tree, starting from Null node </a:t>
            </a:r>
            <a:endParaRPr lang="en-IN" dirty="0"/>
          </a:p>
        </p:txBody>
      </p:sp>
      <p:cxnSp>
        <p:nvCxnSpPr>
          <p:cNvPr id="63" name="Connector: Curved 62">
            <a:extLst>
              <a:ext uri="{FF2B5EF4-FFF2-40B4-BE49-F238E27FC236}">
                <a16:creationId xmlns:a16="http://schemas.microsoft.com/office/drawing/2014/main" id="{7A564010-DB34-4CDC-8E3C-367EAB3C3CD6}"/>
              </a:ext>
            </a:extLst>
          </p:cNvPr>
          <p:cNvCxnSpPr>
            <a:endCxn id="20" idx="1"/>
          </p:cNvCxnSpPr>
          <p:nvPr/>
        </p:nvCxnSpPr>
        <p:spPr>
          <a:xfrm flipV="1">
            <a:off x="5946796" y="2747624"/>
            <a:ext cx="1793245" cy="416918"/>
          </a:xfrm>
          <a:prstGeom prst="curved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68CFFC8C-5F4F-43F7-B51B-ED73A278E4CC}"/>
              </a:ext>
            </a:extLst>
          </p:cNvPr>
          <p:cNvCxnSpPr>
            <a:cxnSpLocks/>
            <a:endCxn id="16" idx="2"/>
          </p:cNvCxnSpPr>
          <p:nvPr/>
        </p:nvCxnSpPr>
        <p:spPr>
          <a:xfrm>
            <a:off x="5977089" y="3570566"/>
            <a:ext cx="1628984" cy="202613"/>
          </a:xfrm>
          <a:prstGeom prst="curvedConnector3">
            <a:avLst/>
          </a:prstGeom>
          <a:ln w="25400">
            <a:solidFill>
              <a:schemeClr val="accent4">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Curved 66">
            <a:extLst>
              <a:ext uri="{FF2B5EF4-FFF2-40B4-BE49-F238E27FC236}">
                <a16:creationId xmlns:a16="http://schemas.microsoft.com/office/drawing/2014/main" id="{A32E6A16-A4F3-4FC3-8F28-2A24B1B9B97E}"/>
              </a:ext>
            </a:extLst>
          </p:cNvPr>
          <p:cNvCxnSpPr>
            <a:cxnSpLocks/>
          </p:cNvCxnSpPr>
          <p:nvPr/>
        </p:nvCxnSpPr>
        <p:spPr>
          <a:xfrm>
            <a:off x="5936905" y="4676910"/>
            <a:ext cx="1045210" cy="243265"/>
          </a:xfrm>
          <a:prstGeom prst="curved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9" name="Connector: Curved 68">
            <a:extLst>
              <a:ext uri="{FF2B5EF4-FFF2-40B4-BE49-F238E27FC236}">
                <a16:creationId xmlns:a16="http://schemas.microsoft.com/office/drawing/2014/main" id="{B54C662E-7FD0-472E-92F3-A6A27BEF5446}"/>
              </a:ext>
            </a:extLst>
          </p:cNvPr>
          <p:cNvCxnSpPr>
            <a:cxnSpLocks/>
          </p:cNvCxnSpPr>
          <p:nvPr/>
        </p:nvCxnSpPr>
        <p:spPr>
          <a:xfrm>
            <a:off x="5977089" y="3899321"/>
            <a:ext cx="1674833" cy="624173"/>
          </a:xfrm>
          <a:prstGeom prst="curvedConnector3">
            <a:avLst/>
          </a:prstGeom>
          <a:ln w="28575">
            <a:solidFill>
              <a:schemeClr val="accent6">
                <a:lumMod val="50000"/>
                <a:alpha val="91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Curved 70">
            <a:extLst>
              <a:ext uri="{FF2B5EF4-FFF2-40B4-BE49-F238E27FC236}">
                <a16:creationId xmlns:a16="http://schemas.microsoft.com/office/drawing/2014/main" id="{4C181608-1813-482B-9A2A-EEC59535E47E}"/>
              </a:ext>
            </a:extLst>
          </p:cNvPr>
          <p:cNvCxnSpPr>
            <a:cxnSpLocks/>
          </p:cNvCxnSpPr>
          <p:nvPr/>
        </p:nvCxnSpPr>
        <p:spPr>
          <a:xfrm>
            <a:off x="6125725" y="4295866"/>
            <a:ext cx="2578312" cy="574903"/>
          </a:xfrm>
          <a:prstGeom prst="curvedConnector4">
            <a:avLst>
              <a:gd name="adj1" fmla="val 41049"/>
              <a:gd name="adj2" fmla="val 139763"/>
            </a:avLst>
          </a:prstGeom>
          <a:ln w="28575">
            <a:solidFill>
              <a:srgbClr val="1AEE1A"/>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Curved 73">
            <a:extLst>
              <a:ext uri="{FF2B5EF4-FFF2-40B4-BE49-F238E27FC236}">
                <a16:creationId xmlns:a16="http://schemas.microsoft.com/office/drawing/2014/main" id="{BF32BC55-789F-4492-ADD8-5358A805409A}"/>
              </a:ext>
            </a:extLst>
          </p:cNvPr>
          <p:cNvCxnSpPr>
            <a:stCxn id="16" idx="6"/>
            <a:endCxn id="28" idx="2"/>
          </p:cNvCxnSpPr>
          <p:nvPr/>
        </p:nvCxnSpPr>
        <p:spPr>
          <a:xfrm flipV="1">
            <a:off x="8146847" y="3013267"/>
            <a:ext cx="1980379" cy="759912"/>
          </a:xfrm>
          <a:prstGeom prst="curvedConnector3">
            <a:avLst/>
          </a:prstGeom>
          <a:ln w="19050">
            <a:solidFill>
              <a:schemeClr val="accent4">
                <a:alpha val="96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Curved 75">
            <a:extLst>
              <a:ext uri="{FF2B5EF4-FFF2-40B4-BE49-F238E27FC236}">
                <a16:creationId xmlns:a16="http://schemas.microsoft.com/office/drawing/2014/main" id="{1860E9D1-848C-4D97-A77A-91269A0622DE}"/>
              </a:ext>
            </a:extLst>
          </p:cNvPr>
          <p:cNvCxnSpPr>
            <a:endCxn id="34" idx="3"/>
          </p:cNvCxnSpPr>
          <p:nvPr/>
        </p:nvCxnSpPr>
        <p:spPr>
          <a:xfrm flipV="1">
            <a:off x="7876460" y="4099537"/>
            <a:ext cx="1972654" cy="398176"/>
          </a:xfrm>
          <a:prstGeom prst="curvedConnector2">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Connector: Curved 78">
            <a:extLst>
              <a:ext uri="{FF2B5EF4-FFF2-40B4-BE49-F238E27FC236}">
                <a16:creationId xmlns:a16="http://schemas.microsoft.com/office/drawing/2014/main" id="{DB242EE0-1EFB-4645-BD4D-F689B49F78A4}"/>
              </a:ext>
            </a:extLst>
          </p:cNvPr>
          <p:cNvCxnSpPr>
            <a:stCxn id="17" idx="4"/>
            <a:endCxn id="47" idx="1"/>
          </p:cNvCxnSpPr>
          <p:nvPr/>
        </p:nvCxnSpPr>
        <p:spPr>
          <a:xfrm rot="16200000" flipH="1">
            <a:off x="7170670" y="4898620"/>
            <a:ext cx="668191" cy="716887"/>
          </a:xfrm>
          <a:prstGeom prst="curvedConnector3">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83" name="Connector: Curved 82">
            <a:extLst>
              <a:ext uri="{FF2B5EF4-FFF2-40B4-BE49-F238E27FC236}">
                <a16:creationId xmlns:a16="http://schemas.microsoft.com/office/drawing/2014/main" id="{2FEEF803-F3BC-4E59-8901-2957CF8DCE77}"/>
              </a:ext>
            </a:extLst>
          </p:cNvPr>
          <p:cNvCxnSpPr>
            <a:stCxn id="57" idx="1"/>
            <a:endCxn id="32" idx="4"/>
          </p:cNvCxnSpPr>
          <p:nvPr/>
        </p:nvCxnSpPr>
        <p:spPr>
          <a:xfrm rot="10800000" flipH="1">
            <a:off x="8724983" y="4017756"/>
            <a:ext cx="493717" cy="690404"/>
          </a:xfrm>
          <a:prstGeom prst="curvedConnector4">
            <a:avLst>
              <a:gd name="adj1" fmla="val -8464"/>
              <a:gd name="adj2" fmla="val 63374"/>
            </a:avLst>
          </a:prstGeom>
          <a:ln w="25400">
            <a:solidFill>
              <a:srgbClr val="1AEE1A"/>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1B353409-1B81-43A7-A0C8-BF4DBDC63165}"/>
              </a:ext>
            </a:extLst>
          </p:cNvPr>
          <p:cNvSpPr txBox="1"/>
          <p:nvPr/>
        </p:nvSpPr>
        <p:spPr>
          <a:xfrm>
            <a:off x="31401" y="5296045"/>
            <a:ext cx="6094324" cy="1477328"/>
          </a:xfrm>
          <a:prstGeom prst="rect">
            <a:avLst/>
          </a:prstGeom>
          <a:noFill/>
        </p:spPr>
        <p:txBody>
          <a:bodyPr wrap="square">
            <a:spAutoFit/>
          </a:bodyPr>
          <a:lstStyle/>
          <a:p>
            <a:r>
              <a:rPr lang="en-US" dirty="0"/>
              <a:t>Now consider the Transaction T100 it consists of  I1,I2,I5. Arrange them in order of descending support i.e. I2,I1,I5. Start from root node and make branch out to node </a:t>
            </a:r>
            <a:r>
              <a:rPr lang="en-US" sz="1800" dirty="0"/>
              <a:t>I2,I1,I5.</a:t>
            </a:r>
            <a:endParaRPr lang="en-IN" sz="1800" dirty="0"/>
          </a:p>
          <a:p>
            <a:endParaRPr lang="en-US" dirty="0"/>
          </a:p>
          <a:p>
            <a:endParaRPr lang="en-US" dirty="0"/>
          </a:p>
        </p:txBody>
      </p:sp>
      <p:sp>
        <p:nvSpPr>
          <p:cNvPr id="88" name="TextBox 87">
            <a:extLst>
              <a:ext uri="{FF2B5EF4-FFF2-40B4-BE49-F238E27FC236}">
                <a16:creationId xmlns:a16="http://schemas.microsoft.com/office/drawing/2014/main" id="{7F3C5ECE-35E7-4A81-A346-0E71778679B0}"/>
              </a:ext>
            </a:extLst>
          </p:cNvPr>
          <p:cNvSpPr txBox="1"/>
          <p:nvPr/>
        </p:nvSpPr>
        <p:spPr>
          <a:xfrm>
            <a:off x="3914970" y="4862805"/>
            <a:ext cx="3254476" cy="261610"/>
          </a:xfrm>
          <a:prstGeom prst="rect">
            <a:avLst/>
          </a:prstGeom>
          <a:noFill/>
        </p:spPr>
        <p:txBody>
          <a:bodyPr wrap="square">
            <a:spAutoFit/>
          </a:bodyPr>
          <a:lstStyle/>
          <a:p>
            <a:pPr algn="l"/>
            <a:r>
              <a:rPr lang="en-IN" sz="1100" b="1" i="0" dirty="0">
                <a:solidFill>
                  <a:srgbClr val="111111"/>
                </a:solidFill>
                <a:effectLst/>
                <a:latin typeface="Poppins" panose="00000500000000000000" pitchFamily="2" charset="0"/>
              </a:rPr>
              <a:t>Compressing of Conditional DB</a:t>
            </a:r>
            <a:endParaRPr lang="en-IN" sz="1100" b="0" i="0" dirty="0">
              <a:solidFill>
                <a:srgbClr val="111111"/>
              </a:solidFill>
              <a:effectLst/>
              <a:latin typeface="Poppins" panose="00000500000000000000" pitchFamily="2" charset="0"/>
            </a:endParaRPr>
          </a:p>
        </p:txBody>
      </p:sp>
    </p:spTree>
    <p:extLst>
      <p:ext uri="{BB962C8B-B14F-4D97-AF65-F5344CB8AC3E}">
        <p14:creationId xmlns:p14="http://schemas.microsoft.com/office/powerpoint/2010/main" val="249396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6EA1B-CEAC-4D88-BCF2-18C9E69D89A8}"/>
              </a:ext>
            </a:extLst>
          </p:cNvPr>
          <p:cNvSpPr>
            <a:spLocks noGrp="1"/>
          </p:cNvSpPr>
          <p:nvPr>
            <p:ph type="title"/>
          </p:nvPr>
        </p:nvSpPr>
        <p:spPr/>
        <p:txBody>
          <a:bodyPr/>
          <a:lstStyle/>
          <a:p>
            <a:r>
              <a:rPr lang="en-US" dirty="0"/>
              <a:t>FP tree</a:t>
            </a:r>
            <a:endParaRPr lang="en-IN" dirty="0"/>
          </a:p>
        </p:txBody>
      </p:sp>
      <p:pic>
        <p:nvPicPr>
          <p:cNvPr id="10" name="Content Placeholder 9">
            <a:extLst>
              <a:ext uri="{FF2B5EF4-FFF2-40B4-BE49-F238E27FC236}">
                <a16:creationId xmlns:a16="http://schemas.microsoft.com/office/drawing/2014/main" id="{FB71362A-074C-410E-974F-76EC7BF6806A}"/>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3000"/>
                    </a14:imgEffect>
                  </a14:imgLayer>
                </a14:imgProps>
              </a:ext>
            </a:extLst>
          </a:blip>
          <a:stretch>
            <a:fillRect/>
          </a:stretch>
        </p:blipFill>
        <p:spPr>
          <a:xfrm>
            <a:off x="3673665" y="1861017"/>
            <a:ext cx="8518335" cy="4549412"/>
          </a:xfrm>
        </p:spPr>
      </p:pic>
      <p:pic>
        <p:nvPicPr>
          <p:cNvPr id="3" name="Picture 2">
            <a:extLst>
              <a:ext uri="{FF2B5EF4-FFF2-40B4-BE49-F238E27FC236}">
                <a16:creationId xmlns:a16="http://schemas.microsoft.com/office/drawing/2014/main" id="{D6EC4589-4EDA-9033-C89D-192B825F211F}"/>
              </a:ext>
            </a:extLst>
          </p:cNvPr>
          <p:cNvPicPr>
            <a:picLocks noChangeAspect="1"/>
          </p:cNvPicPr>
          <p:nvPr/>
        </p:nvPicPr>
        <p:blipFill>
          <a:blip r:embed="rId4"/>
          <a:stretch>
            <a:fillRect/>
          </a:stretch>
        </p:blipFill>
        <p:spPr>
          <a:xfrm>
            <a:off x="0" y="1665609"/>
            <a:ext cx="3890682" cy="4744820"/>
          </a:xfrm>
          <a:prstGeom prst="rect">
            <a:avLst/>
          </a:prstGeom>
        </p:spPr>
      </p:pic>
    </p:spTree>
    <p:extLst>
      <p:ext uri="{BB962C8B-B14F-4D97-AF65-F5344CB8AC3E}">
        <p14:creationId xmlns:p14="http://schemas.microsoft.com/office/powerpoint/2010/main" val="2454591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A5A8-C08C-4DEC-AA71-C6C3F97E6A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9221D5-68F9-48FD-A02E-254D00F5CBDB}"/>
              </a:ext>
            </a:extLst>
          </p:cNvPr>
          <p:cNvSpPr>
            <a:spLocks noGrp="1"/>
          </p:cNvSpPr>
          <p:nvPr>
            <p:ph idx="1"/>
          </p:nvPr>
        </p:nvSpPr>
        <p:spPr/>
        <p:txBody>
          <a:bodyPr>
            <a:normAutofit fontScale="92500"/>
          </a:bodyPr>
          <a:lstStyle/>
          <a:p>
            <a:r>
              <a:rPr lang="en-US" dirty="0"/>
              <a:t>Now we need to construct a table for conditional pattern base and hence, the frequent pattern generation. Now let us consider the table in next slide, we need to consider the item which has the lowest support count, here, I5 has the lowest support count of 2. We need to see where the I5 are. We can see there are two traversal paths for I5 from the root node. One of them being I2-I1-I5, where I5 is having count 1 i.e., I5:1. So we can create the conditional pattern base as in Row 1 of the table 4 {I2,I1:1}.</a:t>
            </a:r>
          </a:p>
          <a:p>
            <a:r>
              <a:rPr lang="en-US" dirty="0"/>
              <a:t>Also, the second traversal path is {I2,I1,I3:I5} and I5 has a count of 1 (I5:1) so the conditional pattern base is {I2,I1,I3:1}. So there are two conditional pattern bases {{I2,I1:1},{I2,I1,I3:1}}.</a:t>
            </a:r>
          </a:p>
          <a:p>
            <a:r>
              <a:rPr lang="en-US" dirty="0"/>
              <a:t>Similarly do for  rest</a:t>
            </a:r>
            <a:endParaRPr lang="en-IN" dirty="0"/>
          </a:p>
          <a:p>
            <a:endParaRPr lang="en-IN" dirty="0"/>
          </a:p>
        </p:txBody>
      </p:sp>
    </p:spTree>
    <p:extLst>
      <p:ext uri="{BB962C8B-B14F-4D97-AF65-F5344CB8AC3E}">
        <p14:creationId xmlns:p14="http://schemas.microsoft.com/office/powerpoint/2010/main" val="517557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73B1-CDA7-48BD-AE8A-6C961886C4EE}"/>
              </a:ext>
            </a:extLst>
          </p:cNvPr>
          <p:cNvSpPr>
            <a:spLocks noGrp="1"/>
          </p:cNvSpPr>
          <p:nvPr>
            <p:ph type="title"/>
          </p:nvPr>
        </p:nvSpPr>
        <p:spPr/>
        <p:txBody>
          <a:bodyPr/>
          <a:lstStyle/>
          <a:p>
            <a:endParaRPr lang="en-IN" dirty="0"/>
          </a:p>
        </p:txBody>
      </p:sp>
      <p:graphicFrame>
        <p:nvGraphicFramePr>
          <p:cNvPr id="4" name="Table 4">
            <a:extLst>
              <a:ext uri="{FF2B5EF4-FFF2-40B4-BE49-F238E27FC236}">
                <a16:creationId xmlns:a16="http://schemas.microsoft.com/office/drawing/2014/main" id="{C5165347-60C3-4726-9BC2-0C8FD13C8120}"/>
              </a:ext>
            </a:extLst>
          </p:cNvPr>
          <p:cNvGraphicFramePr>
            <a:graphicFrameLocks noGrp="1"/>
          </p:cNvGraphicFramePr>
          <p:nvPr>
            <p:ph idx="1"/>
            <p:extLst>
              <p:ext uri="{D42A27DB-BD31-4B8C-83A1-F6EECF244321}">
                <p14:modId xmlns:p14="http://schemas.microsoft.com/office/powerpoint/2010/main" val="1825117846"/>
              </p:ext>
            </p:extLst>
          </p:nvPr>
        </p:nvGraphicFramePr>
        <p:xfrm>
          <a:off x="661220" y="918586"/>
          <a:ext cx="10948220" cy="2763520"/>
        </p:xfrm>
        <a:graphic>
          <a:graphicData uri="http://schemas.openxmlformats.org/drawingml/2006/table">
            <a:tbl>
              <a:tblPr firstRow="1" bandRow="1">
                <a:tableStyleId>{5C22544A-7EE6-4342-B048-85BDC9FD1C3A}</a:tableStyleId>
              </a:tblPr>
              <a:tblGrid>
                <a:gridCol w="744794">
                  <a:extLst>
                    <a:ext uri="{9D8B030D-6E8A-4147-A177-3AD203B41FA5}">
                      <a16:colId xmlns:a16="http://schemas.microsoft.com/office/drawing/2014/main" val="2010217099"/>
                    </a:ext>
                  </a:extLst>
                </a:gridCol>
                <a:gridCol w="4532671">
                  <a:extLst>
                    <a:ext uri="{9D8B030D-6E8A-4147-A177-3AD203B41FA5}">
                      <a16:colId xmlns:a16="http://schemas.microsoft.com/office/drawing/2014/main" val="902271352"/>
                    </a:ext>
                  </a:extLst>
                </a:gridCol>
                <a:gridCol w="2330245">
                  <a:extLst>
                    <a:ext uri="{9D8B030D-6E8A-4147-A177-3AD203B41FA5}">
                      <a16:colId xmlns:a16="http://schemas.microsoft.com/office/drawing/2014/main" val="1928865498"/>
                    </a:ext>
                  </a:extLst>
                </a:gridCol>
                <a:gridCol w="3340510">
                  <a:extLst>
                    <a:ext uri="{9D8B030D-6E8A-4147-A177-3AD203B41FA5}">
                      <a16:colId xmlns:a16="http://schemas.microsoft.com/office/drawing/2014/main" val="3734110005"/>
                    </a:ext>
                  </a:extLst>
                </a:gridCol>
              </a:tblGrid>
              <a:tr h="370840">
                <a:tc>
                  <a:txBody>
                    <a:bodyPr/>
                    <a:lstStyle/>
                    <a:p>
                      <a:r>
                        <a:rPr lang="en-US" dirty="0"/>
                        <a:t>Item</a:t>
                      </a:r>
                      <a:endParaRPr lang="en-IN" dirty="0"/>
                    </a:p>
                  </a:txBody>
                  <a:tcPr/>
                </a:tc>
                <a:tc>
                  <a:txBody>
                    <a:bodyPr/>
                    <a:lstStyle/>
                    <a:p>
                      <a:r>
                        <a:rPr lang="en-US" dirty="0"/>
                        <a:t>Conditional Pattern Base: the path to desired item from root node</a:t>
                      </a:r>
                      <a:endParaRPr lang="en-IN" dirty="0"/>
                    </a:p>
                  </a:txBody>
                  <a:tcPr/>
                </a:tc>
                <a:tc>
                  <a:txBody>
                    <a:bodyPr/>
                    <a:lstStyle/>
                    <a:p>
                      <a:r>
                        <a:rPr lang="en-US" dirty="0"/>
                        <a:t>Conditional FP-tree</a:t>
                      </a:r>
                    </a:p>
                    <a:p>
                      <a:r>
                        <a:rPr lang="en-US" dirty="0"/>
                        <a:t>(frequent pattern)</a:t>
                      </a:r>
                      <a:endParaRPr lang="en-IN" dirty="0"/>
                    </a:p>
                  </a:txBody>
                  <a:tcPr/>
                </a:tc>
                <a:tc>
                  <a:txBody>
                    <a:bodyPr/>
                    <a:lstStyle/>
                    <a:p>
                      <a:r>
                        <a:rPr lang="en-US" dirty="0"/>
                        <a:t>Frequent Pattern generated</a:t>
                      </a:r>
                      <a:endParaRPr lang="en-IN" dirty="0"/>
                    </a:p>
                  </a:txBody>
                  <a:tcPr/>
                </a:tc>
                <a:extLst>
                  <a:ext uri="{0D108BD9-81ED-4DB2-BD59-A6C34878D82A}">
                    <a16:rowId xmlns:a16="http://schemas.microsoft.com/office/drawing/2014/main" val="3719719285"/>
                  </a:ext>
                </a:extLst>
              </a:tr>
              <a:tr h="370840">
                <a:tc>
                  <a:txBody>
                    <a:bodyPr/>
                    <a:lstStyle/>
                    <a:p>
                      <a:r>
                        <a:rPr lang="en-US" dirty="0"/>
                        <a:t>I5</a:t>
                      </a:r>
                      <a:endParaRPr lang="en-IN" dirty="0"/>
                    </a:p>
                  </a:txBody>
                  <a:tcPr/>
                </a:tc>
                <a:tc>
                  <a:txBody>
                    <a:bodyPr/>
                    <a:lstStyle/>
                    <a:p>
                      <a:r>
                        <a:rPr lang="en-US" dirty="0"/>
                        <a:t>{{I2,I1:1},{I2,I1,I3:1}}</a:t>
                      </a:r>
                      <a:endParaRPr lang="en-IN" dirty="0"/>
                    </a:p>
                  </a:txBody>
                  <a:tcPr/>
                </a:tc>
                <a:tc>
                  <a:txBody>
                    <a:bodyPr/>
                    <a:lstStyle/>
                    <a:p>
                      <a:r>
                        <a:rPr lang="en-US" dirty="0"/>
                        <a:t>{I2:2, I1:2}</a:t>
                      </a:r>
                      <a:endParaRPr lang="en-IN" dirty="0"/>
                    </a:p>
                  </a:txBody>
                  <a:tcPr/>
                </a:tc>
                <a:tc>
                  <a:txBody>
                    <a:bodyPr/>
                    <a:lstStyle/>
                    <a:p>
                      <a:r>
                        <a:rPr lang="en-US" dirty="0"/>
                        <a:t>{I2,I5:2}, {I1,I5:2}, {I2,I1,I5:2}</a:t>
                      </a:r>
                      <a:endParaRPr lang="en-IN" dirty="0"/>
                    </a:p>
                  </a:txBody>
                  <a:tcPr/>
                </a:tc>
                <a:extLst>
                  <a:ext uri="{0D108BD9-81ED-4DB2-BD59-A6C34878D82A}">
                    <a16:rowId xmlns:a16="http://schemas.microsoft.com/office/drawing/2014/main" val="1325835839"/>
                  </a:ext>
                </a:extLst>
              </a:tr>
              <a:tr h="370840">
                <a:tc>
                  <a:txBody>
                    <a:bodyPr/>
                    <a:lstStyle/>
                    <a:p>
                      <a:r>
                        <a:rPr lang="en-US" dirty="0"/>
                        <a:t>I4</a:t>
                      </a:r>
                      <a:endParaRPr lang="en-IN" dirty="0"/>
                    </a:p>
                  </a:txBody>
                  <a:tcPr/>
                </a:tc>
                <a:tc>
                  <a:txBody>
                    <a:bodyPr/>
                    <a:lstStyle/>
                    <a:p>
                      <a:r>
                        <a:rPr lang="en-US" dirty="0"/>
                        <a:t>{{I2,I1:1}, {I2:1}}</a:t>
                      </a:r>
                      <a:endParaRPr lang="en-IN" dirty="0"/>
                    </a:p>
                  </a:txBody>
                  <a:tcPr/>
                </a:tc>
                <a:tc>
                  <a:txBody>
                    <a:bodyPr/>
                    <a:lstStyle/>
                    <a:p>
                      <a:r>
                        <a:rPr lang="en-US" dirty="0"/>
                        <a:t>{I2:2}</a:t>
                      </a:r>
                      <a:endParaRPr lang="en-IN" dirty="0"/>
                    </a:p>
                  </a:txBody>
                  <a:tcPr/>
                </a:tc>
                <a:tc>
                  <a:txBody>
                    <a:bodyPr/>
                    <a:lstStyle/>
                    <a:p>
                      <a:r>
                        <a:rPr lang="en-US" dirty="0"/>
                        <a:t>{I2,I4:2}</a:t>
                      </a:r>
                      <a:endParaRPr lang="en-IN" dirty="0"/>
                    </a:p>
                  </a:txBody>
                  <a:tcPr/>
                </a:tc>
                <a:extLst>
                  <a:ext uri="{0D108BD9-81ED-4DB2-BD59-A6C34878D82A}">
                    <a16:rowId xmlns:a16="http://schemas.microsoft.com/office/drawing/2014/main" val="1205232148"/>
                  </a:ext>
                </a:extLst>
              </a:tr>
              <a:tr h="370840">
                <a:tc>
                  <a:txBody>
                    <a:bodyPr/>
                    <a:lstStyle/>
                    <a:p>
                      <a:r>
                        <a:rPr lang="en-US" dirty="0"/>
                        <a:t>I3</a:t>
                      </a:r>
                      <a:endParaRPr lang="en-IN" dirty="0"/>
                    </a:p>
                  </a:txBody>
                  <a:tcPr/>
                </a:tc>
                <a:tc>
                  <a:txBody>
                    <a:bodyPr/>
                    <a:lstStyle/>
                    <a:p>
                      <a:r>
                        <a:rPr lang="en-US" dirty="0"/>
                        <a:t>{{</a:t>
                      </a:r>
                      <a:r>
                        <a:rPr lang="en-US" dirty="0">
                          <a:solidFill>
                            <a:srgbClr val="C00000"/>
                          </a:solidFill>
                        </a:rPr>
                        <a:t>I2,I1:2},{I2:2},</a:t>
                      </a:r>
                      <a:r>
                        <a:rPr lang="en-US" dirty="0">
                          <a:solidFill>
                            <a:schemeClr val="tx1"/>
                          </a:solidFill>
                        </a:rPr>
                        <a:t>{</a:t>
                      </a:r>
                      <a:r>
                        <a:rPr lang="en-US" dirty="0"/>
                        <a:t>I1:2}}</a:t>
                      </a:r>
                      <a:endParaRPr lang="en-IN" dirty="0"/>
                    </a:p>
                  </a:txBody>
                  <a:tcPr/>
                </a:tc>
                <a:tc>
                  <a:txBody>
                    <a:bodyPr/>
                    <a:lstStyle/>
                    <a:p>
                      <a:r>
                        <a:rPr lang="en-US" dirty="0"/>
                        <a:t>{I2:4, I1:2}, {I1:2}</a:t>
                      </a:r>
                      <a:endParaRPr lang="en-IN" dirty="0"/>
                    </a:p>
                  </a:txBody>
                  <a:tcPr/>
                </a:tc>
                <a:tc>
                  <a:txBody>
                    <a:bodyPr/>
                    <a:lstStyle/>
                    <a:p>
                      <a:r>
                        <a:rPr lang="en-US" dirty="0"/>
                        <a:t>{I2,I3:4},{I1,I3:4}, {I2,I1,I3:2}</a:t>
                      </a:r>
                      <a:endParaRPr lang="en-IN" dirty="0"/>
                    </a:p>
                  </a:txBody>
                  <a:tcPr/>
                </a:tc>
                <a:extLst>
                  <a:ext uri="{0D108BD9-81ED-4DB2-BD59-A6C34878D82A}">
                    <a16:rowId xmlns:a16="http://schemas.microsoft.com/office/drawing/2014/main" val="3321739753"/>
                  </a:ext>
                </a:extLst>
              </a:tr>
              <a:tr h="370840">
                <a:tc>
                  <a:txBody>
                    <a:bodyPr/>
                    <a:lstStyle/>
                    <a:p>
                      <a:r>
                        <a:rPr lang="en-US" dirty="0"/>
                        <a:t>I1</a:t>
                      </a:r>
                      <a:endParaRPr lang="en-IN" dirty="0"/>
                    </a:p>
                  </a:txBody>
                  <a:tcPr/>
                </a:tc>
                <a:tc>
                  <a:txBody>
                    <a:bodyPr/>
                    <a:lstStyle/>
                    <a:p>
                      <a:r>
                        <a:rPr lang="en-US" dirty="0"/>
                        <a:t>{{I2:4}}</a:t>
                      </a:r>
                      <a:endParaRPr lang="en-IN" dirty="0"/>
                    </a:p>
                  </a:txBody>
                  <a:tcPr/>
                </a:tc>
                <a:tc>
                  <a:txBody>
                    <a:bodyPr/>
                    <a:lstStyle/>
                    <a:p>
                      <a:r>
                        <a:rPr lang="en-US" dirty="0"/>
                        <a:t>{I2:4}</a:t>
                      </a:r>
                      <a:endParaRPr lang="en-IN" dirty="0"/>
                    </a:p>
                  </a:txBody>
                  <a:tcPr/>
                </a:tc>
                <a:tc>
                  <a:txBody>
                    <a:bodyPr/>
                    <a:lstStyle/>
                    <a:p>
                      <a:r>
                        <a:rPr lang="en-US" dirty="0"/>
                        <a:t>{I2,I1:4}</a:t>
                      </a:r>
                      <a:endParaRPr lang="en-IN" dirty="0"/>
                    </a:p>
                  </a:txBody>
                  <a:tcPr/>
                </a:tc>
                <a:extLst>
                  <a:ext uri="{0D108BD9-81ED-4DB2-BD59-A6C34878D82A}">
                    <a16:rowId xmlns:a16="http://schemas.microsoft.com/office/drawing/2014/main" val="3587531728"/>
                  </a:ext>
                </a:extLst>
              </a:tr>
              <a:tr h="370840">
                <a:tc>
                  <a:txBody>
                    <a:bodyPr/>
                    <a:lstStyle/>
                    <a:p>
                      <a:r>
                        <a:rPr lang="en-US" dirty="0"/>
                        <a:t>I2</a:t>
                      </a:r>
                      <a:endParaRPr lang="en-IN" dirty="0"/>
                    </a:p>
                  </a:txBody>
                  <a:tcPr/>
                </a:tc>
                <a:tc>
                  <a:txBody>
                    <a:bodyPr/>
                    <a:lstStyle/>
                    <a:p>
                      <a:r>
                        <a:rPr lang="en-US" dirty="0"/>
                        <a:t>As I2 is directly connected with root Null, ignore this item</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402733449"/>
                  </a:ext>
                </a:extLst>
              </a:tr>
            </a:tbl>
          </a:graphicData>
        </a:graphic>
      </p:graphicFrame>
      <p:sp>
        <p:nvSpPr>
          <p:cNvPr id="9" name="TextBox 8">
            <a:extLst>
              <a:ext uri="{FF2B5EF4-FFF2-40B4-BE49-F238E27FC236}">
                <a16:creationId xmlns:a16="http://schemas.microsoft.com/office/drawing/2014/main" id="{46B4D52A-861F-4D5B-9C33-9BA0563ABE13}"/>
              </a:ext>
            </a:extLst>
          </p:cNvPr>
          <p:cNvSpPr txBox="1"/>
          <p:nvPr/>
        </p:nvSpPr>
        <p:spPr>
          <a:xfrm>
            <a:off x="582561" y="4647814"/>
            <a:ext cx="1334729" cy="600164"/>
          </a:xfrm>
          <a:prstGeom prst="rect">
            <a:avLst/>
          </a:prstGeom>
          <a:noFill/>
        </p:spPr>
        <p:txBody>
          <a:bodyPr wrap="square" rtlCol="0">
            <a:spAutoFit/>
          </a:bodyPr>
          <a:lstStyle/>
          <a:p>
            <a:r>
              <a:rPr lang="en-US" sz="1100" dirty="0"/>
              <a:t>Arrange the items in ascending order of support count</a:t>
            </a:r>
            <a:endParaRPr lang="en-IN" sz="1100" dirty="0"/>
          </a:p>
        </p:txBody>
      </p:sp>
      <p:cxnSp>
        <p:nvCxnSpPr>
          <p:cNvPr id="16" name="Straight Arrow Connector 15">
            <a:extLst>
              <a:ext uri="{FF2B5EF4-FFF2-40B4-BE49-F238E27FC236}">
                <a16:creationId xmlns:a16="http://schemas.microsoft.com/office/drawing/2014/main" id="{E61A4150-2D09-451B-B4C1-F027F88AC2FE}"/>
              </a:ext>
            </a:extLst>
          </p:cNvPr>
          <p:cNvCxnSpPr>
            <a:cxnSpLocks/>
          </p:cNvCxnSpPr>
          <p:nvPr/>
        </p:nvCxnSpPr>
        <p:spPr>
          <a:xfrm flipH="1" flipV="1">
            <a:off x="1120588" y="3840097"/>
            <a:ext cx="887506" cy="9855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FF45472-7F2B-4295-92BF-4DE8FE265011}"/>
              </a:ext>
            </a:extLst>
          </p:cNvPr>
          <p:cNvSpPr txBox="1"/>
          <p:nvPr/>
        </p:nvSpPr>
        <p:spPr>
          <a:xfrm>
            <a:off x="7860667" y="6245590"/>
            <a:ext cx="2321170" cy="369332"/>
          </a:xfrm>
          <a:prstGeom prst="rect">
            <a:avLst/>
          </a:prstGeom>
          <a:noFill/>
        </p:spPr>
        <p:txBody>
          <a:bodyPr wrap="square" rtlCol="0">
            <a:spAutoFit/>
          </a:bodyPr>
          <a:lstStyle/>
          <a:p>
            <a:pPr algn="ctr"/>
            <a:r>
              <a:rPr lang="en-US" b="1" dirty="0"/>
              <a:t>FP tree</a:t>
            </a:r>
            <a:endParaRPr lang="en-IN" b="1" dirty="0"/>
          </a:p>
        </p:txBody>
      </p:sp>
      <p:pic>
        <p:nvPicPr>
          <p:cNvPr id="21" name="Picture 20">
            <a:extLst>
              <a:ext uri="{FF2B5EF4-FFF2-40B4-BE49-F238E27FC236}">
                <a16:creationId xmlns:a16="http://schemas.microsoft.com/office/drawing/2014/main" id="{BA58F2BF-D535-4964-AEC8-2EF53E759E2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000"/>
                    </a14:imgEffect>
                  </a14:imgLayer>
                </a14:imgProps>
              </a:ext>
            </a:extLst>
          </a:blip>
          <a:stretch>
            <a:fillRect/>
          </a:stretch>
        </p:blipFill>
        <p:spPr>
          <a:xfrm>
            <a:off x="5180149" y="3704628"/>
            <a:ext cx="5985393" cy="3196636"/>
          </a:xfrm>
          <a:prstGeom prst="rect">
            <a:avLst/>
          </a:prstGeom>
        </p:spPr>
      </p:pic>
      <p:pic>
        <p:nvPicPr>
          <p:cNvPr id="3" name="Picture 2">
            <a:extLst>
              <a:ext uri="{FF2B5EF4-FFF2-40B4-BE49-F238E27FC236}">
                <a16:creationId xmlns:a16="http://schemas.microsoft.com/office/drawing/2014/main" id="{47A70F17-B977-1EE3-AC4E-4520D7E64473}"/>
              </a:ext>
            </a:extLst>
          </p:cNvPr>
          <p:cNvPicPr>
            <a:picLocks noChangeAspect="1"/>
          </p:cNvPicPr>
          <p:nvPr/>
        </p:nvPicPr>
        <p:blipFill>
          <a:blip r:embed="rId4"/>
          <a:stretch>
            <a:fillRect/>
          </a:stretch>
        </p:blipFill>
        <p:spPr>
          <a:xfrm>
            <a:off x="2311689" y="4266858"/>
            <a:ext cx="2206284" cy="2072177"/>
          </a:xfrm>
          <a:prstGeom prst="rect">
            <a:avLst/>
          </a:prstGeom>
        </p:spPr>
      </p:pic>
    </p:spTree>
    <p:extLst>
      <p:ext uri="{BB962C8B-B14F-4D97-AF65-F5344CB8AC3E}">
        <p14:creationId xmlns:p14="http://schemas.microsoft.com/office/powerpoint/2010/main" val="3117988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8DDA-73C5-4730-BAFD-5DFB24C9E36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AD4A539-F7BC-4D75-A3BD-2588B8D8FC59}"/>
              </a:ext>
            </a:extLst>
          </p:cNvPr>
          <p:cNvPicPr>
            <a:picLocks noGrp="1" noChangeAspect="1"/>
          </p:cNvPicPr>
          <p:nvPr>
            <p:ph idx="1"/>
          </p:nvPr>
        </p:nvPicPr>
        <p:blipFill>
          <a:blip r:embed="rId2"/>
          <a:stretch>
            <a:fillRect/>
          </a:stretch>
        </p:blipFill>
        <p:spPr>
          <a:xfrm>
            <a:off x="1949182" y="1825625"/>
            <a:ext cx="9013786" cy="4729172"/>
          </a:xfrm>
        </p:spPr>
      </p:pic>
    </p:spTree>
    <p:extLst>
      <p:ext uri="{BB962C8B-B14F-4D97-AF65-F5344CB8AC3E}">
        <p14:creationId xmlns:p14="http://schemas.microsoft.com/office/powerpoint/2010/main" val="334296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r>
              <a:rPr lang="en-US" dirty="0"/>
              <a:t>Generate association rules</a:t>
            </a:r>
            <a:endParaRPr lang="en-IN" dirty="0"/>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 frequent itemset  l as {I2,I1,I5}</a:t>
            </a:r>
          </a:p>
          <a:p>
            <a:r>
              <a:rPr lang="en-US" dirty="0"/>
              <a:t>Generate its non empty subsets: {I2},{I1},{I5},{I2,I1},{I2,I5},{I1,I5},{I2,I1,I5}</a:t>
            </a:r>
          </a:p>
          <a:p>
            <a:r>
              <a:rPr lang="en-US" dirty="0"/>
              <a:t>From this suppose </a:t>
            </a:r>
            <a:r>
              <a:rPr lang="en-US" dirty="0" err="1"/>
              <a:t>i</a:t>
            </a:r>
            <a:r>
              <a:rPr lang="en-US" dirty="0"/>
              <a:t> take a subset {I2}</a:t>
            </a:r>
          </a:p>
          <a:p>
            <a:r>
              <a:rPr lang="en-IN" dirty="0"/>
              <a:t>s-&gt;l-s</a:t>
            </a:r>
          </a:p>
          <a:p>
            <a:r>
              <a:rPr lang="en-US" dirty="0"/>
              <a:t>{I2}-&gt;{I2,I1,I5}-{I2}</a:t>
            </a:r>
          </a:p>
          <a:p>
            <a:r>
              <a:rPr lang="en-US" dirty="0">
                <a:solidFill>
                  <a:schemeClr val="accent2"/>
                </a:solidFill>
              </a:rPr>
              <a:t>{I2}-&gt;{I1, I5}</a:t>
            </a:r>
          </a:p>
          <a:p>
            <a:r>
              <a:rPr lang="en-US" dirty="0"/>
              <a:t>Calculate the confidence of above rule:</a:t>
            </a:r>
          </a:p>
          <a:p>
            <a:r>
              <a:rPr lang="en-US" dirty="0"/>
              <a:t>Confidence=2/7*100=28.5%</a:t>
            </a:r>
          </a:p>
          <a:p>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cxnSp>
        <p:nvCxnSpPr>
          <p:cNvPr id="8" name="Straight Arrow Connector 7">
            <a:extLst>
              <a:ext uri="{FF2B5EF4-FFF2-40B4-BE49-F238E27FC236}">
                <a16:creationId xmlns:a16="http://schemas.microsoft.com/office/drawing/2014/main" id="{B7A8641C-B949-4F94-96F0-21BC1C92B974}"/>
              </a:ext>
            </a:extLst>
          </p:cNvPr>
          <p:cNvCxnSpPr/>
          <p:nvPr/>
        </p:nvCxnSpPr>
        <p:spPr>
          <a:xfrm>
            <a:off x="3382297" y="5742039"/>
            <a:ext cx="314632" cy="239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06B17F9-D595-4516-8074-6E2CF60CE8AE}"/>
              </a:ext>
            </a:extLst>
          </p:cNvPr>
          <p:cNvSpPr txBox="1"/>
          <p:nvPr/>
        </p:nvSpPr>
        <p:spPr>
          <a:xfrm>
            <a:off x="4080387" y="5889523"/>
            <a:ext cx="1366684" cy="830997"/>
          </a:xfrm>
          <a:prstGeom prst="rect">
            <a:avLst/>
          </a:prstGeom>
          <a:noFill/>
        </p:spPr>
        <p:txBody>
          <a:bodyPr wrap="square" rtlCol="0">
            <a:spAutoFit/>
          </a:bodyPr>
          <a:lstStyle/>
          <a:p>
            <a:r>
              <a:rPr lang="en-US" sz="1600" dirty="0"/>
              <a:t>How many times I2 occurs</a:t>
            </a:r>
            <a:endParaRPr lang="en-IN" sz="1600" dirty="0"/>
          </a:p>
        </p:txBody>
      </p:sp>
      <p:cxnSp>
        <p:nvCxnSpPr>
          <p:cNvPr id="10" name="Straight Arrow Connector 9">
            <a:extLst>
              <a:ext uri="{FF2B5EF4-FFF2-40B4-BE49-F238E27FC236}">
                <a16:creationId xmlns:a16="http://schemas.microsoft.com/office/drawing/2014/main" id="{68FC2695-F238-4C69-98CC-1F67C8EDEA83}"/>
              </a:ext>
            </a:extLst>
          </p:cNvPr>
          <p:cNvCxnSpPr>
            <a:cxnSpLocks/>
          </p:cNvCxnSpPr>
          <p:nvPr/>
        </p:nvCxnSpPr>
        <p:spPr>
          <a:xfrm flipH="1">
            <a:off x="2682448" y="5806007"/>
            <a:ext cx="392238" cy="282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430CD59-C9A0-4384-A13C-1A8A4B3C0D3E}"/>
              </a:ext>
            </a:extLst>
          </p:cNvPr>
          <p:cNvSpPr txBox="1"/>
          <p:nvPr/>
        </p:nvSpPr>
        <p:spPr>
          <a:xfrm>
            <a:off x="1838631" y="6058976"/>
            <a:ext cx="1927123" cy="830997"/>
          </a:xfrm>
          <a:prstGeom prst="rect">
            <a:avLst/>
          </a:prstGeom>
          <a:noFill/>
        </p:spPr>
        <p:txBody>
          <a:bodyPr wrap="square" rtlCol="0">
            <a:spAutoFit/>
          </a:bodyPr>
          <a:lstStyle/>
          <a:p>
            <a:r>
              <a:rPr lang="en-US" sz="1600" dirty="0"/>
              <a:t>How many times I1,I5,I2 occurs all together</a:t>
            </a:r>
            <a:endParaRPr lang="en-IN" sz="1600" dirty="0"/>
          </a:p>
        </p:txBody>
      </p:sp>
    </p:spTree>
    <p:extLst>
      <p:ext uri="{BB962C8B-B14F-4D97-AF65-F5344CB8AC3E}">
        <p14:creationId xmlns:p14="http://schemas.microsoft.com/office/powerpoint/2010/main" val="63098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an frequent itemset  l as {I2,I1,I5}</a:t>
            </a:r>
          </a:p>
          <a:p>
            <a:r>
              <a:rPr lang="en-US" dirty="0"/>
              <a:t>Generate its non empty subsets: {I2},{I1},{I5},{I2,I1},{I2,I5},{I1,I5},{I2,I1,I5}</a:t>
            </a:r>
          </a:p>
          <a:p>
            <a:r>
              <a:rPr lang="en-US" dirty="0"/>
              <a:t>From this suppose </a:t>
            </a:r>
            <a:r>
              <a:rPr lang="en-US" dirty="0" err="1"/>
              <a:t>i</a:t>
            </a:r>
            <a:r>
              <a:rPr lang="en-US" dirty="0"/>
              <a:t> take a subset </a:t>
            </a:r>
            <a:r>
              <a:rPr lang="en-US" dirty="0">
                <a:solidFill>
                  <a:schemeClr val="accent2"/>
                </a:solidFill>
              </a:rPr>
              <a:t>{I1}</a:t>
            </a:r>
          </a:p>
          <a:p>
            <a:r>
              <a:rPr lang="en-IN" dirty="0"/>
              <a:t>S-&gt;l-s</a:t>
            </a:r>
          </a:p>
          <a:p>
            <a:r>
              <a:rPr lang="en-US" dirty="0"/>
              <a:t>{I1}-&gt;{I2,I1,I5}-{I1}</a:t>
            </a:r>
          </a:p>
          <a:p>
            <a:r>
              <a:rPr lang="en-US" dirty="0">
                <a:solidFill>
                  <a:schemeClr val="accent2"/>
                </a:solidFill>
              </a:rPr>
              <a:t>{I1}-&gt;{I2, I5}</a:t>
            </a:r>
          </a:p>
          <a:p>
            <a:r>
              <a:rPr lang="en-US" dirty="0"/>
              <a:t>Calculate the confidence of above rule:</a:t>
            </a:r>
          </a:p>
          <a:p>
            <a:r>
              <a:rPr lang="en-US" dirty="0"/>
              <a:t>Confidence=2/6*100=33.3%</a:t>
            </a:r>
          </a:p>
          <a:p>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275039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an frequent itemset  l as {I2,I1,I5}</a:t>
            </a:r>
          </a:p>
          <a:p>
            <a:r>
              <a:rPr lang="en-US" dirty="0"/>
              <a:t>Generate its non empty subsets S: {I2},{I1},{I5},{I2,I1},{I2,I5},{I1,I5},{I2,I1,I5}</a:t>
            </a:r>
          </a:p>
          <a:p>
            <a:r>
              <a:rPr lang="en-US" dirty="0"/>
              <a:t>From this suppose </a:t>
            </a:r>
            <a:r>
              <a:rPr lang="en-US" dirty="0" err="1"/>
              <a:t>i</a:t>
            </a:r>
            <a:r>
              <a:rPr lang="en-US" dirty="0"/>
              <a:t> take a subset </a:t>
            </a:r>
            <a:r>
              <a:rPr lang="en-US" dirty="0">
                <a:solidFill>
                  <a:schemeClr val="accent2"/>
                </a:solidFill>
              </a:rPr>
              <a:t>{I5}</a:t>
            </a:r>
          </a:p>
          <a:p>
            <a:r>
              <a:rPr lang="en-IN" dirty="0"/>
              <a:t>S-&gt;l-S</a:t>
            </a:r>
          </a:p>
          <a:p>
            <a:r>
              <a:rPr lang="en-US" dirty="0"/>
              <a:t>{I5}-&gt;{I2,I1,I5}-{I5}</a:t>
            </a:r>
          </a:p>
          <a:p>
            <a:r>
              <a:rPr lang="en-US" dirty="0">
                <a:solidFill>
                  <a:schemeClr val="accent2"/>
                </a:solidFill>
              </a:rPr>
              <a:t>{I5}-&gt;{I2, I1}</a:t>
            </a:r>
          </a:p>
          <a:p>
            <a:r>
              <a:rPr lang="en-US" dirty="0"/>
              <a:t>Calculate the confidence of above rule:</a:t>
            </a:r>
          </a:p>
          <a:p>
            <a:r>
              <a:rPr lang="en-US" dirty="0">
                <a:solidFill>
                  <a:schemeClr val="accent2"/>
                </a:solidFill>
              </a:rPr>
              <a:t>Confidence=2/2*100=100%</a:t>
            </a:r>
          </a:p>
          <a:p>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427831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an frequent itemset  l as {I2,I1,I5}</a:t>
            </a:r>
          </a:p>
          <a:p>
            <a:r>
              <a:rPr lang="en-US" dirty="0"/>
              <a:t>Generate its non empty subsets S: {I2},{I1},{I5},{I2,I1},{I2,I5},{I1,I5},{I2,I1,I5}</a:t>
            </a:r>
          </a:p>
          <a:p>
            <a:r>
              <a:rPr lang="en-US" dirty="0"/>
              <a:t>From this suppose </a:t>
            </a:r>
            <a:r>
              <a:rPr lang="en-US" dirty="0" err="1"/>
              <a:t>i</a:t>
            </a:r>
            <a:r>
              <a:rPr lang="en-US" dirty="0"/>
              <a:t> take a subset </a:t>
            </a:r>
            <a:r>
              <a:rPr lang="en-US" dirty="0">
                <a:solidFill>
                  <a:schemeClr val="accent2"/>
                </a:solidFill>
              </a:rPr>
              <a:t>{I2,I1}</a:t>
            </a:r>
          </a:p>
          <a:p>
            <a:r>
              <a:rPr lang="en-IN" dirty="0"/>
              <a:t>S-&gt;l-s</a:t>
            </a:r>
          </a:p>
          <a:p>
            <a:r>
              <a:rPr lang="en-US" dirty="0"/>
              <a:t>{I2,I1}-&gt;{I2,I1,I5}-{I2,I1}</a:t>
            </a:r>
          </a:p>
          <a:p>
            <a:r>
              <a:rPr lang="en-US" dirty="0">
                <a:solidFill>
                  <a:schemeClr val="accent2"/>
                </a:solidFill>
              </a:rPr>
              <a:t>{I2,I1}-&gt;{I5}</a:t>
            </a:r>
          </a:p>
          <a:p>
            <a:r>
              <a:rPr lang="en-US" dirty="0"/>
              <a:t>Calculate the confidence of above rule:</a:t>
            </a:r>
          </a:p>
          <a:p>
            <a:r>
              <a:rPr lang="en-US" dirty="0">
                <a:solidFill>
                  <a:schemeClr val="accent2"/>
                </a:solidFill>
              </a:rPr>
              <a:t>Confidence=2/4*100=50%</a:t>
            </a:r>
          </a:p>
          <a:p>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1396496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an frequent itemset  l as {I2,I1,I5}</a:t>
            </a:r>
          </a:p>
          <a:p>
            <a:r>
              <a:rPr lang="en-US" dirty="0"/>
              <a:t>Generate its non empty subsets S: {I2},{I1},{I5},{I2,I1},{I2,I5},{I1,I5},{I2,I1,I5}</a:t>
            </a:r>
          </a:p>
          <a:p>
            <a:r>
              <a:rPr lang="en-US" dirty="0"/>
              <a:t>From this suppose </a:t>
            </a:r>
            <a:r>
              <a:rPr lang="en-US" dirty="0" err="1"/>
              <a:t>i</a:t>
            </a:r>
            <a:r>
              <a:rPr lang="en-US" dirty="0"/>
              <a:t> take a subset </a:t>
            </a:r>
            <a:r>
              <a:rPr lang="en-US" dirty="0">
                <a:solidFill>
                  <a:schemeClr val="accent2"/>
                </a:solidFill>
              </a:rPr>
              <a:t>{I2,I5}</a:t>
            </a:r>
          </a:p>
          <a:p>
            <a:r>
              <a:rPr lang="en-IN" dirty="0"/>
              <a:t>S-&gt;l-S</a:t>
            </a:r>
          </a:p>
          <a:p>
            <a:r>
              <a:rPr lang="en-US" dirty="0"/>
              <a:t>{I2,I5}-&gt;{I2,I1,I5}-{I2,I5}</a:t>
            </a:r>
          </a:p>
          <a:p>
            <a:r>
              <a:rPr lang="en-US" dirty="0"/>
              <a:t>{I2,I5}-&gt;{I1}</a:t>
            </a:r>
            <a:endParaRPr lang="en-US" dirty="0">
              <a:solidFill>
                <a:schemeClr val="accent2"/>
              </a:solidFill>
            </a:endParaRPr>
          </a:p>
          <a:p>
            <a:r>
              <a:rPr lang="en-US" dirty="0"/>
              <a:t>Calculate the confidence of above rule:</a:t>
            </a:r>
          </a:p>
          <a:p>
            <a:r>
              <a:rPr lang="en-US" dirty="0">
                <a:solidFill>
                  <a:schemeClr val="accent2"/>
                </a:solidFill>
              </a:rPr>
              <a:t>Confidence=2/2*100=100%</a:t>
            </a:r>
          </a:p>
          <a:p>
            <a:pPr marL="0" indent="0">
              <a:buNone/>
            </a:pPr>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2921307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lnSpcReduction="10000"/>
          </a:bodyPr>
          <a:lstStyle/>
          <a:p>
            <a:r>
              <a:rPr lang="en-US" dirty="0"/>
              <a:t>Suppose I have taken an frequent itemset  l as {I2,I1,I5}</a:t>
            </a:r>
          </a:p>
          <a:p>
            <a:r>
              <a:rPr lang="en-US" dirty="0"/>
              <a:t>Generate its non empty subsets S: {I2},{I1},{I5},{I2,I1},{I2,I5},{I1,I5},{I2,I1,I5}</a:t>
            </a:r>
          </a:p>
          <a:p>
            <a:r>
              <a:rPr lang="en-US" dirty="0"/>
              <a:t>From this suppose </a:t>
            </a:r>
            <a:r>
              <a:rPr lang="en-US" dirty="0" err="1"/>
              <a:t>i</a:t>
            </a:r>
            <a:r>
              <a:rPr lang="en-US" dirty="0"/>
              <a:t> take a subset {I1,I5}</a:t>
            </a:r>
          </a:p>
          <a:p>
            <a:r>
              <a:rPr lang="en-IN" dirty="0"/>
              <a:t>S-&gt;l-S</a:t>
            </a:r>
          </a:p>
          <a:p>
            <a:r>
              <a:rPr lang="en-US" dirty="0"/>
              <a:t>{I1,I5}-&gt;{I2,I1,I5}-{I1,I5}</a:t>
            </a:r>
          </a:p>
          <a:p>
            <a:r>
              <a:rPr lang="en-US" dirty="0"/>
              <a:t>{I1,I5}-&gt;{I2}</a:t>
            </a:r>
            <a:endParaRPr lang="en-US" dirty="0">
              <a:solidFill>
                <a:schemeClr val="accent2"/>
              </a:solidFill>
            </a:endParaRPr>
          </a:p>
          <a:p>
            <a:r>
              <a:rPr lang="en-US" dirty="0"/>
              <a:t>Calculate the confidence of above rule:</a:t>
            </a:r>
          </a:p>
          <a:p>
            <a:r>
              <a:rPr lang="en-US" dirty="0">
                <a:solidFill>
                  <a:schemeClr val="accent2"/>
                </a:solidFill>
              </a:rPr>
              <a:t>Confidence=2/2*100=100%</a:t>
            </a:r>
          </a:p>
          <a:p>
            <a:endParaRPr lang="en-US" dirty="0">
              <a:solidFill>
                <a:schemeClr val="accent2"/>
              </a:solidFill>
            </a:endParaRPr>
          </a:p>
          <a:p>
            <a:pPr marL="0" indent="0">
              <a:buNone/>
            </a:pPr>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277425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64B3-B8CF-467A-A3EA-E90CB09E9D6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750AF79-1083-44D4-8F62-E06672E0070A}"/>
              </a:ext>
            </a:extLst>
          </p:cNvPr>
          <p:cNvSpPr>
            <a:spLocks noGrp="1"/>
          </p:cNvSpPr>
          <p:nvPr>
            <p:ph idx="1"/>
          </p:nvPr>
        </p:nvSpPr>
        <p:spPr/>
        <p:txBody>
          <a:bodyPr>
            <a:normAutofit/>
          </a:bodyPr>
          <a:lstStyle/>
          <a:p>
            <a:r>
              <a:rPr lang="en-US" dirty="0"/>
              <a:t>Suppose I have taken an frequent itemset  l as {I2,I1,I5}</a:t>
            </a:r>
          </a:p>
          <a:p>
            <a:r>
              <a:rPr lang="en-US" dirty="0"/>
              <a:t>Generate its non empty subsets S: {I2},{I1},{I5},{I2,I1},{I2,I5},{I1,I5},{I2,I1,I5}</a:t>
            </a:r>
          </a:p>
          <a:p>
            <a:r>
              <a:rPr lang="en-US" dirty="0"/>
              <a:t>From this suppose </a:t>
            </a:r>
            <a:r>
              <a:rPr lang="en-US" dirty="0" err="1"/>
              <a:t>i</a:t>
            </a:r>
            <a:r>
              <a:rPr lang="en-US" dirty="0"/>
              <a:t> take a subset </a:t>
            </a:r>
            <a:r>
              <a:rPr lang="en-US" dirty="0">
                <a:solidFill>
                  <a:schemeClr val="accent2"/>
                </a:solidFill>
              </a:rPr>
              <a:t>{I2,I1,I5}</a:t>
            </a:r>
          </a:p>
          <a:p>
            <a:r>
              <a:rPr lang="en-IN" dirty="0"/>
              <a:t>S-&gt;l-S</a:t>
            </a:r>
          </a:p>
          <a:p>
            <a:r>
              <a:rPr lang="en-US" dirty="0"/>
              <a:t>{I2,I1,I5}-&gt;{I2,I1,I5}-{I2,I1,I5}</a:t>
            </a:r>
          </a:p>
          <a:p>
            <a:r>
              <a:rPr lang="en-US" dirty="0"/>
              <a:t>{I2,I1,I5}-&gt;Ø</a:t>
            </a:r>
            <a:endParaRPr lang="en-US" dirty="0">
              <a:solidFill>
                <a:schemeClr val="accent2"/>
              </a:solidFill>
            </a:endParaRPr>
          </a:p>
          <a:p>
            <a:r>
              <a:rPr lang="en-US" dirty="0">
                <a:solidFill>
                  <a:schemeClr val="accent2"/>
                </a:solidFill>
              </a:rPr>
              <a:t>So ignore this rule</a:t>
            </a:r>
          </a:p>
          <a:p>
            <a:pPr marL="0" indent="0">
              <a:buNone/>
            </a:pPr>
            <a:endParaRPr lang="en-IN" dirty="0"/>
          </a:p>
        </p:txBody>
      </p:sp>
      <p:pic>
        <p:nvPicPr>
          <p:cNvPr id="6" name="Content Placeholder 4">
            <a:extLst>
              <a:ext uri="{FF2B5EF4-FFF2-40B4-BE49-F238E27FC236}">
                <a16:creationId xmlns:a16="http://schemas.microsoft.com/office/drawing/2014/main" id="{C091E29F-A9C0-4D5F-BCB9-B10EFBB0BF3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7000"/>
                    </a14:imgEffect>
                  </a14:imgLayer>
                </a14:imgProps>
              </a:ext>
            </a:extLst>
          </a:blip>
          <a:stretch>
            <a:fillRect/>
          </a:stretch>
        </p:blipFill>
        <p:spPr>
          <a:xfrm>
            <a:off x="9090276" y="3245436"/>
            <a:ext cx="2743200" cy="3152775"/>
          </a:xfrm>
          <a:prstGeom prst="rect">
            <a:avLst/>
          </a:prstGeom>
        </p:spPr>
      </p:pic>
    </p:spTree>
    <p:extLst>
      <p:ext uri="{BB962C8B-B14F-4D97-AF65-F5344CB8AC3E}">
        <p14:creationId xmlns:p14="http://schemas.microsoft.com/office/powerpoint/2010/main" val="2522973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151F-6666-4AC1-834A-CC8179865B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6A1DB5-7FDC-43FF-9ABA-E91E9EB47A4A}"/>
              </a:ext>
            </a:extLst>
          </p:cNvPr>
          <p:cNvSpPr>
            <a:spLocks noGrp="1"/>
          </p:cNvSpPr>
          <p:nvPr>
            <p:ph idx="1"/>
          </p:nvPr>
        </p:nvSpPr>
        <p:spPr/>
        <p:txBody>
          <a:bodyPr/>
          <a:lstStyle/>
          <a:p>
            <a:r>
              <a:rPr lang="en-US" dirty="0"/>
              <a:t>If min confidence is 60 percent select all rules whose confidence came to be 60 percent or more.</a:t>
            </a:r>
          </a:p>
          <a:p>
            <a:r>
              <a:rPr lang="en-US" dirty="0"/>
              <a:t>The rules are:</a:t>
            </a:r>
          </a:p>
          <a:p>
            <a:r>
              <a:rPr lang="en-US" dirty="0">
                <a:solidFill>
                  <a:schemeClr val="accent2"/>
                </a:solidFill>
              </a:rPr>
              <a:t>{I5}-&gt;{I2, I1}</a:t>
            </a:r>
          </a:p>
          <a:p>
            <a:r>
              <a:rPr lang="en-US" dirty="0">
                <a:solidFill>
                  <a:schemeClr val="accent2"/>
                </a:solidFill>
              </a:rPr>
              <a:t>{I2,I5}-&gt;{I1}</a:t>
            </a:r>
          </a:p>
          <a:p>
            <a:r>
              <a:rPr lang="en-US" dirty="0">
                <a:solidFill>
                  <a:schemeClr val="accent2"/>
                </a:solidFill>
              </a:rPr>
              <a:t>{I1,I5}-&gt;{I2}</a:t>
            </a:r>
          </a:p>
          <a:p>
            <a:endParaRPr lang="en-US" dirty="0"/>
          </a:p>
          <a:p>
            <a:endParaRPr lang="en-US" dirty="0">
              <a:solidFill>
                <a:schemeClr val="accent2"/>
              </a:solidFill>
            </a:endParaRPr>
          </a:p>
          <a:p>
            <a:endParaRPr lang="en-US" dirty="0">
              <a:solidFill>
                <a:schemeClr val="accent2"/>
              </a:solidFill>
            </a:endParaRPr>
          </a:p>
          <a:p>
            <a:endParaRPr lang="en-IN" dirty="0"/>
          </a:p>
        </p:txBody>
      </p:sp>
      <p:sp>
        <p:nvSpPr>
          <p:cNvPr id="8" name="TextBox 7">
            <a:extLst>
              <a:ext uri="{FF2B5EF4-FFF2-40B4-BE49-F238E27FC236}">
                <a16:creationId xmlns:a16="http://schemas.microsoft.com/office/drawing/2014/main" id="{AA960E29-E23A-41FE-B87B-0E93013CD664}"/>
              </a:ext>
            </a:extLst>
          </p:cNvPr>
          <p:cNvSpPr txBox="1"/>
          <p:nvPr/>
        </p:nvSpPr>
        <p:spPr>
          <a:xfrm>
            <a:off x="737419" y="4906297"/>
            <a:ext cx="10835149" cy="369332"/>
          </a:xfrm>
          <a:prstGeom prst="rect">
            <a:avLst/>
          </a:prstGeom>
          <a:noFill/>
        </p:spPr>
        <p:txBody>
          <a:bodyPr wrap="square" rtlCol="0">
            <a:spAutoFit/>
          </a:bodyPr>
          <a:lstStyle/>
          <a:p>
            <a:r>
              <a:rPr lang="en-US" dirty="0"/>
              <a:t>Similarly create strong association rules for all the frequent item sets</a:t>
            </a:r>
            <a:endParaRPr lang="en-IN" dirty="0"/>
          </a:p>
        </p:txBody>
      </p:sp>
    </p:spTree>
    <p:extLst>
      <p:ext uri="{BB962C8B-B14F-4D97-AF65-F5344CB8AC3E}">
        <p14:creationId xmlns:p14="http://schemas.microsoft.com/office/powerpoint/2010/main" val="3244160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FEC22-8B11-4E0B-8168-8D2FE2E5592C}"/>
              </a:ext>
            </a:extLst>
          </p:cNvPr>
          <p:cNvSpPr>
            <a:spLocks noGrp="1"/>
          </p:cNvSpPr>
          <p:nvPr>
            <p:ph type="title"/>
          </p:nvPr>
        </p:nvSpPr>
        <p:spPr/>
        <p:txBody>
          <a:bodyPr/>
          <a:lstStyle/>
          <a:p>
            <a:r>
              <a:rPr lang="en-US" dirty="0"/>
              <a:t>Difference between FP growth and Apriori</a:t>
            </a:r>
            <a:endParaRPr lang="en-IN" dirty="0"/>
          </a:p>
        </p:txBody>
      </p:sp>
      <p:pic>
        <p:nvPicPr>
          <p:cNvPr id="1026" name="Picture 2" descr="FP Growth: Frequent Pattern Generation in Data Mining with Python  Implementation | by Chonyy | Towards Data Science">
            <a:extLst>
              <a:ext uri="{FF2B5EF4-FFF2-40B4-BE49-F238E27FC236}">
                <a16:creationId xmlns:a16="http://schemas.microsoft.com/office/drawing/2014/main" id="{0F1511FC-33C7-4BFE-B64C-50BD360D37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37037"/>
            <a:ext cx="10515600" cy="432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041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ACECD-1183-4DA7-9376-8E59AB4237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AAC8BC-A49E-493D-AFB9-F816455577AA}"/>
              </a:ext>
            </a:extLst>
          </p:cNvPr>
          <p:cNvSpPr>
            <a:spLocks noGrp="1"/>
          </p:cNvSpPr>
          <p:nvPr>
            <p:ph idx="1"/>
          </p:nvPr>
        </p:nvSpPr>
        <p:spPr/>
        <p:txBody>
          <a:bodyPr/>
          <a:lstStyle/>
          <a:p>
            <a:pPr algn="l"/>
            <a:r>
              <a:rPr lang="en-US" b="1" i="0" dirty="0">
                <a:solidFill>
                  <a:srgbClr val="545454"/>
                </a:solidFill>
                <a:effectLst/>
                <a:latin typeface="Open Sans" panose="020B0606030504020204" pitchFamily="34" charset="0"/>
              </a:rPr>
              <a:t>Advantages of FP growth algorithm:-</a:t>
            </a:r>
          </a:p>
          <a:p>
            <a:pPr algn="l"/>
            <a:r>
              <a:rPr lang="en-US" b="0" i="0" dirty="0">
                <a:solidFill>
                  <a:srgbClr val="6E6E6E"/>
                </a:solidFill>
                <a:effectLst/>
                <a:latin typeface="Helvetica" panose="020B0604020202020204" pitchFamily="34" charset="0"/>
              </a:rPr>
              <a:t>1. Faster than </a:t>
            </a:r>
            <a:r>
              <a:rPr lang="en-US" b="0" i="0" dirty="0" err="1">
                <a:solidFill>
                  <a:srgbClr val="6E6E6E"/>
                </a:solidFill>
                <a:effectLst/>
                <a:latin typeface="Helvetica" panose="020B0604020202020204" pitchFamily="34" charset="0"/>
              </a:rPr>
              <a:t>apriori</a:t>
            </a:r>
            <a:r>
              <a:rPr lang="en-US" b="0" i="0" dirty="0">
                <a:solidFill>
                  <a:srgbClr val="6E6E6E"/>
                </a:solidFill>
                <a:effectLst/>
                <a:latin typeface="Helvetica" panose="020B0604020202020204" pitchFamily="34" charset="0"/>
              </a:rPr>
              <a:t> algorithm</a:t>
            </a:r>
          </a:p>
          <a:p>
            <a:pPr algn="l"/>
            <a:r>
              <a:rPr lang="en-US" b="0" i="0" dirty="0">
                <a:solidFill>
                  <a:srgbClr val="6E6E6E"/>
                </a:solidFill>
                <a:effectLst/>
                <a:latin typeface="Helvetica" panose="020B0604020202020204" pitchFamily="34" charset="0"/>
              </a:rPr>
              <a:t>2. No candidate generation</a:t>
            </a:r>
          </a:p>
          <a:p>
            <a:pPr algn="l"/>
            <a:r>
              <a:rPr lang="en-US" b="0" i="0" dirty="0">
                <a:solidFill>
                  <a:srgbClr val="6E6E6E"/>
                </a:solidFill>
                <a:effectLst/>
                <a:latin typeface="Helvetica" panose="020B0604020202020204" pitchFamily="34" charset="0"/>
              </a:rPr>
              <a:t>3. Only two passes over dataset</a:t>
            </a:r>
          </a:p>
          <a:p>
            <a:pPr algn="l"/>
            <a:r>
              <a:rPr lang="en-US" b="1" i="0" dirty="0">
                <a:solidFill>
                  <a:srgbClr val="545454"/>
                </a:solidFill>
                <a:effectLst/>
                <a:latin typeface="Open Sans" panose="020B0606030504020204" pitchFamily="34" charset="0"/>
              </a:rPr>
              <a:t>Disadvantages of FP growth algorithm:-</a:t>
            </a:r>
          </a:p>
          <a:p>
            <a:pPr algn="l"/>
            <a:r>
              <a:rPr lang="en-US" b="0" i="0" dirty="0">
                <a:solidFill>
                  <a:srgbClr val="6E6E6E"/>
                </a:solidFill>
                <a:effectLst/>
                <a:latin typeface="Helvetica" panose="020B0604020202020204" pitchFamily="34" charset="0"/>
              </a:rPr>
              <a:t>1. FP tree may not fit in memory</a:t>
            </a:r>
          </a:p>
          <a:p>
            <a:pPr algn="l"/>
            <a:r>
              <a:rPr lang="en-US" b="0" i="0" dirty="0">
                <a:solidFill>
                  <a:srgbClr val="6E6E6E"/>
                </a:solidFill>
                <a:effectLst/>
                <a:latin typeface="Helvetica" panose="020B0604020202020204" pitchFamily="34" charset="0"/>
              </a:rPr>
              <a:t>2. FP tree is expensive to build</a:t>
            </a:r>
          </a:p>
          <a:p>
            <a:endParaRPr lang="en-IN" dirty="0"/>
          </a:p>
        </p:txBody>
      </p:sp>
    </p:spTree>
    <p:extLst>
      <p:ext uri="{BB962C8B-B14F-4D97-AF65-F5344CB8AC3E}">
        <p14:creationId xmlns:p14="http://schemas.microsoft.com/office/powerpoint/2010/main" val="4073018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B3F2E-7327-45D1-ACC4-017516C48B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E0BE40-F25C-4B4B-949E-0EEE3AB8F986}"/>
              </a:ext>
            </a:extLst>
          </p:cNvPr>
          <p:cNvSpPr>
            <a:spLocks noGrp="1"/>
          </p:cNvSpPr>
          <p:nvPr>
            <p:ph idx="1"/>
          </p:nvPr>
        </p:nvSpPr>
        <p:spPr/>
        <p:txBody>
          <a:bodyPr/>
          <a:lstStyle/>
          <a:p>
            <a:r>
              <a:rPr lang="en-US" dirty="0"/>
              <a:t>Practice this question from this link:</a:t>
            </a:r>
          </a:p>
          <a:p>
            <a:r>
              <a:rPr lang="en-US" dirty="0">
                <a:hlinkClick r:id="rId2"/>
              </a:rPr>
              <a:t>Understanding FP (Frequent Pattern) Growth Algorithm in Data Mining (mygreatlearning.com)</a:t>
            </a:r>
            <a:endParaRPr lang="en-US" dirty="0"/>
          </a:p>
          <a:p>
            <a:r>
              <a:rPr lang="en-US" dirty="0"/>
              <a:t>YouTube link of same problem</a:t>
            </a:r>
          </a:p>
          <a:p>
            <a:pPr marL="0" indent="0">
              <a:buNone/>
            </a:pPr>
            <a:r>
              <a:rPr lang="en-US" dirty="0"/>
              <a:t>https://www.youtube.com/watch?v=ToswH_dA7KU</a:t>
            </a:r>
          </a:p>
          <a:p>
            <a:endParaRPr lang="en-IN" dirty="0"/>
          </a:p>
        </p:txBody>
      </p:sp>
    </p:spTree>
    <p:extLst>
      <p:ext uri="{BB962C8B-B14F-4D97-AF65-F5344CB8AC3E}">
        <p14:creationId xmlns:p14="http://schemas.microsoft.com/office/powerpoint/2010/main" val="2355307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22009</TotalTime>
  <Words>2126</Words>
  <Application>Microsoft Office PowerPoint</Application>
  <PresentationFormat>Widescreen</PresentationFormat>
  <Paragraphs>223</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Helvetica</vt:lpstr>
      <vt:lpstr>Open Sans</vt:lpstr>
      <vt:lpstr>Poppins</vt:lpstr>
      <vt:lpstr>Roboto</vt:lpstr>
      <vt:lpstr>Work Sans</vt:lpstr>
      <vt:lpstr>Office Theme</vt:lpstr>
      <vt:lpstr>Association rule mining with FP Growth method </vt:lpstr>
      <vt:lpstr>References</vt:lpstr>
      <vt:lpstr>Finding Frequent Itemsets </vt:lpstr>
      <vt:lpstr>PowerPoint Presentation</vt:lpstr>
      <vt:lpstr>PowerPoint Presentation</vt:lpstr>
      <vt:lpstr>Steps for FP growth Algorithm</vt:lpstr>
      <vt:lpstr>PowerPoint Presentation</vt:lpstr>
      <vt:lpstr>PowerPoint Presentation</vt:lpstr>
      <vt:lpstr>PowerPoint Presentation</vt:lpstr>
      <vt:lpstr>FP tree</vt:lpstr>
      <vt:lpstr>PowerPoint Presentation</vt:lpstr>
      <vt:lpstr>PowerPoint Presentation</vt:lpstr>
      <vt:lpstr>PowerPoint Presentation</vt:lpstr>
      <vt:lpstr>Generate association rules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FP growth and Apriori</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Association rule mining with FP Growth method</dc:title>
  <dc:creator>kriti ohri</dc:creator>
  <cp:lastModifiedBy>kriti ohri</cp:lastModifiedBy>
  <cp:revision>8</cp:revision>
  <dcterms:created xsi:type="dcterms:W3CDTF">2021-11-30T16:49:13Z</dcterms:created>
  <dcterms:modified xsi:type="dcterms:W3CDTF">2023-12-26T08:39:18Z</dcterms:modified>
</cp:coreProperties>
</file>