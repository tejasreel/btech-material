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5" r:id="rId10"/>
    <p:sldId id="263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BCBCB-D138-4D12-A8EC-FF1E4834C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1C851-B727-46AD-93A0-0CB0875A0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71724-1A34-48C0-9A8B-79B601ED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D886E-A692-4ECF-BA77-397221FB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B087-20C9-4FBF-B68C-C7050C6B2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86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F2EE-F60F-4A10-879E-C64D015CD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A6D48-F33A-48B4-9D13-5059F999D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A4E15-4FDF-4D61-B730-1641E27FA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7DC6E-4F73-433C-8D17-076547FC9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D2742-8CB3-4DCC-B253-5C121584C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71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6968-4A7C-4DF1-8EC9-EF1D890A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F3F68-E488-442D-AD7A-89D0170F0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4D5C1-39C1-4614-8853-7B0C1CDB8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1C49A-5584-4B99-A5E1-090742C56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6A7CC-EDA9-4C26-B870-74ED96530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368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E4DA9-E839-4635-A85F-824939D3E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9771E-9A05-4D33-91F1-EA655E87E8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5F8FD-55D6-4916-A552-D037BA424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D54AA-CF8E-4C42-A19B-5E6B8B307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6D310-B27A-4F0C-BB15-1DF269B6D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36E6B-4028-4204-826B-10A73C56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16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BFB3-02CA-4000-9778-DA249594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C6AF1-D671-4673-BB5B-8AB5B2423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E7FFA-C416-4753-A375-45A3E767D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8A9367-BF49-4BAA-AE4F-51F61F933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13BDC-CBBE-4077-A1B8-EE7BE8F87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C3C7C-2A31-48F1-8963-DC3EC4B9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E15BF7-7D59-4951-9573-4F4BBD05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0E2A73-E5C0-43C6-BF5A-8248F48B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0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1975-9E28-4538-AFFD-D2A88E3C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5B6449-1030-49E0-9EB5-0D4F4D88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AF35C-008C-455B-9FA2-7C54CEA3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3E25CC-7360-4D07-B0C8-157E6554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91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64C23E-A6F9-4F32-B7A4-3F90466A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5D56A1-4A23-4FC8-83C3-E5886A1CB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34323-CFB9-4051-8837-2AC73784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19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2EE6-7EFA-440C-A074-69C0A967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5F757-4C3A-4D81-9493-C1B2B85B4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842DE-4EF8-4292-B741-9B823D7E7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3E9C5-B879-4473-85D6-8296F134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6D4FD-82CF-47A2-9999-B2301F72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B10A1-3ECB-4426-BEA0-22A54733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22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2F53-D710-4166-A0EE-A81B651B7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4D985F-A29B-4DB3-8D91-3CBB812E9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46AD7-101B-42CD-A460-CC4F64B21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7154C-0B4A-48BE-92EF-903FBF9F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0AB2B-199F-4DDC-90B0-CC0B2BD44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5A3BE-ACD8-49EF-A408-00D99503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850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68C5-E417-4EAA-940D-1FBF84A9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CCA99-95FD-41A7-8AAB-565A2CC19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E5341-F782-4702-9D3D-624367AB9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289E8-3449-4CEE-AF0C-C413A21A5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8C74D-C89F-4EC5-82C9-C64841D7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143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9DF6F7-A957-4203-BC23-ECA9F17C3B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8FD11-2F29-4F65-8847-478081F5D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26B8E-A2E9-43C9-BDD4-51EC7AE97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407D-4F80-4078-9FBA-08D9B2E2F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4AB27-16D1-4E1B-912C-B1AB37DA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12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9DDD53-AB72-42D6-9805-5069B0861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11950-FE3F-4C05-A890-764211002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0C4C1-2E9F-4D6E-B29A-07340579E4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88D5C-E2E1-46EB-AA98-02E18DF01614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77F2E-D35A-48B4-A131-EB4E43B02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C23D5-0F6E-4EE9-BB07-60ED038A5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D0492-C933-4E3C-91B6-312A0ACD9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32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JWUdwl8dE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AFD7A-8C16-48AE-B4CE-5167429A91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Nearest neighbor clustering algorithm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BB2E82-7077-4635-B84E-D936F2D268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54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03A9-D8E6-4CCE-BB9F-D2916BB1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73F253-5B47-406C-AED3-7FFC22512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05043" y="1433155"/>
            <a:ext cx="7883333" cy="4793561"/>
          </a:xfrm>
        </p:spPr>
      </p:pic>
    </p:spTree>
    <p:extLst>
      <p:ext uri="{BB962C8B-B14F-4D97-AF65-F5344CB8AC3E}">
        <p14:creationId xmlns:p14="http://schemas.microsoft.com/office/powerpoint/2010/main" val="345557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39E83-4BA9-4CC4-912E-82BB6595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669BB-59A8-4E06-8317-208229ADC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4081" y="542142"/>
            <a:ext cx="8571667" cy="5950733"/>
          </a:xfrm>
        </p:spPr>
      </p:pic>
    </p:spTree>
    <p:extLst>
      <p:ext uri="{BB962C8B-B14F-4D97-AF65-F5344CB8AC3E}">
        <p14:creationId xmlns:p14="http://schemas.microsoft.com/office/powerpoint/2010/main" val="2205066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74FF-19CD-48AF-A73E-A0639D5E9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67BCCB8-C3F5-4953-BB4B-94BA929ED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022" y="742950"/>
            <a:ext cx="8805127" cy="5810098"/>
          </a:xfrm>
        </p:spPr>
      </p:pic>
    </p:spTree>
    <p:extLst>
      <p:ext uri="{BB962C8B-B14F-4D97-AF65-F5344CB8AC3E}">
        <p14:creationId xmlns:p14="http://schemas.microsoft.com/office/powerpoint/2010/main" val="105556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77AF-F608-49DA-8708-1A6E3C27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Given a dataset: do KNN clustering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4C0741C-4B51-4D98-9828-6249CE3116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9585131"/>
              </p:ext>
            </p:extLst>
          </p:nvPr>
        </p:nvGraphicFramePr>
        <p:xfrm>
          <a:off x="1285875" y="1797048"/>
          <a:ext cx="3905250" cy="4070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1062851466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3037834852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4277055506"/>
                    </a:ext>
                  </a:extLst>
                </a:gridCol>
              </a:tblGrid>
              <a:tr h="403736">
                <a:tc>
                  <a:txBody>
                    <a:bodyPr/>
                    <a:lstStyle/>
                    <a:p>
                      <a:r>
                        <a:rPr lang="en-US" dirty="0"/>
                        <a:t>point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069881"/>
                  </a:ext>
                </a:extLst>
              </a:tr>
              <a:tr h="403736"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428683"/>
                  </a:ext>
                </a:extLst>
              </a:tr>
              <a:tr h="403736"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186568"/>
                  </a:ext>
                </a:extLst>
              </a:tr>
              <a:tr h="403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073211"/>
                  </a:ext>
                </a:extLst>
              </a:tr>
              <a:tr h="512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184764"/>
                  </a:ext>
                </a:extLst>
              </a:tr>
              <a:tr h="512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110067"/>
                  </a:ext>
                </a:extLst>
              </a:tr>
              <a:tr h="512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741174"/>
                  </a:ext>
                </a:extLst>
              </a:tr>
              <a:tr h="512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303777"/>
                  </a:ext>
                </a:extLst>
              </a:tr>
              <a:tr h="403736">
                <a:tc>
                  <a:txBody>
                    <a:bodyPr/>
                    <a:lstStyle/>
                    <a:p>
                      <a:r>
                        <a:rPr lang="en-US" dirty="0"/>
                        <a:t>A8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4543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C44A0F-94C1-4C51-8793-C3D8FA39B2F6}"/>
              </a:ext>
            </a:extLst>
          </p:cNvPr>
          <p:cNvSpPr txBox="1"/>
          <p:nvPr/>
        </p:nvSpPr>
        <p:spPr>
          <a:xfrm>
            <a:off x="5400674" y="3600450"/>
            <a:ext cx="6581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1. </a:t>
            </a:r>
            <a:r>
              <a:rPr lang="en-US" dirty="0"/>
              <a:t>Plot the data points in 2 dimensional space.</a:t>
            </a:r>
          </a:p>
          <a:p>
            <a:r>
              <a:rPr lang="en-US" b="1" dirty="0"/>
              <a:t>Step 2</a:t>
            </a:r>
            <a:r>
              <a:rPr lang="en-US" dirty="0"/>
              <a:t>. Create the adjacency matrix or distance matrix, find distance from every point to every other point using Euclidian distance 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Threshold is 4 which is given</a:t>
            </a:r>
            <a:endParaRPr lang="en-I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134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17FB0-DC35-427F-B450-9FDF6AA56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Create distance matrix</a:t>
            </a:r>
            <a:endParaRPr lang="en-IN" b="1" dirty="0">
              <a:solidFill>
                <a:schemeClr val="tx2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9247BF-0BDF-4DA6-8F69-C0A9BF18F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3141" y="1511608"/>
            <a:ext cx="9545384" cy="4981267"/>
          </a:xfrm>
        </p:spPr>
      </p:pic>
    </p:spTree>
    <p:extLst>
      <p:ext uri="{BB962C8B-B14F-4D97-AF65-F5344CB8AC3E}">
        <p14:creationId xmlns:p14="http://schemas.microsoft.com/office/powerpoint/2010/main" val="6440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4D2-5BE7-434F-B5B9-A3D5936F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Create distance matrix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10FAFB-3C19-412C-B1D0-49E255D6A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1198873"/>
              </p:ext>
            </p:extLst>
          </p:nvPr>
        </p:nvGraphicFramePr>
        <p:xfrm>
          <a:off x="1524000" y="1597024"/>
          <a:ext cx="9001125" cy="443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125">
                  <a:extLst>
                    <a:ext uri="{9D8B030D-6E8A-4147-A177-3AD203B41FA5}">
                      <a16:colId xmlns:a16="http://schemas.microsoft.com/office/drawing/2014/main" val="3567422619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201330600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1971348396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1299985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58236458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4133544549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755918933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9982692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1685662573"/>
                    </a:ext>
                  </a:extLst>
                </a:gridCol>
              </a:tblGrid>
              <a:tr h="49247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389952"/>
                  </a:ext>
                </a:extLst>
              </a:tr>
              <a:tr h="492478">
                <a:tc>
                  <a:txBody>
                    <a:bodyPr/>
                    <a:lstStyle/>
                    <a:p>
                      <a:r>
                        <a:rPr lang="en-US" dirty="0"/>
                        <a:t>A1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813033"/>
                  </a:ext>
                </a:extLst>
              </a:tr>
              <a:tr h="492478">
                <a:tc>
                  <a:txBody>
                    <a:bodyPr/>
                    <a:lstStyle/>
                    <a:p>
                      <a:r>
                        <a:rPr lang="en-US" dirty="0"/>
                        <a:t>A2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455964"/>
                  </a:ext>
                </a:extLst>
              </a:tr>
              <a:tr h="492478">
                <a:tc>
                  <a:txBody>
                    <a:bodyPr/>
                    <a:lstStyle/>
                    <a:p>
                      <a:r>
                        <a:rPr lang="en-US" dirty="0"/>
                        <a:t>A3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8.49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707637"/>
                  </a:ext>
                </a:extLst>
              </a:tr>
              <a:tr h="492478">
                <a:tc>
                  <a:txBody>
                    <a:bodyPr/>
                    <a:lstStyle/>
                    <a:p>
                      <a:r>
                        <a:rPr lang="en-US" dirty="0"/>
                        <a:t>A4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619332"/>
                  </a:ext>
                </a:extLst>
              </a:tr>
              <a:tr h="492478">
                <a:tc>
                  <a:txBody>
                    <a:bodyPr/>
                    <a:lstStyle/>
                    <a:p>
                      <a:r>
                        <a:rPr lang="en-US" dirty="0"/>
                        <a:t>A5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3.61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820040"/>
                  </a:ext>
                </a:extLst>
              </a:tr>
              <a:tr h="492478">
                <a:tc>
                  <a:txBody>
                    <a:bodyPr/>
                    <a:lstStyle/>
                    <a:p>
                      <a:r>
                        <a:rPr lang="en-US" dirty="0"/>
                        <a:t>A6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260208"/>
                  </a:ext>
                </a:extLst>
              </a:tr>
              <a:tr h="492478">
                <a:tc>
                  <a:txBody>
                    <a:bodyPr/>
                    <a:lstStyle/>
                    <a:p>
                      <a:r>
                        <a:rPr lang="en-US" dirty="0"/>
                        <a:t>A7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8.06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7.28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6.71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5.36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371810"/>
                  </a:ext>
                </a:extLst>
              </a:tr>
              <a:tr h="492478">
                <a:tc>
                  <a:txBody>
                    <a:bodyPr/>
                    <a:lstStyle/>
                    <a:p>
                      <a:r>
                        <a:rPr lang="en-US" dirty="0"/>
                        <a:t>A8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4.47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6.40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5.39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7.62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14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951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6481-BCF7-442F-87C8-C323EAB7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6BA7C8-BC91-401A-9FD5-5DBB8C4C7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650" y="2934494"/>
            <a:ext cx="8648700" cy="2133600"/>
          </a:xfrm>
        </p:spPr>
      </p:pic>
    </p:spTree>
    <p:extLst>
      <p:ext uri="{BB962C8B-B14F-4D97-AF65-F5344CB8AC3E}">
        <p14:creationId xmlns:p14="http://schemas.microsoft.com/office/powerpoint/2010/main" val="2606693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4D2-5BE7-434F-B5B9-A3D5936F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10FAFB-3C19-412C-B1D0-49E255D6A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546357"/>
              </p:ext>
            </p:extLst>
          </p:nvPr>
        </p:nvGraphicFramePr>
        <p:xfrm>
          <a:off x="1343023" y="511173"/>
          <a:ext cx="9248040" cy="4578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560">
                  <a:extLst>
                    <a:ext uri="{9D8B030D-6E8A-4147-A177-3AD203B41FA5}">
                      <a16:colId xmlns:a16="http://schemas.microsoft.com/office/drawing/2014/main" val="3567422619"/>
                    </a:ext>
                  </a:extLst>
                </a:gridCol>
                <a:gridCol w="1027560">
                  <a:extLst>
                    <a:ext uri="{9D8B030D-6E8A-4147-A177-3AD203B41FA5}">
                      <a16:colId xmlns:a16="http://schemas.microsoft.com/office/drawing/2014/main" val="2201330600"/>
                    </a:ext>
                  </a:extLst>
                </a:gridCol>
                <a:gridCol w="1027560">
                  <a:extLst>
                    <a:ext uri="{9D8B030D-6E8A-4147-A177-3AD203B41FA5}">
                      <a16:colId xmlns:a16="http://schemas.microsoft.com/office/drawing/2014/main" val="1971348396"/>
                    </a:ext>
                  </a:extLst>
                </a:gridCol>
                <a:gridCol w="1027560">
                  <a:extLst>
                    <a:ext uri="{9D8B030D-6E8A-4147-A177-3AD203B41FA5}">
                      <a16:colId xmlns:a16="http://schemas.microsoft.com/office/drawing/2014/main" val="1299985002"/>
                    </a:ext>
                  </a:extLst>
                </a:gridCol>
                <a:gridCol w="1027560">
                  <a:extLst>
                    <a:ext uri="{9D8B030D-6E8A-4147-A177-3AD203B41FA5}">
                      <a16:colId xmlns:a16="http://schemas.microsoft.com/office/drawing/2014/main" val="358236458"/>
                    </a:ext>
                  </a:extLst>
                </a:gridCol>
                <a:gridCol w="1027560">
                  <a:extLst>
                    <a:ext uri="{9D8B030D-6E8A-4147-A177-3AD203B41FA5}">
                      <a16:colId xmlns:a16="http://schemas.microsoft.com/office/drawing/2014/main" val="4133544549"/>
                    </a:ext>
                  </a:extLst>
                </a:gridCol>
                <a:gridCol w="1027560">
                  <a:extLst>
                    <a:ext uri="{9D8B030D-6E8A-4147-A177-3AD203B41FA5}">
                      <a16:colId xmlns:a16="http://schemas.microsoft.com/office/drawing/2014/main" val="2755918933"/>
                    </a:ext>
                  </a:extLst>
                </a:gridCol>
                <a:gridCol w="1027560">
                  <a:extLst>
                    <a:ext uri="{9D8B030D-6E8A-4147-A177-3AD203B41FA5}">
                      <a16:colId xmlns:a16="http://schemas.microsoft.com/office/drawing/2014/main" val="2099826924"/>
                    </a:ext>
                  </a:extLst>
                </a:gridCol>
                <a:gridCol w="1027560">
                  <a:extLst>
                    <a:ext uri="{9D8B030D-6E8A-4147-A177-3AD203B41FA5}">
                      <a16:colId xmlns:a16="http://schemas.microsoft.com/office/drawing/2014/main" val="1685662573"/>
                    </a:ext>
                  </a:extLst>
                </a:gridCol>
              </a:tblGrid>
              <a:tr h="508705"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A8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389952"/>
                  </a:ext>
                </a:extLst>
              </a:tr>
              <a:tr h="508705">
                <a:tc>
                  <a:txBody>
                    <a:bodyPr/>
                    <a:lstStyle/>
                    <a:p>
                      <a:r>
                        <a:rPr lang="en-US" b="1" dirty="0"/>
                        <a:t>A1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813033"/>
                  </a:ext>
                </a:extLst>
              </a:tr>
              <a:tr h="508705">
                <a:tc>
                  <a:txBody>
                    <a:bodyPr/>
                    <a:lstStyle/>
                    <a:p>
                      <a:r>
                        <a:rPr lang="en-US" b="1" dirty="0"/>
                        <a:t>A2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455964"/>
                  </a:ext>
                </a:extLst>
              </a:tr>
              <a:tr h="508705">
                <a:tc>
                  <a:txBody>
                    <a:bodyPr/>
                    <a:lstStyle/>
                    <a:p>
                      <a:r>
                        <a:rPr lang="en-US" b="1" dirty="0"/>
                        <a:t>A3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8.49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6.08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707637"/>
                  </a:ext>
                </a:extLst>
              </a:tr>
              <a:tr h="508705">
                <a:tc>
                  <a:txBody>
                    <a:bodyPr/>
                    <a:lstStyle/>
                    <a:p>
                      <a:r>
                        <a:rPr lang="en-US" b="1" dirty="0"/>
                        <a:t>A4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3.61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4.24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619332"/>
                  </a:ext>
                </a:extLst>
              </a:tr>
              <a:tr h="508705">
                <a:tc>
                  <a:txBody>
                    <a:bodyPr/>
                    <a:lstStyle/>
                    <a:p>
                      <a:r>
                        <a:rPr lang="en-US" b="1" dirty="0"/>
                        <a:t>A5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7.07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1.41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3.61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820040"/>
                  </a:ext>
                </a:extLst>
              </a:tr>
              <a:tr h="508705">
                <a:tc>
                  <a:txBody>
                    <a:bodyPr/>
                    <a:lstStyle/>
                    <a:p>
                      <a:r>
                        <a:rPr lang="en-US" b="1" dirty="0"/>
                        <a:t>A6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7.21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4.12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4.12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1.41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260208"/>
                  </a:ext>
                </a:extLst>
              </a:tr>
              <a:tr h="508705">
                <a:tc>
                  <a:txBody>
                    <a:bodyPr/>
                    <a:lstStyle/>
                    <a:p>
                      <a:r>
                        <a:rPr lang="en-US" b="1" dirty="0"/>
                        <a:t>A7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8.06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3.16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7.28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7.21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6.71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5.36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371810"/>
                  </a:ext>
                </a:extLst>
              </a:tr>
              <a:tr h="508705">
                <a:tc>
                  <a:txBody>
                    <a:bodyPr/>
                    <a:lstStyle/>
                    <a:p>
                      <a:r>
                        <a:rPr lang="en-US" b="1" dirty="0"/>
                        <a:t>A8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2.24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4.47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6.40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1.41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5.39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7.62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141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B47D525-E938-4001-BF7C-7EFF464AE6F0}"/>
              </a:ext>
            </a:extLst>
          </p:cNvPr>
          <p:cNvSpPr txBox="1"/>
          <p:nvPr/>
        </p:nvSpPr>
        <p:spPr>
          <a:xfrm>
            <a:off x="3571875" y="5089525"/>
            <a:ext cx="4743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Threshold Th =4</a:t>
            </a:r>
          </a:p>
          <a:p>
            <a:r>
              <a:rPr lang="en-US" b="1" dirty="0"/>
              <a:t>{</a:t>
            </a:r>
            <a:r>
              <a:rPr lang="en-US" b="1" dirty="0">
                <a:solidFill>
                  <a:srgbClr val="7030A0"/>
                </a:solidFill>
              </a:rPr>
              <a:t>A1, A4, A8</a:t>
            </a:r>
            <a:r>
              <a:rPr lang="en-US" b="1" dirty="0"/>
              <a:t>,</a:t>
            </a:r>
            <a:r>
              <a:rPr lang="en-US" b="1" dirty="0">
                <a:solidFill>
                  <a:srgbClr val="FF0000"/>
                </a:solidFill>
              </a:rPr>
              <a:t>A5</a:t>
            </a:r>
            <a:r>
              <a:rPr lang="en-US" b="1" dirty="0"/>
              <a:t>,</a:t>
            </a:r>
            <a:r>
              <a:rPr lang="en-US" b="1" dirty="0">
                <a:solidFill>
                  <a:srgbClr val="C00000"/>
                </a:solidFill>
              </a:rPr>
              <a:t>A6</a:t>
            </a:r>
            <a:r>
              <a:rPr lang="en-US" b="1" dirty="0"/>
              <a:t>,A3}</a:t>
            </a:r>
          </a:p>
          <a:p>
            <a:r>
              <a:rPr lang="en-US" b="1" dirty="0"/>
              <a:t>{A2,A7}</a:t>
            </a:r>
            <a:endParaRPr lang="en-IN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DDC872-EC54-43D9-A006-92BA7350DE6C}"/>
              </a:ext>
            </a:extLst>
          </p:cNvPr>
          <p:cNvCxnSpPr/>
          <p:nvPr/>
        </p:nvCxnSpPr>
        <p:spPr>
          <a:xfrm>
            <a:off x="9077325" y="6012855"/>
            <a:ext cx="0" cy="254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495AE1-DF04-41C7-9D2D-EBC3A437A953}"/>
              </a:ext>
            </a:extLst>
          </p:cNvPr>
          <p:cNvCxnSpPr/>
          <p:nvPr/>
        </p:nvCxnSpPr>
        <p:spPr>
          <a:xfrm>
            <a:off x="9658350" y="6012855"/>
            <a:ext cx="0" cy="254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56AFA57-7580-4859-9314-0DEBD6E4661C}"/>
              </a:ext>
            </a:extLst>
          </p:cNvPr>
          <p:cNvCxnSpPr/>
          <p:nvPr/>
        </p:nvCxnSpPr>
        <p:spPr>
          <a:xfrm>
            <a:off x="10010775" y="6134100"/>
            <a:ext cx="2381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208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FF54-B6C9-4B77-9B51-BC700178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Dendrogram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5D17DC5-9FD4-47D8-A594-67904E1CD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endParaRPr lang="en-I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A1</a:t>
            </a:r>
            <a:endParaRPr lang="en-I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A2</a:t>
            </a:r>
            <a:endParaRPr lang="en-I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A3</a:t>
            </a:r>
            <a:endParaRPr lang="en-I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A4</a:t>
            </a:r>
            <a:endParaRPr lang="en-IN" sz="18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A5</a:t>
            </a:r>
            <a:endParaRPr lang="en-IN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8CCD96-7CE8-4E34-B255-80C8B4947FCB}"/>
              </a:ext>
            </a:extLst>
          </p:cNvPr>
          <p:cNvCxnSpPr/>
          <p:nvPr/>
        </p:nvCxnSpPr>
        <p:spPr>
          <a:xfrm>
            <a:off x="1095375" y="2257425"/>
            <a:ext cx="0" cy="3919538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57B3BC-0C62-4DA3-B6E1-C7FF04ED4942}"/>
              </a:ext>
            </a:extLst>
          </p:cNvPr>
          <p:cNvCxnSpPr/>
          <p:nvPr/>
        </p:nvCxnSpPr>
        <p:spPr>
          <a:xfrm>
            <a:off x="1085850" y="6176963"/>
            <a:ext cx="57531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D88AD68-D26B-494C-B278-11432D017D31}"/>
              </a:ext>
            </a:extLst>
          </p:cNvPr>
          <p:cNvSpPr txBox="1"/>
          <p:nvPr/>
        </p:nvSpPr>
        <p:spPr>
          <a:xfrm>
            <a:off x="1085850" y="6302935"/>
            <a:ext cx="5753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  A4                 A 8             A1           A3               A5             A6            A2          A7</a:t>
            </a:r>
            <a:endParaRPr lang="en-IN" sz="1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52B72B5-3910-41E6-B991-0BB5143D9DFD}"/>
              </a:ext>
            </a:extLst>
          </p:cNvPr>
          <p:cNvCxnSpPr/>
          <p:nvPr/>
        </p:nvCxnSpPr>
        <p:spPr>
          <a:xfrm flipV="1">
            <a:off x="1343025" y="5953125"/>
            <a:ext cx="0" cy="223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73EB0DB-F773-4A34-BABB-02D85FC79E39}"/>
              </a:ext>
            </a:extLst>
          </p:cNvPr>
          <p:cNvCxnSpPr/>
          <p:nvPr/>
        </p:nvCxnSpPr>
        <p:spPr>
          <a:xfrm>
            <a:off x="1343025" y="5953125"/>
            <a:ext cx="9620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D5BE85-2BEC-4001-B5DD-17DD46367E1B}"/>
              </a:ext>
            </a:extLst>
          </p:cNvPr>
          <p:cNvCxnSpPr/>
          <p:nvPr/>
        </p:nvCxnSpPr>
        <p:spPr>
          <a:xfrm flipV="1">
            <a:off x="2305050" y="5953125"/>
            <a:ext cx="0" cy="223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D2B34A4-4B4F-4E82-A78B-FCAE9F28A657}"/>
              </a:ext>
            </a:extLst>
          </p:cNvPr>
          <p:cNvCxnSpPr/>
          <p:nvPr/>
        </p:nvCxnSpPr>
        <p:spPr>
          <a:xfrm flipV="1">
            <a:off x="3705225" y="5953125"/>
            <a:ext cx="0" cy="223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FCD88B-A664-4CB8-90B7-65EDB9A922A3}"/>
              </a:ext>
            </a:extLst>
          </p:cNvPr>
          <p:cNvCxnSpPr/>
          <p:nvPr/>
        </p:nvCxnSpPr>
        <p:spPr>
          <a:xfrm flipV="1">
            <a:off x="5238750" y="5953125"/>
            <a:ext cx="0" cy="223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2D37F5-1672-434E-85E9-94781BB190A1}"/>
              </a:ext>
            </a:extLst>
          </p:cNvPr>
          <p:cNvCxnSpPr>
            <a:cxnSpLocks/>
          </p:cNvCxnSpPr>
          <p:nvPr/>
        </p:nvCxnSpPr>
        <p:spPr>
          <a:xfrm flipV="1">
            <a:off x="3705225" y="5962650"/>
            <a:ext cx="1533525" cy="95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F825F3-E1F2-476E-8A3F-0A5F893CE640}"/>
              </a:ext>
            </a:extLst>
          </p:cNvPr>
          <p:cNvCxnSpPr/>
          <p:nvPr/>
        </p:nvCxnSpPr>
        <p:spPr>
          <a:xfrm flipV="1">
            <a:off x="4448175" y="5972175"/>
            <a:ext cx="0" cy="223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153085A-B071-49D6-88FB-A0AB995AB9EC}"/>
              </a:ext>
            </a:extLst>
          </p:cNvPr>
          <p:cNvCxnSpPr/>
          <p:nvPr/>
        </p:nvCxnSpPr>
        <p:spPr>
          <a:xfrm flipV="1">
            <a:off x="3000375" y="4924425"/>
            <a:ext cx="0" cy="12525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87F47E5-9E46-4F1D-BB48-817C6FDE5DDE}"/>
              </a:ext>
            </a:extLst>
          </p:cNvPr>
          <p:cNvCxnSpPr/>
          <p:nvPr/>
        </p:nvCxnSpPr>
        <p:spPr>
          <a:xfrm flipH="1">
            <a:off x="1990725" y="4924425"/>
            <a:ext cx="10096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5724BB1-C09D-47DB-9F5D-FC97036D2E18}"/>
              </a:ext>
            </a:extLst>
          </p:cNvPr>
          <p:cNvCxnSpPr>
            <a:cxnSpLocks/>
          </p:cNvCxnSpPr>
          <p:nvPr/>
        </p:nvCxnSpPr>
        <p:spPr>
          <a:xfrm flipV="1">
            <a:off x="1971675" y="4924425"/>
            <a:ext cx="0" cy="10287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5E140ED-2A27-473E-96CD-58D9C67A9040}"/>
              </a:ext>
            </a:extLst>
          </p:cNvPr>
          <p:cNvCxnSpPr>
            <a:cxnSpLocks/>
          </p:cNvCxnSpPr>
          <p:nvPr/>
        </p:nvCxnSpPr>
        <p:spPr>
          <a:xfrm flipV="1">
            <a:off x="4105275" y="3429000"/>
            <a:ext cx="0" cy="25431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32BABB5-6C39-4830-A2F2-124028F902BC}"/>
              </a:ext>
            </a:extLst>
          </p:cNvPr>
          <p:cNvCxnSpPr>
            <a:cxnSpLocks/>
          </p:cNvCxnSpPr>
          <p:nvPr/>
        </p:nvCxnSpPr>
        <p:spPr>
          <a:xfrm flipV="1">
            <a:off x="2486025" y="3429000"/>
            <a:ext cx="0" cy="149542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DD42936-7A17-44A5-AAE2-D270273C97E2}"/>
              </a:ext>
            </a:extLst>
          </p:cNvPr>
          <p:cNvCxnSpPr>
            <a:cxnSpLocks/>
          </p:cNvCxnSpPr>
          <p:nvPr/>
        </p:nvCxnSpPr>
        <p:spPr>
          <a:xfrm>
            <a:off x="2486025" y="3429000"/>
            <a:ext cx="16192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F3DA14C-3F27-4C06-A1BF-022A4B96FE9E}"/>
              </a:ext>
            </a:extLst>
          </p:cNvPr>
          <p:cNvCxnSpPr>
            <a:cxnSpLocks/>
          </p:cNvCxnSpPr>
          <p:nvPr/>
        </p:nvCxnSpPr>
        <p:spPr>
          <a:xfrm flipV="1">
            <a:off x="5819775" y="3905250"/>
            <a:ext cx="0" cy="22907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48EFA91-6CCA-4555-B2D2-41D1E905E9D3}"/>
              </a:ext>
            </a:extLst>
          </p:cNvPr>
          <p:cNvCxnSpPr>
            <a:cxnSpLocks/>
          </p:cNvCxnSpPr>
          <p:nvPr/>
        </p:nvCxnSpPr>
        <p:spPr>
          <a:xfrm flipV="1">
            <a:off x="6457950" y="3905250"/>
            <a:ext cx="0" cy="22907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A80CD29-DB1D-4F37-93A9-0E8C12FC69EC}"/>
              </a:ext>
            </a:extLst>
          </p:cNvPr>
          <p:cNvCxnSpPr>
            <a:cxnSpLocks/>
          </p:cNvCxnSpPr>
          <p:nvPr/>
        </p:nvCxnSpPr>
        <p:spPr>
          <a:xfrm>
            <a:off x="5819775" y="3905250"/>
            <a:ext cx="638175" cy="0"/>
          </a:xfrm>
          <a:prstGeom prst="line">
            <a:avLst/>
          </a:prstGeom>
          <a:ln w="34925">
            <a:solidFill>
              <a:schemeClr val="accent1">
                <a:alpha val="9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33A2FD4-8BCE-4CEA-B76A-568374770D46}"/>
              </a:ext>
            </a:extLst>
          </p:cNvPr>
          <p:cNvCxnSpPr>
            <a:cxnSpLocks/>
          </p:cNvCxnSpPr>
          <p:nvPr/>
        </p:nvCxnSpPr>
        <p:spPr>
          <a:xfrm flipV="1">
            <a:off x="3295650" y="2647950"/>
            <a:ext cx="0" cy="78105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D3D73A9-62DC-4A19-9A36-25EF2A78B7B8}"/>
              </a:ext>
            </a:extLst>
          </p:cNvPr>
          <p:cNvCxnSpPr>
            <a:cxnSpLocks/>
          </p:cNvCxnSpPr>
          <p:nvPr/>
        </p:nvCxnSpPr>
        <p:spPr>
          <a:xfrm flipV="1">
            <a:off x="6200775" y="2647951"/>
            <a:ext cx="0" cy="12572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9471067-DA28-4F0C-B1DB-5B61E20266BC}"/>
              </a:ext>
            </a:extLst>
          </p:cNvPr>
          <p:cNvCxnSpPr>
            <a:cxnSpLocks/>
          </p:cNvCxnSpPr>
          <p:nvPr/>
        </p:nvCxnSpPr>
        <p:spPr>
          <a:xfrm>
            <a:off x="3295650" y="2638425"/>
            <a:ext cx="2905125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453314C-65ED-48EB-A031-C1EA7CC4A01A}"/>
              </a:ext>
            </a:extLst>
          </p:cNvPr>
          <p:cNvSpPr txBox="1"/>
          <p:nvPr/>
        </p:nvSpPr>
        <p:spPr>
          <a:xfrm>
            <a:off x="600075" y="2647950"/>
            <a:ext cx="5048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152DF5-2015-4260-90E4-67B2D9A434DD}"/>
              </a:ext>
            </a:extLst>
          </p:cNvPr>
          <p:cNvSpPr txBox="1"/>
          <p:nvPr/>
        </p:nvSpPr>
        <p:spPr>
          <a:xfrm>
            <a:off x="509587" y="3360338"/>
            <a:ext cx="5048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3.5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509E35-75FB-4746-B927-F22781B54AD2}"/>
              </a:ext>
            </a:extLst>
          </p:cNvPr>
          <p:cNvSpPr txBox="1"/>
          <p:nvPr/>
        </p:nvSpPr>
        <p:spPr>
          <a:xfrm>
            <a:off x="571501" y="3845719"/>
            <a:ext cx="5048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F6EA3A-B7B5-43D9-969D-298FC6ACE61D}"/>
              </a:ext>
            </a:extLst>
          </p:cNvPr>
          <p:cNvSpPr txBox="1"/>
          <p:nvPr/>
        </p:nvSpPr>
        <p:spPr>
          <a:xfrm>
            <a:off x="509587" y="4514849"/>
            <a:ext cx="5048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</a:t>
            </a:r>
            <a:endParaRPr lang="en-IN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FD29E6-0117-4890-BEA6-1452F6915116}"/>
              </a:ext>
            </a:extLst>
          </p:cNvPr>
          <p:cNvSpPr txBox="1"/>
          <p:nvPr/>
        </p:nvSpPr>
        <p:spPr>
          <a:xfrm>
            <a:off x="528638" y="5022847"/>
            <a:ext cx="5048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FCB4CB-B365-4A7D-9D7E-EC6419FE286F}"/>
              </a:ext>
            </a:extLst>
          </p:cNvPr>
          <p:cNvSpPr txBox="1"/>
          <p:nvPr/>
        </p:nvSpPr>
        <p:spPr>
          <a:xfrm>
            <a:off x="519112" y="5712619"/>
            <a:ext cx="5048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1.5</a:t>
            </a:r>
            <a:endParaRPr lang="en-IN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533C489-8305-4018-8F12-F72D066A7099}"/>
              </a:ext>
            </a:extLst>
          </p:cNvPr>
          <p:cNvSpPr txBox="1"/>
          <p:nvPr/>
        </p:nvSpPr>
        <p:spPr>
          <a:xfrm>
            <a:off x="6581775" y="143381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Threshold Th =4</a:t>
            </a:r>
          </a:p>
          <a:p>
            <a:r>
              <a:rPr lang="en-US" b="1" dirty="0"/>
              <a:t>{</a:t>
            </a:r>
            <a:r>
              <a:rPr lang="en-US" b="1" dirty="0">
                <a:solidFill>
                  <a:srgbClr val="7030A0"/>
                </a:solidFill>
              </a:rPr>
              <a:t>A1, A4, A8</a:t>
            </a:r>
            <a:r>
              <a:rPr lang="en-US" b="1" dirty="0"/>
              <a:t>,</a:t>
            </a:r>
            <a:r>
              <a:rPr lang="en-US" b="1" dirty="0">
                <a:solidFill>
                  <a:srgbClr val="FF0000"/>
                </a:solidFill>
              </a:rPr>
              <a:t>A5</a:t>
            </a:r>
            <a:r>
              <a:rPr lang="en-US" b="1" dirty="0"/>
              <a:t>,</a:t>
            </a:r>
            <a:r>
              <a:rPr lang="en-US" b="1" dirty="0">
                <a:solidFill>
                  <a:srgbClr val="C00000"/>
                </a:solidFill>
              </a:rPr>
              <a:t>A6</a:t>
            </a:r>
            <a:r>
              <a:rPr lang="en-US" b="1" dirty="0"/>
              <a:t>,A3}</a:t>
            </a:r>
          </a:p>
          <a:p>
            <a:r>
              <a:rPr lang="en-US" b="1" dirty="0"/>
              <a:t>{A2,A7}</a:t>
            </a:r>
            <a:endParaRPr lang="en-IN" b="1" dirty="0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C381732-C6F5-4818-B5C9-BB4C0F371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4" y="2647950"/>
            <a:ext cx="4947706" cy="2581275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E333BAA-0FCF-4E92-83B9-00BB203DFF85}"/>
              </a:ext>
            </a:extLst>
          </p:cNvPr>
          <p:cNvCxnSpPr>
            <a:cxnSpLocks/>
          </p:cNvCxnSpPr>
          <p:nvPr/>
        </p:nvCxnSpPr>
        <p:spPr>
          <a:xfrm>
            <a:off x="8610600" y="4305300"/>
            <a:ext cx="3238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E54FF2C-3B47-4B7B-8177-D7E6C554248C}"/>
              </a:ext>
            </a:extLst>
          </p:cNvPr>
          <p:cNvCxnSpPr/>
          <p:nvPr/>
        </p:nvCxnSpPr>
        <p:spPr>
          <a:xfrm>
            <a:off x="9734550" y="4571999"/>
            <a:ext cx="342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097872C-89A0-4561-98E5-756807C2C7D0}"/>
              </a:ext>
            </a:extLst>
          </p:cNvPr>
          <p:cNvCxnSpPr/>
          <p:nvPr/>
        </p:nvCxnSpPr>
        <p:spPr>
          <a:xfrm>
            <a:off x="9163050" y="5143499"/>
            <a:ext cx="342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C7D20EB-BDAA-4ADF-B9CD-1E215DC9E613}"/>
              </a:ext>
            </a:extLst>
          </p:cNvPr>
          <p:cNvCxnSpPr>
            <a:cxnSpLocks/>
          </p:cNvCxnSpPr>
          <p:nvPr/>
        </p:nvCxnSpPr>
        <p:spPr>
          <a:xfrm>
            <a:off x="7524749" y="5133974"/>
            <a:ext cx="323850" cy="952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C87E244-D73D-41EC-A577-B6599A6AC150}"/>
              </a:ext>
            </a:extLst>
          </p:cNvPr>
          <p:cNvCxnSpPr>
            <a:cxnSpLocks/>
          </p:cNvCxnSpPr>
          <p:nvPr/>
        </p:nvCxnSpPr>
        <p:spPr>
          <a:xfrm>
            <a:off x="8610600" y="4596109"/>
            <a:ext cx="323850" cy="952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3AFCD11-B88A-427C-B54E-265040E769B9}"/>
              </a:ext>
            </a:extLst>
          </p:cNvPr>
          <p:cNvCxnSpPr>
            <a:cxnSpLocks/>
          </p:cNvCxnSpPr>
          <p:nvPr/>
        </p:nvCxnSpPr>
        <p:spPr>
          <a:xfrm>
            <a:off x="7534275" y="4031456"/>
            <a:ext cx="323850" cy="9525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9E07ACB-DE92-472D-905A-D372864B2CA3}"/>
              </a:ext>
            </a:extLst>
          </p:cNvPr>
          <p:cNvCxnSpPr>
            <a:cxnSpLocks/>
          </p:cNvCxnSpPr>
          <p:nvPr/>
        </p:nvCxnSpPr>
        <p:spPr>
          <a:xfrm>
            <a:off x="8105775" y="4841081"/>
            <a:ext cx="323850" cy="9525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68B26C2-092D-4635-91DE-7AA9317BC547}"/>
              </a:ext>
            </a:extLst>
          </p:cNvPr>
          <p:cNvCxnSpPr>
            <a:cxnSpLocks/>
          </p:cNvCxnSpPr>
          <p:nvPr/>
        </p:nvCxnSpPr>
        <p:spPr>
          <a:xfrm>
            <a:off x="9172575" y="4295775"/>
            <a:ext cx="323850" cy="9525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0BC9973-438D-4084-85C3-23AA37CACF20}"/>
              </a:ext>
            </a:extLst>
          </p:cNvPr>
          <p:cNvCxnSpPr/>
          <p:nvPr/>
        </p:nvCxnSpPr>
        <p:spPr>
          <a:xfrm>
            <a:off x="8105775" y="4571999"/>
            <a:ext cx="23812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45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81C46-C440-2713-5117-A1331857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8C633-736F-C2CB-375B-EE8E2D88B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 dendrogram is </a:t>
            </a:r>
            <a:r>
              <a:rPr lang="en-US" dirty="0"/>
              <a:t>a branching diagram that shows the relationships between similar objects, or entities, by representing them as a tree</a:t>
            </a:r>
          </a:p>
        </p:txBody>
      </p:sp>
    </p:spTree>
    <p:extLst>
      <p:ext uri="{BB962C8B-B14F-4D97-AF65-F5344CB8AC3E}">
        <p14:creationId xmlns:p14="http://schemas.microsoft.com/office/powerpoint/2010/main" val="4210192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8354-2A09-4FC0-9049-759EB6A9B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2261E-006C-444A-BF2F-422EC5517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 : Now do with threshold 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528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941C2-3898-4F38-8F4A-414962A0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28E9B-1A16-4B54-BEBF-616454243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Part II: Nearest Neighbor Clustering Algorithm, Solved examples, Data Mining, Machine Learning - YouTube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615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25350</TotalTime>
  <Words>304</Words>
  <Application>Microsoft Office PowerPoint</Application>
  <PresentationFormat>Widescreen</PresentationFormat>
  <Paragraphs>163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Google Sans</vt:lpstr>
      <vt:lpstr>Office Theme</vt:lpstr>
      <vt:lpstr>Nearest neighbor clustering algorithm</vt:lpstr>
      <vt:lpstr>PowerPoint Presentation</vt:lpstr>
      <vt:lpstr>PowerPoint Presentation</vt:lpstr>
      <vt:lpstr>PowerPoint Presentation</vt:lpstr>
      <vt:lpstr>Given a dataset: do KNN clustering</vt:lpstr>
      <vt:lpstr>Create distance matrix</vt:lpstr>
      <vt:lpstr>Create distance matrix</vt:lpstr>
      <vt:lpstr>PowerPoint Presentation</vt:lpstr>
      <vt:lpstr>PowerPoint Presentation</vt:lpstr>
      <vt:lpstr>Dendrogram</vt:lpstr>
      <vt:lpstr>PowerPoint Presentation</vt:lpstr>
      <vt:lpstr>PowerPoint Presentation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Nearest neighbor clustering algorithm</dc:title>
  <dc:creator>kriti ohri</dc:creator>
  <cp:lastModifiedBy>Kriti Ohri</cp:lastModifiedBy>
  <cp:revision>8</cp:revision>
  <dcterms:created xsi:type="dcterms:W3CDTF">2021-12-20T04:58:34Z</dcterms:created>
  <dcterms:modified xsi:type="dcterms:W3CDTF">2024-11-03T20:05:55Z</dcterms:modified>
</cp:coreProperties>
</file>