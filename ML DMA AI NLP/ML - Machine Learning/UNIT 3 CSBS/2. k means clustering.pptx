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3"/>
  </p:notesMasterIdLst>
  <p:sldIdLst>
    <p:sldId id="257" r:id="rId2"/>
    <p:sldId id="258" r:id="rId3"/>
    <p:sldId id="294" r:id="rId4"/>
    <p:sldId id="695" r:id="rId5"/>
    <p:sldId id="696" r:id="rId6"/>
    <p:sldId id="697" r:id="rId7"/>
    <p:sldId id="698" r:id="rId8"/>
    <p:sldId id="259" r:id="rId9"/>
    <p:sldId id="260" r:id="rId10"/>
    <p:sldId id="261" r:id="rId11"/>
    <p:sldId id="262" r:id="rId12"/>
    <p:sldId id="263" r:id="rId13"/>
    <p:sldId id="264" r:id="rId14"/>
    <p:sldId id="266" r:id="rId15"/>
    <p:sldId id="267" r:id="rId16"/>
    <p:sldId id="299" r:id="rId17"/>
    <p:sldId id="306" r:id="rId18"/>
    <p:sldId id="684" r:id="rId19"/>
    <p:sldId id="447" r:id="rId20"/>
    <p:sldId id="451" r:id="rId21"/>
    <p:sldId id="303" r:id="rId22"/>
    <p:sldId id="692" r:id="rId23"/>
    <p:sldId id="693" r:id="rId24"/>
    <p:sldId id="301" r:id="rId25"/>
    <p:sldId id="688" r:id="rId26"/>
    <p:sldId id="304" r:id="rId27"/>
    <p:sldId id="305" r:id="rId28"/>
    <p:sldId id="689" r:id="rId29"/>
    <p:sldId id="691" r:id="rId30"/>
    <p:sldId id="678" r:id="rId31"/>
    <p:sldId id="681" r:id="rId32"/>
    <p:sldId id="680" r:id="rId33"/>
    <p:sldId id="269" r:id="rId34"/>
    <p:sldId id="270" r:id="rId35"/>
    <p:sldId id="271" r:id="rId36"/>
    <p:sldId id="685" r:id="rId37"/>
    <p:sldId id="272" r:id="rId38"/>
    <p:sldId id="273" r:id="rId39"/>
    <p:sldId id="274" r:id="rId40"/>
    <p:sldId id="275" r:id="rId41"/>
    <p:sldId id="276" r:id="rId42"/>
    <p:sldId id="277" r:id="rId43"/>
    <p:sldId id="278" r:id="rId44"/>
    <p:sldId id="279" r:id="rId45"/>
    <p:sldId id="280" r:id="rId46"/>
    <p:sldId id="281" r:id="rId47"/>
    <p:sldId id="282" r:id="rId48"/>
    <p:sldId id="283" r:id="rId49"/>
    <p:sldId id="284" r:id="rId50"/>
    <p:sldId id="285" r:id="rId51"/>
    <p:sldId id="286" r:id="rId52"/>
    <p:sldId id="287" r:id="rId53"/>
    <p:sldId id="288" r:id="rId54"/>
    <p:sldId id="289" r:id="rId55"/>
    <p:sldId id="686" r:id="rId56"/>
    <p:sldId id="295" r:id="rId57"/>
    <p:sldId id="297" r:id="rId58"/>
    <p:sldId id="296" r:id="rId59"/>
    <p:sldId id="687" r:id="rId60"/>
    <p:sldId id="694" r:id="rId61"/>
    <p:sldId id="293" r:id="rId62"/>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42C6CC-1C56-48F2-8085-5E6483A44000}">
          <p14:sldIdLst>
            <p14:sldId id="257"/>
            <p14:sldId id="258"/>
            <p14:sldId id="294"/>
            <p14:sldId id="695"/>
            <p14:sldId id="696"/>
            <p14:sldId id="697"/>
            <p14:sldId id="698"/>
            <p14:sldId id="259"/>
            <p14:sldId id="260"/>
            <p14:sldId id="261"/>
            <p14:sldId id="262"/>
            <p14:sldId id="263"/>
            <p14:sldId id="264"/>
            <p14:sldId id="266"/>
            <p14:sldId id="267"/>
            <p14:sldId id="299"/>
            <p14:sldId id="306"/>
            <p14:sldId id="684"/>
            <p14:sldId id="447"/>
            <p14:sldId id="451"/>
            <p14:sldId id="303"/>
            <p14:sldId id="692"/>
            <p14:sldId id="693"/>
            <p14:sldId id="301"/>
            <p14:sldId id="688"/>
            <p14:sldId id="304"/>
            <p14:sldId id="305"/>
            <p14:sldId id="689"/>
            <p14:sldId id="691"/>
            <p14:sldId id="678"/>
            <p14:sldId id="681"/>
            <p14:sldId id="680"/>
          </p14:sldIdLst>
        </p14:section>
        <p14:section name="Untitled Section" id="{A28B021B-2021-459B-BD95-EE6FE5F17439}">
          <p14:sldIdLst>
            <p14:sldId id="269"/>
            <p14:sldId id="270"/>
            <p14:sldId id="271"/>
            <p14:sldId id="685"/>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686"/>
            <p14:sldId id="295"/>
            <p14:sldId id="297"/>
            <p14:sldId id="296"/>
            <p14:sldId id="687"/>
            <p14:sldId id="694"/>
            <p14:sldId id="293"/>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5256" autoAdjust="0"/>
  </p:normalViewPr>
  <p:slideViewPr>
    <p:cSldViewPr>
      <p:cViewPr varScale="1">
        <p:scale>
          <a:sx n="98" d="100"/>
          <a:sy n="98" d="100"/>
        </p:scale>
        <p:origin x="1157"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ti ohri" userId="5f460e859343ae9f" providerId="LiveId" clId="{0FA403A5-99FC-4A9D-B902-0435524F264C}"/>
    <pc:docChg chg="undo redo custSel addSld delSld modSld sldOrd addSection delSection modSection">
      <pc:chgData name="kriti ohri" userId="5f460e859343ae9f" providerId="LiveId" clId="{0FA403A5-99FC-4A9D-B902-0435524F264C}" dt="2021-07-08T03:40:34.809" v="960" actId="122"/>
      <pc:docMkLst>
        <pc:docMk/>
      </pc:docMkLst>
      <pc:sldChg chg="delSp mod ord">
        <pc:chgData name="kriti ohri" userId="5f460e859343ae9f" providerId="LiveId" clId="{0FA403A5-99FC-4A9D-B902-0435524F264C}" dt="2021-06-30T03:34:54.535" v="117" actId="478"/>
        <pc:sldMkLst>
          <pc:docMk/>
          <pc:sldMk cId="0" sldId="258"/>
        </pc:sldMkLst>
        <pc:spChg chg="del">
          <ac:chgData name="kriti ohri" userId="5f460e859343ae9f" providerId="LiveId" clId="{0FA403A5-99FC-4A9D-B902-0435524F264C}" dt="2021-06-30T03:34:54.535" v="117" actId="478"/>
          <ac:spMkLst>
            <pc:docMk/>
            <pc:sldMk cId="0" sldId="258"/>
            <ac:spMk id="42" creationId="{00000000-0000-0000-0000-000000000000}"/>
          </ac:spMkLst>
        </pc:spChg>
      </pc:sldChg>
      <pc:sldChg chg="mod modShow">
        <pc:chgData name="kriti ohri" userId="5f460e859343ae9f" providerId="LiveId" clId="{0FA403A5-99FC-4A9D-B902-0435524F264C}" dt="2021-06-30T09:35:42.972" v="901" actId="729"/>
        <pc:sldMkLst>
          <pc:docMk/>
          <pc:sldMk cId="0" sldId="259"/>
        </pc:sldMkLst>
      </pc:sldChg>
      <pc:sldChg chg="mod modShow">
        <pc:chgData name="kriti ohri" userId="5f460e859343ae9f" providerId="LiveId" clId="{0FA403A5-99FC-4A9D-B902-0435524F264C}" dt="2021-06-30T09:36:02.307" v="902" actId="729"/>
        <pc:sldMkLst>
          <pc:docMk/>
          <pc:sldMk cId="0" sldId="260"/>
        </pc:sldMkLst>
      </pc:sldChg>
      <pc:sldChg chg="mod modShow">
        <pc:chgData name="kriti ohri" userId="5f460e859343ae9f" providerId="LiveId" clId="{0FA403A5-99FC-4A9D-B902-0435524F264C}" dt="2021-06-30T09:36:11.909" v="903" actId="729"/>
        <pc:sldMkLst>
          <pc:docMk/>
          <pc:sldMk cId="0" sldId="261"/>
        </pc:sldMkLst>
      </pc:sldChg>
      <pc:sldChg chg="delSp modSp mod modShow">
        <pc:chgData name="kriti ohri" userId="5f460e859343ae9f" providerId="LiveId" clId="{0FA403A5-99FC-4A9D-B902-0435524F264C}" dt="2021-06-30T09:36:22.266" v="904" actId="729"/>
        <pc:sldMkLst>
          <pc:docMk/>
          <pc:sldMk cId="0" sldId="262"/>
        </pc:sldMkLst>
        <pc:spChg chg="mod">
          <ac:chgData name="kriti ohri" userId="5f460e859343ae9f" providerId="LiveId" clId="{0FA403A5-99FC-4A9D-B902-0435524F264C}" dt="2021-06-29T08:55:04.856" v="10" actId="1076"/>
          <ac:spMkLst>
            <pc:docMk/>
            <pc:sldMk cId="0" sldId="262"/>
            <ac:spMk id="3" creationId="{00000000-0000-0000-0000-000000000000}"/>
          </ac:spMkLst>
        </pc:spChg>
        <pc:spChg chg="del">
          <ac:chgData name="kriti ohri" userId="5f460e859343ae9f" providerId="LiveId" clId="{0FA403A5-99FC-4A9D-B902-0435524F264C}" dt="2021-06-29T08:55:02.168" v="9" actId="478"/>
          <ac:spMkLst>
            <pc:docMk/>
            <pc:sldMk cId="0" sldId="262"/>
            <ac:spMk id="4" creationId="{00000000-0000-0000-0000-000000000000}"/>
          </ac:spMkLst>
        </pc:spChg>
        <pc:spChg chg="del">
          <ac:chgData name="kriti ohri" userId="5f460e859343ae9f" providerId="LiveId" clId="{0FA403A5-99FC-4A9D-B902-0435524F264C}" dt="2021-06-29T08:54:54.158" v="6" actId="478"/>
          <ac:spMkLst>
            <pc:docMk/>
            <pc:sldMk cId="0" sldId="262"/>
            <ac:spMk id="5" creationId="{00000000-0000-0000-0000-000000000000}"/>
          </ac:spMkLst>
        </pc:spChg>
        <pc:spChg chg="del">
          <ac:chgData name="kriti ohri" userId="5f460e859343ae9f" providerId="LiveId" clId="{0FA403A5-99FC-4A9D-B902-0435524F264C}" dt="2021-06-29T08:54:56.565" v="7" actId="478"/>
          <ac:spMkLst>
            <pc:docMk/>
            <pc:sldMk cId="0" sldId="262"/>
            <ac:spMk id="6" creationId="{00000000-0000-0000-0000-000000000000}"/>
          </ac:spMkLst>
        </pc:spChg>
      </pc:sldChg>
      <pc:sldChg chg="mod modShow">
        <pc:chgData name="kriti ohri" userId="5f460e859343ae9f" providerId="LiveId" clId="{0FA403A5-99FC-4A9D-B902-0435524F264C}" dt="2021-06-30T05:33:38.343" v="737" actId="729"/>
        <pc:sldMkLst>
          <pc:docMk/>
          <pc:sldMk cId="0" sldId="264"/>
        </pc:sldMkLst>
      </pc:sldChg>
      <pc:sldChg chg="del">
        <pc:chgData name="kriti ohri" userId="5f460e859343ae9f" providerId="LiveId" clId="{0FA403A5-99FC-4A9D-B902-0435524F264C}" dt="2021-06-30T05:33:45.498" v="738" actId="47"/>
        <pc:sldMkLst>
          <pc:docMk/>
          <pc:sldMk cId="0" sldId="265"/>
        </pc:sldMkLst>
      </pc:sldChg>
      <pc:sldChg chg="mod modShow">
        <pc:chgData name="kriti ohri" userId="5f460e859343ae9f" providerId="LiveId" clId="{0FA403A5-99FC-4A9D-B902-0435524F264C}" dt="2021-06-30T09:36:38.260" v="905" actId="729"/>
        <pc:sldMkLst>
          <pc:docMk/>
          <pc:sldMk cId="0" sldId="267"/>
        </pc:sldMkLst>
      </pc:sldChg>
      <pc:sldChg chg="mod modShow">
        <pc:chgData name="kriti ohri" userId="5f460e859343ae9f" providerId="LiveId" clId="{0FA403A5-99FC-4A9D-B902-0435524F264C}" dt="2021-06-30T09:36:47.749" v="906" actId="729"/>
        <pc:sldMkLst>
          <pc:docMk/>
          <pc:sldMk cId="0" sldId="268"/>
        </pc:sldMkLst>
      </pc:sldChg>
      <pc:sldChg chg="delSp mod">
        <pc:chgData name="kriti ohri" userId="5f460e859343ae9f" providerId="LiveId" clId="{0FA403A5-99FC-4A9D-B902-0435524F264C}" dt="2021-06-29T08:55:36.771" v="13" actId="478"/>
        <pc:sldMkLst>
          <pc:docMk/>
          <pc:sldMk cId="0" sldId="269"/>
        </pc:sldMkLst>
        <pc:spChg chg="del">
          <ac:chgData name="kriti ohri" userId="5f460e859343ae9f" providerId="LiveId" clId="{0FA403A5-99FC-4A9D-B902-0435524F264C}" dt="2021-06-29T08:55:33.201" v="11" actId="478"/>
          <ac:spMkLst>
            <pc:docMk/>
            <pc:sldMk cId="0" sldId="269"/>
            <ac:spMk id="4" creationId="{00000000-0000-0000-0000-000000000000}"/>
          </ac:spMkLst>
        </pc:spChg>
        <pc:spChg chg="del">
          <ac:chgData name="kriti ohri" userId="5f460e859343ae9f" providerId="LiveId" clId="{0FA403A5-99FC-4A9D-B902-0435524F264C}" dt="2021-06-29T08:55:36.771" v="13" actId="478"/>
          <ac:spMkLst>
            <pc:docMk/>
            <pc:sldMk cId="0" sldId="269"/>
            <ac:spMk id="6" creationId="{00000000-0000-0000-0000-000000000000}"/>
          </ac:spMkLst>
        </pc:spChg>
        <pc:spChg chg="del">
          <ac:chgData name="kriti ohri" userId="5f460e859343ae9f" providerId="LiveId" clId="{0FA403A5-99FC-4A9D-B902-0435524F264C}" dt="2021-06-29T08:55:35.142" v="12" actId="478"/>
          <ac:spMkLst>
            <pc:docMk/>
            <pc:sldMk cId="0" sldId="269"/>
            <ac:spMk id="7" creationId="{00000000-0000-0000-0000-000000000000}"/>
          </ac:spMkLst>
        </pc:spChg>
      </pc:sldChg>
      <pc:sldChg chg="addSp delSp modSp mod">
        <pc:chgData name="kriti ohri" userId="5f460e859343ae9f" providerId="LiveId" clId="{0FA403A5-99FC-4A9D-B902-0435524F264C}" dt="2021-06-30T03:49:32.500" v="205" actId="1076"/>
        <pc:sldMkLst>
          <pc:docMk/>
          <pc:sldMk cId="0" sldId="270"/>
        </pc:sldMkLst>
        <pc:spChg chg="mod">
          <ac:chgData name="kriti ohri" userId="5f460e859343ae9f" providerId="LiveId" clId="{0FA403A5-99FC-4A9D-B902-0435524F264C}" dt="2021-06-30T03:40:54.314" v="198" actId="1076"/>
          <ac:spMkLst>
            <pc:docMk/>
            <pc:sldMk cId="0" sldId="270"/>
            <ac:spMk id="2" creationId="{00000000-0000-0000-0000-000000000000}"/>
          </ac:spMkLst>
        </pc:spChg>
        <pc:spChg chg="mod">
          <ac:chgData name="kriti ohri" userId="5f460e859343ae9f" providerId="LiveId" clId="{0FA403A5-99FC-4A9D-B902-0435524F264C}" dt="2021-06-30T03:49:32.500" v="205" actId="1076"/>
          <ac:spMkLst>
            <pc:docMk/>
            <pc:sldMk cId="0" sldId="270"/>
            <ac:spMk id="12" creationId="{00000000-0000-0000-0000-000000000000}"/>
          </ac:spMkLst>
        </pc:spChg>
        <pc:spChg chg="del">
          <ac:chgData name="kriti ohri" userId="5f460e859343ae9f" providerId="LiveId" clId="{0FA403A5-99FC-4A9D-B902-0435524F264C}" dt="2021-06-30T03:40:56.701" v="199" actId="478"/>
          <ac:spMkLst>
            <pc:docMk/>
            <pc:sldMk cId="0" sldId="270"/>
            <ac:spMk id="33" creationId="{00000000-0000-0000-0000-000000000000}"/>
          </ac:spMkLst>
        </pc:spChg>
        <pc:spChg chg="mod">
          <ac:chgData name="kriti ohri" userId="5f460e859343ae9f" providerId="LiveId" clId="{0FA403A5-99FC-4A9D-B902-0435524F264C}" dt="2021-06-30T03:40:09.303" v="143" actId="1076"/>
          <ac:spMkLst>
            <pc:docMk/>
            <pc:sldMk cId="0" sldId="270"/>
            <ac:spMk id="35" creationId="{00000000-0000-0000-0000-000000000000}"/>
          </ac:spMkLst>
        </pc:spChg>
        <pc:spChg chg="del">
          <ac:chgData name="kriti ohri" userId="5f460e859343ae9f" providerId="LiveId" clId="{0FA403A5-99FC-4A9D-B902-0435524F264C}" dt="2021-06-30T03:37:47.184" v="121" actId="478"/>
          <ac:spMkLst>
            <pc:docMk/>
            <pc:sldMk cId="0" sldId="270"/>
            <ac:spMk id="36" creationId="{00000000-0000-0000-0000-000000000000}"/>
          </ac:spMkLst>
        </pc:spChg>
        <pc:spChg chg="del">
          <ac:chgData name="kriti ohri" userId="5f460e859343ae9f" providerId="LiveId" clId="{0FA403A5-99FC-4A9D-B902-0435524F264C}" dt="2021-06-30T03:37:49.307" v="122" actId="478"/>
          <ac:spMkLst>
            <pc:docMk/>
            <pc:sldMk cId="0" sldId="270"/>
            <ac:spMk id="37" creationId="{00000000-0000-0000-0000-000000000000}"/>
          </ac:spMkLst>
        </pc:spChg>
        <pc:spChg chg="del">
          <ac:chgData name="kriti ohri" userId="5f460e859343ae9f" providerId="LiveId" clId="{0FA403A5-99FC-4A9D-B902-0435524F264C}" dt="2021-06-30T03:39:38.088" v="135" actId="478"/>
          <ac:spMkLst>
            <pc:docMk/>
            <pc:sldMk cId="0" sldId="270"/>
            <ac:spMk id="38" creationId="{00000000-0000-0000-0000-000000000000}"/>
          </ac:spMkLst>
        </pc:spChg>
        <pc:spChg chg="del">
          <ac:chgData name="kriti ohri" userId="5f460e859343ae9f" providerId="LiveId" clId="{0FA403A5-99FC-4A9D-B902-0435524F264C}" dt="2021-06-30T03:39:36.109" v="134" actId="478"/>
          <ac:spMkLst>
            <pc:docMk/>
            <pc:sldMk cId="0" sldId="270"/>
            <ac:spMk id="39" creationId="{00000000-0000-0000-0000-000000000000}"/>
          </ac:spMkLst>
        </pc:spChg>
        <pc:spChg chg="add mod">
          <ac:chgData name="kriti ohri" userId="5f460e859343ae9f" providerId="LiveId" clId="{0FA403A5-99FC-4A9D-B902-0435524F264C}" dt="2021-06-30T03:39:33.308" v="133" actId="20577"/>
          <ac:spMkLst>
            <pc:docMk/>
            <pc:sldMk cId="0" sldId="270"/>
            <ac:spMk id="41" creationId="{9F60E0B9-EEB2-4363-84E2-EEC86EBCBEC6}"/>
          </ac:spMkLst>
        </pc:spChg>
        <pc:spChg chg="add mod">
          <ac:chgData name="kriti ohri" userId="5f460e859343ae9f" providerId="LiveId" clId="{0FA403A5-99FC-4A9D-B902-0435524F264C}" dt="2021-06-30T03:39:54.751" v="141" actId="1076"/>
          <ac:spMkLst>
            <pc:docMk/>
            <pc:sldMk cId="0" sldId="270"/>
            <ac:spMk id="42" creationId="{4F03CD73-D376-464F-97A0-3A314311FDF0}"/>
          </ac:spMkLst>
        </pc:spChg>
      </pc:sldChg>
      <pc:sldChg chg="delSp modSp mod">
        <pc:chgData name="kriti ohri" userId="5f460e859343ae9f" providerId="LiveId" clId="{0FA403A5-99FC-4A9D-B902-0435524F264C}" dt="2021-06-30T08:04:16.070" v="896" actId="14100"/>
        <pc:sldMkLst>
          <pc:docMk/>
          <pc:sldMk cId="0" sldId="274"/>
        </pc:sldMkLst>
        <pc:spChg chg="mod">
          <ac:chgData name="kriti ohri" userId="5f460e859343ae9f" providerId="LiveId" clId="{0FA403A5-99FC-4A9D-B902-0435524F264C}" dt="2021-06-30T08:04:16.070" v="896" actId="14100"/>
          <ac:spMkLst>
            <pc:docMk/>
            <pc:sldMk cId="0" sldId="274"/>
            <ac:spMk id="3" creationId="{00000000-0000-0000-0000-000000000000}"/>
          </ac:spMkLst>
        </pc:spChg>
        <pc:spChg chg="del">
          <ac:chgData name="kriti ohri" userId="5f460e859343ae9f" providerId="LiveId" clId="{0FA403A5-99FC-4A9D-B902-0435524F264C}" dt="2021-06-30T04:04:37.650" v="210" actId="478"/>
          <ac:spMkLst>
            <pc:docMk/>
            <pc:sldMk cId="0" sldId="274"/>
            <ac:spMk id="13" creationId="{00000000-0000-0000-0000-000000000000}"/>
          </ac:spMkLst>
        </pc:spChg>
      </pc:sldChg>
      <pc:sldChg chg="delSp mod">
        <pc:chgData name="kriti ohri" userId="5f460e859343ae9f" providerId="LiveId" clId="{0FA403A5-99FC-4A9D-B902-0435524F264C}" dt="2021-06-30T08:05:21.862" v="897" actId="478"/>
        <pc:sldMkLst>
          <pc:docMk/>
          <pc:sldMk cId="0" sldId="275"/>
        </pc:sldMkLst>
        <pc:spChg chg="del">
          <ac:chgData name="kriti ohri" userId="5f460e859343ae9f" providerId="LiveId" clId="{0FA403A5-99FC-4A9D-B902-0435524F264C}" dt="2021-06-30T08:05:21.862" v="897" actId="478"/>
          <ac:spMkLst>
            <pc:docMk/>
            <pc:sldMk cId="0" sldId="275"/>
            <ac:spMk id="39" creationId="{00000000-0000-0000-0000-000000000000}"/>
          </ac:spMkLst>
        </pc:spChg>
      </pc:sldChg>
      <pc:sldChg chg="addSp delSp modSp mod">
        <pc:chgData name="kriti ohri" userId="5f460e859343ae9f" providerId="LiveId" clId="{0FA403A5-99FC-4A9D-B902-0435524F264C}" dt="2021-06-30T04:05:32.961" v="214" actId="1076"/>
        <pc:sldMkLst>
          <pc:docMk/>
          <pc:sldMk cId="0" sldId="276"/>
        </pc:sldMkLst>
        <pc:spChg chg="del">
          <ac:chgData name="kriti ohri" userId="5f460e859343ae9f" providerId="LiveId" clId="{0FA403A5-99FC-4A9D-B902-0435524F264C}" dt="2021-06-30T04:05:08.196" v="211" actId="478"/>
          <ac:spMkLst>
            <pc:docMk/>
            <pc:sldMk cId="0" sldId="276"/>
            <ac:spMk id="5" creationId="{00000000-0000-0000-0000-000000000000}"/>
          </ac:spMkLst>
        </pc:spChg>
        <pc:spChg chg="del">
          <ac:chgData name="kriti ohri" userId="5f460e859343ae9f" providerId="LiveId" clId="{0FA403A5-99FC-4A9D-B902-0435524F264C}" dt="2021-06-30T04:05:10.556" v="212" actId="478"/>
          <ac:spMkLst>
            <pc:docMk/>
            <pc:sldMk cId="0" sldId="276"/>
            <ac:spMk id="6" creationId="{00000000-0000-0000-0000-000000000000}"/>
          </ac:spMkLst>
        </pc:spChg>
        <pc:graphicFrameChg chg="add mod">
          <ac:chgData name="kriti ohri" userId="5f460e859343ae9f" providerId="LiveId" clId="{0FA403A5-99FC-4A9D-B902-0435524F264C}" dt="2021-06-30T04:05:32.961" v="214" actId="1076"/>
          <ac:graphicFrameMkLst>
            <pc:docMk/>
            <pc:sldMk cId="0" sldId="276"/>
            <ac:graphicFrameMk id="8" creationId="{980E6B49-6A9D-4C6A-8F56-80A7B9C705F0}"/>
          </ac:graphicFrameMkLst>
        </pc:graphicFrameChg>
      </pc:sldChg>
      <pc:sldChg chg="modSp mod">
        <pc:chgData name="kriti ohri" userId="5f460e859343ae9f" providerId="LiveId" clId="{0FA403A5-99FC-4A9D-B902-0435524F264C}" dt="2021-06-30T04:06:20.880" v="216" actId="1076"/>
        <pc:sldMkLst>
          <pc:docMk/>
          <pc:sldMk cId="0" sldId="277"/>
        </pc:sldMkLst>
        <pc:spChg chg="mod">
          <ac:chgData name="kriti ohri" userId="5f460e859343ae9f" providerId="LiveId" clId="{0FA403A5-99FC-4A9D-B902-0435524F264C}" dt="2021-06-30T04:06:20.880" v="216" actId="1076"/>
          <ac:spMkLst>
            <pc:docMk/>
            <pc:sldMk cId="0" sldId="277"/>
            <ac:spMk id="11" creationId="{00000000-0000-0000-0000-000000000000}"/>
          </ac:spMkLst>
        </pc:spChg>
      </pc:sldChg>
      <pc:sldChg chg="delSp mod">
        <pc:chgData name="kriti ohri" userId="5f460e859343ae9f" providerId="LiveId" clId="{0FA403A5-99FC-4A9D-B902-0435524F264C}" dt="2021-06-30T04:08:38.755" v="217" actId="478"/>
        <pc:sldMkLst>
          <pc:docMk/>
          <pc:sldMk cId="0" sldId="279"/>
        </pc:sldMkLst>
        <pc:spChg chg="del">
          <ac:chgData name="kriti ohri" userId="5f460e859343ae9f" providerId="LiveId" clId="{0FA403A5-99FC-4A9D-B902-0435524F264C}" dt="2021-06-30T04:08:38.755" v="217" actId="478"/>
          <ac:spMkLst>
            <pc:docMk/>
            <pc:sldMk cId="0" sldId="279"/>
            <ac:spMk id="6" creationId="{00000000-0000-0000-0000-000000000000}"/>
          </ac:spMkLst>
        </pc:spChg>
      </pc:sldChg>
      <pc:sldChg chg="delSp mod">
        <pc:chgData name="kriti ohri" userId="5f460e859343ae9f" providerId="LiveId" clId="{0FA403A5-99FC-4A9D-B902-0435524F264C}" dt="2021-06-30T04:09:12.466" v="218" actId="478"/>
        <pc:sldMkLst>
          <pc:docMk/>
          <pc:sldMk cId="0" sldId="280"/>
        </pc:sldMkLst>
        <pc:grpChg chg="del">
          <ac:chgData name="kriti ohri" userId="5f460e859343ae9f" providerId="LiveId" clId="{0FA403A5-99FC-4A9D-B902-0435524F264C}" dt="2021-06-30T04:09:12.466" v="218" actId="478"/>
          <ac:grpSpMkLst>
            <pc:docMk/>
            <pc:sldMk cId="0" sldId="280"/>
            <ac:grpSpMk id="17" creationId="{00000000-0000-0000-0000-000000000000}"/>
          </ac:grpSpMkLst>
        </pc:grpChg>
      </pc:sldChg>
      <pc:sldChg chg="delSp mod">
        <pc:chgData name="kriti ohri" userId="5f460e859343ae9f" providerId="LiveId" clId="{0FA403A5-99FC-4A9D-B902-0435524F264C}" dt="2021-06-30T04:09:39.142" v="220" actId="478"/>
        <pc:sldMkLst>
          <pc:docMk/>
          <pc:sldMk cId="0" sldId="282"/>
        </pc:sldMkLst>
        <pc:spChg chg="del">
          <ac:chgData name="kriti ohri" userId="5f460e859343ae9f" providerId="LiveId" clId="{0FA403A5-99FC-4A9D-B902-0435524F264C}" dt="2021-06-30T04:09:39.142" v="220" actId="478"/>
          <ac:spMkLst>
            <pc:docMk/>
            <pc:sldMk cId="0" sldId="282"/>
            <ac:spMk id="6" creationId="{00000000-0000-0000-0000-000000000000}"/>
          </ac:spMkLst>
        </pc:spChg>
        <pc:spChg chg="del">
          <ac:chgData name="kriti ohri" userId="5f460e859343ae9f" providerId="LiveId" clId="{0FA403A5-99FC-4A9D-B902-0435524F264C}" dt="2021-06-30T04:09:33.625" v="219" actId="478"/>
          <ac:spMkLst>
            <pc:docMk/>
            <pc:sldMk cId="0" sldId="282"/>
            <ac:spMk id="7" creationId="{00000000-0000-0000-0000-000000000000}"/>
          </ac:spMkLst>
        </pc:spChg>
      </pc:sldChg>
      <pc:sldChg chg="modSp mod">
        <pc:chgData name="kriti ohri" userId="5f460e859343ae9f" providerId="LiveId" clId="{0FA403A5-99FC-4A9D-B902-0435524F264C}" dt="2021-06-30T03:49:30.986" v="204" actId="1076"/>
        <pc:sldMkLst>
          <pc:docMk/>
          <pc:sldMk cId="0" sldId="287"/>
        </pc:sldMkLst>
        <pc:spChg chg="mod">
          <ac:chgData name="kriti ohri" userId="5f460e859343ae9f" providerId="LiveId" clId="{0FA403A5-99FC-4A9D-B902-0435524F264C}" dt="2021-06-30T03:49:30.986" v="204" actId="1076"/>
          <ac:spMkLst>
            <pc:docMk/>
            <pc:sldMk cId="0" sldId="287"/>
            <ac:spMk id="24" creationId="{00000000-0000-0000-0000-000000000000}"/>
          </ac:spMkLst>
        </pc:spChg>
      </pc:sldChg>
      <pc:sldChg chg="del">
        <pc:chgData name="kriti ohri" userId="5f460e859343ae9f" providerId="LiveId" clId="{0FA403A5-99FC-4A9D-B902-0435524F264C}" dt="2021-06-30T09:33:21.061" v="898" actId="47"/>
        <pc:sldMkLst>
          <pc:docMk/>
          <pc:sldMk cId="0" sldId="290"/>
        </pc:sldMkLst>
      </pc:sldChg>
      <pc:sldChg chg="del">
        <pc:chgData name="kriti ohri" userId="5f460e859343ae9f" providerId="LiveId" clId="{0FA403A5-99FC-4A9D-B902-0435524F264C}" dt="2021-06-30T09:33:25.569" v="899" actId="47"/>
        <pc:sldMkLst>
          <pc:docMk/>
          <pc:sldMk cId="0" sldId="291"/>
        </pc:sldMkLst>
      </pc:sldChg>
      <pc:sldChg chg="del">
        <pc:chgData name="kriti ohri" userId="5f460e859343ae9f" providerId="LiveId" clId="{0FA403A5-99FC-4A9D-B902-0435524F264C}" dt="2021-06-30T09:33:27.665" v="900" actId="47"/>
        <pc:sldMkLst>
          <pc:docMk/>
          <pc:sldMk cId="0" sldId="292"/>
        </pc:sldMkLst>
      </pc:sldChg>
      <pc:sldChg chg="addSp modSp new">
        <pc:chgData name="kriti ohri" userId="5f460e859343ae9f" providerId="LiveId" clId="{0FA403A5-99FC-4A9D-B902-0435524F264C}" dt="2021-06-30T03:36:10.720" v="120" actId="1035"/>
        <pc:sldMkLst>
          <pc:docMk/>
          <pc:sldMk cId="1525002192" sldId="294"/>
        </pc:sldMkLst>
        <pc:picChg chg="add mod">
          <ac:chgData name="kriti ohri" userId="5f460e859343ae9f" providerId="LiveId" clId="{0FA403A5-99FC-4A9D-B902-0435524F264C}" dt="2021-06-30T03:36:10.720" v="120" actId="1035"/>
          <ac:picMkLst>
            <pc:docMk/>
            <pc:sldMk cId="1525002192" sldId="294"/>
            <ac:picMk id="1026" creationId="{9E3E0FFD-DB6C-4304-B09F-4BEA056304AB}"/>
          </ac:picMkLst>
        </pc:picChg>
      </pc:sldChg>
      <pc:sldChg chg="addSp modSp new mod">
        <pc:chgData name="kriti ohri" userId="5f460e859343ae9f" providerId="LiveId" clId="{0FA403A5-99FC-4A9D-B902-0435524F264C}" dt="2021-06-30T04:14:15.130" v="221" actId="1036"/>
        <pc:sldMkLst>
          <pc:docMk/>
          <pc:sldMk cId="758915277" sldId="295"/>
        </pc:sldMkLst>
        <pc:spChg chg="mod">
          <ac:chgData name="kriti ohri" userId="5f460e859343ae9f" providerId="LiveId" clId="{0FA403A5-99FC-4A9D-B902-0435524F264C}" dt="2021-06-29T09:09:51.235" v="36" actId="207"/>
          <ac:spMkLst>
            <pc:docMk/>
            <pc:sldMk cId="758915277" sldId="295"/>
            <ac:spMk id="2" creationId="{7002C452-06BB-4D7C-8416-FAEF6D3C0F0A}"/>
          </ac:spMkLst>
        </pc:spChg>
        <pc:spChg chg="mod">
          <ac:chgData name="kriti ohri" userId="5f460e859343ae9f" providerId="LiveId" clId="{0FA403A5-99FC-4A9D-B902-0435524F264C}" dt="2021-06-29T09:23:02.817" v="96" actId="14100"/>
          <ac:spMkLst>
            <pc:docMk/>
            <pc:sldMk cId="758915277" sldId="295"/>
            <ac:spMk id="3" creationId="{13FE1D6E-C2B5-417B-80D6-E656C4161759}"/>
          </ac:spMkLst>
        </pc:spChg>
        <pc:picChg chg="add mod">
          <ac:chgData name="kriti ohri" userId="5f460e859343ae9f" providerId="LiveId" clId="{0FA403A5-99FC-4A9D-B902-0435524F264C}" dt="2021-06-30T04:14:15.130" v="221" actId="1036"/>
          <ac:picMkLst>
            <pc:docMk/>
            <pc:sldMk cId="758915277" sldId="295"/>
            <ac:picMk id="2050" creationId="{21839F46-1F27-4BDA-9367-35FE887E14B3}"/>
          </ac:picMkLst>
        </pc:picChg>
        <pc:picChg chg="add mod">
          <ac:chgData name="kriti ohri" userId="5f460e859343ae9f" providerId="LiveId" clId="{0FA403A5-99FC-4A9D-B902-0435524F264C}" dt="2021-06-29T09:25:01.779" v="100" actId="1076"/>
          <ac:picMkLst>
            <pc:docMk/>
            <pc:sldMk cId="758915277" sldId="295"/>
            <ac:picMk id="2052" creationId="{B88B0AE4-9934-463E-A2B6-C663F1495EC6}"/>
          </ac:picMkLst>
        </pc:picChg>
      </pc:sldChg>
      <pc:sldChg chg="addSp modSp new mod modShow">
        <pc:chgData name="kriti ohri" userId="5f460e859343ae9f" providerId="LiveId" clId="{0FA403A5-99FC-4A9D-B902-0435524F264C}" dt="2021-06-30T06:01:34.969" v="769" actId="729"/>
        <pc:sldMkLst>
          <pc:docMk/>
          <pc:sldMk cId="659594034" sldId="296"/>
        </pc:sldMkLst>
        <pc:spChg chg="add mod">
          <ac:chgData name="kriti ohri" userId="5f460e859343ae9f" providerId="LiveId" clId="{0FA403A5-99FC-4A9D-B902-0435524F264C}" dt="2021-06-29T09:14:18.861" v="59" actId="1076"/>
          <ac:spMkLst>
            <pc:docMk/>
            <pc:sldMk cId="659594034" sldId="296"/>
            <ac:spMk id="4" creationId="{2F4E21AE-7B90-4AE9-809B-63CAC7B524EE}"/>
          </ac:spMkLst>
        </pc:spChg>
        <pc:picChg chg="add mod">
          <ac:chgData name="kriti ohri" userId="5f460e859343ae9f" providerId="LiveId" clId="{0FA403A5-99FC-4A9D-B902-0435524F264C}" dt="2021-06-29T09:14:24.254" v="62" actId="14100"/>
          <ac:picMkLst>
            <pc:docMk/>
            <pc:sldMk cId="659594034" sldId="296"/>
            <ac:picMk id="3074" creationId="{9399B87B-EDBC-4DD8-84BA-5F8748E27AA7}"/>
          </ac:picMkLst>
        </pc:picChg>
      </pc:sldChg>
      <pc:sldChg chg="modSp new mod modShow">
        <pc:chgData name="kriti ohri" userId="5f460e859343ae9f" providerId="LiveId" clId="{0FA403A5-99FC-4A9D-B902-0435524F264C}" dt="2021-06-30T06:01:32.791" v="768" actId="729"/>
        <pc:sldMkLst>
          <pc:docMk/>
          <pc:sldMk cId="1811164166" sldId="297"/>
        </pc:sldMkLst>
        <pc:spChg chg="mod">
          <ac:chgData name="kriti ohri" userId="5f460e859343ae9f" providerId="LiveId" clId="{0FA403A5-99FC-4A9D-B902-0435524F264C}" dt="2021-06-29T09:13:55.303" v="51" actId="20577"/>
          <ac:spMkLst>
            <pc:docMk/>
            <pc:sldMk cId="1811164166" sldId="297"/>
            <ac:spMk id="3" creationId="{C01B02CE-7FA6-417E-BE83-CAF1BCD078F4}"/>
          </ac:spMkLst>
        </pc:spChg>
      </pc:sldChg>
      <pc:sldChg chg="modSp new del mod">
        <pc:chgData name="kriti ohri" userId="5f460e859343ae9f" providerId="LiveId" clId="{0FA403A5-99FC-4A9D-B902-0435524F264C}" dt="2021-06-30T04:21:33.901" v="222" actId="2696"/>
        <pc:sldMkLst>
          <pc:docMk/>
          <pc:sldMk cId="2436384003" sldId="298"/>
        </pc:sldMkLst>
        <pc:spChg chg="mod">
          <ac:chgData name="kriti ohri" userId="5f460e859343ae9f" providerId="LiveId" clId="{0FA403A5-99FC-4A9D-B902-0435524F264C}" dt="2021-06-29T09:20:49.970" v="89" actId="20577"/>
          <ac:spMkLst>
            <pc:docMk/>
            <pc:sldMk cId="2436384003" sldId="298"/>
            <ac:spMk id="2" creationId="{0CAB52D8-2C00-4AF8-B890-3A5157622ED9}"/>
          </ac:spMkLst>
        </pc:spChg>
        <pc:spChg chg="mod">
          <ac:chgData name="kriti ohri" userId="5f460e859343ae9f" providerId="LiveId" clId="{0FA403A5-99FC-4A9D-B902-0435524F264C}" dt="2021-06-29T09:21:09.711" v="94" actId="404"/>
          <ac:spMkLst>
            <pc:docMk/>
            <pc:sldMk cId="2436384003" sldId="298"/>
            <ac:spMk id="3" creationId="{343C2040-6C11-47E1-888F-BCC7EB262561}"/>
          </ac:spMkLst>
        </pc:spChg>
      </pc:sldChg>
      <pc:sldChg chg="addSp modSp new mod">
        <pc:chgData name="kriti ohri" userId="5f460e859343ae9f" providerId="LiveId" clId="{0FA403A5-99FC-4A9D-B902-0435524F264C}" dt="2021-06-30T05:34:23.712" v="743" actId="1076"/>
        <pc:sldMkLst>
          <pc:docMk/>
          <pc:sldMk cId="3620936971" sldId="299"/>
        </pc:sldMkLst>
        <pc:picChg chg="add mod">
          <ac:chgData name="kriti ohri" userId="5f460e859343ae9f" providerId="LiveId" clId="{0FA403A5-99FC-4A9D-B902-0435524F264C}" dt="2021-06-30T05:34:23.712" v="743" actId="1076"/>
          <ac:picMkLst>
            <pc:docMk/>
            <pc:sldMk cId="3620936971" sldId="299"/>
            <ac:picMk id="5" creationId="{1915EFED-D057-4435-B7EB-FE0D5AE8DD17}"/>
          </ac:picMkLst>
        </pc:picChg>
      </pc:sldChg>
      <pc:sldChg chg="addSp modSp new del mod">
        <pc:chgData name="kriti ohri" userId="5f460e859343ae9f" providerId="LiveId" clId="{0FA403A5-99FC-4A9D-B902-0435524F264C}" dt="2021-06-30T09:38:55.756" v="915" actId="47"/>
        <pc:sldMkLst>
          <pc:docMk/>
          <pc:sldMk cId="4054243289" sldId="300"/>
        </pc:sldMkLst>
        <pc:picChg chg="add mod">
          <ac:chgData name="kriti ohri" userId="5f460e859343ae9f" providerId="LiveId" clId="{0FA403A5-99FC-4A9D-B902-0435524F264C}" dt="2021-06-30T03:51:44.409" v="209" actId="1076"/>
          <ac:picMkLst>
            <pc:docMk/>
            <pc:sldMk cId="4054243289" sldId="300"/>
            <ac:picMk id="5" creationId="{D92B3C4B-0271-4FEB-B1A8-B64B7BBB76C0}"/>
          </ac:picMkLst>
        </pc:picChg>
      </pc:sldChg>
      <pc:sldChg chg="addSp delSp modSp new add del mod modNotesTx">
        <pc:chgData name="kriti ohri" userId="5f460e859343ae9f" providerId="LiveId" clId="{0FA403A5-99FC-4A9D-B902-0435524F264C}" dt="2021-06-30T10:22:54.446" v="923" actId="207"/>
        <pc:sldMkLst>
          <pc:docMk/>
          <pc:sldMk cId="2048221659" sldId="301"/>
        </pc:sldMkLst>
        <pc:spChg chg="mod">
          <ac:chgData name="kriti ohri" userId="5f460e859343ae9f" providerId="LiveId" clId="{0FA403A5-99FC-4A9D-B902-0435524F264C}" dt="2021-06-30T06:09:55.047" v="824" actId="20577"/>
          <ac:spMkLst>
            <pc:docMk/>
            <pc:sldMk cId="2048221659" sldId="301"/>
            <ac:spMk id="2" creationId="{059431CE-C3DA-4321-BF28-69C7271351A3}"/>
          </ac:spMkLst>
        </pc:spChg>
        <pc:spChg chg="mod">
          <ac:chgData name="kriti ohri" userId="5f460e859343ae9f" providerId="LiveId" clId="{0FA403A5-99FC-4A9D-B902-0435524F264C}" dt="2021-06-30T10:22:54.446" v="923" actId="207"/>
          <ac:spMkLst>
            <pc:docMk/>
            <pc:sldMk cId="2048221659" sldId="301"/>
            <ac:spMk id="3" creationId="{FE149B37-FB8F-4E69-8B84-88EB3730EE1C}"/>
          </ac:spMkLst>
        </pc:spChg>
        <pc:picChg chg="add del mod">
          <ac:chgData name="kriti ohri" userId="5f460e859343ae9f" providerId="LiveId" clId="{0FA403A5-99FC-4A9D-B902-0435524F264C}" dt="2021-06-30T04:36:06.587" v="632" actId="478"/>
          <ac:picMkLst>
            <pc:docMk/>
            <pc:sldMk cId="2048221659" sldId="301"/>
            <ac:picMk id="5" creationId="{C886111B-03FD-47E5-B3F4-8495676B290E}"/>
          </ac:picMkLst>
        </pc:picChg>
        <pc:picChg chg="add del">
          <ac:chgData name="kriti ohri" userId="5f460e859343ae9f" providerId="LiveId" clId="{0FA403A5-99FC-4A9D-B902-0435524F264C}" dt="2021-06-30T05:22:35.049" v="686" actId="22"/>
          <ac:picMkLst>
            <pc:docMk/>
            <pc:sldMk cId="2048221659" sldId="301"/>
            <ac:picMk id="7" creationId="{60110751-52EC-40C7-B75F-BE8942AD6771}"/>
          </ac:picMkLst>
        </pc:picChg>
      </pc:sldChg>
      <pc:sldChg chg="addSp delSp modSp new del mod">
        <pc:chgData name="kriti ohri" userId="5f460e859343ae9f" providerId="LiveId" clId="{0FA403A5-99FC-4A9D-B902-0435524F264C}" dt="2021-06-30T05:36:35.970" v="758" actId="47"/>
        <pc:sldMkLst>
          <pc:docMk/>
          <pc:sldMk cId="3061890655" sldId="302"/>
        </pc:sldMkLst>
        <pc:spChg chg="add del mod">
          <ac:chgData name="kriti ohri" userId="5f460e859343ae9f" providerId="LiveId" clId="{0FA403A5-99FC-4A9D-B902-0435524F264C}" dt="2021-06-29T10:38:55.341" v="114" actId="478"/>
          <ac:spMkLst>
            <pc:docMk/>
            <pc:sldMk cId="3061890655" sldId="302"/>
            <ac:spMk id="6" creationId="{C87BC3D1-4A5B-4377-B974-744082A7EFD9}"/>
          </ac:spMkLst>
        </pc:spChg>
        <pc:picChg chg="add mod">
          <ac:chgData name="kriti ohri" userId="5f460e859343ae9f" providerId="LiveId" clId="{0FA403A5-99FC-4A9D-B902-0435524F264C}" dt="2021-06-29T10:38:37.163" v="111" actId="1076"/>
          <ac:picMkLst>
            <pc:docMk/>
            <pc:sldMk cId="3061890655" sldId="302"/>
            <ac:picMk id="5" creationId="{0C32FFF8-23DF-41D4-9C61-4FE28AF20ECE}"/>
          </ac:picMkLst>
        </pc:picChg>
      </pc:sldChg>
      <pc:sldChg chg="addSp delSp modSp new add del mod">
        <pc:chgData name="kriti ohri" userId="5f460e859343ae9f" providerId="LiveId" clId="{0FA403A5-99FC-4A9D-B902-0435524F264C}" dt="2021-06-30T09:37:27.839" v="907" actId="20577"/>
        <pc:sldMkLst>
          <pc:docMk/>
          <pc:sldMk cId="2288767337" sldId="303"/>
        </pc:sldMkLst>
        <pc:spChg chg="mod">
          <ac:chgData name="kriti ohri" userId="5f460e859343ae9f" providerId="LiveId" clId="{0FA403A5-99FC-4A9D-B902-0435524F264C}" dt="2021-06-30T04:30:23.618" v="391" actId="20577"/>
          <ac:spMkLst>
            <pc:docMk/>
            <pc:sldMk cId="2288767337" sldId="303"/>
            <ac:spMk id="2" creationId="{B5B639EE-B870-43FD-9D74-AEBDB5CA4688}"/>
          </ac:spMkLst>
        </pc:spChg>
        <pc:spChg chg="mod">
          <ac:chgData name="kriti ohri" userId="5f460e859343ae9f" providerId="LiveId" clId="{0FA403A5-99FC-4A9D-B902-0435524F264C}" dt="2021-06-30T09:37:27.839" v="907" actId="20577"/>
          <ac:spMkLst>
            <pc:docMk/>
            <pc:sldMk cId="2288767337" sldId="303"/>
            <ac:spMk id="3" creationId="{B6C5674E-8DD6-412C-8C91-5402EF69637F}"/>
          </ac:spMkLst>
        </pc:spChg>
        <pc:picChg chg="add del mod">
          <ac:chgData name="kriti ohri" userId="5f460e859343ae9f" providerId="LiveId" clId="{0FA403A5-99FC-4A9D-B902-0435524F264C}" dt="2021-06-30T04:30:16.888" v="368" actId="478"/>
          <ac:picMkLst>
            <pc:docMk/>
            <pc:sldMk cId="2288767337" sldId="303"/>
            <ac:picMk id="4" creationId="{B7313433-AC1E-43A6-A45B-0CF8F5AB09B0}"/>
          </ac:picMkLst>
        </pc:picChg>
      </pc:sldChg>
      <pc:sldChg chg="addSp modSp new add del mod">
        <pc:chgData name="kriti ohri" userId="5f460e859343ae9f" providerId="LiveId" clId="{0FA403A5-99FC-4A9D-B902-0435524F264C}" dt="2021-06-30T06:01:36.290" v="770" actId="2696"/>
        <pc:sldMkLst>
          <pc:docMk/>
          <pc:sldMk cId="1845935235" sldId="304"/>
        </pc:sldMkLst>
        <pc:picChg chg="add mod">
          <ac:chgData name="kriti ohri" userId="5f460e859343ae9f" providerId="LiveId" clId="{0FA403A5-99FC-4A9D-B902-0435524F264C}" dt="2021-06-30T05:16:23.690" v="667" actId="1076"/>
          <ac:picMkLst>
            <pc:docMk/>
            <pc:sldMk cId="1845935235" sldId="304"/>
            <ac:picMk id="5" creationId="{A528CFF1-FC68-4211-9475-982918C36705}"/>
          </ac:picMkLst>
        </pc:picChg>
      </pc:sldChg>
      <pc:sldChg chg="addSp new add del mod">
        <pc:chgData name="kriti ohri" userId="5f460e859343ae9f" providerId="LiveId" clId="{0FA403A5-99FC-4A9D-B902-0435524F264C}" dt="2021-06-30T06:01:36.290" v="770" actId="2696"/>
        <pc:sldMkLst>
          <pc:docMk/>
          <pc:sldMk cId="705493720" sldId="305"/>
        </pc:sldMkLst>
        <pc:picChg chg="add">
          <ac:chgData name="kriti ohri" userId="5f460e859343ae9f" providerId="LiveId" clId="{0FA403A5-99FC-4A9D-B902-0435524F264C}" dt="2021-06-30T05:16:56.711" v="669" actId="22"/>
          <ac:picMkLst>
            <pc:docMk/>
            <pc:sldMk cId="705493720" sldId="305"/>
            <ac:picMk id="5" creationId="{A31DE5C3-1EE0-4483-9A6F-91B2979EA930}"/>
          </ac:picMkLst>
        </pc:picChg>
      </pc:sldChg>
      <pc:sldChg chg="addSp modSp new mod">
        <pc:chgData name="kriti ohri" userId="5f460e859343ae9f" providerId="LiveId" clId="{0FA403A5-99FC-4A9D-B902-0435524F264C}" dt="2021-06-30T05:35:30.379" v="755" actId="1076"/>
        <pc:sldMkLst>
          <pc:docMk/>
          <pc:sldMk cId="2938014935" sldId="306"/>
        </pc:sldMkLst>
        <pc:picChg chg="add mod">
          <ac:chgData name="kriti ohri" userId="5f460e859343ae9f" providerId="LiveId" clId="{0FA403A5-99FC-4A9D-B902-0435524F264C}" dt="2021-06-30T05:35:30.379" v="755" actId="1076"/>
          <ac:picMkLst>
            <pc:docMk/>
            <pc:sldMk cId="2938014935" sldId="306"/>
            <ac:picMk id="5" creationId="{E8457B12-F914-4DC1-8470-35ACBC0ECC97}"/>
          </ac:picMkLst>
        </pc:picChg>
      </pc:sldChg>
      <pc:sldChg chg="addSp delSp new add del mod">
        <pc:chgData name="kriti ohri" userId="5f460e859343ae9f" providerId="LiveId" clId="{0FA403A5-99FC-4A9D-B902-0435524F264C}" dt="2021-06-30T05:36:18.784" v="756" actId="47"/>
        <pc:sldMkLst>
          <pc:docMk/>
          <pc:sldMk cId="3450058240" sldId="307"/>
        </pc:sldMkLst>
        <pc:picChg chg="add del">
          <ac:chgData name="kriti ohri" userId="5f460e859343ae9f" providerId="LiveId" clId="{0FA403A5-99FC-4A9D-B902-0435524F264C}" dt="2021-06-30T05:20:26.554" v="681" actId="22"/>
          <ac:picMkLst>
            <pc:docMk/>
            <pc:sldMk cId="3450058240" sldId="307"/>
            <ac:picMk id="5" creationId="{D167DF8D-1400-4E0B-B591-0FC429D4756D}"/>
          </ac:picMkLst>
        </pc:picChg>
      </pc:sldChg>
      <pc:sldChg chg="modSp new del mod">
        <pc:chgData name="kriti ohri" userId="5f460e859343ae9f" providerId="LiveId" clId="{0FA403A5-99FC-4A9D-B902-0435524F264C}" dt="2021-06-30T06:01:24.452" v="767" actId="680"/>
        <pc:sldMkLst>
          <pc:docMk/>
          <pc:sldMk cId="4184824495" sldId="307"/>
        </pc:sldMkLst>
        <pc:spChg chg="mod">
          <ac:chgData name="kriti ohri" userId="5f460e859343ae9f" providerId="LiveId" clId="{0FA403A5-99FC-4A9D-B902-0435524F264C}" dt="2021-06-30T06:01:22.952" v="766"/>
          <ac:spMkLst>
            <pc:docMk/>
            <pc:sldMk cId="4184824495" sldId="307"/>
            <ac:spMk id="3" creationId="{BCD0E060-231B-4A60-BE32-BBB899770C9B}"/>
          </ac:spMkLst>
        </pc:spChg>
      </pc:sldChg>
      <pc:sldChg chg="addSp new del mod">
        <pc:chgData name="kriti ohri" userId="5f460e859343ae9f" providerId="LiveId" clId="{0FA403A5-99FC-4A9D-B902-0435524F264C}" dt="2021-06-30T05:36:21.865" v="757" actId="47"/>
        <pc:sldMkLst>
          <pc:docMk/>
          <pc:sldMk cId="3592535072" sldId="308"/>
        </pc:sldMkLst>
        <pc:picChg chg="add">
          <ac:chgData name="kriti ohri" userId="5f460e859343ae9f" providerId="LiveId" clId="{0FA403A5-99FC-4A9D-B902-0435524F264C}" dt="2021-06-30T05:20:32.152" v="683" actId="22"/>
          <ac:picMkLst>
            <pc:docMk/>
            <pc:sldMk cId="3592535072" sldId="308"/>
            <ac:picMk id="5" creationId="{012AB9D7-21AB-4B15-A563-588E0C3B1561}"/>
          </ac:picMkLst>
        </pc:picChg>
      </pc:sldChg>
      <pc:sldChg chg="modSp add">
        <pc:chgData name="kriti ohri" userId="5f460e859343ae9f" providerId="LiveId" clId="{0FA403A5-99FC-4A9D-B902-0435524F264C}" dt="2021-06-30T10:15:31.192" v="916"/>
        <pc:sldMkLst>
          <pc:docMk/>
          <pc:sldMk cId="3365883950" sldId="447"/>
        </pc:sldMkLst>
        <pc:spChg chg="mod">
          <ac:chgData name="kriti ohri" userId="5f460e859343ae9f" providerId="LiveId" clId="{0FA403A5-99FC-4A9D-B902-0435524F264C}" dt="2021-06-30T10:15:31.192" v="916"/>
          <ac:spMkLst>
            <pc:docMk/>
            <pc:sldMk cId="3365883950" sldId="447"/>
            <ac:spMk id="4" creationId="{00000000-0000-0000-0000-000000000000}"/>
          </ac:spMkLst>
        </pc:spChg>
        <pc:spChg chg="mod">
          <ac:chgData name="kriti ohri" userId="5f460e859343ae9f" providerId="LiveId" clId="{0FA403A5-99FC-4A9D-B902-0435524F264C}" dt="2021-06-30T10:15:31.192" v="916"/>
          <ac:spMkLst>
            <pc:docMk/>
            <pc:sldMk cId="3365883950" sldId="447"/>
            <ac:spMk id="6" creationId="{00000000-0000-0000-0000-000000000000}"/>
          </ac:spMkLst>
        </pc:spChg>
      </pc:sldChg>
      <pc:sldChg chg="modSp add">
        <pc:chgData name="kriti ohri" userId="5f460e859343ae9f" providerId="LiveId" clId="{0FA403A5-99FC-4A9D-B902-0435524F264C}" dt="2021-06-30T10:16:32.392" v="917"/>
        <pc:sldMkLst>
          <pc:docMk/>
          <pc:sldMk cId="1678405253" sldId="451"/>
        </pc:sldMkLst>
        <pc:spChg chg="mod">
          <ac:chgData name="kriti ohri" userId="5f460e859343ae9f" providerId="LiveId" clId="{0FA403A5-99FC-4A9D-B902-0435524F264C}" dt="2021-06-30T10:16:32.392" v="917"/>
          <ac:spMkLst>
            <pc:docMk/>
            <pc:sldMk cId="1678405253" sldId="451"/>
            <ac:spMk id="4" creationId="{00000000-0000-0000-0000-000000000000}"/>
          </ac:spMkLst>
        </pc:spChg>
        <pc:spChg chg="mod">
          <ac:chgData name="kriti ohri" userId="5f460e859343ae9f" providerId="LiveId" clId="{0FA403A5-99FC-4A9D-B902-0435524F264C}" dt="2021-06-30T10:16:32.392" v="917"/>
          <ac:spMkLst>
            <pc:docMk/>
            <pc:sldMk cId="1678405253" sldId="451"/>
            <ac:spMk id="6" creationId="{00000000-0000-0000-0000-000000000000}"/>
          </ac:spMkLst>
        </pc:spChg>
      </pc:sldChg>
      <pc:sldChg chg="add del mod modShow">
        <pc:chgData name="kriti ohri" userId="5f460e859343ae9f" providerId="LiveId" clId="{0FA403A5-99FC-4A9D-B902-0435524F264C}" dt="2021-06-30T09:37:46.886" v="909" actId="729"/>
        <pc:sldMkLst>
          <pc:docMk/>
          <pc:sldMk cId="2269774418" sldId="678"/>
        </pc:sldMkLst>
      </pc:sldChg>
      <pc:sldChg chg="add del">
        <pc:chgData name="kriti ohri" userId="5f460e859343ae9f" providerId="LiveId" clId="{0FA403A5-99FC-4A9D-B902-0435524F264C}" dt="2021-06-30T09:38:11.574" v="910" actId="47"/>
        <pc:sldMkLst>
          <pc:docMk/>
          <pc:sldMk cId="889549080" sldId="679"/>
        </pc:sldMkLst>
      </pc:sldChg>
      <pc:sldChg chg="add del">
        <pc:chgData name="kriti ohri" userId="5f460e859343ae9f" providerId="LiveId" clId="{0FA403A5-99FC-4A9D-B902-0435524F264C}" dt="2021-06-30T06:07:22.440" v="809"/>
        <pc:sldMkLst>
          <pc:docMk/>
          <pc:sldMk cId="691030717" sldId="680"/>
        </pc:sldMkLst>
      </pc:sldChg>
      <pc:sldChg chg="add del">
        <pc:chgData name="kriti ohri" userId="5f460e859343ae9f" providerId="LiveId" clId="{0FA403A5-99FC-4A9D-B902-0435524F264C}" dt="2021-06-30T06:07:22.440" v="809"/>
        <pc:sldMkLst>
          <pc:docMk/>
          <pc:sldMk cId="93657413" sldId="681"/>
        </pc:sldMkLst>
      </pc:sldChg>
      <pc:sldChg chg="add del">
        <pc:chgData name="kriti ohri" userId="5f460e859343ae9f" providerId="LiveId" clId="{0FA403A5-99FC-4A9D-B902-0435524F264C}" dt="2021-06-30T09:38:34.814" v="912" actId="47"/>
        <pc:sldMkLst>
          <pc:docMk/>
          <pc:sldMk cId="1008406669" sldId="682"/>
        </pc:sldMkLst>
      </pc:sldChg>
      <pc:sldChg chg="add del">
        <pc:chgData name="kriti ohri" userId="5f460e859343ae9f" providerId="LiveId" clId="{0FA403A5-99FC-4A9D-B902-0435524F264C}" dt="2021-06-30T09:38:28.549" v="911" actId="47"/>
        <pc:sldMkLst>
          <pc:docMk/>
          <pc:sldMk cId="596529865" sldId="683"/>
        </pc:sldMkLst>
      </pc:sldChg>
      <pc:sldChg chg="addSp modSp add del mod">
        <pc:chgData name="kriti ohri" userId="5f460e859343ae9f" providerId="LiveId" clId="{0FA403A5-99FC-4A9D-B902-0435524F264C}" dt="2021-06-30T09:38:49.517" v="913" actId="2696"/>
        <pc:sldMkLst>
          <pc:docMk/>
          <pc:sldMk cId="589681581" sldId="684"/>
        </pc:sldMkLst>
        <pc:spChg chg="add mod">
          <ac:chgData name="kriti ohri" userId="5f460e859343ae9f" providerId="LiveId" clId="{0FA403A5-99FC-4A9D-B902-0435524F264C}" dt="2021-06-30T07:58:11.881" v="873" actId="14100"/>
          <ac:spMkLst>
            <pc:docMk/>
            <pc:sldMk cId="589681581" sldId="684"/>
            <ac:spMk id="4" creationId="{B6FE1673-4BDA-475B-B9B5-FD692470F739}"/>
          </ac:spMkLst>
        </pc:spChg>
        <pc:spChg chg="add mod">
          <ac:chgData name="kriti ohri" userId="5f460e859343ae9f" providerId="LiveId" clId="{0FA403A5-99FC-4A9D-B902-0435524F264C}" dt="2021-06-30T07:59:09.671" v="884" actId="1076"/>
          <ac:spMkLst>
            <pc:docMk/>
            <pc:sldMk cId="589681581" sldId="684"/>
            <ac:spMk id="6" creationId="{5EB66206-149E-4852-BC8E-61F5EDA51C31}"/>
          </ac:spMkLst>
        </pc:spChg>
        <pc:cxnChg chg="add">
          <ac:chgData name="kriti ohri" userId="5f460e859343ae9f" providerId="LiveId" clId="{0FA403A5-99FC-4A9D-B902-0435524F264C}" dt="2021-06-30T07:59:14.942" v="885" actId="11529"/>
          <ac:cxnSpMkLst>
            <pc:docMk/>
            <pc:sldMk cId="589681581" sldId="684"/>
            <ac:cxnSpMk id="8" creationId="{E53722E8-DD9B-4FC7-A68D-55B9DC15EED8}"/>
          </ac:cxnSpMkLst>
        </pc:cxnChg>
      </pc:sldChg>
      <pc:sldChg chg="add">
        <pc:chgData name="kriti ohri" userId="5f460e859343ae9f" providerId="LiveId" clId="{0FA403A5-99FC-4A9D-B902-0435524F264C}" dt="2021-06-30T09:38:53.918" v="914"/>
        <pc:sldMkLst>
          <pc:docMk/>
          <pc:sldMk cId="2543769532" sldId="684"/>
        </pc:sldMkLst>
      </pc:sldChg>
      <pc:sldChg chg="add">
        <pc:chgData name="kriti ohri" userId="5f460e859343ae9f" providerId="LiveId" clId="{0FA403A5-99FC-4A9D-B902-0435524F264C}" dt="2021-06-30T08:03:17.593" v="886"/>
        <pc:sldMkLst>
          <pc:docMk/>
          <pc:sldMk cId="476456882" sldId="685"/>
        </pc:sldMkLst>
      </pc:sldChg>
      <pc:sldChg chg="modSp new mod">
        <pc:chgData name="kriti ohri" userId="5f460e859343ae9f" providerId="LiveId" clId="{0FA403A5-99FC-4A9D-B902-0435524F264C}" dt="2021-07-08T03:40:34.809" v="960" actId="122"/>
        <pc:sldMkLst>
          <pc:docMk/>
          <pc:sldMk cId="737096388" sldId="686"/>
        </pc:sldMkLst>
        <pc:spChg chg="mod">
          <ac:chgData name="kriti ohri" userId="5f460e859343ae9f" providerId="LiveId" clId="{0FA403A5-99FC-4A9D-B902-0435524F264C}" dt="2021-07-08T03:40:34.809" v="960" actId="122"/>
          <ac:spMkLst>
            <pc:docMk/>
            <pc:sldMk cId="737096388" sldId="686"/>
            <ac:spMk id="3" creationId="{FC2A48F6-9E29-432A-B502-0DE86E85DBE2}"/>
          </ac:spMkLst>
        </pc:spChg>
      </pc:sldChg>
    </pc:docChg>
  </pc:docChgLst>
  <pc:docChgLst>
    <pc:chgData name="kriti ohri" userId="5f460e859343ae9f" providerId="LiveId" clId="{AD6D46B5-55E1-42E7-8724-82EF4D2FA36D}"/>
    <pc:docChg chg="custSel modSld">
      <pc:chgData name="kriti ohri" userId="5f460e859343ae9f" providerId="LiveId" clId="{AD6D46B5-55E1-42E7-8724-82EF4D2FA36D}" dt="2021-07-15T16:10:31.480" v="17" actId="20577"/>
      <pc:docMkLst>
        <pc:docMk/>
      </pc:docMkLst>
      <pc:sldChg chg="addSp delSp modSp mod">
        <pc:chgData name="kriti ohri" userId="5f460e859343ae9f" providerId="LiveId" clId="{AD6D46B5-55E1-42E7-8724-82EF4D2FA36D}" dt="2021-07-15T16:09:49.333" v="10" actId="11529"/>
        <pc:sldMkLst>
          <pc:docMk/>
          <pc:sldMk cId="0" sldId="258"/>
        </pc:sldMkLst>
        <pc:spChg chg="add del mod">
          <ac:chgData name="kriti ohri" userId="5f460e859343ae9f" providerId="LiveId" clId="{AD6D46B5-55E1-42E7-8724-82EF4D2FA36D}" dt="2021-07-15T16:09:21.325" v="1"/>
          <ac:spMkLst>
            <pc:docMk/>
            <pc:sldMk cId="0" sldId="258"/>
            <ac:spMk id="44" creationId="{968B4CAF-C341-4440-8FBF-C5553CFEC463}"/>
          </ac:spMkLst>
        </pc:spChg>
        <pc:spChg chg="add del mod">
          <ac:chgData name="kriti ohri" userId="5f460e859343ae9f" providerId="LiveId" clId="{AD6D46B5-55E1-42E7-8724-82EF4D2FA36D}" dt="2021-07-15T16:09:36.008" v="6" actId="478"/>
          <ac:spMkLst>
            <pc:docMk/>
            <pc:sldMk cId="0" sldId="258"/>
            <ac:spMk id="45" creationId="{F0E92DAB-3D0B-4FB1-ADE8-BF72AA4B5D9E}"/>
          </ac:spMkLst>
        </pc:spChg>
        <pc:picChg chg="add del">
          <ac:chgData name="kriti ohri" userId="5f460e859343ae9f" providerId="LiveId" clId="{AD6D46B5-55E1-42E7-8724-82EF4D2FA36D}" dt="2021-07-15T16:09:22.686" v="3" actId="478"/>
          <ac:picMkLst>
            <pc:docMk/>
            <pc:sldMk cId="0" sldId="258"/>
            <ac:picMk id="42" creationId="{698AA63D-4025-428D-9450-42E16D12F5AF}"/>
          </ac:picMkLst>
        </pc:picChg>
        <pc:picChg chg="add mod">
          <ac:chgData name="kriti ohri" userId="5f460e859343ae9f" providerId="LiveId" clId="{AD6D46B5-55E1-42E7-8724-82EF4D2FA36D}" dt="2021-07-15T16:09:42.817" v="9" actId="13822"/>
          <ac:picMkLst>
            <pc:docMk/>
            <pc:sldMk cId="0" sldId="258"/>
            <ac:picMk id="46" creationId="{CFBB5999-F773-4C3C-B0D9-A68DAA1CCB89}"/>
          </ac:picMkLst>
        </pc:picChg>
        <pc:cxnChg chg="add">
          <ac:chgData name="kriti ohri" userId="5f460e859343ae9f" providerId="LiveId" clId="{AD6D46B5-55E1-42E7-8724-82EF4D2FA36D}" dt="2021-07-15T16:09:49.333" v="10" actId="11529"/>
          <ac:cxnSpMkLst>
            <pc:docMk/>
            <pc:sldMk cId="0" sldId="258"/>
            <ac:cxnSpMk id="48" creationId="{E4765A82-CE81-4CFD-95C1-9F3567F424B4}"/>
          </ac:cxnSpMkLst>
        </pc:cxnChg>
      </pc:sldChg>
      <pc:sldChg chg="modSp mod">
        <pc:chgData name="kriti ohri" userId="5f460e859343ae9f" providerId="LiveId" clId="{AD6D46B5-55E1-42E7-8724-82EF4D2FA36D}" dt="2021-07-15T16:10:31.480" v="17" actId="20577"/>
        <pc:sldMkLst>
          <pc:docMk/>
          <pc:sldMk cId="737096388" sldId="686"/>
        </pc:sldMkLst>
        <pc:spChg chg="mod">
          <ac:chgData name="kriti ohri" userId="5f460e859343ae9f" providerId="LiveId" clId="{AD6D46B5-55E1-42E7-8724-82EF4D2FA36D}" dt="2021-07-15T16:10:31.480" v="17" actId="20577"/>
          <ac:spMkLst>
            <pc:docMk/>
            <pc:sldMk cId="737096388" sldId="686"/>
            <ac:spMk id="3" creationId="{FC2A48F6-9E29-432A-B502-0DE86E85DBE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C7E91284-09CC-4E02-BDDC-5552DB76F130}" type="datetimeFigureOut">
              <a:rPr lang="en-IN" smtClean="0"/>
              <a:t>05-06-2024</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C89A0C4-19E9-4CB2-B2CA-76760896CCCC}" type="slidenum">
              <a:rPr lang="en-IN" smtClean="0"/>
              <a:t>‹#›</a:t>
            </a:fld>
            <a:endParaRPr lang="en-IN"/>
          </a:p>
        </p:txBody>
      </p:sp>
    </p:spTree>
    <p:extLst>
      <p:ext uri="{BB962C8B-B14F-4D97-AF65-F5344CB8AC3E}">
        <p14:creationId xmlns:p14="http://schemas.microsoft.com/office/powerpoint/2010/main" val="2345428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latin typeface="Times New Roman" pitchFamily="18" charset="0"/>
                <a:cs typeface="Times New Roman" pitchFamily="18" charset="0"/>
              </a:rPr>
              <a:t>k-means has </a:t>
            </a:r>
            <a:r>
              <a:rPr lang="en-IN" sz="1200" dirty="0">
                <a:solidFill>
                  <a:srgbClr val="0B5ED7"/>
                </a:solidFill>
                <a:latin typeface="Times New Roman" pitchFamily="18" charset="0"/>
                <a:cs typeface="Times New Roman" pitchFamily="18" charset="0"/>
              </a:rPr>
              <a:t>trouble clustering data that contains outliers</a:t>
            </a:r>
            <a:r>
              <a:rPr lang="en-IN" sz="1200" dirty="0">
                <a:latin typeface="Times New Roman" pitchFamily="18" charset="0"/>
                <a:cs typeface="Times New Roman" pitchFamily="18" charset="0"/>
              </a:rPr>
              <a:t>. When the SSE is used as objective function, outliers can unduly influence the cluster that are produced. More precisely, in the presence of outliers, the cluster centroids, in fact, not truly as representative as they would be otherwise. It also influence the SSE measure as well.</a:t>
            </a:r>
          </a:p>
          <a:p>
            <a:endParaRPr lang="en-IN" dirty="0"/>
          </a:p>
        </p:txBody>
      </p:sp>
      <p:sp>
        <p:nvSpPr>
          <p:cNvPr id="4" name="Slide Number Placeholder 3"/>
          <p:cNvSpPr>
            <a:spLocks noGrp="1"/>
          </p:cNvSpPr>
          <p:nvPr>
            <p:ph type="sldNum" sz="quarter" idx="5"/>
          </p:nvPr>
        </p:nvSpPr>
        <p:spPr/>
        <p:txBody>
          <a:bodyPr/>
          <a:lstStyle/>
          <a:p>
            <a:fld id="{4C89A0C4-19E9-4CB2-B2CA-76760896CCCC}" type="slidenum">
              <a:rPr lang="en-IN" smtClean="0"/>
              <a:t>24</a:t>
            </a:fld>
            <a:endParaRPr lang="en-IN"/>
          </a:p>
        </p:txBody>
      </p:sp>
    </p:spTree>
    <p:extLst>
      <p:ext uri="{BB962C8B-B14F-4D97-AF65-F5344CB8AC3E}">
        <p14:creationId xmlns:p14="http://schemas.microsoft.com/office/powerpoint/2010/main" val="1937380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6/5/2024</a:t>
            </a:fld>
            <a:endParaRPr lang="en-US"/>
          </a:p>
        </p:txBody>
      </p:sp>
      <p:sp>
        <p:nvSpPr>
          <p:cNvPr id="6" name="Holder 6"/>
          <p:cNvSpPr>
            <a:spLocks noGrp="1"/>
          </p:cNvSpPr>
          <p:nvPr>
            <p:ph type="sldNum" sz="quarter" idx="7"/>
          </p:nvPr>
        </p:nvSpPr>
        <p:spPr>
          <a:xfrm>
            <a:off x="8401557" y="4830038"/>
            <a:ext cx="231775" cy="178435"/>
          </a:xfrm>
          <a:prstGeom prst="rect">
            <a:avLst/>
          </a:prstGeom>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531109" y="385953"/>
            <a:ext cx="4081780" cy="452119"/>
          </a:xfrm>
          <a:prstGeom prst="rect">
            <a:avLst/>
          </a:prstGeom>
        </p:spPr>
        <p:txBody>
          <a:bodyPr lIns="0" tIns="0" rIns="0" bIns="0"/>
          <a:lstStyle>
            <a:lvl1pPr>
              <a:defRPr sz="2800" b="0" i="0">
                <a:solidFill>
                  <a:schemeClr val="hlink"/>
                </a:solidFill>
                <a:latin typeface="Carlito"/>
                <a:cs typeface="Carlito"/>
              </a:defRPr>
            </a:lvl1pPr>
          </a:lstStyle>
          <a:p>
            <a:endParaRPr/>
          </a:p>
        </p:txBody>
      </p:sp>
      <p:sp>
        <p:nvSpPr>
          <p:cNvPr id="3" name="Holder 3"/>
          <p:cNvSpPr>
            <a:spLocks noGrp="1"/>
          </p:cNvSpPr>
          <p:nvPr>
            <p:ph type="body" idx="1"/>
          </p:nvPr>
        </p:nvSpPr>
        <p:spPr>
          <a:xfrm>
            <a:off x="1483486" y="1796542"/>
            <a:ext cx="6374130" cy="1384300"/>
          </a:xfrm>
          <a:prstGeom prst="rect">
            <a:avLst/>
          </a:prstGeom>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6/5/2024</a:t>
            </a:fld>
            <a:endParaRPr lang="en-US"/>
          </a:p>
        </p:txBody>
      </p:sp>
      <p:sp>
        <p:nvSpPr>
          <p:cNvPr id="6" name="Holder 6"/>
          <p:cNvSpPr>
            <a:spLocks noGrp="1"/>
          </p:cNvSpPr>
          <p:nvPr>
            <p:ph type="sldNum" sz="quarter" idx="7"/>
          </p:nvPr>
        </p:nvSpPr>
        <p:spPr>
          <a:xfrm>
            <a:off x="8401557" y="4830038"/>
            <a:ext cx="231775" cy="178435"/>
          </a:xfrm>
          <a:prstGeom prst="rect">
            <a:avLst/>
          </a:prstGeom>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531109" y="385953"/>
            <a:ext cx="4081780" cy="452119"/>
          </a:xfrm>
          <a:prstGeom prst="rect">
            <a:avLst/>
          </a:prstGeom>
        </p:spPr>
        <p:txBody>
          <a:bodyPr lIns="0" tIns="0" rIns="0" bIns="0"/>
          <a:lstStyle>
            <a:lvl1pPr>
              <a:defRPr sz="2800" b="0" i="0">
                <a:solidFill>
                  <a:schemeClr val="hlink"/>
                </a:solidFill>
                <a:latin typeface="Carlito"/>
                <a:cs typeface="Carlito"/>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6/5/2024</a:t>
            </a:fld>
            <a:endParaRPr lang="en-US"/>
          </a:p>
        </p:txBody>
      </p:sp>
      <p:sp>
        <p:nvSpPr>
          <p:cNvPr id="7" name="Holder 7"/>
          <p:cNvSpPr>
            <a:spLocks noGrp="1"/>
          </p:cNvSpPr>
          <p:nvPr>
            <p:ph type="sldNum" sz="quarter" idx="7"/>
          </p:nvPr>
        </p:nvSpPr>
        <p:spPr>
          <a:xfrm>
            <a:off x="8401557" y="4830038"/>
            <a:ext cx="231775" cy="178435"/>
          </a:xfrm>
          <a:prstGeom prst="rect">
            <a:avLst/>
          </a:prstGeom>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531109" y="385953"/>
            <a:ext cx="4081780" cy="452119"/>
          </a:xfrm>
          <a:prstGeom prst="rect">
            <a:avLst/>
          </a:prstGeom>
        </p:spPr>
        <p:txBody>
          <a:bodyPr lIns="0" tIns="0" rIns="0" bIns="0"/>
          <a:lstStyle>
            <a:lvl1pPr>
              <a:defRPr sz="2800" b="0" i="0">
                <a:solidFill>
                  <a:schemeClr val="hlink"/>
                </a:solidFill>
                <a:latin typeface="Carlito"/>
                <a:cs typeface="Carlito"/>
              </a:defRPr>
            </a:lvl1pPr>
          </a:lstStyle>
          <a:p>
            <a:endParaRPr/>
          </a:p>
        </p:txBody>
      </p:sp>
      <p:sp>
        <p:nvSpPr>
          <p:cNvPr id="3" name="Holder 3"/>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6/5/2024</a:t>
            </a:fld>
            <a:endParaRPr lang="en-US"/>
          </a:p>
        </p:txBody>
      </p:sp>
      <p:sp>
        <p:nvSpPr>
          <p:cNvPr id="5" name="Holder 5"/>
          <p:cNvSpPr>
            <a:spLocks noGrp="1"/>
          </p:cNvSpPr>
          <p:nvPr>
            <p:ph type="sldNum" sz="quarter" idx="7"/>
          </p:nvPr>
        </p:nvSpPr>
        <p:spPr>
          <a:xfrm>
            <a:off x="8401557" y="4830038"/>
            <a:ext cx="231775" cy="178435"/>
          </a:xfrm>
          <a:prstGeom prst="rect">
            <a:avLst/>
          </a:prstGeom>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6/5/2024</a:t>
            </a:fld>
            <a:endParaRPr lang="en-US"/>
          </a:p>
        </p:txBody>
      </p:sp>
      <p:sp>
        <p:nvSpPr>
          <p:cNvPr id="4" name="Holder 4"/>
          <p:cNvSpPr>
            <a:spLocks noGrp="1"/>
          </p:cNvSpPr>
          <p:nvPr>
            <p:ph type="sldNum" sz="quarter" idx="7"/>
          </p:nvPr>
        </p:nvSpPr>
        <p:spPr>
          <a:xfrm>
            <a:off x="8401557" y="4830038"/>
            <a:ext cx="231775" cy="178435"/>
          </a:xfrm>
          <a:prstGeom prst="rect">
            <a:avLst/>
          </a:prstGeom>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36.png"/><Relationship Id="rId2" Type="http://schemas.openxmlformats.org/officeDocument/2006/relationships/image" Target="../media/image23.png"/><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40.png"/><Relationship Id="rId2" Type="http://schemas.openxmlformats.org/officeDocument/2006/relationships/image" Target="../media/image26.png"/><Relationship Id="rId1" Type="http://schemas.openxmlformats.org/officeDocument/2006/relationships/slideLayout" Target="../slideLayouts/slideLayout5.xml"/><Relationship Id="rId6" Type="http://schemas.openxmlformats.org/officeDocument/2006/relationships/image" Target="../media/image36.png"/><Relationship Id="rId5" Type="http://schemas.openxmlformats.org/officeDocument/2006/relationships/image" Target="../media/image39.png"/><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24.png"/><Relationship Id="rId7" Type="http://schemas.openxmlformats.org/officeDocument/2006/relationships/image" Target="../media/image36.png"/><Relationship Id="rId2" Type="http://schemas.openxmlformats.org/officeDocument/2006/relationships/image" Target="../media/image23.png"/><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s://www.youtube.com/watch?v=qg_M37WGKG8&amp;t=1602s" TargetMode="External"/><Relationship Id="rId2" Type="http://schemas.openxmlformats.org/officeDocument/2006/relationships/hyperlink" Target="https://developers.google.com/machine-learning/clustering/algorithm/advantages-disadvantages"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9000" y="361950"/>
            <a:ext cx="3376422" cy="443070"/>
          </a:xfrm>
          <a:prstGeom prst="rect">
            <a:avLst/>
          </a:prstGeom>
        </p:spPr>
        <p:txBody>
          <a:bodyPr vert="horz" wrap="square" lIns="0" tIns="12065" rIns="0" bIns="0" rtlCol="0">
            <a:spAutoFit/>
          </a:bodyPr>
          <a:lstStyle/>
          <a:p>
            <a:pPr marL="12700">
              <a:lnSpc>
                <a:spcPct val="100000"/>
              </a:lnSpc>
              <a:spcBef>
                <a:spcPts val="95"/>
              </a:spcBef>
            </a:pPr>
            <a:r>
              <a:rPr lang="en-US" spc="-10" dirty="0"/>
              <a:t>K means clustering</a:t>
            </a:r>
            <a:endParaRPr spc="-1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a:t>
            </a:fld>
            <a:endParaRPr dirty="0"/>
          </a:p>
        </p:txBody>
      </p:sp>
      <p:sp>
        <p:nvSpPr>
          <p:cNvPr id="3" name="object 3"/>
          <p:cNvSpPr txBox="1"/>
          <p:nvPr/>
        </p:nvSpPr>
        <p:spPr>
          <a:xfrm>
            <a:off x="535940" y="1156563"/>
            <a:ext cx="4691380" cy="756920"/>
          </a:xfrm>
          <a:prstGeom prst="rect">
            <a:avLst/>
          </a:prstGeom>
        </p:spPr>
        <p:txBody>
          <a:bodyPr vert="horz" wrap="square" lIns="0" tIns="73660" rIns="0" bIns="0" rtlCol="0">
            <a:spAutoFit/>
          </a:bodyPr>
          <a:lstStyle/>
          <a:p>
            <a:pPr marL="355600" indent="-342900">
              <a:lnSpc>
                <a:spcPct val="100000"/>
              </a:lnSpc>
              <a:spcBef>
                <a:spcPts val="580"/>
              </a:spcBef>
              <a:buFont typeface="Arial"/>
              <a:buChar char="•"/>
              <a:tabLst>
                <a:tab pos="354965" algn="l"/>
                <a:tab pos="355600" algn="l"/>
              </a:tabLst>
            </a:pPr>
            <a:r>
              <a:rPr sz="2000" spc="-5" dirty="0">
                <a:latin typeface="Carlito"/>
                <a:cs typeface="Carlito"/>
              </a:rPr>
              <a:t>Classification of clustering</a:t>
            </a:r>
            <a:r>
              <a:rPr sz="2000" spc="35" dirty="0">
                <a:latin typeface="Carlito"/>
                <a:cs typeface="Carlito"/>
              </a:rPr>
              <a:t> </a:t>
            </a:r>
            <a:r>
              <a:rPr sz="2000" spc="-5" dirty="0">
                <a:latin typeface="Carlito"/>
                <a:cs typeface="Carlito"/>
              </a:rPr>
              <a:t>methods</a:t>
            </a:r>
            <a:endParaRPr sz="2000">
              <a:latin typeface="Carlito"/>
              <a:cs typeface="Carlito"/>
            </a:endParaRPr>
          </a:p>
          <a:p>
            <a:pPr marL="355600" indent="-342900">
              <a:lnSpc>
                <a:spcPct val="100000"/>
              </a:lnSpc>
              <a:spcBef>
                <a:spcPts val="480"/>
              </a:spcBef>
              <a:buFont typeface="Arial"/>
              <a:buChar char="•"/>
              <a:tabLst>
                <a:tab pos="354965" algn="l"/>
                <a:tab pos="355600" algn="l"/>
              </a:tabLst>
            </a:pPr>
            <a:r>
              <a:rPr sz="2000" spc="-5" dirty="0">
                <a:latin typeface="Carlito"/>
                <a:cs typeface="Carlito"/>
              </a:rPr>
              <a:t>Partitioning method: </a:t>
            </a:r>
            <a:r>
              <a:rPr sz="2000" dirty="0">
                <a:latin typeface="Carlito"/>
                <a:cs typeface="Carlito"/>
              </a:rPr>
              <a:t>K – means</a:t>
            </a:r>
            <a:r>
              <a:rPr sz="2000" spc="20" dirty="0">
                <a:latin typeface="Carlito"/>
                <a:cs typeface="Carlito"/>
              </a:rPr>
              <a:t> </a:t>
            </a:r>
            <a:r>
              <a:rPr sz="2000" spc="-10" dirty="0">
                <a:latin typeface="Carlito"/>
                <a:cs typeface="Carlito"/>
              </a:rPr>
              <a:t>clustering</a:t>
            </a:r>
            <a:endParaRPr sz="2000">
              <a:latin typeface="Carlito"/>
              <a:cs typeface="Carl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580" y="385953"/>
            <a:ext cx="5179695" cy="452120"/>
          </a:xfrm>
          <a:prstGeom prst="rect">
            <a:avLst/>
          </a:prstGeom>
        </p:spPr>
        <p:txBody>
          <a:bodyPr vert="horz" wrap="square" lIns="0" tIns="12065" rIns="0" bIns="0" rtlCol="0">
            <a:spAutoFit/>
          </a:bodyPr>
          <a:lstStyle/>
          <a:p>
            <a:pPr marL="12700">
              <a:lnSpc>
                <a:spcPct val="100000"/>
              </a:lnSpc>
              <a:spcBef>
                <a:spcPts val="95"/>
              </a:spcBef>
            </a:pPr>
            <a:r>
              <a:rPr spc="-10" dirty="0"/>
              <a:t>Classification </a:t>
            </a:r>
            <a:r>
              <a:rPr spc="-5" dirty="0"/>
              <a:t>of </a:t>
            </a:r>
            <a:r>
              <a:rPr spc="-15" dirty="0"/>
              <a:t>Clustering</a:t>
            </a:r>
            <a:r>
              <a:rPr spc="30" dirty="0"/>
              <a:t> </a:t>
            </a:r>
            <a:r>
              <a:rPr spc="-5" dirty="0"/>
              <a:t>Methods</a:t>
            </a:r>
          </a:p>
        </p:txBody>
      </p:sp>
      <p:grpSp>
        <p:nvGrpSpPr>
          <p:cNvPr id="3" name="object 3"/>
          <p:cNvGrpSpPr/>
          <p:nvPr/>
        </p:nvGrpSpPr>
        <p:grpSpPr>
          <a:xfrm>
            <a:off x="2808668" y="1188656"/>
            <a:ext cx="2740660" cy="2082164"/>
            <a:chOff x="2808668" y="1188656"/>
            <a:chExt cx="2740660" cy="2082164"/>
          </a:xfrm>
        </p:grpSpPr>
        <p:sp>
          <p:nvSpPr>
            <p:cNvPr id="4" name="object 4"/>
            <p:cNvSpPr/>
            <p:nvPr/>
          </p:nvSpPr>
          <p:spPr>
            <a:xfrm>
              <a:off x="5535929" y="2934461"/>
              <a:ext cx="0" cy="323215"/>
            </a:xfrm>
            <a:custGeom>
              <a:avLst/>
              <a:gdLst/>
              <a:ahLst/>
              <a:cxnLst/>
              <a:rect l="l" t="t" r="r" b="b"/>
              <a:pathLst>
                <a:path h="323214">
                  <a:moveTo>
                    <a:pt x="0" y="0"/>
                  </a:moveTo>
                  <a:lnTo>
                    <a:pt x="0" y="322961"/>
                  </a:lnTo>
                </a:path>
              </a:pathLst>
            </a:custGeom>
            <a:ln w="25908">
              <a:solidFill>
                <a:srgbClr val="4674AB"/>
              </a:solidFill>
            </a:ln>
          </p:spPr>
          <p:txBody>
            <a:bodyPr wrap="square" lIns="0" tIns="0" rIns="0" bIns="0" rtlCol="0"/>
            <a:lstStyle/>
            <a:p>
              <a:endParaRPr/>
            </a:p>
          </p:txBody>
        </p:sp>
        <p:sp>
          <p:nvSpPr>
            <p:cNvPr id="5" name="object 5"/>
            <p:cNvSpPr/>
            <p:nvPr/>
          </p:nvSpPr>
          <p:spPr>
            <a:xfrm>
              <a:off x="3499865" y="1907286"/>
              <a:ext cx="2035810" cy="323215"/>
            </a:xfrm>
            <a:custGeom>
              <a:avLst/>
              <a:gdLst/>
              <a:ahLst/>
              <a:cxnLst/>
              <a:rect l="l" t="t" r="r" b="b"/>
              <a:pathLst>
                <a:path w="2035810" h="323214">
                  <a:moveTo>
                    <a:pt x="1018032" y="0"/>
                  </a:moveTo>
                  <a:lnTo>
                    <a:pt x="1018032" y="220090"/>
                  </a:lnTo>
                  <a:lnTo>
                    <a:pt x="2035810" y="220090"/>
                  </a:lnTo>
                  <a:lnTo>
                    <a:pt x="2035810" y="322961"/>
                  </a:lnTo>
                </a:path>
                <a:path w="2035810" h="323214">
                  <a:moveTo>
                    <a:pt x="1017778" y="0"/>
                  </a:moveTo>
                  <a:lnTo>
                    <a:pt x="1017778" y="220090"/>
                  </a:lnTo>
                  <a:lnTo>
                    <a:pt x="0" y="220090"/>
                  </a:lnTo>
                  <a:lnTo>
                    <a:pt x="0" y="322961"/>
                  </a:lnTo>
                </a:path>
              </a:pathLst>
            </a:custGeom>
            <a:ln w="25908">
              <a:solidFill>
                <a:srgbClr val="3C6695"/>
              </a:solidFill>
            </a:ln>
          </p:spPr>
          <p:txBody>
            <a:bodyPr wrap="square" lIns="0" tIns="0" rIns="0" bIns="0" rtlCol="0"/>
            <a:lstStyle/>
            <a:p>
              <a:endParaRPr/>
            </a:p>
          </p:txBody>
        </p:sp>
        <p:sp>
          <p:nvSpPr>
            <p:cNvPr id="6" name="object 6"/>
            <p:cNvSpPr/>
            <p:nvPr/>
          </p:nvSpPr>
          <p:spPr>
            <a:xfrm>
              <a:off x="3963161" y="1201674"/>
              <a:ext cx="1109980" cy="706120"/>
            </a:xfrm>
            <a:custGeom>
              <a:avLst/>
              <a:gdLst/>
              <a:ahLst/>
              <a:cxnLst/>
              <a:rect l="l" t="t" r="r" b="b"/>
              <a:pathLst>
                <a:path w="1109979" h="706119">
                  <a:moveTo>
                    <a:pt x="1038860" y="0"/>
                  </a:moveTo>
                  <a:lnTo>
                    <a:pt x="70612" y="0"/>
                  </a:lnTo>
                  <a:lnTo>
                    <a:pt x="43130" y="5550"/>
                  </a:lnTo>
                  <a:lnTo>
                    <a:pt x="20685" y="20685"/>
                  </a:lnTo>
                  <a:lnTo>
                    <a:pt x="5550" y="43130"/>
                  </a:lnTo>
                  <a:lnTo>
                    <a:pt x="0" y="70612"/>
                  </a:lnTo>
                  <a:lnTo>
                    <a:pt x="0" y="635000"/>
                  </a:lnTo>
                  <a:lnTo>
                    <a:pt x="5550" y="662481"/>
                  </a:lnTo>
                  <a:lnTo>
                    <a:pt x="20685" y="684926"/>
                  </a:lnTo>
                  <a:lnTo>
                    <a:pt x="43130" y="700061"/>
                  </a:lnTo>
                  <a:lnTo>
                    <a:pt x="70612" y="705612"/>
                  </a:lnTo>
                  <a:lnTo>
                    <a:pt x="1038860" y="705612"/>
                  </a:lnTo>
                  <a:lnTo>
                    <a:pt x="1066341" y="700061"/>
                  </a:lnTo>
                  <a:lnTo>
                    <a:pt x="1088786" y="684926"/>
                  </a:lnTo>
                  <a:lnTo>
                    <a:pt x="1103921" y="662481"/>
                  </a:lnTo>
                  <a:lnTo>
                    <a:pt x="1109472" y="635000"/>
                  </a:lnTo>
                  <a:lnTo>
                    <a:pt x="1109472" y="70612"/>
                  </a:lnTo>
                  <a:lnTo>
                    <a:pt x="1103921" y="43130"/>
                  </a:lnTo>
                  <a:lnTo>
                    <a:pt x="1088786" y="20685"/>
                  </a:lnTo>
                  <a:lnTo>
                    <a:pt x="1066341" y="5550"/>
                  </a:lnTo>
                  <a:lnTo>
                    <a:pt x="1038860" y="0"/>
                  </a:lnTo>
                  <a:close/>
                </a:path>
              </a:pathLst>
            </a:custGeom>
            <a:solidFill>
              <a:srgbClr val="4F81BC"/>
            </a:solidFill>
          </p:spPr>
          <p:txBody>
            <a:bodyPr wrap="square" lIns="0" tIns="0" rIns="0" bIns="0" rtlCol="0"/>
            <a:lstStyle/>
            <a:p>
              <a:endParaRPr/>
            </a:p>
          </p:txBody>
        </p:sp>
        <p:sp>
          <p:nvSpPr>
            <p:cNvPr id="7" name="object 7"/>
            <p:cNvSpPr/>
            <p:nvPr/>
          </p:nvSpPr>
          <p:spPr>
            <a:xfrm>
              <a:off x="3963161" y="1201674"/>
              <a:ext cx="1109980" cy="706120"/>
            </a:xfrm>
            <a:custGeom>
              <a:avLst/>
              <a:gdLst/>
              <a:ahLst/>
              <a:cxnLst/>
              <a:rect l="l" t="t" r="r" b="b"/>
              <a:pathLst>
                <a:path w="1109979" h="706119">
                  <a:moveTo>
                    <a:pt x="0" y="70612"/>
                  </a:moveTo>
                  <a:lnTo>
                    <a:pt x="5550" y="43130"/>
                  </a:lnTo>
                  <a:lnTo>
                    <a:pt x="20685" y="20685"/>
                  </a:lnTo>
                  <a:lnTo>
                    <a:pt x="43130" y="5550"/>
                  </a:lnTo>
                  <a:lnTo>
                    <a:pt x="70612" y="0"/>
                  </a:lnTo>
                  <a:lnTo>
                    <a:pt x="1038860" y="0"/>
                  </a:lnTo>
                  <a:lnTo>
                    <a:pt x="1066341" y="5550"/>
                  </a:lnTo>
                  <a:lnTo>
                    <a:pt x="1088786" y="20685"/>
                  </a:lnTo>
                  <a:lnTo>
                    <a:pt x="1103921" y="43130"/>
                  </a:lnTo>
                  <a:lnTo>
                    <a:pt x="1109472" y="70612"/>
                  </a:lnTo>
                  <a:lnTo>
                    <a:pt x="1109472" y="635000"/>
                  </a:lnTo>
                  <a:lnTo>
                    <a:pt x="1103921" y="662481"/>
                  </a:lnTo>
                  <a:lnTo>
                    <a:pt x="1088786" y="684926"/>
                  </a:lnTo>
                  <a:lnTo>
                    <a:pt x="1066341" y="700061"/>
                  </a:lnTo>
                  <a:lnTo>
                    <a:pt x="1038860" y="705612"/>
                  </a:lnTo>
                  <a:lnTo>
                    <a:pt x="70612" y="705612"/>
                  </a:lnTo>
                  <a:lnTo>
                    <a:pt x="43130" y="700061"/>
                  </a:lnTo>
                  <a:lnTo>
                    <a:pt x="20685" y="684926"/>
                  </a:lnTo>
                  <a:lnTo>
                    <a:pt x="5550" y="662481"/>
                  </a:lnTo>
                  <a:lnTo>
                    <a:pt x="0" y="635000"/>
                  </a:lnTo>
                  <a:lnTo>
                    <a:pt x="0" y="70612"/>
                  </a:lnTo>
                  <a:close/>
                </a:path>
              </a:pathLst>
            </a:custGeom>
            <a:ln w="25908">
              <a:solidFill>
                <a:srgbClr val="FFFFFF"/>
              </a:solidFill>
            </a:ln>
          </p:spPr>
          <p:txBody>
            <a:bodyPr wrap="square" lIns="0" tIns="0" rIns="0" bIns="0" rtlCol="0"/>
            <a:lstStyle/>
            <a:p>
              <a:endParaRPr/>
            </a:p>
          </p:txBody>
        </p:sp>
        <p:sp>
          <p:nvSpPr>
            <p:cNvPr id="8" name="object 8"/>
            <p:cNvSpPr/>
            <p:nvPr/>
          </p:nvSpPr>
          <p:spPr>
            <a:xfrm>
              <a:off x="4086605" y="1319022"/>
              <a:ext cx="1109980" cy="706120"/>
            </a:xfrm>
            <a:custGeom>
              <a:avLst/>
              <a:gdLst/>
              <a:ahLst/>
              <a:cxnLst/>
              <a:rect l="l" t="t" r="r" b="b"/>
              <a:pathLst>
                <a:path w="1109979" h="706119">
                  <a:moveTo>
                    <a:pt x="1038860" y="0"/>
                  </a:moveTo>
                  <a:lnTo>
                    <a:pt x="70612" y="0"/>
                  </a:lnTo>
                  <a:lnTo>
                    <a:pt x="43130" y="5550"/>
                  </a:lnTo>
                  <a:lnTo>
                    <a:pt x="20685" y="20685"/>
                  </a:lnTo>
                  <a:lnTo>
                    <a:pt x="5550" y="43130"/>
                  </a:lnTo>
                  <a:lnTo>
                    <a:pt x="0" y="70612"/>
                  </a:lnTo>
                  <a:lnTo>
                    <a:pt x="0" y="635000"/>
                  </a:lnTo>
                  <a:lnTo>
                    <a:pt x="5550" y="662481"/>
                  </a:lnTo>
                  <a:lnTo>
                    <a:pt x="20685" y="684926"/>
                  </a:lnTo>
                  <a:lnTo>
                    <a:pt x="43130" y="700061"/>
                  </a:lnTo>
                  <a:lnTo>
                    <a:pt x="70612" y="705611"/>
                  </a:lnTo>
                  <a:lnTo>
                    <a:pt x="1038860" y="705611"/>
                  </a:lnTo>
                  <a:lnTo>
                    <a:pt x="1066341" y="700061"/>
                  </a:lnTo>
                  <a:lnTo>
                    <a:pt x="1088786" y="684926"/>
                  </a:lnTo>
                  <a:lnTo>
                    <a:pt x="1103921" y="662481"/>
                  </a:lnTo>
                  <a:lnTo>
                    <a:pt x="1109472" y="635000"/>
                  </a:lnTo>
                  <a:lnTo>
                    <a:pt x="1109472" y="70612"/>
                  </a:lnTo>
                  <a:lnTo>
                    <a:pt x="1103921" y="43130"/>
                  </a:lnTo>
                  <a:lnTo>
                    <a:pt x="1088786" y="20685"/>
                  </a:lnTo>
                  <a:lnTo>
                    <a:pt x="1066341" y="5550"/>
                  </a:lnTo>
                  <a:lnTo>
                    <a:pt x="1038860" y="0"/>
                  </a:lnTo>
                  <a:close/>
                </a:path>
              </a:pathLst>
            </a:custGeom>
            <a:solidFill>
              <a:srgbClr val="FFFFFF">
                <a:alpha val="90194"/>
              </a:srgbClr>
            </a:solidFill>
          </p:spPr>
          <p:txBody>
            <a:bodyPr wrap="square" lIns="0" tIns="0" rIns="0" bIns="0" rtlCol="0"/>
            <a:lstStyle/>
            <a:p>
              <a:endParaRPr/>
            </a:p>
          </p:txBody>
        </p:sp>
        <p:sp>
          <p:nvSpPr>
            <p:cNvPr id="9" name="object 9"/>
            <p:cNvSpPr/>
            <p:nvPr/>
          </p:nvSpPr>
          <p:spPr>
            <a:xfrm>
              <a:off x="4086605" y="1319022"/>
              <a:ext cx="1109980" cy="706120"/>
            </a:xfrm>
            <a:custGeom>
              <a:avLst/>
              <a:gdLst/>
              <a:ahLst/>
              <a:cxnLst/>
              <a:rect l="l" t="t" r="r" b="b"/>
              <a:pathLst>
                <a:path w="1109979" h="706119">
                  <a:moveTo>
                    <a:pt x="0" y="70612"/>
                  </a:moveTo>
                  <a:lnTo>
                    <a:pt x="5550" y="43130"/>
                  </a:lnTo>
                  <a:lnTo>
                    <a:pt x="20685" y="20685"/>
                  </a:lnTo>
                  <a:lnTo>
                    <a:pt x="43130" y="5550"/>
                  </a:lnTo>
                  <a:lnTo>
                    <a:pt x="70612" y="0"/>
                  </a:lnTo>
                  <a:lnTo>
                    <a:pt x="1038860" y="0"/>
                  </a:lnTo>
                  <a:lnTo>
                    <a:pt x="1066341" y="5550"/>
                  </a:lnTo>
                  <a:lnTo>
                    <a:pt x="1088786" y="20685"/>
                  </a:lnTo>
                  <a:lnTo>
                    <a:pt x="1103921" y="43130"/>
                  </a:lnTo>
                  <a:lnTo>
                    <a:pt x="1109472" y="70612"/>
                  </a:lnTo>
                  <a:lnTo>
                    <a:pt x="1109472" y="635000"/>
                  </a:lnTo>
                  <a:lnTo>
                    <a:pt x="1103921" y="662481"/>
                  </a:lnTo>
                  <a:lnTo>
                    <a:pt x="1088786" y="684926"/>
                  </a:lnTo>
                  <a:lnTo>
                    <a:pt x="1066341" y="700061"/>
                  </a:lnTo>
                  <a:lnTo>
                    <a:pt x="1038860" y="705611"/>
                  </a:lnTo>
                  <a:lnTo>
                    <a:pt x="70612" y="705611"/>
                  </a:lnTo>
                  <a:lnTo>
                    <a:pt x="43130" y="700061"/>
                  </a:lnTo>
                  <a:lnTo>
                    <a:pt x="20685" y="684926"/>
                  </a:lnTo>
                  <a:lnTo>
                    <a:pt x="5550" y="662481"/>
                  </a:lnTo>
                  <a:lnTo>
                    <a:pt x="0" y="635000"/>
                  </a:lnTo>
                  <a:lnTo>
                    <a:pt x="0" y="70612"/>
                  </a:lnTo>
                  <a:close/>
                </a:path>
              </a:pathLst>
            </a:custGeom>
            <a:ln w="25908">
              <a:solidFill>
                <a:srgbClr val="4F81BC"/>
              </a:solidFill>
            </a:ln>
          </p:spPr>
          <p:txBody>
            <a:bodyPr wrap="square" lIns="0" tIns="0" rIns="0" bIns="0" rtlCol="0"/>
            <a:lstStyle/>
            <a:p>
              <a:endParaRPr/>
            </a:p>
          </p:txBody>
        </p:sp>
        <p:sp>
          <p:nvSpPr>
            <p:cNvPr id="10" name="object 10"/>
            <p:cNvSpPr/>
            <p:nvPr/>
          </p:nvSpPr>
          <p:spPr>
            <a:xfrm>
              <a:off x="2821685" y="2934461"/>
              <a:ext cx="1356995" cy="323215"/>
            </a:xfrm>
            <a:custGeom>
              <a:avLst/>
              <a:gdLst/>
              <a:ahLst/>
              <a:cxnLst/>
              <a:rect l="l" t="t" r="r" b="b"/>
              <a:pathLst>
                <a:path w="1356995" h="323214">
                  <a:moveTo>
                    <a:pt x="678179" y="0"/>
                  </a:moveTo>
                  <a:lnTo>
                    <a:pt x="678179" y="220090"/>
                  </a:lnTo>
                  <a:lnTo>
                    <a:pt x="1356614" y="220090"/>
                  </a:lnTo>
                  <a:lnTo>
                    <a:pt x="1356614" y="322961"/>
                  </a:lnTo>
                </a:path>
                <a:path w="1356995" h="323214">
                  <a:moveTo>
                    <a:pt x="678434" y="0"/>
                  </a:moveTo>
                  <a:lnTo>
                    <a:pt x="678434" y="220090"/>
                  </a:lnTo>
                  <a:lnTo>
                    <a:pt x="0" y="220090"/>
                  </a:lnTo>
                  <a:lnTo>
                    <a:pt x="0" y="322961"/>
                  </a:lnTo>
                </a:path>
              </a:pathLst>
            </a:custGeom>
            <a:ln w="25908">
              <a:solidFill>
                <a:srgbClr val="4674AB"/>
              </a:solidFill>
            </a:ln>
          </p:spPr>
          <p:txBody>
            <a:bodyPr wrap="square" lIns="0" tIns="0" rIns="0" bIns="0" rtlCol="0"/>
            <a:lstStyle/>
            <a:p>
              <a:endParaRPr/>
            </a:p>
          </p:txBody>
        </p:sp>
      </p:grpSp>
      <p:sp>
        <p:nvSpPr>
          <p:cNvPr id="11" name="object 11"/>
          <p:cNvSpPr txBox="1"/>
          <p:nvPr/>
        </p:nvSpPr>
        <p:spPr>
          <a:xfrm>
            <a:off x="4316348" y="1465326"/>
            <a:ext cx="647700" cy="375920"/>
          </a:xfrm>
          <a:prstGeom prst="rect">
            <a:avLst/>
          </a:prstGeom>
        </p:spPr>
        <p:txBody>
          <a:bodyPr vert="horz" wrap="square" lIns="0" tIns="30480" rIns="0" bIns="0" rtlCol="0">
            <a:spAutoFit/>
          </a:bodyPr>
          <a:lstStyle/>
          <a:p>
            <a:pPr marL="44450" marR="5080" indent="-32384">
              <a:lnSpc>
                <a:spcPts val="1320"/>
              </a:lnSpc>
              <a:spcBef>
                <a:spcPts val="240"/>
              </a:spcBef>
            </a:pPr>
            <a:r>
              <a:rPr sz="1200" spc="-5" dirty="0">
                <a:latin typeface="Carlito"/>
                <a:cs typeface="Carlito"/>
              </a:rPr>
              <a:t>C</a:t>
            </a:r>
            <a:r>
              <a:rPr sz="1200" dirty="0">
                <a:latin typeface="Carlito"/>
                <a:cs typeface="Carlito"/>
              </a:rPr>
              <a:t>l</a:t>
            </a:r>
            <a:r>
              <a:rPr sz="1200" spc="5" dirty="0">
                <a:latin typeface="Carlito"/>
                <a:cs typeface="Carlito"/>
              </a:rPr>
              <a:t>u</a:t>
            </a:r>
            <a:r>
              <a:rPr sz="1200" spc="-15" dirty="0">
                <a:latin typeface="Carlito"/>
                <a:cs typeface="Carlito"/>
              </a:rPr>
              <a:t>s</a:t>
            </a:r>
            <a:r>
              <a:rPr sz="1200" spc="-10" dirty="0">
                <a:latin typeface="Carlito"/>
                <a:cs typeface="Carlito"/>
              </a:rPr>
              <a:t>t</a:t>
            </a:r>
            <a:r>
              <a:rPr sz="1200" dirty="0">
                <a:latin typeface="Carlito"/>
                <a:cs typeface="Carlito"/>
              </a:rPr>
              <a:t>eri</a:t>
            </a:r>
            <a:r>
              <a:rPr sz="1200" spc="5" dirty="0">
                <a:latin typeface="Carlito"/>
                <a:cs typeface="Carlito"/>
              </a:rPr>
              <a:t>n</a:t>
            </a:r>
            <a:r>
              <a:rPr sz="1200" dirty="0">
                <a:latin typeface="Carlito"/>
                <a:cs typeface="Carlito"/>
              </a:rPr>
              <a:t>g  </a:t>
            </a:r>
            <a:r>
              <a:rPr sz="1200" spc="-5" dirty="0">
                <a:latin typeface="Carlito"/>
                <a:cs typeface="Carlito"/>
              </a:rPr>
              <a:t>Methods</a:t>
            </a:r>
            <a:endParaRPr sz="1200">
              <a:latin typeface="Carlito"/>
              <a:cs typeface="Carlito"/>
            </a:endParaRPr>
          </a:p>
        </p:txBody>
      </p:sp>
      <p:grpSp>
        <p:nvGrpSpPr>
          <p:cNvPr id="12" name="object 12"/>
          <p:cNvGrpSpPr/>
          <p:nvPr/>
        </p:nvGrpSpPr>
        <p:grpSpPr>
          <a:xfrm>
            <a:off x="2932112" y="2217356"/>
            <a:ext cx="1259205" cy="847725"/>
            <a:chOff x="2932112" y="2217356"/>
            <a:chExt cx="1259205" cy="847725"/>
          </a:xfrm>
        </p:grpSpPr>
        <p:sp>
          <p:nvSpPr>
            <p:cNvPr id="13" name="object 13"/>
            <p:cNvSpPr/>
            <p:nvPr/>
          </p:nvSpPr>
          <p:spPr>
            <a:xfrm>
              <a:off x="2945129" y="2230374"/>
              <a:ext cx="1109980" cy="704215"/>
            </a:xfrm>
            <a:custGeom>
              <a:avLst/>
              <a:gdLst/>
              <a:ahLst/>
              <a:cxnLst/>
              <a:rect l="l" t="t" r="r" b="b"/>
              <a:pathLst>
                <a:path w="1109979" h="704214">
                  <a:moveTo>
                    <a:pt x="1039114" y="0"/>
                  </a:moveTo>
                  <a:lnTo>
                    <a:pt x="70357" y="0"/>
                  </a:lnTo>
                  <a:lnTo>
                    <a:pt x="42969" y="5528"/>
                  </a:lnTo>
                  <a:lnTo>
                    <a:pt x="20605" y="20605"/>
                  </a:lnTo>
                  <a:lnTo>
                    <a:pt x="5528" y="42969"/>
                  </a:lnTo>
                  <a:lnTo>
                    <a:pt x="0" y="70357"/>
                  </a:lnTo>
                  <a:lnTo>
                    <a:pt x="0" y="633730"/>
                  </a:lnTo>
                  <a:lnTo>
                    <a:pt x="5528" y="661118"/>
                  </a:lnTo>
                  <a:lnTo>
                    <a:pt x="20605" y="683482"/>
                  </a:lnTo>
                  <a:lnTo>
                    <a:pt x="42969" y="698559"/>
                  </a:lnTo>
                  <a:lnTo>
                    <a:pt x="70357" y="704088"/>
                  </a:lnTo>
                  <a:lnTo>
                    <a:pt x="1039114" y="704088"/>
                  </a:lnTo>
                  <a:lnTo>
                    <a:pt x="1066502" y="698559"/>
                  </a:lnTo>
                  <a:lnTo>
                    <a:pt x="1088866" y="683482"/>
                  </a:lnTo>
                  <a:lnTo>
                    <a:pt x="1103943" y="661118"/>
                  </a:lnTo>
                  <a:lnTo>
                    <a:pt x="1109471" y="633730"/>
                  </a:lnTo>
                  <a:lnTo>
                    <a:pt x="1109471" y="70357"/>
                  </a:lnTo>
                  <a:lnTo>
                    <a:pt x="1103943" y="42969"/>
                  </a:lnTo>
                  <a:lnTo>
                    <a:pt x="1088866" y="20605"/>
                  </a:lnTo>
                  <a:lnTo>
                    <a:pt x="1066502" y="5528"/>
                  </a:lnTo>
                  <a:lnTo>
                    <a:pt x="1039114" y="0"/>
                  </a:lnTo>
                  <a:close/>
                </a:path>
              </a:pathLst>
            </a:custGeom>
            <a:solidFill>
              <a:srgbClr val="4F81BC"/>
            </a:solidFill>
          </p:spPr>
          <p:txBody>
            <a:bodyPr wrap="square" lIns="0" tIns="0" rIns="0" bIns="0" rtlCol="0"/>
            <a:lstStyle/>
            <a:p>
              <a:endParaRPr/>
            </a:p>
          </p:txBody>
        </p:sp>
        <p:sp>
          <p:nvSpPr>
            <p:cNvPr id="14" name="object 14"/>
            <p:cNvSpPr/>
            <p:nvPr/>
          </p:nvSpPr>
          <p:spPr>
            <a:xfrm>
              <a:off x="2945129" y="2230374"/>
              <a:ext cx="1109980" cy="704215"/>
            </a:xfrm>
            <a:custGeom>
              <a:avLst/>
              <a:gdLst/>
              <a:ahLst/>
              <a:cxnLst/>
              <a:rect l="l" t="t" r="r" b="b"/>
              <a:pathLst>
                <a:path w="1109979" h="704214">
                  <a:moveTo>
                    <a:pt x="0" y="70357"/>
                  </a:moveTo>
                  <a:lnTo>
                    <a:pt x="5528" y="42969"/>
                  </a:lnTo>
                  <a:lnTo>
                    <a:pt x="20605" y="20605"/>
                  </a:lnTo>
                  <a:lnTo>
                    <a:pt x="42969" y="5528"/>
                  </a:lnTo>
                  <a:lnTo>
                    <a:pt x="70357" y="0"/>
                  </a:lnTo>
                  <a:lnTo>
                    <a:pt x="1039114" y="0"/>
                  </a:lnTo>
                  <a:lnTo>
                    <a:pt x="1066502" y="5528"/>
                  </a:lnTo>
                  <a:lnTo>
                    <a:pt x="1088866" y="20605"/>
                  </a:lnTo>
                  <a:lnTo>
                    <a:pt x="1103943" y="42969"/>
                  </a:lnTo>
                  <a:lnTo>
                    <a:pt x="1109471" y="70357"/>
                  </a:lnTo>
                  <a:lnTo>
                    <a:pt x="1109471" y="633730"/>
                  </a:lnTo>
                  <a:lnTo>
                    <a:pt x="1103943" y="661118"/>
                  </a:lnTo>
                  <a:lnTo>
                    <a:pt x="1088866" y="683482"/>
                  </a:lnTo>
                  <a:lnTo>
                    <a:pt x="1066502" y="698559"/>
                  </a:lnTo>
                  <a:lnTo>
                    <a:pt x="1039114" y="704088"/>
                  </a:lnTo>
                  <a:lnTo>
                    <a:pt x="70357" y="704088"/>
                  </a:lnTo>
                  <a:lnTo>
                    <a:pt x="42969" y="698559"/>
                  </a:lnTo>
                  <a:lnTo>
                    <a:pt x="20605" y="683482"/>
                  </a:lnTo>
                  <a:lnTo>
                    <a:pt x="5528" y="661118"/>
                  </a:lnTo>
                  <a:lnTo>
                    <a:pt x="0" y="633730"/>
                  </a:lnTo>
                  <a:lnTo>
                    <a:pt x="0" y="70357"/>
                  </a:lnTo>
                  <a:close/>
                </a:path>
              </a:pathLst>
            </a:custGeom>
            <a:ln w="25908">
              <a:solidFill>
                <a:srgbClr val="FFFFFF"/>
              </a:solidFill>
            </a:ln>
          </p:spPr>
          <p:txBody>
            <a:bodyPr wrap="square" lIns="0" tIns="0" rIns="0" bIns="0" rtlCol="0"/>
            <a:lstStyle/>
            <a:p>
              <a:endParaRPr/>
            </a:p>
          </p:txBody>
        </p:sp>
        <p:sp>
          <p:nvSpPr>
            <p:cNvPr id="15" name="object 15"/>
            <p:cNvSpPr/>
            <p:nvPr/>
          </p:nvSpPr>
          <p:spPr>
            <a:xfrm>
              <a:off x="3068573" y="2347722"/>
              <a:ext cx="1109980" cy="704215"/>
            </a:xfrm>
            <a:custGeom>
              <a:avLst/>
              <a:gdLst/>
              <a:ahLst/>
              <a:cxnLst/>
              <a:rect l="l" t="t" r="r" b="b"/>
              <a:pathLst>
                <a:path w="1109979" h="704214">
                  <a:moveTo>
                    <a:pt x="1039113" y="0"/>
                  </a:moveTo>
                  <a:lnTo>
                    <a:pt x="70357" y="0"/>
                  </a:lnTo>
                  <a:lnTo>
                    <a:pt x="42969" y="5528"/>
                  </a:lnTo>
                  <a:lnTo>
                    <a:pt x="20605" y="20605"/>
                  </a:lnTo>
                  <a:lnTo>
                    <a:pt x="5528" y="42969"/>
                  </a:lnTo>
                  <a:lnTo>
                    <a:pt x="0" y="70357"/>
                  </a:lnTo>
                  <a:lnTo>
                    <a:pt x="0" y="633729"/>
                  </a:lnTo>
                  <a:lnTo>
                    <a:pt x="5528" y="661118"/>
                  </a:lnTo>
                  <a:lnTo>
                    <a:pt x="20605" y="683482"/>
                  </a:lnTo>
                  <a:lnTo>
                    <a:pt x="42969" y="698559"/>
                  </a:lnTo>
                  <a:lnTo>
                    <a:pt x="70357" y="704088"/>
                  </a:lnTo>
                  <a:lnTo>
                    <a:pt x="1039113" y="704088"/>
                  </a:lnTo>
                  <a:lnTo>
                    <a:pt x="1066502" y="698559"/>
                  </a:lnTo>
                  <a:lnTo>
                    <a:pt x="1088866" y="683482"/>
                  </a:lnTo>
                  <a:lnTo>
                    <a:pt x="1103943" y="661118"/>
                  </a:lnTo>
                  <a:lnTo>
                    <a:pt x="1109472" y="633729"/>
                  </a:lnTo>
                  <a:lnTo>
                    <a:pt x="1109472" y="70357"/>
                  </a:lnTo>
                  <a:lnTo>
                    <a:pt x="1103943" y="42969"/>
                  </a:lnTo>
                  <a:lnTo>
                    <a:pt x="1088866" y="20605"/>
                  </a:lnTo>
                  <a:lnTo>
                    <a:pt x="1066502" y="5528"/>
                  </a:lnTo>
                  <a:lnTo>
                    <a:pt x="1039113" y="0"/>
                  </a:lnTo>
                  <a:close/>
                </a:path>
              </a:pathLst>
            </a:custGeom>
            <a:solidFill>
              <a:srgbClr val="FFFFFF">
                <a:alpha val="90194"/>
              </a:srgbClr>
            </a:solidFill>
          </p:spPr>
          <p:txBody>
            <a:bodyPr wrap="square" lIns="0" tIns="0" rIns="0" bIns="0" rtlCol="0"/>
            <a:lstStyle/>
            <a:p>
              <a:endParaRPr/>
            </a:p>
          </p:txBody>
        </p:sp>
        <p:sp>
          <p:nvSpPr>
            <p:cNvPr id="16" name="object 16"/>
            <p:cNvSpPr/>
            <p:nvPr/>
          </p:nvSpPr>
          <p:spPr>
            <a:xfrm>
              <a:off x="3068573" y="2347722"/>
              <a:ext cx="1109980" cy="704215"/>
            </a:xfrm>
            <a:custGeom>
              <a:avLst/>
              <a:gdLst/>
              <a:ahLst/>
              <a:cxnLst/>
              <a:rect l="l" t="t" r="r" b="b"/>
              <a:pathLst>
                <a:path w="1109979" h="704214">
                  <a:moveTo>
                    <a:pt x="0" y="70357"/>
                  </a:moveTo>
                  <a:lnTo>
                    <a:pt x="5528" y="42969"/>
                  </a:lnTo>
                  <a:lnTo>
                    <a:pt x="20605" y="20605"/>
                  </a:lnTo>
                  <a:lnTo>
                    <a:pt x="42969" y="5528"/>
                  </a:lnTo>
                  <a:lnTo>
                    <a:pt x="70357" y="0"/>
                  </a:lnTo>
                  <a:lnTo>
                    <a:pt x="1039113" y="0"/>
                  </a:lnTo>
                  <a:lnTo>
                    <a:pt x="1066502" y="5528"/>
                  </a:lnTo>
                  <a:lnTo>
                    <a:pt x="1088866" y="20605"/>
                  </a:lnTo>
                  <a:lnTo>
                    <a:pt x="1103943" y="42969"/>
                  </a:lnTo>
                  <a:lnTo>
                    <a:pt x="1109472" y="70357"/>
                  </a:lnTo>
                  <a:lnTo>
                    <a:pt x="1109472" y="633729"/>
                  </a:lnTo>
                  <a:lnTo>
                    <a:pt x="1103943" y="661118"/>
                  </a:lnTo>
                  <a:lnTo>
                    <a:pt x="1088866" y="683482"/>
                  </a:lnTo>
                  <a:lnTo>
                    <a:pt x="1066502" y="698559"/>
                  </a:lnTo>
                  <a:lnTo>
                    <a:pt x="1039113" y="704088"/>
                  </a:lnTo>
                  <a:lnTo>
                    <a:pt x="70357" y="704088"/>
                  </a:lnTo>
                  <a:lnTo>
                    <a:pt x="42969" y="698559"/>
                  </a:lnTo>
                  <a:lnTo>
                    <a:pt x="20605" y="683482"/>
                  </a:lnTo>
                  <a:lnTo>
                    <a:pt x="5528" y="661118"/>
                  </a:lnTo>
                  <a:lnTo>
                    <a:pt x="0" y="633729"/>
                  </a:lnTo>
                  <a:lnTo>
                    <a:pt x="0" y="70357"/>
                  </a:lnTo>
                  <a:close/>
                </a:path>
              </a:pathLst>
            </a:custGeom>
            <a:ln w="25908">
              <a:solidFill>
                <a:srgbClr val="4F81BC"/>
              </a:solidFill>
            </a:ln>
          </p:spPr>
          <p:txBody>
            <a:bodyPr wrap="square" lIns="0" tIns="0" rIns="0" bIns="0" rtlCol="0"/>
            <a:lstStyle/>
            <a:p>
              <a:endParaRPr/>
            </a:p>
          </p:txBody>
        </p:sp>
      </p:grpSp>
      <p:sp>
        <p:nvSpPr>
          <p:cNvPr id="17" name="object 17"/>
          <p:cNvSpPr txBox="1"/>
          <p:nvPr/>
        </p:nvSpPr>
        <p:spPr>
          <a:xfrm>
            <a:off x="3246501" y="2577210"/>
            <a:ext cx="751205"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Carlito"/>
                <a:cs typeface="Carlito"/>
              </a:rPr>
              <a:t>P</a:t>
            </a:r>
            <a:r>
              <a:rPr sz="1200" dirty="0">
                <a:latin typeface="Carlito"/>
                <a:cs typeface="Carlito"/>
              </a:rPr>
              <a:t>ar</a:t>
            </a:r>
            <a:r>
              <a:rPr sz="1200" spc="5" dirty="0">
                <a:latin typeface="Carlito"/>
                <a:cs typeface="Carlito"/>
              </a:rPr>
              <a:t>t</a:t>
            </a:r>
            <a:r>
              <a:rPr sz="1200" dirty="0">
                <a:latin typeface="Carlito"/>
                <a:cs typeface="Carlito"/>
              </a:rPr>
              <a:t>i</a:t>
            </a:r>
            <a:r>
              <a:rPr sz="1200" spc="5" dirty="0">
                <a:latin typeface="Carlito"/>
                <a:cs typeface="Carlito"/>
              </a:rPr>
              <a:t>t</a:t>
            </a:r>
            <a:r>
              <a:rPr sz="1200" dirty="0">
                <a:latin typeface="Carlito"/>
                <a:cs typeface="Carlito"/>
              </a:rPr>
              <a:t>io</a:t>
            </a:r>
            <a:r>
              <a:rPr sz="1200" spc="5" dirty="0">
                <a:latin typeface="Carlito"/>
                <a:cs typeface="Carlito"/>
              </a:rPr>
              <a:t>n</a:t>
            </a:r>
            <a:r>
              <a:rPr sz="1200" dirty="0">
                <a:latin typeface="Carlito"/>
                <a:cs typeface="Carlito"/>
              </a:rPr>
              <a:t>i</a:t>
            </a:r>
            <a:r>
              <a:rPr sz="1200" spc="5" dirty="0">
                <a:latin typeface="Carlito"/>
                <a:cs typeface="Carlito"/>
              </a:rPr>
              <a:t>n</a:t>
            </a:r>
            <a:r>
              <a:rPr sz="1200" dirty="0">
                <a:latin typeface="Carlito"/>
                <a:cs typeface="Carlito"/>
              </a:rPr>
              <a:t>g</a:t>
            </a:r>
            <a:endParaRPr sz="1200">
              <a:latin typeface="Carlito"/>
              <a:cs typeface="Carlito"/>
            </a:endParaRPr>
          </a:p>
        </p:txBody>
      </p:sp>
      <p:grpSp>
        <p:nvGrpSpPr>
          <p:cNvPr id="18" name="object 18"/>
          <p:cNvGrpSpPr/>
          <p:nvPr/>
        </p:nvGrpSpPr>
        <p:grpSpPr>
          <a:xfrm>
            <a:off x="2253932" y="3244532"/>
            <a:ext cx="1259205" cy="848994"/>
            <a:chOff x="2253932" y="3244532"/>
            <a:chExt cx="1259205" cy="848994"/>
          </a:xfrm>
        </p:grpSpPr>
        <p:sp>
          <p:nvSpPr>
            <p:cNvPr id="19" name="object 19"/>
            <p:cNvSpPr/>
            <p:nvPr/>
          </p:nvSpPr>
          <p:spPr>
            <a:xfrm>
              <a:off x="2266950" y="3257550"/>
              <a:ext cx="1109980" cy="706120"/>
            </a:xfrm>
            <a:custGeom>
              <a:avLst/>
              <a:gdLst/>
              <a:ahLst/>
              <a:cxnLst/>
              <a:rect l="l" t="t" r="r" b="b"/>
              <a:pathLst>
                <a:path w="1109979" h="706120">
                  <a:moveTo>
                    <a:pt x="1038860" y="0"/>
                  </a:moveTo>
                  <a:lnTo>
                    <a:pt x="70612" y="0"/>
                  </a:lnTo>
                  <a:lnTo>
                    <a:pt x="43130" y="5550"/>
                  </a:lnTo>
                  <a:lnTo>
                    <a:pt x="20685" y="20685"/>
                  </a:lnTo>
                  <a:lnTo>
                    <a:pt x="5550" y="43130"/>
                  </a:lnTo>
                  <a:lnTo>
                    <a:pt x="0" y="70612"/>
                  </a:lnTo>
                  <a:lnTo>
                    <a:pt x="0" y="635050"/>
                  </a:lnTo>
                  <a:lnTo>
                    <a:pt x="5550" y="662513"/>
                  </a:lnTo>
                  <a:lnTo>
                    <a:pt x="20685" y="684942"/>
                  </a:lnTo>
                  <a:lnTo>
                    <a:pt x="43130" y="700066"/>
                  </a:lnTo>
                  <a:lnTo>
                    <a:pt x="70612" y="705612"/>
                  </a:lnTo>
                  <a:lnTo>
                    <a:pt x="1038860" y="705612"/>
                  </a:lnTo>
                  <a:lnTo>
                    <a:pt x="1066341" y="700066"/>
                  </a:lnTo>
                  <a:lnTo>
                    <a:pt x="1088786" y="684942"/>
                  </a:lnTo>
                  <a:lnTo>
                    <a:pt x="1103921" y="662513"/>
                  </a:lnTo>
                  <a:lnTo>
                    <a:pt x="1109472" y="635050"/>
                  </a:lnTo>
                  <a:lnTo>
                    <a:pt x="1109472" y="70612"/>
                  </a:lnTo>
                  <a:lnTo>
                    <a:pt x="1103921" y="43130"/>
                  </a:lnTo>
                  <a:lnTo>
                    <a:pt x="1088786" y="20685"/>
                  </a:lnTo>
                  <a:lnTo>
                    <a:pt x="1066341" y="5550"/>
                  </a:lnTo>
                  <a:lnTo>
                    <a:pt x="1038860" y="0"/>
                  </a:lnTo>
                  <a:close/>
                </a:path>
              </a:pathLst>
            </a:custGeom>
            <a:solidFill>
              <a:srgbClr val="4F81BC"/>
            </a:solidFill>
          </p:spPr>
          <p:txBody>
            <a:bodyPr wrap="square" lIns="0" tIns="0" rIns="0" bIns="0" rtlCol="0"/>
            <a:lstStyle/>
            <a:p>
              <a:endParaRPr/>
            </a:p>
          </p:txBody>
        </p:sp>
        <p:sp>
          <p:nvSpPr>
            <p:cNvPr id="20" name="object 20"/>
            <p:cNvSpPr/>
            <p:nvPr/>
          </p:nvSpPr>
          <p:spPr>
            <a:xfrm>
              <a:off x="2266950" y="3257550"/>
              <a:ext cx="1109980" cy="706120"/>
            </a:xfrm>
            <a:custGeom>
              <a:avLst/>
              <a:gdLst/>
              <a:ahLst/>
              <a:cxnLst/>
              <a:rect l="l" t="t" r="r" b="b"/>
              <a:pathLst>
                <a:path w="1109979" h="706120">
                  <a:moveTo>
                    <a:pt x="0" y="70612"/>
                  </a:moveTo>
                  <a:lnTo>
                    <a:pt x="5550" y="43130"/>
                  </a:lnTo>
                  <a:lnTo>
                    <a:pt x="20685" y="20685"/>
                  </a:lnTo>
                  <a:lnTo>
                    <a:pt x="43130" y="5550"/>
                  </a:lnTo>
                  <a:lnTo>
                    <a:pt x="70612" y="0"/>
                  </a:lnTo>
                  <a:lnTo>
                    <a:pt x="1038860" y="0"/>
                  </a:lnTo>
                  <a:lnTo>
                    <a:pt x="1066341" y="5550"/>
                  </a:lnTo>
                  <a:lnTo>
                    <a:pt x="1088786" y="20685"/>
                  </a:lnTo>
                  <a:lnTo>
                    <a:pt x="1103921" y="43130"/>
                  </a:lnTo>
                  <a:lnTo>
                    <a:pt x="1109472" y="70612"/>
                  </a:lnTo>
                  <a:lnTo>
                    <a:pt x="1109472" y="635050"/>
                  </a:lnTo>
                  <a:lnTo>
                    <a:pt x="1103921" y="662513"/>
                  </a:lnTo>
                  <a:lnTo>
                    <a:pt x="1088786" y="684942"/>
                  </a:lnTo>
                  <a:lnTo>
                    <a:pt x="1066341" y="700066"/>
                  </a:lnTo>
                  <a:lnTo>
                    <a:pt x="1038860" y="705612"/>
                  </a:lnTo>
                  <a:lnTo>
                    <a:pt x="70612" y="705612"/>
                  </a:lnTo>
                  <a:lnTo>
                    <a:pt x="43130" y="700066"/>
                  </a:lnTo>
                  <a:lnTo>
                    <a:pt x="20685" y="684942"/>
                  </a:lnTo>
                  <a:lnTo>
                    <a:pt x="5550" y="662513"/>
                  </a:lnTo>
                  <a:lnTo>
                    <a:pt x="0" y="635050"/>
                  </a:lnTo>
                  <a:lnTo>
                    <a:pt x="0" y="70612"/>
                  </a:lnTo>
                  <a:close/>
                </a:path>
              </a:pathLst>
            </a:custGeom>
            <a:ln w="25908">
              <a:solidFill>
                <a:srgbClr val="FFFFFF"/>
              </a:solidFill>
            </a:ln>
          </p:spPr>
          <p:txBody>
            <a:bodyPr wrap="square" lIns="0" tIns="0" rIns="0" bIns="0" rtlCol="0"/>
            <a:lstStyle/>
            <a:p>
              <a:endParaRPr/>
            </a:p>
          </p:txBody>
        </p:sp>
        <p:sp>
          <p:nvSpPr>
            <p:cNvPr id="21" name="object 21"/>
            <p:cNvSpPr/>
            <p:nvPr/>
          </p:nvSpPr>
          <p:spPr>
            <a:xfrm>
              <a:off x="2390394" y="3374898"/>
              <a:ext cx="1109980" cy="706120"/>
            </a:xfrm>
            <a:custGeom>
              <a:avLst/>
              <a:gdLst/>
              <a:ahLst/>
              <a:cxnLst/>
              <a:rect l="l" t="t" r="r" b="b"/>
              <a:pathLst>
                <a:path w="1109979" h="706120">
                  <a:moveTo>
                    <a:pt x="1038859" y="0"/>
                  </a:moveTo>
                  <a:lnTo>
                    <a:pt x="70612" y="0"/>
                  </a:lnTo>
                  <a:lnTo>
                    <a:pt x="43130" y="5550"/>
                  </a:lnTo>
                  <a:lnTo>
                    <a:pt x="20685" y="20685"/>
                  </a:lnTo>
                  <a:lnTo>
                    <a:pt x="5550" y="43130"/>
                  </a:lnTo>
                  <a:lnTo>
                    <a:pt x="0" y="70612"/>
                  </a:lnTo>
                  <a:lnTo>
                    <a:pt x="0" y="635050"/>
                  </a:lnTo>
                  <a:lnTo>
                    <a:pt x="5550" y="662513"/>
                  </a:lnTo>
                  <a:lnTo>
                    <a:pt x="20685" y="684942"/>
                  </a:lnTo>
                  <a:lnTo>
                    <a:pt x="43130" y="700066"/>
                  </a:lnTo>
                  <a:lnTo>
                    <a:pt x="70612" y="705611"/>
                  </a:lnTo>
                  <a:lnTo>
                    <a:pt x="1038859" y="705611"/>
                  </a:lnTo>
                  <a:lnTo>
                    <a:pt x="1066341" y="700066"/>
                  </a:lnTo>
                  <a:lnTo>
                    <a:pt x="1088786" y="684942"/>
                  </a:lnTo>
                  <a:lnTo>
                    <a:pt x="1103921" y="662513"/>
                  </a:lnTo>
                  <a:lnTo>
                    <a:pt x="1109471" y="635050"/>
                  </a:lnTo>
                  <a:lnTo>
                    <a:pt x="1109471" y="70612"/>
                  </a:lnTo>
                  <a:lnTo>
                    <a:pt x="1103921" y="43130"/>
                  </a:lnTo>
                  <a:lnTo>
                    <a:pt x="1088786" y="20685"/>
                  </a:lnTo>
                  <a:lnTo>
                    <a:pt x="1066341" y="5550"/>
                  </a:lnTo>
                  <a:lnTo>
                    <a:pt x="1038859" y="0"/>
                  </a:lnTo>
                  <a:close/>
                </a:path>
              </a:pathLst>
            </a:custGeom>
            <a:solidFill>
              <a:srgbClr val="FFFFFF">
                <a:alpha val="90194"/>
              </a:srgbClr>
            </a:solidFill>
          </p:spPr>
          <p:txBody>
            <a:bodyPr wrap="square" lIns="0" tIns="0" rIns="0" bIns="0" rtlCol="0"/>
            <a:lstStyle/>
            <a:p>
              <a:endParaRPr/>
            </a:p>
          </p:txBody>
        </p:sp>
        <p:sp>
          <p:nvSpPr>
            <p:cNvPr id="22" name="object 22"/>
            <p:cNvSpPr/>
            <p:nvPr/>
          </p:nvSpPr>
          <p:spPr>
            <a:xfrm>
              <a:off x="2390394" y="3374898"/>
              <a:ext cx="1109980" cy="706120"/>
            </a:xfrm>
            <a:custGeom>
              <a:avLst/>
              <a:gdLst/>
              <a:ahLst/>
              <a:cxnLst/>
              <a:rect l="l" t="t" r="r" b="b"/>
              <a:pathLst>
                <a:path w="1109979" h="706120">
                  <a:moveTo>
                    <a:pt x="0" y="70612"/>
                  </a:moveTo>
                  <a:lnTo>
                    <a:pt x="5550" y="43130"/>
                  </a:lnTo>
                  <a:lnTo>
                    <a:pt x="20685" y="20685"/>
                  </a:lnTo>
                  <a:lnTo>
                    <a:pt x="43130" y="5550"/>
                  </a:lnTo>
                  <a:lnTo>
                    <a:pt x="70612" y="0"/>
                  </a:lnTo>
                  <a:lnTo>
                    <a:pt x="1038859" y="0"/>
                  </a:lnTo>
                  <a:lnTo>
                    <a:pt x="1066341" y="5550"/>
                  </a:lnTo>
                  <a:lnTo>
                    <a:pt x="1088786" y="20685"/>
                  </a:lnTo>
                  <a:lnTo>
                    <a:pt x="1103921" y="43130"/>
                  </a:lnTo>
                  <a:lnTo>
                    <a:pt x="1109471" y="70612"/>
                  </a:lnTo>
                  <a:lnTo>
                    <a:pt x="1109471" y="635050"/>
                  </a:lnTo>
                  <a:lnTo>
                    <a:pt x="1103921" y="662513"/>
                  </a:lnTo>
                  <a:lnTo>
                    <a:pt x="1088786" y="684942"/>
                  </a:lnTo>
                  <a:lnTo>
                    <a:pt x="1066341" y="700066"/>
                  </a:lnTo>
                  <a:lnTo>
                    <a:pt x="1038859" y="705611"/>
                  </a:lnTo>
                  <a:lnTo>
                    <a:pt x="70612" y="705611"/>
                  </a:lnTo>
                  <a:lnTo>
                    <a:pt x="43130" y="700066"/>
                  </a:lnTo>
                  <a:lnTo>
                    <a:pt x="20685" y="684942"/>
                  </a:lnTo>
                  <a:lnTo>
                    <a:pt x="5550" y="662513"/>
                  </a:lnTo>
                  <a:lnTo>
                    <a:pt x="0" y="635050"/>
                  </a:lnTo>
                  <a:lnTo>
                    <a:pt x="0" y="70612"/>
                  </a:lnTo>
                  <a:close/>
                </a:path>
              </a:pathLst>
            </a:custGeom>
            <a:ln w="25908">
              <a:solidFill>
                <a:srgbClr val="4F81BC"/>
              </a:solidFill>
            </a:ln>
          </p:spPr>
          <p:txBody>
            <a:bodyPr wrap="square" lIns="0" tIns="0" rIns="0" bIns="0" rtlCol="0"/>
            <a:lstStyle/>
            <a:p>
              <a:endParaRPr/>
            </a:p>
          </p:txBody>
        </p:sp>
      </p:grpSp>
      <p:sp>
        <p:nvSpPr>
          <p:cNvPr id="23" name="object 23"/>
          <p:cNvSpPr txBox="1"/>
          <p:nvPr/>
        </p:nvSpPr>
        <p:spPr>
          <a:xfrm>
            <a:off x="2657982" y="3605276"/>
            <a:ext cx="57277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rlito"/>
                <a:cs typeface="Carlito"/>
              </a:rPr>
              <a:t>K-Means</a:t>
            </a:r>
            <a:endParaRPr sz="1200">
              <a:latin typeface="Carlito"/>
              <a:cs typeface="Carlito"/>
            </a:endParaRPr>
          </a:p>
        </p:txBody>
      </p:sp>
      <p:grpSp>
        <p:nvGrpSpPr>
          <p:cNvPr id="24" name="object 24"/>
          <p:cNvGrpSpPr/>
          <p:nvPr/>
        </p:nvGrpSpPr>
        <p:grpSpPr>
          <a:xfrm>
            <a:off x="3610292" y="3244532"/>
            <a:ext cx="1259205" cy="848994"/>
            <a:chOff x="3610292" y="3244532"/>
            <a:chExt cx="1259205" cy="848994"/>
          </a:xfrm>
        </p:grpSpPr>
        <p:sp>
          <p:nvSpPr>
            <p:cNvPr id="25" name="object 25"/>
            <p:cNvSpPr/>
            <p:nvPr/>
          </p:nvSpPr>
          <p:spPr>
            <a:xfrm>
              <a:off x="3623309" y="3257550"/>
              <a:ext cx="1111250" cy="706120"/>
            </a:xfrm>
            <a:custGeom>
              <a:avLst/>
              <a:gdLst/>
              <a:ahLst/>
              <a:cxnLst/>
              <a:rect l="l" t="t" r="r" b="b"/>
              <a:pathLst>
                <a:path w="1111250" h="706120">
                  <a:moveTo>
                    <a:pt x="1040384" y="0"/>
                  </a:moveTo>
                  <a:lnTo>
                    <a:pt x="70612" y="0"/>
                  </a:lnTo>
                  <a:lnTo>
                    <a:pt x="43130" y="5550"/>
                  </a:lnTo>
                  <a:lnTo>
                    <a:pt x="20685" y="20685"/>
                  </a:lnTo>
                  <a:lnTo>
                    <a:pt x="5550" y="43130"/>
                  </a:lnTo>
                  <a:lnTo>
                    <a:pt x="0" y="70612"/>
                  </a:lnTo>
                  <a:lnTo>
                    <a:pt x="0" y="635050"/>
                  </a:lnTo>
                  <a:lnTo>
                    <a:pt x="5550" y="662513"/>
                  </a:lnTo>
                  <a:lnTo>
                    <a:pt x="20685" y="684942"/>
                  </a:lnTo>
                  <a:lnTo>
                    <a:pt x="43130" y="700066"/>
                  </a:lnTo>
                  <a:lnTo>
                    <a:pt x="70612" y="705612"/>
                  </a:lnTo>
                  <a:lnTo>
                    <a:pt x="1040384" y="705612"/>
                  </a:lnTo>
                  <a:lnTo>
                    <a:pt x="1067865" y="700066"/>
                  </a:lnTo>
                  <a:lnTo>
                    <a:pt x="1090310" y="684942"/>
                  </a:lnTo>
                  <a:lnTo>
                    <a:pt x="1105445" y="662513"/>
                  </a:lnTo>
                  <a:lnTo>
                    <a:pt x="1110995" y="635050"/>
                  </a:lnTo>
                  <a:lnTo>
                    <a:pt x="1110995" y="70612"/>
                  </a:lnTo>
                  <a:lnTo>
                    <a:pt x="1105445" y="43130"/>
                  </a:lnTo>
                  <a:lnTo>
                    <a:pt x="1090310" y="20685"/>
                  </a:lnTo>
                  <a:lnTo>
                    <a:pt x="1067865" y="5550"/>
                  </a:lnTo>
                  <a:lnTo>
                    <a:pt x="1040384" y="0"/>
                  </a:lnTo>
                  <a:close/>
                </a:path>
              </a:pathLst>
            </a:custGeom>
            <a:solidFill>
              <a:srgbClr val="4F81BC"/>
            </a:solidFill>
          </p:spPr>
          <p:txBody>
            <a:bodyPr wrap="square" lIns="0" tIns="0" rIns="0" bIns="0" rtlCol="0"/>
            <a:lstStyle/>
            <a:p>
              <a:endParaRPr/>
            </a:p>
          </p:txBody>
        </p:sp>
        <p:sp>
          <p:nvSpPr>
            <p:cNvPr id="26" name="object 26"/>
            <p:cNvSpPr/>
            <p:nvPr/>
          </p:nvSpPr>
          <p:spPr>
            <a:xfrm>
              <a:off x="3623309" y="3257550"/>
              <a:ext cx="1111250" cy="706120"/>
            </a:xfrm>
            <a:custGeom>
              <a:avLst/>
              <a:gdLst/>
              <a:ahLst/>
              <a:cxnLst/>
              <a:rect l="l" t="t" r="r" b="b"/>
              <a:pathLst>
                <a:path w="1111250" h="706120">
                  <a:moveTo>
                    <a:pt x="0" y="70612"/>
                  </a:moveTo>
                  <a:lnTo>
                    <a:pt x="5550" y="43130"/>
                  </a:lnTo>
                  <a:lnTo>
                    <a:pt x="20685" y="20685"/>
                  </a:lnTo>
                  <a:lnTo>
                    <a:pt x="43130" y="5550"/>
                  </a:lnTo>
                  <a:lnTo>
                    <a:pt x="70612" y="0"/>
                  </a:lnTo>
                  <a:lnTo>
                    <a:pt x="1040384" y="0"/>
                  </a:lnTo>
                  <a:lnTo>
                    <a:pt x="1067865" y="5550"/>
                  </a:lnTo>
                  <a:lnTo>
                    <a:pt x="1090310" y="20685"/>
                  </a:lnTo>
                  <a:lnTo>
                    <a:pt x="1105445" y="43130"/>
                  </a:lnTo>
                  <a:lnTo>
                    <a:pt x="1110995" y="70612"/>
                  </a:lnTo>
                  <a:lnTo>
                    <a:pt x="1110995" y="635050"/>
                  </a:lnTo>
                  <a:lnTo>
                    <a:pt x="1105445" y="662513"/>
                  </a:lnTo>
                  <a:lnTo>
                    <a:pt x="1090310" y="684942"/>
                  </a:lnTo>
                  <a:lnTo>
                    <a:pt x="1067865" y="700066"/>
                  </a:lnTo>
                  <a:lnTo>
                    <a:pt x="1040384" y="705612"/>
                  </a:lnTo>
                  <a:lnTo>
                    <a:pt x="70612" y="705612"/>
                  </a:lnTo>
                  <a:lnTo>
                    <a:pt x="43130" y="700066"/>
                  </a:lnTo>
                  <a:lnTo>
                    <a:pt x="20685" y="684942"/>
                  </a:lnTo>
                  <a:lnTo>
                    <a:pt x="5550" y="662513"/>
                  </a:lnTo>
                  <a:lnTo>
                    <a:pt x="0" y="635050"/>
                  </a:lnTo>
                  <a:lnTo>
                    <a:pt x="0" y="70612"/>
                  </a:lnTo>
                  <a:close/>
                </a:path>
              </a:pathLst>
            </a:custGeom>
            <a:ln w="25908">
              <a:solidFill>
                <a:srgbClr val="FFFFFF"/>
              </a:solidFill>
            </a:ln>
          </p:spPr>
          <p:txBody>
            <a:bodyPr wrap="square" lIns="0" tIns="0" rIns="0" bIns="0" rtlCol="0"/>
            <a:lstStyle/>
            <a:p>
              <a:endParaRPr/>
            </a:p>
          </p:txBody>
        </p:sp>
        <p:sp>
          <p:nvSpPr>
            <p:cNvPr id="27" name="object 27"/>
            <p:cNvSpPr/>
            <p:nvPr/>
          </p:nvSpPr>
          <p:spPr>
            <a:xfrm>
              <a:off x="3746753" y="3374898"/>
              <a:ext cx="1109980" cy="706120"/>
            </a:xfrm>
            <a:custGeom>
              <a:avLst/>
              <a:gdLst/>
              <a:ahLst/>
              <a:cxnLst/>
              <a:rect l="l" t="t" r="r" b="b"/>
              <a:pathLst>
                <a:path w="1109979" h="706120">
                  <a:moveTo>
                    <a:pt x="1038860" y="0"/>
                  </a:moveTo>
                  <a:lnTo>
                    <a:pt x="70612" y="0"/>
                  </a:lnTo>
                  <a:lnTo>
                    <a:pt x="43130" y="5550"/>
                  </a:lnTo>
                  <a:lnTo>
                    <a:pt x="20685" y="20685"/>
                  </a:lnTo>
                  <a:lnTo>
                    <a:pt x="5550" y="43130"/>
                  </a:lnTo>
                  <a:lnTo>
                    <a:pt x="0" y="70612"/>
                  </a:lnTo>
                  <a:lnTo>
                    <a:pt x="0" y="635050"/>
                  </a:lnTo>
                  <a:lnTo>
                    <a:pt x="5550" y="662513"/>
                  </a:lnTo>
                  <a:lnTo>
                    <a:pt x="20685" y="684942"/>
                  </a:lnTo>
                  <a:lnTo>
                    <a:pt x="43130" y="700066"/>
                  </a:lnTo>
                  <a:lnTo>
                    <a:pt x="70612" y="705611"/>
                  </a:lnTo>
                  <a:lnTo>
                    <a:pt x="1038860" y="705611"/>
                  </a:lnTo>
                  <a:lnTo>
                    <a:pt x="1066341" y="700066"/>
                  </a:lnTo>
                  <a:lnTo>
                    <a:pt x="1088786" y="684942"/>
                  </a:lnTo>
                  <a:lnTo>
                    <a:pt x="1103921" y="662513"/>
                  </a:lnTo>
                  <a:lnTo>
                    <a:pt x="1109472" y="635050"/>
                  </a:lnTo>
                  <a:lnTo>
                    <a:pt x="1109472" y="70612"/>
                  </a:lnTo>
                  <a:lnTo>
                    <a:pt x="1103921" y="43130"/>
                  </a:lnTo>
                  <a:lnTo>
                    <a:pt x="1088786" y="20685"/>
                  </a:lnTo>
                  <a:lnTo>
                    <a:pt x="1066341" y="5550"/>
                  </a:lnTo>
                  <a:lnTo>
                    <a:pt x="1038860" y="0"/>
                  </a:lnTo>
                  <a:close/>
                </a:path>
              </a:pathLst>
            </a:custGeom>
            <a:solidFill>
              <a:srgbClr val="FFFFFF">
                <a:alpha val="90194"/>
              </a:srgbClr>
            </a:solidFill>
          </p:spPr>
          <p:txBody>
            <a:bodyPr wrap="square" lIns="0" tIns="0" rIns="0" bIns="0" rtlCol="0"/>
            <a:lstStyle/>
            <a:p>
              <a:endParaRPr/>
            </a:p>
          </p:txBody>
        </p:sp>
        <p:sp>
          <p:nvSpPr>
            <p:cNvPr id="28" name="object 28"/>
            <p:cNvSpPr/>
            <p:nvPr/>
          </p:nvSpPr>
          <p:spPr>
            <a:xfrm>
              <a:off x="3746753" y="3374898"/>
              <a:ext cx="1109980" cy="706120"/>
            </a:xfrm>
            <a:custGeom>
              <a:avLst/>
              <a:gdLst/>
              <a:ahLst/>
              <a:cxnLst/>
              <a:rect l="l" t="t" r="r" b="b"/>
              <a:pathLst>
                <a:path w="1109979" h="706120">
                  <a:moveTo>
                    <a:pt x="0" y="70612"/>
                  </a:moveTo>
                  <a:lnTo>
                    <a:pt x="5550" y="43130"/>
                  </a:lnTo>
                  <a:lnTo>
                    <a:pt x="20685" y="20685"/>
                  </a:lnTo>
                  <a:lnTo>
                    <a:pt x="43130" y="5550"/>
                  </a:lnTo>
                  <a:lnTo>
                    <a:pt x="70612" y="0"/>
                  </a:lnTo>
                  <a:lnTo>
                    <a:pt x="1038860" y="0"/>
                  </a:lnTo>
                  <a:lnTo>
                    <a:pt x="1066341" y="5550"/>
                  </a:lnTo>
                  <a:lnTo>
                    <a:pt x="1088786" y="20685"/>
                  </a:lnTo>
                  <a:lnTo>
                    <a:pt x="1103921" y="43130"/>
                  </a:lnTo>
                  <a:lnTo>
                    <a:pt x="1109472" y="70612"/>
                  </a:lnTo>
                  <a:lnTo>
                    <a:pt x="1109472" y="635050"/>
                  </a:lnTo>
                  <a:lnTo>
                    <a:pt x="1103921" y="662513"/>
                  </a:lnTo>
                  <a:lnTo>
                    <a:pt x="1088786" y="684942"/>
                  </a:lnTo>
                  <a:lnTo>
                    <a:pt x="1066341" y="700066"/>
                  </a:lnTo>
                  <a:lnTo>
                    <a:pt x="1038860" y="705611"/>
                  </a:lnTo>
                  <a:lnTo>
                    <a:pt x="70612" y="705611"/>
                  </a:lnTo>
                  <a:lnTo>
                    <a:pt x="43130" y="700066"/>
                  </a:lnTo>
                  <a:lnTo>
                    <a:pt x="20685" y="684942"/>
                  </a:lnTo>
                  <a:lnTo>
                    <a:pt x="5550" y="662513"/>
                  </a:lnTo>
                  <a:lnTo>
                    <a:pt x="0" y="635050"/>
                  </a:lnTo>
                  <a:lnTo>
                    <a:pt x="0" y="70612"/>
                  </a:lnTo>
                  <a:close/>
                </a:path>
              </a:pathLst>
            </a:custGeom>
            <a:ln w="25908">
              <a:solidFill>
                <a:srgbClr val="4F81BC"/>
              </a:solidFill>
            </a:ln>
          </p:spPr>
          <p:txBody>
            <a:bodyPr wrap="square" lIns="0" tIns="0" rIns="0" bIns="0" rtlCol="0"/>
            <a:lstStyle/>
            <a:p>
              <a:endParaRPr/>
            </a:p>
          </p:txBody>
        </p:sp>
      </p:grpSp>
      <p:sp>
        <p:nvSpPr>
          <p:cNvPr id="29" name="object 29"/>
          <p:cNvSpPr txBox="1"/>
          <p:nvPr/>
        </p:nvSpPr>
        <p:spPr>
          <a:xfrm>
            <a:off x="3958844" y="3605276"/>
            <a:ext cx="68516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Carlito"/>
                <a:cs typeface="Carlito"/>
              </a:rPr>
              <a:t>k-Medoids</a:t>
            </a:r>
            <a:endParaRPr sz="1200">
              <a:latin typeface="Carlito"/>
              <a:cs typeface="Carlito"/>
            </a:endParaRPr>
          </a:p>
        </p:txBody>
      </p:sp>
      <p:grpSp>
        <p:nvGrpSpPr>
          <p:cNvPr id="30" name="object 30"/>
          <p:cNvGrpSpPr/>
          <p:nvPr/>
        </p:nvGrpSpPr>
        <p:grpSpPr>
          <a:xfrm>
            <a:off x="4966652" y="2217356"/>
            <a:ext cx="1260475" cy="847725"/>
            <a:chOff x="4966652" y="2217356"/>
            <a:chExt cx="1260475" cy="847725"/>
          </a:xfrm>
        </p:grpSpPr>
        <p:sp>
          <p:nvSpPr>
            <p:cNvPr id="31" name="object 31"/>
            <p:cNvSpPr/>
            <p:nvPr/>
          </p:nvSpPr>
          <p:spPr>
            <a:xfrm>
              <a:off x="4979670" y="2230374"/>
              <a:ext cx="1111250" cy="704215"/>
            </a:xfrm>
            <a:custGeom>
              <a:avLst/>
              <a:gdLst/>
              <a:ahLst/>
              <a:cxnLst/>
              <a:rect l="l" t="t" r="r" b="b"/>
              <a:pathLst>
                <a:path w="1111250" h="704214">
                  <a:moveTo>
                    <a:pt x="1040638" y="0"/>
                  </a:moveTo>
                  <a:lnTo>
                    <a:pt x="70357" y="0"/>
                  </a:lnTo>
                  <a:lnTo>
                    <a:pt x="42969" y="5528"/>
                  </a:lnTo>
                  <a:lnTo>
                    <a:pt x="20605" y="20605"/>
                  </a:lnTo>
                  <a:lnTo>
                    <a:pt x="5528" y="42969"/>
                  </a:lnTo>
                  <a:lnTo>
                    <a:pt x="0" y="70357"/>
                  </a:lnTo>
                  <a:lnTo>
                    <a:pt x="0" y="633730"/>
                  </a:lnTo>
                  <a:lnTo>
                    <a:pt x="5528" y="661118"/>
                  </a:lnTo>
                  <a:lnTo>
                    <a:pt x="20605" y="683482"/>
                  </a:lnTo>
                  <a:lnTo>
                    <a:pt x="42969" y="698559"/>
                  </a:lnTo>
                  <a:lnTo>
                    <a:pt x="70357" y="704088"/>
                  </a:lnTo>
                  <a:lnTo>
                    <a:pt x="1040638" y="704088"/>
                  </a:lnTo>
                  <a:lnTo>
                    <a:pt x="1068026" y="698559"/>
                  </a:lnTo>
                  <a:lnTo>
                    <a:pt x="1090390" y="683482"/>
                  </a:lnTo>
                  <a:lnTo>
                    <a:pt x="1105467" y="661118"/>
                  </a:lnTo>
                  <a:lnTo>
                    <a:pt x="1110995" y="633730"/>
                  </a:lnTo>
                  <a:lnTo>
                    <a:pt x="1110995" y="70357"/>
                  </a:lnTo>
                  <a:lnTo>
                    <a:pt x="1105467" y="42969"/>
                  </a:lnTo>
                  <a:lnTo>
                    <a:pt x="1090390" y="20605"/>
                  </a:lnTo>
                  <a:lnTo>
                    <a:pt x="1068026" y="5528"/>
                  </a:lnTo>
                  <a:lnTo>
                    <a:pt x="1040638" y="0"/>
                  </a:lnTo>
                  <a:close/>
                </a:path>
              </a:pathLst>
            </a:custGeom>
            <a:solidFill>
              <a:srgbClr val="4F81BC"/>
            </a:solidFill>
          </p:spPr>
          <p:txBody>
            <a:bodyPr wrap="square" lIns="0" tIns="0" rIns="0" bIns="0" rtlCol="0"/>
            <a:lstStyle/>
            <a:p>
              <a:endParaRPr/>
            </a:p>
          </p:txBody>
        </p:sp>
        <p:sp>
          <p:nvSpPr>
            <p:cNvPr id="32" name="object 32"/>
            <p:cNvSpPr/>
            <p:nvPr/>
          </p:nvSpPr>
          <p:spPr>
            <a:xfrm>
              <a:off x="4979670" y="2230374"/>
              <a:ext cx="1111250" cy="704215"/>
            </a:xfrm>
            <a:custGeom>
              <a:avLst/>
              <a:gdLst/>
              <a:ahLst/>
              <a:cxnLst/>
              <a:rect l="l" t="t" r="r" b="b"/>
              <a:pathLst>
                <a:path w="1111250" h="704214">
                  <a:moveTo>
                    <a:pt x="0" y="70357"/>
                  </a:moveTo>
                  <a:lnTo>
                    <a:pt x="5528" y="42969"/>
                  </a:lnTo>
                  <a:lnTo>
                    <a:pt x="20605" y="20605"/>
                  </a:lnTo>
                  <a:lnTo>
                    <a:pt x="42969" y="5528"/>
                  </a:lnTo>
                  <a:lnTo>
                    <a:pt x="70357" y="0"/>
                  </a:lnTo>
                  <a:lnTo>
                    <a:pt x="1040638" y="0"/>
                  </a:lnTo>
                  <a:lnTo>
                    <a:pt x="1068026" y="5528"/>
                  </a:lnTo>
                  <a:lnTo>
                    <a:pt x="1090390" y="20605"/>
                  </a:lnTo>
                  <a:lnTo>
                    <a:pt x="1105467" y="42969"/>
                  </a:lnTo>
                  <a:lnTo>
                    <a:pt x="1110995" y="70357"/>
                  </a:lnTo>
                  <a:lnTo>
                    <a:pt x="1110995" y="633730"/>
                  </a:lnTo>
                  <a:lnTo>
                    <a:pt x="1105467" y="661118"/>
                  </a:lnTo>
                  <a:lnTo>
                    <a:pt x="1090390" y="683482"/>
                  </a:lnTo>
                  <a:lnTo>
                    <a:pt x="1068026" y="698559"/>
                  </a:lnTo>
                  <a:lnTo>
                    <a:pt x="1040638" y="704088"/>
                  </a:lnTo>
                  <a:lnTo>
                    <a:pt x="70357" y="704088"/>
                  </a:lnTo>
                  <a:lnTo>
                    <a:pt x="42969" y="698559"/>
                  </a:lnTo>
                  <a:lnTo>
                    <a:pt x="20605" y="683482"/>
                  </a:lnTo>
                  <a:lnTo>
                    <a:pt x="5528" y="661118"/>
                  </a:lnTo>
                  <a:lnTo>
                    <a:pt x="0" y="633730"/>
                  </a:lnTo>
                  <a:lnTo>
                    <a:pt x="0" y="70357"/>
                  </a:lnTo>
                  <a:close/>
                </a:path>
              </a:pathLst>
            </a:custGeom>
            <a:ln w="25908">
              <a:solidFill>
                <a:srgbClr val="FFFFFF"/>
              </a:solidFill>
            </a:ln>
          </p:spPr>
          <p:txBody>
            <a:bodyPr wrap="square" lIns="0" tIns="0" rIns="0" bIns="0" rtlCol="0"/>
            <a:lstStyle/>
            <a:p>
              <a:endParaRPr/>
            </a:p>
          </p:txBody>
        </p:sp>
        <p:sp>
          <p:nvSpPr>
            <p:cNvPr id="33" name="object 33"/>
            <p:cNvSpPr/>
            <p:nvPr/>
          </p:nvSpPr>
          <p:spPr>
            <a:xfrm>
              <a:off x="5103114" y="2347722"/>
              <a:ext cx="1111250" cy="704215"/>
            </a:xfrm>
            <a:custGeom>
              <a:avLst/>
              <a:gdLst/>
              <a:ahLst/>
              <a:cxnLst/>
              <a:rect l="l" t="t" r="r" b="b"/>
              <a:pathLst>
                <a:path w="1111250" h="704214">
                  <a:moveTo>
                    <a:pt x="1040638" y="0"/>
                  </a:moveTo>
                  <a:lnTo>
                    <a:pt x="70358" y="0"/>
                  </a:lnTo>
                  <a:lnTo>
                    <a:pt x="42969" y="5528"/>
                  </a:lnTo>
                  <a:lnTo>
                    <a:pt x="20605" y="20605"/>
                  </a:lnTo>
                  <a:lnTo>
                    <a:pt x="5528" y="42969"/>
                  </a:lnTo>
                  <a:lnTo>
                    <a:pt x="0" y="70357"/>
                  </a:lnTo>
                  <a:lnTo>
                    <a:pt x="0" y="633729"/>
                  </a:lnTo>
                  <a:lnTo>
                    <a:pt x="5528" y="661118"/>
                  </a:lnTo>
                  <a:lnTo>
                    <a:pt x="20605" y="683482"/>
                  </a:lnTo>
                  <a:lnTo>
                    <a:pt x="42969" y="698559"/>
                  </a:lnTo>
                  <a:lnTo>
                    <a:pt x="70358" y="704088"/>
                  </a:lnTo>
                  <a:lnTo>
                    <a:pt x="1040638" y="704088"/>
                  </a:lnTo>
                  <a:lnTo>
                    <a:pt x="1068026" y="698559"/>
                  </a:lnTo>
                  <a:lnTo>
                    <a:pt x="1090390" y="683482"/>
                  </a:lnTo>
                  <a:lnTo>
                    <a:pt x="1105467" y="661118"/>
                  </a:lnTo>
                  <a:lnTo>
                    <a:pt x="1110996" y="633729"/>
                  </a:lnTo>
                  <a:lnTo>
                    <a:pt x="1110996" y="70357"/>
                  </a:lnTo>
                  <a:lnTo>
                    <a:pt x="1105467" y="42969"/>
                  </a:lnTo>
                  <a:lnTo>
                    <a:pt x="1090390" y="20605"/>
                  </a:lnTo>
                  <a:lnTo>
                    <a:pt x="1068026" y="5528"/>
                  </a:lnTo>
                  <a:lnTo>
                    <a:pt x="1040638" y="0"/>
                  </a:lnTo>
                  <a:close/>
                </a:path>
              </a:pathLst>
            </a:custGeom>
            <a:solidFill>
              <a:srgbClr val="FFFFFF">
                <a:alpha val="90194"/>
              </a:srgbClr>
            </a:solidFill>
          </p:spPr>
          <p:txBody>
            <a:bodyPr wrap="square" lIns="0" tIns="0" rIns="0" bIns="0" rtlCol="0"/>
            <a:lstStyle/>
            <a:p>
              <a:endParaRPr/>
            </a:p>
          </p:txBody>
        </p:sp>
        <p:sp>
          <p:nvSpPr>
            <p:cNvPr id="34" name="object 34"/>
            <p:cNvSpPr/>
            <p:nvPr/>
          </p:nvSpPr>
          <p:spPr>
            <a:xfrm>
              <a:off x="5103114" y="2347722"/>
              <a:ext cx="1111250" cy="704215"/>
            </a:xfrm>
            <a:custGeom>
              <a:avLst/>
              <a:gdLst/>
              <a:ahLst/>
              <a:cxnLst/>
              <a:rect l="l" t="t" r="r" b="b"/>
              <a:pathLst>
                <a:path w="1111250" h="704214">
                  <a:moveTo>
                    <a:pt x="0" y="70357"/>
                  </a:moveTo>
                  <a:lnTo>
                    <a:pt x="5528" y="42969"/>
                  </a:lnTo>
                  <a:lnTo>
                    <a:pt x="20605" y="20605"/>
                  </a:lnTo>
                  <a:lnTo>
                    <a:pt x="42969" y="5528"/>
                  </a:lnTo>
                  <a:lnTo>
                    <a:pt x="70358" y="0"/>
                  </a:lnTo>
                  <a:lnTo>
                    <a:pt x="1040638" y="0"/>
                  </a:lnTo>
                  <a:lnTo>
                    <a:pt x="1068026" y="5528"/>
                  </a:lnTo>
                  <a:lnTo>
                    <a:pt x="1090390" y="20605"/>
                  </a:lnTo>
                  <a:lnTo>
                    <a:pt x="1105467" y="42969"/>
                  </a:lnTo>
                  <a:lnTo>
                    <a:pt x="1110996" y="70357"/>
                  </a:lnTo>
                  <a:lnTo>
                    <a:pt x="1110996" y="633729"/>
                  </a:lnTo>
                  <a:lnTo>
                    <a:pt x="1105467" y="661118"/>
                  </a:lnTo>
                  <a:lnTo>
                    <a:pt x="1090390" y="683482"/>
                  </a:lnTo>
                  <a:lnTo>
                    <a:pt x="1068026" y="698559"/>
                  </a:lnTo>
                  <a:lnTo>
                    <a:pt x="1040638" y="704088"/>
                  </a:lnTo>
                  <a:lnTo>
                    <a:pt x="70358" y="704088"/>
                  </a:lnTo>
                  <a:lnTo>
                    <a:pt x="42969" y="698559"/>
                  </a:lnTo>
                  <a:lnTo>
                    <a:pt x="20605" y="683482"/>
                  </a:lnTo>
                  <a:lnTo>
                    <a:pt x="5528" y="661118"/>
                  </a:lnTo>
                  <a:lnTo>
                    <a:pt x="0" y="633729"/>
                  </a:lnTo>
                  <a:lnTo>
                    <a:pt x="0" y="70357"/>
                  </a:lnTo>
                  <a:close/>
                </a:path>
              </a:pathLst>
            </a:custGeom>
            <a:ln w="25908">
              <a:solidFill>
                <a:srgbClr val="4F81BC"/>
              </a:solidFill>
            </a:ln>
          </p:spPr>
          <p:txBody>
            <a:bodyPr wrap="square" lIns="0" tIns="0" rIns="0" bIns="0" rtlCol="0"/>
            <a:lstStyle/>
            <a:p>
              <a:endParaRPr/>
            </a:p>
          </p:txBody>
        </p:sp>
      </p:grpSp>
      <p:sp>
        <p:nvSpPr>
          <p:cNvPr id="35" name="object 35"/>
          <p:cNvSpPr txBox="1"/>
          <p:nvPr/>
        </p:nvSpPr>
        <p:spPr>
          <a:xfrm>
            <a:off x="5279263" y="2577210"/>
            <a:ext cx="756920"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Carlito"/>
                <a:cs typeface="Carlito"/>
              </a:rPr>
              <a:t>H</a:t>
            </a:r>
            <a:r>
              <a:rPr sz="1200" dirty="0">
                <a:latin typeface="Carlito"/>
                <a:cs typeface="Carlito"/>
              </a:rPr>
              <a:t>ie</a:t>
            </a:r>
            <a:r>
              <a:rPr sz="1200" spc="-20" dirty="0">
                <a:latin typeface="Carlito"/>
                <a:cs typeface="Carlito"/>
              </a:rPr>
              <a:t>r</a:t>
            </a:r>
            <a:r>
              <a:rPr sz="1200" dirty="0">
                <a:latin typeface="Carlito"/>
                <a:cs typeface="Carlito"/>
              </a:rPr>
              <a:t>a</a:t>
            </a:r>
            <a:r>
              <a:rPr sz="1200" spc="-10" dirty="0">
                <a:latin typeface="Carlito"/>
                <a:cs typeface="Carlito"/>
              </a:rPr>
              <a:t>r</a:t>
            </a:r>
            <a:r>
              <a:rPr sz="1200" spc="-5" dirty="0">
                <a:latin typeface="Carlito"/>
                <a:cs typeface="Carlito"/>
              </a:rPr>
              <a:t>c</a:t>
            </a:r>
            <a:r>
              <a:rPr sz="1200" dirty="0">
                <a:latin typeface="Carlito"/>
                <a:cs typeface="Carlito"/>
              </a:rPr>
              <a:t>hi</a:t>
            </a:r>
            <a:r>
              <a:rPr sz="1200" spc="-15" dirty="0">
                <a:latin typeface="Carlito"/>
                <a:cs typeface="Carlito"/>
              </a:rPr>
              <a:t>c</a:t>
            </a:r>
            <a:r>
              <a:rPr sz="1200" dirty="0">
                <a:latin typeface="Carlito"/>
                <a:cs typeface="Carlito"/>
              </a:rPr>
              <a:t>al</a:t>
            </a:r>
            <a:endParaRPr sz="1200">
              <a:latin typeface="Carlito"/>
              <a:cs typeface="Carlito"/>
            </a:endParaRPr>
          </a:p>
        </p:txBody>
      </p:sp>
      <p:grpSp>
        <p:nvGrpSpPr>
          <p:cNvPr id="36" name="object 36"/>
          <p:cNvGrpSpPr/>
          <p:nvPr/>
        </p:nvGrpSpPr>
        <p:grpSpPr>
          <a:xfrm>
            <a:off x="4966652" y="3244532"/>
            <a:ext cx="1260475" cy="848994"/>
            <a:chOff x="4966652" y="3244532"/>
            <a:chExt cx="1260475" cy="848994"/>
          </a:xfrm>
        </p:grpSpPr>
        <p:sp>
          <p:nvSpPr>
            <p:cNvPr id="37" name="object 37"/>
            <p:cNvSpPr/>
            <p:nvPr/>
          </p:nvSpPr>
          <p:spPr>
            <a:xfrm>
              <a:off x="4979670" y="3257550"/>
              <a:ext cx="1111250" cy="706120"/>
            </a:xfrm>
            <a:custGeom>
              <a:avLst/>
              <a:gdLst/>
              <a:ahLst/>
              <a:cxnLst/>
              <a:rect l="l" t="t" r="r" b="b"/>
              <a:pathLst>
                <a:path w="1111250" h="706120">
                  <a:moveTo>
                    <a:pt x="1040383" y="0"/>
                  </a:moveTo>
                  <a:lnTo>
                    <a:pt x="70612" y="0"/>
                  </a:lnTo>
                  <a:lnTo>
                    <a:pt x="43130" y="5550"/>
                  </a:lnTo>
                  <a:lnTo>
                    <a:pt x="20685" y="20685"/>
                  </a:lnTo>
                  <a:lnTo>
                    <a:pt x="5550" y="43130"/>
                  </a:lnTo>
                  <a:lnTo>
                    <a:pt x="0" y="70612"/>
                  </a:lnTo>
                  <a:lnTo>
                    <a:pt x="0" y="635050"/>
                  </a:lnTo>
                  <a:lnTo>
                    <a:pt x="5550" y="662513"/>
                  </a:lnTo>
                  <a:lnTo>
                    <a:pt x="20685" y="684942"/>
                  </a:lnTo>
                  <a:lnTo>
                    <a:pt x="43130" y="700066"/>
                  </a:lnTo>
                  <a:lnTo>
                    <a:pt x="70612" y="705612"/>
                  </a:lnTo>
                  <a:lnTo>
                    <a:pt x="1040383" y="705612"/>
                  </a:lnTo>
                  <a:lnTo>
                    <a:pt x="1067865" y="700066"/>
                  </a:lnTo>
                  <a:lnTo>
                    <a:pt x="1090310" y="684942"/>
                  </a:lnTo>
                  <a:lnTo>
                    <a:pt x="1105445" y="662513"/>
                  </a:lnTo>
                  <a:lnTo>
                    <a:pt x="1110995" y="635050"/>
                  </a:lnTo>
                  <a:lnTo>
                    <a:pt x="1110995" y="70612"/>
                  </a:lnTo>
                  <a:lnTo>
                    <a:pt x="1105445" y="43130"/>
                  </a:lnTo>
                  <a:lnTo>
                    <a:pt x="1090310" y="20685"/>
                  </a:lnTo>
                  <a:lnTo>
                    <a:pt x="1067865" y="5550"/>
                  </a:lnTo>
                  <a:lnTo>
                    <a:pt x="1040383" y="0"/>
                  </a:lnTo>
                  <a:close/>
                </a:path>
              </a:pathLst>
            </a:custGeom>
            <a:solidFill>
              <a:srgbClr val="4F81BC"/>
            </a:solidFill>
          </p:spPr>
          <p:txBody>
            <a:bodyPr wrap="square" lIns="0" tIns="0" rIns="0" bIns="0" rtlCol="0"/>
            <a:lstStyle/>
            <a:p>
              <a:endParaRPr/>
            </a:p>
          </p:txBody>
        </p:sp>
        <p:sp>
          <p:nvSpPr>
            <p:cNvPr id="38" name="object 38"/>
            <p:cNvSpPr/>
            <p:nvPr/>
          </p:nvSpPr>
          <p:spPr>
            <a:xfrm>
              <a:off x="4979670" y="3257550"/>
              <a:ext cx="1111250" cy="706120"/>
            </a:xfrm>
            <a:custGeom>
              <a:avLst/>
              <a:gdLst/>
              <a:ahLst/>
              <a:cxnLst/>
              <a:rect l="l" t="t" r="r" b="b"/>
              <a:pathLst>
                <a:path w="1111250" h="706120">
                  <a:moveTo>
                    <a:pt x="0" y="70612"/>
                  </a:moveTo>
                  <a:lnTo>
                    <a:pt x="5550" y="43130"/>
                  </a:lnTo>
                  <a:lnTo>
                    <a:pt x="20685" y="20685"/>
                  </a:lnTo>
                  <a:lnTo>
                    <a:pt x="43130" y="5550"/>
                  </a:lnTo>
                  <a:lnTo>
                    <a:pt x="70612" y="0"/>
                  </a:lnTo>
                  <a:lnTo>
                    <a:pt x="1040383" y="0"/>
                  </a:lnTo>
                  <a:lnTo>
                    <a:pt x="1067865" y="5550"/>
                  </a:lnTo>
                  <a:lnTo>
                    <a:pt x="1090310" y="20685"/>
                  </a:lnTo>
                  <a:lnTo>
                    <a:pt x="1105445" y="43130"/>
                  </a:lnTo>
                  <a:lnTo>
                    <a:pt x="1110995" y="70612"/>
                  </a:lnTo>
                  <a:lnTo>
                    <a:pt x="1110995" y="635050"/>
                  </a:lnTo>
                  <a:lnTo>
                    <a:pt x="1105445" y="662513"/>
                  </a:lnTo>
                  <a:lnTo>
                    <a:pt x="1090310" y="684942"/>
                  </a:lnTo>
                  <a:lnTo>
                    <a:pt x="1067865" y="700066"/>
                  </a:lnTo>
                  <a:lnTo>
                    <a:pt x="1040383" y="705612"/>
                  </a:lnTo>
                  <a:lnTo>
                    <a:pt x="70612" y="705612"/>
                  </a:lnTo>
                  <a:lnTo>
                    <a:pt x="43130" y="700066"/>
                  </a:lnTo>
                  <a:lnTo>
                    <a:pt x="20685" y="684942"/>
                  </a:lnTo>
                  <a:lnTo>
                    <a:pt x="5550" y="662513"/>
                  </a:lnTo>
                  <a:lnTo>
                    <a:pt x="0" y="635050"/>
                  </a:lnTo>
                  <a:lnTo>
                    <a:pt x="0" y="70612"/>
                  </a:lnTo>
                  <a:close/>
                </a:path>
              </a:pathLst>
            </a:custGeom>
            <a:ln w="25908">
              <a:solidFill>
                <a:srgbClr val="FFFFFF"/>
              </a:solidFill>
            </a:ln>
          </p:spPr>
          <p:txBody>
            <a:bodyPr wrap="square" lIns="0" tIns="0" rIns="0" bIns="0" rtlCol="0"/>
            <a:lstStyle/>
            <a:p>
              <a:endParaRPr/>
            </a:p>
          </p:txBody>
        </p:sp>
        <p:sp>
          <p:nvSpPr>
            <p:cNvPr id="39" name="object 39"/>
            <p:cNvSpPr/>
            <p:nvPr/>
          </p:nvSpPr>
          <p:spPr>
            <a:xfrm>
              <a:off x="5103114" y="3374898"/>
              <a:ext cx="1111250" cy="706120"/>
            </a:xfrm>
            <a:custGeom>
              <a:avLst/>
              <a:gdLst/>
              <a:ahLst/>
              <a:cxnLst/>
              <a:rect l="l" t="t" r="r" b="b"/>
              <a:pathLst>
                <a:path w="1111250" h="706120">
                  <a:moveTo>
                    <a:pt x="1040384" y="0"/>
                  </a:moveTo>
                  <a:lnTo>
                    <a:pt x="70612" y="0"/>
                  </a:lnTo>
                  <a:lnTo>
                    <a:pt x="43130" y="5550"/>
                  </a:lnTo>
                  <a:lnTo>
                    <a:pt x="20685" y="20685"/>
                  </a:lnTo>
                  <a:lnTo>
                    <a:pt x="5550" y="43130"/>
                  </a:lnTo>
                  <a:lnTo>
                    <a:pt x="0" y="70612"/>
                  </a:lnTo>
                  <a:lnTo>
                    <a:pt x="0" y="635050"/>
                  </a:lnTo>
                  <a:lnTo>
                    <a:pt x="5550" y="662513"/>
                  </a:lnTo>
                  <a:lnTo>
                    <a:pt x="20685" y="684942"/>
                  </a:lnTo>
                  <a:lnTo>
                    <a:pt x="43130" y="700066"/>
                  </a:lnTo>
                  <a:lnTo>
                    <a:pt x="70612" y="705611"/>
                  </a:lnTo>
                  <a:lnTo>
                    <a:pt x="1040384" y="705611"/>
                  </a:lnTo>
                  <a:lnTo>
                    <a:pt x="1067865" y="700066"/>
                  </a:lnTo>
                  <a:lnTo>
                    <a:pt x="1090310" y="684942"/>
                  </a:lnTo>
                  <a:lnTo>
                    <a:pt x="1105445" y="662513"/>
                  </a:lnTo>
                  <a:lnTo>
                    <a:pt x="1110996" y="635050"/>
                  </a:lnTo>
                  <a:lnTo>
                    <a:pt x="1110996" y="70612"/>
                  </a:lnTo>
                  <a:lnTo>
                    <a:pt x="1105445" y="43130"/>
                  </a:lnTo>
                  <a:lnTo>
                    <a:pt x="1090310" y="20685"/>
                  </a:lnTo>
                  <a:lnTo>
                    <a:pt x="1067865" y="5550"/>
                  </a:lnTo>
                  <a:lnTo>
                    <a:pt x="1040384" y="0"/>
                  </a:lnTo>
                  <a:close/>
                </a:path>
              </a:pathLst>
            </a:custGeom>
            <a:solidFill>
              <a:srgbClr val="FFFFFF">
                <a:alpha val="90194"/>
              </a:srgbClr>
            </a:solidFill>
          </p:spPr>
          <p:txBody>
            <a:bodyPr wrap="square" lIns="0" tIns="0" rIns="0" bIns="0" rtlCol="0"/>
            <a:lstStyle/>
            <a:p>
              <a:endParaRPr/>
            </a:p>
          </p:txBody>
        </p:sp>
        <p:sp>
          <p:nvSpPr>
            <p:cNvPr id="40" name="object 40"/>
            <p:cNvSpPr/>
            <p:nvPr/>
          </p:nvSpPr>
          <p:spPr>
            <a:xfrm>
              <a:off x="5103114" y="3374898"/>
              <a:ext cx="1111250" cy="706120"/>
            </a:xfrm>
            <a:custGeom>
              <a:avLst/>
              <a:gdLst/>
              <a:ahLst/>
              <a:cxnLst/>
              <a:rect l="l" t="t" r="r" b="b"/>
              <a:pathLst>
                <a:path w="1111250" h="706120">
                  <a:moveTo>
                    <a:pt x="0" y="70612"/>
                  </a:moveTo>
                  <a:lnTo>
                    <a:pt x="5550" y="43130"/>
                  </a:lnTo>
                  <a:lnTo>
                    <a:pt x="20685" y="20685"/>
                  </a:lnTo>
                  <a:lnTo>
                    <a:pt x="43130" y="5550"/>
                  </a:lnTo>
                  <a:lnTo>
                    <a:pt x="70612" y="0"/>
                  </a:lnTo>
                  <a:lnTo>
                    <a:pt x="1040384" y="0"/>
                  </a:lnTo>
                  <a:lnTo>
                    <a:pt x="1067865" y="5550"/>
                  </a:lnTo>
                  <a:lnTo>
                    <a:pt x="1090310" y="20685"/>
                  </a:lnTo>
                  <a:lnTo>
                    <a:pt x="1105445" y="43130"/>
                  </a:lnTo>
                  <a:lnTo>
                    <a:pt x="1110996" y="70612"/>
                  </a:lnTo>
                  <a:lnTo>
                    <a:pt x="1110996" y="635050"/>
                  </a:lnTo>
                  <a:lnTo>
                    <a:pt x="1105445" y="662513"/>
                  </a:lnTo>
                  <a:lnTo>
                    <a:pt x="1090310" y="684942"/>
                  </a:lnTo>
                  <a:lnTo>
                    <a:pt x="1067865" y="700066"/>
                  </a:lnTo>
                  <a:lnTo>
                    <a:pt x="1040384" y="705611"/>
                  </a:lnTo>
                  <a:lnTo>
                    <a:pt x="70612" y="705611"/>
                  </a:lnTo>
                  <a:lnTo>
                    <a:pt x="43130" y="700066"/>
                  </a:lnTo>
                  <a:lnTo>
                    <a:pt x="20685" y="684942"/>
                  </a:lnTo>
                  <a:lnTo>
                    <a:pt x="5550" y="662513"/>
                  </a:lnTo>
                  <a:lnTo>
                    <a:pt x="0" y="635050"/>
                  </a:lnTo>
                  <a:lnTo>
                    <a:pt x="0" y="70612"/>
                  </a:lnTo>
                  <a:close/>
                </a:path>
              </a:pathLst>
            </a:custGeom>
            <a:ln w="25908">
              <a:solidFill>
                <a:srgbClr val="4F81BC"/>
              </a:solidFill>
            </a:ln>
          </p:spPr>
          <p:txBody>
            <a:bodyPr wrap="square" lIns="0" tIns="0" rIns="0" bIns="0" rtlCol="0"/>
            <a:lstStyle/>
            <a:p>
              <a:endParaRPr/>
            </a:p>
          </p:txBody>
        </p:sp>
      </p:grpSp>
      <p:sp>
        <p:nvSpPr>
          <p:cNvPr id="41" name="object 41"/>
          <p:cNvSpPr txBox="1"/>
          <p:nvPr/>
        </p:nvSpPr>
        <p:spPr>
          <a:xfrm>
            <a:off x="5195442" y="3605276"/>
            <a:ext cx="92392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Carlito"/>
                <a:cs typeface="Carlito"/>
              </a:rPr>
              <a:t>Agglomerative</a:t>
            </a:r>
            <a:endParaRPr sz="1200">
              <a:latin typeface="Carlito"/>
              <a:cs typeface="Carlito"/>
            </a:endParaRPr>
          </a:p>
        </p:txBody>
      </p:sp>
      <p:sp>
        <p:nvSpPr>
          <p:cNvPr id="43" name="object 43"/>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a:t>
            </a:fld>
            <a:endParaRPr dirty="0"/>
          </a:p>
        </p:txBody>
      </p:sp>
      <p:pic>
        <p:nvPicPr>
          <p:cNvPr id="46" name="Picture 45">
            <a:extLst>
              <a:ext uri="{FF2B5EF4-FFF2-40B4-BE49-F238E27FC236}">
                <a16:creationId xmlns:a16="http://schemas.microsoft.com/office/drawing/2014/main" id="{CFBB5999-F773-4C3C-B0D9-A68DAA1CCB89}"/>
              </a:ext>
            </a:extLst>
          </p:cNvPr>
          <p:cNvPicPr>
            <a:picLocks noChangeAspect="1"/>
          </p:cNvPicPr>
          <p:nvPr/>
        </p:nvPicPr>
        <p:blipFill>
          <a:blip r:embed="rId2"/>
          <a:stretch>
            <a:fillRect/>
          </a:stretch>
        </p:blipFill>
        <p:spPr>
          <a:xfrm>
            <a:off x="6407617" y="3471365"/>
            <a:ext cx="938865" cy="609653"/>
          </a:xfrm>
          <a:prstGeom prst="rect">
            <a:avLst/>
          </a:prstGeom>
        </p:spPr>
        <p:style>
          <a:lnRef idx="2">
            <a:schemeClr val="accent1">
              <a:shade val="50000"/>
            </a:schemeClr>
          </a:lnRef>
          <a:fillRef idx="1">
            <a:schemeClr val="accent1"/>
          </a:fillRef>
          <a:effectRef idx="0">
            <a:schemeClr val="accent1"/>
          </a:effectRef>
          <a:fontRef idx="minor">
            <a:schemeClr val="lt1"/>
          </a:fontRef>
        </p:style>
      </p:pic>
      <p:cxnSp>
        <p:nvCxnSpPr>
          <p:cNvPr id="48" name="Straight Arrow Connector 47">
            <a:extLst>
              <a:ext uri="{FF2B5EF4-FFF2-40B4-BE49-F238E27FC236}">
                <a16:creationId xmlns:a16="http://schemas.microsoft.com/office/drawing/2014/main" id="{E4765A82-CE81-4CFD-95C1-9F3567F424B4}"/>
              </a:ext>
            </a:extLst>
          </p:cNvPr>
          <p:cNvCxnSpPr>
            <a:endCxn id="46" idx="0"/>
          </p:cNvCxnSpPr>
          <p:nvPr/>
        </p:nvCxnSpPr>
        <p:spPr>
          <a:xfrm>
            <a:off x="6407617" y="3096068"/>
            <a:ext cx="469433" cy="3752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ADB45-5373-415B-B0E7-28799E3B086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0B8CD0F0-A424-4ADA-AA18-CD36EE0485B0}"/>
              </a:ext>
            </a:extLst>
          </p:cNvPr>
          <p:cNvSpPr>
            <a:spLocks noGrp="1"/>
          </p:cNvSpPr>
          <p:nvPr>
            <p:ph type="body" idx="1"/>
          </p:nvPr>
        </p:nvSpPr>
        <p:spPr/>
        <p:txBody>
          <a:bodyPr/>
          <a:lstStyle/>
          <a:p>
            <a:endParaRPr lang="en-IN"/>
          </a:p>
        </p:txBody>
      </p:sp>
      <p:pic>
        <p:nvPicPr>
          <p:cNvPr id="1026" name="Picture 2" descr="Post image">
            <a:extLst>
              <a:ext uri="{FF2B5EF4-FFF2-40B4-BE49-F238E27FC236}">
                <a16:creationId xmlns:a16="http://schemas.microsoft.com/office/drawing/2014/main" id="{9E3E0FFD-DB6C-4304-B09F-4BEA056304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099" y="114351"/>
            <a:ext cx="5257800" cy="4748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5002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34463-839A-AB6E-6A07-3EF0C5EB0A79}"/>
              </a:ext>
            </a:extLst>
          </p:cNvPr>
          <p:cNvSpPr>
            <a:spLocks noGrp="1"/>
          </p:cNvSpPr>
          <p:nvPr>
            <p:ph type="title"/>
          </p:nvPr>
        </p:nvSpPr>
        <p:spPr/>
        <p:txBody>
          <a:bodyPr/>
          <a:lstStyle/>
          <a:p>
            <a:r>
              <a:rPr lang="en-US" dirty="0"/>
              <a:t>K-means clustering steps</a:t>
            </a:r>
          </a:p>
        </p:txBody>
      </p:sp>
      <p:sp>
        <p:nvSpPr>
          <p:cNvPr id="3" name="Text Placeholder 2">
            <a:extLst>
              <a:ext uri="{FF2B5EF4-FFF2-40B4-BE49-F238E27FC236}">
                <a16:creationId xmlns:a16="http://schemas.microsoft.com/office/drawing/2014/main" id="{F7E8ED35-2B61-5B23-2DB7-E29AE43D9D2F}"/>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EA187CC5-CA7B-C240-A6DB-B251DCF9E86A}"/>
              </a:ext>
            </a:extLst>
          </p:cNvPr>
          <p:cNvPicPr>
            <a:picLocks noChangeAspect="1"/>
          </p:cNvPicPr>
          <p:nvPr/>
        </p:nvPicPr>
        <p:blipFill>
          <a:blip r:embed="rId2"/>
          <a:stretch>
            <a:fillRect/>
          </a:stretch>
        </p:blipFill>
        <p:spPr>
          <a:xfrm>
            <a:off x="1135082" y="1367685"/>
            <a:ext cx="6873836" cy="2408129"/>
          </a:xfrm>
          <a:prstGeom prst="rect">
            <a:avLst/>
          </a:prstGeom>
        </p:spPr>
      </p:pic>
    </p:spTree>
    <p:extLst>
      <p:ext uri="{BB962C8B-B14F-4D97-AF65-F5344CB8AC3E}">
        <p14:creationId xmlns:p14="http://schemas.microsoft.com/office/powerpoint/2010/main" val="873207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F2076-781C-A485-94D6-8D136BF4A2DC}"/>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4FD920A-3C73-AA61-0693-8CF015278CE8}"/>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52D7FA00-50FB-5F35-BE54-F8372E722708}"/>
              </a:ext>
            </a:extLst>
          </p:cNvPr>
          <p:cNvPicPr>
            <a:picLocks noChangeAspect="1"/>
          </p:cNvPicPr>
          <p:nvPr/>
        </p:nvPicPr>
        <p:blipFill>
          <a:blip r:embed="rId2"/>
          <a:stretch>
            <a:fillRect/>
          </a:stretch>
        </p:blipFill>
        <p:spPr>
          <a:xfrm>
            <a:off x="399687" y="1123950"/>
            <a:ext cx="8344623" cy="3825572"/>
          </a:xfrm>
          <a:prstGeom prst="rect">
            <a:avLst/>
          </a:prstGeom>
        </p:spPr>
      </p:pic>
    </p:spTree>
    <p:extLst>
      <p:ext uri="{BB962C8B-B14F-4D97-AF65-F5344CB8AC3E}">
        <p14:creationId xmlns:p14="http://schemas.microsoft.com/office/powerpoint/2010/main" val="2087909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A8B5A-0859-FB76-2EF3-FE89FDBE156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83C43CD-CD2B-5A77-3A96-286DB0142BB3}"/>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5F63A815-8613-4479-0D38-9D367E817B09}"/>
              </a:ext>
            </a:extLst>
          </p:cNvPr>
          <p:cNvPicPr>
            <a:picLocks noChangeAspect="1"/>
          </p:cNvPicPr>
          <p:nvPr/>
        </p:nvPicPr>
        <p:blipFill>
          <a:blip r:embed="rId2"/>
          <a:stretch>
            <a:fillRect/>
          </a:stretch>
        </p:blipFill>
        <p:spPr>
          <a:xfrm>
            <a:off x="373016" y="559895"/>
            <a:ext cx="8397968" cy="4023709"/>
          </a:xfrm>
          <a:prstGeom prst="rect">
            <a:avLst/>
          </a:prstGeom>
        </p:spPr>
      </p:pic>
    </p:spTree>
    <p:extLst>
      <p:ext uri="{BB962C8B-B14F-4D97-AF65-F5344CB8AC3E}">
        <p14:creationId xmlns:p14="http://schemas.microsoft.com/office/powerpoint/2010/main" val="2129550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40C1D-1A7A-3F22-A5C1-82B73FBBAAE7}"/>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F4A4DA8-1E7F-972C-27DB-971BCDAEA38E}"/>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E21BC96F-9145-9886-8B7A-694D81A409ED}"/>
              </a:ext>
            </a:extLst>
          </p:cNvPr>
          <p:cNvPicPr>
            <a:picLocks noChangeAspect="1"/>
          </p:cNvPicPr>
          <p:nvPr/>
        </p:nvPicPr>
        <p:blipFill>
          <a:blip r:embed="rId2"/>
          <a:stretch>
            <a:fillRect/>
          </a:stretch>
        </p:blipFill>
        <p:spPr>
          <a:xfrm>
            <a:off x="205361" y="1230514"/>
            <a:ext cx="8733277" cy="2682472"/>
          </a:xfrm>
          <a:prstGeom prst="rect">
            <a:avLst/>
          </a:prstGeom>
        </p:spPr>
      </p:pic>
    </p:spTree>
    <p:extLst>
      <p:ext uri="{BB962C8B-B14F-4D97-AF65-F5344CB8AC3E}">
        <p14:creationId xmlns:p14="http://schemas.microsoft.com/office/powerpoint/2010/main" val="505265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12417" y="385953"/>
            <a:ext cx="5514975" cy="452120"/>
          </a:xfrm>
          <a:prstGeom prst="rect">
            <a:avLst/>
          </a:prstGeom>
        </p:spPr>
        <p:txBody>
          <a:bodyPr vert="horz" wrap="square" lIns="0" tIns="12065" rIns="0" bIns="0" rtlCol="0">
            <a:spAutoFit/>
          </a:bodyPr>
          <a:lstStyle/>
          <a:p>
            <a:pPr marL="12700">
              <a:lnSpc>
                <a:spcPct val="100000"/>
              </a:lnSpc>
              <a:spcBef>
                <a:spcPts val="95"/>
              </a:spcBef>
            </a:pPr>
            <a:r>
              <a:rPr spc="-10" dirty="0"/>
              <a:t>Which </a:t>
            </a:r>
            <a:r>
              <a:rPr spc="-15" dirty="0"/>
              <a:t>Clustering </a:t>
            </a:r>
            <a:r>
              <a:rPr spc="-10" dirty="0"/>
              <a:t>Algorithm </a:t>
            </a:r>
            <a:r>
              <a:rPr spc="-20" dirty="0"/>
              <a:t>to</a:t>
            </a:r>
            <a:r>
              <a:rPr spc="80" dirty="0"/>
              <a:t> </a:t>
            </a:r>
            <a:r>
              <a:rPr spc="-10" dirty="0"/>
              <a:t>Choose</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8</a:t>
            </a:fld>
            <a:endParaRPr dirty="0"/>
          </a:p>
        </p:txBody>
      </p:sp>
      <p:sp>
        <p:nvSpPr>
          <p:cNvPr id="3" name="object 3"/>
          <p:cNvSpPr txBox="1"/>
          <p:nvPr/>
        </p:nvSpPr>
        <p:spPr>
          <a:xfrm>
            <a:off x="535940" y="1156563"/>
            <a:ext cx="7371715" cy="1793875"/>
          </a:xfrm>
          <a:prstGeom prst="rect">
            <a:avLst/>
          </a:prstGeom>
        </p:spPr>
        <p:txBody>
          <a:bodyPr vert="horz" wrap="square" lIns="0" tIns="73660" rIns="0" bIns="0" rtlCol="0">
            <a:spAutoFit/>
          </a:bodyPr>
          <a:lstStyle/>
          <a:p>
            <a:pPr marL="355600" indent="-342900">
              <a:lnSpc>
                <a:spcPct val="100000"/>
              </a:lnSpc>
              <a:spcBef>
                <a:spcPts val="580"/>
              </a:spcBef>
              <a:buFont typeface="Arial"/>
              <a:buChar char="•"/>
              <a:tabLst>
                <a:tab pos="354965" algn="l"/>
                <a:tab pos="355600" algn="l"/>
              </a:tabLst>
            </a:pPr>
            <a:r>
              <a:rPr sz="2000" spc="-5" dirty="0">
                <a:latin typeface="Carlito"/>
                <a:cs typeface="Carlito"/>
              </a:rPr>
              <a:t>The </a:t>
            </a:r>
            <a:r>
              <a:rPr sz="2000" dirty="0">
                <a:latin typeface="Carlito"/>
                <a:cs typeface="Carlito"/>
              </a:rPr>
              <a:t>choice </a:t>
            </a:r>
            <a:r>
              <a:rPr sz="2000" spc="-5" dirty="0">
                <a:latin typeface="Carlito"/>
                <a:cs typeface="Carlito"/>
              </a:rPr>
              <a:t>of </a:t>
            </a:r>
            <a:r>
              <a:rPr sz="2000" dirty="0">
                <a:latin typeface="Carlito"/>
                <a:cs typeface="Carlito"/>
              </a:rPr>
              <a:t>a </a:t>
            </a:r>
            <a:r>
              <a:rPr sz="2000" spc="-5" dirty="0">
                <a:latin typeface="Carlito"/>
                <a:cs typeface="Carlito"/>
              </a:rPr>
              <a:t>clustering algorithm </a:t>
            </a:r>
            <a:r>
              <a:rPr sz="2000" dirty="0">
                <a:latin typeface="Carlito"/>
                <a:cs typeface="Carlito"/>
              </a:rPr>
              <a:t>depends</a:t>
            </a:r>
            <a:r>
              <a:rPr sz="2000" spc="-15" dirty="0">
                <a:latin typeface="Carlito"/>
                <a:cs typeface="Carlito"/>
              </a:rPr>
              <a:t> </a:t>
            </a:r>
            <a:r>
              <a:rPr sz="2000" spc="-5" dirty="0">
                <a:latin typeface="Carlito"/>
                <a:cs typeface="Carlito"/>
              </a:rPr>
              <a:t>on</a:t>
            </a:r>
            <a:endParaRPr sz="2000">
              <a:latin typeface="Carlito"/>
              <a:cs typeface="Carlito"/>
            </a:endParaRPr>
          </a:p>
          <a:p>
            <a:pPr marL="1062990" lvl="1" indent="-135890">
              <a:lnSpc>
                <a:spcPct val="100000"/>
              </a:lnSpc>
              <a:spcBef>
                <a:spcPts val="480"/>
              </a:spcBef>
              <a:buChar char="-"/>
              <a:tabLst>
                <a:tab pos="1062990" algn="l"/>
              </a:tabLst>
            </a:pPr>
            <a:r>
              <a:rPr sz="2000" spc="-25" dirty="0">
                <a:latin typeface="Carlito"/>
                <a:cs typeface="Carlito"/>
              </a:rPr>
              <a:t>Type </a:t>
            </a:r>
            <a:r>
              <a:rPr sz="2000" spc="-5" dirty="0">
                <a:latin typeface="Carlito"/>
                <a:cs typeface="Carlito"/>
              </a:rPr>
              <a:t>of </a:t>
            </a:r>
            <a:r>
              <a:rPr sz="2000" spc="-15" dirty="0">
                <a:latin typeface="Carlito"/>
                <a:cs typeface="Carlito"/>
              </a:rPr>
              <a:t>data</a:t>
            </a:r>
            <a:r>
              <a:rPr sz="2000" spc="5" dirty="0">
                <a:latin typeface="Carlito"/>
                <a:cs typeface="Carlito"/>
              </a:rPr>
              <a:t> </a:t>
            </a:r>
            <a:r>
              <a:rPr sz="2000" spc="-10" dirty="0">
                <a:latin typeface="Carlito"/>
                <a:cs typeface="Carlito"/>
              </a:rPr>
              <a:t>available</a:t>
            </a:r>
            <a:endParaRPr sz="2000">
              <a:latin typeface="Carlito"/>
              <a:cs typeface="Carlito"/>
            </a:endParaRPr>
          </a:p>
          <a:p>
            <a:pPr marL="1062990" lvl="1" indent="-135890">
              <a:lnSpc>
                <a:spcPct val="100000"/>
              </a:lnSpc>
              <a:spcBef>
                <a:spcPts val="480"/>
              </a:spcBef>
              <a:buChar char="-"/>
              <a:tabLst>
                <a:tab pos="1062990" algn="l"/>
              </a:tabLst>
            </a:pPr>
            <a:r>
              <a:rPr sz="2000" spc="-5" dirty="0">
                <a:latin typeface="Carlito"/>
                <a:cs typeface="Carlito"/>
              </a:rPr>
              <a:t>Particular</a:t>
            </a:r>
            <a:r>
              <a:rPr sz="2000" spc="10" dirty="0">
                <a:latin typeface="Carlito"/>
                <a:cs typeface="Carlito"/>
              </a:rPr>
              <a:t> </a:t>
            </a:r>
            <a:r>
              <a:rPr sz="2000" dirty="0">
                <a:latin typeface="Carlito"/>
                <a:cs typeface="Carlito"/>
              </a:rPr>
              <a:t>purpose</a:t>
            </a:r>
            <a:endParaRPr sz="2000">
              <a:latin typeface="Carlito"/>
              <a:cs typeface="Carlito"/>
            </a:endParaRPr>
          </a:p>
          <a:p>
            <a:pPr marL="355600" marR="5080" indent="-342900">
              <a:lnSpc>
                <a:spcPct val="100000"/>
              </a:lnSpc>
              <a:spcBef>
                <a:spcPts val="480"/>
              </a:spcBef>
              <a:buFont typeface="Arial"/>
              <a:buChar char="•"/>
              <a:tabLst>
                <a:tab pos="354965" algn="l"/>
                <a:tab pos="355600" algn="l"/>
              </a:tabLst>
            </a:pPr>
            <a:r>
              <a:rPr sz="2000" dirty="0">
                <a:latin typeface="Carlito"/>
                <a:cs typeface="Carlito"/>
              </a:rPr>
              <a:t>It is </a:t>
            </a:r>
            <a:r>
              <a:rPr sz="2000" spc="-5" dirty="0">
                <a:latin typeface="Carlito"/>
                <a:cs typeface="Carlito"/>
              </a:rPr>
              <a:t>permissible </a:t>
            </a:r>
            <a:r>
              <a:rPr sz="2000" spc="-15" dirty="0">
                <a:latin typeface="Carlito"/>
                <a:cs typeface="Carlito"/>
              </a:rPr>
              <a:t>to </a:t>
            </a:r>
            <a:r>
              <a:rPr sz="2000" dirty="0">
                <a:latin typeface="Carlito"/>
                <a:cs typeface="Carlito"/>
              </a:rPr>
              <a:t>try </a:t>
            </a:r>
            <a:r>
              <a:rPr sz="2000" spc="-15" dirty="0">
                <a:latin typeface="Carlito"/>
                <a:cs typeface="Carlito"/>
              </a:rPr>
              <a:t>several </a:t>
            </a:r>
            <a:r>
              <a:rPr sz="2000" spc="-5" dirty="0">
                <a:latin typeface="Carlito"/>
                <a:cs typeface="Carlito"/>
              </a:rPr>
              <a:t>algorithms on </a:t>
            </a:r>
            <a:r>
              <a:rPr sz="2000" dirty="0">
                <a:latin typeface="Carlito"/>
                <a:cs typeface="Carlito"/>
              </a:rPr>
              <a:t>the </a:t>
            </a:r>
            <a:r>
              <a:rPr sz="2000" spc="-5" dirty="0">
                <a:latin typeface="Carlito"/>
                <a:cs typeface="Carlito"/>
              </a:rPr>
              <a:t>same </a:t>
            </a:r>
            <a:r>
              <a:rPr sz="2000" spc="-10" dirty="0">
                <a:latin typeface="Carlito"/>
                <a:cs typeface="Carlito"/>
              </a:rPr>
              <a:t>data, </a:t>
            </a:r>
            <a:r>
              <a:rPr sz="2000" spc="-5" dirty="0">
                <a:latin typeface="Carlito"/>
                <a:cs typeface="Carlito"/>
              </a:rPr>
              <a:t>because  </a:t>
            </a:r>
            <a:r>
              <a:rPr sz="2000" spc="-10" dirty="0">
                <a:latin typeface="Carlito"/>
                <a:cs typeface="Carlito"/>
              </a:rPr>
              <a:t>cluster </a:t>
            </a:r>
            <a:r>
              <a:rPr sz="2000" spc="-5" dirty="0">
                <a:latin typeface="Carlito"/>
                <a:cs typeface="Carlito"/>
              </a:rPr>
              <a:t>analysis </a:t>
            </a:r>
            <a:r>
              <a:rPr sz="2000" dirty="0">
                <a:latin typeface="Carlito"/>
                <a:cs typeface="Carlito"/>
              </a:rPr>
              <a:t>is </a:t>
            </a:r>
            <a:r>
              <a:rPr sz="2000" spc="-5" dirty="0">
                <a:latin typeface="Carlito"/>
                <a:cs typeface="Carlito"/>
              </a:rPr>
              <a:t>mostly </a:t>
            </a:r>
            <a:r>
              <a:rPr sz="2000" dirty="0">
                <a:latin typeface="Carlito"/>
                <a:cs typeface="Carlito"/>
              </a:rPr>
              <a:t>used as a </a:t>
            </a:r>
            <a:r>
              <a:rPr sz="2000" spc="-5" dirty="0">
                <a:latin typeface="Carlito"/>
                <a:cs typeface="Carlito"/>
              </a:rPr>
              <a:t>descriptive or </a:t>
            </a:r>
            <a:r>
              <a:rPr sz="2000" spc="-15" dirty="0">
                <a:latin typeface="Carlito"/>
                <a:cs typeface="Carlito"/>
              </a:rPr>
              <a:t>exploratory</a:t>
            </a:r>
            <a:r>
              <a:rPr sz="2000" spc="65" dirty="0">
                <a:latin typeface="Carlito"/>
                <a:cs typeface="Carlito"/>
              </a:rPr>
              <a:t> </a:t>
            </a:r>
            <a:r>
              <a:rPr sz="2000" spc="-10" dirty="0">
                <a:latin typeface="Carlito"/>
                <a:cs typeface="Carlito"/>
              </a:rPr>
              <a:t>tool</a:t>
            </a:r>
            <a:endParaRPr sz="2000">
              <a:latin typeface="Carlito"/>
              <a:cs typeface="Carl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00577" y="385953"/>
            <a:ext cx="2942590" cy="452120"/>
          </a:xfrm>
          <a:prstGeom prst="rect">
            <a:avLst/>
          </a:prstGeom>
        </p:spPr>
        <p:txBody>
          <a:bodyPr vert="horz" wrap="square" lIns="0" tIns="12065" rIns="0" bIns="0" rtlCol="0">
            <a:spAutoFit/>
          </a:bodyPr>
          <a:lstStyle/>
          <a:p>
            <a:pPr marL="12700">
              <a:lnSpc>
                <a:spcPct val="100000"/>
              </a:lnSpc>
              <a:spcBef>
                <a:spcPts val="95"/>
              </a:spcBef>
            </a:pPr>
            <a:r>
              <a:rPr spc="-15" dirty="0"/>
              <a:t>Partitioning</a:t>
            </a:r>
            <a:r>
              <a:rPr spc="-20" dirty="0"/>
              <a:t> </a:t>
            </a:r>
            <a:r>
              <a:rPr spc="-5" dirty="0"/>
              <a:t>Method</a:t>
            </a:r>
          </a:p>
        </p:txBody>
      </p:sp>
      <p:sp>
        <p:nvSpPr>
          <p:cNvPr id="3" name="object 3"/>
          <p:cNvSpPr txBox="1"/>
          <p:nvPr/>
        </p:nvSpPr>
        <p:spPr>
          <a:xfrm>
            <a:off x="535940" y="1156563"/>
            <a:ext cx="8071484" cy="3195955"/>
          </a:xfrm>
          <a:prstGeom prst="rect">
            <a:avLst/>
          </a:prstGeom>
        </p:spPr>
        <p:txBody>
          <a:bodyPr vert="horz" wrap="square" lIns="0" tIns="43180" rIns="0" bIns="0" rtlCol="0">
            <a:spAutoFit/>
          </a:bodyPr>
          <a:lstStyle/>
          <a:p>
            <a:pPr marL="12700">
              <a:lnSpc>
                <a:spcPct val="100000"/>
              </a:lnSpc>
              <a:spcBef>
                <a:spcPts val="340"/>
              </a:spcBef>
            </a:pPr>
            <a:r>
              <a:rPr sz="2000" spc="-10" dirty="0">
                <a:latin typeface="Carlito"/>
                <a:cs typeface="Carlito"/>
              </a:rPr>
              <a:t>Given</a:t>
            </a:r>
            <a:r>
              <a:rPr sz="2000" dirty="0">
                <a:latin typeface="Carlito"/>
                <a:cs typeface="Carlito"/>
              </a:rPr>
              <a:t> -</a:t>
            </a:r>
            <a:endParaRPr sz="2000">
              <a:latin typeface="Carlito"/>
              <a:cs typeface="Carlito"/>
            </a:endParaRPr>
          </a:p>
          <a:p>
            <a:pPr marL="355600" indent="-342900">
              <a:lnSpc>
                <a:spcPct val="100000"/>
              </a:lnSpc>
              <a:spcBef>
                <a:spcPts val="240"/>
              </a:spcBef>
              <a:buFont typeface="Arial"/>
              <a:buChar char="•"/>
              <a:tabLst>
                <a:tab pos="354965" algn="l"/>
                <a:tab pos="355600" algn="l"/>
              </a:tabLst>
            </a:pPr>
            <a:r>
              <a:rPr sz="2000" dirty="0">
                <a:latin typeface="Carlito"/>
                <a:cs typeface="Carlito"/>
              </a:rPr>
              <a:t>a </a:t>
            </a:r>
            <a:r>
              <a:rPr sz="2000" spc="-15" dirty="0">
                <a:latin typeface="Carlito"/>
                <a:cs typeface="Carlito"/>
              </a:rPr>
              <a:t>data </a:t>
            </a:r>
            <a:r>
              <a:rPr sz="2000" spc="-10" dirty="0">
                <a:latin typeface="Carlito"/>
                <a:cs typeface="Carlito"/>
              </a:rPr>
              <a:t>set </a:t>
            </a:r>
            <a:r>
              <a:rPr sz="2000" spc="-5" dirty="0">
                <a:latin typeface="Carlito"/>
                <a:cs typeface="Carlito"/>
              </a:rPr>
              <a:t>of </a:t>
            </a:r>
            <a:r>
              <a:rPr sz="2000" dirty="0">
                <a:latin typeface="Carlito"/>
                <a:cs typeface="Carlito"/>
              </a:rPr>
              <a:t>n</a:t>
            </a:r>
            <a:r>
              <a:rPr sz="2000" spc="35" dirty="0">
                <a:latin typeface="Carlito"/>
                <a:cs typeface="Carlito"/>
              </a:rPr>
              <a:t> </a:t>
            </a:r>
            <a:r>
              <a:rPr sz="2000" spc="-5" dirty="0">
                <a:latin typeface="Carlito"/>
                <a:cs typeface="Carlito"/>
              </a:rPr>
              <a:t>objects</a:t>
            </a:r>
            <a:endParaRPr sz="2000">
              <a:latin typeface="Carlito"/>
              <a:cs typeface="Carlito"/>
            </a:endParaRPr>
          </a:p>
          <a:p>
            <a:pPr marL="355600" indent="-342900">
              <a:lnSpc>
                <a:spcPct val="100000"/>
              </a:lnSpc>
              <a:spcBef>
                <a:spcPts val="240"/>
              </a:spcBef>
              <a:buFont typeface="Arial"/>
              <a:buChar char="•"/>
              <a:tabLst>
                <a:tab pos="354965" algn="l"/>
                <a:tab pos="355600" algn="l"/>
              </a:tabLst>
            </a:pPr>
            <a:r>
              <a:rPr sz="2000" spc="-5" dirty="0">
                <a:latin typeface="Carlito"/>
                <a:cs typeface="Carlito"/>
              </a:rPr>
              <a:t>k, </a:t>
            </a:r>
            <a:r>
              <a:rPr sz="2000" dirty="0">
                <a:latin typeface="Carlito"/>
                <a:cs typeface="Carlito"/>
              </a:rPr>
              <a:t>the </a:t>
            </a:r>
            <a:r>
              <a:rPr sz="2000" spc="-5" dirty="0">
                <a:latin typeface="Carlito"/>
                <a:cs typeface="Carlito"/>
              </a:rPr>
              <a:t>number </a:t>
            </a:r>
            <a:r>
              <a:rPr sz="2000" dirty="0">
                <a:latin typeface="Carlito"/>
                <a:cs typeface="Carlito"/>
              </a:rPr>
              <a:t>of</a:t>
            </a:r>
            <a:r>
              <a:rPr sz="2000" spc="-25" dirty="0">
                <a:latin typeface="Carlito"/>
                <a:cs typeface="Carlito"/>
              </a:rPr>
              <a:t> </a:t>
            </a:r>
            <a:r>
              <a:rPr sz="2000" spc="-10" dirty="0">
                <a:latin typeface="Carlito"/>
                <a:cs typeface="Carlito"/>
              </a:rPr>
              <a:t>clusters</a:t>
            </a:r>
            <a:endParaRPr sz="2000">
              <a:latin typeface="Carlito"/>
              <a:cs typeface="Carlito"/>
            </a:endParaRPr>
          </a:p>
          <a:p>
            <a:pPr marL="355600" marR="6985" indent="-342900">
              <a:lnSpc>
                <a:spcPts val="2160"/>
              </a:lnSpc>
              <a:spcBef>
                <a:spcPts val="509"/>
              </a:spcBef>
              <a:buFont typeface="Arial"/>
              <a:buChar char="•"/>
              <a:tabLst>
                <a:tab pos="354965" algn="l"/>
                <a:tab pos="355600" algn="l"/>
              </a:tabLst>
            </a:pPr>
            <a:r>
              <a:rPr sz="2000" dirty="0">
                <a:latin typeface="Carlito"/>
                <a:cs typeface="Carlito"/>
              </a:rPr>
              <a:t>A </a:t>
            </a:r>
            <a:r>
              <a:rPr sz="2000" spc="-5" dirty="0">
                <a:latin typeface="Carlito"/>
                <a:cs typeface="Carlito"/>
              </a:rPr>
              <a:t>partitioning algorithm </a:t>
            </a:r>
            <a:r>
              <a:rPr sz="2000" spc="-15" dirty="0">
                <a:latin typeface="Carlito"/>
                <a:cs typeface="Carlito"/>
              </a:rPr>
              <a:t>organizes </a:t>
            </a:r>
            <a:r>
              <a:rPr sz="2000" dirty="0">
                <a:latin typeface="Carlito"/>
                <a:cs typeface="Carlito"/>
              </a:rPr>
              <a:t>the </a:t>
            </a:r>
            <a:r>
              <a:rPr sz="2000" spc="-5" dirty="0">
                <a:latin typeface="Carlito"/>
                <a:cs typeface="Carlito"/>
              </a:rPr>
              <a:t>objects </a:t>
            </a:r>
            <a:r>
              <a:rPr sz="2000" spc="-15" dirty="0">
                <a:latin typeface="Carlito"/>
                <a:cs typeface="Carlito"/>
              </a:rPr>
              <a:t>into </a:t>
            </a:r>
            <a:r>
              <a:rPr sz="2000" dirty="0">
                <a:latin typeface="Carlito"/>
                <a:cs typeface="Carlito"/>
              </a:rPr>
              <a:t>k partitions (k ≤ </a:t>
            </a:r>
            <a:r>
              <a:rPr sz="2000" spc="-10" dirty="0">
                <a:latin typeface="Carlito"/>
                <a:cs typeface="Carlito"/>
              </a:rPr>
              <a:t>n),  </a:t>
            </a:r>
            <a:r>
              <a:rPr sz="2000" spc="-5" dirty="0">
                <a:latin typeface="Carlito"/>
                <a:cs typeface="Carlito"/>
              </a:rPr>
              <a:t>where </a:t>
            </a:r>
            <a:r>
              <a:rPr sz="2000" dirty="0">
                <a:latin typeface="Carlito"/>
                <a:cs typeface="Carlito"/>
              </a:rPr>
              <a:t>each </a:t>
            </a:r>
            <a:r>
              <a:rPr sz="2000" spc="-5" dirty="0">
                <a:latin typeface="Carlito"/>
                <a:cs typeface="Carlito"/>
              </a:rPr>
              <a:t>partition </a:t>
            </a:r>
            <a:r>
              <a:rPr sz="2000" spc="-10" dirty="0">
                <a:latin typeface="Carlito"/>
                <a:cs typeface="Carlito"/>
              </a:rPr>
              <a:t>represents </a:t>
            </a:r>
            <a:r>
              <a:rPr sz="2000" dirty="0">
                <a:latin typeface="Carlito"/>
                <a:cs typeface="Carlito"/>
              </a:rPr>
              <a:t>a</a:t>
            </a:r>
            <a:r>
              <a:rPr sz="2000" spc="30" dirty="0">
                <a:latin typeface="Carlito"/>
                <a:cs typeface="Carlito"/>
              </a:rPr>
              <a:t> </a:t>
            </a:r>
            <a:r>
              <a:rPr sz="2000" spc="-35" dirty="0">
                <a:latin typeface="Carlito"/>
                <a:cs typeface="Carlito"/>
              </a:rPr>
              <a:t>cluster.</a:t>
            </a:r>
            <a:endParaRPr sz="2000">
              <a:latin typeface="Carlito"/>
              <a:cs typeface="Carlito"/>
            </a:endParaRPr>
          </a:p>
          <a:p>
            <a:pPr marL="355600" indent="-342900">
              <a:lnSpc>
                <a:spcPct val="100000"/>
              </a:lnSpc>
              <a:spcBef>
                <a:spcPts val="210"/>
              </a:spcBef>
              <a:buFont typeface="Arial"/>
              <a:buChar char="•"/>
              <a:tabLst>
                <a:tab pos="354965" algn="l"/>
                <a:tab pos="355600" algn="l"/>
              </a:tabLst>
            </a:pPr>
            <a:r>
              <a:rPr sz="2000" spc="-5" dirty="0">
                <a:latin typeface="Carlito"/>
                <a:cs typeface="Carlito"/>
              </a:rPr>
              <a:t>The </a:t>
            </a:r>
            <a:r>
              <a:rPr sz="2000" spc="-10" dirty="0">
                <a:latin typeface="Carlito"/>
                <a:cs typeface="Carlito"/>
              </a:rPr>
              <a:t>clusters are formed to optimize </a:t>
            </a:r>
            <a:r>
              <a:rPr sz="2000" dirty="0">
                <a:latin typeface="Carlito"/>
                <a:cs typeface="Carlito"/>
              </a:rPr>
              <a:t>an </a:t>
            </a:r>
            <a:r>
              <a:rPr sz="2000" spc="-10" dirty="0">
                <a:latin typeface="Carlito"/>
                <a:cs typeface="Carlito"/>
              </a:rPr>
              <a:t>objective </a:t>
            </a:r>
            <a:r>
              <a:rPr sz="2000" spc="-5" dirty="0">
                <a:latin typeface="Carlito"/>
                <a:cs typeface="Carlito"/>
              </a:rPr>
              <a:t>partitioning</a:t>
            </a:r>
            <a:r>
              <a:rPr sz="2000" spc="95" dirty="0">
                <a:latin typeface="Carlito"/>
                <a:cs typeface="Carlito"/>
              </a:rPr>
              <a:t> </a:t>
            </a:r>
            <a:r>
              <a:rPr sz="2000" spc="-5" dirty="0">
                <a:latin typeface="Carlito"/>
                <a:cs typeface="Carlito"/>
              </a:rPr>
              <a:t>criterion</a:t>
            </a:r>
            <a:endParaRPr sz="2000">
              <a:latin typeface="Carlito"/>
              <a:cs typeface="Carlito"/>
            </a:endParaRPr>
          </a:p>
          <a:p>
            <a:pPr marL="355600" marR="5080" indent="-342900">
              <a:lnSpc>
                <a:spcPts val="2160"/>
              </a:lnSpc>
              <a:spcBef>
                <a:spcPts val="515"/>
              </a:spcBef>
              <a:buFont typeface="Arial"/>
              <a:buChar char="•"/>
              <a:tabLst>
                <a:tab pos="354965" algn="l"/>
                <a:tab pos="355600" algn="l"/>
              </a:tabLst>
            </a:pPr>
            <a:r>
              <a:rPr sz="2000" spc="-5" dirty="0">
                <a:latin typeface="Carlito"/>
                <a:cs typeface="Carlito"/>
              </a:rPr>
              <a:t>Objective partitioning criterion such </a:t>
            </a:r>
            <a:r>
              <a:rPr sz="2000" dirty="0">
                <a:latin typeface="Carlito"/>
                <a:cs typeface="Carlito"/>
              </a:rPr>
              <a:t>as a </a:t>
            </a:r>
            <a:r>
              <a:rPr sz="2000" spc="-5" dirty="0">
                <a:latin typeface="Carlito"/>
                <a:cs typeface="Carlito"/>
              </a:rPr>
              <a:t>dissimilarity function based </a:t>
            </a:r>
            <a:r>
              <a:rPr sz="2000" spc="-15" dirty="0">
                <a:latin typeface="Carlito"/>
                <a:cs typeface="Carlito"/>
              </a:rPr>
              <a:t>on  </a:t>
            </a:r>
            <a:r>
              <a:rPr sz="2000" spc="-10" dirty="0">
                <a:latin typeface="Carlito"/>
                <a:cs typeface="Carlito"/>
              </a:rPr>
              <a:t>distance</a:t>
            </a:r>
            <a:endParaRPr sz="2000">
              <a:latin typeface="Carlito"/>
              <a:cs typeface="Carlito"/>
            </a:endParaRPr>
          </a:p>
          <a:p>
            <a:pPr marL="355600" indent="-342900">
              <a:lnSpc>
                <a:spcPts val="2280"/>
              </a:lnSpc>
              <a:spcBef>
                <a:spcPts val="204"/>
              </a:spcBef>
              <a:buFont typeface="Arial"/>
              <a:buChar char="•"/>
              <a:tabLst>
                <a:tab pos="354965" algn="l"/>
                <a:tab pos="355600" algn="l"/>
              </a:tabLst>
            </a:pPr>
            <a:r>
              <a:rPr sz="2000" spc="-15" dirty="0">
                <a:latin typeface="Carlito"/>
                <a:cs typeface="Carlito"/>
              </a:rPr>
              <a:t>Therefore, </a:t>
            </a:r>
            <a:r>
              <a:rPr sz="2000" dirty="0">
                <a:latin typeface="Carlito"/>
                <a:cs typeface="Carlito"/>
              </a:rPr>
              <a:t>the </a:t>
            </a:r>
            <a:r>
              <a:rPr sz="2000" spc="-5" dirty="0">
                <a:latin typeface="Carlito"/>
                <a:cs typeface="Carlito"/>
              </a:rPr>
              <a:t>objects </a:t>
            </a:r>
            <a:r>
              <a:rPr sz="2000" dirty="0">
                <a:latin typeface="Carlito"/>
                <a:cs typeface="Carlito"/>
              </a:rPr>
              <a:t>within a </a:t>
            </a:r>
            <a:r>
              <a:rPr sz="2000" spc="-10" dirty="0">
                <a:latin typeface="Carlito"/>
                <a:cs typeface="Carlito"/>
              </a:rPr>
              <a:t>cluster </a:t>
            </a:r>
            <a:r>
              <a:rPr sz="2000" spc="-5" dirty="0">
                <a:latin typeface="Carlito"/>
                <a:cs typeface="Carlito"/>
              </a:rPr>
              <a:t>are </a:t>
            </a:r>
            <a:r>
              <a:rPr sz="2000" spc="-35" dirty="0">
                <a:latin typeface="Carlito"/>
                <a:cs typeface="Carlito"/>
              </a:rPr>
              <a:t>“similar,” </a:t>
            </a:r>
            <a:r>
              <a:rPr sz="2000" spc="-5" dirty="0">
                <a:latin typeface="Carlito"/>
                <a:cs typeface="Carlito"/>
              </a:rPr>
              <a:t>whereas </a:t>
            </a:r>
            <a:r>
              <a:rPr sz="2000" dirty="0">
                <a:latin typeface="Carlito"/>
                <a:cs typeface="Carlito"/>
              </a:rPr>
              <a:t>the</a:t>
            </a:r>
            <a:r>
              <a:rPr sz="2000" spc="425" dirty="0">
                <a:latin typeface="Carlito"/>
                <a:cs typeface="Carlito"/>
              </a:rPr>
              <a:t> </a:t>
            </a:r>
            <a:r>
              <a:rPr sz="2000" spc="-5" dirty="0">
                <a:latin typeface="Carlito"/>
                <a:cs typeface="Carlito"/>
              </a:rPr>
              <a:t>objects</a:t>
            </a:r>
            <a:endParaRPr sz="2000">
              <a:latin typeface="Carlito"/>
              <a:cs typeface="Carlito"/>
            </a:endParaRPr>
          </a:p>
          <a:p>
            <a:pPr marL="355600">
              <a:lnSpc>
                <a:spcPts val="2280"/>
              </a:lnSpc>
            </a:pPr>
            <a:r>
              <a:rPr sz="2000" dirty="0">
                <a:latin typeface="Carlito"/>
                <a:cs typeface="Carlito"/>
              </a:rPr>
              <a:t>of </a:t>
            </a:r>
            <a:r>
              <a:rPr sz="2000" spc="-15" dirty="0">
                <a:latin typeface="Carlito"/>
                <a:cs typeface="Carlito"/>
              </a:rPr>
              <a:t>different </a:t>
            </a:r>
            <a:r>
              <a:rPr sz="2000" spc="-10" dirty="0">
                <a:latin typeface="Carlito"/>
                <a:cs typeface="Carlito"/>
              </a:rPr>
              <a:t>clusters are </a:t>
            </a:r>
            <a:r>
              <a:rPr sz="2000" spc="-5" dirty="0">
                <a:latin typeface="Carlito"/>
                <a:cs typeface="Carlito"/>
              </a:rPr>
              <a:t>“dissimilar” in </a:t>
            </a:r>
            <a:r>
              <a:rPr sz="2000" spc="-10" dirty="0">
                <a:latin typeface="Carlito"/>
                <a:cs typeface="Carlito"/>
              </a:rPr>
              <a:t>terms </a:t>
            </a:r>
            <a:r>
              <a:rPr sz="2000" dirty="0">
                <a:latin typeface="Carlito"/>
                <a:cs typeface="Carlito"/>
              </a:rPr>
              <a:t>of the </a:t>
            </a:r>
            <a:r>
              <a:rPr sz="2000" spc="-15" dirty="0">
                <a:latin typeface="Carlito"/>
                <a:cs typeface="Carlito"/>
              </a:rPr>
              <a:t>data </a:t>
            </a:r>
            <a:r>
              <a:rPr sz="2000" spc="-10" dirty="0">
                <a:latin typeface="Carlito"/>
                <a:cs typeface="Carlito"/>
              </a:rPr>
              <a:t>set</a:t>
            </a:r>
            <a:r>
              <a:rPr sz="2000" spc="180" dirty="0">
                <a:latin typeface="Carlito"/>
                <a:cs typeface="Carlito"/>
              </a:rPr>
              <a:t> </a:t>
            </a:r>
            <a:r>
              <a:rPr sz="2000" spc="-10" dirty="0">
                <a:latin typeface="Carlito"/>
                <a:cs typeface="Carlito"/>
              </a:rPr>
              <a:t>attributes.</a:t>
            </a:r>
            <a:endParaRPr sz="2000">
              <a:latin typeface="Carlito"/>
              <a:cs typeface="Carlito"/>
            </a:endParaRPr>
          </a:p>
        </p:txBody>
      </p:sp>
      <p:sp>
        <p:nvSpPr>
          <p:cNvPr id="4" name="object 4"/>
          <p:cNvSpPr/>
          <p:nvPr/>
        </p:nvSpPr>
        <p:spPr>
          <a:xfrm>
            <a:off x="890777" y="2167763"/>
            <a:ext cx="599440" cy="31750"/>
          </a:xfrm>
          <a:custGeom>
            <a:avLst/>
            <a:gdLst/>
            <a:ahLst/>
            <a:cxnLst/>
            <a:rect l="l" t="t" r="r" b="b"/>
            <a:pathLst>
              <a:path w="599440" h="31750">
                <a:moveTo>
                  <a:pt x="554990" y="29464"/>
                </a:moveTo>
                <a:lnTo>
                  <a:pt x="337375" y="29464"/>
                </a:lnTo>
                <a:lnTo>
                  <a:pt x="356450" y="30099"/>
                </a:lnTo>
                <a:lnTo>
                  <a:pt x="385572" y="30861"/>
                </a:lnTo>
                <a:lnTo>
                  <a:pt x="394969" y="30861"/>
                </a:lnTo>
                <a:lnTo>
                  <a:pt x="405130" y="31115"/>
                </a:lnTo>
                <a:lnTo>
                  <a:pt x="445897" y="31623"/>
                </a:lnTo>
                <a:lnTo>
                  <a:pt x="477647" y="31623"/>
                </a:lnTo>
                <a:lnTo>
                  <a:pt x="506475" y="31242"/>
                </a:lnTo>
                <a:lnTo>
                  <a:pt x="540512" y="30225"/>
                </a:lnTo>
                <a:lnTo>
                  <a:pt x="548513" y="29845"/>
                </a:lnTo>
                <a:lnTo>
                  <a:pt x="554990" y="29464"/>
                </a:lnTo>
                <a:close/>
              </a:path>
              <a:path w="599440" h="31750">
                <a:moveTo>
                  <a:pt x="597708" y="29083"/>
                </a:moveTo>
                <a:lnTo>
                  <a:pt x="567626" y="29090"/>
                </a:lnTo>
                <a:lnTo>
                  <a:pt x="574294" y="29337"/>
                </a:lnTo>
                <a:lnTo>
                  <a:pt x="573785" y="29337"/>
                </a:lnTo>
                <a:lnTo>
                  <a:pt x="580009" y="29845"/>
                </a:lnTo>
                <a:lnTo>
                  <a:pt x="579755" y="29845"/>
                </a:lnTo>
                <a:lnTo>
                  <a:pt x="587375" y="30861"/>
                </a:lnTo>
                <a:lnTo>
                  <a:pt x="595249" y="31115"/>
                </a:lnTo>
                <a:lnTo>
                  <a:pt x="597708" y="29083"/>
                </a:lnTo>
                <a:close/>
              </a:path>
              <a:path w="599440" h="31750">
                <a:moveTo>
                  <a:pt x="347357" y="17780"/>
                </a:moveTo>
                <a:lnTo>
                  <a:pt x="230162" y="17780"/>
                </a:lnTo>
                <a:lnTo>
                  <a:pt x="237375" y="18668"/>
                </a:lnTo>
                <a:lnTo>
                  <a:pt x="244462" y="19812"/>
                </a:lnTo>
                <a:lnTo>
                  <a:pt x="252272" y="21081"/>
                </a:lnTo>
                <a:lnTo>
                  <a:pt x="274688" y="25018"/>
                </a:lnTo>
                <a:lnTo>
                  <a:pt x="283730" y="26289"/>
                </a:lnTo>
                <a:lnTo>
                  <a:pt x="283870" y="26543"/>
                </a:lnTo>
                <a:lnTo>
                  <a:pt x="292150" y="27431"/>
                </a:lnTo>
                <a:lnTo>
                  <a:pt x="292366" y="27431"/>
                </a:lnTo>
                <a:lnTo>
                  <a:pt x="301002" y="28193"/>
                </a:lnTo>
                <a:lnTo>
                  <a:pt x="309486" y="28702"/>
                </a:lnTo>
                <a:lnTo>
                  <a:pt x="318960" y="29083"/>
                </a:lnTo>
                <a:lnTo>
                  <a:pt x="328396" y="29337"/>
                </a:lnTo>
                <a:lnTo>
                  <a:pt x="337388" y="29464"/>
                </a:lnTo>
                <a:lnTo>
                  <a:pt x="554863" y="29464"/>
                </a:lnTo>
                <a:lnTo>
                  <a:pt x="561085" y="29337"/>
                </a:lnTo>
                <a:lnTo>
                  <a:pt x="567626" y="29090"/>
                </a:lnTo>
                <a:lnTo>
                  <a:pt x="567435" y="29083"/>
                </a:lnTo>
                <a:lnTo>
                  <a:pt x="597708" y="29083"/>
                </a:lnTo>
                <a:lnTo>
                  <a:pt x="598169" y="28702"/>
                </a:lnTo>
                <a:lnTo>
                  <a:pt x="598678" y="25400"/>
                </a:lnTo>
                <a:lnTo>
                  <a:pt x="599313" y="22098"/>
                </a:lnTo>
                <a:lnTo>
                  <a:pt x="597408" y="18923"/>
                </a:lnTo>
                <a:lnTo>
                  <a:pt x="597055" y="18796"/>
                </a:lnTo>
                <a:lnTo>
                  <a:pt x="415290" y="18796"/>
                </a:lnTo>
                <a:lnTo>
                  <a:pt x="366052" y="18161"/>
                </a:lnTo>
                <a:lnTo>
                  <a:pt x="356717" y="18161"/>
                </a:lnTo>
                <a:lnTo>
                  <a:pt x="347357" y="17780"/>
                </a:lnTo>
                <a:close/>
              </a:path>
              <a:path w="599440" h="31750">
                <a:moveTo>
                  <a:pt x="11319" y="17525"/>
                </a:moveTo>
                <a:lnTo>
                  <a:pt x="2387" y="17525"/>
                </a:lnTo>
                <a:lnTo>
                  <a:pt x="2641" y="18161"/>
                </a:lnTo>
                <a:lnTo>
                  <a:pt x="2971" y="19050"/>
                </a:lnTo>
                <a:lnTo>
                  <a:pt x="3352" y="21462"/>
                </a:lnTo>
                <a:lnTo>
                  <a:pt x="5181" y="22987"/>
                </a:lnTo>
                <a:lnTo>
                  <a:pt x="7264" y="22987"/>
                </a:lnTo>
                <a:lnTo>
                  <a:pt x="9347" y="22733"/>
                </a:lnTo>
                <a:lnTo>
                  <a:pt x="11023" y="21081"/>
                </a:lnTo>
                <a:lnTo>
                  <a:pt x="11254" y="18542"/>
                </a:lnTo>
                <a:lnTo>
                  <a:pt x="11319" y="17525"/>
                </a:lnTo>
                <a:close/>
              </a:path>
              <a:path w="599440" h="31750">
                <a:moveTo>
                  <a:pt x="2826" y="18671"/>
                </a:moveTo>
                <a:lnTo>
                  <a:pt x="2898" y="19050"/>
                </a:lnTo>
                <a:lnTo>
                  <a:pt x="2826" y="18671"/>
                </a:lnTo>
                <a:close/>
              </a:path>
              <a:path w="599440" h="31750">
                <a:moveTo>
                  <a:pt x="2730" y="18161"/>
                </a:moveTo>
                <a:lnTo>
                  <a:pt x="2874" y="18796"/>
                </a:lnTo>
                <a:lnTo>
                  <a:pt x="2971" y="19050"/>
                </a:lnTo>
                <a:lnTo>
                  <a:pt x="2730" y="18161"/>
                </a:lnTo>
                <a:close/>
              </a:path>
              <a:path w="599440" h="31750">
                <a:moveTo>
                  <a:pt x="506094" y="17525"/>
                </a:moveTo>
                <a:lnTo>
                  <a:pt x="487044" y="18287"/>
                </a:lnTo>
                <a:lnTo>
                  <a:pt x="487172" y="18287"/>
                </a:lnTo>
                <a:lnTo>
                  <a:pt x="477393" y="18542"/>
                </a:lnTo>
                <a:lnTo>
                  <a:pt x="456946" y="18796"/>
                </a:lnTo>
                <a:lnTo>
                  <a:pt x="597055" y="18796"/>
                </a:lnTo>
                <a:lnTo>
                  <a:pt x="594233" y="17780"/>
                </a:lnTo>
                <a:lnTo>
                  <a:pt x="506094" y="17780"/>
                </a:lnTo>
                <a:lnTo>
                  <a:pt x="506094" y="17525"/>
                </a:lnTo>
                <a:close/>
              </a:path>
              <a:path w="599440" h="31750">
                <a:moveTo>
                  <a:pt x="2730" y="18161"/>
                </a:moveTo>
                <a:lnTo>
                  <a:pt x="2826" y="18671"/>
                </a:lnTo>
                <a:lnTo>
                  <a:pt x="2730" y="18161"/>
                </a:lnTo>
                <a:close/>
              </a:path>
              <a:path w="599440" h="31750">
                <a:moveTo>
                  <a:pt x="2611" y="18109"/>
                </a:moveTo>
                <a:close/>
              </a:path>
              <a:path w="599440" h="31750">
                <a:moveTo>
                  <a:pt x="16979" y="0"/>
                </a:moveTo>
                <a:lnTo>
                  <a:pt x="14401" y="0"/>
                </a:lnTo>
                <a:lnTo>
                  <a:pt x="12128" y="127"/>
                </a:lnTo>
                <a:lnTo>
                  <a:pt x="11620" y="381"/>
                </a:lnTo>
                <a:lnTo>
                  <a:pt x="9791" y="508"/>
                </a:lnTo>
                <a:lnTo>
                  <a:pt x="9245" y="762"/>
                </a:lnTo>
                <a:lnTo>
                  <a:pt x="7899" y="1143"/>
                </a:lnTo>
                <a:lnTo>
                  <a:pt x="5600" y="1905"/>
                </a:lnTo>
                <a:lnTo>
                  <a:pt x="0" y="9398"/>
                </a:lnTo>
                <a:lnTo>
                  <a:pt x="30" y="11421"/>
                </a:lnTo>
                <a:lnTo>
                  <a:pt x="406" y="13462"/>
                </a:lnTo>
                <a:lnTo>
                  <a:pt x="876" y="14731"/>
                </a:lnTo>
                <a:lnTo>
                  <a:pt x="2043" y="17145"/>
                </a:lnTo>
                <a:lnTo>
                  <a:pt x="2611" y="18109"/>
                </a:lnTo>
                <a:lnTo>
                  <a:pt x="2387" y="17525"/>
                </a:lnTo>
                <a:lnTo>
                  <a:pt x="11319" y="17525"/>
                </a:lnTo>
                <a:lnTo>
                  <a:pt x="11193" y="15367"/>
                </a:lnTo>
                <a:lnTo>
                  <a:pt x="11099" y="14224"/>
                </a:lnTo>
                <a:lnTo>
                  <a:pt x="10850" y="12065"/>
                </a:lnTo>
                <a:lnTo>
                  <a:pt x="9474" y="12065"/>
                </a:lnTo>
                <a:lnTo>
                  <a:pt x="9759" y="11872"/>
                </a:lnTo>
                <a:lnTo>
                  <a:pt x="9878" y="11737"/>
                </a:lnTo>
                <a:lnTo>
                  <a:pt x="10508" y="10919"/>
                </a:lnTo>
                <a:lnTo>
                  <a:pt x="10634" y="10629"/>
                </a:lnTo>
                <a:lnTo>
                  <a:pt x="10731" y="10033"/>
                </a:lnTo>
                <a:lnTo>
                  <a:pt x="257894" y="10033"/>
                </a:lnTo>
                <a:lnTo>
                  <a:pt x="254292" y="9398"/>
                </a:lnTo>
                <a:lnTo>
                  <a:pt x="246380" y="8255"/>
                </a:lnTo>
                <a:lnTo>
                  <a:pt x="239102" y="7112"/>
                </a:lnTo>
                <a:lnTo>
                  <a:pt x="231762" y="5968"/>
                </a:lnTo>
                <a:lnTo>
                  <a:pt x="231622" y="5968"/>
                </a:lnTo>
                <a:lnTo>
                  <a:pt x="224434" y="5206"/>
                </a:lnTo>
                <a:lnTo>
                  <a:pt x="217119" y="4699"/>
                </a:lnTo>
                <a:lnTo>
                  <a:pt x="110362" y="4699"/>
                </a:lnTo>
                <a:lnTo>
                  <a:pt x="103162" y="4445"/>
                </a:lnTo>
                <a:lnTo>
                  <a:pt x="95999" y="4445"/>
                </a:lnTo>
                <a:lnTo>
                  <a:pt x="89179" y="4318"/>
                </a:lnTo>
                <a:lnTo>
                  <a:pt x="83134" y="4318"/>
                </a:lnTo>
                <a:lnTo>
                  <a:pt x="77050" y="4064"/>
                </a:lnTo>
                <a:lnTo>
                  <a:pt x="69913" y="3937"/>
                </a:lnTo>
                <a:lnTo>
                  <a:pt x="63868" y="3556"/>
                </a:lnTo>
                <a:lnTo>
                  <a:pt x="57823" y="3175"/>
                </a:lnTo>
                <a:lnTo>
                  <a:pt x="52501" y="2921"/>
                </a:lnTo>
                <a:lnTo>
                  <a:pt x="46088" y="2412"/>
                </a:lnTo>
                <a:lnTo>
                  <a:pt x="41821" y="2286"/>
                </a:lnTo>
                <a:lnTo>
                  <a:pt x="36791" y="1905"/>
                </a:lnTo>
                <a:lnTo>
                  <a:pt x="33566" y="1524"/>
                </a:lnTo>
                <a:lnTo>
                  <a:pt x="29578" y="1143"/>
                </a:lnTo>
                <a:lnTo>
                  <a:pt x="26657" y="762"/>
                </a:lnTo>
                <a:lnTo>
                  <a:pt x="24091" y="508"/>
                </a:lnTo>
                <a:lnTo>
                  <a:pt x="21894" y="381"/>
                </a:lnTo>
                <a:lnTo>
                  <a:pt x="16979" y="0"/>
                </a:lnTo>
                <a:close/>
              </a:path>
              <a:path w="599440" h="31750">
                <a:moveTo>
                  <a:pt x="310032" y="17018"/>
                </a:moveTo>
                <a:lnTo>
                  <a:pt x="223138" y="17018"/>
                </a:lnTo>
                <a:lnTo>
                  <a:pt x="230314" y="17780"/>
                </a:lnTo>
                <a:lnTo>
                  <a:pt x="337642" y="17780"/>
                </a:lnTo>
                <a:lnTo>
                  <a:pt x="328663" y="17399"/>
                </a:lnTo>
                <a:lnTo>
                  <a:pt x="319303" y="17145"/>
                </a:lnTo>
                <a:lnTo>
                  <a:pt x="310032" y="17018"/>
                </a:lnTo>
                <a:close/>
              </a:path>
              <a:path w="599440" h="31750">
                <a:moveTo>
                  <a:pt x="567690" y="13970"/>
                </a:moveTo>
                <a:lnTo>
                  <a:pt x="567309" y="13970"/>
                </a:lnTo>
                <a:lnTo>
                  <a:pt x="560451" y="14350"/>
                </a:lnTo>
                <a:lnTo>
                  <a:pt x="560197" y="14350"/>
                </a:lnTo>
                <a:lnTo>
                  <a:pt x="554101" y="14731"/>
                </a:lnTo>
                <a:lnTo>
                  <a:pt x="547624" y="15240"/>
                </a:lnTo>
                <a:lnTo>
                  <a:pt x="523621" y="16764"/>
                </a:lnTo>
                <a:lnTo>
                  <a:pt x="514603" y="17145"/>
                </a:lnTo>
                <a:lnTo>
                  <a:pt x="514731" y="17145"/>
                </a:lnTo>
                <a:lnTo>
                  <a:pt x="506094" y="17780"/>
                </a:lnTo>
                <a:lnTo>
                  <a:pt x="594233" y="17780"/>
                </a:lnTo>
                <a:lnTo>
                  <a:pt x="589915" y="16383"/>
                </a:lnTo>
                <a:lnTo>
                  <a:pt x="588772" y="16256"/>
                </a:lnTo>
                <a:lnTo>
                  <a:pt x="582168" y="14986"/>
                </a:lnTo>
                <a:lnTo>
                  <a:pt x="581660" y="14986"/>
                </a:lnTo>
                <a:lnTo>
                  <a:pt x="575310" y="14224"/>
                </a:lnTo>
                <a:lnTo>
                  <a:pt x="574675" y="14224"/>
                </a:lnTo>
                <a:lnTo>
                  <a:pt x="567690" y="13970"/>
                </a:lnTo>
                <a:close/>
              </a:path>
              <a:path w="599440" h="31750">
                <a:moveTo>
                  <a:pt x="288448" y="14986"/>
                </a:moveTo>
                <a:lnTo>
                  <a:pt x="188442" y="14986"/>
                </a:lnTo>
                <a:lnTo>
                  <a:pt x="196011" y="15240"/>
                </a:lnTo>
                <a:lnTo>
                  <a:pt x="202412" y="15367"/>
                </a:lnTo>
                <a:lnTo>
                  <a:pt x="209524" y="15748"/>
                </a:lnTo>
                <a:lnTo>
                  <a:pt x="216230" y="16256"/>
                </a:lnTo>
                <a:lnTo>
                  <a:pt x="223278" y="17018"/>
                </a:lnTo>
                <a:lnTo>
                  <a:pt x="310159" y="17018"/>
                </a:lnTo>
                <a:lnTo>
                  <a:pt x="301878" y="16383"/>
                </a:lnTo>
                <a:lnTo>
                  <a:pt x="302069" y="16383"/>
                </a:lnTo>
                <a:lnTo>
                  <a:pt x="293420" y="15621"/>
                </a:lnTo>
                <a:lnTo>
                  <a:pt x="293624" y="15621"/>
                </a:lnTo>
                <a:lnTo>
                  <a:pt x="288448" y="14986"/>
                </a:lnTo>
                <a:close/>
              </a:path>
              <a:path w="599440" h="31750">
                <a:moveTo>
                  <a:pt x="262204" y="10795"/>
                </a:moveTo>
                <a:lnTo>
                  <a:pt x="20840" y="10795"/>
                </a:lnTo>
                <a:lnTo>
                  <a:pt x="23012" y="11049"/>
                </a:lnTo>
                <a:lnTo>
                  <a:pt x="25577" y="11430"/>
                </a:lnTo>
                <a:lnTo>
                  <a:pt x="28562" y="11811"/>
                </a:lnTo>
                <a:lnTo>
                  <a:pt x="32600" y="12065"/>
                </a:lnTo>
                <a:lnTo>
                  <a:pt x="40995" y="12700"/>
                </a:lnTo>
                <a:lnTo>
                  <a:pt x="45351" y="13081"/>
                </a:lnTo>
                <a:lnTo>
                  <a:pt x="63385" y="14224"/>
                </a:lnTo>
                <a:lnTo>
                  <a:pt x="69494" y="14350"/>
                </a:lnTo>
                <a:lnTo>
                  <a:pt x="76695" y="14605"/>
                </a:lnTo>
                <a:lnTo>
                  <a:pt x="82829" y="14986"/>
                </a:lnTo>
                <a:lnTo>
                  <a:pt x="110261" y="15367"/>
                </a:lnTo>
                <a:lnTo>
                  <a:pt x="134505" y="15367"/>
                </a:lnTo>
                <a:lnTo>
                  <a:pt x="159740" y="14986"/>
                </a:lnTo>
                <a:lnTo>
                  <a:pt x="288448" y="14986"/>
                </a:lnTo>
                <a:lnTo>
                  <a:pt x="285343" y="14605"/>
                </a:lnTo>
                <a:lnTo>
                  <a:pt x="285496" y="14605"/>
                </a:lnTo>
                <a:lnTo>
                  <a:pt x="276542" y="13462"/>
                </a:lnTo>
                <a:lnTo>
                  <a:pt x="270090" y="12192"/>
                </a:lnTo>
                <a:lnTo>
                  <a:pt x="262204" y="10795"/>
                </a:lnTo>
                <a:close/>
              </a:path>
              <a:path w="599440" h="31750">
                <a:moveTo>
                  <a:pt x="9775" y="11872"/>
                </a:moveTo>
                <a:lnTo>
                  <a:pt x="9474" y="12065"/>
                </a:lnTo>
                <a:lnTo>
                  <a:pt x="9626" y="12065"/>
                </a:lnTo>
                <a:lnTo>
                  <a:pt x="9775" y="11872"/>
                </a:lnTo>
                <a:close/>
              </a:path>
              <a:path w="599440" h="31750">
                <a:moveTo>
                  <a:pt x="10099" y="11684"/>
                </a:moveTo>
                <a:lnTo>
                  <a:pt x="9775" y="11872"/>
                </a:lnTo>
                <a:lnTo>
                  <a:pt x="9626" y="12065"/>
                </a:lnTo>
                <a:lnTo>
                  <a:pt x="10099" y="11684"/>
                </a:lnTo>
                <a:close/>
              </a:path>
              <a:path w="599440" h="31750">
                <a:moveTo>
                  <a:pt x="10776" y="11425"/>
                </a:moveTo>
                <a:lnTo>
                  <a:pt x="10099" y="11684"/>
                </a:lnTo>
                <a:lnTo>
                  <a:pt x="9626" y="12065"/>
                </a:lnTo>
                <a:lnTo>
                  <a:pt x="10850" y="12065"/>
                </a:lnTo>
                <a:lnTo>
                  <a:pt x="10776" y="11425"/>
                </a:lnTo>
                <a:close/>
              </a:path>
              <a:path w="599440" h="31750">
                <a:moveTo>
                  <a:pt x="9958" y="11737"/>
                </a:moveTo>
                <a:lnTo>
                  <a:pt x="9791" y="11850"/>
                </a:lnTo>
                <a:lnTo>
                  <a:pt x="9958" y="11737"/>
                </a:lnTo>
                <a:close/>
              </a:path>
              <a:path w="599440" h="31750">
                <a:moveTo>
                  <a:pt x="9845" y="11780"/>
                </a:moveTo>
                <a:close/>
              </a:path>
              <a:path w="599440" h="31750">
                <a:moveTo>
                  <a:pt x="10551" y="10864"/>
                </a:moveTo>
                <a:lnTo>
                  <a:pt x="9862" y="11758"/>
                </a:lnTo>
                <a:lnTo>
                  <a:pt x="10287" y="11515"/>
                </a:lnTo>
                <a:lnTo>
                  <a:pt x="10551" y="10864"/>
                </a:lnTo>
                <a:close/>
              </a:path>
              <a:path w="599440" h="31750">
                <a:moveTo>
                  <a:pt x="10307" y="11515"/>
                </a:moveTo>
                <a:lnTo>
                  <a:pt x="9958" y="11737"/>
                </a:lnTo>
                <a:lnTo>
                  <a:pt x="10217" y="11588"/>
                </a:lnTo>
                <a:close/>
              </a:path>
              <a:path w="599440" h="31750">
                <a:moveTo>
                  <a:pt x="10217" y="11588"/>
                </a:moveTo>
                <a:lnTo>
                  <a:pt x="10023" y="11712"/>
                </a:lnTo>
                <a:lnTo>
                  <a:pt x="10217" y="11588"/>
                </a:lnTo>
                <a:close/>
              </a:path>
              <a:path w="599440" h="31750">
                <a:moveTo>
                  <a:pt x="10764" y="11430"/>
                </a:moveTo>
                <a:lnTo>
                  <a:pt x="10464" y="11430"/>
                </a:lnTo>
                <a:lnTo>
                  <a:pt x="10099" y="11684"/>
                </a:lnTo>
                <a:lnTo>
                  <a:pt x="10764" y="11430"/>
                </a:lnTo>
                <a:close/>
              </a:path>
              <a:path w="599440" h="31750">
                <a:moveTo>
                  <a:pt x="10782" y="11430"/>
                </a:moveTo>
                <a:close/>
              </a:path>
              <a:path w="599440" h="31750">
                <a:moveTo>
                  <a:pt x="10464" y="11430"/>
                </a:moveTo>
                <a:lnTo>
                  <a:pt x="10307" y="11515"/>
                </a:lnTo>
                <a:lnTo>
                  <a:pt x="10464" y="11430"/>
                </a:lnTo>
                <a:close/>
              </a:path>
              <a:path w="599440" h="31750">
                <a:moveTo>
                  <a:pt x="10604" y="10795"/>
                </a:moveTo>
                <a:lnTo>
                  <a:pt x="10299" y="11430"/>
                </a:lnTo>
                <a:lnTo>
                  <a:pt x="10604" y="10795"/>
                </a:lnTo>
                <a:close/>
              </a:path>
              <a:path w="599440" h="31750">
                <a:moveTo>
                  <a:pt x="10722" y="11049"/>
                </a:moveTo>
                <a:lnTo>
                  <a:pt x="10482" y="11049"/>
                </a:lnTo>
                <a:lnTo>
                  <a:pt x="10299" y="11430"/>
                </a:lnTo>
                <a:lnTo>
                  <a:pt x="10756" y="11430"/>
                </a:lnTo>
                <a:lnTo>
                  <a:pt x="10722" y="11049"/>
                </a:lnTo>
                <a:close/>
              </a:path>
              <a:path w="599440" h="31750">
                <a:moveTo>
                  <a:pt x="259335" y="10287"/>
                </a:moveTo>
                <a:lnTo>
                  <a:pt x="10807" y="10287"/>
                </a:lnTo>
                <a:lnTo>
                  <a:pt x="10775" y="11422"/>
                </a:lnTo>
                <a:lnTo>
                  <a:pt x="11430" y="11175"/>
                </a:lnTo>
                <a:lnTo>
                  <a:pt x="11662" y="11175"/>
                </a:lnTo>
                <a:lnTo>
                  <a:pt x="12115" y="11049"/>
                </a:lnTo>
                <a:lnTo>
                  <a:pt x="11633" y="11049"/>
                </a:lnTo>
                <a:lnTo>
                  <a:pt x="13462" y="10795"/>
                </a:lnTo>
                <a:lnTo>
                  <a:pt x="12992" y="10795"/>
                </a:lnTo>
                <a:lnTo>
                  <a:pt x="15265" y="10668"/>
                </a:lnTo>
                <a:lnTo>
                  <a:pt x="261496" y="10668"/>
                </a:lnTo>
                <a:lnTo>
                  <a:pt x="259335" y="10287"/>
                </a:lnTo>
                <a:close/>
              </a:path>
              <a:path w="599440" h="31750">
                <a:moveTo>
                  <a:pt x="11662" y="11175"/>
                </a:moveTo>
                <a:lnTo>
                  <a:pt x="11430" y="11175"/>
                </a:lnTo>
                <a:lnTo>
                  <a:pt x="10785" y="11421"/>
                </a:lnTo>
                <a:lnTo>
                  <a:pt x="11662" y="11175"/>
                </a:lnTo>
                <a:close/>
              </a:path>
              <a:path w="599440" h="31750">
                <a:moveTo>
                  <a:pt x="10607" y="10795"/>
                </a:moveTo>
                <a:lnTo>
                  <a:pt x="10482" y="11049"/>
                </a:lnTo>
                <a:lnTo>
                  <a:pt x="10607" y="10795"/>
                </a:lnTo>
                <a:close/>
              </a:path>
              <a:path w="599440" h="31750">
                <a:moveTo>
                  <a:pt x="10668" y="10668"/>
                </a:moveTo>
                <a:lnTo>
                  <a:pt x="10566" y="11049"/>
                </a:lnTo>
                <a:lnTo>
                  <a:pt x="10668" y="10668"/>
                </a:lnTo>
                <a:close/>
              </a:path>
              <a:path w="599440" h="31750">
                <a:moveTo>
                  <a:pt x="10672" y="10713"/>
                </a:moveTo>
                <a:lnTo>
                  <a:pt x="10566" y="11049"/>
                </a:lnTo>
                <a:lnTo>
                  <a:pt x="10706" y="11049"/>
                </a:lnTo>
                <a:lnTo>
                  <a:pt x="10672" y="10713"/>
                </a:lnTo>
                <a:close/>
              </a:path>
              <a:path w="599440" h="31750">
                <a:moveTo>
                  <a:pt x="10703" y="10919"/>
                </a:moveTo>
                <a:lnTo>
                  <a:pt x="10706" y="11049"/>
                </a:lnTo>
                <a:lnTo>
                  <a:pt x="10703" y="10919"/>
                </a:lnTo>
                <a:close/>
              </a:path>
              <a:path w="599440" h="31750">
                <a:moveTo>
                  <a:pt x="10604" y="10795"/>
                </a:moveTo>
                <a:close/>
              </a:path>
              <a:path w="599440" h="31750">
                <a:moveTo>
                  <a:pt x="10622" y="10703"/>
                </a:moveTo>
                <a:close/>
              </a:path>
              <a:path w="599440" h="31750">
                <a:moveTo>
                  <a:pt x="261496" y="10668"/>
                </a:moveTo>
                <a:lnTo>
                  <a:pt x="18694" y="10668"/>
                </a:lnTo>
                <a:lnTo>
                  <a:pt x="20967" y="10795"/>
                </a:lnTo>
                <a:lnTo>
                  <a:pt x="262216" y="10795"/>
                </a:lnTo>
                <a:lnTo>
                  <a:pt x="261496" y="10668"/>
                </a:lnTo>
                <a:close/>
              </a:path>
              <a:path w="599440" h="31750">
                <a:moveTo>
                  <a:pt x="10687" y="10668"/>
                </a:moveTo>
                <a:close/>
              </a:path>
              <a:path w="599440" h="31750">
                <a:moveTo>
                  <a:pt x="10684" y="10565"/>
                </a:moveTo>
                <a:close/>
              </a:path>
              <a:path w="599440" h="31750">
                <a:moveTo>
                  <a:pt x="257894" y="10033"/>
                </a:moveTo>
                <a:lnTo>
                  <a:pt x="10731" y="10033"/>
                </a:lnTo>
                <a:lnTo>
                  <a:pt x="10697" y="10534"/>
                </a:lnTo>
                <a:lnTo>
                  <a:pt x="10807" y="10287"/>
                </a:lnTo>
                <a:lnTo>
                  <a:pt x="259335" y="10287"/>
                </a:lnTo>
                <a:lnTo>
                  <a:pt x="257894" y="10033"/>
                </a:lnTo>
                <a:close/>
              </a:path>
              <a:path w="599440" h="31750">
                <a:moveTo>
                  <a:pt x="10711" y="10287"/>
                </a:moveTo>
                <a:lnTo>
                  <a:pt x="10696" y="10470"/>
                </a:lnTo>
                <a:lnTo>
                  <a:pt x="10711" y="10287"/>
                </a:lnTo>
                <a:close/>
              </a:path>
              <a:path w="599440" h="31750">
                <a:moveTo>
                  <a:pt x="10731" y="10033"/>
                </a:moveTo>
                <a:lnTo>
                  <a:pt x="10690" y="10287"/>
                </a:lnTo>
                <a:lnTo>
                  <a:pt x="10731" y="10033"/>
                </a:lnTo>
                <a:close/>
              </a:path>
              <a:path w="599440" h="31750">
                <a:moveTo>
                  <a:pt x="196265" y="3683"/>
                </a:moveTo>
                <a:lnTo>
                  <a:pt x="181965" y="3683"/>
                </a:lnTo>
                <a:lnTo>
                  <a:pt x="174739" y="3937"/>
                </a:lnTo>
                <a:lnTo>
                  <a:pt x="166763" y="4064"/>
                </a:lnTo>
                <a:lnTo>
                  <a:pt x="159524" y="4318"/>
                </a:lnTo>
                <a:lnTo>
                  <a:pt x="151612" y="4318"/>
                </a:lnTo>
                <a:lnTo>
                  <a:pt x="143332" y="4445"/>
                </a:lnTo>
                <a:lnTo>
                  <a:pt x="134378" y="4699"/>
                </a:lnTo>
                <a:lnTo>
                  <a:pt x="217119" y="4699"/>
                </a:lnTo>
                <a:lnTo>
                  <a:pt x="210172" y="4064"/>
                </a:lnTo>
                <a:lnTo>
                  <a:pt x="202857" y="3937"/>
                </a:lnTo>
                <a:lnTo>
                  <a:pt x="196265" y="3683"/>
                </a:lnTo>
                <a:close/>
              </a:path>
            </a:pathLst>
          </a:custGeom>
          <a:solidFill>
            <a:srgbClr val="FF0000"/>
          </a:solid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9</a:t>
            </a:fld>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00577" y="385953"/>
            <a:ext cx="2942590" cy="452120"/>
          </a:xfrm>
          <a:prstGeom prst="rect">
            <a:avLst/>
          </a:prstGeom>
        </p:spPr>
        <p:txBody>
          <a:bodyPr vert="horz" wrap="square" lIns="0" tIns="12065" rIns="0" bIns="0" rtlCol="0">
            <a:spAutoFit/>
          </a:bodyPr>
          <a:lstStyle/>
          <a:p>
            <a:pPr marL="12700">
              <a:lnSpc>
                <a:spcPct val="100000"/>
              </a:lnSpc>
              <a:spcBef>
                <a:spcPts val="95"/>
              </a:spcBef>
            </a:pPr>
            <a:r>
              <a:rPr spc="-15" dirty="0"/>
              <a:t>Partitioning</a:t>
            </a:r>
            <a:r>
              <a:rPr spc="-20" dirty="0"/>
              <a:t> </a:t>
            </a:r>
            <a:r>
              <a:rPr spc="-5" dirty="0"/>
              <a:t>Method</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10</a:t>
            </a:fld>
            <a:endParaRPr dirty="0"/>
          </a:p>
        </p:txBody>
      </p:sp>
      <p:sp>
        <p:nvSpPr>
          <p:cNvPr id="3" name="object 3"/>
          <p:cNvSpPr txBox="1"/>
          <p:nvPr/>
        </p:nvSpPr>
        <p:spPr>
          <a:xfrm>
            <a:off x="535940" y="1216913"/>
            <a:ext cx="7997190" cy="6356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5" dirty="0">
                <a:latin typeface="Carlito"/>
                <a:cs typeface="Carlito"/>
              </a:rPr>
              <a:t>Partitioning methods </a:t>
            </a:r>
            <a:r>
              <a:rPr sz="2000" spc="-10" dirty="0">
                <a:latin typeface="Carlito"/>
                <a:cs typeface="Carlito"/>
              </a:rPr>
              <a:t>are </a:t>
            </a:r>
            <a:r>
              <a:rPr sz="2000" dirty="0">
                <a:latin typeface="Carlito"/>
                <a:cs typeface="Carlito"/>
              </a:rPr>
              <a:t>applied if one </a:t>
            </a:r>
            <a:r>
              <a:rPr sz="2000" spc="-10" dirty="0">
                <a:latin typeface="Carlito"/>
                <a:cs typeface="Carlito"/>
              </a:rPr>
              <a:t>wants </a:t>
            </a:r>
            <a:r>
              <a:rPr sz="2000" spc="-15" dirty="0">
                <a:latin typeface="Carlito"/>
                <a:cs typeface="Carlito"/>
              </a:rPr>
              <a:t>to </a:t>
            </a:r>
            <a:r>
              <a:rPr sz="2000" spc="-5" dirty="0">
                <a:latin typeface="Carlito"/>
                <a:cs typeface="Carlito"/>
              </a:rPr>
              <a:t>classify </a:t>
            </a:r>
            <a:r>
              <a:rPr sz="2000" dirty="0">
                <a:latin typeface="Carlito"/>
                <a:cs typeface="Carlito"/>
              </a:rPr>
              <a:t>the </a:t>
            </a:r>
            <a:r>
              <a:rPr sz="2000" spc="-5" dirty="0">
                <a:latin typeface="Carlito"/>
                <a:cs typeface="Carlito"/>
              </a:rPr>
              <a:t>objects </a:t>
            </a:r>
            <a:r>
              <a:rPr sz="2000" spc="-15" dirty="0">
                <a:latin typeface="Carlito"/>
                <a:cs typeface="Carlito"/>
              </a:rPr>
              <a:t>into</a:t>
            </a:r>
            <a:r>
              <a:rPr sz="2000" spc="114" dirty="0">
                <a:latin typeface="Carlito"/>
                <a:cs typeface="Carlito"/>
              </a:rPr>
              <a:t> </a:t>
            </a:r>
            <a:r>
              <a:rPr sz="2000" i="1" dirty="0">
                <a:latin typeface="Carlito"/>
                <a:cs typeface="Carlito"/>
              </a:rPr>
              <a:t>k</a:t>
            </a:r>
            <a:endParaRPr sz="2000" dirty="0">
              <a:latin typeface="Carlito"/>
              <a:cs typeface="Carlito"/>
            </a:endParaRPr>
          </a:p>
          <a:p>
            <a:pPr marL="355600">
              <a:lnSpc>
                <a:spcPct val="100000"/>
              </a:lnSpc>
            </a:pPr>
            <a:r>
              <a:rPr sz="2000" spc="-10" dirty="0">
                <a:latin typeface="Carlito"/>
                <a:cs typeface="Carlito"/>
              </a:rPr>
              <a:t>clusters, </a:t>
            </a:r>
            <a:r>
              <a:rPr sz="2000" spc="-5" dirty="0">
                <a:latin typeface="Carlito"/>
                <a:cs typeface="Carlito"/>
              </a:rPr>
              <a:t>where </a:t>
            </a:r>
            <a:r>
              <a:rPr sz="2000" i="1" dirty="0">
                <a:latin typeface="Carlito"/>
                <a:cs typeface="Carlito"/>
              </a:rPr>
              <a:t>k </a:t>
            </a:r>
            <a:r>
              <a:rPr sz="2000" dirty="0">
                <a:latin typeface="Carlito"/>
                <a:cs typeface="Carlito"/>
              </a:rPr>
              <a:t>is </a:t>
            </a:r>
            <a:r>
              <a:rPr sz="2000" spc="-10" dirty="0">
                <a:latin typeface="Carlito"/>
                <a:cs typeface="Carlito"/>
              </a:rPr>
              <a:t>fixed</a:t>
            </a:r>
            <a:r>
              <a:rPr lang="en-US" sz="2000" spc="-10" dirty="0">
                <a:latin typeface="Carlito"/>
                <a:cs typeface="Carlito"/>
              </a:rPr>
              <a:t> ( k is the number of </a:t>
            </a:r>
            <a:endParaRPr sz="2000" dirty="0">
              <a:latin typeface="Carlito"/>
              <a:cs typeface="Carli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04794" y="385953"/>
            <a:ext cx="2534920" cy="452120"/>
          </a:xfrm>
          <a:prstGeom prst="rect">
            <a:avLst/>
          </a:prstGeom>
        </p:spPr>
        <p:txBody>
          <a:bodyPr vert="horz" wrap="square" lIns="0" tIns="12065" rIns="0" bIns="0" rtlCol="0">
            <a:spAutoFit/>
          </a:bodyPr>
          <a:lstStyle/>
          <a:p>
            <a:pPr marL="12700">
              <a:lnSpc>
                <a:spcPct val="100000"/>
              </a:lnSpc>
              <a:spcBef>
                <a:spcPts val="95"/>
              </a:spcBef>
            </a:pPr>
            <a:r>
              <a:rPr spc="-5" dirty="0"/>
              <a:t>K-Means</a:t>
            </a:r>
            <a:r>
              <a:rPr spc="-55" dirty="0"/>
              <a:t> </a:t>
            </a:r>
            <a:r>
              <a:rPr spc="-5" dirty="0"/>
              <a:t>Method</a:t>
            </a:r>
          </a:p>
        </p:txBody>
      </p:sp>
      <p:sp>
        <p:nvSpPr>
          <p:cNvPr id="3" name="object 3"/>
          <p:cNvSpPr txBox="1"/>
          <p:nvPr/>
        </p:nvSpPr>
        <p:spPr>
          <a:xfrm>
            <a:off x="444689" y="1276350"/>
            <a:ext cx="8072755" cy="2403475"/>
          </a:xfrm>
          <a:prstGeom prst="rect">
            <a:avLst/>
          </a:prstGeom>
        </p:spPr>
        <p:txBody>
          <a:bodyPr vert="horz" wrap="square" lIns="0" tIns="73660" rIns="0" bIns="0" rtlCol="0">
            <a:spAutoFit/>
          </a:bodyPr>
          <a:lstStyle/>
          <a:p>
            <a:pPr marL="355600" indent="-342900">
              <a:lnSpc>
                <a:spcPct val="100000"/>
              </a:lnSpc>
              <a:spcBef>
                <a:spcPts val="580"/>
              </a:spcBef>
              <a:buFont typeface="Arial"/>
              <a:buChar char="•"/>
              <a:tabLst>
                <a:tab pos="354965" algn="l"/>
                <a:tab pos="355600" algn="l"/>
              </a:tabLst>
            </a:pPr>
            <a:r>
              <a:rPr sz="2000" spc="-5" dirty="0">
                <a:latin typeface="Carlito"/>
                <a:cs typeface="Carlito"/>
              </a:rPr>
              <a:t>It is </a:t>
            </a:r>
            <a:r>
              <a:rPr sz="2000" dirty="0">
                <a:latin typeface="Carlito"/>
                <a:cs typeface="Carlito"/>
              </a:rPr>
              <a:t>a </a:t>
            </a:r>
            <a:r>
              <a:rPr sz="2000" spc="-10" dirty="0">
                <a:solidFill>
                  <a:srgbClr val="C00000"/>
                </a:solidFill>
                <a:latin typeface="Carlito"/>
                <a:cs typeface="Carlito"/>
              </a:rPr>
              <a:t>centroid </a:t>
            </a:r>
            <a:r>
              <a:rPr sz="2000" spc="-5" dirty="0">
                <a:solidFill>
                  <a:srgbClr val="C00000"/>
                </a:solidFill>
                <a:latin typeface="Carlito"/>
                <a:cs typeface="Carlito"/>
              </a:rPr>
              <a:t>based</a:t>
            </a:r>
            <a:r>
              <a:rPr sz="2000" spc="30" dirty="0">
                <a:solidFill>
                  <a:srgbClr val="C00000"/>
                </a:solidFill>
                <a:latin typeface="Carlito"/>
                <a:cs typeface="Carlito"/>
              </a:rPr>
              <a:t> </a:t>
            </a:r>
            <a:r>
              <a:rPr sz="2000" spc="-5" dirty="0">
                <a:solidFill>
                  <a:srgbClr val="C00000"/>
                </a:solidFill>
                <a:latin typeface="Carlito"/>
                <a:cs typeface="Carlito"/>
              </a:rPr>
              <a:t>technique</a:t>
            </a:r>
            <a:endParaRPr sz="2000" dirty="0">
              <a:solidFill>
                <a:srgbClr val="C00000"/>
              </a:solidFill>
              <a:latin typeface="Carlito"/>
              <a:cs typeface="Carlito"/>
            </a:endParaRPr>
          </a:p>
          <a:p>
            <a:pPr marL="355600" marR="5715" indent="-342900">
              <a:lnSpc>
                <a:spcPct val="100000"/>
              </a:lnSpc>
              <a:spcBef>
                <a:spcPts val="480"/>
              </a:spcBef>
              <a:buFont typeface="Arial"/>
              <a:buChar char="•"/>
              <a:tabLst>
                <a:tab pos="354965" algn="l"/>
                <a:tab pos="355600" algn="l"/>
              </a:tabLst>
            </a:pPr>
            <a:r>
              <a:rPr sz="2000" spc="-5" dirty="0">
                <a:latin typeface="Carlito"/>
                <a:cs typeface="Carlito"/>
              </a:rPr>
              <a:t>The </a:t>
            </a:r>
            <a:r>
              <a:rPr sz="2000" i="1" spc="-5" dirty="0">
                <a:latin typeface="Carlito"/>
                <a:cs typeface="Carlito"/>
              </a:rPr>
              <a:t>k</a:t>
            </a:r>
            <a:r>
              <a:rPr sz="2000" spc="-5" dirty="0">
                <a:latin typeface="Carlito"/>
                <a:cs typeface="Carlito"/>
              </a:rPr>
              <a:t>-means algorithm </a:t>
            </a:r>
            <a:r>
              <a:rPr sz="2000" spc="-20" dirty="0">
                <a:latin typeface="Carlito"/>
                <a:cs typeface="Carlito"/>
              </a:rPr>
              <a:t>takes </a:t>
            </a:r>
            <a:r>
              <a:rPr sz="2000" dirty="0">
                <a:latin typeface="Carlito"/>
                <a:cs typeface="Carlito"/>
              </a:rPr>
              <a:t>the </a:t>
            </a:r>
            <a:r>
              <a:rPr sz="2000" spc="-5" dirty="0">
                <a:latin typeface="Carlito"/>
                <a:cs typeface="Carlito"/>
              </a:rPr>
              <a:t>input </a:t>
            </a:r>
            <a:r>
              <a:rPr sz="2000" spc="-30" dirty="0">
                <a:latin typeface="Carlito"/>
                <a:cs typeface="Carlito"/>
              </a:rPr>
              <a:t>parameter, </a:t>
            </a:r>
            <a:r>
              <a:rPr sz="2000" i="1" dirty="0">
                <a:latin typeface="Carlito"/>
                <a:cs typeface="Carlito"/>
              </a:rPr>
              <a:t>k</a:t>
            </a:r>
            <a:r>
              <a:rPr sz="2000" dirty="0">
                <a:latin typeface="Carlito"/>
                <a:cs typeface="Carlito"/>
              </a:rPr>
              <a:t>, and </a:t>
            </a:r>
            <a:r>
              <a:rPr sz="2000" spc="-5" dirty="0">
                <a:latin typeface="Carlito"/>
                <a:cs typeface="Carlito"/>
              </a:rPr>
              <a:t>partitions </a:t>
            </a:r>
            <a:r>
              <a:rPr sz="2000" dirty="0">
                <a:latin typeface="Carlito"/>
                <a:cs typeface="Carlito"/>
              </a:rPr>
              <a:t>a </a:t>
            </a:r>
            <a:r>
              <a:rPr sz="2000" spc="-10" dirty="0">
                <a:latin typeface="Carlito"/>
                <a:cs typeface="Carlito"/>
              </a:rPr>
              <a:t>set  </a:t>
            </a:r>
            <a:r>
              <a:rPr sz="2000" dirty="0">
                <a:latin typeface="Carlito"/>
                <a:cs typeface="Carlito"/>
              </a:rPr>
              <a:t>of </a:t>
            </a:r>
            <a:r>
              <a:rPr sz="2000" i="1" dirty="0">
                <a:latin typeface="Carlito"/>
                <a:cs typeface="Carlito"/>
              </a:rPr>
              <a:t>n </a:t>
            </a:r>
            <a:r>
              <a:rPr sz="2000" spc="-5" dirty="0">
                <a:latin typeface="Carlito"/>
                <a:cs typeface="Carlito"/>
              </a:rPr>
              <a:t>objects </a:t>
            </a:r>
            <a:r>
              <a:rPr sz="2000" spc="-15" dirty="0">
                <a:latin typeface="Carlito"/>
                <a:cs typeface="Carlito"/>
              </a:rPr>
              <a:t>into </a:t>
            </a:r>
            <a:r>
              <a:rPr sz="2000" i="1" dirty="0">
                <a:latin typeface="Carlito"/>
                <a:cs typeface="Carlito"/>
              </a:rPr>
              <a:t>k</a:t>
            </a:r>
            <a:r>
              <a:rPr sz="2000" i="1" spc="-15" dirty="0">
                <a:latin typeface="Carlito"/>
                <a:cs typeface="Carlito"/>
              </a:rPr>
              <a:t> </a:t>
            </a:r>
            <a:r>
              <a:rPr sz="2000" spc="-10" dirty="0">
                <a:latin typeface="Carlito"/>
                <a:cs typeface="Carlito"/>
              </a:rPr>
              <a:t>clusters</a:t>
            </a:r>
            <a:endParaRPr sz="2000" dirty="0">
              <a:latin typeface="Carlito"/>
              <a:cs typeface="Carlito"/>
            </a:endParaRPr>
          </a:p>
          <a:p>
            <a:pPr marL="355600" marR="5080" indent="-342900">
              <a:lnSpc>
                <a:spcPct val="100000"/>
              </a:lnSpc>
              <a:spcBef>
                <a:spcPts val="480"/>
              </a:spcBef>
              <a:buFont typeface="Arial"/>
              <a:buChar char="•"/>
              <a:tabLst>
                <a:tab pos="354965" algn="l"/>
                <a:tab pos="355600" algn="l"/>
              </a:tabLst>
            </a:pPr>
            <a:r>
              <a:rPr sz="2000" dirty="0">
                <a:latin typeface="Carlito"/>
                <a:cs typeface="Carlito"/>
              </a:rPr>
              <a:t>So </a:t>
            </a:r>
            <a:r>
              <a:rPr sz="2000" spc="-5" dirty="0">
                <a:latin typeface="Carlito"/>
                <a:cs typeface="Carlito"/>
              </a:rPr>
              <a:t>that </a:t>
            </a:r>
            <a:r>
              <a:rPr sz="2000" dirty="0">
                <a:latin typeface="Carlito"/>
                <a:cs typeface="Carlito"/>
              </a:rPr>
              <a:t>the </a:t>
            </a:r>
            <a:r>
              <a:rPr sz="2000" spc="-5" dirty="0">
                <a:latin typeface="Carlito"/>
                <a:cs typeface="Carlito"/>
              </a:rPr>
              <a:t>resulting </a:t>
            </a:r>
            <a:r>
              <a:rPr sz="2000" spc="-10" dirty="0">
                <a:solidFill>
                  <a:srgbClr val="C00000"/>
                </a:solidFill>
                <a:latin typeface="Carlito"/>
                <a:cs typeface="Carlito"/>
              </a:rPr>
              <a:t>intra-cluster </a:t>
            </a:r>
            <a:r>
              <a:rPr sz="2000" dirty="0">
                <a:solidFill>
                  <a:srgbClr val="C00000"/>
                </a:solidFill>
                <a:latin typeface="Carlito"/>
                <a:cs typeface="Carlito"/>
              </a:rPr>
              <a:t>similarity </a:t>
            </a:r>
            <a:r>
              <a:rPr sz="2000" spc="-5" dirty="0">
                <a:solidFill>
                  <a:srgbClr val="C00000"/>
                </a:solidFill>
                <a:latin typeface="Carlito"/>
                <a:cs typeface="Carlito"/>
              </a:rPr>
              <a:t>is high </a:t>
            </a:r>
            <a:r>
              <a:rPr sz="2000" dirty="0">
                <a:solidFill>
                  <a:srgbClr val="C00000"/>
                </a:solidFill>
                <a:latin typeface="Carlito"/>
                <a:cs typeface="Carlito"/>
              </a:rPr>
              <a:t>but the </a:t>
            </a:r>
            <a:r>
              <a:rPr sz="2000" spc="-10" dirty="0">
                <a:solidFill>
                  <a:srgbClr val="C00000"/>
                </a:solidFill>
                <a:latin typeface="Carlito"/>
                <a:cs typeface="Carlito"/>
              </a:rPr>
              <a:t>inter-cluster  </a:t>
            </a:r>
            <a:r>
              <a:rPr sz="2000" spc="-5" dirty="0">
                <a:solidFill>
                  <a:srgbClr val="C00000"/>
                </a:solidFill>
                <a:latin typeface="Carlito"/>
                <a:cs typeface="Carlito"/>
              </a:rPr>
              <a:t>similarity is</a:t>
            </a:r>
            <a:r>
              <a:rPr sz="2000" spc="35" dirty="0">
                <a:solidFill>
                  <a:srgbClr val="C00000"/>
                </a:solidFill>
                <a:latin typeface="Carlito"/>
                <a:cs typeface="Carlito"/>
              </a:rPr>
              <a:t> </a:t>
            </a:r>
            <a:r>
              <a:rPr sz="2000" spc="-5" dirty="0">
                <a:solidFill>
                  <a:srgbClr val="C00000"/>
                </a:solidFill>
                <a:latin typeface="Carlito"/>
                <a:cs typeface="Carlito"/>
              </a:rPr>
              <a:t>low</a:t>
            </a:r>
            <a:endParaRPr sz="2000" dirty="0">
              <a:solidFill>
                <a:srgbClr val="C00000"/>
              </a:solidFill>
              <a:latin typeface="Carlito"/>
              <a:cs typeface="Carlito"/>
            </a:endParaRPr>
          </a:p>
          <a:p>
            <a:pPr marL="355600" indent="-342900">
              <a:lnSpc>
                <a:spcPct val="100000"/>
              </a:lnSpc>
              <a:spcBef>
                <a:spcPts val="480"/>
              </a:spcBef>
              <a:buFont typeface="Arial"/>
              <a:buChar char="•"/>
              <a:tabLst>
                <a:tab pos="354965" algn="l"/>
                <a:tab pos="355600" algn="l"/>
              </a:tabLst>
            </a:pPr>
            <a:r>
              <a:rPr sz="2000" spc="-10" dirty="0">
                <a:latin typeface="Carlito"/>
                <a:cs typeface="Carlito"/>
              </a:rPr>
              <a:t>Cluster </a:t>
            </a:r>
            <a:r>
              <a:rPr sz="2000" spc="-5" dirty="0">
                <a:latin typeface="Carlito"/>
                <a:cs typeface="Carlito"/>
              </a:rPr>
              <a:t>similarity </a:t>
            </a:r>
            <a:r>
              <a:rPr sz="2000" dirty="0">
                <a:latin typeface="Carlito"/>
                <a:cs typeface="Carlito"/>
              </a:rPr>
              <a:t>is </a:t>
            </a:r>
            <a:r>
              <a:rPr sz="2000" spc="-5" dirty="0">
                <a:latin typeface="Carlito"/>
                <a:cs typeface="Carlito"/>
              </a:rPr>
              <a:t>measured </a:t>
            </a:r>
            <a:r>
              <a:rPr sz="2000" dirty="0">
                <a:latin typeface="Carlito"/>
                <a:cs typeface="Carlito"/>
              </a:rPr>
              <a:t>in </a:t>
            </a:r>
            <a:r>
              <a:rPr sz="2000" spc="-15" dirty="0">
                <a:latin typeface="Carlito"/>
                <a:cs typeface="Carlito"/>
              </a:rPr>
              <a:t>regard to </a:t>
            </a:r>
            <a:r>
              <a:rPr sz="2000" dirty="0">
                <a:latin typeface="Carlito"/>
                <a:cs typeface="Carlito"/>
              </a:rPr>
              <a:t>the </a:t>
            </a:r>
            <a:r>
              <a:rPr sz="2000" i="1" spc="-5" dirty="0">
                <a:latin typeface="Carlito"/>
                <a:cs typeface="Carlito"/>
              </a:rPr>
              <a:t>mean </a:t>
            </a:r>
            <a:r>
              <a:rPr sz="2000" spc="-10" dirty="0">
                <a:latin typeface="Carlito"/>
                <a:cs typeface="Carlito"/>
              </a:rPr>
              <a:t>value </a:t>
            </a:r>
            <a:r>
              <a:rPr sz="2000" dirty="0">
                <a:latin typeface="Carlito"/>
                <a:cs typeface="Carlito"/>
              </a:rPr>
              <a:t>of the </a:t>
            </a:r>
            <a:r>
              <a:rPr sz="2000" spc="-5" dirty="0">
                <a:latin typeface="Carlito"/>
                <a:cs typeface="Carlito"/>
              </a:rPr>
              <a:t>objects</a:t>
            </a:r>
            <a:r>
              <a:rPr sz="2000" spc="60" dirty="0">
                <a:latin typeface="Carlito"/>
                <a:cs typeface="Carlito"/>
              </a:rPr>
              <a:t> </a:t>
            </a:r>
            <a:r>
              <a:rPr sz="2000" dirty="0">
                <a:latin typeface="Carlito"/>
                <a:cs typeface="Carlito"/>
              </a:rPr>
              <a:t>in</a:t>
            </a:r>
          </a:p>
          <a:p>
            <a:pPr marL="355600">
              <a:lnSpc>
                <a:spcPct val="100000"/>
              </a:lnSpc>
            </a:pPr>
            <a:r>
              <a:rPr sz="2000" dirty="0">
                <a:latin typeface="Carlito"/>
                <a:cs typeface="Carlito"/>
              </a:rPr>
              <a:t>a </a:t>
            </a:r>
            <a:r>
              <a:rPr sz="2000" spc="-30" dirty="0">
                <a:latin typeface="Carlito"/>
                <a:cs typeface="Carlito"/>
              </a:rPr>
              <a:t>cluster, </a:t>
            </a:r>
            <a:r>
              <a:rPr sz="2000" dirty="0">
                <a:latin typeface="Carlito"/>
                <a:cs typeface="Carlito"/>
              </a:rPr>
              <a:t>which </a:t>
            </a:r>
            <a:r>
              <a:rPr sz="2000" spc="-5" dirty="0">
                <a:latin typeface="Carlito"/>
                <a:cs typeface="Carlito"/>
              </a:rPr>
              <a:t>can </a:t>
            </a:r>
            <a:r>
              <a:rPr sz="2000" dirty="0">
                <a:latin typeface="Carlito"/>
                <a:cs typeface="Carlito"/>
              </a:rPr>
              <a:t>be </a:t>
            </a:r>
            <a:r>
              <a:rPr sz="2000" spc="-5" dirty="0">
                <a:latin typeface="Carlito"/>
                <a:cs typeface="Carlito"/>
              </a:rPr>
              <a:t>viewed </a:t>
            </a:r>
            <a:r>
              <a:rPr sz="2000" dirty="0">
                <a:latin typeface="Carlito"/>
                <a:cs typeface="Carlito"/>
              </a:rPr>
              <a:t>as the </a:t>
            </a:r>
            <a:r>
              <a:rPr sz="2000" spc="-10" dirty="0">
                <a:solidFill>
                  <a:srgbClr val="C00000"/>
                </a:solidFill>
                <a:latin typeface="Carlito"/>
                <a:cs typeface="Carlito"/>
              </a:rPr>
              <a:t>cluster’s </a:t>
            </a:r>
            <a:r>
              <a:rPr sz="2000" i="1" spc="-5" dirty="0">
                <a:solidFill>
                  <a:srgbClr val="C00000"/>
                </a:solidFill>
                <a:latin typeface="Carlito"/>
                <a:cs typeface="Carlito"/>
              </a:rPr>
              <a:t>centroid </a:t>
            </a:r>
            <a:r>
              <a:rPr sz="2000" spc="-5" dirty="0">
                <a:solidFill>
                  <a:srgbClr val="C00000"/>
                </a:solidFill>
                <a:latin typeface="Carlito"/>
                <a:cs typeface="Carlito"/>
              </a:rPr>
              <a:t>or </a:t>
            </a:r>
            <a:r>
              <a:rPr sz="2000" i="1" spc="-10" dirty="0">
                <a:solidFill>
                  <a:srgbClr val="C00000"/>
                </a:solidFill>
                <a:latin typeface="Carlito"/>
                <a:cs typeface="Carlito"/>
              </a:rPr>
              <a:t>center </a:t>
            </a:r>
            <a:r>
              <a:rPr sz="2000" i="1" spc="-5" dirty="0">
                <a:solidFill>
                  <a:srgbClr val="C00000"/>
                </a:solidFill>
                <a:latin typeface="Carlito"/>
                <a:cs typeface="Carlito"/>
              </a:rPr>
              <a:t>of</a:t>
            </a:r>
            <a:r>
              <a:rPr sz="2000" i="1" spc="40" dirty="0">
                <a:solidFill>
                  <a:srgbClr val="C00000"/>
                </a:solidFill>
                <a:latin typeface="Carlito"/>
                <a:cs typeface="Carlito"/>
              </a:rPr>
              <a:t> </a:t>
            </a:r>
            <a:r>
              <a:rPr sz="2000" i="1" spc="-5" dirty="0">
                <a:solidFill>
                  <a:srgbClr val="C00000"/>
                </a:solidFill>
                <a:latin typeface="Carlito"/>
                <a:cs typeface="Carlito"/>
              </a:rPr>
              <a:t>gravity</a:t>
            </a:r>
            <a:endParaRPr sz="2000" dirty="0">
              <a:solidFill>
                <a:srgbClr val="C00000"/>
              </a:solidFill>
              <a:latin typeface="Carlito"/>
              <a:cs typeface="Carlito"/>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11</a:t>
            </a:fld>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7636" y="385953"/>
            <a:ext cx="5809615" cy="452120"/>
          </a:xfrm>
          <a:prstGeom prst="rect">
            <a:avLst/>
          </a:prstGeom>
        </p:spPr>
        <p:txBody>
          <a:bodyPr vert="horz" wrap="square" lIns="0" tIns="12065" rIns="0" bIns="0" rtlCol="0">
            <a:spAutoFit/>
          </a:bodyPr>
          <a:lstStyle/>
          <a:p>
            <a:pPr marL="12700">
              <a:lnSpc>
                <a:spcPct val="100000"/>
              </a:lnSpc>
              <a:spcBef>
                <a:spcPts val="95"/>
              </a:spcBef>
            </a:pPr>
            <a:r>
              <a:rPr spc="-25" dirty="0"/>
              <a:t>Working </a:t>
            </a:r>
            <a:r>
              <a:rPr spc="-10" dirty="0"/>
              <a:t>Principle </a:t>
            </a:r>
            <a:r>
              <a:rPr spc="-5" dirty="0"/>
              <a:t>of </a:t>
            </a:r>
            <a:r>
              <a:rPr dirty="0"/>
              <a:t>K-Means</a:t>
            </a:r>
            <a:r>
              <a:rPr spc="70" dirty="0"/>
              <a:t> </a:t>
            </a:r>
            <a:r>
              <a:rPr spc="-10" dirty="0"/>
              <a:t>Algorithm</a:t>
            </a:r>
          </a:p>
        </p:txBody>
      </p:sp>
      <p:sp>
        <p:nvSpPr>
          <p:cNvPr id="3" name="object 3"/>
          <p:cNvSpPr/>
          <p:nvPr/>
        </p:nvSpPr>
        <p:spPr>
          <a:xfrm>
            <a:off x="2933700" y="1267967"/>
            <a:ext cx="3276600" cy="3258312"/>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12</a:t>
            </a:fld>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7636" y="385953"/>
            <a:ext cx="5809615" cy="452120"/>
          </a:xfrm>
          <a:prstGeom prst="rect">
            <a:avLst/>
          </a:prstGeom>
        </p:spPr>
        <p:txBody>
          <a:bodyPr vert="horz" wrap="square" lIns="0" tIns="12065" rIns="0" bIns="0" rtlCol="0">
            <a:spAutoFit/>
          </a:bodyPr>
          <a:lstStyle/>
          <a:p>
            <a:pPr marL="12700">
              <a:lnSpc>
                <a:spcPct val="100000"/>
              </a:lnSpc>
              <a:spcBef>
                <a:spcPts val="95"/>
              </a:spcBef>
            </a:pPr>
            <a:r>
              <a:rPr spc="-25" dirty="0"/>
              <a:t>Working </a:t>
            </a:r>
            <a:r>
              <a:rPr spc="-10" dirty="0"/>
              <a:t>Principle </a:t>
            </a:r>
            <a:r>
              <a:rPr spc="-5" dirty="0"/>
              <a:t>of </a:t>
            </a:r>
            <a:r>
              <a:rPr dirty="0"/>
              <a:t>K-Means</a:t>
            </a:r>
            <a:r>
              <a:rPr spc="70" dirty="0"/>
              <a:t> </a:t>
            </a:r>
            <a:r>
              <a:rPr spc="-10" dirty="0"/>
              <a:t>Algorithm</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13</a:t>
            </a:fld>
            <a:endParaRPr dirty="0"/>
          </a:p>
        </p:txBody>
      </p:sp>
      <p:sp>
        <p:nvSpPr>
          <p:cNvPr id="3" name="object 3"/>
          <p:cNvSpPr txBox="1"/>
          <p:nvPr/>
        </p:nvSpPr>
        <p:spPr>
          <a:xfrm>
            <a:off x="535940" y="1216913"/>
            <a:ext cx="8071484" cy="2343150"/>
          </a:xfrm>
          <a:prstGeom prst="rect">
            <a:avLst/>
          </a:prstGeom>
        </p:spPr>
        <p:txBody>
          <a:bodyPr vert="horz" wrap="square" lIns="0" tIns="13335" rIns="0" bIns="0" rtlCol="0">
            <a:spAutoFit/>
          </a:bodyPr>
          <a:lstStyle/>
          <a:p>
            <a:pPr marL="355600" marR="5080" indent="-342900" algn="just">
              <a:lnSpc>
                <a:spcPct val="100000"/>
              </a:lnSpc>
              <a:spcBef>
                <a:spcPts val="105"/>
              </a:spcBef>
              <a:buFont typeface="Arial"/>
              <a:buChar char="•"/>
              <a:tabLst>
                <a:tab pos="355600" algn="l"/>
              </a:tabLst>
            </a:pPr>
            <a:r>
              <a:rPr sz="2000" spc="-15" dirty="0">
                <a:latin typeface="Carlito"/>
                <a:cs typeface="Carlito"/>
              </a:rPr>
              <a:t>First </a:t>
            </a:r>
            <a:r>
              <a:rPr sz="2000" spc="-5" dirty="0">
                <a:latin typeface="Carlito"/>
                <a:cs typeface="Carlito"/>
              </a:rPr>
              <a:t>it </a:t>
            </a:r>
            <a:r>
              <a:rPr sz="2000" spc="-10" dirty="0">
                <a:latin typeface="Carlito"/>
                <a:cs typeface="Carlito"/>
              </a:rPr>
              <a:t>randomly </a:t>
            </a:r>
            <a:r>
              <a:rPr sz="2000" spc="-5" dirty="0">
                <a:latin typeface="Carlito"/>
                <a:cs typeface="Carlito"/>
              </a:rPr>
              <a:t>selects </a:t>
            </a:r>
            <a:r>
              <a:rPr sz="2000" i="1" dirty="0">
                <a:latin typeface="Carlito"/>
                <a:cs typeface="Carlito"/>
              </a:rPr>
              <a:t>k </a:t>
            </a:r>
            <a:r>
              <a:rPr sz="2000" spc="-5" dirty="0">
                <a:latin typeface="Carlito"/>
                <a:cs typeface="Carlito"/>
              </a:rPr>
              <a:t>of the objects, each of </a:t>
            </a:r>
            <a:r>
              <a:rPr sz="2000" dirty="0">
                <a:latin typeface="Carlito"/>
                <a:cs typeface="Carlito"/>
              </a:rPr>
              <a:t>which initially </a:t>
            </a:r>
            <a:r>
              <a:rPr sz="2000" spc="-10" dirty="0">
                <a:latin typeface="Carlito"/>
                <a:cs typeface="Carlito"/>
              </a:rPr>
              <a:t>represents  </a:t>
            </a:r>
            <a:r>
              <a:rPr sz="2000" dirty="0">
                <a:latin typeface="Carlito"/>
                <a:cs typeface="Carlito"/>
              </a:rPr>
              <a:t>a </a:t>
            </a:r>
            <a:r>
              <a:rPr sz="2000" spc="-10" dirty="0">
                <a:latin typeface="Carlito"/>
                <a:cs typeface="Carlito"/>
              </a:rPr>
              <a:t>cluster </a:t>
            </a:r>
            <a:r>
              <a:rPr sz="2000" spc="-5" dirty="0">
                <a:latin typeface="Carlito"/>
                <a:cs typeface="Carlito"/>
              </a:rPr>
              <a:t>mean or</a:t>
            </a:r>
            <a:r>
              <a:rPr sz="2000" spc="15" dirty="0">
                <a:latin typeface="Carlito"/>
                <a:cs typeface="Carlito"/>
              </a:rPr>
              <a:t> </a:t>
            </a:r>
            <a:r>
              <a:rPr sz="2000" spc="-10" dirty="0">
                <a:latin typeface="Carlito"/>
                <a:cs typeface="Carlito"/>
              </a:rPr>
              <a:t>center</a:t>
            </a:r>
            <a:endParaRPr sz="2000">
              <a:latin typeface="Carlito"/>
              <a:cs typeface="Carlito"/>
            </a:endParaRPr>
          </a:p>
          <a:p>
            <a:pPr marL="355600" marR="5080" indent="-342900" algn="just">
              <a:lnSpc>
                <a:spcPct val="100000"/>
              </a:lnSpc>
              <a:spcBef>
                <a:spcPts val="480"/>
              </a:spcBef>
              <a:buFont typeface="Arial"/>
              <a:buChar char="•"/>
              <a:tabLst>
                <a:tab pos="355600" algn="l"/>
              </a:tabLst>
            </a:pPr>
            <a:r>
              <a:rPr sz="2000" spc="-10" dirty="0">
                <a:latin typeface="Carlito"/>
                <a:cs typeface="Carlito"/>
              </a:rPr>
              <a:t>For </a:t>
            </a:r>
            <a:r>
              <a:rPr sz="2000" dirty="0">
                <a:latin typeface="Carlito"/>
                <a:cs typeface="Carlito"/>
              </a:rPr>
              <a:t>each </a:t>
            </a:r>
            <a:r>
              <a:rPr sz="2000" spc="-5" dirty="0">
                <a:latin typeface="Carlito"/>
                <a:cs typeface="Carlito"/>
              </a:rPr>
              <a:t>of </a:t>
            </a:r>
            <a:r>
              <a:rPr sz="2000" spc="-10" dirty="0">
                <a:latin typeface="Carlito"/>
                <a:cs typeface="Carlito"/>
              </a:rPr>
              <a:t>the </a:t>
            </a:r>
            <a:r>
              <a:rPr sz="2000" spc="-5" dirty="0">
                <a:latin typeface="Carlito"/>
                <a:cs typeface="Carlito"/>
              </a:rPr>
              <a:t>remaining objects, </a:t>
            </a:r>
            <a:r>
              <a:rPr sz="2000" dirty="0">
                <a:latin typeface="Carlito"/>
                <a:cs typeface="Carlito"/>
              </a:rPr>
              <a:t>an </a:t>
            </a:r>
            <a:r>
              <a:rPr sz="2000" spc="-5" dirty="0">
                <a:latin typeface="Carlito"/>
                <a:cs typeface="Carlito"/>
              </a:rPr>
              <a:t>object is </a:t>
            </a:r>
            <a:r>
              <a:rPr sz="2000" dirty="0">
                <a:latin typeface="Carlito"/>
                <a:cs typeface="Carlito"/>
              </a:rPr>
              <a:t>assigned </a:t>
            </a:r>
            <a:r>
              <a:rPr sz="2000" spc="-15" dirty="0">
                <a:latin typeface="Carlito"/>
                <a:cs typeface="Carlito"/>
              </a:rPr>
              <a:t>to </a:t>
            </a:r>
            <a:r>
              <a:rPr sz="2000" dirty="0">
                <a:latin typeface="Carlito"/>
                <a:cs typeface="Carlito"/>
              </a:rPr>
              <a:t>the </a:t>
            </a:r>
            <a:r>
              <a:rPr sz="2000" spc="-10" dirty="0">
                <a:latin typeface="Carlito"/>
                <a:cs typeface="Carlito"/>
              </a:rPr>
              <a:t>cluster </a:t>
            </a:r>
            <a:r>
              <a:rPr sz="2000" spc="-25" dirty="0">
                <a:latin typeface="Carlito"/>
                <a:cs typeface="Carlito"/>
              </a:rPr>
              <a:t>to  </a:t>
            </a:r>
            <a:r>
              <a:rPr sz="2000" dirty="0">
                <a:latin typeface="Carlito"/>
                <a:cs typeface="Carlito"/>
              </a:rPr>
              <a:t>which </a:t>
            </a:r>
            <a:r>
              <a:rPr sz="2000" spc="-5" dirty="0">
                <a:latin typeface="Carlito"/>
                <a:cs typeface="Carlito"/>
              </a:rPr>
              <a:t>it is </a:t>
            </a:r>
            <a:r>
              <a:rPr sz="2000" dirty="0">
                <a:latin typeface="Carlito"/>
                <a:cs typeface="Carlito"/>
              </a:rPr>
              <a:t>the </a:t>
            </a:r>
            <a:r>
              <a:rPr sz="2000" spc="-10" dirty="0">
                <a:latin typeface="Carlito"/>
                <a:cs typeface="Carlito"/>
              </a:rPr>
              <a:t>most </a:t>
            </a:r>
            <a:r>
              <a:rPr sz="2000" spc="-25" dirty="0">
                <a:latin typeface="Carlito"/>
                <a:cs typeface="Carlito"/>
              </a:rPr>
              <a:t>similar, </a:t>
            </a:r>
            <a:r>
              <a:rPr sz="2000" spc="-5" dirty="0">
                <a:latin typeface="Carlito"/>
                <a:cs typeface="Carlito"/>
              </a:rPr>
              <a:t>based on the </a:t>
            </a:r>
            <a:r>
              <a:rPr sz="2000" spc="-10" dirty="0">
                <a:latin typeface="Carlito"/>
                <a:cs typeface="Carlito"/>
              </a:rPr>
              <a:t>distance </a:t>
            </a:r>
            <a:r>
              <a:rPr sz="2000" spc="-5" dirty="0">
                <a:latin typeface="Carlito"/>
                <a:cs typeface="Carlito"/>
              </a:rPr>
              <a:t>between </a:t>
            </a:r>
            <a:r>
              <a:rPr sz="2000" dirty="0">
                <a:latin typeface="Carlito"/>
                <a:cs typeface="Carlito"/>
              </a:rPr>
              <a:t>the </a:t>
            </a:r>
            <a:r>
              <a:rPr sz="2000" spc="-5" dirty="0">
                <a:latin typeface="Carlito"/>
                <a:cs typeface="Carlito"/>
              </a:rPr>
              <a:t>object </a:t>
            </a:r>
            <a:r>
              <a:rPr sz="2000" spc="-10" dirty="0">
                <a:latin typeface="Carlito"/>
                <a:cs typeface="Carlito"/>
              </a:rPr>
              <a:t>and  </a:t>
            </a:r>
            <a:r>
              <a:rPr sz="2000" dirty="0">
                <a:latin typeface="Carlito"/>
                <a:cs typeface="Carlito"/>
              </a:rPr>
              <a:t>the </a:t>
            </a:r>
            <a:r>
              <a:rPr sz="2000" spc="-10" dirty="0">
                <a:latin typeface="Carlito"/>
                <a:cs typeface="Carlito"/>
              </a:rPr>
              <a:t>cluster</a:t>
            </a:r>
            <a:r>
              <a:rPr sz="2000" spc="5" dirty="0">
                <a:latin typeface="Carlito"/>
                <a:cs typeface="Carlito"/>
              </a:rPr>
              <a:t> </a:t>
            </a:r>
            <a:r>
              <a:rPr sz="2000" spc="-5" dirty="0">
                <a:latin typeface="Carlito"/>
                <a:cs typeface="Carlito"/>
              </a:rPr>
              <a:t>mean</a:t>
            </a:r>
            <a:endParaRPr sz="2000">
              <a:latin typeface="Carlito"/>
              <a:cs typeface="Carlito"/>
            </a:endParaRPr>
          </a:p>
          <a:p>
            <a:pPr marL="355600" indent="-342900" algn="just">
              <a:lnSpc>
                <a:spcPct val="100000"/>
              </a:lnSpc>
              <a:spcBef>
                <a:spcPts val="480"/>
              </a:spcBef>
              <a:buFont typeface="Arial"/>
              <a:buChar char="•"/>
              <a:tabLst>
                <a:tab pos="355600" algn="l"/>
              </a:tabLst>
            </a:pPr>
            <a:r>
              <a:rPr sz="2000" dirty="0">
                <a:latin typeface="Carlito"/>
                <a:cs typeface="Carlito"/>
              </a:rPr>
              <a:t>It then </a:t>
            </a:r>
            <a:r>
              <a:rPr sz="2000" spc="-5" dirty="0">
                <a:latin typeface="Carlito"/>
                <a:cs typeface="Carlito"/>
              </a:rPr>
              <a:t>computes </a:t>
            </a:r>
            <a:r>
              <a:rPr sz="2000" dirty="0">
                <a:latin typeface="Carlito"/>
                <a:cs typeface="Carlito"/>
              </a:rPr>
              <a:t>the </a:t>
            </a:r>
            <a:r>
              <a:rPr sz="2000" spc="-5" dirty="0">
                <a:latin typeface="Carlito"/>
                <a:cs typeface="Carlito"/>
              </a:rPr>
              <a:t>new </a:t>
            </a:r>
            <a:r>
              <a:rPr sz="2000" dirty="0">
                <a:latin typeface="Carlito"/>
                <a:cs typeface="Carlito"/>
              </a:rPr>
              <a:t>mean </a:t>
            </a:r>
            <a:r>
              <a:rPr sz="2000" spc="-15" dirty="0">
                <a:latin typeface="Carlito"/>
                <a:cs typeface="Carlito"/>
              </a:rPr>
              <a:t>for </a:t>
            </a:r>
            <a:r>
              <a:rPr sz="2000" dirty="0">
                <a:latin typeface="Carlito"/>
                <a:cs typeface="Carlito"/>
              </a:rPr>
              <a:t>each</a:t>
            </a:r>
            <a:r>
              <a:rPr sz="2000" spc="-60" dirty="0">
                <a:latin typeface="Carlito"/>
                <a:cs typeface="Carlito"/>
              </a:rPr>
              <a:t> </a:t>
            </a:r>
            <a:r>
              <a:rPr sz="2000" spc="-10" dirty="0">
                <a:latin typeface="Carlito"/>
                <a:cs typeface="Carlito"/>
              </a:rPr>
              <a:t>cluster</a:t>
            </a:r>
            <a:endParaRPr sz="2000">
              <a:latin typeface="Carlito"/>
              <a:cs typeface="Carlito"/>
            </a:endParaRPr>
          </a:p>
          <a:p>
            <a:pPr marL="355600" indent="-342900" algn="just">
              <a:lnSpc>
                <a:spcPct val="100000"/>
              </a:lnSpc>
              <a:spcBef>
                <a:spcPts val="480"/>
              </a:spcBef>
              <a:buFont typeface="Arial"/>
              <a:buChar char="•"/>
              <a:tabLst>
                <a:tab pos="355600" algn="l"/>
              </a:tabLst>
            </a:pPr>
            <a:r>
              <a:rPr sz="2000" spc="-5" dirty="0">
                <a:latin typeface="Carlito"/>
                <a:cs typeface="Carlito"/>
              </a:rPr>
              <a:t>This process </a:t>
            </a:r>
            <a:r>
              <a:rPr sz="2000" spc="-15" dirty="0">
                <a:latin typeface="Carlito"/>
                <a:cs typeface="Carlito"/>
              </a:rPr>
              <a:t>iterates </a:t>
            </a:r>
            <a:r>
              <a:rPr sz="2000" spc="-5" dirty="0">
                <a:latin typeface="Carlito"/>
                <a:cs typeface="Carlito"/>
              </a:rPr>
              <a:t>until </a:t>
            </a:r>
            <a:r>
              <a:rPr sz="2000" dirty="0">
                <a:latin typeface="Carlito"/>
                <a:cs typeface="Carlito"/>
              </a:rPr>
              <a:t>the </a:t>
            </a:r>
            <a:r>
              <a:rPr sz="2000" spc="-5" dirty="0">
                <a:latin typeface="Carlito"/>
                <a:cs typeface="Carlito"/>
              </a:rPr>
              <a:t>criterion </a:t>
            </a:r>
            <a:r>
              <a:rPr sz="2000" dirty="0">
                <a:latin typeface="Carlito"/>
                <a:cs typeface="Carlito"/>
              </a:rPr>
              <a:t>function</a:t>
            </a:r>
            <a:r>
              <a:rPr sz="2000" spc="50" dirty="0">
                <a:latin typeface="Carlito"/>
                <a:cs typeface="Carlito"/>
              </a:rPr>
              <a:t> </a:t>
            </a:r>
            <a:r>
              <a:rPr sz="2000" spc="-15" dirty="0">
                <a:latin typeface="Carlito"/>
                <a:cs typeface="Carlito"/>
              </a:rPr>
              <a:t>converges</a:t>
            </a:r>
            <a:endParaRPr sz="2000">
              <a:latin typeface="Carlito"/>
              <a:cs typeface="Carli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207002" y="385953"/>
            <a:ext cx="729615"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0000FF"/>
                </a:solidFill>
                <a:latin typeface="Carlito"/>
                <a:cs typeface="Carlito"/>
              </a:rPr>
              <a:t>K =</a:t>
            </a:r>
            <a:r>
              <a:rPr sz="2800" spc="-70" dirty="0">
                <a:solidFill>
                  <a:srgbClr val="0000FF"/>
                </a:solidFill>
                <a:latin typeface="Carlito"/>
                <a:cs typeface="Carlito"/>
              </a:rPr>
              <a:t> </a:t>
            </a:r>
            <a:r>
              <a:rPr sz="2800" spc="-5" dirty="0">
                <a:solidFill>
                  <a:srgbClr val="0000FF"/>
                </a:solidFill>
                <a:latin typeface="Carlito"/>
                <a:cs typeface="Carlito"/>
              </a:rPr>
              <a:t>3</a:t>
            </a:r>
            <a:endParaRPr sz="2800">
              <a:latin typeface="Carlito"/>
              <a:cs typeface="Carlito"/>
            </a:endParaRPr>
          </a:p>
        </p:txBody>
      </p:sp>
      <p:sp>
        <p:nvSpPr>
          <p:cNvPr id="3" name="object 3"/>
          <p:cNvSpPr/>
          <p:nvPr/>
        </p:nvSpPr>
        <p:spPr>
          <a:xfrm>
            <a:off x="1200911" y="1460089"/>
            <a:ext cx="7215356" cy="2508205"/>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14</a:t>
            </a:fld>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5252" y="385953"/>
            <a:ext cx="4332605" cy="452120"/>
          </a:xfrm>
          <a:prstGeom prst="rect">
            <a:avLst/>
          </a:prstGeom>
        </p:spPr>
        <p:txBody>
          <a:bodyPr vert="horz" wrap="square" lIns="0" tIns="12065" rIns="0" bIns="0" rtlCol="0">
            <a:spAutoFit/>
          </a:bodyPr>
          <a:lstStyle/>
          <a:p>
            <a:pPr marL="12700">
              <a:lnSpc>
                <a:spcPct val="100000"/>
              </a:lnSpc>
              <a:spcBef>
                <a:spcPts val="95"/>
              </a:spcBef>
            </a:pPr>
            <a:r>
              <a:rPr spc="-5" dirty="0"/>
              <a:t>K-Means </a:t>
            </a:r>
            <a:r>
              <a:rPr spc="-15" dirty="0"/>
              <a:t>Clustering</a:t>
            </a:r>
            <a:r>
              <a:rPr spc="5" dirty="0"/>
              <a:t> </a:t>
            </a:r>
            <a:r>
              <a:rPr spc="-10" dirty="0"/>
              <a:t>Algorithm</a:t>
            </a:r>
          </a:p>
        </p:txBody>
      </p:sp>
      <p:sp>
        <p:nvSpPr>
          <p:cNvPr id="3" name="object 3"/>
          <p:cNvSpPr txBox="1"/>
          <p:nvPr/>
        </p:nvSpPr>
        <p:spPr>
          <a:xfrm>
            <a:off x="535940" y="1216913"/>
            <a:ext cx="8071484" cy="2099310"/>
          </a:xfrm>
          <a:prstGeom prst="rect">
            <a:avLst/>
          </a:prstGeom>
        </p:spPr>
        <p:txBody>
          <a:bodyPr vert="horz" wrap="square" lIns="0" tIns="13335" rIns="0" bIns="0" rtlCol="0">
            <a:spAutoFit/>
          </a:bodyPr>
          <a:lstStyle/>
          <a:p>
            <a:pPr marL="12700">
              <a:lnSpc>
                <a:spcPct val="100000"/>
              </a:lnSpc>
              <a:spcBef>
                <a:spcPts val="105"/>
              </a:spcBef>
              <a:tabLst>
                <a:tab pos="1237615" algn="l"/>
                <a:tab pos="2307590" algn="l"/>
                <a:tab pos="2821940" algn="l"/>
                <a:tab pos="3827779" algn="l"/>
                <a:tab pos="4956810" algn="l"/>
                <a:tab pos="5380990" algn="l"/>
                <a:tab pos="6787515" algn="l"/>
                <a:tab pos="7567930" algn="l"/>
              </a:tabLst>
            </a:pPr>
            <a:r>
              <a:rPr sz="2000" dirty="0">
                <a:latin typeface="Carlito"/>
                <a:cs typeface="Carlito"/>
              </a:rPr>
              <a:t>Al</a:t>
            </a:r>
            <a:r>
              <a:rPr sz="2000" spc="-10" dirty="0">
                <a:latin typeface="Carlito"/>
                <a:cs typeface="Carlito"/>
              </a:rPr>
              <a:t>g</a:t>
            </a:r>
            <a:r>
              <a:rPr sz="2000" spc="-5" dirty="0">
                <a:latin typeface="Carlito"/>
                <a:cs typeface="Carlito"/>
              </a:rPr>
              <a:t>or</a:t>
            </a:r>
            <a:r>
              <a:rPr sz="2000" spc="-10" dirty="0">
                <a:latin typeface="Carlito"/>
                <a:cs typeface="Carlito"/>
              </a:rPr>
              <a:t>i</a:t>
            </a:r>
            <a:r>
              <a:rPr sz="2000" dirty="0">
                <a:latin typeface="Carlito"/>
                <a:cs typeface="Carlito"/>
              </a:rPr>
              <a:t>thm:	k</a:t>
            </a:r>
            <a:r>
              <a:rPr sz="2000" spc="-15" dirty="0">
                <a:latin typeface="Carlito"/>
                <a:cs typeface="Carlito"/>
              </a:rPr>
              <a:t>-</a:t>
            </a:r>
            <a:r>
              <a:rPr sz="2000" dirty="0">
                <a:latin typeface="Carlito"/>
                <a:cs typeface="Carlito"/>
              </a:rPr>
              <a:t>m</a:t>
            </a:r>
            <a:r>
              <a:rPr sz="2000" spc="-10" dirty="0">
                <a:latin typeface="Carlito"/>
                <a:cs typeface="Carlito"/>
              </a:rPr>
              <a:t>e</a:t>
            </a:r>
            <a:r>
              <a:rPr sz="2000" dirty="0">
                <a:latin typeface="Carlito"/>
                <a:cs typeface="Carlito"/>
              </a:rPr>
              <a:t>ans.	</a:t>
            </a:r>
            <a:r>
              <a:rPr sz="2000" spc="-5" dirty="0">
                <a:latin typeface="Carlito"/>
                <a:cs typeface="Carlito"/>
              </a:rPr>
              <a:t>Th</a:t>
            </a:r>
            <a:r>
              <a:rPr sz="2000" dirty="0">
                <a:latin typeface="Carlito"/>
                <a:cs typeface="Carlito"/>
              </a:rPr>
              <a:t>e	</a:t>
            </a:r>
            <a:r>
              <a:rPr sz="2000" spc="-15" dirty="0">
                <a:latin typeface="Carlito"/>
                <a:cs typeface="Carlito"/>
              </a:rPr>
              <a:t>k</a:t>
            </a:r>
            <a:r>
              <a:rPr sz="2000" spc="-5" dirty="0">
                <a:latin typeface="Carlito"/>
                <a:cs typeface="Carlito"/>
              </a:rPr>
              <a:t>-</a:t>
            </a:r>
            <a:r>
              <a:rPr sz="2000" dirty="0">
                <a:latin typeface="Carlito"/>
                <a:cs typeface="Carlito"/>
              </a:rPr>
              <a:t>m</a:t>
            </a:r>
            <a:r>
              <a:rPr sz="2000" spc="-10" dirty="0">
                <a:latin typeface="Carlito"/>
                <a:cs typeface="Carlito"/>
              </a:rPr>
              <a:t>e</a:t>
            </a:r>
            <a:r>
              <a:rPr sz="2000" dirty="0">
                <a:latin typeface="Carlito"/>
                <a:cs typeface="Carlito"/>
              </a:rPr>
              <a:t>ans	al</a:t>
            </a:r>
            <a:r>
              <a:rPr sz="2000" spc="-15" dirty="0">
                <a:latin typeface="Carlito"/>
                <a:cs typeface="Carlito"/>
              </a:rPr>
              <a:t>g</a:t>
            </a:r>
            <a:r>
              <a:rPr sz="2000" spc="-5" dirty="0">
                <a:latin typeface="Carlito"/>
                <a:cs typeface="Carlito"/>
              </a:rPr>
              <a:t>or</a:t>
            </a:r>
            <a:r>
              <a:rPr sz="2000" spc="-10" dirty="0">
                <a:latin typeface="Carlito"/>
                <a:cs typeface="Carlito"/>
              </a:rPr>
              <a:t>i</a:t>
            </a:r>
            <a:r>
              <a:rPr sz="2000" dirty="0">
                <a:latin typeface="Carlito"/>
                <a:cs typeface="Carlito"/>
              </a:rPr>
              <a:t>thm	</a:t>
            </a:r>
            <a:r>
              <a:rPr sz="2000" spc="-40" dirty="0">
                <a:latin typeface="Carlito"/>
                <a:cs typeface="Carlito"/>
              </a:rPr>
              <a:t>f</a:t>
            </a:r>
            <a:r>
              <a:rPr sz="2000" spc="-5" dirty="0">
                <a:latin typeface="Carlito"/>
                <a:cs typeface="Carlito"/>
              </a:rPr>
              <a:t>o</a:t>
            </a:r>
            <a:r>
              <a:rPr sz="2000" dirty="0">
                <a:latin typeface="Carlito"/>
                <a:cs typeface="Carlito"/>
              </a:rPr>
              <a:t>r	</a:t>
            </a:r>
            <a:r>
              <a:rPr sz="2000" spc="-5" dirty="0">
                <a:latin typeface="Carlito"/>
                <a:cs typeface="Carlito"/>
              </a:rPr>
              <a:t>partitio</a:t>
            </a:r>
            <a:r>
              <a:rPr sz="2000" spc="5" dirty="0">
                <a:latin typeface="Carlito"/>
                <a:cs typeface="Carlito"/>
              </a:rPr>
              <a:t>n</a:t>
            </a:r>
            <a:r>
              <a:rPr sz="2000" dirty="0">
                <a:latin typeface="Carlito"/>
                <a:cs typeface="Carlito"/>
              </a:rPr>
              <a:t>i</a:t>
            </a:r>
            <a:r>
              <a:rPr sz="2000" spc="-15" dirty="0">
                <a:latin typeface="Carlito"/>
                <a:cs typeface="Carlito"/>
              </a:rPr>
              <a:t>n</a:t>
            </a:r>
            <a:r>
              <a:rPr sz="2000" spc="25" dirty="0">
                <a:latin typeface="Carlito"/>
                <a:cs typeface="Carlito"/>
              </a:rPr>
              <a:t>g</a:t>
            </a:r>
            <a:r>
              <a:rPr sz="2000" dirty="0">
                <a:latin typeface="Carlito"/>
                <a:cs typeface="Carlito"/>
              </a:rPr>
              <a:t>,	</a:t>
            </a:r>
            <a:r>
              <a:rPr sz="2000" spc="-20" dirty="0">
                <a:latin typeface="Carlito"/>
                <a:cs typeface="Carlito"/>
              </a:rPr>
              <a:t>w</a:t>
            </a:r>
            <a:r>
              <a:rPr sz="2000" spc="-5" dirty="0">
                <a:latin typeface="Carlito"/>
                <a:cs typeface="Carlito"/>
              </a:rPr>
              <a:t>he</a:t>
            </a:r>
            <a:r>
              <a:rPr sz="2000" spc="-30" dirty="0">
                <a:latin typeface="Carlito"/>
                <a:cs typeface="Carlito"/>
              </a:rPr>
              <a:t>r</a:t>
            </a:r>
            <a:r>
              <a:rPr sz="2000" dirty="0">
                <a:latin typeface="Carlito"/>
                <a:cs typeface="Carlito"/>
              </a:rPr>
              <a:t>e	each</a:t>
            </a:r>
            <a:endParaRPr sz="2000">
              <a:latin typeface="Carlito"/>
              <a:cs typeface="Carlito"/>
            </a:endParaRPr>
          </a:p>
          <a:p>
            <a:pPr marL="12700">
              <a:lnSpc>
                <a:spcPct val="100000"/>
              </a:lnSpc>
            </a:pPr>
            <a:r>
              <a:rPr sz="2000" spc="-10" dirty="0">
                <a:latin typeface="Carlito"/>
                <a:cs typeface="Carlito"/>
              </a:rPr>
              <a:t>cluster’s center </a:t>
            </a:r>
            <a:r>
              <a:rPr sz="2000" spc="-5" dirty="0">
                <a:latin typeface="Carlito"/>
                <a:cs typeface="Carlito"/>
              </a:rPr>
              <a:t>is </a:t>
            </a:r>
            <a:r>
              <a:rPr sz="2000" spc="-10" dirty="0">
                <a:latin typeface="Carlito"/>
                <a:cs typeface="Carlito"/>
              </a:rPr>
              <a:t>represented </a:t>
            </a:r>
            <a:r>
              <a:rPr sz="2000" spc="-5" dirty="0">
                <a:latin typeface="Carlito"/>
                <a:cs typeface="Carlito"/>
              </a:rPr>
              <a:t>by </a:t>
            </a:r>
            <a:r>
              <a:rPr sz="2000" dirty="0">
                <a:latin typeface="Carlito"/>
                <a:cs typeface="Carlito"/>
              </a:rPr>
              <a:t>the </a:t>
            </a:r>
            <a:r>
              <a:rPr sz="2000" spc="-5" dirty="0">
                <a:latin typeface="Carlito"/>
                <a:cs typeface="Carlito"/>
              </a:rPr>
              <a:t>mean value of </a:t>
            </a:r>
            <a:r>
              <a:rPr sz="2000" dirty="0">
                <a:latin typeface="Carlito"/>
                <a:cs typeface="Carlito"/>
              </a:rPr>
              <a:t>the </a:t>
            </a:r>
            <a:r>
              <a:rPr sz="2000" spc="-5" dirty="0">
                <a:latin typeface="Carlito"/>
                <a:cs typeface="Carlito"/>
              </a:rPr>
              <a:t>objects in </a:t>
            </a:r>
            <a:r>
              <a:rPr sz="2000" dirty="0">
                <a:latin typeface="Carlito"/>
                <a:cs typeface="Carlito"/>
              </a:rPr>
              <a:t>the</a:t>
            </a:r>
            <a:r>
              <a:rPr sz="2000" spc="145" dirty="0">
                <a:latin typeface="Carlito"/>
                <a:cs typeface="Carlito"/>
              </a:rPr>
              <a:t> </a:t>
            </a:r>
            <a:r>
              <a:rPr sz="2000" spc="-35" dirty="0">
                <a:latin typeface="Carlito"/>
                <a:cs typeface="Carlito"/>
              </a:rPr>
              <a:t>cluster.</a:t>
            </a:r>
            <a:endParaRPr sz="2000">
              <a:latin typeface="Carlito"/>
              <a:cs typeface="Carlito"/>
            </a:endParaRPr>
          </a:p>
          <a:p>
            <a:pPr marL="355600" indent="-342900">
              <a:lnSpc>
                <a:spcPct val="100000"/>
              </a:lnSpc>
              <a:spcBef>
                <a:spcPts val="480"/>
              </a:spcBef>
              <a:buFont typeface="Arial"/>
              <a:buChar char="•"/>
              <a:tabLst>
                <a:tab pos="354965" algn="l"/>
                <a:tab pos="355600" algn="l"/>
              </a:tabLst>
            </a:pPr>
            <a:r>
              <a:rPr sz="2000" dirty="0">
                <a:latin typeface="Carlito"/>
                <a:cs typeface="Carlito"/>
              </a:rPr>
              <a:t>Input:</a:t>
            </a:r>
            <a:endParaRPr sz="2000">
              <a:latin typeface="Carlito"/>
              <a:cs typeface="Carlito"/>
            </a:endParaRPr>
          </a:p>
          <a:p>
            <a:pPr marL="983615">
              <a:lnSpc>
                <a:spcPct val="100000"/>
              </a:lnSpc>
              <a:spcBef>
                <a:spcPts val="480"/>
              </a:spcBef>
            </a:pPr>
            <a:r>
              <a:rPr sz="2000" dirty="0">
                <a:latin typeface="Carlito"/>
                <a:cs typeface="Carlito"/>
              </a:rPr>
              <a:t>k: the number </a:t>
            </a:r>
            <a:r>
              <a:rPr sz="2000" spc="-5" dirty="0">
                <a:latin typeface="Carlito"/>
                <a:cs typeface="Carlito"/>
              </a:rPr>
              <a:t>of</a:t>
            </a:r>
            <a:r>
              <a:rPr sz="2000" spc="-30" dirty="0">
                <a:latin typeface="Carlito"/>
                <a:cs typeface="Carlito"/>
              </a:rPr>
              <a:t> </a:t>
            </a:r>
            <a:r>
              <a:rPr sz="2000" spc="-15" dirty="0">
                <a:latin typeface="Carlito"/>
                <a:cs typeface="Carlito"/>
              </a:rPr>
              <a:t>clusters,</a:t>
            </a:r>
            <a:endParaRPr sz="2000">
              <a:latin typeface="Carlito"/>
              <a:cs typeface="Carlito"/>
            </a:endParaRPr>
          </a:p>
          <a:p>
            <a:pPr marL="983615">
              <a:lnSpc>
                <a:spcPct val="100000"/>
              </a:lnSpc>
              <a:spcBef>
                <a:spcPts val="480"/>
              </a:spcBef>
            </a:pPr>
            <a:r>
              <a:rPr sz="2000" dirty="0">
                <a:latin typeface="Carlito"/>
                <a:cs typeface="Carlito"/>
              </a:rPr>
              <a:t>D: a </a:t>
            </a:r>
            <a:r>
              <a:rPr sz="2000" spc="-15" dirty="0">
                <a:latin typeface="Carlito"/>
                <a:cs typeface="Carlito"/>
              </a:rPr>
              <a:t>data </a:t>
            </a:r>
            <a:r>
              <a:rPr sz="2000" spc="-10" dirty="0">
                <a:latin typeface="Carlito"/>
                <a:cs typeface="Carlito"/>
              </a:rPr>
              <a:t>set </a:t>
            </a:r>
            <a:r>
              <a:rPr sz="2000" spc="-5" dirty="0">
                <a:latin typeface="Carlito"/>
                <a:cs typeface="Carlito"/>
              </a:rPr>
              <a:t>containing </a:t>
            </a:r>
            <a:r>
              <a:rPr sz="2000" dirty="0">
                <a:latin typeface="Carlito"/>
                <a:cs typeface="Carlito"/>
              </a:rPr>
              <a:t>n</a:t>
            </a:r>
            <a:r>
              <a:rPr sz="2000" spc="15" dirty="0">
                <a:latin typeface="Carlito"/>
                <a:cs typeface="Carlito"/>
              </a:rPr>
              <a:t> </a:t>
            </a:r>
            <a:r>
              <a:rPr sz="2000" spc="-5" dirty="0">
                <a:latin typeface="Carlito"/>
                <a:cs typeface="Carlito"/>
              </a:rPr>
              <a:t>objects.</a:t>
            </a:r>
            <a:endParaRPr sz="2000">
              <a:latin typeface="Carlito"/>
              <a:cs typeface="Carlito"/>
            </a:endParaRPr>
          </a:p>
          <a:p>
            <a:pPr marL="355600" indent="-342900">
              <a:lnSpc>
                <a:spcPct val="100000"/>
              </a:lnSpc>
              <a:spcBef>
                <a:spcPts val="480"/>
              </a:spcBef>
              <a:buFont typeface="Arial"/>
              <a:buChar char="•"/>
              <a:tabLst>
                <a:tab pos="354965" algn="l"/>
                <a:tab pos="355600" algn="l"/>
              </a:tabLst>
            </a:pPr>
            <a:r>
              <a:rPr sz="2000" dirty="0">
                <a:latin typeface="Carlito"/>
                <a:cs typeface="Carlito"/>
              </a:rPr>
              <a:t>Output: A </a:t>
            </a:r>
            <a:r>
              <a:rPr sz="2000" spc="-10" dirty="0">
                <a:latin typeface="Carlito"/>
                <a:cs typeface="Carlito"/>
              </a:rPr>
              <a:t>set </a:t>
            </a:r>
            <a:r>
              <a:rPr sz="2000" spc="-5" dirty="0">
                <a:latin typeface="Carlito"/>
                <a:cs typeface="Carlito"/>
              </a:rPr>
              <a:t>of </a:t>
            </a:r>
            <a:r>
              <a:rPr sz="2000" dirty="0">
                <a:latin typeface="Carlito"/>
                <a:cs typeface="Carlito"/>
              </a:rPr>
              <a:t>k</a:t>
            </a:r>
            <a:r>
              <a:rPr sz="2000" spc="-10" dirty="0">
                <a:latin typeface="Carlito"/>
                <a:cs typeface="Carlito"/>
              </a:rPr>
              <a:t> clusters.</a:t>
            </a:r>
            <a:endParaRPr sz="2000">
              <a:latin typeface="Carlito"/>
              <a:cs typeface="Carlito"/>
            </a:endParaRPr>
          </a:p>
        </p:txBody>
      </p:sp>
      <p:sp>
        <p:nvSpPr>
          <p:cNvPr id="4" name="object 4"/>
          <p:cNvSpPr/>
          <p:nvPr/>
        </p:nvSpPr>
        <p:spPr>
          <a:xfrm>
            <a:off x="2528271" y="3008757"/>
            <a:ext cx="42208" cy="58547"/>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2658745" y="2981198"/>
            <a:ext cx="16510" cy="49530"/>
          </a:xfrm>
          <a:custGeom>
            <a:avLst/>
            <a:gdLst/>
            <a:ahLst/>
            <a:cxnLst/>
            <a:rect l="l" t="t" r="r" b="b"/>
            <a:pathLst>
              <a:path w="16510" h="49530">
                <a:moveTo>
                  <a:pt x="6985" y="0"/>
                </a:moveTo>
                <a:lnTo>
                  <a:pt x="4953" y="762"/>
                </a:lnTo>
                <a:lnTo>
                  <a:pt x="4699" y="888"/>
                </a:lnTo>
                <a:lnTo>
                  <a:pt x="1905" y="1904"/>
                </a:lnTo>
                <a:lnTo>
                  <a:pt x="0" y="4699"/>
                </a:lnTo>
                <a:lnTo>
                  <a:pt x="111" y="7365"/>
                </a:lnTo>
                <a:lnTo>
                  <a:pt x="215" y="12191"/>
                </a:lnTo>
                <a:lnTo>
                  <a:pt x="332" y="15366"/>
                </a:lnTo>
                <a:lnTo>
                  <a:pt x="1038" y="22225"/>
                </a:lnTo>
                <a:lnTo>
                  <a:pt x="1143" y="23621"/>
                </a:lnTo>
                <a:lnTo>
                  <a:pt x="2569" y="32893"/>
                </a:lnTo>
                <a:lnTo>
                  <a:pt x="2667" y="33654"/>
                </a:lnTo>
                <a:lnTo>
                  <a:pt x="4699" y="44957"/>
                </a:lnTo>
                <a:lnTo>
                  <a:pt x="5080" y="47497"/>
                </a:lnTo>
                <a:lnTo>
                  <a:pt x="7366" y="49149"/>
                </a:lnTo>
                <a:lnTo>
                  <a:pt x="12318" y="48894"/>
                </a:lnTo>
                <a:lnTo>
                  <a:pt x="14224" y="46862"/>
                </a:lnTo>
                <a:lnTo>
                  <a:pt x="14824" y="33654"/>
                </a:lnTo>
                <a:lnTo>
                  <a:pt x="14859" y="22478"/>
                </a:lnTo>
                <a:lnTo>
                  <a:pt x="14731" y="22225"/>
                </a:lnTo>
                <a:lnTo>
                  <a:pt x="14429" y="15366"/>
                </a:lnTo>
                <a:lnTo>
                  <a:pt x="9779" y="15366"/>
                </a:lnTo>
                <a:lnTo>
                  <a:pt x="5334" y="13715"/>
                </a:lnTo>
                <a:lnTo>
                  <a:pt x="10794" y="13462"/>
                </a:lnTo>
                <a:lnTo>
                  <a:pt x="12221" y="12371"/>
                </a:lnTo>
                <a:lnTo>
                  <a:pt x="14224" y="7365"/>
                </a:lnTo>
                <a:lnTo>
                  <a:pt x="16165" y="7365"/>
                </a:lnTo>
                <a:lnTo>
                  <a:pt x="15875" y="5333"/>
                </a:lnTo>
                <a:lnTo>
                  <a:pt x="13462" y="3301"/>
                </a:lnTo>
                <a:lnTo>
                  <a:pt x="12446" y="2285"/>
                </a:lnTo>
                <a:lnTo>
                  <a:pt x="11430" y="1524"/>
                </a:lnTo>
                <a:lnTo>
                  <a:pt x="11049" y="1396"/>
                </a:lnTo>
                <a:lnTo>
                  <a:pt x="9271" y="253"/>
                </a:lnTo>
                <a:lnTo>
                  <a:pt x="6985" y="0"/>
                </a:lnTo>
                <a:close/>
              </a:path>
              <a:path w="16510" h="49530">
                <a:moveTo>
                  <a:pt x="10794" y="13462"/>
                </a:moveTo>
                <a:lnTo>
                  <a:pt x="5334" y="13715"/>
                </a:lnTo>
                <a:lnTo>
                  <a:pt x="9779" y="15366"/>
                </a:lnTo>
                <a:lnTo>
                  <a:pt x="13081" y="14224"/>
                </a:lnTo>
                <a:lnTo>
                  <a:pt x="13395" y="13715"/>
                </a:lnTo>
                <a:lnTo>
                  <a:pt x="10541" y="13715"/>
                </a:lnTo>
                <a:lnTo>
                  <a:pt x="10794" y="13462"/>
                </a:lnTo>
                <a:close/>
              </a:path>
              <a:path w="16510" h="49530">
                <a:moveTo>
                  <a:pt x="14321" y="12220"/>
                </a:moveTo>
                <a:lnTo>
                  <a:pt x="13081" y="14224"/>
                </a:lnTo>
                <a:lnTo>
                  <a:pt x="9779" y="15366"/>
                </a:lnTo>
                <a:lnTo>
                  <a:pt x="14429" y="15366"/>
                </a:lnTo>
                <a:lnTo>
                  <a:pt x="14350" y="13715"/>
                </a:lnTo>
                <a:lnTo>
                  <a:pt x="14321" y="12220"/>
                </a:lnTo>
                <a:close/>
              </a:path>
              <a:path w="16510" h="49530">
                <a:moveTo>
                  <a:pt x="10858" y="13462"/>
                </a:moveTo>
                <a:lnTo>
                  <a:pt x="10541" y="13715"/>
                </a:lnTo>
                <a:lnTo>
                  <a:pt x="10858" y="13462"/>
                </a:lnTo>
                <a:close/>
              </a:path>
              <a:path w="16510" h="49530">
                <a:moveTo>
                  <a:pt x="14320" y="12191"/>
                </a:moveTo>
                <a:lnTo>
                  <a:pt x="12446" y="12191"/>
                </a:lnTo>
                <a:lnTo>
                  <a:pt x="12192" y="12445"/>
                </a:lnTo>
                <a:lnTo>
                  <a:pt x="10541" y="13715"/>
                </a:lnTo>
                <a:lnTo>
                  <a:pt x="13395" y="13715"/>
                </a:lnTo>
                <a:lnTo>
                  <a:pt x="14227" y="12371"/>
                </a:lnTo>
                <a:lnTo>
                  <a:pt x="14320" y="12191"/>
                </a:lnTo>
                <a:close/>
              </a:path>
              <a:path w="16510" h="49530">
                <a:moveTo>
                  <a:pt x="12221" y="12371"/>
                </a:moveTo>
                <a:close/>
              </a:path>
              <a:path w="16510" h="49530">
                <a:moveTo>
                  <a:pt x="12446" y="12191"/>
                </a:moveTo>
                <a:lnTo>
                  <a:pt x="12221" y="12371"/>
                </a:lnTo>
                <a:lnTo>
                  <a:pt x="12446" y="12191"/>
                </a:lnTo>
                <a:close/>
              </a:path>
              <a:path w="16510" h="49530">
                <a:moveTo>
                  <a:pt x="14224" y="7365"/>
                </a:moveTo>
                <a:lnTo>
                  <a:pt x="12221" y="12371"/>
                </a:lnTo>
                <a:lnTo>
                  <a:pt x="12446" y="12191"/>
                </a:lnTo>
                <a:lnTo>
                  <a:pt x="14320" y="12191"/>
                </a:lnTo>
                <a:lnTo>
                  <a:pt x="14224" y="7365"/>
                </a:lnTo>
                <a:close/>
              </a:path>
              <a:path w="16510" h="49530">
                <a:moveTo>
                  <a:pt x="16165" y="7365"/>
                </a:moveTo>
                <a:lnTo>
                  <a:pt x="14224" y="7365"/>
                </a:lnTo>
                <a:lnTo>
                  <a:pt x="14321" y="12220"/>
                </a:lnTo>
                <a:lnTo>
                  <a:pt x="16382" y="8889"/>
                </a:lnTo>
                <a:lnTo>
                  <a:pt x="16165" y="7365"/>
                </a:lnTo>
                <a:close/>
              </a:path>
            </a:pathLst>
          </a:custGeom>
          <a:solidFill>
            <a:srgbClr val="FF0000"/>
          </a:solidFill>
        </p:spPr>
        <p:txBody>
          <a:bodyPr wrap="square" lIns="0" tIns="0" rIns="0" bIns="0" rtlCol="0"/>
          <a:lstStyle/>
          <a:p>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15</a:t>
            </a:fld>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683B5-B13F-4BA5-AC22-5C077BC5317D}"/>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1DD497E0-1146-45A8-9AE3-CAEE488A34BA}"/>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1915EFED-D057-4435-B7EB-FE0D5AE8DD17}"/>
              </a:ext>
            </a:extLst>
          </p:cNvPr>
          <p:cNvPicPr>
            <a:picLocks noChangeAspect="1"/>
          </p:cNvPicPr>
          <p:nvPr/>
        </p:nvPicPr>
        <p:blipFill>
          <a:blip r:embed="rId2"/>
          <a:stretch>
            <a:fillRect/>
          </a:stretch>
        </p:blipFill>
        <p:spPr>
          <a:xfrm>
            <a:off x="685800" y="1007255"/>
            <a:ext cx="7464905" cy="3735931"/>
          </a:xfrm>
          <a:prstGeom prst="rect">
            <a:avLst/>
          </a:prstGeom>
        </p:spPr>
      </p:pic>
    </p:spTree>
    <p:extLst>
      <p:ext uri="{BB962C8B-B14F-4D97-AF65-F5344CB8AC3E}">
        <p14:creationId xmlns:p14="http://schemas.microsoft.com/office/powerpoint/2010/main" val="3620936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4B974-E6E7-43E0-A2C8-0067D2DB4366}"/>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DA38C878-A7A2-4549-9726-FDF582C681F7}"/>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E8457B12-F914-4DC1-8470-35ACBC0ECC97}"/>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43000"/>
                    </a14:imgEffect>
                  </a14:imgLayer>
                </a14:imgProps>
              </a:ext>
            </a:extLst>
          </a:blip>
          <a:stretch>
            <a:fillRect/>
          </a:stretch>
        </p:blipFill>
        <p:spPr>
          <a:xfrm>
            <a:off x="1524000" y="547149"/>
            <a:ext cx="6586125" cy="3548601"/>
          </a:xfrm>
          <a:prstGeom prst="rect">
            <a:avLst/>
          </a:prstGeom>
        </p:spPr>
      </p:pic>
    </p:spTree>
    <p:extLst>
      <p:ext uri="{BB962C8B-B14F-4D97-AF65-F5344CB8AC3E}">
        <p14:creationId xmlns:p14="http://schemas.microsoft.com/office/powerpoint/2010/main" val="2938014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85726-49A1-4CB9-AD6C-304CD56124D3}"/>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AF7352E0-0B67-4B8F-9CAD-66CF8B192252}"/>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D92B3C4B-0271-4FEB-B1A8-B64B7BBB76C0}"/>
              </a:ext>
            </a:extLst>
          </p:cNvPr>
          <p:cNvPicPr>
            <a:picLocks noChangeAspect="1"/>
          </p:cNvPicPr>
          <p:nvPr/>
        </p:nvPicPr>
        <p:blipFill>
          <a:blip r:embed="rId2"/>
          <a:stretch>
            <a:fillRect/>
          </a:stretch>
        </p:blipFill>
        <p:spPr>
          <a:xfrm>
            <a:off x="762000" y="1158200"/>
            <a:ext cx="7467600" cy="3581469"/>
          </a:xfrm>
          <a:prstGeom prst="rect">
            <a:avLst/>
          </a:prstGeom>
        </p:spPr>
      </p:pic>
      <p:sp>
        <p:nvSpPr>
          <p:cNvPr id="4" name="TextBox 3">
            <a:extLst>
              <a:ext uri="{FF2B5EF4-FFF2-40B4-BE49-F238E27FC236}">
                <a16:creationId xmlns:a16="http://schemas.microsoft.com/office/drawing/2014/main" id="{B6FE1673-4BDA-475B-B9B5-FD692470F739}"/>
              </a:ext>
            </a:extLst>
          </p:cNvPr>
          <p:cNvSpPr txBox="1"/>
          <p:nvPr/>
        </p:nvSpPr>
        <p:spPr>
          <a:xfrm>
            <a:off x="2667000" y="4248150"/>
            <a:ext cx="4343400" cy="369332"/>
          </a:xfrm>
          <a:prstGeom prst="rect">
            <a:avLst/>
          </a:prstGeom>
          <a:noFill/>
        </p:spPr>
        <p:txBody>
          <a:bodyPr wrap="square" rtlCol="0">
            <a:spAutoFit/>
          </a:bodyPr>
          <a:lstStyle/>
          <a:p>
            <a:r>
              <a:rPr lang="en-US" dirty="0">
                <a:solidFill>
                  <a:srgbClr val="C00000"/>
                </a:solidFill>
              </a:rPr>
              <a:t>Also called within cluster sum of squares</a:t>
            </a:r>
            <a:endParaRPr lang="en-IN" dirty="0">
              <a:solidFill>
                <a:srgbClr val="C00000"/>
              </a:solidFill>
            </a:endParaRPr>
          </a:p>
        </p:txBody>
      </p:sp>
      <p:sp>
        <p:nvSpPr>
          <p:cNvPr id="6" name="TextBox 5">
            <a:extLst>
              <a:ext uri="{FF2B5EF4-FFF2-40B4-BE49-F238E27FC236}">
                <a16:creationId xmlns:a16="http://schemas.microsoft.com/office/drawing/2014/main" id="{5EB66206-149E-4852-BC8E-61F5EDA51C31}"/>
              </a:ext>
            </a:extLst>
          </p:cNvPr>
          <p:cNvSpPr txBox="1"/>
          <p:nvPr/>
        </p:nvSpPr>
        <p:spPr>
          <a:xfrm>
            <a:off x="1311909" y="3823327"/>
            <a:ext cx="1219200" cy="369332"/>
          </a:xfrm>
          <a:prstGeom prst="rect">
            <a:avLst/>
          </a:prstGeom>
          <a:noFill/>
        </p:spPr>
        <p:txBody>
          <a:bodyPr wrap="square" rtlCol="0">
            <a:spAutoFit/>
          </a:bodyPr>
          <a:lstStyle/>
          <a:p>
            <a:r>
              <a:rPr lang="en-US" dirty="0"/>
              <a:t>Minimize</a:t>
            </a:r>
            <a:endParaRPr lang="en-IN" dirty="0"/>
          </a:p>
        </p:txBody>
      </p:sp>
      <p:cxnSp>
        <p:nvCxnSpPr>
          <p:cNvPr id="8" name="Straight Arrow Connector 7">
            <a:extLst>
              <a:ext uri="{FF2B5EF4-FFF2-40B4-BE49-F238E27FC236}">
                <a16:creationId xmlns:a16="http://schemas.microsoft.com/office/drawing/2014/main" id="{E53722E8-DD9B-4FC7-A68D-55B9DC15EED8}"/>
              </a:ext>
            </a:extLst>
          </p:cNvPr>
          <p:cNvCxnSpPr/>
          <p:nvPr/>
        </p:nvCxnSpPr>
        <p:spPr>
          <a:xfrm flipV="1">
            <a:off x="2286000" y="3819184"/>
            <a:ext cx="533400" cy="166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7695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6581" y="95726"/>
            <a:ext cx="6319004" cy="572676"/>
          </a:xfrm>
        </p:spPr>
        <p:txBody>
          <a:bodyPr>
            <a:normAutofit/>
          </a:bodyPr>
          <a:lstStyle/>
          <a:p>
            <a:r>
              <a:rPr lang="en-US" sz="3000" dirty="0">
                <a:solidFill>
                  <a:srgbClr val="A50021"/>
                </a:solidFill>
                <a:latin typeface="Times New Roman" pitchFamily="18" charset="0"/>
                <a:cs typeface="Times New Roman" pitchFamily="18" charset="0"/>
              </a:rPr>
              <a:t>Comments on k-Means algorithm</a:t>
            </a:r>
            <a:endParaRPr lang="en-IN" sz="3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56581" y="668402"/>
                <a:ext cx="6523073" cy="3905754"/>
              </a:xfrm>
            </p:spPr>
            <p:txBody>
              <a:bodyPr>
                <a:noAutofit/>
              </a:bodyPr>
              <a:lstStyle/>
              <a:p>
                <a:pPr algn="just">
                  <a:buClr>
                    <a:srgbClr val="0B5ED7"/>
                  </a:buClr>
                </a:pPr>
                <a:r>
                  <a:rPr lang="en-IN" sz="1500" b="1" dirty="0">
                    <a:solidFill>
                      <a:srgbClr val="0B5ED7"/>
                    </a:solidFill>
                    <a:latin typeface="Times New Roman" pitchFamily="18" charset="0"/>
                    <a:cs typeface="Times New Roman" pitchFamily="18" charset="0"/>
                  </a:rPr>
                  <a:t>5. Complexity analysis of k-Means algorithm</a:t>
                </a:r>
              </a:p>
              <a:p>
                <a:pPr algn="just">
                  <a:buClr>
                    <a:srgbClr val="0B5ED7"/>
                  </a:buClr>
                </a:pPr>
                <a:endParaRPr lang="en-IN" sz="600" b="1" dirty="0">
                  <a:solidFill>
                    <a:srgbClr val="0B5ED7"/>
                  </a:solidFill>
                  <a:latin typeface="Times New Roman" pitchFamily="18" charset="0"/>
                  <a:cs typeface="Times New Roman" pitchFamily="18" charset="0"/>
                </a:endParaRPr>
              </a:p>
              <a:p>
                <a:pPr algn="just">
                  <a:buClr>
                    <a:srgbClr val="0B5ED7"/>
                  </a:buClr>
                </a:pPr>
                <a:r>
                  <a:rPr lang="en-IN" sz="1500" dirty="0">
                    <a:latin typeface="Times New Roman" pitchFamily="18" charset="0"/>
                    <a:cs typeface="Times New Roman" pitchFamily="18" charset="0"/>
                  </a:rPr>
                  <a:t>Let us analyse the time and space complexities of k-Means algorithm.</a:t>
                </a:r>
              </a:p>
              <a:p>
                <a:pPr algn="just">
                  <a:buClr>
                    <a:srgbClr val="0B5ED7"/>
                  </a:buClr>
                  <a:buFont typeface="Arial" pitchFamily="34" charset="0"/>
                  <a:buChar char="•"/>
                </a:pPr>
                <a:endParaRPr lang="en-IN" sz="600" dirty="0">
                  <a:latin typeface="Times New Roman" pitchFamily="18" charset="0"/>
                  <a:cs typeface="Times New Roman" pitchFamily="18" charset="0"/>
                </a:endParaRPr>
              </a:p>
              <a:p>
                <a:pPr algn="just">
                  <a:buClr>
                    <a:srgbClr val="0B5ED7"/>
                  </a:buClr>
                </a:pPr>
                <a:r>
                  <a:rPr lang="en-IN" sz="1500" dirty="0">
                    <a:solidFill>
                      <a:srgbClr val="A50021"/>
                    </a:solidFill>
                    <a:latin typeface="Times New Roman" pitchFamily="18" charset="0"/>
                    <a:cs typeface="Times New Roman" pitchFamily="18" charset="0"/>
                  </a:rPr>
                  <a:t>Time complexity:</a:t>
                </a:r>
              </a:p>
              <a:p>
                <a:pPr algn="just">
                  <a:buClr>
                    <a:srgbClr val="0B5ED7"/>
                  </a:buClr>
                </a:pPr>
                <a:r>
                  <a:rPr lang="en-IN" sz="1500" dirty="0">
                    <a:latin typeface="Times New Roman" pitchFamily="18" charset="0"/>
                    <a:cs typeface="Times New Roman" pitchFamily="18" charset="0"/>
                  </a:rPr>
                  <a:t>The time complexity of the k-Means algorithm can be expressed as</a:t>
                </a:r>
              </a:p>
              <a:p>
                <a:pPr algn="just">
                  <a:buClr>
                    <a:srgbClr val="0B5ED7"/>
                  </a:buClr>
                </a:pPr>
                <a:endParaRPr lang="en-IN" sz="600" dirty="0">
                  <a:latin typeface="Times New Roman" pitchFamily="18" charset="0"/>
                  <a:cs typeface="Times New Roman" pitchFamily="18" charset="0"/>
                </a:endParaRPr>
              </a:p>
              <a:p>
                <a:pPr algn="just">
                  <a:buClr>
                    <a:srgbClr val="0B5ED7"/>
                  </a:buClr>
                </a:pPr>
                <a14:m>
                  <m:oMathPara xmlns:m="http://schemas.openxmlformats.org/officeDocument/2006/math">
                    <m:oMathParaPr>
                      <m:jc m:val="centerGroup"/>
                    </m:oMathParaPr>
                    <m:oMath xmlns:m="http://schemas.openxmlformats.org/officeDocument/2006/math">
                      <m:r>
                        <a:rPr lang="en-IN" sz="1200" i="1">
                          <a:solidFill>
                            <a:srgbClr val="0B5ED7"/>
                          </a:solidFill>
                          <a:latin typeface="Cambria Math" panose="02040503050406030204" pitchFamily="18" charset="0"/>
                          <a:cs typeface="Times New Roman" pitchFamily="18" charset="0"/>
                        </a:rPr>
                        <m:t>𝑇</m:t>
                      </m:r>
                      <m:d>
                        <m:dPr>
                          <m:ctrlPr>
                            <a:rPr lang="en-IN" sz="1200" i="1">
                              <a:solidFill>
                                <a:srgbClr val="0B5ED7"/>
                              </a:solidFill>
                              <a:latin typeface="Cambria Math" panose="02040503050406030204" pitchFamily="18" charset="0"/>
                              <a:cs typeface="Times New Roman" pitchFamily="18" charset="0"/>
                            </a:rPr>
                          </m:ctrlPr>
                        </m:dPr>
                        <m:e>
                          <m:r>
                            <a:rPr lang="en-IN" sz="1200" i="1">
                              <a:solidFill>
                                <a:srgbClr val="0B5ED7"/>
                              </a:solidFill>
                              <a:latin typeface="Cambria Math" panose="02040503050406030204" pitchFamily="18" charset="0"/>
                              <a:cs typeface="Times New Roman" pitchFamily="18" charset="0"/>
                            </a:rPr>
                            <m:t>𝑛</m:t>
                          </m:r>
                        </m:e>
                      </m:d>
                      <m:r>
                        <a:rPr lang="en-IN" sz="1200" i="1">
                          <a:solidFill>
                            <a:srgbClr val="0B5ED7"/>
                          </a:solidFill>
                          <a:latin typeface="Cambria Math" panose="02040503050406030204" pitchFamily="18" charset="0"/>
                          <a:cs typeface="Times New Roman" pitchFamily="18" charset="0"/>
                        </a:rPr>
                        <m:t>=</m:t>
                      </m:r>
                      <m:r>
                        <a:rPr lang="en-IN" sz="1200" i="1">
                          <a:solidFill>
                            <a:srgbClr val="0B5ED7"/>
                          </a:solidFill>
                          <a:latin typeface="Cambria Math" panose="02040503050406030204" pitchFamily="18" charset="0"/>
                          <a:cs typeface="Times New Roman" pitchFamily="18" charset="0"/>
                        </a:rPr>
                        <m:t>𝑂</m:t>
                      </m:r>
                      <m:d>
                        <m:dPr>
                          <m:ctrlPr>
                            <a:rPr lang="en-IN" sz="1200" i="1">
                              <a:solidFill>
                                <a:srgbClr val="0B5ED7"/>
                              </a:solidFill>
                              <a:latin typeface="Cambria Math" panose="02040503050406030204" pitchFamily="18" charset="0"/>
                              <a:cs typeface="Times New Roman" pitchFamily="18" charset="0"/>
                            </a:rPr>
                          </m:ctrlPr>
                        </m:dPr>
                        <m:e>
                          <m:r>
                            <a:rPr lang="en-IN" sz="1200" i="1">
                              <a:solidFill>
                                <a:srgbClr val="0B5ED7"/>
                              </a:solidFill>
                              <a:latin typeface="Cambria Math" panose="02040503050406030204" pitchFamily="18" charset="0"/>
                              <a:cs typeface="Times New Roman" pitchFamily="18" charset="0"/>
                            </a:rPr>
                            <m:t>𝑛</m:t>
                          </m:r>
                          <m:r>
                            <a:rPr lang="en-IN" sz="1200" i="1">
                              <a:solidFill>
                                <a:srgbClr val="0B5ED7"/>
                              </a:solidFill>
                              <a:latin typeface="Cambria Math" panose="02040503050406030204" pitchFamily="18" charset="0"/>
                              <a:ea typeface="Cambria Math" panose="02040503050406030204" pitchFamily="18" charset="0"/>
                              <a:cs typeface="Times New Roman" pitchFamily="18" charset="0"/>
                            </a:rPr>
                            <m:t>×</m:t>
                          </m:r>
                          <m:r>
                            <a:rPr lang="en-IN" sz="1200" i="1">
                              <a:solidFill>
                                <a:srgbClr val="0B5ED7"/>
                              </a:solidFill>
                              <a:latin typeface="Cambria Math" panose="02040503050406030204" pitchFamily="18" charset="0"/>
                              <a:ea typeface="Cambria Math" panose="02040503050406030204" pitchFamily="18" charset="0"/>
                              <a:cs typeface="Times New Roman" pitchFamily="18" charset="0"/>
                            </a:rPr>
                            <m:t>𝑚</m:t>
                          </m:r>
                          <m:r>
                            <a:rPr lang="en-IN" sz="1200" i="1">
                              <a:solidFill>
                                <a:srgbClr val="0B5ED7"/>
                              </a:solidFill>
                              <a:latin typeface="Cambria Math" panose="02040503050406030204" pitchFamily="18" charset="0"/>
                              <a:ea typeface="Cambria Math" panose="02040503050406030204" pitchFamily="18" charset="0"/>
                              <a:cs typeface="Times New Roman" pitchFamily="18" charset="0"/>
                            </a:rPr>
                            <m:t>×</m:t>
                          </m:r>
                          <m:r>
                            <a:rPr lang="en-IN" sz="1200" i="1">
                              <a:solidFill>
                                <a:srgbClr val="0B5ED7"/>
                              </a:solidFill>
                              <a:latin typeface="Cambria Math" panose="02040503050406030204" pitchFamily="18" charset="0"/>
                              <a:ea typeface="Cambria Math" panose="02040503050406030204" pitchFamily="18" charset="0"/>
                              <a:cs typeface="Times New Roman" pitchFamily="18" charset="0"/>
                            </a:rPr>
                            <m:t>𝑘</m:t>
                          </m:r>
                          <m:r>
                            <a:rPr lang="en-IN" sz="1200" i="1">
                              <a:solidFill>
                                <a:srgbClr val="0B5ED7"/>
                              </a:solidFill>
                              <a:latin typeface="Cambria Math" panose="02040503050406030204" pitchFamily="18" charset="0"/>
                              <a:ea typeface="Cambria Math" panose="02040503050406030204" pitchFamily="18" charset="0"/>
                              <a:cs typeface="Times New Roman" pitchFamily="18" charset="0"/>
                            </a:rPr>
                            <m:t>×</m:t>
                          </m:r>
                          <m:r>
                            <a:rPr lang="en-IN" sz="1200" i="1">
                              <a:solidFill>
                                <a:srgbClr val="0B5ED7"/>
                              </a:solidFill>
                              <a:latin typeface="Cambria Math" panose="02040503050406030204" pitchFamily="18" charset="0"/>
                              <a:ea typeface="Cambria Math" panose="02040503050406030204" pitchFamily="18" charset="0"/>
                              <a:cs typeface="Times New Roman" pitchFamily="18" charset="0"/>
                            </a:rPr>
                            <m:t>𝑙</m:t>
                          </m:r>
                        </m:e>
                      </m:d>
                    </m:oMath>
                  </m:oMathPara>
                </a14:m>
                <a:endParaRPr lang="en-IN" sz="1200" dirty="0">
                  <a:solidFill>
                    <a:srgbClr val="A50021"/>
                  </a:solidFill>
                  <a:latin typeface="Times New Roman" pitchFamily="18" charset="0"/>
                  <a:ea typeface="Cambria Math" panose="02040503050406030204" pitchFamily="18" charset="0"/>
                  <a:cs typeface="Times New Roman" pitchFamily="18" charset="0"/>
                </a:endParaRPr>
              </a:p>
              <a:p>
                <a:pPr algn="just">
                  <a:buClr>
                    <a:srgbClr val="0B5ED7"/>
                  </a:buClr>
                </a:pPr>
                <a:r>
                  <a:rPr lang="en-US" sz="1500" dirty="0">
                    <a:latin typeface="Times New Roman" pitchFamily="18" charset="0"/>
                    <a:cs typeface="Times New Roman" pitchFamily="18" charset="0"/>
                  </a:rPr>
                  <a:t>where</a:t>
                </a:r>
                <a:r>
                  <a:rPr lang="en-US" sz="1200" dirty="0">
                    <a:latin typeface="Times New Roman" pitchFamily="18" charset="0"/>
                    <a:cs typeface="Times New Roman" pitchFamily="18" charset="0"/>
                  </a:rPr>
                  <a:t> 	</a:t>
                </a:r>
                <a14:m>
                  <m:oMath xmlns:m="http://schemas.openxmlformats.org/officeDocument/2006/math">
                    <m:r>
                      <a:rPr lang="en-IN" sz="1500" i="1">
                        <a:solidFill>
                          <a:srgbClr val="0B5ED7"/>
                        </a:solidFill>
                        <a:latin typeface="Cambria Math" panose="02040503050406030204" pitchFamily="18" charset="0"/>
                        <a:cs typeface="Times New Roman" pitchFamily="18" charset="0"/>
                      </a:rPr>
                      <m:t>𝑛</m:t>
                    </m:r>
                  </m:oMath>
                </a14:m>
                <a:r>
                  <a:rPr lang="en-US" sz="1500" dirty="0">
                    <a:latin typeface="Times New Roman" pitchFamily="18" charset="0"/>
                    <a:cs typeface="Times New Roman" pitchFamily="18" charset="0"/>
                  </a:rPr>
                  <a:t> = number of objects</a:t>
                </a:r>
              </a:p>
              <a:p>
                <a:pPr algn="just">
                  <a:buClr>
                    <a:srgbClr val="0B5ED7"/>
                  </a:buClr>
                </a:pPr>
                <a:r>
                  <a:rPr lang="en-IN" sz="1500" dirty="0">
                    <a:cs typeface="Times New Roman" pitchFamily="18" charset="0"/>
                  </a:rPr>
                  <a:t>	</a:t>
                </a:r>
                <a14:m>
                  <m:oMath xmlns:m="http://schemas.openxmlformats.org/officeDocument/2006/math">
                    <m:r>
                      <a:rPr lang="en-IN" sz="1500" i="1">
                        <a:latin typeface="Cambria Math" panose="02040503050406030204" pitchFamily="18" charset="0"/>
                        <a:cs typeface="Times New Roman" pitchFamily="18" charset="0"/>
                      </a:rPr>
                      <m:t>𝑚</m:t>
                    </m:r>
                    <m:r>
                      <a:rPr lang="en-IN" sz="1500" i="1">
                        <a:latin typeface="Cambria Math" panose="02040503050406030204" pitchFamily="18" charset="0"/>
                        <a:cs typeface="Times New Roman" pitchFamily="18" charset="0"/>
                      </a:rPr>
                      <m:t> </m:t>
                    </m:r>
                  </m:oMath>
                </a14:m>
                <a:r>
                  <a:rPr lang="en-US" sz="1500" dirty="0">
                    <a:latin typeface="Times New Roman" pitchFamily="18" charset="0"/>
                    <a:cs typeface="Times New Roman" pitchFamily="18" charset="0"/>
                  </a:rPr>
                  <a:t>= number of attributes in the object definition</a:t>
                </a:r>
              </a:p>
              <a:p>
                <a:pPr algn="just">
                  <a:buClr>
                    <a:srgbClr val="0B5ED7"/>
                  </a:buClr>
                </a:pPr>
                <a:r>
                  <a:rPr lang="en-IN" sz="1500" dirty="0">
                    <a:cs typeface="Times New Roman" pitchFamily="18" charset="0"/>
                  </a:rPr>
                  <a:t>	</a:t>
                </a:r>
                <a14:m>
                  <m:oMath xmlns:m="http://schemas.openxmlformats.org/officeDocument/2006/math">
                    <m:r>
                      <a:rPr lang="en-IN" sz="1500" i="1">
                        <a:latin typeface="Cambria Math" panose="02040503050406030204" pitchFamily="18" charset="0"/>
                        <a:cs typeface="Times New Roman" pitchFamily="18" charset="0"/>
                      </a:rPr>
                      <m:t>𝑘</m:t>
                    </m:r>
                  </m:oMath>
                </a14:m>
                <a:r>
                  <a:rPr lang="en-US" sz="1500" dirty="0">
                    <a:latin typeface="Times New Roman" pitchFamily="18" charset="0"/>
                    <a:cs typeface="Times New Roman" pitchFamily="18" charset="0"/>
                  </a:rPr>
                  <a:t> = number of clusters</a:t>
                </a:r>
              </a:p>
              <a:p>
                <a:pPr algn="just">
                  <a:buClr>
                    <a:srgbClr val="0B5ED7"/>
                  </a:buClr>
                </a:pPr>
                <a:r>
                  <a:rPr lang="en-IN" sz="1500" dirty="0">
                    <a:cs typeface="Times New Roman" pitchFamily="18" charset="0"/>
                  </a:rPr>
                  <a:t>	</a:t>
                </a:r>
                <a14:m>
                  <m:oMath xmlns:m="http://schemas.openxmlformats.org/officeDocument/2006/math">
                    <m:r>
                      <a:rPr lang="en-IN" sz="1500" i="1">
                        <a:latin typeface="Cambria Math" panose="02040503050406030204" pitchFamily="18" charset="0"/>
                        <a:cs typeface="Times New Roman" pitchFamily="18" charset="0"/>
                      </a:rPr>
                      <m:t>𝑙</m:t>
                    </m:r>
                    <m:r>
                      <a:rPr lang="en-IN" sz="1500" i="1">
                        <a:latin typeface="Cambria Math" panose="02040503050406030204" pitchFamily="18" charset="0"/>
                        <a:cs typeface="Times New Roman" pitchFamily="18" charset="0"/>
                      </a:rPr>
                      <m:t> </m:t>
                    </m:r>
                  </m:oMath>
                </a14:m>
                <a:r>
                  <a:rPr lang="en-US" sz="1500" dirty="0">
                    <a:latin typeface="Times New Roman" pitchFamily="18" charset="0"/>
                    <a:cs typeface="Times New Roman" pitchFamily="18" charset="0"/>
                  </a:rPr>
                  <a:t>= number of iterations.</a:t>
                </a:r>
              </a:p>
              <a:p>
                <a:pPr algn="just">
                  <a:buClr>
                    <a:srgbClr val="0B5ED7"/>
                  </a:buClr>
                </a:pPr>
                <a:endParaRPr lang="en-US" sz="1200" dirty="0">
                  <a:latin typeface="Times New Roman" pitchFamily="18" charset="0"/>
                  <a:cs typeface="Times New Roman" pitchFamily="18" charset="0"/>
                </a:endParaRPr>
              </a:p>
              <a:p>
                <a:pPr algn="just">
                  <a:buClr>
                    <a:srgbClr val="0B5ED7"/>
                  </a:buClr>
                </a:pPr>
                <a:r>
                  <a:rPr lang="en-US" sz="1500" dirty="0">
                    <a:latin typeface="Times New Roman" pitchFamily="18" charset="0"/>
                    <a:cs typeface="Times New Roman" pitchFamily="18" charset="0"/>
                  </a:rPr>
                  <a:t>Thus, time requirement is a linear order of number of objects and the algorithm runs in a modest time if </a:t>
                </a:r>
                <a14:m>
                  <m:oMath xmlns:m="http://schemas.openxmlformats.org/officeDocument/2006/math">
                    <m:r>
                      <a:rPr lang="en-IN" sz="1500" i="1">
                        <a:solidFill>
                          <a:srgbClr val="0B5ED7"/>
                        </a:solidFill>
                        <a:latin typeface="Cambria Math" panose="02040503050406030204" pitchFamily="18" charset="0"/>
                        <a:cs typeface="Times New Roman" pitchFamily="18" charset="0"/>
                      </a:rPr>
                      <m:t>𝑘</m:t>
                    </m:r>
                    <m:r>
                      <a:rPr lang="en-IN" sz="1500" i="1">
                        <a:solidFill>
                          <a:srgbClr val="0B5ED7"/>
                        </a:solidFill>
                        <a:latin typeface="Cambria Math" panose="02040503050406030204" pitchFamily="18" charset="0"/>
                        <a:cs typeface="Times New Roman" pitchFamily="18" charset="0"/>
                      </a:rPr>
                      <m:t>≪</m:t>
                    </m:r>
                    <m:r>
                      <a:rPr lang="en-IN" sz="1500" i="1">
                        <a:solidFill>
                          <a:srgbClr val="0B5ED7"/>
                        </a:solidFill>
                        <a:latin typeface="Cambria Math" panose="02040503050406030204" pitchFamily="18" charset="0"/>
                        <a:cs typeface="Times New Roman" pitchFamily="18" charset="0"/>
                      </a:rPr>
                      <m:t>𝑛</m:t>
                    </m:r>
                  </m:oMath>
                </a14:m>
                <a:r>
                  <a:rPr lang="en-US" sz="1500" dirty="0">
                    <a:solidFill>
                      <a:srgbClr val="0B5ED7"/>
                    </a:solidFill>
                    <a:latin typeface="Times New Roman" pitchFamily="18" charset="0"/>
                    <a:cs typeface="Times New Roman" pitchFamily="18" charset="0"/>
                  </a:rPr>
                  <a:t> </a:t>
                </a:r>
                <a:r>
                  <a:rPr lang="en-US" sz="1500" dirty="0">
                    <a:latin typeface="Times New Roman" pitchFamily="18" charset="0"/>
                    <a:cs typeface="Times New Roman" pitchFamily="18" charset="0"/>
                  </a:rPr>
                  <a:t>and </a:t>
                </a:r>
                <a14:m>
                  <m:oMath xmlns:m="http://schemas.openxmlformats.org/officeDocument/2006/math">
                    <m:r>
                      <a:rPr lang="en-IN" sz="1500" i="1">
                        <a:solidFill>
                          <a:srgbClr val="0B5ED7"/>
                        </a:solidFill>
                        <a:latin typeface="Cambria Math" panose="02040503050406030204" pitchFamily="18" charset="0"/>
                        <a:cs typeface="Times New Roman" pitchFamily="18" charset="0"/>
                      </a:rPr>
                      <m:t>𝑙</m:t>
                    </m:r>
                    <m:r>
                      <a:rPr lang="en-IN" sz="1500" i="1">
                        <a:solidFill>
                          <a:srgbClr val="0B5ED7"/>
                        </a:solidFill>
                        <a:latin typeface="Cambria Math" panose="02040503050406030204" pitchFamily="18" charset="0"/>
                        <a:cs typeface="Times New Roman" pitchFamily="18" charset="0"/>
                      </a:rPr>
                      <m:t>≪</m:t>
                    </m:r>
                    <m:r>
                      <a:rPr lang="en-IN" sz="1500" i="1">
                        <a:solidFill>
                          <a:srgbClr val="0B5ED7"/>
                        </a:solidFill>
                        <a:latin typeface="Cambria Math" panose="02040503050406030204" pitchFamily="18" charset="0"/>
                        <a:cs typeface="Times New Roman" pitchFamily="18" charset="0"/>
                      </a:rPr>
                      <m:t>𝑛</m:t>
                    </m:r>
                  </m:oMath>
                </a14:m>
                <a:r>
                  <a:rPr lang="en-US" sz="1500" dirty="0">
                    <a:solidFill>
                      <a:srgbClr val="0B5ED7"/>
                    </a:solidFill>
                    <a:latin typeface="Times New Roman" pitchFamily="18" charset="0"/>
                    <a:cs typeface="Times New Roman" pitchFamily="18" charset="0"/>
                  </a:rPr>
                  <a:t> </a:t>
                </a:r>
                <a:r>
                  <a:rPr lang="en-US" sz="1500" dirty="0">
                    <a:latin typeface="Times New Roman" pitchFamily="18" charset="0"/>
                    <a:cs typeface="Times New Roman" pitchFamily="18" charset="0"/>
                  </a:rPr>
                  <a:t>(the iteration can be moderately controlled to check the value of </a:t>
                </a:r>
                <a14:m>
                  <m:oMath xmlns:m="http://schemas.openxmlformats.org/officeDocument/2006/math">
                    <m:r>
                      <a:rPr lang="en-IN" sz="1500" i="1">
                        <a:latin typeface="Cambria Math" panose="02040503050406030204" pitchFamily="18" charset="0"/>
                        <a:cs typeface="Times New Roman" pitchFamily="18" charset="0"/>
                      </a:rPr>
                      <m:t>𝑙</m:t>
                    </m:r>
                  </m:oMath>
                </a14:m>
                <a:r>
                  <a:rPr lang="en-US" sz="1500" dirty="0">
                    <a:latin typeface="Times New Roman" pitchFamily="18" charset="0"/>
                    <a:cs typeface="Times New Roman" pitchFamily="18" charset="0"/>
                  </a:rPr>
                  <a:t>).</a:t>
                </a:r>
              </a:p>
              <a:p>
                <a:endParaRPr lang="en-US" sz="1500" dirty="0">
                  <a:solidFill>
                    <a:srgbClr val="800000"/>
                  </a:solidFill>
                  <a:cs typeface="Times New Roman" pitchFamily="18" charset="0"/>
                </a:endParaRPr>
              </a:p>
              <a:p>
                <a:pPr algn="just"/>
                <a:endParaRPr lang="en-US" sz="1500" dirty="0">
                  <a:latin typeface="Times New Roman" pitchFamily="18" charset="0"/>
                  <a:cs typeface="Times New Roman" pitchFamily="18" charset="0"/>
                </a:endParaRPr>
              </a:p>
              <a:p>
                <a:pPr algn="just"/>
                <a:endParaRPr lang="en-US" sz="1500" dirty="0">
                  <a:latin typeface="Times New Roman" pitchFamily="18" charset="0"/>
                  <a:cs typeface="Times New Roman" pitchFamily="18" charset="0"/>
                </a:endParaRPr>
              </a:p>
              <a:p>
                <a:pPr algn="just"/>
                <a:endParaRPr lang="en-US" sz="1500" dirty="0">
                  <a:solidFill>
                    <a:srgbClr val="0B5ED7"/>
                  </a:solidFill>
                  <a:latin typeface="Times New Roman" pitchFamily="18" charset="0"/>
                  <a:cs typeface="Times New Roman" pitchFamily="18" charset="0"/>
                </a:endParaRPr>
              </a:p>
              <a:p>
                <a:pPr algn="just"/>
                <a:endParaRPr lang="en-US" sz="1500" dirty="0">
                  <a:solidFill>
                    <a:srgbClr val="0B5ED7"/>
                  </a:solidFill>
                  <a:latin typeface="Times New Roman" pitchFamily="18" charset="0"/>
                  <a:cs typeface="Times New Roman" pitchFamily="18" charset="0"/>
                </a:endParaRPr>
              </a:p>
              <a:p>
                <a:pPr algn="just"/>
                <a:endParaRPr lang="en-US" sz="1500" dirty="0">
                  <a:solidFill>
                    <a:srgbClr val="0B5ED7"/>
                  </a:solidFill>
                  <a:latin typeface="Times New Roman" pitchFamily="18" charset="0"/>
                  <a:cs typeface="Times New Roman" pitchFamily="18" charset="0"/>
                </a:endParaRPr>
              </a:p>
              <a:p>
                <a:pPr algn="just"/>
                <a:endParaRPr lang="en-US" sz="1500" dirty="0">
                  <a:latin typeface="Times New Roman" pitchFamily="18" charset="0"/>
                  <a:cs typeface="Times New Roman" pitchFamily="18" charset="0"/>
                </a:endParaRPr>
              </a:p>
              <a:p>
                <a:pPr algn="just"/>
                <a:endParaRPr lang="en-US" sz="1500" dirty="0">
                  <a:latin typeface="Times New Roman" pitchFamily="18" charset="0"/>
                  <a:cs typeface="Times New Roman" pitchFamily="18" charset="0"/>
                </a:endParaRPr>
              </a:p>
              <a:p>
                <a:pPr algn="just"/>
                <a:endParaRPr lang="en-US" sz="15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56581" y="668402"/>
                <a:ext cx="6523073" cy="3905754"/>
              </a:xfrm>
              <a:blipFill>
                <a:blip r:embed="rId2"/>
                <a:stretch>
                  <a:fillRect l="-1776" t="-1563" r="-1776"/>
                </a:stretch>
              </a:blipFill>
            </p:spPr>
            <p:txBody>
              <a:bodyPr/>
              <a:lstStyle/>
              <a:p>
                <a:r>
                  <a:rPr lang="en-IN">
                    <a:noFill/>
                  </a:rPr>
                  <a:t> </a:t>
                </a:r>
              </a:p>
            </p:txBody>
          </p:sp>
        </mc:Fallback>
      </mc:AlternateContent>
      <p:sp>
        <p:nvSpPr>
          <p:cNvPr id="4" name="Date Placeholder 3"/>
          <p:cNvSpPr>
            <a:spLocks noGrp="1"/>
          </p:cNvSpPr>
          <p:nvPr>
            <p:ph type="dt" sz="half" idx="10"/>
          </p:nvPr>
        </p:nvSpPr>
        <p:spPr>
          <a:xfrm>
            <a:off x="468078" y="6356357"/>
            <a:ext cx="2184347" cy="365125"/>
          </a:xfrm>
          <a:prstGeom prst="rect">
            <a:avLst/>
          </a:prstGeom>
        </p:spPr>
        <p:txBody>
          <a:bodyPr vert="horz" lIns="0" tIns="0" rIns="0" bIns="0" anchor="b"/>
          <a:lstStyle>
            <a:defPPr>
              <a:defRPr lang="en-US"/>
            </a:defPPr>
            <a:lvl1pPr marL="0" algn="l" defTabSz="914400" rtl="0" eaLnBrk="1" latinLnBrk="0" hangingPunct="1">
              <a:defRPr kumimoji="0" sz="1200" kern="1200">
                <a:solidFill>
                  <a:schemeClr val="tx2">
                    <a:shade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4617B">
                    <a:shade val="90000"/>
                  </a:srgbClr>
                </a:solidFill>
              </a:rPr>
              <a:t>CS 40003: Data Analytics</a:t>
            </a:r>
            <a:endParaRPr lang="en-IN" dirty="0">
              <a:solidFill>
                <a:srgbClr val="04617B">
                  <a:shade val="90000"/>
                </a:srgbClr>
              </a:solidFill>
            </a:endParaRPr>
          </a:p>
        </p:txBody>
      </p:sp>
      <p:sp>
        <p:nvSpPr>
          <p:cNvPr id="6" name="Slide Number Placeholder 5"/>
          <p:cNvSpPr>
            <a:spLocks noGrp="1"/>
          </p:cNvSpPr>
          <p:nvPr>
            <p:ph type="sldNum" sz="quarter" idx="12"/>
          </p:nvPr>
        </p:nvSpPr>
        <p:spPr>
          <a:xfrm>
            <a:off x="8113290" y="6356357"/>
            <a:ext cx="780124" cy="365125"/>
          </a:xfrm>
          <a:prstGeom prst="rect">
            <a:avLst/>
          </a:prstGeom>
        </p:spPr>
        <p:txBody>
          <a:bodyPr vert="horz" lIns="0" tIns="0" rIns="0" bIns="0" anchor="b"/>
          <a:lstStyle>
            <a:defPPr>
              <a:defRPr lang="en-US"/>
            </a:defPPr>
            <a:lvl1pPr marL="0" algn="r" defTabSz="914400" rtl="0" eaLnBrk="1" latinLnBrk="0" hangingPunct="1">
              <a:defRPr kumimoji="0" sz="1200" kern="1200">
                <a:solidFill>
                  <a:schemeClr val="tx2">
                    <a:shade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238DB-7230-45D0-89A2-1890D4DEDBDF}" type="slidenum">
              <a:rPr lang="en-IN" smtClean="0">
                <a:solidFill>
                  <a:srgbClr val="04617B">
                    <a:shade val="90000"/>
                  </a:srgbClr>
                </a:solidFill>
              </a:rPr>
              <a:pPr/>
              <a:t>19</a:t>
            </a:fld>
            <a:endParaRPr lang="en-IN" dirty="0">
              <a:solidFill>
                <a:srgbClr val="04617B">
                  <a:shade val="90000"/>
                </a:srgbClr>
              </a:solidFill>
            </a:endParaRPr>
          </a:p>
        </p:txBody>
      </p:sp>
    </p:spTree>
    <p:extLst>
      <p:ext uri="{BB962C8B-B14F-4D97-AF65-F5344CB8AC3E}">
        <p14:creationId xmlns:p14="http://schemas.microsoft.com/office/powerpoint/2010/main" val="3365883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6581" y="95726"/>
            <a:ext cx="6319004" cy="572676"/>
          </a:xfrm>
        </p:spPr>
        <p:txBody>
          <a:bodyPr>
            <a:normAutofit/>
          </a:bodyPr>
          <a:lstStyle/>
          <a:p>
            <a:r>
              <a:rPr lang="en-US" sz="3000" dirty="0">
                <a:solidFill>
                  <a:srgbClr val="A50021"/>
                </a:solidFill>
                <a:latin typeface="Times New Roman" pitchFamily="18" charset="0"/>
                <a:cs typeface="Times New Roman" pitchFamily="18" charset="0"/>
              </a:rPr>
              <a:t>Comments on k-Means algorithm</a:t>
            </a:r>
            <a:endParaRPr lang="en-IN" sz="3000" dirty="0">
              <a:solidFill>
                <a:srgbClr val="A5002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56581" y="668402"/>
                <a:ext cx="6523073" cy="3905754"/>
              </a:xfrm>
            </p:spPr>
            <p:txBody>
              <a:bodyPr>
                <a:noAutofit/>
              </a:bodyPr>
              <a:lstStyle/>
              <a:p>
                <a:pPr algn="just">
                  <a:buClr>
                    <a:srgbClr val="0B5ED7"/>
                  </a:buClr>
                </a:pPr>
                <a:r>
                  <a:rPr lang="en-IN" sz="1500" b="1" dirty="0">
                    <a:solidFill>
                      <a:srgbClr val="0B5ED7"/>
                    </a:solidFill>
                    <a:latin typeface="Times New Roman" pitchFamily="18" charset="0"/>
                    <a:cs typeface="Times New Roman" pitchFamily="18" charset="0"/>
                  </a:rPr>
                  <a:t>5. Complexity analysis of k-Means algorithm</a:t>
                </a:r>
              </a:p>
              <a:p>
                <a:pPr algn="just">
                  <a:buClr>
                    <a:srgbClr val="0B5ED7"/>
                  </a:buClr>
                </a:pPr>
                <a:endParaRPr lang="en-IN" sz="600" dirty="0">
                  <a:latin typeface="Times New Roman" pitchFamily="18" charset="0"/>
                  <a:cs typeface="Times New Roman" pitchFamily="18" charset="0"/>
                </a:endParaRPr>
              </a:p>
              <a:p>
                <a:pPr algn="just">
                  <a:buClr>
                    <a:srgbClr val="0B5ED7"/>
                  </a:buClr>
                </a:pPr>
                <a:r>
                  <a:rPr lang="en-IN" sz="1500" dirty="0">
                    <a:solidFill>
                      <a:srgbClr val="A50021"/>
                    </a:solidFill>
                    <a:latin typeface="Times New Roman" pitchFamily="18" charset="0"/>
                    <a:cs typeface="Times New Roman" pitchFamily="18" charset="0"/>
                  </a:rPr>
                  <a:t>Space complexity: </a:t>
                </a:r>
                <a:r>
                  <a:rPr lang="en-IN" sz="1500" dirty="0">
                    <a:latin typeface="Times New Roman" pitchFamily="18" charset="0"/>
                    <a:cs typeface="Times New Roman" pitchFamily="18" charset="0"/>
                  </a:rPr>
                  <a:t>The storage complexity can be expressed as follows.</a:t>
                </a:r>
              </a:p>
              <a:p>
                <a:pPr algn="just">
                  <a:buClr>
                    <a:srgbClr val="0B5ED7"/>
                  </a:buClr>
                </a:pPr>
                <a:endParaRPr lang="en-IN" sz="600" dirty="0">
                  <a:latin typeface="Times New Roman" pitchFamily="18" charset="0"/>
                  <a:cs typeface="Times New Roman" pitchFamily="18" charset="0"/>
                </a:endParaRPr>
              </a:p>
              <a:p>
                <a:pPr algn="just">
                  <a:buClr>
                    <a:srgbClr val="0B5ED7"/>
                  </a:buClr>
                </a:pPr>
                <a:r>
                  <a:rPr lang="en-IN" sz="1500" dirty="0">
                    <a:latin typeface="Times New Roman" pitchFamily="18" charset="0"/>
                    <a:cs typeface="Times New Roman" pitchFamily="18" charset="0"/>
                  </a:rPr>
                  <a:t>It requires </a:t>
                </a:r>
                <a14:m>
                  <m:oMath xmlns:m="http://schemas.openxmlformats.org/officeDocument/2006/math">
                    <m:r>
                      <a:rPr lang="en-IN" sz="1500" i="1">
                        <a:solidFill>
                          <a:srgbClr val="0B5ED7"/>
                        </a:solidFill>
                        <a:latin typeface="Cambria Math" panose="02040503050406030204" pitchFamily="18" charset="0"/>
                        <a:cs typeface="Times New Roman" pitchFamily="18" charset="0"/>
                      </a:rPr>
                      <m:t>𝑛</m:t>
                    </m:r>
                    <m:r>
                      <a:rPr lang="en-IN" sz="1500" i="1">
                        <a:solidFill>
                          <a:srgbClr val="0B5ED7"/>
                        </a:solidFill>
                        <a:latin typeface="Cambria Math" panose="02040503050406030204" pitchFamily="18" charset="0"/>
                        <a:ea typeface="Cambria Math" panose="02040503050406030204" pitchFamily="18" charset="0"/>
                        <a:cs typeface="Times New Roman" pitchFamily="18" charset="0"/>
                      </a:rPr>
                      <m:t>×</m:t>
                    </m:r>
                    <m:r>
                      <a:rPr lang="en-IN" sz="1500" i="1">
                        <a:solidFill>
                          <a:srgbClr val="0B5ED7"/>
                        </a:solidFill>
                        <a:latin typeface="Cambria Math" panose="02040503050406030204" pitchFamily="18" charset="0"/>
                        <a:ea typeface="Cambria Math" panose="02040503050406030204" pitchFamily="18" charset="0"/>
                        <a:cs typeface="Times New Roman" pitchFamily="18" charset="0"/>
                      </a:rPr>
                      <m:t>𝑚</m:t>
                    </m:r>
                  </m:oMath>
                </a14:m>
                <a:r>
                  <a:rPr lang="en-IN" sz="1500" dirty="0">
                    <a:solidFill>
                      <a:srgbClr val="0B5ED7"/>
                    </a:solidFill>
                    <a:latin typeface="Times New Roman" pitchFamily="18" charset="0"/>
                    <a:cs typeface="Times New Roman" pitchFamily="18" charset="0"/>
                  </a:rPr>
                  <a:t> </a:t>
                </a:r>
                <a:r>
                  <a:rPr lang="en-IN" sz="1500" dirty="0">
                    <a:latin typeface="Times New Roman" pitchFamily="18" charset="0"/>
                    <a:cs typeface="Times New Roman" pitchFamily="18" charset="0"/>
                  </a:rPr>
                  <a:t>space to store the objects and </a:t>
                </a:r>
                <a14:m>
                  <m:oMath xmlns:m="http://schemas.openxmlformats.org/officeDocument/2006/math">
                    <m:r>
                      <a:rPr lang="en-IN" sz="1500" i="1">
                        <a:solidFill>
                          <a:srgbClr val="0B5ED7"/>
                        </a:solidFill>
                        <a:latin typeface="Cambria Math" panose="02040503050406030204" pitchFamily="18" charset="0"/>
                        <a:cs typeface="Times New Roman" pitchFamily="18" charset="0"/>
                      </a:rPr>
                      <m:t>𝑛</m:t>
                    </m:r>
                    <m:r>
                      <a:rPr lang="en-IN" sz="1500" i="1">
                        <a:solidFill>
                          <a:srgbClr val="0B5ED7"/>
                        </a:solidFill>
                        <a:latin typeface="Cambria Math" panose="02040503050406030204" pitchFamily="18" charset="0"/>
                        <a:ea typeface="Cambria Math" panose="02040503050406030204" pitchFamily="18" charset="0"/>
                        <a:cs typeface="Times New Roman" pitchFamily="18" charset="0"/>
                      </a:rPr>
                      <m:t>×</m:t>
                    </m:r>
                    <m:r>
                      <a:rPr lang="en-IN" sz="1500" i="1">
                        <a:solidFill>
                          <a:srgbClr val="0B5ED7"/>
                        </a:solidFill>
                        <a:latin typeface="Cambria Math" panose="02040503050406030204" pitchFamily="18" charset="0"/>
                        <a:ea typeface="Cambria Math" panose="02040503050406030204" pitchFamily="18" charset="0"/>
                        <a:cs typeface="Times New Roman" pitchFamily="18" charset="0"/>
                      </a:rPr>
                      <m:t>𝑘</m:t>
                    </m:r>
                  </m:oMath>
                </a14:m>
                <a:r>
                  <a:rPr lang="en-IN" sz="1500" dirty="0">
                    <a:solidFill>
                      <a:srgbClr val="0B5ED7"/>
                    </a:solidFill>
                    <a:latin typeface="Times New Roman" pitchFamily="18" charset="0"/>
                    <a:cs typeface="Times New Roman" pitchFamily="18" charset="0"/>
                  </a:rPr>
                  <a:t> </a:t>
                </a:r>
                <a:r>
                  <a:rPr lang="en-IN" sz="1500" dirty="0">
                    <a:latin typeface="Times New Roman" pitchFamily="18" charset="0"/>
                    <a:cs typeface="Times New Roman" pitchFamily="18" charset="0"/>
                  </a:rPr>
                  <a:t>space to store the proximity measure from </a:t>
                </a:r>
                <a14:m>
                  <m:oMath xmlns:m="http://schemas.openxmlformats.org/officeDocument/2006/math">
                    <m:r>
                      <a:rPr lang="en-IN" sz="1500" i="1">
                        <a:solidFill>
                          <a:srgbClr val="0B5ED7"/>
                        </a:solidFill>
                        <a:latin typeface="Cambria Math" panose="02040503050406030204" pitchFamily="18" charset="0"/>
                        <a:cs typeface="Times New Roman" pitchFamily="18" charset="0"/>
                      </a:rPr>
                      <m:t>𝑛</m:t>
                    </m:r>
                  </m:oMath>
                </a14:m>
                <a:r>
                  <a:rPr lang="en-IN" sz="1500" dirty="0">
                    <a:latin typeface="Times New Roman" pitchFamily="18" charset="0"/>
                    <a:cs typeface="Times New Roman" pitchFamily="18" charset="0"/>
                  </a:rPr>
                  <a:t> objects to the centroids of </a:t>
                </a:r>
                <a14:m>
                  <m:oMath xmlns:m="http://schemas.openxmlformats.org/officeDocument/2006/math">
                    <m:r>
                      <a:rPr lang="en-IN" sz="1500" i="1">
                        <a:solidFill>
                          <a:srgbClr val="0B5ED7"/>
                        </a:solidFill>
                        <a:latin typeface="Cambria Math" panose="02040503050406030204" pitchFamily="18" charset="0"/>
                        <a:cs typeface="Times New Roman" pitchFamily="18" charset="0"/>
                      </a:rPr>
                      <m:t>𝑘</m:t>
                    </m:r>
                  </m:oMath>
                </a14:m>
                <a:r>
                  <a:rPr lang="en-IN" sz="1500" dirty="0">
                    <a:latin typeface="Times New Roman" pitchFamily="18" charset="0"/>
                    <a:cs typeface="Times New Roman" pitchFamily="18" charset="0"/>
                  </a:rPr>
                  <a:t> clusters. </a:t>
                </a:r>
              </a:p>
              <a:p>
                <a:pPr algn="just">
                  <a:buClr>
                    <a:srgbClr val="0B5ED7"/>
                  </a:buClr>
                </a:pPr>
                <a:endParaRPr lang="en-IN" sz="600" dirty="0">
                  <a:latin typeface="Times New Roman" pitchFamily="18" charset="0"/>
                  <a:cs typeface="Times New Roman" pitchFamily="18" charset="0"/>
                </a:endParaRPr>
              </a:p>
              <a:p>
                <a:pPr algn="just">
                  <a:buClr>
                    <a:srgbClr val="0B5ED7"/>
                  </a:buClr>
                </a:pPr>
                <a:r>
                  <a:rPr lang="en-IN" sz="1500" dirty="0">
                    <a:latin typeface="Times New Roman" pitchFamily="18" charset="0"/>
                    <a:cs typeface="Times New Roman" pitchFamily="18" charset="0"/>
                  </a:rPr>
                  <a:t>Thus the total storage complexity is</a:t>
                </a:r>
              </a:p>
              <a:p>
                <a:pPr algn="just">
                  <a:buClr>
                    <a:srgbClr val="0B5ED7"/>
                  </a:buClr>
                </a:pPr>
                <a:endParaRPr lang="en-IN" sz="1500" dirty="0">
                  <a:latin typeface="Times New Roman" pitchFamily="18" charset="0"/>
                  <a:cs typeface="Times New Roman" pitchFamily="18" charset="0"/>
                </a:endParaRPr>
              </a:p>
              <a:p>
                <a:pPr algn="just">
                  <a:buClr>
                    <a:srgbClr val="0B5ED7"/>
                  </a:buClr>
                </a:pPr>
                <a:endParaRPr lang="en-IN" sz="600" dirty="0">
                  <a:latin typeface="Times New Roman" pitchFamily="18" charset="0"/>
                  <a:cs typeface="Times New Roman" pitchFamily="18" charset="0"/>
                </a:endParaRPr>
              </a:p>
              <a:p>
                <a:pPr algn="just">
                  <a:buClr>
                    <a:srgbClr val="0B5ED7"/>
                  </a:buClr>
                </a:pPr>
                <a14:m>
                  <m:oMathPara xmlns:m="http://schemas.openxmlformats.org/officeDocument/2006/math">
                    <m:oMathParaPr>
                      <m:jc m:val="centerGroup"/>
                    </m:oMathParaPr>
                    <m:oMath xmlns:m="http://schemas.openxmlformats.org/officeDocument/2006/math">
                      <m:r>
                        <a:rPr lang="en-IN" sz="1200" i="1">
                          <a:solidFill>
                            <a:srgbClr val="0B5ED7"/>
                          </a:solidFill>
                          <a:latin typeface="Cambria Math" panose="02040503050406030204" pitchFamily="18" charset="0"/>
                          <a:cs typeface="Times New Roman" pitchFamily="18" charset="0"/>
                        </a:rPr>
                        <m:t>𝑆</m:t>
                      </m:r>
                      <m:d>
                        <m:dPr>
                          <m:ctrlPr>
                            <a:rPr lang="en-IN" sz="1200" i="1">
                              <a:solidFill>
                                <a:srgbClr val="0B5ED7"/>
                              </a:solidFill>
                              <a:latin typeface="Cambria Math" panose="02040503050406030204" pitchFamily="18" charset="0"/>
                              <a:cs typeface="Times New Roman" pitchFamily="18" charset="0"/>
                            </a:rPr>
                          </m:ctrlPr>
                        </m:dPr>
                        <m:e>
                          <m:r>
                            <a:rPr lang="en-IN" sz="1200" i="1">
                              <a:solidFill>
                                <a:srgbClr val="0B5ED7"/>
                              </a:solidFill>
                              <a:latin typeface="Cambria Math" panose="02040503050406030204" pitchFamily="18" charset="0"/>
                              <a:cs typeface="Times New Roman" pitchFamily="18" charset="0"/>
                            </a:rPr>
                            <m:t>𝑛</m:t>
                          </m:r>
                        </m:e>
                      </m:d>
                      <m:r>
                        <a:rPr lang="en-IN" sz="1200" i="1">
                          <a:solidFill>
                            <a:srgbClr val="0B5ED7"/>
                          </a:solidFill>
                          <a:latin typeface="Cambria Math" panose="02040503050406030204" pitchFamily="18" charset="0"/>
                          <a:cs typeface="Times New Roman" pitchFamily="18" charset="0"/>
                        </a:rPr>
                        <m:t>=</m:t>
                      </m:r>
                      <m:r>
                        <a:rPr lang="en-IN" sz="1200" i="1">
                          <a:solidFill>
                            <a:srgbClr val="0B5ED7"/>
                          </a:solidFill>
                          <a:latin typeface="Cambria Math" panose="02040503050406030204" pitchFamily="18" charset="0"/>
                          <a:cs typeface="Times New Roman" pitchFamily="18" charset="0"/>
                        </a:rPr>
                        <m:t>𝑂</m:t>
                      </m:r>
                      <m:d>
                        <m:dPr>
                          <m:ctrlPr>
                            <a:rPr lang="en-IN" sz="1200" i="1">
                              <a:solidFill>
                                <a:srgbClr val="0B5ED7"/>
                              </a:solidFill>
                              <a:latin typeface="Cambria Math" panose="02040503050406030204" pitchFamily="18" charset="0"/>
                              <a:cs typeface="Times New Roman" pitchFamily="18" charset="0"/>
                            </a:rPr>
                          </m:ctrlPr>
                        </m:dPr>
                        <m:e>
                          <m:r>
                            <a:rPr lang="en-IN" sz="1200" i="1">
                              <a:solidFill>
                                <a:srgbClr val="0B5ED7"/>
                              </a:solidFill>
                              <a:latin typeface="Cambria Math" panose="02040503050406030204" pitchFamily="18" charset="0"/>
                              <a:cs typeface="Times New Roman" pitchFamily="18" charset="0"/>
                            </a:rPr>
                            <m:t>𝑛</m:t>
                          </m:r>
                          <m:r>
                            <a:rPr lang="en-IN" sz="1200" i="1">
                              <a:solidFill>
                                <a:srgbClr val="0B5ED7"/>
                              </a:solidFill>
                              <a:latin typeface="Cambria Math" panose="02040503050406030204" pitchFamily="18" charset="0"/>
                              <a:ea typeface="Cambria Math" panose="02040503050406030204" pitchFamily="18" charset="0"/>
                              <a:cs typeface="Times New Roman" pitchFamily="18" charset="0"/>
                            </a:rPr>
                            <m:t>×(</m:t>
                          </m:r>
                          <m:r>
                            <a:rPr lang="en-IN" sz="1200" i="1">
                              <a:solidFill>
                                <a:srgbClr val="0B5ED7"/>
                              </a:solidFill>
                              <a:latin typeface="Cambria Math" panose="02040503050406030204" pitchFamily="18" charset="0"/>
                              <a:ea typeface="Cambria Math" panose="02040503050406030204" pitchFamily="18" charset="0"/>
                              <a:cs typeface="Times New Roman" pitchFamily="18" charset="0"/>
                            </a:rPr>
                            <m:t>𝑚</m:t>
                          </m:r>
                          <m:r>
                            <a:rPr lang="en-IN" sz="1200" i="1">
                              <a:solidFill>
                                <a:srgbClr val="0B5ED7"/>
                              </a:solidFill>
                              <a:latin typeface="Cambria Math" panose="02040503050406030204" pitchFamily="18" charset="0"/>
                              <a:ea typeface="Cambria Math" panose="02040503050406030204" pitchFamily="18" charset="0"/>
                              <a:cs typeface="Times New Roman" pitchFamily="18" charset="0"/>
                            </a:rPr>
                            <m:t>+</m:t>
                          </m:r>
                          <m:r>
                            <a:rPr lang="en-IN" sz="1200" i="1">
                              <a:solidFill>
                                <a:srgbClr val="0B5ED7"/>
                              </a:solidFill>
                              <a:latin typeface="Cambria Math" panose="02040503050406030204" pitchFamily="18" charset="0"/>
                              <a:ea typeface="Cambria Math" panose="02040503050406030204" pitchFamily="18" charset="0"/>
                              <a:cs typeface="Times New Roman" pitchFamily="18" charset="0"/>
                            </a:rPr>
                            <m:t>𝑘</m:t>
                          </m:r>
                          <m:r>
                            <a:rPr lang="en-IN" sz="1200" i="1">
                              <a:solidFill>
                                <a:srgbClr val="0B5ED7"/>
                              </a:solidFill>
                              <a:latin typeface="Cambria Math" panose="02040503050406030204" pitchFamily="18" charset="0"/>
                              <a:ea typeface="Cambria Math" panose="02040503050406030204" pitchFamily="18" charset="0"/>
                              <a:cs typeface="Times New Roman" pitchFamily="18" charset="0"/>
                            </a:rPr>
                            <m:t>)</m:t>
                          </m:r>
                        </m:e>
                      </m:d>
                    </m:oMath>
                  </m:oMathPara>
                </a14:m>
                <a:endParaRPr lang="en-IN" sz="1200" dirty="0">
                  <a:solidFill>
                    <a:srgbClr val="A50021"/>
                  </a:solidFill>
                  <a:latin typeface="Times New Roman" pitchFamily="18" charset="0"/>
                  <a:ea typeface="Cambria Math" panose="02040503050406030204" pitchFamily="18" charset="0"/>
                  <a:cs typeface="Times New Roman" pitchFamily="18" charset="0"/>
                </a:endParaRPr>
              </a:p>
              <a:p>
                <a:pPr algn="just">
                  <a:buClr>
                    <a:srgbClr val="0B5ED7"/>
                  </a:buClr>
                </a:pPr>
                <a:endParaRPr lang="en-US" sz="1200" dirty="0">
                  <a:latin typeface="Times New Roman" pitchFamily="18" charset="0"/>
                  <a:cs typeface="Times New Roman" pitchFamily="18" charset="0"/>
                </a:endParaRPr>
              </a:p>
              <a:p>
                <a:pPr algn="just">
                  <a:buClr>
                    <a:srgbClr val="0B5ED7"/>
                  </a:buClr>
                </a:pPr>
                <a:r>
                  <a:rPr lang="en-IN" sz="1500" dirty="0">
                    <a:latin typeface="Times New Roman" panose="02020603050405020304" pitchFamily="18" charset="0"/>
                    <a:cs typeface="Times New Roman" panose="02020603050405020304" pitchFamily="18" charset="0"/>
                  </a:rPr>
                  <a:t>That is, space requirement is in the linear order of </a:t>
                </a:r>
                <a14:m>
                  <m:oMath xmlns:m="http://schemas.openxmlformats.org/officeDocument/2006/math">
                    <m:r>
                      <a:rPr lang="en-IN" sz="1500" i="1">
                        <a:latin typeface="Cambria Math" panose="02040503050406030204" pitchFamily="18" charset="0"/>
                        <a:cs typeface="Times New Roman" pitchFamily="18" charset="0"/>
                      </a:rPr>
                      <m:t>𝑛</m:t>
                    </m:r>
                  </m:oMath>
                </a14:m>
                <a:r>
                  <a:rPr lang="en-IN" sz="1500" dirty="0">
                    <a:latin typeface="Times New Roman" panose="02020603050405020304" pitchFamily="18" charset="0"/>
                    <a:cs typeface="Times New Roman" panose="02020603050405020304" pitchFamily="18" charset="0"/>
                  </a:rPr>
                  <a:t> if</a:t>
                </a:r>
                <a:r>
                  <a:rPr lang="en-IN" sz="1500" dirty="0">
                    <a:solidFill>
                      <a:srgbClr val="0B5ED7"/>
                    </a:solidFill>
                    <a:latin typeface="Times New Roman" panose="02020603050405020304" pitchFamily="18" charset="0"/>
                    <a:cs typeface="Times New Roman" panose="02020603050405020304" pitchFamily="18" charset="0"/>
                  </a:rPr>
                  <a:t> </a:t>
                </a:r>
                <a14:m>
                  <m:oMath xmlns:m="http://schemas.openxmlformats.org/officeDocument/2006/math">
                    <m:r>
                      <a:rPr lang="en-IN" sz="1500" i="1">
                        <a:solidFill>
                          <a:srgbClr val="0B5ED7"/>
                        </a:solidFill>
                        <a:latin typeface="Cambria Math" panose="02040503050406030204" pitchFamily="18" charset="0"/>
                        <a:cs typeface="Times New Roman" pitchFamily="18" charset="0"/>
                      </a:rPr>
                      <m:t>𝑘</m:t>
                    </m:r>
                    <m:r>
                      <a:rPr lang="en-IN" sz="1500" i="1">
                        <a:solidFill>
                          <a:srgbClr val="0B5ED7"/>
                        </a:solidFill>
                        <a:latin typeface="Cambria Math" panose="02040503050406030204" pitchFamily="18" charset="0"/>
                        <a:cs typeface="Times New Roman" pitchFamily="18" charset="0"/>
                      </a:rPr>
                      <m:t>≪</m:t>
                    </m:r>
                    <m:r>
                      <a:rPr lang="en-IN" sz="1500" i="1">
                        <a:solidFill>
                          <a:srgbClr val="0B5ED7"/>
                        </a:solidFill>
                        <a:latin typeface="Cambria Math" panose="02040503050406030204" pitchFamily="18" charset="0"/>
                        <a:cs typeface="Times New Roman" pitchFamily="18" charset="0"/>
                      </a:rPr>
                      <m:t>𝑛</m:t>
                    </m:r>
                  </m:oMath>
                </a14:m>
                <a:r>
                  <a:rPr lang="en-US" sz="1500" dirty="0">
                    <a:latin typeface="Times New Roman" pitchFamily="18" charset="0"/>
                    <a:cs typeface="Times New Roman" pitchFamily="18" charset="0"/>
                  </a:rPr>
                  <a:t>.</a:t>
                </a:r>
              </a:p>
              <a:p>
                <a:endParaRPr lang="en-US" sz="1500" dirty="0">
                  <a:solidFill>
                    <a:srgbClr val="800000"/>
                  </a:solidFill>
                  <a:cs typeface="Times New Roman" pitchFamily="18" charset="0"/>
                </a:endParaRPr>
              </a:p>
              <a:p>
                <a:pPr algn="just"/>
                <a:endParaRPr lang="en-US" sz="1500" dirty="0">
                  <a:latin typeface="Times New Roman" pitchFamily="18" charset="0"/>
                  <a:cs typeface="Times New Roman" pitchFamily="18" charset="0"/>
                </a:endParaRPr>
              </a:p>
              <a:p>
                <a:pPr algn="just"/>
                <a:endParaRPr lang="en-US" sz="1500" dirty="0">
                  <a:latin typeface="Times New Roman" pitchFamily="18" charset="0"/>
                  <a:cs typeface="Times New Roman" pitchFamily="18" charset="0"/>
                </a:endParaRPr>
              </a:p>
              <a:p>
                <a:pPr algn="just"/>
                <a:endParaRPr lang="en-US" sz="1500" dirty="0">
                  <a:solidFill>
                    <a:srgbClr val="0B5ED7"/>
                  </a:solidFill>
                  <a:latin typeface="Times New Roman" pitchFamily="18" charset="0"/>
                  <a:cs typeface="Times New Roman" pitchFamily="18" charset="0"/>
                </a:endParaRPr>
              </a:p>
              <a:p>
                <a:pPr algn="just"/>
                <a:endParaRPr lang="en-US" sz="1500" dirty="0">
                  <a:solidFill>
                    <a:srgbClr val="0B5ED7"/>
                  </a:solidFill>
                  <a:latin typeface="Times New Roman" pitchFamily="18" charset="0"/>
                  <a:cs typeface="Times New Roman" pitchFamily="18" charset="0"/>
                </a:endParaRPr>
              </a:p>
              <a:p>
                <a:pPr algn="just"/>
                <a:endParaRPr lang="en-US" sz="1500" dirty="0">
                  <a:solidFill>
                    <a:srgbClr val="0B5ED7"/>
                  </a:solidFill>
                  <a:latin typeface="Times New Roman" pitchFamily="18" charset="0"/>
                  <a:cs typeface="Times New Roman" pitchFamily="18" charset="0"/>
                </a:endParaRPr>
              </a:p>
              <a:p>
                <a:pPr algn="just"/>
                <a:endParaRPr lang="en-US" sz="1500" dirty="0">
                  <a:latin typeface="Times New Roman" pitchFamily="18" charset="0"/>
                  <a:cs typeface="Times New Roman" pitchFamily="18" charset="0"/>
                </a:endParaRPr>
              </a:p>
              <a:p>
                <a:pPr algn="just"/>
                <a:endParaRPr lang="en-US" sz="1500" dirty="0">
                  <a:latin typeface="Times New Roman" pitchFamily="18" charset="0"/>
                  <a:cs typeface="Times New Roman" pitchFamily="18" charset="0"/>
                </a:endParaRPr>
              </a:p>
              <a:p>
                <a:pPr algn="just"/>
                <a:endParaRPr lang="en-US" sz="15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56581" y="668402"/>
                <a:ext cx="6523073" cy="3905754"/>
              </a:xfrm>
              <a:blipFill>
                <a:blip r:embed="rId2"/>
                <a:stretch>
                  <a:fillRect l="-1776" t="-1563" r="-1776"/>
                </a:stretch>
              </a:blipFill>
            </p:spPr>
            <p:txBody>
              <a:bodyPr/>
              <a:lstStyle/>
              <a:p>
                <a:r>
                  <a:rPr lang="en-IN">
                    <a:noFill/>
                  </a:rPr>
                  <a:t> </a:t>
                </a:r>
              </a:p>
            </p:txBody>
          </p:sp>
        </mc:Fallback>
      </mc:AlternateContent>
      <p:sp>
        <p:nvSpPr>
          <p:cNvPr id="4" name="Date Placeholder 3"/>
          <p:cNvSpPr>
            <a:spLocks noGrp="1"/>
          </p:cNvSpPr>
          <p:nvPr>
            <p:ph type="dt" sz="half" idx="10"/>
          </p:nvPr>
        </p:nvSpPr>
        <p:spPr>
          <a:xfrm>
            <a:off x="468078" y="6356357"/>
            <a:ext cx="2184347" cy="365125"/>
          </a:xfrm>
          <a:prstGeom prst="rect">
            <a:avLst/>
          </a:prstGeom>
        </p:spPr>
        <p:txBody>
          <a:bodyPr vert="horz" lIns="0" tIns="0" rIns="0" bIns="0" anchor="b"/>
          <a:lstStyle>
            <a:defPPr>
              <a:defRPr lang="en-US"/>
            </a:defPPr>
            <a:lvl1pPr marL="0" algn="l" defTabSz="914400" rtl="0" eaLnBrk="1" latinLnBrk="0" hangingPunct="1">
              <a:defRPr kumimoji="0" sz="1200" kern="1200">
                <a:solidFill>
                  <a:schemeClr val="tx2">
                    <a:shade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4617B">
                    <a:shade val="90000"/>
                  </a:srgbClr>
                </a:solidFill>
              </a:rPr>
              <a:t>CS 40003: Data Analytics</a:t>
            </a:r>
            <a:endParaRPr lang="en-IN" dirty="0">
              <a:solidFill>
                <a:srgbClr val="04617B">
                  <a:shade val="90000"/>
                </a:srgbClr>
              </a:solidFill>
            </a:endParaRPr>
          </a:p>
        </p:txBody>
      </p:sp>
      <p:sp>
        <p:nvSpPr>
          <p:cNvPr id="6" name="Slide Number Placeholder 5"/>
          <p:cNvSpPr>
            <a:spLocks noGrp="1"/>
          </p:cNvSpPr>
          <p:nvPr>
            <p:ph type="sldNum" sz="quarter" idx="12"/>
          </p:nvPr>
        </p:nvSpPr>
        <p:spPr>
          <a:xfrm>
            <a:off x="8113290" y="6356357"/>
            <a:ext cx="780124" cy="365125"/>
          </a:xfrm>
          <a:prstGeom prst="rect">
            <a:avLst/>
          </a:prstGeom>
        </p:spPr>
        <p:txBody>
          <a:bodyPr vert="horz" lIns="0" tIns="0" rIns="0" bIns="0" anchor="b"/>
          <a:lstStyle>
            <a:defPPr>
              <a:defRPr lang="en-US"/>
            </a:defPPr>
            <a:lvl1pPr marL="0" algn="r" defTabSz="914400" rtl="0" eaLnBrk="1" latinLnBrk="0" hangingPunct="1">
              <a:defRPr kumimoji="0" sz="1200" kern="1200">
                <a:solidFill>
                  <a:schemeClr val="tx2">
                    <a:shade val="9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D238DB-7230-45D0-89A2-1890D4DEDBDF}" type="slidenum">
              <a:rPr lang="en-IN" smtClean="0">
                <a:solidFill>
                  <a:srgbClr val="04617B">
                    <a:shade val="90000"/>
                  </a:srgbClr>
                </a:solidFill>
              </a:rPr>
              <a:pPr/>
              <a:t>20</a:t>
            </a:fld>
            <a:endParaRPr lang="en-IN" dirty="0">
              <a:solidFill>
                <a:srgbClr val="04617B">
                  <a:shade val="90000"/>
                </a:srgbClr>
              </a:solidFill>
            </a:endParaRPr>
          </a:p>
        </p:txBody>
      </p:sp>
    </p:spTree>
    <p:extLst>
      <p:ext uri="{BB962C8B-B14F-4D97-AF65-F5344CB8AC3E}">
        <p14:creationId xmlns:p14="http://schemas.microsoft.com/office/powerpoint/2010/main" val="1678405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639EE-B870-43FD-9D74-AEBDB5CA4688}"/>
              </a:ext>
            </a:extLst>
          </p:cNvPr>
          <p:cNvSpPr>
            <a:spLocks noGrp="1"/>
          </p:cNvSpPr>
          <p:nvPr>
            <p:ph type="title"/>
          </p:nvPr>
        </p:nvSpPr>
        <p:spPr/>
        <p:txBody>
          <a:bodyPr/>
          <a:lstStyle/>
          <a:p>
            <a:r>
              <a:rPr lang="en-US" dirty="0"/>
              <a:t>Advantages of K means</a:t>
            </a:r>
            <a:endParaRPr lang="en-IN" dirty="0"/>
          </a:p>
        </p:txBody>
      </p:sp>
      <p:sp>
        <p:nvSpPr>
          <p:cNvPr id="3" name="Text Placeholder 2">
            <a:extLst>
              <a:ext uri="{FF2B5EF4-FFF2-40B4-BE49-F238E27FC236}">
                <a16:creationId xmlns:a16="http://schemas.microsoft.com/office/drawing/2014/main" id="{B6C5674E-8DD6-412C-8C91-5402EF69637F}"/>
              </a:ext>
            </a:extLst>
          </p:cNvPr>
          <p:cNvSpPr>
            <a:spLocks noGrp="1"/>
          </p:cNvSpPr>
          <p:nvPr>
            <p:ph type="body" idx="1"/>
          </p:nvPr>
        </p:nvSpPr>
        <p:spPr/>
        <p:txBody>
          <a:bodyPr/>
          <a:lstStyle/>
          <a:p>
            <a:pPr marL="285750" indent="-285750">
              <a:buFont typeface="Arial" panose="020B0604020202020204" pitchFamily="34" charset="0"/>
              <a:buChar char="•"/>
            </a:pPr>
            <a:r>
              <a:rPr lang="en-US" dirty="0"/>
              <a:t>Fast and robust easy to understand.</a:t>
            </a:r>
          </a:p>
          <a:p>
            <a:pPr marL="285750" indent="-285750">
              <a:buFont typeface="Arial" panose="020B0604020202020204" pitchFamily="34" charset="0"/>
              <a:buChar char="•"/>
            </a:pPr>
            <a:r>
              <a:rPr lang="en-US" dirty="0"/>
              <a:t>Relatively efficient.</a:t>
            </a:r>
          </a:p>
          <a:p>
            <a:pPr marL="285750" indent="-285750">
              <a:buFont typeface="Arial" panose="020B0604020202020204" pitchFamily="34" charset="0"/>
              <a:buChar char="•"/>
            </a:pPr>
            <a:r>
              <a:rPr lang="en-US" dirty="0"/>
              <a:t>Gives best result when data set are distinct or well separated from each other.</a:t>
            </a:r>
          </a:p>
          <a:p>
            <a:pPr marL="285750" indent="-285750">
              <a:buFont typeface="Arial" panose="020B0604020202020204" pitchFamily="34" charset="0"/>
              <a:buChar char="•"/>
            </a:pPr>
            <a:r>
              <a:rPr lang="en-US" sz="1800" spc="-5" dirty="0">
                <a:latin typeface="Carlito"/>
                <a:cs typeface="Carlito"/>
              </a:rPr>
              <a:t>These </a:t>
            </a:r>
            <a:r>
              <a:rPr lang="en-US" sz="1800" dirty="0">
                <a:latin typeface="Carlito"/>
                <a:cs typeface="Carlito"/>
              </a:rPr>
              <a:t>methods </a:t>
            </a:r>
            <a:r>
              <a:rPr lang="en-US" sz="1800" spc="-15" dirty="0">
                <a:latin typeface="Carlito"/>
                <a:cs typeface="Carlito"/>
              </a:rPr>
              <a:t>are  </a:t>
            </a:r>
            <a:r>
              <a:rPr lang="en-US" sz="1800" spc="-10" dirty="0">
                <a:latin typeface="Carlito"/>
                <a:cs typeface="Carlito"/>
              </a:rPr>
              <a:t>generally </a:t>
            </a:r>
            <a:r>
              <a:rPr lang="en-US" sz="1800" spc="-5" dirty="0">
                <a:latin typeface="Carlito"/>
                <a:cs typeface="Carlito"/>
              </a:rPr>
              <a:t>less  </a:t>
            </a:r>
            <a:r>
              <a:rPr lang="en-US" sz="1800" spc="-10" dirty="0">
                <a:latin typeface="Carlito"/>
                <a:cs typeface="Carlito"/>
              </a:rPr>
              <a:t>computationally intensive  </a:t>
            </a:r>
            <a:r>
              <a:rPr lang="en-US" sz="1800" dirty="0">
                <a:latin typeface="Carlito"/>
                <a:cs typeface="Carlito"/>
              </a:rPr>
              <a:t>and </a:t>
            </a:r>
            <a:r>
              <a:rPr lang="en-US" sz="1800" spc="-10" dirty="0">
                <a:latin typeface="Carlito"/>
                <a:cs typeface="Carlito"/>
              </a:rPr>
              <a:t>are </a:t>
            </a:r>
            <a:r>
              <a:rPr lang="en-US" sz="1800" spc="-20" dirty="0">
                <a:latin typeface="Carlito"/>
                <a:cs typeface="Carlito"/>
              </a:rPr>
              <a:t>therefore preferred  </a:t>
            </a:r>
            <a:r>
              <a:rPr lang="en-US" sz="1800" dirty="0">
                <a:latin typeface="Carlito"/>
                <a:cs typeface="Carlito"/>
              </a:rPr>
              <a:t>with </a:t>
            </a:r>
            <a:r>
              <a:rPr lang="en-US" sz="1800" spc="-5" dirty="0">
                <a:latin typeface="Carlito"/>
                <a:cs typeface="Carlito"/>
              </a:rPr>
              <a:t>very </a:t>
            </a:r>
            <a:r>
              <a:rPr lang="en-US" sz="1800" spc="-15" dirty="0">
                <a:latin typeface="Carlito"/>
                <a:cs typeface="Carlito"/>
              </a:rPr>
              <a:t>large</a:t>
            </a:r>
            <a:r>
              <a:rPr lang="en-US" sz="1800" spc="-20" dirty="0">
                <a:latin typeface="Carlito"/>
                <a:cs typeface="Carlito"/>
              </a:rPr>
              <a:t> </a:t>
            </a:r>
            <a:r>
              <a:rPr lang="en-US" sz="1800" spc="-10" dirty="0">
                <a:latin typeface="Carlito"/>
                <a:cs typeface="Carlito"/>
              </a:rPr>
              <a:t>datasets.</a:t>
            </a:r>
            <a:endParaRPr lang="en-US" sz="1800" dirty="0">
              <a:latin typeface="Carlito"/>
              <a:cs typeface="Carlito"/>
            </a:endParaRP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288767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639EE-B870-43FD-9D74-AEBDB5CA4688}"/>
              </a:ext>
            </a:extLst>
          </p:cNvPr>
          <p:cNvSpPr>
            <a:spLocks noGrp="1"/>
          </p:cNvSpPr>
          <p:nvPr>
            <p:ph type="title"/>
          </p:nvPr>
        </p:nvSpPr>
        <p:spPr/>
        <p:txBody>
          <a:bodyPr/>
          <a:lstStyle/>
          <a:p>
            <a:r>
              <a:rPr lang="en-US" dirty="0"/>
              <a:t>Advantages of K means</a:t>
            </a:r>
            <a:endParaRPr lang="en-IN" dirty="0"/>
          </a:p>
        </p:txBody>
      </p:sp>
      <p:sp>
        <p:nvSpPr>
          <p:cNvPr id="3" name="Text Placeholder 2">
            <a:extLst>
              <a:ext uri="{FF2B5EF4-FFF2-40B4-BE49-F238E27FC236}">
                <a16:creationId xmlns:a16="http://schemas.microsoft.com/office/drawing/2014/main" id="{B6C5674E-8DD6-412C-8C91-5402EF69637F}"/>
              </a:ext>
            </a:extLst>
          </p:cNvPr>
          <p:cNvSpPr>
            <a:spLocks noGrp="1"/>
          </p:cNvSpPr>
          <p:nvPr>
            <p:ph type="body" idx="1"/>
          </p:nvPr>
        </p:nvSpPr>
        <p:spPr/>
        <p:txBody>
          <a:bodyPr/>
          <a:lstStyle/>
          <a:p>
            <a:pPr marL="285750" indent="-285750">
              <a:buFont typeface="Arial" panose="020B0604020202020204" pitchFamily="34" charset="0"/>
              <a:buChar char="•"/>
            </a:pPr>
            <a:r>
              <a:rPr lang="en-US" dirty="0"/>
              <a:t>Fast and robust easy to understand.</a:t>
            </a:r>
          </a:p>
          <a:p>
            <a:pPr marL="285750" indent="-285750">
              <a:buFont typeface="Arial" panose="020B0604020202020204" pitchFamily="34" charset="0"/>
              <a:buChar char="•"/>
            </a:pPr>
            <a:r>
              <a:rPr lang="en-US" dirty="0"/>
              <a:t>Relatively efficient.</a:t>
            </a:r>
          </a:p>
          <a:p>
            <a:pPr marL="285750" indent="-285750">
              <a:buFont typeface="Arial" panose="020B0604020202020204" pitchFamily="34" charset="0"/>
              <a:buChar char="•"/>
            </a:pPr>
            <a:r>
              <a:rPr lang="en-US" dirty="0"/>
              <a:t>Gives best result when data set are distinct or well separated from each other.</a:t>
            </a:r>
          </a:p>
          <a:p>
            <a:pPr marL="285750" indent="-285750">
              <a:buFont typeface="Arial" panose="020B0604020202020204" pitchFamily="34" charset="0"/>
              <a:buChar char="•"/>
            </a:pPr>
            <a:r>
              <a:rPr lang="en-US" sz="1800" spc="-5" dirty="0">
                <a:latin typeface="Carlito"/>
                <a:cs typeface="Carlito"/>
              </a:rPr>
              <a:t>These </a:t>
            </a:r>
            <a:r>
              <a:rPr lang="en-US" sz="1800" dirty="0">
                <a:latin typeface="Carlito"/>
                <a:cs typeface="Carlito"/>
              </a:rPr>
              <a:t>methods </a:t>
            </a:r>
            <a:r>
              <a:rPr lang="en-US" sz="1800" spc="-15" dirty="0">
                <a:latin typeface="Carlito"/>
                <a:cs typeface="Carlito"/>
              </a:rPr>
              <a:t>are  </a:t>
            </a:r>
            <a:r>
              <a:rPr lang="en-US" sz="1800" spc="-10" dirty="0">
                <a:latin typeface="Carlito"/>
                <a:cs typeface="Carlito"/>
              </a:rPr>
              <a:t>generally </a:t>
            </a:r>
            <a:r>
              <a:rPr lang="en-US" sz="1800" spc="-5" dirty="0">
                <a:latin typeface="Carlito"/>
                <a:cs typeface="Carlito"/>
              </a:rPr>
              <a:t>less  </a:t>
            </a:r>
            <a:r>
              <a:rPr lang="en-US" sz="1800" spc="-10" dirty="0">
                <a:latin typeface="Carlito"/>
                <a:cs typeface="Carlito"/>
              </a:rPr>
              <a:t>computationally intensive  </a:t>
            </a:r>
            <a:r>
              <a:rPr lang="en-US" sz="1800" dirty="0">
                <a:latin typeface="Carlito"/>
                <a:cs typeface="Carlito"/>
              </a:rPr>
              <a:t>and </a:t>
            </a:r>
            <a:r>
              <a:rPr lang="en-US" sz="1800" spc="-10" dirty="0">
                <a:latin typeface="Carlito"/>
                <a:cs typeface="Carlito"/>
              </a:rPr>
              <a:t>are </a:t>
            </a:r>
            <a:r>
              <a:rPr lang="en-US" sz="1800" spc="-20" dirty="0">
                <a:latin typeface="Carlito"/>
                <a:cs typeface="Carlito"/>
              </a:rPr>
              <a:t>therefore preferred  </a:t>
            </a:r>
            <a:r>
              <a:rPr lang="en-US" sz="1800" dirty="0">
                <a:latin typeface="Carlito"/>
                <a:cs typeface="Carlito"/>
              </a:rPr>
              <a:t>with </a:t>
            </a:r>
            <a:r>
              <a:rPr lang="en-US" sz="1800" spc="-5" dirty="0">
                <a:latin typeface="Carlito"/>
                <a:cs typeface="Carlito"/>
              </a:rPr>
              <a:t>very </a:t>
            </a:r>
            <a:r>
              <a:rPr lang="en-US" sz="1800" spc="-15" dirty="0">
                <a:latin typeface="Carlito"/>
                <a:cs typeface="Carlito"/>
              </a:rPr>
              <a:t>large</a:t>
            </a:r>
            <a:r>
              <a:rPr lang="en-US" sz="1800" spc="-20" dirty="0">
                <a:latin typeface="Carlito"/>
                <a:cs typeface="Carlito"/>
              </a:rPr>
              <a:t> </a:t>
            </a:r>
            <a:r>
              <a:rPr lang="en-US" sz="1800" spc="-10" dirty="0">
                <a:latin typeface="Carlito"/>
                <a:cs typeface="Carlito"/>
              </a:rPr>
              <a:t>datasets.</a:t>
            </a:r>
            <a:endParaRPr lang="en-US" sz="1800" dirty="0">
              <a:latin typeface="Carlito"/>
              <a:cs typeface="Carlito"/>
            </a:endParaRP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851736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639EE-B870-43FD-9D74-AEBDB5CA4688}"/>
              </a:ext>
            </a:extLst>
          </p:cNvPr>
          <p:cNvSpPr>
            <a:spLocks noGrp="1"/>
          </p:cNvSpPr>
          <p:nvPr>
            <p:ph type="title"/>
          </p:nvPr>
        </p:nvSpPr>
        <p:spPr/>
        <p:txBody>
          <a:bodyPr/>
          <a:lstStyle/>
          <a:p>
            <a:r>
              <a:rPr lang="en-US" dirty="0"/>
              <a:t>Advantages of K means</a:t>
            </a:r>
            <a:endParaRPr lang="en-IN" dirty="0"/>
          </a:p>
        </p:txBody>
      </p:sp>
      <p:sp>
        <p:nvSpPr>
          <p:cNvPr id="3" name="Text Placeholder 2">
            <a:extLst>
              <a:ext uri="{FF2B5EF4-FFF2-40B4-BE49-F238E27FC236}">
                <a16:creationId xmlns:a16="http://schemas.microsoft.com/office/drawing/2014/main" id="{B6C5674E-8DD6-412C-8C91-5402EF69637F}"/>
              </a:ext>
            </a:extLst>
          </p:cNvPr>
          <p:cNvSpPr>
            <a:spLocks noGrp="1"/>
          </p:cNvSpPr>
          <p:nvPr>
            <p:ph type="body" idx="1"/>
          </p:nvPr>
        </p:nvSpPr>
        <p:spPr/>
        <p:txBody>
          <a:bodyPr/>
          <a:lstStyle/>
          <a:p>
            <a:pPr marL="285750" indent="-285750" algn="l">
              <a:buFont typeface="Arial" panose="020B0604020202020204" pitchFamily="34" charset="0"/>
              <a:buChar char="•"/>
            </a:pPr>
            <a:r>
              <a:rPr lang="en-US" i="0" dirty="0">
                <a:solidFill>
                  <a:srgbClr val="202124"/>
                </a:solidFill>
                <a:effectLst/>
                <a:highlight>
                  <a:srgbClr val="FFFFFF"/>
                </a:highlight>
                <a:latin typeface="Roboto" panose="02000000000000000000" pitchFamily="2" charset="0"/>
              </a:rPr>
              <a:t>Relatively simple to implement.</a:t>
            </a:r>
          </a:p>
          <a:p>
            <a:pPr marL="285750" indent="-285750" algn="l">
              <a:buFont typeface="Arial" panose="020B0604020202020204" pitchFamily="34" charset="0"/>
              <a:buChar char="•"/>
            </a:pPr>
            <a:r>
              <a:rPr lang="en-US" i="0" dirty="0">
                <a:solidFill>
                  <a:srgbClr val="202124"/>
                </a:solidFill>
                <a:effectLst/>
                <a:highlight>
                  <a:srgbClr val="FFFFFF"/>
                </a:highlight>
                <a:latin typeface="Roboto" panose="02000000000000000000" pitchFamily="2" charset="0"/>
              </a:rPr>
              <a:t>Scales to large data sets.</a:t>
            </a:r>
          </a:p>
          <a:p>
            <a:pPr marL="285750" indent="-285750" algn="l">
              <a:buFont typeface="Arial" panose="020B0604020202020204" pitchFamily="34" charset="0"/>
              <a:buChar char="•"/>
            </a:pPr>
            <a:r>
              <a:rPr lang="en-US" i="0" dirty="0">
                <a:solidFill>
                  <a:srgbClr val="202124"/>
                </a:solidFill>
                <a:effectLst/>
                <a:highlight>
                  <a:srgbClr val="FFFFFF"/>
                </a:highlight>
                <a:latin typeface="Roboto" panose="02000000000000000000" pitchFamily="2" charset="0"/>
              </a:rPr>
              <a:t>Guarantees convergence.</a:t>
            </a:r>
          </a:p>
          <a:p>
            <a:pPr marL="285750" indent="-285750" algn="l">
              <a:buFont typeface="Arial" panose="020B0604020202020204" pitchFamily="34" charset="0"/>
              <a:buChar char="•"/>
            </a:pPr>
            <a:r>
              <a:rPr lang="en-US" i="0" dirty="0">
                <a:solidFill>
                  <a:srgbClr val="202124"/>
                </a:solidFill>
                <a:effectLst/>
                <a:highlight>
                  <a:srgbClr val="FFFFFF"/>
                </a:highlight>
                <a:latin typeface="Roboto" panose="02000000000000000000" pitchFamily="2" charset="0"/>
              </a:rPr>
              <a:t>Can warm-start the positions of centroids.</a:t>
            </a:r>
          </a:p>
          <a:p>
            <a:pPr marL="285750" indent="-285750" algn="l">
              <a:buFont typeface="Arial" panose="020B0604020202020204" pitchFamily="34" charset="0"/>
              <a:buChar char="•"/>
            </a:pPr>
            <a:r>
              <a:rPr lang="en-US" i="0" dirty="0">
                <a:solidFill>
                  <a:srgbClr val="202124"/>
                </a:solidFill>
                <a:effectLst/>
                <a:highlight>
                  <a:srgbClr val="FFFFFF"/>
                </a:highlight>
                <a:latin typeface="Roboto" panose="02000000000000000000" pitchFamily="2" charset="0"/>
              </a:rPr>
              <a:t>Easily adapts to new examples.</a:t>
            </a:r>
          </a:p>
          <a:p>
            <a:pPr marL="285750" indent="-285750" algn="l">
              <a:buFont typeface="Arial" panose="020B0604020202020204" pitchFamily="34" charset="0"/>
              <a:buChar char="•"/>
            </a:pPr>
            <a:r>
              <a:rPr lang="en-US" i="0" dirty="0">
                <a:solidFill>
                  <a:srgbClr val="202124"/>
                </a:solidFill>
                <a:effectLst/>
                <a:highlight>
                  <a:srgbClr val="FFFFFF"/>
                </a:highlight>
                <a:latin typeface="Roboto" panose="02000000000000000000" pitchFamily="2" charset="0"/>
              </a:rPr>
              <a:t>Generalizes to clusters of different shapes and sizes, such as elliptical clusters.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9244671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431CE-C3DA-4321-BF28-69C7271351A3}"/>
              </a:ext>
            </a:extLst>
          </p:cNvPr>
          <p:cNvSpPr>
            <a:spLocks noGrp="1"/>
          </p:cNvSpPr>
          <p:nvPr>
            <p:ph type="title"/>
          </p:nvPr>
        </p:nvSpPr>
        <p:spPr/>
        <p:txBody>
          <a:bodyPr/>
          <a:lstStyle/>
          <a:p>
            <a:r>
              <a:rPr lang="en-US" dirty="0"/>
              <a:t>Disadvantages of K means</a:t>
            </a:r>
            <a:endParaRPr lang="en-IN" dirty="0"/>
          </a:p>
        </p:txBody>
      </p:sp>
      <p:sp>
        <p:nvSpPr>
          <p:cNvPr id="3" name="Text Placeholder 2">
            <a:extLst>
              <a:ext uri="{FF2B5EF4-FFF2-40B4-BE49-F238E27FC236}">
                <a16:creationId xmlns:a16="http://schemas.microsoft.com/office/drawing/2014/main" id="{FE149B37-FB8F-4E69-8B84-88EB3730EE1C}"/>
              </a:ext>
            </a:extLst>
          </p:cNvPr>
          <p:cNvSpPr>
            <a:spLocks noGrp="1"/>
          </p:cNvSpPr>
          <p:nvPr>
            <p:ph type="body" idx="1"/>
          </p:nvPr>
        </p:nvSpPr>
        <p:spPr>
          <a:xfrm>
            <a:off x="1219200" y="1052831"/>
            <a:ext cx="7010400" cy="3810000"/>
          </a:xfrm>
        </p:spPr>
        <p:txBody>
          <a:bodyPr/>
          <a:lstStyle/>
          <a:p>
            <a:pPr marL="298450" marR="5080" indent="-285750">
              <a:lnSpc>
                <a:spcPct val="100000"/>
              </a:lnSpc>
              <a:spcBef>
                <a:spcPts val="100"/>
              </a:spcBef>
              <a:buFont typeface="Arial" panose="020B0604020202020204" pitchFamily="34" charset="0"/>
              <a:buChar char="•"/>
              <a:tabLst>
                <a:tab pos="354965" algn="l"/>
                <a:tab pos="355600" algn="l"/>
              </a:tabLst>
            </a:pPr>
            <a:r>
              <a:rPr lang="en-US" sz="1600" dirty="0">
                <a:latin typeface="Carlito"/>
                <a:cs typeface="Carlito"/>
              </a:rPr>
              <a:t>K Means </a:t>
            </a:r>
            <a:r>
              <a:rPr lang="en-US" sz="1600" spc="-5" dirty="0">
                <a:latin typeface="Carlito"/>
                <a:cs typeface="Carlito"/>
              </a:rPr>
              <a:t>clustering </a:t>
            </a:r>
            <a:r>
              <a:rPr lang="en-US" sz="1600" spc="-10" dirty="0">
                <a:latin typeface="Carlito"/>
                <a:cs typeface="Carlito"/>
              </a:rPr>
              <a:t>requires  </a:t>
            </a:r>
            <a:r>
              <a:rPr lang="en-US" sz="1600" spc="-5" dirty="0">
                <a:solidFill>
                  <a:srgbClr val="C00000"/>
                </a:solidFill>
                <a:latin typeface="Carlito"/>
                <a:cs typeface="Carlito"/>
              </a:rPr>
              <a:t>prior knowledge of </a:t>
            </a:r>
            <a:r>
              <a:rPr lang="en-US" sz="1600" dirty="0">
                <a:solidFill>
                  <a:srgbClr val="C00000"/>
                </a:solidFill>
                <a:latin typeface="Carlito"/>
                <a:cs typeface="Carlito"/>
              </a:rPr>
              <a:t>K </a:t>
            </a:r>
            <a:r>
              <a:rPr lang="en-US" sz="1600" dirty="0">
                <a:latin typeface="Carlito"/>
                <a:cs typeface="Carlito"/>
              </a:rPr>
              <a:t>i.e.</a:t>
            </a:r>
            <a:r>
              <a:rPr lang="en-US" sz="1600" spc="-80" dirty="0">
                <a:latin typeface="Carlito"/>
                <a:cs typeface="Carlito"/>
              </a:rPr>
              <a:t> </a:t>
            </a:r>
            <a:r>
              <a:rPr lang="en-US" sz="1600" spc="-5" dirty="0">
                <a:latin typeface="Carlito"/>
                <a:cs typeface="Carlito"/>
              </a:rPr>
              <a:t>no.  of </a:t>
            </a:r>
            <a:r>
              <a:rPr lang="en-US" sz="1600" spc="-10" dirty="0">
                <a:latin typeface="Carlito"/>
                <a:cs typeface="Carlito"/>
              </a:rPr>
              <a:t>clusters </a:t>
            </a:r>
            <a:r>
              <a:rPr lang="en-US" sz="1600" spc="-5" dirty="0">
                <a:latin typeface="Carlito"/>
                <a:cs typeface="Carlito"/>
              </a:rPr>
              <a:t>one </a:t>
            </a:r>
            <a:r>
              <a:rPr lang="en-US" sz="1600" spc="-15" dirty="0">
                <a:latin typeface="Carlito"/>
                <a:cs typeface="Carlito"/>
              </a:rPr>
              <a:t>want to  </a:t>
            </a:r>
            <a:r>
              <a:rPr lang="en-US" sz="1600" spc="-5" dirty="0">
                <a:latin typeface="Carlito"/>
                <a:cs typeface="Carlito"/>
              </a:rPr>
              <a:t>divide </a:t>
            </a:r>
            <a:r>
              <a:rPr lang="en-US" sz="1600" spc="-10" dirty="0">
                <a:latin typeface="Carlito"/>
                <a:cs typeface="Carlito"/>
              </a:rPr>
              <a:t>your </a:t>
            </a:r>
            <a:r>
              <a:rPr lang="en-US" sz="1600" spc="-15" dirty="0">
                <a:latin typeface="Carlito"/>
                <a:cs typeface="Carlito"/>
              </a:rPr>
              <a:t>data</a:t>
            </a:r>
            <a:r>
              <a:rPr lang="en-US" sz="1600" spc="-25" dirty="0">
                <a:latin typeface="Carlito"/>
                <a:cs typeface="Carlito"/>
              </a:rPr>
              <a:t> </a:t>
            </a:r>
            <a:r>
              <a:rPr lang="en-US" sz="1600" spc="-15" dirty="0">
                <a:latin typeface="Carlito"/>
                <a:cs typeface="Carlito"/>
              </a:rPr>
              <a:t>into</a:t>
            </a:r>
          </a:p>
          <a:p>
            <a:pPr marL="298450" marR="5080" indent="-285750">
              <a:lnSpc>
                <a:spcPct val="100000"/>
              </a:lnSpc>
              <a:spcBef>
                <a:spcPts val="100"/>
              </a:spcBef>
              <a:buFont typeface="Arial" panose="020B0604020202020204" pitchFamily="34" charset="0"/>
              <a:buChar char="•"/>
              <a:tabLst>
                <a:tab pos="354965" algn="l"/>
                <a:tab pos="355600" algn="l"/>
              </a:tabLst>
            </a:pPr>
            <a:r>
              <a:rPr lang="en-US" sz="1600" dirty="0">
                <a:solidFill>
                  <a:srgbClr val="C00000"/>
                </a:solidFill>
              </a:rPr>
              <a:t>Hard assignment </a:t>
            </a:r>
            <a:r>
              <a:rPr lang="en-US" sz="1600" dirty="0"/>
              <a:t>of data points of clusters.</a:t>
            </a:r>
          </a:p>
          <a:p>
            <a:pPr marL="298450" marR="5080" indent="-285750">
              <a:lnSpc>
                <a:spcPct val="100000"/>
              </a:lnSpc>
              <a:spcBef>
                <a:spcPts val="100"/>
              </a:spcBef>
              <a:buFont typeface="Arial" panose="020B0604020202020204" pitchFamily="34" charset="0"/>
              <a:buChar char="•"/>
              <a:tabLst>
                <a:tab pos="354965" algn="l"/>
                <a:tab pos="355600" algn="l"/>
              </a:tabLst>
            </a:pPr>
            <a:r>
              <a:rPr lang="en-US" sz="1600" dirty="0"/>
              <a:t>Applicable only when </a:t>
            </a:r>
            <a:r>
              <a:rPr lang="en-US" sz="1600" dirty="0">
                <a:solidFill>
                  <a:srgbClr val="C00000"/>
                </a:solidFill>
              </a:rPr>
              <a:t>mean </a:t>
            </a:r>
            <a:r>
              <a:rPr lang="en-US" sz="1600" dirty="0"/>
              <a:t>is defined, fails for categorical data</a:t>
            </a:r>
          </a:p>
          <a:p>
            <a:pPr marL="285750" indent="-285750">
              <a:buFont typeface="Arial" panose="020B0604020202020204" pitchFamily="34" charset="0"/>
              <a:buChar char="•"/>
            </a:pPr>
            <a:r>
              <a:rPr lang="en-IN" sz="1600" dirty="0"/>
              <a:t>Sensitive to </a:t>
            </a:r>
            <a:r>
              <a:rPr lang="en-IN" sz="1600" dirty="0">
                <a:solidFill>
                  <a:srgbClr val="C00000"/>
                </a:solidFill>
              </a:rPr>
              <a:t>noise/outliers</a:t>
            </a:r>
          </a:p>
          <a:p>
            <a:pPr marL="285750" indent="-285750">
              <a:buFont typeface="Arial" panose="020B0604020202020204" pitchFamily="34" charset="0"/>
              <a:buChar char="•"/>
            </a:pPr>
            <a:r>
              <a:rPr lang="en-IN" sz="1600" dirty="0"/>
              <a:t>The algorithm is sensitive to </a:t>
            </a:r>
            <a:r>
              <a:rPr lang="en-IN" sz="1600" dirty="0">
                <a:solidFill>
                  <a:srgbClr val="C00000"/>
                </a:solidFill>
              </a:rPr>
              <a:t>initial seed</a:t>
            </a:r>
          </a:p>
          <a:p>
            <a:pPr marL="285750" indent="-285750">
              <a:buFont typeface="Arial" panose="020B0604020202020204" pitchFamily="34" charset="0"/>
              <a:buChar char="•"/>
            </a:pPr>
            <a:r>
              <a:rPr lang="en-US" sz="1600" dirty="0">
                <a:latin typeface="Carlito"/>
                <a:cs typeface="Carlito"/>
              </a:rPr>
              <a:t>In K Means </a:t>
            </a:r>
            <a:r>
              <a:rPr lang="en-US" sz="1600" spc="-5" dirty="0">
                <a:latin typeface="Carlito"/>
                <a:cs typeface="Carlito"/>
              </a:rPr>
              <a:t>clustering, since one  </a:t>
            </a:r>
            <a:r>
              <a:rPr lang="en-US" sz="1600" spc="-10" dirty="0">
                <a:latin typeface="Carlito"/>
                <a:cs typeface="Carlito"/>
              </a:rPr>
              <a:t>start </a:t>
            </a:r>
            <a:r>
              <a:rPr lang="en-US" sz="1600" spc="-5" dirty="0">
                <a:latin typeface="Carlito"/>
                <a:cs typeface="Carlito"/>
              </a:rPr>
              <a:t>with random </a:t>
            </a:r>
            <a:r>
              <a:rPr lang="en-US" sz="1600" dirty="0">
                <a:latin typeface="Carlito"/>
                <a:cs typeface="Carlito"/>
              </a:rPr>
              <a:t>choice </a:t>
            </a:r>
            <a:r>
              <a:rPr lang="en-US" sz="1600" spc="-5" dirty="0">
                <a:latin typeface="Carlito"/>
                <a:cs typeface="Carlito"/>
              </a:rPr>
              <a:t>of  </a:t>
            </a:r>
            <a:r>
              <a:rPr lang="en-US" sz="1600" spc="-10" dirty="0">
                <a:latin typeface="Carlito"/>
                <a:cs typeface="Carlito"/>
              </a:rPr>
              <a:t>clusters, </a:t>
            </a:r>
            <a:r>
              <a:rPr lang="en-US" sz="1600" dirty="0">
                <a:latin typeface="Carlito"/>
                <a:cs typeface="Carlito"/>
              </a:rPr>
              <a:t>the </a:t>
            </a:r>
            <a:r>
              <a:rPr lang="en-US" sz="1600" spc="-5" dirty="0">
                <a:solidFill>
                  <a:srgbClr val="C00000"/>
                </a:solidFill>
                <a:latin typeface="Carlito"/>
                <a:cs typeface="Carlito"/>
              </a:rPr>
              <a:t>results produced by  </a:t>
            </a:r>
            <a:r>
              <a:rPr lang="en-US" sz="1600" dirty="0">
                <a:solidFill>
                  <a:srgbClr val="C00000"/>
                </a:solidFill>
                <a:latin typeface="Carlito"/>
                <a:cs typeface="Carlito"/>
              </a:rPr>
              <a:t>running the </a:t>
            </a:r>
            <a:r>
              <a:rPr lang="en-US" sz="1600" spc="-5" dirty="0">
                <a:solidFill>
                  <a:srgbClr val="C00000"/>
                </a:solidFill>
                <a:latin typeface="Carlito"/>
                <a:cs typeface="Carlito"/>
              </a:rPr>
              <a:t>algorithm </a:t>
            </a:r>
            <a:r>
              <a:rPr lang="en-US" sz="1600" dirty="0">
                <a:solidFill>
                  <a:srgbClr val="C00000"/>
                </a:solidFill>
                <a:latin typeface="Carlito"/>
                <a:cs typeface="Carlito"/>
              </a:rPr>
              <a:t>multiple  times </a:t>
            </a:r>
            <a:r>
              <a:rPr lang="en-US" sz="1600" spc="-5" dirty="0">
                <a:solidFill>
                  <a:srgbClr val="C00000"/>
                </a:solidFill>
                <a:latin typeface="Carlito"/>
                <a:cs typeface="Carlito"/>
              </a:rPr>
              <a:t>might </a:t>
            </a:r>
            <a:r>
              <a:rPr lang="en-US" sz="1600" spc="-15" dirty="0">
                <a:solidFill>
                  <a:srgbClr val="C00000"/>
                </a:solidFill>
                <a:latin typeface="Carlito"/>
                <a:cs typeface="Carlito"/>
              </a:rPr>
              <a:t>differ.</a:t>
            </a:r>
          </a:p>
          <a:p>
            <a:pPr marL="298450" marR="5080" indent="-285750">
              <a:lnSpc>
                <a:spcPct val="100000"/>
              </a:lnSpc>
              <a:spcBef>
                <a:spcPts val="484"/>
              </a:spcBef>
              <a:buFont typeface="Arial" panose="020B0604020202020204" pitchFamily="34" charset="0"/>
              <a:buChar char="•"/>
              <a:tabLst>
                <a:tab pos="354965" algn="l"/>
                <a:tab pos="355600" algn="l"/>
              </a:tabLst>
            </a:pPr>
            <a:r>
              <a:rPr lang="en-US" sz="1600" dirty="0">
                <a:latin typeface="Carlito"/>
                <a:cs typeface="Carlito"/>
              </a:rPr>
              <a:t>K Means is </a:t>
            </a:r>
            <a:r>
              <a:rPr lang="en-US" sz="1600" spc="-10" dirty="0">
                <a:latin typeface="Carlito"/>
                <a:cs typeface="Carlito"/>
              </a:rPr>
              <a:t>found </a:t>
            </a:r>
            <a:r>
              <a:rPr lang="en-US" sz="1600" spc="-15" dirty="0">
                <a:latin typeface="Carlito"/>
                <a:cs typeface="Carlito"/>
              </a:rPr>
              <a:t>to </a:t>
            </a:r>
            <a:r>
              <a:rPr lang="en-US" sz="1600" spc="-10" dirty="0">
                <a:latin typeface="Carlito"/>
                <a:cs typeface="Carlito"/>
              </a:rPr>
              <a:t>work </a:t>
            </a:r>
            <a:r>
              <a:rPr lang="en-US" sz="1600" spc="-5" dirty="0">
                <a:latin typeface="Carlito"/>
                <a:cs typeface="Carlito"/>
              </a:rPr>
              <a:t>well  </a:t>
            </a:r>
            <a:r>
              <a:rPr lang="en-US" sz="1600" dirty="0">
                <a:latin typeface="Carlito"/>
                <a:cs typeface="Carlito"/>
              </a:rPr>
              <a:t>when the </a:t>
            </a:r>
            <a:r>
              <a:rPr lang="en-US" sz="1600" spc="-5" dirty="0">
                <a:latin typeface="Carlito"/>
                <a:cs typeface="Carlito"/>
              </a:rPr>
              <a:t>shape of </a:t>
            </a:r>
            <a:r>
              <a:rPr lang="en-US" sz="1600" dirty="0">
                <a:latin typeface="Carlito"/>
                <a:cs typeface="Carlito"/>
              </a:rPr>
              <a:t>the </a:t>
            </a:r>
            <a:r>
              <a:rPr lang="en-US" sz="1600" spc="-10" dirty="0">
                <a:latin typeface="Carlito"/>
                <a:cs typeface="Carlito"/>
              </a:rPr>
              <a:t>clusters </a:t>
            </a:r>
            <a:r>
              <a:rPr lang="en-US" sz="1600" dirty="0">
                <a:latin typeface="Carlito"/>
                <a:cs typeface="Carlito"/>
              </a:rPr>
              <a:t>is  </a:t>
            </a:r>
            <a:r>
              <a:rPr lang="en-US" sz="1600" spc="-5" dirty="0">
                <a:latin typeface="Carlito"/>
                <a:cs typeface="Carlito"/>
              </a:rPr>
              <a:t>hyper spherical </a:t>
            </a:r>
            <a:r>
              <a:rPr lang="en-US" sz="1600" spc="-15" dirty="0">
                <a:latin typeface="Carlito"/>
                <a:cs typeface="Carlito"/>
              </a:rPr>
              <a:t>(like </a:t>
            </a:r>
            <a:r>
              <a:rPr lang="en-US" sz="1600" spc="-5" dirty="0">
                <a:latin typeface="Carlito"/>
                <a:cs typeface="Carlito"/>
              </a:rPr>
              <a:t>circle </a:t>
            </a:r>
            <a:r>
              <a:rPr lang="en-US" sz="1600" dirty="0">
                <a:latin typeface="Carlito"/>
                <a:cs typeface="Carlito"/>
              </a:rPr>
              <a:t>in </a:t>
            </a:r>
            <a:r>
              <a:rPr lang="en-US" sz="1600" spc="-15" dirty="0">
                <a:latin typeface="Carlito"/>
                <a:cs typeface="Carlito"/>
              </a:rPr>
              <a:t>2D,  </a:t>
            </a:r>
            <a:r>
              <a:rPr lang="en-US" sz="1600" spc="-5" dirty="0">
                <a:latin typeface="Carlito"/>
                <a:cs typeface="Carlito"/>
              </a:rPr>
              <a:t>sphere </a:t>
            </a:r>
            <a:r>
              <a:rPr lang="en-US" sz="1600" dirty="0">
                <a:latin typeface="Carlito"/>
                <a:cs typeface="Carlito"/>
              </a:rPr>
              <a:t>in </a:t>
            </a:r>
            <a:r>
              <a:rPr lang="en-US" sz="1600" spc="-5" dirty="0">
                <a:latin typeface="Carlito"/>
                <a:cs typeface="Carlito"/>
              </a:rPr>
              <a:t>3D) but not with </a:t>
            </a:r>
            <a:r>
              <a:rPr lang="en-US" altLang="en-US" sz="1600" dirty="0"/>
              <a:t>Non-globular Shapes.</a:t>
            </a:r>
          </a:p>
          <a:p>
            <a:pPr marL="298450" marR="5080" indent="-285750">
              <a:lnSpc>
                <a:spcPct val="100000"/>
              </a:lnSpc>
              <a:spcBef>
                <a:spcPts val="484"/>
              </a:spcBef>
              <a:buFont typeface="Arial" panose="020B0604020202020204" pitchFamily="34" charset="0"/>
              <a:buChar char="•"/>
              <a:tabLst>
                <a:tab pos="354965" algn="l"/>
                <a:tab pos="355600" algn="l"/>
              </a:tabLst>
            </a:pPr>
            <a:r>
              <a:rPr lang="en-US" altLang="en-US" sz="1600" dirty="0">
                <a:solidFill>
                  <a:srgbClr val="C00000"/>
                </a:solidFill>
              </a:rPr>
              <a:t>K-means has problems when clusters are of differing </a:t>
            </a:r>
          </a:p>
          <a:p>
            <a:pPr lvl="1"/>
            <a:r>
              <a:rPr lang="en-US" altLang="en-US" sz="1600" dirty="0"/>
              <a:t>Sizes</a:t>
            </a:r>
          </a:p>
          <a:p>
            <a:pPr lvl="1"/>
            <a:r>
              <a:rPr lang="en-US" altLang="en-US" sz="1600" dirty="0"/>
              <a:t>Densities</a:t>
            </a:r>
          </a:p>
          <a:p>
            <a:pPr lvl="1"/>
            <a:r>
              <a:rPr lang="en-US" altLang="en-US" sz="1600" dirty="0"/>
              <a:t>Non-globular shapes</a:t>
            </a:r>
          </a:p>
          <a:p>
            <a:pPr marL="298450" marR="5080" indent="-285750">
              <a:lnSpc>
                <a:spcPct val="100000"/>
              </a:lnSpc>
              <a:spcBef>
                <a:spcPts val="484"/>
              </a:spcBef>
              <a:buFont typeface="Arial" panose="020B0604020202020204" pitchFamily="34" charset="0"/>
              <a:buChar char="•"/>
              <a:tabLst>
                <a:tab pos="354965" algn="l"/>
                <a:tab pos="355600" algn="l"/>
              </a:tabLst>
            </a:pPr>
            <a:endParaRPr lang="en-US" sz="1800" dirty="0">
              <a:latin typeface="Carlito"/>
              <a:cs typeface="Carlito"/>
            </a:endParaRPr>
          </a:p>
          <a:p>
            <a:pPr marL="285750" indent="-285750">
              <a:buFont typeface="Arial" panose="020B0604020202020204" pitchFamily="34" charset="0"/>
              <a:buChar char="•"/>
            </a:pPr>
            <a:endParaRPr lang="en-US" sz="1800" dirty="0">
              <a:latin typeface="Carlito"/>
              <a:cs typeface="Carlito"/>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0482216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41554-F80A-BC6A-2E4F-EF66D1DE34A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C5948976-2623-3F5F-317B-113572B375E8}"/>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AC9BC964-C951-C10F-7EB4-107F8BF62ED2}"/>
              </a:ext>
            </a:extLst>
          </p:cNvPr>
          <p:cNvPicPr>
            <a:picLocks noChangeAspect="1"/>
          </p:cNvPicPr>
          <p:nvPr/>
        </p:nvPicPr>
        <p:blipFill>
          <a:blip r:embed="rId2"/>
          <a:stretch>
            <a:fillRect/>
          </a:stretch>
        </p:blipFill>
        <p:spPr>
          <a:xfrm>
            <a:off x="1535167" y="681826"/>
            <a:ext cx="6073666" cy="3779848"/>
          </a:xfrm>
          <a:prstGeom prst="rect">
            <a:avLst/>
          </a:prstGeom>
        </p:spPr>
      </p:pic>
    </p:spTree>
    <p:extLst>
      <p:ext uri="{BB962C8B-B14F-4D97-AF65-F5344CB8AC3E}">
        <p14:creationId xmlns:p14="http://schemas.microsoft.com/office/powerpoint/2010/main" val="973159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8012F-BFE9-4B42-B8A0-C194FBACE77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2E34BD8-AD7C-488E-9A1B-7E4C98863228}"/>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A528CFF1-FC68-4211-9475-982918C36705}"/>
              </a:ext>
            </a:extLst>
          </p:cNvPr>
          <p:cNvPicPr>
            <a:picLocks noChangeAspect="1"/>
          </p:cNvPicPr>
          <p:nvPr/>
        </p:nvPicPr>
        <p:blipFill>
          <a:blip r:embed="rId2"/>
          <a:stretch>
            <a:fillRect/>
          </a:stretch>
        </p:blipFill>
        <p:spPr>
          <a:xfrm>
            <a:off x="1676400" y="389177"/>
            <a:ext cx="5490158" cy="3777684"/>
          </a:xfrm>
          <a:prstGeom prst="rect">
            <a:avLst/>
          </a:prstGeom>
        </p:spPr>
      </p:pic>
    </p:spTree>
    <p:extLst>
      <p:ext uri="{BB962C8B-B14F-4D97-AF65-F5344CB8AC3E}">
        <p14:creationId xmlns:p14="http://schemas.microsoft.com/office/powerpoint/2010/main" val="18459352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3BD06-41D3-46B7-8A6B-C509BB31003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004C2021-39E7-4021-802D-A5A46B652384}"/>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A31DE5C3-1EE0-4483-9A6F-91B2979EA930}"/>
              </a:ext>
            </a:extLst>
          </p:cNvPr>
          <p:cNvPicPr>
            <a:picLocks noChangeAspect="1"/>
          </p:cNvPicPr>
          <p:nvPr/>
        </p:nvPicPr>
        <p:blipFill>
          <a:blip r:embed="rId2"/>
          <a:stretch>
            <a:fillRect/>
          </a:stretch>
        </p:blipFill>
        <p:spPr>
          <a:xfrm>
            <a:off x="789318" y="0"/>
            <a:ext cx="7565363" cy="5143500"/>
          </a:xfrm>
          <a:prstGeom prst="rect">
            <a:avLst/>
          </a:prstGeom>
        </p:spPr>
      </p:pic>
    </p:spTree>
    <p:extLst>
      <p:ext uri="{BB962C8B-B14F-4D97-AF65-F5344CB8AC3E}">
        <p14:creationId xmlns:p14="http://schemas.microsoft.com/office/powerpoint/2010/main" val="7054937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7D739-6B6E-2D98-CD81-0E8D99AA49BB}"/>
              </a:ext>
            </a:extLst>
          </p:cNvPr>
          <p:cNvSpPr>
            <a:spLocks noGrp="1"/>
          </p:cNvSpPr>
          <p:nvPr>
            <p:ph type="title"/>
          </p:nvPr>
        </p:nvSpPr>
        <p:spPr>
          <a:xfrm>
            <a:off x="1705079" y="378397"/>
            <a:ext cx="6155691" cy="452119"/>
          </a:xfrm>
        </p:spPr>
        <p:txBody>
          <a:bodyPr/>
          <a:lstStyle/>
          <a:p>
            <a:r>
              <a:rPr lang="en-US" dirty="0"/>
              <a:t>Limitation of k-means: Different sizes </a:t>
            </a:r>
          </a:p>
        </p:txBody>
      </p:sp>
      <p:sp>
        <p:nvSpPr>
          <p:cNvPr id="3" name="Text Placeholder 2">
            <a:extLst>
              <a:ext uri="{FF2B5EF4-FFF2-40B4-BE49-F238E27FC236}">
                <a16:creationId xmlns:a16="http://schemas.microsoft.com/office/drawing/2014/main" id="{8124FEA0-647B-B6FC-A78F-EFF3C0DA7B6E}"/>
              </a:ext>
            </a:extLst>
          </p:cNvPr>
          <p:cNvSpPr>
            <a:spLocks noGrp="1"/>
          </p:cNvSpPr>
          <p:nvPr>
            <p:ph type="body" idx="1"/>
          </p:nvPr>
        </p:nvSpPr>
        <p:spPr/>
        <p:txBody>
          <a:bodyPr/>
          <a:lstStyle/>
          <a:p>
            <a:endParaRPr lang="en-US" dirty="0"/>
          </a:p>
        </p:txBody>
      </p:sp>
      <p:pic>
        <p:nvPicPr>
          <p:cNvPr id="1026" name="Picture 2">
            <a:extLst>
              <a:ext uri="{FF2B5EF4-FFF2-40B4-BE49-F238E27FC236}">
                <a16:creationId xmlns:a16="http://schemas.microsoft.com/office/drawing/2014/main" id="{49ED67BA-896F-AD69-3003-7172902D6F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6813" y="1152525"/>
            <a:ext cx="6810375" cy="2838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4252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DB9C9-7A4D-DB07-0398-73E055CEEC3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9778860-2297-679E-21B4-A4717643E2B0}"/>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E5038BE8-6C3D-6C39-AC83-561EFA0B32C1}"/>
              </a:ext>
            </a:extLst>
          </p:cNvPr>
          <p:cNvPicPr>
            <a:picLocks noChangeAspect="1"/>
          </p:cNvPicPr>
          <p:nvPr/>
        </p:nvPicPr>
        <p:blipFill>
          <a:blip r:embed="rId2"/>
          <a:stretch>
            <a:fillRect/>
          </a:stretch>
        </p:blipFill>
        <p:spPr>
          <a:xfrm>
            <a:off x="1001720" y="247448"/>
            <a:ext cx="7140559" cy="4648603"/>
          </a:xfrm>
          <a:prstGeom prst="rect">
            <a:avLst/>
          </a:prstGeom>
        </p:spPr>
      </p:pic>
    </p:spTree>
    <p:extLst>
      <p:ext uri="{BB962C8B-B14F-4D97-AF65-F5344CB8AC3E}">
        <p14:creationId xmlns:p14="http://schemas.microsoft.com/office/powerpoint/2010/main" val="27911434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343025" y="319087"/>
            <a:ext cx="6457950" cy="414338"/>
          </a:xfrm>
        </p:spPr>
        <p:txBody>
          <a:bodyPr/>
          <a:lstStyle/>
          <a:p>
            <a:r>
              <a:rPr lang="en-US" altLang="en-US" sz="2100" dirty="0"/>
              <a:t>Limitations of K-means: Non-globular Shapes</a:t>
            </a:r>
          </a:p>
        </p:txBody>
      </p:sp>
      <p:sp>
        <p:nvSpPr>
          <p:cNvPr id="30723" name="Text Box 4"/>
          <p:cNvSpPr txBox="1">
            <a:spLocks noChangeArrowheads="1"/>
          </p:cNvSpPr>
          <p:nvPr/>
        </p:nvSpPr>
        <p:spPr bwMode="auto">
          <a:xfrm>
            <a:off x="2000250" y="3657600"/>
            <a:ext cx="15430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350"/>
              <a:t>Original Points</a:t>
            </a:r>
          </a:p>
        </p:txBody>
      </p:sp>
      <p:pic>
        <p:nvPicPr>
          <p:cNvPr id="3072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4450" y="914400"/>
            <a:ext cx="3201591"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69267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0" y="914400"/>
            <a:ext cx="3201591"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692679" name="Rectangle 7"/>
          <p:cNvSpPr>
            <a:spLocks noChangeArrowheads="1"/>
          </p:cNvSpPr>
          <p:nvPr/>
        </p:nvSpPr>
        <p:spPr bwMode="auto">
          <a:xfrm>
            <a:off x="5143500" y="3676650"/>
            <a:ext cx="191590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350"/>
              <a:t>K-means (2 Clusters)</a:t>
            </a:r>
          </a:p>
        </p:txBody>
      </p:sp>
    </p:spTree>
    <p:extLst>
      <p:ext uri="{BB962C8B-B14F-4D97-AF65-F5344CB8AC3E}">
        <p14:creationId xmlns:p14="http://schemas.microsoft.com/office/powerpoint/2010/main" val="22697744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9267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926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267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314450" y="114300"/>
            <a:ext cx="6457950" cy="414338"/>
          </a:xfrm>
        </p:spPr>
        <p:txBody>
          <a:bodyPr/>
          <a:lstStyle/>
          <a:p>
            <a:r>
              <a:rPr lang="en-US" altLang="en-US" sz="2100"/>
              <a:t>Overcoming K-means Limitations</a:t>
            </a:r>
          </a:p>
        </p:txBody>
      </p:sp>
      <p:sp>
        <p:nvSpPr>
          <p:cNvPr id="33795" name="Rectangle 3"/>
          <p:cNvSpPr>
            <a:spLocks noGrp="1" noChangeArrowheads="1"/>
          </p:cNvSpPr>
          <p:nvPr>
            <p:ph type="body" idx="1"/>
          </p:nvPr>
        </p:nvSpPr>
        <p:spPr>
          <a:xfrm>
            <a:off x="1622822" y="857250"/>
            <a:ext cx="6000750" cy="732235"/>
          </a:xfrm>
        </p:spPr>
        <p:txBody>
          <a:bodyPr/>
          <a:lstStyle/>
          <a:p>
            <a:pPr marL="400050" indent="-400050">
              <a:lnSpc>
                <a:spcPct val="90000"/>
              </a:lnSpc>
              <a:spcBef>
                <a:spcPct val="20000"/>
              </a:spcBef>
            </a:pPr>
            <a:endParaRPr lang="en-US" altLang="en-US"/>
          </a:p>
          <a:p>
            <a:pPr marL="742950" lvl="1" indent="-400050">
              <a:lnSpc>
                <a:spcPct val="90000"/>
              </a:lnSpc>
              <a:spcBef>
                <a:spcPct val="20000"/>
              </a:spcBef>
            </a:pPr>
            <a:endParaRPr lang="en-US" altLang="en-US"/>
          </a:p>
          <a:p>
            <a:pPr marL="742950" lvl="1" indent="-400050">
              <a:lnSpc>
                <a:spcPct val="90000"/>
              </a:lnSpc>
              <a:spcBef>
                <a:spcPct val="20000"/>
              </a:spcBef>
            </a:pPr>
            <a:endParaRPr lang="en-US" altLang="en-US" sz="1500"/>
          </a:p>
          <a:p>
            <a:pPr marL="742950" lvl="1" indent="-400050">
              <a:lnSpc>
                <a:spcPct val="90000"/>
              </a:lnSpc>
              <a:spcBef>
                <a:spcPct val="20000"/>
              </a:spcBef>
            </a:pPr>
            <a:endParaRPr lang="en-US" altLang="en-US" sz="1500"/>
          </a:p>
        </p:txBody>
      </p:sp>
      <p:sp>
        <p:nvSpPr>
          <p:cNvPr id="33796" name="Text Box 4"/>
          <p:cNvSpPr txBox="1">
            <a:spLocks noChangeArrowheads="1"/>
          </p:cNvSpPr>
          <p:nvPr/>
        </p:nvSpPr>
        <p:spPr bwMode="auto">
          <a:xfrm>
            <a:off x="2000250" y="3314700"/>
            <a:ext cx="577215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350"/>
              <a:t>Original Points				K-means Clusters</a:t>
            </a:r>
          </a:p>
        </p:txBody>
      </p:sp>
      <p:pic>
        <p:nvPicPr>
          <p:cNvPr id="3379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4450" y="914400"/>
            <a:ext cx="3201591"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379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2210" y="914400"/>
            <a:ext cx="320159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 name="Rectangle 1"/>
          <p:cNvSpPr/>
          <p:nvPr/>
        </p:nvSpPr>
        <p:spPr>
          <a:xfrm>
            <a:off x="1885950" y="3856420"/>
            <a:ext cx="5600700" cy="715581"/>
          </a:xfrm>
          <a:prstGeom prst="rect">
            <a:avLst/>
          </a:prstGeom>
        </p:spPr>
        <p:txBody>
          <a:bodyPr wrap="square">
            <a:spAutoFit/>
          </a:bodyPr>
          <a:lstStyle/>
          <a:p>
            <a:r>
              <a:rPr lang="en-US" altLang="en-US" sz="1350" dirty="0"/>
              <a:t>One solution is to find a large number of clusters such that each of them represents a part of a natural cluster. But these small clusters need to be put together in a post-processing step.</a:t>
            </a:r>
          </a:p>
        </p:txBody>
      </p:sp>
    </p:spTree>
    <p:extLst>
      <p:ext uri="{BB962C8B-B14F-4D97-AF65-F5344CB8AC3E}">
        <p14:creationId xmlns:p14="http://schemas.microsoft.com/office/powerpoint/2010/main" val="936574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428903" y="207168"/>
            <a:ext cx="6210300" cy="414338"/>
          </a:xfrm>
        </p:spPr>
        <p:txBody>
          <a:bodyPr/>
          <a:lstStyle/>
          <a:p>
            <a:r>
              <a:rPr lang="en-US" altLang="en-US" sz="2100" dirty="0"/>
              <a:t>Overcoming K-means Limitations</a:t>
            </a:r>
          </a:p>
        </p:txBody>
      </p:sp>
      <p:sp>
        <p:nvSpPr>
          <p:cNvPr id="32771" name="Rectangle 3"/>
          <p:cNvSpPr>
            <a:spLocks noGrp="1" noChangeArrowheads="1"/>
          </p:cNvSpPr>
          <p:nvPr>
            <p:ph type="body" idx="1"/>
          </p:nvPr>
        </p:nvSpPr>
        <p:spPr>
          <a:xfrm>
            <a:off x="1622822" y="857250"/>
            <a:ext cx="6000750" cy="732235"/>
          </a:xfrm>
        </p:spPr>
        <p:txBody>
          <a:bodyPr/>
          <a:lstStyle/>
          <a:p>
            <a:pPr marL="400050" indent="-400050">
              <a:lnSpc>
                <a:spcPct val="90000"/>
              </a:lnSpc>
              <a:spcBef>
                <a:spcPct val="20000"/>
              </a:spcBef>
            </a:pPr>
            <a:endParaRPr lang="en-US" altLang="en-US"/>
          </a:p>
          <a:p>
            <a:pPr marL="742950" lvl="1" indent="-400050">
              <a:lnSpc>
                <a:spcPct val="90000"/>
              </a:lnSpc>
              <a:spcBef>
                <a:spcPct val="20000"/>
              </a:spcBef>
            </a:pPr>
            <a:endParaRPr lang="en-US" altLang="en-US"/>
          </a:p>
          <a:p>
            <a:pPr marL="742950" lvl="1" indent="-400050">
              <a:lnSpc>
                <a:spcPct val="90000"/>
              </a:lnSpc>
              <a:spcBef>
                <a:spcPct val="20000"/>
              </a:spcBef>
            </a:pPr>
            <a:endParaRPr lang="en-US" altLang="en-US" sz="1500"/>
          </a:p>
          <a:p>
            <a:pPr marL="742950" lvl="1" indent="-400050">
              <a:lnSpc>
                <a:spcPct val="90000"/>
              </a:lnSpc>
              <a:spcBef>
                <a:spcPct val="20000"/>
              </a:spcBef>
            </a:pPr>
            <a:endParaRPr lang="en-US" altLang="en-US" sz="1500"/>
          </a:p>
        </p:txBody>
      </p:sp>
      <p:sp>
        <p:nvSpPr>
          <p:cNvPr id="32772" name="Text Box 4"/>
          <p:cNvSpPr txBox="1">
            <a:spLocks noChangeArrowheads="1"/>
          </p:cNvSpPr>
          <p:nvPr/>
        </p:nvSpPr>
        <p:spPr bwMode="auto">
          <a:xfrm>
            <a:off x="1714500" y="3486150"/>
            <a:ext cx="577215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350" dirty="0"/>
              <a:t>Original Points				K-means Clusters</a:t>
            </a:r>
          </a:p>
        </p:txBody>
      </p:sp>
      <p:pic>
        <p:nvPicPr>
          <p:cNvPr id="3277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085850"/>
            <a:ext cx="3201591"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277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4591" y="1142481"/>
            <a:ext cx="3201591"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 name="Rectangle 1"/>
          <p:cNvSpPr/>
          <p:nvPr/>
        </p:nvSpPr>
        <p:spPr>
          <a:xfrm>
            <a:off x="1885950" y="3943350"/>
            <a:ext cx="5829300" cy="715581"/>
          </a:xfrm>
          <a:prstGeom prst="rect">
            <a:avLst/>
          </a:prstGeom>
        </p:spPr>
        <p:txBody>
          <a:bodyPr wrap="square">
            <a:spAutoFit/>
          </a:bodyPr>
          <a:lstStyle/>
          <a:p>
            <a:r>
              <a:rPr lang="en-US" altLang="en-US" sz="1350" dirty="0"/>
              <a:t>One solution is to find a large number of clusters such that each of them represents a part of a natural cluster. But these small clusters need to be put together in a post-processing step.</a:t>
            </a:r>
          </a:p>
        </p:txBody>
      </p:sp>
    </p:spTree>
    <p:extLst>
      <p:ext uri="{BB962C8B-B14F-4D97-AF65-F5344CB8AC3E}">
        <p14:creationId xmlns:p14="http://schemas.microsoft.com/office/powerpoint/2010/main" val="6910307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1108" y="385953"/>
            <a:ext cx="6079491" cy="443070"/>
          </a:xfrm>
          <a:prstGeom prst="rect">
            <a:avLst/>
          </a:prstGeom>
        </p:spPr>
        <p:txBody>
          <a:bodyPr vert="horz" wrap="square" lIns="0" tIns="12065" rIns="0" bIns="0" rtlCol="0">
            <a:spAutoFit/>
          </a:bodyPr>
          <a:lstStyle/>
          <a:p>
            <a:pPr marL="13335">
              <a:lnSpc>
                <a:spcPct val="100000"/>
              </a:lnSpc>
              <a:spcBef>
                <a:spcPts val="95"/>
              </a:spcBef>
            </a:pPr>
            <a:r>
              <a:rPr spc="-5" dirty="0"/>
              <a:t>K-Means </a:t>
            </a:r>
            <a:r>
              <a:rPr spc="-15" dirty="0"/>
              <a:t>clustering</a:t>
            </a:r>
            <a:r>
              <a:rPr spc="40" dirty="0"/>
              <a:t> </a:t>
            </a:r>
            <a:r>
              <a:rPr spc="-20" dirty="0"/>
              <a:t>example</a:t>
            </a:r>
            <a:r>
              <a:rPr lang="en-US" spc="-20" dirty="0"/>
              <a:t>: Numerical </a:t>
            </a:r>
            <a:endParaRPr spc="-20" dirty="0"/>
          </a:p>
        </p:txBody>
      </p:sp>
      <p:graphicFrame>
        <p:nvGraphicFramePr>
          <p:cNvPr id="3" name="object 3"/>
          <p:cNvGraphicFramePr>
            <a:graphicFrameLocks noGrp="1"/>
          </p:cNvGraphicFramePr>
          <p:nvPr/>
        </p:nvGraphicFramePr>
        <p:xfrm>
          <a:off x="2865120" y="1330578"/>
          <a:ext cx="3400425" cy="2926038"/>
        </p:xfrm>
        <a:graphic>
          <a:graphicData uri="http://schemas.openxmlformats.org/drawingml/2006/table">
            <a:tbl>
              <a:tblPr firstRow="1" bandRow="1">
                <a:tableStyleId>{2D5ABB26-0587-4C30-8999-92F81FD0307C}</a:tableStyleId>
              </a:tblPr>
              <a:tblGrid>
                <a:gridCol w="1133475">
                  <a:extLst>
                    <a:ext uri="{9D8B030D-6E8A-4147-A177-3AD203B41FA5}">
                      <a16:colId xmlns:a16="http://schemas.microsoft.com/office/drawing/2014/main" val="20000"/>
                    </a:ext>
                  </a:extLst>
                </a:gridCol>
                <a:gridCol w="1133475">
                  <a:extLst>
                    <a:ext uri="{9D8B030D-6E8A-4147-A177-3AD203B41FA5}">
                      <a16:colId xmlns:a16="http://schemas.microsoft.com/office/drawing/2014/main" val="20001"/>
                    </a:ext>
                  </a:extLst>
                </a:gridCol>
                <a:gridCol w="1133475">
                  <a:extLst>
                    <a:ext uri="{9D8B030D-6E8A-4147-A177-3AD203B41FA5}">
                      <a16:colId xmlns:a16="http://schemas.microsoft.com/office/drawing/2014/main" val="20002"/>
                    </a:ext>
                  </a:extLst>
                </a:gridCol>
              </a:tblGrid>
              <a:tr h="365760">
                <a:tc>
                  <a:txBody>
                    <a:bodyPr/>
                    <a:lstStyle/>
                    <a:p>
                      <a:pPr algn="ctr">
                        <a:lnSpc>
                          <a:spcPct val="100000"/>
                        </a:lnSpc>
                        <a:spcBef>
                          <a:spcPts val="240"/>
                        </a:spcBef>
                      </a:pPr>
                      <a:r>
                        <a:rPr sz="1800" b="1" spc="-5" dirty="0">
                          <a:solidFill>
                            <a:srgbClr val="FFFFFF"/>
                          </a:solidFill>
                          <a:latin typeface="Carlito"/>
                          <a:cs typeface="Carlito"/>
                        </a:rPr>
                        <a:t>Individual</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635" algn="ctr">
                        <a:lnSpc>
                          <a:spcPct val="100000"/>
                        </a:lnSpc>
                        <a:spcBef>
                          <a:spcPts val="240"/>
                        </a:spcBef>
                      </a:pPr>
                      <a:r>
                        <a:rPr sz="1800" b="1" spc="-15" dirty="0">
                          <a:solidFill>
                            <a:srgbClr val="FFFFFF"/>
                          </a:solidFill>
                          <a:latin typeface="Carlito"/>
                          <a:cs typeface="Carlito"/>
                        </a:rPr>
                        <a:t>Variable</a:t>
                      </a:r>
                      <a:r>
                        <a:rPr sz="1800" b="1" spc="-30" dirty="0">
                          <a:solidFill>
                            <a:srgbClr val="FFFFFF"/>
                          </a:solidFill>
                          <a:latin typeface="Carlito"/>
                          <a:cs typeface="Carlito"/>
                        </a:rPr>
                        <a:t> </a:t>
                      </a:r>
                      <a:r>
                        <a:rPr sz="1800" b="1" dirty="0">
                          <a:solidFill>
                            <a:srgbClr val="FFFFFF"/>
                          </a:solidFill>
                          <a:latin typeface="Carlito"/>
                          <a:cs typeface="Carlito"/>
                        </a:rPr>
                        <a:t>1</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0"/>
                        </a:spcBef>
                      </a:pPr>
                      <a:r>
                        <a:rPr sz="1800" b="1" spc="-15" dirty="0">
                          <a:solidFill>
                            <a:srgbClr val="FFFFFF"/>
                          </a:solidFill>
                          <a:latin typeface="Carlito"/>
                          <a:cs typeface="Carlito"/>
                        </a:rPr>
                        <a:t>Variable</a:t>
                      </a:r>
                      <a:r>
                        <a:rPr sz="1800" b="1" spc="-35" dirty="0">
                          <a:solidFill>
                            <a:srgbClr val="FFFFFF"/>
                          </a:solidFill>
                          <a:latin typeface="Carlito"/>
                          <a:cs typeface="Carlito"/>
                        </a:rPr>
                        <a:t> </a:t>
                      </a:r>
                      <a:r>
                        <a:rPr sz="1800" b="1" dirty="0">
                          <a:solidFill>
                            <a:srgbClr val="FFFFFF"/>
                          </a:solidFill>
                          <a:latin typeface="Carlito"/>
                          <a:cs typeface="Carlito"/>
                        </a:rPr>
                        <a:t>2</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60">
                <a:tc>
                  <a:txBody>
                    <a:bodyPr/>
                    <a:lstStyle/>
                    <a:p>
                      <a:pPr algn="ctr">
                        <a:lnSpc>
                          <a:spcPct val="100000"/>
                        </a:lnSpc>
                        <a:spcBef>
                          <a:spcPts val="240"/>
                        </a:spcBef>
                      </a:pPr>
                      <a:r>
                        <a:rPr sz="1800" dirty="0">
                          <a:latin typeface="Carlito"/>
                          <a:cs typeface="Carlito"/>
                        </a:rPr>
                        <a:t>1</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0"/>
                        </a:spcBef>
                      </a:pPr>
                      <a:r>
                        <a:rPr sz="1800" dirty="0">
                          <a:latin typeface="Carlito"/>
                          <a:cs typeface="Carlito"/>
                        </a:rPr>
                        <a:t>1.0</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0"/>
                        </a:spcBef>
                      </a:pPr>
                      <a:r>
                        <a:rPr sz="1800" dirty="0">
                          <a:latin typeface="Carlito"/>
                          <a:cs typeface="Carlito"/>
                        </a:rPr>
                        <a:t>1.0</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759">
                <a:tc>
                  <a:txBody>
                    <a:bodyPr/>
                    <a:lstStyle/>
                    <a:p>
                      <a:pPr algn="ctr">
                        <a:lnSpc>
                          <a:spcPct val="100000"/>
                        </a:lnSpc>
                        <a:spcBef>
                          <a:spcPts val="240"/>
                        </a:spcBef>
                      </a:pPr>
                      <a:r>
                        <a:rPr sz="1800" dirty="0">
                          <a:latin typeface="Carlito"/>
                          <a:cs typeface="Carlito"/>
                        </a:rPr>
                        <a:t>2</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0"/>
                        </a:spcBef>
                      </a:pPr>
                      <a:r>
                        <a:rPr sz="1800" dirty="0">
                          <a:latin typeface="Carlito"/>
                          <a:cs typeface="Carlito"/>
                        </a:rPr>
                        <a:t>1.5</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0"/>
                        </a:spcBef>
                      </a:pPr>
                      <a:r>
                        <a:rPr sz="1800" dirty="0">
                          <a:latin typeface="Carlito"/>
                          <a:cs typeface="Carlito"/>
                        </a:rPr>
                        <a:t>2.0</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365760">
                <a:tc>
                  <a:txBody>
                    <a:bodyPr/>
                    <a:lstStyle/>
                    <a:p>
                      <a:pPr algn="ctr">
                        <a:lnSpc>
                          <a:spcPct val="100000"/>
                        </a:lnSpc>
                        <a:spcBef>
                          <a:spcPts val="245"/>
                        </a:spcBef>
                      </a:pPr>
                      <a:r>
                        <a:rPr sz="1800" dirty="0">
                          <a:latin typeface="Carlito"/>
                          <a:cs typeface="Carlito"/>
                        </a:rPr>
                        <a:t>3</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3.0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4.0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365760">
                <a:tc>
                  <a:txBody>
                    <a:bodyPr/>
                    <a:lstStyle/>
                    <a:p>
                      <a:pPr algn="ctr">
                        <a:lnSpc>
                          <a:spcPct val="100000"/>
                        </a:lnSpc>
                        <a:spcBef>
                          <a:spcPts val="245"/>
                        </a:spcBef>
                      </a:pPr>
                      <a:r>
                        <a:rPr sz="1800" dirty="0">
                          <a:latin typeface="Carlito"/>
                          <a:cs typeface="Carlito"/>
                        </a:rPr>
                        <a:t>4</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5.0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7.0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365759">
                <a:tc>
                  <a:txBody>
                    <a:bodyPr/>
                    <a:lstStyle/>
                    <a:p>
                      <a:pPr algn="ctr">
                        <a:lnSpc>
                          <a:spcPct val="100000"/>
                        </a:lnSpc>
                        <a:spcBef>
                          <a:spcPts val="245"/>
                        </a:spcBef>
                      </a:pPr>
                      <a:r>
                        <a:rPr sz="1800" dirty="0">
                          <a:latin typeface="Carlito"/>
                          <a:cs typeface="Carlito"/>
                        </a:rPr>
                        <a:t>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3.5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5.0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r h="365721">
                <a:tc>
                  <a:txBody>
                    <a:bodyPr/>
                    <a:lstStyle/>
                    <a:p>
                      <a:pPr algn="ctr">
                        <a:lnSpc>
                          <a:spcPct val="100000"/>
                        </a:lnSpc>
                        <a:spcBef>
                          <a:spcPts val="245"/>
                        </a:spcBef>
                      </a:pPr>
                      <a:r>
                        <a:rPr sz="1800" dirty="0">
                          <a:latin typeface="Carlito"/>
                          <a:cs typeface="Carlito"/>
                        </a:rPr>
                        <a:t>6</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4.5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5.0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6"/>
                  </a:ext>
                </a:extLst>
              </a:tr>
              <a:tr h="365759">
                <a:tc>
                  <a:txBody>
                    <a:bodyPr/>
                    <a:lstStyle/>
                    <a:p>
                      <a:pPr algn="ctr">
                        <a:lnSpc>
                          <a:spcPct val="100000"/>
                        </a:lnSpc>
                        <a:spcBef>
                          <a:spcPts val="250"/>
                        </a:spcBef>
                      </a:pPr>
                      <a:r>
                        <a:rPr sz="1800" dirty="0">
                          <a:latin typeface="Carlito"/>
                          <a:cs typeface="Carlito"/>
                        </a:rPr>
                        <a:t>7</a:t>
                      </a:r>
                      <a:endParaRPr sz="1800">
                        <a:latin typeface="Carlito"/>
                        <a:cs typeface="Carlito"/>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50"/>
                        </a:spcBef>
                      </a:pPr>
                      <a:r>
                        <a:rPr sz="1800" dirty="0">
                          <a:latin typeface="Carlito"/>
                          <a:cs typeface="Carlito"/>
                        </a:rPr>
                        <a:t>3.5</a:t>
                      </a:r>
                      <a:endParaRPr sz="1800">
                        <a:latin typeface="Carlito"/>
                        <a:cs typeface="Carlito"/>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50"/>
                        </a:spcBef>
                      </a:pPr>
                      <a:r>
                        <a:rPr sz="1800" dirty="0">
                          <a:latin typeface="Carlito"/>
                          <a:cs typeface="Carlito"/>
                        </a:rPr>
                        <a:t>4.5</a:t>
                      </a:r>
                      <a:endParaRPr sz="1800">
                        <a:latin typeface="Carlito"/>
                        <a:cs typeface="Carlito"/>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7"/>
                  </a:ext>
                </a:extLst>
              </a:tr>
            </a:tbl>
          </a:graphicData>
        </a:graphic>
      </p:graphicFrame>
      <p:sp>
        <p:nvSpPr>
          <p:cNvPr id="5" name="object 5"/>
          <p:cNvSpPr/>
          <p:nvPr/>
        </p:nvSpPr>
        <p:spPr>
          <a:xfrm>
            <a:off x="7220204" y="1022096"/>
            <a:ext cx="62865" cy="22860"/>
          </a:xfrm>
          <a:custGeom>
            <a:avLst/>
            <a:gdLst/>
            <a:ahLst/>
            <a:cxnLst/>
            <a:rect l="l" t="t" r="r" b="b"/>
            <a:pathLst>
              <a:path w="62865" h="22859">
                <a:moveTo>
                  <a:pt x="28575" y="0"/>
                </a:moveTo>
                <a:lnTo>
                  <a:pt x="27940" y="0"/>
                </a:lnTo>
                <a:lnTo>
                  <a:pt x="20447" y="380"/>
                </a:lnTo>
                <a:lnTo>
                  <a:pt x="4191" y="7619"/>
                </a:lnTo>
                <a:lnTo>
                  <a:pt x="762" y="10159"/>
                </a:lnTo>
                <a:lnTo>
                  <a:pt x="0" y="14986"/>
                </a:lnTo>
                <a:lnTo>
                  <a:pt x="2667" y="18414"/>
                </a:lnTo>
                <a:lnTo>
                  <a:pt x="5206" y="21970"/>
                </a:lnTo>
                <a:lnTo>
                  <a:pt x="10032" y="22605"/>
                </a:lnTo>
                <a:lnTo>
                  <a:pt x="13462" y="20065"/>
                </a:lnTo>
                <a:lnTo>
                  <a:pt x="15755" y="18414"/>
                </a:lnTo>
                <a:lnTo>
                  <a:pt x="15621" y="18414"/>
                </a:lnTo>
                <a:lnTo>
                  <a:pt x="16637" y="17779"/>
                </a:lnTo>
                <a:lnTo>
                  <a:pt x="16891" y="17779"/>
                </a:lnTo>
                <a:lnTo>
                  <a:pt x="18669" y="16890"/>
                </a:lnTo>
                <a:lnTo>
                  <a:pt x="18288" y="16890"/>
                </a:lnTo>
                <a:lnTo>
                  <a:pt x="19939" y="16255"/>
                </a:lnTo>
                <a:lnTo>
                  <a:pt x="20757" y="16255"/>
                </a:lnTo>
                <a:lnTo>
                  <a:pt x="21745" y="16001"/>
                </a:lnTo>
                <a:lnTo>
                  <a:pt x="21336" y="16001"/>
                </a:lnTo>
                <a:lnTo>
                  <a:pt x="22732" y="15748"/>
                </a:lnTo>
                <a:lnTo>
                  <a:pt x="24333" y="15748"/>
                </a:lnTo>
                <a:lnTo>
                  <a:pt x="28828" y="15366"/>
                </a:lnTo>
                <a:lnTo>
                  <a:pt x="37719" y="14986"/>
                </a:lnTo>
                <a:lnTo>
                  <a:pt x="47878" y="14096"/>
                </a:lnTo>
                <a:lnTo>
                  <a:pt x="48260" y="14096"/>
                </a:lnTo>
                <a:lnTo>
                  <a:pt x="58166" y="12826"/>
                </a:lnTo>
                <a:lnTo>
                  <a:pt x="60705" y="12573"/>
                </a:lnTo>
                <a:lnTo>
                  <a:pt x="62611" y="10287"/>
                </a:lnTo>
                <a:lnTo>
                  <a:pt x="62738" y="5079"/>
                </a:lnTo>
                <a:lnTo>
                  <a:pt x="60705" y="2920"/>
                </a:lnTo>
                <a:lnTo>
                  <a:pt x="58166" y="2539"/>
                </a:lnTo>
                <a:lnTo>
                  <a:pt x="48260" y="1269"/>
                </a:lnTo>
                <a:lnTo>
                  <a:pt x="48005" y="1142"/>
                </a:lnTo>
                <a:lnTo>
                  <a:pt x="37973" y="253"/>
                </a:lnTo>
                <a:lnTo>
                  <a:pt x="28575" y="0"/>
                </a:lnTo>
                <a:close/>
              </a:path>
              <a:path w="62865" h="22859">
                <a:moveTo>
                  <a:pt x="16637" y="17779"/>
                </a:moveTo>
                <a:lnTo>
                  <a:pt x="15621" y="18414"/>
                </a:lnTo>
                <a:lnTo>
                  <a:pt x="16059" y="18195"/>
                </a:lnTo>
                <a:lnTo>
                  <a:pt x="16637" y="17779"/>
                </a:lnTo>
                <a:close/>
              </a:path>
              <a:path w="62865" h="22859">
                <a:moveTo>
                  <a:pt x="16059" y="18195"/>
                </a:moveTo>
                <a:lnTo>
                  <a:pt x="15621" y="18414"/>
                </a:lnTo>
                <a:lnTo>
                  <a:pt x="15755" y="18414"/>
                </a:lnTo>
                <a:lnTo>
                  <a:pt x="16059" y="18195"/>
                </a:lnTo>
                <a:close/>
              </a:path>
              <a:path w="62865" h="22859">
                <a:moveTo>
                  <a:pt x="16891" y="17779"/>
                </a:moveTo>
                <a:lnTo>
                  <a:pt x="16637" y="17779"/>
                </a:lnTo>
                <a:lnTo>
                  <a:pt x="16059" y="18195"/>
                </a:lnTo>
                <a:lnTo>
                  <a:pt x="16891" y="17779"/>
                </a:lnTo>
                <a:close/>
              </a:path>
              <a:path w="62865" h="22859">
                <a:moveTo>
                  <a:pt x="19939" y="16255"/>
                </a:moveTo>
                <a:lnTo>
                  <a:pt x="18288" y="16890"/>
                </a:lnTo>
                <a:lnTo>
                  <a:pt x="19072" y="16689"/>
                </a:lnTo>
                <a:lnTo>
                  <a:pt x="19939" y="16255"/>
                </a:lnTo>
                <a:close/>
              </a:path>
              <a:path w="62865" h="22859">
                <a:moveTo>
                  <a:pt x="19072" y="16689"/>
                </a:moveTo>
                <a:lnTo>
                  <a:pt x="18288" y="16890"/>
                </a:lnTo>
                <a:lnTo>
                  <a:pt x="18669" y="16890"/>
                </a:lnTo>
                <a:lnTo>
                  <a:pt x="19072" y="16689"/>
                </a:lnTo>
                <a:close/>
              </a:path>
              <a:path w="62865" h="22859">
                <a:moveTo>
                  <a:pt x="20757" y="16255"/>
                </a:moveTo>
                <a:lnTo>
                  <a:pt x="19939" y="16255"/>
                </a:lnTo>
                <a:lnTo>
                  <a:pt x="19072" y="16689"/>
                </a:lnTo>
                <a:lnTo>
                  <a:pt x="20757" y="16255"/>
                </a:lnTo>
                <a:close/>
              </a:path>
              <a:path w="62865" h="22859">
                <a:moveTo>
                  <a:pt x="22732" y="15748"/>
                </a:moveTo>
                <a:lnTo>
                  <a:pt x="21336" y="16001"/>
                </a:lnTo>
                <a:lnTo>
                  <a:pt x="21946" y="15950"/>
                </a:lnTo>
                <a:lnTo>
                  <a:pt x="22732" y="15748"/>
                </a:lnTo>
                <a:close/>
              </a:path>
              <a:path w="62865" h="22859">
                <a:moveTo>
                  <a:pt x="21946" y="15950"/>
                </a:moveTo>
                <a:lnTo>
                  <a:pt x="21336" y="16001"/>
                </a:lnTo>
                <a:lnTo>
                  <a:pt x="21745" y="16001"/>
                </a:lnTo>
                <a:lnTo>
                  <a:pt x="21946" y="15950"/>
                </a:lnTo>
                <a:close/>
              </a:path>
              <a:path w="62865" h="22859">
                <a:moveTo>
                  <a:pt x="24333" y="15748"/>
                </a:moveTo>
                <a:lnTo>
                  <a:pt x="22732" y="15748"/>
                </a:lnTo>
                <a:lnTo>
                  <a:pt x="21946" y="15950"/>
                </a:lnTo>
                <a:lnTo>
                  <a:pt x="24333" y="15748"/>
                </a:lnTo>
                <a:close/>
              </a:path>
            </a:pathLst>
          </a:custGeom>
          <a:solidFill>
            <a:srgbClr val="FF0000"/>
          </a:solidFill>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33</a:t>
            </a:fld>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1263" y="184021"/>
            <a:ext cx="4250691" cy="1058623"/>
          </a:xfrm>
          <a:prstGeom prst="rect">
            <a:avLst/>
          </a:prstGeom>
        </p:spPr>
        <p:txBody>
          <a:bodyPr vert="horz" wrap="square" lIns="0" tIns="12065" rIns="0" bIns="0" rtlCol="0">
            <a:spAutoFit/>
          </a:bodyPr>
          <a:lstStyle/>
          <a:p>
            <a:pPr marL="13335" algn="ctr">
              <a:lnSpc>
                <a:spcPct val="100000"/>
              </a:lnSpc>
              <a:spcBef>
                <a:spcPts val="95"/>
              </a:spcBef>
            </a:pPr>
            <a:r>
              <a:rPr spc="-5" dirty="0"/>
              <a:t>K-Means </a:t>
            </a:r>
            <a:r>
              <a:rPr spc="-15" dirty="0"/>
              <a:t>clustering</a:t>
            </a:r>
            <a:r>
              <a:rPr spc="40" dirty="0"/>
              <a:t> </a:t>
            </a:r>
            <a:r>
              <a:rPr spc="-20" dirty="0"/>
              <a:t>example</a:t>
            </a:r>
            <a:br>
              <a:rPr lang="en-US" spc="-20" dirty="0"/>
            </a:br>
            <a:r>
              <a:rPr lang="en-IN" sz="2000" spc="-20" dirty="0">
                <a:solidFill>
                  <a:srgbClr val="C00000"/>
                </a:solidFill>
              </a:rPr>
              <a:t>k has to be given to the algorithm, assume k=2</a:t>
            </a:r>
            <a:endParaRPr spc="-20" dirty="0">
              <a:solidFill>
                <a:srgbClr val="C00000"/>
              </a:solidFill>
            </a:endParaRPr>
          </a:p>
        </p:txBody>
      </p:sp>
      <p:grpSp>
        <p:nvGrpSpPr>
          <p:cNvPr id="3" name="object 3"/>
          <p:cNvGrpSpPr/>
          <p:nvPr/>
        </p:nvGrpSpPr>
        <p:grpSpPr>
          <a:xfrm>
            <a:off x="1046988" y="1595627"/>
            <a:ext cx="7386955" cy="2750820"/>
            <a:chOff x="1046988" y="1595627"/>
            <a:chExt cx="7386955" cy="2750820"/>
          </a:xfrm>
        </p:grpSpPr>
        <p:sp>
          <p:nvSpPr>
            <p:cNvPr id="4" name="object 4"/>
            <p:cNvSpPr/>
            <p:nvPr/>
          </p:nvSpPr>
          <p:spPr>
            <a:xfrm>
              <a:off x="1046988" y="1595627"/>
              <a:ext cx="7386955" cy="2750820"/>
            </a:xfrm>
            <a:custGeom>
              <a:avLst/>
              <a:gdLst/>
              <a:ahLst/>
              <a:cxnLst/>
              <a:rect l="l" t="t" r="r" b="b"/>
              <a:pathLst>
                <a:path w="7386955" h="2750820">
                  <a:moveTo>
                    <a:pt x="0" y="2407920"/>
                  </a:moveTo>
                  <a:lnTo>
                    <a:pt x="7386828" y="2407920"/>
                  </a:lnTo>
                </a:path>
                <a:path w="7386955" h="2750820">
                  <a:moveTo>
                    <a:pt x="0" y="2063496"/>
                  </a:moveTo>
                  <a:lnTo>
                    <a:pt x="7386828" y="2063496"/>
                  </a:lnTo>
                </a:path>
                <a:path w="7386955" h="2750820">
                  <a:moveTo>
                    <a:pt x="0" y="1719072"/>
                  </a:moveTo>
                  <a:lnTo>
                    <a:pt x="7386828" y="1719072"/>
                  </a:lnTo>
                </a:path>
                <a:path w="7386955" h="2750820">
                  <a:moveTo>
                    <a:pt x="0" y="1376172"/>
                  </a:moveTo>
                  <a:lnTo>
                    <a:pt x="7386828" y="1376172"/>
                  </a:lnTo>
                </a:path>
                <a:path w="7386955" h="2750820">
                  <a:moveTo>
                    <a:pt x="0" y="1031748"/>
                  </a:moveTo>
                  <a:lnTo>
                    <a:pt x="7386828" y="1031748"/>
                  </a:lnTo>
                </a:path>
                <a:path w="7386955" h="2750820">
                  <a:moveTo>
                    <a:pt x="0" y="687324"/>
                  </a:moveTo>
                  <a:lnTo>
                    <a:pt x="7386828" y="687324"/>
                  </a:lnTo>
                </a:path>
                <a:path w="7386955" h="2750820">
                  <a:moveTo>
                    <a:pt x="0" y="342900"/>
                  </a:moveTo>
                  <a:lnTo>
                    <a:pt x="7386828" y="342900"/>
                  </a:lnTo>
                </a:path>
                <a:path w="7386955" h="2750820">
                  <a:moveTo>
                    <a:pt x="0" y="0"/>
                  </a:moveTo>
                  <a:lnTo>
                    <a:pt x="7386828" y="0"/>
                  </a:lnTo>
                </a:path>
                <a:path w="7386955" h="2750820">
                  <a:moveTo>
                    <a:pt x="1229868" y="0"/>
                  </a:moveTo>
                  <a:lnTo>
                    <a:pt x="1229868" y="2750820"/>
                  </a:lnTo>
                </a:path>
                <a:path w="7386955" h="2750820">
                  <a:moveTo>
                    <a:pt x="2461260" y="0"/>
                  </a:moveTo>
                  <a:lnTo>
                    <a:pt x="2461260" y="2750820"/>
                  </a:lnTo>
                </a:path>
                <a:path w="7386955" h="2750820">
                  <a:moveTo>
                    <a:pt x="3692652" y="0"/>
                  </a:moveTo>
                  <a:lnTo>
                    <a:pt x="3692652" y="2750820"/>
                  </a:lnTo>
                </a:path>
                <a:path w="7386955" h="2750820">
                  <a:moveTo>
                    <a:pt x="4924044" y="0"/>
                  </a:moveTo>
                  <a:lnTo>
                    <a:pt x="4924044" y="2750820"/>
                  </a:lnTo>
                </a:path>
                <a:path w="7386955" h="2750820">
                  <a:moveTo>
                    <a:pt x="6155436" y="0"/>
                  </a:moveTo>
                  <a:lnTo>
                    <a:pt x="6155436" y="2750820"/>
                  </a:lnTo>
                </a:path>
                <a:path w="7386955" h="2750820">
                  <a:moveTo>
                    <a:pt x="7386828" y="0"/>
                  </a:moveTo>
                  <a:lnTo>
                    <a:pt x="7386828" y="2750820"/>
                  </a:lnTo>
                </a:path>
              </a:pathLst>
            </a:custGeom>
            <a:ln w="9144">
              <a:solidFill>
                <a:srgbClr val="D9D9D9"/>
              </a:solidFill>
            </a:ln>
          </p:spPr>
          <p:txBody>
            <a:bodyPr wrap="square" lIns="0" tIns="0" rIns="0" bIns="0" rtlCol="0"/>
            <a:lstStyle/>
            <a:p>
              <a:endParaRPr/>
            </a:p>
          </p:txBody>
        </p:sp>
        <p:sp>
          <p:nvSpPr>
            <p:cNvPr id="5" name="object 5"/>
            <p:cNvSpPr/>
            <p:nvPr/>
          </p:nvSpPr>
          <p:spPr>
            <a:xfrm>
              <a:off x="1046988" y="1595627"/>
              <a:ext cx="7386955" cy="2750820"/>
            </a:xfrm>
            <a:custGeom>
              <a:avLst/>
              <a:gdLst/>
              <a:ahLst/>
              <a:cxnLst/>
              <a:rect l="l" t="t" r="r" b="b"/>
              <a:pathLst>
                <a:path w="7386955" h="2750820">
                  <a:moveTo>
                    <a:pt x="0" y="2750820"/>
                  </a:moveTo>
                  <a:lnTo>
                    <a:pt x="0" y="0"/>
                  </a:lnTo>
                </a:path>
                <a:path w="7386955" h="2750820">
                  <a:moveTo>
                    <a:pt x="0" y="2750820"/>
                  </a:moveTo>
                  <a:lnTo>
                    <a:pt x="7386828" y="2750820"/>
                  </a:lnTo>
                </a:path>
              </a:pathLst>
            </a:custGeom>
            <a:ln w="9144">
              <a:solidFill>
                <a:srgbClr val="BEBEBE"/>
              </a:solidFill>
            </a:ln>
          </p:spPr>
          <p:txBody>
            <a:bodyPr wrap="square" lIns="0" tIns="0" rIns="0" bIns="0" rtlCol="0"/>
            <a:lstStyle/>
            <a:p>
              <a:endParaRPr/>
            </a:p>
          </p:txBody>
        </p:sp>
        <p:sp>
          <p:nvSpPr>
            <p:cNvPr id="6" name="object 6"/>
            <p:cNvSpPr/>
            <p:nvPr/>
          </p:nvSpPr>
          <p:spPr>
            <a:xfrm>
              <a:off x="2240280" y="3966210"/>
              <a:ext cx="73152" cy="73152"/>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2855976" y="3621785"/>
              <a:ext cx="73152" cy="73151"/>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703064" y="2934461"/>
              <a:ext cx="73152" cy="73152"/>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7165847" y="1901189"/>
              <a:ext cx="73151" cy="73152"/>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5318759" y="2590038"/>
              <a:ext cx="73151" cy="73152"/>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6550152" y="2590038"/>
              <a:ext cx="73151" cy="73152"/>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5318759" y="2724911"/>
              <a:ext cx="164591" cy="110490"/>
            </a:xfrm>
            <a:prstGeom prst="rect">
              <a:avLst/>
            </a:prstGeom>
            <a:blipFill>
              <a:blip r:embed="rId6" cstate="print"/>
              <a:stretch>
                <a:fillRect/>
              </a:stretch>
            </a:blipFill>
          </p:spPr>
          <p:txBody>
            <a:bodyPr wrap="square" lIns="0" tIns="0" rIns="0" bIns="0" rtlCol="0"/>
            <a:lstStyle/>
            <a:p>
              <a:endParaRPr/>
            </a:p>
          </p:txBody>
        </p:sp>
      </p:grpSp>
      <p:sp>
        <p:nvSpPr>
          <p:cNvPr id="13" name="object 13"/>
          <p:cNvSpPr txBox="1"/>
          <p:nvPr/>
        </p:nvSpPr>
        <p:spPr>
          <a:xfrm>
            <a:off x="2140966" y="3782669"/>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1</a:t>
            </a:r>
            <a:endParaRPr sz="900">
              <a:latin typeface="Carlito"/>
              <a:cs typeface="Carlito"/>
            </a:endParaRPr>
          </a:p>
        </p:txBody>
      </p:sp>
      <p:sp>
        <p:nvSpPr>
          <p:cNvPr id="14" name="object 14"/>
          <p:cNvSpPr txBox="1"/>
          <p:nvPr/>
        </p:nvSpPr>
        <p:spPr>
          <a:xfrm>
            <a:off x="2864485" y="3412997"/>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2</a:t>
            </a:r>
            <a:endParaRPr sz="900">
              <a:latin typeface="Carlito"/>
              <a:cs typeface="Carlito"/>
            </a:endParaRPr>
          </a:p>
        </p:txBody>
      </p:sp>
      <p:sp>
        <p:nvSpPr>
          <p:cNvPr id="15" name="object 15"/>
          <p:cNvSpPr txBox="1"/>
          <p:nvPr/>
        </p:nvSpPr>
        <p:spPr>
          <a:xfrm>
            <a:off x="4711572" y="2724657"/>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3</a:t>
            </a:r>
            <a:endParaRPr sz="900">
              <a:latin typeface="Carlito"/>
              <a:cs typeface="Carlito"/>
            </a:endParaRPr>
          </a:p>
        </p:txBody>
      </p:sp>
      <p:sp>
        <p:nvSpPr>
          <p:cNvPr id="16" name="object 16"/>
          <p:cNvSpPr txBox="1"/>
          <p:nvPr/>
        </p:nvSpPr>
        <p:spPr>
          <a:xfrm>
            <a:off x="7174356" y="1692402"/>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4</a:t>
            </a:r>
            <a:endParaRPr sz="900">
              <a:latin typeface="Carlito"/>
              <a:cs typeface="Carlito"/>
            </a:endParaRPr>
          </a:p>
        </p:txBody>
      </p:sp>
      <p:sp>
        <p:nvSpPr>
          <p:cNvPr id="17" name="object 17"/>
          <p:cNvSpPr txBox="1"/>
          <p:nvPr/>
        </p:nvSpPr>
        <p:spPr>
          <a:xfrm>
            <a:off x="5327269" y="2380614"/>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5</a:t>
            </a:r>
            <a:endParaRPr sz="900">
              <a:latin typeface="Carlito"/>
              <a:cs typeface="Carlito"/>
            </a:endParaRPr>
          </a:p>
        </p:txBody>
      </p:sp>
      <p:sp>
        <p:nvSpPr>
          <p:cNvPr id="18" name="object 18"/>
          <p:cNvSpPr txBox="1"/>
          <p:nvPr/>
        </p:nvSpPr>
        <p:spPr>
          <a:xfrm>
            <a:off x="6558660" y="2380614"/>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6</a:t>
            </a:r>
            <a:endParaRPr sz="900">
              <a:latin typeface="Carlito"/>
              <a:cs typeface="Carlito"/>
            </a:endParaRPr>
          </a:p>
        </p:txBody>
      </p:sp>
      <p:sp>
        <p:nvSpPr>
          <p:cNvPr id="19" name="object 19"/>
          <p:cNvSpPr txBox="1"/>
          <p:nvPr/>
        </p:nvSpPr>
        <p:spPr>
          <a:xfrm>
            <a:off x="5517769" y="2641473"/>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7</a:t>
            </a:r>
            <a:endParaRPr sz="900">
              <a:latin typeface="Carlito"/>
              <a:cs typeface="Carlito"/>
            </a:endParaRPr>
          </a:p>
        </p:txBody>
      </p:sp>
      <p:sp>
        <p:nvSpPr>
          <p:cNvPr id="20" name="object 20"/>
          <p:cNvSpPr txBox="1"/>
          <p:nvPr/>
        </p:nvSpPr>
        <p:spPr>
          <a:xfrm>
            <a:off x="725220" y="3909466"/>
            <a:ext cx="228600" cy="50673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1.00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0.00</a:t>
            </a:r>
            <a:endParaRPr sz="900">
              <a:latin typeface="Carlito"/>
              <a:cs typeface="Carlito"/>
            </a:endParaRPr>
          </a:p>
        </p:txBody>
      </p:sp>
      <p:sp>
        <p:nvSpPr>
          <p:cNvPr id="21" name="object 21"/>
          <p:cNvSpPr txBox="1"/>
          <p:nvPr/>
        </p:nvSpPr>
        <p:spPr>
          <a:xfrm>
            <a:off x="725220" y="3565397"/>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2.00</a:t>
            </a:r>
            <a:endParaRPr sz="900">
              <a:latin typeface="Carlito"/>
              <a:cs typeface="Carlito"/>
            </a:endParaRPr>
          </a:p>
        </p:txBody>
      </p:sp>
      <p:sp>
        <p:nvSpPr>
          <p:cNvPr id="22" name="object 22"/>
          <p:cNvSpPr txBox="1"/>
          <p:nvPr/>
        </p:nvSpPr>
        <p:spPr>
          <a:xfrm>
            <a:off x="725220" y="2877057"/>
            <a:ext cx="228600" cy="50673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4.00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3.00</a:t>
            </a:r>
            <a:endParaRPr sz="900">
              <a:latin typeface="Carlito"/>
              <a:cs typeface="Carlito"/>
            </a:endParaRPr>
          </a:p>
        </p:txBody>
      </p:sp>
      <p:sp>
        <p:nvSpPr>
          <p:cNvPr id="23" name="object 23"/>
          <p:cNvSpPr txBox="1"/>
          <p:nvPr/>
        </p:nvSpPr>
        <p:spPr>
          <a:xfrm>
            <a:off x="725220" y="2533014"/>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5.00</a:t>
            </a:r>
            <a:endParaRPr sz="900">
              <a:latin typeface="Carlito"/>
              <a:cs typeface="Carlito"/>
            </a:endParaRPr>
          </a:p>
        </p:txBody>
      </p:sp>
      <p:sp>
        <p:nvSpPr>
          <p:cNvPr id="24" name="object 24"/>
          <p:cNvSpPr txBox="1"/>
          <p:nvPr/>
        </p:nvSpPr>
        <p:spPr>
          <a:xfrm>
            <a:off x="725220" y="1844801"/>
            <a:ext cx="228600" cy="50673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7.00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6.00</a:t>
            </a:r>
            <a:endParaRPr sz="900">
              <a:latin typeface="Carlito"/>
              <a:cs typeface="Carlito"/>
            </a:endParaRPr>
          </a:p>
        </p:txBody>
      </p:sp>
      <p:sp>
        <p:nvSpPr>
          <p:cNvPr id="25" name="object 25"/>
          <p:cNvSpPr txBox="1"/>
          <p:nvPr/>
        </p:nvSpPr>
        <p:spPr>
          <a:xfrm>
            <a:off x="725220" y="1500632"/>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8.00</a:t>
            </a:r>
            <a:endParaRPr sz="900">
              <a:latin typeface="Carlito"/>
              <a:cs typeface="Carlito"/>
            </a:endParaRPr>
          </a:p>
        </p:txBody>
      </p:sp>
      <p:sp>
        <p:nvSpPr>
          <p:cNvPr id="26" name="object 26"/>
          <p:cNvSpPr txBox="1"/>
          <p:nvPr/>
        </p:nvSpPr>
        <p:spPr>
          <a:xfrm>
            <a:off x="932789"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0.00</a:t>
            </a:r>
            <a:endParaRPr sz="900">
              <a:latin typeface="Carlito"/>
              <a:cs typeface="Carlito"/>
            </a:endParaRPr>
          </a:p>
        </p:txBody>
      </p:sp>
      <p:sp>
        <p:nvSpPr>
          <p:cNvPr id="27" name="object 27"/>
          <p:cNvSpPr txBox="1"/>
          <p:nvPr/>
        </p:nvSpPr>
        <p:spPr>
          <a:xfrm>
            <a:off x="2163826"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1.00</a:t>
            </a:r>
            <a:endParaRPr sz="900">
              <a:latin typeface="Carlito"/>
              <a:cs typeface="Carlito"/>
            </a:endParaRPr>
          </a:p>
        </p:txBody>
      </p:sp>
      <p:sp>
        <p:nvSpPr>
          <p:cNvPr id="28" name="object 28"/>
          <p:cNvSpPr txBox="1"/>
          <p:nvPr/>
        </p:nvSpPr>
        <p:spPr>
          <a:xfrm>
            <a:off x="3395217"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2.00</a:t>
            </a:r>
            <a:endParaRPr sz="900">
              <a:latin typeface="Carlito"/>
              <a:cs typeface="Carlito"/>
            </a:endParaRPr>
          </a:p>
        </p:txBody>
      </p:sp>
      <p:sp>
        <p:nvSpPr>
          <p:cNvPr id="29" name="object 29"/>
          <p:cNvSpPr txBox="1"/>
          <p:nvPr/>
        </p:nvSpPr>
        <p:spPr>
          <a:xfrm>
            <a:off x="4626609"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3.00</a:t>
            </a:r>
            <a:endParaRPr sz="900">
              <a:latin typeface="Carlito"/>
              <a:cs typeface="Carlito"/>
            </a:endParaRPr>
          </a:p>
        </p:txBody>
      </p:sp>
      <p:sp>
        <p:nvSpPr>
          <p:cNvPr id="30" name="object 30"/>
          <p:cNvSpPr txBox="1"/>
          <p:nvPr/>
        </p:nvSpPr>
        <p:spPr>
          <a:xfrm>
            <a:off x="5858002"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4.00</a:t>
            </a:r>
            <a:endParaRPr sz="900">
              <a:latin typeface="Carlito"/>
              <a:cs typeface="Carlito"/>
            </a:endParaRPr>
          </a:p>
        </p:txBody>
      </p:sp>
      <p:sp>
        <p:nvSpPr>
          <p:cNvPr id="31" name="object 31"/>
          <p:cNvSpPr txBox="1"/>
          <p:nvPr/>
        </p:nvSpPr>
        <p:spPr>
          <a:xfrm>
            <a:off x="7089140"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5.00</a:t>
            </a:r>
            <a:endParaRPr sz="900">
              <a:latin typeface="Carlito"/>
              <a:cs typeface="Carlito"/>
            </a:endParaRPr>
          </a:p>
        </p:txBody>
      </p:sp>
      <p:sp>
        <p:nvSpPr>
          <p:cNvPr id="32" name="object 32"/>
          <p:cNvSpPr txBox="1"/>
          <p:nvPr/>
        </p:nvSpPr>
        <p:spPr>
          <a:xfrm>
            <a:off x="8320531"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6.00</a:t>
            </a:r>
            <a:endParaRPr sz="900">
              <a:latin typeface="Carlito"/>
              <a:cs typeface="Carlito"/>
            </a:endParaRPr>
          </a:p>
        </p:txBody>
      </p:sp>
      <p:sp>
        <p:nvSpPr>
          <p:cNvPr id="34" name="object 34"/>
          <p:cNvSpPr/>
          <p:nvPr/>
        </p:nvSpPr>
        <p:spPr>
          <a:xfrm>
            <a:off x="2192273" y="3853434"/>
            <a:ext cx="253365" cy="253365"/>
          </a:xfrm>
          <a:custGeom>
            <a:avLst/>
            <a:gdLst/>
            <a:ahLst/>
            <a:cxnLst/>
            <a:rect l="l" t="t" r="r" b="b"/>
            <a:pathLst>
              <a:path w="253364" h="253364">
                <a:moveTo>
                  <a:pt x="0" y="126491"/>
                </a:moveTo>
                <a:lnTo>
                  <a:pt x="9941" y="77254"/>
                </a:lnTo>
                <a:lnTo>
                  <a:pt x="37052" y="37047"/>
                </a:lnTo>
                <a:lnTo>
                  <a:pt x="77259" y="9939"/>
                </a:lnTo>
                <a:lnTo>
                  <a:pt x="126492" y="0"/>
                </a:lnTo>
                <a:lnTo>
                  <a:pt x="175724" y="9939"/>
                </a:lnTo>
                <a:lnTo>
                  <a:pt x="215931" y="37047"/>
                </a:lnTo>
                <a:lnTo>
                  <a:pt x="243042" y="77254"/>
                </a:lnTo>
                <a:lnTo>
                  <a:pt x="252983" y="126491"/>
                </a:lnTo>
                <a:lnTo>
                  <a:pt x="243042" y="175729"/>
                </a:lnTo>
                <a:lnTo>
                  <a:pt x="215931" y="215936"/>
                </a:lnTo>
                <a:lnTo>
                  <a:pt x="175724" y="243044"/>
                </a:lnTo>
                <a:lnTo>
                  <a:pt x="126492" y="252983"/>
                </a:lnTo>
                <a:lnTo>
                  <a:pt x="77259" y="243044"/>
                </a:lnTo>
                <a:lnTo>
                  <a:pt x="37052" y="215936"/>
                </a:lnTo>
                <a:lnTo>
                  <a:pt x="9941" y="175729"/>
                </a:lnTo>
                <a:lnTo>
                  <a:pt x="0" y="126491"/>
                </a:lnTo>
                <a:close/>
              </a:path>
            </a:pathLst>
          </a:custGeom>
          <a:ln w="25908">
            <a:solidFill>
              <a:srgbClr val="8B3836"/>
            </a:solidFill>
          </a:ln>
        </p:spPr>
        <p:txBody>
          <a:bodyPr wrap="square" lIns="0" tIns="0" rIns="0" bIns="0" rtlCol="0"/>
          <a:lstStyle/>
          <a:p>
            <a:endParaRPr/>
          </a:p>
        </p:txBody>
      </p:sp>
      <p:sp>
        <p:nvSpPr>
          <p:cNvPr id="35" name="object 35"/>
          <p:cNvSpPr/>
          <p:nvPr/>
        </p:nvSpPr>
        <p:spPr>
          <a:xfrm>
            <a:off x="4626609" y="2873363"/>
            <a:ext cx="251460" cy="253365"/>
          </a:xfrm>
          <a:custGeom>
            <a:avLst/>
            <a:gdLst/>
            <a:ahLst/>
            <a:cxnLst/>
            <a:rect l="l" t="t" r="r" b="b"/>
            <a:pathLst>
              <a:path w="251460" h="253364">
                <a:moveTo>
                  <a:pt x="0" y="126492"/>
                </a:moveTo>
                <a:lnTo>
                  <a:pt x="9876" y="77259"/>
                </a:lnTo>
                <a:lnTo>
                  <a:pt x="36814" y="37052"/>
                </a:lnTo>
                <a:lnTo>
                  <a:pt x="76777" y="9941"/>
                </a:lnTo>
                <a:lnTo>
                  <a:pt x="125729" y="0"/>
                </a:lnTo>
                <a:lnTo>
                  <a:pt x="174682" y="9941"/>
                </a:lnTo>
                <a:lnTo>
                  <a:pt x="214645" y="37052"/>
                </a:lnTo>
                <a:lnTo>
                  <a:pt x="241583" y="77259"/>
                </a:lnTo>
                <a:lnTo>
                  <a:pt x="251459" y="126492"/>
                </a:lnTo>
                <a:lnTo>
                  <a:pt x="241583" y="175724"/>
                </a:lnTo>
                <a:lnTo>
                  <a:pt x="214645" y="215931"/>
                </a:lnTo>
                <a:lnTo>
                  <a:pt x="174682" y="243042"/>
                </a:lnTo>
                <a:lnTo>
                  <a:pt x="125729" y="252984"/>
                </a:lnTo>
                <a:lnTo>
                  <a:pt x="76777" y="243042"/>
                </a:lnTo>
                <a:lnTo>
                  <a:pt x="36814" y="215931"/>
                </a:lnTo>
                <a:lnTo>
                  <a:pt x="9876" y="175724"/>
                </a:lnTo>
                <a:lnTo>
                  <a:pt x="0" y="126492"/>
                </a:lnTo>
                <a:close/>
              </a:path>
            </a:pathLst>
          </a:custGeom>
          <a:ln w="25908">
            <a:solidFill>
              <a:srgbClr val="8B3836"/>
            </a:solidFill>
          </a:ln>
        </p:spPr>
        <p:txBody>
          <a:bodyPr wrap="square" lIns="0" tIns="0" rIns="0" bIns="0" rtlCol="0"/>
          <a:lstStyle/>
          <a:p>
            <a:endParaRPr/>
          </a:p>
        </p:txBody>
      </p:sp>
      <p:sp>
        <p:nvSpPr>
          <p:cNvPr id="40" name="object 4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34</a:t>
            </a:fld>
            <a:endParaRPr dirty="0"/>
          </a:p>
        </p:txBody>
      </p:sp>
      <p:sp>
        <p:nvSpPr>
          <p:cNvPr id="41" name="TextBox 40">
            <a:extLst>
              <a:ext uri="{FF2B5EF4-FFF2-40B4-BE49-F238E27FC236}">
                <a16:creationId xmlns:a16="http://schemas.microsoft.com/office/drawing/2014/main" id="{9F60E0B9-EEB2-4363-84E2-EEC86EBCBEC6}"/>
              </a:ext>
            </a:extLst>
          </p:cNvPr>
          <p:cNvSpPr txBox="1"/>
          <p:nvPr/>
        </p:nvSpPr>
        <p:spPr>
          <a:xfrm>
            <a:off x="3623817" y="4705350"/>
            <a:ext cx="2167383" cy="369332"/>
          </a:xfrm>
          <a:prstGeom prst="rect">
            <a:avLst/>
          </a:prstGeom>
          <a:noFill/>
        </p:spPr>
        <p:txBody>
          <a:bodyPr wrap="square" rtlCol="0">
            <a:spAutoFit/>
          </a:bodyPr>
          <a:lstStyle/>
          <a:p>
            <a:r>
              <a:rPr lang="en-US" dirty="0"/>
              <a:t>Variable 1</a:t>
            </a:r>
            <a:endParaRPr lang="en-IN" dirty="0"/>
          </a:p>
        </p:txBody>
      </p:sp>
      <p:sp>
        <p:nvSpPr>
          <p:cNvPr id="42" name="TextBox 41">
            <a:extLst>
              <a:ext uri="{FF2B5EF4-FFF2-40B4-BE49-F238E27FC236}">
                <a16:creationId xmlns:a16="http://schemas.microsoft.com/office/drawing/2014/main" id="{4F03CD73-D376-464F-97A0-3A314311FDF0}"/>
              </a:ext>
            </a:extLst>
          </p:cNvPr>
          <p:cNvSpPr txBox="1"/>
          <p:nvPr/>
        </p:nvSpPr>
        <p:spPr>
          <a:xfrm rot="16200000">
            <a:off x="-790733" y="2475780"/>
            <a:ext cx="2167383" cy="369332"/>
          </a:xfrm>
          <a:prstGeom prst="rect">
            <a:avLst/>
          </a:prstGeom>
          <a:noFill/>
        </p:spPr>
        <p:txBody>
          <a:bodyPr wrap="square" rtlCol="0">
            <a:spAutoFit/>
          </a:bodyPr>
          <a:lstStyle/>
          <a:p>
            <a:r>
              <a:rPr lang="en-US" dirty="0"/>
              <a:t>Variable 2</a:t>
            </a:r>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5" dirty="0"/>
              <a:t>K-Means </a:t>
            </a:r>
            <a:r>
              <a:rPr spc="-15" dirty="0"/>
              <a:t>clustering</a:t>
            </a:r>
            <a:r>
              <a:rPr spc="40" dirty="0"/>
              <a:t> </a:t>
            </a:r>
            <a:r>
              <a:rPr spc="-20" dirty="0"/>
              <a:t>example</a:t>
            </a:r>
          </a:p>
        </p:txBody>
      </p:sp>
      <p:sp>
        <p:nvSpPr>
          <p:cNvPr id="3" name="object 3"/>
          <p:cNvSpPr txBox="1"/>
          <p:nvPr/>
        </p:nvSpPr>
        <p:spPr>
          <a:xfrm>
            <a:off x="535940" y="1216913"/>
            <a:ext cx="7818755" cy="635635"/>
          </a:xfrm>
          <a:prstGeom prst="rect">
            <a:avLst/>
          </a:prstGeom>
        </p:spPr>
        <p:txBody>
          <a:bodyPr vert="horz" wrap="square" lIns="0" tIns="13335" rIns="0" bIns="0" rtlCol="0">
            <a:spAutoFit/>
          </a:bodyPr>
          <a:lstStyle/>
          <a:p>
            <a:pPr marL="355600" marR="5080" indent="-342900">
              <a:lnSpc>
                <a:spcPct val="100000"/>
              </a:lnSpc>
              <a:spcBef>
                <a:spcPts val="105"/>
              </a:spcBef>
              <a:buFont typeface="Arial"/>
              <a:buChar char="•"/>
              <a:tabLst>
                <a:tab pos="354965" algn="l"/>
                <a:tab pos="355600" algn="l"/>
              </a:tabLst>
            </a:pPr>
            <a:r>
              <a:rPr sz="2000" u="heavy" spc="-5" dirty="0">
                <a:uFill>
                  <a:solidFill>
                    <a:srgbClr val="000000"/>
                  </a:solidFill>
                </a:uFill>
                <a:latin typeface="Carlito"/>
                <a:cs typeface="Carlito"/>
              </a:rPr>
              <a:t>Initialization</a:t>
            </a:r>
            <a:r>
              <a:rPr sz="2000" spc="-5" dirty="0">
                <a:latin typeface="Carlito"/>
                <a:cs typeface="Carlito"/>
              </a:rPr>
              <a:t>: Randomly </a:t>
            </a:r>
            <a:r>
              <a:rPr sz="2000" spc="-10" dirty="0">
                <a:latin typeface="Carlito"/>
                <a:cs typeface="Carlito"/>
              </a:rPr>
              <a:t>we </a:t>
            </a:r>
            <a:r>
              <a:rPr sz="2000" dirty="0">
                <a:latin typeface="Carlito"/>
                <a:cs typeface="Carlito"/>
              </a:rPr>
              <a:t>choose </a:t>
            </a:r>
            <a:r>
              <a:rPr sz="2000" spc="-10" dirty="0">
                <a:latin typeface="Carlito"/>
                <a:cs typeface="Carlito"/>
              </a:rPr>
              <a:t>following two centroids </a:t>
            </a:r>
            <a:r>
              <a:rPr sz="2000" spc="-5" dirty="0">
                <a:latin typeface="Carlito"/>
                <a:cs typeface="Carlito"/>
              </a:rPr>
              <a:t>(k=2) </a:t>
            </a:r>
            <a:r>
              <a:rPr sz="2000" spc="-20" dirty="0">
                <a:latin typeface="Carlito"/>
                <a:cs typeface="Carlito"/>
              </a:rPr>
              <a:t>for </a:t>
            </a:r>
            <a:r>
              <a:rPr sz="2000" spc="-10" dirty="0">
                <a:latin typeface="Carlito"/>
                <a:cs typeface="Carlito"/>
              </a:rPr>
              <a:t>two  clusters. </a:t>
            </a:r>
            <a:r>
              <a:rPr sz="2000" dirty="0">
                <a:latin typeface="Carlito"/>
                <a:cs typeface="Carlito"/>
              </a:rPr>
              <a:t>In this </a:t>
            </a:r>
            <a:r>
              <a:rPr sz="2000" spc="-5" dirty="0">
                <a:latin typeface="Carlito"/>
                <a:cs typeface="Carlito"/>
              </a:rPr>
              <a:t>case </a:t>
            </a:r>
            <a:r>
              <a:rPr sz="2000" dirty="0">
                <a:latin typeface="Carlito"/>
                <a:cs typeface="Carlito"/>
              </a:rPr>
              <a:t>the 2 </a:t>
            </a:r>
            <a:r>
              <a:rPr sz="2000" spc="-10" dirty="0">
                <a:latin typeface="Carlito"/>
                <a:cs typeface="Carlito"/>
              </a:rPr>
              <a:t>centroid</a:t>
            </a:r>
            <a:r>
              <a:rPr sz="2000" dirty="0">
                <a:latin typeface="Carlito"/>
                <a:cs typeface="Carlito"/>
              </a:rPr>
              <a:t> </a:t>
            </a:r>
            <a:r>
              <a:rPr sz="2000" spc="-5" dirty="0">
                <a:latin typeface="Carlito"/>
                <a:cs typeface="Carlito"/>
              </a:rPr>
              <a:t>are:</a:t>
            </a:r>
            <a:endParaRPr sz="2000">
              <a:latin typeface="Carlito"/>
              <a:cs typeface="Carlito"/>
            </a:endParaRPr>
          </a:p>
        </p:txBody>
      </p:sp>
      <p:sp>
        <p:nvSpPr>
          <p:cNvPr id="4" name="object 4"/>
          <p:cNvSpPr txBox="1"/>
          <p:nvPr/>
        </p:nvSpPr>
        <p:spPr>
          <a:xfrm>
            <a:off x="535940" y="3351022"/>
            <a:ext cx="5887085" cy="330835"/>
          </a:xfrm>
          <a:prstGeom prst="rect">
            <a:avLst/>
          </a:prstGeom>
        </p:spPr>
        <p:txBody>
          <a:bodyPr vert="horz" wrap="square" lIns="0" tIns="12700" rIns="0" bIns="0" rtlCol="0">
            <a:spAutoFit/>
          </a:bodyPr>
          <a:lstStyle/>
          <a:p>
            <a:pPr marL="355600" indent="-342900">
              <a:lnSpc>
                <a:spcPct val="100000"/>
              </a:lnSpc>
              <a:spcBef>
                <a:spcPts val="100"/>
              </a:spcBef>
              <a:buFont typeface="Arial"/>
              <a:buChar char="•"/>
              <a:tabLst>
                <a:tab pos="354965" algn="l"/>
                <a:tab pos="355600" algn="l"/>
              </a:tabLst>
            </a:pPr>
            <a:r>
              <a:rPr sz="2000" spc="-10" dirty="0">
                <a:latin typeface="Carlito"/>
                <a:cs typeface="Carlito"/>
              </a:rPr>
              <a:t>Calculate </a:t>
            </a:r>
            <a:r>
              <a:rPr sz="2000" dirty="0">
                <a:latin typeface="Carlito"/>
                <a:cs typeface="Carlito"/>
              </a:rPr>
              <a:t>Euclidean </a:t>
            </a:r>
            <a:r>
              <a:rPr sz="2000" spc="-10" dirty="0">
                <a:latin typeface="Carlito"/>
                <a:cs typeface="Carlito"/>
              </a:rPr>
              <a:t>distance </a:t>
            </a:r>
            <a:r>
              <a:rPr sz="2000" spc="-5" dirty="0">
                <a:latin typeface="Carlito"/>
                <a:cs typeface="Carlito"/>
              </a:rPr>
              <a:t>using </a:t>
            </a:r>
            <a:r>
              <a:rPr sz="2000" dirty="0">
                <a:latin typeface="Carlito"/>
                <a:cs typeface="Carlito"/>
              </a:rPr>
              <a:t>the </a:t>
            </a:r>
            <a:r>
              <a:rPr sz="2000" spc="-5" dirty="0">
                <a:latin typeface="Carlito"/>
                <a:cs typeface="Carlito"/>
              </a:rPr>
              <a:t>given</a:t>
            </a:r>
            <a:r>
              <a:rPr sz="2000" spc="75" dirty="0">
                <a:latin typeface="Carlito"/>
                <a:cs typeface="Carlito"/>
              </a:rPr>
              <a:t> </a:t>
            </a:r>
            <a:r>
              <a:rPr sz="2000" spc="-5" dirty="0">
                <a:latin typeface="Carlito"/>
                <a:cs typeface="Carlito"/>
              </a:rPr>
              <a:t>equation</a:t>
            </a:r>
            <a:endParaRPr sz="2000">
              <a:latin typeface="Carlito"/>
              <a:cs typeface="Carlito"/>
            </a:endParaRPr>
          </a:p>
        </p:txBody>
      </p:sp>
      <p:sp>
        <p:nvSpPr>
          <p:cNvPr id="5" name="object 5"/>
          <p:cNvSpPr txBox="1"/>
          <p:nvPr/>
        </p:nvSpPr>
        <p:spPr>
          <a:xfrm>
            <a:off x="1196644" y="3750361"/>
            <a:ext cx="3162935" cy="330835"/>
          </a:xfrm>
          <a:prstGeom prst="rect">
            <a:avLst/>
          </a:prstGeom>
        </p:spPr>
        <p:txBody>
          <a:bodyPr vert="horz" wrap="square" lIns="0" tIns="12700" rIns="0" bIns="0" rtlCol="0">
            <a:spAutoFit/>
          </a:bodyPr>
          <a:lstStyle/>
          <a:p>
            <a:pPr marL="38100">
              <a:lnSpc>
                <a:spcPct val="100000"/>
              </a:lnSpc>
              <a:spcBef>
                <a:spcPts val="100"/>
              </a:spcBef>
            </a:pPr>
            <a:r>
              <a:rPr sz="2000" spc="-10" dirty="0">
                <a:latin typeface="Carlito"/>
                <a:cs typeface="Carlito"/>
              </a:rPr>
              <a:t>Distance </a:t>
            </a:r>
            <a:r>
              <a:rPr sz="2000" spc="25" dirty="0">
                <a:latin typeface="DejaVu Serif Condensed"/>
                <a:cs typeface="DejaVu Serif Condensed"/>
              </a:rPr>
              <a:t>[(𝑥</a:t>
            </a:r>
            <a:r>
              <a:rPr sz="2175" spc="37" baseline="-15325" dirty="0">
                <a:latin typeface="DejaVu Serif Condensed"/>
                <a:cs typeface="DejaVu Serif Condensed"/>
              </a:rPr>
              <a:t>1</a:t>
            </a:r>
            <a:r>
              <a:rPr sz="2000" spc="25" dirty="0">
                <a:latin typeface="Carlito"/>
                <a:cs typeface="Carlito"/>
              </a:rPr>
              <a:t>, </a:t>
            </a:r>
            <a:r>
              <a:rPr sz="2000" spc="35" dirty="0">
                <a:latin typeface="DejaVu Serif Condensed"/>
                <a:cs typeface="DejaVu Serif Condensed"/>
              </a:rPr>
              <a:t>𝑦</a:t>
            </a:r>
            <a:r>
              <a:rPr sz="2175" spc="52" baseline="-15325" dirty="0">
                <a:latin typeface="DejaVu Serif Condensed"/>
                <a:cs typeface="DejaVu Serif Condensed"/>
              </a:rPr>
              <a:t>1</a:t>
            </a:r>
            <a:r>
              <a:rPr sz="2000" spc="35" dirty="0">
                <a:latin typeface="DejaVu Serif Condensed"/>
                <a:cs typeface="DejaVu Serif Condensed"/>
              </a:rPr>
              <a:t>)</a:t>
            </a:r>
            <a:r>
              <a:rPr sz="2000" spc="35" dirty="0">
                <a:latin typeface="Carlito"/>
                <a:cs typeface="Carlito"/>
              </a:rPr>
              <a:t>, </a:t>
            </a:r>
            <a:r>
              <a:rPr sz="2000" spc="40" dirty="0">
                <a:latin typeface="DejaVu Serif Condensed"/>
                <a:cs typeface="DejaVu Serif Condensed"/>
              </a:rPr>
              <a:t>(𝑥</a:t>
            </a:r>
            <a:r>
              <a:rPr sz="2175" spc="60" baseline="-15325" dirty="0">
                <a:latin typeface="DejaVu Serif Condensed"/>
                <a:cs typeface="DejaVu Serif Condensed"/>
              </a:rPr>
              <a:t>2</a:t>
            </a:r>
            <a:r>
              <a:rPr sz="2000" spc="40" dirty="0">
                <a:latin typeface="Carlito"/>
                <a:cs typeface="Carlito"/>
              </a:rPr>
              <a:t>, </a:t>
            </a:r>
            <a:r>
              <a:rPr sz="1800" spc="45" dirty="0">
                <a:latin typeface="DejaVu Serif Condensed"/>
                <a:cs typeface="DejaVu Serif Condensed"/>
              </a:rPr>
              <a:t>𝑦</a:t>
            </a:r>
            <a:r>
              <a:rPr sz="1950" spc="67" baseline="-14957" dirty="0">
                <a:latin typeface="DejaVu Serif Condensed"/>
                <a:cs typeface="DejaVu Serif Condensed"/>
              </a:rPr>
              <a:t>2</a:t>
            </a:r>
            <a:r>
              <a:rPr sz="1800" spc="45" dirty="0">
                <a:latin typeface="DejaVu Serif Condensed"/>
                <a:cs typeface="DejaVu Serif Condensed"/>
              </a:rPr>
              <a:t>)]</a:t>
            </a:r>
            <a:r>
              <a:rPr sz="1800" spc="-140" dirty="0">
                <a:latin typeface="DejaVu Serif Condensed"/>
                <a:cs typeface="DejaVu Serif Condensed"/>
              </a:rPr>
              <a:t> </a:t>
            </a:r>
            <a:r>
              <a:rPr sz="1800" spc="-15" dirty="0">
                <a:latin typeface="DejaVu Serif Condensed"/>
                <a:cs typeface="DejaVu Serif Condensed"/>
              </a:rPr>
              <a:t>=</a:t>
            </a:r>
            <a:endParaRPr sz="1800">
              <a:latin typeface="DejaVu Serif Condensed"/>
              <a:cs typeface="DejaVu Serif Condensed"/>
            </a:endParaRPr>
          </a:p>
        </p:txBody>
      </p:sp>
      <p:sp>
        <p:nvSpPr>
          <p:cNvPr id="6" name="object 6"/>
          <p:cNvSpPr/>
          <p:nvPr/>
        </p:nvSpPr>
        <p:spPr>
          <a:xfrm>
            <a:off x="4388484" y="3797046"/>
            <a:ext cx="2475865" cy="285115"/>
          </a:xfrm>
          <a:custGeom>
            <a:avLst/>
            <a:gdLst/>
            <a:ahLst/>
            <a:cxnLst/>
            <a:rect l="l" t="t" r="r" b="b"/>
            <a:pathLst>
              <a:path w="2475865" h="285114">
                <a:moveTo>
                  <a:pt x="2475611" y="0"/>
                </a:moveTo>
                <a:lnTo>
                  <a:pt x="165226" y="0"/>
                </a:lnTo>
                <a:lnTo>
                  <a:pt x="165226" y="761"/>
                </a:lnTo>
                <a:lnTo>
                  <a:pt x="143001" y="761"/>
                </a:lnTo>
                <a:lnTo>
                  <a:pt x="75184" y="254685"/>
                </a:lnTo>
                <a:lnTo>
                  <a:pt x="36575" y="168516"/>
                </a:lnTo>
                <a:lnTo>
                  <a:pt x="0" y="185267"/>
                </a:lnTo>
                <a:lnTo>
                  <a:pt x="3428" y="193636"/>
                </a:lnTo>
                <a:lnTo>
                  <a:pt x="22351" y="185267"/>
                </a:lnTo>
                <a:lnTo>
                  <a:pt x="68452" y="284606"/>
                </a:lnTo>
                <a:lnTo>
                  <a:pt x="79375" y="284606"/>
                </a:lnTo>
                <a:lnTo>
                  <a:pt x="151891" y="15620"/>
                </a:lnTo>
                <a:lnTo>
                  <a:pt x="174243" y="15620"/>
                </a:lnTo>
                <a:lnTo>
                  <a:pt x="174243" y="15239"/>
                </a:lnTo>
                <a:lnTo>
                  <a:pt x="2475611" y="15239"/>
                </a:lnTo>
                <a:lnTo>
                  <a:pt x="2475611" y="0"/>
                </a:lnTo>
                <a:close/>
              </a:path>
            </a:pathLst>
          </a:custGeom>
          <a:solidFill>
            <a:srgbClr val="000000"/>
          </a:solidFill>
        </p:spPr>
        <p:txBody>
          <a:bodyPr wrap="square" lIns="0" tIns="0" rIns="0" bIns="0" rtlCol="0"/>
          <a:lstStyle/>
          <a:p>
            <a:endParaRPr/>
          </a:p>
        </p:txBody>
      </p:sp>
      <p:sp>
        <p:nvSpPr>
          <p:cNvPr id="7" name="object 7"/>
          <p:cNvSpPr txBox="1"/>
          <p:nvPr/>
        </p:nvSpPr>
        <p:spPr>
          <a:xfrm>
            <a:off x="4517771" y="3776268"/>
            <a:ext cx="2377440" cy="299720"/>
          </a:xfrm>
          <a:prstGeom prst="rect">
            <a:avLst/>
          </a:prstGeom>
        </p:spPr>
        <p:txBody>
          <a:bodyPr vert="horz" wrap="square" lIns="0" tIns="12700" rIns="0" bIns="0" rtlCol="0">
            <a:spAutoFit/>
          </a:bodyPr>
          <a:lstStyle/>
          <a:p>
            <a:pPr marL="38100">
              <a:lnSpc>
                <a:spcPct val="100000"/>
              </a:lnSpc>
              <a:spcBef>
                <a:spcPts val="100"/>
              </a:spcBef>
            </a:pPr>
            <a:r>
              <a:rPr sz="1800" spc="35" dirty="0">
                <a:latin typeface="DejaVu Serif Condensed"/>
                <a:cs typeface="DejaVu Serif Condensed"/>
              </a:rPr>
              <a:t>(𝑥</a:t>
            </a:r>
            <a:r>
              <a:rPr sz="1950" spc="52" baseline="-14957" dirty="0">
                <a:latin typeface="DejaVu Serif Condensed"/>
                <a:cs typeface="DejaVu Serif Condensed"/>
              </a:rPr>
              <a:t>2 </a:t>
            </a:r>
            <a:r>
              <a:rPr sz="1800" spc="-15" dirty="0">
                <a:latin typeface="DejaVu Serif Condensed"/>
                <a:cs typeface="DejaVu Serif Condensed"/>
              </a:rPr>
              <a:t>− </a:t>
            </a:r>
            <a:r>
              <a:rPr sz="1800" spc="40" dirty="0">
                <a:latin typeface="DejaVu Serif Condensed"/>
                <a:cs typeface="DejaVu Serif Condensed"/>
              </a:rPr>
              <a:t>𝑥</a:t>
            </a:r>
            <a:r>
              <a:rPr sz="1950" spc="60" baseline="-14957" dirty="0">
                <a:latin typeface="DejaVu Serif Condensed"/>
                <a:cs typeface="DejaVu Serif Condensed"/>
              </a:rPr>
              <a:t>1</a:t>
            </a:r>
            <a:r>
              <a:rPr sz="1800" spc="40" dirty="0">
                <a:latin typeface="DejaVu Serif Condensed"/>
                <a:cs typeface="DejaVu Serif Condensed"/>
              </a:rPr>
              <a:t>)</a:t>
            </a:r>
            <a:r>
              <a:rPr sz="1950" spc="60" baseline="23504" dirty="0">
                <a:latin typeface="DejaVu Serif Condensed"/>
                <a:cs typeface="DejaVu Serif Condensed"/>
              </a:rPr>
              <a:t>2 </a:t>
            </a:r>
            <a:r>
              <a:rPr sz="1800" spc="-15" dirty="0">
                <a:latin typeface="DejaVu Serif Condensed"/>
                <a:cs typeface="DejaVu Serif Condensed"/>
              </a:rPr>
              <a:t>+ </a:t>
            </a:r>
            <a:r>
              <a:rPr sz="1800" spc="35" dirty="0">
                <a:latin typeface="DejaVu Serif Condensed"/>
                <a:cs typeface="DejaVu Serif Condensed"/>
              </a:rPr>
              <a:t>(𝑦</a:t>
            </a:r>
            <a:r>
              <a:rPr sz="1950" spc="52" baseline="-14957" dirty="0">
                <a:latin typeface="DejaVu Serif Condensed"/>
                <a:cs typeface="DejaVu Serif Condensed"/>
              </a:rPr>
              <a:t>2 </a:t>
            </a:r>
            <a:r>
              <a:rPr sz="1800" spc="-15" dirty="0">
                <a:latin typeface="DejaVu Serif Condensed"/>
                <a:cs typeface="DejaVu Serif Condensed"/>
              </a:rPr>
              <a:t>−</a:t>
            </a:r>
            <a:r>
              <a:rPr sz="1800" spc="-190" dirty="0">
                <a:latin typeface="DejaVu Serif Condensed"/>
                <a:cs typeface="DejaVu Serif Condensed"/>
              </a:rPr>
              <a:t> </a:t>
            </a:r>
            <a:r>
              <a:rPr sz="1800" spc="40" dirty="0">
                <a:latin typeface="DejaVu Serif Condensed"/>
                <a:cs typeface="DejaVu Serif Condensed"/>
              </a:rPr>
              <a:t>𝑦</a:t>
            </a:r>
            <a:r>
              <a:rPr sz="1950" spc="60" baseline="-14957" dirty="0">
                <a:latin typeface="DejaVu Serif Condensed"/>
                <a:cs typeface="DejaVu Serif Condensed"/>
              </a:rPr>
              <a:t>1</a:t>
            </a:r>
            <a:r>
              <a:rPr sz="1800" spc="40" dirty="0">
                <a:latin typeface="DejaVu Serif Condensed"/>
                <a:cs typeface="DejaVu Serif Condensed"/>
              </a:rPr>
              <a:t>)</a:t>
            </a:r>
            <a:r>
              <a:rPr sz="1950" spc="60" baseline="23504" dirty="0">
                <a:latin typeface="DejaVu Serif Condensed"/>
                <a:cs typeface="DejaVu Serif Condensed"/>
              </a:rPr>
              <a:t>2</a:t>
            </a:r>
            <a:endParaRPr sz="1950" baseline="23504">
              <a:latin typeface="DejaVu Serif Condensed"/>
              <a:cs typeface="DejaVu Serif Condensed"/>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35</a:t>
            </a:fld>
            <a:endParaRPr dirty="0"/>
          </a:p>
        </p:txBody>
      </p:sp>
      <p:graphicFrame>
        <p:nvGraphicFramePr>
          <p:cNvPr id="8" name="object 8"/>
          <p:cNvGraphicFramePr>
            <a:graphicFrameLocks noGrp="1"/>
          </p:cNvGraphicFramePr>
          <p:nvPr/>
        </p:nvGraphicFramePr>
        <p:xfrm>
          <a:off x="2512948" y="1994661"/>
          <a:ext cx="3604259" cy="1097279"/>
        </p:xfrm>
        <a:graphic>
          <a:graphicData uri="http://schemas.openxmlformats.org/drawingml/2006/table">
            <a:tbl>
              <a:tblPr firstRow="1" bandRow="1">
                <a:tableStyleId>{2D5ABB26-0587-4C30-8999-92F81FD0307C}</a:tableStyleId>
              </a:tblPr>
              <a:tblGrid>
                <a:gridCol w="1201420">
                  <a:extLst>
                    <a:ext uri="{9D8B030D-6E8A-4147-A177-3AD203B41FA5}">
                      <a16:colId xmlns:a16="http://schemas.microsoft.com/office/drawing/2014/main" val="20000"/>
                    </a:ext>
                  </a:extLst>
                </a:gridCol>
                <a:gridCol w="1201420">
                  <a:extLst>
                    <a:ext uri="{9D8B030D-6E8A-4147-A177-3AD203B41FA5}">
                      <a16:colId xmlns:a16="http://schemas.microsoft.com/office/drawing/2014/main" val="20001"/>
                    </a:ext>
                  </a:extLst>
                </a:gridCol>
                <a:gridCol w="1201419">
                  <a:extLst>
                    <a:ext uri="{9D8B030D-6E8A-4147-A177-3AD203B41FA5}">
                      <a16:colId xmlns:a16="http://schemas.microsoft.com/office/drawing/2014/main" val="20002"/>
                    </a:ext>
                  </a:extLst>
                </a:gridCol>
              </a:tblGrid>
              <a:tr h="365760">
                <a:tc>
                  <a:txBody>
                    <a:bodyPr/>
                    <a:lstStyle/>
                    <a:p>
                      <a:pPr marL="635" algn="ctr">
                        <a:lnSpc>
                          <a:spcPct val="100000"/>
                        </a:lnSpc>
                        <a:spcBef>
                          <a:spcPts val="244"/>
                        </a:spcBef>
                      </a:pPr>
                      <a:r>
                        <a:rPr sz="1800" b="1" spc="-10" dirty="0">
                          <a:solidFill>
                            <a:srgbClr val="FFFFFF"/>
                          </a:solidFill>
                          <a:latin typeface="Carlito"/>
                          <a:cs typeface="Carlito"/>
                        </a:rPr>
                        <a:t>Cluster</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905" algn="ctr">
                        <a:lnSpc>
                          <a:spcPct val="100000"/>
                        </a:lnSpc>
                        <a:spcBef>
                          <a:spcPts val="244"/>
                        </a:spcBef>
                      </a:pPr>
                      <a:r>
                        <a:rPr sz="1800" b="1" spc="-25" dirty="0">
                          <a:solidFill>
                            <a:srgbClr val="FFFFFF"/>
                          </a:solidFill>
                          <a:latin typeface="Carlito"/>
                          <a:cs typeface="Carlito"/>
                        </a:rPr>
                        <a:t>Var1</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2540" algn="ctr">
                        <a:lnSpc>
                          <a:spcPct val="100000"/>
                        </a:lnSpc>
                        <a:spcBef>
                          <a:spcPts val="244"/>
                        </a:spcBef>
                      </a:pPr>
                      <a:r>
                        <a:rPr sz="1800" b="1" spc="-25" dirty="0">
                          <a:solidFill>
                            <a:srgbClr val="FFFFFF"/>
                          </a:solidFill>
                          <a:latin typeface="Carlito"/>
                          <a:cs typeface="Carlito"/>
                        </a:rPr>
                        <a:t>Var2</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59">
                <a:tc>
                  <a:txBody>
                    <a:bodyPr/>
                    <a:lstStyle/>
                    <a:p>
                      <a:pPr marL="1905" algn="ctr">
                        <a:lnSpc>
                          <a:spcPct val="100000"/>
                        </a:lnSpc>
                        <a:spcBef>
                          <a:spcPts val="245"/>
                        </a:spcBef>
                      </a:pPr>
                      <a:r>
                        <a:rPr sz="1800" dirty="0">
                          <a:latin typeface="Carlito"/>
                          <a:cs typeface="Carlito"/>
                        </a:rPr>
                        <a:t>K1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245"/>
                        </a:spcBef>
                      </a:pPr>
                      <a:r>
                        <a:rPr sz="1800" dirty="0">
                          <a:latin typeface="Carlito"/>
                          <a:cs typeface="Carlito"/>
                        </a:rPr>
                        <a:t>1.0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245"/>
                        </a:spcBef>
                      </a:pPr>
                      <a:r>
                        <a:rPr sz="1800" dirty="0">
                          <a:latin typeface="Carlito"/>
                          <a:cs typeface="Carlito"/>
                        </a:rPr>
                        <a:t>1.0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760">
                <a:tc>
                  <a:txBody>
                    <a:bodyPr/>
                    <a:lstStyle/>
                    <a:p>
                      <a:pPr marL="1905" algn="ctr">
                        <a:lnSpc>
                          <a:spcPct val="100000"/>
                        </a:lnSpc>
                        <a:spcBef>
                          <a:spcPts val="245"/>
                        </a:spcBef>
                      </a:pPr>
                      <a:r>
                        <a:rPr sz="1800" dirty="0">
                          <a:latin typeface="Carlito"/>
                          <a:cs typeface="Carlito"/>
                        </a:rPr>
                        <a:t>K2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245"/>
                        </a:spcBef>
                      </a:pPr>
                      <a:r>
                        <a:rPr sz="1800" dirty="0">
                          <a:latin typeface="Carlito"/>
                          <a:cs typeface="Carlito"/>
                        </a:rPr>
                        <a:t>3.0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245"/>
                        </a:spcBef>
                      </a:pPr>
                      <a:r>
                        <a:rPr sz="1800" dirty="0">
                          <a:latin typeface="Carlito"/>
                          <a:cs typeface="Carlito"/>
                        </a:rPr>
                        <a:t>4.0</a:t>
                      </a: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graphicFrame>
        <p:nvGraphicFramePr>
          <p:cNvPr id="9" name="object 9"/>
          <p:cNvGraphicFramePr>
            <a:graphicFrameLocks noGrp="1"/>
          </p:cNvGraphicFramePr>
          <p:nvPr>
            <p:extLst>
              <p:ext uri="{D42A27DB-BD31-4B8C-83A1-F6EECF244321}">
                <p14:modId xmlns:p14="http://schemas.microsoft.com/office/powerpoint/2010/main" val="2884214955"/>
              </p:ext>
            </p:extLst>
          </p:nvPr>
        </p:nvGraphicFramePr>
        <p:xfrm>
          <a:off x="6581217" y="1903222"/>
          <a:ext cx="2578023" cy="2377460"/>
        </p:xfrm>
        <a:graphic>
          <a:graphicData uri="http://schemas.openxmlformats.org/drawingml/2006/table">
            <a:tbl>
              <a:tblPr firstRow="1" bandRow="1">
                <a:tableStyleId>{2D5ABB26-0587-4C30-8999-92F81FD0307C}</a:tableStyleId>
              </a:tblPr>
              <a:tblGrid>
                <a:gridCol w="859341">
                  <a:extLst>
                    <a:ext uri="{9D8B030D-6E8A-4147-A177-3AD203B41FA5}">
                      <a16:colId xmlns:a16="http://schemas.microsoft.com/office/drawing/2014/main" val="20000"/>
                    </a:ext>
                  </a:extLst>
                </a:gridCol>
                <a:gridCol w="859341">
                  <a:extLst>
                    <a:ext uri="{9D8B030D-6E8A-4147-A177-3AD203B41FA5}">
                      <a16:colId xmlns:a16="http://schemas.microsoft.com/office/drawing/2014/main" val="20001"/>
                    </a:ext>
                  </a:extLst>
                </a:gridCol>
                <a:gridCol w="859341">
                  <a:extLst>
                    <a:ext uri="{9D8B030D-6E8A-4147-A177-3AD203B41FA5}">
                      <a16:colId xmlns:a16="http://schemas.microsoft.com/office/drawing/2014/main" val="20002"/>
                    </a:ext>
                  </a:extLst>
                </a:gridCol>
              </a:tblGrid>
              <a:tr h="457200">
                <a:tc>
                  <a:txBody>
                    <a:bodyPr/>
                    <a:lstStyle/>
                    <a:p>
                      <a:pPr marL="226695" marR="99695" indent="-120650">
                        <a:lnSpc>
                          <a:spcPct val="100000"/>
                        </a:lnSpc>
                        <a:spcBef>
                          <a:spcPts val="290"/>
                        </a:spcBef>
                      </a:pPr>
                      <a:r>
                        <a:rPr sz="1100" b="1" dirty="0">
                          <a:solidFill>
                            <a:srgbClr val="FFFFFF"/>
                          </a:solidFill>
                          <a:latin typeface="Carlito"/>
                          <a:cs typeface="Carlito"/>
                        </a:rPr>
                        <a:t>Indi</a:t>
                      </a:r>
                      <a:r>
                        <a:rPr sz="1100" b="1" spc="-5" dirty="0">
                          <a:solidFill>
                            <a:srgbClr val="FFFFFF"/>
                          </a:solidFill>
                          <a:latin typeface="Carlito"/>
                          <a:cs typeface="Carlito"/>
                        </a:rPr>
                        <a:t>vidual</a:t>
                      </a:r>
                      <a:endParaRPr sz="1100" dirty="0">
                        <a:latin typeface="Carlito"/>
                        <a:cs typeface="Carlito"/>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229870" marR="94615" indent="-128270">
                        <a:lnSpc>
                          <a:spcPct val="100000"/>
                        </a:lnSpc>
                        <a:spcBef>
                          <a:spcPts val="290"/>
                        </a:spcBef>
                      </a:pPr>
                      <a:r>
                        <a:rPr sz="1100" b="1" spc="-65" dirty="0">
                          <a:solidFill>
                            <a:srgbClr val="FFFFFF"/>
                          </a:solidFill>
                          <a:latin typeface="Carlito"/>
                          <a:cs typeface="Carlito"/>
                        </a:rPr>
                        <a:t>V</a:t>
                      </a:r>
                      <a:r>
                        <a:rPr sz="1100" b="1" spc="-5" dirty="0">
                          <a:solidFill>
                            <a:srgbClr val="FFFFFF"/>
                          </a:solidFill>
                          <a:latin typeface="Carlito"/>
                          <a:cs typeface="Carlito"/>
                        </a:rPr>
                        <a:t>a</a:t>
                      </a:r>
                      <a:r>
                        <a:rPr sz="1100" b="1" dirty="0">
                          <a:solidFill>
                            <a:srgbClr val="FFFFFF"/>
                          </a:solidFill>
                          <a:latin typeface="Carlito"/>
                          <a:cs typeface="Carlito"/>
                        </a:rPr>
                        <a:t>ri</a:t>
                      </a:r>
                      <a:r>
                        <a:rPr sz="1100" b="1" spc="-5" dirty="0">
                          <a:solidFill>
                            <a:srgbClr val="FFFFFF"/>
                          </a:solidFill>
                          <a:latin typeface="Carlito"/>
                          <a:cs typeface="Carlito"/>
                        </a:rPr>
                        <a:t>a</a:t>
                      </a:r>
                      <a:r>
                        <a:rPr sz="1100" b="1" dirty="0">
                          <a:solidFill>
                            <a:srgbClr val="FFFFFF"/>
                          </a:solidFill>
                          <a:latin typeface="Carlito"/>
                          <a:cs typeface="Carlito"/>
                        </a:rPr>
                        <a:t>ble</a:t>
                      </a:r>
                      <a:r>
                        <a:rPr sz="1100" b="1" spc="-30" dirty="0">
                          <a:solidFill>
                            <a:srgbClr val="FFFFFF"/>
                          </a:solidFill>
                          <a:latin typeface="Carlito"/>
                          <a:cs typeface="Carlito"/>
                        </a:rPr>
                        <a:t> </a:t>
                      </a:r>
                      <a:r>
                        <a:rPr sz="1100" b="1" dirty="0">
                          <a:solidFill>
                            <a:srgbClr val="FFFFFF"/>
                          </a:solidFill>
                          <a:latin typeface="Carlito"/>
                          <a:cs typeface="Carlito"/>
                        </a:rPr>
                        <a:t>1</a:t>
                      </a:r>
                      <a:endParaRPr sz="1100" dirty="0">
                        <a:latin typeface="Carlito"/>
                        <a:cs typeface="Carlito"/>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230504" marR="94615" indent="-128905">
                        <a:lnSpc>
                          <a:spcPct val="100000"/>
                        </a:lnSpc>
                        <a:spcBef>
                          <a:spcPts val="290"/>
                        </a:spcBef>
                      </a:pPr>
                      <a:r>
                        <a:rPr sz="1100" b="1" spc="-65" dirty="0">
                          <a:solidFill>
                            <a:srgbClr val="FFFFFF"/>
                          </a:solidFill>
                          <a:latin typeface="Carlito"/>
                          <a:cs typeface="Carlito"/>
                        </a:rPr>
                        <a:t>V</a:t>
                      </a:r>
                      <a:r>
                        <a:rPr sz="1100" b="1" spc="-5" dirty="0">
                          <a:solidFill>
                            <a:srgbClr val="FFFFFF"/>
                          </a:solidFill>
                          <a:latin typeface="Carlito"/>
                          <a:cs typeface="Carlito"/>
                        </a:rPr>
                        <a:t>a</a:t>
                      </a:r>
                      <a:r>
                        <a:rPr sz="1100" b="1" dirty="0">
                          <a:solidFill>
                            <a:srgbClr val="FFFFFF"/>
                          </a:solidFill>
                          <a:latin typeface="Carlito"/>
                          <a:cs typeface="Carlito"/>
                        </a:rPr>
                        <a:t>ri</a:t>
                      </a:r>
                      <a:r>
                        <a:rPr sz="1100" b="1" spc="-5" dirty="0">
                          <a:solidFill>
                            <a:srgbClr val="FFFFFF"/>
                          </a:solidFill>
                          <a:latin typeface="Carlito"/>
                          <a:cs typeface="Carlito"/>
                        </a:rPr>
                        <a:t>a</a:t>
                      </a:r>
                      <a:r>
                        <a:rPr sz="1100" b="1" dirty="0">
                          <a:solidFill>
                            <a:srgbClr val="FFFFFF"/>
                          </a:solidFill>
                          <a:latin typeface="Carlito"/>
                          <a:cs typeface="Carlito"/>
                        </a:rPr>
                        <a:t>ble</a:t>
                      </a:r>
                      <a:r>
                        <a:rPr sz="1100" b="1" spc="-25" dirty="0">
                          <a:solidFill>
                            <a:srgbClr val="FFFFFF"/>
                          </a:solidFill>
                          <a:latin typeface="Carlito"/>
                          <a:cs typeface="Carlito"/>
                        </a:rPr>
                        <a:t> </a:t>
                      </a:r>
                      <a:r>
                        <a:rPr sz="1100" b="1" dirty="0">
                          <a:solidFill>
                            <a:srgbClr val="FFFFFF"/>
                          </a:solidFill>
                          <a:latin typeface="Carlito"/>
                          <a:cs typeface="Carlito"/>
                        </a:rPr>
                        <a:t>2</a:t>
                      </a:r>
                      <a:endParaRPr sz="1100" dirty="0">
                        <a:latin typeface="Carlito"/>
                        <a:cs typeface="Carlito"/>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274319">
                <a:tc>
                  <a:txBody>
                    <a:bodyPr/>
                    <a:lstStyle/>
                    <a:p>
                      <a:pPr marL="286385">
                        <a:lnSpc>
                          <a:spcPct val="100000"/>
                        </a:lnSpc>
                        <a:spcBef>
                          <a:spcPts val="290"/>
                        </a:spcBef>
                      </a:pPr>
                      <a:r>
                        <a:rPr sz="1200" dirty="0">
                          <a:latin typeface="Carlito"/>
                          <a:cs typeface="Carlito"/>
                        </a:rPr>
                        <a:t>1</a:t>
                      </a:r>
                      <a:endParaRPr sz="1200">
                        <a:latin typeface="Carlito"/>
                        <a:cs typeface="Carlito"/>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FFF00"/>
                    </a:solidFill>
                  </a:tcPr>
                </a:tc>
                <a:tc>
                  <a:txBody>
                    <a:bodyPr/>
                    <a:lstStyle/>
                    <a:p>
                      <a:pPr marL="1905" algn="ctr">
                        <a:lnSpc>
                          <a:spcPct val="100000"/>
                        </a:lnSpc>
                        <a:spcBef>
                          <a:spcPts val="290"/>
                        </a:spcBef>
                      </a:pPr>
                      <a:r>
                        <a:rPr sz="1200" dirty="0">
                          <a:latin typeface="Carlito"/>
                          <a:cs typeface="Carlito"/>
                        </a:rPr>
                        <a:t>1.0</a:t>
                      </a: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FFF00"/>
                    </a:solidFill>
                  </a:tcPr>
                </a:tc>
                <a:tc>
                  <a:txBody>
                    <a:bodyPr/>
                    <a:lstStyle/>
                    <a:p>
                      <a:pPr marR="218440" algn="r">
                        <a:lnSpc>
                          <a:spcPct val="100000"/>
                        </a:lnSpc>
                        <a:spcBef>
                          <a:spcPts val="290"/>
                        </a:spcBef>
                      </a:pPr>
                      <a:r>
                        <a:rPr sz="1200" dirty="0">
                          <a:latin typeface="Carlito"/>
                          <a:cs typeface="Carlito"/>
                        </a:rPr>
                        <a:t>1.0</a:t>
                      </a:r>
                      <a:endParaRPr sz="1200">
                        <a:latin typeface="Carlito"/>
                        <a:cs typeface="Carlito"/>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FFF00"/>
                    </a:solidFill>
                  </a:tcPr>
                </a:tc>
                <a:extLst>
                  <a:ext uri="{0D108BD9-81ED-4DB2-BD59-A6C34878D82A}">
                    <a16:rowId xmlns:a16="http://schemas.microsoft.com/office/drawing/2014/main" val="10001"/>
                  </a:ext>
                </a:extLst>
              </a:tr>
              <a:tr h="274319">
                <a:tc>
                  <a:txBody>
                    <a:bodyPr/>
                    <a:lstStyle/>
                    <a:p>
                      <a:pPr marL="286385">
                        <a:lnSpc>
                          <a:spcPct val="100000"/>
                        </a:lnSpc>
                        <a:spcBef>
                          <a:spcPts val="295"/>
                        </a:spcBef>
                      </a:pPr>
                      <a:r>
                        <a:rPr sz="1200" dirty="0">
                          <a:latin typeface="Carlito"/>
                          <a:cs typeface="Carlito"/>
                        </a:rPr>
                        <a:t>2</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295"/>
                        </a:spcBef>
                      </a:pPr>
                      <a:r>
                        <a:rPr sz="1200" dirty="0">
                          <a:latin typeface="Carlito"/>
                          <a:cs typeface="Carlito"/>
                        </a:rPr>
                        <a:t>1.5</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R="219075" algn="r">
                        <a:lnSpc>
                          <a:spcPct val="100000"/>
                        </a:lnSpc>
                        <a:spcBef>
                          <a:spcPts val="295"/>
                        </a:spcBef>
                      </a:pPr>
                      <a:r>
                        <a:rPr sz="1200" dirty="0">
                          <a:latin typeface="Carlito"/>
                          <a:cs typeface="Carlito"/>
                        </a:rPr>
                        <a:t>2.0</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274319">
                <a:tc>
                  <a:txBody>
                    <a:bodyPr/>
                    <a:lstStyle/>
                    <a:p>
                      <a:pPr marL="286385">
                        <a:lnSpc>
                          <a:spcPct val="100000"/>
                        </a:lnSpc>
                        <a:spcBef>
                          <a:spcPts val="295"/>
                        </a:spcBef>
                      </a:pPr>
                      <a:r>
                        <a:rPr sz="1200" dirty="0">
                          <a:latin typeface="Carlito"/>
                          <a:cs typeface="Carlito"/>
                        </a:rPr>
                        <a:t>3</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FF00"/>
                    </a:solidFill>
                  </a:tcPr>
                </a:tc>
                <a:tc>
                  <a:txBody>
                    <a:bodyPr/>
                    <a:lstStyle/>
                    <a:p>
                      <a:pPr marL="1270" algn="ctr">
                        <a:lnSpc>
                          <a:spcPct val="100000"/>
                        </a:lnSpc>
                        <a:spcBef>
                          <a:spcPts val="295"/>
                        </a:spcBef>
                      </a:pPr>
                      <a:r>
                        <a:rPr sz="1200" dirty="0">
                          <a:latin typeface="Carlito"/>
                          <a:cs typeface="Carlito"/>
                        </a:rPr>
                        <a:t>3.0</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FF00"/>
                    </a:solidFill>
                  </a:tcPr>
                </a:tc>
                <a:tc>
                  <a:txBody>
                    <a:bodyPr/>
                    <a:lstStyle/>
                    <a:p>
                      <a:pPr marR="219075" algn="r">
                        <a:lnSpc>
                          <a:spcPct val="100000"/>
                        </a:lnSpc>
                        <a:spcBef>
                          <a:spcPts val="295"/>
                        </a:spcBef>
                      </a:pPr>
                      <a:r>
                        <a:rPr sz="1200" dirty="0">
                          <a:latin typeface="Carlito"/>
                          <a:cs typeface="Carlito"/>
                        </a:rPr>
                        <a:t>4.0</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FF00"/>
                    </a:solidFill>
                  </a:tcPr>
                </a:tc>
                <a:extLst>
                  <a:ext uri="{0D108BD9-81ED-4DB2-BD59-A6C34878D82A}">
                    <a16:rowId xmlns:a16="http://schemas.microsoft.com/office/drawing/2014/main" val="10003"/>
                  </a:ext>
                </a:extLst>
              </a:tr>
              <a:tr h="274319">
                <a:tc>
                  <a:txBody>
                    <a:bodyPr/>
                    <a:lstStyle/>
                    <a:p>
                      <a:pPr marL="286385">
                        <a:lnSpc>
                          <a:spcPct val="100000"/>
                        </a:lnSpc>
                        <a:spcBef>
                          <a:spcPts val="295"/>
                        </a:spcBef>
                      </a:pPr>
                      <a:r>
                        <a:rPr sz="1200" dirty="0">
                          <a:latin typeface="Carlito"/>
                          <a:cs typeface="Carlito"/>
                        </a:rPr>
                        <a:t>4</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295"/>
                        </a:spcBef>
                      </a:pPr>
                      <a:r>
                        <a:rPr sz="1200" dirty="0">
                          <a:latin typeface="Carlito"/>
                          <a:cs typeface="Carlito"/>
                        </a:rPr>
                        <a:t>5.0</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R="219075" algn="r">
                        <a:lnSpc>
                          <a:spcPct val="100000"/>
                        </a:lnSpc>
                        <a:spcBef>
                          <a:spcPts val="295"/>
                        </a:spcBef>
                      </a:pPr>
                      <a:r>
                        <a:rPr sz="1200" dirty="0">
                          <a:latin typeface="Carlito"/>
                          <a:cs typeface="Carlito"/>
                        </a:rPr>
                        <a:t>7.0</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274320">
                <a:tc>
                  <a:txBody>
                    <a:bodyPr/>
                    <a:lstStyle/>
                    <a:p>
                      <a:pPr marL="286385">
                        <a:lnSpc>
                          <a:spcPct val="100000"/>
                        </a:lnSpc>
                        <a:spcBef>
                          <a:spcPts val="295"/>
                        </a:spcBef>
                      </a:pPr>
                      <a:r>
                        <a:rPr sz="1200" dirty="0">
                          <a:latin typeface="Carlito"/>
                          <a:cs typeface="Carlito"/>
                        </a:rPr>
                        <a:t>5</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295"/>
                        </a:spcBef>
                      </a:pPr>
                      <a:r>
                        <a:rPr sz="1200" dirty="0">
                          <a:latin typeface="Carlito"/>
                          <a:cs typeface="Carlito"/>
                        </a:rPr>
                        <a:t>3.5</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R="218440" algn="r">
                        <a:lnSpc>
                          <a:spcPct val="100000"/>
                        </a:lnSpc>
                        <a:spcBef>
                          <a:spcPts val="295"/>
                        </a:spcBef>
                      </a:pPr>
                      <a:r>
                        <a:rPr sz="1200" dirty="0">
                          <a:latin typeface="Carlito"/>
                          <a:cs typeface="Carlito"/>
                        </a:rPr>
                        <a:t>5.0</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r h="274345">
                <a:tc>
                  <a:txBody>
                    <a:bodyPr/>
                    <a:lstStyle/>
                    <a:p>
                      <a:pPr marL="286385">
                        <a:lnSpc>
                          <a:spcPct val="100000"/>
                        </a:lnSpc>
                        <a:spcBef>
                          <a:spcPts val="295"/>
                        </a:spcBef>
                      </a:pPr>
                      <a:r>
                        <a:rPr sz="1200" dirty="0">
                          <a:latin typeface="Carlito"/>
                          <a:cs typeface="Carlito"/>
                        </a:rPr>
                        <a:t>6</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295"/>
                        </a:spcBef>
                      </a:pPr>
                      <a:r>
                        <a:rPr sz="1200" dirty="0">
                          <a:latin typeface="Carlito"/>
                          <a:cs typeface="Carlito"/>
                        </a:rPr>
                        <a:t>4.5</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R="219075" algn="r">
                        <a:lnSpc>
                          <a:spcPct val="100000"/>
                        </a:lnSpc>
                        <a:spcBef>
                          <a:spcPts val="295"/>
                        </a:spcBef>
                      </a:pPr>
                      <a:r>
                        <a:rPr sz="1200" dirty="0">
                          <a:latin typeface="Carlito"/>
                          <a:cs typeface="Carlito"/>
                        </a:rPr>
                        <a:t>5.0</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6"/>
                  </a:ext>
                </a:extLst>
              </a:tr>
              <a:tr h="274319">
                <a:tc>
                  <a:txBody>
                    <a:bodyPr/>
                    <a:lstStyle/>
                    <a:p>
                      <a:pPr marL="286385">
                        <a:lnSpc>
                          <a:spcPct val="100000"/>
                        </a:lnSpc>
                        <a:spcBef>
                          <a:spcPts val="295"/>
                        </a:spcBef>
                      </a:pPr>
                      <a:r>
                        <a:rPr sz="1200" dirty="0">
                          <a:latin typeface="Carlito"/>
                          <a:cs typeface="Carlito"/>
                        </a:rPr>
                        <a:t>7</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295"/>
                        </a:spcBef>
                      </a:pPr>
                      <a:r>
                        <a:rPr sz="1200" dirty="0">
                          <a:latin typeface="Carlito"/>
                          <a:cs typeface="Carlito"/>
                        </a:rPr>
                        <a:t>3.5</a:t>
                      </a:r>
                      <a:endParaRPr sz="12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R="219075" algn="r">
                        <a:lnSpc>
                          <a:spcPct val="100000"/>
                        </a:lnSpc>
                        <a:spcBef>
                          <a:spcPts val="295"/>
                        </a:spcBef>
                      </a:pPr>
                      <a:r>
                        <a:rPr sz="1200" dirty="0">
                          <a:latin typeface="Carlito"/>
                          <a:cs typeface="Carlito"/>
                        </a:rPr>
                        <a:t>4.5</a:t>
                      </a: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1263" y="184021"/>
            <a:ext cx="4250691" cy="1058623"/>
          </a:xfrm>
          <a:prstGeom prst="rect">
            <a:avLst/>
          </a:prstGeom>
        </p:spPr>
        <p:txBody>
          <a:bodyPr vert="horz" wrap="square" lIns="0" tIns="12065" rIns="0" bIns="0" rtlCol="0">
            <a:spAutoFit/>
          </a:bodyPr>
          <a:lstStyle/>
          <a:p>
            <a:pPr marL="13335" algn="ctr">
              <a:lnSpc>
                <a:spcPct val="100000"/>
              </a:lnSpc>
              <a:spcBef>
                <a:spcPts val="95"/>
              </a:spcBef>
            </a:pPr>
            <a:r>
              <a:rPr spc="-5" dirty="0"/>
              <a:t>K-Means </a:t>
            </a:r>
            <a:r>
              <a:rPr spc="-15" dirty="0"/>
              <a:t>clustering</a:t>
            </a:r>
            <a:r>
              <a:rPr spc="40" dirty="0"/>
              <a:t> </a:t>
            </a:r>
            <a:r>
              <a:rPr spc="-20" dirty="0"/>
              <a:t>example</a:t>
            </a:r>
            <a:br>
              <a:rPr lang="en-US" spc="-20" dirty="0"/>
            </a:br>
            <a:r>
              <a:rPr lang="en-IN" sz="2000" spc="-20" dirty="0">
                <a:solidFill>
                  <a:srgbClr val="C00000"/>
                </a:solidFill>
              </a:rPr>
              <a:t>k has to be given to the algorithm, assume k=2</a:t>
            </a:r>
            <a:endParaRPr spc="-20" dirty="0">
              <a:solidFill>
                <a:srgbClr val="C00000"/>
              </a:solidFill>
            </a:endParaRPr>
          </a:p>
        </p:txBody>
      </p:sp>
      <p:grpSp>
        <p:nvGrpSpPr>
          <p:cNvPr id="3" name="object 3"/>
          <p:cNvGrpSpPr/>
          <p:nvPr/>
        </p:nvGrpSpPr>
        <p:grpSpPr>
          <a:xfrm>
            <a:off x="1046988" y="1595627"/>
            <a:ext cx="7386955" cy="2750820"/>
            <a:chOff x="1046988" y="1595627"/>
            <a:chExt cx="7386955" cy="2750820"/>
          </a:xfrm>
        </p:grpSpPr>
        <p:sp>
          <p:nvSpPr>
            <p:cNvPr id="4" name="object 4"/>
            <p:cNvSpPr/>
            <p:nvPr/>
          </p:nvSpPr>
          <p:spPr>
            <a:xfrm>
              <a:off x="1046988" y="1595627"/>
              <a:ext cx="7386955" cy="2750820"/>
            </a:xfrm>
            <a:custGeom>
              <a:avLst/>
              <a:gdLst/>
              <a:ahLst/>
              <a:cxnLst/>
              <a:rect l="l" t="t" r="r" b="b"/>
              <a:pathLst>
                <a:path w="7386955" h="2750820">
                  <a:moveTo>
                    <a:pt x="0" y="2407920"/>
                  </a:moveTo>
                  <a:lnTo>
                    <a:pt x="7386828" y="2407920"/>
                  </a:lnTo>
                </a:path>
                <a:path w="7386955" h="2750820">
                  <a:moveTo>
                    <a:pt x="0" y="2063496"/>
                  </a:moveTo>
                  <a:lnTo>
                    <a:pt x="7386828" y="2063496"/>
                  </a:lnTo>
                </a:path>
                <a:path w="7386955" h="2750820">
                  <a:moveTo>
                    <a:pt x="0" y="1719072"/>
                  </a:moveTo>
                  <a:lnTo>
                    <a:pt x="7386828" y="1719072"/>
                  </a:lnTo>
                </a:path>
                <a:path w="7386955" h="2750820">
                  <a:moveTo>
                    <a:pt x="0" y="1376172"/>
                  </a:moveTo>
                  <a:lnTo>
                    <a:pt x="7386828" y="1376172"/>
                  </a:lnTo>
                </a:path>
                <a:path w="7386955" h="2750820">
                  <a:moveTo>
                    <a:pt x="0" y="1031748"/>
                  </a:moveTo>
                  <a:lnTo>
                    <a:pt x="7386828" y="1031748"/>
                  </a:lnTo>
                </a:path>
                <a:path w="7386955" h="2750820">
                  <a:moveTo>
                    <a:pt x="0" y="687324"/>
                  </a:moveTo>
                  <a:lnTo>
                    <a:pt x="7386828" y="687324"/>
                  </a:lnTo>
                </a:path>
                <a:path w="7386955" h="2750820">
                  <a:moveTo>
                    <a:pt x="0" y="342900"/>
                  </a:moveTo>
                  <a:lnTo>
                    <a:pt x="7386828" y="342900"/>
                  </a:lnTo>
                </a:path>
                <a:path w="7386955" h="2750820">
                  <a:moveTo>
                    <a:pt x="0" y="0"/>
                  </a:moveTo>
                  <a:lnTo>
                    <a:pt x="7386828" y="0"/>
                  </a:lnTo>
                </a:path>
                <a:path w="7386955" h="2750820">
                  <a:moveTo>
                    <a:pt x="1229868" y="0"/>
                  </a:moveTo>
                  <a:lnTo>
                    <a:pt x="1229868" y="2750820"/>
                  </a:lnTo>
                </a:path>
                <a:path w="7386955" h="2750820">
                  <a:moveTo>
                    <a:pt x="2461260" y="0"/>
                  </a:moveTo>
                  <a:lnTo>
                    <a:pt x="2461260" y="2750820"/>
                  </a:lnTo>
                </a:path>
                <a:path w="7386955" h="2750820">
                  <a:moveTo>
                    <a:pt x="3692652" y="0"/>
                  </a:moveTo>
                  <a:lnTo>
                    <a:pt x="3692652" y="2750820"/>
                  </a:lnTo>
                </a:path>
                <a:path w="7386955" h="2750820">
                  <a:moveTo>
                    <a:pt x="4924044" y="0"/>
                  </a:moveTo>
                  <a:lnTo>
                    <a:pt x="4924044" y="2750820"/>
                  </a:lnTo>
                </a:path>
                <a:path w="7386955" h="2750820">
                  <a:moveTo>
                    <a:pt x="6155436" y="0"/>
                  </a:moveTo>
                  <a:lnTo>
                    <a:pt x="6155436" y="2750820"/>
                  </a:lnTo>
                </a:path>
                <a:path w="7386955" h="2750820">
                  <a:moveTo>
                    <a:pt x="7386828" y="0"/>
                  </a:moveTo>
                  <a:lnTo>
                    <a:pt x="7386828" y="2750820"/>
                  </a:lnTo>
                </a:path>
              </a:pathLst>
            </a:custGeom>
            <a:ln w="9144">
              <a:solidFill>
                <a:srgbClr val="D9D9D9"/>
              </a:solidFill>
            </a:ln>
          </p:spPr>
          <p:txBody>
            <a:bodyPr wrap="square" lIns="0" tIns="0" rIns="0" bIns="0" rtlCol="0"/>
            <a:lstStyle/>
            <a:p>
              <a:endParaRPr/>
            </a:p>
          </p:txBody>
        </p:sp>
        <p:sp>
          <p:nvSpPr>
            <p:cNvPr id="5" name="object 5"/>
            <p:cNvSpPr/>
            <p:nvPr/>
          </p:nvSpPr>
          <p:spPr>
            <a:xfrm>
              <a:off x="1046988" y="1595627"/>
              <a:ext cx="7386955" cy="2750820"/>
            </a:xfrm>
            <a:custGeom>
              <a:avLst/>
              <a:gdLst/>
              <a:ahLst/>
              <a:cxnLst/>
              <a:rect l="l" t="t" r="r" b="b"/>
              <a:pathLst>
                <a:path w="7386955" h="2750820">
                  <a:moveTo>
                    <a:pt x="0" y="2750820"/>
                  </a:moveTo>
                  <a:lnTo>
                    <a:pt x="0" y="0"/>
                  </a:lnTo>
                </a:path>
                <a:path w="7386955" h="2750820">
                  <a:moveTo>
                    <a:pt x="0" y="2750820"/>
                  </a:moveTo>
                  <a:lnTo>
                    <a:pt x="7386828" y="2750820"/>
                  </a:lnTo>
                </a:path>
              </a:pathLst>
            </a:custGeom>
            <a:ln w="9144">
              <a:solidFill>
                <a:srgbClr val="BEBEBE"/>
              </a:solidFill>
            </a:ln>
          </p:spPr>
          <p:txBody>
            <a:bodyPr wrap="square" lIns="0" tIns="0" rIns="0" bIns="0" rtlCol="0"/>
            <a:lstStyle/>
            <a:p>
              <a:endParaRPr/>
            </a:p>
          </p:txBody>
        </p:sp>
        <p:sp>
          <p:nvSpPr>
            <p:cNvPr id="6" name="object 6"/>
            <p:cNvSpPr/>
            <p:nvPr/>
          </p:nvSpPr>
          <p:spPr>
            <a:xfrm>
              <a:off x="2240280" y="3966210"/>
              <a:ext cx="73152" cy="73152"/>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2855976" y="3621785"/>
              <a:ext cx="73152" cy="73151"/>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703064" y="2934461"/>
              <a:ext cx="73152" cy="73152"/>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7165847" y="1901189"/>
              <a:ext cx="73151" cy="73152"/>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5318759" y="2590038"/>
              <a:ext cx="73151" cy="73152"/>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6550152" y="2590038"/>
              <a:ext cx="73151" cy="73152"/>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5318759" y="2724911"/>
              <a:ext cx="164591" cy="110490"/>
            </a:xfrm>
            <a:prstGeom prst="rect">
              <a:avLst/>
            </a:prstGeom>
            <a:blipFill>
              <a:blip r:embed="rId6" cstate="print"/>
              <a:stretch>
                <a:fillRect/>
              </a:stretch>
            </a:blipFill>
          </p:spPr>
          <p:txBody>
            <a:bodyPr wrap="square" lIns="0" tIns="0" rIns="0" bIns="0" rtlCol="0"/>
            <a:lstStyle/>
            <a:p>
              <a:endParaRPr/>
            </a:p>
          </p:txBody>
        </p:sp>
      </p:grpSp>
      <p:sp>
        <p:nvSpPr>
          <p:cNvPr id="13" name="object 13"/>
          <p:cNvSpPr txBox="1"/>
          <p:nvPr/>
        </p:nvSpPr>
        <p:spPr>
          <a:xfrm>
            <a:off x="2140966" y="3782669"/>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1</a:t>
            </a:r>
            <a:endParaRPr sz="900">
              <a:latin typeface="Carlito"/>
              <a:cs typeface="Carlito"/>
            </a:endParaRPr>
          </a:p>
        </p:txBody>
      </p:sp>
      <p:sp>
        <p:nvSpPr>
          <p:cNvPr id="14" name="object 14"/>
          <p:cNvSpPr txBox="1"/>
          <p:nvPr/>
        </p:nvSpPr>
        <p:spPr>
          <a:xfrm>
            <a:off x="2864485" y="3412997"/>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2</a:t>
            </a:r>
            <a:endParaRPr sz="900">
              <a:latin typeface="Carlito"/>
              <a:cs typeface="Carlito"/>
            </a:endParaRPr>
          </a:p>
        </p:txBody>
      </p:sp>
      <p:sp>
        <p:nvSpPr>
          <p:cNvPr id="15" name="object 15"/>
          <p:cNvSpPr txBox="1"/>
          <p:nvPr/>
        </p:nvSpPr>
        <p:spPr>
          <a:xfrm>
            <a:off x="4711572" y="2724657"/>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3</a:t>
            </a:r>
            <a:endParaRPr sz="900">
              <a:latin typeface="Carlito"/>
              <a:cs typeface="Carlito"/>
            </a:endParaRPr>
          </a:p>
        </p:txBody>
      </p:sp>
      <p:sp>
        <p:nvSpPr>
          <p:cNvPr id="16" name="object 16"/>
          <p:cNvSpPr txBox="1"/>
          <p:nvPr/>
        </p:nvSpPr>
        <p:spPr>
          <a:xfrm>
            <a:off x="7174356" y="1692402"/>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4</a:t>
            </a:r>
            <a:endParaRPr sz="900">
              <a:latin typeface="Carlito"/>
              <a:cs typeface="Carlito"/>
            </a:endParaRPr>
          </a:p>
        </p:txBody>
      </p:sp>
      <p:sp>
        <p:nvSpPr>
          <p:cNvPr id="17" name="object 17"/>
          <p:cNvSpPr txBox="1"/>
          <p:nvPr/>
        </p:nvSpPr>
        <p:spPr>
          <a:xfrm>
            <a:off x="5327269" y="2380614"/>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5</a:t>
            </a:r>
            <a:endParaRPr sz="900">
              <a:latin typeface="Carlito"/>
              <a:cs typeface="Carlito"/>
            </a:endParaRPr>
          </a:p>
        </p:txBody>
      </p:sp>
      <p:sp>
        <p:nvSpPr>
          <p:cNvPr id="18" name="object 18"/>
          <p:cNvSpPr txBox="1"/>
          <p:nvPr/>
        </p:nvSpPr>
        <p:spPr>
          <a:xfrm>
            <a:off x="6558660" y="2380614"/>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6</a:t>
            </a:r>
            <a:endParaRPr sz="900">
              <a:latin typeface="Carlito"/>
              <a:cs typeface="Carlito"/>
            </a:endParaRPr>
          </a:p>
        </p:txBody>
      </p:sp>
      <p:sp>
        <p:nvSpPr>
          <p:cNvPr id="19" name="object 19"/>
          <p:cNvSpPr txBox="1"/>
          <p:nvPr/>
        </p:nvSpPr>
        <p:spPr>
          <a:xfrm>
            <a:off x="5517769" y="2641473"/>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7</a:t>
            </a:r>
            <a:endParaRPr sz="900">
              <a:latin typeface="Carlito"/>
              <a:cs typeface="Carlito"/>
            </a:endParaRPr>
          </a:p>
        </p:txBody>
      </p:sp>
      <p:sp>
        <p:nvSpPr>
          <p:cNvPr id="20" name="object 20"/>
          <p:cNvSpPr txBox="1"/>
          <p:nvPr/>
        </p:nvSpPr>
        <p:spPr>
          <a:xfrm>
            <a:off x="725220" y="3909466"/>
            <a:ext cx="228600" cy="50673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1.00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0.00</a:t>
            </a:r>
            <a:endParaRPr sz="900">
              <a:latin typeface="Carlito"/>
              <a:cs typeface="Carlito"/>
            </a:endParaRPr>
          </a:p>
        </p:txBody>
      </p:sp>
      <p:sp>
        <p:nvSpPr>
          <p:cNvPr id="21" name="object 21"/>
          <p:cNvSpPr txBox="1"/>
          <p:nvPr/>
        </p:nvSpPr>
        <p:spPr>
          <a:xfrm>
            <a:off x="725220" y="3565397"/>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2.00</a:t>
            </a:r>
            <a:endParaRPr sz="900">
              <a:latin typeface="Carlito"/>
              <a:cs typeface="Carlito"/>
            </a:endParaRPr>
          </a:p>
        </p:txBody>
      </p:sp>
      <p:sp>
        <p:nvSpPr>
          <p:cNvPr id="22" name="object 22"/>
          <p:cNvSpPr txBox="1"/>
          <p:nvPr/>
        </p:nvSpPr>
        <p:spPr>
          <a:xfrm>
            <a:off x="725220" y="2877057"/>
            <a:ext cx="228600" cy="50673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4.00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3.00</a:t>
            </a:r>
            <a:endParaRPr sz="900">
              <a:latin typeface="Carlito"/>
              <a:cs typeface="Carlito"/>
            </a:endParaRPr>
          </a:p>
        </p:txBody>
      </p:sp>
      <p:sp>
        <p:nvSpPr>
          <p:cNvPr id="23" name="object 23"/>
          <p:cNvSpPr txBox="1"/>
          <p:nvPr/>
        </p:nvSpPr>
        <p:spPr>
          <a:xfrm>
            <a:off x="725220" y="2533014"/>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5.00</a:t>
            </a:r>
            <a:endParaRPr sz="900">
              <a:latin typeface="Carlito"/>
              <a:cs typeface="Carlito"/>
            </a:endParaRPr>
          </a:p>
        </p:txBody>
      </p:sp>
      <p:sp>
        <p:nvSpPr>
          <p:cNvPr id="24" name="object 24"/>
          <p:cNvSpPr txBox="1"/>
          <p:nvPr/>
        </p:nvSpPr>
        <p:spPr>
          <a:xfrm>
            <a:off x="725220" y="1844801"/>
            <a:ext cx="228600" cy="50673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7.00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6.00</a:t>
            </a:r>
            <a:endParaRPr sz="900">
              <a:latin typeface="Carlito"/>
              <a:cs typeface="Carlito"/>
            </a:endParaRPr>
          </a:p>
        </p:txBody>
      </p:sp>
      <p:sp>
        <p:nvSpPr>
          <p:cNvPr id="25" name="object 25"/>
          <p:cNvSpPr txBox="1"/>
          <p:nvPr/>
        </p:nvSpPr>
        <p:spPr>
          <a:xfrm>
            <a:off x="725220" y="1500632"/>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8.00</a:t>
            </a:r>
            <a:endParaRPr sz="900">
              <a:latin typeface="Carlito"/>
              <a:cs typeface="Carlito"/>
            </a:endParaRPr>
          </a:p>
        </p:txBody>
      </p:sp>
      <p:sp>
        <p:nvSpPr>
          <p:cNvPr id="26" name="object 26"/>
          <p:cNvSpPr txBox="1"/>
          <p:nvPr/>
        </p:nvSpPr>
        <p:spPr>
          <a:xfrm>
            <a:off x="932789"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0.00</a:t>
            </a:r>
            <a:endParaRPr sz="900">
              <a:latin typeface="Carlito"/>
              <a:cs typeface="Carlito"/>
            </a:endParaRPr>
          </a:p>
        </p:txBody>
      </p:sp>
      <p:sp>
        <p:nvSpPr>
          <p:cNvPr id="27" name="object 27"/>
          <p:cNvSpPr txBox="1"/>
          <p:nvPr/>
        </p:nvSpPr>
        <p:spPr>
          <a:xfrm>
            <a:off x="2163826"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1.00</a:t>
            </a:r>
            <a:endParaRPr sz="900">
              <a:latin typeface="Carlito"/>
              <a:cs typeface="Carlito"/>
            </a:endParaRPr>
          </a:p>
        </p:txBody>
      </p:sp>
      <p:sp>
        <p:nvSpPr>
          <p:cNvPr id="28" name="object 28"/>
          <p:cNvSpPr txBox="1"/>
          <p:nvPr/>
        </p:nvSpPr>
        <p:spPr>
          <a:xfrm>
            <a:off x="3395217"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2.00</a:t>
            </a:r>
            <a:endParaRPr sz="900">
              <a:latin typeface="Carlito"/>
              <a:cs typeface="Carlito"/>
            </a:endParaRPr>
          </a:p>
        </p:txBody>
      </p:sp>
      <p:sp>
        <p:nvSpPr>
          <p:cNvPr id="29" name="object 29"/>
          <p:cNvSpPr txBox="1"/>
          <p:nvPr/>
        </p:nvSpPr>
        <p:spPr>
          <a:xfrm>
            <a:off x="4626609"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3.00</a:t>
            </a:r>
            <a:endParaRPr sz="900">
              <a:latin typeface="Carlito"/>
              <a:cs typeface="Carlito"/>
            </a:endParaRPr>
          </a:p>
        </p:txBody>
      </p:sp>
      <p:sp>
        <p:nvSpPr>
          <p:cNvPr id="30" name="object 30"/>
          <p:cNvSpPr txBox="1"/>
          <p:nvPr/>
        </p:nvSpPr>
        <p:spPr>
          <a:xfrm>
            <a:off x="5858002"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4.00</a:t>
            </a:r>
            <a:endParaRPr sz="900">
              <a:latin typeface="Carlito"/>
              <a:cs typeface="Carlito"/>
            </a:endParaRPr>
          </a:p>
        </p:txBody>
      </p:sp>
      <p:sp>
        <p:nvSpPr>
          <p:cNvPr id="31" name="object 31"/>
          <p:cNvSpPr txBox="1"/>
          <p:nvPr/>
        </p:nvSpPr>
        <p:spPr>
          <a:xfrm>
            <a:off x="7089140"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5.00</a:t>
            </a:r>
            <a:endParaRPr sz="900">
              <a:latin typeface="Carlito"/>
              <a:cs typeface="Carlito"/>
            </a:endParaRPr>
          </a:p>
        </p:txBody>
      </p:sp>
      <p:sp>
        <p:nvSpPr>
          <p:cNvPr id="32" name="object 32"/>
          <p:cNvSpPr txBox="1"/>
          <p:nvPr/>
        </p:nvSpPr>
        <p:spPr>
          <a:xfrm>
            <a:off x="8320531"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6.00</a:t>
            </a:r>
            <a:endParaRPr sz="900">
              <a:latin typeface="Carlito"/>
              <a:cs typeface="Carlito"/>
            </a:endParaRPr>
          </a:p>
        </p:txBody>
      </p:sp>
      <p:sp>
        <p:nvSpPr>
          <p:cNvPr id="34" name="object 34"/>
          <p:cNvSpPr/>
          <p:nvPr/>
        </p:nvSpPr>
        <p:spPr>
          <a:xfrm>
            <a:off x="2192273" y="3853434"/>
            <a:ext cx="253365" cy="253365"/>
          </a:xfrm>
          <a:custGeom>
            <a:avLst/>
            <a:gdLst/>
            <a:ahLst/>
            <a:cxnLst/>
            <a:rect l="l" t="t" r="r" b="b"/>
            <a:pathLst>
              <a:path w="253364" h="253364">
                <a:moveTo>
                  <a:pt x="0" y="126491"/>
                </a:moveTo>
                <a:lnTo>
                  <a:pt x="9941" y="77254"/>
                </a:lnTo>
                <a:lnTo>
                  <a:pt x="37052" y="37047"/>
                </a:lnTo>
                <a:lnTo>
                  <a:pt x="77259" y="9939"/>
                </a:lnTo>
                <a:lnTo>
                  <a:pt x="126492" y="0"/>
                </a:lnTo>
                <a:lnTo>
                  <a:pt x="175724" y="9939"/>
                </a:lnTo>
                <a:lnTo>
                  <a:pt x="215931" y="37047"/>
                </a:lnTo>
                <a:lnTo>
                  <a:pt x="243042" y="77254"/>
                </a:lnTo>
                <a:lnTo>
                  <a:pt x="252983" y="126491"/>
                </a:lnTo>
                <a:lnTo>
                  <a:pt x="243042" y="175729"/>
                </a:lnTo>
                <a:lnTo>
                  <a:pt x="215931" y="215936"/>
                </a:lnTo>
                <a:lnTo>
                  <a:pt x="175724" y="243044"/>
                </a:lnTo>
                <a:lnTo>
                  <a:pt x="126492" y="252983"/>
                </a:lnTo>
                <a:lnTo>
                  <a:pt x="77259" y="243044"/>
                </a:lnTo>
                <a:lnTo>
                  <a:pt x="37052" y="215936"/>
                </a:lnTo>
                <a:lnTo>
                  <a:pt x="9941" y="175729"/>
                </a:lnTo>
                <a:lnTo>
                  <a:pt x="0" y="126491"/>
                </a:lnTo>
                <a:close/>
              </a:path>
            </a:pathLst>
          </a:custGeom>
          <a:ln w="25908">
            <a:solidFill>
              <a:srgbClr val="8B3836"/>
            </a:solidFill>
          </a:ln>
        </p:spPr>
        <p:txBody>
          <a:bodyPr wrap="square" lIns="0" tIns="0" rIns="0" bIns="0" rtlCol="0"/>
          <a:lstStyle/>
          <a:p>
            <a:endParaRPr/>
          </a:p>
        </p:txBody>
      </p:sp>
      <p:sp>
        <p:nvSpPr>
          <p:cNvPr id="35" name="object 35"/>
          <p:cNvSpPr/>
          <p:nvPr/>
        </p:nvSpPr>
        <p:spPr>
          <a:xfrm>
            <a:off x="4626609" y="2873363"/>
            <a:ext cx="251460" cy="253365"/>
          </a:xfrm>
          <a:custGeom>
            <a:avLst/>
            <a:gdLst/>
            <a:ahLst/>
            <a:cxnLst/>
            <a:rect l="l" t="t" r="r" b="b"/>
            <a:pathLst>
              <a:path w="251460" h="253364">
                <a:moveTo>
                  <a:pt x="0" y="126492"/>
                </a:moveTo>
                <a:lnTo>
                  <a:pt x="9876" y="77259"/>
                </a:lnTo>
                <a:lnTo>
                  <a:pt x="36814" y="37052"/>
                </a:lnTo>
                <a:lnTo>
                  <a:pt x="76777" y="9941"/>
                </a:lnTo>
                <a:lnTo>
                  <a:pt x="125729" y="0"/>
                </a:lnTo>
                <a:lnTo>
                  <a:pt x="174682" y="9941"/>
                </a:lnTo>
                <a:lnTo>
                  <a:pt x="214645" y="37052"/>
                </a:lnTo>
                <a:lnTo>
                  <a:pt x="241583" y="77259"/>
                </a:lnTo>
                <a:lnTo>
                  <a:pt x="251459" y="126492"/>
                </a:lnTo>
                <a:lnTo>
                  <a:pt x="241583" y="175724"/>
                </a:lnTo>
                <a:lnTo>
                  <a:pt x="214645" y="215931"/>
                </a:lnTo>
                <a:lnTo>
                  <a:pt x="174682" y="243042"/>
                </a:lnTo>
                <a:lnTo>
                  <a:pt x="125729" y="252984"/>
                </a:lnTo>
                <a:lnTo>
                  <a:pt x="76777" y="243042"/>
                </a:lnTo>
                <a:lnTo>
                  <a:pt x="36814" y="215931"/>
                </a:lnTo>
                <a:lnTo>
                  <a:pt x="9876" y="175724"/>
                </a:lnTo>
                <a:lnTo>
                  <a:pt x="0" y="126492"/>
                </a:lnTo>
                <a:close/>
              </a:path>
            </a:pathLst>
          </a:custGeom>
          <a:ln w="25908">
            <a:solidFill>
              <a:srgbClr val="8B3836"/>
            </a:solidFill>
          </a:ln>
        </p:spPr>
        <p:txBody>
          <a:bodyPr wrap="square" lIns="0" tIns="0" rIns="0" bIns="0" rtlCol="0"/>
          <a:lstStyle/>
          <a:p>
            <a:endParaRPr/>
          </a:p>
        </p:txBody>
      </p:sp>
      <p:sp>
        <p:nvSpPr>
          <p:cNvPr id="40" name="object 4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36</a:t>
            </a:fld>
            <a:endParaRPr dirty="0"/>
          </a:p>
        </p:txBody>
      </p:sp>
      <p:sp>
        <p:nvSpPr>
          <p:cNvPr id="41" name="TextBox 40">
            <a:extLst>
              <a:ext uri="{FF2B5EF4-FFF2-40B4-BE49-F238E27FC236}">
                <a16:creationId xmlns:a16="http://schemas.microsoft.com/office/drawing/2014/main" id="{9F60E0B9-EEB2-4363-84E2-EEC86EBCBEC6}"/>
              </a:ext>
            </a:extLst>
          </p:cNvPr>
          <p:cNvSpPr txBox="1"/>
          <p:nvPr/>
        </p:nvSpPr>
        <p:spPr>
          <a:xfrm>
            <a:off x="3623817" y="4705350"/>
            <a:ext cx="2167383" cy="369332"/>
          </a:xfrm>
          <a:prstGeom prst="rect">
            <a:avLst/>
          </a:prstGeom>
          <a:noFill/>
        </p:spPr>
        <p:txBody>
          <a:bodyPr wrap="square" rtlCol="0">
            <a:spAutoFit/>
          </a:bodyPr>
          <a:lstStyle/>
          <a:p>
            <a:r>
              <a:rPr lang="en-US" dirty="0"/>
              <a:t>Variable 1</a:t>
            </a:r>
            <a:endParaRPr lang="en-IN" dirty="0"/>
          </a:p>
        </p:txBody>
      </p:sp>
      <p:sp>
        <p:nvSpPr>
          <p:cNvPr id="42" name="TextBox 41">
            <a:extLst>
              <a:ext uri="{FF2B5EF4-FFF2-40B4-BE49-F238E27FC236}">
                <a16:creationId xmlns:a16="http://schemas.microsoft.com/office/drawing/2014/main" id="{4F03CD73-D376-464F-97A0-3A314311FDF0}"/>
              </a:ext>
            </a:extLst>
          </p:cNvPr>
          <p:cNvSpPr txBox="1"/>
          <p:nvPr/>
        </p:nvSpPr>
        <p:spPr>
          <a:xfrm rot="16200000">
            <a:off x="-790733" y="2475780"/>
            <a:ext cx="2167383" cy="369332"/>
          </a:xfrm>
          <a:prstGeom prst="rect">
            <a:avLst/>
          </a:prstGeom>
          <a:noFill/>
        </p:spPr>
        <p:txBody>
          <a:bodyPr wrap="square" rtlCol="0">
            <a:spAutoFit/>
          </a:bodyPr>
          <a:lstStyle/>
          <a:p>
            <a:r>
              <a:rPr lang="en-US" dirty="0"/>
              <a:t>Variable 2</a:t>
            </a:r>
            <a:endParaRPr lang="en-IN" dirty="0"/>
          </a:p>
        </p:txBody>
      </p:sp>
    </p:spTree>
    <p:extLst>
      <p:ext uri="{BB962C8B-B14F-4D97-AF65-F5344CB8AC3E}">
        <p14:creationId xmlns:p14="http://schemas.microsoft.com/office/powerpoint/2010/main" val="4764568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5" dirty="0"/>
              <a:t>K-Means </a:t>
            </a:r>
            <a:r>
              <a:rPr spc="-15" dirty="0"/>
              <a:t>clustering</a:t>
            </a:r>
            <a:r>
              <a:rPr spc="40" dirty="0"/>
              <a:t> </a:t>
            </a:r>
            <a:r>
              <a:rPr spc="-20" dirty="0"/>
              <a:t>example</a:t>
            </a:r>
          </a:p>
        </p:txBody>
      </p:sp>
      <p:sp>
        <p:nvSpPr>
          <p:cNvPr id="3" name="object 3"/>
          <p:cNvSpPr/>
          <p:nvPr/>
        </p:nvSpPr>
        <p:spPr>
          <a:xfrm>
            <a:off x="4081017" y="1300733"/>
            <a:ext cx="3033395" cy="316230"/>
          </a:xfrm>
          <a:custGeom>
            <a:avLst/>
            <a:gdLst/>
            <a:ahLst/>
            <a:cxnLst/>
            <a:rect l="l" t="t" r="r" b="b"/>
            <a:pathLst>
              <a:path w="3033395" h="316230">
                <a:moveTo>
                  <a:pt x="3033014" y="0"/>
                </a:moveTo>
                <a:lnTo>
                  <a:pt x="159258" y="126"/>
                </a:lnTo>
                <a:lnTo>
                  <a:pt x="83820" y="282955"/>
                </a:lnTo>
                <a:lnTo>
                  <a:pt x="40767" y="186943"/>
                </a:lnTo>
                <a:lnTo>
                  <a:pt x="0" y="205612"/>
                </a:lnTo>
                <a:lnTo>
                  <a:pt x="3937" y="214883"/>
                </a:lnTo>
                <a:lnTo>
                  <a:pt x="24892" y="205612"/>
                </a:lnTo>
                <a:lnTo>
                  <a:pt x="76327" y="316229"/>
                </a:lnTo>
                <a:lnTo>
                  <a:pt x="88392" y="316229"/>
                </a:lnTo>
                <a:lnTo>
                  <a:pt x="169164" y="16763"/>
                </a:lnTo>
                <a:lnTo>
                  <a:pt x="3033014" y="16763"/>
                </a:lnTo>
                <a:close/>
              </a:path>
            </a:pathLst>
          </a:custGeom>
          <a:solidFill>
            <a:srgbClr val="000000"/>
          </a:solidFill>
        </p:spPr>
        <p:txBody>
          <a:bodyPr wrap="square" lIns="0" tIns="0" rIns="0" bIns="0" rtlCol="0"/>
          <a:lstStyle/>
          <a:p>
            <a:endParaRPr/>
          </a:p>
        </p:txBody>
      </p:sp>
      <p:sp>
        <p:nvSpPr>
          <p:cNvPr id="4" name="object 4"/>
          <p:cNvSpPr/>
          <p:nvPr/>
        </p:nvSpPr>
        <p:spPr>
          <a:xfrm>
            <a:off x="3626865" y="1742694"/>
            <a:ext cx="3060700" cy="316230"/>
          </a:xfrm>
          <a:custGeom>
            <a:avLst/>
            <a:gdLst/>
            <a:ahLst/>
            <a:cxnLst/>
            <a:rect l="l" t="t" r="r" b="b"/>
            <a:pathLst>
              <a:path w="3060700" h="316230">
                <a:moveTo>
                  <a:pt x="3060445" y="0"/>
                </a:moveTo>
                <a:lnTo>
                  <a:pt x="159258" y="126"/>
                </a:lnTo>
                <a:lnTo>
                  <a:pt x="83820" y="282955"/>
                </a:lnTo>
                <a:lnTo>
                  <a:pt x="40767" y="186943"/>
                </a:lnTo>
                <a:lnTo>
                  <a:pt x="0" y="205612"/>
                </a:lnTo>
                <a:lnTo>
                  <a:pt x="3937" y="214883"/>
                </a:lnTo>
                <a:lnTo>
                  <a:pt x="24892" y="205612"/>
                </a:lnTo>
                <a:lnTo>
                  <a:pt x="76326" y="316229"/>
                </a:lnTo>
                <a:lnTo>
                  <a:pt x="88392" y="316229"/>
                </a:lnTo>
                <a:lnTo>
                  <a:pt x="169163" y="16763"/>
                </a:lnTo>
                <a:lnTo>
                  <a:pt x="3060445" y="16763"/>
                </a:lnTo>
                <a:close/>
              </a:path>
            </a:pathLst>
          </a:custGeom>
          <a:solidFill>
            <a:srgbClr val="000000"/>
          </a:solidFill>
        </p:spPr>
        <p:txBody>
          <a:bodyPr wrap="square" lIns="0" tIns="0" rIns="0" bIns="0" rtlCol="0"/>
          <a:lstStyle/>
          <a:p>
            <a:endParaRPr/>
          </a:p>
        </p:txBody>
      </p:sp>
      <p:sp>
        <p:nvSpPr>
          <p:cNvPr id="5" name="object 5"/>
          <p:cNvSpPr/>
          <p:nvPr/>
        </p:nvSpPr>
        <p:spPr>
          <a:xfrm>
            <a:off x="4195318" y="2186177"/>
            <a:ext cx="3089910" cy="316230"/>
          </a:xfrm>
          <a:custGeom>
            <a:avLst/>
            <a:gdLst/>
            <a:ahLst/>
            <a:cxnLst/>
            <a:rect l="l" t="t" r="r" b="b"/>
            <a:pathLst>
              <a:path w="3089909" h="316230">
                <a:moveTo>
                  <a:pt x="1890395" y="61595"/>
                </a:moveTo>
                <a:lnTo>
                  <a:pt x="1886966" y="52070"/>
                </a:lnTo>
                <a:lnTo>
                  <a:pt x="1869884" y="58242"/>
                </a:lnTo>
                <a:lnTo>
                  <a:pt x="1854898" y="67183"/>
                </a:lnTo>
                <a:lnTo>
                  <a:pt x="1822704" y="110070"/>
                </a:lnTo>
                <a:lnTo>
                  <a:pt x="1812988" y="148412"/>
                </a:lnTo>
                <a:lnTo>
                  <a:pt x="1811782" y="170053"/>
                </a:lnTo>
                <a:lnTo>
                  <a:pt x="1812988" y="191706"/>
                </a:lnTo>
                <a:lnTo>
                  <a:pt x="1822704" y="229997"/>
                </a:lnTo>
                <a:lnTo>
                  <a:pt x="1854847" y="272732"/>
                </a:lnTo>
                <a:lnTo>
                  <a:pt x="1886966" y="287782"/>
                </a:lnTo>
                <a:lnTo>
                  <a:pt x="1890014" y="278257"/>
                </a:lnTo>
                <a:lnTo>
                  <a:pt x="1876552" y="272326"/>
                </a:lnTo>
                <a:lnTo>
                  <a:pt x="1864944" y="264058"/>
                </a:lnTo>
                <a:lnTo>
                  <a:pt x="1841119" y="225361"/>
                </a:lnTo>
                <a:lnTo>
                  <a:pt x="1833245" y="168783"/>
                </a:lnTo>
                <a:lnTo>
                  <a:pt x="1834121" y="148640"/>
                </a:lnTo>
                <a:lnTo>
                  <a:pt x="1847215" y="98933"/>
                </a:lnTo>
                <a:lnTo>
                  <a:pt x="1876767" y="67576"/>
                </a:lnTo>
                <a:lnTo>
                  <a:pt x="1890395" y="61595"/>
                </a:lnTo>
                <a:close/>
              </a:path>
              <a:path w="3089909" h="316230">
                <a:moveTo>
                  <a:pt x="2948686" y="170053"/>
                </a:moveTo>
                <a:lnTo>
                  <a:pt x="2943809" y="128422"/>
                </a:lnTo>
                <a:lnTo>
                  <a:pt x="2918358" y="78905"/>
                </a:lnTo>
                <a:lnTo>
                  <a:pt x="2873502" y="52070"/>
                </a:lnTo>
                <a:lnTo>
                  <a:pt x="2870073" y="61595"/>
                </a:lnTo>
                <a:lnTo>
                  <a:pt x="2883712" y="67576"/>
                </a:lnTo>
                <a:lnTo>
                  <a:pt x="2895460" y="75793"/>
                </a:lnTo>
                <a:lnTo>
                  <a:pt x="2919323" y="113728"/>
                </a:lnTo>
                <a:lnTo>
                  <a:pt x="2927096" y="168783"/>
                </a:lnTo>
                <a:lnTo>
                  <a:pt x="2926232" y="189547"/>
                </a:lnTo>
                <a:lnTo>
                  <a:pt x="2913126" y="240411"/>
                </a:lnTo>
                <a:lnTo>
                  <a:pt x="2883903" y="272326"/>
                </a:lnTo>
                <a:lnTo>
                  <a:pt x="2870454" y="278257"/>
                </a:lnTo>
                <a:lnTo>
                  <a:pt x="2873502" y="287782"/>
                </a:lnTo>
                <a:lnTo>
                  <a:pt x="2918485" y="261073"/>
                </a:lnTo>
                <a:lnTo>
                  <a:pt x="2943822" y="211683"/>
                </a:lnTo>
                <a:lnTo>
                  <a:pt x="2947466" y="191706"/>
                </a:lnTo>
                <a:lnTo>
                  <a:pt x="2948686" y="170053"/>
                </a:lnTo>
                <a:close/>
              </a:path>
              <a:path w="3089909" h="316230">
                <a:moveTo>
                  <a:pt x="3089402" y="0"/>
                </a:moveTo>
                <a:lnTo>
                  <a:pt x="159258" y="127"/>
                </a:lnTo>
                <a:lnTo>
                  <a:pt x="83820" y="282956"/>
                </a:lnTo>
                <a:lnTo>
                  <a:pt x="40767" y="186944"/>
                </a:lnTo>
                <a:lnTo>
                  <a:pt x="0" y="205613"/>
                </a:lnTo>
                <a:lnTo>
                  <a:pt x="3937" y="214884"/>
                </a:lnTo>
                <a:lnTo>
                  <a:pt x="24892" y="205613"/>
                </a:lnTo>
                <a:lnTo>
                  <a:pt x="76327" y="316230"/>
                </a:lnTo>
                <a:lnTo>
                  <a:pt x="88392" y="316230"/>
                </a:lnTo>
                <a:lnTo>
                  <a:pt x="169164" y="16764"/>
                </a:lnTo>
                <a:lnTo>
                  <a:pt x="3089402" y="16764"/>
                </a:lnTo>
                <a:lnTo>
                  <a:pt x="3089402" y="0"/>
                </a:lnTo>
                <a:close/>
              </a:path>
            </a:pathLst>
          </a:custGeom>
          <a:solidFill>
            <a:srgbClr val="000000"/>
          </a:solidFill>
        </p:spPr>
        <p:txBody>
          <a:bodyPr wrap="square" lIns="0" tIns="0" rIns="0" bIns="0" rtlCol="0"/>
          <a:lstStyle/>
          <a:p>
            <a:endParaRPr/>
          </a:p>
        </p:txBody>
      </p:sp>
      <p:sp>
        <p:nvSpPr>
          <p:cNvPr id="6" name="object 6"/>
          <p:cNvSpPr txBox="1"/>
          <p:nvPr/>
        </p:nvSpPr>
        <p:spPr>
          <a:xfrm>
            <a:off x="485140" y="1140267"/>
            <a:ext cx="7234555" cy="1353185"/>
          </a:xfrm>
          <a:prstGeom prst="rect">
            <a:avLst/>
          </a:prstGeom>
        </p:spPr>
        <p:txBody>
          <a:bodyPr vert="horz" wrap="square" lIns="0" tIns="149225" rIns="0" bIns="0" rtlCol="0">
            <a:spAutoFit/>
          </a:bodyPr>
          <a:lstStyle/>
          <a:p>
            <a:pPr marL="63500">
              <a:lnSpc>
                <a:spcPct val="100000"/>
              </a:lnSpc>
              <a:spcBef>
                <a:spcPts val="1175"/>
              </a:spcBef>
              <a:tabLst>
                <a:tab pos="3780790" algn="l"/>
              </a:tabLst>
            </a:pPr>
            <a:r>
              <a:rPr sz="2000" spc="-10" dirty="0">
                <a:latin typeface="Carlito"/>
                <a:cs typeface="Carlito"/>
              </a:rPr>
              <a:t>Distance </a:t>
            </a:r>
            <a:r>
              <a:rPr sz="2000" spc="-5" dirty="0">
                <a:latin typeface="Carlito"/>
                <a:cs typeface="Carlito"/>
              </a:rPr>
              <a:t>of </a:t>
            </a:r>
            <a:r>
              <a:rPr sz="2000" dirty="0">
                <a:latin typeface="Carlito"/>
                <a:cs typeface="Carlito"/>
              </a:rPr>
              <a:t>k1 </a:t>
            </a:r>
            <a:r>
              <a:rPr sz="2000" spc="-15" dirty="0">
                <a:latin typeface="Carlito"/>
                <a:cs typeface="Carlito"/>
              </a:rPr>
              <a:t>from </a:t>
            </a:r>
            <a:r>
              <a:rPr sz="2000" dirty="0">
                <a:latin typeface="Carlito"/>
                <a:cs typeface="Carlito"/>
              </a:rPr>
              <a:t>k1 </a:t>
            </a:r>
            <a:r>
              <a:rPr sz="2000" spc="-5" dirty="0">
                <a:latin typeface="Carlito"/>
                <a:cs typeface="Carlito"/>
              </a:rPr>
              <a:t>(1.0,</a:t>
            </a:r>
            <a:r>
              <a:rPr sz="2000" spc="50" dirty="0">
                <a:latin typeface="Carlito"/>
                <a:cs typeface="Carlito"/>
              </a:rPr>
              <a:t> </a:t>
            </a:r>
            <a:r>
              <a:rPr sz="2000" dirty="0">
                <a:latin typeface="Carlito"/>
                <a:cs typeface="Carlito"/>
              </a:rPr>
              <a:t>1.0)</a:t>
            </a:r>
            <a:r>
              <a:rPr sz="2000" spc="-20" dirty="0">
                <a:latin typeface="Carlito"/>
                <a:cs typeface="Carlito"/>
              </a:rPr>
              <a:t> </a:t>
            </a:r>
            <a:r>
              <a:rPr sz="2000" dirty="0">
                <a:latin typeface="Carlito"/>
                <a:cs typeface="Carlito"/>
              </a:rPr>
              <a:t>=	</a:t>
            </a:r>
            <a:r>
              <a:rPr sz="2000" spc="30" dirty="0">
                <a:latin typeface="DejaVu Serif Condensed"/>
                <a:cs typeface="DejaVu Serif Condensed"/>
              </a:rPr>
              <a:t>(</a:t>
            </a:r>
            <a:r>
              <a:rPr sz="2000" spc="30" dirty="0">
                <a:latin typeface="Carlito"/>
                <a:cs typeface="Carlito"/>
              </a:rPr>
              <a:t>1.0 </a:t>
            </a:r>
            <a:r>
              <a:rPr sz="2000" spc="-15" dirty="0">
                <a:latin typeface="DejaVu Serif Condensed"/>
                <a:cs typeface="DejaVu Serif Condensed"/>
              </a:rPr>
              <a:t>− </a:t>
            </a:r>
            <a:r>
              <a:rPr sz="2000" spc="30" dirty="0">
                <a:latin typeface="Carlito"/>
                <a:cs typeface="Carlito"/>
              </a:rPr>
              <a:t>1.0</a:t>
            </a:r>
            <a:r>
              <a:rPr sz="2000" spc="30" dirty="0">
                <a:latin typeface="DejaVu Serif Condensed"/>
                <a:cs typeface="DejaVu Serif Condensed"/>
              </a:rPr>
              <a:t>)</a:t>
            </a:r>
            <a:r>
              <a:rPr sz="2175" spc="44" baseline="22988" dirty="0">
                <a:latin typeface="DejaVu Serif Condensed"/>
                <a:cs typeface="DejaVu Serif Condensed"/>
              </a:rPr>
              <a:t>2 </a:t>
            </a:r>
            <a:r>
              <a:rPr sz="2000" spc="-15" dirty="0">
                <a:latin typeface="DejaVu Serif Condensed"/>
                <a:cs typeface="DejaVu Serif Condensed"/>
              </a:rPr>
              <a:t>+ </a:t>
            </a:r>
            <a:r>
              <a:rPr sz="2000" spc="30" dirty="0">
                <a:latin typeface="DejaVu Serif Condensed"/>
                <a:cs typeface="DejaVu Serif Condensed"/>
              </a:rPr>
              <a:t>(</a:t>
            </a:r>
            <a:r>
              <a:rPr sz="2000" spc="30" dirty="0">
                <a:latin typeface="Carlito"/>
                <a:cs typeface="Carlito"/>
              </a:rPr>
              <a:t>1.0 </a:t>
            </a:r>
            <a:r>
              <a:rPr sz="2000" spc="-15" dirty="0">
                <a:latin typeface="DejaVu Serif Condensed"/>
                <a:cs typeface="DejaVu Serif Condensed"/>
              </a:rPr>
              <a:t>−</a:t>
            </a:r>
            <a:r>
              <a:rPr sz="2000" spc="-340" dirty="0">
                <a:latin typeface="DejaVu Serif Condensed"/>
                <a:cs typeface="DejaVu Serif Condensed"/>
              </a:rPr>
              <a:t> </a:t>
            </a:r>
            <a:r>
              <a:rPr sz="2000" spc="25" dirty="0">
                <a:latin typeface="Carlito"/>
                <a:cs typeface="Carlito"/>
              </a:rPr>
              <a:t>1.0</a:t>
            </a:r>
            <a:r>
              <a:rPr sz="2000" spc="25" dirty="0">
                <a:latin typeface="DejaVu Serif Condensed"/>
                <a:cs typeface="DejaVu Serif Condensed"/>
              </a:rPr>
              <a:t>)</a:t>
            </a:r>
            <a:r>
              <a:rPr sz="2175" spc="37" baseline="22988" dirty="0">
                <a:latin typeface="DejaVu Serif Condensed"/>
                <a:cs typeface="DejaVu Serif Condensed"/>
              </a:rPr>
              <a:t>2 </a:t>
            </a:r>
            <a:r>
              <a:rPr sz="2000" dirty="0">
                <a:latin typeface="Carlito"/>
                <a:cs typeface="Carlito"/>
              </a:rPr>
              <a:t>= 0</a:t>
            </a:r>
            <a:endParaRPr sz="2000">
              <a:latin typeface="Carlito"/>
              <a:cs typeface="Carlito"/>
            </a:endParaRPr>
          </a:p>
          <a:p>
            <a:pPr marL="63500">
              <a:lnSpc>
                <a:spcPct val="100000"/>
              </a:lnSpc>
              <a:spcBef>
                <a:spcPts val="1080"/>
              </a:spcBef>
              <a:tabLst>
                <a:tab pos="3326765" algn="l"/>
              </a:tabLst>
            </a:pPr>
            <a:r>
              <a:rPr sz="2000" dirty="0">
                <a:latin typeface="Carlito"/>
                <a:cs typeface="Carlito"/>
              </a:rPr>
              <a:t>k1 </a:t>
            </a:r>
            <a:r>
              <a:rPr sz="2000" spc="-10" dirty="0">
                <a:latin typeface="Carlito"/>
                <a:cs typeface="Carlito"/>
              </a:rPr>
              <a:t>to </a:t>
            </a:r>
            <a:r>
              <a:rPr sz="2000" dirty="0">
                <a:latin typeface="Carlito"/>
                <a:cs typeface="Carlito"/>
              </a:rPr>
              <a:t>k2 (1.0, 1.0), </a:t>
            </a:r>
            <a:r>
              <a:rPr sz="2000" spc="-5" dirty="0">
                <a:latin typeface="Carlito"/>
                <a:cs typeface="Carlito"/>
              </a:rPr>
              <a:t>(3.0,</a:t>
            </a:r>
            <a:r>
              <a:rPr sz="2000" spc="-65" dirty="0">
                <a:latin typeface="Carlito"/>
                <a:cs typeface="Carlito"/>
              </a:rPr>
              <a:t> </a:t>
            </a:r>
            <a:r>
              <a:rPr sz="2000" dirty="0">
                <a:latin typeface="Carlito"/>
                <a:cs typeface="Carlito"/>
              </a:rPr>
              <a:t>4.0)</a:t>
            </a:r>
            <a:r>
              <a:rPr sz="2000" spc="-10" dirty="0">
                <a:latin typeface="Carlito"/>
                <a:cs typeface="Carlito"/>
              </a:rPr>
              <a:t> </a:t>
            </a:r>
            <a:r>
              <a:rPr sz="2000" dirty="0">
                <a:latin typeface="Carlito"/>
                <a:cs typeface="Carlito"/>
              </a:rPr>
              <a:t>=	</a:t>
            </a:r>
            <a:r>
              <a:rPr sz="2000" spc="-30" dirty="0">
                <a:latin typeface="DejaVu Serif Condensed"/>
                <a:cs typeface="DejaVu Serif Condensed"/>
              </a:rPr>
              <a:t>(3.0 </a:t>
            </a:r>
            <a:r>
              <a:rPr sz="2000" spc="-10" dirty="0">
                <a:latin typeface="DejaVu Serif Condensed"/>
                <a:cs typeface="DejaVu Serif Condensed"/>
              </a:rPr>
              <a:t>− </a:t>
            </a:r>
            <a:r>
              <a:rPr sz="2000" spc="25" dirty="0">
                <a:latin typeface="Carlito"/>
                <a:cs typeface="Carlito"/>
              </a:rPr>
              <a:t>1.0</a:t>
            </a:r>
            <a:r>
              <a:rPr sz="2000" spc="25" dirty="0">
                <a:latin typeface="DejaVu Serif Condensed"/>
                <a:cs typeface="DejaVu Serif Condensed"/>
              </a:rPr>
              <a:t>)</a:t>
            </a:r>
            <a:r>
              <a:rPr sz="2175" spc="37" baseline="22988" dirty="0">
                <a:latin typeface="DejaVu Serif Condensed"/>
                <a:cs typeface="DejaVu Serif Condensed"/>
              </a:rPr>
              <a:t>2 </a:t>
            </a:r>
            <a:r>
              <a:rPr sz="2000" spc="-10" dirty="0">
                <a:latin typeface="DejaVu Serif Condensed"/>
                <a:cs typeface="DejaVu Serif Condensed"/>
              </a:rPr>
              <a:t>+ </a:t>
            </a:r>
            <a:r>
              <a:rPr sz="2000" spc="20" dirty="0">
                <a:latin typeface="DejaVu Serif Condensed"/>
                <a:cs typeface="DejaVu Serif Condensed"/>
              </a:rPr>
              <a:t>(4</a:t>
            </a:r>
            <a:r>
              <a:rPr sz="2000" spc="20" dirty="0">
                <a:latin typeface="Carlito"/>
                <a:cs typeface="Carlito"/>
              </a:rPr>
              <a:t>.0 </a:t>
            </a:r>
            <a:r>
              <a:rPr sz="2000" spc="-10" dirty="0">
                <a:latin typeface="DejaVu Serif Condensed"/>
                <a:cs typeface="DejaVu Serif Condensed"/>
              </a:rPr>
              <a:t>−</a:t>
            </a:r>
            <a:r>
              <a:rPr sz="2000" spc="-360" dirty="0">
                <a:latin typeface="DejaVu Serif Condensed"/>
                <a:cs typeface="DejaVu Serif Condensed"/>
              </a:rPr>
              <a:t> </a:t>
            </a:r>
            <a:r>
              <a:rPr sz="2000" spc="25" dirty="0">
                <a:latin typeface="Carlito"/>
                <a:cs typeface="Carlito"/>
              </a:rPr>
              <a:t>1.0</a:t>
            </a:r>
            <a:r>
              <a:rPr sz="2000" spc="25" dirty="0">
                <a:latin typeface="DejaVu Serif Condensed"/>
                <a:cs typeface="DejaVu Serif Condensed"/>
              </a:rPr>
              <a:t>)</a:t>
            </a:r>
            <a:r>
              <a:rPr sz="2175" spc="37" baseline="22988" dirty="0">
                <a:latin typeface="DejaVu Serif Condensed"/>
                <a:cs typeface="DejaVu Serif Condensed"/>
              </a:rPr>
              <a:t>2 </a:t>
            </a:r>
            <a:r>
              <a:rPr sz="2000" dirty="0">
                <a:latin typeface="Carlito"/>
                <a:cs typeface="Carlito"/>
              </a:rPr>
              <a:t>= 3.61</a:t>
            </a:r>
            <a:endParaRPr sz="2000">
              <a:latin typeface="Carlito"/>
              <a:cs typeface="Carlito"/>
            </a:endParaRPr>
          </a:p>
          <a:p>
            <a:pPr marL="63500">
              <a:lnSpc>
                <a:spcPct val="100000"/>
              </a:lnSpc>
              <a:spcBef>
                <a:spcPts val="1095"/>
              </a:spcBef>
              <a:tabLst>
                <a:tab pos="3895090" algn="l"/>
                <a:tab pos="5605145" algn="l"/>
              </a:tabLst>
            </a:pPr>
            <a:r>
              <a:rPr sz="2000" spc="-10" dirty="0">
                <a:latin typeface="Carlito"/>
                <a:cs typeface="Carlito"/>
              </a:rPr>
              <a:t>Distance </a:t>
            </a:r>
            <a:r>
              <a:rPr sz="2000" spc="-5" dirty="0">
                <a:latin typeface="Carlito"/>
                <a:cs typeface="Carlito"/>
              </a:rPr>
              <a:t>of </a:t>
            </a:r>
            <a:r>
              <a:rPr sz="2000" dirty="0">
                <a:latin typeface="Carlito"/>
                <a:cs typeface="Carlito"/>
              </a:rPr>
              <a:t>k 2  </a:t>
            </a:r>
            <a:r>
              <a:rPr sz="2000" spc="-15" dirty="0">
                <a:latin typeface="Carlito"/>
                <a:cs typeface="Carlito"/>
              </a:rPr>
              <a:t>from </a:t>
            </a:r>
            <a:r>
              <a:rPr sz="2000" dirty="0">
                <a:latin typeface="Carlito"/>
                <a:cs typeface="Carlito"/>
              </a:rPr>
              <a:t>k2 </a:t>
            </a:r>
            <a:r>
              <a:rPr sz="2000" spc="-5" dirty="0">
                <a:latin typeface="Carlito"/>
                <a:cs typeface="Carlito"/>
              </a:rPr>
              <a:t>(3.0,</a:t>
            </a:r>
            <a:r>
              <a:rPr sz="2000" spc="50" dirty="0">
                <a:latin typeface="Carlito"/>
                <a:cs typeface="Carlito"/>
              </a:rPr>
              <a:t> </a:t>
            </a:r>
            <a:r>
              <a:rPr sz="2000" dirty="0">
                <a:latin typeface="Carlito"/>
                <a:cs typeface="Carlito"/>
              </a:rPr>
              <a:t>4.0)</a:t>
            </a:r>
            <a:r>
              <a:rPr sz="2000" spc="-20" dirty="0">
                <a:latin typeface="Carlito"/>
                <a:cs typeface="Carlito"/>
              </a:rPr>
              <a:t> </a:t>
            </a:r>
            <a:r>
              <a:rPr sz="2000" dirty="0">
                <a:latin typeface="Carlito"/>
                <a:cs typeface="Carlito"/>
              </a:rPr>
              <a:t>=	</a:t>
            </a:r>
            <a:r>
              <a:rPr sz="2000" spc="-35" dirty="0">
                <a:latin typeface="DejaVu Serif Condensed"/>
                <a:cs typeface="DejaVu Serif Condensed"/>
              </a:rPr>
              <a:t>(3.0 </a:t>
            </a:r>
            <a:r>
              <a:rPr sz="2000" spc="-15" dirty="0">
                <a:latin typeface="DejaVu Serif Condensed"/>
                <a:cs typeface="DejaVu Serif Condensed"/>
              </a:rPr>
              <a:t>−</a:t>
            </a:r>
            <a:r>
              <a:rPr sz="2000" spc="-190" dirty="0">
                <a:latin typeface="DejaVu Serif Condensed"/>
                <a:cs typeface="DejaVu Serif Condensed"/>
              </a:rPr>
              <a:t> </a:t>
            </a:r>
            <a:r>
              <a:rPr sz="2000" spc="-20" dirty="0">
                <a:latin typeface="DejaVu Serif Condensed"/>
                <a:cs typeface="DejaVu Serif Condensed"/>
              </a:rPr>
              <a:t>3.0)</a:t>
            </a:r>
            <a:r>
              <a:rPr sz="2175" spc="-30" baseline="22988" dirty="0">
                <a:latin typeface="DejaVu Serif Condensed"/>
                <a:cs typeface="DejaVu Serif Condensed"/>
              </a:rPr>
              <a:t>2</a:t>
            </a:r>
            <a:r>
              <a:rPr sz="2175" spc="172" baseline="22988" dirty="0">
                <a:latin typeface="DejaVu Serif Condensed"/>
                <a:cs typeface="DejaVu Serif Condensed"/>
              </a:rPr>
              <a:t> </a:t>
            </a:r>
            <a:r>
              <a:rPr sz="2000" spc="-15" dirty="0">
                <a:latin typeface="DejaVu Serif Condensed"/>
                <a:cs typeface="DejaVu Serif Condensed"/>
              </a:rPr>
              <a:t>+	</a:t>
            </a:r>
            <a:r>
              <a:rPr sz="2000" spc="-20" dirty="0">
                <a:latin typeface="DejaVu Serif Condensed"/>
                <a:cs typeface="DejaVu Serif Condensed"/>
              </a:rPr>
              <a:t>4</a:t>
            </a:r>
            <a:r>
              <a:rPr sz="2000" spc="-20" dirty="0">
                <a:latin typeface="Carlito"/>
                <a:cs typeface="Carlito"/>
              </a:rPr>
              <a:t>.0 </a:t>
            </a:r>
            <a:r>
              <a:rPr sz="2000" spc="-15" dirty="0">
                <a:latin typeface="DejaVu Serif Condensed"/>
                <a:cs typeface="DejaVu Serif Condensed"/>
              </a:rPr>
              <a:t>− 4</a:t>
            </a:r>
            <a:r>
              <a:rPr sz="2000" spc="-15" dirty="0">
                <a:latin typeface="Carlito"/>
                <a:cs typeface="Carlito"/>
              </a:rPr>
              <a:t>.0 </a:t>
            </a:r>
            <a:r>
              <a:rPr sz="2175" spc="22" baseline="22988" dirty="0">
                <a:latin typeface="DejaVu Serif Condensed"/>
                <a:cs typeface="DejaVu Serif Condensed"/>
              </a:rPr>
              <a:t>2 </a:t>
            </a:r>
            <a:r>
              <a:rPr sz="2000" dirty="0">
                <a:latin typeface="Carlito"/>
                <a:cs typeface="Carlito"/>
              </a:rPr>
              <a:t>=</a:t>
            </a:r>
            <a:r>
              <a:rPr sz="2000" spc="-100" dirty="0">
                <a:latin typeface="Carlito"/>
                <a:cs typeface="Carlito"/>
              </a:rPr>
              <a:t> </a:t>
            </a:r>
            <a:r>
              <a:rPr sz="2000" dirty="0">
                <a:latin typeface="Carlito"/>
                <a:cs typeface="Carlito"/>
              </a:rPr>
              <a:t>0</a:t>
            </a:r>
            <a:endParaRPr sz="2000">
              <a:latin typeface="Carlito"/>
              <a:cs typeface="Carlito"/>
            </a:endParaRPr>
          </a:p>
        </p:txBody>
      </p:sp>
      <p:graphicFrame>
        <p:nvGraphicFramePr>
          <p:cNvPr id="7" name="object 7"/>
          <p:cNvGraphicFramePr>
            <a:graphicFrameLocks noGrp="1"/>
          </p:cNvGraphicFramePr>
          <p:nvPr/>
        </p:nvGraphicFramePr>
        <p:xfrm>
          <a:off x="2081022" y="2709036"/>
          <a:ext cx="4217669" cy="1463038"/>
        </p:xfrm>
        <a:graphic>
          <a:graphicData uri="http://schemas.openxmlformats.org/drawingml/2006/table">
            <a:tbl>
              <a:tblPr firstRow="1" bandRow="1">
                <a:tableStyleId>{2D5ABB26-0587-4C30-8999-92F81FD0307C}</a:tableStyleId>
              </a:tblPr>
              <a:tblGrid>
                <a:gridCol w="1054735">
                  <a:extLst>
                    <a:ext uri="{9D8B030D-6E8A-4147-A177-3AD203B41FA5}">
                      <a16:colId xmlns:a16="http://schemas.microsoft.com/office/drawing/2014/main" val="20000"/>
                    </a:ext>
                  </a:extLst>
                </a:gridCol>
                <a:gridCol w="817879">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1468755">
                  <a:extLst>
                    <a:ext uri="{9D8B030D-6E8A-4147-A177-3AD203B41FA5}">
                      <a16:colId xmlns:a16="http://schemas.microsoft.com/office/drawing/2014/main" val="20003"/>
                    </a:ext>
                  </a:extLst>
                </a:gridCol>
              </a:tblGrid>
              <a:tr h="365760">
                <a:tc rowSpan="2">
                  <a:txBody>
                    <a:bodyPr/>
                    <a:lstStyle/>
                    <a:p>
                      <a:pPr>
                        <a:lnSpc>
                          <a:spcPct val="100000"/>
                        </a:lnSpc>
                        <a:spcBef>
                          <a:spcPts val="20"/>
                        </a:spcBef>
                      </a:pPr>
                      <a:endParaRPr sz="1450">
                        <a:latin typeface="Times New Roman"/>
                        <a:cs typeface="Times New Roman"/>
                      </a:endParaRPr>
                    </a:p>
                    <a:p>
                      <a:pPr marL="196850">
                        <a:lnSpc>
                          <a:spcPct val="100000"/>
                        </a:lnSpc>
                      </a:pPr>
                      <a:r>
                        <a:rPr sz="1800" b="1" spc="-10" dirty="0">
                          <a:solidFill>
                            <a:srgbClr val="FFFFFF"/>
                          </a:solidFill>
                          <a:latin typeface="Carlito"/>
                          <a:cs typeface="Carlito"/>
                        </a:rPr>
                        <a:t>Cluster</a:t>
                      </a:r>
                      <a:endParaRPr sz="1800">
                        <a:latin typeface="Carlito"/>
                        <a:cs typeface="Carlito"/>
                      </a:endParaRPr>
                    </a:p>
                  </a:txBody>
                  <a:tcPr marL="0" marR="0" marT="2540" marB="0">
                    <a:lnL w="1270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4F81BC"/>
                    </a:solidFill>
                  </a:tcPr>
                </a:tc>
                <a:tc gridSpan="3">
                  <a:txBody>
                    <a:bodyPr/>
                    <a:lstStyle/>
                    <a:p>
                      <a:pPr algn="ctr">
                        <a:lnSpc>
                          <a:spcPct val="100000"/>
                        </a:lnSpc>
                        <a:spcBef>
                          <a:spcPts val="245"/>
                        </a:spcBef>
                      </a:pPr>
                      <a:r>
                        <a:rPr sz="1800" b="1" spc="-10" dirty="0">
                          <a:solidFill>
                            <a:srgbClr val="FFFFFF"/>
                          </a:solidFill>
                          <a:latin typeface="Carlito"/>
                          <a:cs typeface="Carlito"/>
                        </a:rPr>
                        <a:t>Centroid</a:t>
                      </a:r>
                      <a:endParaRPr sz="1800">
                        <a:latin typeface="Carlito"/>
                        <a:cs typeface="Carlito"/>
                      </a:endParaRPr>
                    </a:p>
                  </a:txBody>
                  <a:tcPr marL="0" marR="0" marT="31115" marB="0">
                    <a:lnL w="381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65759">
                <a:tc vMerge="1">
                  <a:txBody>
                    <a:bodyPr/>
                    <a:lstStyle/>
                    <a:p>
                      <a:endParaRPr/>
                    </a:p>
                  </a:txBody>
                  <a:tcPr marL="0" marR="0" marT="2540" marB="0">
                    <a:lnL w="1270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5"/>
                        </a:spcBef>
                      </a:pPr>
                      <a:r>
                        <a:rPr sz="1800" dirty="0">
                          <a:latin typeface="Carlito"/>
                          <a:cs typeface="Carlito"/>
                        </a:rPr>
                        <a:t>K1</a:t>
                      </a:r>
                      <a:endParaRPr sz="1800">
                        <a:latin typeface="Carlito"/>
                        <a:cs typeface="Carlito"/>
                      </a:endParaRPr>
                    </a:p>
                  </a:txBody>
                  <a:tcPr marL="0" marR="0" marT="31115" marB="0">
                    <a:lnL w="381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245"/>
                        </a:spcBef>
                      </a:pPr>
                      <a:r>
                        <a:rPr sz="1800" dirty="0">
                          <a:latin typeface="Carlito"/>
                          <a:cs typeface="Carlito"/>
                        </a:rPr>
                        <a:t>K2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245"/>
                        </a:spcBef>
                      </a:pPr>
                      <a:r>
                        <a:rPr sz="1800" spc="-5" dirty="0">
                          <a:latin typeface="Carlito"/>
                          <a:cs typeface="Carlito"/>
                        </a:rPr>
                        <a:t>Assignment</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759">
                <a:tc>
                  <a:txBody>
                    <a:bodyPr/>
                    <a:lstStyle/>
                    <a:p>
                      <a:pPr marL="635" algn="ctr">
                        <a:lnSpc>
                          <a:spcPct val="100000"/>
                        </a:lnSpc>
                        <a:spcBef>
                          <a:spcPts val="245"/>
                        </a:spcBef>
                      </a:pPr>
                      <a:r>
                        <a:rPr sz="1800" dirty="0">
                          <a:latin typeface="Carlito"/>
                          <a:cs typeface="Carlito"/>
                        </a:rPr>
                        <a:t>K1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35" algn="ctr">
                        <a:lnSpc>
                          <a:spcPct val="100000"/>
                        </a:lnSpc>
                        <a:spcBef>
                          <a:spcPts val="245"/>
                        </a:spcBef>
                      </a:pPr>
                      <a:r>
                        <a:rPr sz="1800" dirty="0">
                          <a:latin typeface="Carlito"/>
                          <a:cs typeface="Carlito"/>
                        </a:rPr>
                        <a:t>3.61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245"/>
                        </a:spcBef>
                      </a:pPr>
                      <a:r>
                        <a:rPr sz="1800" spc="-5" dirty="0">
                          <a:latin typeface="Carlito"/>
                          <a:cs typeface="Carlito"/>
                        </a:rPr>
                        <a:t>k1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365760">
                <a:tc>
                  <a:txBody>
                    <a:bodyPr/>
                    <a:lstStyle/>
                    <a:p>
                      <a:pPr marL="635" algn="ctr">
                        <a:lnSpc>
                          <a:spcPct val="100000"/>
                        </a:lnSpc>
                        <a:spcBef>
                          <a:spcPts val="250"/>
                        </a:spcBef>
                      </a:pPr>
                      <a:r>
                        <a:rPr sz="1800" dirty="0">
                          <a:latin typeface="Carlito"/>
                          <a:cs typeface="Carlito"/>
                        </a:rPr>
                        <a:t>K2</a:t>
                      </a:r>
                      <a:endParaRPr sz="1800">
                        <a:latin typeface="Carlito"/>
                        <a:cs typeface="Carlito"/>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50"/>
                        </a:spcBef>
                      </a:pPr>
                      <a:r>
                        <a:rPr sz="1800" dirty="0">
                          <a:latin typeface="Carlito"/>
                          <a:cs typeface="Carlito"/>
                        </a:rPr>
                        <a:t>3.61</a:t>
                      </a:r>
                      <a:endParaRPr sz="1800">
                        <a:latin typeface="Carlito"/>
                        <a:cs typeface="Carlito"/>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35" algn="ctr">
                        <a:lnSpc>
                          <a:spcPct val="100000"/>
                        </a:lnSpc>
                        <a:spcBef>
                          <a:spcPts val="250"/>
                        </a:spcBef>
                      </a:pPr>
                      <a:r>
                        <a:rPr sz="1800" dirty="0">
                          <a:latin typeface="Carlito"/>
                          <a:cs typeface="Carlito"/>
                        </a:rPr>
                        <a:t>0</a:t>
                      </a:r>
                      <a:endParaRPr sz="1800">
                        <a:latin typeface="Carlito"/>
                        <a:cs typeface="Carlito"/>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250"/>
                        </a:spcBef>
                      </a:pPr>
                      <a:r>
                        <a:rPr sz="1800" spc="-5" dirty="0">
                          <a:latin typeface="Carlito"/>
                          <a:cs typeface="Carlito"/>
                        </a:rPr>
                        <a:t>k2</a:t>
                      </a:r>
                      <a:endParaRPr sz="1800">
                        <a:latin typeface="Carlito"/>
                        <a:cs typeface="Carlito"/>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bl>
          </a:graphicData>
        </a:graphic>
      </p:graphicFrame>
      <p:graphicFrame>
        <p:nvGraphicFramePr>
          <p:cNvPr id="8" name="object 8"/>
          <p:cNvGraphicFramePr>
            <a:graphicFrameLocks noGrp="1"/>
          </p:cNvGraphicFramePr>
          <p:nvPr/>
        </p:nvGraphicFramePr>
        <p:xfrm>
          <a:off x="6974585" y="2484882"/>
          <a:ext cx="1704975" cy="2240315"/>
        </p:xfrm>
        <a:graphic>
          <a:graphicData uri="http://schemas.openxmlformats.org/drawingml/2006/table">
            <a:tbl>
              <a:tblPr firstRow="1" bandRow="1">
                <a:tableStyleId>{2D5ABB26-0587-4C30-8999-92F81FD0307C}</a:tableStyleId>
              </a:tblPr>
              <a:tblGrid>
                <a:gridCol w="568325">
                  <a:extLst>
                    <a:ext uri="{9D8B030D-6E8A-4147-A177-3AD203B41FA5}">
                      <a16:colId xmlns:a16="http://schemas.microsoft.com/office/drawing/2014/main" val="20000"/>
                    </a:ext>
                  </a:extLst>
                </a:gridCol>
                <a:gridCol w="568325">
                  <a:extLst>
                    <a:ext uri="{9D8B030D-6E8A-4147-A177-3AD203B41FA5}">
                      <a16:colId xmlns:a16="http://schemas.microsoft.com/office/drawing/2014/main" val="20001"/>
                    </a:ext>
                  </a:extLst>
                </a:gridCol>
                <a:gridCol w="568325">
                  <a:extLst>
                    <a:ext uri="{9D8B030D-6E8A-4147-A177-3AD203B41FA5}">
                      <a16:colId xmlns:a16="http://schemas.microsoft.com/office/drawing/2014/main" val="20002"/>
                    </a:ext>
                  </a:extLst>
                </a:gridCol>
              </a:tblGrid>
              <a:tr h="426719">
                <a:tc>
                  <a:txBody>
                    <a:bodyPr/>
                    <a:lstStyle/>
                    <a:p>
                      <a:pPr marL="158750" marR="114300" indent="-36830">
                        <a:lnSpc>
                          <a:spcPct val="100000"/>
                        </a:lnSpc>
                        <a:spcBef>
                          <a:spcPts val="295"/>
                        </a:spcBef>
                      </a:pPr>
                      <a:r>
                        <a:rPr sz="1100" b="1" dirty="0">
                          <a:solidFill>
                            <a:srgbClr val="FFFFFF"/>
                          </a:solidFill>
                          <a:latin typeface="Carlito"/>
                          <a:cs typeface="Carlito"/>
                        </a:rPr>
                        <a:t>I</a:t>
                      </a:r>
                      <a:r>
                        <a:rPr sz="1100" b="1" spc="-5" dirty="0">
                          <a:solidFill>
                            <a:srgbClr val="FFFFFF"/>
                          </a:solidFill>
                          <a:latin typeface="Carlito"/>
                          <a:cs typeface="Carlito"/>
                        </a:rPr>
                        <a:t>nd</a:t>
                      </a:r>
                      <a:r>
                        <a:rPr sz="1100" b="1" dirty="0">
                          <a:solidFill>
                            <a:srgbClr val="FFFFFF"/>
                          </a:solidFill>
                          <a:latin typeface="Carlito"/>
                          <a:cs typeface="Carlito"/>
                        </a:rPr>
                        <a:t>ivi  </a:t>
                      </a:r>
                      <a:r>
                        <a:rPr sz="1100" b="1" spc="-5" dirty="0">
                          <a:solidFill>
                            <a:srgbClr val="FFFFFF"/>
                          </a:solidFill>
                          <a:latin typeface="Carlito"/>
                          <a:cs typeface="Carlito"/>
                        </a:rPr>
                        <a:t>dual</a:t>
                      </a:r>
                      <a:endParaRPr sz="11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79705" marR="86360" indent="-85725">
                        <a:lnSpc>
                          <a:spcPct val="100000"/>
                        </a:lnSpc>
                        <a:spcBef>
                          <a:spcPts val="295"/>
                        </a:spcBef>
                      </a:pPr>
                      <a:r>
                        <a:rPr sz="1100" b="1" spc="-5" dirty="0">
                          <a:solidFill>
                            <a:srgbClr val="FFFFFF"/>
                          </a:solidFill>
                          <a:latin typeface="Carlito"/>
                          <a:cs typeface="Carlito"/>
                        </a:rPr>
                        <a:t>V</a:t>
                      </a:r>
                      <a:r>
                        <a:rPr sz="1100" b="1" spc="-10" dirty="0">
                          <a:solidFill>
                            <a:srgbClr val="FFFFFF"/>
                          </a:solidFill>
                          <a:latin typeface="Carlito"/>
                          <a:cs typeface="Carlito"/>
                        </a:rPr>
                        <a:t>a</a:t>
                      </a:r>
                      <a:r>
                        <a:rPr sz="1100" b="1" dirty="0">
                          <a:solidFill>
                            <a:srgbClr val="FFFFFF"/>
                          </a:solidFill>
                          <a:latin typeface="Carlito"/>
                          <a:cs typeface="Carlito"/>
                        </a:rPr>
                        <a:t>ri</a:t>
                      </a:r>
                      <a:r>
                        <a:rPr sz="1100" b="1" spc="-10" dirty="0">
                          <a:solidFill>
                            <a:srgbClr val="FFFFFF"/>
                          </a:solidFill>
                          <a:latin typeface="Carlito"/>
                          <a:cs typeface="Carlito"/>
                        </a:rPr>
                        <a:t>a</a:t>
                      </a:r>
                      <a:r>
                        <a:rPr sz="1100" b="1" dirty="0">
                          <a:solidFill>
                            <a:srgbClr val="FFFFFF"/>
                          </a:solidFill>
                          <a:latin typeface="Carlito"/>
                          <a:cs typeface="Carlito"/>
                        </a:rPr>
                        <a:t>b  le</a:t>
                      </a:r>
                      <a:r>
                        <a:rPr sz="1100" b="1" spc="-30" dirty="0">
                          <a:solidFill>
                            <a:srgbClr val="FFFFFF"/>
                          </a:solidFill>
                          <a:latin typeface="Carlito"/>
                          <a:cs typeface="Carlito"/>
                        </a:rPr>
                        <a:t> </a:t>
                      </a:r>
                      <a:r>
                        <a:rPr sz="1100" b="1" dirty="0">
                          <a:solidFill>
                            <a:srgbClr val="FFFFFF"/>
                          </a:solidFill>
                          <a:latin typeface="Carlito"/>
                          <a:cs typeface="Carlito"/>
                        </a:rPr>
                        <a:t>1</a:t>
                      </a:r>
                      <a:endParaRPr sz="11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79705" marR="85725" indent="-85725">
                        <a:lnSpc>
                          <a:spcPct val="100000"/>
                        </a:lnSpc>
                        <a:spcBef>
                          <a:spcPts val="295"/>
                        </a:spcBef>
                      </a:pPr>
                      <a:r>
                        <a:rPr sz="1100" b="1" spc="-5" dirty="0">
                          <a:solidFill>
                            <a:srgbClr val="FFFFFF"/>
                          </a:solidFill>
                          <a:latin typeface="Carlito"/>
                          <a:cs typeface="Carlito"/>
                        </a:rPr>
                        <a:t>V</a:t>
                      </a:r>
                      <a:r>
                        <a:rPr sz="1100" b="1" spc="-10" dirty="0">
                          <a:solidFill>
                            <a:srgbClr val="FFFFFF"/>
                          </a:solidFill>
                          <a:latin typeface="Carlito"/>
                          <a:cs typeface="Carlito"/>
                        </a:rPr>
                        <a:t>a</a:t>
                      </a:r>
                      <a:r>
                        <a:rPr sz="1100" b="1" dirty="0">
                          <a:solidFill>
                            <a:srgbClr val="FFFFFF"/>
                          </a:solidFill>
                          <a:latin typeface="Carlito"/>
                          <a:cs typeface="Carlito"/>
                        </a:rPr>
                        <a:t>ri</a:t>
                      </a:r>
                      <a:r>
                        <a:rPr sz="1100" b="1" spc="-10" dirty="0">
                          <a:solidFill>
                            <a:srgbClr val="FFFFFF"/>
                          </a:solidFill>
                          <a:latin typeface="Carlito"/>
                          <a:cs typeface="Carlito"/>
                        </a:rPr>
                        <a:t>a</a:t>
                      </a:r>
                      <a:r>
                        <a:rPr sz="1100" b="1" dirty="0">
                          <a:solidFill>
                            <a:srgbClr val="FFFFFF"/>
                          </a:solidFill>
                          <a:latin typeface="Carlito"/>
                          <a:cs typeface="Carlito"/>
                        </a:rPr>
                        <a:t>b  le</a:t>
                      </a:r>
                      <a:r>
                        <a:rPr sz="1100" b="1" spc="-30" dirty="0">
                          <a:solidFill>
                            <a:srgbClr val="FFFFFF"/>
                          </a:solidFill>
                          <a:latin typeface="Carlito"/>
                          <a:cs typeface="Carlito"/>
                        </a:rPr>
                        <a:t> </a:t>
                      </a:r>
                      <a:r>
                        <a:rPr sz="1100" b="1" dirty="0">
                          <a:solidFill>
                            <a:srgbClr val="FFFFFF"/>
                          </a:solidFill>
                          <a:latin typeface="Carlito"/>
                          <a:cs typeface="Carlito"/>
                        </a:rPr>
                        <a:t>2</a:t>
                      </a:r>
                      <a:endParaRPr sz="11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259080">
                <a:tc>
                  <a:txBody>
                    <a:bodyPr/>
                    <a:lstStyle/>
                    <a:p>
                      <a:pPr algn="ctr">
                        <a:lnSpc>
                          <a:spcPct val="100000"/>
                        </a:lnSpc>
                        <a:spcBef>
                          <a:spcPts val="295"/>
                        </a:spcBef>
                      </a:pPr>
                      <a:r>
                        <a:rPr sz="1100" dirty="0">
                          <a:latin typeface="Carlito"/>
                          <a:cs typeface="Carlito"/>
                        </a:rPr>
                        <a:t>1</a:t>
                      </a:r>
                      <a:endParaRPr sz="1100">
                        <a:latin typeface="Carlito"/>
                        <a:cs typeface="Carlito"/>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FFF00"/>
                    </a:solidFill>
                  </a:tcPr>
                </a:tc>
                <a:tc>
                  <a:txBody>
                    <a:bodyPr/>
                    <a:lstStyle/>
                    <a:p>
                      <a:pPr marL="194945">
                        <a:lnSpc>
                          <a:spcPct val="100000"/>
                        </a:lnSpc>
                        <a:spcBef>
                          <a:spcPts val="295"/>
                        </a:spcBef>
                      </a:pPr>
                      <a:r>
                        <a:rPr sz="1100" spc="-5" dirty="0">
                          <a:latin typeface="Carlito"/>
                          <a:cs typeface="Carlito"/>
                        </a:rPr>
                        <a:t>1.0</a:t>
                      </a:r>
                      <a:endParaRPr sz="1100">
                        <a:latin typeface="Carlito"/>
                        <a:cs typeface="Carlito"/>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FFF00"/>
                    </a:solidFill>
                  </a:tcPr>
                </a:tc>
                <a:tc>
                  <a:txBody>
                    <a:bodyPr/>
                    <a:lstStyle/>
                    <a:p>
                      <a:pPr algn="ctr">
                        <a:lnSpc>
                          <a:spcPct val="100000"/>
                        </a:lnSpc>
                        <a:spcBef>
                          <a:spcPts val="295"/>
                        </a:spcBef>
                      </a:pPr>
                      <a:r>
                        <a:rPr sz="1100" spc="-5" dirty="0">
                          <a:latin typeface="Carlito"/>
                          <a:cs typeface="Carlito"/>
                        </a:rPr>
                        <a:t>1.0</a:t>
                      </a:r>
                      <a:endParaRPr sz="1100">
                        <a:latin typeface="Carlito"/>
                        <a:cs typeface="Carlito"/>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FFF00"/>
                    </a:solidFill>
                  </a:tcPr>
                </a:tc>
                <a:extLst>
                  <a:ext uri="{0D108BD9-81ED-4DB2-BD59-A6C34878D82A}">
                    <a16:rowId xmlns:a16="http://schemas.microsoft.com/office/drawing/2014/main" val="10001"/>
                  </a:ext>
                </a:extLst>
              </a:tr>
              <a:tr h="259080">
                <a:tc>
                  <a:txBody>
                    <a:bodyPr/>
                    <a:lstStyle/>
                    <a:p>
                      <a:pPr algn="ctr">
                        <a:lnSpc>
                          <a:spcPct val="100000"/>
                        </a:lnSpc>
                        <a:spcBef>
                          <a:spcPts val="300"/>
                        </a:spcBef>
                      </a:pPr>
                      <a:r>
                        <a:rPr sz="1100" dirty="0">
                          <a:latin typeface="Carlito"/>
                          <a:cs typeface="Carlito"/>
                        </a:rPr>
                        <a:t>2</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4945">
                        <a:lnSpc>
                          <a:spcPct val="100000"/>
                        </a:lnSpc>
                        <a:spcBef>
                          <a:spcPts val="300"/>
                        </a:spcBef>
                      </a:pPr>
                      <a:r>
                        <a:rPr sz="1100" spc="-5" dirty="0">
                          <a:latin typeface="Carlito"/>
                          <a:cs typeface="Carlito"/>
                        </a:rPr>
                        <a:t>1.5</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00"/>
                        </a:spcBef>
                      </a:pPr>
                      <a:r>
                        <a:rPr sz="1100" spc="-5" dirty="0">
                          <a:latin typeface="Carlito"/>
                          <a:cs typeface="Carlito"/>
                        </a:rPr>
                        <a:t>2.0</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259079">
                <a:tc>
                  <a:txBody>
                    <a:bodyPr/>
                    <a:lstStyle/>
                    <a:p>
                      <a:pPr algn="ctr">
                        <a:lnSpc>
                          <a:spcPct val="100000"/>
                        </a:lnSpc>
                        <a:spcBef>
                          <a:spcPts val="300"/>
                        </a:spcBef>
                      </a:pPr>
                      <a:r>
                        <a:rPr sz="1100" dirty="0">
                          <a:latin typeface="Carlito"/>
                          <a:cs typeface="Carlito"/>
                        </a:rPr>
                        <a:t>3</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FF00"/>
                    </a:solidFill>
                  </a:tcPr>
                </a:tc>
                <a:tc>
                  <a:txBody>
                    <a:bodyPr/>
                    <a:lstStyle/>
                    <a:p>
                      <a:pPr marL="194945">
                        <a:lnSpc>
                          <a:spcPct val="100000"/>
                        </a:lnSpc>
                        <a:spcBef>
                          <a:spcPts val="300"/>
                        </a:spcBef>
                      </a:pPr>
                      <a:r>
                        <a:rPr sz="1100" spc="-5" dirty="0">
                          <a:latin typeface="Carlito"/>
                          <a:cs typeface="Carlito"/>
                        </a:rPr>
                        <a:t>3.0</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FF00"/>
                    </a:solidFill>
                  </a:tcPr>
                </a:tc>
                <a:tc>
                  <a:txBody>
                    <a:bodyPr/>
                    <a:lstStyle/>
                    <a:p>
                      <a:pPr algn="ctr">
                        <a:lnSpc>
                          <a:spcPct val="100000"/>
                        </a:lnSpc>
                        <a:spcBef>
                          <a:spcPts val="300"/>
                        </a:spcBef>
                      </a:pPr>
                      <a:r>
                        <a:rPr sz="1100" spc="-5" dirty="0">
                          <a:latin typeface="Carlito"/>
                          <a:cs typeface="Carlito"/>
                        </a:rPr>
                        <a:t>4.0</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FF00"/>
                    </a:solidFill>
                  </a:tcPr>
                </a:tc>
                <a:extLst>
                  <a:ext uri="{0D108BD9-81ED-4DB2-BD59-A6C34878D82A}">
                    <a16:rowId xmlns:a16="http://schemas.microsoft.com/office/drawing/2014/main" val="10003"/>
                  </a:ext>
                </a:extLst>
              </a:tr>
              <a:tr h="259118">
                <a:tc>
                  <a:txBody>
                    <a:bodyPr/>
                    <a:lstStyle/>
                    <a:p>
                      <a:pPr algn="ctr">
                        <a:lnSpc>
                          <a:spcPct val="100000"/>
                        </a:lnSpc>
                        <a:spcBef>
                          <a:spcPts val="300"/>
                        </a:spcBef>
                      </a:pPr>
                      <a:r>
                        <a:rPr sz="1100" dirty="0">
                          <a:latin typeface="Carlito"/>
                          <a:cs typeface="Carlito"/>
                        </a:rPr>
                        <a:t>4</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4945">
                        <a:lnSpc>
                          <a:spcPct val="100000"/>
                        </a:lnSpc>
                        <a:spcBef>
                          <a:spcPts val="300"/>
                        </a:spcBef>
                      </a:pPr>
                      <a:r>
                        <a:rPr sz="1100" spc="-5" dirty="0">
                          <a:latin typeface="Carlito"/>
                          <a:cs typeface="Carlito"/>
                        </a:rPr>
                        <a:t>5.0</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00"/>
                        </a:spcBef>
                      </a:pPr>
                      <a:r>
                        <a:rPr sz="1100" spc="-5" dirty="0">
                          <a:latin typeface="Carlito"/>
                          <a:cs typeface="Carlito"/>
                        </a:rPr>
                        <a:t>7.0</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259080">
                <a:tc>
                  <a:txBody>
                    <a:bodyPr/>
                    <a:lstStyle/>
                    <a:p>
                      <a:pPr algn="ctr">
                        <a:lnSpc>
                          <a:spcPct val="100000"/>
                        </a:lnSpc>
                        <a:spcBef>
                          <a:spcPts val="300"/>
                        </a:spcBef>
                      </a:pPr>
                      <a:r>
                        <a:rPr sz="1100" dirty="0">
                          <a:latin typeface="Carlito"/>
                          <a:cs typeface="Carlito"/>
                        </a:rPr>
                        <a:t>5</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4945">
                        <a:lnSpc>
                          <a:spcPct val="100000"/>
                        </a:lnSpc>
                        <a:spcBef>
                          <a:spcPts val="300"/>
                        </a:spcBef>
                      </a:pPr>
                      <a:r>
                        <a:rPr sz="1100" spc="-5" dirty="0">
                          <a:latin typeface="Carlito"/>
                          <a:cs typeface="Carlito"/>
                        </a:rPr>
                        <a:t>3.5</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300"/>
                        </a:spcBef>
                      </a:pPr>
                      <a:r>
                        <a:rPr sz="1100" spc="-5" dirty="0">
                          <a:latin typeface="Carlito"/>
                          <a:cs typeface="Carlito"/>
                        </a:rPr>
                        <a:t>5.0</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r h="259079">
                <a:tc>
                  <a:txBody>
                    <a:bodyPr/>
                    <a:lstStyle/>
                    <a:p>
                      <a:pPr algn="ctr">
                        <a:lnSpc>
                          <a:spcPct val="100000"/>
                        </a:lnSpc>
                        <a:spcBef>
                          <a:spcPts val="300"/>
                        </a:spcBef>
                      </a:pPr>
                      <a:r>
                        <a:rPr sz="1100" dirty="0">
                          <a:latin typeface="Carlito"/>
                          <a:cs typeface="Carlito"/>
                        </a:rPr>
                        <a:t>6</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4945">
                        <a:lnSpc>
                          <a:spcPct val="100000"/>
                        </a:lnSpc>
                        <a:spcBef>
                          <a:spcPts val="300"/>
                        </a:spcBef>
                      </a:pPr>
                      <a:r>
                        <a:rPr sz="1100" spc="-5" dirty="0">
                          <a:latin typeface="Carlito"/>
                          <a:cs typeface="Carlito"/>
                        </a:rPr>
                        <a:t>4.5</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00"/>
                        </a:spcBef>
                      </a:pPr>
                      <a:r>
                        <a:rPr sz="1100" spc="-5" dirty="0">
                          <a:latin typeface="Carlito"/>
                          <a:cs typeface="Carlito"/>
                        </a:rPr>
                        <a:t>5.0</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6"/>
                  </a:ext>
                </a:extLst>
              </a:tr>
              <a:tr h="259080">
                <a:tc>
                  <a:txBody>
                    <a:bodyPr/>
                    <a:lstStyle/>
                    <a:p>
                      <a:pPr algn="ctr">
                        <a:lnSpc>
                          <a:spcPct val="100000"/>
                        </a:lnSpc>
                        <a:spcBef>
                          <a:spcPts val="300"/>
                        </a:spcBef>
                      </a:pPr>
                      <a:r>
                        <a:rPr sz="1100" dirty="0">
                          <a:latin typeface="Carlito"/>
                          <a:cs typeface="Carlito"/>
                        </a:rPr>
                        <a:t>7</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4945">
                        <a:lnSpc>
                          <a:spcPct val="100000"/>
                        </a:lnSpc>
                        <a:spcBef>
                          <a:spcPts val="300"/>
                        </a:spcBef>
                      </a:pPr>
                      <a:r>
                        <a:rPr sz="1100" spc="-5" dirty="0">
                          <a:latin typeface="Carlito"/>
                          <a:cs typeface="Carlito"/>
                        </a:rPr>
                        <a:t>3.5</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300"/>
                        </a:spcBef>
                      </a:pPr>
                      <a:r>
                        <a:rPr sz="1100" spc="-5" dirty="0">
                          <a:latin typeface="Carlito"/>
                          <a:cs typeface="Carlito"/>
                        </a:rPr>
                        <a:t>4.5</a:t>
                      </a:r>
                      <a:endParaRPr sz="1100" dirty="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7"/>
                  </a:ext>
                </a:extLst>
              </a:tr>
            </a:tbl>
          </a:graphicData>
        </a:graphic>
      </p:graphicFrame>
      <p:sp>
        <p:nvSpPr>
          <p:cNvPr id="9" name="object 9"/>
          <p:cNvSpPr/>
          <p:nvPr/>
        </p:nvSpPr>
        <p:spPr>
          <a:xfrm>
            <a:off x="3273792" y="3752354"/>
            <a:ext cx="567690" cy="400050"/>
          </a:xfrm>
          <a:custGeom>
            <a:avLst/>
            <a:gdLst/>
            <a:ahLst/>
            <a:cxnLst/>
            <a:rect l="l" t="t" r="r" b="b"/>
            <a:pathLst>
              <a:path w="567689" h="400050">
                <a:moveTo>
                  <a:pt x="343549" y="394969"/>
                </a:moveTo>
                <a:lnTo>
                  <a:pt x="228868" y="394969"/>
                </a:lnTo>
                <a:lnTo>
                  <a:pt x="241822" y="397509"/>
                </a:lnTo>
                <a:lnTo>
                  <a:pt x="269889" y="400049"/>
                </a:lnTo>
                <a:lnTo>
                  <a:pt x="308751" y="400049"/>
                </a:lnTo>
                <a:lnTo>
                  <a:pt x="331357" y="397509"/>
                </a:lnTo>
                <a:lnTo>
                  <a:pt x="343549" y="394969"/>
                </a:lnTo>
                <a:close/>
              </a:path>
              <a:path w="567689" h="400050">
                <a:moveTo>
                  <a:pt x="182005" y="369569"/>
                </a:moveTo>
                <a:lnTo>
                  <a:pt x="155208" y="369569"/>
                </a:lnTo>
                <a:lnTo>
                  <a:pt x="166384" y="374649"/>
                </a:lnTo>
                <a:lnTo>
                  <a:pt x="178068" y="379729"/>
                </a:lnTo>
                <a:lnTo>
                  <a:pt x="190133" y="384809"/>
                </a:lnTo>
                <a:lnTo>
                  <a:pt x="202071" y="388619"/>
                </a:lnTo>
                <a:lnTo>
                  <a:pt x="214771" y="391159"/>
                </a:lnTo>
                <a:lnTo>
                  <a:pt x="214898" y="392429"/>
                </a:lnTo>
                <a:lnTo>
                  <a:pt x="228487" y="394969"/>
                </a:lnTo>
                <a:lnTo>
                  <a:pt x="343803" y="394969"/>
                </a:lnTo>
                <a:lnTo>
                  <a:pt x="355741" y="392429"/>
                </a:lnTo>
                <a:lnTo>
                  <a:pt x="367933" y="389889"/>
                </a:lnTo>
                <a:lnTo>
                  <a:pt x="372293" y="388619"/>
                </a:lnTo>
                <a:lnTo>
                  <a:pt x="270524" y="388619"/>
                </a:lnTo>
                <a:lnTo>
                  <a:pt x="256427" y="387349"/>
                </a:lnTo>
                <a:lnTo>
                  <a:pt x="256681" y="387349"/>
                </a:lnTo>
                <a:lnTo>
                  <a:pt x="243600" y="386079"/>
                </a:lnTo>
                <a:lnTo>
                  <a:pt x="243854" y="386079"/>
                </a:lnTo>
                <a:lnTo>
                  <a:pt x="230773" y="383539"/>
                </a:lnTo>
                <a:lnTo>
                  <a:pt x="231027" y="383539"/>
                </a:lnTo>
                <a:lnTo>
                  <a:pt x="217438" y="380999"/>
                </a:lnTo>
                <a:lnTo>
                  <a:pt x="217692" y="380999"/>
                </a:lnTo>
                <a:lnTo>
                  <a:pt x="205373" y="377189"/>
                </a:lnTo>
                <a:lnTo>
                  <a:pt x="193816" y="373379"/>
                </a:lnTo>
                <a:lnTo>
                  <a:pt x="182005" y="369569"/>
                </a:lnTo>
                <a:close/>
              </a:path>
              <a:path w="567689" h="400050">
                <a:moveTo>
                  <a:pt x="380760" y="386079"/>
                </a:moveTo>
                <a:lnTo>
                  <a:pt x="318530" y="386079"/>
                </a:lnTo>
                <a:lnTo>
                  <a:pt x="307481" y="387349"/>
                </a:lnTo>
                <a:lnTo>
                  <a:pt x="307735" y="387349"/>
                </a:lnTo>
                <a:lnTo>
                  <a:pt x="295162" y="388619"/>
                </a:lnTo>
                <a:lnTo>
                  <a:pt x="372293" y="388619"/>
                </a:lnTo>
                <a:lnTo>
                  <a:pt x="380760" y="386079"/>
                </a:lnTo>
                <a:close/>
              </a:path>
              <a:path w="567689" h="400050">
                <a:moveTo>
                  <a:pt x="508776" y="328929"/>
                </a:moveTo>
                <a:lnTo>
                  <a:pt x="485408" y="328929"/>
                </a:lnTo>
                <a:lnTo>
                  <a:pt x="476899" y="334009"/>
                </a:lnTo>
                <a:lnTo>
                  <a:pt x="477153" y="334009"/>
                </a:lnTo>
                <a:lnTo>
                  <a:pt x="468009" y="339089"/>
                </a:lnTo>
                <a:lnTo>
                  <a:pt x="468263" y="339089"/>
                </a:lnTo>
                <a:lnTo>
                  <a:pt x="459119" y="342899"/>
                </a:lnTo>
                <a:lnTo>
                  <a:pt x="459373" y="342899"/>
                </a:lnTo>
                <a:lnTo>
                  <a:pt x="449848" y="347979"/>
                </a:lnTo>
                <a:lnTo>
                  <a:pt x="440450" y="351789"/>
                </a:lnTo>
                <a:lnTo>
                  <a:pt x="440577" y="351789"/>
                </a:lnTo>
                <a:lnTo>
                  <a:pt x="431306" y="355599"/>
                </a:lnTo>
                <a:lnTo>
                  <a:pt x="421400" y="359409"/>
                </a:lnTo>
                <a:lnTo>
                  <a:pt x="421527" y="359409"/>
                </a:lnTo>
                <a:lnTo>
                  <a:pt x="410478" y="363219"/>
                </a:lnTo>
                <a:lnTo>
                  <a:pt x="399429" y="367029"/>
                </a:lnTo>
                <a:lnTo>
                  <a:pt x="388380" y="370839"/>
                </a:lnTo>
                <a:lnTo>
                  <a:pt x="377204" y="373379"/>
                </a:lnTo>
                <a:lnTo>
                  <a:pt x="364631" y="377189"/>
                </a:lnTo>
                <a:lnTo>
                  <a:pt x="364885" y="377189"/>
                </a:lnTo>
                <a:lnTo>
                  <a:pt x="352820" y="379729"/>
                </a:lnTo>
                <a:lnTo>
                  <a:pt x="353074" y="379729"/>
                </a:lnTo>
                <a:lnTo>
                  <a:pt x="341136" y="382269"/>
                </a:lnTo>
                <a:lnTo>
                  <a:pt x="329071" y="384809"/>
                </a:lnTo>
                <a:lnTo>
                  <a:pt x="329325" y="384809"/>
                </a:lnTo>
                <a:lnTo>
                  <a:pt x="318276" y="386079"/>
                </a:lnTo>
                <a:lnTo>
                  <a:pt x="381014" y="386079"/>
                </a:lnTo>
                <a:lnTo>
                  <a:pt x="392317" y="383539"/>
                </a:lnTo>
                <a:lnTo>
                  <a:pt x="426226" y="372109"/>
                </a:lnTo>
                <a:lnTo>
                  <a:pt x="436513" y="368299"/>
                </a:lnTo>
                <a:lnTo>
                  <a:pt x="455436" y="360679"/>
                </a:lnTo>
                <a:lnTo>
                  <a:pt x="455690" y="360679"/>
                </a:lnTo>
                <a:lnTo>
                  <a:pt x="465469" y="355599"/>
                </a:lnTo>
                <a:lnTo>
                  <a:pt x="484138" y="345439"/>
                </a:lnTo>
                <a:lnTo>
                  <a:pt x="493028" y="340359"/>
                </a:lnTo>
                <a:lnTo>
                  <a:pt x="500902" y="335279"/>
                </a:lnTo>
                <a:lnTo>
                  <a:pt x="508776" y="328929"/>
                </a:lnTo>
                <a:close/>
              </a:path>
              <a:path w="567689" h="400050">
                <a:moveTo>
                  <a:pt x="170702" y="364489"/>
                </a:moveTo>
                <a:lnTo>
                  <a:pt x="144667" y="364489"/>
                </a:lnTo>
                <a:lnTo>
                  <a:pt x="154954" y="369569"/>
                </a:lnTo>
                <a:lnTo>
                  <a:pt x="182259" y="369569"/>
                </a:lnTo>
                <a:lnTo>
                  <a:pt x="170702" y="364489"/>
                </a:lnTo>
                <a:close/>
              </a:path>
              <a:path w="567689" h="400050">
                <a:moveTo>
                  <a:pt x="85231" y="45719"/>
                </a:moveTo>
                <a:lnTo>
                  <a:pt x="61990" y="45719"/>
                </a:lnTo>
                <a:lnTo>
                  <a:pt x="54497" y="52069"/>
                </a:lnTo>
                <a:lnTo>
                  <a:pt x="54243" y="52069"/>
                </a:lnTo>
                <a:lnTo>
                  <a:pt x="46877" y="58419"/>
                </a:lnTo>
                <a:lnTo>
                  <a:pt x="39384" y="66039"/>
                </a:lnTo>
                <a:lnTo>
                  <a:pt x="39130" y="67309"/>
                </a:lnTo>
                <a:lnTo>
                  <a:pt x="32780" y="74929"/>
                </a:lnTo>
                <a:lnTo>
                  <a:pt x="32526" y="74929"/>
                </a:lnTo>
                <a:lnTo>
                  <a:pt x="26303" y="83819"/>
                </a:lnTo>
                <a:lnTo>
                  <a:pt x="26049" y="83819"/>
                </a:lnTo>
                <a:lnTo>
                  <a:pt x="20715" y="92709"/>
                </a:lnTo>
                <a:lnTo>
                  <a:pt x="20588" y="92709"/>
                </a:lnTo>
                <a:lnTo>
                  <a:pt x="15635" y="102869"/>
                </a:lnTo>
                <a:lnTo>
                  <a:pt x="11825" y="113029"/>
                </a:lnTo>
                <a:lnTo>
                  <a:pt x="8650" y="121919"/>
                </a:lnTo>
                <a:lnTo>
                  <a:pt x="5856" y="132079"/>
                </a:lnTo>
                <a:lnTo>
                  <a:pt x="5729" y="133349"/>
                </a:lnTo>
                <a:lnTo>
                  <a:pt x="3443" y="143509"/>
                </a:lnTo>
                <a:lnTo>
                  <a:pt x="1665" y="154939"/>
                </a:lnTo>
                <a:lnTo>
                  <a:pt x="522" y="166369"/>
                </a:lnTo>
                <a:lnTo>
                  <a:pt x="0" y="175259"/>
                </a:lnTo>
                <a:lnTo>
                  <a:pt x="14" y="189229"/>
                </a:lnTo>
                <a:lnTo>
                  <a:pt x="649" y="199389"/>
                </a:lnTo>
                <a:lnTo>
                  <a:pt x="1919" y="208279"/>
                </a:lnTo>
                <a:lnTo>
                  <a:pt x="1919" y="209549"/>
                </a:lnTo>
                <a:lnTo>
                  <a:pt x="3570" y="217169"/>
                </a:lnTo>
                <a:lnTo>
                  <a:pt x="5729" y="224789"/>
                </a:lnTo>
                <a:lnTo>
                  <a:pt x="8523" y="233679"/>
                </a:lnTo>
                <a:lnTo>
                  <a:pt x="11952" y="241299"/>
                </a:lnTo>
                <a:lnTo>
                  <a:pt x="15889" y="248919"/>
                </a:lnTo>
                <a:lnTo>
                  <a:pt x="20715" y="257809"/>
                </a:lnTo>
                <a:lnTo>
                  <a:pt x="26303" y="266699"/>
                </a:lnTo>
                <a:lnTo>
                  <a:pt x="32780" y="275589"/>
                </a:lnTo>
                <a:lnTo>
                  <a:pt x="39765" y="284479"/>
                </a:lnTo>
                <a:lnTo>
                  <a:pt x="39892" y="285749"/>
                </a:lnTo>
                <a:lnTo>
                  <a:pt x="47131" y="293369"/>
                </a:lnTo>
                <a:lnTo>
                  <a:pt x="54497" y="302259"/>
                </a:lnTo>
                <a:lnTo>
                  <a:pt x="61609" y="308609"/>
                </a:lnTo>
                <a:lnTo>
                  <a:pt x="68975" y="314959"/>
                </a:lnTo>
                <a:lnTo>
                  <a:pt x="69102" y="316229"/>
                </a:lnTo>
                <a:lnTo>
                  <a:pt x="76468" y="321309"/>
                </a:lnTo>
                <a:lnTo>
                  <a:pt x="76595" y="322579"/>
                </a:lnTo>
                <a:lnTo>
                  <a:pt x="84088" y="327659"/>
                </a:lnTo>
                <a:lnTo>
                  <a:pt x="84215" y="327659"/>
                </a:lnTo>
                <a:lnTo>
                  <a:pt x="92597" y="334009"/>
                </a:lnTo>
                <a:lnTo>
                  <a:pt x="100344" y="339089"/>
                </a:lnTo>
                <a:lnTo>
                  <a:pt x="108980" y="344169"/>
                </a:lnTo>
                <a:lnTo>
                  <a:pt x="117108" y="349249"/>
                </a:lnTo>
                <a:lnTo>
                  <a:pt x="126125" y="355599"/>
                </a:lnTo>
                <a:lnTo>
                  <a:pt x="134888" y="359409"/>
                </a:lnTo>
                <a:lnTo>
                  <a:pt x="144413" y="364489"/>
                </a:lnTo>
                <a:lnTo>
                  <a:pt x="170956" y="364489"/>
                </a:lnTo>
                <a:lnTo>
                  <a:pt x="162478" y="360679"/>
                </a:lnTo>
                <a:lnTo>
                  <a:pt x="159780" y="360679"/>
                </a:lnTo>
                <a:lnTo>
                  <a:pt x="149366" y="355599"/>
                </a:lnTo>
                <a:lnTo>
                  <a:pt x="139841" y="350519"/>
                </a:lnTo>
                <a:lnTo>
                  <a:pt x="131332" y="345439"/>
                </a:lnTo>
                <a:lnTo>
                  <a:pt x="122569" y="340359"/>
                </a:lnTo>
                <a:lnTo>
                  <a:pt x="114568" y="335279"/>
                </a:lnTo>
                <a:lnTo>
                  <a:pt x="106059" y="330199"/>
                </a:lnTo>
                <a:lnTo>
                  <a:pt x="98439" y="325119"/>
                </a:lnTo>
                <a:lnTo>
                  <a:pt x="98566" y="325119"/>
                </a:lnTo>
                <a:lnTo>
                  <a:pt x="90311" y="320039"/>
                </a:lnTo>
                <a:lnTo>
                  <a:pt x="83072" y="313689"/>
                </a:lnTo>
                <a:lnTo>
                  <a:pt x="75833" y="307339"/>
                </a:lnTo>
                <a:lnTo>
                  <a:pt x="76087" y="307339"/>
                </a:lnTo>
                <a:lnTo>
                  <a:pt x="68975" y="300989"/>
                </a:lnTo>
                <a:lnTo>
                  <a:pt x="69102" y="300989"/>
                </a:lnTo>
                <a:lnTo>
                  <a:pt x="62117" y="294639"/>
                </a:lnTo>
                <a:lnTo>
                  <a:pt x="55132" y="287019"/>
                </a:lnTo>
                <a:lnTo>
                  <a:pt x="48020" y="278129"/>
                </a:lnTo>
                <a:lnTo>
                  <a:pt x="42268" y="270509"/>
                </a:lnTo>
                <a:lnTo>
                  <a:pt x="41543" y="270509"/>
                </a:lnTo>
                <a:lnTo>
                  <a:pt x="35986" y="261619"/>
                </a:lnTo>
                <a:lnTo>
                  <a:pt x="35320" y="261619"/>
                </a:lnTo>
                <a:lnTo>
                  <a:pt x="29859" y="252729"/>
                </a:lnTo>
                <a:lnTo>
                  <a:pt x="25414" y="243839"/>
                </a:lnTo>
                <a:lnTo>
                  <a:pt x="25541" y="243839"/>
                </a:lnTo>
                <a:lnTo>
                  <a:pt x="21731" y="236219"/>
                </a:lnTo>
                <a:lnTo>
                  <a:pt x="18810" y="229869"/>
                </a:lnTo>
                <a:lnTo>
                  <a:pt x="16270" y="222249"/>
                </a:lnTo>
                <a:lnTo>
                  <a:pt x="14492" y="214629"/>
                </a:lnTo>
                <a:lnTo>
                  <a:pt x="12968" y="207009"/>
                </a:lnTo>
                <a:lnTo>
                  <a:pt x="11825" y="198119"/>
                </a:lnTo>
                <a:lnTo>
                  <a:pt x="11269" y="189229"/>
                </a:lnTo>
                <a:lnTo>
                  <a:pt x="11190" y="179069"/>
                </a:lnTo>
                <a:lnTo>
                  <a:pt x="11063" y="179069"/>
                </a:lnTo>
                <a:lnTo>
                  <a:pt x="11698" y="167639"/>
                </a:lnTo>
                <a:lnTo>
                  <a:pt x="12841" y="156209"/>
                </a:lnTo>
                <a:lnTo>
                  <a:pt x="14619" y="146049"/>
                </a:lnTo>
                <a:lnTo>
                  <a:pt x="16778" y="135889"/>
                </a:lnTo>
                <a:lnTo>
                  <a:pt x="19445" y="125729"/>
                </a:lnTo>
                <a:lnTo>
                  <a:pt x="22493" y="116839"/>
                </a:lnTo>
                <a:lnTo>
                  <a:pt x="26049" y="107949"/>
                </a:lnTo>
                <a:lnTo>
                  <a:pt x="25795" y="107949"/>
                </a:lnTo>
                <a:lnTo>
                  <a:pt x="30748" y="97789"/>
                </a:lnTo>
                <a:lnTo>
                  <a:pt x="31256" y="97789"/>
                </a:lnTo>
                <a:lnTo>
                  <a:pt x="35828" y="90169"/>
                </a:lnTo>
                <a:lnTo>
                  <a:pt x="35574" y="90169"/>
                </a:lnTo>
                <a:lnTo>
                  <a:pt x="41797" y="81279"/>
                </a:lnTo>
                <a:lnTo>
                  <a:pt x="41416" y="81279"/>
                </a:lnTo>
                <a:lnTo>
                  <a:pt x="47766" y="73659"/>
                </a:lnTo>
                <a:lnTo>
                  <a:pt x="48697" y="73659"/>
                </a:lnTo>
                <a:lnTo>
                  <a:pt x="54624" y="67309"/>
                </a:lnTo>
                <a:lnTo>
                  <a:pt x="54370" y="67309"/>
                </a:lnTo>
                <a:lnTo>
                  <a:pt x="61736" y="60959"/>
                </a:lnTo>
                <a:lnTo>
                  <a:pt x="61482" y="60959"/>
                </a:lnTo>
                <a:lnTo>
                  <a:pt x="68848" y="55879"/>
                </a:lnTo>
                <a:lnTo>
                  <a:pt x="68594" y="55879"/>
                </a:lnTo>
                <a:lnTo>
                  <a:pt x="77230" y="49529"/>
                </a:lnTo>
                <a:lnTo>
                  <a:pt x="76849" y="49529"/>
                </a:lnTo>
                <a:lnTo>
                  <a:pt x="85231" y="45719"/>
                </a:lnTo>
                <a:close/>
              </a:path>
              <a:path w="567689" h="400050">
                <a:moveTo>
                  <a:pt x="159653" y="359409"/>
                </a:moveTo>
                <a:lnTo>
                  <a:pt x="159780" y="360679"/>
                </a:lnTo>
                <a:lnTo>
                  <a:pt x="162478" y="360679"/>
                </a:lnTo>
                <a:lnTo>
                  <a:pt x="159653" y="359409"/>
                </a:lnTo>
                <a:close/>
              </a:path>
              <a:path w="567689" h="400050">
                <a:moveTo>
                  <a:pt x="543193" y="255269"/>
                </a:moveTo>
                <a:lnTo>
                  <a:pt x="538621" y="266699"/>
                </a:lnTo>
                <a:lnTo>
                  <a:pt x="538875" y="266699"/>
                </a:lnTo>
                <a:lnTo>
                  <a:pt x="534049" y="275589"/>
                </a:lnTo>
                <a:lnTo>
                  <a:pt x="534303" y="275589"/>
                </a:lnTo>
                <a:lnTo>
                  <a:pt x="528715" y="284479"/>
                </a:lnTo>
                <a:lnTo>
                  <a:pt x="528969" y="284479"/>
                </a:lnTo>
                <a:lnTo>
                  <a:pt x="523635" y="292099"/>
                </a:lnTo>
                <a:lnTo>
                  <a:pt x="523889" y="292099"/>
                </a:lnTo>
                <a:lnTo>
                  <a:pt x="517920" y="299719"/>
                </a:lnTo>
                <a:lnTo>
                  <a:pt x="518174" y="299719"/>
                </a:lnTo>
                <a:lnTo>
                  <a:pt x="512459" y="306069"/>
                </a:lnTo>
                <a:lnTo>
                  <a:pt x="512713" y="306069"/>
                </a:lnTo>
                <a:lnTo>
                  <a:pt x="506871" y="311149"/>
                </a:lnTo>
                <a:lnTo>
                  <a:pt x="507125" y="311149"/>
                </a:lnTo>
                <a:lnTo>
                  <a:pt x="499505" y="317499"/>
                </a:lnTo>
                <a:lnTo>
                  <a:pt x="499886" y="317499"/>
                </a:lnTo>
                <a:lnTo>
                  <a:pt x="492266" y="323849"/>
                </a:lnTo>
                <a:lnTo>
                  <a:pt x="492647" y="323849"/>
                </a:lnTo>
                <a:lnTo>
                  <a:pt x="485154" y="328929"/>
                </a:lnTo>
                <a:lnTo>
                  <a:pt x="509030" y="328929"/>
                </a:lnTo>
                <a:lnTo>
                  <a:pt x="516777" y="322579"/>
                </a:lnTo>
                <a:lnTo>
                  <a:pt x="517158" y="322579"/>
                </a:lnTo>
                <a:lnTo>
                  <a:pt x="523254" y="316229"/>
                </a:lnTo>
                <a:lnTo>
                  <a:pt x="529477" y="309879"/>
                </a:lnTo>
                <a:lnTo>
                  <a:pt x="529731" y="309879"/>
                </a:lnTo>
                <a:lnTo>
                  <a:pt x="536081" y="302259"/>
                </a:lnTo>
                <a:lnTo>
                  <a:pt x="536335" y="300989"/>
                </a:lnTo>
                <a:lnTo>
                  <a:pt x="542431" y="293369"/>
                </a:lnTo>
                <a:lnTo>
                  <a:pt x="548273" y="284479"/>
                </a:lnTo>
                <a:lnTo>
                  <a:pt x="548654" y="283209"/>
                </a:lnTo>
                <a:lnTo>
                  <a:pt x="553734" y="274319"/>
                </a:lnTo>
                <a:lnTo>
                  <a:pt x="554115" y="273049"/>
                </a:lnTo>
                <a:lnTo>
                  <a:pt x="558814" y="261619"/>
                </a:lnTo>
                <a:lnTo>
                  <a:pt x="559195" y="261619"/>
                </a:lnTo>
                <a:lnTo>
                  <a:pt x="560775" y="256539"/>
                </a:lnTo>
                <a:lnTo>
                  <a:pt x="542939" y="256539"/>
                </a:lnTo>
                <a:lnTo>
                  <a:pt x="543193" y="255269"/>
                </a:lnTo>
                <a:close/>
              </a:path>
              <a:path w="567689" h="400050">
                <a:moveTo>
                  <a:pt x="41289" y="269239"/>
                </a:moveTo>
                <a:lnTo>
                  <a:pt x="41543" y="270509"/>
                </a:lnTo>
                <a:lnTo>
                  <a:pt x="42268" y="270509"/>
                </a:lnTo>
                <a:lnTo>
                  <a:pt x="41289" y="269239"/>
                </a:lnTo>
                <a:close/>
              </a:path>
              <a:path w="567689" h="400050">
                <a:moveTo>
                  <a:pt x="35193" y="260349"/>
                </a:moveTo>
                <a:lnTo>
                  <a:pt x="35320" y="261619"/>
                </a:lnTo>
                <a:lnTo>
                  <a:pt x="35986" y="261619"/>
                </a:lnTo>
                <a:lnTo>
                  <a:pt x="35193" y="260349"/>
                </a:lnTo>
                <a:close/>
              </a:path>
              <a:path w="567689" h="400050">
                <a:moveTo>
                  <a:pt x="565960" y="233679"/>
                </a:moveTo>
                <a:lnTo>
                  <a:pt x="548273" y="233679"/>
                </a:lnTo>
                <a:lnTo>
                  <a:pt x="548146" y="234949"/>
                </a:lnTo>
                <a:lnTo>
                  <a:pt x="545987" y="245109"/>
                </a:lnTo>
                <a:lnTo>
                  <a:pt x="546241" y="245109"/>
                </a:lnTo>
                <a:lnTo>
                  <a:pt x="542939" y="256539"/>
                </a:lnTo>
                <a:lnTo>
                  <a:pt x="560775" y="256539"/>
                </a:lnTo>
                <a:lnTo>
                  <a:pt x="562751" y="250189"/>
                </a:lnTo>
                <a:lnTo>
                  <a:pt x="563005" y="248919"/>
                </a:lnTo>
                <a:lnTo>
                  <a:pt x="565545" y="237489"/>
                </a:lnTo>
                <a:lnTo>
                  <a:pt x="565960" y="233679"/>
                </a:lnTo>
                <a:close/>
              </a:path>
              <a:path w="567689" h="400050">
                <a:moveTo>
                  <a:pt x="548230" y="233891"/>
                </a:moveTo>
                <a:lnTo>
                  <a:pt x="548019" y="234949"/>
                </a:lnTo>
                <a:lnTo>
                  <a:pt x="548230" y="233891"/>
                </a:lnTo>
                <a:close/>
              </a:path>
              <a:path w="567689" h="400050">
                <a:moveTo>
                  <a:pt x="547271" y="195689"/>
                </a:moveTo>
                <a:lnTo>
                  <a:pt x="549162" y="209549"/>
                </a:lnTo>
                <a:lnTo>
                  <a:pt x="549162" y="223519"/>
                </a:lnTo>
                <a:lnTo>
                  <a:pt x="548230" y="233891"/>
                </a:lnTo>
                <a:lnTo>
                  <a:pt x="548273" y="233679"/>
                </a:lnTo>
                <a:lnTo>
                  <a:pt x="565960" y="233679"/>
                </a:lnTo>
                <a:lnTo>
                  <a:pt x="567069" y="223519"/>
                </a:lnTo>
                <a:lnTo>
                  <a:pt x="567230" y="214629"/>
                </a:lnTo>
                <a:lnTo>
                  <a:pt x="567323" y="208279"/>
                </a:lnTo>
                <a:lnTo>
                  <a:pt x="566084" y="196849"/>
                </a:lnTo>
                <a:lnTo>
                  <a:pt x="547638" y="196849"/>
                </a:lnTo>
                <a:lnTo>
                  <a:pt x="547271" y="195689"/>
                </a:lnTo>
                <a:close/>
              </a:path>
              <a:path w="567689" h="400050">
                <a:moveTo>
                  <a:pt x="549162" y="222249"/>
                </a:moveTo>
                <a:lnTo>
                  <a:pt x="549060" y="223519"/>
                </a:lnTo>
                <a:lnTo>
                  <a:pt x="549162" y="222249"/>
                </a:lnTo>
                <a:close/>
              </a:path>
              <a:path w="567689" h="400050">
                <a:moveTo>
                  <a:pt x="547257" y="195579"/>
                </a:moveTo>
                <a:lnTo>
                  <a:pt x="547638" y="196849"/>
                </a:lnTo>
                <a:lnTo>
                  <a:pt x="547257" y="195579"/>
                </a:lnTo>
                <a:close/>
              </a:path>
              <a:path w="567689" h="400050">
                <a:moveTo>
                  <a:pt x="565947" y="195579"/>
                </a:moveTo>
                <a:lnTo>
                  <a:pt x="547257" y="195579"/>
                </a:lnTo>
                <a:lnTo>
                  <a:pt x="547638" y="196849"/>
                </a:lnTo>
                <a:lnTo>
                  <a:pt x="566084" y="196849"/>
                </a:lnTo>
                <a:lnTo>
                  <a:pt x="565947" y="195579"/>
                </a:lnTo>
                <a:close/>
              </a:path>
              <a:path w="567689" h="400050">
                <a:moveTo>
                  <a:pt x="561952" y="180339"/>
                </a:moveTo>
                <a:lnTo>
                  <a:pt x="542431" y="180339"/>
                </a:lnTo>
                <a:lnTo>
                  <a:pt x="542939" y="181609"/>
                </a:lnTo>
                <a:lnTo>
                  <a:pt x="547271" y="195689"/>
                </a:lnTo>
                <a:lnTo>
                  <a:pt x="565947" y="195579"/>
                </a:lnTo>
                <a:lnTo>
                  <a:pt x="565672" y="193039"/>
                </a:lnTo>
                <a:lnTo>
                  <a:pt x="561952" y="180339"/>
                </a:lnTo>
                <a:close/>
              </a:path>
              <a:path w="567689" h="400050">
                <a:moveTo>
                  <a:pt x="542623" y="180951"/>
                </a:moveTo>
                <a:lnTo>
                  <a:pt x="542831" y="181609"/>
                </a:lnTo>
                <a:lnTo>
                  <a:pt x="542623" y="180951"/>
                </a:lnTo>
                <a:close/>
              </a:path>
              <a:path w="567689" h="400050">
                <a:moveTo>
                  <a:pt x="542431" y="180339"/>
                </a:moveTo>
                <a:lnTo>
                  <a:pt x="542623" y="180951"/>
                </a:lnTo>
                <a:lnTo>
                  <a:pt x="542939" y="181609"/>
                </a:lnTo>
                <a:lnTo>
                  <a:pt x="542431" y="180339"/>
                </a:lnTo>
                <a:close/>
              </a:path>
              <a:path w="567689" h="400050">
                <a:moveTo>
                  <a:pt x="555107" y="163829"/>
                </a:moveTo>
                <a:lnTo>
                  <a:pt x="534430" y="163829"/>
                </a:lnTo>
                <a:lnTo>
                  <a:pt x="535065" y="165099"/>
                </a:lnTo>
                <a:lnTo>
                  <a:pt x="542623" y="180951"/>
                </a:lnTo>
                <a:lnTo>
                  <a:pt x="542431" y="180339"/>
                </a:lnTo>
                <a:lnTo>
                  <a:pt x="561952" y="180339"/>
                </a:lnTo>
                <a:lnTo>
                  <a:pt x="560465" y="175259"/>
                </a:lnTo>
                <a:lnTo>
                  <a:pt x="555107" y="163829"/>
                </a:lnTo>
                <a:close/>
              </a:path>
              <a:path w="567689" h="400050">
                <a:moveTo>
                  <a:pt x="534975" y="164968"/>
                </a:moveTo>
                <a:lnTo>
                  <a:pt x="535037" y="165099"/>
                </a:lnTo>
                <a:lnTo>
                  <a:pt x="534975" y="164968"/>
                </a:lnTo>
                <a:close/>
              </a:path>
              <a:path w="567689" h="400050">
                <a:moveTo>
                  <a:pt x="534430" y="163829"/>
                </a:moveTo>
                <a:lnTo>
                  <a:pt x="534975" y="164968"/>
                </a:lnTo>
                <a:lnTo>
                  <a:pt x="535065" y="165099"/>
                </a:lnTo>
                <a:lnTo>
                  <a:pt x="534430" y="163829"/>
                </a:lnTo>
                <a:close/>
              </a:path>
              <a:path w="567689" h="400050">
                <a:moveTo>
                  <a:pt x="533151" y="129539"/>
                </a:moveTo>
                <a:lnTo>
                  <a:pt x="508649" y="129539"/>
                </a:lnTo>
                <a:lnTo>
                  <a:pt x="523635" y="147319"/>
                </a:lnTo>
                <a:lnTo>
                  <a:pt x="522873" y="147319"/>
                </a:lnTo>
                <a:lnTo>
                  <a:pt x="534975" y="164968"/>
                </a:lnTo>
                <a:lnTo>
                  <a:pt x="534430" y="163829"/>
                </a:lnTo>
                <a:lnTo>
                  <a:pt x="555107" y="163829"/>
                </a:lnTo>
                <a:lnTo>
                  <a:pt x="550940" y="154939"/>
                </a:lnTo>
                <a:lnTo>
                  <a:pt x="539002" y="135889"/>
                </a:lnTo>
                <a:lnTo>
                  <a:pt x="538367" y="135889"/>
                </a:lnTo>
                <a:lnTo>
                  <a:pt x="533151" y="129539"/>
                </a:lnTo>
                <a:close/>
              </a:path>
              <a:path w="567689" h="400050">
                <a:moveTo>
                  <a:pt x="520033" y="114299"/>
                </a:moveTo>
                <a:lnTo>
                  <a:pt x="492520" y="114299"/>
                </a:lnTo>
                <a:lnTo>
                  <a:pt x="509411" y="130809"/>
                </a:lnTo>
                <a:lnTo>
                  <a:pt x="508649" y="129539"/>
                </a:lnTo>
                <a:lnTo>
                  <a:pt x="533151" y="129539"/>
                </a:lnTo>
                <a:lnTo>
                  <a:pt x="523762" y="118109"/>
                </a:lnTo>
                <a:lnTo>
                  <a:pt x="520033" y="114299"/>
                </a:lnTo>
                <a:close/>
              </a:path>
              <a:path w="567689" h="400050">
                <a:moveTo>
                  <a:pt x="436640" y="67309"/>
                </a:moveTo>
                <a:lnTo>
                  <a:pt x="408700" y="68579"/>
                </a:lnTo>
                <a:lnTo>
                  <a:pt x="406668" y="68579"/>
                </a:lnTo>
                <a:lnTo>
                  <a:pt x="372378" y="77469"/>
                </a:lnTo>
                <a:lnTo>
                  <a:pt x="331738" y="91439"/>
                </a:lnTo>
                <a:lnTo>
                  <a:pt x="331484" y="91439"/>
                </a:lnTo>
                <a:lnTo>
                  <a:pt x="289320" y="109219"/>
                </a:lnTo>
                <a:lnTo>
                  <a:pt x="287415" y="110489"/>
                </a:lnTo>
                <a:lnTo>
                  <a:pt x="286526" y="111759"/>
                </a:lnTo>
                <a:lnTo>
                  <a:pt x="287034" y="114299"/>
                </a:lnTo>
                <a:lnTo>
                  <a:pt x="287669" y="115569"/>
                </a:lnTo>
                <a:lnTo>
                  <a:pt x="289701" y="116839"/>
                </a:lnTo>
                <a:lnTo>
                  <a:pt x="291606" y="116839"/>
                </a:lnTo>
                <a:lnTo>
                  <a:pt x="336056" y="105409"/>
                </a:lnTo>
                <a:lnTo>
                  <a:pt x="376950" y="95249"/>
                </a:lnTo>
                <a:lnTo>
                  <a:pt x="376315" y="95249"/>
                </a:lnTo>
                <a:lnTo>
                  <a:pt x="410859" y="88899"/>
                </a:lnTo>
                <a:lnTo>
                  <a:pt x="409081" y="88899"/>
                </a:lnTo>
                <a:lnTo>
                  <a:pt x="435032" y="87720"/>
                </a:lnTo>
                <a:lnTo>
                  <a:pt x="434608" y="87629"/>
                </a:lnTo>
                <a:lnTo>
                  <a:pt x="490157" y="87629"/>
                </a:lnTo>
                <a:lnTo>
                  <a:pt x="488456" y="86359"/>
                </a:lnTo>
                <a:lnTo>
                  <a:pt x="486805" y="85089"/>
                </a:lnTo>
                <a:lnTo>
                  <a:pt x="465342" y="74929"/>
                </a:lnTo>
                <a:lnTo>
                  <a:pt x="462929" y="73659"/>
                </a:lnTo>
                <a:lnTo>
                  <a:pt x="439053" y="68579"/>
                </a:lnTo>
                <a:lnTo>
                  <a:pt x="436640" y="67309"/>
                </a:lnTo>
                <a:close/>
              </a:path>
              <a:path w="567689" h="400050">
                <a:moveTo>
                  <a:pt x="490157" y="87629"/>
                </a:moveTo>
                <a:lnTo>
                  <a:pt x="437021" y="87629"/>
                </a:lnTo>
                <a:lnTo>
                  <a:pt x="435032" y="87720"/>
                </a:lnTo>
                <a:lnTo>
                  <a:pt x="458484" y="92709"/>
                </a:lnTo>
                <a:lnTo>
                  <a:pt x="456198" y="92709"/>
                </a:lnTo>
                <a:lnTo>
                  <a:pt x="477788" y="102869"/>
                </a:lnTo>
                <a:lnTo>
                  <a:pt x="476264" y="102869"/>
                </a:lnTo>
                <a:lnTo>
                  <a:pt x="493409" y="115569"/>
                </a:lnTo>
                <a:lnTo>
                  <a:pt x="492520" y="114299"/>
                </a:lnTo>
                <a:lnTo>
                  <a:pt x="520033" y="114299"/>
                </a:lnTo>
                <a:lnTo>
                  <a:pt x="506363" y="100329"/>
                </a:lnTo>
                <a:lnTo>
                  <a:pt x="505474" y="99059"/>
                </a:lnTo>
                <a:lnTo>
                  <a:pt x="490157" y="87629"/>
                </a:lnTo>
                <a:close/>
              </a:path>
              <a:path w="567689" h="400050">
                <a:moveTo>
                  <a:pt x="31256" y="97789"/>
                </a:moveTo>
                <a:lnTo>
                  <a:pt x="30748" y="97789"/>
                </a:lnTo>
                <a:lnTo>
                  <a:pt x="30494" y="99059"/>
                </a:lnTo>
                <a:lnTo>
                  <a:pt x="31256" y="97789"/>
                </a:lnTo>
                <a:close/>
              </a:path>
              <a:path w="567689" h="400050">
                <a:moveTo>
                  <a:pt x="437021" y="87629"/>
                </a:moveTo>
                <a:lnTo>
                  <a:pt x="434608" y="87629"/>
                </a:lnTo>
                <a:lnTo>
                  <a:pt x="435032" y="87720"/>
                </a:lnTo>
                <a:lnTo>
                  <a:pt x="437021" y="87629"/>
                </a:lnTo>
                <a:close/>
              </a:path>
              <a:path w="567689" h="400050">
                <a:moveTo>
                  <a:pt x="48697" y="73659"/>
                </a:moveTo>
                <a:lnTo>
                  <a:pt x="47766" y="73659"/>
                </a:lnTo>
                <a:lnTo>
                  <a:pt x="47512" y="74929"/>
                </a:lnTo>
                <a:lnTo>
                  <a:pt x="48697" y="73659"/>
                </a:lnTo>
                <a:close/>
              </a:path>
              <a:path w="567689" h="400050">
                <a:moveTo>
                  <a:pt x="94248" y="40639"/>
                </a:moveTo>
                <a:lnTo>
                  <a:pt x="70880" y="40639"/>
                </a:lnTo>
                <a:lnTo>
                  <a:pt x="62244" y="45719"/>
                </a:lnTo>
                <a:lnTo>
                  <a:pt x="84850" y="45719"/>
                </a:lnTo>
                <a:lnTo>
                  <a:pt x="94248" y="40639"/>
                </a:lnTo>
                <a:close/>
              </a:path>
              <a:path w="567689" h="400050">
                <a:moveTo>
                  <a:pt x="153557" y="21589"/>
                </a:moveTo>
                <a:lnTo>
                  <a:pt x="108853" y="21589"/>
                </a:lnTo>
                <a:lnTo>
                  <a:pt x="98947" y="25399"/>
                </a:lnTo>
                <a:lnTo>
                  <a:pt x="89168" y="30479"/>
                </a:lnTo>
                <a:lnTo>
                  <a:pt x="79770" y="35559"/>
                </a:lnTo>
                <a:lnTo>
                  <a:pt x="79389" y="35559"/>
                </a:lnTo>
                <a:lnTo>
                  <a:pt x="71134" y="40639"/>
                </a:lnTo>
                <a:lnTo>
                  <a:pt x="93994" y="40639"/>
                </a:lnTo>
                <a:lnTo>
                  <a:pt x="103265" y="36829"/>
                </a:lnTo>
                <a:lnTo>
                  <a:pt x="103011" y="36829"/>
                </a:lnTo>
                <a:lnTo>
                  <a:pt x="112917" y="33019"/>
                </a:lnTo>
                <a:lnTo>
                  <a:pt x="122061" y="29209"/>
                </a:lnTo>
                <a:lnTo>
                  <a:pt x="131967" y="26669"/>
                </a:lnTo>
                <a:lnTo>
                  <a:pt x="131713" y="26669"/>
                </a:lnTo>
                <a:lnTo>
                  <a:pt x="142508" y="24129"/>
                </a:lnTo>
                <a:lnTo>
                  <a:pt x="153557" y="21589"/>
                </a:lnTo>
                <a:close/>
              </a:path>
              <a:path w="567689" h="400050">
                <a:moveTo>
                  <a:pt x="302401" y="19049"/>
                </a:moveTo>
                <a:lnTo>
                  <a:pt x="278779" y="19049"/>
                </a:lnTo>
                <a:lnTo>
                  <a:pt x="284748" y="20319"/>
                </a:lnTo>
                <a:lnTo>
                  <a:pt x="290336" y="22859"/>
                </a:lnTo>
                <a:lnTo>
                  <a:pt x="294654" y="24129"/>
                </a:lnTo>
                <a:lnTo>
                  <a:pt x="299353" y="25399"/>
                </a:lnTo>
                <a:lnTo>
                  <a:pt x="303544" y="27939"/>
                </a:lnTo>
                <a:lnTo>
                  <a:pt x="306592" y="29209"/>
                </a:lnTo>
                <a:lnTo>
                  <a:pt x="316625" y="33019"/>
                </a:lnTo>
                <a:lnTo>
                  <a:pt x="318657" y="34289"/>
                </a:lnTo>
                <a:lnTo>
                  <a:pt x="322340" y="34289"/>
                </a:lnTo>
                <a:lnTo>
                  <a:pt x="323102" y="31749"/>
                </a:lnTo>
                <a:lnTo>
                  <a:pt x="323737" y="30479"/>
                </a:lnTo>
                <a:lnTo>
                  <a:pt x="323102" y="29209"/>
                </a:lnTo>
                <a:lnTo>
                  <a:pt x="321324" y="27939"/>
                </a:lnTo>
                <a:lnTo>
                  <a:pt x="319419" y="26669"/>
                </a:lnTo>
                <a:lnTo>
                  <a:pt x="315990" y="25399"/>
                </a:lnTo>
                <a:lnTo>
                  <a:pt x="312180" y="24129"/>
                </a:lnTo>
                <a:lnTo>
                  <a:pt x="309513" y="22859"/>
                </a:lnTo>
                <a:lnTo>
                  <a:pt x="306465" y="20319"/>
                </a:lnTo>
                <a:lnTo>
                  <a:pt x="302401" y="19049"/>
                </a:lnTo>
                <a:close/>
              </a:path>
              <a:path w="567689" h="400050">
                <a:moveTo>
                  <a:pt x="165114" y="19049"/>
                </a:moveTo>
                <a:lnTo>
                  <a:pt x="118378" y="19049"/>
                </a:lnTo>
                <a:lnTo>
                  <a:pt x="109107" y="21589"/>
                </a:lnTo>
                <a:lnTo>
                  <a:pt x="153430" y="21589"/>
                </a:lnTo>
                <a:lnTo>
                  <a:pt x="165114" y="19049"/>
                </a:lnTo>
                <a:close/>
              </a:path>
              <a:path w="567689" h="400050">
                <a:moveTo>
                  <a:pt x="188482" y="15239"/>
                </a:moveTo>
                <a:lnTo>
                  <a:pt x="128665" y="15239"/>
                </a:lnTo>
                <a:lnTo>
                  <a:pt x="118632" y="19049"/>
                </a:lnTo>
                <a:lnTo>
                  <a:pt x="164987" y="19049"/>
                </a:lnTo>
                <a:lnTo>
                  <a:pt x="176925" y="16509"/>
                </a:lnTo>
                <a:lnTo>
                  <a:pt x="188482" y="15239"/>
                </a:lnTo>
                <a:close/>
              </a:path>
              <a:path w="567689" h="400050">
                <a:moveTo>
                  <a:pt x="297829" y="16509"/>
                </a:moveTo>
                <a:lnTo>
                  <a:pt x="272556" y="16509"/>
                </a:lnTo>
                <a:lnTo>
                  <a:pt x="278906" y="19049"/>
                </a:lnTo>
                <a:lnTo>
                  <a:pt x="302528" y="19049"/>
                </a:lnTo>
                <a:lnTo>
                  <a:pt x="297829" y="16509"/>
                </a:lnTo>
                <a:close/>
              </a:path>
              <a:path w="567689" h="400050">
                <a:moveTo>
                  <a:pt x="293765" y="13969"/>
                </a:moveTo>
                <a:lnTo>
                  <a:pt x="265317" y="13969"/>
                </a:lnTo>
                <a:lnTo>
                  <a:pt x="272683" y="16509"/>
                </a:lnTo>
                <a:lnTo>
                  <a:pt x="297956" y="16509"/>
                </a:lnTo>
                <a:lnTo>
                  <a:pt x="293765" y="13969"/>
                </a:lnTo>
                <a:close/>
              </a:path>
              <a:path w="567689" h="400050">
                <a:moveTo>
                  <a:pt x="210072" y="12699"/>
                </a:moveTo>
                <a:lnTo>
                  <a:pt x="139714" y="12699"/>
                </a:lnTo>
                <a:lnTo>
                  <a:pt x="128919" y="15239"/>
                </a:lnTo>
                <a:lnTo>
                  <a:pt x="188355" y="15239"/>
                </a:lnTo>
                <a:lnTo>
                  <a:pt x="199531" y="13969"/>
                </a:lnTo>
                <a:lnTo>
                  <a:pt x="210072" y="12699"/>
                </a:lnTo>
                <a:close/>
              </a:path>
              <a:path w="567689" h="400050">
                <a:moveTo>
                  <a:pt x="288304" y="11429"/>
                </a:moveTo>
                <a:lnTo>
                  <a:pt x="244743" y="11429"/>
                </a:lnTo>
                <a:lnTo>
                  <a:pt x="252490" y="12699"/>
                </a:lnTo>
                <a:lnTo>
                  <a:pt x="258840" y="12699"/>
                </a:lnTo>
                <a:lnTo>
                  <a:pt x="265698" y="15239"/>
                </a:lnTo>
                <a:lnTo>
                  <a:pt x="265317" y="13969"/>
                </a:lnTo>
                <a:lnTo>
                  <a:pt x="293638" y="13969"/>
                </a:lnTo>
                <a:lnTo>
                  <a:pt x="288304" y="11429"/>
                </a:lnTo>
                <a:close/>
              </a:path>
              <a:path w="567689" h="400050">
                <a:moveTo>
                  <a:pt x="261126" y="2539"/>
                </a:moveTo>
                <a:lnTo>
                  <a:pt x="197880" y="2539"/>
                </a:lnTo>
                <a:lnTo>
                  <a:pt x="186704" y="3809"/>
                </a:lnTo>
                <a:lnTo>
                  <a:pt x="175020" y="6349"/>
                </a:lnTo>
                <a:lnTo>
                  <a:pt x="162955" y="7619"/>
                </a:lnTo>
                <a:lnTo>
                  <a:pt x="151271" y="10159"/>
                </a:lnTo>
                <a:lnTo>
                  <a:pt x="151017" y="10159"/>
                </a:lnTo>
                <a:lnTo>
                  <a:pt x="139841" y="12699"/>
                </a:lnTo>
                <a:lnTo>
                  <a:pt x="209945" y="12699"/>
                </a:lnTo>
                <a:lnTo>
                  <a:pt x="219851" y="11429"/>
                </a:lnTo>
                <a:lnTo>
                  <a:pt x="288304" y="11429"/>
                </a:lnTo>
                <a:lnTo>
                  <a:pt x="282589" y="8889"/>
                </a:lnTo>
                <a:lnTo>
                  <a:pt x="282335" y="8889"/>
                </a:lnTo>
                <a:lnTo>
                  <a:pt x="276239" y="6349"/>
                </a:lnTo>
                <a:lnTo>
                  <a:pt x="268492" y="3809"/>
                </a:lnTo>
                <a:lnTo>
                  <a:pt x="261126" y="2539"/>
                </a:lnTo>
                <a:close/>
              </a:path>
              <a:path w="567689" h="400050">
                <a:moveTo>
                  <a:pt x="253760" y="1269"/>
                </a:moveTo>
                <a:lnTo>
                  <a:pt x="208802" y="1269"/>
                </a:lnTo>
                <a:lnTo>
                  <a:pt x="198134" y="2539"/>
                </a:lnTo>
                <a:lnTo>
                  <a:pt x="260745" y="2539"/>
                </a:lnTo>
                <a:lnTo>
                  <a:pt x="253760" y="1269"/>
                </a:lnTo>
                <a:close/>
              </a:path>
              <a:path w="567689" h="400050">
                <a:moveTo>
                  <a:pt x="245759" y="0"/>
                </a:moveTo>
                <a:lnTo>
                  <a:pt x="218962" y="0"/>
                </a:lnTo>
                <a:lnTo>
                  <a:pt x="209056" y="1269"/>
                </a:lnTo>
                <a:lnTo>
                  <a:pt x="253379" y="1269"/>
                </a:lnTo>
                <a:lnTo>
                  <a:pt x="245759" y="0"/>
                </a:lnTo>
                <a:close/>
              </a:path>
            </a:pathLst>
          </a:custGeom>
          <a:solidFill>
            <a:srgbClr val="FF0000"/>
          </a:solidFill>
        </p:spPr>
        <p:txBody>
          <a:bodyPr wrap="square" lIns="0" tIns="0" rIns="0" bIns="0" rtlCol="0"/>
          <a:lstStyle/>
          <a:p>
            <a:endParaRPr/>
          </a:p>
        </p:txBody>
      </p:sp>
      <p:sp>
        <p:nvSpPr>
          <p:cNvPr id="10" name="object 10"/>
          <p:cNvSpPr/>
          <p:nvPr/>
        </p:nvSpPr>
        <p:spPr>
          <a:xfrm>
            <a:off x="4125467" y="3413125"/>
            <a:ext cx="565277" cy="374650"/>
          </a:xfrm>
          <a:prstGeom prst="rect">
            <a:avLst/>
          </a:prstGeom>
          <a:blipFill>
            <a:blip r:embed="rId2" cstate="print"/>
            <a:stretch>
              <a:fillRect/>
            </a:stretch>
          </a:blipFill>
        </p:spPr>
        <p:txBody>
          <a:bodyPr wrap="square" lIns="0" tIns="0" rIns="0" bIns="0" rtlCol="0"/>
          <a:lstStyle/>
          <a:p>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37</a:t>
            </a:fld>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08882" y="385953"/>
            <a:ext cx="1125220" cy="452120"/>
          </a:xfrm>
          <a:prstGeom prst="rect">
            <a:avLst/>
          </a:prstGeom>
        </p:spPr>
        <p:txBody>
          <a:bodyPr vert="horz" wrap="square" lIns="0" tIns="12065" rIns="0" bIns="0" rtlCol="0">
            <a:spAutoFit/>
          </a:bodyPr>
          <a:lstStyle/>
          <a:p>
            <a:pPr marL="12700">
              <a:lnSpc>
                <a:spcPct val="100000"/>
              </a:lnSpc>
              <a:spcBef>
                <a:spcPts val="95"/>
              </a:spcBef>
            </a:pPr>
            <a:r>
              <a:rPr spc="-40" dirty="0"/>
              <a:t>At </a:t>
            </a:r>
            <a:r>
              <a:rPr spc="-5" dirty="0"/>
              <a:t>K =</a:t>
            </a:r>
            <a:r>
              <a:rPr spc="-35" dirty="0"/>
              <a:t> </a:t>
            </a:r>
            <a:r>
              <a:rPr spc="-5" dirty="0"/>
              <a:t>2</a:t>
            </a:r>
          </a:p>
        </p:txBody>
      </p:sp>
      <p:grpSp>
        <p:nvGrpSpPr>
          <p:cNvPr id="3" name="object 3"/>
          <p:cNvGrpSpPr/>
          <p:nvPr/>
        </p:nvGrpSpPr>
        <p:grpSpPr>
          <a:xfrm>
            <a:off x="1042225" y="1590865"/>
            <a:ext cx="7396480" cy="2760345"/>
            <a:chOff x="1042225" y="1590865"/>
            <a:chExt cx="7396480" cy="2760345"/>
          </a:xfrm>
        </p:grpSpPr>
        <p:sp>
          <p:nvSpPr>
            <p:cNvPr id="4" name="object 4"/>
            <p:cNvSpPr/>
            <p:nvPr/>
          </p:nvSpPr>
          <p:spPr>
            <a:xfrm>
              <a:off x="1046988" y="1595627"/>
              <a:ext cx="7386955" cy="2750820"/>
            </a:xfrm>
            <a:custGeom>
              <a:avLst/>
              <a:gdLst/>
              <a:ahLst/>
              <a:cxnLst/>
              <a:rect l="l" t="t" r="r" b="b"/>
              <a:pathLst>
                <a:path w="7386955" h="2750820">
                  <a:moveTo>
                    <a:pt x="0" y="2407920"/>
                  </a:moveTo>
                  <a:lnTo>
                    <a:pt x="7386828" y="2407920"/>
                  </a:lnTo>
                </a:path>
                <a:path w="7386955" h="2750820">
                  <a:moveTo>
                    <a:pt x="0" y="2063496"/>
                  </a:moveTo>
                  <a:lnTo>
                    <a:pt x="7386828" y="2063496"/>
                  </a:lnTo>
                </a:path>
                <a:path w="7386955" h="2750820">
                  <a:moveTo>
                    <a:pt x="0" y="1719072"/>
                  </a:moveTo>
                  <a:lnTo>
                    <a:pt x="7386828" y="1719072"/>
                  </a:lnTo>
                </a:path>
                <a:path w="7386955" h="2750820">
                  <a:moveTo>
                    <a:pt x="0" y="1376172"/>
                  </a:moveTo>
                  <a:lnTo>
                    <a:pt x="7386828" y="1376172"/>
                  </a:lnTo>
                </a:path>
                <a:path w="7386955" h="2750820">
                  <a:moveTo>
                    <a:pt x="0" y="1031748"/>
                  </a:moveTo>
                  <a:lnTo>
                    <a:pt x="7386828" y="1031748"/>
                  </a:lnTo>
                </a:path>
                <a:path w="7386955" h="2750820">
                  <a:moveTo>
                    <a:pt x="0" y="687324"/>
                  </a:moveTo>
                  <a:lnTo>
                    <a:pt x="7386828" y="687324"/>
                  </a:lnTo>
                </a:path>
                <a:path w="7386955" h="2750820">
                  <a:moveTo>
                    <a:pt x="0" y="342900"/>
                  </a:moveTo>
                  <a:lnTo>
                    <a:pt x="7386828" y="342900"/>
                  </a:lnTo>
                </a:path>
                <a:path w="7386955" h="2750820">
                  <a:moveTo>
                    <a:pt x="0" y="0"/>
                  </a:moveTo>
                  <a:lnTo>
                    <a:pt x="7386828" y="0"/>
                  </a:lnTo>
                </a:path>
                <a:path w="7386955" h="2750820">
                  <a:moveTo>
                    <a:pt x="1229868" y="0"/>
                  </a:moveTo>
                  <a:lnTo>
                    <a:pt x="1229868" y="2750820"/>
                  </a:lnTo>
                </a:path>
                <a:path w="7386955" h="2750820">
                  <a:moveTo>
                    <a:pt x="2461260" y="0"/>
                  </a:moveTo>
                  <a:lnTo>
                    <a:pt x="2461260" y="2750820"/>
                  </a:lnTo>
                </a:path>
                <a:path w="7386955" h="2750820">
                  <a:moveTo>
                    <a:pt x="3692652" y="0"/>
                  </a:moveTo>
                  <a:lnTo>
                    <a:pt x="3692652" y="2750820"/>
                  </a:lnTo>
                </a:path>
                <a:path w="7386955" h="2750820">
                  <a:moveTo>
                    <a:pt x="4924044" y="0"/>
                  </a:moveTo>
                  <a:lnTo>
                    <a:pt x="4924044" y="2750820"/>
                  </a:lnTo>
                </a:path>
                <a:path w="7386955" h="2750820">
                  <a:moveTo>
                    <a:pt x="6155436" y="0"/>
                  </a:moveTo>
                  <a:lnTo>
                    <a:pt x="6155436" y="2750820"/>
                  </a:lnTo>
                </a:path>
                <a:path w="7386955" h="2750820">
                  <a:moveTo>
                    <a:pt x="7386828" y="0"/>
                  </a:moveTo>
                  <a:lnTo>
                    <a:pt x="7386828" y="2750820"/>
                  </a:lnTo>
                </a:path>
              </a:pathLst>
            </a:custGeom>
            <a:ln w="9144">
              <a:solidFill>
                <a:srgbClr val="D9D9D9"/>
              </a:solidFill>
            </a:ln>
          </p:spPr>
          <p:txBody>
            <a:bodyPr wrap="square" lIns="0" tIns="0" rIns="0" bIns="0" rtlCol="0"/>
            <a:lstStyle/>
            <a:p>
              <a:endParaRPr/>
            </a:p>
          </p:txBody>
        </p:sp>
        <p:sp>
          <p:nvSpPr>
            <p:cNvPr id="5" name="object 5"/>
            <p:cNvSpPr/>
            <p:nvPr/>
          </p:nvSpPr>
          <p:spPr>
            <a:xfrm>
              <a:off x="1046988" y="1595627"/>
              <a:ext cx="7386955" cy="2750820"/>
            </a:xfrm>
            <a:custGeom>
              <a:avLst/>
              <a:gdLst/>
              <a:ahLst/>
              <a:cxnLst/>
              <a:rect l="l" t="t" r="r" b="b"/>
              <a:pathLst>
                <a:path w="7386955" h="2750820">
                  <a:moveTo>
                    <a:pt x="0" y="2750820"/>
                  </a:moveTo>
                  <a:lnTo>
                    <a:pt x="0" y="0"/>
                  </a:lnTo>
                </a:path>
                <a:path w="7386955" h="2750820">
                  <a:moveTo>
                    <a:pt x="0" y="2750820"/>
                  </a:moveTo>
                  <a:lnTo>
                    <a:pt x="7386828" y="2750820"/>
                  </a:lnTo>
                </a:path>
              </a:pathLst>
            </a:custGeom>
            <a:ln w="9144">
              <a:solidFill>
                <a:srgbClr val="BEBEBE"/>
              </a:solidFill>
            </a:ln>
          </p:spPr>
          <p:txBody>
            <a:bodyPr wrap="square" lIns="0" tIns="0" rIns="0" bIns="0" rtlCol="0"/>
            <a:lstStyle/>
            <a:p>
              <a:endParaRPr/>
            </a:p>
          </p:txBody>
        </p:sp>
        <p:sp>
          <p:nvSpPr>
            <p:cNvPr id="6" name="object 6"/>
            <p:cNvSpPr/>
            <p:nvPr/>
          </p:nvSpPr>
          <p:spPr>
            <a:xfrm>
              <a:off x="2240280" y="3966210"/>
              <a:ext cx="73152" cy="73152"/>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2855976" y="3621785"/>
              <a:ext cx="73152" cy="73151"/>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703064" y="2934461"/>
              <a:ext cx="73152" cy="73152"/>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7165847" y="1901189"/>
              <a:ext cx="73151" cy="73152"/>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5318759" y="2590038"/>
              <a:ext cx="73151" cy="73152"/>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6550152" y="2590038"/>
              <a:ext cx="73151" cy="73152"/>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5318759" y="2724911"/>
              <a:ext cx="164591" cy="110490"/>
            </a:xfrm>
            <a:prstGeom prst="rect">
              <a:avLst/>
            </a:prstGeom>
            <a:blipFill>
              <a:blip r:embed="rId6" cstate="print"/>
              <a:stretch>
                <a:fillRect/>
              </a:stretch>
            </a:blipFill>
          </p:spPr>
          <p:txBody>
            <a:bodyPr wrap="square" lIns="0" tIns="0" rIns="0" bIns="0" rtlCol="0"/>
            <a:lstStyle/>
            <a:p>
              <a:endParaRPr/>
            </a:p>
          </p:txBody>
        </p:sp>
      </p:grpSp>
      <p:sp>
        <p:nvSpPr>
          <p:cNvPr id="13" name="object 13"/>
          <p:cNvSpPr txBox="1"/>
          <p:nvPr/>
        </p:nvSpPr>
        <p:spPr>
          <a:xfrm>
            <a:off x="2140966" y="3782669"/>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1</a:t>
            </a:r>
            <a:endParaRPr sz="900">
              <a:latin typeface="Carlito"/>
              <a:cs typeface="Carlito"/>
            </a:endParaRPr>
          </a:p>
        </p:txBody>
      </p:sp>
      <p:sp>
        <p:nvSpPr>
          <p:cNvPr id="14" name="object 14"/>
          <p:cNvSpPr txBox="1"/>
          <p:nvPr/>
        </p:nvSpPr>
        <p:spPr>
          <a:xfrm>
            <a:off x="2864485" y="3412997"/>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2</a:t>
            </a:r>
            <a:endParaRPr sz="900">
              <a:latin typeface="Carlito"/>
              <a:cs typeface="Carlito"/>
            </a:endParaRPr>
          </a:p>
        </p:txBody>
      </p:sp>
      <p:sp>
        <p:nvSpPr>
          <p:cNvPr id="15" name="object 15"/>
          <p:cNvSpPr txBox="1"/>
          <p:nvPr/>
        </p:nvSpPr>
        <p:spPr>
          <a:xfrm>
            <a:off x="4711572" y="2724657"/>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3</a:t>
            </a:r>
            <a:endParaRPr sz="900">
              <a:latin typeface="Carlito"/>
              <a:cs typeface="Carlito"/>
            </a:endParaRPr>
          </a:p>
        </p:txBody>
      </p:sp>
      <p:sp>
        <p:nvSpPr>
          <p:cNvPr id="16" name="object 16"/>
          <p:cNvSpPr txBox="1"/>
          <p:nvPr/>
        </p:nvSpPr>
        <p:spPr>
          <a:xfrm>
            <a:off x="7174356" y="1692402"/>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4</a:t>
            </a:r>
            <a:endParaRPr sz="900">
              <a:latin typeface="Carlito"/>
              <a:cs typeface="Carlito"/>
            </a:endParaRPr>
          </a:p>
        </p:txBody>
      </p:sp>
      <p:sp>
        <p:nvSpPr>
          <p:cNvPr id="17" name="object 17"/>
          <p:cNvSpPr txBox="1"/>
          <p:nvPr/>
        </p:nvSpPr>
        <p:spPr>
          <a:xfrm>
            <a:off x="5327269" y="2380614"/>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5</a:t>
            </a:r>
            <a:endParaRPr sz="900">
              <a:latin typeface="Carlito"/>
              <a:cs typeface="Carlito"/>
            </a:endParaRPr>
          </a:p>
        </p:txBody>
      </p:sp>
      <p:sp>
        <p:nvSpPr>
          <p:cNvPr id="18" name="object 18"/>
          <p:cNvSpPr txBox="1"/>
          <p:nvPr/>
        </p:nvSpPr>
        <p:spPr>
          <a:xfrm>
            <a:off x="6558660" y="2380614"/>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6</a:t>
            </a:r>
            <a:endParaRPr sz="900">
              <a:latin typeface="Carlito"/>
              <a:cs typeface="Carlito"/>
            </a:endParaRPr>
          </a:p>
        </p:txBody>
      </p:sp>
      <p:sp>
        <p:nvSpPr>
          <p:cNvPr id="19" name="object 19"/>
          <p:cNvSpPr txBox="1"/>
          <p:nvPr/>
        </p:nvSpPr>
        <p:spPr>
          <a:xfrm>
            <a:off x="5517769" y="2641473"/>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7</a:t>
            </a:r>
            <a:endParaRPr sz="900">
              <a:latin typeface="Carlito"/>
              <a:cs typeface="Carlito"/>
            </a:endParaRPr>
          </a:p>
        </p:txBody>
      </p:sp>
      <p:sp>
        <p:nvSpPr>
          <p:cNvPr id="20" name="object 20"/>
          <p:cNvSpPr txBox="1"/>
          <p:nvPr/>
        </p:nvSpPr>
        <p:spPr>
          <a:xfrm>
            <a:off x="725220" y="3909466"/>
            <a:ext cx="228600" cy="50673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1.00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0.00</a:t>
            </a:r>
            <a:endParaRPr sz="900">
              <a:latin typeface="Carlito"/>
              <a:cs typeface="Carlito"/>
            </a:endParaRPr>
          </a:p>
        </p:txBody>
      </p:sp>
      <p:sp>
        <p:nvSpPr>
          <p:cNvPr id="21" name="object 21"/>
          <p:cNvSpPr txBox="1"/>
          <p:nvPr/>
        </p:nvSpPr>
        <p:spPr>
          <a:xfrm>
            <a:off x="725220" y="3565397"/>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2.00</a:t>
            </a:r>
            <a:endParaRPr sz="900">
              <a:latin typeface="Carlito"/>
              <a:cs typeface="Carlito"/>
            </a:endParaRPr>
          </a:p>
        </p:txBody>
      </p:sp>
      <p:sp>
        <p:nvSpPr>
          <p:cNvPr id="22" name="object 22"/>
          <p:cNvSpPr txBox="1"/>
          <p:nvPr/>
        </p:nvSpPr>
        <p:spPr>
          <a:xfrm>
            <a:off x="725220" y="2877057"/>
            <a:ext cx="228600" cy="50673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4.00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3.00</a:t>
            </a:r>
            <a:endParaRPr sz="900">
              <a:latin typeface="Carlito"/>
              <a:cs typeface="Carlito"/>
            </a:endParaRPr>
          </a:p>
        </p:txBody>
      </p:sp>
      <p:sp>
        <p:nvSpPr>
          <p:cNvPr id="23" name="object 23"/>
          <p:cNvSpPr txBox="1"/>
          <p:nvPr/>
        </p:nvSpPr>
        <p:spPr>
          <a:xfrm>
            <a:off x="725220" y="2533014"/>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5.00</a:t>
            </a:r>
            <a:endParaRPr sz="900">
              <a:latin typeface="Carlito"/>
              <a:cs typeface="Carlito"/>
            </a:endParaRPr>
          </a:p>
        </p:txBody>
      </p:sp>
      <p:sp>
        <p:nvSpPr>
          <p:cNvPr id="24" name="object 24"/>
          <p:cNvSpPr txBox="1"/>
          <p:nvPr/>
        </p:nvSpPr>
        <p:spPr>
          <a:xfrm>
            <a:off x="725220" y="1844801"/>
            <a:ext cx="228600" cy="50673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7.00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6.00</a:t>
            </a:r>
            <a:endParaRPr sz="900">
              <a:latin typeface="Carlito"/>
              <a:cs typeface="Carlito"/>
            </a:endParaRPr>
          </a:p>
        </p:txBody>
      </p:sp>
      <p:sp>
        <p:nvSpPr>
          <p:cNvPr id="25" name="object 25"/>
          <p:cNvSpPr txBox="1"/>
          <p:nvPr/>
        </p:nvSpPr>
        <p:spPr>
          <a:xfrm>
            <a:off x="725220" y="1500632"/>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8.00</a:t>
            </a:r>
            <a:endParaRPr sz="900">
              <a:latin typeface="Carlito"/>
              <a:cs typeface="Carlito"/>
            </a:endParaRPr>
          </a:p>
        </p:txBody>
      </p:sp>
      <p:sp>
        <p:nvSpPr>
          <p:cNvPr id="26" name="object 26"/>
          <p:cNvSpPr txBox="1"/>
          <p:nvPr/>
        </p:nvSpPr>
        <p:spPr>
          <a:xfrm>
            <a:off x="932789"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0.00</a:t>
            </a:r>
            <a:endParaRPr sz="900">
              <a:latin typeface="Carlito"/>
              <a:cs typeface="Carlito"/>
            </a:endParaRPr>
          </a:p>
        </p:txBody>
      </p:sp>
      <p:sp>
        <p:nvSpPr>
          <p:cNvPr id="27" name="object 27"/>
          <p:cNvSpPr txBox="1"/>
          <p:nvPr/>
        </p:nvSpPr>
        <p:spPr>
          <a:xfrm>
            <a:off x="2163826"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1.00</a:t>
            </a:r>
            <a:endParaRPr sz="900">
              <a:latin typeface="Carlito"/>
              <a:cs typeface="Carlito"/>
            </a:endParaRPr>
          </a:p>
        </p:txBody>
      </p:sp>
      <p:sp>
        <p:nvSpPr>
          <p:cNvPr id="28" name="object 28"/>
          <p:cNvSpPr txBox="1"/>
          <p:nvPr/>
        </p:nvSpPr>
        <p:spPr>
          <a:xfrm>
            <a:off x="3395217"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2.00</a:t>
            </a:r>
            <a:endParaRPr sz="900">
              <a:latin typeface="Carlito"/>
              <a:cs typeface="Carlito"/>
            </a:endParaRPr>
          </a:p>
        </p:txBody>
      </p:sp>
      <p:sp>
        <p:nvSpPr>
          <p:cNvPr id="29" name="object 29"/>
          <p:cNvSpPr txBox="1"/>
          <p:nvPr/>
        </p:nvSpPr>
        <p:spPr>
          <a:xfrm>
            <a:off x="4626609"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3.00</a:t>
            </a:r>
            <a:endParaRPr sz="900">
              <a:latin typeface="Carlito"/>
              <a:cs typeface="Carlito"/>
            </a:endParaRPr>
          </a:p>
        </p:txBody>
      </p:sp>
      <p:sp>
        <p:nvSpPr>
          <p:cNvPr id="30" name="object 30"/>
          <p:cNvSpPr txBox="1"/>
          <p:nvPr/>
        </p:nvSpPr>
        <p:spPr>
          <a:xfrm>
            <a:off x="5858002"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4.00</a:t>
            </a:r>
            <a:endParaRPr sz="900">
              <a:latin typeface="Carlito"/>
              <a:cs typeface="Carlito"/>
            </a:endParaRPr>
          </a:p>
        </p:txBody>
      </p:sp>
      <p:sp>
        <p:nvSpPr>
          <p:cNvPr id="31" name="object 31"/>
          <p:cNvSpPr txBox="1"/>
          <p:nvPr/>
        </p:nvSpPr>
        <p:spPr>
          <a:xfrm>
            <a:off x="7089140"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5.00</a:t>
            </a:r>
            <a:endParaRPr sz="900">
              <a:latin typeface="Carlito"/>
              <a:cs typeface="Carlito"/>
            </a:endParaRPr>
          </a:p>
        </p:txBody>
      </p:sp>
      <p:sp>
        <p:nvSpPr>
          <p:cNvPr id="32" name="object 32"/>
          <p:cNvSpPr txBox="1"/>
          <p:nvPr/>
        </p:nvSpPr>
        <p:spPr>
          <a:xfrm>
            <a:off x="8320531"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6.00</a:t>
            </a:r>
            <a:endParaRPr sz="900">
              <a:latin typeface="Carlito"/>
              <a:cs typeface="Carlito"/>
            </a:endParaRPr>
          </a:p>
        </p:txBody>
      </p:sp>
      <p:sp>
        <p:nvSpPr>
          <p:cNvPr id="33" name="object 33"/>
          <p:cNvSpPr txBox="1"/>
          <p:nvPr/>
        </p:nvSpPr>
        <p:spPr>
          <a:xfrm>
            <a:off x="4201795" y="1273505"/>
            <a:ext cx="742950" cy="240029"/>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585858"/>
                </a:solidFill>
                <a:latin typeface="Carlito"/>
                <a:cs typeface="Carlito"/>
              </a:rPr>
              <a:t>Variable</a:t>
            </a:r>
            <a:r>
              <a:rPr sz="1400" spc="-85" dirty="0">
                <a:solidFill>
                  <a:srgbClr val="585858"/>
                </a:solidFill>
                <a:latin typeface="Carlito"/>
                <a:cs typeface="Carlito"/>
              </a:rPr>
              <a:t> </a:t>
            </a:r>
            <a:r>
              <a:rPr sz="1400" dirty="0">
                <a:solidFill>
                  <a:srgbClr val="585858"/>
                </a:solidFill>
                <a:latin typeface="Carlito"/>
                <a:cs typeface="Carlito"/>
              </a:rPr>
              <a:t>2</a:t>
            </a:r>
            <a:endParaRPr sz="1400">
              <a:latin typeface="Carlito"/>
              <a:cs typeface="Carlito"/>
            </a:endParaRPr>
          </a:p>
        </p:txBody>
      </p:sp>
      <p:sp>
        <p:nvSpPr>
          <p:cNvPr id="34" name="object 34"/>
          <p:cNvSpPr/>
          <p:nvPr/>
        </p:nvSpPr>
        <p:spPr>
          <a:xfrm>
            <a:off x="2192273" y="2824733"/>
            <a:ext cx="2697480" cy="1275715"/>
          </a:xfrm>
          <a:custGeom>
            <a:avLst/>
            <a:gdLst/>
            <a:ahLst/>
            <a:cxnLst/>
            <a:rect l="l" t="t" r="r" b="b"/>
            <a:pathLst>
              <a:path w="2697479" h="1275714">
                <a:moveTo>
                  <a:pt x="0" y="1149096"/>
                </a:moveTo>
                <a:lnTo>
                  <a:pt x="9941" y="1099858"/>
                </a:lnTo>
                <a:lnTo>
                  <a:pt x="37052" y="1059651"/>
                </a:lnTo>
                <a:lnTo>
                  <a:pt x="77259" y="1032543"/>
                </a:lnTo>
                <a:lnTo>
                  <a:pt x="126492" y="1022604"/>
                </a:lnTo>
                <a:lnTo>
                  <a:pt x="175724" y="1032543"/>
                </a:lnTo>
                <a:lnTo>
                  <a:pt x="215931" y="1059651"/>
                </a:lnTo>
                <a:lnTo>
                  <a:pt x="243042" y="1099858"/>
                </a:lnTo>
                <a:lnTo>
                  <a:pt x="252983" y="1149096"/>
                </a:lnTo>
                <a:lnTo>
                  <a:pt x="243042" y="1198333"/>
                </a:lnTo>
                <a:lnTo>
                  <a:pt x="215931" y="1238540"/>
                </a:lnTo>
                <a:lnTo>
                  <a:pt x="175724" y="1265648"/>
                </a:lnTo>
                <a:lnTo>
                  <a:pt x="126492" y="1275588"/>
                </a:lnTo>
                <a:lnTo>
                  <a:pt x="77259" y="1265648"/>
                </a:lnTo>
                <a:lnTo>
                  <a:pt x="37052" y="1238540"/>
                </a:lnTo>
                <a:lnTo>
                  <a:pt x="9941" y="1198333"/>
                </a:lnTo>
                <a:lnTo>
                  <a:pt x="0" y="1149096"/>
                </a:lnTo>
                <a:close/>
              </a:path>
              <a:path w="2697479" h="1275714">
                <a:moveTo>
                  <a:pt x="2446020" y="126492"/>
                </a:moveTo>
                <a:lnTo>
                  <a:pt x="2455896" y="77259"/>
                </a:lnTo>
                <a:lnTo>
                  <a:pt x="2482834" y="37052"/>
                </a:lnTo>
                <a:lnTo>
                  <a:pt x="2522797" y="9941"/>
                </a:lnTo>
                <a:lnTo>
                  <a:pt x="2571750" y="0"/>
                </a:lnTo>
                <a:lnTo>
                  <a:pt x="2620702" y="9941"/>
                </a:lnTo>
                <a:lnTo>
                  <a:pt x="2660665" y="37052"/>
                </a:lnTo>
                <a:lnTo>
                  <a:pt x="2687603" y="77259"/>
                </a:lnTo>
                <a:lnTo>
                  <a:pt x="2697479" y="126492"/>
                </a:lnTo>
                <a:lnTo>
                  <a:pt x="2687603" y="175724"/>
                </a:lnTo>
                <a:lnTo>
                  <a:pt x="2660665" y="215931"/>
                </a:lnTo>
                <a:lnTo>
                  <a:pt x="2620702" y="243042"/>
                </a:lnTo>
                <a:lnTo>
                  <a:pt x="2571750" y="252984"/>
                </a:lnTo>
                <a:lnTo>
                  <a:pt x="2522797" y="243042"/>
                </a:lnTo>
                <a:lnTo>
                  <a:pt x="2482834" y="215931"/>
                </a:lnTo>
                <a:lnTo>
                  <a:pt x="2455896" y="175724"/>
                </a:lnTo>
                <a:lnTo>
                  <a:pt x="2446020" y="126492"/>
                </a:lnTo>
                <a:close/>
              </a:path>
            </a:pathLst>
          </a:custGeom>
          <a:ln w="25908">
            <a:solidFill>
              <a:srgbClr val="8B3836"/>
            </a:solidFill>
          </a:ln>
        </p:spPr>
        <p:txBody>
          <a:bodyPr wrap="square" lIns="0" tIns="0" rIns="0" bIns="0" rtlCol="0"/>
          <a:lstStyle/>
          <a:p>
            <a:endParaRPr/>
          </a:p>
        </p:txBody>
      </p:sp>
      <p:sp>
        <p:nvSpPr>
          <p:cNvPr id="35" name="object 3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38</a:t>
            </a:fld>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5" dirty="0"/>
              <a:t>K-Means </a:t>
            </a:r>
            <a:r>
              <a:rPr spc="-15" dirty="0"/>
              <a:t>clustering</a:t>
            </a:r>
            <a:r>
              <a:rPr spc="40" dirty="0"/>
              <a:t> </a:t>
            </a:r>
            <a:r>
              <a:rPr spc="-20" dirty="0"/>
              <a:t>example</a:t>
            </a:r>
          </a:p>
        </p:txBody>
      </p:sp>
      <p:sp>
        <p:nvSpPr>
          <p:cNvPr id="3" name="object 3"/>
          <p:cNvSpPr txBox="1"/>
          <p:nvPr/>
        </p:nvSpPr>
        <p:spPr>
          <a:xfrm>
            <a:off x="535939" y="1216913"/>
            <a:ext cx="6374383" cy="321242"/>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10" dirty="0">
                <a:latin typeface="Carlito"/>
                <a:cs typeface="Carlito"/>
              </a:rPr>
              <a:t>Calculate </a:t>
            </a:r>
            <a:r>
              <a:rPr sz="2000" dirty="0">
                <a:latin typeface="Carlito"/>
                <a:cs typeface="Carlito"/>
              </a:rPr>
              <a:t>Euclidean </a:t>
            </a:r>
            <a:r>
              <a:rPr sz="2000" spc="-10" dirty="0">
                <a:latin typeface="Carlito"/>
                <a:cs typeface="Carlito"/>
              </a:rPr>
              <a:t>distance </a:t>
            </a:r>
            <a:r>
              <a:rPr sz="2000" spc="-15" dirty="0">
                <a:latin typeface="Carlito"/>
                <a:cs typeface="Carlito"/>
              </a:rPr>
              <a:t>for </a:t>
            </a:r>
            <a:r>
              <a:rPr sz="2000" spc="-10" dirty="0">
                <a:latin typeface="Carlito"/>
                <a:cs typeface="Carlito"/>
              </a:rPr>
              <a:t>next data</a:t>
            </a:r>
            <a:r>
              <a:rPr lang="en-US" sz="2000" spc="-10" dirty="0">
                <a:latin typeface="Carlito"/>
                <a:cs typeface="Carlito"/>
              </a:rPr>
              <a:t> point</a:t>
            </a:r>
            <a:r>
              <a:rPr sz="2000" spc="-10" dirty="0">
                <a:latin typeface="Carlito"/>
                <a:cs typeface="Carlito"/>
              </a:rPr>
              <a:t> </a:t>
            </a:r>
            <a:r>
              <a:rPr sz="2000" spc="-5" dirty="0">
                <a:latin typeface="Carlito"/>
                <a:cs typeface="Carlito"/>
              </a:rPr>
              <a:t>(1.5,</a:t>
            </a:r>
            <a:r>
              <a:rPr sz="2000" spc="105" dirty="0">
                <a:latin typeface="Carlito"/>
                <a:cs typeface="Carlito"/>
              </a:rPr>
              <a:t> </a:t>
            </a:r>
            <a:r>
              <a:rPr sz="2000" spc="-5" dirty="0">
                <a:latin typeface="Carlito"/>
                <a:cs typeface="Carlito"/>
              </a:rPr>
              <a:t>2.0)</a:t>
            </a:r>
            <a:endParaRPr sz="2000" dirty="0">
              <a:latin typeface="Carlito"/>
              <a:cs typeface="Carlito"/>
            </a:endParaRPr>
          </a:p>
        </p:txBody>
      </p:sp>
      <p:sp>
        <p:nvSpPr>
          <p:cNvPr id="4" name="object 4"/>
          <p:cNvSpPr/>
          <p:nvPr/>
        </p:nvSpPr>
        <p:spPr>
          <a:xfrm>
            <a:off x="3116326" y="1678685"/>
            <a:ext cx="3060700" cy="316230"/>
          </a:xfrm>
          <a:custGeom>
            <a:avLst/>
            <a:gdLst/>
            <a:ahLst/>
            <a:cxnLst/>
            <a:rect l="l" t="t" r="r" b="b"/>
            <a:pathLst>
              <a:path w="3060700" h="316230">
                <a:moveTo>
                  <a:pt x="3060446" y="0"/>
                </a:moveTo>
                <a:lnTo>
                  <a:pt x="159258" y="126"/>
                </a:lnTo>
                <a:lnTo>
                  <a:pt x="83819" y="282956"/>
                </a:lnTo>
                <a:lnTo>
                  <a:pt x="40767" y="186943"/>
                </a:lnTo>
                <a:lnTo>
                  <a:pt x="0" y="205612"/>
                </a:lnTo>
                <a:lnTo>
                  <a:pt x="3937" y="214883"/>
                </a:lnTo>
                <a:lnTo>
                  <a:pt x="24892" y="205612"/>
                </a:lnTo>
                <a:lnTo>
                  <a:pt x="76326" y="316230"/>
                </a:lnTo>
                <a:lnTo>
                  <a:pt x="88392" y="316230"/>
                </a:lnTo>
                <a:lnTo>
                  <a:pt x="169163" y="16763"/>
                </a:lnTo>
                <a:lnTo>
                  <a:pt x="3060446" y="16763"/>
                </a:lnTo>
                <a:close/>
              </a:path>
            </a:pathLst>
          </a:custGeom>
          <a:solidFill>
            <a:srgbClr val="000000"/>
          </a:solidFill>
        </p:spPr>
        <p:txBody>
          <a:bodyPr wrap="square" lIns="0" tIns="0" rIns="0" bIns="0" rtlCol="0"/>
          <a:lstStyle/>
          <a:p>
            <a:endParaRPr/>
          </a:p>
        </p:txBody>
      </p:sp>
      <p:sp>
        <p:nvSpPr>
          <p:cNvPr id="5" name="object 5"/>
          <p:cNvSpPr txBox="1"/>
          <p:nvPr/>
        </p:nvSpPr>
        <p:spPr>
          <a:xfrm>
            <a:off x="4459351" y="1646681"/>
            <a:ext cx="1723389" cy="248920"/>
          </a:xfrm>
          <a:prstGeom prst="rect">
            <a:avLst/>
          </a:prstGeom>
        </p:spPr>
        <p:txBody>
          <a:bodyPr vert="horz" wrap="square" lIns="0" tIns="13970" rIns="0" bIns="0" rtlCol="0">
            <a:spAutoFit/>
          </a:bodyPr>
          <a:lstStyle/>
          <a:p>
            <a:pPr marL="12700">
              <a:lnSpc>
                <a:spcPct val="100000"/>
              </a:lnSpc>
              <a:spcBef>
                <a:spcPts val="110"/>
              </a:spcBef>
              <a:tabLst>
                <a:tab pos="1602105" algn="l"/>
              </a:tabLst>
            </a:pPr>
            <a:r>
              <a:rPr sz="1450" spc="15" dirty="0">
                <a:latin typeface="DejaVu Serif Condensed"/>
                <a:cs typeface="DejaVu Serif Condensed"/>
              </a:rPr>
              <a:t>2	2</a:t>
            </a:r>
            <a:endParaRPr sz="1450">
              <a:latin typeface="DejaVu Serif Condensed"/>
              <a:cs typeface="DejaVu Serif Condensed"/>
            </a:endParaRPr>
          </a:p>
        </p:txBody>
      </p:sp>
      <p:sp>
        <p:nvSpPr>
          <p:cNvPr id="6" name="object 6"/>
          <p:cNvSpPr txBox="1"/>
          <p:nvPr/>
        </p:nvSpPr>
        <p:spPr>
          <a:xfrm>
            <a:off x="535940" y="1515973"/>
            <a:ext cx="2533650" cy="913130"/>
          </a:xfrm>
          <a:prstGeom prst="rect">
            <a:avLst/>
          </a:prstGeom>
        </p:spPr>
        <p:txBody>
          <a:bodyPr vert="horz" wrap="square" lIns="0" tIns="12065" rIns="0" bIns="0" rtlCol="0">
            <a:spAutoFit/>
          </a:bodyPr>
          <a:lstStyle/>
          <a:p>
            <a:pPr marL="12700" marR="5080">
              <a:lnSpc>
                <a:spcPct val="145600"/>
              </a:lnSpc>
              <a:spcBef>
                <a:spcPts val="95"/>
              </a:spcBef>
            </a:pPr>
            <a:r>
              <a:rPr sz="2000" spc="-10" dirty="0">
                <a:latin typeface="Carlito"/>
                <a:cs typeface="Carlito"/>
              </a:rPr>
              <a:t>Distance </a:t>
            </a:r>
            <a:r>
              <a:rPr sz="2000" spc="-15" dirty="0">
                <a:latin typeface="Carlito"/>
                <a:cs typeface="Carlito"/>
              </a:rPr>
              <a:t>from </a:t>
            </a:r>
            <a:r>
              <a:rPr sz="2000" spc="-10" dirty="0">
                <a:latin typeface="Carlito"/>
                <a:cs typeface="Carlito"/>
              </a:rPr>
              <a:t>cluster1 </a:t>
            </a:r>
            <a:r>
              <a:rPr sz="2000" dirty="0">
                <a:latin typeface="Carlito"/>
                <a:cs typeface="Carlito"/>
              </a:rPr>
              <a:t>=  </a:t>
            </a:r>
            <a:r>
              <a:rPr sz="2000" spc="-10" dirty="0">
                <a:latin typeface="Carlito"/>
                <a:cs typeface="Carlito"/>
              </a:rPr>
              <a:t>Distance </a:t>
            </a:r>
            <a:r>
              <a:rPr sz="2000" spc="-15" dirty="0">
                <a:latin typeface="Carlito"/>
                <a:cs typeface="Carlito"/>
              </a:rPr>
              <a:t>from </a:t>
            </a:r>
            <a:r>
              <a:rPr sz="2000" spc="-5" dirty="0">
                <a:latin typeface="Carlito"/>
                <a:cs typeface="Carlito"/>
              </a:rPr>
              <a:t>cluster2 </a:t>
            </a:r>
            <a:r>
              <a:rPr sz="2000" dirty="0">
                <a:latin typeface="Carlito"/>
                <a:cs typeface="Carlito"/>
              </a:rPr>
              <a:t>=</a:t>
            </a:r>
            <a:endParaRPr sz="2000">
              <a:latin typeface="Carlito"/>
              <a:cs typeface="Carlito"/>
            </a:endParaRPr>
          </a:p>
        </p:txBody>
      </p:sp>
      <p:sp>
        <p:nvSpPr>
          <p:cNvPr id="7" name="object 7"/>
          <p:cNvSpPr/>
          <p:nvPr/>
        </p:nvSpPr>
        <p:spPr>
          <a:xfrm>
            <a:off x="3116326" y="2122170"/>
            <a:ext cx="3088005" cy="316230"/>
          </a:xfrm>
          <a:custGeom>
            <a:avLst/>
            <a:gdLst/>
            <a:ahLst/>
            <a:cxnLst/>
            <a:rect l="l" t="t" r="r" b="b"/>
            <a:pathLst>
              <a:path w="3088004" h="316230">
                <a:moveTo>
                  <a:pt x="3087878" y="0"/>
                </a:moveTo>
                <a:lnTo>
                  <a:pt x="159258" y="127"/>
                </a:lnTo>
                <a:lnTo>
                  <a:pt x="83819" y="282956"/>
                </a:lnTo>
                <a:lnTo>
                  <a:pt x="40767" y="186944"/>
                </a:lnTo>
                <a:lnTo>
                  <a:pt x="0" y="205612"/>
                </a:lnTo>
                <a:lnTo>
                  <a:pt x="3937" y="214884"/>
                </a:lnTo>
                <a:lnTo>
                  <a:pt x="24892" y="205612"/>
                </a:lnTo>
                <a:lnTo>
                  <a:pt x="76326" y="316230"/>
                </a:lnTo>
                <a:lnTo>
                  <a:pt x="88392" y="316230"/>
                </a:lnTo>
                <a:lnTo>
                  <a:pt x="169163" y="16763"/>
                </a:lnTo>
                <a:lnTo>
                  <a:pt x="3087878" y="16763"/>
                </a:lnTo>
                <a:close/>
              </a:path>
            </a:pathLst>
          </a:custGeom>
          <a:solidFill>
            <a:srgbClr val="000000"/>
          </a:solidFill>
        </p:spPr>
        <p:txBody>
          <a:bodyPr wrap="square" lIns="0" tIns="0" rIns="0" bIns="0" rtlCol="0"/>
          <a:lstStyle/>
          <a:p>
            <a:endParaRPr/>
          </a:p>
        </p:txBody>
      </p:sp>
      <p:sp>
        <p:nvSpPr>
          <p:cNvPr id="8" name="object 8"/>
          <p:cNvSpPr txBox="1"/>
          <p:nvPr/>
        </p:nvSpPr>
        <p:spPr>
          <a:xfrm>
            <a:off x="3263519" y="1515973"/>
            <a:ext cx="3646804" cy="913130"/>
          </a:xfrm>
          <a:prstGeom prst="rect">
            <a:avLst/>
          </a:prstGeom>
        </p:spPr>
        <p:txBody>
          <a:bodyPr vert="horz" wrap="square" lIns="0" tIns="151130" rIns="0" bIns="0" rtlCol="0">
            <a:spAutoFit/>
          </a:bodyPr>
          <a:lstStyle/>
          <a:p>
            <a:pPr marL="38100">
              <a:lnSpc>
                <a:spcPct val="100000"/>
              </a:lnSpc>
              <a:spcBef>
                <a:spcPts val="1190"/>
              </a:spcBef>
              <a:tabLst>
                <a:tab pos="1381760" algn="l"/>
                <a:tab pos="2971800" algn="l"/>
              </a:tabLst>
            </a:pPr>
            <a:r>
              <a:rPr sz="2000" spc="-35" dirty="0">
                <a:latin typeface="DejaVu Serif Condensed"/>
                <a:cs typeface="DejaVu Serif Condensed"/>
              </a:rPr>
              <a:t>(1.5</a:t>
            </a:r>
            <a:r>
              <a:rPr sz="2000" spc="-110" dirty="0">
                <a:latin typeface="DejaVu Serif Condensed"/>
                <a:cs typeface="DejaVu Serif Condensed"/>
              </a:rPr>
              <a:t> </a:t>
            </a:r>
            <a:r>
              <a:rPr sz="2000" spc="-15" dirty="0">
                <a:latin typeface="DejaVu Serif Condensed"/>
                <a:cs typeface="DejaVu Serif Condensed"/>
              </a:rPr>
              <a:t>−</a:t>
            </a:r>
            <a:r>
              <a:rPr sz="2000" spc="-120" dirty="0">
                <a:latin typeface="DejaVu Serif Condensed"/>
                <a:cs typeface="DejaVu Serif Condensed"/>
              </a:rPr>
              <a:t> </a:t>
            </a:r>
            <a:r>
              <a:rPr sz="2000" spc="30" dirty="0">
                <a:latin typeface="Carlito"/>
                <a:cs typeface="Carlito"/>
              </a:rPr>
              <a:t>1.0</a:t>
            </a:r>
            <a:r>
              <a:rPr sz="2000" spc="30" dirty="0">
                <a:latin typeface="DejaVu Serif Condensed"/>
                <a:cs typeface="DejaVu Serif Condensed"/>
              </a:rPr>
              <a:t>)	</a:t>
            </a:r>
            <a:r>
              <a:rPr sz="2000" spc="-15" dirty="0">
                <a:latin typeface="DejaVu Serif Condensed"/>
                <a:cs typeface="DejaVu Serif Condensed"/>
              </a:rPr>
              <a:t>+ </a:t>
            </a:r>
            <a:r>
              <a:rPr sz="2000" spc="15" dirty="0">
                <a:latin typeface="DejaVu Serif Condensed"/>
                <a:cs typeface="DejaVu Serif Condensed"/>
              </a:rPr>
              <a:t>(2</a:t>
            </a:r>
            <a:r>
              <a:rPr sz="2000" spc="15" dirty="0">
                <a:latin typeface="Carlito"/>
                <a:cs typeface="Carlito"/>
              </a:rPr>
              <a:t>.0</a:t>
            </a:r>
            <a:r>
              <a:rPr sz="2000" spc="-114" dirty="0">
                <a:latin typeface="Carlito"/>
                <a:cs typeface="Carlito"/>
              </a:rPr>
              <a:t> </a:t>
            </a:r>
            <a:r>
              <a:rPr sz="2000" spc="-15" dirty="0">
                <a:latin typeface="DejaVu Serif Condensed"/>
                <a:cs typeface="DejaVu Serif Condensed"/>
              </a:rPr>
              <a:t>−</a:t>
            </a:r>
            <a:r>
              <a:rPr sz="2000" spc="-114" dirty="0">
                <a:latin typeface="DejaVu Serif Condensed"/>
                <a:cs typeface="DejaVu Serif Condensed"/>
              </a:rPr>
              <a:t> </a:t>
            </a:r>
            <a:r>
              <a:rPr sz="2000" spc="30" dirty="0">
                <a:latin typeface="Carlito"/>
                <a:cs typeface="Carlito"/>
              </a:rPr>
              <a:t>1.0</a:t>
            </a:r>
            <a:r>
              <a:rPr sz="2000" spc="30" dirty="0">
                <a:latin typeface="DejaVu Serif Condensed"/>
                <a:cs typeface="DejaVu Serif Condensed"/>
              </a:rPr>
              <a:t>)	</a:t>
            </a:r>
            <a:r>
              <a:rPr sz="2000" dirty="0">
                <a:latin typeface="Carlito"/>
                <a:cs typeface="Carlito"/>
              </a:rPr>
              <a:t>=</a:t>
            </a:r>
            <a:r>
              <a:rPr sz="2000" spc="-55" dirty="0">
                <a:latin typeface="Carlito"/>
                <a:cs typeface="Carlito"/>
              </a:rPr>
              <a:t> </a:t>
            </a:r>
            <a:r>
              <a:rPr sz="2000" dirty="0">
                <a:latin typeface="Carlito"/>
                <a:cs typeface="Carlito"/>
              </a:rPr>
              <a:t>1.12</a:t>
            </a:r>
            <a:endParaRPr sz="2000">
              <a:latin typeface="Carlito"/>
              <a:cs typeface="Carlito"/>
            </a:endParaRPr>
          </a:p>
          <a:p>
            <a:pPr marL="38100">
              <a:lnSpc>
                <a:spcPct val="100000"/>
              </a:lnSpc>
              <a:spcBef>
                <a:spcPts val="1095"/>
              </a:spcBef>
            </a:pPr>
            <a:r>
              <a:rPr sz="2000" spc="-35" dirty="0">
                <a:latin typeface="DejaVu Serif Condensed"/>
                <a:cs typeface="DejaVu Serif Condensed"/>
              </a:rPr>
              <a:t>(1.5 </a:t>
            </a:r>
            <a:r>
              <a:rPr sz="2000" spc="-15" dirty="0">
                <a:latin typeface="DejaVu Serif Condensed"/>
                <a:cs typeface="DejaVu Serif Condensed"/>
              </a:rPr>
              <a:t>− </a:t>
            </a:r>
            <a:r>
              <a:rPr sz="2000" spc="-20" dirty="0">
                <a:latin typeface="DejaVu Serif Condensed"/>
                <a:cs typeface="DejaVu Serif Condensed"/>
              </a:rPr>
              <a:t>3.0)</a:t>
            </a:r>
            <a:r>
              <a:rPr sz="2175" spc="-30" baseline="22988" dirty="0">
                <a:latin typeface="DejaVu Serif Condensed"/>
                <a:cs typeface="DejaVu Serif Condensed"/>
              </a:rPr>
              <a:t>2 </a:t>
            </a:r>
            <a:r>
              <a:rPr sz="2000" spc="-15" dirty="0">
                <a:latin typeface="DejaVu Serif Condensed"/>
                <a:cs typeface="DejaVu Serif Condensed"/>
              </a:rPr>
              <a:t>+ </a:t>
            </a:r>
            <a:r>
              <a:rPr sz="2000" spc="15" dirty="0">
                <a:latin typeface="DejaVu Serif Condensed"/>
                <a:cs typeface="DejaVu Serif Condensed"/>
              </a:rPr>
              <a:t>(2</a:t>
            </a:r>
            <a:r>
              <a:rPr sz="2000" spc="15" dirty="0">
                <a:latin typeface="Carlito"/>
                <a:cs typeface="Carlito"/>
              </a:rPr>
              <a:t>.0 </a:t>
            </a:r>
            <a:r>
              <a:rPr sz="2000" spc="-15" dirty="0">
                <a:latin typeface="DejaVu Serif Condensed"/>
                <a:cs typeface="DejaVu Serif Condensed"/>
              </a:rPr>
              <a:t>− </a:t>
            </a:r>
            <a:r>
              <a:rPr sz="2000" spc="15" dirty="0">
                <a:latin typeface="DejaVu Serif Condensed"/>
                <a:cs typeface="DejaVu Serif Condensed"/>
              </a:rPr>
              <a:t>4</a:t>
            </a:r>
            <a:r>
              <a:rPr sz="2000" spc="15" dirty="0">
                <a:latin typeface="Carlito"/>
                <a:cs typeface="Carlito"/>
              </a:rPr>
              <a:t>.0</a:t>
            </a:r>
            <a:r>
              <a:rPr sz="2000" spc="15" dirty="0">
                <a:latin typeface="DejaVu Serif Condensed"/>
                <a:cs typeface="DejaVu Serif Condensed"/>
              </a:rPr>
              <a:t>)</a:t>
            </a:r>
            <a:r>
              <a:rPr sz="2175" spc="22" baseline="22988" dirty="0">
                <a:latin typeface="DejaVu Serif Condensed"/>
                <a:cs typeface="DejaVu Serif Condensed"/>
              </a:rPr>
              <a:t>2 </a:t>
            </a:r>
            <a:r>
              <a:rPr sz="2000" dirty="0">
                <a:latin typeface="Carlito"/>
                <a:cs typeface="Carlito"/>
              </a:rPr>
              <a:t>=</a:t>
            </a:r>
            <a:r>
              <a:rPr sz="2000" spc="-215" dirty="0">
                <a:latin typeface="Carlito"/>
                <a:cs typeface="Carlito"/>
              </a:rPr>
              <a:t> </a:t>
            </a:r>
            <a:r>
              <a:rPr sz="2000" dirty="0">
                <a:latin typeface="Carlito"/>
                <a:cs typeface="Carlito"/>
              </a:rPr>
              <a:t>2.5</a:t>
            </a:r>
            <a:endParaRPr sz="2000">
              <a:latin typeface="Carlito"/>
              <a:cs typeface="Carlito"/>
            </a:endParaRPr>
          </a:p>
        </p:txBody>
      </p:sp>
      <p:graphicFrame>
        <p:nvGraphicFramePr>
          <p:cNvPr id="9" name="object 9"/>
          <p:cNvGraphicFramePr>
            <a:graphicFrameLocks noGrp="1"/>
          </p:cNvGraphicFramePr>
          <p:nvPr/>
        </p:nvGraphicFramePr>
        <p:xfrm>
          <a:off x="1619122" y="2793619"/>
          <a:ext cx="5708014" cy="1131975"/>
        </p:xfrm>
        <a:graphic>
          <a:graphicData uri="http://schemas.openxmlformats.org/drawingml/2006/table">
            <a:tbl>
              <a:tblPr firstRow="1" bandRow="1">
                <a:tableStyleId>{2D5ABB26-0587-4C30-8999-92F81FD0307C}</a:tableStyleId>
              </a:tblPr>
              <a:tblGrid>
                <a:gridCol w="1130300">
                  <a:extLst>
                    <a:ext uri="{9D8B030D-6E8A-4147-A177-3AD203B41FA5}">
                      <a16:colId xmlns:a16="http://schemas.microsoft.com/office/drawing/2014/main" val="20000"/>
                    </a:ext>
                  </a:extLst>
                </a:gridCol>
                <a:gridCol w="1390014">
                  <a:extLst>
                    <a:ext uri="{9D8B030D-6E8A-4147-A177-3AD203B41FA5}">
                      <a16:colId xmlns:a16="http://schemas.microsoft.com/office/drawing/2014/main" val="20001"/>
                    </a:ext>
                  </a:extLst>
                </a:gridCol>
                <a:gridCol w="1438275">
                  <a:extLst>
                    <a:ext uri="{9D8B030D-6E8A-4147-A177-3AD203B41FA5}">
                      <a16:colId xmlns:a16="http://schemas.microsoft.com/office/drawing/2014/main" val="20002"/>
                    </a:ext>
                  </a:extLst>
                </a:gridCol>
                <a:gridCol w="1749425">
                  <a:extLst>
                    <a:ext uri="{9D8B030D-6E8A-4147-A177-3AD203B41FA5}">
                      <a16:colId xmlns:a16="http://schemas.microsoft.com/office/drawing/2014/main" val="20003"/>
                    </a:ext>
                  </a:extLst>
                </a:gridCol>
              </a:tblGrid>
              <a:tr h="365760">
                <a:tc rowSpan="2">
                  <a:txBody>
                    <a:bodyPr/>
                    <a:lstStyle/>
                    <a:p>
                      <a:pPr>
                        <a:lnSpc>
                          <a:spcPct val="100000"/>
                        </a:lnSpc>
                        <a:spcBef>
                          <a:spcPts val="15"/>
                        </a:spcBef>
                      </a:pPr>
                      <a:endParaRPr sz="1450" dirty="0">
                        <a:latin typeface="Times New Roman"/>
                        <a:cs typeface="Times New Roman"/>
                      </a:endParaRPr>
                    </a:p>
                    <a:p>
                      <a:pPr marL="198755">
                        <a:lnSpc>
                          <a:spcPct val="100000"/>
                        </a:lnSpc>
                        <a:spcBef>
                          <a:spcPts val="5"/>
                        </a:spcBef>
                      </a:pPr>
                      <a:r>
                        <a:rPr sz="1800" b="1" spc="-5" dirty="0">
                          <a:solidFill>
                            <a:srgbClr val="FFFFFF"/>
                          </a:solidFill>
                          <a:latin typeface="Carlito"/>
                          <a:cs typeface="Carlito"/>
                        </a:rPr>
                        <a:t>Dataset</a:t>
                      </a:r>
                      <a:endParaRPr sz="1800" dirty="0">
                        <a:latin typeface="Carlito"/>
                        <a:cs typeface="Carlito"/>
                      </a:endParaRPr>
                    </a:p>
                  </a:txBody>
                  <a:tcPr marL="0" marR="0" marT="1905" marB="0">
                    <a:lnL w="1905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4F81BC"/>
                    </a:solidFill>
                  </a:tcPr>
                </a:tc>
                <a:tc gridSpan="3">
                  <a:txBody>
                    <a:bodyPr/>
                    <a:lstStyle/>
                    <a:p>
                      <a:pPr algn="ctr">
                        <a:lnSpc>
                          <a:spcPct val="100000"/>
                        </a:lnSpc>
                        <a:spcBef>
                          <a:spcPts val="245"/>
                        </a:spcBef>
                      </a:pPr>
                      <a:r>
                        <a:rPr sz="1800" b="1" dirty="0">
                          <a:solidFill>
                            <a:srgbClr val="FFFFFF"/>
                          </a:solidFill>
                          <a:latin typeface="Carlito"/>
                          <a:cs typeface="Carlito"/>
                        </a:rPr>
                        <a:t>Euclidean</a:t>
                      </a:r>
                      <a:r>
                        <a:rPr sz="1800" b="1" spc="-50" dirty="0">
                          <a:solidFill>
                            <a:srgbClr val="FFFFFF"/>
                          </a:solidFill>
                          <a:latin typeface="Carlito"/>
                          <a:cs typeface="Carlito"/>
                        </a:rPr>
                        <a:t> </a:t>
                      </a:r>
                      <a:r>
                        <a:rPr sz="1800" b="1" spc="-5" dirty="0">
                          <a:solidFill>
                            <a:srgbClr val="FFFFFF"/>
                          </a:solidFill>
                          <a:latin typeface="Carlito"/>
                          <a:cs typeface="Carlito"/>
                        </a:rPr>
                        <a:t>Distance</a:t>
                      </a:r>
                      <a:endParaRPr sz="1800">
                        <a:latin typeface="Carlito"/>
                        <a:cs typeface="Carlito"/>
                      </a:endParaRPr>
                    </a:p>
                  </a:txBody>
                  <a:tcPr marL="0" marR="0" marT="31115" marB="0">
                    <a:lnL w="381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65759">
                <a:tc vMerge="1">
                  <a:txBody>
                    <a:bodyPr/>
                    <a:lstStyle/>
                    <a:p>
                      <a:endParaRPr/>
                    </a:p>
                  </a:txBody>
                  <a:tcPr marL="0" marR="0" marT="1905" marB="0">
                    <a:lnL w="1905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270" algn="ctr">
                        <a:lnSpc>
                          <a:spcPct val="100000"/>
                        </a:lnSpc>
                        <a:spcBef>
                          <a:spcPts val="245"/>
                        </a:spcBef>
                      </a:pPr>
                      <a:r>
                        <a:rPr sz="1800" spc="-10" dirty="0">
                          <a:latin typeface="Carlito"/>
                          <a:cs typeface="Carlito"/>
                        </a:rPr>
                        <a:t>Cluster </a:t>
                      </a:r>
                      <a:r>
                        <a:rPr sz="1800" dirty="0">
                          <a:latin typeface="Carlito"/>
                          <a:cs typeface="Carlito"/>
                        </a:rPr>
                        <a:t>1</a:t>
                      </a:r>
                      <a:endParaRPr sz="1800">
                        <a:latin typeface="Carlito"/>
                        <a:cs typeface="Carlito"/>
                      </a:endParaRPr>
                    </a:p>
                  </a:txBody>
                  <a:tcPr marL="0" marR="0" marT="31115" marB="0">
                    <a:lnL w="381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spc="-10" dirty="0">
                          <a:latin typeface="Carlito"/>
                          <a:cs typeface="Carlito"/>
                        </a:rPr>
                        <a:t>Cluster</a:t>
                      </a:r>
                      <a:r>
                        <a:rPr sz="1800" spc="-5" dirty="0">
                          <a:latin typeface="Carlito"/>
                          <a:cs typeface="Carlito"/>
                        </a:rPr>
                        <a:t> </a:t>
                      </a:r>
                      <a:r>
                        <a:rPr sz="1800" dirty="0">
                          <a:latin typeface="Carlito"/>
                          <a:cs typeface="Carlito"/>
                        </a:rPr>
                        <a:t>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635" algn="ctr">
                        <a:lnSpc>
                          <a:spcPct val="100000"/>
                        </a:lnSpc>
                        <a:spcBef>
                          <a:spcPts val="245"/>
                        </a:spcBef>
                      </a:pPr>
                      <a:r>
                        <a:rPr sz="1800" spc="-5" dirty="0">
                          <a:latin typeface="Carlito"/>
                          <a:cs typeface="Carlito"/>
                        </a:rPr>
                        <a:t>Assignment</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400456">
                <a:tc>
                  <a:txBody>
                    <a:bodyPr/>
                    <a:lstStyle/>
                    <a:p>
                      <a:pPr marL="151130">
                        <a:lnSpc>
                          <a:spcPct val="100000"/>
                        </a:lnSpc>
                        <a:spcBef>
                          <a:spcPts val="385"/>
                        </a:spcBef>
                      </a:pPr>
                      <a:r>
                        <a:rPr sz="1800" spc="-5" dirty="0">
                          <a:latin typeface="Carlito"/>
                          <a:cs typeface="Carlito"/>
                        </a:rPr>
                        <a:t>(1.5,</a:t>
                      </a:r>
                      <a:r>
                        <a:rPr sz="1800" spc="-25" dirty="0">
                          <a:latin typeface="Carlito"/>
                          <a:cs typeface="Carlito"/>
                        </a:rPr>
                        <a:t> </a:t>
                      </a:r>
                      <a:r>
                        <a:rPr sz="1800" dirty="0">
                          <a:latin typeface="Carlito"/>
                          <a:cs typeface="Carlito"/>
                        </a:rPr>
                        <a:t>2.0)</a:t>
                      </a:r>
                    </a:p>
                  </a:txBody>
                  <a:tcPr marL="0" marR="0" marT="48895" marB="0">
                    <a:lnL w="1905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85"/>
                        </a:spcBef>
                      </a:pPr>
                      <a:r>
                        <a:rPr sz="1800" dirty="0">
                          <a:latin typeface="Carlito"/>
                          <a:cs typeface="Carlito"/>
                        </a:rPr>
                        <a:t>1.12</a:t>
                      </a:r>
                      <a:endParaRPr sz="1800">
                        <a:latin typeface="Carlito"/>
                        <a:cs typeface="Carlito"/>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85"/>
                        </a:spcBef>
                      </a:pPr>
                      <a:r>
                        <a:rPr sz="1800" dirty="0">
                          <a:latin typeface="Carlito"/>
                          <a:cs typeface="Carlito"/>
                        </a:rPr>
                        <a:t>2.5</a:t>
                      </a:r>
                      <a:endParaRPr sz="1800">
                        <a:latin typeface="Carlito"/>
                        <a:cs typeface="Carlito"/>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85"/>
                        </a:spcBef>
                      </a:pPr>
                      <a:r>
                        <a:rPr sz="1800" spc="-5" dirty="0">
                          <a:latin typeface="Carlito"/>
                          <a:cs typeface="Carlito"/>
                        </a:rPr>
                        <a:t>k1</a:t>
                      </a:r>
                      <a:endParaRPr sz="1800" dirty="0">
                        <a:latin typeface="Carlito"/>
                        <a:cs typeface="Carlito"/>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graphicFrame>
        <p:nvGraphicFramePr>
          <p:cNvPr id="10" name="object 10"/>
          <p:cNvGraphicFramePr>
            <a:graphicFrameLocks noGrp="1"/>
          </p:cNvGraphicFramePr>
          <p:nvPr/>
        </p:nvGraphicFramePr>
        <p:xfrm>
          <a:off x="7218426" y="700531"/>
          <a:ext cx="1864995" cy="1706876"/>
        </p:xfrm>
        <a:graphic>
          <a:graphicData uri="http://schemas.openxmlformats.org/drawingml/2006/table">
            <a:tbl>
              <a:tblPr firstRow="1" bandRow="1">
                <a:tableStyleId>{2D5ABB26-0587-4C30-8999-92F81FD0307C}</a:tableStyleId>
              </a:tblPr>
              <a:tblGrid>
                <a:gridCol w="621665">
                  <a:extLst>
                    <a:ext uri="{9D8B030D-6E8A-4147-A177-3AD203B41FA5}">
                      <a16:colId xmlns:a16="http://schemas.microsoft.com/office/drawing/2014/main" val="20000"/>
                    </a:ext>
                  </a:extLst>
                </a:gridCol>
                <a:gridCol w="621665">
                  <a:extLst>
                    <a:ext uri="{9D8B030D-6E8A-4147-A177-3AD203B41FA5}">
                      <a16:colId xmlns:a16="http://schemas.microsoft.com/office/drawing/2014/main" val="20001"/>
                    </a:ext>
                  </a:extLst>
                </a:gridCol>
                <a:gridCol w="621665">
                  <a:extLst>
                    <a:ext uri="{9D8B030D-6E8A-4147-A177-3AD203B41FA5}">
                      <a16:colId xmlns:a16="http://schemas.microsoft.com/office/drawing/2014/main" val="20002"/>
                    </a:ext>
                  </a:extLst>
                </a:gridCol>
              </a:tblGrid>
              <a:tr h="213359">
                <a:tc>
                  <a:txBody>
                    <a:bodyPr/>
                    <a:lstStyle/>
                    <a:p>
                      <a:pPr marL="1905" algn="ctr">
                        <a:lnSpc>
                          <a:spcPct val="100000"/>
                        </a:lnSpc>
                        <a:spcBef>
                          <a:spcPts val="305"/>
                        </a:spcBef>
                      </a:pPr>
                      <a:r>
                        <a:rPr sz="800" b="1" dirty="0">
                          <a:solidFill>
                            <a:srgbClr val="FFFFFF"/>
                          </a:solidFill>
                          <a:latin typeface="Carlito"/>
                          <a:cs typeface="Carlito"/>
                        </a:rPr>
                        <a:t>Individual</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270" algn="ctr">
                        <a:lnSpc>
                          <a:spcPct val="100000"/>
                        </a:lnSpc>
                        <a:spcBef>
                          <a:spcPts val="305"/>
                        </a:spcBef>
                      </a:pPr>
                      <a:r>
                        <a:rPr sz="800" b="1" spc="-5" dirty="0">
                          <a:solidFill>
                            <a:srgbClr val="FFFFFF"/>
                          </a:solidFill>
                          <a:latin typeface="Carlito"/>
                          <a:cs typeface="Carlito"/>
                        </a:rPr>
                        <a:t>Variable</a:t>
                      </a:r>
                      <a:r>
                        <a:rPr sz="800" b="1" spc="-15" dirty="0">
                          <a:solidFill>
                            <a:srgbClr val="FFFFFF"/>
                          </a:solidFill>
                          <a:latin typeface="Carlito"/>
                          <a:cs typeface="Carlito"/>
                        </a:rPr>
                        <a:t> </a:t>
                      </a:r>
                      <a:r>
                        <a:rPr sz="800" b="1" dirty="0">
                          <a:solidFill>
                            <a:srgbClr val="FFFFFF"/>
                          </a:solidFill>
                          <a:latin typeface="Carlito"/>
                          <a:cs typeface="Carlito"/>
                        </a:rPr>
                        <a:t>1</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905" algn="ctr">
                        <a:lnSpc>
                          <a:spcPct val="100000"/>
                        </a:lnSpc>
                        <a:spcBef>
                          <a:spcPts val="305"/>
                        </a:spcBef>
                      </a:pPr>
                      <a:r>
                        <a:rPr sz="800" b="1" spc="-5" dirty="0">
                          <a:solidFill>
                            <a:srgbClr val="FFFFFF"/>
                          </a:solidFill>
                          <a:latin typeface="Carlito"/>
                          <a:cs typeface="Carlito"/>
                        </a:rPr>
                        <a:t>Variable</a:t>
                      </a:r>
                      <a:r>
                        <a:rPr sz="800" b="1" spc="-15" dirty="0">
                          <a:solidFill>
                            <a:srgbClr val="FFFFFF"/>
                          </a:solidFill>
                          <a:latin typeface="Carlito"/>
                          <a:cs typeface="Carlito"/>
                        </a:rPr>
                        <a:t> </a:t>
                      </a:r>
                      <a:r>
                        <a:rPr sz="800" b="1" dirty="0">
                          <a:solidFill>
                            <a:srgbClr val="FFFFFF"/>
                          </a:solidFill>
                          <a:latin typeface="Carlito"/>
                          <a:cs typeface="Carlito"/>
                        </a:rPr>
                        <a:t>2</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220980">
                <a:tc>
                  <a:txBody>
                    <a:bodyPr/>
                    <a:lstStyle/>
                    <a:p>
                      <a:pPr marL="2540" algn="ctr">
                        <a:lnSpc>
                          <a:spcPct val="100000"/>
                        </a:lnSpc>
                        <a:spcBef>
                          <a:spcPts val="305"/>
                        </a:spcBef>
                      </a:pPr>
                      <a:r>
                        <a:rPr sz="800" dirty="0">
                          <a:latin typeface="Carlito"/>
                          <a:cs typeface="Carlito"/>
                        </a:rPr>
                        <a:t>1</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28575">
                      <a:solidFill>
                        <a:srgbClr val="C0504D"/>
                      </a:solidFill>
                      <a:prstDash val="solid"/>
                    </a:lnB>
                    <a:solidFill>
                      <a:srgbClr val="D0D7E8"/>
                    </a:solidFill>
                  </a:tcPr>
                </a:tc>
                <a:tc>
                  <a:txBody>
                    <a:bodyPr/>
                    <a:lstStyle/>
                    <a:p>
                      <a:pPr marL="1270" algn="ctr">
                        <a:lnSpc>
                          <a:spcPct val="100000"/>
                        </a:lnSpc>
                        <a:spcBef>
                          <a:spcPts val="305"/>
                        </a:spcBef>
                      </a:pPr>
                      <a:r>
                        <a:rPr sz="800" dirty="0">
                          <a:latin typeface="Carlito"/>
                          <a:cs typeface="Carlito"/>
                        </a:rPr>
                        <a:t>1.0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28575">
                      <a:solidFill>
                        <a:srgbClr val="C0504D"/>
                      </a:solidFill>
                      <a:prstDash val="solid"/>
                    </a:lnB>
                    <a:solidFill>
                      <a:srgbClr val="D0D7E8"/>
                    </a:solidFill>
                  </a:tcPr>
                </a:tc>
                <a:tc>
                  <a:txBody>
                    <a:bodyPr/>
                    <a:lstStyle/>
                    <a:p>
                      <a:pPr marL="1905" algn="ctr">
                        <a:lnSpc>
                          <a:spcPct val="100000"/>
                        </a:lnSpc>
                        <a:spcBef>
                          <a:spcPts val="305"/>
                        </a:spcBef>
                      </a:pPr>
                      <a:r>
                        <a:rPr sz="800" dirty="0">
                          <a:latin typeface="Carlito"/>
                          <a:cs typeface="Carlito"/>
                        </a:rPr>
                        <a:t>1.0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28575">
                      <a:solidFill>
                        <a:srgbClr val="C0504D"/>
                      </a:solidFill>
                      <a:prstDash val="solid"/>
                    </a:lnB>
                    <a:solidFill>
                      <a:srgbClr val="D0D7E8"/>
                    </a:solidFill>
                  </a:tcPr>
                </a:tc>
                <a:extLst>
                  <a:ext uri="{0D108BD9-81ED-4DB2-BD59-A6C34878D82A}">
                    <a16:rowId xmlns:a16="http://schemas.microsoft.com/office/drawing/2014/main" val="10001"/>
                  </a:ext>
                </a:extLst>
              </a:tr>
              <a:tr h="193801">
                <a:tc>
                  <a:txBody>
                    <a:bodyPr/>
                    <a:lstStyle/>
                    <a:p>
                      <a:pPr marL="2540" algn="ctr">
                        <a:lnSpc>
                          <a:spcPct val="100000"/>
                        </a:lnSpc>
                        <a:spcBef>
                          <a:spcPts val="245"/>
                        </a:spcBef>
                      </a:pPr>
                      <a:r>
                        <a:rPr sz="800" dirty="0">
                          <a:latin typeface="Carlito"/>
                          <a:cs typeface="Carlito"/>
                        </a:rPr>
                        <a:t>2</a:t>
                      </a:r>
                      <a:endParaRPr sz="800">
                        <a:latin typeface="Carlito"/>
                        <a:cs typeface="Carlito"/>
                      </a:endParaRPr>
                    </a:p>
                  </a:txBody>
                  <a:tcPr marL="0" marR="0" marT="31115" marB="0">
                    <a:lnL w="28575">
                      <a:solidFill>
                        <a:srgbClr val="C0504D"/>
                      </a:solidFill>
                      <a:prstDash val="solid"/>
                    </a:lnL>
                    <a:lnR w="12700">
                      <a:solidFill>
                        <a:srgbClr val="FFFFFF"/>
                      </a:solidFill>
                      <a:prstDash val="solid"/>
                    </a:lnR>
                    <a:lnT w="28575">
                      <a:solidFill>
                        <a:srgbClr val="C0504D"/>
                      </a:solidFill>
                      <a:prstDash val="solid"/>
                    </a:lnT>
                    <a:lnB w="38100">
                      <a:solidFill>
                        <a:srgbClr val="C0504D"/>
                      </a:solidFill>
                      <a:prstDash val="solid"/>
                    </a:lnB>
                    <a:solidFill>
                      <a:srgbClr val="E9ECF4"/>
                    </a:solidFill>
                  </a:tcPr>
                </a:tc>
                <a:tc>
                  <a:txBody>
                    <a:bodyPr/>
                    <a:lstStyle/>
                    <a:p>
                      <a:pPr marL="1270" algn="ctr">
                        <a:lnSpc>
                          <a:spcPct val="100000"/>
                        </a:lnSpc>
                        <a:spcBef>
                          <a:spcPts val="245"/>
                        </a:spcBef>
                      </a:pPr>
                      <a:r>
                        <a:rPr sz="800" dirty="0">
                          <a:latin typeface="Carlito"/>
                          <a:cs typeface="Carlito"/>
                        </a:rPr>
                        <a:t>1.5</a:t>
                      </a:r>
                      <a:endParaRPr sz="800">
                        <a:latin typeface="Carlito"/>
                        <a:cs typeface="Carlito"/>
                      </a:endParaRPr>
                    </a:p>
                  </a:txBody>
                  <a:tcPr marL="0" marR="0" marT="31115" marB="0">
                    <a:lnL w="12700">
                      <a:solidFill>
                        <a:srgbClr val="FFFFFF"/>
                      </a:solidFill>
                      <a:prstDash val="solid"/>
                    </a:lnL>
                    <a:lnR w="12700">
                      <a:solidFill>
                        <a:srgbClr val="FFFFFF"/>
                      </a:solidFill>
                      <a:prstDash val="solid"/>
                    </a:lnR>
                    <a:lnT w="28575">
                      <a:solidFill>
                        <a:srgbClr val="C0504D"/>
                      </a:solidFill>
                      <a:prstDash val="solid"/>
                    </a:lnT>
                    <a:lnB w="38100">
                      <a:solidFill>
                        <a:srgbClr val="C0504D"/>
                      </a:solidFill>
                      <a:prstDash val="solid"/>
                    </a:lnB>
                    <a:solidFill>
                      <a:srgbClr val="E9ECF4"/>
                    </a:solidFill>
                  </a:tcPr>
                </a:tc>
                <a:tc>
                  <a:txBody>
                    <a:bodyPr/>
                    <a:lstStyle/>
                    <a:p>
                      <a:pPr marL="1905" algn="ctr">
                        <a:lnSpc>
                          <a:spcPct val="100000"/>
                        </a:lnSpc>
                        <a:spcBef>
                          <a:spcPts val="245"/>
                        </a:spcBef>
                      </a:pPr>
                      <a:r>
                        <a:rPr sz="800" dirty="0">
                          <a:latin typeface="Carlito"/>
                          <a:cs typeface="Carlito"/>
                        </a:rPr>
                        <a:t>2.0</a:t>
                      </a:r>
                      <a:endParaRPr sz="800">
                        <a:latin typeface="Carlito"/>
                        <a:cs typeface="Carlito"/>
                      </a:endParaRPr>
                    </a:p>
                  </a:txBody>
                  <a:tcPr marL="0" marR="0" marT="31115" marB="0">
                    <a:lnL w="12700">
                      <a:solidFill>
                        <a:srgbClr val="FFFFFF"/>
                      </a:solidFill>
                      <a:prstDash val="solid"/>
                    </a:lnL>
                    <a:lnR w="28575">
                      <a:solidFill>
                        <a:srgbClr val="C0504D"/>
                      </a:solidFill>
                      <a:prstDash val="solid"/>
                    </a:lnR>
                    <a:lnT w="28575">
                      <a:solidFill>
                        <a:srgbClr val="C0504D"/>
                      </a:solidFill>
                      <a:prstDash val="solid"/>
                    </a:lnT>
                    <a:lnB w="38100">
                      <a:solidFill>
                        <a:srgbClr val="C0504D"/>
                      </a:solidFill>
                      <a:prstDash val="solid"/>
                    </a:lnB>
                    <a:solidFill>
                      <a:srgbClr val="E9ECF4"/>
                    </a:solidFill>
                  </a:tcPr>
                </a:tc>
                <a:extLst>
                  <a:ext uri="{0D108BD9-81ED-4DB2-BD59-A6C34878D82A}">
                    <a16:rowId xmlns:a16="http://schemas.microsoft.com/office/drawing/2014/main" val="10002"/>
                  </a:ext>
                </a:extLst>
              </a:tr>
              <a:tr h="225298">
                <a:tc>
                  <a:txBody>
                    <a:bodyPr/>
                    <a:lstStyle/>
                    <a:p>
                      <a:pPr marL="2540" algn="ctr">
                        <a:lnSpc>
                          <a:spcPct val="100000"/>
                        </a:lnSpc>
                        <a:spcBef>
                          <a:spcPts val="400"/>
                        </a:spcBef>
                      </a:pPr>
                      <a:r>
                        <a:rPr sz="800" dirty="0">
                          <a:latin typeface="Carlito"/>
                          <a:cs typeface="Carlito"/>
                        </a:rPr>
                        <a:t>3</a:t>
                      </a:r>
                      <a:endParaRPr sz="800">
                        <a:latin typeface="Carlito"/>
                        <a:cs typeface="Carlito"/>
                      </a:endParaRPr>
                    </a:p>
                  </a:txBody>
                  <a:tcPr marL="0" marR="0" marT="50800" marB="0">
                    <a:lnL w="12700">
                      <a:solidFill>
                        <a:srgbClr val="FFFFFF"/>
                      </a:solidFill>
                      <a:prstDash val="solid"/>
                    </a:lnL>
                    <a:lnR w="12700">
                      <a:solidFill>
                        <a:srgbClr val="FFFFFF"/>
                      </a:solidFill>
                      <a:prstDash val="solid"/>
                    </a:lnR>
                    <a:lnT w="38100">
                      <a:solidFill>
                        <a:srgbClr val="C0504D"/>
                      </a:solidFill>
                      <a:prstDash val="solid"/>
                    </a:lnT>
                    <a:lnB w="12700">
                      <a:solidFill>
                        <a:srgbClr val="FFFFFF"/>
                      </a:solidFill>
                      <a:prstDash val="solid"/>
                    </a:lnB>
                    <a:solidFill>
                      <a:srgbClr val="D0D7E8"/>
                    </a:solidFill>
                  </a:tcPr>
                </a:tc>
                <a:tc>
                  <a:txBody>
                    <a:bodyPr/>
                    <a:lstStyle/>
                    <a:p>
                      <a:pPr marL="1270" algn="ctr">
                        <a:lnSpc>
                          <a:spcPct val="100000"/>
                        </a:lnSpc>
                        <a:spcBef>
                          <a:spcPts val="400"/>
                        </a:spcBef>
                      </a:pPr>
                      <a:r>
                        <a:rPr sz="800" dirty="0">
                          <a:latin typeface="Carlito"/>
                          <a:cs typeface="Carlito"/>
                        </a:rPr>
                        <a:t>3.0</a:t>
                      </a:r>
                      <a:endParaRPr sz="800">
                        <a:latin typeface="Carlito"/>
                        <a:cs typeface="Carlito"/>
                      </a:endParaRPr>
                    </a:p>
                  </a:txBody>
                  <a:tcPr marL="0" marR="0" marT="50800" marB="0">
                    <a:lnL w="12700">
                      <a:solidFill>
                        <a:srgbClr val="FFFFFF"/>
                      </a:solidFill>
                      <a:prstDash val="solid"/>
                    </a:lnL>
                    <a:lnR w="12700">
                      <a:solidFill>
                        <a:srgbClr val="FFFFFF"/>
                      </a:solidFill>
                      <a:prstDash val="solid"/>
                    </a:lnR>
                    <a:lnT w="38100">
                      <a:solidFill>
                        <a:srgbClr val="C0504D"/>
                      </a:solidFill>
                      <a:prstDash val="solid"/>
                    </a:lnT>
                    <a:lnB w="12700">
                      <a:solidFill>
                        <a:srgbClr val="FFFFFF"/>
                      </a:solidFill>
                      <a:prstDash val="solid"/>
                    </a:lnB>
                    <a:solidFill>
                      <a:srgbClr val="D0D7E8"/>
                    </a:solidFill>
                  </a:tcPr>
                </a:tc>
                <a:tc>
                  <a:txBody>
                    <a:bodyPr/>
                    <a:lstStyle/>
                    <a:p>
                      <a:pPr marL="1905" algn="ctr">
                        <a:lnSpc>
                          <a:spcPct val="100000"/>
                        </a:lnSpc>
                        <a:spcBef>
                          <a:spcPts val="400"/>
                        </a:spcBef>
                      </a:pPr>
                      <a:r>
                        <a:rPr sz="800" dirty="0">
                          <a:latin typeface="Carlito"/>
                          <a:cs typeface="Carlito"/>
                        </a:rPr>
                        <a:t>4.0</a:t>
                      </a:r>
                      <a:endParaRPr sz="800">
                        <a:latin typeface="Carlito"/>
                        <a:cs typeface="Carlito"/>
                      </a:endParaRPr>
                    </a:p>
                  </a:txBody>
                  <a:tcPr marL="0" marR="0" marT="50800" marB="0">
                    <a:lnL w="12700">
                      <a:solidFill>
                        <a:srgbClr val="FFFFFF"/>
                      </a:solidFill>
                      <a:prstDash val="solid"/>
                    </a:lnL>
                    <a:lnR w="12700">
                      <a:solidFill>
                        <a:srgbClr val="FFFFFF"/>
                      </a:solidFill>
                      <a:prstDash val="solid"/>
                    </a:lnR>
                    <a:lnT w="38100">
                      <a:solidFill>
                        <a:srgbClr val="C0504D"/>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213360">
                <a:tc>
                  <a:txBody>
                    <a:bodyPr/>
                    <a:lstStyle/>
                    <a:p>
                      <a:pPr marL="2540" algn="ctr">
                        <a:lnSpc>
                          <a:spcPct val="100000"/>
                        </a:lnSpc>
                        <a:spcBef>
                          <a:spcPts val="305"/>
                        </a:spcBef>
                      </a:pPr>
                      <a:r>
                        <a:rPr sz="800" dirty="0">
                          <a:latin typeface="Carlito"/>
                          <a:cs typeface="Carlito"/>
                        </a:rPr>
                        <a:t>4</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05"/>
                        </a:spcBef>
                      </a:pPr>
                      <a:r>
                        <a:rPr sz="800" dirty="0">
                          <a:latin typeface="Carlito"/>
                          <a:cs typeface="Carlito"/>
                        </a:rPr>
                        <a:t>5.0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305"/>
                        </a:spcBef>
                      </a:pPr>
                      <a:r>
                        <a:rPr sz="800" dirty="0">
                          <a:latin typeface="Carlito"/>
                          <a:cs typeface="Carlito"/>
                        </a:rPr>
                        <a:t>7.0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213359">
                <a:tc>
                  <a:txBody>
                    <a:bodyPr/>
                    <a:lstStyle/>
                    <a:p>
                      <a:pPr marL="2540" algn="ctr">
                        <a:lnSpc>
                          <a:spcPct val="100000"/>
                        </a:lnSpc>
                        <a:spcBef>
                          <a:spcPts val="305"/>
                        </a:spcBef>
                      </a:pPr>
                      <a:r>
                        <a:rPr sz="800" dirty="0">
                          <a:latin typeface="Carlito"/>
                          <a:cs typeface="Carlito"/>
                        </a:rPr>
                        <a:t>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305"/>
                        </a:spcBef>
                      </a:pPr>
                      <a:r>
                        <a:rPr sz="800" dirty="0">
                          <a:latin typeface="Carlito"/>
                          <a:cs typeface="Carlito"/>
                        </a:rPr>
                        <a:t>3.5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305"/>
                        </a:spcBef>
                      </a:pPr>
                      <a:r>
                        <a:rPr sz="800" dirty="0">
                          <a:latin typeface="Carlito"/>
                          <a:cs typeface="Carlito"/>
                        </a:rPr>
                        <a:t>5.0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r h="213359">
                <a:tc>
                  <a:txBody>
                    <a:bodyPr/>
                    <a:lstStyle/>
                    <a:p>
                      <a:pPr marL="2540" algn="ctr">
                        <a:lnSpc>
                          <a:spcPct val="100000"/>
                        </a:lnSpc>
                        <a:spcBef>
                          <a:spcPts val="305"/>
                        </a:spcBef>
                      </a:pPr>
                      <a:r>
                        <a:rPr sz="800" dirty="0">
                          <a:latin typeface="Carlito"/>
                          <a:cs typeface="Carlito"/>
                        </a:rPr>
                        <a:t>6</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05"/>
                        </a:spcBef>
                      </a:pPr>
                      <a:r>
                        <a:rPr sz="800" dirty="0">
                          <a:latin typeface="Carlito"/>
                          <a:cs typeface="Carlito"/>
                        </a:rPr>
                        <a:t>4.5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305"/>
                        </a:spcBef>
                      </a:pPr>
                      <a:r>
                        <a:rPr sz="800" dirty="0">
                          <a:latin typeface="Carlito"/>
                          <a:cs typeface="Carlito"/>
                        </a:rPr>
                        <a:t>5.0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6"/>
                  </a:ext>
                </a:extLst>
              </a:tr>
              <a:tr h="213360">
                <a:tc>
                  <a:txBody>
                    <a:bodyPr/>
                    <a:lstStyle/>
                    <a:p>
                      <a:pPr marL="2540" algn="ctr">
                        <a:lnSpc>
                          <a:spcPct val="100000"/>
                        </a:lnSpc>
                        <a:spcBef>
                          <a:spcPts val="305"/>
                        </a:spcBef>
                      </a:pPr>
                      <a:r>
                        <a:rPr sz="800" dirty="0">
                          <a:latin typeface="Carlito"/>
                          <a:cs typeface="Carlito"/>
                        </a:rPr>
                        <a:t>7</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305"/>
                        </a:spcBef>
                      </a:pPr>
                      <a:r>
                        <a:rPr sz="800" dirty="0">
                          <a:latin typeface="Carlito"/>
                          <a:cs typeface="Carlito"/>
                        </a:rPr>
                        <a:t>3.5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305"/>
                        </a:spcBef>
                      </a:pPr>
                      <a:r>
                        <a:rPr sz="800" dirty="0">
                          <a:latin typeface="Carlito"/>
                          <a:cs typeface="Carlito"/>
                        </a:rPr>
                        <a:t>4.5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7"/>
                  </a:ext>
                </a:extLst>
              </a:tr>
            </a:tbl>
          </a:graphicData>
        </a:graphic>
      </p:graphicFrame>
      <p:sp>
        <p:nvSpPr>
          <p:cNvPr id="11" name="object 11"/>
          <p:cNvSpPr/>
          <p:nvPr/>
        </p:nvSpPr>
        <p:spPr>
          <a:xfrm>
            <a:off x="7360666" y="1386586"/>
            <a:ext cx="1534382" cy="220979"/>
          </a:xfrm>
          <a:prstGeom prst="rect">
            <a:avLst/>
          </a:prstGeom>
          <a:blipFill>
            <a:blip r:embed="rId2" cstate="print"/>
            <a:stretch>
              <a:fillRect/>
            </a:stretch>
          </a:blipFill>
        </p:spPr>
        <p:txBody>
          <a:bodyPr wrap="square" lIns="0" tIns="0" rIns="0" bIns="0" rtlCol="0"/>
          <a:lstStyle/>
          <a:p>
            <a:endParaRPr/>
          </a:p>
        </p:txBody>
      </p:sp>
      <p:sp>
        <p:nvSpPr>
          <p:cNvPr id="12" name="object 12"/>
          <p:cNvSpPr/>
          <p:nvPr/>
        </p:nvSpPr>
        <p:spPr>
          <a:xfrm>
            <a:off x="7389114" y="760476"/>
            <a:ext cx="1518920" cy="405130"/>
          </a:xfrm>
          <a:custGeom>
            <a:avLst/>
            <a:gdLst/>
            <a:ahLst/>
            <a:cxnLst/>
            <a:rect l="l" t="t" r="r" b="b"/>
            <a:pathLst>
              <a:path w="1518920" h="405130">
                <a:moveTo>
                  <a:pt x="1490217" y="403859"/>
                </a:moveTo>
                <a:lnTo>
                  <a:pt x="1450466" y="403859"/>
                </a:lnTo>
                <a:lnTo>
                  <a:pt x="1458467" y="405129"/>
                </a:lnTo>
                <a:lnTo>
                  <a:pt x="1489455" y="405129"/>
                </a:lnTo>
                <a:lnTo>
                  <a:pt x="1490217" y="403859"/>
                </a:lnTo>
                <a:close/>
              </a:path>
              <a:path w="1518920" h="405130">
                <a:moveTo>
                  <a:pt x="1220596" y="360679"/>
                </a:moveTo>
                <a:lnTo>
                  <a:pt x="1118742" y="360679"/>
                </a:lnTo>
                <a:lnTo>
                  <a:pt x="1144269" y="363219"/>
                </a:lnTo>
                <a:lnTo>
                  <a:pt x="1157858" y="364489"/>
                </a:lnTo>
                <a:lnTo>
                  <a:pt x="1170051" y="367029"/>
                </a:lnTo>
                <a:lnTo>
                  <a:pt x="1181480" y="368300"/>
                </a:lnTo>
                <a:lnTo>
                  <a:pt x="1194434" y="369569"/>
                </a:lnTo>
                <a:lnTo>
                  <a:pt x="1206627" y="370839"/>
                </a:lnTo>
                <a:lnTo>
                  <a:pt x="1218818" y="373379"/>
                </a:lnTo>
                <a:lnTo>
                  <a:pt x="1241805" y="375919"/>
                </a:lnTo>
                <a:lnTo>
                  <a:pt x="1254378" y="378459"/>
                </a:lnTo>
                <a:lnTo>
                  <a:pt x="1265554" y="379729"/>
                </a:lnTo>
                <a:lnTo>
                  <a:pt x="1304797" y="386079"/>
                </a:lnTo>
                <a:lnTo>
                  <a:pt x="1317752" y="387350"/>
                </a:lnTo>
                <a:lnTo>
                  <a:pt x="1343659" y="391159"/>
                </a:lnTo>
                <a:lnTo>
                  <a:pt x="1367789" y="394969"/>
                </a:lnTo>
                <a:lnTo>
                  <a:pt x="1379601" y="396239"/>
                </a:lnTo>
                <a:lnTo>
                  <a:pt x="1389760" y="397509"/>
                </a:lnTo>
                <a:lnTo>
                  <a:pt x="1408302" y="400050"/>
                </a:lnTo>
                <a:lnTo>
                  <a:pt x="1417701" y="400050"/>
                </a:lnTo>
                <a:lnTo>
                  <a:pt x="1426844" y="401319"/>
                </a:lnTo>
                <a:lnTo>
                  <a:pt x="1434845" y="402589"/>
                </a:lnTo>
                <a:lnTo>
                  <a:pt x="1441703" y="402589"/>
                </a:lnTo>
                <a:lnTo>
                  <a:pt x="1450339" y="403859"/>
                </a:lnTo>
                <a:lnTo>
                  <a:pt x="1494662" y="403859"/>
                </a:lnTo>
                <a:lnTo>
                  <a:pt x="1495678" y="402589"/>
                </a:lnTo>
                <a:lnTo>
                  <a:pt x="1498853" y="401319"/>
                </a:lnTo>
                <a:lnTo>
                  <a:pt x="1499869" y="401319"/>
                </a:lnTo>
                <a:lnTo>
                  <a:pt x="1502028" y="400050"/>
                </a:lnTo>
                <a:lnTo>
                  <a:pt x="1503044" y="398779"/>
                </a:lnTo>
                <a:lnTo>
                  <a:pt x="1505711" y="396239"/>
                </a:lnTo>
                <a:lnTo>
                  <a:pt x="1506346" y="396239"/>
                </a:lnTo>
                <a:lnTo>
                  <a:pt x="1508378" y="393700"/>
                </a:lnTo>
                <a:lnTo>
                  <a:pt x="1509204" y="392429"/>
                </a:lnTo>
                <a:lnTo>
                  <a:pt x="1459864" y="392429"/>
                </a:lnTo>
                <a:lnTo>
                  <a:pt x="1451736" y="391159"/>
                </a:lnTo>
                <a:lnTo>
                  <a:pt x="1443227" y="389889"/>
                </a:lnTo>
                <a:lnTo>
                  <a:pt x="1435988" y="389889"/>
                </a:lnTo>
                <a:lnTo>
                  <a:pt x="1427987" y="388619"/>
                </a:lnTo>
                <a:lnTo>
                  <a:pt x="1418970" y="387350"/>
                </a:lnTo>
                <a:lnTo>
                  <a:pt x="1409572" y="387350"/>
                </a:lnTo>
                <a:lnTo>
                  <a:pt x="1391157" y="384809"/>
                </a:lnTo>
                <a:lnTo>
                  <a:pt x="1381125" y="383539"/>
                </a:lnTo>
                <a:lnTo>
                  <a:pt x="1369313" y="382269"/>
                </a:lnTo>
                <a:lnTo>
                  <a:pt x="1357883" y="381000"/>
                </a:lnTo>
                <a:lnTo>
                  <a:pt x="1345310" y="378459"/>
                </a:lnTo>
                <a:lnTo>
                  <a:pt x="1319529" y="375919"/>
                </a:lnTo>
                <a:lnTo>
                  <a:pt x="1306702" y="373379"/>
                </a:lnTo>
                <a:lnTo>
                  <a:pt x="1293367" y="372109"/>
                </a:lnTo>
                <a:lnTo>
                  <a:pt x="1267459" y="367029"/>
                </a:lnTo>
                <a:lnTo>
                  <a:pt x="1256283" y="365759"/>
                </a:lnTo>
                <a:lnTo>
                  <a:pt x="1243710" y="364489"/>
                </a:lnTo>
                <a:lnTo>
                  <a:pt x="1232407" y="361950"/>
                </a:lnTo>
                <a:lnTo>
                  <a:pt x="1220596" y="360679"/>
                </a:lnTo>
                <a:close/>
              </a:path>
              <a:path w="1518920" h="405130">
                <a:moveTo>
                  <a:pt x="1493011" y="388619"/>
                </a:moveTo>
                <a:lnTo>
                  <a:pt x="1489836" y="391159"/>
                </a:lnTo>
                <a:lnTo>
                  <a:pt x="1487296" y="391159"/>
                </a:lnTo>
                <a:lnTo>
                  <a:pt x="1481962" y="392429"/>
                </a:lnTo>
                <a:lnTo>
                  <a:pt x="1509204" y="392429"/>
                </a:lnTo>
                <a:lnTo>
                  <a:pt x="1510855" y="389889"/>
                </a:lnTo>
                <a:lnTo>
                  <a:pt x="1491995" y="389889"/>
                </a:lnTo>
                <a:lnTo>
                  <a:pt x="1493011" y="388619"/>
                </a:lnTo>
                <a:close/>
              </a:path>
              <a:path w="1518920" h="405130">
                <a:moveTo>
                  <a:pt x="1490852" y="389889"/>
                </a:moveTo>
                <a:lnTo>
                  <a:pt x="1486407" y="391159"/>
                </a:lnTo>
                <a:lnTo>
                  <a:pt x="1489836" y="391159"/>
                </a:lnTo>
                <a:lnTo>
                  <a:pt x="1490852" y="389889"/>
                </a:lnTo>
                <a:close/>
              </a:path>
              <a:path w="1518920" h="405130">
                <a:moveTo>
                  <a:pt x="1513585" y="384809"/>
                </a:moveTo>
                <a:lnTo>
                  <a:pt x="1497202" y="384809"/>
                </a:lnTo>
                <a:lnTo>
                  <a:pt x="1495297" y="386079"/>
                </a:lnTo>
                <a:lnTo>
                  <a:pt x="1495932" y="386079"/>
                </a:lnTo>
                <a:lnTo>
                  <a:pt x="1493392" y="388619"/>
                </a:lnTo>
                <a:lnTo>
                  <a:pt x="1494154" y="388619"/>
                </a:lnTo>
                <a:lnTo>
                  <a:pt x="1491995" y="389889"/>
                </a:lnTo>
                <a:lnTo>
                  <a:pt x="1510855" y="389889"/>
                </a:lnTo>
                <a:lnTo>
                  <a:pt x="1511680" y="388619"/>
                </a:lnTo>
                <a:lnTo>
                  <a:pt x="1513585" y="384809"/>
                </a:lnTo>
                <a:close/>
              </a:path>
              <a:path w="1518920" h="405130">
                <a:moveTo>
                  <a:pt x="1498853" y="381000"/>
                </a:moveTo>
                <a:lnTo>
                  <a:pt x="1496821" y="384809"/>
                </a:lnTo>
                <a:lnTo>
                  <a:pt x="1513839" y="384809"/>
                </a:lnTo>
                <a:lnTo>
                  <a:pt x="1514601" y="382269"/>
                </a:lnTo>
                <a:lnTo>
                  <a:pt x="1498472" y="382269"/>
                </a:lnTo>
                <a:lnTo>
                  <a:pt x="1498853" y="381000"/>
                </a:lnTo>
                <a:close/>
              </a:path>
              <a:path w="1518920" h="405130">
                <a:moveTo>
                  <a:pt x="1500173" y="378625"/>
                </a:moveTo>
                <a:lnTo>
                  <a:pt x="1498472" y="382269"/>
                </a:lnTo>
                <a:lnTo>
                  <a:pt x="1514601" y="382269"/>
                </a:lnTo>
                <a:lnTo>
                  <a:pt x="1515363" y="379729"/>
                </a:lnTo>
                <a:lnTo>
                  <a:pt x="1499869" y="379729"/>
                </a:lnTo>
                <a:lnTo>
                  <a:pt x="1500173" y="378625"/>
                </a:lnTo>
                <a:close/>
              </a:path>
              <a:path w="1518920" h="405130">
                <a:moveTo>
                  <a:pt x="1500251" y="378459"/>
                </a:moveTo>
                <a:lnTo>
                  <a:pt x="1500173" y="378625"/>
                </a:lnTo>
                <a:lnTo>
                  <a:pt x="1499869" y="379729"/>
                </a:lnTo>
                <a:lnTo>
                  <a:pt x="1500251" y="378459"/>
                </a:lnTo>
                <a:close/>
              </a:path>
              <a:path w="1518920" h="405130">
                <a:moveTo>
                  <a:pt x="1515935" y="378459"/>
                </a:moveTo>
                <a:lnTo>
                  <a:pt x="1500251" y="378459"/>
                </a:lnTo>
                <a:lnTo>
                  <a:pt x="1499869" y="379729"/>
                </a:lnTo>
                <a:lnTo>
                  <a:pt x="1515617" y="379729"/>
                </a:lnTo>
                <a:lnTo>
                  <a:pt x="1515935" y="378459"/>
                </a:lnTo>
                <a:close/>
              </a:path>
              <a:path w="1518920" h="405130">
                <a:moveTo>
                  <a:pt x="1501266" y="374650"/>
                </a:moveTo>
                <a:lnTo>
                  <a:pt x="1500173" y="378625"/>
                </a:lnTo>
                <a:lnTo>
                  <a:pt x="1500251" y="378459"/>
                </a:lnTo>
                <a:lnTo>
                  <a:pt x="1515935" y="378459"/>
                </a:lnTo>
                <a:lnTo>
                  <a:pt x="1516570" y="375919"/>
                </a:lnTo>
                <a:lnTo>
                  <a:pt x="1501139" y="375919"/>
                </a:lnTo>
                <a:lnTo>
                  <a:pt x="1501266" y="374650"/>
                </a:lnTo>
                <a:close/>
              </a:path>
              <a:path w="1518920" h="405130">
                <a:moveTo>
                  <a:pt x="661034" y="374650"/>
                </a:moveTo>
                <a:lnTo>
                  <a:pt x="449579" y="374650"/>
                </a:lnTo>
                <a:lnTo>
                  <a:pt x="493267" y="375919"/>
                </a:lnTo>
                <a:lnTo>
                  <a:pt x="593597" y="375919"/>
                </a:lnTo>
                <a:lnTo>
                  <a:pt x="661034" y="374650"/>
                </a:lnTo>
                <a:close/>
              </a:path>
              <a:path w="1518920" h="405130">
                <a:moveTo>
                  <a:pt x="1510156" y="205739"/>
                </a:moveTo>
                <a:lnTo>
                  <a:pt x="1492503" y="205739"/>
                </a:lnTo>
                <a:lnTo>
                  <a:pt x="1494281" y="208279"/>
                </a:lnTo>
                <a:lnTo>
                  <a:pt x="1494027" y="208279"/>
                </a:lnTo>
                <a:lnTo>
                  <a:pt x="1495552" y="212089"/>
                </a:lnTo>
                <a:lnTo>
                  <a:pt x="1497076" y="215900"/>
                </a:lnTo>
                <a:lnTo>
                  <a:pt x="1498472" y="220979"/>
                </a:lnTo>
                <a:lnTo>
                  <a:pt x="1499869" y="227329"/>
                </a:lnTo>
                <a:lnTo>
                  <a:pt x="1501139" y="234950"/>
                </a:lnTo>
                <a:lnTo>
                  <a:pt x="1502028" y="243839"/>
                </a:lnTo>
                <a:lnTo>
                  <a:pt x="1502790" y="256539"/>
                </a:lnTo>
                <a:lnTo>
                  <a:pt x="1502756" y="260350"/>
                </a:lnTo>
                <a:lnTo>
                  <a:pt x="1502875" y="271779"/>
                </a:lnTo>
                <a:lnTo>
                  <a:pt x="1502663" y="284479"/>
                </a:lnTo>
                <a:lnTo>
                  <a:pt x="1501938" y="309879"/>
                </a:lnTo>
                <a:lnTo>
                  <a:pt x="1501902" y="322579"/>
                </a:lnTo>
                <a:lnTo>
                  <a:pt x="1502409" y="332739"/>
                </a:lnTo>
                <a:lnTo>
                  <a:pt x="1503171" y="342900"/>
                </a:lnTo>
                <a:lnTo>
                  <a:pt x="1503153" y="345439"/>
                </a:lnTo>
                <a:lnTo>
                  <a:pt x="1503262" y="347979"/>
                </a:lnTo>
                <a:lnTo>
                  <a:pt x="1503349" y="360679"/>
                </a:lnTo>
                <a:lnTo>
                  <a:pt x="1503044" y="365759"/>
                </a:lnTo>
                <a:lnTo>
                  <a:pt x="1502155" y="370839"/>
                </a:lnTo>
                <a:lnTo>
                  <a:pt x="1501139" y="375919"/>
                </a:lnTo>
                <a:lnTo>
                  <a:pt x="1516570" y="375919"/>
                </a:lnTo>
                <a:lnTo>
                  <a:pt x="1516887" y="374650"/>
                </a:lnTo>
                <a:lnTo>
                  <a:pt x="1518030" y="367029"/>
                </a:lnTo>
                <a:lnTo>
                  <a:pt x="1518538" y="360679"/>
                </a:lnTo>
                <a:lnTo>
                  <a:pt x="1518411" y="342900"/>
                </a:lnTo>
                <a:lnTo>
                  <a:pt x="1517847" y="332739"/>
                </a:lnTo>
                <a:lnTo>
                  <a:pt x="1517212" y="322579"/>
                </a:lnTo>
                <a:lnTo>
                  <a:pt x="1517176" y="311150"/>
                </a:lnTo>
                <a:lnTo>
                  <a:pt x="1517522" y="298450"/>
                </a:lnTo>
                <a:lnTo>
                  <a:pt x="1518030" y="284479"/>
                </a:lnTo>
                <a:lnTo>
                  <a:pt x="1518284" y="269239"/>
                </a:lnTo>
                <a:lnTo>
                  <a:pt x="1518030" y="255269"/>
                </a:lnTo>
                <a:lnTo>
                  <a:pt x="1517395" y="242569"/>
                </a:lnTo>
                <a:lnTo>
                  <a:pt x="1516506" y="232409"/>
                </a:lnTo>
                <a:lnTo>
                  <a:pt x="1515236" y="224789"/>
                </a:lnTo>
                <a:lnTo>
                  <a:pt x="1515109" y="223519"/>
                </a:lnTo>
                <a:lnTo>
                  <a:pt x="1513585" y="217169"/>
                </a:lnTo>
                <a:lnTo>
                  <a:pt x="1511934" y="210819"/>
                </a:lnTo>
                <a:lnTo>
                  <a:pt x="1510156" y="205739"/>
                </a:lnTo>
                <a:close/>
              </a:path>
              <a:path w="1518920" h="405130">
                <a:moveTo>
                  <a:pt x="724915" y="373379"/>
                </a:moveTo>
                <a:lnTo>
                  <a:pt x="422275" y="373379"/>
                </a:lnTo>
                <a:lnTo>
                  <a:pt x="434847" y="374650"/>
                </a:lnTo>
                <a:lnTo>
                  <a:pt x="712977" y="374650"/>
                </a:lnTo>
                <a:lnTo>
                  <a:pt x="724915" y="373379"/>
                </a:lnTo>
                <a:close/>
              </a:path>
              <a:path w="1518920" h="405130">
                <a:moveTo>
                  <a:pt x="111125" y="372109"/>
                </a:moveTo>
                <a:lnTo>
                  <a:pt x="71754" y="372109"/>
                </a:lnTo>
                <a:lnTo>
                  <a:pt x="75691" y="373379"/>
                </a:lnTo>
                <a:lnTo>
                  <a:pt x="102996" y="373379"/>
                </a:lnTo>
                <a:lnTo>
                  <a:pt x="111125" y="372109"/>
                </a:lnTo>
                <a:close/>
              </a:path>
              <a:path w="1518920" h="405130">
                <a:moveTo>
                  <a:pt x="774700" y="370839"/>
                </a:moveTo>
                <a:lnTo>
                  <a:pt x="350519" y="370839"/>
                </a:lnTo>
                <a:lnTo>
                  <a:pt x="364489" y="372109"/>
                </a:lnTo>
                <a:lnTo>
                  <a:pt x="393700" y="373379"/>
                </a:lnTo>
                <a:lnTo>
                  <a:pt x="750569" y="373379"/>
                </a:lnTo>
                <a:lnTo>
                  <a:pt x="774700" y="370839"/>
                </a:lnTo>
                <a:close/>
              </a:path>
              <a:path w="1518920" h="405130">
                <a:moveTo>
                  <a:pt x="851788" y="365759"/>
                </a:moveTo>
                <a:lnTo>
                  <a:pt x="54990" y="365759"/>
                </a:lnTo>
                <a:lnTo>
                  <a:pt x="57657" y="367029"/>
                </a:lnTo>
                <a:lnTo>
                  <a:pt x="58038" y="368300"/>
                </a:lnTo>
                <a:lnTo>
                  <a:pt x="65912" y="370839"/>
                </a:lnTo>
                <a:lnTo>
                  <a:pt x="71374" y="372109"/>
                </a:lnTo>
                <a:lnTo>
                  <a:pt x="111251" y="372109"/>
                </a:lnTo>
                <a:lnTo>
                  <a:pt x="129031" y="369569"/>
                </a:lnTo>
                <a:lnTo>
                  <a:pt x="138556" y="369569"/>
                </a:lnTo>
                <a:lnTo>
                  <a:pt x="148462" y="368300"/>
                </a:lnTo>
                <a:lnTo>
                  <a:pt x="148081" y="368300"/>
                </a:lnTo>
                <a:lnTo>
                  <a:pt x="156844" y="367029"/>
                </a:lnTo>
                <a:lnTo>
                  <a:pt x="838834" y="367029"/>
                </a:lnTo>
                <a:lnTo>
                  <a:pt x="851788" y="365759"/>
                </a:lnTo>
                <a:close/>
              </a:path>
              <a:path w="1518920" h="405130">
                <a:moveTo>
                  <a:pt x="800353" y="369569"/>
                </a:moveTo>
                <a:lnTo>
                  <a:pt x="309879" y="369569"/>
                </a:lnTo>
                <a:lnTo>
                  <a:pt x="323214" y="370839"/>
                </a:lnTo>
                <a:lnTo>
                  <a:pt x="787653" y="370839"/>
                </a:lnTo>
                <a:lnTo>
                  <a:pt x="800353" y="369569"/>
                </a:lnTo>
                <a:close/>
              </a:path>
              <a:path w="1518920" h="405130">
                <a:moveTo>
                  <a:pt x="838834" y="367029"/>
                </a:moveTo>
                <a:lnTo>
                  <a:pt x="202564" y="367029"/>
                </a:lnTo>
                <a:lnTo>
                  <a:pt x="228853" y="368300"/>
                </a:lnTo>
                <a:lnTo>
                  <a:pt x="255142" y="368300"/>
                </a:lnTo>
                <a:lnTo>
                  <a:pt x="282575" y="369569"/>
                </a:lnTo>
                <a:lnTo>
                  <a:pt x="812545" y="369569"/>
                </a:lnTo>
                <a:lnTo>
                  <a:pt x="838834" y="367029"/>
                </a:lnTo>
                <a:close/>
              </a:path>
              <a:path w="1518920" h="405130">
                <a:moveTo>
                  <a:pt x="73278" y="360679"/>
                </a:moveTo>
                <a:lnTo>
                  <a:pt x="47370" y="360679"/>
                </a:lnTo>
                <a:lnTo>
                  <a:pt x="49275" y="361950"/>
                </a:lnTo>
                <a:lnTo>
                  <a:pt x="49656" y="363219"/>
                </a:lnTo>
                <a:lnTo>
                  <a:pt x="51815" y="364489"/>
                </a:lnTo>
                <a:lnTo>
                  <a:pt x="52324" y="364489"/>
                </a:lnTo>
                <a:lnTo>
                  <a:pt x="54609" y="365759"/>
                </a:lnTo>
                <a:lnTo>
                  <a:pt x="865124" y="365759"/>
                </a:lnTo>
                <a:lnTo>
                  <a:pt x="890651" y="363219"/>
                </a:lnTo>
                <a:lnTo>
                  <a:pt x="493394" y="363219"/>
                </a:lnTo>
                <a:lnTo>
                  <a:pt x="449960" y="361950"/>
                </a:lnTo>
                <a:lnTo>
                  <a:pt x="77215" y="361950"/>
                </a:lnTo>
                <a:lnTo>
                  <a:pt x="73278" y="360679"/>
                </a:lnTo>
                <a:close/>
              </a:path>
              <a:path w="1518920" h="405130">
                <a:moveTo>
                  <a:pt x="965580" y="358139"/>
                </a:moveTo>
                <a:lnTo>
                  <a:pt x="786891" y="358139"/>
                </a:lnTo>
                <a:lnTo>
                  <a:pt x="774064" y="359409"/>
                </a:lnTo>
                <a:lnTo>
                  <a:pt x="749934" y="360679"/>
                </a:lnTo>
                <a:lnTo>
                  <a:pt x="737869" y="360679"/>
                </a:lnTo>
                <a:lnTo>
                  <a:pt x="724534" y="361950"/>
                </a:lnTo>
                <a:lnTo>
                  <a:pt x="712724" y="361950"/>
                </a:lnTo>
                <a:lnTo>
                  <a:pt x="660780" y="363219"/>
                </a:lnTo>
                <a:lnTo>
                  <a:pt x="890651" y="363219"/>
                </a:lnTo>
                <a:lnTo>
                  <a:pt x="916558" y="361950"/>
                </a:lnTo>
                <a:lnTo>
                  <a:pt x="941069" y="359409"/>
                </a:lnTo>
                <a:lnTo>
                  <a:pt x="953388" y="359409"/>
                </a:lnTo>
                <a:lnTo>
                  <a:pt x="965580" y="358139"/>
                </a:lnTo>
                <a:close/>
              </a:path>
              <a:path w="1518920" h="405130">
                <a:moveTo>
                  <a:pt x="296163" y="356869"/>
                </a:moveTo>
                <a:lnTo>
                  <a:pt x="137286" y="356869"/>
                </a:lnTo>
                <a:lnTo>
                  <a:pt x="127507" y="358139"/>
                </a:lnTo>
                <a:lnTo>
                  <a:pt x="109854" y="360679"/>
                </a:lnTo>
                <a:lnTo>
                  <a:pt x="101980" y="360679"/>
                </a:lnTo>
                <a:lnTo>
                  <a:pt x="93979" y="361950"/>
                </a:lnTo>
                <a:lnTo>
                  <a:pt x="407796" y="361950"/>
                </a:lnTo>
                <a:lnTo>
                  <a:pt x="394080" y="360679"/>
                </a:lnTo>
                <a:lnTo>
                  <a:pt x="350900" y="359409"/>
                </a:lnTo>
                <a:lnTo>
                  <a:pt x="336930" y="359409"/>
                </a:lnTo>
                <a:lnTo>
                  <a:pt x="323595" y="358139"/>
                </a:lnTo>
                <a:lnTo>
                  <a:pt x="310260" y="358139"/>
                </a:lnTo>
                <a:lnTo>
                  <a:pt x="296163" y="356869"/>
                </a:lnTo>
                <a:close/>
              </a:path>
              <a:path w="1518920" h="405130">
                <a:moveTo>
                  <a:pt x="62102" y="358139"/>
                </a:moveTo>
                <a:lnTo>
                  <a:pt x="45338" y="358139"/>
                </a:lnTo>
                <a:lnTo>
                  <a:pt x="46989" y="360679"/>
                </a:lnTo>
                <a:lnTo>
                  <a:pt x="69214" y="360679"/>
                </a:lnTo>
                <a:lnTo>
                  <a:pt x="65658" y="359409"/>
                </a:lnTo>
                <a:lnTo>
                  <a:pt x="66166" y="359409"/>
                </a:lnTo>
                <a:lnTo>
                  <a:pt x="62102" y="358139"/>
                </a:lnTo>
                <a:close/>
              </a:path>
              <a:path w="1518920" h="405130">
                <a:moveTo>
                  <a:pt x="1195958" y="356869"/>
                </a:moveTo>
                <a:lnTo>
                  <a:pt x="1064386" y="356869"/>
                </a:lnTo>
                <a:lnTo>
                  <a:pt x="1078483" y="358139"/>
                </a:lnTo>
                <a:lnTo>
                  <a:pt x="1091691" y="359409"/>
                </a:lnTo>
                <a:lnTo>
                  <a:pt x="1104772" y="359409"/>
                </a:lnTo>
                <a:lnTo>
                  <a:pt x="1118869" y="360679"/>
                </a:lnTo>
                <a:lnTo>
                  <a:pt x="1220469" y="360679"/>
                </a:lnTo>
                <a:lnTo>
                  <a:pt x="1195958" y="356869"/>
                </a:lnTo>
                <a:close/>
              </a:path>
              <a:path w="1518920" h="405130">
                <a:moveTo>
                  <a:pt x="53593" y="350519"/>
                </a:moveTo>
                <a:lnTo>
                  <a:pt x="53975" y="351789"/>
                </a:lnTo>
                <a:lnTo>
                  <a:pt x="41275" y="351789"/>
                </a:lnTo>
                <a:lnTo>
                  <a:pt x="42925" y="354329"/>
                </a:lnTo>
                <a:lnTo>
                  <a:pt x="43306" y="355600"/>
                </a:lnTo>
                <a:lnTo>
                  <a:pt x="44957" y="358139"/>
                </a:lnTo>
                <a:lnTo>
                  <a:pt x="62610" y="358139"/>
                </a:lnTo>
                <a:lnTo>
                  <a:pt x="59943" y="356869"/>
                </a:lnTo>
                <a:lnTo>
                  <a:pt x="60451" y="356869"/>
                </a:lnTo>
                <a:lnTo>
                  <a:pt x="58165" y="355600"/>
                </a:lnTo>
                <a:lnTo>
                  <a:pt x="58546" y="355600"/>
                </a:lnTo>
                <a:lnTo>
                  <a:pt x="56387" y="354329"/>
                </a:lnTo>
                <a:lnTo>
                  <a:pt x="56895" y="354329"/>
                </a:lnTo>
                <a:lnTo>
                  <a:pt x="54990" y="353059"/>
                </a:lnTo>
                <a:lnTo>
                  <a:pt x="55244" y="353059"/>
                </a:lnTo>
                <a:lnTo>
                  <a:pt x="53593" y="350519"/>
                </a:lnTo>
                <a:close/>
              </a:path>
              <a:path w="1518920" h="405130">
                <a:moveTo>
                  <a:pt x="1079118" y="345439"/>
                </a:moveTo>
                <a:lnTo>
                  <a:pt x="976249" y="345439"/>
                </a:lnTo>
                <a:lnTo>
                  <a:pt x="964945" y="346709"/>
                </a:lnTo>
                <a:lnTo>
                  <a:pt x="915796" y="349250"/>
                </a:lnTo>
                <a:lnTo>
                  <a:pt x="889761" y="351789"/>
                </a:lnTo>
                <a:lnTo>
                  <a:pt x="876426" y="351789"/>
                </a:lnTo>
                <a:lnTo>
                  <a:pt x="850900" y="354329"/>
                </a:lnTo>
                <a:lnTo>
                  <a:pt x="837945" y="354329"/>
                </a:lnTo>
                <a:lnTo>
                  <a:pt x="799464" y="358139"/>
                </a:lnTo>
                <a:lnTo>
                  <a:pt x="989583" y="358139"/>
                </a:lnTo>
                <a:lnTo>
                  <a:pt x="1001013" y="356869"/>
                </a:lnTo>
                <a:lnTo>
                  <a:pt x="1195958" y="356869"/>
                </a:lnTo>
                <a:lnTo>
                  <a:pt x="1183004" y="355600"/>
                </a:lnTo>
                <a:lnTo>
                  <a:pt x="1159255" y="353059"/>
                </a:lnTo>
                <a:lnTo>
                  <a:pt x="1145539" y="351789"/>
                </a:lnTo>
                <a:lnTo>
                  <a:pt x="1079118" y="345439"/>
                </a:lnTo>
                <a:close/>
              </a:path>
              <a:path w="1518920" h="405130">
                <a:moveTo>
                  <a:pt x="215645" y="355600"/>
                </a:moveTo>
                <a:lnTo>
                  <a:pt x="147319" y="355600"/>
                </a:lnTo>
                <a:lnTo>
                  <a:pt x="137413" y="356869"/>
                </a:lnTo>
                <a:lnTo>
                  <a:pt x="268731" y="356869"/>
                </a:lnTo>
                <a:lnTo>
                  <a:pt x="215645" y="355600"/>
                </a:lnTo>
                <a:close/>
              </a:path>
              <a:path w="1518920" h="405130">
                <a:moveTo>
                  <a:pt x="49529" y="344169"/>
                </a:moveTo>
                <a:lnTo>
                  <a:pt x="37972" y="344169"/>
                </a:lnTo>
                <a:lnTo>
                  <a:pt x="41020" y="351789"/>
                </a:lnTo>
                <a:lnTo>
                  <a:pt x="53975" y="351789"/>
                </a:lnTo>
                <a:lnTo>
                  <a:pt x="52196" y="349250"/>
                </a:lnTo>
                <a:lnTo>
                  <a:pt x="52450" y="349250"/>
                </a:lnTo>
                <a:lnTo>
                  <a:pt x="50800" y="346709"/>
                </a:lnTo>
                <a:lnTo>
                  <a:pt x="51053" y="346709"/>
                </a:lnTo>
                <a:lnTo>
                  <a:pt x="49529" y="344169"/>
                </a:lnTo>
                <a:close/>
              </a:path>
              <a:path w="1518920" h="405130">
                <a:moveTo>
                  <a:pt x="1038478" y="344169"/>
                </a:moveTo>
                <a:lnTo>
                  <a:pt x="1013332" y="344169"/>
                </a:lnTo>
                <a:lnTo>
                  <a:pt x="1000759" y="345439"/>
                </a:lnTo>
                <a:lnTo>
                  <a:pt x="1052321" y="345439"/>
                </a:lnTo>
                <a:lnTo>
                  <a:pt x="1038478" y="344169"/>
                </a:lnTo>
                <a:close/>
              </a:path>
              <a:path w="1518920" h="405130">
                <a:moveTo>
                  <a:pt x="23749" y="204469"/>
                </a:moveTo>
                <a:lnTo>
                  <a:pt x="12318" y="204469"/>
                </a:lnTo>
                <a:lnTo>
                  <a:pt x="12826" y="205739"/>
                </a:lnTo>
                <a:lnTo>
                  <a:pt x="13588" y="208279"/>
                </a:lnTo>
                <a:lnTo>
                  <a:pt x="14858" y="214629"/>
                </a:lnTo>
                <a:lnTo>
                  <a:pt x="16255" y="220979"/>
                </a:lnTo>
                <a:lnTo>
                  <a:pt x="17525" y="227329"/>
                </a:lnTo>
                <a:lnTo>
                  <a:pt x="18795" y="234950"/>
                </a:lnTo>
                <a:lnTo>
                  <a:pt x="22225" y="261619"/>
                </a:lnTo>
                <a:lnTo>
                  <a:pt x="23367" y="271779"/>
                </a:lnTo>
                <a:lnTo>
                  <a:pt x="24510" y="280669"/>
                </a:lnTo>
                <a:lnTo>
                  <a:pt x="25653" y="288289"/>
                </a:lnTo>
                <a:lnTo>
                  <a:pt x="26924" y="297179"/>
                </a:lnTo>
                <a:lnTo>
                  <a:pt x="28320" y="304800"/>
                </a:lnTo>
                <a:lnTo>
                  <a:pt x="28320" y="306069"/>
                </a:lnTo>
                <a:lnTo>
                  <a:pt x="29717" y="312419"/>
                </a:lnTo>
                <a:lnTo>
                  <a:pt x="31368" y="320039"/>
                </a:lnTo>
                <a:lnTo>
                  <a:pt x="32892" y="326389"/>
                </a:lnTo>
                <a:lnTo>
                  <a:pt x="34797" y="332739"/>
                </a:lnTo>
                <a:lnTo>
                  <a:pt x="36194" y="337819"/>
                </a:lnTo>
                <a:lnTo>
                  <a:pt x="36321" y="339089"/>
                </a:lnTo>
                <a:lnTo>
                  <a:pt x="37845" y="344169"/>
                </a:lnTo>
                <a:lnTo>
                  <a:pt x="49656" y="344169"/>
                </a:lnTo>
                <a:lnTo>
                  <a:pt x="48132" y="340359"/>
                </a:lnTo>
                <a:lnTo>
                  <a:pt x="46735" y="335279"/>
                </a:lnTo>
                <a:lnTo>
                  <a:pt x="45338" y="330200"/>
                </a:lnTo>
                <a:lnTo>
                  <a:pt x="43433" y="322579"/>
                </a:lnTo>
                <a:lnTo>
                  <a:pt x="41909" y="317500"/>
                </a:lnTo>
                <a:lnTo>
                  <a:pt x="40385" y="309879"/>
                </a:lnTo>
                <a:lnTo>
                  <a:pt x="38988" y="303529"/>
                </a:lnTo>
                <a:lnTo>
                  <a:pt x="37718" y="295909"/>
                </a:lnTo>
                <a:lnTo>
                  <a:pt x="36449" y="287019"/>
                </a:lnTo>
                <a:lnTo>
                  <a:pt x="35305" y="279400"/>
                </a:lnTo>
                <a:lnTo>
                  <a:pt x="34305" y="270509"/>
                </a:lnTo>
                <a:lnTo>
                  <a:pt x="34162" y="270509"/>
                </a:lnTo>
                <a:lnTo>
                  <a:pt x="33019" y="260350"/>
                </a:lnTo>
                <a:lnTo>
                  <a:pt x="30733" y="242569"/>
                </a:lnTo>
                <a:lnTo>
                  <a:pt x="24256" y="207009"/>
                </a:lnTo>
                <a:lnTo>
                  <a:pt x="24129" y="205739"/>
                </a:lnTo>
                <a:lnTo>
                  <a:pt x="23749" y="204469"/>
                </a:lnTo>
                <a:close/>
              </a:path>
              <a:path w="1518920" h="405130">
                <a:moveTo>
                  <a:pt x="1517777" y="331469"/>
                </a:moveTo>
                <a:lnTo>
                  <a:pt x="1517777" y="332739"/>
                </a:lnTo>
                <a:lnTo>
                  <a:pt x="1517777" y="331469"/>
                </a:lnTo>
                <a:close/>
              </a:path>
              <a:path w="1518920" h="405130">
                <a:moveTo>
                  <a:pt x="1517176" y="311150"/>
                </a:moveTo>
                <a:lnTo>
                  <a:pt x="1517141" y="312419"/>
                </a:lnTo>
                <a:lnTo>
                  <a:pt x="1517176" y="311150"/>
                </a:lnTo>
                <a:close/>
              </a:path>
              <a:path w="1518920" h="405130">
                <a:moveTo>
                  <a:pt x="34162" y="269239"/>
                </a:moveTo>
                <a:lnTo>
                  <a:pt x="34162" y="270509"/>
                </a:lnTo>
                <a:lnTo>
                  <a:pt x="34305" y="270509"/>
                </a:lnTo>
                <a:lnTo>
                  <a:pt x="34162" y="269239"/>
                </a:lnTo>
                <a:close/>
              </a:path>
              <a:path w="1518920" h="405130">
                <a:moveTo>
                  <a:pt x="1502663" y="255269"/>
                </a:moveTo>
                <a:lnTo>
                  <a:pt x="1502687" y="256539"/>
                </a:lnTo>
                <a:lnTo>
                  <a:pt x="1502663" y="255269"/>
                </a:lnTo>
                <a:close/>
              </a:path>
              <a:path w="1518920" h="405130">
                <a:moveTo>
                  <a:pt x="12434" y="204816"/>
                </a:moveTo>
                <a:lnTo>
                  <a:pt x="12742" y="205739"/>
                </a:lnTo>
                <a:lnTo>
                  <a:pt x="12434" y="204816"/>
                </a:lnTo>
                <a:close/>
              </a:path>
              <a:path w="1518920" h="405130">
                <a:moveTo>
                  <a:pt x="12318" y="204469"/>
                </a:moveTo>
                <a:lnTo>
                  <a:pt x="12434" y="204816"/>
                </a:lnTo>
                <a:lnTo>
                  <a:pt x="12826" y="205739"/>
                </a:lnTo>
                <a:lnTo>
                  <a:pt x="12318" y="204469"/>
                </a:lnTo>
                <a:close/>
              </a:path>
              <a:path w="1518920" h="405130">
                <a:moveTo>
                  <a:pt x="1508802" y="203200"/>
                </a:moveTo>
                <a:lnTo>
                  <a:pt x="1491106" y="203200"/>
                </a:lnTo>
                <a:lnTo>
                  <a:pt x="1492757" y="205739"/>
                </a:lnTo>
                <a:lnTo>
                  <a:pt x="1509902" y="205739"/>
                </a:lnTo>
                <a:lnTo>
                  <a:pt x="1508802" y="203200"/>
                </a:lnTo>
                <a:close/>
              </a:path>
              <a:path w="1518920" h="405130">
                <a:moveTo>
                  <a:pt x="11547" y="202729"/>
                </a:moveTo>
                <a:lnTo>
                  <a:pt x="12434" y="204816"/>
                </a:lnTo>
                <a:lnTo>
                  <a:pt x="12318" y="204469"/>
                </a:lnTo>
                <a:lnTo>
                  <a:pt x="23749" y="204469"/>
                </a:lnTo>
                <a:lnTo>
                  <a:pt x="23368" y="203200"/>
                </a:lnTo>
                <a:lnTo>
                  <a:pt x="12064" y="203200"/>
                </a:lnTo>
                <a:lnTo>
                  <a:pt x="11547" y="202729"/>
                </a:lnTo>
                <a:close/>
              </a:path>
              <a:path w="1518920" h="405130">
                <a:moveTo>
                  <a:pt x="634" y="194310"/>
                </a:moveTo>
                <a:lnTo>
                  <a:pt x="1015" y="198119"/>
                </a:lnTo>
                <a:lnTo>
                  <a:pt x="1269" y="199389"/>
                </a:lnTo>
                <a:lnTo>
                  <a:pt x="1333" y="200659"/>
                </a:lnTo>
                <a:lnTo>
                  <a:pt x="1455" y="201988"/>
                </a:lnTo>
                <a:lnTo>
                  <a:pt x="2666" y="203200"/>
                </a:lnTo>
                <a:lnTo>
                  <a:pt x="6222" y="204469"/>
                </a:lnTo>
                <a:lnTo>
                  <a:pt x="8254" y="204469"/>
                </a:lnTo>
                <a:lnTo>
                  <a:pt x="10971" y="202206"/>
                </a:lnTo>
                <a:lnTo>
                  <a:pt x="9270" y="200659"/>
                </a:lnTo>
                <a:lnTo>
                  <a:pt x="8381" y="200659"/>
                </a:lnTo>
                <a:lnTo>
                  <a:pt x="6730" y="199389"/>
                </a:lnTo>
                <a:lnTo>
                  <a:pt x="4699" y="198119"/>
                </a:lnTo>
                <a:lnTo>
                  <a:pt x="3809" y="198119"/>
                </a:lnTo>
                <a:lnTo>
                  <a:pt x="2793" y="196850"/>
                </a:lnTo>
                <a:lnTo>
                  <a:pt x="2412" y="196850"/>
                </a:lnTo>
                <a:lnTo>
                  <a:pt x="1524" y="195579"/>
                </a:lnTo>
                <a:lnTo>
                  <a:pt x="1269" y="195579"/>
                </a:lnTo>
                <a:lnTo>
                  <a:pt x="634" y="194310"/>
                </a:lnTo>
                <a:close/>
              </a:path>
              <a:path w="1518920" h="405130">
                <a:moveTo>
                  <a:pt x="1507405" y="200659"/>
                </a:moveTo>
                <a:lnTo>
                  <a:pt x="1489328" y="200659"/>
                </a:lnTo>
                <a:lnTo>
                  <a:pt x="1491487" y="204469"/>
                </a:lnTo>
                <a:lnTo>
                  <a:pt x="1491106" y="203200"/>
                </a:lnTo>
                <a:lnTo>
                  <a:pt x="1508802" y="203200"/>
                </a:lnTo>
                <a:lnTo>
                  <a:pt x="1508252" y="201929"/>
                </a:lnTo>
                <a:lnTo>
                  <a:pt x="1507997" y="201929"/>
                </a:lnTo>
                <a:lnTo>
                  <a:pt x="1507405" y="200659"/>
                </a:lnTo>
                <a:close/>
              </a:path>
              <a:path w="1518920" h="405130">
                <a:moveTo>
                  <a:pt x="11336" y="201874"/>
                </a:moveTo>
                <a:lnTo>
                  <a:pt x="11325" y="202206"/>
                </a:lnTo>
                <a:lnTo>
                  <a:pt x="11547" y="202729"/>
                </a:lnTo>
                <a:lnTo>
                  <a:pt x="12064" y="203200"/>
                </a:lnTo>
                <a:lnTo>
                  <a:pt x="11336" y="201874"/>
                </a:lnTo>
                <a:close/>
              </a:path>
              <a:path w="1518920" h="405130">
                <a:moveTo>
                  <a:pt x="19177" y="194310"/>
                </a:moveTo>
                <a:lnTo>
                  <a:pt x="11429" y="194310"/>
                </a:lnTo>
                <a:lnTo>
                  <a:pt x="11556" y="196850"/>
                </a:lnTo>
                <a:lnTo>
                  <a:pt x="11810" y="198119"/>
                </a:lnTo>
                <a:lnTo>
                  <a:pt x="12064" y="200659"/>
                </a:lnTo>
                <a:lnTo>
                  <a:pt x="11336" y="201874"/>
                </a:lnTo>
                <a:lnTo>
                  <a:pt x="12064" y="203200"/>
                </a:lnTo>
                <a:lnTo>
                  <a:pt x="23368" y="203200"/>
                </a:lnTo>
                <a:lnTo>
                  <a:pt x="22605" y="200659"/>
                </a:lnTo>
                <a:lnTo>
                  <a:pt x="20574" y="195579"/>
                </a:lnTo>
                <a:lnTo>
                  <a:pt x="19177" y="194310"/>
                </a:lnTo>
                <a:close/>
              </a:path>
              <a:path w="1518920" h="405130">
                <a:moveTo>
                  <a:pt x="11232" y="201988"/>
                </a:moveTo>
                <a:lnTo>
                  <a:pt x="10971" y="202206"/>
                </a:lnTo>
                <a:lnTo>
                  <a:pt x="11547" y="202729"/>
                </a:lnTo>
                <a:lnTo>
                  <a:pt x="11232" y="201988"/>
                </a:lnTo>
                <a:close/>
              </a:path>
              <a:path w="1518920" h="405130">
                <a:moveTo>
                  <a:pt x="10667" y="200659"/>
                </a:moveTo>
                <a:lnTo>
                  <a:pt x="9270" y="200659"/>
                </a:lnTo>
                <a:lnTo>
                  <a:pt x="10971" y="202206"/>
                </a:lnTo>
                <a:lnTo>
                  <a:pt x="11232" y="201988"/>
                </a:lnTo>
                <a:lnTo>
                  <a:pt x="10667" y="200659"/>
                </a:lnTo>
                <a:close/>
              </a:path>
              <a:path w="1518920" h="405130">
                <a:moveTo>
                  <a:pt x="10667" y="200659"/>
                </a:moveTo>
                <a:lnTo>
                  <a:pt x="11232" y="201988"/>
                </a:lnTo>
                <a:lnTo>
                  <a:pt x="10667" y="200659"/>
                </a:lnTo>
                <a:close/>
              </a:path>
              <a:path w="1518920" h="405130">
                <a:moveTo>
                  <a:pt x="1504950" y="196850"/>
                </a:moveTo>
                <a:lnTo>
                  <a:pt x="1484756" y="196850"/>
                </a:lnTo>
                <a:lnTo>
                  <a:pt x="1487804" y="199389"/>
                </a:lnTo>
                <a:lnTo>
                  <a:pt x="1487169" y="199389"/>
                </a:lnTo>
                <a:lnTo>
                  <a:pt x="1489963" y="201929"/>
                </a:lnTo>
                <a:lnTo>
                  <a:pt x="1489328" y="200659"/>
                </a:lnTo>
                <a:lnTo>
                  <a:pt x="1507405" y="200659"/>
                </a:lnTo>
                <a:lnTo>
                  <a:pt x="1506219" y="198119"/>
                </a:lnTo>
                <a:lnTo>
                  <a:pt x="1505838" y="198119"/>
                </a:lnTo>
                <a:lnTo>
                  <a:pt x="1504950" y="196850"/>
                </a:lnTo>
                <a:close/>
              </a:path>
              <a:path w="1518920" h="405130">
                <a:moveTo>
                  <a:pt x="11493" y="195579"/>
                </a:moveTo>
                <a:lnTo>
                  <a:pt x="1524" y="195579"/>
                </a:lnTo>
                <a:lnTo>
                  <a:pt x="2412" y="196850"/>
                </a:lnTo>
                <a:lnTo>
                  <a:pt x="2793" y="196850"/>
                </a:lnTo>
                <a:lnTo>
                  <a:pt x="3809" y="198119"/>
                </a:lnTo>
                <a:lnTo>
                  <a:pt x="4699" y="198119"/>
                </a:lnTo>
                <a:lnTo>
                  <a:pt x="6603" y="199389"/>
                </a:lnTo>
                <a:lnTo>
                  <a:pt x="8381" y="200659"/>
                </a:lnTo>
                <a:lnTo>
                  <a:pt x="10667" y="200659"/>
                </a:lnTo>
                <a:lnTo>
                  <a:pt x="11336" y="201874"/>
                </a:lnTo>
                <a:lnTo>
                  <a:pt x="12064" y="200659"/>
                </a:lnTo>
                <a:lnTo>
                  <a:pt x="11810" y="198119"/>
                </a:lnTo>
                <a:lnTo>
                  <a:pt x="11556" y="196850"/>
                </a:lnTo>
                <a:lnTo>
                  <a:pt x="11493" y="195579"/>
                </a:lnTo>
                <a:close/>
              </a:path>
              <a:path w="1518920" h="405130">
                <a:moveTo>
                  <a:pt x="1500885" y="190500"/>
                </a:moveTo>
                <a:lnTo>
                  <a:pt x="1472818" y="190500"/>
                </a:lnTo>
                <a:lnTo>
                  <a:pt x="1478660" y="193039"/>
                </a:lnTo>
                <a:lnTo>
                  <a:pt x="1478026" y="193039"/>
                </a:lnTo>
                <a:lnTo>
                  <a:pt x="1482597" y="195579"/>
                </a:lnTo>
                <a:lnTo>
                  <a:pt x="1481962" y="195579"/>
                </a:lnTo>
                <a:lnTo>
                  <a:pt x="1485391" y="198119"/>
                </a:lnTo>
                <a:lnTo>
                  <a:pt x="1484756" y="196850"/>
                </a:lnTo>
                <a:lnTo>
                  <a:pt x="1504950" y="196850"/>
                </a:lnTo>
                <a:lnTo>
                  <a:pt x="1504060" y="195579"/>
                </a:lnTo>
                <a:lnTo>
                  <a:pt x="1503679" y="194310"/>
                </a:lnTo>
                <a:lnTo>
                  <a:pt x="1501393" y="191769"/>
                </a:lnTo>
                <a:lnTo>
                  <a:pt x="1500885" y="190500"/>
                </a:lnTo>
                <a:close/>
              </a:path>
              <a:path w="1518920" h="405130">
                <a:moveTo>
                  <a:pt x="7238" y="186689"/>
                </a:moveTo>
                <a:lnTo>
                  <a:pt x="5079" y="186689"/>
                </a:lnTo>
                <a:lnTo>
                  <a:pt x="2666" y="187959"/>
                </a:lnTo>
                <a:lnTo>
                  <a:pt x="1269" y="189229"/>
                </a:lnTo>
                <a:lnTo>
                  <a:pt x="146" y="191476"/>
                </a:lnTo>
                <a:lnTo>
                  <a:pt x="380" y="193039"/>
                </a:lnTo>
                <a:lnTo>
                  <a:pt x="380" y="193801"/>
                </a:lnTo>
                <a:lnTo>
                  <a:pt x="1269" y="195579"/>
                </a:lnTo>
                <a:lnTo>
                  <a:pt x="11429" y="195579"/>
                </a:lnTo>
                <a:lnTo>
                  <a:pt x="11302" y="191769"/>
                </a:lnTo>
                <a:lnTo>
                  <a:pt x="11049" y="189229"/>
                </a:lnTo>
                <a:lnTo>
                  <a:pt x="10159" y="189229"/>
                </a:lnTo>
                <a:lnTo>
                  <a:pt x="9270" y="187959"/>
                </a:lnTo>
                <a:lnTo>
                  <a:pt x="9525" y="187959"/>
                </a:lnTo>
                <a:lnTo>
                  <a:pt x="7238" y="186689"/>
                </a:lnTo>
                <a:close/>
              </a:path>
              <a:path w="1518920" h="405130">
                <a:moveTo>
                  <a:pt x="12445" y="189229"/>
                </a:moveTo>
                <a:lnTo>
                  <a:pt x="11049" y="189229"/>
                </a:lnTo>
                <a:lnTo>
                  <a:pt x="11302" y="191769"/>
                </a:lnTo>
                <a:lnTo>
                  <a:pt x="11429" y="195579"/>
                </a:lnTo>
                <a:lnTo>
                  <a:pt x="11429" y="194310"/>
                </a:lnTo>
                <a:lnTo>
                  <a:pt x="19177" y="194310"/>
                </a:lnTo>
                <a:lnTo>
                  <a:pt x="16509" y="191769"/>
                </a:lnTo>
                <a:lnTo>
                  <a:pt x="15366" y="191769"/>
                </a:lnTo>
                <a:lnTo>
                  <a:pt x="12826" y="190500"/>
                </a:lnTo>
                <a:lnTo>
                  <a:pt x="12445" y="189229"/>
                </a:lnTo>
                <a:close/>
              </a:path>
              <a:path w="1518920" h="405130">
                <a:moveTo>
                  <a:pt x="11429" y="194310"/>
                </a:moveTo>
                <a:lnTo>
                  <a:pt x="11429" y="195579"/>
                </a:lnTo>
                <a:lnTo>
                  <a:pt x="11429" y="194310"/>
                </a:lnTo>
                <a:close/>
              </a:path>
              <a:path w="1518920" h="405130">
                <a:moveTo>
                  <a:pt x="380" y="193801"/>
                </a:moveTo>
                <a:lnTo>
                  <a:pt x="380" y="194310"/>
                </a:lnTo>
                <a:lnTo>
                  <a:pt x="634" y="194310"/>
                </a:lnTo>
                <a:lnTo>
                  <a:pt x="380" y="193801"/>
                </a:lnTo>
                <a:close/>
              </a:path>
              <a:path w="1518920" h="405130">
                <a:moveTo>
                  <a:pt x="146" y="191476"/>
                </a:moveTo>
                <a:lnTo>
                  <a:pt x="0" y="191769"/>
                </a:lnTo>
                <a:lnTo>
                  <a:pt x="0" y="193039"/>
                </a:lnTo>
                <a:lnTo>
                  <a:pt x="380" y="193801"/>
                </a:lnTo>
                <a:lnTo>
                  <a:pt x="380" y="193039"/>
                </a:lnTo>
                <a:lnTo>
                  <a:pt x="146" y="191476"/>
                </a:lnTo>
                <a:close/>
              </a:path>
              <a:path w="1518920" h="405130">
                <a:moveTo>
                  <a:pt x="1490344" y="182879"/>
                </a:moveTo>
                <a:lnTo>
                  <a:pt x="1428368" y="182879"/>
                </a:lnTo>
                <a:lnTo>
                  <a:pt x="1439036" y="184150"/>
                </a:lnTo>
                <a:lnTo>
                  <a:pt x="1438782" y="184150"/>
                </a:lnTo>
                <a:lnTo>
                  <a:pt x="1448434" y="185419"/>
                </a:lnTo>
                <a:lnTo>
                  <a:pt x="1448053" y="185419"/>
                </a:lnTo>
                <a:lnTo>
                  <a:pt x="1458721" y="186689"/>
                </a:lnTo>
                <a:lnTo>
                  <a:pt x="1458213" y="186689"/>
                </a:lnTo>
                <a:lnTo>
                  <a:pt x="1466977" y="189229"/>
                </a:lnTo>
                <a:lnTo>
                  <a:pt x="1466341" y="189229"/>
                </a:lnTo>
                <a:lnTo>
                  <a:pt x="1473453" y="191769"/>
                </a:lnTo>
                <a:lnTo>
                  <a:pt x="1472818" y="190500"/>
                </a:lnTo>
                <a:lnTo>
                  <a:pt x="1500885" y="190500"/>
                </a:lnTo>
                <a:lnTo>
                  <a:pt x="1498091" y="187959"/>
                </a:lnTo>
                <a:lnTo>
                  <a:pt x="1493774" y="185419"/>
                </a:lnTo>
                <a:lnTo>
                  <a:pt x="1490344" y="182879"/>
                </a:lnTo>
                <a:close/>
              </a:path>
              <a:path w="1518920" h="405130">
                <a:moveTo>
                  <a:pt x="5079" y="186689"/>
                </a:moveTo>
                <a:lnTo>
                  <a:pt x="3809" y="186689"/>
                </a:lnTo>
                <a:lnTo>
                  <a:pt x="1524" y="187959"/>
                </a:lnTo>
                <a:lnTo>
                  <a:pt x="0" y="190500"/>
                </a:lnTo>
                <a:lnTo>
                  <a:pt x="146" y="191476"/>
                </a:lnTo>
                <a:lnTo>
                  <a:pt x="1269" y="189229"/>
                </a:lnTo>
                <a:lnTo>
                  <a:pt x="2666" y="187959"/>
                </a:lnTo>
                <a:lnTo>
                  <a:pt x="5079" y="186689"/>
                </a:lnTo>
                <a:close/>
              </a:path>
              <a:path w="1518920" h="405130">
                <a:moveTo>
                  <a:pt x="9270" y="187959"/>
                </a:moveTo>
                <a:lnTo>
                  <a:pt x="10159" y="189229"/>
                </a:lnTo>
                <a:lnTo>
                  <a:pt x="9270" y="187959"/>
                </a:lnTo>
                <a:close/>
              </a:path>
              <a:path w="1518920" h="405130">
                <a:moveTo>
                  <a:pt x="9525" y="187959"/>
                </a:moveTo>
                <a:lnTo>
                  <a:pt x="9270" y="187959"/>
                </a:lnTo>
                <a:lnTo>
                  <a:pt x="10286" y="189229"/>
                </a:lnTo>
                <a:lnTo>
                  <a:pt x="9642" y="188057"/>
                </a:lnTo>
                <a:close/>
              </a:path>
              <a:path w="1518920" h="405130">
                <a:moveTo>
                  <a:pt x="9642" y="188057"/>
                </a:moveTo>
                <a:lnTo>
                  <a:pt x="10286" y="189229"/>
                </a:lnTo>
                <a:lnTo>
                  <a:pt x="11049" y="189229"/>
                </a:lnTo>
                <a:lnTo>
                  <a:pt x="9642" y="188057"/>
                </a:lnTo>
                <a:close/>
              </a:path>
              <a:path w="1518920" h="405130">
                <a:moveTo>
                  <a:pt x="8889" y="186689"/>
                </a:moveTo>
                <a:lnTo>
                  <a:pt x="7238" y="186689"/>
                </a:lnTo>
                <a:lnTo>
                  <a:pt x="9525" y="187959"/>
                </a:lnTo>
                <a:lnTo>
                  <a:pt x="8889" y="186689"/>
                </a:lnTo>
                <a:close/>
              </a:path>
              <a:path w="1518920" h="405130">
                <a:moveTo>
                  <a:pt x="507872" y="38100"/>
                </a:moveTo>
                <a:lnTo>
                  <a:pt x="431418" y="38100"/>
                </a:lnTo>
                <a:lnTo>
                  <a:pt x="467994" y="44450"/>
                </a:lnTo>
                <a:lnTo>
                  <a:pt x="613536" y="74929"/>
                </a:lnTo>
                <a:lnTo>
                  <a:pt x="648080" y="81279"/>
                </a:lnTo>
                <a:lnTo>
                  <a:pt x="648334" y="81279"/>
                </a:lnTo>
                <a:lnTo>
                  <a:pt x="680592" y="87629"/>
                </a:lnTo>
                <a:lnTo>
                  <a:pt x="718565" y="92709"/>
                </a:lnTo>
                <a:lnTo>
                  <a:pt x="756030" y="99059"/>
                </a:lnTo>
                <a:lnTo>
                  <a:pt x="792860" y="104139"/>
                </a:lnTo>
                <a:lnTo>
                  <a:pt x="827531" y="110489"/>
                </a:lnTo>
                <a:lnTo>
                  <a:pt x="862710" y="115569"/>
                </a:lnTo>
                <a:lnTo>
                  <a:pt x="988694" y="135889"/>
                </a:lnTo>
                <a:lnTo>
                  <a:pt x="1017904" y="139700"/>
                </a:lnTo>
                <a:lnTo>
                  <a:pt x="1047368" y="144779"/>
                </a:lnTo>
                <a:lnTo>
                  <a:pt x="1107058" y="152400"/>
                </a:lnTo>
                <a:lnTo>
                  <a:pt x="1137411" y="156209"/>
                </a:lnTo>
                <a:lnTo>
                  <a:pt x="1194561" y="161289"/>
                </a:lnTo>
                <a:lnTo>
                  <a:pt x="1270127" y="168909"/>
                </a:lnTo>
                <a:lnTo>
                  <a:pt x="1293113" y="170179"/>
                </a:lnTo>
                <a:lnTo>
                  <a:pt x="1313560" y="172719"/>
                </a:lnTo>
                <a:lnTo>
                  <a:pt x="1334769" y="173989"/>
                </a:lnTo>
                <a:lnTo>
                  <a:pt x="1352677" y="175259"/>
                </a:lnTo>
                <a:lnTo>
                  <a:pt x="1368805" y="177800"/>
                </a:lnTo>
                <a:lnTo>
                  <a:pt x="1383791" y="179069"/>
                </a:lnTo>
                <a:lnTo>
                  <a:pt x="1408176" y="181609"/>
                </a:lnTo>
                <a:lnTo>
                  <a:pt x="1418081" y="182879"/>
                </a:lnTo>
                <a:lnTo>
                  <a:pt x="1489709" y="182879"/>
                </a:lnTo>
                <a:lnTo>
                  <a:pt x="1485137" y="180339"/>
                </a:lnTo>
                <a:lnTo>
                  <a:pt x="1484502" y="179069"/>
                </a:lnTo>
                <a:lnTo>
                  <a:pt x="1478533" y="176529"/>
                </a:lnTo>
                <a:lnTo>
                  <a:pt x="1477899" y="176529"/>
                </a:lnTo>
                <a:lnTo>
                  <a:pt x="1470913" y="175259"/>
                </a:lnTo>
                <a:lnTo>
                  <a:pt x="1461007" y="172719"/>
                </a:lnTo>
                <a:lnTo>
                  <a:pt x="1450466" y="170179"/>
                </a:lnTo>
                <a:lnTo>
                  <a:pt x="1440306" y="170179"/>
                </a:lnTo>
                <a:lnTo>
                  <a:pt x="1419352" y="167639"/>
                </a:lnTo>
                <a:lnTo>
                  <a:pt x="1409953" y="167639"/>
                </a:lnTo>
                <a:lnTo>
                  <a:pt x="1398142" y="165100"/>
                </a:lnTo>
                <a:lnTo>
                  <a:pt x="1385442" y="163829"/>
                </a:lnTo>
                <a:lnTo>
                  <a:pt x="1354074" y="161289"/>
                </a:lnTo>
                <a:lnTo>
                  <a:pt x="1336166" y="158750"/>
                </a:lnTo>
                <a:lnTo>
                  <a:pt x="1314830" y="157479"/>
                </a:lnTo>
                <a:lnTo>
                  <a:pt x="1294383" y="154939"/>
                </a:lnTo>
                <a:lnTo>
                  <a:pt x="1271269" y="153669"/>
                </a:lnTo>
                <a:lnTo>
                  <a:pt x="1247520" y="151129"/>
                </a:lnTo>
                <a:lnTo>
                  <a:pt x="1222628" y="149859"/>
                </a:lnTo>
                <a:lnTo>
                  <a:pt x="1167510" y="144779"/>
                </a:lnTo>
                <a:lnTo>
                  <a:pt x="1079500" y="133350"/>
                </a:lnTo>
                <a:lnTo>
                  <a:pt x="1020063" y="125729"/>
                </a:lnTo>
                <a:lnTo>
                  <a:pt x="990980" y="120650"/>
                </a:lnTo>
                <a:lnTo>
                  <a:pt x="929258" y="111759"/>
                </a:lnTo>
                <a:lnTo>
                  <a:pt x="897635" y="106679"/>
                </a:lnTo>
                <a:lnTo>
                  <a:pt x="865124" y="100329"/>
                </a:lnTo>
                <a:lnTo>
                  <a:pt x="795274" y="90169"/>
                </a:lnTo>
                <a:lnTo>
                  <a:pt x="720851" y="77469"/>
                </a:lnTo>
                <a:lnTo>
                  <a:pt x="683005" y="72389"/>
                </a:lnTo>
                <a:lnTo>
                  <a:pt x="650747" y="67309"/>
                </a:lnTo>
                <a:lnTo>
                  <a:pt x="651001" y="67309"/>
                </a:lnTo>
                <a:lnTo>
                  <a:pt x="616457" y="60959"/>
                </a:lnTo>
                <a:lnTo>
                  <a:pt x="507872" y="38100"/>
                </a:lnTo>
                <a:close/>
              </a:path>
              <a:path w="1518920" h="405130">
                <a:moveTo>
                  <a:pt x="326770" y="6350"/>
                </a:moveTo>
                <a:lnTo>
                  <a:pt x="151891" y="6350"/>
                </a:lnTo>
                <a:lnTo>
                  <a:pt x="143890" y="7619"/>
                </a:lnTo>
                <a:lnTo>
                  <a:pt x="137921" y="8889"/>
                </a:lnTo>
                <a:lnTo>
                  <a:pt x="137286" y="10159"/>
                </a:lnTo>
                <a:lnTo>
                  <a:pt x="130936" y="11429"/>
                </a:lnTo>
                <a:lnTo>
                  <a:pt x="129666" y="12700"/>
                </a:lnTo>
                <a:lnTo>
                  <a:pt x="123443" y="15239"/>
                </a:lnTo>
                <a:lnTo>
                  <a:pt x="118999" y="19050"/>
                </a:lnTo>
                <a:lnTo>
                  <a:pt x="113791" y="24129"/>
                </a:lnTo>
                <a:lnTo>
                  <a:pt x="108838" y="29209"/>
                </a:lnTo>
                <a:lnTo>
                  <a:pt x="103758" y="35559"/>
                </a:lnTo>
                <a:lnTo>
                  <a:pt x="103631" y="36829"/>
                </a:lnTo>
                <a:lnTo>
                  <a:pt x="104393" y="38100"/>
                </a:lnTo>
                <a:lnTo>
                  <a:pt x="105028" y="39369"/>
                </a:lnTo>
                <a:lnTo>
                  <a:pt x="108076" y="39369"/>
                </a:lnTo>
                <a:lnTo>
                  <a:pt x="113791" y="38100"/>
                </a:lnTo>
                <a:lnTo>
                  <a:pt x="115061" y="38100"/>
                </a:lnTo>
                <a:lnTo>
                  <a:pt x="121411" y="34289"/>
                </a:lnTo>
                <a:lnTo>
                  <a:pt x="122046" y="34289"/>
                </a:lnTo>
                <a:lnTo>
                  <a:pt x="127380" y="30479"/>
                </a:lnTo>
                <a:lnTo>
                  <a:pt x="132079" y="27939"/>
                </a:lnTo>
                <a:lnTo>
                  <a:pt x="131571" y="27939"/>
                </a:lnTo>
                <a:lnTo>
                  <a:pt x="136778" y="25400"/>
                </a:lnTo>
                <a:lnTo>
                  <a:pt x="138937" y="25400"/>
                </a:lnTo>
                <a:lnTo>
                  <a:pt x="142112" y="24129"/>
                </a:lnTo>
                <a:lnTo>
                  <a:pt x="141477" y="24129"/>
                </a:lnTo>
                <a:lnTo>
                  <a:pt x="147319" y="22859"/>
                </a:lnTo>
                <a:lnTo>
                  <a:pt x="147065" y="22859"/>
                </a:lnTo>
                <a:lnTo>
                  <a:pt x="155066" y="21589"/>
                </a:lnTo>
                <a:lnTo>
                  <a:pt x="154812" y="21589"/>
                </a:lnTo>
                <a:lnTo>
                  <a:pt x="164591" y="19050"/>
                </a:lnTo>
                <a:lnTo>
                  <a:pt x="164337" y="19050"/>
                </a:lnTo>
                <a:lnTo>
                  <a:pt x="176529" y="17779"/>
                </a:lnTo>
                <a:lnTo>
                  <a:pt x="176275" y="17779"/>
                </a:lnTo>
                <a:lnTo>
                  <a:pt x="192531" y="16509"/>
                </a:lnTo>
                <a:lnTo>
                  <a:pt x="192150" y="16509"/>
                </a:lnTo>
                <a:lnTo>
                  <a:pt x="211327" y="15239"/>
                </a:lnTo>
                <a:lnTo>
                  <a:pt x="390220" y="15239"/>
                </a:lnTo>
                <a:lnTo>
                  <a:pt x="361568" y="10159"/>
                </a:lnTo>
                <a:lnTo>
                  <a:pt x="326770" y="6350"/>
                </a:lnTo>
                <a:close/>
              </a:path>
              <a:path w="1518920" h="405130">
                <a:moveTo>
                  <a:pt x="390220" y="15239"/>
                </a:moveTo>
                <a:lnTo>
                  <a:pt x="261111" y="15239"/>
                </a:lnTo>
                <a:lnTo>
                  <a:pt x="291591" y="17779"/>
                </a:lnTo>
                <a:lnTo>
                  <a:pt x="291337" y="17779"/>
                </a:lnTo>
                <a:lnTo>
                  <a:pt x="324992" y="21589"/>
                </a:lnTo>
                <a:lnTo>
                  <a:pt x="324738" y="21589"/>
                </a:lnTo>
                <a:lnTo>
                  <a:pt x="359409" y="25400"/>
                </a:lnTo>
                <a:lnTo>
                  <a:pt x="359155" y="25400"/>
                </a:lnTo>
                <a:lnTo>
                  <a:pt x="394969" y="31750"/>
                </a:lnTo>
                <a:lnTo>
                  <a:pt x="431545" y="38100"/>
                </a:lnTo>
                <a:lnTo>
                  <a:pt x="507745" y="38100"/>
                </a:lnTo>
                <a:lnTo>
                  <a:pt x="434212" y="22859"/>
                </a:lnTo>
                <a:lnTo>
                  <a:pt x="397509" y="16509"/>
                </a:lnTo>
                <a:lnTo>
                  <a:pt x="390220" y="15239"/>
                </a:lnTo>
                <a:close/>
              </a:path>
              <a:path w="1518920" h="405130">
                <a:moveTo>
                  <a:pt x="138937" y="25400"/>
                </a:moveTo>
                <a:lnTo>
                  <a:pt x="136778" y="25400"/>
                </a:lnTo>
                <a:lnTo>
                  <a:pt x="135762" y="26669"/>
                </a:lnTo>
                <a:lnTo>
                  <a:pt x="138937" y="25400"/>
                </a:lnTo>
                <a:close/>
              </a:path>
              <a:path w="1518920" h="405130">
                <a:moveTo>
                  <a:pt x="292988" y="2539"/>
                </a:moveTo>
                <a:lnTo>
                  <a:pt x="174370" y="2539"/>
                </a:lnTo>
                <a:lnTo>
                  <a:pt x="162178" y="3809"/>
                </a:lnTo>
                <a:lnTo>
                  <a:pt x="161925" y="3809"/>
                </a:lnTo>
                <a:lnTo>
                  <a:pt x="152145" y="6350"/>
                </a:lnTo>
                <a:lnTo>
                  <a:pt x="326516" y="6350"/>
                </a:lnTo>
                <a:lnTo>
                  <a:pt x="292988" y="2539"/>
                </a:lnTo>
                <a:close/>
              </a:path>
              <a:path w="1518920" h="405130">
                <a:moveTo>
                  <a:pt x="262127" y="0"/>
                </a:moveTo>
                <a:lnTo>
                  <a:pt x="210438" y="0"/>
                </a:lnTo>
                <a:lnTo>
                  <a:pt x="191261" y="1269"/>
                </a:lnTo>
                <a:lnTo>
                  <a:pt x="190880" y="1269"/>
                </a:lnTo>
                <a:lnTo>
                  <a:pt x="174751" y="2539"/>
                </a:lnTo>
                <a:lnTo>
                  <a:pt x="292607" y="2539"/>
                </a:lnTo>
                <a:lnTo>
                  <a:pt x="262127" y="0"/>
                </a:lnTo>
                <a:close/>
              </a:path>
            </a:pathLst>
          </a:custGeom>
          <a:solidFill>
            <a:srgbClr val="FF0000"/>
          </a:solidFill>
        </p:spPr>
        <p:txBody>
          <a:bodyPr wrap="square" lIns="0" tIns="0" rIns="0" bIns="0" rtlCol="0"/>
          <a:lstStyle/>
          <a:p>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39</a:t>
            </a:fld>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6988" y="4003547"/>
            <a:ext cx="7386955" cy="0"/>
          </a:xfrm>
          <a:custGeom>
            <a:avLst/>
            <a:gdLst/>
            <a:ahLst/>
            <a:cxnLst/>
            <a:rect l="l" t="t" r="r" b="b"/>
            <a:pathLst>
              <a:path w="7386955">
                <a:moveTo>
                  <a:pt x="0" y="0"/>
                </a:moveTo>
                <a:lnTo>
                  <a:pt x="7386828" y="0"/>
                </a:lnTo>
              </a:path>
            </a:pathLst>
          </a:custGeom>
          <a:ln w="9144">
            <a:solidFill>
              <a:srgbClr val="D9D9D9"/>
            </a:solidFill>
          </a:ln>
        </p:spPr>
        <p:txBody>
          <a:bodyPr wrap="square" lIns="0" tIns="0" rIns="0" bIns="0" rtlCol="0"/>
          <a:lstStyle/>
          <a:p>
            <a:endParaRPr/>
          </a:p>
        </p:txBody>
      </p:sp>
      <p:sp>
        <p:nvSpPr>
          <p:cNvPr id="3" name="object 3"/>
          <p:cNvSpPr/>
          <p:nvPr/>
        </p:nvSpPr>
        <p:spPr>
          <a:xfrm>
            <a:off x="1046988" y="3659123"/>
            <a:ext cx="7386955" cy="0"/>
          </a:xfrm>
          <a:custGeom>
            <a:avLst/>
            <a:gdLst/>
            <a:ahLst/>
            <a:cxnLst/>
            <a:rect l="l" t="t" r="r" b="b"/>
            <a:pathLst>
              <a:path w="7386955">
                <a:moveTo>
                  <a:pt x="0" y="0"/>
                </a:moveTo>
                <a:lnTo>
                  <a:pt x="7386828" y="0"/>
                </a:lnTo>
              </a:path>
            </a:pathLst>
          </a:custGeom>
          <a:ln w="9144">
            <a:solidFill>
              <a:srgbClr val="D9D9D9"/>
            </a:solidFill>
          </a:ln>
        </p:spPr>
        <p:txBody>
          <a:bodyPr wrap="square" lIns="0" tIns="0" rIns="0" bIns="0" rtlCol="0"/>
          <a:lstStyle/>
          <a:p>
            <a:endParaRPr/>
          </a:p>
        </p:txBody>
      </p:sp>
      <p:sp>
        <p:nvSpPr>
          <p:cNvPr id="4" name="object 4"/>
          <p:cNvSpPr/>
          <p:nvPr/>
        </p:nvSpPr>
        <p:spPr>
          <a:xfrm>
            <a:off x="1046988" y="3314700"/>
            <a:ext cx="7386955" cy="0"/>
          </a:xfrm>
          <a:custGeom>
            <a:avLst/>
            <a:gdLst/>
            <a:ahLst/>
            <a:cxnLst/>
            <a:rect l="l" t="t" r="r" b="b"/>
            <a:pathLst>
              <a:path w="7386955">
                <a:moveTo>
                  <a:pt x="0" y="0"/>
                </a:moveTo>
                <a:lnTo>
                  <a:pt x="7386828" y="0"/>
                </a:lnTo>
              </a:path>
            </a:pathLst>
          </a:custGeom>
          <a:ln w="9144">
            <a:solidFill>
              <a:srgbClr val="D9D9D9"/>
            </a:solidFill>
          </a:ln>
        </p:spPr>
        <p:txBody>
          <a:bodyPr wrap="square" lIns="0" tIns="0" rIns="0" bIns="0" rtlCol="0"/>
          <a:lstStyle/>
          <a:p>
            <a:endParaRPr/>
          </a:p>
        </p:txBody>
      </p:sp>
      <p:sp>
        <p:nvSpPr>
          <p:cNvPr id="5" name="object 5"/>
          <p:cNvSpPr/>
          <p:nvPr/>
        </p:nvSpPr>
        <p:spPr>
          <a:xfrm>
            <a:off x="1046988" y="2971800"/>
            <a:ext cx="7386955" cy="0"/>
          </a:xfrm>
          <a:custGeom>
            <a:avLst/>
            <a:gdLst/>
            <a:ahLst/>
            <a:cxnLst/>
            <a:rect l="l" t="t" r="r" b="b"/>
            <a:pathLst>
              <a:path w="7386955">
                <a:moveTo>
                  <a:pt x="0" y="0"/>
                </a:moveTo>
                <a:lnTo>
                  <a:pt x="7386828" y="0"/>
                </a:lnTo>
              </a:path>
            </a:pathLst>
          </a:custGeom>
          <a:ln w="9144">
            <a:solidFill>
              <a:srgbClr val="D9D9D9"/>
            </a:solidFill>
          </a:ln>
        </p:spPr>
        <p:txBody>
          <a:bodyPr wrap="square" lIns="0" tIns="0" rIns="0" bIns="0" rtlCol="0"/>
          <a:lstStyle/>
          <a:p>
            <a:endParaRPr/>
          </a:p>
        </p:txBody>
      </p:sp>
      <p:sp>
        <p:nvSpPr>
          <p:cNvPr id="6" name="object 6"/>
          <p:cNvSpPr/>
          <p:nvPr/>
        </p:nvSpPr>
        <p:spPr>
          <a:xfrm>
            <a:off x="1046988" y="2627376"/>
            <a:ext cx="7386955" cy="0"/>
          </a:xfrm>
          <a:custGeom>
            <a:avLst/>
            <a:gdLst/>
            <a:ahLst/>
            <a:cxnLst/>
            <a:rect l="l" t="t" r="r" b="b"/>
            <a:pathLst>
              <a:path w="7386955">
                <a:moveTo>
                  <a:pt x="0" y="0"/>
                </a:moveTo>
                <a:lnTo>
                  <a:pt x="7386828" y="0"/>
                </a:lnTo>
              </a:path>
            </a:pathLst>
          </a:custGeom>
          <a:ln w="9144">
            <a:solidFill>
              <a:srgbClr val="D9D9D9"/>
            </a:solidFill>
          </a:ln>
        </p:spPr>
        <p:txBody>
          <a:bodyPr wrap="square" lIns="0" tIns="0" rIns="0" bIns="0" rtlCol="0"/>
          <a:lstStyle/>
          <a:p>
            <a:endParaRPr/>
          </a:p>
        </p:txBody>
      </p:sp>
      <p:sp>
        <p:nvSpPr>
          <p:cNvPr id="7" name="object 7"/>
          <p:cNvSpPr/>
          <p:nvPr/>
        </p:nvSpPr>
        <p:spPr>
          <a:xfrm>
            <a:off x="1046988" y="2282951"/>
            <a:ext cx="7386955" cy="0"/>
          </a:xfrm>
          <a:custGeom>
            <a:avLst/>
            <a:gdLst/>
            <a:ahLst/>
            <a:cxnLst/>
            <a:rect l="l" t="t" r="r" b="b"/>
            <a:pathLst>
              <a:path w="7386955">
                <a:moveTo>
                  <a:pt x="0" y="0"/>
                </a:moveTo>
                <a:lnTo>
                  <a:pt x="7386828" y="0"/>
                </a:lnTo>
              </a:path>
            </a:pathLst>
          </a:custGeom>
          <a:ln w="9144">
            <a:solidFill>
              <a:srgbClr val="D9D9D9"/>
            </a:solidFill>
          </a:ln>
        </p:spPr>
        <p:txBody>
          <a:bodyPr wrap="square" lIns="0" tIns="0" rIns="0" bIns="0" rtlCol="0"/>
          <a:lstStyle/>
          <a:p>
            <a:endParaRPr/>
          </a:p>
        </p:txBody>
      </p:sp>
      <p:sp>
        <p:nvSpPr>
          <p:cNvPr id="8" name="object 8"/>
          <p:cNvSpPr/>
          <p:nvPr/>
        </p:nvSpPr>
        <p:spPr>
          <a:xfrm>
            <a:off x="1046988" y="1938527"/>
            <a:ext cx="7386955" cy="0"/>
          </a:xfrm>
          <a:custGeom>
            <a:avLst/>
            <a:gdLst/>
            <a:ahLst/>
            <a:cxnLst/>
            <a:rect l="l" t="t" r="r" b="b"/>
            <a:pathLst>
              <a:path w="7386955">
                <a:moveTo>
                  <a:pt x="0" y="0"/>
                </a:moveTo>
                <a:lnTo>
                  <a:pt x="7386828" y="0"/>
                </a:lnTo>
              </a:path>
            </a:pathLst>
          </a:custGeom>
          <a:ln w="9144">
            <a:solidFill>
              <a:srgbClr val="D9D9D9"/>
            </a:solidFill>
          </a:ln>
        </p:spPr>
        <p:txBody>
          <a:bodyPr wrap="square" lIns="0" tIns="0" rIns="0" bIns="0" rtlCol="0"/>
          <a:lstStyle/>
          <a:p>
            <a:endParaRPr/>
          </a:p>
        </p:txBody>
      </p:sp>
      <p:grpSp>
        <p:nvGrpSpPr>
          <p:cNvPr id="9" name="object 9"/>
          <p:cNvGrpSpPr/>
          <p:nvPr/>
        </p:nvGrpSpPr>
        <p:grpSpPr>
          <a:xfrm>
            <a:off x="1042225" y="1590865"/>
            <a:ext cx="7396480" cy="2760345"/>
            <a:chOff x="1042225" y="1590865"/>
            <a:chExt cx="7396480" cy="2760345"/>
          </a:xfrm>
        </p:grpSpPr>
        <p:sp>
          <p:nvSpPr>
            <p:cNvPr id="10" name="object 10"/>
            <p:cNvSpPr/>
            <p:nvPr/>
          </p:nvSpPr>
          <p:spPr>
            <a:xfrm>
              <a:off x="1046988" y="1595627"/>
              <a:ext cx="7386955" cy="2750820"/>
            </a:xfrm>
            <a:custGeom>
              <a:avLst/>
              <a:gdLst/>
              <a:ahLst/>
              <a:cxnLst/>
              <a:rect l="l" t="t" r="r" b="b"/>
              <a:pathLst>
                <a:path w="7386955" h="2750820">
                  <a:moveTo>
                    <a:pt x="0" y="0"/>
                  </a:moveTo>
                  <a:lnTo>
                    <a:pt x="7386828" y="0"/>
                  </a:lnTo>
                </a:path>
                <a:path w="7386955" h="2750820">
                  <a:moveTo>
                    <a:pt x="1229868" y="0"/>
                  </a:moveTo>
                  <a:lnTo>
                    <a:pt x="1229868" y="2750820"/>
                  </a:lnTo>
                </a:path>
                <a:path w="7386955" h="2750820">
                  <a:moveTo>
                    <a:pt x="2461260" y="0"/>
                  </a:moveTo>
                  <a:lnTo>
                    <a:pt x="2461260" y="2750820"/>
                  </a:lnTo>
                </a:path>
                <a:path w="7386955" h="2750820">
                  <a:moveTo>
                    <a:pt x="3692652" y="0"/>
                  </a:moveTo>
                  <a:lnTo>
                    <a:pt x="3692652" y="2750820"/>
                  </a:lnTo>
                </a:path>
                <a:path w="7386955" h="2750820">
                  <a:moveTo>
                    <a:pt x="4924044" y="0"/>
                  </a:moveTo>
                  <a:lnTo>
                    <a:pt x="4924044" y="2750820"/>
                  </a:lnTo>
                </a:path>
                <a:path w="7386955" h="2750820">
                  <a:moveTo>
                    <a:pt x="6155436" y="0"/>
                  </a:moveTo>
                  <a:lnTo>
                    <a:pt x="6155436" y="2750820"/>
                  </a:lnTo>
                </a:path>
                <a:path w="7386955" h="2750820">
                  <a:moveTo>
                    <a:pt x="7386828" y="0"/>
                  </a:moveTo>
                  <a:lnTo>
                    <a:pt x="7386828" y="2750820"/>
                  </a:lnTo>
                </a:path>
              </a:pathLst>
            </a:custGeom>
            <a:ln w="9144">
              <a:solidFill>
                <a:srgbClr val="D9D9D9"/>
              </a:solidFill>
            </a:ln>
          </p:spPr>
          <p:txBody>
            <a:bodyPr wrap="square" lIns="0" tIns="0" rIns="0" bIns="0" rtlCol="0"/>
            <a:lstStyle/>
            <a:p>
              <a:endParaRPr/>
            </a:p>
          </p:txBody>
        </p:sp>
        <p:sp>
          <p:nvSpPr>
            <p:cNvPr id="11" name="object 11"/>
            <p:cNvSpPr/>
            <p:nvPr/>
          </p:nvSpPr>
          <p:spPr>
            <a:xfrm>
              <a:off x="1046988" y="1595627"/>
              <a:ext cx="7386955" cy="2750820"/>
            </a:xfrm>
            <a:custGeom>
              <a:avLst/>
              <a:gdLst/>
              <a:ahLst/>
              <a:cxnLst/>
              <a:rect l="l" t="t" r="r" b="b"/>
              <a:pathLst>
                <a:path w="7386955" h="2750820">
                  <a:moveTo>
                    <a:pt x="0" y="2750820"/>
                  </a:moveTo>
                  <a:lnTo>
                    <a:pt x="0" y="0"/>
                  </a:lnTo>
                </a:path>
                <a:path w="7386955" h="2750820">
                  <a:moveTo>
                    <a:pt x="0" y="2750820"/>
                  </a:moveTo>
                  <a:lnTo>
                    <a:pt x="7386828" y="2750820"/>
                  </a:lnTo>
                </a:path>
              </a:pathLst>
            </a:custGeom>
            <a:ln w="9144">
              <a:solidFill>
                <a:srgbClr val="BEBEBE"/>
              </a:solidFill>
            </a:ln>
          </p:spPr>
          <p:txBody>
            <a:bodyPr wrap="square" lIns="0" tIns="0" rIns="0" bIns="0" rtlCol="0"/>
            <a:lstStyle/>
            <a:p>
              <a:endParaRPr/>
            </a:p>
          </p:txBody>
        </p:sp>
        <p:sp>
          <p:nvSpPr>
            <p:cNvPr id="12" name="object 12"/>
            <p:cNvSpPr/>
            <p:nvPr/>
          </p:nvSpPr>
          <p:spPr>
            <a:xfrm>
              <a:off x="2240280" y="3966210"/>
              <a:ext cx="73152" cy="73152"/>
            </a:xfrm>
            <a:prstGeom prst="rect">
              <a:avLst/>
            </a:prstGeom>
            <a:blipFill>
              <a:blip r:embed="rId2" cstate="print"/>
              <a:stretch>
                <a:fillRect/>
              </a:stretch>
            </a:blipFill>
          </p:spPr>
          <p:txBody>
            <a:bodyPr wrap="square" lIns="0" tIns="0" rIns="0" bIns="0" rtlCol="0"/>
            <a:lstStyle/>
            <a:p>
              <a:endParaRPr/>
            </a:p>
          </p:txBody>
        </p:sp>
        <p:sp>
          <p:nvSpPr>
            <p:cNvPr id="13" name="object 13"/>
            <p:cNvSpPr/>
            <p:nvPr/>
          </p:nvSpPr>
          <p:spPr>
            <a:xfrm>
              <a:off x="2855976" y="3621785"/>
              <a:ext cx="73152" cy="73151"/>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4703064" y="2934461"/>
              <a:ext cx="73152" cy="73152"/>
            </a:xfrm>
            <a:prstGeom prst="rect">
              <a:avLst/>
            </a:prstGeom>
            <a:blipFill>
              <a:blip r:embed="rId3" cstate="print"/>
              <a:stretch>
                <a:fillRect/>
              </a:stretch>
            </a:blipFill>
          </p:spPr>
          <p:txBody>
            <a:bodyPr wrap="square" lIns="0" tIns="0" rIns="0" bIns="0" rtlCol="0"/>
            <a:lstStyle/>
            <a:p>
              <a:endParaRPr/>
            </a:p>
          </p:txBody>
        </p:sp>
        <p:sp>
          <p:nvSpPr>
            <p:cNvPr id="15" name="object 15"/>
            <p:cNvSpPr/>
            <p:nvPr/>
          </p:nvSpPr>
          <p:spPr>
            <a:xfrm>
              <a:off x="7165847" y="1901189"/>
              <a:ext cx="73151" cy="73152"/>
            </a:xfrm>
            <a:prstGeom prst="rect">
              <a:avLst/>
            </a:prstGeom>
            <a:blipFill>
              <a:blip r:embed="rId3" cstate="print"/>
              <a:stretch>
                <a:fillRect/>
              </a:stretch>
            </a:blipFill>
          </p:spPr>
          <p:txBody>
            <a:bodyPr wrap="square" lIns="0" tIns="0" rIns="0" bIns="0" rtlCol="0"/>
            <a:lstStyle/>
            <a:p>
              <a:endParaRPr/>
            </a:p>
          </p:txBody>
        </p:sp>
        <p:sp>
          <p:nvSpPr>
            <p:cNvPr id="16" name="object 16"/>
            <p:cNvSpPr/>
            <p:nvPr/>
          </p:nvSpPr>
          <p:spPr>
            <a:xfrm>
              <a:off x="5318759" y="2590038"/>
              <a:ext cx="73151" cy="73152"/>
            </a:xfrm>
            <a:prstGeom prst="rect">
              <a:avLst/>
            </a:prstGeom>
            <a:blipFill>
              <a:blip r:embed="rId4" cstate="print"/>
              <a:stretch>
                <a:fillRect/>
              </a:stretch>
            </a:blipFill>
          </p:spPr>
          <p:txBody>
            <a:bodyPr wrap="square" lIns="0" tIns="0" rIns="0" bIns="0" rtlCol="0"/>
            <a:lstStyle/>
            <a:p>
              <a:endParaRPr/>
            </a:p>
          </p:txBody>
        </p:sp>
        <p:sp>
          <p:nvSpPr>
            <p:cNvPr id="17" name="object 17"/>
            <p:cNvSpPr/>
            <p:nvPr/>
          </p:nvSpPr>
          <p:spPr>
            <a:xfrm>
              <a:off x="6550152" y="2590038"/>
              <a:ext cx="73151" cy="73152"/>
            </a:xfrm>
            <a:prstGeom prst="rect">
              <a:avLst/>
            </a:prstGeom>
            <a:blipFill>
              <a:blip r:embed="rId5" cstate="print"/>
              <a:stretch>
                <a:fillRect/>
              </a:stretch>
            </a:blipFill>
          </p:spPr>
          <p:txBody>
            <a:bodyPr wrap="square" lIns="0" tIns="0" rIns="0" bIns="0" rtlCol="0"/>
            <a:lstStyle/>
            <a:p>
              <a:endParaRPr/>
            </a:p>
          </p:txBody>
        </p:sp>
        <p:sp>
          <p:nvSpPr>
            <p:cNvPr id="18" name="object 18"/>
            <p:cNvSpPr/>
            <p:nvPr/>
          </p:nvSpPr>
          <p:spPr>
            <a:xfrm>
              <a:off x="5318759" y="2724911"/>
              <a:ext cx="164591" cy="110490"/>
            </a:xfrm>
            <a:prstGeom prst="rect">
              <a:avLst/>
            </a:prstGeom>
            <a:blipFill>
              <a:blip r:embed="rId6" cstate="print"/>
              <a:stretch>
                <a:fillRect/>
              </a:stretch>
            </a:blipFill>
          </p:spPr>
          <p:txBody>
            <a:bodyPr wrap="square" lIns="0" tIns="0" rIns="0" bIns="0" rtlCol="0"/>
            <a:lstStyle/>
            <a:p>
              <a:endParaRPr/>
            </a:p>
          </p:txBody>
        </p:sp>
      </p:grpSp>
      <p:sp>
        <p:nvSpPr>
          <p:cNvPr id="19" name="object 19"/>
          <p:cNvSpPr txBox="1"/>
          <p:nvPr/>
        </p:nvSpPr>
        <p:spPr>
          <a:xfrm>
            <a:off x="2140966" y="3782669"/>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1</a:t>
            </a:r>
            <a:endParaRPr sz="900">
              <a:latin typeface="Carlito"/>
              <a:cs typeface="Carlito"/>
            </a:endParaRPr>
          </a:p>
        </p:txBody>
      </p:sp>
      <p:sp>
        <p:nvSpPr>
          <p:cNvPr id="20" name="object 20"/>
          <p:cNvSpPr txBox="1"/>
          <p:nvPr/>
        </p:nvSpPr>
        <p:spPr>
          <a:xfrm>
            <a:off x="2864485" y="3412997"/>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2</a:t>
            </a:r>
            <a:endParaRPr sz="900">
              <a:latin typeface="Carlito"/>
              <a:cs typeface="Carlito"/>
            </a:endParaRPr>
          </a:p>
        </p:txBody>
      </p:sp>
      <p:sp>
        <p:nvSpPr>
          <p:cNvPr id="21" name="object 21"/>
          <p:cNvSpPr txBox="1"/>
          <p:nvPr/>
        </p:nvSpPr>
        <p:spPr>
          <a:xfrm>
            <a:off x="4711572" y="2724657"/>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3</a:t>
            </a:r>
            <a:endParaRPr sz="900">
              <a:latin typeface="Carlito"/>
              <a:cs typeface="Carlito"/>
            </a:endParaRPr>
          </a:p>
        </p:txBody>
      </p:sp>
      <p:sp>
        <p:nvSpPr>
          <p:cNvPr id="22" name="object 22"/>
          <p:cNvSpPr txBox="1"/>
          <p:nvPr/>
        </p:nvSpPr>
        <p:spPr>
          <a:xfrm>
            <a:off x="7174356" y="1692402"/>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4</a:t>
            </a:r>
            <a:endParaRPr sz="900">
              <a:latin typeface="Carlito"/>
              <a:cs typeface="Carlito"/>
            </a:endParaRPr>
          </a:p>
        </p:txBody>
      </p:sp>
      <p:sp>
        <p:nvSpPr>
          <p:cNvPr id="23" name="object 23"/>
          <p:cNvSpPr txBox="1"/>
          <p:nvPr/>
        </p:nvSpPr>
        <p:spPr>
          <a:xfrm>
            <a:off x="5327269" y="2380614"/>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5</a:t>
            </a:r>
            <a:endParaRPr sz="900">
              <a:latin typeface="Carlito"/>
              <a:cs typeface="Carlito"/>
            </a:endParaRPr>
          </a:p>
        </p:txBody>
      </p:sp>
      <p:sp>
        <p:nvSpPr>
          <p:cNvPr id="24" name="object 24"/>
          <p:cNvSpPr txBox="1"/>
          <p:nvPr/>
        </p:nvSpPr>
        <p:spPr>
          <a:xfrm>
            <a:off x="6558660" y="2380614"/>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6</a:t>
            </a:r>
            <a:endParaRPr sz="900">
              <a:latin typeface="Carlito"/>
              <a:cs typeface="Carlito"/>
            </a:endParaRPr>
          </a:p>
        </p:txBody>
      </p:sp>
      <p:sp>
        <p:nvSpPr>
          <p:cNvPr id="25" name="object 25"/>
          <p:cNvSpPr txBox="1"/>
          <p:nvPr/>
        </p:nvSpPr>
        <p:spPr>
          <a:xfrm>
            <a:off x="5517769" y="2641473"/>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7</a:t>
            </a:r>
            <a:endParaRPr sz="900">
              <a:latin typeface="Carlito"/>
              <a:cs typeface="Carlito"/>
            </a:endParaRPr>
          </a:p>
        </p:txBody>
      </p:sp>
      <p:sp>
        <p:nvSpPr>
          <p:cNvPr id="26" name="object 26"/>
          <p:cNvSpPr txBox="1"/>
          <p:nvPr/>
        </p:nvSpPr>
        <p:spPr>
          <a:xfrm>
            <a:off x="725220" y="3909466"/>
            <a:ext cx="228600" cy="50673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1.00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0.00</a:t>
            </a:r>
            <a:endParaRPr sz="900">
              <a:latin typeface="Carlito"/>
              <a:cs typeface="Carlito"/>
            </a:endParaRPr>
          </a:p>
        </p:txBody>
      </p:sp>
      <p:sp>
        <p:nvSpPr>
          <p:cNvPr id="27" name="object 27"/>
          <p:cNvSpPr txBox="1"/>
          <p:nvPr/>
        </p:nvSpPr>
        <p:spPr>
          <a:xfrm>
            <a:off x="725220" y="3565397"/>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2.00</a:t>
            </a:r>
            <a:endParaRPr sz="900">
              <a:latin typeface="Carlito"/>
              <a:cs typeface="Carlito"/>
            </a:endParaRPr>
          </a:p>
        </p:txBody>
      </p:sp>
      <p:sp>
        <p:nvSpPr>
          <p:cNvPr id="28" name="object 28"/>
          <p:cNvSpPr txBox="1"/>
          <p:nvPr/>
        </p:nvSpPr>
        <p:spPr>
          <a:xfrm>
            <a:off x="725220" y="2877057"/>
            <a:ext cx="228600" cy="50673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4.00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3.00</a:t>
            </a:r>
            <a:endParaRPr sz="900">
              <a:latin typeface="Carlito"/>
              <a:cs typeface="Carlito"/>
            </a:endParaRPr>
          </a:p>
        </p:txBody>
      </p:sp>
      <p:sp>
        <p:nvSpPr>
          <p:cNvPr id="29" name="object 29"/>
          <p:cNvSpPr txBox="1"/>
          <p:nvPr/>
        </p:nvSpPr>
        <p:spPr>
          <a:xfrm>
            <a:off x="725220" y="2533014"/>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5.00</a:t>
            </a:r>
            <a:endParaRPr sz="900">
              <a:latin typeface="Carlito"/>
              <a:cs typeface="Carlito"/>
            </a:endParaRPr>
          </a:p>
        </p:txBody>
      </p:sp>
      <p:sp>
        <p:nvSpPr>
          <p:cNvPr id="30" name="object 30"/>
          <p:cNvSpPr txBox="1"/>
          <p:nvPr/>
        </p:nvSpPr>
        <p:spPr>
          <a:xfrm>
            <a:off x="725220" y="1844801"/>
            <a:ext cx="228600" cy="50673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7.00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6.00</a:t>
            </a:r>
            <a:endParaRPr sz="900">
              <a:latin typeface="Carlito"/>
              <a:cs typeface="Carlito"/>
            </a:endParaRPr>
          </a:p>
        </p:txBody>
      </p:sp>
      <p:sp>
        <p:nvSpPr>
          <p:cNvPr id="31" name="object 31"/>
          <p:cNvSpPr txBox="1"/>
          <p:nvPr/>
        </p:nvSpPr>
        <p:spPr>
          <a:xfrm>
            <a:off x="725220" y="1500632"/>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8.00</a:t>
            </a:r>
            <a:endParaRPr sz="900">
              <a:latin typeface="Carlito"/>
              <a:cs typeface="Carlito"/>
            </a:endParaRPr>
          </a:p>
        </p:txBody>
      </p:sp>
      <p:sp>
        <p:nvSpPr>
          <p:cNvPr id="32" name="object 32"/>
          <p:cNvSpPr txBox="1"/>
          <p:nvPr/>
        </p:nvSpPr>
        <p:spPr>
          <a:xfrm>
            <a:off x="932789"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0.00</a:t>
            </a:r>
            <a:endParaRPr sz="900">
              <a:latin typeface="Carlito"/>
              <a:cs typeface="Carlito"/>
            </a:endParaRPr>
          </a:p>
        </p:txBody>
      </p:sp>
      <p:sp>
        <p:nvSpPr>
          <p:cNvPr id="33" name="object 33"/>
          <p:cNvSpPr txBox="1"/>
          <p:nvPr/>
        </p:nvSpPr>
        <p:spPr>
          <a:xfrm>
            <a:off x="2163826"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1.00</a:t>
            </a:r>
            <a:endParaRPr sz="900">
              <a:latin typeface="Carlito"/>
              <a:cs typeface="Carlito"/>
            </a:endParaRPr>
          </a:p>
        </p:txBody>
      </p:sp>
      <p:sp>
        <p:nvSpPr>
          <p:cNvPr id="34" name="object 34"/>
          <p:cNvSpPr txBox="1"/>
          <p:nvPr/>
        </p:nvSpPr>
        <p:spPr>
          <a:xfrm>
            <a:off x="3395217"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2.00</a:t>
            </a:r>
            <a:endParaRPr sz="900">
              <a:latin typeface="Carlito"/>
              <a:cs typeface="Carlito"/>
            </a:endParaRPr>
          </a:p>
        </p:txBody>
      </p:sp>
      <p:sp>
        <p:nvSpPr>
          <p:cNvPr id="35" name="object 35"/>
          <p:cNvSpPr txBox="1"/>
          <p:nvPr/>
        </p:nvSpPr>
        <p:spPr>
          <a:xfrm>
            <a:off x="4626609"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3.00</a:t>
            </a:r>
            <a:endParaRPr sz="900">
              <a:latin typeface="Carlito"/>
              <a:cs typeface="Carlito"/>
            </a:endParaRPr>
          </a:p>
        </p:txBody>
      </p:sp>
      <p:sp>
        <p:nvSpPr>
          <p:cNvPr id="36" name="object 36"/>
          <p:cNvSpPr txBox="1"/>
          <p:nvPr/>
        </p:nvSpPr>
        <p:spPr>
          <a:xfrm>
            <a:off x="5858002"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4.00</a:t>
            </a:r>
            <a:endParaRPr sz="900">
              <a:latin typeface="Carlito"/>
              <a:cs typeface="Carlito"/>
            </a:endParaRPr>
          </a:p>
        </p:txBody>
      </p:sp>
      <p:sp>
        <p:nvSpPr>
          <p:cNvPr id="37" name="object 37"/>
          <p:cNvSpPr txBox="1"/>
          <p:nvPr/>
        </p:nvSpPr>
        <p:spPr>
          <a:xfrm>
            <a:off x="7089140"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5.00</a:t>
            </a:r>
            <a:endParaRPr sz="900">
              <a:latin typeface="Carlito"/>
              <a:cs typeface="Carlito"/>
            </a:endParaRPr>
          </a:p>
        </p:txBody>
      </p:sp>
      <p:sp>
        <p:nvSpPr>
          <p:cNvPr id="38" name="object 38"/>
          <p:cNvSpPr txBox="1"/>
          <p:nvPr/>
        </p:nvSpPr>
        <p:spPr>
          <a:xfrm>
            <a:off x="8320531"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6.00</a:t>
            </a:r>
            <a:endParaRPr sz="900">
              <a:latin typeface="Carlito"/>
              <a:cs typeface="Carlito"/>
            </a:endParaRPr>
          </a:p>
        </p:txBody>
      </p:sp>
      <p:sp>
        <p:nvSpPr>
          <p:cNvPr id="40" name="object 40"/>
          <p:cNvSpPr/>
          <p:nvPr/>
        </p:nvSpPr>
        <p:spPr>
          <a:xfrm>
            <a:off x="2006345" y="2771394"/>
            <a:ext cx="2883535" cy="1452880"/>
          </a:xfrm>
          <a:custGeom>
            <a:avLst/>
            <a:gdLst/>
            <a:ahLst/>
            <a:cxnLst/>
            <a:rect l="l" t="t" r="r" b="b"/>
            <a:pathLst>
              <a:path w="2883535" h="1452879">
                <a:moveTo>
                  <a:pt x="0" y="975360"/>
                </a:moveTo>
                <a:lnTo>
                  <a:pt x="2197" y="936244"/>
                </a:lnTo>
                <a:lnTo>
                  <a:pt x="8676" y="897997"/>
                </a:lnTo>
                <a:lnTo>
                  <a:pt x="19266" y="860744"/>
                </a:lnTo>
                <a:lnTo>
                  <a:pt x="33796" y="824605"/>
                </a:lnTo>
                <a:lnTo>
                  <a:pt x="52095" y="789705"/>
                </a:lnTo>
                <a:lnTo>
                  <a:pt x="73994" y="756166"/>
                </a:lnTo>
                <a:lnTo>
                  <a:pt x="99321" y="724111"/>
                </a:lnTo>
                <a:lnTo>
                  <a:pt x="127906" y="693663"/>
                </a:lnTo>
                <a:lnTo>
                  <a:pt x="159578" y="664945"/>
                </a:lnTo>
                <a:lnTo>
                  <a:pt x="194167" y="638079"/>
                </a:lnTo>
                <a:lnTo>
                  <a:pt x="231501" y="613189"/>
                </a:lnTo>
                <a:lnTo>
                  <a:pt x="271412" y="590397"/>
                </a:lnTo>
                <a:lnTo>
                  <a:pt x="313727" y="569826"/>
                </a:lnTo>
                <a:lnTo>
                  <a:pt x="358276" y="551600"/>
                </a:lnTo>
                <a:lnTo>
                  <a:pt x="404889" y="535840"/>
                </a:lnTo>
                <a:lnTo>
                  <a:pt x="453396" y="522671"/>
                </a:lnTo>
                <a:lnTo>
                  <a:pt x="503624" y="512214"/>
                </a:lnTo>
                <a:lnTo>
                  <a:pt x="555405" y="504592"/>
                </a:lnTo>
                <a:lnTo>
                  <a:pt x="608567" y="499929"/>
                </a:lnTo>
                <a:lnTo>
                  <a:pt x="662940" y="498348"/>
                </a:lnTo>
                <a:lnTo>
                  <a:pt x="717312" y="499929"/>
                </a:lnTo>
                <a:lnTo>
                  <a:pt x="770474" y="504592"/>
                </a:lnTo>
                <a:lnTo>
                  <a:pt x="822255" y="512214"/>
                </a:lnTo>
                <a:lnTo>
                  <a:pt x="872483" y="522671"/>
                </a:lnTo>
                <a:lnTo>
                  <a:pt x="920990" y="535840"/>
                </a:lnTo>
                <a:lnTo>
                  <a:pt x="967603" y="551600"/>
                </a:lnTo>
                <a:lnTo>
                  <a:pt x="1012152" y="569826"/>
                </a:lnTo>
                <a:lnTo>
                  <a:pt x="1054467" y="590397"/>
                </a:lnTo>
                <a:lnTo>
                  <a:pt x="1094378" y="613189"/>
                </a:lnTo>
                <a:lnTo>
                  <a:pt x="1131712" y="638079"/>
                </a:lnTo>
                <a:lnTo>
                  <a:pt x="1166301" y="664945"/>
                </a:lnTo>
                <a:lnTo>
                  <a:pt x="1197973" y="693663"/>
                </a:lnTo>
                <a:lnTo>
                  <a:pt x="1226558" y="724111"/>
                </a:lnTo>
                <a:lnTo>
                  <a:pt x="1251885" y="756166"/>
                </a:lnTo>
                <a:lnTo>
                  <a:pt x="1273784" y="789705"/>
                </a:lnTo>
                <a:lnTo>
                  <a:pt x="1292083" y="824605"/>
                </a:lnTo>
                <a:lnTo>
                  <a:pt x="1306613" y="860744"/>
                </a:lnTo>
                <a:lnTo>
                  <a:pt x="1317203" y="897997"/>
                </a:lnTo>
                <a:lnTo>
                  <a:pt x="1323682" y="936244"/>
                </a:lnTo>
                <a:lnTo>
                  <a:pt x="1325880" y="975360"/>
                </a:lnTo>
                <a:lnTo>
                  <a:pt x="1323682" y="1014482"/>
                </a:lnTo>
                <a:lnTo>
                  <a:pt x="1317203" y="1052734"/>
                </a:lnTo>
                <a:lnTo>
                  <a:pt x="1306613" y="1089992"/>
                </a:lnTo>
                <a:lnTo>
                  <a:pt x="1292083" y="1126133"/>
                </a:lnTo>
                <a:lnTo>
                  <a:pt x="1273784" y="1161035"/>
                </a:lnTo>
                <a:lnTo>
                  <a:pt x="1251885" y="1194575"/>
                </a:lnTo>
                <a:lnTo>
                  <a:pt x="1226558" y="1226630"/>
                </a:lnTo>
                <a:lnTo>
                  <a:pt x="1197973" y="1257078"/>
                </a:lnTo>
                <a:lnTo>
                  <a:pt x="1166301" y="1285795"/>
                </a:lnTo>
                <a:lnTo>
                  <a:pt x="1131712" y="1312659"/>
                </a:lnTo>
                <a:lnTo>
                  <a:pt x="1094378" y="1337547"/>
                </a:lnTo>
                <a:lnTo>
                  <a:pt x="1054467" y="1360337"/>
                </a:lnTo>
                <a:lnTo>
                  <a:pt x="1012152" y="1380905"/>
                </a:lnTo>
                <a:lnTo>
                  <a:pt x="967603" y="1399129"/>
                </a:lnTo>
                <a:lnTo>
                  <a:pt x="920990" y="1414886"/>
                </a:lnTo>
                <a:lnTo>
                  <a:pt x="872483" y="1428053"/>
                </a:lnTo>
                <a:lnTo>
                  <a:pt x="822255" y="1438508"/>
                </a:lnTo>
                <a:lnTo>
                  <a:pt x="770474" y="1446128"/>
                </a:lnTo>
                <a:lnTo>
                  <a:pt x="717312" y="1450790"/>
                </a:lnTo>
                <a:lnTo>
                  <a:pt x="662940" y="1452372"/>
                </a:lnTo>
                <a:lnTo>
                  <a:pt x="608567" y="1450790"/>
                </a:lnTo>
                <a:lnTo>
                  <a:pt x="555405" y="1446128"/>
                </a:lnTo>
                <a:lnTo>
                  <a:pt x="503624" y="1438508"/>
                </a:lnTo>
                <a:lnTo>
                  <a:pt x="453396" y="1428053"/>
                </a:lnTo>
                <a:lnTo>
                  <a:pt x="404889" y="1414886"/>
                </a:lnTo>
                <a:lnTo>
                  <a:pt x="358276" y="1399129"/>
                </a:lnTo>
                <a:lnTo>
                  <a:pt x="313727" y="1380905"/>
                </a:lnTo>
                <a:lnTo>
                  <a:pt x="271412" y="1360337"/>
                </a:lnTo>
                <a:lnTo>
                  <a:pt x="231501" y="1337547"/>
                </a:lnTo>
                <a:lnTo>
                  <a:pt x="194167" y="1312659"/>
                </a:lnTo>
                <a:lnTo>
                  <a:pt x="159578" y="1285795"/>
                </a:lnTo>
                <a:lnTo>
                  <a:pt x="127906" y="1257078"/>
                </a:lnTo>
                <a:lnTo>
                  <a:pt x="99321" y="1226630"/>
                </a:lnTo>
                <a:lnTo>
                  <a:pt x="73994" y="1194575"/>
                </a:lnTo>
                <a:lnTo>
                  <a:pt x="52095" y="1161035"/>
                </a:lnTo>
                <a:lnTo>
                  <a:pt x="33796" y="1126133"/>
                </a:lnTo>
                <a:lnTo>
                  <a:pt x="19266" y="1089992"/>
                </a:lnTo>
                <a:lnTo>
                  <a:pt x="8676" y="1052734"/>
                </a:lnTo>
                <a:lnTo>
                  <a:pt x="2197" y="1014482"/>
                </a:lnTo>
                <a:lnTo>
                  <a:pt x="0" y="975360"/>
                </a:lnTo>
                <a:close/>
              </a:path>
              <a:path w="2883535" h="1452879">
                <a:moveTo>
                  <a:pt x="2631948" y="126492"/>
                </a:moveTo>
                <a:lnTo>
                  <a:pt x="2641824" y="77259"/>
                </a:lnTo>
                <a:lnTo>
                  <a:pt x="2668762" y="37052"/>
                </a:lnTo>
                <a:lnTo>
                  <a:pt x="2708725" y="9941"/>
                </a:lnTo>
                <a:lnTo>
                  <a:pt x="2757678" y="0"/>
                </a:lnTo>
                <a:lnTo>
                  <a:pt x="2806630" y="9941"/>
                </a:lnTo>
                <a:lnTo>
                  <a:pt x="2846593" y="37052"/>
                </a:lnTo>
                <a:lnTo>
                  <a:pt x="2873531" y="77259"/>
                </a:lnTo>
                <a:lnTo>
                  <a:pt x="2883408" y="126492"/>
                </a:lnTo>
                <a:lnTo>
                  <a:pt x="2873531" y="175724"/>
                </a:lnTo>
                <a:lnTo>
                  <a:pt x="2846593" y="215931"/>
                </a:lnTo>
                <a:lnTo>
                  <a:pt x="2806630" y="243042"/>
                </a:lnTo>
                <a:lnTo>
                  <a:pt x="2757678" y="252983"/>
                </a:lnTo>
                <a:lnTo>
                  <a:pt x="2708725" y="243042"/>
                </a:lnTo>
                <a:lnTo>
                  <a:pt x="2668762" y="215931"/>
                </a:lnTo>
                <a:lnTo>
                  <a:pt x="2641824" y="175724"/>
                </a:lnTo>
                <a:lnTo>
                  <a:pt x="2631948" y="126492"/>
                </a:lnTo>
                <a:close/>
              </a:path>
            </a:pathLst>
          </a:custGeom>
          <a:ln w="25908">
            <a:solidFill>
              <a:srgbClr val="8B3836"/>
            </a:solidFill>
          </a:ln>
        </p:spPr>
        <p:txBody>
          <a:bodyPr wrap="square" lIns="0" tIns="0" rIns="0" bIns="0" rtlCol="0"/>
          <a:lstStyle/>
          <a:p>
            <a:endParaRPr/>
          </a:p>
        </p:txBody>
      </p:sp>
      <p:sp>
        <p:nvSpPr>
          <p:cNvPr id="41" name="object 4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40</a:t>
            </a:fld>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5" dirty="0"/>
              <a:t>K-Means </a:t>
            </a:r>
            <a:r>
              <a:rPr spc="-15" dirty="0"/>
              <a:t>clustering</a:t>
            </a:r>
            <a:r>
              <a:rPr spc="40" dirty="0"/>
              <a:t> </a:t>
            </a:r>
            <a:r>
              <a:rPr spc="-20" dirty="0"/>
              <a:t>example</a:t>
            </a:r>
          </a:p>
        </p:txBody>
      </p:sp>
      <p:sp>
        <p:nvSpPr>
          <p:cNvPr id="3" name="object 3"/>
          <p:cNvSpPr txBox="1"/>
          <p:nvPr/>
        </p:nvSpPr>
        <p:spPr>
          <a:xfrm>
            <a:off x="535940" y="1216913"/>
            <a:ext cx="3206115" cy="3308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10" dirty="0">
                <a:latin typeface="Carlito"/>
                <a:cs typeface="Carlito"/>
              </a:rPr>
              <a:t>Update </a:t>
            </a:r>
            <a:r>
              <a:rPr sz="2000" dirty="0">
                <a:latin typeface="Carlito"/>
                <a:cs typeface="Carlito"/>
              </a:rPr>
              <a:t>the </a:t>
            </a:r>
            <a:r>
              <a:rPr sz="2000" spc="-5" dirty="0">
                <a:latin typeface="Carlito"/>
                <a:cs typeface="Carlito"/>
              </a:rPr>
              <a:t>cluster</a:t>
            </a:r>
            <a:r>
              <a:rPr sz="2000" spc="-20" dirty="0">
                <a:latin typeface="Carlito"/>
                <a:cs typeface="Carlito"/>
              </a:rPr>
              <a:t> </a:t>
            </a:r>
            <a:r>
              <a:rPr sz="2000" spc="-10" dirty="0">
                <a:latin typeface="Carlito"/>
                <a:cs typeface="Carlito"/>
              </a:rPr>
              <a:t>centroid</a:t>
            </a:r>
            <a:endParaRPr sz="2000">
              <a:latin typeface="Carlito"/>
              <a:cs typeface="Carlito"/>
            </a:endParaRPr>
          </a:p>
        </p:txBody>
      </p:sp>
      <p:graphicFrame>
        <p:nvGraphicFramePr>
          <p:cNvPr id="4" name="object 4"/>
          <p:cNvGraphicFramePr>
            <a:graphicFrameLocks noGrp="1"/>
          </p:cNvGraphicFramePr>
          <p:nvPr/>
        </p:nvGraphicFramePr>
        <p:xfrm>
          <a:off x="1609597" y="1793748"/>
          <a:ext cx="5911215" cy="1097278"/>
        </p:xfrm>
        <a:graphic>
          <a:graphicData uri="http://schemas.openxmlformats.org/drawingml/2006/table">
            <a:tbl>
              <a:tblPr firstRow="1" bandRow="1">
                <a:tableStyleId>{2D5ABB26-0587-4C30-8999-92F81FD0307C}</a:tableStyleId>
              </a:tblPr>
              <a:tblGrid>
                <a:gridCol w="1970405">
                  <a:extLst>
                    <a:ext uri="{9D8B030D-6E8A-4147-A177-3AD203B41FA5}">
                      <a16:colId xmlns:a16="http://schemas.microsoft.com/office/drawing/2014/main" val="20000"/>
                    </a:ext>
                  </a:extLst>
                </a:gridCol>
                <a:gridCol w="1970405">
                  <a:extLst>
                    <a:ext uri="{9D8B030D-6E8A-4147-A177-3AD203B41FA5}">
                      <a16:colId xmlns:a16="http://schemas.microsoft.com/office/drawing/2014/main" val="20001"/>
                    </a:ext>
                  </a:extLst>
                </a:gridCol>
                <a:gridCol w="1970405">
                  <a:extLst>
                    <a:ext uri="{9D8B030D-6E8A-4147-A177-3AD203B41FA5}">
                      <a16:colId xmlns:a16="http://schemas.microsoft.com/office/drawing/2014/main" val="20002"/>
                    </a:ext>
                  </a:extLst>
                </a:gridCol>
              </a:tblGrid>
              <a:tr h="365759">
                <a:tc>
                  <a:txBody>
                    <a:bodyPr/>
                    <a:lstStyle/>
                    <a:p>
                      <a:pPr algn="ctr">
                        <a:lnSpc>
                          <a:spcPct val="100000"/>
                        </a:lnSpc>
                        <a:spcBef>
                          <a:spcPts val="245"/>
                        </a:spcBef>
                      </a:pPr>
                      <a:r>
                        <a:rPr sz="1800" b="1" spc="-10" dirty="0">
                          <a:solidFill>
                            <a:srgbClr val="FFFFFF"/>
                          </a:solidFill>
                          <a:latin typeface="Carlito"/>
                          <a:cs typeface="Carlito"/>
                        </a:rPr>
                        <a:t>Cluster</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635" algn="ctr">
                        <a:lnSpc>
                          <a:spcPct val="100000"/>
                        </a:lnSpc>
                        <a:spcBef>
                          <a:spcPts val="245"/>
                        </a:spcBef>
                      </a:pPr>
                      <a:r>
                        <a:rPr sz="1800" b="1" spc="-25" dirty="0">
                          <a:solidFill>
                            <a:srgbClr val="FFFFFF"/>
                          </a:solidFill>
                          <a:latin typeface="Carlito"/>
                          <a:cs typeface="Carlito"/>
                        </a:rPr>
                        <a:t>Var1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270" algn="ctr">
                        <a:lnSpc>
                          <a:spcPct val="100000"/>
                        </a:lnSpc>
                        <a:spcBef>
                          <a:spcPts val="245"/>
                        </a:spcBef>
                      </a:pPr>
                      <a:r>
                        <a:rPr sz="1800" b="1" spc="-25" dirty="0">
                          <a:solidFill>
                            <a:srgbClr val="FFFFFF"/>
                          </a:solidFill>
                          <a:latin typeface="Carlito"/>
                          <a:cs typeface="Carlito"/>
                        </a:rPr>
                        <a:t>Var2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60">
                <a:tc>
                  <a:txBody>
                    <a:bodyPr/>
                    <a:lstStyle/>
                    <a:p>
                      <a:pPr algn="ctr">
                        <a:lnSpc>
                          <a:spcPct val="100000"/>
                        </a:lnSpc>
                        <a:spcBef>
                          <a:spcPts val="245"/>
                        </a:spcBef>
                      </a:pPr>
                      <a:r>
                        <a:rPr sz="1800" dirty="0">
                          <a:latin typeface="Carlito"/>
                          <a:cs typeface="Carlito"/>
                        </a:rPr>
                        <a:t>K1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spc="-5" dirty="0">
                          <a:latin typeface="Carlito"/>
                          <a:cs typeface="Carlito"/>
                        </a:rPr>
                        <a:t>(1.0 </a:t>
                      </a:r>
                      <a:r>
                        <a:rPr sz="1800" dirty="0">
                          <a:latin typeface="Carlito"/>
                          <a:cs typeface="Carlito"/>
                        </a:rPr>
                        <a:t>+ </a:t>
                      </a:r>
                      <a:r>
                        <a:rPr sz="1800" spc="-5" dirty="0">
                          <a:latin typeface="Carlito"/>
                          <a:cs typeface="Carlito"/>
                        </a:rPr>
                        <a:t>1.5)/2 </a:t>
                      </a:r>
                      <a:r>
                        <a:rPr sz="1800" dirty="0">
                          <a:latin typeface="Carlito"/>
                          <a:cs typeface="Carlito"/>
                        </a:rPr>
                        <a:t>=</a:t>
                      </a:r>
                      <a:r>
                        <a:rPr sz="1800" spc="-20" dirty="0">
                          <a:latin typeface="Carlito"/>
                          <a:cs typeface="Carlito"/>
                        </a:rPr>
                        <a:t> </a:t>
                      </a:r>
                      <a:r>
                        <a:rPr sz="1800" dirty="0">
                          <a:latin typeface="Carlito"/>
                          <a:cs typeface="Carlito"/>
                        </a:rPr>
                        <a:t>1.25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spc="-5" dirty="0">
                          <a:latin typeface="Carlito"/>
                          <a:cs typeface="Carlito"/>
                        </a:rPr>
                        <a:t>(1.0 </a:t>
                      </a:r>
                      <a:r>
                        <a:rPr sz="1800" dirty="0">
                          <a:latin typeface="Carlito"/>
                          <a:cs typeface="Carlito"/>
                        </a:rPr>
                        <a:t>+ </a:t>
                      </a:r>
                      <a:r>
                        <a:rPr sz="1800" spc="-5" dirty="0">
                          <a:latin typeface="Carlito"/>
                          <a:cs typeface="Carlito"/>
                        </a:rPr>
                        <a:t>2.0)/2 </a:t>
                      </a:r>
                      <a:r>
                        <a:rPr sz="1800" dirty="0">
                          <a:latin typeface="Carlito"/>
                          <a:cs typeface="Carlito"/>
                        </a:rPr>
                        <a:t>=</a:t>
                      </a:r>
                      <a:r>
                        <a:rPr sz="1800" spc="-15" dirty="0">
                          <a:latin typeface="Carlito"/>
                          <a:cs typeface="Carlito"/>
                        </a:rPr>
                        <a:t> </a:t>
                      </a:r>
                      <a:r>
                        <a:rPr sz="1800" dirty="0">
                          <a:latin typeface="Carlito"/>
                          <a:cs typeface="Carlito"/>
                        </a:rPr>
                        <a:t>1.5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759">
                <a:tc>
                  <a:txBody>
                    <a:bodyPr/>
                    <a:lstStyle/>
                    <a:p>
                      <a:pPr algn="ctr">
                        <a:lnSpc>
                          <a:spcPct val="100000"/>
                        </a:lnSpc>
                        <a:spcBef>
                          <a:spcPts val="244"/>
                        </a:spcBef>
                      </a:pPr>
                      <a:r>
                        <a:rPr sz="1800" spc="-5" dirty="0">
                          <a:latin typeface="Carlito"/>
                          <a:cs typeface="Carlito"/>
                        </a:rPr>
                        <a:t>K2</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4"/>
                        </a:spcBef>
                      </a:pPr>
                      <a:r>
                        <a:rPr sz="1800" dirty="0">
                          <a:latin typeface="Carlito"/>
                          <a:cs typeface="Carlito"/>
                        </a:rPr>
                        <a:t>3.0</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35" algn="ctr">
                        <a:lnSpc>
                          <a:spcPct val="100000"/>
                        </a:lnSpc>
                        <a:spcBef>
                          <a:spcPts val="244"/>
                        </a:spcBef>
                      </a:pPr>
                      <a:r>
                        <a:rPr sz="1800" dirty="0">
                          <a:latin typeface="Carlito"/>
                          <a:cs typeface="Carlito"/>
                        </a:rPr>
                        <a:t>4.0</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41</a:t>
            </a:fld>
            <a:endParaRPr dirty="0"/>
          </a:p>
        </p:txBody>
      </p:sp>
      <p:graphicFrame>
        <p:nvGraphicFramePr>
          <p:cNvPr id="8" name="object 8">
            <a:extLst>
              <a:ext uri="{FF2B5EF4-FFF2-40B4-BE49-F238E27FC236}">
                <a16:creationId xmlns:a16="http://schemas.microsoft.com/office/drawing/2014/main" id="{980E6B49-6A9D-4C6A-8F56-80A7B9C705F0}"/>
              </a:ext>
            </a:extLst>
          </p:cNvPr>
          <p:cNvGraphicFramePr>
            <a:graphicFrameLocks noGrp="1"/>
          </p:cNvGraphicFramePr>
          <p:nvPr>
            <p:extLst>
              <p:ext uri="{D42A27DB-BD31-4B8C-83A1-F6EECF244321}">
                <p14:modId xmlns:p14="http://schemas.microsoft.com/office/powerpoint/2010/main" val="3471298484"/>
              </p:ext>
            </p:extLst>
          </p:nvPr>
        </p:nvGraphicFramePr>
        <p:xfrm>
          <a:off x="7086600" y="2908753"/>
          <a:ext cx="1704975" cy="2240315"/>
        </p:xfrm>
        <a:graphic>
          <a:graphicData uri="http://schemas.openxmlformats.org/drawingml/2006/table">
            <a:tbl>
              <a:tblPr firstRow="1" bandRow="1">
                <a:tableStyleId>{2D5ABB26-0587-4C30-8999-92F81FD0307C}</a:tableStyleId>
              </a:tblPr>
              <a:tblGrid>
                <a:gridCol w="568325">
                  <a:extLst>
                    <a:ext uri="{9D8B030D-6E8A-4147-A177-3AD203B41FA5}">
                      <a16:colId xmlns:a16="http://schemas.microsoft.com/office/drawing/2014/main" val="20000"/>
                    </a:ext>
                  </a:extLst>
                </a:gridCol>
                <a:gridCol w="568325">
                  <a:extLst>
                    <a:ext uri="{9D8B030D-6E8A-4147-A177-3AD203B41FA5}">
                      <a16:colId xmlns:a16="http://schemas.microsoft.com/office/drawing/2014/main" val="20001"/>
                    </a:ext>
                  </a:extLst>
                </a:gridCol>
                <a:gridCol w="568325">
                  <a:extLst>
                    <a:ext uri="{9D8B030D-6E8A-4147-A177-3AD203B41FA5}">
                      <a16:colId xmlns:a16="http://schemas.microsoft.com/office/drawing/2014/main" val="20002"/>
                    </a:ext>
                  </a:extLst>
                </a:gridCol>
              </a:tblGrid>
              <a:tr h="426719">
                <a:tc>
                  <a:txBody>
                    <a:bodyPr/>
                    <a:lstStyle/>
                    <a:p>
                      <a:pPr marL="158750" marR="114300" indent="-36830">
                        <a:lnSpc>
                          <a:spcPct val="100000"/>
                        </a:lnSpc>
                        <a:spcBef>
                          <a:spcPts val="295"/>
                        </a:spcBef>
                      </a:pPr>
                      <a:r>
                        <a:rPr sz="1100" b="1" dirty="0">
                          <a:solidFill>
                            <a:srgbClr val="FFFFFF"/>
                          </a:solidFill>
                          <a:latin typeface="Carlito"/>
                          <a:cs typeface="Carlito"/>
                        </a:rPr>
                        <a:t>I</a:t>
                      </a:r>
                      <a:r>
                        <a:rPr sz="1100" b="1" spc="-5" dirty="0">
                          <a:solidFill>
                            <a:srgbClr val="FFFFFF"/>
                          </a:solidFill>
                          <a:latin typeface="Carlito"/>
                          <a:cs typeface="Carlito"/>
                        </a:rPr>
                        <a:t>nd</a:t>
                      </a:r>
                      <a:r>
                        <a:rPr sz="1100" b="1" dirty="0">
                          <a:solidFill>
                            <a:srgbClr val="FFFFFF"/>
                          </a:solidFill>
                          <a:latin typeface="Carlito"/>
                          <a:cs typeface="Carlito"/>
                        </a:rPr>
                        <a:t>ivi  </a:t>
                      </a:r>
                      <a:r>
                        <a:rPr sz="1100" b="1" spc="-5" dirty="0">
                          <a:solidFill>
                            <a:srgbClr val="FFFFFF"/>
                          </a:solidFill>
                          <a:latin typeface="Carlito"/>
                          <a:cs typeface="Carlito"/>
                        </a:rPr>
                        <a:t>dual</a:t>
                      </a:r>
                      <a:endParaRPr sz="11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79705" marR="86360" indent="-85725">
                        <a:lnSpc>
                          <a:spcPct val="100000"/>
                        </a:lnSpc>
                        <a:spcBef>
                          <a:spcPts val="295"/>
                        </a:spcBef>
                      </a:pPr>
                      <a:r>
                        <a:rPr sz="1100" b="1" spc="-5" dirty="0">
                          <a:solidFill>
                            <a:srgbClr val="FFFFFF"/>
                          </a:solidFill>
                          <a:latin typeface="Carlito"/>
                          <a:cs typeface="Carlito"/>
                        </a:rPr>
                        <a:t>V</a:t>
                      </a:r>
                      <a:r>
                        <a:rPr sz="1100" b="1" spc="-10" dirty="0">
                          <a:solidFill>
                            <a:srgbClr val="FFFFFF"/>
                          </a:solidFill>
                          <a:latin typeface="Carlito"/>
                          <a:cs typeface="Carlito"/>
                        </a:rPr>
                        <a:t>a</a:t>
                      </a:r>
                      <a:r>
                        <a:rPr sz="1100" b="1" dirty="0">
                          <a:solidFill>
                            <a:srgbClr val="FFFFFF"/>
                          </a:solidFill>
                          <a:latin typeface="Carlito"/>
                          <a:cs typeface="Carlito"/>
                        </a:rPr>
                        <a:t>ri</a:t>
                      </a:r>
                      <a:r>
                        <a:rPr sz="1100" b="1" spc="-10" dirty="0">
                          <a:solidFill>
                            <a:srgbClr val="FFFFFF"/>
                          </a:solidFill>
                          <a:latin typeface="Carlito"/>
                          <a:cs typeface="Carlito"/>
                        </a:rPr>
                        <a:t>a</a:t>
                      </a:r>
                      <a:r>
                        <a:rPr sz="1100" b="1" dirty="0">
                          <a:solidFill>
                            <a:srgbClr val="FFFFFF"/>
                          </a:solidFill>
                          <a:latin typeface="Carlito"/>
                          <a:cs typeface="Carlito"/>
                        </a:rPr>
                        <a:t>b  le</a:t>
                      </a:r>
                      <a:r>
                        <a:rPr sz="1100" b="1" spc="-30" dirty="0">
                          <a:solidFill>
                            <a:srgbClr val="FFFFFF"/>
                          </a:solidFill>
                          <a:latin typeface="Carlito"/>
                          <a:cs typeface="Carlito"/>
                        </a:rPr>
                        <a:t> </a:t>
                      </a:r>
                      <a:r>
                        <a:rPr sz="1100" b="1" dirty="0">
                          <a:solidFill>
                            <a:srgbClr val="FFFFFF"/>
                          </a:solidFill>
                          <a:latin typeface="Carlito"/>
                          <a:cs typeface="Carlito"/>
                        </a:rPr>
                        <a:t>1</a:t>
                      </a:r>
                      <a:endParaRPr sz="11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79705" marR="85725" indent="-85725">
                        <a:lnSpc>
                          <a:spcPct val="100000"/>
                        </a:lnSpc>
                        <a:spcBef>
                          <a:spcPts val="295"/>
                        </a:spcBef>
                      </a:pPr>
                      <a:r>
                        <a:rPr sz="1100" b="1" spc="-5" dirty="0">
                          <a:solidFill>
                            <a:srgbClr val="FFFFFF"/>
                          </a:solidFill>
                          <a:latin typeface="Carlito"/>
                          <a:cs typeface="Carlito"/>
                        </a:rPr>
                        <a:t>V</a:t>
                      </a:r>
                      <a:r>
                        <a:rPr sz="1100" b="1" spc="-10" dirty="0">
                          <a:solidFill>
                            <a:srgbClr val="FFFFFF"/>
                          </a:solidFill>
                          <a:latin typeface="Carlito"/>
                          <a:cs typeface="Carlito"/>
                        </a:rPr>
                        <a:t>a</a:t>
                      </a:r>
                      <a:r>
                        <a:rPr sz="1100" b="1" dirty="0">
                          <a:solidFill>
                            <a:srgbClr val="FFFFFF"/>
                          </a:solidFill>
                          <a:latin typeface="Carlito"/>
                          <a:cs typeface="Carlito"/>
                        </a:rPr>
                        <a:t>ri</a:t>
                      </a:r>
                      <a:r>
                        <a:rPr sz="1100" b="1" spc="-10" dirty="0">
                          <a:solidFill>
                            <a:srgbClr val="FFFFFF"/>
                          </a:solidFill>
                          <a:latin typeface="Carlito"/>
                          <a:cs typeface="Carlito"/>
                        </a:rPr>
                        <a:t>a</a:t>
                      </a:r>
                      <a:r>
                        <a:rPr sz="1100" b="1" dirty="0">
                          <a:solidFill>
                            <a:srgbClr val="FFFFFF"/>
                          </a:solidFill>
                          <a:latin typeface="Carlito"/>
                          <a:cs typeface="Carlito"/>
                        </a:rPr>
                        <a:t>b  le</a:t>
                      </a:r>
                      <a:r>
                        <a:rPr sz="1100" b="1" spc="-30" dirty="0">
                          <a:solidFill>
                            <a:srgbClr val="FFFFFF"/>
                          </a:solidFill>
                          <a:latin typeface="Carlito"/>
                          <a:cs typeface="Carlito"/>
                        </a:rPr>
                        <a:t> </a:t>
                      </a:r>
                      <a:r>
                        <a:rPr sz="1100" b="1" dirty="0">
                          <a:solidFill>
                            <a:srgbClr val="FFFFFF"/>
                          </a:solidFill>
                          <a:latin typeface="Carlito"/>
                          <a:cs typeface="Carlito"/>
                        </a:rPr>
                        <a:t>2</a:t>
                      </a:r>
                      <a:endParaRPr sz="1100">
                        <a:latin typeface="Carlito"/>
                        <a:cs typeface="Carlito"/>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259080">
                <a:tc>
                  <a:txBody>
                    <a:bodyPr/>
                    <a:lstStyle/>
                    <a:p>
                      <a:pPr algn="ctr">
                        <a:lnSpc>
                          <a:spcPct val="100000"/>
                        </a:lnSpc>
                        <a:spcBef>
                          <a:spcPts val="295"/>
                        </a:spcBef>
                      </a:pPr>
                      <a:r>
                        <a:rPr sz="1100" dirty="0">
                          <a:latin typeface="Carlito"/>
                          <a:cs typeface="Carlito"/>
                        </a:rPr>
                        <a:t>1</a:t>
                      </a:r>
                      <a:endParaRPr sz="1100">
                        <a:latin typeface="Carlito"/>
                        <a:cs typeface="Carlito"/>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FFF00"/>
                    </a:solidFill>
                  </a:tcPr>
                </a:tc>
                <a:tc>
                  <a:txBody>
                    <a:bodyPr/>
                    <a:lstStyle/>
                    <a:p>
                      <a:pPr marL="194945">
                        <a:lnSpc>
                          <a:spcPct val="100000"/>
                        </a:lnSpc>
                        <a:spcBef>
                          <a:spcPts val="295"/>
                        </a:spcBef>
                      </a:pPr>
                      <a:r>
                        <a:rPr sz="1100" spc="-5" dirty="0">
                          <a:latin typeface="Carlito"/>
                          <a:cs typeface="Carlito"/>
                        </a:rPr>
                        <a:t>1.0</a:t>
                      </a:r>
                      <a:endParaRPr sz="1100">
                        <a:latin typeface="Carlito"/>
                        <a:cs typeface="Carlito"/>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FFF00"/>
                    </a:solidFill>
                  </a:tcPr>
                </a:tc>
                <a:tc>
                  <a:txBody>
                    <a:bodyPr/>
                    <a:lstStyle/>
                    <a:p>
                      <a:pPr algn="ctr">
                        <a:lnSpc>
                          <a:spcPct val="100000"/>
                        </a:lnSpc>
                        <a:spcBef>
                          <a:spcPts val="295"/>
                        </a:spcBef>
                      </a:pPr>
                      <a:r>
                        <a:rPr sz="1100" spc="-5" dirty="0">
                          <a:latin typeface="Carlito"/>
                          <a:cs typeface="Carlito"/>
                        </a:rPr>
                        <a:t>1.0</a:t>
                      </a:r>
                      <a:endParaRPr sz="1100">
                        <a:latin typeface="Carlito"/>
                        <a:cs typeface="Carlito"/>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FFF00"/>
                    </a:solidFill>
                  </a:tcPr>
                </a:tc>
                <a:extLst>
                  <a:ext uri="{0D108BD9-81ED-4DB2-BD59-A6C34878D82A}">
                    <a16:rowId xmlns:a16="http://schemas.microsoft.com/office/drawing/2014/main" val="10001"/>
                  </a:ext>
                </a:extLst>
              </a:tr>
              <a:tr h="259080">
                <a:tc>
                  <a:txBody>
                    <a:bodyPr/>
                    <a:lstStyle/>
                    <a:p>
                      <a:pPr algn="ctr">
                        <a:lnSpc>
                          <a:spcPct val="100000"/>
                        </a:lnSpc>
                        <a:spcBef>
                          <a:spcPts val="300"/>
                        </a:spcBef>
                      </a:pPr>
                      <a:r>
                        <a:rPr sz="1100" dirty="0">
                          <a:latin typeface="Carlito"/>
                          <a:cs typeface="Carlito"/>
                        </a:rPr>
                        <a:t>2</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4945">
                        <a:lnSpc>
                          <a:spcPct val="100000"/>
                        </a:lnSpc>
                        <a:spcBef>
                          <a:spcPts val="300"/>
                        </a:spcBef>
                      </a:pPr>
                      <a:r>
                        <a:rPr sz="1100" spc="-5" dirty="0">
                          <a:latin typeface="Carlito"/>
                          <a:cs typeface="Carlito"/>
                        </a:rPr>
                        <a:t>1.5</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00"/>
                        </a:spcBef>
                      </a:pPr>
                      <a:r>
                        <a:rPr sz="1100" spc="-5" dirty="0">
                          <a:latin typeface="Carlito"/>
                          <a:cs typeface="Carlito"/>
                        </a:rPr>
                        <a:t>2.0</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259079">
                <a:tc>
                  <a:txBody>
                    <a:bodyPr/>
                    <a:lstStyle/>
                    <a:p>
                      <a:pPr algn="ctr">
                        <a:lnSpc>
                          <a:spcPct val="100000"/>
                        </a:lnSpc>
                        <a:spcBef>
                          <a:spcPts val="300"/>
                        </a:spcBef>
                      </a:pPr>
                      <a:r>
                        <a:rPr sz="1100" dirty="0">
                          <a:latin typeface="Carlito"/>
                          <a:cs typeface="Carlito"/>
                        </a:rPr>
                        <a:t>3</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FF00"/>
                    </a:solidFill>
                  </a:tcPr>
                </a:tc>
                <a:tc>
                  <a:txBody>
                    <a:bodyPr/>
                    <a:lstStyle/>
                    <a:p>
                      <a:pPr marL="194945">
                        <a:lnSpc>
                          <a:spcPct val="100000"/>
                        </a:lnSpc>
                        <a:spcBef>
                          <a:spcPts val="300"/>
                        </a:spcBef>
                      </a:pPr>
                      <a:r>
                        <a:rPr sz="1100" spc="-5" dirty="0">
                          <a:latin typeface="Carlito"/>
                          <a:cs typeface="Carlito"/>
                        </a:rPr>
                        <a:t>3.0</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FF00"/>
                    </a:solidFill>
                  </a:tcPr>
                </a:tc>
                <a:tc>
                  <a:txBody>
                    <a:bodyPr/>
                    <a:lstStyle/>
                    <a:p>
                      <a:pPr algn="ctr">
                        <a:lnSpc>
                          <a:spcPct val="100000"/>
                        </a:lnSpc>
                        <a:spcBef>
                          <a:spcPts val="300"/>
                        </a:spcBef>
                      </a:pPr>
                      <a:r>
                        <a:rPr sz="1100" spc="-5" dirty="0">
                          <a:latin typeface="Carlito"/>
                          <a:cs typeface="Carlito"/>
                        </a:rPr>
                        <a:t>4.0</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FFF00"/>
                    </a:solidFill>
                  </a:tcPr>
                </a:tc>
                <a:extLst>
                  <a:ext uri="{0D108BD9-81ED-4DB2-BD59-A6C34878D82A}">
                    <a16:rowId xmlns:a16="http://schemas.microsoft.com/office/drawing/2014/main" val="10003"/>
                  </a:ext>
                </a:extLst>
              </a:tr>
              <a:tr h="259118">
                <a:tc>
                  <a:txBody>
                    <a:bodyPr/>
                    <a:lstStyle/>
                    <a:p>
                      <a:pPr algn="ctr">
                        <a:lnSpc>
                          <a:spcPct val="100000"/>
                        </a:lnSpc>
                        <a:spcBef>
                          <a:spcPts val="300"/>
                        </a:spcBef>
                      </a:pPr>
                      <a:r>
                        <a:rPr sz="1100" dirty="0">
                          <a:latin typeface="Carlito"/>
                          <a:cs typeface="Carlito"/>
                        </a:rPr>
                        <a:t>4</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4945">
                        <a:lnSpc>
                          <a:spcPct val="100000"/>
                        </a:lnSpc>
                        <a:spcBef>
                          <a:spcPts val="300"/>
                        </a:spcBef>
                      </a:pPr>
                      <a:r>
                        <a:rPr sz="1100" spc="-5" dirty="0">
                          <a:latin typeface="Carlito"/>
                          <a:cs typeface="Carlito"/>
                        </a:rPr>
                        <a:t>5.0</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00"/>
                        </a:spcBef>
                      </a:pPr>
                      <a:r>
                        <a:rPr sz="1100" spc="-5" dirty="0">
                          <a:latin typeface="Carlito"/>
                          <a:cs typeface="Carlito"/>
                        </a:rPr>
                        <a:t>7.0</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259080">
                <a:tc>
                  <a:txBody>
                    <a:bodyPr/>
                    <a:lstStyle/>
                    <a:p>
                      <a:pPr algn="ctr">
                        <a:lnSpc>
                          <a:spcPct val="100000"/>
                        </a:lnSpc>
                        <a:spcBef>
                          <a:spcPts val="300"/>
                        </a:spcBef>
                      </a:pPr>
                      <a:r>
                        <a:rPr sz="1100" dirty="0">
                          <a:latin typeface="Carlito"/>
                          <a:cs typeface="Carlito"/>
                        </a:rPr>
                        <a:t>5</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4945">
                        <a:lnSpc>
                          <a:spcPct val="100000"/>
                        </a:lnSpc>
                        <a:spcBef>
                          <a:spcPts val="300"/>
                        </a:spcBef>
                      </a:pPr>
                      <a:r>
                        <a:rPr sz="1100" spc="-5" dirty="0">
                          <a:latin typeface="Carlito"/>
                          <a:cs typeface="Carlito"/>
                        </a:rPr>
                        <a:t>3.5</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300"/>
                        </a:spcBef>
                      </a:pPr>
                      <a:r>
                        <a:rPr sz="1100" spc="-5" dirty="0">
                          <a:latin typeface="Carlito"/>
                          <a:cs typeface="Carlito"/>
                        </a:rPr>
                        <a:t>5.0</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r h="259079">
                <a:tc>
                  <a:txBody>
                    <a:bodyPr/>
                    <a:lstStyle/>
                    <a:p>
                      <a:pPr algn="ctr">
                        <a:lnSpc>
                          <a:spcPct val="100000"/>
                        </a:lnSpc>
                        <a:spcBef>
                          <a:spcPts val="300"/>
                        </a:spcBef>
                      </a:pPr>
                      <a:r>
                        <a:rPr sz="1100" dirty="0">
                          <a:latin typeface="Carlito"/>
                          <a:cs typeface="Carlito"/>
                        </a:rPr>
                        <a:t>6</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4945">
                        <a:lnSpc>
                          <a:spcPct val="100000"/>
                        </a:lnSpc>
                        <a:spcBef>
                          <a:spcPts val="300"/>
                        </a:spcBef>
                      </a:pPr>
                      <a:r>
                        <a:rPr sz="1100" spc="-5" dirty="0">
                          <a:latin typeface="Carlito"/>
                          <a:cs typeface="Carlito"/>
                        </a:rPr>
                        <a:t>4.5</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00"/>
                        </a:spcBef>
                      </a:pPr>
                      <a:r>
                        <a:rPr sz="1100" spc="-5" dirty="0">
                          <a:latin typeface="Carlito"/>
                          <a:cs typeface="Carlito"/>
                        </a:rPr>
                        <a:t>5.0</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6"/>
                  </a:ext>
                </a:extLst>
              </a:tr>
              <a:tr h="259080">
                <a:tc>
                  <a:txBody>
                    <a:bodyPr/>
                    <a:lstStyle/>
                    <a:p>
                      <a:pPr algn="ctr">
                        <a:lnSpc>
                          <a:spcPct val="100000"/>
                        </a:lnSpc>
                        <a:spcBef>
                          <a:spcPts val="300"/>
                        </a:spcBef>
                      </a:pPr>
                      <a:r>
                        <a:rPr sz="1100" dirty="0">
                          <a:latin typeface="Carlito"/>
                          <a:cs typeface="Carlito"/>
                        </a:rPr>
                        <a:t>7</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4945">
                        <a:lnSpc>
                          <a:spcPct val="100000"/>
                        </a:lnSpc>
                        <a:spcBef>
                          <a:spcPts val="300"/>
                        </a:spcBef>
                      </a:pPr>
                      <a:r>
                        <a:rPr sz="1100" spc="-5" dirty="0">
                          <a:latin typeface="Carlito"/>
                          <a:cs typeface="Carlito"/>
                        </a:rPr>
                        <a:t>3.5</a:t>
                      </a:r>
                      <a:endParaRPr sz="110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300"/>
                        </a:spcBef>
                      </a:pPr>
                      <a:r>
                        <a:rPr sz="1100" spc="-5" dirty="0">
                          <a:latin typeface="Carlito"/>
                          <a:cs typeface="Carlito"/>
                        </a:rPr>
                        <a:t>4.5</a:t>
                      </a:r>
                      <a:endParaRPr sz="1100" dirty="0">
                        <a:latin typeface="Carlito"/>
                        <a:cs typeface="Carlito"/>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5" dirty="0"/>
              <a:t>K-Means </a:t>
            </a:r>
            <a:r>
              <a:rPr spc="-15" dirty="0"/>
              <a:t>clustering</a:t>
            </a:r>
            <a:r>
              <a:rPr spc="40" dirty="0"/>
              <a:t> </a:t>
            </a:r>
            <a:r>
              <a:rPr spc="-20" dirty="0"/>
              <a:t>example</a:t>
            </a:r>
          </a:p>
        </p:txBody>
      </p:sp>
      <p:sp>
        <p:nvSpPr>
          <p:cNvPr id="3" name="object 3"/>
          <p:cNvSpPr txBox="1"/>
          <p:nvPr/>
        </p:nvSpPr>
        <p:spPr>
          <a:xfrm>
            <a:off x="535940" y="1216913"/>
            <a:ext cx="5955030" cy="3308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10" dirty="0">
                <a:latin typeface="Carlito"/>
                <a:cs typeface="Carlito"/>
              </a:rPr>
              <a:t>Calculate </a:t>
            </a:r>
            <a:r>
              <a:rPr sz="2000" dirty="0">
                <a:latin typeface="Carlito"/>
                <a:cs typeface="Carlito"/>
              </a:rPr>
              <a:t>Euclidean </a:t>
            </a:r>
            <a:r>
              <a:rPr sz="2000" spc="-10" dirty="0">
                <a:latin typeface="Carlito"/>
                <a:cs typeface="Carlito"/>
              </a:rPr>
              <a:t>distance </a:t>
            </a:r>
            <a:r>
              <a:rPr sz="2000" spc="-15" dirty="0">
                <a:latin typeface="Carlito"/>
                <a:cs typeface="Carlito"/>
              </a:rPr>
              <a:t>for </a:t>
            </a:r>
            <a:r>
              <a:rPr sz="2000" spc="-10" dirty="0">
                <a:latin typeface="Carlito"/>
                <a:cs typeface="Carlito"/>
              </a:rPr>
              <a:t>next dataset </a:t>
            </a:r>
            <a:r>
              <a:rPr sz="2000" spc="-5" dirty="0">
                <a:latin typeface="Carlito"/>
                <a:cs typeface="Carlito"/>
              </a:rPr>
              <a:t>(5.0,</a:t>
            </a:r>
            <a:r>
              <a:rPr sz="2000" spc="95" dirty="0">
                <a:latin typeface="Carlito"/>
                <a:cs typeface="Carlito"/>
              </a:rPr>
              <a:t> </a:t>
            </a:r>
            <a:r>
              <a:rPr sz="2000" spc="-5" dirty="0">
                <a:latin typeface="Carlito"/>
                <a:cs typeface="Carlito"/>
              </a:rPr>
              <a:t>7.0)</a:t>
            </a:r>
            <a:endParaRPr sz="2000">
              <a:latin typeface="Carlito"/>
              <a:cs typeface="Carlito"/>
            </a:endParaRPr>
          </a:p>
        </p:txBody>
      </p:sp>
      <p:sp>
        <p:nvSpPr>
          <p:cNvPr id="4" name="object 4"/>
          <p:cNvSpPr/>
          <p:nvPr/>
        </p:nvSpPr>
        <p:spPr>
          <a:xfrm>
            <a:off x="3116326" y="1678685"/>
            <a:ext cx="3202305" cy="316230"/>
          </a:xfrm>
          <a:custGeom>
            <a:avLst/>
            <a:gdLst/>
            <a:ahLst/>
            <a:cxnLst/>
            <a:rect l="l" t="t" r="r" b="b"/>
            <a:pathLst>
              <a:path w="3202304" h="316230">
                <a:moveTo>
                  <a:pt x="3202178" y="0"/>
                </a:moveTo>
                <a:lnTo>
                  <a:pt x="159258" y="126"/>
                </a:lnTo>
                <a:lnTo>
                  <a:pt x="83819" y="282956"/>
                </a:lnTo>
                <a:lnTo>
                  <a:pt x="40767" y="186943"/>
                </a:lnTo>
                <a:lnTo>
                  <a:pt x="0" y="205612"/>
                </a:lnTo>
                <a:lnTo>
                  <a:pt x="3937" y="214883"/>
                </a:lnTo>
                <a:lnTo>
                  <a:pt x="24892" y="205612"/>
                </a:lnTo>
                <a:lnTo>
                  <a:pt x="76326" y="316230"/>
                </a:lnTo>
                <a:lnTo>
                  <a:pt x="88392" y="316230"/>
                </a:lnTo>
                <a:lnTo>
                  <a:pt x="169163" y="16763"/>
                </a:lnTo>
                <a:lnTo>
                  <a:pt x="3202178" y="16763"/>
                </a:lnTo>
                <a:close/>
              </a:path>
            </a:pathLst>
          </a:custGeom>
          <a:solidFill>
            <a:srgbClr val="000000"/>
          </a:solidFill>
        </p:spPr>
        <p:txBody>
          <a:bodyPr wrap="square" lIns="0" tIns="0" rIns="0" bIns="0" rtlCol="0"/>
          <a:lstStyle/>
          <a:p>
            <a:endParaRPr/>
          </a:p>
        </p:txBody>
      </p:sp>
      <p:sp>
        <p:nvSpPr>
          <p:cNvPr id="5" name="object 5"/>
          <p:cNvSpPr txBox="1"/>
          <p:nvPr/>
        </p:nvSpPr>
        <p:spPr>
          <a:xfrm>
            <a:off x="4587366" y="1646681"/>
            <a:ext cx="1735455" cy="248920"/>
          </a:xfrm>
          <a:prstGeom prst="rect">
            <a:avLst/>
          </a:prstGeom>
        </p:spPr>
        <p:txBody>
          <a:bodyPr vert="horz" wrap="square" lIns="0" tIns="13970" rIns="0" bIns="0" rtlCol="0">
            <a:spAutoFit/>
          </a:bodyPr>
          <a:lstStyle/>
          <a:p>
            <a:pPr marL="12700">
              <a:lnSpc>
                <a:spcPct val="100000"/>
              </a:lnSpc>
              <a:spcBef>
                <a:spcPts val="110"/>
              </a:spcBef>
              <a:tabLst>
                <a:tab pos="1614170" algn="l"/>
              </a:tabLst>
            </a:pPr>
            <a:r>
              <a:rPr sz="1450" spc="15" dirty="0">
                <a:latin typeface="DejaVu Serif Condensed"/>
                <a:cs typeface="DejaVu Serif Condensed"/>
              </a:rPr>
              <a:t>2	2</a:t>
            </a:r>
            <a:endParaRPr sz="1450">
              <a:latin typeface="DejaVu Serif Condensed"/>
              <a:cs typeface="DejaVu Serif Condensed"/>
            </a:endParaRPr>
          </a:p>
        </p:txBody>
      </p:sp>
      <p:sp>
        <p:nvSpPr>
          <p:cNvPr id="6" name="object 6"/>
          <p:cNvSpPr txBox="1"/>
          <p:nvPr/>
        </p:nvSpPr>
        <p:spPr>
          <a:xfrm>
            <a:off x="535940" y="1515973"/>
            <a:ext cx="2533650" cy="913130"/>
          </a:xfrm>
          <a:prstGeom prst="rect">
            <a:avLst/>
          </a:prstGeom>
        </p:spPr>
        <p:txBody>
          <a:bodyPr vert="horz" wrap="square" lIns="0" tIns="12065" rIns="0" bIns="0" rtlCol="0">
            <a:spAutoFit/>
          </a:bodyPr>
          <a:lstStyle/>
          <a:p>
            <a:pPr marL="12700" marR="5080">
              <a:lnSpc>
                <a:spcPct val="145600"/>
              </a:lnSpc>
              <a:spcBef>
                <a:spcPts val="95"/>
              </a:spcBef>
            </a:pPr>
            <a:r>
              <a:rPr sz="2000" spc="-10" dirty="0">
                <a:latin typeface="Carlito"/>
                <a:cs typeface="Carlito"/>
              </a:rPr>
              <a:t>Distance </a:t>
            </a:r>
            <a:r>
              <a:rPr sz="2000" spc="-15" dirty="0">
                <a:latin typeface="Carlito"/>
                <a:cs typeface="Carlito"/>
              </a:rPr>
              <a:t>from </a:t>
            </a:r>
            <a:r>
              <a:rPr sz="2000" spc="-10" dirty="0">
                <a:latin typeface="Carlito"/>
                <a:cs typeface="Carlito"/>
              </a:rPr>
              <a:t>cluster1 </a:t>
            </a:r>
            <a:r>
              <a:rPr sz="2000" dirty="0">
                <a:latin typeface="Carlito"/>
                <a:cs typeface="Carlito"/>
              </a:rPr>
              <a:t>=  </a:t>
            </a:r>
            <a:r>
              <a:rPr sz="2000" spc="-10" dirty="0">
                <a:latin typeface="Carlito"/>
                <a:cs typeface="Carlito"/>
              </a:rPr>
              <a:t>Distance </a:t>
            </a:r>
            <a:r>
              <a:rPr sz="2000" spc="-15" dirty="0">
                <a:latin typeface="Carlito"/>
                <a:cs typeface="Carlito"/>
              </a:rPr>
              <a:t>from </a:t>
            </a:r>
            <a:r>
              <a:rPr sz="2000" spc="-5" dirty="0">
                <a:latin typeface="Carlito"/>
                <a:cs typeface="Carlito"/>
              </a:rPr>
              <a:t>cluster2 </a:t>
            </a:r>
            <a:r>
              <a:rPr sz="2000" dirty="0">
                <a:latin typeface="Carlito"/>
                <a:cs typeface="Carlito"/>
              </a:rPr>
              <a:t>=</a:t>
            </a:r>
            <a:endParaRPr sz="2000">
              <a:latin typeface="Carlito"/>
              <a:cs typeface="Carlito"/>
            </a:endParaRPr>
          </a:p>
        </p:txBody>
      </p:sp>
      <p:sp>
        <p:nvSpPr>
          <p:cNvPr id="7" name="object 7"/>
          <p:cNvSpPr/>
          <p:nvPr/>
        </p:nvSpPr>
        <p:spPr>
          <a:xfrm>
            <a:off x="3116326" y="2122170"/>
            <a:ext cx="3088005" cy="316230"/>
          </a:xfrm>
          <a:custGeom>
            <a:avLst/>
            <a:gdLst/>
            <a:ahLst/>
            <a:cxnLst/>
            <a:rect l="l" t="t" r="r" b="b"/>
            <a:pathLst>
              <a:path w="3088004" h="316230">
                <a:moveTo>
                  <a:pt x="3087878" y="0"/>
                </a:moveTo>
                <a:lnTo>
                  <a:pt x="159258" y="127"/>
                </a:lnTo>
                <a:lnTo>
                  <a:pt x="83819" y="282956"/>
                </a:lnTo>
                <a:lnTo>
                  <a:pt x="40767" y="186944"/>
                </a:lnTo>
                <a:lnTo>
                  <a:pt x="0" y="205612"/>
                </a:lnTo>
                <a:lnTo>
                  <a:pt x="3937" y="214884"/>
                </a:lnTo>
                <a:lnTo>
                  <a:pt x="24892" y="205612"/>
                </a:lnTo>
                <a:lnTo>
                  <a:pt x="76326" y="316230"/>
                </a:lnTo>
                <a:lnTo>
                  <a:pt x="88392" y="316230"/>
                </a:lnTo>
                <a:lnTo>
                  <a:pt x="169163" y="16763"/>
                </a:lnTo>
                <a:lnTo>
                  <a:pt x="3087878" y="16763"/>
                </a:lnTo>
                <a:close/>
              </a:path>
            </a:pathLst>
          </a:custGeom>
          <a:solidFill>
            <a:srgbClr val="000000"/>
          </a:solidFill>
        </p:spPr>
        <p:txBody>
          <a:bodyPr wrap="square" lIns="0" tIns="0" rIns="0" bIns="0" rtlCol="0"/>
          <a:lstStyle/>
          <a:p>
            <a:endParaRPr/>
          </a:p>
        </p:txBody>
      </p:sp>
      <p:sp>
        <p:nvSpPr>
          <p:cNvPr id="8" name="object 8"/>
          <p:cNvSpPr txBox="1"/>
          <p:nvPr/>
        </p:nvSpPr>
        <p:spPr>
          <a:xfrm>
            <a:off x="3263519" y="1515973"/>
            <a:ext cx="3844925" cy="913130"/>
          </a:xfrm>
          <a:prstGeom prst="rect">
            <a:avLst/>
          </a:prstGeom>
        </p:spPr>
        <p:txBody>
          <a:bodyPr vert="horz" wrap="square" lIns="0" tIns="151130" rIns="0" bIns="0" rtlCol="0">
            <a:spAutoFit/>
          </a:bodyPr>
          <a:lstStyle/>
          <a:p>
            <a:pPr marL="38100">
              <a:lnSpc>
                <a:spcPct val="100000"/>
              </a:lnSpc>
              <a:spcBef>
                <a:spcPts val="1190"/>
              </a:spcBef>
              <a:tabLst>
                <a:tab pos="1510030" algn="l"/>
                <a:tab pos="3113405" algn="l"/>
              </a:tabLst>
            </a:pPr>
            <a:r>
              <a:rPr sz="2000" spc="-35" dirty="0">
                <a:latin typeface="DejaVu Serif Condensed"/>
                <a:cs typeface="DejaVu Serif Condensed"/>
              </a:rPr>
              <a:t>(5.0</a:t>
            </a:r>
            <a:r>
              <a:rPr sz="2000" spc="-110" dirty="0">
                <a:latin typeface="DejaVu Serif Condensed"/>
                <a:cs typeface="DejaVu Serif Condensed"/>
              </a:rPr>
              <a:t> </a:t>
            </a:r>
            <a:r>
              <a:rPr sz="2000" spc="-15" dirty="0">
                <a:latin typeface="DejaVu Serif Condensed"/>
                <a:cs typeface="DejaVu Serif Condensed"/>
              </a:rPr>
              <a:t>−</a:t>
            </a:r>
            <a:r>
              <a:rPr sz="2000" spc="-114" dirty="0">
                <a:latin typeface="DejaVu Serif Condensed"/>
                <a:cs typeface="DejaVu Serif Condensed"/>
              </a:rPr>
              <a:t> </a:t>
            </a:r>
            <a:r>
              <a:rPr sz="2000" spc="20" dirty="0">
                <a:latin typeface="Carlito"/>
                <a:cs typeface="Carlito"/>
              </a:rPr>
              <a:t>1.25</a:t>
            </a:r>
            <a:r>
              <a:rPr sz="2000" spc="20" dirty="0">
                <a:latin typeface="DejaVu Serif Condensed"/>
                <a:cs typeface="DejaVu Serif Condensed"/>
              </a:rPr>
              <a:t>)	</a:t>
            </a:r>
            <a:r>
              <a:rPr sz="2000" spc="-15" dirty="0">
                <a:latin typeface="DejaVu Serif Condensed"/>
                <a:cs typeface="DejaVu Serif Condensed"/>
              </a:rPr>
              <a:t>+ </a:t>
            </a:r>
            <a:r>
              <a:rPr sz="2000" spc="15" dirty="0">
                <a:latin typeface="DejaVu Serif Condensed"/>
                <a:cs typeface="DejaVu Serif Condensed"/>
              </a:rPr>
              <a:t>(7</a:t>
            </a:r>
            <a:r>
              <a:rPr sz="2000" spc="15" dirty="0">
                <a:latin typeface="Carlito"/>
                <a:cs typeface="Carlito"/>
              </a:rPr>
              <a:t>.0</a:t>
            </a:r>
            <a:r>
              <a:rPr sz="2000" spc="-105" dirty="0">
                <a:latin typeface="Carlito"/>
                <a:cs typeface="Carlito"/>
              </a:rPr>
              <a:t> </a:t>
            </a:r>
            <a:r>
              <a:rPr sz="2000" spc="-15" dirty="0">
                <a:latin typeface="DejaVu Serif Condensed"/>
                <a:cs typeface="DejaVu Serif Condensed"/>
              </a:rPr>
              <a:t>−</a:t>
            </a:r>
            <a:r>
              <a:rPr sz="2000" spc="-120" dirty="0">
                <a:latin typeface="DejaVu Serif Condensed"/>
                <a:cs typeface="DejaVu Serif Condensed"/>
              </a:rPr>
              <a:t> </a:t>
            </a:r>
            <a:r>
              <a:rPr sz="2000" spc="20" dirty="0">
                <a:latin typeface="Carlito"/>
                <a:cs typeface="Carlito"/>
              </a:rPr>
              <a:t>1.</a:t>
            </a:r>
            <a:r>
              <a:rPr sz="2000" spc="20" dirty="0">
                <a:latin typeface="DejaVu Serif Condensed"/>
                <a:cs typeface="DejaVu Serif Condensed"/>
              </a:rPr>
              <a:t>5)	</a:t>
            </a:r>
            <a:r>
              <a:rPr sz="2000" dirty="0">
                <a:latin typeface="Carlito"/>
                <a:cs typeface="Carlito"/>
              </a:rPr>
              <a:t>=</a:t>
            </a:r>
            <a:r>
              <a:rPr sz="2000" spc="375" dirty="0">
                <a:latin typeface="Carlito"/>
                <a:cs typeface="Carlito"/>
              </a:rPr>
              <a:t> </a:t>
            </a:r>
            <a:r>
              <a:rPr sz="2000" dirty="0">
                <a:latin typeface="Carlito"/>
                <a:cs typeface="Carlito"/>
              </a:rPr>
              <a:t>6.66</a:t>
            </a:r>
            <a:endParaRPr sz="2000">
              <a:latin typeface="Carlito"/>
              <a:cs typeface="Carlito"/>
            </a:endParaRPr>
          </a:p>
          <a:p>
            <a:pPr marL="38100">
              <a:lnSpc>
                <a:spcPct val="100000"/>
              </a:lnSpc>
              <a:spcBef>
                <a:spcPts val="1095"/>
              </a:spcBef>
            </a:pPr>
            <a:r>
              <a:rPr sz="2000" spc="-35" dirty="0">
                <a:latin typeface="DejaVu Serif Condensed"/>
                <a:cs typeface="DejaVu Serif Condensed"/>
              </a:rPr>
              <a:t>(5.0 </a:t>
            </a:r>
            <a:r>
              <a:rPr sz="2000" spc="-15" dirty="0">
                <a:latin typeface="DejaVu Serif Condensed"/>
                <a:cs typeface="DejaVu Serif Condensed"/>
              </a:rPr>
              <a:t>− </a:t>
            </a:r>
            <a:r>
              <a:rPr sz="2000" spc="-20" dirty="0">
                <a:latin typeface="DejaVu Serif Condensed"/>
                <a:cs typeface="DejaVu Serif Condensed"/>
              </a:rPr>
              <a:t>3.0)</a:t>
            </a:r>
            <a:r>
              <a:rPr sz="2175" spc="-30" baseline="22988" dirty="0">
                <a:latin typeface="DejaVu Serif Condensed"/>
                <a:cs typeface="DejaVu Serif Condensed"/>
              </a:rPr>
              <a:t>2 </a:t>
            </a:r>
            <a:r>
              <a:rPr sz="2000" spc="-15" dirty="0">
                <a:latin typeface="DejaVu Serif Condensed"/>
                <a:cs typeface="DejaVu Serif Condensed"/>
              </a:rPr>
              <a:t>+ </a:t>
            </a:r>
            <a:r>
              <a:rPr sz="2000" spc="15" dirty="0">
                <a:latin typeface="DejaVu Serif Condensed"/>
                <a:cs typeface="DejaVu Serif Condensed"/>
              </a:rPr>
              <a:t>(7</a:t>
            </a:r>
            <a:r>
              <a:rPr sz="2000" spc="15" dirty="0">
                <a:latin typeface="Carlito"/>
                <a:cs typeface="Carlito"/>
              </a:rPr>
              <a:t>.0 </a:t>
            </a:r>
            <a:r>
              <a:rPr sz="2000" spc="-15" dirty="0">
                <a:latin typeface="DejaVu Serif Condensed"/>
                <a:cs typeface="DejaVu Serif Condensed"/>
              </a:rPr>
              <a:t>− </a:t>
            </a:r>
            <a:r>
              <a:rPr sz="2000" spc="15" dirty="0">
                <a:latin typeface="DejaVu Serif Condensed"/>
                <a:cs typeface="DejaVu Serif Condensed"/>
              </a:rPr>
              <a:t>4</a:t>
            </a:r>
            <a:r>
              <a:rPr sz="2000" spc="15" dirty="0">
                <a:latin typeface="Carlito"/>
                <a:cs typeface="Carlito"/>
              </a:rPr>
              <a:t>.0</a:t>
            </a:r>
            <a:r>
              <a:rPr sz="2000" spc="15" dirty="0">
                <a:latin typeface="DejaVu Serif Condensed"/>
                <a:cs typeface="DejaVu Serif Condensed"/>
              </a:rPr>
              <a:t>)</a:t>
            </a:r>
            <a:r>
              <a:rPr sz="2175" spc="22" baseline="22988" dirty="0">
                <a:latin typeface="DejaVu Serif Condensed"/>
                <a:cs typeface="DejaVu Serif Condensed"/>
              </a:rPr>
              <a:t>2 </a:t>
            </a:r>
            <a:r>
              <a:rPr sz="2000" dirty="0">
                <a:latin typeface="Carlito"/>
                <a:cs typeface="Carlito"/>
              </a:rPr>
              <a:t>=</a:t>
            </a:r>
            <a:r>
              <a:rPr sz="2000" spc="-210" dirty="0">
                <a:latin typeface="Carlito"/>
                <a:cs typeface="Carlito"/>
              </a:rPr>
              <a:t> </a:t>
            </a:r>
            <a:r>
              <a:rPr sz="2000" dirty="0">
                <a:latin typeface="Carlito"/>
                <a:cs typeface="Carlito"/>
              </a:rPr>
              <a:t>3.61</a:t>
            </a:r>
            <a:endParaRPr sz="2000">
              <a:latin typeface="Carlito"/>
              <a:cs typeface="Carlito"/>
            </a:endParaRPr>
          </a:p>
        </p:txBody>
      </p:sp>
      <p:graphicFrame>
        <p:nvGraphicFramePr>
          <p:cNvPr id="9" name="object 9"/>
          <p:cNvGraphicFramePr>
            <a:graphicFrameLocks noGrp="1"/>
          </p:cNvGraphicFramePr>
          <p:nvPr/>
        </p:nvGraphicFramePr>
        <p:xfrm>
          <a:off x="1619122" y="2793619"/>
          <a:ext cx="5708014" cy="1131975"/>
        </p:xfrm>
        <a:graphic>
          <a:graphicData uri="http://schemas.openxmlformats.org/drawingml/2006/table">
            <a:tbl>
              <a:tblPr firstRow="1" bandRow="1">
                <a:tableStyleId>{2D5ABB26-0587-4C30-8999-92F81FD0307C}</a:tableStyleId>
              </a:tblPr>
              <a:tblGrid>
                <a:gridCol w="1130300">
                  <a:extLst>
                    <a:ext uri="{9D8B030D-6E8A-4147-A177-3AD203B41FA5}">
                      <a16:colId xmlns:a16="http://schemas.microsoft.com/office/drawing/2014/main" val="20000"/>
                    </a:ext>
                  </a:extLst>
                </a:gridCol>
                <a:gridCol w="1390014">
                  <a:extLst>
                    <a:ext uri="{9D8B030D-6E8A-4147-A177-3AD203B41FA5}">
                      <a16:colId xmlns:a16="http://schemas.microsoft.com/office/drawing/2014/main" val="20001"/>
                    </a:ext>
                  </a:extLst>
                </a:gridCol>
                <a:gridCol w="1438275">
                  <a:extLst>
                    <a:ext uri="{9D8B030D-6E8A-4147-A177-3AD203B41FA5}">
                      <a16:colId xmlns:a16="http://schemas.microsoft.com/office/drawing/2014/main" val="20002"/>
                    </a:ext>
                  </a:extLst>
                </a:gridCol>
                <a:gridCol w="1749425">
                  <a:extLst>
                    <a:ext uri="{9D8B030D-6E8A-4147-A177-3AD203B41FA5}">
                      <a16:colId xmlns:a16="http://schemas.microsoft.com/office/drawing/2014/main" val="20003"/>
                    </a:ext>
                  </a:extLst>
                </a:gridCol>
              </a:tblGrid>
              <a:tr h="365760">
                <a:tc rowSpan="2">
                  <a:txBody>
                    <a:bodyPr/>
                    <a:lstStyle/>
                    <a:p>
                      <a:pPr>
                        <a:lnSpc>
                          <a:spcPct val="100000"/>
                        </a:lnSpc>
                        <a:spcBef>
                          <a:spcPts val="15"/>
                        </a:spcBef>
                      </a:pPr>
                      <a:endParaRPr sz="1450">
                        <a:latin typeface="Times New Roman"/>
                        <a:cs typeface="Times New Roman"/>
                      </a:endParaRPr>
                    </a:p>
                    <a:p>
                      <a:pPr marL="198755">
                        <a:lnSpc>
                          <a:spcPct val="100000"/>
                        </a:lnSpc>
                        <a:spcBef>
                          <a:spcPts val="5"/>
                        </a:spcBef>
                      </a:pPr>
                      <a:r>
                        <a:rPr sz="1800" b="1" spc="-5" dirty="0">
                          <a:solidFill>
                            <a:srgbClr val="FFFFFF"/>
                          </a:solidFill>
                          <a:latin typeface="Carlito"/>
                          <a:cs typeface="Carlito"/>
                        </a:rPr>
                        <a:t>Dataset</a:t>
                      </a:r>
                      <a:endParaRPr sz="1800">
                        <a:latin typeface="Carlito"/>
                        <a:cs typeface="Carlito"/>
                      </a:endParaRPr>
                    </a:p>
                  </a:txBody>
                  <a:tcPr marL="0" marR="0" marT="1905" marB="0">
                    <a:lnL w="1905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4F81BC"/>
                    </a:solidFill>
                  </a:tcPr>
                </a:tc>
                <a:tc gridSpan="3">
                  <a:txBody>
                    <a:bodyPr/>
                    <a:lstStyle/>
                    <a:p>
                      <a:pPr algn="ctr">
                        <a:lnSpc>
                          <a:spcPct val="100000"/>
                        </a:lnSpc>
                        <a:spcBef>
                          <a:spcPts val="245"/>
                        </a:spcBef>
                      </a:pPr>
                      <a:r>
                        <a:rPr sz="1800" b="1" dirty="0">
                          <a:solidFill>
                            <a:srgbClr val="FFFFFF"/>
                          </a:solidFill>
                          <a:latin typeface="Carlito"/>
                          <a:cs typeface="Carlito"/>
                        </a:rPr>
                        <a:t>Euclidean</a:t>
                      </a:r>
                      <a:r>
                        <a:rPr sz="1800" b="1" spc="-50" dirty="0">
                          <a:solidFill>
                            <a:srgbClr val="FFFFFF"/>
                          </a:solidFill>
                          <a:latin typeface="Carlito"/>
                          <a:cs typeface="Carlito"/>
                        </a:rPr>
                        <a:t> </a:t>
                      </a:r>
                      <a:r>
                        <a:rPr sz="1800" b="1" spc="-5" dirty="0">
                          <a:solidFill>
                            <a:srgbClr val="FFFFFF"/>
                          </a:solidFill>
                          <a:latin typeface="Carlito"/>
                          <a:cs typeface="Carlito"/>
                        </a:rPr>
                        <a:t>Distance</a:t>
                      </a:r>
                      <a:endParaRPr sz="1800">
                        <a:latin typeface="Carlito"/>
                        <a:cs typeface="Carlito"/>
                      </a:endParaRPr>
                    </a:p>
                  </a:txBody>
                  <a:tcPr marL="0" marR="0" marT="31115" marB="0">
                    <a:lnL w="381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65759">
                <a:tc vMerge="1">
                  <a:txBody>
                    <a:bodyPr/>
                    <a:lstStyle/>
                    <a:p>
                      <a:endParaRPr/>
                    </a:p>
                  </a:txBody>
                  <a:tcPr marL="0" marR="0" marT="1905" marB="0">
                    <a:lnL w="1905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270" algn="ctr">
                        <a:lnSpc>
                          <a:spcPct val="100000"/>
                        </a:lnSpc>
                        <a:spcBef>
                          <a:spcPts val="245"/>
                        </a:spcBef>
                      </a:pPr>
                      <a:r>
                        <a:rPr sz="1800" spc="-10" dirty="0">
                          <a:latin typeface="Carlito"/>
                          <a:cs typeface="Carlito"/>
                        </a:rPr>
                        <a:t>Cluster </a:t>
                      </a:r>
                      <a:r>
                        <a:rPr sz="1800" dirty="0">
                          <a:latin typeface="Carlito"/>
                          <a:cs typeface="Carlito"/>
                        </a:rPr>
                        <a:t>1</a:t>
                      </a:r>
                      <a:endParaRPr sz="1800">
                        <a:latin typeface="Carlito"/>
                        <a:cs typeface="Carlito"/>
                      </a:endParaRPr>
                    </a:p>
                  </a:txBody>
                  <a:tcPr marL="0" marR="0" marT="31115" marB="0">
                    <a:lnL w="381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spc="-10" dirty="0">
                          <a:latin typeface="Carlito"/>
                          <a:cs typeface="Carlito"/>
                        </a:rPr>
                        <a:t>Cluster</a:t>
                      </a:r>
                      <a:r>
                        <a:rPr sz="1800" spc="-5" dirty="0">
                          <a:latin typeface="Carlito"/>
                          <a:cs typeface="Carlito"/>
                        </a:rPr>
                        <a:t> </a:t>
                      </a:r>
                      <a:r>
                        <a:rPr sz="1800" dirty="0">
                          <a:latin typeface="Carlito"/>
                          <a:cs typeface="Carlito"/>
                        </a:rPr>
                        <a:t>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635" algn="ctr">
                        <a:lnSpc>
                          <a:spcPct val="100000"/>
                        </a:lnSpc>
                        <a:spcBef>
                          <a:spcPts val="245"/>
                        </a:spcBef>
                      </a:pPr>
                      <a:r>
                        <a:rPr sz="1800" spc="-5" dirty="0">
                          <a:latin typeface="Carlito"/>
                          <a:cs typeface="Carlito"/>
                        </a:rPr>
                        <a:t>Assignment</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400456">
                <a:tc>
                  <a:txBody>
                    <a:bodyPr/>
                    <a:lstStyle/>
                    <a:p>
                      <a:pPr marL="151130">
                        <a:lnSpc>
                          <a:spcPct val="100000"/>
                        </a:lnSpc>
                        <a:spcBef>
                          <a:spcPts val="385"/>
                        </a:spcBef>
                      </a:pPr>
                      <a:r>
                        <a:rPr sz="1800" spc="-5" dirty="0">
                          <a:latin typeface="Carlito"/>
                          <a:cs typeface="Carlito"/>
                        </a:rPr>
                        <a:t>(5.0,</a:t>
                      </a:r>
                      <a:r>
                        <a:rPr sz="1800" spc="-25" dirty="0">
                          <a:latin typeface="Carlito"/>
                          <a:cs typeface="Carlito"/>
                        </a:rPr>
                        <a:t> </a:t>
                      </a:r>
                      <a:r>
                        <a:rPr sz="1800" dirty="0">
                          <a:latin typeface="Carlito"/>
                          <a:cs typeface="Carlito"/>
                        </a:rPr>
                        <a:t>7.0)</a:t>
                      </a:r>
                      <a:endParaRPr sz="1800">
                        <a:latin typeface="Carlito"/>
                        <a:cs typeface="Carlito"/>
                      </a:endParaRPr>
                    </a:p>
                  </a:txBody>
                  <a:tcPr marL="0" marR="0" marT="48895" marB="0">
                    <a:lnL w="1905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85"/>
                        </a:spcBef>
                      </a:pPr>
                      <a:r>
                        <a:rPr sz="1800" dirty="0">
                          <a:latin typeface="Carlito"/>
                          <a:cs typeface="Carlito"/>
                        </a:rPr>
                        <a:t>6.66</a:t>
                      </a:r>
                      <a:endParaRPr sz="1800">
                        <a:latin typeface="Carlito"/>
                        <a:cs typeface="Carlito"/>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85"/>
                        </a:spcBef>
                      </a:pPr>
                      <a:r>
                        <a:rPr sz="1800" dirty="0">
                          <a:latin typeface="Carlito"/>
                          <a:cs typeface="Carlito"/>
                        </a:rPr>
                        <a:t>3.61</a:t>
                      </a:r>
                      <a:endParaRPr sz="1800">
                        <a:latin typeface="Carlito"/>
                        <a:cs typeface="Carlito"/>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85"/>
                        </a:spcBef>
                      </a:pPr>
                      <a:r>
                        <a:rPr sz="1800" dirty="0">
                          <a:latin typeface="Carlito"/>
                          <a:cs typeface="Carlito"/>
                        </a:rPr>
                        <a:t>K-2</a:t>
                      </a:r>
                      <a:endParaRPr sz="1800">
                        <a:latin typeface="Carlito"/>
                        <a:cs typeface="Carlito"/>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graphicFrame>
        <p:nvGraphicFramePr>
          <p:cNvPr id="10" name="object 10"/>
          <p:cNvGraphicFramePr>
            <a:graphicFrameLocks noGrp="1"/>
          </p:cNvGraphicFramePr>
          <p:nvPr/>
        </p:nvGraphicFramePr>
        <p:xfrm>
          <a:off x="7225030" y="700531"/>
          <a:ext cx="1864995" cy="1706877"/>
        </p:xfrm>
        <a:graphic>
          <a:graphicData uri="http://schemas.openxmlformats.org/drawingml/2006/table">
            <a:tbl>
              <a:tblPr firstRow="1" bandRow="1">
                <a:tableStyleId>{2D5ABB26-0587-4C30-8999-92F81FD0307C}</a:tableStyleId>
              </a:tblPr>
              <a:tblGrid>
                <a:gridCol w="621665">
                  <a:extLst>
                    <a:ext uri="{9D8B030D-6E8A-4147-A177-3AD203B41FA5}">
                      <a16:colId xmlns:a16="http://schemas.microsoft.com/office/drawing/2014/main" val="20000"/>
                    </a:ext>
                  </a:extLst>
                </a:gridCol>
                <a:gridCol w="621665">
                  <a:extLst>
                    <a:ext uri="{9D8B030D-6E8A-4147-A177-3AD203B41FA5}">
                      <a16:colId xmlns:a16="http://schemas.microsoft.com/office/drawing/2014/main" val="20001"/>
                    </a:ext>
                  </a:extLst>
                </a:gridCol>
                <a:gridCol w="621665">
                  <a:extLst>
                    <a:ext uri="{9D8B030D-6E8A-4147-A177-3AD203B41FA5}">
                      <a16:colId xmlns:a16="http://schemas.microsoft.com/office/drawing/2014/main" val="20002"/>
                    </a:ext>
                  </a:extLst>
                </a:gridCol>
              </a:tblGrid>
              <a:tr h="213359">
                <a:tc>
                  <a:txBody>
                    <a:bodyPr/>
                    <a:lstStyle/>
                    <a:p>
                      <a:pPr marL="1905" algn="ctr">
                        <a:lnSpc>
                          <a:spcPct val="100000"/>
                        </a:lnSpc>
                        <a:spcBef>
                          <a:spcPts val="305"/>
                        </a:spcBef>
                      </a:pPr>
                      <a:r>
                        <a:rPr sz="800" b="1" dirty="0">
                          <a:solidFill>
                            <a:srgbClr val="FFFFFF"/>
                          </a:solidFill>
                          <a:latin typeface="Carlito"/>
                          <a:cs typeface="Carlito"/>
                        </a:rPr>
                        <a:t>Individual</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270" algn="ctr">
                        <a:lnSpc>
                          <a:spcPct val="100000"/>
                        </a:lnSpc>
                        <a:spcBef>
                          <a:spcPts val="305"/>
                        </a:spcBef>
                      </a:pPr>
                      <a:r>
                        <a:rPr sz="800" b="1" spc="-5" dirty="0">
                          <a:solidFill>
                            <a:srgbClr val="FFFFFF"/>
                          </a:solidFill>
                          <a:latin typeface="Carlito"/>
                          <a:cs typeface="Carlito"/>
                        </a:rPr>
                        <a:t>Variable</a:t>
                      </a:r>
                      <a:r>
                        <a:rPr sz="800" b="1" spc="-15" dirty="0">
                          <a:solidFill>
                            <a:srgbClr val="FFFFFF"/>
                          </a:solidFill>
                          <a:latin typeface="Carlito"/>
                          <a:cs typeface="Carlito"/>
                        </a:rPr>
                        <a:t> </a:t>
                      </a:r>
                      <a:r>
                        <a:rPr sz="800" b="1" dirty="0">
                          <a:solidFill>
                            <a:srgbClr val="FFFFFF"/>
                          </a:solidFill>
                          <a:latin typeface="Carlito"/>
                          <a:cs typeface="Carlito"/>
                        </a:rPr>
                        <a:t>1</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905" algn="ctr">
                        <a:lnSpc>
                          <a:spcPct val="100000"/>
                        </a:lnSpc>
                        <a:spcBef>
                          <a:spcPts val="305"/>
                        </a:spcBef>
                      </a:pPr>
                      <a:r>
                        <a:rPr sz="800" b="1" spc="-5" dirty="0">
                          <a:solidFill>
                            <a:srgbClr val="FFFFFF"/>
                          </a:solidFill>
                          <a:latin typeface="Carlito"/>
                          <a:cs typeface="Carlito"/>
                        </a:rPr>
                        <a:t>Variable</a:t>
                      </a:r>
                      <a:r>
                        <a:rPr sz="800" b="1" spc="-15" dirty="0">
                          <a:solidFill>
                            <a:srgbClr val="FFFFFF"/>
                          </a:solidFill>
                          <a:latin typeface="Carlito"/>
                          <a:cs typeface="Carlito"/>
                        </a:rPr>
                        <a:t> </a:t>
                      </a:r>
                      <a:r>
                        <a:rPr sz="800" b="1" dirty="0">
                          <a:solidFill>
                            <a:srgbClr val="FFFFFF"/>
                          </a:solidFill>
                          <a:latin typeface="Carlito"/>
                          <a:cs typeface="Carlito"/>
                        </a:rPr>
                        <a:t>2</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213360">
                <a:tc>
                  <a:txBody>
                    <a:bodyPr/>
                    <a:lstStyle/>
                    <a:p>
                      <a:pPr marL="2540" algn="ctr">
                        <a:lnSpc>
                          <a:spcPct val="100000"/>
                        </a:lnSpc>
                        <a:spcBef>
                          <a:spcPts val="305"/>
                        </a:spcBef>
                      </a:pPr>
                      <a:r>
                        <a:rPr sz="800" dirty="0">
                          <a:latin typeface="Carlito"/>
                          <a:cs typeface="Carlito"/>
                        </a:rPr>
                        <a:t>1</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305"/>
                        </a:spcBef>
                      </a:pPr>
                      <a:r>
                        <a:rPr sz="800" dirty="0">
                          <a:latin typeface="Carlito"/>
                          <a:cs typeface="Carlito"/>
                        </a:rPr>
                        <a:t>1.0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305"/>
                        </a:spcBef>
                      </a:pPr>
                      <a:r>
                        <a:rPr sz="800" dirty="0">
                          <a:latin typeface="Carlito"/>
                          <a:cs typeface="Carlito"/>
                        </a:rPr>
                        <a:t>1.0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213360">
                <a:tc>
                  <a:txBody>
                    <a:bodyPr/>
                    <a:lstStyle/>
                    <a:p>
                      <a:pPr marL="2540" algn="ctr">
                        <a:lnSpc>
                          <a:spcPct val="100000"/>
                        </a:lnSpc>
                        <a:spcBef>
                          <a:spcPts val="305"/>
                        </a:spcBef>
                      </a:pPr>
                      <a:r>
                        <a:rPr sz="800" dirty="0">
                          <a:latin typeface="Carlito"/>
                          <a:cs typeface="Carlito"/>
                        </a:rPr>
                        <a:t>2</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05"/>
                        </a:spcBef>
                      </a:pPr>
                      <a:r>
                        <a:rPr sz="800" dirty="0">
                          <a:latin typeface="Carlito"/>
                          <a:cs typeface="Carlito"/>
                        </a:rPr>
                        <a:t>1.5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305"/>
                        </a:spcBef>
                      </a:pPr>
                      <a:r>
                        <a:rPr sz="800" dirty="0">
                          <a:latin typeface="Carlito"/>
                          <a:cs typeface="Carlito"/>
                        </a:rPr>
                        <a:t>2.0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213360">
                <a:tc>
                  <a:txBody>
                    <a:bodyPr/>
                    <a:lstStyle/>
                    <a:p>
                      <a:pPr marL="2540" algn="ctr">
                        <a:lnSpc>
                          <a:spcPct val="100000"/>
                        </a:lnSpc>
                        <a:spcBef>
                          <a:spcPts val="305"/>
                        </a:spcBef>
                      </a:pPr>
                      <a:r>
                        <a:rPr sz="800" dirty="0">
                          <a:latin typeface="Carlito"/>
                          <a:cs typeface="Carlito"/>
                        </a:rPr>
                        <a:t>3</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305"/>
                        </a:spcBef>
                      </a:pPr>
                      <a:r>
                        <a:rPr sz="800" dirty="0">
                          <a:latin typeface="Carlito"/>
                          <a:cs typeface="Carlito"/>
                        </a:rPr>
                        <a:t>3.0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305"/>
                        </a:spcBef>
                      </a:pPr>
                      <a:r>
                        <a:rPr sz="800" dirty="0">
                          <a:latin typeface="Carlito"/>
                          <a:cs typeface="Carlito"/>
                        </a:rPr>
                        <a:t>4.0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213360">
                <a:tc>
                  <a:txBody>
                    <a:bodyPr/>
                    <a:lstStyle/>
                    <a:p>
                      <a:pPr marL="2540" algn="ctr">
                        <a:lnSpc>
                          <a:spcPct val="100000"/>
                        </a:lnSpc>
                        <a:spcBef>
                          <a:spcPts val="305"/>
                        </a:spcBef>
                      </a:pPr>
                      <a:r>
                        <a:rPr sz="800" dirty="0">
                          <a:latin typeface="Carlito"/>
                          <a:cs typeface="Carlito"/>
                        </a:rPr>
                        <a:t>4</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05"/>
                        </a:spcBef>
                      </a:pPr>
                      <a:r>
                        <a:rPr sz="800" dirty="0">
                          <a:latin typeface="Carlito"/>
                          <a:cs typeface="Carlito"/>
                        </a:rPr>
                        <a:t>5.0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305"/>
                        </a:spcBef>
                      </a:pPr>
                      <a:r>
                        <a:rPr sz="800" dirty="0">
                          <a:latin typeface="Carlito"/>
                          <a:cs typeface="Carlito"/>
                        </a:rPr>
                        <a:t>7.0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213359">
                <a:tc>
                  <a:txBody>
                    <a:bodyPr/>
                    <a:lstStyle/>
                    <a:p>
                      <a:pPr marL="2540" algn="ctr">
                        <a:lnSpc>
                          <a:spcPct val="100000"/>
                        </a:lnSpc>
                        <a:spcBef>
                          <a:spcPts val="305"/>
                        </a:spcBef>
                      </a:pPr>
                      <a:r>
                        <a:rPr sz="800" dirty="0">
                          <a:latin typeface="Carlito"/>
                          <a:cs typeface="Carlito"/>
                        </a:rPr>
                        <a:t>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305"/>
                        </a:spcBef>
                      </a:pPr>
                      <a:r>
                        <a:rPr sz="800" dirty="0">
                          <a:latin typeface="Carlito"/>
                          <a:cs typeface="Carlito"/>
                        </a:rPr>
                        <a:t>3.5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305"/>
                        </a:spcBef>
                      </a:pPr>
                      <a:r>
                        <a:rPr sz="800" dirty="0">
                          <a:latin typeface="Carlito"/>
                          <a:cs typeface="Carlito"/>
                        </a:rPr>
                        <a:t>5.0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r h="213359">
                <a:tc>
                  <a:txBody>
                    <a:bodyPr/>
                    <a:lstStyle/>
                    <a:p>
                      <a:pPr marL="2540" algn="ctr">
                        <a:lnSpc>
                          <a:spcPct val="100000"/>
                        </a:lnSpc>
                        <a:spcBef>
                          <a:spcPts val="305"/>
                        </a:spcBef>
                      </a:pPr>
                      <a:r>
                        <a:rPr sz="800" dirty="0">
                          <a:latin typeface="Carlito"/>
                          <a:cs typeface="Carlito"/>
                        </a:rPr>
                        <a:t>6</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05"/>
                        </a:spcBef>
                      </a:pPr>
                      <a:r>
                        <a:rPr sz="800" dirty="0">
                          <a:latin typeface="Carlito"/>
                          <a:cs typeface="Carlito"/>
                        </a:rPr>
                        <a:t>4.5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305"/>
                        </a:spcBef>
                      </a:pPr>
                      <a:r>
                        <a:rPr sz="800" dirty="0">
                          <a:latin typeface="Carlito"/>
                          <a:cs typeface="Carlito"/>
                        </a:rPr>
                        <a:t>5.0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6"/>
                  </a:ext>
                </a:extLst>
              </a:tr>
              <a:tr h="213360">
                <a:tc>
                  <a:txBody>
                    <a:bodyPr/>
                    <a:lstStyle/>
                    <a:p>
                      <a:pPr marL="2540" algn="ctr">
                        <a:lnSpc>
                          <a:spcPct val="100000"/>
                        </a:lnSpc>
                        <a:spcBef>
                          <a:spcPts val="305"/>
                        </a:spcBef>
                      </a:pPr>
                      <a:r>
                        <a:rPr sz="800" dirty="0">
                          <a:latin typeface="Carlito"/>
                          <a:cs typeface="Carlito"/>
                        </a:rPr>
                        <a:t>7</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305"/>
                        </a:spcBef>
                      </a:pPr>
                      <a:r>
                        <a:rPr sz="800" dirty="0">
                          <a:latin typeface="Carlito"/>
                          <a:cs typeface="Carlito"/>
                        </a:rPr>
                        <a:t>3.5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305"/>
                        </a:spcBef>
                      </a:pPr>
                      <a:r>
                        <a:rPr sz="800" dirty="0">
                          <a:latin typeface="Carlito"/>
                          <a:cs typeface="Carlito"/>
                        </a:rPr>
                        <a:t>4.5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7"/>
                  </a:ext>
                </a:extLst>
              </a:tr>
            </a:tbl>
          </a:graphicData>
        </a:graphic>
      </p:graphicFrame>
      <p:sp>
        <p:nvSpPr>
          <p:cNvPr id="11" name="object 11"/>
          <p:cNvSpPr/>
          <p:nvPr/>
        </p:nvSpPr>
        <p:spPr>
          <a:xfrm>
            <a:off x="7029195" y="976122"/>
            <a:ext cx="2081276" cy="785621"/>
          </a:xfrm>
          <a:prstGeom prst="rect">
            <a:avLst/>
          </a:prstGeom>
          <a:blipFill>
            <a:blip r:embed="rId2" cstate="print"/>
            <a:stretch>
              <a:fillRect/>
            </a:stretch>
          </a:blipFill>
        </p:spPr>
        <p:txBody>
          <a:bodyPr wrap="square" lIns="0" tIns="0" rIns="0" bIns="0" rtlCol="0"/>
          <a:lstStyle/>
          <a:p>
            <a:endParaRPr/>
          </a:p>
        </p:txBody>
      </p:sp>
      <p:sp>
        <p:nvSpPr>
          <p:cNvPr id="12" name="object 12"/>
          <p:cNvSpPr/>
          <p:nvPr/>
        </p:nvSpPr>
        <p:spPr>
          <a:xfrm>
            <a:off x="4022725" y="1663573"/>
            <a:ext cx="484632" cy="345439"/>
          </a:xfrm>
          <a:prstGeom prst="rect">
            <a:avLst/>
          </a:prstGeom>
          <a:blipFill>
            <a:blip r:embed="rId3" cstate="print"/>
            <a:stretch>
              <a:fillRect/>
            </a:stretch>
          </a:blipFill>
        </p:spPr>
        <p:txBody>
          <a:bodyPr wrap="square" lIns="0" tIns="0" rIns="0" bIns="0" rtlCol="0"/>
          <a:lstStyle/>
          <a:p>
            <a:endParaRPr/>
          </a:p>
        </p:txBody>
      </p:sp>
      <p:sp>
        <p:nvSpPr>
          <p:cNvPr id="13" name="object 13"/>
          <p:cNvSpPr/>
          <p:nvPr/>
        </p:nvSpPr>
        <p:spPr>
          <a:xfrm>
            <a:off x="5646546" y="1683385"/>
            <a:ext cx="471424" cy="364489"/>
          </a:xfrm>
          <a:prstGeom prst="rect">
            <a:avLst/>
          </a:prstGeom>
          <a:blipFill>
            <a:blip r:embed="rId4" cstate="print"/>
            <a:stretch>
              <a:fillRect/>
            </a:stretch>
          </a:blipFill>
        </p:spPr>
        <p:txBody>
          <a:bodyPr wrap="square" lIns="0" tIns="0" rIns="0" bIns="0" rtlCol="0"/>
          <a:lstStyle/>
          <a:p>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42</a:t>
            </a:fld>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6988" y="4003547"/>
            <a:ext cx="7386955" cy="0"/>
          </a:xfrm>
          <a:custGeom>
            <a:avLst/>
            <a:gdLst/>
            <a:ahLst/>
            <a:cxnLst/>
            <a:rect l="l" t="t" r="r" b="b"/>
            <a:pathLst>
              <a:path w="7386955">
                <a:moveTo>
                  <a:pt x="0" y="0"/>
                </a:moveTo>
                <a:lnTo>
                  <a:pt x="7386828" y="0"/>
                </a:lnTo>
              </a:path>
            </a:pathLst>
          </a:custGeom>
          <a:ln w="9144">
            <a:solidFill>
              <a:srgbClr val="D9D9D9"/>
            </a:solidFill>
          </a:ln>
        </p:spPr>
        <p:txBody>
          <a:bodyPr wrap="square" lIns="0" tIns="0" rIns="0" bIns="0" rtlCol="0"/>
          <a:lstStyle/>
          <a:p>
            <a:endParaRPr/>
          </a:p>
        </p:txBody>
      </p:sp>
      <p:sp>
        <p:nvSpPr>
          <p:cNvPr id="3" name="object 3"/>
          <p:cNvSpPr/>
          <p:nvPr/>
        </p:nvSpPr>
        <p:spPr>
          <a:xfrm>
            <a:off x="1046988" y="3659123"/>
            <a:ext cx="7386955" cy="0"/>
          </a:xfrm>
          <a:custGeom>
            <a:avLst/>
            <a:gdLst/>
            <a:ahLst/>
            <a:cxnLst/>
            <a:rect l="l" t="t" r="r" b="b"/>
            <a:pathLst>
              <a:path w="7386955">
                <a:moveTo>
                  <a:pt x="0" y="0"/>
                </a:moveTo>
                <a:lnTo>
                  <a:pt x="7386828" y="0"/>
                </a:lnTo>
              </a:path>
            </a:pathLst>
          </a:custGeom>
          <a:ln w="9144">
            <a:solidFill>
              <a:srgbClr val="D9D9D9"/>
            </a:solidFill>
          </a:ln>
        </p:spPr>
        <p:txBody>
          <a:bodyPr wrap="square" lIns="0" tIns="0" rIns="0" bIns="0" rtlCol="0"/>
          <a:lstStyle/>
          <a:p>
            <a:endParaRPr/>
          </a:p>
        </p:txBody>
      </p:sp>
      <p:sp>
        <p:nvSpPr>
          <p:cNvPr id="4" name="object 4"/>
          <p:cNvSpPr/>
          <p:nvPr/>
        </p:nvSpPr>
        <p:spPr>
          <a:xfrm>
            <a:off x="1046988" y="3314700"/>
            <a:ext cx="7386955" cy="0"/>
          </a:xfrm>
          <a:custGeom>
            <a:avLst/>
            <a:gdLst/>
            <a:ahLst/>
            <a:cxnLst/>
            <a:rect l="l" t="t" r="r" b="b"/>
            <a:pathLst>
              <a:path w="7386955">
                <a:moveTo>
                  <a:pt x="0" y="0"/>
                </a:moveTo>
                <a:lnTo>
                  <a:pt x="7386828" y="0"/>
                </a:lnTo>
              </a:path>
            </a:pathLst>
          </a:custGeom>
          <a:ln w="9144">
            <a:solidFill>
              <a:srgbClr val="D9D9D9"/>
            </a:solidFill>
          </a:ln>
        </p:spPr>
        <p:txBody>
          <a:bodyPr wrap="square" lIns="0" tIns="0" rIns="0" bIns="0" rtlCol="0"/>
          <a:lstStyle/>
          <a:p>
            <a:endParaRPr/>
          </a:p>
        </p:txBody>
      </p:sp>
      <p:sp>
        <p:nvSpPr>
          <p:cNvPr id="5" name="object 5"/>
          <p:cNvSpPr/>
          <p:nvPr/>
        </p:nvSpPr>
        <p:spPr>
          <a:xfrm>
            <a:off x="1046988" y="2971800"/>
            <a:ext cx="7386955" cy="0"/>
          </a:xfrm>
          <a:custGeom>
            <a:avLst/>
            <a:gdLst/>
            <a:ahLst/>
            <a:cxnLst/>
            <a:rect l="l" t="t" r="r" b="b"/>
            <a:pathLst>
              <a:path w="7386955">
                <a:moveTo>
                  <a:pt x="0" y="0"/>
                </a:moveTo>
                <a:lnTo>
                  <a:pt x="7386828" y="0"/>
                </a:lnTo>
              </a:path>
            </a:pathLst>
          </a:custGeom>
          <a:ln w="9144">
            <a:solidFill>
              <a:srgbClr val="D9D9D9"/>
            </a:solidFill>
          </a:ln>
        </p:spPr>
        <p:txBody>
          <a:bodyPr wrap="square" lIns="0" tIns="0" rIns="0" bIns="0" rtlCol="0"/>
          <a:lstStyle/>
          <a:p>
            <a:endParaRPr/>
          </a:p>
        </p:txBody>
      </p:sp>
      <p:sp>
        <p:nvSpPr>
          <p:cNvPr id="6" name="object 6"/>
          <p:cNvSpPr/>
          <p:nvPr/>
        </p:nvSpPr>
        <p:spPr>
          <a:xfrm>
            <a:off x="1046988" y="2627376"/>
            <a:ext cx="7386955" cy="0"/>
          </a:xfrm>
          <a:custGeom>
            <a:avLst/>
            <a:gdLst/>
            <a:ahLst/>
            <a:cxnLst/>
            <a:rect l="l" t="t" r="r" b="b"/>
            <a:pathLst>
              <a:path w="7386955">
                <a:moveTo>
                  <a:pt x="0" y="0"/>
                </a:moveTo>
                <a:lnTo>
                  <a:pt x="7386828" y="0"/>
                </a:lnTo>
              </a:path>
            </a:pathLst>
          </a:custGeom>
          <a:ln w="9144">
            <a:solidFill>
              <a:srgbClr val="D9D9D9"/>
            </a:solidFill>
          </a:ln>
        </p:spPr>
        <p:txBody>
          <a:bodyPr wrap="square" lIns="0" tIns="0" rIns="0" bIns="0" rtlCol="0"/>
          <a:lstStyle/>
          <a:p>
            <a:endParaRPr/>
          </a:p>
        </p:txBody>
      </p:sp>
      <p:sp>
        <p:nvSpPr>
          <p:cNvPr id="7" name="object 7"/>
          <p:cNvSpPr/>
          <p:nvPr/>
        </p:nvSpPr>
        <p:spPr>
          <a:xfrm>
            <a:off x="1046988" y="2282951"/>
            <a:ext cx="7386955" cy="0"/>
          </a:xfrm>
          <a:custGeom>
            <a:avLst/>
            <a:gdLst/>
            <a:ahLst/>
            <a:cxnLst/>
            <a:rect l="l" t="t" r="r" b="b"/>
            <a:pathLst>
              <a:path w="7386955">
                <a:moveTo>
                  <a:pt x="0" y="0"/>
                </a:moveTo>
                <a:lnTo>
                  <a:pt x="7386828" y="0"/>
                </a:lnTo>
              </a:path>
            </a:pathLst>
          </a:custGeom>
          <a:ln w="9144">
            <a:solidFill>
              <a:srgbClr val="D9D9D9"/>
            </a:solidFill>
          </a:ln>
        </p:spPr>
        <p:txBody>
          <a:bodyPr wrap="square" lIns="0" tIns="0" rIns="0" bIns="0" rtlCol="0"/>
          <a:lstStyle/>
          <a:p>
            <a:endParaRPr/>
          </a:p>
        </p:txBody>
      </p:sp>
      <p:sp>
        <p:nvSpPr>
          <p:cNvPr id="8" name="object 8"/>
          <p:cNvSpPr/>
          <p:nvPr/>
        </p:nvSpPr>
        <p:spPr>
          <a:xfrm>
            <a:off x="1046988" y="1938527"/>
            <a:ext cx="7386955" cy="0"/>
          </a:xfrm>
          <a:custGeom>
            <a:avLst/>
            <a:gdLst/>
            <a:ahLst/>
            <a:cxnLst/>
            <a:rect l="l" t="t" r="r" b="b"/>
            <a:pathLst>
              <a:path w="7386955">
                <a:moveTo>
                  <a:pt x="0" y="0"/>
                </a:moveTo>
                <a:lnTo>
                  <a:pt x="7386828" y="0"/>
                </a:lnTo>
              </a:path>
            </a:pathLst>
          </a:custGeom>
          <a:ln w="9144">
            <a:solidFill>
              <a:srgbClr val="D9D9D9"/>
            </a:solidFill>
          </a:ln>
        </p:spPr>
        <p:txBody>
          <a:bodyPr wrap="square" lIns="0" tIns="0" rIns="0" bIns="0" rtlCol="0"/>
          <a:lstStyle/>
          <a:p>
            <a:endParaRPr/>
          </a:p>
        </p:txBody>
      </p:sp>
      <p:grpSp>
        <p:nvGrpSpPr>
          <p:cNvPr id="9" name="object 9"/>
          <p:cNvGrpSpPr/>
          <p:nvPr/>
        </p:nvGrpSpPr>
        <p:grpSpPr>
          <a:xfrm>
            <a:off x="1042225" y="1590865"/>
            <a:ext cx="7396480" cy="2760345"/>
            <a:chOff x="1042225" y="1590865"/>
            <a:chExt cx="7396480" cy="2760345"/>
          </a:xfrm>
        </p:grpSpPr>
        <p:sp>
          <p:nvSpPr>
            <p:cNvPr id="10" name="object 10"/>
            <p:cNvSpPr/>
            <p:nvPr/>
          </p:nvSpPr>
          <p:spPr>
            <a:xfrm>
              <a:off x="1046988" y="1595627"/>
              <a:ext cx="7386955" cy="2750820"/>
            </a:xfrm>
            <a:custGeom>
              <a:avLst/>
              <a:gdLst/>
              <a:ahLst/>
              <a:cxnLst/>
              <a:rect l="l" t="t" r="r" b="b"/>
              <a:pathLst>
                <a:path w="7386955" h="2750820">
                  <a:moveTo>
                    <a:pt x="0" y="0"/>
                  </a:moveTo>
                  <a:lnTo>
                    <a:pt x="7386828" y="0"/>
                  </a:lnTo>
                </a:path>
                <a:path w="7386955" h="2750820">
                  <a:moveTo>
                    <a:pt x="1229868" y="0"/>
                  </a:moveTo>
                  <a:lnTo>
                    <a:pt x="1229868" y="2750820"/>
                  </a:lnTo>
                </a:path>
                <a:path w="7386955" h="2750820">
                  <a:moveTo>
                    <a:pt x="2461260" y="0"/>
                  </a:moveTo>
                  <a:lnTo>
                    <a:pt x="2461260" y="2750820"/>
                  </a:lnTo>
                </a:path>
                <a:path w="7386955" h="2750820">
                  <a:moveTo>
                    <a:pt x="3692652" y="0"/>
                  </a:moveTo>
                  <a:lnTo>
                    <a:pt x="3692652" y="2750820"/>
                  </a:lnTo>
                </a:path>
                <a:path w="7386955" h="2750820">
                  <a:moveTo>
                    <a:pt x="4924044" y="0"/>
                  </a:moveTo>
                  <a:lnTo>
                    <a:pt x="4924044" y="2750820"/>
                  </a:lnTo>
                </a:path>
                <a:path w="7386955" h="2750820">
                  <a:moveTo>
                    <a:pt x="6155436" y="0"/>
                  </a:moveTo>
                  <a:lnTo>
                    <a:pt x="6155436" y="2750820"/>
                  </a:lnTo>
                </a:path>
                <a:path w="7386955" h="2750820">
                  <a:moveTo>
                    <a:pt x="7386828" y="0"/>
                  </a:moveTo>
                  <a:lnTo>
                    <a:pt x="7386828" y="2750820"/>
                  </a:lnTo>
                </a:path>
              </a:pathLst>
            </a:custGeom>
            <a:ln w="9144">
              <a:solidFill>
                <a:srgbClr val="D9D9D9"/>
              </a:solidFill>
            </a:ln>
          </p:spPr>
          <p:txBody>
            <a:bodyPr wrap="square" lIns="0" tIns="0" rIns="0" bIns="0" rtlCol="0"/>
            <a:lstStyle/>
            <a:p>
              <a:endParaRPr/>
            </a:p>
          </p:txBody>
        </p:sp>
        <p:sp>
          <p:nvSpPr>
            <p:cNvPr id="11" name="object 11"/>
            <p:cNvSpPr/>
            <p:nvPr/>
          </p:nvSpPr>
          <p:spPr>
            <a:xfrm>
              <a:off x="1046988" y="1595627"/>
              <a:ext cx="7386955" cy="2750820"/>
            </a:xfrm>
            <a:custGeom>
              <a:avLst/>
              <a:gdLst/>
              <a:ahLst/>
              <a:cxnLst/>
              <a:rect l="l" t="t" r="r" b="b"/>
              <a:pathLst>
                <a:path w="7386955" h="2750820">
                  <a:moveTo>
                    <a:pt x="0" y="2750820"/>
                  </a:moveTo>
                  <a:lnTo>
                    <a:pt x="0" y="0"/>
                  </a:lnTo>
                </a:path>
                <a:path w="7386955" h="2750820">
                  <a:moveTo>
                    <a:pt x="0" y="2750820"/>
                  </a:moveTo>
                  <a:lnTo>
                    <a:pt x="7386828" y="2750820"/>
                  </a:lnTo>
                </a:path>
              </a:pathLst>
            </a:custGeom>
            <a:ln w="9144">
              <a:solidFill>
                <a:srgbClr val="BEBEBE"/>
              </a:solidFill>
            </a:ln>
          </p:spPr>
          <p:txBody>
            <a:bodyPr wrap="square" lIns="0" tIns="0" rIns="0" bIns="0" rtlCol="0"/>
            <a:lstStyle/>
            <a:p>
              <a:endParaRPr/>
            </a:p>
          </p:txBody>
        </p:sp>
        <p:sp>
          <p:nvSpPr>
            <p:cNvPr id="12" name="object 12"/>
            <p:cNvSpPr/>
            <p:nvPr/>
          </p:nvSpPr>
          <p:spPr>
            <a:xfrm>
              <a:off x="2240280" y="3966210"/>
              <a:ext cx="73152" cy="73152"/>
            </a:xfrm>
            <a:prstGeom prst="rect">
              <a:avLst/>
            </a:prstGeom>
            <a:blipFill>
              <a:blip r:embed="rId2" cstate="print"/>
              <a:stretch>
                <a:fillRect/>
              </a:stretch>
            </a:blipFill>
          </p:spPr>
          <p:txBody>
            <a:bodyPr wrap="square" lIns="0" tIns="0" rIns="0" bIns="0" rtlCol="0"/>
            <a:lstStyle/>
            <a:p>
              <a:endParaRPr/>
            </a:p>
          </p:txBody>
        </p:sp>
        <p:sp>
          <p:nvSpPr>
            <p:cNvPr id="13" name="object 13"/>
            <p:cNvSpPr/>
            <p:nvPr/>
          </p:nvSpPr>
          <p:spPr>
            <a:xfrm>
              <a:off x="2855976" y="3621785"/>
              <a:ext cx="73152" cy="73151"/>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4703064" y="2934461"/>
              <a:ext cx="73152" cy="73152"/>
            </a:xfrm>
            <a:prstGeom prst="rect">
              <a:avLst/>
            </a:prstGeom>
            <a:blipFill>
              <a:blip r:embed="rId3" cstate="print"/>
              <a:stretch>
                <a:fillRect/>
              </a:stretch>
            </a:blipFill>
          </p:spPr>
          <p:txBody>
            <a:bodyPr wrap="square" lIns="0" tIns="0" rIns="0" bIns="0" rtlCol="0"/>
            <a:lstStyle/>
            <a:p>
              <a:endParaRPr/>
            </a:p>
          </p:txBody>
        </p:sp>
        <p:sp>
          <p:nvSpPr>
            <p:cNvPr id="15" name="object 15"/>
            <p:cNvSpPr/>
            <p:nvPr/>
          </p:nvSpPr>
          <p:spPr>
            <a:xfrm>
              <a:off x="7165847" y="1901189"/>
              <a:ext cx="73151" cy="73152"/>
            </a:xfrm>
            <a:prstGeom prst="rect">
              <a:avLst/>
            </a:prstGeom>
            <a:blipFill>
              <a:blip r:embed="rId3" cstate="print"/>
              <a:stretch>
                <a:fillRect/>
              </a:stretch>
            </a:blipFill>
          </p:spPr>
          <p:txBody>
            <a:bodyPr wrap="square" lIns="0" tIns="0" rIns="0" bIns="0" rtlCol="0"/>
            <a:lstStyle/>
            <a:p>
              <a:endParaRPr/>
            </a:p>
          </p:txBody>
        </p:sp>
        <p:sp>
          <p:nvSpPr>
            <p:cNvPr id="16" name="object 16"/>
            <p:cNvSpPr/>
            <p:nvPr/>
          </p:nvSpPr>
          <p:spPr>
            <a:xfrm>
              <a:off x="5318759" y="2590038"/>
              <a:ext cx="73151" cy="73152"/>
            </a:xfrm>
            <a:prstGeom prst="rect">
              <a:avLst/>
            </a:prstGeom>
            <a:blipFill>
              <a:blip r:embed="rId4" cstate="print"/>
              <a:stretch>
                <a:fillRect/>
              </a:stretch>
            </a:blipFill>
          </p:spPr>
          <p:txBody>
            <a:bodyPr wrap="square" lIns="0" tIns="0" rIns="0" bIns="0" rtlCol="0"/>
            <a:lstStyle/>
            <a:p>
              <a:endParaRPr/>
            </a:p>
          </p:txBody>
        </p:sp>
        <p:sp>
          <p:nvSpPr>
            <p:cNvPr id="17" name="object 17"/>
            <p:cNvSpPr/>
            <p:nvPr/>
          </p:nvSpPr>
          <p:spPr>
            <a:xfrm>
              <a:off x="6550152" y="2590038"/>
              <a:ext cx="73151" cy="73152"/>
            </a:xfrm>
            <a:prstGeom prst="rect">
              <a:avLst/>
            </a:prstGeom>
            <a:blipFill>
              <a:blip r:embed="rId5" cstate="print"/>
              <a:stretch>
                <a:fillRect/>
              </a:stretch>
            </a:blipFill>
          </p:spPr>
          <p:txBody>
            <a:bodyPr wrap="square" lIns="0" tIns="0" rIns="0" bIns="0" rtlCol="0"/>
            <a:lstStyle/>
            <a:p>
              <a:endParaRPr/>
            </a:p>
          </p:txBody>
        </p:sp>
        <p:sp>
          <p:nvSpPr>
            <p:cNvPr id="18" name="object 18"/>
            <p:cNvSpPr/>
            <p:nvPr/>
          </p:nvSpPr>
          <p:spPr>
            <a:xfrm>
              <a:off x="5318759" y="2724911"/>
              <a:ext cx="164591" cy="110490"/>
            </a:xfrm>
            <a:prstGeom prst="rect">
              <a:avLst/>
            </a:prstGeom>
            <a:blipFill>
              <a:blip r:embed="rId6" cstate="print"/>
              <a:stretch>
                <a:fillRect/>
              </a:stretch>
            </a:blipFill>
          </p:spPr>
          <p:txBody>
            <a:bodyPr wrap="square" lIns="0" tIns="0" rIns="0" bIns="0" rtlCol="0"/>
            <a:lstStyle/>
            <a:p>
              <a:endParaRPr/>
            </a:p>
          </p:txBody>
        </p:sp>
      </p:grpSp>
      <p:sp>
        <p:nvSpPr>
          <p:cNvPr id="19" name="object 19"/>
          <p:cNvSpPr txBox="1"/>
          <p:nvPr/>
        </p:nvSpPr>
        <p:spPr>
          <a:xfrm>
            <a:off x="2140966" y="3782669"/>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1</a:t>
            </a:r>
            <a:endParaRPr sz="900">
              <a:latin typeface="Carlito"/>
              <a:cs typeface="Carlito"/>
            </a:endParaRPr>
          </a:p>
        </p:txBody>
      </p:sp>
      <p:sp>
        <p:nvSpPr>
          <p:cNvPr id="20" name="object 20"/>
          <p:cNvSpPr txBox="1"/>
          <p:nvPr/>
        </p:nvSpPr>
        <p:spPr>
          <a:xfrm>
            <a:off x="2864485" y="3412997"/>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2</a:t>
            </a:r>
            <a:endParaRPr sz="900">
              <a:latin typeface="Carlito"/>
              <a:cs typeface="Carlito"/>
            </a:endParaRPr>
          </a:p>
        </p:txBody>
      </p:sp>
      <p:sp>
        <p:nvSpPr>
          <p:cNvPr id="21" name="object 21"/>
          <p:cNvSpPr txBox="1"/>
          <p:nvPr/>
        </p:nvSpPr>
        <p:spPr>
          <a:xfrm>
            <a:off x="4711572" y="2724657"/>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3</a:t>
            </a:r>
            <a:endParaRPr sz="900">
              <a:latin typeface="Carlito"/>
              <a:cs typeface="Carlito"/>
            </a:endParaRPr>
          </a:p>
        </p:txBody>
      </p:sp>
      <p:sp>
        <p:nvSpPr>
          <p:cNvPr id="22" name="object 22"/>
          <p:cNvSpPr txBox="1"/>
          <p:nvPr/>
        </p:nvSpPr>
        <p:spPr>
          <a:xfrm>
            <a:off x="7174356" y="1692402"/>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4</a:t>
            </a:r>
            <a:endParaRPr sz="900">
              <a:latin typeface="Carlito"/>
              <a:cs typeface="Carlito"/>
            </a:endParaRPr>
          </a:p>
        </p:txBody>
      </p:sp>
      <p:sp>
        <p:nvSpPr>
          <p:cNvPr id="23" name="object 23"/>
          <p:cNvSpPr txBox="1"/>
          <p:nvPr/>
        </p:nvSpPr>
        <p:spPr>
          <a:xfrm>
            <a:off x="5327269" y="2380614"/>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5</a:t>
            </a:r>
            <a:endParaRPr sz="900">
              <a:latin typeface="Carlito"/>
              <a:cs typeface="Carlito"/>
            </a:endParaRPr>
          </a:p>
        </p:txBody>
      </p:sp>
      <p:sp>
        <p:nvSpPr>
          <p:cNvPr id="24" name="object 24"/>
          <p:cNvSpPr txBox="1"/>
          <p:nvPr/>
        </p:nvSpPr>
        <p:spPr>
          <a:xfrm>
            <a:off x="6558660" y="2380614"/>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6</a:t>
            </a:r>
            <a:endParaRPr sz="900">
              <a:latin typeface="Carlito"/>
              <a:cs typeface="Carlito"/>
            </a:endParaRPr>
          </a:p>
        </p:txBody>
      </p:sp>
      <p:sp>
        <p:nvSpPr>
          <p:cNvPr id="25" name="object 25"/>
          <p:cNvSpPr txBox="1"/>
          <p:nvPr/>
        </p:nvSpPr>
        <p:spPr>
          <a:xfrm>
            <a:off x="5517769" y="2641473"/>
            <a:ext cx="71120" cy="162560"/>
          </a:xfrm>
          <a:prstGeom prst="rect">
            <a:avLst/>
          </a:prstGeom>
        </p:spPr>
        <p:txBody>
          <a:bodyPr vert="horz" wrap="square" lIns="0" tIns="12700" rIns="0" bIns="0" rtlCol="0">
            <a:spAutoFit/>
          </a:bodyPr>
          <a:lstStyle/>
          <a:p>
            <a:pPr>
              <a:lnSpc>
                <a:spcPct val="100000"/>
              </a:lnSpc>
              <a:spcBef>
                <a:spcPts val="100"/>
              </a:spcBef>
            </a:pPr>
            <a:r>
              <a:rPr sz="900" dirty="0">
                <a:solidFill>
                  <a:srgbClr val="404040"/>
                </a:solidFill>
                <a:latin typeface="Carlito"/>
                <a:cs typeface="Carlito"/>
              </a:rPr>
              <a:t>7</a:t>
            </a:r>
            <a:endParaRPr sz="900">
              <a:latin typeface="Carlito"/>
              <a:cs typeface="Carlito"/>
            </a:endParaRPr>
          </a:p>
        </p:txBody>
      </p:sp>
      <p:sp>
        <p:nvSpPr>
          <p:cNvPr id="26" name="object 26"/>
          <p:cNvSpPr txBox="1"/>
          <p:nvPr/>
        </p:nvSpPr>
        <p:spPr>
          <a:xfrm>
            <a:off x="725220" y="3909466"/>
            <a:ext cx="228600" cy="50673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1.00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0.00</a:t>
            </a:r>
            <a:endParaRPr sz="900">
              <a:latin typeface="Carlito"/>
              <a:cs typeface="Carlito"/>
            </a:endParaRPr>
          </a:p>
        </p:txBody>
      </p:sp>
      <p:sp>
        <p:nvSpPr>
          <p:cNvPr id="27" name="object 27"/>
          <p:cNvSpPr txBox="1"/>
          <p:nvPr/>
        </p:nvSpPr>
        <p:spPr>
          <a:xfrm>
            <a:off x="725220" y="3565397"/>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2.00</a:t>
            </a:r>
            <a:endParaRPr sz="900">
              <a:latin typeface="Carlito"/>
              <a:cs typeface="Carlito"/>
            </a:endParaRPr>
          </a:p>
        </p:txBody>
      </p:sp>
      <p:sp>
        <p:nvSpPr>
          <p:cNvPr id="28" name="object 28"/>
          <p:cNvSpPr txBox="1"/>
          <p:nvPr/>
        </p:nvSpPr>
        <p:spPr>
          <a:xfrm>
            <a:off x="725220" y="2877057"/>
            <a:ext cx="228600" cy="50673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4.00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3.00</a:t>
            </a:r>
            <a:endParaRPr sz="900">
              <a:latin typeface="Carlito"/>
              <a:cs typeface="Carlito"/>
            </a:endParaRPr>
          </a:p>
        </p:txBody>
      </p:sp>
      <p:sp>
        <p:nvSpPr>
          <p:cNvPr id="29" name="object 29"/>
          <p:cNvSpPr txBox="1"/>
          <p:nvPr/>
        </p:nvSpPr>
        <p:spPr>
          <a:xfrm>
            <a:off x="725220" y="2533014"/>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5.00</a:t>
            </a:r>
            <a:endParaRPr sz="900">
              <a:latin typeface="Carlito"/>
              <a:cs typeface="Carlito"/>
            </a:endParaRPr>
          </a:p>
        </p:txBody>
      </p:sp>
      <p:sp>
        <p:nvSpPr>
          <p:cNvPr id="30" name="object 30"/>
          <p:cNvSpPr txBox="1"/>
          <p:nvPr/>
        </p:nvSpPr>
        <p:spPr>
          <a:xfrm>
            <a:off x="725220" y="1844801"/>
            <a:ext cx="228600" cy="50673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7.00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6.00</a:t>
            </a:r>
            <a:endParaRPr sz="900">
              <a:latin typeface="Carlito"/>
              <a:cs typeface="Carlito"/>
            </a:endParaRPr>
          </a:p>
        </p:txBody>
      </p:sp>
      <p:sp>
        <p:nvSpPr>
          <p:cNvPr id="31" name="object 31"/>
          <p:cNvSpPr txBox="1"/>
          <p:nvPr/>
        </p:nvSpPr>
        <p:spPr>
          <a:xfrm>
            <a:off x="725220" y="1500632"/>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8.00</a:t>
            </a:r>
            <a:endParaRPr sz="900">
              <a:latin typeface="Carlito"/>
              <a:cs typeface="Carlito"/>
            </a:endParaRPr>
          </a:p>
        </p:txBody>
      </p:sp>
      <p:sp>
        <p:nvSpPr>
          <p:cNvPr id="32" name="object 32"/>
          <p:cNvSpPr txBox="1"/>
          <p:nvPr/>
        </p:nvSpPr>
        <p:spPr>
          <a:xfrm>
            <a:off x="932789"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0.00</a:t>
            </a:r>
            <a:endParaRPr sz="900">
              <a:latin typeface="Carlito"/>
              <a:cs typeface="Carlito"/>
            </a:endParaRPr>
          </a:p>
        </p:txBody>
      </p:sp>
      <p:sp>
        <p:nvSpPr>
          <p:cNvPr id="33" name="object 33"/>
          <p:cNvSpPr txBox="1"/>
          <p:nvPr/>
        </p:nvSpPr>
        <p:spPr>
          <a:xfrm>
            <a:off x="2163826"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1.00</a:t>
            </a:r>
            <a:endParaRPr sz="900">
              <a:latin typeface="Carlito"/>
              <a:cs typeface="Carlito"/>
            </a:endParaRPr>
          </a:p>
        </p:txBody>
      </p:sp>
      <p:sp>
        <p:nvSpPr>
          <p:cNvPr id="34" name="object 34"/>
          <p:cNvSpPr txBox="1"/>
          <p:nvPr/>
        </p:nvSpPr>
        <p:spPr>
          <a:xfrm>
            <a:off x="3395217"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2.00</a:t>
            </a:r>
            <a:endParaRPr sz="900">
              <a:latin typeface="Carlito"/>
              <a:cs typeface="Carlito"/>
            </a:endParaRPr>
          </a:p>
        </p:txBody>
      </p:sp>
      <p:sp>
        <p:nvSpPr>
          <p:cNvPr id="35" name="object 35"/>
          <p:cNvSpPr txBox="1"/>
          <p:nvPr/>
        </p:nvSpPr>
        <p:spPr>
          <a:xfrm>
            <a:off x="4626609"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3.00</a:t>
            </a:r>
            <a:endParaRPr sz="900">
              <a:latin typeface="Carlito"/>
              <a:cs typeface="Carlito"/>
            </a:endParaRPr>
          </a:p>
        </p:txBody>
      </p:sp>
      <p:sp>
        <p:nvSpPr>
          <p:cNvPr id="36" name="object 36"/>
          <p:cNvSpPr txBox="1"/>
          <p:nvPr/>
        </p:nvSpPr>
        <p:spPr>
          <a:xfrm>
            <a:off x="5858002"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4.00</a:t>
            </a:r>
            <a:endParaRPr sz="900">
              <a:latin typeface="Carlito"/>
              <a:cs typeface="Carlito"/>
            </a:endParaRPr>
          </a:p>
        </p:txBody>
      </p:sp>
      <p:sp>
        <p:nvSpPr>
          <p:cNvPr id="37" name="object 37"/>
          <p:cNvSpPr txBox="1"/>
          <p:nvPr/>
        </p:nvSpPr>
        <p:spPr>
          <a:xfrm>
            <a:off x="7089140"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5.00</a:t>
            </a:r>
            <a:endParaRPr sz="900">
              <a:latin typeface="Carlito"/>
              <a:cs typeface="Carlito"/>
            </a:endParaRPr>
          </a:p>
        </p:txBody>
      </p:sp>
      <p:sp>
        <p:nvSpPr>
          <p:cNvPr id="38" name="object 38"/>
          <p:cNvSpPr txBox="1"/>
          <p:nvPr/>
        </p:nvSpPr>
        <p:spPr>
          <a:xfrm>
            <a:off x="8320531"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6.00</a:t>
            </a:r>
            <a:endParaRPr sz="900">
              <a:latin typeface="Carlito"/>
              <a:cs typeface="Carlito"/>
            </a:endParaRPr>
          </a:p>
        </p:txBody>
      </p:sp>
      <p:sp>
        <p:nvSpPr>
          <p:cNvPr id="39" name="object 39"/>
          <p:cNvSpPr txBox="1"/>
          <p:nvPr/>
        </p:nvSpPr>
        <p:spPr>
          <a:xfrm>
            <a:off x="4201795" y="1273505"/>
            <a:ext cx="742950" cy="240029"/>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585858"/>
                </a:solidFill>
                <a:latin typeface="Carlito"/>
                <a:cs typeface="Carlito"/>
              </a:rPr>
              <a:t>Variable</a:t>
            </a:r>
            <a:r>
              <a:rPr sz="1400" spc="-85" dirty="0">
                <a:solidFill>
                  <a:srgbClr val="585858"/>
                </a:solidFill>
                <a:latin typeface="Carlito"/>
                <a:cs typeface="Carlito"/>
              </a:rPr>
              <a:t> </a:t>
            </a:r>
            <a:r>
              <a:rPr sz="1400" dirty="0">
                <a:solidFill>
                  <a:srgbClr val="585858"/>
                </a:solidFill>
                <a:latin typeface="Carlito"/>
                <a:cs typeface="Carlito"/>
              </a:rPr>
              <a:t>2</a:t>
            </a:r>
            <a:endParaRPr sz="1400">
              <a:latin typeface="Carlito"/>
              <a:cs typeface="Carlito"/>
            </a:endParaRPr>
          </a:p>
        </p:txBody>
      </p:sp>
      <p:grpSp>
        <p:nvGrpSpPr>
          <p:cNvPr id="40" name="object 40"/>
          <p:cNvGrpSpPr/>
          <p:nvPr/>
        </p:nvGrpSpPr>
        <p:grpSpPr>
          <a:xfrm>
            <a:off x="2089404" y="1642872"/>
            <a:ext cx="5287010" cy="2510155"/>
            <a:chOff x="2089404" y="1642872"/>
            <a:chExt cx="5287010" cy="2510155"/>
          </a:xfrm>
        </p:grpSpPr>
        <p:sp>
          <p:nvSpPr>
            <p:cNvPr id="41" name="object 41"/>
            <p:cNvSpPr/>
            <p:nvPr/>
          </p:nvSpPr>
          <p:spPr>
            <a:xfrm>
              <a:off x="2102358" y="1655826"/>
              <a:ext cx="5260975" cy="2484120"/>
            </a:xfrm>
            <a:custGeom>
              <a:avLst/>
              <a:gdLst/>
              <a:ahLst/>
              <a:cxnLst/>
              <a:rect l="l" t="t" r="r" b="b"/>
              <a:pathLst>
                <a:path w="5260975" h="2484120">
                  <a:moveTo>
                    <a:pt x="0" y="2163318"/>
                  </a:moveTo>
                  <a:lnTo>
                    <a:pt x="12515" y="2094501"/>
                  </a:lnTo>
                  <a:lnTo>
                    <a:pt x="48296" y="2030826"/>
                  </a:lnTo>
                  <a:lnTo>
                    <a:pt x="74083" y="2001407"/>
                  </a:lnTo>
                  <a:lnTo>
                    <a:pt x="104692" y="1973860"/>
                  </a:lnTo>
                  <a:lnTo>
                    <a:pt x="139793" y="1948382"/>
                  </a:lnTo>
                  <a:lnTo>
                    <a:pt x="179054" y="1925168"/>
                  </a:lnTo>
                  <a:lnTo>
                    <a:pt x="222144" y="1904414"/>
                  </a:lnTo>
                  <a:lnTo>
                    <a:pt x="268731" y="1886316"/>
                  </a:lnTo>
                  <a:lnTo>
                    <a:pt x="318486" y="1871070"/>
                  </a:lnTo>
                  <a:lnTo>
                    <a:pt x="371075" y="1858871"/>
                  </a:lnTo>
                  <a:lnTo>
                    <a:pt x="426169" y="1849915"/>
                  </a:lnTo>
                  <a:lnTo>
                    <a:pt x="483435" y="1844398"/>
                  </a:lnTo>
                  <a:lnTo>
                    <a:pt x="542544" y="1842516"/>
                  </a:lnTo>
                  <a:lnTo>
                    <a:pt x="601652" y="1844398"/>
                  </a:lnTo>
                  <a:lnTo>
                    <a:pt x="658918" y="1849915"/>
                  </a:lnTo>
                  <a:lnTo>
                    <a:pt x="714012" y="1858871"/>
                  </a:lnTo>
                  <a:lnTo>
                    <a:pt x="766601" y="1871070"/>
                  </a:lnTo>
                  <a:lnTo>
                    <a:pt x="816356" y="1886316"/>
                  </a:lnTo>
                  <a:lnTo>
                    <a:pt x="862943" y="1904414"/>
                  </a:lnTo>
                  <a:lnTo>
                    <a:pt x="906033" y="1925168"/>
                  </a:lnTo>
                  <a:lnTo>
                    <a:pt x="945294" y="1948382"/>
                  </a:lnTo>
                  <a:lnTo>
                    <a:pt x="980395" y="1973860"/>
                  </a:lnTo>
                  <a:lnTo>
                    <a:pt x="1011004" y="2001407"/>
                  </a:lnTo>
                  <a:lnTo>
                    <a:pt x="1036791" y="2030826"/>
                  </a:lnTo>
                  <a:lnTo>
                    <a:pt x="1072572" y="2094501"/>
                  </a:lnTo>
                  <a:lnTo>
                    <a:pt x="1085088" y="2163318"/>
                  </a:lnTo>
                  <a:lnTo>
                    <a:pt x="1081903" y="2198273"/>
                  </a:lnTo>
                  <a:lnTo>
                    <a:pt x="1057424" y="2264717"/>
                  </a:lnTo>
                  <a:lnTo>
                    <a:pt x="1011004" y="2325234"/>
                  </a:lnTo>
                  <a:lnTo>
                    <a:pt x="980395" y="2352781"/>
                  </a:lnTo>
                  <a:lnTo>
                    <a:pt x="945294" y="2378258"/>
                  </a:lnTo>
                  <a:lnTo>
                    <a:pt x="906033" y="2401471"/>
                  </a:lnTo>
                  <a:lnTo>
                    <a:pt x="862943" y="2422224"/>
                  </a:lnTo>
                  <a:lnTo>
                    <a:pt x="816356" y="2440321"/>
                  </a:lnTo>
                  <a:lnTo>
                    <a:pt x="766601" y="2455567"/>
                  </a:lnTo>
                  <a:lnTo>
                    <a:pt x="714012" y="2467765"/>
                  </a:lnTo>
                  <a:lnTo>
                    <a:pt x="658918" y="2476720"/>
                  </a:lnTo>
                  <a:lnTo>
                    <a:pt x="601652" y="2482237"/>
                  </a:lnTo>
                  <a:lnTo>
                    <a:pt x="542544" y="2484120"/>
                  </a:lnTo>
                  <a:lnTo>
                    <a:pt x="483435" y="2482237"/>
                  </a:lnTo>
                  <a:lnTo>
                    <a:pt x="426169" y="2476720"/>
                  </a:lnTo>
                  <a:lnTo>
                    <a:pt x="371075" y="2467765"/>
                  </a:lnTo>
                  <a:lnTo>
                    <a:pt x="318486" y="2455567"/>
                  </a:lnTo>
                  <a:lnTo>
                    <a:pt x="268731" y="2440321"/>
                  </a:lnTo>
                  <a:lnTo>
                    <a:pt x="222144" y="2422224"/>
                  </a:lnTo>
                  <a:lnTo>
                    <a:pt x="179054" y="2401471"/>
                  </a:lnTo>
                  <a:lnTo>
                    <a:pt x="139793" y="2378258"/>
                  </a:lnTo>
                  <a:lnTo>
                    <a:pt x="104692" y="2352781"/>
                  </a:lnTo>
                  <a:lnTo>
                    <a:pt x="74083" y="2325234"/>
                  </a:lnTo>
                  <a:lnTo>
                    <a:pt x="48296" y="2295814"/>
                  </a:lnTo>
                  <a:lnTo>
                    <a:pt x="12515" y="2232138"/>
                  </a:lnTo>
                  <a:lnTo>
                    <a:pt x="0" y="2163318"/>
                  </a:lnTo>
                  <a:close/>
                </a:path>
                <a:path w="5260975" h="2484120">
                  <a:moveTo>
                    <a:pt x="2535936" y="1280922"/>
                  </a:moveTo>
                  <a:lnTo>
                    <a:pt x="2540425" y="1224006"/>
                  </a:lnTo>
                  <a:lnTo>
                    <a:pt x="2553095" y="1172859"/>
                  </a:lnTo>
                  <a:lnTo>
                    <a:pt x="2572750" y="1129522"/>
                  </a:lnTo>
                  <a:lnTo>
                    <a:pt x="2598194" y="1096038"/>
                  </a:lnTo>
                  <a:lnTo>
                    <a:pt x="2661666" y="1066800"/>
                  </a:lnTo>
                  <a:lnTo>
                    <a:pt x="2695100" y="1074449"/>
                  </a:lnTo>
                  <a:lnTo>
                    <a:pt x="2750581" y="1129522"/>
                  </a:lnTo>
                  <a:lnTo>
                    <a:pt x="2770236" y="1172859"/>
                  </a:lnTo>
                  <a:lnTo>
                    <a:pt x="2782906" y="1224006"/>
                  </a:lnTo>
                  <a:lnTo>
                    <a:pt x="2787396" y="1280922"/>
                  </a:lnTo>
                  <a:lnTo>
                    <a:pt x="2782906" y="1337837"/>
                  </a:lnTo>
                  <a:lnTo>
                    <a:pt x="2770236" y="1388984"/>
                  </a:lnTo>
                  <a:lnTo>
                    <a:pt x="2750581" y="1432321"/>
                  </a:lnTo>
                  <a:lnTo>
                    <a:pt x="2725137" y="1465805"/>
                  </a:lnTo>
                  <a:lnTo>
                    <a:pt x="2661666" y="1495044"/>
                  </a:lnTo>
                  <a:lnTo>
                    <a:pt x="2628231" y="1487394"/>
                  </a:lnTo>
                  <a:lnTo>
                    <a:pt x="2572750" y="1432321"/>
                  </a:lnTo>
                  <a:lnTo>
                    <a:pt x="2553095" y="1388984"/>
                  </a:lnTo>
                  <a:lnTo>
                    <a:pt x="2540425" y="1337837"/>
                  </a:lnTo>
                  <a:lnTo>
                    <a:pt x="2535936" y="1280922"/>
                  </a:lnTo>
                  <a:close/>
                </a:path>
                <a:path w="5260975" h="2484120">
                  <a:moveTo>
                    <a:pt x="5009388" y="214122"/>
                  </a:moveTo>
                  <a:lnTo>
                    <a:pt x="5013877" y="157206"/>
                  </a:lnTo>
                  <a:lnTo>
                    <a:pt x="5026547" y="106059"/>
                  </a:lnTo>
                  <a:lnTo>
                    <a:pt x="5046202" y="62722"/>
                  </a:lnTo>
                  <a:lnTo>
                    <a:pt x="5071646" y="29238"/>
                  </a:lnTo>
                  <a:lnTo>
                    <a:pt x="5135118" y="0"/>
                  </a:lnTo>
                  <a:lnTo>
                    <a:pt x="5168552" y="7649"/>
                  </a:lnTo>
                  <a:lnTo>
                    <a:pt x="5224033" y="62722"/>
                  </a:lnTo>
                  <a:lnTo>
                    <a:pt x="5243688" y="106059"/>
                  </a:lnTo>
                  <a:lnTo>
                    <a:pt x="5256358" y="157206"/>
                  </a:lnTo>
                  <a:lnTo>
                    <a:pt x="5260848" y="214122"/>
                  </a:lnTo>
                  <a:lnTo>
                    <a:pt x="5256358" y="271037"/>
                  </a:lnTo>
                  <a:lnTo>
                    <a:pt x="5243688" y="322184"/>
                  </a:lnTo>
                  <a:lnTo>
                    <a:pt x="5224033" y="365521"/>
                  </a:lnTo>
                  <a:lnTo>
                    <a:pt x="5198589" y="399005"/>
                  </a:lnTo>
                  <a:lnTo>
                    <a:pt x="5135118" y="428244"/>
                  </a:lnTo>
                  <a:lnTo>
                    <a:pt x="5101683" y="420594"/>
                  </a:lnTo>
                  <a:lnTo>
                    <a:pt x="5046202" y="365521"/>
                  </a:lnTo>
                  <a:lnTo>
                    <a:pt x="5026547" y="322184"/>
                  </a:lnTo>
                  <a:lnTo>
                    <a:pt x="5013877" y="271037"/>
                  </a:lnTo>
                  <a:lnTo>
                    <a:pt x="5009388" y="214122"/>
                  </a:lnTo>
                  <a:close/>
                </a:path>
              </a:pathLst>
            </a:custGeom>
            <a:ln w="25908">
              <a:solidFill>
                <a:srgbClr val="8B3836"/>
              </a:solidFill>
            </a:ln>
          </p:spPr>
          <p:txBody>
            <a:bodyPr wrap="square" lIns="0" tIns="0" rIns="0" bIns="0" rtlCol="0"/>
            <a:lstStyle/>
            <a:p>
              <a:endParaRPr/>
            </a:p>
          </p:txBody>
        </p:sp>
        <p:sp>
          <p:nvSpPr>
            <p:cNvPr id="42" name="object 42"/>
            <p:cNvSpPr/>
            <p:nvPr/>
          </p:nvSpPr>
          <p:spPr>
            <a:xfrm>
              <a:off x="4738877" y="1675617"/>
              <a:ext cx="2390140" cy="1047115"/>
            </a:xfrm>
            <a:custGeom>
              <a:avLst/>
              <a:gdLst/>
              <a:ahLst/>
              <a:cxnLst/>
              <a:rect l="l" t="t" r="r" b="b"/>
              <a:pathLst>
                <a:path w="2390140" h="1047114">
                  <a:moveTo>
                    <a:pt x="0" y="1047008"/>
                  </a:moveTo>
                  <a:lnTo>
                    <a:pt x="965" y="995904"/>
                  </a:lnTo>
                  <a:lnTo>
                    <a:pt x="2229" y="944957"/>
                  </a:lnTo>
                  <a:lnTo>
                    <a:pt x="4086" y="894324"/>
                  </a:lnTo>
                  <a:lnTo>
                    <a:pt x="6832" y="844161"/>
                  </a:lnTo>
                  <a:lnTo>
                    <a:pt x="10762" y="794626"/>
                  </a:lnTo>
                  <a:lnTo>
                    <a:pt x="16170" y="745876"/>
                  </a:lnTo>
                  <a:lnTo>
                    <a:pt x="23353" y="698067"/>
                  </a:lnTo>
                  <a:lnTo>
                    <a:pt x="32604" y="651357"/>
                  </a:lnTo>
                  <a:lnTo>
                    <a:pt x="44220" y="605902"/>
                  </a:lnTo>
                  <a:lnTo>
                    <a:pt x="58495" y="561859"/>
                  </a:lnTo>
                  <a:lnTo>
                    <a:pt x="75724" y="519385"/>
                  </a:lnTo>
                  <a:lnTo>
                    <a:pt x="96203" y="478638"/>
                  </a:lnTo>
                  <a:lnTo>
                    <a:pt x="120226" y="439773"/>
                  </a:lnTo>
                  <a:lnTo>
                    <a:pt x="148088" y="402948"/>
                  </a:lnTo>
                  <a:lnTo>
                    <a:pt x="180086" y="368320"/>
                  </a:lnTo>
                  <a:lnTo>
                    <a:pt x="210571" y="341059"/>
                  </a:lnTo>
                  <a:lnTo>
                    <a:pt x="244856" y="315050"/>
                  </a:lnTo>
                  <a:lnTo>
                    <a:pt x="282590" y="290261"/>
                  </a:lnTo>
                  <a:lnTo>
                    <a:pt x="323426" y="266658"/>
                  </a:lnTo>
                  <a:lnTo>
                    <a:pt x="367014" y="244211"/>
                  </a:lnTo>
                  <a:lnTo>
                    <a:pt x="413003" y="222886"/>
                  </a:lnTo>
                  <a:lnTo>
                    <a:pt x="461047" y="202652"/>
                  </a:lnTo>
                  <a:lnTo>
                    <a:pt x="510793" y="183477"/>
                  </a:lnTo>
                  <a:lnTo>
                    <a:pt x="561895" y="165327"/>
                  </a:lnTo>
                  <a:lnTo>
                    <a:pt x="614002" y="148170"/>
                  </a:lnTo>
                  <a:lnTo>
                    <a:pt x="666765" y="131976"/>
                  </a:lnTo>
                  <a:lnTo>
                    <a:pt x="719835" y="116710"/>
                  </a:lnTo>
                  <a:lnTo>
                    <a:pt x="772863" y="102341"/>
                  </a:lnTo>
                  <a:lnTo>
                    <a:pt x="825499" y="88837"/>
                  </a:lnTo>
                  <a:lnTo>
                    <a:pt x="877395" y="76164"/>
                  </a:lnTo>
                  <a:lnTo>
                    <a:pt x="928200" y="64292"/>
                  </a:lnTo>
                  <a:lnTo>
                    <a:pt x="977566" y="53188"/>
                  </a:lnTo>
                  <a:lnTo>
                    <a:pt x="1025144" y="42819"/>
                  </a:lnTo>
                  <a:lnTo>
                    <a:pt x="1078023" y="32455"/>
                  </a:lnTo>
                  <a:lnTo>
                    <a:pt x="1131749" y="23801"/>
                  </a:lnTo>
                  <a:lnTo>
                    <a:pt x="1186112" y="16725"/>
                  </a:lnTo>
                  <a:lnTo>
                    <a:pt x="1240905" y="11095"/>
                  </a:lnTo>
                  <a:lnTo>
                    <a:pt x="1295919" y="6778"/>
                  </a:lnTo>
                  <a:lnTo>
                    <a:pt x="1350948" y="3643"/>
                  </a:lnTo>
                  <a:lnTo>
                    <a:pt x="1405782" y="1556"/>
                  </a:lnTo>
                  <a:lnTo>
                    <a:pt x="1460214" y="385"/>
                  </a:lnTo>
                  <a:lnTo>
                    <a:pt x="1514036" y="0"/>
                  </a:lnTo>
                  <a:lnTo>
                    <a:pt x="1567039" y="266"/>
                  </a:lnTo>
                  <a:lnTo>
                    <a:pt x="1619017" y="1052"/>
                  </a:lnTo>
                  <a:lnTo>
                    <a:pt x="1669760" y="2225"/>
                  </a:lnTo>
                  <a:lnTo>
                    <a:pt x="1719061" y="3654"/>
                  </a:lnTo>
                  <a:lnTo>
                    <a:pt x="1766712" y="5205"/>
                  </a:lnTo>
                  <a:lnTo>
                    <a:pt x="1812505" y="6748"/>
                  </a:lnTo>
                  <a:lnTo>
                    <a:pt x="1856231" y="8148"/>
                  </a:lnTo>
                  <a:lnTo>
                    <a:pt x="1916476" y="10719"/>
                  </a:lnTo>
                  <a:lnTo>
                    <a:pt x="1973365" y="14537"/>
                  </a:lnTo>
                  <a:lnTo>
                    <a:pt x="2027233" y="19477"/>
                  </a:lnTo>
                  <a:lnTo>
                    <a:pt x="2078416" y="25414"/>
                  </a:lnTo>
                  <a:lnTo>
                    <a:pt x="2127248" y="32222"/>
                  </a:lnTo>
                  <a:lnTo>
                    <a:pt x="2174065" y="39776"/>
                  </a:lnTo>
                  <a:lnTo>
                    <a:pt x="2219200" y="47951"/>
                  </a:lnTo>
                  <a:lnTo>
                    <a:pt x="2262990" y="56621"/>
                  </a:lnTo>
                  <a:lnTo>
                    <a:pt x="2305768" y="65661"/>
                  </a:lnTo>
                  <a:lnTo>
                    <a:pt x="2347870" y="74945"/>
                  </a:lnTo>
                  <a:lnTo>
                    <a:pt x="2389631" y="84348"/>
                  </a:lnTo>
                </a:path>
              </a:pathLst>
            </a:custGeom>
            <a:ln w="25908">
              <a:solidFill>
                <a:srgbClr val="385D89"/>
              </a:solidFill>
            </a:ln>
          </p:spPr>
          <p:txBody>
            <a:bodyPr wrap="square" lIns="0" tIns="0" rIns="0" bIns="0" rtlCol="0"/>
            <a:lstStyle/>
            <a:p>
              <a:endParaRPr/>
            </a:p>
          </p:txBody>
        </p:sp>
      </p:grpSp>
      <p:sp>
        <p:nvSpPr>
          <p:cNvPr id="43" name="object 43"/>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43</a:t>
            </a:fld>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5" dirty="0"/>
              <a:t>K-Means </a:t>
            </a:r>
            <a:r>
              <a:rPr spc="-15" dirty="0"/>
              <a:t>clustering</a:t>
            </a:r>
            <a:r>
              <a:rPr spc="40" dirty="0"/>
              <a:t> </a:t>
            </a:r>
            <a:r>
              <a:rPr spc="-20" dirty="0"/>
              <a:t>example</a:t>
            </a:r>
          </a:p>
        </p:txBody>
      </p:sp>
      <p:sp>
        <p:nvSpPr>
          <p:cNvPr id="3" name="object 3"/>
          <p:cNvSpPr txBox="1"/>
          <p:nvPr/>
        </p:nvSpPr>
        <p:spPr>
          <a:xfrm>
            <a:off x="535940" y="1216913"/>
            <a:ext cx="3206115" cy="3308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10" dirty="0">
                <a:latin typeface="Carlito"/>
                <a:cs typeface="Carlito"/>
              </a:rPr>
              <a:t>Update </a:t>
            </a:r>
            <a:r>
              <a:rPr sz="2000" dirty="0">
                <a:latin typeface="Carlito"/>
                <a:cs typeface="Carlito"/>
              </a:rPr>
              <a:t>the </a:t>
            </a:r>
            <a:r>
              <a:rPr sz="2000" spc="-5" dirty="0">
                <a:latin typeface="Carlito"/>
                <a:cs typeface="Carlito"/>
              </a:rPr>
              <a:t>cluster</a:t>
            </a:r>
            <a:r>
              <a:rPr sz="2000" spc="-20" dirty="0">
                <a:latin typeface="Carlito"/>
                <a:cs typeface="Carlito"/>
              </a:rPr>
              <a:t> </a:t>
            </a:r>
            <a:r>
              <a:rPr sz="2000" spc="-10" dirty="0">
                <a:latin typeface="Carlito"/>
                <a:cs typeface="Carlito"/>
              </a:rPr>
              <a:t>centroid</a:t>
            </a:r>
            <a:endParaRPr sz="2000">
              <a:latin typeface="Carlito"/>
              <a:cs typeface="Carlito"/>
            </a:endParaRPr>
          </a:p>
        </p:txBody>
      </p:sp>
      <p:sp>
        <p:nvSpPr>
          <p:cNvPr id="4" name="object 4"/>
          <p:cNvSpPr/>
          <p:nvPr/>
        </p:nvSpPr>
        <p:spPr>
          <a:xfrm>
            <a:off x="3608196" y="2534411"/>
            <a:ext cx="2118360" cy="365760"/>
          </a:xfrm>
          <a:custGeom>
            <a:avLst/>
            <a:gdLst/>
            <a:ahLst/>
            <a:cxnLst/>
            <a:rect l="l" t="t" r="r" b="b"/>
            <a:pathLst>
              <a:path w="2118360" h="365760">
                <a:moveTo>
                  <a:pt x="2118360" y="0"/>
                </a:moveTo>
                <a:lnTo>
                  <a:pt x="0" y="0"/>
                </a:lnTo>
                <a:lnTo>
                  <a:pt x="0" y="365760"/>
                </a:lnTo>
                <a:lnTo>
                  <a:pt x="2118360" y="365760"/>
                </a:lnTo>
                <a:lnTo>
                  <a:pt x="2118360" y="0"/>
                </a:lnTo>
                <a:close/>
              </a:path>
            </a:pathLst>
          </a:custGeom>
          <a:solidFill>
            <a:srgbClr val="E9ECF4"/>
          </a:solidFill>
        </p:spPr>
        <p:txBody>
          <a:bodyPr wrap="square" lIns="0" tIns="0" rIns="0" bIns="0" rtlCol="0"/>
          <a:lstStyle/>
          <a:p>
            <a:endParaRPr/>
          </a:p>
        </p:txBody>
      </p:sp>
      <p:graphicFrame>
        <p:nvGraphicFramePr>
          <p:cNvPr id="5" name="object 5"/>
          <p:cNvGraphicFramePr>
            <a:graphicFrameLocks noGrp="1"/>
          </p:cNvGraphicFramePr>
          <p:nvPr/>
        </p:nvGraphicFramePr>
        <p:xfrm>
          <a:off x="1483486" y="1796542"/>
          <a:ext cx="6355080" cy="1097280"/>
        </p:xfrm>
        <a:graphic>
          <a:graphicData uri="http://schemas.openxmlformats.org/drawingml/2006/table">
            <a:tbl>
              <a:tblPr firstRow="1" bandRow="1">
                <a:tableStyleId>{2D5ABB26-0587-4C30-8999-92F81FD0307C}</a:tableStyleId>
              </a:tblPr>
              <a:tblGrid>
                <a:gridCol w="2118360">
                  <a:extLst>
                    <a:ext uri="{9D8B030D-6E8A-4147-A177-3AD203B41FA5}">
                      <a16:colId xmlns:a16="http://schemas.microsoft.com/office/drawing/2014/main" val="20000"/>
                    </a:ext>
                  </a:extLst>
                </a:gridCol>
                <a:gridCol w="2118360">
                  <a:extLst>
                    <a:ext uri="{9D8B030D-6E8A-4147-A177-3AD203B41FA5}">
                      <a16:colId xmlns:a16="http://schemas.microsoft.com/office/drawing/2014/main" val="20001"/>
                    </a:ext>
                  </a:extLst>
                </a:gridCol>
                <a:gridCol w="2118360">
                  <a:extLst>
                    <a:ext uri="{9D8B030D-6E8A-4147-A177-3AD203B41FA5}">
                      <a16:colId xmlns:a16="http://schemas.microsoft.com/office/drawing/2014/main" val="20002"/>
                    </a:ext>
                  </a:extLst>
                </a:gridCol>
              </a:tblGrid>
              <a:tr h="365760">
                <a:tc>
                  <a:txBody>
                    <a:bodyPr/>
                    <a:lstStyle/>
                    <a:p>
                      <a:pPr marL="635" algn="ctr">
                        <a:lnSpc>
                          <a:spcPct val="100000"/>
                        </a:lnSpc>
                        <a:spcBef>
                          <a:spcPts val="245"/>
                        </a:spcBef>
                      </a:pPr>
                      <a:r>
                        <a:rPr sz="1800" b="1" spc="-10" dirty="0">
                          <a:solidFill>
                            <a:srgbClr val="FFFFFF"/>
                          </a:solidFill>
                          <a:latin typeface="Carlito"/>
                          <a:cs typeface="Carlito"/>
                        </a:rPr>
                        <a:t>Cluster</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2540" algn="ctr">
                        <a:lnSpc>
                          <a:spcPct val="100000"/>
                        </a:lnSpc>
                        <a:spcBef>
                          <a:spcPts val="245"/>
                        </a:spcBef>
                      </a:pPr>
                      <a:r>
                        <a:rPr sz="1800" b="1" spc="-25" dirty="0">
                          <a:solidFill>
                            <a:srgbClr val="FFFFFF"/>
                          </a:solidFill>
                          <a:latin typeface="Carlito"/>
                          <a:cs typeface="Carlito"/>
                        </a:rPr>
                        <a:t>Var1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3175" algn="ctr">
                        <a:lnSpc>
                          <a:spcPct val="100000"/>
                        </a:lnSpc>
                        <a:spcBef>
                          <a:spcPts val="245"/>
                        </a:spcBef>
                      </a:pPr>
                      <a:r>
                        <a:rPr sz="1800" b="1" spc="-25" dirty="0">
                          <a:solidFill>
                            <a:srgbClr val="FFFFFF"/>
                          </a:solidFill>
                          <a:latin typeface="Carlito"/>
                          <a:cs typeface="Carlito"/>
                        </a:rPr>
                        <a:t>Var2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60">
                <a:tc>
                  <a:txBody>
                    <a:bodyPr/>
                    <a:lstStyle/>
                    <a:p>
                      <a:pPr marL="1270" algn="ctr">
                        <a:lnSpc>
                          <a:spcPct val="100000"/>
                        </a:lnSpc>
                        <a:spcBef>
                          <a:spcPts val="245"/>
                        </a:spcBef>
                      </a:pPr>
                      <a:r>
                        <a:rPr sz="1800" spc="-5" dirty="0">
                          <a:latin typeface="Carlito"/>
                          <a:cs typeface="Carlito"/>
                        </a:rPr>
                        <a:t>K1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245"/>
                        </a:spcBef>
                      </a:pPr>
                      <a:r>
                        <a:rPr sz="1800" dirty="0">
                          <a:latin typeface="Carlito"/>
                          <a:cs typeface="Carlito"/>
                        </a:rPr>
                        <a:t>1.25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2540" algn="ctr">
                        <a:lnSpc>
                          <a:spcPct val="100000"/>
                        </a:lnSpc>
                        <a:spcBef>
                          <a:spcPts val="245"/>
                        </a:spcBef>
                      </a:pPr>
                      <a:r>
                        <a:rPr sz="1800" dirty="0">
                          <a:latin typeface="Carlito"/>
                          <a:cs typeface="Carlito"/>
                        </a:rPr>
                        <a:t>1.5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760">
                <a:tc>
                  <a:txBody>
                    <a:bodyPr/>
                    <a:lstStyle/>
                    <a:p>
                      <a:pPr marL="1270" algn="ctr">
                        <a:lnSpc>
                          <a:spcPct val="100000"/>
                        </a:lnSpc>
                        <a:spcBef>
                          <a:spcPts val="245"/>
                        </a:spcBef>
                      </a:pPr>
                      <a:r>
                        <a:rPr sz="1800" dirty="0">
                          <a:latin typeface="Carlito"/>
                          <a:cs typeface="Carlito"/>
                        </a:rPr>
                        <a:t>K2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spc="-5" dirty="0">
                          <a:latin typeface="Carlito"/>
                          <a:cs typeface="Carlito"/>
                        </a:rPr>
                        <a:t>(3.0 </a:t>
                      </a:r>
                      <a:r>
                        <a:rPr sz="1800" dirty="0">
                          <a:latin typeface="Carlito"/>
                          <a:cs typeface="Carlito"/>
                        </a:rPr>
                        <a:t>+ </a:t>
                      </a:r>
                      <a:r>
                        <a:rPr sz="1800" spc="-5" dirty="0">
                          <a:latin typeface="Carlito"/>
                          <a:cs typeface="Carlito"/>
                        </a:rPr>
                        <a:t>5.0)/2 </a:t>
                      </a:r>
                      <a:r>
                        <a:rPr sz="1800" dirty="0">
                          <a:latin typeface="Carlito"/>
                          <a:cs typeface="Carlito"/>
                        </a:rPr>
                        <a:t>= 4</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marL="1270" algn="ctr">
                        <a:lnSpc>
                          <a:spcPct val="100000"/>
                        </a:lnSpc>
                        <a:spcBef>
                          <a:spcPts val="245"/>
                        </a:spcBef>
                      </a:pPr>
                      <a:r>
                        <a:rPr sz="1800" spc="-5" dirty="0">
                          <a:latin typeface="Carlito"/>
                          <a:cs typeface="Carlito"/>
                        </a:rPr>
                        <a:t>(4.0 </a:t>
                      </a:r>
                      <a:r>
                        <a:rPr sz="1800" dirty="0">
                          <a:latin typeface="Carlito"/>
                          <a:cs typeface="Carlito"/>
                        </a:rPr>
                        <a:t>+ </a:t>
                      </a:r>
                      <a:r>
                        <a:rPr sz="1800" spc="-5" dirty="0">
                          <a:latin typeface="Carlito"/>
                          <a:cs typeface="Carlito"/>
                        </a:rPr>
                        <a:t>7.0)/2</a:t>
                      </a:r>
                      <a:r>
                        <a:rPr sz="1800" spc="-10" dirty="0">
                          <a:latin typeface="Carlito"/>
                          <a:cs typeface="Carlito"/>
                        </a:rPr>
                        <a:t> </a:t>
                      </a:r>
                      <a:r>
                        <a:rPr sz="1800" spc="-5" dirty="0">
                          <a:latin typeface="Carlito"/>
                          <a:cs typeface="Carlito"/>
                        </a:rPr>
                        <a:t>=5.5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sp>
        <p:nvSpPr>
          <p:cNvPr id="7" name="object 7"/>
          <p:cNvSpPr/>
          <p:nvPr/>
        </p:nvSpPr>
        <p:spPr>
          <a:xfrm>
            <a:off x="7490841" y="2683382"/>
            <a:ext cx="164516" cy="177673"/>
          </a:xfrm>
          <a:prstGeom prst="rect">
            <a:avLst/>
          </a:prstGeom>
          <a:blipFill>
            <a:blip r:embed="rId2" cstate="print"/>
            <a:stretch>
              <a:fillRect/>
            </a:stretch>
          </a:blipFill>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44</a:t>
            </a:fld>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5" dirty="0"/>
              <a:t>K-Means </a:t>
            </a:r>
            <a:r>
              <a:rPr spc="-15" dirty="0"/>
              <a:t>clustering</a:t>
            </a:r>
            <a:r>
              <a:rPr spc="40" dirty="0"/>
              <a:t> </a:t>
            </a:r>
            <a:r>
              <a:rPr spc="-20" dirty="0"/>
              <a:t>example</a:t>
            </a:r>
          </a:p>
        </p:txBody>
      </p:sp>
      <p:sp>
        <p:nvSpPr>
          <p:cNvPr id="3" name="object 3"/>
          <p:cNvSpPr txBox="1"/>
          <p:nvPr/>
        </p:nvSpPr>
        <p:spPr>
          <a:xfrm>
            <a:off x="535940" y="1216913"/>
            <a:ext cx="5955030" cy="3308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10" dirty="0">
                <a:latin typeface="Carlito"/>
                <a:cs typeface="Carlito"/>
              </a:rPr>
              <a:t>Calculate </a:t>
            </a:r>
            <a:r>
              <a:rPr sz="2000" dirty="0">
                <a:latin typeface="Carlito"/>
                <a:cs typeface="Carlito"/>
              </a:rPr>
              <a:t>Euclidean </a:t>
            </a:r>
            <a:r>
              <a:rPr sz="2000" spc="-10" dirty="0">
                <a:latin typeface="Carlito"/>
                <a:cs typeface="Carlito"/>
              </a:rPr>
              <a:t>distance </a:t>
            </a:r>
            <a:r>
              <a:rPr sz="2000" spc="-15" dirty="0">
                <a:latin typeface="Carlito"/>
                <a:cs typeface="Carlito"/>
              </a:rPr>
              <a:t>for </a:t>
            </a:r>
            <a:r>
              <a:rPr sz="2000" spc="-10" dirty="0">
                <a:latin typeface="Carlito"/>
                <a:cs typeface="Carlito"/>
              </a:rPr>
              <a:t>next dataset </a:t>
            </a:r>
            <a:r>
              <a:rPr sz="2000" spc="-5" dirty="0">
                <a:latin typeface="Carlito"/>
                <a:cs typeface="Carlito"/>
              </a:rPr>
              <a:t>(3.5,</a:t>
            </a:r>
            <a:r>
              <a:rPr sz="2000" spc="95" dirty="0">
                <a:latin typeface="Carlito"/>
                <a:cs typeface="Carlito"/>
              </a:rPr>
              <a:t> </a:t>
            </a:r>
            <a:r>
              <a:rPr sz="2000" spc="-5" dirty="0">
                <a:latin typeface="Carlito"/>
                <a:cs typeface="Carlito"/>
              </a:rPr>
              <a:t>5.0)</a:t>
            </a:r>
            <a:endParaRPr sz="2000">
              <a:latin typeface="Carlito"/>
              <a:cs typeface="Carlito"/>
            </a:endParaRPr>
          </a:p>
        </p:txBody>
      </p:sp>
      <p:sp>
        <p:nvSpPr>
          <p:cNvPr id="4" name="object 4"/>
          <p:cNvSpPr/>
          <p:nvPr/>
        </p:nvSpPr>
        <p:spPr>
          <a:xfrm>
            <a:off x="3116326" y="1678685"/>
            <a:ext cx="3231515" cy="316230"/>
          </a:xfrm>
          <a:custGeom>
            <a:avLst/>
            <a:gdLst/>
            <a:ahLst/>
            <a:cxnLst/>
            <a:rect l="l" t="t" r="r" b="b"/>
            <a:pathLst>
              <a:path w="3231515" h="316230">
                <a:moveTo>
                  <a:pt x="3231134" y="0"/>
                </a:moveTo>
                <a:lnTo>
                  <a:pt x="159258" y="126"/>
                </a:lnTo>
                <a:lnTo>
                  <a:pt x="83819" y="282956"/>
                </a:lnTo>
                <a:lnTo>
                  <a:pt x="40767" y="186943"/>
                </a:lnTo>
                <a:lnTo>
                  <a:pt x="0" y="205612"/>
                </a:lnTo>
                <a:lnTo>
                  <a:pt x="3937" y="214883"/>
                </a:lnTo>
                <a:lnTo>
                  <a:pt x="24892" y="205612"/>
                </a:lnTo>
                <a:lnTo>
                  <a:pt x="76326" y="316230"/>
                </a:lnTo>
                <a:lnTo>
                  <a:pt x="88392" y="316230"/>
                </a:lnTo>
                <a:lnTo>
                  <a:pt x="169163" y="16763"/>
                </a:lnTo>
                <a:lnTo>
                  <a:pt x="3231134" y="16763"/>
                </a:lnTo>
                <a:close/>
              </a:path>
            </a:pathLst>
          </a:custGeom>
          <a:solidFill>
            <a:srgbClr val="000000"/>
          </a:solidFill>
        </p:spPr>
        <p:txBody>
          <a:bodyPr wrap="square" lIns="0" tIns="0" rIns="0" bIns="0" rtlCol="0"/>
          <a:lstStyle/>
          <a:p>
            <a:endParaRPr/>
          </a:p>
        </p:txBody>
      </p:sp>
      <p:sp>
        <p:nvSpPr>
          <p:cNvPr id="5" name="object 5"/>
          <p:cNvSpPr txBox="1"/>
          <p:nvPr/>
        </p:nvSpPr>
        <p:spPr>
          <a:xfrm>
            <a:off x="4613275" y="1646681"/>
            <a:ext cx="1736725" cy="248920"/>
          </a:xfrm>
          <a:prstGeom prst="rect">
            <a:avLst/>
          </a:prstGeom>
        </p:spPr>
        <p:txBody>
          <a:bodyPr vert="horz" wrap="square" lIns="0" tIns="13970" rIns="0" bIns="0" rtlCol="0">
            <a:spAutoFit/>
          </a:bodyPr>
          <a:lstStyle/>
          <a:p>
            <a:pPr marL="12700">
              <a:lnSpc>
                <a:spcPct val="100000"/>
              </a:lnSpc>
              <a:spcBef>
                <a:spcPts val="110"/>
              </a:spcBef>
              <a:tabLst>
                <a:tab pos="1616075" algn="l"/>
              </a:tabLst>
            </a:pPr>
            <a:r>
              <a:rPr sz="1450" spc="15" dirty="0">
                <a:latin typeface="DejaVu Serif Condensed"/>
                <a:cs typeface="DejaVu Serif Condensed"/>
              </a:rPr>
              <a:t>2	2</a:t>
            </a:r>
            <a:endParaRPr sz="1450">
              <a:latin typeface="DejaVu Serif Condensed"/>
              <a:cs typeface="DejaVu Serif Condensed"/>
            </a:endParaRPr>
          </a:p>
        </p:txBody>
      </p:sp>
      <p:sp>
        <p:nvSpPr>
          <p:cNvPr id="6" name="object 6"/>
          <p:cNvSpPr txBox="1"/>
          <p:nvPr/>
        </p:nvSpPr>
        <p:spPr>
          <a:xfrm>
            <a:off x="535940" y="1515973"/>
            <a:ext cx="2533650" cy="913130"/>
          </a:xfrm>
          <a:prstGeom prst="rect">
            <a:avLst/>
          </a:prstGeom>
        </p:spPr>
        <p:txBody>
          <a:bodyPr vert="horz" wrap="square" lIns="0" tIns="12065" rIns="0" bIns="0" rtlCol="0">
            <a:spAutoFit/>
          </a:bodyPr>
          <a:lstStyle/>
          <a:p>
            <a:pPr marL="12700" marR="5080">
              <a:lnSpc>
                <a:spcPct val="145600"/>
              </a:lnSpc>
              <a:spcBef>
                <a:spcPts val="95"/>
              </a:spcBef>
            </a:pPr>
            <a:r>
              <a:rPr sz="2000" spc="-10" dirty="0">
                <a:latin typeface="Carlito"/>
                <a:cs typeface="Carlito"/>
              </a:rPr>
              <a:t>Distance </a:t>
            </a:r>
            <a:r>
              <a:rPr sz="2000" spc="-15" dirty="0">
                <a:latin typeface="Carlito"/>
                <a:cs typeface="Carlito"/>
              </a:rPr>
              <a:t>from </a:t>
            </a:r>
            <a:r>
              <a:rPr sz="2000" spc="-10" dirty="0">
                <a:latin typeface="Carlito"/>
                <a:cs typeface="Carlito"/>
              </a:rPr>
              <a:t>cluster1 </a:t>
            </a:r>
            <a:r>
              <a:rPr sz="2000" dirty="0">
                <a:latin typeface="Carlito"/>
                <a:cs typeface="Carlito"/>
              </a:rPr>
              <a:t>=  </a:t>
            </a:r>
            <a:r>
              <a:rPr sz="2000" spc="-10" dirty="0">
                <a:latin typeface="Carlito"/>
                <a:cs typeface="Carlito"/>
              </a:rPr>
              <a:t>Distance </a:t>
            </a:r>
            <a:r>
              <a:rPr sz="2000" spc="-15" dirty="0">
                <a:latin typeface="Carlito"/>
                <a:cs typeface="Carlito"/>
              </a:rPr>
              <a:t>from </a:t>
            </a:r>
            <a:r>
              <a:rPr sz="2000" spc="-5" dirty="0">
                <a:latin typeface="Carlito"/>
                <a:cs typeface="Carlito"/>
              </a:rPr>
              <a:t>cluster2 </a:t>
            </a:r>
            <a:r>
              <a:rPr sz="2000" dirty="0">
                <a:latin typeface="Carlito"/>
                <a:cs typeface="Carlito"/>
              </a:rPr>
              <a:t>=</a:t>
            </a:r>
            <a:endParaRPr sz="2000">
              <a:latin typeface="Carlito"/>
              <a:cs typeface="Carlito"/>
            </a:endParaRPr>
          </a:p>
        </p:txBody>
      </p:sp>
      <p:sp>
        <p:nvSpPr>
          <p:cNvPr id="7" name="object 7"/>
          <p:cNvSpPr/>
          <p:nvPr/>
        </p:nvSpPr>
        <p:spPr>
          <a:xfrm>
            <a:off x="3116326" y="2122170"/>
            <a:ext cx="3089910" cy="316230"/>
          </a:xfrm>
          <a:custGeom>
            <a:avLst/>
            <a:gdLst/>
            <a:ahLst/>
            <a:cxnLst/>
            <a:rect l="l" t="t" r="r" b="b"/>
            <a:pathLst>
              <a:path w="3089910" h="316230">
                <a:moveTo>
                  <a:pt x="3089402" y="0"/>
                </a:moveTo>
                <a:lnTo>
                  <a:pt x="159258" y="127"/>
                </a:lnTo>
                <a:lnTo>
                  <a:pt x="83819" y="282956"/>
                </a:lnTo>
                <a:lnTo>
                  <a:pt x="40767" y="186944"/>
                </a:lnTo>
                <a:lnTo>
                  <a:pt x="0" y="205612"/>
                </a:lnTo>
                <a:lnTo>
                  <a:pt x="3937" y="214884"/>
                </a:lnTo>
                <a:lnTo>
                  <a:pt x="24892" y="205612"/>
                </a:lnTo>
                <a:lnTo>
                  <a:pt x="76326" y="316230"/>
                </a:lnTo>
                <a:lnTo>
                  <a:pt x="88392" y="316230"/>
                </a:lnTo>
                <a:lnTo>
                  <a:pt x="169163" y="16763"/>
                </a:lnTo>
                <a:lnTo>
                  <a:pt x="3089402" y="16763"/>
                </a:lnTo>
                <a:close/>
              </a:path>
            </a:pathLst>
          </a:custGeom>
          <a:solidFill>
            <a:srgbClr val="000000"/>
          </a:solidFill>
        </p:spPr>
        <p:txBody>
          <a:bodyPr wrap="square" lIns="0" tIns="0" rIns="0" bIns="0" rtlCol="0"/>
          <a:lstStyle/>
          <a:p>
            <a:endParaRPr/>
          </a:p>
        </p:txBody>
      </p:sp>
      <p:sp>
        <p:nvSpPr>
          <p:cNvPr id="8" name="object 8"/>
          <p:cNvSpPr txBox="1"/>
          <p:nvPr/>
        </p:nvSpPr>
        <p:spPr>
          <a:xfrm>
            <a:off x="3263519" y="1515973"/>
            <a:ext cx="3815715" cy="913130"/>
          </a:xfrm>
          <a:prstGeom prst="rect">
            <a:avLst/>
          </a:prstGeom>
        </p:spPr>
        <p:txBody>
          <a:bodyPr vert="horz" wrap="square" lIns="0" tIns="151130" rIns="0" bIns="0" rtlCol="0">
            <a:spAutoFit/>
          </a:bodyPr>
          <a:lstStyle/>
          <a:p>
            <a:pPr marL="38100">
              <a:lnSpc>
                <a:spcPct val="100000"/>
              </a:lnSpc>
              <a:spcBef>
                <a:spcPts val="1190"/>
              </a:spcBef>
              <a:tabLst>
                <a:tab pos="1537335" algn="l"/>
                <a:tab pos="3140710" algn="l"/>
              </a:tabLst>
            </a:pPr>
            <a:r>
              <a:rPr sz="2000" spc="-35" dirty="0">
                <a:latin typeface="DejaVu Serif Condensed"/>
                <a:cs typeface="DejaVu Serif Condensed"/>
              </a:rPr>
              <a:t>(3.5</a:t>
            </a:r>
            <a:r>
              <a:rPr sz="2000" spc="-100" dirty="0">
                <a:latin typeface="DejaVu Serif Condensed"/>
                <a:cs typeface="DejaVu Serif Condensed"/>
              </a:rPr>
              <a:t> </a:t>
            </a:r>
            <a:r>
              <a:rPr sz="2000" spc="-15" dirty="0">
                <a:latin typeface="DejaVu Serif Condensed"/>
                <a:cs typeface="DejaVu Serif Condensed"/>
              </a:rPr>
              <a:t>−</a:t>
            </a:r>
            <a:r>
              <a:rPr sz="2000" spc="-114" dirty="0">
                <a:latin typeface="DejaVu Serif Condensed"/>
                <a:cs typeface="DejaVu Serif Condensed"/>
              </a:rPr>
              <a:t> </a:t>
            </a:r>
            <a:r>
              <a:rPr sz="2000" spc="-35" dirty="0">
                <a:latin typeface="DejaVu Serif Condensed"/>
                <a:cs typeface="DejaVu Serif Condensed"/>
              </a:rPr>
              <a:t>1.25)	</a:t>
            </a:r>
            <a:r>
              <a:rPr sz="2000" spc="-15" dirty="0">
                <a:latin typeface="DejaVu Serif Condensed"/>
                <a:cs typeface="DejaVu Serif Condensed"/>
              </a:rPr>
              <a:t>+ </a:t>
            </a:r>
            <a:r>
              <a:rPr sz="2000" spc="15" dirty="0">
                <a:latin typeface="DejaVu Serif Condensed"/>
                <a:cs typeface="DejaVu Serif Condensed"/>
              </a:rPr>
              <a:t>(5</a:t>
            </a:r>
            <a:r>
              <a:rPr sz="2000" spc="15" dirty="0">
                <a:latin typeface="Carlito"/>
                <a:cs typeface="Carlito"/>
              </a:rPr>
              <a:t>.0</a:t>
            </a:r>
            <a:r>
              <a:rPr sz="2000" spc="-105" dirty="0">
                <a:latin typeface="Carlito"/>
                <a:cs typeface="Carlito"/>
              </a:rPr>
              <a:t> </a:t>
            </a:r>
            <a:r>
              <a:rPr sz="2000" spc="-15" dirty="0">
                <a:latin typeface="DejaVu Serif Condensed"/>
                <a:cs typeface="DejaVu Serif Condensed"/>
              </a:rPr>
              <a:t>−</a:t>
            </a:r>
            <a:r>
              <a:rPr sz="2000" spc="-120" dirty="0">
                <a:latin typeface="DejaVu Serif Condensed"/>
                <a:cs typeface="DejaVu Serif Condensed"/>
              </a:rPr>
              <a:t> </a:t>
            </a:r>
            <a:r>
              <a:rPr sz="2000" spc="-30" dirty="0">
                <a:latin typeface="DejaVu Serif Condensed"/>
                <a:cs typeface="DejaVu Serif Condensed"/>
              </a:rPr>
              <a:t>1.5)	</a:t>
            </a:r>
            <a:r>
              <a:rPr sz="2000" dirty="0">
                <a:latin typeface="Carlito"/>
                <a:cs typeface="Carlito"/>
              </a:rPr>
              <a:t>=</a:t>
            </a:r>
            <a:r>
              <a:rPr sz="2000" spc="-50" dirty="0">
                <a:latin typeface="Carlito"/>
                <a:cs typeface="Carlito"/>
              </a:rPr>
              <a:t> </a:t>
            </a:r>
            <a:r>
              <a:rPr sz="2000" dirty="0">
                <a:latin typeface="Carlito"/>
                <a:cs typeface="Carlito"/>
              </a:rPr>
              <a:t>4.16</a:t>
            </a:r>
            <a:endParaRPr sz="2000">
              <a:latin typeface="Carlito"/>
              <a:cs typeface="Carlito"/>
            </a:endParaRPr>
          </a:p>
          <a:p>
            <a:pPr marL="38100">
              <a:lnSpc>
                <a:spcPct val="100000"/>
              </a:lnSpc>
              <a:spcBef>
                <a:spcPts val="1095"/>
              </a:spcBef>
            </a:pPr>
            <a:r>
              <a:rPr sz="2000" spc="-35" dirty="0">
                <a:latin typeface="DejaVu Serif Condensed"/>
                <a:cs typeface="DejaVu Serif Condensed"/>
              </a:rPr>
              <a:t>(3.5 </a:t>
            </a:r>
            <a:r>
              <a:rPr sz="2000" spc="-15" dirty="0">
                <a:latin typeface="DejaVu Serif Condensed"/>
                <a:cs typeface="DejaVu Serif Condensed"/>
              </a:rPr>
              <a:t>− </a:t>
            </a:r>
            <a:r>
              <a:rPr sz="2000" spc="-20" dirty="0">
                <a:latin typeface="DejaVu Serif Condensed"/>
                <a:cs typeface="DejaVu Serif Condensed"/>
              </a:rPr>
              <a:t>4.0)</a:t>
            </a:r>
            <a:r>
              <a:rPr sz="2175" spc="-30" baseline="22988" dirty="0">
                <a:latin typeface="DejaVu Serif Condensed"/>
                <a:cs typeface="DejaVu Serif Condensed"/>
              </a:rPr>
              <a:t>2 </a:t>
            </a:r>
            <a:r>
              <a:rPr sz="2000" spc="-15" dirty="0">
                <a:latin typeface="DejaVu Serif Condensed"/>
                <a:cs typeface="DejaVu Serif Condensed"/>
              </a:rPr>
              <a:t>+ </a:t>
            </a:r>
            <a:r>
              <a:rPr sz="2000" spc="15" dirty="0">
                <a:latin typeface="DejaVu Serif Condensed"/>
                <a:cs typeface="DejaVu Serif Condensed"/>
              </a:rPr>
              <a:t>(5</a:t>
            </a:r>
            <a:r>
              <a:rPr sz="2000" spc="15" dirty="0">
                <a:latin typeface="Carlito"/>
                <a:cs typeface="Carlito"/>
              </a:rPr>
              <a:t>.0 </a:t>
            </a:r>
            <a:r>
              <a:rPr sz="2000" spc="-15" dirty="0">
                <a:latin typeface="DejaVu Serif Condensed"/>
                <a:cs typeface="DejaVu Serif Condensed"/>
              </a:rPr>
              <a:t>− </a:t>
            </a:r>
            <a:r>
              <a:rPr sz="2000" spc="-20" dirty="0">
                <a:latin typeface="DejaVu Serif Condensed"/>
                <a:cs typeface="DejaVu Serif Condensed"/>
              </a:rPr>
              <a:t>5.5)</a:t>
            </a:r>
            <a:r>
              <a:rPr sz="2175" spc="-30" baseline="22988" dirty="0">
                <a:latin typeface="DejaVu Serif Condensed"/>
                <a:cs typeface="DejaVu Serif Condensed"/>
              </a:rPr>
              <a:t>2 </a:t>
            </a:r>
            <a:r>
              <a:rPr sz="2000" dirty="0">
                <a:latin typeface="Carlito"/>
                <a:cs typeface="Carlito"/>
              </a:rPr>
              <a:t>=</a:t>
            </a:r>
            <a:r>
              <a:rPr sz="2000" spc="-175" dirty="0">
                <a:latin typeface="Carlito"/>
                <a:cs typeface="Carlito"/>
              </a:rPr>
              <a:t> </a:t>
            </a:r>
            <a:r>
              <a:rPr sz="2000" dirty="0">
                <a:latin typeface="Carlito"/>
                <a:cs typeface="Carlito"/>
              </a:rPr>
              <a:t>0.71</a:t>
            </a:r>
            <a:endParaRPr sz="2000">
              <a:latin typeface="Carlito"/>
              <a:cs typeface="Carlito"/>
            </a:endParaRPr>
          </a:p>
        </p:txBody>
      </p:sp>
      <p:sp>
        <p:nvSpPr>
          <p:cNvPr id="9" name="object 9"/>
          <p:cNvSpPr/>
          <p:nvPr/>
        </p:nvSpPr>
        <p:spPr>
          <a:xfrm>
            <a:off x="2755900" y="3531476"/>
            <a:ext cx="2828925" cy="400685"/>
          </a:xfrm>
          <a:custGeom>
            <a:avLst/>
            <a:gdLst/>
            <a:ahLst/>
            <a:cxnLst/>
            <a:rect l="l" t="t" r="r" b="b"/>
            <a:pathLst>
              <a:path w="2828925" h="400685">
                <a:moveTo>
                  <a:pt x="1390269" y="0"/>
                </a:moveTo>
                <a:lnTo>
                  <a:pt x="0" y="0"/>
                </a:lnTo>
                <a:lnTo>
                  <a:pt x="0" y="400469"/>
                </a:lnTo>
                <a:lnTo>
                  <a:pt x="1390269" y="400469"/>
                </a:lnTo>
                <a:lnTo>
                  <a:pt x="1390269" y="0"/>
                </a:lnTo>
                <a:close/>
              </a:path>
              <a:path w="2828925" h="400685">
                <a:moveTo>
                  <a:pt x="2828925" y="0"/>
                </a:moveTo>
                <a:lnTo>
                  <a:pt x="1390396" y="0"/>
                </a:lnTo>
                <a:lnTo>
                  <a:pt x="1390396" y="400469"/>
                </a:lnTo>
                <a:lnTo>
                  <a:pt x="2828925" y="400469"/>
                </a:lnTo>
                <a:lnTo>
                  <a:pt x="2828925" y="0"/>
                </a:lnTo>
                <a:close/>
              </a:path>
            </a:pathLst>
          </a:custGeom>
          <a:solidFill>
            <a:srgbClr val="E9ECF4"/>
          </a:solidFill>
        </p:spPr>
        <p:txBody>
          <a:bodyPr wrap="square" lIns="0" tIns="0" rIns="0" bIns="0" rtlCol="0"/>
          <a:lstStyle/>
          <a:p>
            <a:endParaRPr/>
          </a:p>
        </p:txBody>
      </p:sp>
      <p:graphicFrame>
        <p:nvGraphicFramePr>
          <p:cNvPr id="10" name="object 10"/>
          <p:cNvGraphicFramePr>
            <a:graphicFrameLocks noGrp="1"/>
          </p:cNvGraphicFramePr>
          <p:nvPr/>
        </p:nvGraphicFramePr>
        <p:xfrm>
          <a:off x="1619122" y="2793619"/>
          <a:ext cx="5708014" cy="1131975"/>
        </p:xfrm>
        <a:graphic>
          <a:graphicData uri="http://schemas.openxmlformats.org/drawingml/2006/table">
            <a:tbl>
              <a:tblPr firstRow="1" bandRow="1">
                <a:tableStyleId>{2D5ABB26-0587-4C30-8999-92F81FD0307C}</a:tableStyleId>
              </a:tblPr>
              <a:tblGrid>
                <a:gridCol w="1130300">
                  <a:extLst>
                    <a:ext uri="{9D8B030D-6E8A-4147-A177-3AD203B41FA5}">
                      <a16:colId xmlns:a16="http://schemas.microsoft.com/office/drawing/2014/main" val="20000"/>
                    </a:ext>
                  </a:extLst>
                </a:gridCol>
                <a:gridCol w="1390014">
                  <a:extLst>
                    <a:ext uri="{9D8B030D-6E8A-4147-A177-3AD203B41FA5}">
                      <a16:colId xmlns:a16="http://schemas.microsoft.com/office/drawing/2014/main" val="20001"/>
                    </a:ext>
                  </a:extLst>
                </a:gridCol>
                <a:gridCol w="1438275">
                  <a:extLst>
                    <a:ext uri="{9D8B030D-6E8A-4147-A177-3AD203B41FA5}">
                      <a16:colId xmlns:a16="http://schemas.microsoft.com/office/drawing/2014/main" val="20002"/>
                    </a:ext>
                  </a:extLst>
                </a:gridCol>
                <a:gridCol w="1749425">
                  <a:extLst>
                    <a:ext uri="{9D8B030D-6E8A-4147-A177-3AD203B41FA5}">
                      <a16:colId xmlns:a16="http://schemas.microsoft.com/office/drawing/2014/main" val="20003"/>
                    </a:ext>
                  </a:extLst>
                </a:gridCol>
              </a:tblGrid>
              <a:tr h="365760">
                <a:tc rowSpan="2">
                  <a:txBody>
                    <a:bodyPr/>
                    <a:lstStyle/>
                    <a:p>
                      <a:pPr>
                        <a:lnSpc>
                          <a:spcPct val="100000"/>
                        </a:lnSpc>
                        <a:spcBef>
                          <a:spcPts val="15"/>
                        </a:spcBef>
                      </a:pPr>
                      <a:endParaRPr sz="1450">
                        <a:latin typeface="Times New Roman"/>
                        <a:cs typeface="Times New Roman"/>
                      </a:endParaRPr>
                    </a:p>
                    <a:p>
                      <a:pPr marL="198755">
                        <a:lnSpc>
                          <a:spcPct val="100000"/>
                        </a:lnSpc>
                        <a:spcBef>
                          <a:spcPts val="5"/>
                        </a:spcBef>
                      </a:pPr>
                      <a:r>
                        <a:rPr sz="1800" b="1" spc="-5" dirty="0">
                          <a:solidFill>
                            <a:srgbClr val="FFFFFF"/>
                          </a:solidFill>
                          <a:latin typeface="Carlito"/>
                          <a:cs typeface="Carlito"/>
                        </a:rPr>
                        <a:t>Dataset</a:t>
                      </a:r>
                      <a:endParaRPr sz="1800">
                        <a:latin typeface="Carlito"/>
                        <a:cs typeface="Carlito"/>
                      </a:endParaRPr>
                    </a:p>
                  </a:txBody>
                  <a:tcPr marL="0" marR="0" marT="1905" marB="0">
                    <a:lnL w="1905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4F81BC"/>
                    </a:solidFill>
                  </a:tcPr>
                </a:tc>
                <a:tc gridSpan="3">
                  <a:txBody>
                    <a:bodyPr/>
                    <a:lstStyle/>
                    <a:p>
                      <a:pPr algn="ctr">
                        <a:lnSpc>
                          <a:spcPct val="100000"/>
                        </a:lnSpc>
                        <a:spcBef>
                          <a:spcPts val="245"/>
                        </a:spcBef>
                      </a:pPr>
                      <a:r>
                        <a:rPr sz="1800" b="1" dirty="0">
                          <a:solidFill>
                            <a:srgbClr val="FFFFFF"/>
                          </a:solidFill>
                          <a:latin typeface="Carlito"/>
                          <a:cs typeface="Carlito"/>
                        </a:rPr>
                        <a:t>Euclidean</a:t>
                      </a:r>
                      <a:r>
                        <a:rPr sz="1800" b="1" spc="-50" dirty="0">
                          <a:solidFill>
                            <a:srgbClr val="FFFFFF"/>
                          </a:solidFill>
                          <a:latin typeface="Carlito"/>
                          <a:cs typeface="Carlito"/>
                        </a:rPr>
                        <a:t> </a:t>
                      </a:r>
                      <a:r>
                        <a:rPr sz="1800" b="1" spc="-5" dirty="0">
                          <a:solidFill>
                            <a:srgbClr val="FFFFFF"/>
                          </a:solidFill>
                          <a:latin typeface="Carlito"/>
                          <a:cs typeface="Carlito"/>
                        </a:rPr>
                        <a:t>Distance</a:t>
                      </a:r>
                      <a:endParaRPr sz="1800">
                        <a:latin typeface="Carlito"/>
                        <a:cs typeface="Carlito"/>
                      </a:endParaRPr>
                    </a:p>
                  </a:txBody>
                  <a:tcPr marL="0" marR="0" marT="31115" marB="0">
                    <a:lnL w="381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65759">
                <a:tc vMerge="1">
                  <a:txBody>
                    <a:bodyPr/>
                    <a:lstStyle/>
                    <a:p>
                      <a:endParaRPr/>
                    </a:p>
                  </a:txBody>
                  <a:tcPr marL="0" marR="0" marT="1905" marB="0">
                    <a:lnL w="1905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270" algn="ctr">
                        <a:lnSpc>
                          <a:spcPct val="100000"/>
                        </a:lnSpc>
                        <a:spcBef>
                          <a:spcPts val="245"/>
                        </a:spcBef>
                      </a:pPr>
                      <a:r>
                        <a:rPr sz="1800" spc="-10" dirty="0">
                          <a:latin typeface="Carlito"/>
                          <a:cs typeface="Carlito"/>
                        </a:rPr>
                        <a:t>Cluster </a:t>
                      </a:r>
                      <a:r>
                        <a:rPr sz="1800" dirty="0">
                          <a:latin typeface="Carlito"/>
                          <a:cs typeface="Carlito"/>
                        </a:rPr>
                        <a:t>1</a:t>
                      </a:r>
                      <a:endParaRPr sz="1800">
                        <a:latin typeface="Carlito"/>
                        <a:cs typeface="Carlito"/>
                      </a:endParaRPr>
                    </a:p>
                  </a:txBody>
                  <a:tcPr marL="0" marR="0" marT="31115" marB="0">
                    <a:lnL w="381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spc="-10" dirty="0">
                          <a:latin typeface="Carlito"/>
                          <a:cs typeface="Carlito"/>
                        </a:rPr>
                        <a:t>Cluster</a:t>
                      </a:r>
                      <a:r>
                        <a:rPr sz="1800" spc="-5" dirty="0">
                          <a:latin typeface="Carlito"/>
                          <a:cs typeface="Carlito"/>
                        </a:rPr>
                        <a:t> </a:t>
                      </a:r>
                      <a:r>
                        <a:rPr sz="1800" dirty="0">
                          <a:latin typeface="Carlito"/>
                          <a:cs typeface="Carlito"/>
                        </a:rPr>
                        <a:t>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635" algn="ctr">
                        <a:lnSpc>
                          <a:spcPct val="100000"/>
                        </a:lnSpc>
                        <a:spcBef>
                          <a:spcPts val="245"/>
                        </a:spcBef>
                      </a:pPr>
                      <a:r>
                        <a:rPr sz="1800" spc="-5" dirty="0">
                          <a:latin typeface="Carlito"/>
                          <a:cs typeface="Carlito"/>
                        </a:rPr>
                        <a:t>Assignment</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400456">
                <a:tc>
                  <a:txBody>
                    <a:bodyPr/>
                    <a:lstStyle/>
                    <a:p>
                      <a:pPr marL="151130">
                        <a:lnSpc>
                          <a:spcPct val="100000"/>
                        </a:lnSpc>
                        <a:spcBef>
                          <a:spcPts val="385"/>
                        </a:spcBef>
                      </a:pPr>
                      <a:r>
                        <a:rPr sz="1800" spc="-5" dirty="0">
                          <a:latin typeface="Carlito"/>
                          <a:cs typeface="Carlito"/>
                        </a:rPr>
                        <a:t>(3.5,</a:t>
                      </a:r>
                      <a:r>
                        <a:rPr sz="1800" spc="-25" dirty="0">
                          <a:latin typeface="Carlito"/>
                          <a:cs typeface="Carlito"/>
                        </a:rPr>
                        <a:t> </a:t>
                      </a:r>
                      <a:r>
                        <a:rPr sz="1800" dirty="0">
                          <a:latin typeface="Carlito"/>
                          <a:cs typeface="Carlito"/>
                        </a:rPr>
                        <a:t>5.0)</a:t>
                      </a:r>
                      <a:endParaRPr sz="1800">
                        <a:latin typeface="Carlito"/>
                        <a:cs typeface="Carlito"/>
                      </a:endParaRPr>
                    </a:p>
                  </a:txBody>
                  <a:tcPr marL="0" marR="0" marT="48895" marB="0">
                    <a:lnL w="1905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85"/>
                        </a:spcBef>
                      </a:pPr>
                      <a:r>
                        <a:rPr sz="1800" dirty="0">
                          <a:latin typeface="Carlito"/>
                          <a:cs typeface="Carlito"/>
                        </a:rPr>
                        <a:t>4.16</a:t>
                      </a:r>
                      <a:endParaRPr sz="1800">
                        <a:latin typeface="Carlito"/>
                        <a:cs typeface="Carlito"/>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gn="ctr">
                        <a:lnSpc>
                          <a:spcPct val="100000"/>
                        </a:lnSpc>
                        <a:spcBef>
                          <a:spcPts val="385"/>
                        </a:spcBef>
                      </a:pPr>
                      <a:r>
                        <a:rPr sz="1800" dirty="0">
                          <a:latin typeface="Carlito"/>
                          <a:cs typeface="Carlito"/>
                        </a:rPr>
                        <a:t>0.71</a:t>
                      </a:r>
                      <a:endParaRPr sz="1800">
                        <a:latin typeface="Carlito"/>
                        <a:cs typeface="Carlito"/>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gn="ctr">
                        <a:lnSpc>
                          <a:spcPct val="100000"/>
                        </a:lnSpc>
                        <a:spcBef>
                          <a:spcPts val="385"/>
                        </a:spcBef>
                      </a:pPr>
                      <a:r>
                        <a:rPr sz="1800" dirty="0">
                          <a:latin typeface="Carlito"/>
                          <a:cs typeface="Carlito"/>
                        </a:rPr>
                        <a:t>K-2</a:t>
                      </a:r>
                      <a:endParaRPr sz="1800">
                        <a:latin typeface="Carlito"/>
                        <a:cs typeface="Carlito"/>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graphicFrame>
        <p:nvGraphicFramePr>
          <p:cNvPr id="11" name="object 11"/>
          <p:cNvGraphicFramePr>
            <a:graphicFrameLocks noGrp="1"/>
          </p:cNvGraphicFramePr>
          <p:nvPr/>
        </p:nvGraphicFramePr>
        <p:xfrm>
          <a:off x="7218426" y="700531"/>
          <a:ext cx="1864995" cy="1706877"/>
        </p:xfrm>
        <a:graphic>
          <a:graphicData uri="http://schemas.openxmlformats.org/drawingml/2006/table">
            <a:tbl>
              <a:tblPr firstRow="1" bandRow="1">
                <a:tableStyleId>{2D5ABB26-0587-4C30-8999-92F81FD0307C}</a:tableStyleId>
              </a:tblPr>
              <a:tblGrid>
                <a:gridCol w="621665">
                  <a:extLst>
                    <a:ext uri="{9D8B030D-6E8A-4147-A177-3AD203B41FA5}">
                      <a16:colId xmlns:a16="http://schemas.microsoft.com/office/drawing/2014/main" val="20000"/>
                    </a:ext>
                  </a:extLst>
                </a:gridCol>
                <a:gridCol w="621665">
                  <a:extLst>
                    <a:ext uri="{9D8B030D-6E8A-4147-A177-3AD203B41FA5}">
                      <a16:colId xmlns:a16="http://schemas.microsoft.com/office/drawing/2014/main" val="20001"/>
                    </a:ext>
                  </a:extLst>
                </a:gridCol>
                <a:gridCol w="621665">
                  <a:extLst>
                    <a:ext uri="{9D8B030D-6E8A-4147-A177-3AD203B41FA5}">
                      <a16:colId xmlns:a16="http://schemas.microsoft.com/office/drawing/2014/main" val="20002"/>
                    </a:ext>
                  </a:extLst>
                </a:gridCol>
              </a:tblGrid>
              <a:tr h="213359">
                <a:tc>
                  <a:txBody>
                    <a:bodyPr/>
                    <a:lstStyle/>
                    <a:p>
                      <a:pPr marL="1905" algn="ctr">
                        <a:lnSpc>
                          <a:spcPct val="100000"/>
                        </a:lnSpc>
                        <a:spcBef>
                          <a:spcPts val="305"/>
                        </a:spcBef>
                      </a:pPr>
                      <a:r>
                        <a:rPr sz="800" b="1" dirty="0">
                          <a:solidFill>
                            <a:srgbClr val="FFFFFF"/>
                          </a:solidFill>
                          <a:latin typeface="Carlito"/>
                          <a:cs typeface="Carlito"/>
                        </a:rPr>
                        <a:t>Individual</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270" algn="ctr">
                        <a:lnSpc>
                          <a:spcPct val="100000"/>
                        </a:lnSpc>
                        <a:spcBef>
                          <a:spcPts val="305"/>
                        </a:spcBef>
                      </a:pPr>
                      <a:r>
                        <a:rPr sz="800" b="1" spc="-5" dirty="0">
                          <a:solidFill>
                            <a:srgbClr val="FFFFFF"/>
                          </a:solidFill>
                          <a:latin typeface="Carlito"/>
                          <a:cs typeface="Carlito"/>
                        </a:rPr>
                        <a:t>Variable</a:t>
                      </a:r>
                      <a:r>
                        <a:rPr sz="800" b="1" spc="-15" dirty="0">
                          <a:solidFill>
                            <a:srgbClr val="FFFFFF"/>
                          </a:solidFill>
                          <a:latin typeface="Carlito"/>
                          <a:cs typeface="Carlito"/>
                        </a:rPr>
                        <a:t> </a:t>
                      </a:r>
                      <a:r>
                        <a:rPr sz="800" b="1" dirty="0">
                          <a:solidFill>
                            <a:srgbClr val="FFFFFF"/>
                          </a:solidFill>
                          <a:latin typeface="Carlito"/>
                          <a:cs typeface="Carlito"/>
                        </a:rPr>
                        <a:t>1</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905" algn="ctr">
                        <a:lnSpc>
                          <a:spcPct val="100000"/>
                        </a:lnSpc>
                        <a:spcBef>
                          <a:spcPts val="305"/>
                        </a:spcBef>
                      </a:pPr>
                      <a:r>
                        <a:rPr sz="800" b="1" spc="-5" dirty="0">
                          <a:solidFill>
                            <a:srgbClr val="FFFFFF"/>
                          </a:solidFill>
                          <a:latin typeface="Carlito"/>
                          <a:cs typeface="Carlito"/>
                        </a:rPr>
                        <a:t>Variable</a:t>
                      </a:r>
                      <a:r>
                        <a:rPr sz="800" b="1" spc="-15" dirty="0">
                          <a:solidFill>
                            <a:srgbClr val="FFFFFF"/>
                          </a:solidFill>
                          <a:latin typeface="Carlito"/>
                          <a:cs typeface="Carlito"/>
                        </a:rPr>
                        <a:t> </a:t>
                      </a:r>
                      <a:r>
                        <a:rPr sz="800" b="1" dirty="0">
                          <a:solidFill>
                            <a:srgbClr val="FFFFFF"/>
                          </a:solidFill>
                          <a:latin typeface="Carlito"/>
                          <a:cs typeface="Carlito"/>
                        </a:rPr>
                        <a:t>2</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213360">
                <a:tc>
                  <a:txBody>
                    <a:bodyPr/>
                    <a:lstStyle/>
                    <a:p>
                      <a:pPr marL="2540" algn="ctr">
                        <a:lnSpc>
                          <a:spcPct val="100000"/>
                        </a:lnSpc>
                        <a:spcBef>
                          <a:spcPts val="305"/>
                        </a:spcBef>
                      </a:pPr>
                      <a:r>
                        <a:rPr sz="800" dirty="0">
                          <a:latin typeface="Carlito"/>
                          <a:cs typeface="Carlito"/>
                        </a:rPr>
                        <a:t>1</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305"/>
                        </a:spcBef>
                      </a:pPr>
                      <a:r>
                        <a:rPr sz="800" dirty="0">
                          <a:latin typeface="Carlito"/>
                          <a:cs typeface="Carlito"/>
                        </a:rPr>
                        <a:t>1.0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305"/>
                        </a:spcBef>
                      </a:pPr>
                      <a:r>
                        <a:rPr sz="800" dirty="0">
                          <a:latin typeface="Carlito"/>
                          <a:cs typeface="Carlito"/>
                        </a:rPr>
                        <a:t>1.0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213360">
                <a:tc>
                  <a:txBody>
                    <a:bodyPr/>
                    <a:lstStyle/>
                    <a:p>
                      <a:pPr marL="2540" algn="ctr">
                        <a:lnSpc>
                          <a:spcPct val="100000"/>
                        </a:lnSpc>
                        <a:spcBef>
                          <a:spcPts val="305"/>
                        </a:spcBef>
                      </a:pPr>
                      <a:r>
                        <a:rPr sz="800" dirty="0">
                          <a:latin typeface="Carlito"/>
                          <a:cs typeface="Carlito"/>
                        </a:rPr>
                        <a:t>2</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05"/>
                        </a:spcBef>
                      </a:pPr>
                      <a:r>
                        <a:rPr sz="800" dirty="0">
                          <a:latin typeface="Carlito"/>
                          <a:cs typeface="Carlito"/>
                        </a:rPr>
                        <a:t>1.5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305"/>
                        </a:spcBef>
                      </a:pPr>
                      <a:r>
                        <a:rPr sz="800" dirty="0">
                          <a:latin typeface="Carlito"/>
                          <a:cs typeface="Carlito"/>
                        </a:rPr>
                        <a:t>2.0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213360">
                <a:tc>
                  <a:txBody>
                    <a:bodyPr/>
                    <a:lstStyle/>
                    <a:p>
                      <a:pPr marL="2540" algn="ctr">
                        <a:lnSpc>
                          <a:spcPct val="100000"/>
                        </a:lnSpc>
                        <a:spcBef>
                          <a:spcPts val="305"/>
                        </a:spcBef>
                      </a:pPr>
                      <a:r>
                        <a:rPr sz="800" dirty="0">
                          <a:latin typeface="Carlito"/>
                          <a:cs typeface="Carlito"/>
                        </a:rPr>
                        <a:t>3</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305"/>
                        </a:spcBef>
                      </a:pPr>
                      <a:r>
                        <a:rPr sz="800" dirty="0">
                          <a:latin typeface="Carlito"/>
                          <a:cs typeface="Carlito"/>
                        </a:rPr>
                        <a:t>3.0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305"/>
                        </a:spcBef>
                      </a:pPr>
                      <a:r>
                        <a:rPr sz="800" dirty="0">
                          <a:latin typeface="Carlito"/>
                          <a:cs typeface="Carlito"/>
                        </a:rPr>
                        <a:t>4.0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224027">
                <a:tc>
                  <a:txBody>
                    <a:bodyPr/>
                    <a:lstStyle/>
                    <a:p>
                      <a:pPr marL="2540" algn="ctr">
                        <a:lnSpc>
                          <a:spcPct val="100000"/>
                        </a:lnSpc>
                        <a:spcBef>
                          <a:spcPts val="305"/>
                        </a:spcBef>
                      </a:pPr>
                      <a:r>
                        <a:rPr sz="800" dirty="0">
                          <a:latin typeface="Carlito"/>
                          <a:cs typeface="Carlito"/>
                        </a:rPr>
                        <a:t>4</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C0504D"/>
                      </a:solidFill>
                      <a:prstDash val="solid"/>
                    </a:lnB>
                    <a:solidFill>
                      <a:srgbClr val="E9ECF4"/>
                    </a:solidFill>
                  </a:tcPr>
                </a:tc>
                <a:tc>
                  <a:txBody>
                    <a:bodyPr/>
                    <a:lstStyle/>
                    <a:p>
                      <a:pPr marL="1270" algn="ctr">
                        <a:lnSpc>
                          <a:spcPct val="100000"/>
                        </a:lnSpc>
                        <a:spcBef>
                          <a:spcPts val="305"/>
                        </a:spcBef>
                      </a:pPr>
                      <a:r>
                        <a:rPr sz="800" dirty="0">
                          <a:latin typeface="Carlito"/>
                          <a:cs typeface="Carlito"/>
                        </a:rPr>
                        <a:t>5.0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C0504D"/>
                      </a:solidFill>
                      <a:prstDash val="solid"/>
                    </a:lnB>
                    <a:solidFill>
                      <a:srgbClr val="E9ECF4"/>
                    </a:solidFill>
                  </a:tcPr>
                </a:tc>
                <a:tc>
                  <a:txBody>
                    <a:bodyPr/>
                    <a:lstStyle/>
                    <a:p>
                      <a:pPr marL="1905" algn="ctr">
                        <a:lnSpc>
                          <a:spcPct val="100000"/>
                        </a:lnSpc>
                        <a:spcBef>
                          <a:spcPts val="305"/>
                        </a:spcBef>
                      </a:pPr>
                      <a:r>
                        <a:rPr sz="800" dirty="0">
                          <a:latin typeface="Carlito"/>
                          <a:cs typeface="Carlito"/>
                        </a:rPr>
                        <a:t>7.0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C0504D"/>
                      </a:solidFill>
                      <a:prstDash val="solid"/>
                    </a:lnB>
                    <a:solidFill>
                      <a:srgbClr val="E9ECF4"/>
                    </a:solidFill>
                  </a:tcPr>
                </a:tc>
                <a:extLst>
                  <a:ext uri="{0D108BD9-81ED-4DB2-BD59-A6C34878D82A}">
                    <a16:rowId xmlns:a16="http://schemas.microsoft.com/office/drawing/2014/main" val="10004"/>
                  </a:ext>
                </a:extLst>
              </a:tr>
              <a:tr h="193801">
                <a:tc>
                  <a:txBody>
                    <a:bodyPr/>
                    <a:lstStyle/>
                    <a:p>
                      <a:pPr marL="2540" algn="ctr">
                        <a:lnSpc>
                          <a:spcPct val="100000"/>
                        </a:lnSpc>
                        <a:spcBef>
                          <a:spcPts val="225"/>
                        </a:spcBef>
                      </a:pPr>
                      <a:r>
                        <a:rPr sz="800" dirty="0">
                          <a:latin typeface="Carlito"/>
                          <a:cs typeface="Carlito"/>
                        </a:rPr>
                        <a:t>5</a:t>
                      </a:r>
                      <a:endParaRPr sz="800">
                        <a:latin typeface="Carlito"/>
                        <a:cs typeface="Carlito"/>
                      </a:endParaRPr>
                    </a:p>
                  </a:txBody>
                  <a:tcPr marL="0" marR="0" marT="28575" marB="0">
                    <a:lnL w="28575">
                      <a:solidFill>
                        <a:srgbClr val="C0504D"/>
                      </a:solidFill>
                      <a:prstDash val="solid"/>
                    </a:lnL>
                    <a:lnR w="12700">
                      <a:solidFill>
                        <a:srgbClr val="FFFFFF"/>
                      </a:solidFill>
                      <a:prstDash val="solid"/>
                    </a:lnR>
                    <a:lnT w="38100">
                      <a:solidFill>
                        <a:srgbClr val="C0504D"/>
                      </a:solidFill>
                      <a:prstDash val="solid"/>
                    </a:lnT>
                    <a:lnB w="38100">
                      <a:solidFill>
                        <a:srgbClr val="C0504D"/>
                      </a:solidFill>
                      <a:prstDash val="solid"/>
                    </a:lnB>
                    <a:solidFill>
                      <a:srgbClr val="D0D7E8"/>
                    </a:solidFill>
                  </a:tcPr>
                </a:tc>
                <a:tc>
                  <a:txBody>
                    <a:bodyPr/>
                    <a:lstStyle/>
                    <a:p>
                      <a:pPr marL="1270" algn="ctr">
                        <a:lnSpc>
                          <a:spcPct val="100000"/>
                        </a:lnSpc>
                        <a:spcBef>
                          <a:spcPts val="225"/>
                        </a:spcBef>
                      </a:pPr>
                      <a:r>
                        <a:rPr sz="800" dirty="0">
                          <a:latin typeface="Carlito"/>
                          <a:cs typeface="Carlito"/>
                        </a:rPr>
                        <a:t>3.5</a:t>
                      </a:r>
                      <a:endParaRPr sz="800">
                        <a:latin typeface="Carlito"/>
                        <a:cs typeface="Carlito"/>
                      </a:endParaRPr>
                    </a:p>
                  </a:txBody>
                  <a:tcPr marL="0" marR="0" marT="28575" marB="0">
                    <a:lnL w="12700">
                      <a:solidFill>
                        <a:srgbClr val="FFFFFF"/>
                      </a:solidFill>
                      <a:prstDash val="solid"/>
                    </a:lnL>
                    <a:lnR w="12700">
                      <a:solidFill>
                        <a:srgbClr val="FFFFFF"/>
                      </a:solidFill>
                      <a:prstDash val="solid"/>
                    </a:lnR>
                    <a:lnT w="38100">
                      <a:solidFill>
                        <a:srgbClr val="C0504D"/>
                      </a:solidFill>
                      <a:prstDash val="solid"/>
                    </a:lnT>
                    <a:lnB w="38100">
                      <a:solidFill>
                        <a:srgbClr val="C0504D"/>
                      </a:solidFill>
                      <a:prstDash val="solid"/>
                    </a:lnB>
                    <a:solidFill>
                      <a:srgbClr val="D0D7E8"/>
                    </a:solidFill>
                  </a:tcPr>
                </a:tc>
                <a:tc>
                  <a:txBody>
                    <a:bodyPr/>
                    <a:lstStyle/>
                    <a:p>
                      <a:pPr marL="1905" algn="ctr">
                        <a:lnSpc>
                          <a:spcPct val="100000"/>
                        </a:lnSpc>
                        <a:spcBef>
                          <a:spcPts val="225"/>
                        </a:spcBef>
                      </a:pPr>
                      <a:r>
                        <a:rPr sz="800" dirty="0">
                          <a:latin typeface="Carlito"/>
                          <a:cs typeface="Carlito"/>
                        </a:rPr>
                        <a:t>5.0</a:t>
                      </a:r>
                      <a:endParaRPr sz="800">
                        <a:latin typeface="Carlito"/>
                        <a:cs typeface="Carlito"/>
                      </a:endParaRPr>
                    </a:p>
                  </a:txBody>
                  <a:tcPr marL="0" marR="0" marT="28575" marB="0">
                    <a:lnL w="12700">
                      <a:solidFill>
                        <a:srgbClr val="FFFFFF"/>
                      </a:solidFill>
                      <a:prstDash val="solid"/>
                    </a:lnL>
                    <a:lnR w="28575">
                      <a:solidFill>
                        <a:srgbClr val="C0504D"/>
                      </a:solidFill>
                      <a:prstDash val="solid"/>
                    </a:lnR>
                    <a:lnT w="38100">
                      <a:solidFill>
                        <a:srgbClr val="C0504D"/>
                      </a:solidFill>
                      <a:prstDash val="solid"/>
                    </a:lnT>
                    <a:lnB w="38100">
                      <a:solidFill>
                        <a:srgbClr val="C0504D"/>
                      </a:solidFill>
                      <a:prstDash val="solid"/>
                    </a:lnB>
                    <a:solidFill>
                      <a:srgbClr val="D0D7E8"/>
                    </a:solidFill>
                  </a:tcPr>
                </a:tc>
                <a:extLst>
                  <a:ext uri="{0D108BD9-81ED-4DB2-BD59-A6C34878D82A}">
                    <a16:rowId xmlns:a16="http://schemas.microsoft.com/office/drawing/2014/main" val="10005"/>
                  </a:ext>
                </a:extLst>
              </a:tr>
              <a:tr h="222250">
                <a:tc>
                  <a:txBody>
                    <a:bodyPr/>
                    <a:lstStyle/>
                    <a:p>
                      <a:pPr marL="2540" algn="ctr">
                        <a:lnSpc>
                          <a:spcPct val="100000"/>
                        </a:lnSpc>
                        <a:spcBef>
                          <a:spcPts val="375"/>
                        </a:spcBef>
                      </a:pPr>
                      <a:r>
                        <a:rPr sz="800" dirty="0">
                          <a:latin typeface="Carlito"/>
                          <a:cs typeface="Carlito"/>
                        </a:rPr>
                        <a:t>6</a:t>
                      </a:r>
                      <a:endParaRPr sz="800">
                        <a:latin typeface="Carlito"/>
                        <a:cs typeface="Carlito"/>
                      </a:endParaRPr>
                    </a:p>
                  </a:txBody>
                  <a:tcPr marL="0" marR="0" marT="47625" marB="0">
                    <a:lnL w="12700">
                      <a:solidFill>
                        <a:srgbClr val="FFFFFF"/>
                      </a:solidFill>
                      <a:prstDash val="solid"/>
                    </a:lnL>
                    <a:lnR w="12700">
                      <a:solidFill>
                        <a:srgbClr val="FFFFFF"/>
                      </a:solidFill>
                      <a:prstDash val="solid"/>
                    </a:lnR>
                    <a:lnT w="38100">
                      <a:solidFill>
                        <a:srgbClr val="C0504D"/>
                      </a:solidFill>
                      <a:prstDash val="solid"/>
                    </a:lnT>
                    <a:lnB w="12700">
                      <a:solidFill>
                        <a:srgbClr val="FFFFFF"/>
                      </a:solidFill>
                      <a:prstDash val="solid"/>
                    </a:lnB>
                    <a:solidFill>
                      <a:srgbClr val="E9ECF4"/>
                    </a:solidFill>
                  </a:tcPr>
                </a:tc>
                <a:tc>
                  <a:txBody>
                    <a:bodyPr/>
                    <a:lstStyle/>
                    <a:p>
                      <a:pPr marL="1270" algn="ctr">
                        <a:lnSpc>
                          <a:spcPct val="100000"/>
                        </a:lnSpc>
                        <a:spcBef>
                          <a:spcPts val="375"/>
                        </a:spcBef>
                      </a:pPr>
                      <a:r>
                        <a:rPr sz="800" dirty="0">
                          <a:latin typeface="Carlito"/>
                          <a:cs typeface="Carlito"/>
                        </a:rPr>
                        <a:t>4.5</a:t>
                      </a:r>
                      <a:endParaRPr sz="800">
                        <a:latin typeface="Carlito"/>
                        <a:cs typeface="Carlito"/>
                      </a:endParaRPr>
                    </a:p>
                  </a:txBody>
                  <a:tcPr marL="0" marR="0" marT="47625" marB="0">
                    <a:lnL w="12700">
                      <a:solidFill>
                        <a:srgbClr val="FFFFFF"/>
                      </a:solidFill>
                      <a:prstDash val="solid"/>
                    </a:lnL>
                    <a:lnR w="12700">
                      <a:solidFill>
                        <a:srgbClr val="FFFFFF"/>
                      </a:solidFill>
                      <a:prstDash val="solid"/>
                    </a:lnR>
                    <a:lnT w="38100">
                      <a:solidFill>
                        <a:srgbClr val="C0504D"/>
                      </a:solidFill>
                      <a:prstDash val="solid"/>
                    </a:lnT>
                    <a:lnB w="12700">
                      <a:solidFill>
                        <a:srgbClr val="FFFFFF"/>
                      </a:solidFill>
                      <a:prstDash val="solid"/>
                    </a:lnB>
                    <a:solidFill>
                      <a:srgbClr val="E9ECF4"/>
                    </a:solidFill>
                  </a:tcPr>
                </a:tc>
                <a:tc>
                  <a:txBody>
                    <a:bodyPr/>
                    <a:lstStyle/>
                    <a:p>
                      <a:pPr marL="1905" algn="ctr">
                        <a:lnSpc>
                          <a:spcPct val="100000"/>
                        </a:lnSpc>
                        <a:spcBef>
                          <a:spcPts val="375"/>
                        </a:spcBef>
                      </a:pPr>
                      <a:r>
                        <a:rPr sz="800" dirty="0">
                          <a:latin typeface="Carlito"/>
                          <a:cs typeface="Carlito"/>
                        </a:rPr>
                        <a:t>5.0</a:t>
                      </a:r>
                      <a:endParaRPr sz="800">
                        <a:latin typeface="Carlito"/>
                        <a:cs typeface="Carlito"/>
                      </a:endParaRPr>
                    </a:p>
                  </a:txBody>
                  <a:tcPr marL="0" marR="0" marT="47625" marB="0">
                    <a:lnL w="12700">
                      <a:solidFill>
                        <a:srgbClr val="FFFFFF"/>
                      </a:solidFill>
                      <a:prstDash val="solid"/>
                    </a:lnL>
                    <a:lnR w="12700">
                      <a:solidFill>
                        <a:srgbClr val="FFFFFF"/>
                      </a:solidFill>
                      <a:prstDash val="solid"/>
                    </a:lnR>
                    <a:lnT w="38100">
                      <a:solidFill>
                        <a:srgbClr val="C0504D"/>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6"/>
                  </a:ext>
                </a:extLst>
              </a:tr>
              <a:tr h="213360">
                <a:tc>
                  <a:txBody>
                    <a:bodyPr/>
                    <a:lstStyle/>
                    <a:p>
                      <a:pPr marL="2540" algn="ctr">
                        <a:lnSpc>
                          <a:spcPct val="100000"/>
                        </a:lnSpc>
                        <a:spcBef>
                          <a:spcPts val="305"/>
                        </a:spcBef>
                      </a:pPr>
                      <a:r>
                        <a:rPr sz="800" dirty="0">
                          <a:latin typeface="Carlito"/>
                          <a:cs typeface="Carlito"/>
                        </a:rPr>
                        <a:t>7</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305"/>
                        </a:spcBef>
                      </a:pPr>
                      <a:r>
                        <a:rPr sz="800" dirty="0">
                          <a:latin typeface="Carlito"/>
                          <a:cs typeface="Carlito"/>
                        </a:rPr>
                        <a:t>3.5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305"/>
                        </a:spcBef>
                      </a:pPr>
                      <a:r>
                        <a:rPr sz="800" dirty="0">
                          <a:latin typeface="Carlito"/>
                          <a:cs typeface="Carlito"/>
                        </a:rPr>
                        <a:t>4.5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7"/>
                  </a:ext>
                </a:extLst>
              </a:tr>
            </a:tbl>
          </a:graphicData>
        </a:graphic>
      </p:graphicFrame>
      <p:sp>
        <p:nvSpPr>
          <p:cNvPr id="12" name="object 12"/>
          <p:cNvSpPr/>
          <p:nvPr/>
        </p:nvSpPr>
        <p:spPr>
          <a:xfrm>
            <a:off x="4083050" y="2388870"/>
            <a:ext cx="244119" cy="46736"/>
          </a:xfrm>
          <a:prstGeom prst="rect">
            <a:avLst/>
          </a:prstGeom>
          <a:blipFill>
            <a:blip r:embed="rId2" cstate="print"/>
            <a:stretch>
              <a:fillRect/>
            </a:stretch>
          </a:blipFill>
        </p:spPr>
        <p:txBody>
          <a:bodyPr wrap="square" lIns="0" tIns="0" rIns="0" bIns="0" rtlCol="0"/>
          <a:lstStyle/>
          <a:p>
            <a:endParaRPr/>
          </a:p>
        </p:txBody>
      </p:sp>
      <p:grpSp>
        <p:nvGrpSpPr>
          <p:cNvPr id="13" name="object 13"/>
          <p:cNvGrpSpPr/>
          <p:nvPr/>
        </p:nvGrpSpPr>
        <p:grpSpPr>
          <a:xfrm>
            <a:off x="4434233" y="1921764"/>
            <a:ext cx="1657985" cy="77470"/>
            <a:chOff x="4434233" y="1921764"/>
            <a:chExt cx="1657985" cy="77470"/>
          </a:xfrm>
        </p:grpSpPr>
        <p:sp>
          <p:nvSpPr>
            <p:cNvPr id="14" name="object 14"/>
            <p:cNvSpPr/>
            <p:nvPr/>
          </p:nvSpPr>
          <p:spPr>
            <a:xfrm>
              <a:off x="4434233" y="1921764"/>
              <a:ext cx="71091" cy="73279"/>
            </a:xfrm>
            <a:prstGeom prst="rect">
              <a:avLst/>
            </a:prstGeom>
            <a:blipFill>
              <a:blip r:embed="rId3" cstate="print"/>
              <a:stretch>
                <a:fillRect/>
              </a:stretch>
            </a:blipFill>
          </p:spPr>
          <p:txBody>
            <a:bodyPr wrap="square" lIns="0" tIns="0" rIns="0" bIns="0" rtlCol="0"/>
            <a:lstStyle/>
            <a:p>
              <a:endParaRPr/>
            </a:p>
          </p:txBody>
        </p:sp>
        <p:sp>
          <p:nvSpPr>
            <p:cNvPr id="15" name="object 15"/>
            <p:cNvSpPr/>
            <p:nvPr/>
          </p:nvSpPr>
          <p:spPr>
            <a:xfrm>
              <a:off x="5817235" y="1956054"/>
              <a:ext cx="274955" cy="43180"/>
            </a:xfrm>
            <a:custGeom>
              <a:avLst/>
              <a:gdLst/>
              <a:ahLst/>
              <a:cxnLst/>
              <a:rect l="l" t="t" r="r" b="b"/>
              <a:pathLst>
                <a:path w="274954" h="43180">
                  <a:moveTo>
                    <a:pt x="5217" y="35813"/>
                  </a:moveTo>
                  <a:lnTo>
                    <a:pt x="1524" y="35813"/>
                  </a:lnTo>
                  <a:lnTo>
                    <a:pt x="2286" y="37591"/>
                  </a:lnTo>
                  <a:lnTo>
                    <a:pt x="3682" y="41656"/>
                  </a:lnTo>
                  <a:lnTo>
                    <a:pt x="5968" y="42798"/>
                  </a:lnTo>
                  <a:lnTo>
                    <a:pt x="10287" y="41528"/>
                  </a:lnTo>
                  <a:lnTo>
                    <a:pt x="11556" y="39243"/>
                  </a:lnTo>
                  <a:lnTo>
                    <a:pt x="10922" y="37083"/>
                  </a:lnTo>
                  <a:lnTo>
                    <a:pt x="10667" y="35940"/>
                  </a:lnTo>
                  <a:lnTo>
                    <a:pt x="5079" y="35940"/>
                  </a:lnTo>
                  <a:lnTo>
                    <a:pt x="5217" y="35813"/>
                  </a:lnTo>
                  <a:close/>
                </a:path>
                <a:path w="274954" h="43180">
                  <a:moveTo>
                    <a:pt x="2159" y="37337"/>
                  </a:moveTo>
                  <a:lnTo>
                    <a:pt x="2248" y="37591"/>
                  </a:lnTo>
                  <a:lnTo>
                    <a:pt x="2159" y="37337"/>
                  </a:lnTo>
                  <a:close/>
                </a:path>
                <a:path w="274954" h="43180">
                  <a:moveTo>
                    <a:pt x="139046" y="34797"/>
                  </a:moveTo>
                  <a:lnTo>
                    <a:pt x="10413" y="34797"/>
                  </a:lnTo>
                  <a:lnTo>
                    <a:pt x="10667" y="35940"/>
                  </a:lnTo>
                  <a:lnTo>
                    <a:pt x="19176" y="35940"/>
                  </a:lnTo>
                  <a:lnTo>
                    <a:pt x="27050" y="36068"/>
                  </a:lnTo>
                  <a:lnTo>
                    <a:pt x="34543" y="36068"/>
                  </a:lnTo>
                  <a:lnTo>
                    <a:pt x="69214" y="36448"/>
                  </a:lnTo>
                  <a:lnTo>
                    <a:pt x="99440" y="36068"/>
                  </a:lnTo>
                  <a:lnTo>
                    <a:pt x="132079" y="35178"/>
                  </a:lnTo>
                  <a:lnTo>
                    <a:pt x="139046" y="34797"/>
                  </a:lnTo>
                  <a:close/>
                </a:path>
                <a:path w="274954" h="43180">
                  <a:moveTo>
                    <a:pt x="216535" y="25526"/>
                  </a:moveTo>
                  <a:lnTo>
                    <a:pt x="83947" y="25526"/>
                  </a:lnTo>
                  <a:lnTo>
                    <a:pt x="69087" y="25653"/>
                  </a:lnTo>
                  <a:lnTo>
                    <a:pt x="44703" y="25907"/>
                  </a:lnTo>
                  <a:lnTo>
                    <a:pt x="5079" y="25907"/>
                  </a:lnTo>
                  <a:lnTo>
                    <a:pt x="3682" y="26034"/>
                  </a:lnTo>
                  <a:lnTo>
                    <a:pt x="2286" y="26543"/>
                  </a:lnTo>
                  <a:lnTo>
                    <a:pt x="1285" y="27812"/>
                  </a:lnTo>
                  <a:lnTo>
                    <a:pt x="507" y="28701"/>
                  </a:lnTo>
                  <a:lnTo>
                    <a:pt x="0" y="30098"/>
                  </a:lnTo>
                  <a:lnTo>
                    <a:pt x="253" y="32512"/>
                  </a:lnTo>
                  <a:lnTo>
                    <a:pt x="635" y="34035"/>
                  </a:lnTo>
                  <a:lnTo>
                    <a:pt x="1015" y="34670"/>
                  </a:lnTo>
                  <a:lnTo>
                    <a:pt x="1524" y="35940"/>
                  </a:lnTo>
                  <a:lnTo>
                    <a:pt x="5217" y="35813"/>
                  </a:lnTo>
                  <a:lnTo>
                    <a:pt x="10032" y="31368"/>
                  </a:lnTo>
                  <a:lnTo>
                    <a:pt x="181519" y="31368"/>
                  </a:lnTo>
                  <a:lnTo>
                    <a:pt x="193166" y="29844"/>
                  </a:lnTo>
                  <a:lnTo>
                    <a:pt x="205486" y="27685"/>
                  </a:lnTo>
                  <a:lnTo>
                    <a:pt x="216535" y="25526"/>
                  </a:lnTo>
                  <a:close/>
                </a:path>
                <a:path w="274954" h="43180">
                  <a:moveTo>
                    <a:pt x="10032" y="31368"/>
                  </a:moveTo>
                  <a:lnTo>
                    <a:pt x="5079" y="35940"/>
                  </a:lnTo>
                  <a:lnTo>
                    <a:pt x="10667" y="35940"/>
                  </a:lnTo>
                  <a:lnTo>
                    <a:pt x="10498" y="35178"/>
                  </a:lnTo>
                  <a:lnTo>
                    <a:pt x="10128" y="33654"/>
                  </a:lnTo>
                  <a:lnTo>
                    <a:pt x="10113" y="33146"/>
                  </a:lnTo>
                  <a:lnTo>
                    <a:pt x="10056" y="32512"/>
                  </a:lnTo>
                  <a:lnTo>
                    <a:pt x="9905" y="32512"/>
                  </a:lnTo>
                  <a:lnTo>
                    <a:pt x="10032" y="31368"/>
                  </a:lnTo>
                  <a:close/>
                </a:path>
                <a:path w="274954" h="43180">
                  <a:moveTo>
                    <a:pt x="176847" y="31876"/>
                  </a:moveTo>
                  <a:lnTo>
                    <a:pt x="10032" y="31876"/>
                  </a:lnTo>
                  <a:lnTo>
                    <a:pt x="10056" y="32512"/>
                  </a:lnTo>
                  <a:lnTo>
                    <a:pt x="10199" y="34035"/>
                  </a:lnTo>
                  <a:lnTo>
                    <a:pt x="10413" y="35178"/>
                  </a:lnTo>
                  <a:lnTo>
                    <a:pt x="10413" y="34797"/>
                  </a:lnTo>
                  <a:lnTo>
                    <a:pt x="139046" y="34797"/>
                  </a:lnTo>
                  <a:lnTo>
                    <a:pt x="148336" y="34289"/>
                  </a:lnTo>
                  <a:lnTo>
                    <a:pt x="164211" y="33146"/>
                  </a:lnTo>
                  <a:lnTo>
                    <a:pt x="164464" y="33146"/>
                  </a:lnTo>
                  <a:lnTo>
                    <a:pt x="176847" y="31876"/>
                  </a:lnTo>
                  <a:close/>
                </a:path>
                <a:path w="274954" h="43180">
                  <a:moveTo>
                    <a:pt x="10413" y="34797"/>
                  </a:moveTo>
                  <a:lnTo>
                    <a:pt x="10413" y="35178"/>
                  </a:lnTo>
                  <a:lnTo>
                    <a:pt x="10413" y="34797"/>
                  </a:lnTo>
                  <a:close/>
                </a:path>
                <a:path w="274954" h="43180">
                  <a:moveTo>
                    <a:pt x="10032" y="33146"/>
                  </a:moveTo>
                  <a:lnTo>
                    <a:pt x="10128" y="33654"/>
                  </a:lnTo>
                  <a:lnTo>
                    <a:pt x="10032" y="33146"/>
                  </a:lnTo>
                  <a:close/>
                </a:path>
                <a:path w="274954" h="43180">
                  <a:moveTo>
                    <a:pt x="10113" y="33146"/>
                  </a:moveTo>
                  <a:lnTo>
                    <a:pt x="10160" y="33654"/>
                  </a:lnTo>
                  <a:lnTo>
                    <a:pt x="10113" y="33146"/>
                  </a:lnTo>
                  <a:close/>
                </a:path>
                <a:path w="274954" h="43180">
                  <a:moveTo>
                    <a:pt x="181519" y="31368"/>
                  </a:moveTo>
                  <a:lnTo>
                    <a:pt x="10032" y="31368"/>
                  </a:lnTo>
                  <a:lnTo>
                    <a:pt x="9905" y="32512"/>
                  </a:lnTo>
                  <a:lnTo>
                    <a:pt x="10032" y="31876"/>
                  </a:lnTo>
                  <a:lnTo>
                    <a:pt x="176847" y="31876"/>
                  </a:lnTo>
                  <a:lnTo>
                    <a:pt x="179324" y="31622"/>
                  </a:lnTo>
                  <a:lnTo>
                    <a:pt x="179577" y="31622"/>
                  </a:lnTo>
                  <a:lnTo>
                    <a:pt x="181519" y="31368"/>
                  </a:lnTo>
                  <a:close/>
                </a:path>
                <a:path w="274954" h="43180">
                  <a:moveTo>
                    <a:pt x="10032" y="31876"/>
                  </a:moveTo>
                  <a:lnTo>
                    <a:pt x="9905" y="32512"/>
                  </a:lnTo>
                  <a:lnTo>
                    <a:pt x="10032" y="31876"/>
                  </a:lnTo>
                  <a:close/>
                </a:path>
                <a:path w="274954" h="43180">
                  <a:moveTo>
                    <a:pt x="10032" y="32257"/>
                  </a:moveTo>
                  <a:lnTo>
                    <a:pt x="10032" y="32512"/>
                  </a:lnTo>
                  <a:lnTo>
                    <a:pt x="10032" y="32257"/>
                  </a:lnTo>
                  <a:close/>
                </a:path>
                <a:path w="274954" h="43180">
                  <a:moveTo>
                    <a:pt x="263016" y="14096"/>
                  </a:moveTo>
                  <a:lnTo>
                    <a:pt x="257810" y="15366"/>
                  </a:lnTo>
                  <a:lnTo>
                    <a:pt x="258063" y="15366"/>
                  </a:lnTo>
                  <a:lnTo>
                    <a:pt x="252222" y="17018"/>
                  </a:lnTo>
                  <a:lnTo>
                    <a:pt x="252094" y="17018"/>
                  </a:lnTo>
                  <a:lnTo>
                    <a:pt x="245490" y="18795"/>
                  </a:lnTo>
                  <a:lnTo>
                    <a:pt x="236981" y="20954"/>
                  </a:lnTo>
                  <a:lnTo>
                    <a:pt x="227837" y="23113"/>
                  </a:lnTo>
                  <a:lnTo>
                    <a:pt x="223786" y="23970"/>
                  </a:lnTo>
                  <a:lnTo>
                    <a:pt x="224916" y="27812"/>
                  </a:lnTo>
                  <a:lnTo>
                    <a:pt x="227075" y="29082"/>
                  </a:lnTo>
                  <a:lnTo>
                    <a:pt x="245363" y="24891"/>
                  </a:lnTo>
                  <a:lnTo>
                    <a:pt x="245999" y="24637"/>
                  </a:lnTo>
                  <a:lnTo>
                    <a:pt x="258444" y="20065"/>
                  </a:lnTo>
                  <a:lnTo>
                    <a:pt x="267080" y="15112"/>
                  </a:lnTo>
                  <a:lnTo>
                    <a:pt x="268303" y="14223"/>
                  </a:lnTo>
                  <a:lnTo>
                    <a:pt x="262636" y="14223"/>
                  </a:lnTo>
                  <a:lnTo>
                    <a:pt x="263016" y="14096"/>
                  </a:lnTo>
                  <a:close/>
                </a:path>
                <a:path w="274954" h="43180">
                  <a:moveTo>
                    <a:pt x="191642" y="18795"/>
                  </a:moveTo>
                  <a:lnTo>
                    <a:pt x="178053" y="20700"/>
                  </a:lnTo>
                  <a:lnTo>
                    <a:pt x="178307" y="20700"/>
                  </a:lnTo>
                  <a:lnTo>
                    <a:pt x="163322" y="22225"/>
                  </a:lnTo>
                  <a:lnTo>
                    <a:pt x="147574" y="23368"/>
                  </a:lnTo>
                  <a:lnTo>
                    <a:pt x="131572" y="24256"/>
                  </a:lnTo>
                  <a:lnTo>
                    <a:pt x="115442" y="24891"/>
                  </a:lnTo>
                  <a:lnTo>
                    <a:pt x="83819" y="25526"/>
                  </a:lnTo>
                  <a:lnTo>
                    <a:pt x="216662" y="25526"/>
                  </a:lnTo>
                  <a:lnTo>
                    <a:pt x="223786" y="23970"/>
                  </a:lnTo>
                  <a:lnTo>
                    <a:pt x="223837" y="23113"/>
                  </a:lnTo>
                  <a:lnTo>
                    <a:pt x="224789" y="21208"/>
                  </a:lnTo>
                  <a:lnTo>
                    <a:pt x="226822" y="20446"/>
                  </a:lnTo>
                  <a:lnTo>
                    <a:pt x="231082" y="18922"/>
                  </a:lnTo>
                  <a:lnTo>
                    <a:pt x="191515" y="18922"/>
                  </a:lnTo>
                  <a:close/>
                </a:path>
                <a:path w="274954" h="43180">
                  <a:moveTo>
                    <a:pt x="242442" y="14858"/>
                  </a:moveTo>
                  <a:lnTo>
                    <a:pt x="226822" y="20446"/>
                  </a:lnTo>
                  <a:lnTo>
                    <a:pt x="224789" y="21208"/>
                  </a:lnTo>
                  <a:lnTo>
                    <a:pt x="223647" y="23494"/>
                  </a:lnTo>
                  <a:lnTo>
                    <a:pt x="223786" y="23970"/>
                  </a:lnTo>
                  <a:lnTo>
                    <a:pt x="227711" y="23113"/>
                  </a:lnTo>
                  <a:lnTo>
                    <a:pt x="236854" y="20954"/>
                  </a:lnTo>
                  <a:lnTo>
                    <a:pt x="245363" y="18795"/>
                  </a:lnTo>
                  <a:lnTo>
                    <a:pt x="252094" y="17018"/>
                  </a:lnTo>
                  <a:lnTo>
                    <a:pt x="252222" y="17018"/>
                  </a:lnTo>
                  <a:lnTo>
                    <a:pt x="258063" y="15366"/>
                  </a:lnTo>
                  <a:lnTo>
                    <a:pt x="257810" y="15366"/>
                  </a:lnTo>
                  <a:lnTo>
                    <a:pt x="258851" y="15112"/>
                  </a:lnTo>
                  <a:lnTo>
                    <a:pt x="241935" y="15112"/>
                  </a:lnTo>
                  <a:lnTo>
                    <a:pt x="242442" y="14858"/>
                  </a:lnTo>
                  <a:close/>
                </a:path>
                <a:path w="274954" h="43180">
                  <a:moveTo>
                    <a:pt x="242188" y="7112"/>
                  </a:moveTo>
                  <a:lnTo>
                    <a:pt x="233934" y="9525"/>
                  </a:lnTo>
                  <a:lnTo>
                    <a:pt x="225043" y="11937"/>
                  </a:lnTo>
                  <a:lnTo>
                    <a:pt x="214249" y="14477"/>
                  </a:lnTo>
                  <a:lnTo>
                    <a:pt x="203326" y="16763"/>
                  </a:lnTo>
                  <a:lnTo>
                    <a:pt x="203580" y="16763"/>
                  </a:lnTo>
                  <a:lnTo>
                    <a:pt x="191515" y="18922"/>
                  </a:lnTo>
                  <a:lnTo>
                    <a:pt x="231082" y="18922"/>
                  </a:lnTo>
                  <a:lnTo>
                    <a:pt x="242442" y="14858"/>
                  </a:lnTo>
                  <a:lnTo>
                    <a:pt x="253660" y="9499"/>
                  </a:lnTo>
                  <a:lnTo>
                    <a:pt x="257080" y="7238"/>
                  </a:lnTo>
                  <a:lnTo>
                    <a:pt x="242188" y="7238"/>
                  </a:lnTo>
                  <a:close/>
                </a:path>
                <a:path w="274954" h="43180">
                  <a:moveTo>
                    <a:pt x="253660" y="9499"/>
                  </a:moveTo>
                  <a:lnTo>
                    <a:pt x="241935" y="15112"/>
                  </a:lnTo>
                  <a:lnTo>
                    <a:pt x="258851" y="15112"/>
                  </a:lnTo>
                  <a:lnTo>
                    <a:pt x="263016" y="14096"/>
                  </a:lnTo>
                  <a:lnTo>
                    <a:pt x="263220" y="14096"/>
                  </a:lnTo>
                  <a:lnTo>
                    <a:pt x="265556" y="13588"/>
                  </a:lnTo>
                  <a:lnTo>
                    <a:pt x="265969" y="13588"/>
                  </a:lnTo>
                  <a:lnTo>
                    <a:pt x="267588" y="13207"/>
                  </a:lnTo>
                  <a:lnTo>
                    <a:pt x="268731" y="13081"/>
                  </a:lnTo>
                  <a:lnTo>
                    <a:pt x="269493" y="12826"/>
                  </a:lnTo>
                  <a:lnTo>
                    <a:pt x="270606" y="12548"/>
                  </a:lnTo>
                  <a:lnTo>
                    <a:pt x="270922" y="12318"/>
                  </a:lnTo>
                  <a:lnTo>
                    <a:pt x="273099" y="10913"/>
                  </a:lnTo>
                  <a:lnTo>
                    <a:pt x="273910" y="9940"/>
                  </a:lnTo>
                  <a:lnTo>
                    <a:pt x="273951" y="9778"/>
                  </a:lnTo>
                  <a:lnTo>
                    <a:pt x="253237" y="9778"/>
                  </a:lnTo>
                  <a:lnTo>
                    <a:pt x="253660" y="9499"/>
                  </a:lnTo>
                  <a:close/>
                </a:path>
                <a:path w="274954" h="43180">
                  <a:moveTo>
                    <a:pt x="263220" y="14096"/>
                  </a:moveTo>
                  <a:lnTo>
                    <a:pt x="263016" y="14096"/>
                  </a:lnTo>
                  <a:lnTo>
                    <a:pt x="262636" y="14223"/>
                  </a:lnTo>
                  <a:lnTo>
                    <a:pt x="263220" y="14096"/>
                  </a:lnTo>
                  <a:close/>
                </a:path>
                <a:path w="274954" h="43180">
                  <a:moveTo>
                    <a:pt x="265556" y="13588"/>
                  </a:moveTo>
                  <a:lnTo>
                    <a:pt x="262636" y="14223"/>
                  </a:lnTo>
                  <a:lnTo>
                    <a:pt x="268303" y="14223"/>
                  </a:lnTo>
                  <a:lnTo>
                    <a:pt x="269001" y="13715"/>
                  </a:lnTo>
                  <a:lnTo>
                    <a:pt x="265429" y="13715"/>
                  </a:lnTo>
                  <a:close/>
                </a:path>
                <a:path w="274954" h="43180">
                  <a:moveTo>
                    <a:pt x="265969" y="13588"/>
                  </a:moveTo>
                  <a:lnTo>
                    <a:pt x="265556" y="13588"/>
                  </a:lnTo>
                  <a:lnTo>
                    <a:pt x="265969" y="13588"/>
                  </a:lnTo>
                  <a:close/>
                </a:path>
                <a:path w="274954" h="43180">
                  <a:moveTo>
                    <a:pt x="270606" y="12548"/>
                  </a:moveTo>
                  <a:lnTo>
                    <a:pt x="269493" y="12826"/>
                  </a:lnTo>
                  <a:lnTo>
                    <a:pt x="268731" y="13081"/>
                  </a:lnTo>
                  <a:lnTo>
                    <a:pt x="267715" y="13207"/>
                  </a:lnTo>
                  <a:lnTo>
                    <a:pt x="265429" y="13715"/>
                  </a:lnTo>
                  <a:lnTo>
                    <a:pt x="269001" y="13715"/>
                  </a:lnTo>
                  <a:lnTo>
                    <a:pt x="270606" y="12548"/>
                  </a:lnTo>
                  <a:close/>
                </a:path>
                <a:path w="274954" h="43180">
                  <a:moveTo>
                    <a:pt x="273099" y="10913"/>
                  </a:moveTo>
                  <a:lnTo>
                    <a:pt x="271097" y="12191"/>
                  </a:lnTo>
                  <a:lnTo>
                    <a:pt x="270606" y="12548"/>
                  </a:lnTo>
                  <a:lnTo>
                    <a:pt x="272034" y="12191"/>
                  </a:lnTo>
                  <a:lnTo>
                    <a:pt x="273099" y="10913"/>
                  </a:lnTo>
                  <a:close/>
                </a:path>
                <a:path w="274954" h="43180">
                  <a:moveTo>
                    <a:pt x="271145" y="12157"/>
                  </a:moveTo>
                  <a:lnTo>
                    <a:pt x="270890" y="12318"/>
                  </a:lnTo>
                  <a:lnTo>
                    <a:pt x="271145" y="12157"/>
                  </a:lnTo>
                  <a:close/>
                </a:path>
                <a:path w="274954" h="43180">
                  <a:moveTo>
                    <a:pt x="273910" y="9940"/>
                  </a:moveTo>
                  <a:lnTo>
                    <a:pt x="273099" y="10913"/>
                  </a:lnTo>
                  <a:lnTo>
                    <a:pt x="273685" y="10540"/>
                  </a:lnTo>
                  <a:lnTo>
                    <a:pt x="273910" y="9940"/>
                  </a:lnTo>
                  <a:close/>
                </a:path>
                <a:path w="274954" h="43180">
                  <a:moveTo>
                    <a:pt x="274261" y="5934"/>
                  </a:moveTo>
                  <a:lnTo>
                    <a:pt x="274180" y="7493"/>
                  </a:lnTo>
                  <a:lnTo>
                    <a:pt x="273944" y="9848"/>
                  </a:lnTo>
                  <a:lnTo>
                    <a:pt x="274827" y="7493"/>
                  </a:lnTo>
                  <a:lnTo>
                    <a:pt x="274261" y="5934"/>
                  </a:lnTo>
                  <a:close/>
                </a:path>
                <a:path w="274954" h="43180">
                  <a:moveTo>
                    <a:pt x="253873" y="9397"/>
                  </a:moveTo>
                  <a:lnTo>
                    <a:pt x="253622" y="9525"/>
                  </a:lnTo>
                  <a:lnTo>
                    <a:pt x="253237" y="9778"/>
                  </a:lnTo>
                  <a:lnTo>
                    <a:pt x="253873" y="9397"/>
                  </a:lnTo>
                  <a:close/>
                </a:path>
                <a:path w="274954" h="43180">
                  <a:moveTo>
                    <a:pt x="273989" y="9397"/>
                  </a:moveTo>
                  <a:lnTo>
                    <a:pt x="253873" y="9397"/>
                  </a:lnTo>
                  <a:lnTo>
                    <a:pt x="253237" y="9778"/>
                  </a:lnTo>
                  <a:lnTo>
                    <a:pt x="273951" y="9778"/>
                  </a:lnTo>
                  <a:lnTo>
                    <a:pt x="273989" y="9397"/>
                  </a:lnTo>
                  <a:close/>
                </a:path>
                <a:path w="274954" h="43180">
                  <a:moveTo>
                    <a:pt x="273858" y="4825"/>
                  </a:moveTo>
                  <a:lnTo>
                    <a:pt x="260730" y="4825"/>
                  </a:lnTo>
                  <a:lnTo>
                    <a:pt x="260223" y="5206"/>
                  </a:lnTo>
                  <a:lnTo>
                    <a:pt x="253660" y="9499"/>
                  </a:lnTo>
                  <a:lnTo>
                    <a:pt x="253873" y="9397"/>
                  </a:lnTo>
                  <a:lnTo>
                    <a:pt x="273989" y="9397"/>
                  </a:lnTo>
                  <a:lnTo>
                    <a:pt x="274180" y="7493"/>
                  </a:lnTo>
                  <a:lnTo>
                    <a:pt x="274261" y="5934"/>
                  </a:lnTo>
                  <a:lnTo>
                    <a:pt x="273858" y="4825"/>
                  </a:lnTo>
                  <a:close/>
                </a:path>
                <a:path w="274954" h="43180">
                  <a:moveTo>
                    <a:pt x="264703" y="1030"/>
                  </a:moveTo>
                  <a:lnTo>
                    <a:pt x="263143" y="1396"/>
                  </a:lnTo>
                  <a:lnTo>
                    <a:pt x="260223" y="1904"/>
                  </a:lnTo>
                  <a:lnTo>
                    <a:pt x="259968" y="2031"/>
                  </a:lnTo>
                  <a:lnTo>
                    <a:pt x="254888" y="3301"/>
                  </a:lnTo>
                  <a:lnTo>
                    <a:pt x="248665" y="5206"/>
                  </a:lnTo>
                  <a:lnTo>
                    <a:pt x="242188" y="7238"/>
                  </a:lnTo>
                  <a:lnTo>
                    <a:pt x="257080" y="7238"/>
                  </a:lnTo>
                  <a:lnTo>
                    <a:pt x="260459" y="5005"/>
                  </a:lnTo>
                  <a:lnTo>
                    <a:pt x="263522" y="2379"/>
                  </a:lnTo>
                  <a:lnTo>
                    <a:pt x="264703" y="1030"/>
                  </a:lnTo>
                  <a:close/>
                </a:path>
                <a:path w="274954" h="43180">
                  <a:moveTo>
                    <a:pt x="272928" y="2379"/>
                  </a:moveTo>
                  <a:lnTo>
                    <a:pt x="274261" y="5934"/>
                  </a:lnTo>
                  <a:lnTo>
                    <a:pt x="274319" y="4698"/>
                  </a:lnTo>
                  <a:lnTo>
                    <a:pt x="272928" y="2379"/>
                  </a:lnTo>
                  <a:close/>
                </a:path>
                <a:path w="274954" h="43180">
                  <a:moveTo>
                    <a:pt x="260459" y="5005"/>
                  </a:moveTo>
                  <a:lnTo>
                    <a:pt x="260154" y="5206"/>
                  </a:lnTo>
                  <a:lnTo>
                    <a:pt x="260459" y="5005"/>
                  </a:lnTo>
                  <a:close/>
                </a:path>
                <a:path w="274954" h="43180">
                  <a:moveTo>
                    <a:pt x="260730" y="4825"/>
                  </a:moveTo>
                  <a:lnTo>
                    <a:pt x="260459" y="5005"/>
                  </a:lnTo>
                  <a:lnTo>
                    <a:pt x="260223" y="5206"/>
                  </a:lnTo>
                  <a:lnTo>
                    <a:pt x="260730" y="4825"/>
                  </a:lnTo>
                  <a:close/>
                </a:path>
                <a:path w="274954" h="43180">
                  <a:moveTo>
                    <a:pt x="272872" y="2285"/>
                  </a:moveTo>
                  <a:lnTo>
                    <a:pt x="263651" y="2285"/>
                  </a:lnTo>
                  <a:lnTo>
                    <a:pt x="263016" y="2920"/>
                  </a:lnTo>
                  <a:lnTo>
                    <a:pt x="260459" y="5005"/>
                  </a:lnTo>
                  <a:lnTo>
                    <a:pt x="260730" y="4825"/>
                  </a:lnTo>
                  <a:lnTo>
                    <a:pt x="273858" y="4825"/>
                  </a:lnTo>
                  <a:lnTo>
                    <a:pt x="272928" y="2379"/>
                  </a:lnTo>
                  <a:close/>
                </a:path>
                <a:path w="274954" h="43180">
                  <a:moveTo>
                    <a:pt x="263464" y="2445"/>
                  </a:moveTo>
                  <a:lnTo>
                    <a:pt x="262906" y="2920"/>
                  </a:lnTo>
                  <a:lnTo>
                    <a:pt x="263464" y="2445"/>
                  </a:lnTo>
                  <a:close/>
                </a:path>
                <a:path w="274954" h="43180">
                  <a:moveTo>
                    <a:pt x="263651" y="2285"/>
                  </a:moveTo>
                  <a:lnTo>
                    <a:pt x="263464" y="2445"/>
                  </a:lnTo>
                  <a:lnTo>
                    <a:pt x="263270" y="2667"/>
                  </a:lnTo>
                  <a:lnTo>
                    <a:pt x="263651" y="2285"/>
                  </a:lnTo>
                  <a:close/>
                </a:path>
                <a:path w="274954" h="43180">
                  <a:moveTo>
                    <a:pt x="268840" y="412"/>
                  </a:moveTo>
                  <a:lnTo>
                    <a:pt x="267207" y="634"/>
                  </a:lnTo>
                  <a:lnTo>
                    <a:pt x="266826" y="634"/>
                  </a:lnTo>
                  <a:lnTo>
                    <a:pt x="266445" y="762"/>
                  </a:lnTo>
                  <a:lnTo>
                    <a:pt x="265302" y="888"/>
                  </a:lnTo>
                  <a:lnTo>
                    <a:pt x="264703" y="1030"/>
                  </a:lnTo>
                  <a:lnTo>
                    <a:pt x="263464" y="2445"/>
                  </a:lnTo>
                  <a:lnTo>
                    <a:pt x="263651" y="2285"/>
                  </a:lnTo>
                  <a:lnTo>
                    <a:pt x="272872" y="2285"/>
                  </a:lnTo>
                  <a:lnTo>
                    <a:pt x="270382" y="1143"/>
                  </a:lnTo>
                  <a:lnTo>
                    <a:pt x="268840" y="412"/>
                  </a:lnTo>
                  <a:close/>
                </a:path>
                <a:path w="274954" h="43180">
                  <a:moveTo>
                    <a:pt x="270001" y="253"/>
                  </a:moveTo>
                  <a:lnTo>
                    <a:pt x="268840" y="412"/>
                  </a:lnTo>
                  <a:lnTo>
                    <a:pt x="270382" y="1143"/>
                  </a:lnTo>
                  <a:lnTo>
                    <a:pt x="272795" y="2158"/>
                  </a:lnTo>
                  <a:lnTo>
                    <a:pt x="272928" y="2379"/>
                  </a:lnTo>
                  <a:lnTo>
                    <a:pt x="272795" y="2031"/>
                  </a:lnTo>
                  <a:lnTo>
                    <a:pt x="270001" y="253"/>
                  </a:lnTo>
                  <a:close/>
                </a:path>
                <a:path w="274954" h="43180">
                  <a:moveTo>
                    <a:pt x="267969" y="0"/>
                  </a:moveTo>
                  <a:lnTo>
                    <a:pt x="265049" y="634"/>
                  </a:lnTo>
                  <a:lnTo>
                    <a:pt x="264703" y="1030"/>
                  </a:lnTo>
                  <a:lnTo>
                    <a:pt x="265302" y="888"/>
                  </a:lnTo>
                  <a:lnTo>
                    <a:pt x="266445" y="762"/>
                  </a:lnTo>
                  <a:lnTo>
                    <a:pt x="266826" y="634"/>
                  </a:lnTo>
                  <a:lnTo>
                    <a:pt x="267207" y="634"/>
                  </a:lnTo>
                  <a:lnTo>
                    <a:pt x="268840" y="412"/>
                  </a:lnTo>
                  <a:lnTo>
                    <a:pt x="267969" y="0"/>
                  </a:lnTo>
                  <a:close/>
                </a:path>
              </a:pathLst>
            </a:custGeom>
            <a:solidFill>
              <a:srgbClr val="FF0000"/>
            </a:solidFill>
          </p:spPr>
          <p:txBody>
            <a:bodyPr wrap="square" lIns="0" tIns="0" rIns="0" bIns="0" rtlCol="0"/>
            <a:lstStyle/>
            <a:p>
              <a:endParaRPr/>
            </a:p>
          </p:txBody>
        </p:sp>
      </p:grpSp>
      <p:sp>
        <p:nvSpPr>
          <p:cNvPr id="16" name="object 16"/>
          <p:cNvSpPr/>
          <p:nvPr/>
        </p:nvSpPr>
        <p:spPr>
          <a:xfrm>
            <a:off x="6410325" y="1952498"/>
            <a:ext cx="591185" cy="46355"/>
          </a:xfrm>
          <a:custGeom>
            <a:avLst/>
            <a:gdLst/>
            <a:ahLst/>
            <a:cxnLst/>
            <a:rect l="l" t="t" r="r" b="b"/>
            <a:pathLst>
              <a:path w="591184" h="46355">
                <a:moveTo>
                  <a:pt x="580813" y="253"/>
                </a:moveTo>
                <a:lnTo>
                  <a:pt x="574928" y="253"/>
                </a:lnTo>
                <a:lnTo>
                  <a:pt x="568071" y="1143"/>
                </a:lnTo>
                <a:lnTo>
                  <a:pt x="558673" y="2285"/>
                </a:lnTo>
                <a:lnTo>
                  <a:pt x="546480" y="3428"/>
                </a:lnTo>
                <a:lnTo>
                  <a:pt x="514350" y="6350"/>
                </a:lnTo>
                <a:lnTo>
                  <a:pt x="494283" y="7874"/>
                </a:lnTo>
                <a:lnTo>
                  <a:pt x="472567" y="9525"/>
                </a:lnTo>
                <a:lnTo>
                  <a:pt x="426847" y="12318"/>
                </a:lnTo>
                <a:lnTo>
                  <a:pt x="403098" y="13334"/>
                </a:lnTo>
                <a:lnTo>
                  <a:pt x="379095" y="14350"/>
                </a:lnTo>
                <a:lnTo>
                  <a:pt x="330453" y="15747"/>
                </a:lnTo>
                <a:lnTo>
                  <a:pt x="143764" y="18795"/>
                </a:lnTo>
                <a:lnTo>
                  <a:pt x="130428" y="19176"/>
                </a:lnTo>
                <a:lnTo>
                  <a:pt x="118618" y="19303"/>
                </a:lnTo>
                <a:lnTo>
                  <a:pt x="96900" y="19812"/>
                </a:lnTo>
                <a:lnTo>
                  <a:pt x="87884" y="20193"/>
                </a:lnTo>
                <a:lnTo>
                  <a:pt x="79121" y="20700"/>
                </a:lnTo>
                <a:lnTo>
                  <a:pt x="71882" y="21335"/>
                </a:lnTo>
                <a:lnTo>
                  <a:pt x="64135" y="22097"/>
                </a:lnTo>
                <a:lnTo>
                  <a:pt x="57150" y="22987"/>
                </a:lnTo>
                <a:lnTo>
                  <a:pt x="50291" y="24129"/>
                </a:lnTo>
                <a:lnTo>
                  <a:pt x="44703" y="25145"/>
                </a:lnTo>
                <a:lnTo>
                  <a:pt x="38480" y="26415"/>
                </a:lnTo>
                <a:lnTo>
                  <a:pt x="32385" y="27812"/>
                </a:lnTo>
                <a:lnTo>
                  <a:pt x="26542" y="29337"/>
                </a:lnTo>
                <a:lnTo>
                  <a:pt x="20954" y="30860"/>
                </a:lnTo>
                <a:lnTo>
                  <a:pt x="16255" y="32384"/>
                </a:lnTo>
                <a:lnTo>
                  <a:pt x="7365" y="35306"/>
                </a:lnTo>
                <a:lnTo>
                  <a:pt x="3555" y="36449"/>
                </a:lnTo>
                <a:lnTo>
                  <a:pt x="1904" y="36956"/>
                </a:lnTo>
                <a:lnTo>
                  <a:pt x="635" y="38353"/>
                </a:lnTo>
                <a:lnTo>
                  <a:pt x="380" y="40004"/>
                </a:lnTo>
                <a:lnTo>
                  <a:pt x="0" y="41782"/>
                </a:lnTo>
                <a:lnTo>
                  <a:pt x="635" y="43433"/>
                </a:lnTo>
                <a:lnTo>
                  <a:pt x="1904" y="44576"/>
                </a:lnTo>
                <a:lnTo>
                  <a:pt x="3301" y="45719"/>
                </a:lnTo>
                <a:lnTo>
                  <a:pt x="5079" y="45974"/>
                </a:lnTo>
                <a:lnTo>
                  <a:pt x="6730" y="45338"/>
                </a:lnTo>
                <a:lnTo>
                  <a:pt x="10540" y="43814"/>
                </a:lnTo>
                <a:lnTo>
                  <a:pt x="10748" y="43814"/>
                </a:lnTo>
                <a:lnTo>
                  <a:pt x="14097" y="42544"/>
                </a:lnTo>
                <a:lnTo>
                  <a:pt x="19050" y="40893"/>
                </a:lnTo>
                <a:lnTo>
                  <a:pt x="23495" y="39624"/>
                </a:lnTo>
                <a:lnTo>
                  <a:pt x="23367" y="39624"/>
                </a:lnTo>
                <a:lnTo>
                  <a:pt x="28701" y="38226"/>
                </a:lnTo>
                <a:lnTo>
                  <a:pt x="29159" y="38226"/>
                </a:lnTo>
                <a:lnTo>
                  <a:pt x="34416" y="37083"/>
                </a:lnTo>
                <a:lnTo>
                  <a:pt x="40386" y="35813"/>
                </a:lnTo>
                <a:lnTo>
                  <a:pt x="40950" y="35813"/>
                </a:lnTo>
                <a:lnTo>
                  <a:pt x="46482" y="34797"/>
                </a:lnTo>
                <a:lnTo>
                  <a:pt x="46354" y="34797"/>
                </a:lnTo>
                <a:lnTo>
                  <a:pt x="51815" y="34035"/>
                </a:lnTo>
                <a:lnTo>
                  <a:pt x="58547" y="33019"/>
                </a:lnTo>
                <a:lnTo>
                  <a:pt x="65277" y="32257"/>
                </a:lnTo>
                <a:lnTo>
                  <a:pt x="72771" y="31495"/>
                </a:lnTo>
                <a:lnTo>
                  <a:pt x="79883" y="30987"/>
                </a:lnTo>
                <a:lnTo>
                  <a:pt x="79755" y="30987"/>
                </a:lnTo>
                <a:lnTo>
                  <a:pt x="88391" y="30606"/>
                </a:lnTo>
                <a:lnTo>
                  <a:pt x="97281" y="30225"/>
                </a:lnTo>
                <a:lnTo>
                  <a:pt x="107696" y="30099"/>
                </a:lnTo>
                <a:lnTo>
                  <a:pt x="118745" y="29844"/>
                </a:lnTo>
                <a:lnTo>
                  <a:pt x="355980" y="27177"/>
                </a:lnTo>
                <a:lnTo>
                  <a:pt x="403605" y="25907"/>
                </a:lnTo>
                <a:lnTo>
                  <a:pt x="450596" y="24002"/>
                </a:lnTo>
                <a:lnTo>
                  <a:pt x="495300" y="21208"/>
                </a:lnTo>
                <a:lnTo>
                  <a:pt x="559262" y="15941"/>
                </a:lnTo>
                <a:lnTo>
                  <a:pt x="571753" y="7112"/>
                </a:lnTo>
                <a:lnTo>
                  <a:pt x="580813" y="253"/>
                </a:lnTo>
                <a:close/>
              </a:path>
              <a:path w="591184" h="46355">
                <a:moveTo>
                  <a:pt x="10748" y="43814"/>
                </a:moveTo>
                <a:lnTo>
                  <a:pt x="10540" y="43814"/>
                </a:lnTo>
                <a:lnTo>
                  <a:pt x="10748" y="43814"/>
                </a:lnTo>
                <a:close/>
              </a:path>
              <a:path w="591184" h="46355">
                <a:moveTo>
                  <a:pt x="29159" y="38226"/>
                </a:moveTo>
                <a:lnTo>
                  <a:pt x="28701" y="38226"/>
                </a:lnTo>
                <a:lnTo>
                  <a:pt x="29159" y="38226"/>
                </a:lnTo>
                <a:close/>
              </a:path>
              <a:path w="591184" h="46355">
                <a:moveTo>
                  <a:pt x="40950" y="35813"/>
                </a:moveTo>
                <a:lnTo>
                  <a:pt x="40386" y="35813"/>
                </a:lnTo>
                <a:lnTo>
                  <a:pt x="40950" y="35813"/>
                </a:lnTo>
                <a:close/>
              </a:path>
              <a:path w="591184" h="46355">
                <a:moveTo>
                  <a:pt x="575711" y="14776"/>
                </a:moveTo>
                <a:lnTo>
                  <a:pt x="569341" y="15239"/>
                </a:lnTo>
                <a:lnTo>
                  <a:pt x="559943" y="15875"/>
                </a:lnTo>
                <a:lnTo>
                  <a:pt x="559262" y="15941"/>
                </a:lnTo>
                <a:lnTo>
                  <a:pt x="546353" y="23749"/>
                </a:lnTo>
                <a:lnTo>
                  <a:pt x="544068" y="25018"/>
                </a:lnTo>
                <a:lnTo>
                  <a:pt x="543178" y="27939"/>
                </a:lnTo>
                <a:lnTo>
                  <a:pt x="544749" y="30987"/>
                </a:lnTo>
                <a:lnTo>
                  <a:pt x="545592" y="32765"/>
                </a:lnTo>
                <a:lnTo>
                  <a:pt x="548513" y="33781"/>
                </a:lnTo>
                <a:lnTo>
                  <a:pt x="550926" y="32638"/>
                </a:lnTo>
                <a:lnTo>
                  <a:pt x="567817" y="25272"/>
                </a:lnTo>
                <a:lnTo>
                  <a:pt x="568325" y="25018"/>
                </a:lnTo>
                <a:lnTo>
                  <a:pt x="579374" y="18795"/>
                </a:lnTo>
                <a:lnTo>
                  <a:pt x="579627" y="18668"/>
                </a:lnTo>
                <a:lnTo>
                  <a:pt x="585099" y="15366"/>
                </a:lnTo>
                <a:lnTo>
                  <a:pt x="580390" y="15366"/>
                </a:lnTo>
                <a:lnTo>
                  <a:pt x="578739" y="15112"/>
                </a:lnTo>
                <a:lnTo>
                  <a:pt x="575711" y="14776"/>
                </a:lnTo>
                <a:close/>
              </a:path>
              <a:path w="591184" h="46355">
                <a:moveTo>
                  <a:pt x="584580" y="0"/>
                </a:moveTo>
                <a:lnTo>
                  <a:pt x="581151" y="0"/>
                </a:lnTo>
                <a:lnTo>
                  <a:pt x="571753" y="7112"/>
                </a:lnTo>
                <a:lnTo>
                  <a:pt x="561594" y="14604"/>
                </a:lnTo>
                <a:lnTo>
                  <a:pt x="559262" y="15941"/>
                </a:lnTo>
                <a:lnTo>
                  <a:pt x="560070" y="15875"/>
                </a:lnTo>
                <a:lnTo>
                  <a:pt x="569468" y="15239"/>
                </a:lnTo>
                <a:lnTo>
                  <a:pt x="575711" y="14776"/>
                </a:lnTo>
                <a:lnTo>
                  <a:pt x="575309" y="14731"/>
                </a:lnTo>
                <a:lnTo>
                  <a:pt x="586152" y="14731"/>
                </a:lnTo>
                <a:lnTo>
                  <a:pt x="589455" y="12700"/>
                </a:lnTo>
                <a:lnTo>
                  <a:pt x="589565" y="12572"/>
                </a:lnTo>
                <a:lnTo>
                  <a:pt x="590731" y="7910"/>
                </a:lnTo>
                <a:lnTo>
                  <a:pt x="589595" y="3294"/>
                </a:lnTo>
                <a:lnTo>
                  <a:pt x="587248" y="1650"/>
                </a:lnTo>
                <a:lnTo>
                  <a:pt x="585652" y="663"/>
                </a:lnTo>
                <a:lnTo>
                  <a:pt x="582168" y="381"/>
                </a:lnTo>
                <a:lnTo>
                  <a:pt x="581532" y="253"/>
                </a:lnTo>
                <a:lnTo>
                  <a:pt x="584991" y="253"/>
                </a:lnTo>
                <a:lnTo>
                  <a:pt x="584580" y="0"/>
                </a:lnTo>
                <a:close/>
              </a:path>
              <a:path w="591184" h="46355">
                <a:moveTo>
                  <a:pt x="585731" y="14985"/>
                </a:moveTo>
                <a:lnTo>
                  <a:pt x="577976" y="14985"/>
                </a:lnTo>
                <a:lnTo>
                  <a:pt x="579501" y="15239"/>
                </a:lnTo>
                <a:lnTo>
                  <a:pt x="580390" y="15366"/>
                </a:lnTo>
                <a:lnTo>
                  <a:pt x="582168" y="15366"/>
                </a:lnTo>
                <a:lnTo>
                  <a:pt x="585554" y="15092"/>
                </a:lnTo>
                <a:lnTo>
                  <a:pt x="585731" y="14985"/>
                </a:lnTo>
                <a:close/>
              </a:path>
              <a:path w="591184" h="46355">
                <a:moveTo>
                  <a:pt x="585554" y="15092"/>
                </a:moveTo>
                <a:lnTo>
                  <a:pt x="582168" y="15366"/>
                </a:lnTo>
                <a:lnTo>
                  <a:pt x="585099" y="15366"/>
                </a:lnTo>
                <a:lnTo>
                  <a:pt x="585554" y="15092"/>
                </a:lnTo>
                <a:close/>
              </a:path>
              <a:path w="591184" h="46355">
                <a:moveTo>
                  <a:pt x="586152" y="14731"/>
                </a:moveTo>
                <a:lnTo>
                  <a:pt x="576326" y="14731"/>
                </a:lnTo>
                <a:lnTo>
                  <a:pt x="575711" y="14776"/>
                </a:lnTo>
                <a:lnTo>
                  <a:pt x="578739" y="15112"/>
                </a:lnTo>
                <a:lnTo>
                  <a:pt x="577976" y="14985"/>
                </a:lnTo>
                <a:lnTo>
                  <a:pt x="585731" y="14985"/>
                </a:lnTo>
                <a:lnTo>
                  <a:pt x="586152" y="14731"/>
                </a:lnTo>
                <a:close/>
              </a:path>
              <a:path w="591184" h="46355">
                <a:moveTo>
                  <a:pt x="589548" y="12642"/>
                </a:moveTo>
                <a:lnTo>
                  <a:pt x="585554" y="15092"/>
                </a:lnTo>
                <a:lnTo>
                  <a:pt x="586867" y="14985"/>
                </a:lnTo>
                <a:lnTo>
                  <a:pt x="589533" y="12700"/>
                </a:lnTo>
                <a:close/>
              </a:path>
              <a:path w="591184" h="46355">
                <a:moveTo>
                  <a:pt x="576326" y="14731"/>
                </a:moveTo>
                <a:lnTo>
                  <a:pt x="575309" y="14731"/>
                </a:lnTo>
                <a:lnTo>
                  <a:pt x="575711" y="14776"/>
                </a:lnTo>
                <a:lnTo>
                  <a:pt x="576326" y="14731"/>
                </a:lnTo>
                <a:close/>
              </a:path>
              <a:path w="591184" h="46355">
                <a:moveTo>
                  <a:pt x="562101" y="14224"/>
                </a:moveTo>
                <a:lnTo>
                  <a:pt x="561472" y="14604"/>
                </a:lnTo>
                <a:lnTo>
                  <a:pt x="562101" y="14224"/>
                </a:lnTo>
                <a:close/>
              </a:path>
              <a:path w="591184" h="46355">
                <a:moveTo>
                  <a:pt x="590731" y="7910"/>
                </a:moveTo>
                <a:lnTo>
                  <a:pt x="589548" y="12642"/>
                </a:lnTo>
                <a:lnTo>
                  <a:pt x="591057" y="9270"/>
                </a:lnTo>
                <a:lnTo>
                  <a:pt x="590731" y="7910"/>
                </a:lnTo>
                <a:close/>
              </a:path>
              <a:path w="591184" h="46355">
                <a:moveTo>
                  <a:pt x="589595" y="3294"/>
                </a:moveTo>
                <a:lnTo>
                  <a:pt x="590731" y="7910"/>
                </a:lnTo>
                <a:lnTo>
                  <a:pt x="590930" y="7112"/>
                </a:lnTo>
                <a:lnTo>
                  <a:pt x="590854" y="6095"/>
                </a:lnTo>
                <a:lnTo>
                  <a:pt x="589788" y="3428"/>
                </a:lnTo>
                <a:lnTo>
                  <a:pt x="589595" y="3294"/>
                </a:lnTo>
                <a:close/>
              </a:path>
              <a:path w="591184" h="46355">
                <a:moveTo>
                  <a:pt x="585652" y="663"/>
                </a:moveTo>
                <a:lnTo>
                  <a:pt x="587248" y="1650"/>
                </a:lnTo>
                <a:lnTo>
                  <a:pt x="589595" y="3294"/>
                </a:lnTo>
                <a:lnTo>
                  <a:pt x="589533" y="3047"/>
                </a:lnTo>
                <a:lnTo>
                  <a:pt x="586867" y="762"/>
                </a:lnTo>
                <a:lnTo>
                  <a:pt x="585652" y="663"/>
                </a:lnTo>
                <a:close/>
              </a:path>
              <a:path w="591184" h="46355">
                <a:moveTo>
                  <a:pt x="584991" y="253"/>
                </a:moveTo>
                <a:lnTo>
                  <a:pt x="581532" y="253"/>
                </a:lnTo>
                <a:lnTo>
                  <a:pt x="582041" y="381"/>
                </a:lnTo>
                <a:lnTo>
                  <a:pt x="585652" y="663"/>
                </a:lnTo>
                <a:lnTo>
                  <a:pt x="584991" y="253"/>
                </a:lnTo>
                <a:close/>
              </a:path>
              <a:path w="591184" h="46355">
                <a:moveTo>
                  <a:pt x="579374" y="126"/>
                </a:moveTo>
                <a:lnTo>
                  <a:pt x="575818" y="253"/>
                </a:lnTo>
                <a:lnTo>
                  <a:pt x="579881" y="253"/>
                </a:lnTo>
                <a:lnTo>
                  <a:pt x="579374" y="126"/>
                </a:lnTo>
                <a:close/>
              </a:path>
            </a:pathLst>
          </a:custGeom>
          <a:solidFill>
            <a:srgbClr val="FF0000"/>
          </a:solidFill>
        </p:spPr>
        <p:txBody>
          <a:bodyPr wrap="square" lIns="0" tIns="0" rIns="0" bIns="0" rtlCol="0"/>
          <a:lstStyle/>
          <a:p>
            <a:endParaRPr/>
          </a:p>
        </p:txBody>
      </p:sp>
      <p:sp>
        <p:nvSpPr>
          <p:cNvPr id="20" name="object 2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45</a:t>
            </a:fld>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40279" y="3966209"/>
            <a:ext cx="73152" cy="73152"/>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2855976" y="3621785"/>
            <a:ext cx="73152" cy="73151"/>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4703064" y="2934461"/>
            <a:ext cx="73152" cy="73152"/>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7165847" y="1901189"/>
            <a:ext cx="73151" cy="73152"/>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5318759" y="2590038"/>
            <a:ext cx="73151" cy="73152"/>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6550152" y="2590038"/>
            <a:ext cx="73151" cy="73152"/>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5318759" y="2724911"/>
            <a:ext cx="164591" cy="110490"/>
          </a:xfrm>
          <a:prstGeom prst="rect">
            <a:avLst/>
          </a:prstGeom>
          <a:blipFill>
            <a:blip r:embed="rId6" cstate="print"/>
            <a:stretch>
              <a:fillRect/>
            </a:stretch>
          </a:blipFill>
        </p:spPr>
        <p:txBody>
          <a:bodyPr wrap="square" lIns="0" tIns="0" rIns="0" bIns="0" rtlCol="0"/>
          <a:lstStyle/>
          <a:p>
            <a:endParaRPr/>
          </a:p>
        </p:txBody>
      </p:sp>
      <p:graphicFrame>
        <p:nvGraphicFramePr>
          <p:cNvPr id="9" name="object 9"/>
          <p:cNvGraphicFramePr>
            <a:graphicFrameLocks noGrp="1"/>
          </p:cNvGraphicFramePr>
          <p:nvPr/>
        </p:nvGraphicFramePr>
        <p:xfrm>
          <a:off x="1042416" y="1591055"/>
          <a:ext cx="7386317" cy="2750819"/>
        </p:xfrm>
        <a:graphic>
          <a:graphicData uri="http://schemas.openxmlformats.org/drawingml/2006/table">
            <a:tbl>
              <a:tblPr firstRow="1" bandRow="1">
                <a:tableStyleId>{2D5ABB26-0587-4C30-8999-92F81FD0307C}</a:tableStyleId>
              </a:tblPr>
              <a:tblGrid>
                <a:gridCol w="1229995">
                  <a:extLst>
                    <a:ext uri="{9D8B030D-6E8A-4147-A177-3AD203B41FA5}">
                      <a16:colId xmlns:a16="http://schemas.microsoft.com/office/drawing/2014/main" val="20000"/>
                    </a:ext>
                  </a:extLst>
                </a:gridCol>
                <a:gridCol w="1231265">
                  <a:extLst>
                    <a:ext uri="{9D8B030D-6E8A-4147-A177-3AD203B41FA5}">
                      <a16:colId xmlns:a16="http://schemas.microsoft.com/office/drawing/2014/main" val="20001"/>
                    </a:ext>
                  </a:extLst>
                </a:gridCol>
                <a:gridCol w="1231264">
                  <a:extLst>
                    <a:ext uri="{9D8B030D-6E8A-4147-A177-3AD203B41FA5}">
                      <a16:colId xmlns:a16="http://schemas.microsoft.com/office/drawing/2014/main" val="20002"/>
                    </a:ext>
                  </a:extLst>
                </a:gridCol>
                <a:gridCol w="1231264">
                  <a:extLst>
                    <a:ext uri="{9D8B030D-6E8A-4147-A177-3AD203B41FA5}">
                      <a16:colId xmlns:a16="http://schemas.microsoft.com/office/drawing/2014/main" val="20003"/>
                    </a:ext>
                  </a:extLst>
                </a:gridCol>
                <a:gridCol w="1231264">
                  <a:extLst>
                    <a:ext uri="{9D8B030D-6E8A-4147-A177-3AD203B41FA5}">
                      <a16:colId xmlns:a16="http://schemas.microsoft.com/office/drawing/2014/main" val="20004"/>
                    </a:ext>
                  </a:extLst>
                </a:gridCol>
                <a:gridCol w="1231265">
                  <a:extLst>
                    <a:ext uri="{9D8B030D-6E8A-4147-A177-3AD203B41FA5}">
                      <a16:colId xmlns:a16="http://schemas.microsoft.com/office/drawing/2014/main" val="20005"/>
                    </a:ext>
                  </a:extLst>
                </a:gridCol>
              </a:tblGrid>
              <a:tr h="342900">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spcBef>
                          <a:spcPts val="55"/>
                        </a:spcBef>
                      </a:pPr>
                      <a:endParaRPr sz="700">
                        <a:latin typeface="Times New Roman"/>
                        <a:cs typeface="Times New Roman"/>
                      </a:endParaRPr>
                    </a:p>
                    <a:p>
                      <a:pPr>
                        <a:lnSpc>
                          <a:spcPct val="100000"/>
                        </a:lnSpc>
                      </a:pPr>
                      <a:r>
                        <a:rPr sz="900" dirty="0">
                          <a:solidFill>
                            <a:srgbClr val="404040"/>
                          </a:solidFill>
                          <a:latin typeface="Carlito"/>
                          <a:cs typeface="Carlito"/>
                        </a:rPr>
                        <a:t>4</a:t>
                      </a:r>
                      <a:endParaRPr sz="900">
                        <a:latin typeface="Carlito"/>
                        <a:cs typeface="Carlito"/>
                      </a:endParaRPr>
                    </a:p>
                  </a:txBody>
                  <a:tcPr marL="0" marR="0" marT="6985"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0"/>
                  </a:ext>
                </a:extLst>
              </a:tr>
              <a:tr h="344424">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1"/>
                  </a:ext>
                </a:extLst>
              </a:tr>
              <a:tr h="344424">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spcBef>
                          <a:spcPts val="5"/>
                        </a:spcBef>
                      </a:pPr>
                      <a:endParaRPr sz="750">
                        <a:latin typeface="Times New Roman"/>
                        <a:cs typeface="Times New Roman"/>
                      </a:endParaRPr>
                    </a:p>
                    <a:p>
                      <a:pPr marL="1270" algn="ctr">
                        <a:lnSpc>
                          <a:spcPct val="100000"/>
                        </a:lnSpc>
                      </a:pPr>
                      <a:r>
                        <a:rPr sz="900" dirty="0">
                          <a:solidFill>
                            <a:srgbClr val="404040"/>
                          </a:solidFill>
                          <a:latin typeface="Carlito"/>
                          <a:cs typeface="Carlito"/>
                        </a:rPr>
                        <a:t>5</a:t>
                      </a:r>
                      <a:endParaRPr sz="900">
                        <a:latin typeface="Carlito"/>
                        <a:cs typeface="Carlito"/>
                      </a:endParaRPr>
                    </a:p>
                  </a:txBody>
                  <a:tcPr marL="0" marR="0" marT="635"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spcBef>
                          <a:spcPts val="5"/>
                        </a:spcBef>
                      </a:pPr>
                      <a:endParaRPr sz="750">
                        <a:latin typeface="Times New Roman"/>
                        <a:cs typeface="Times New Roman"/>
                      </a:endParaRPr>
                    </a:p>
                    <a:p>
                      <a:pPr marL="1270" algn="ctr">
                        <a:lnSpc>
                          <a:spcPct val="100000"/>
                        </a:lnSpc>
                      </a:pPr>
                      <a:r>
                        <a:rPr sz="900" dirty="0">
                          <a:solidFill>
                            <a:srgbClr val="404040"/>
                          </a:solidFill>
                          <a:latin typeface="Carlito"/>
                          <a:cs typeface="Carlito"/>
                        </a:rPr>
                        <a:t>6</a:t>
                      </a:r>
                      <a:endParaRPr sz="900">
                        <a:latin typeface="Carlito"/>
                        <a:cs typeface="Carlito"/>
                      </a:endParaRPr>
                    </a:p>
                  </a:txBody>
                  <a:tcPr marL="0" marR="0" marT="635"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2"/>
                  </a:ext>
                </a:extLst>
              </a:tr>
              <a:tr h="344424">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77875">
                        <a:lnSpc>
                          <a:spcPts val="865"/>
                        </a:lnSpc>
                        <a:spcBef>
                          <a:spcPts val="210"/>
                        </a:spcBef>
                      </a:pPr>
                      <a:r>
                        <a:rPr sz="900" dirty="0">
                          <a:solidFill>
                            <a:srgbClr val="404040"/>
                          </a:solidFill>
                          <a:latin typeface="Carlito"/>
                          <a:cs typeface="Carlito"/>
                        </a:rPr>
                        <a:t>7</a:t>
                      </a:r>
                      <a:endParaRPr sz="900">
                        <a:latin typeface="Carlito"/>
                        <a:cs typeface="Carlito"/>
                      </a:endParaRPr>
                    </a:p>
                    <a:p>
                      <a:pPr>
                        <a:lnSpc>
                          <a:spcPts val="865"/>
                        </a:lnSpc>
                      </a:pPr>
                      <a:r>
                        <a:rPr sz="900" dirty="0">
                          <a:solidFill>
                            <a:srgbClr val="404040"/>
                          </a:solidFill>
                          <a:latin typeface="Carlito"/>
                          <a:cs typeface="Carlito"/>
                        </a:rPr>
                        <a:t>3</a:t>
                      </a:r>
                      <a:endParaRPr sz="900">
                        <a:latin typeface="Carlito"/>
                        <a:cs typeface="Carlito"/>
                      </a:endParaRPr>
                    </a:p>
                  </a:txBody>
                  <a:tcPr marL="0" marR="0" marT="2667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3"/>
                  </a:ext>
                </a:extLst>
              </a:tr>
              <a:tr h="342900">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4"/>
                  </a:ext>
                </a:extLst>
              </a:tr>
              <a:tr h="344424">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spcBef>
                          <a:spcPts val="10"/>
                        </a:spcBef>
                      </a:pPr>
                      <a:endParaRPr sz="750">
                        <a:latin typeface="Times New Roman"/>
                        <a:cs typeface="Times New Roman"/>
                      </a:endParaRPr>
                    </a:p>
                    <a:p>
                      <a:pPr marL="1270" algn="ctr">
                        <a:lnSpc>
                          <a:spcPct val="100000"/>
                        </a:lnSpc>
                      </a:pPr>
                      <a:r>
                        <a:rPr sz="900" dirty="0">
                          <a:solidFill>
                            <a:srgbClr val="404040"/>
                          </a:solidFill>
                          <a:latin typeface="Carlito"/>
                          <a:cs typeface="Carlito"/>
                        </a:rPr>
                        <a:t>2</a:t>
                      </a:r>
                      <a:endParaRPr sz="900">
                        <a:latin typeface="Carlito"/>
                        <a:cs typeface="Carlito"/>
                      </a:endParaRPr>
                    </a:p>
                  </a:txBody>
                  <a:tcPr marL="0" marR="0" marT="127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5"/>
                  </a:ext>
                </a:extLst>
              </a:tr>
              <a:tr h="344423">
                <a:tc>
                  <a:txBody>
                    <a:bodyPr/>
                    <a:lstStyle/>
                    <a:p>
                      <a:pPr>
                        <a:lnSpc>
                          <a:spcPct val="100000"/>
                        </a:lnSpc>
                        <a:spcBef>
                          <a:spcPts val="35"/>
                        </a:spcBef>
                      </a:pPr>
                      <a:endParaRPr sz="900">
                        <a:latin typeface="Times New Roman"/>
                        <a:cs typeface="Times New Roman"/>
                      </a:endParaRPr>
                    </a:p>
                    <a:p>
                      <a:pPr marR="69850" algn="r">
                        <a:lnSpc>
                          <a:spcPct val="100000"/>
                        </a:lnSpc>
                      </a:pPr>
                      <a:r>
                        <a:rPr sz="900" dirty="0">
                          <a:solidFill>
                            <a:srgbClr val="404040"/>
                          </a:solidFill>
                          <a:latin typeface="Carlito"/>
                          <a:cs typeface="Carlito"/>
                        </a:rPr>
                        <a:t>1</a:t>
                      </a:r>
                      <a:endParaRPr sz="900">
                        <a:latin typeface="Carlito"/>
                        <a:cs typeface="Carlito"/>
                      </a:endParaRPr>
                    </a:p>
                  </a:txBody>
                  <a:tcPr marL="0" marR="0" marT="4445"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6"/>
                  </a:ext>
                </a:extLst>
              </a:tr>
              <a:tr h="342900">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BEBEBE"/>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BEBEBE"/>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BEBEBE"/>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BEBEBE"/>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BEBEBE"/>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BEBEBE"/>
                      </a:solidFill>
                      <a:prstDash val="solid"/>
                    </a:lnB>
                  </a:tcPr>
                </a:tc>
                <a:extLst>
                  <a:ext uri="{0D108BD9-81ED-4DB2-BD59-A6C34878D82A}">
                    <a16:rowId xmlns:a16="http://schemas.microsoft.com/office/drawing/2014/main" val="10007"/>
                  </a:ext>
                </a:extLst>
              </a:tr>
            </a:tbl>
          </a:graphicData>
        </a:graphic>
      </p:graphicFrame>
      <p:sp>
        <p:nvSpPr>
          <p:cNvPr id="10" name="object 10"/>
          <p:cNvSpPr txBox="1"/>
          <p:nvPr/>
        </p:nvSpPr>
        <p:spPr>
          <a:xfrm>
            <a:off x="725220" y="1500632"/>
            <a:ext cx="228600" cy="291592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8.00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7.00</a:t>
            </a:r>
            <a:endParaRPr sz="900">
              <a:latin typeface="Carlito"/>
              <a:cs typeface="Carlito"/>
            </a:endParaRPr>
          </a:p>
          <a:p>
            <a:pPr>
              <a:lnSpc>
                <a:spcPct val="100000"/>
              </a:lnSpc>
              <a:spcBef>
                <a:spcPts val="45"/>
              </a:spcBef>
            </a:pPr>
            <a:endParaRPr sz="1300">
              <a:latin typeface="Carlito"/>
              <a:cs typeface="Carlito"/>
            </a:endParaRPr>
          </a:p>
          <a:p>
            <a:pPr marL="12700">
              <a:lnSpc>
                <a:spcPct val="100000"/>
              </a:lnSpc>
            </a:pPr>
            <a:r>
              <a:rPr sz="900" dirty="0">
                <a:solidFill>
                  <a:srgbClr val="585858"/>
                </a:solidFill>
                <a:latin typeface="Carlito"/>
                <a:cs typeface="Carlito"/>
              </a:rPr>
              <a:t>6.00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5.00</a:t>
            </a:r>
            <a:endParaRPr sz="900">
              <a:latin typeface="Carlito"/>
              <a:cs typeface="Carlito"/>
            </a:endParaRPr>
          </a:p>
          <a:p>
            <a:pPr>
              <a:lnSpc>
                <a:spcPct val="100000"/>
              </a:lnSpc>
              <a:spcBef>
                <a:spcPts val="45"/>
              </a:spcBef>
            </a:pPr>
            <a:endParaRPr sz="1300">
              <a:latin typeface="Carlito"/>
              <a:cs typeface="Carlito"/>
            </a:endParaRPr>
          </a:p>
          <a:p>
            <a:pPr marL="12700">
              <a:lnSpc>
                <a:spcPct val="100000"/>
              </a:lnSpc>
            </a:pPr>
            <a:r>
              <a:rPr sz="900" dirty="0">
                <a:solidFill>
                  <a:srgbClr val="585858"/>
                </a:solidFill>
                <a:latin typeface="Carlito"/>
                <a:cs typeface="Carlito"/>
              </a:rPr>
              <a:t>4.00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3.00</a:t>
            </a:r>
            <a:endParaRPr sz="900">
              <a:latin typeface="Carlito"/>
              <a:cs typeface="Carlito"/>
            </a:endParaRPr>
          </a:p>
          <a:p>
            <a:pPr>
              <a:lnSpc>
                <a:spcPct val="100000"/>
              </a:lnSpc>
              <a:spcBef>
                <a:spcPts val="45"/>
              </a:spcBef>
            </a:pPr>
            <a:endParaRPr sz="1300">
              <a:latin typeface="Carlito"/>
              <a:cs typeface="Carlito"/>
            </a:endParaRPr>
          </a:p>
          <a:p>
            <a:pPr marL="12700">
              <a:lnSpc>
                <a:spcPct val="100000"/>
              </a:lnSpc>
            </a:pPr>
            <a:r>
              <a:rPr sz="900" dirty="0">
                <a:solidFill>
                  <a:srgbClr val="585858"/>
                </a:solidFill>
                <a:latin typeface="Carlito"/>
                <a:cs typeface="Carlito"/>
              </a:rPr>
              <a:t>2.00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1.00</a:t>
            </a:r>
            <a:endParaRPr sz="900">
              <a:latin typeface="Carlito"/>
              <a:cs typeface="Carlito"/>
            </a:endParaRPr>
          </a:p>
          <a:p>
            <a:pPr>
              <a:lnSpc>
                <a:spcPct val="100000"/>
              </a:lnSpc>
              <a:spcBef>
                <a:spcPts val="45"/>
              </a:spcBef>
            </a:pPr>
            <a:endParaRPr sz="1300">
              <a:latin typeface="Carlito"/>
              <a:cs typeface="Carlito"/>
            </a:endParaRPr>
          </a:p>
          <a:p>
            <a:pPr marL="12700">
              <a:lnSpc>
                <a:spcPct val="100000"/>
              </a:lnSpc>
            </a:pPr>
            <a:r>
              <a:rPr sz="900" dirty="0">
                <a:solidFill>
                  <a:srgbClr val="585858"/>
                </a:solidFill>
                <a:latin typeface="Carlito"/>
                <a:cs typeface="Carlito"/>
              </a:rPr>
              <a:t>0.00</a:t>
            </a:r>
            <a:endParaRPr sz="900">
              <a:latin typeface="Carlito"/>
              <a:cs typeface="Carlito"/>
            </a:endParaRPr>
          </a:p>
        </p:txBody>
      </p:sp>
      <p:sp>
        <p:nvSpPr>
          <p:cNvPr id="11" name="object 11"/>
          <p:cNvSpPr txBox="1"/>
          <p:nvPr/>
        </p:nvSpPr>
        <p:spPr>
          <a:xfrm>
            <a:off x="932789"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0.00</a:t>
            </a:r>
            <a:endParaRPr sz="900">
              <a:latin typeface="Carlito"/>
              <a:cs typeface="Carlito"/>
            </a:endParaRPr>
          </a:p>
        </p:txBody>
      </p:sp>
      <p:sp>
        <p:nvSpPr>
          <p:cNvPr id="12" name="object 12"/>
          <p:cNvSpPr txBox="1"/>
          <p:nvPr/>
        </p:nvSpPr>
        <p:spPr>
          <a:xfrm>
            <a:off x="2163826"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1.00</a:t>
            </a:r>
            <a:endParaRPr sz="900">
              <a:latin typeface="Carlito"/>
              <a:cs typeface="Carlito"/>
            </a:endParaRPr>
          </a:p>
        </p:txBody>
      </p:sp>
      <p:sp>
        <p:nvSpPr>
          <p:cNvPr id="13" name="object 13"/>
          <p:cNvSpPr txBox="1"/>
          <p:nvPr/>
        </p:nvSpPr>
        <p:spPr>
          <a:xfrm>
            <a:off x="3395217"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2.00</a:t>
            </a:r>
            <a:endParaRPr sz="900">
              <a:latin typeface="Carlito"/>
              <a:cs typeface="Carlito"/>
            </a:endParaRPr>
          </a:p>
        </p:txBody>
      </p:sp>
      <p:sp>
        <p:nvSpPr>
          <p:cNvPr id="14" name="object 14"/>
          <p:cNvSpPr txBox="1"/>
          <p:nvPr/>
        </p:nvSpPr>
        <p:spPr>
          <a:xfrm>
            <a:off x="4626609"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3.00</a:t>
            </a:r>
            <a:endParaRPr sz="900">
              <a:latin typeface="Carlito"/>
              <a:cs typeface="Carlito"/>
            </a:endParaRPr>
          </a:p>
        </p:txBody>
      </p:sp>
      <p:sp>
        <p:nvSpPr>
          <p:cNvPr id="15" name="object 15"/>
          <p:cNvSpPr txBox="1"/>
          <p:nvPr/>
        </p:nvSpPr>
        <p:spPr>
          <a:xfrm>
            <a:off x="5858002"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4.00</a:t>
            </a:r>
            <a:endParaRPr sz="900">
              <a:latin typeface="Carlito"/>
              <a:cs typeface="Carlito"/>
            </a:endParaRPr>
          </a:p>
        </p:txBody>
      </p:sp>
      <p:sp>
        <p:nvSpPr>
          <p:cNvPr id="16" name="object 16"/>
          <p:cNvSpPr txBox="1"/>
          <p:nvPr/>
        </p:nvSpPr>
        <p:spPr>
          <a:xfrm>
            <a:off x="7089140"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5.00</a:t>
            </a:r>
            <a:endParaRPr sz="900">
              <a:latin typeface="Carlito"/>
              <a:cs typeface="Carlito"/>
            </a:endParaRPr>
          </a:p>
        </p:txBody>
      </p:sp>
      <p:sp>
        <p:nvSpPr>
          <p:cNvPr id="17" name="object 17"/>
          <p:cNvSpPr txBox="1"/>
          <p:nvPr/>
        </p:nvSpPr>
        <p:spPr>
          <a:xfrm>
            <a:off x="8320531"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6.00</a:t>
            </a:r>
            <a:endParaRPr sz="900">
              <a:latin typeface="Carlito"/>
              <a:cs typeface="Carlito"/>
            </a:endParaRPr>
          </a:p>
        </p:txBody>
      </p:sp>
      <p:sp>
        <p:nvSpPr>
          <p:cNvPr id="18" name="object 18"/>
          <p:cNvSpPr txBox="1"/>
          <p:nvPr/>
        </p:nvSpPr>
        <p:spPr>
          <a:xfrm>
            <a:off x="4201795" y="1273505"/>
            <a:ext cx="742950" cy="240029"/>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585858"/>
                </a:solidFill>
                <a:latin typeface="Carlito"/>
                <a:cs typeface="Carlito"/>
              </a:rPr>
              <a:t>Variable</a:t>
            </a:r>
            <a:r>
              <a:rPr sz="1400" spc="-85" dirty="0">
                <a:solidFill>
                  <a:srgbClr val="585858"/>
                </a:solidFill>
                <a:latin typeface="Carlito"/>
                <a:cs typeface="Carlito"/>
              </a:rPr>
              <a:t> </a:t>
            </a:r>
            <a:r>
              <a:rPr sz="1400" dirty="0">
                <a:solidFill>
                  <a:srgbClr val="585858"/>
                </a:solidFill>
                <a:latin typeface="Carlito"/>
                <a:cs typeface="Carlito"/>
              </a:rPr>
              <a:t>2</a:t>
            </a:r>
            <a:endParaRPr sz="1400">
              <a:latin typeface="Carlito"/>
              <a:cs typeface="Carlito"/>
            </a:endParaRPr>
          </a:p>
        </p:txBody>
      </p:sp>
      <p:sp>
        <p:nvSpPr>
          <p:cNvPr id="19" name="object 19"/>
          <p:cNvSpPr/>
          <p:nvPr/>
        </p:nvSpPr>
        <p:spPr>
          <a:xfrm>
            <a:off x="2102357" y="3498341"/>
            <a:ext cx="1085215" cy="641985"/>
          </a:xfrm>
          <a:custGeom>
            <a:avLst/>
            <a:gdLst/>
            <a:ahLst/>
            <a:cxnLst/>
            <a:rect l="l" t="t" r="r" b="b"/>
            <a:pathLst>
              <a:path w="1085214" h="641985">
                <a:moveTo>
                  <a:pt x="0" y="320801"/>
                </a:moveTo>
                <a:lnTo>
                  <a:pt x="12515" y="251985"/>
                </a:lnTo>
                <a:lnTo>
                  <a:pt x="48296" y="188310"/>
                </a:lnTo>
                <a:lnTo>
                  <a:pt x="74083" y="158891"/>
                </a:lnTo>
                <a:lnTo>
                  <a:pt x="104692" y="131344"/>
                </a:lnTo>
                <a:lnTo>
                  <a:pt x="139793" y="105866"/>
                </a:lnTo>
                <a:lnTo>
                  <a:pt x="179054" y="82652"/>
                </a:lnTo>
                <a:lnTo>
                  <a:pt x="222144" y="61898"/>
                </a:lnTo>
                <a:lnTo>
                  <a:pt x="268731" y="43800"/>
                </a:lnTo>
                <a:lnTo>
                  <a:pt x="318486" y="28554"/>
                </a:lnTo>
                <a:lnTo>
                  <a:pt x="371075" y="16355"/>
                </a:lnTo>
                <a:lnTo>
                  <a:pt x="426169" y="7399"/>
                </a:lnTo>
                <a:lnTo>
                  <a:pt x="483435" y="1882"/>
                </a:lnTo>
                <a:lnTo>
                  <a:pt x="542544" y="0"/>
                </a:lnTo>
                <a:lnTo>
                  <a:pt x="601652" y="1882"/>
                </a:lnTo>
                <a:lnTo>
                  <a:pt x="658918" y="7399"/>
                </a:lnTo>
                <a:lnTo>
                  <a:pt x="714012" y="16355"/>
                </a:lnTo>
                <a:lnTo>
                  <a:pt x="766601" y="28554"/>
                </a:lnTo>
                <a:lnTo>
                  <a:pt x="816356" y="43800"/>
                </a:lnTo>
                <a:lnTo>
                  <a:pt x="862943" y="61898"/>
                </a:lnTo>
                <a:lnTo>
                  <a:pt x="906033" y="82652"/>
                </a:lnTo>
                <a:lnTo>
                  <a:pt x="945294" y="105866"/>
                </a:lnTo>
                <a:lnTo>
                  <a:pt x="980395" y="131344"/>
                </a:lnTo>
                <a:lnTo>
                  <a:pt x="1011004" y="158891"/>
                </a:lnTo>
                <a:lnTo>
                  <a:pt x="1036791" y="188310"/>
                </a:lnTo>
                <a:lnTo>
                  <a:pt x="1072572" y="251985"/>
                </a:lnTo>
                <a:lnTo>
                  <a:pt x="1085088" y="320801"/>
                </a:lnTo>
                <a:lnTo>
                  <a:pt x="1081903" y="355757"/>
                </a:lnTo>
                <a:lnTo>
                  <a:pt x="1057424" y="422201"/>
                </a:lnTo>
                <a:lnTo>
                  <a:pt x="1011004" y="482718"/>
                </a:lnTo>
                <a:lnTo>
                  <a:pt x="980395" y="510265"/>
                </a:lnTo>
                <a:lnTo>
                  <a:pt x="945294" y="535742"/>
                </a:lnTo>
                <a:lnTo>
                  <a:pt x="906033" y="558955"/>
                </a:lnTo>
                <a:lnTo>
                  <a:pt x="862943" y="579708"/>
                </a:lnTo>
                <a:lnTo>
                  <a:pt x="816356" y="597805"/>
                </a:lnTo>
                <a:lnTo>
                  <a:pt x="766601" y="613051"/>
                </a:lnTo>
                <a:lnTo>
                  <a:pt x="714012" y="625249"/>
                </a:lnTo>
                <a:lnTo>
                  <a:pt x="658918" y="634204"/>
                </a:lnTo>
                <a:lnTo>
                  <a:pt x="601652" y="639721"/>
                </a:lnTo>
                <a:lnTo>
                  <a:pt x="542544" y="641603"/>
                </a:lnTo>
                <a:lnTo>
                  <a:pt x="483435" y="639721"/>
                </a:lnTo>
                <a:lnTo>
                  <a:pt x="426169" y="634204"/>
                </a:lnTo>
                <a:lnTo>
                  <a:pt x="371075" y="625249"/>
                </a:lnTo>
                <a:lnTo>
                  <a:pt x="318486" y="613051"/>
                </a:lnTo>
                <a:lnTo>
                  <a:pt x="268731" y="597805"/>
                </a:lnTo>
                <a:lnTo>
                  <a:pt x="222144" y="579708"/>
                </a:lnTo>
                <a:lnTo>
                  <a:pt x="179054" y="558955"/>
                </a:lnTo>
                <a:lnTo>
                  <a:pt x="139793" y="535742"/>
                </a:lnTo>
                <a:lnTo>
                  <a:pt x="104692" y="510265"/>
                </a:lnTo>
                <a:lnTo>
                  <a:pt x="74083" y="482718"/>
                </a:lnTo>
                <a:lnTo>
                  <a:pt x="48296" y="453298"/>
                </a:lnTo>
                <a:lnTo>
                  <a:pt x="12515" y="389622"/>
                </a:lnTo>
                <a:lnTo>
                  <a:pt x="0" y="320801"/>
                </a:lnTo>
                <a:close/>
              </a:path>
            </a:pathLst>
          </a:custGeom>
          <a:ln w="25908">
            <a:solidFill>
              <a:srgbClr val="8B3836"/>
            </a:solidFill>
          </a:ln>
        </p:spPr>
        <p:txBody>
          <a:bodyPr wrap="square" lIns="0" tIns="0" rIns="0" bIns="0" rtlCol="0"/>
          <a:lstStyle/>
          <a:p>
            <a:endParaRPr/>
          </a:p>
        </p:txBody>
      </p:sp>
      <p:grpSp>
        <p:nvGrpSpPr>
          <p:cNvPr id="20" name="object 20"/>
          <p:cNvGrpSpPr/>
          <p:nvPr/>
        </p:nvGrpSpPr>
        <p:grpSpPr>
          <a:xfrm>
            <a:off x="4625340" y="1642872"/>
            <a:ext cx="2750820" cy="1521460"/>
            <a:chOff x="4625340" y="1642872"/>
            <a:chExt cx="2750820" cy="1521460"/>
          </a:xfrm>
        </p:grpSpPr>
        <p:sp>
          <p:nvSpPr>
            <p:cNvPr id="21" name="object 21"/>
            <p:cNvSpPr/>
            <p:nvPr/>
          </p:nvSpPr>
          <p:spPr>
            <a:xfrm>
              <a:off x="4782312" y="2490228"/>
              <a:ext cx="481571" cy="399275"/>
            </a:xfrm>
            <a:prstGeom prst="rect">
              <a:avLst/>
            </a:prstGeom>
            <a:blipFill>
              <a:blip r:embed="rId7" cstate="print"/>
              <a:stretch>
                <a:fillRect/>
              </a:stretch>
            </a:blipFill>
          </p:spPr>
          <p:txBody>
            <a:bodyPr wrap="square" lIns="0" tIns="0" rIns="0" bIns="0" rtlCol="0"/>
            <a:lstStyle/>
            <a:p>
              <a:endParaRPr/>
            </a:p>
          </p:txBody>
        </p:sp>
        <p:sp>
          <p:nvSpPr>
            <p:cNvPr id="22" name="object 22"/>
            <p:cNvSpPr/>
            <p:nvPr/>
          </p:nvSpPr>
          <p:spPr>
            <a:xfrm>
              <a:off x="4836414" y="2529077"/>
              <a:ext cx="370840" cy="284480"/>
            </a:xfrm>
            <a:custGeom>
              <a:avLst/>
              <a:gdLst/>
              <a:ahLst/>
              <a:cxnLst/>
              <a:rect l="l" t="t" r="r" b="b"/>
              <a:pathLst>
                <a:path w="370839" h="284480">
                  <a:moveTo>
                    <a:pt x="0" y="284480"/>
                  </a:moveTo>
                  <a:lnTo>
                    <a:pt x="370332" y="0"/>
                  </a:lnTo>
                </a:path>
              </a:pathLst>
            </a:custGeom>
            <a:ln w="38100">
              <a:solidFill>
                <a:srgbClr val="4F81BC"/>
              </a:solidFill>
            </a:ln>
          </p:spPr>
          <p:txBody>
            <a:bodyPr wrap="square" lIns="0" tIns="0" rIns="0" bIns="0" rtlCol="0"/>
            <a:lstStyle/>
            <a:p>
              <a:endParaRPr/>
            </a:p>
          </p:txBody>
        </p:sp>
        <p:sp>
          <p:nvSpPr>
            <p:cNvPr id="23" name="object 23"/>
            <p:cNvSpPr/>
            <p:nvPr/>
          </p:nvSpPr>
          <p:spPr>
            <a:xfrm>
              <a:off x="4638294" y="1655826"/>
              <a:ext cx="2725420" cy="1495425"/>
            </a:xfrm>
            <a:custGeom>
              <a:avLst/>
              <a:gdLst/>
              <a:ahLst/>
              <a:cxnLst/>
              <a:rect l="l" t="t" r="r" b="b"/>
              <a:pathLst>
                <a:path w="2725420" h="1495425">
                  <a:moveTo>
                    <a:pt x="0" y="1280922"/>
                  </a:moveTo>
                  <a:lnTo>
                    <a:pt x="4489" y="1224006"/>
                  </a:lnTo>
                  <a:lnTo>
                    <a:pt x="17159" y="1172859"/>
                  </a:lnTo>
                  <a:lnTo>
                    <a:pt x="36814" y="1129522"/>
                  </a:lnTo>
                  <a:lnTo>
                    <a:pt x="62258" y="1096038"/>
                  </a:lnTo>
                  <a:lnTo>
                    <a:pt x="125729" y="1066800"/>
                  </a:lnTo>
                  <a:lnTo>
                    <a:pt x="159164" y="1074449"/>
                  </a:lnTo>
                  <a:lnTo>
                    <a:pt x="214645" y="1129522"/>
                  </a:lnTo>
                  <a:lnTo>
                    <a:pt x="234300" y="1172859"/>
                  </a:lnTo>
                  <a:lnTo>
                    <a:pt x="246970" y="1224006"/>
                  </a:lnTo>
                  <a:lnTo>
                    <a:pt x="251459" y="1280922"/>
                  </a:lnTo>
                  <a:lnTo>
                    <a:pt x="246970" y="1337837"/>
                  </a:lnTo>
                  <a:lnTo>
                    <a:pt x="234300" y="1388984"/>
                  </a:lnTo>
                  <a:lnTo>
                    <a:pt x="214645" y="1432321"/>
                  </a:lnTo>
                  <a:lnTo>
                    <a:pt x="189201" y="1465805"/>
                  </a:lnTo>
                  <a:lnTo>
                    <a:pt x="125729" y="1495044"/>
                  </a:lnTo>
                  <a:lnTo>
                    <a:pt x="92295" y="1487394"/>
                  </a:lnTo>
                  <a:lnTo>
                    <a:pt x="36814" y="1432321"/>
                  </a:lnTo>
                  <a:lnTo>
                    <a:pt x="17159" y="1388984"/>
                  </a:lnTo>
                  <a:lnTo>
                    <a:pt x="4489" y="1337837"/>
                  </a:lnTo>
                  <a:lnTo>
                    <a:pt x="0" y="1280922"/>
                  </a:lnTo>
                  <a:close/>
                </a:path>
                <a:path w="2725420" h="1495425">
                  <a:moveTo>
                    <a:pt x="2473452" y="214122"/>
                  </a:moveTo>
                  <a:lnTo>
                    <a:pt x="2477941" y="157206"/>
                  </a:lnTo>
                  <a:lnTo>
                    <a:pt x="2490611" y="106059"/>
                  </a:lnTo>
                  <a:lnTo>
                    <a:pt x="2510266" y="62722"/>
                  </a:lnTo>
                  <a:lnTo>
                    <a:pt x="2535710" y="29238"/>
                  </a:lnTo>
                  <a:lnTo>
                    <a:pt x="2599181" y="0"/>
                  </a:lnTo>
                  <a:lnTo>
                    <a:pt x="2632616" y="7649"/>
                  </a:lnTo>
                  <a:lnTo>
                    <a:pt x="2688097" y="62722"/>
                  </a:lnTo>
                  <a:lnTo>
                    <a:pt x="2707752" y="106059"/>
                  </a:lnTo>
                  <a:lnTo>
                    <a:pt x="2720422" y="157206"/>
                  </a:lnTo>
                  <a:lnTo>
                    <a:pt x="2724911" y="214122"/>
                  </a:lnTo>
                  <a:lnTo>
                    <a:pt x="2720422" y="271037"/>
                  </a:lnTo>
                  <a:lnTo>
                    <a:pt x="2707752" y="322184"/>
                  </a:lnTo>
                  <a:lnTo>
                    <a:pt x="2688097" y="365521"/>
                  </a:lnTo>
                  <a:lnTo>
                    <a:pt x="2662653" y="399005"/>
                  </a:lnTo>
                  <a:lnTo>
                    <a:pt x="2599181" y="428244"/>
                  </a:lnTo>
                  <a:lnTo>
                    <a:pt x="2565747" y="420594"/>
                  </a:lnTo>
                  <a:lnTo>
                    <a:pt x="2510266" y="365521"/>
                  </a:lnTo>
                  <a:lnTo>
                    <a:pt x="2490611" y="322184"/>
                  </a:lnTo>
                  <a:lnTo>
                    <a:pt x="2477941" y="271037"/>
                  </a:lnTo>
                  <a:lnTo>
                    <a:pt x="2473452" y="214122"/>
                  </a:lnTo>
                  <a:close/>
                </a:path>
              </a:pathLst>
            </a:custGeom>
            <a:ln w="25908">
              <a:solidFill>
                <a:srgbClr val="8B3836"/>
              </a:solidFill>
            </a:ln>
          </p:spPr>
          <p:txBody>
            <a:bodyPr wrap="square" lIns="0" tIns="0" rIns="0" bIns="0" rtlCol="0"/>
            <a:lstStyle/>
            <a:p>
              <a:endParaRPr/>
            </a:p>
          </p:txBody>
        </p:sp>
        <p:sp>
          <p:nvSpPr>
            <p:cNvPr id="24" name="object 24"/>
            <p:cNvSpPr/>
            <p:nvPr/>
          </p:nvSpPr>
          <p:spPr>
            <a:xfrm>
              <a:off x="4738878" y="1675617"/>
              <a:ext cx="2390140" cy="1047115"/>
            </a:xfrm>
            <a:custGeom>
              <a:avLst/>
              <a:gdLst/>
              <a:ahLst/>
              <a:cxnLst/>
              <a:rect l="l" t="t" r="r" b="b"/>
              <a:pathLst>
                <a:path w="2390140" h="1047114">
                  <a:moveTo>
                    <a:pt x="0" y="1047008"/>
                  </a:moveTo>
                  <a:lnTo>
                    <a:pt x="965" y="995904"/>
                  </a:lnTo>
                  <a:lnTo>
                    <a:pt x="2229" y="944957"/>
                  </a:lnTo>
                  <a:lnTo>
                    <a:pt x="4086" y="894324"/>
                  </a:lnTo>
                  <a:lnTo>
                    <a:pt x="6832" y="844161"/>
                  </a:lnTo>
                  <a:lnTo>
                    <a:pt x="10762" y="794626"/>
                  </a:lnTo>
                  <a:lnTo>
                    <a:pt x="16170" y="745876"/>
                  </a:lnTo>
                  <a:lnTo>
                    <a:pt x="23353" y="698067"/>
                  </a:lnTo>
                  <a:lnTo>
                    <a:pt x="32604" y="651357"/>
                  </a:lnTo>
                  <a:lnTo>
                    <a:pt x="44220" y="605902"/>
                  </a:lnTo>
                  <a:lnTo>
                    <a:pt x="58495" y="561859"/>
                  </a:lnTo>
                  <a:lnTo>
                    <a:pt x="75724" y="519385"/>
                  </a:lnTo>
                  <a:lnTo>
                    <a:pt x="96203" y="478638"/>
                  </a:lnTo>
                  <a:lnTo>
                    <a:pt x="120226" y="439773"/>
                  </a:lnTo>
                  <a:lnTo>
                    <a:pt x="148088" y="402948"/>
                  </a:lnTo>
                  <a:lnTo>
                    <a:pt x="180086" y="368320"/>
                  </a:lnTo>
                  <a:lnTo>
                    <a:pt x="210571" y="341059"/>
                  </a:lnTo>
                  <a:lnTo>
                    <a:pt x="244856" y="315050"/>
                  </a:lnTo>
                  <a:lnTo>
                    <a:pt x="282590" y="290261"/>
                  </a:lnTo>
                  <a:lnTo>
                    <a:pt x="323426" y="266658"/>
                  </a:lnTo>
                  <a:lnTo>
                    <a:pt x="367014" y="244211"/>
                  </a:lnTo>
                  <a:lnTo>
                    <a:pt x="413003" y="222886"/>
                  </a:lnTo>
                  <a:lnTo>
                    <a:pt x="461047" y="202652"/>
                  </a:lnTo>
                  <a:lnTo>
                    <a:pt x="510793" y="183477"/>
                  </a:lnTo>
                  <a:lnTo>
                    <a:pt x="561895" y="165327"/>
                  </a:lnTo>
                  <a:lnTo>
                    <a:pt x="614002" y="148170"/>
                  </a:lnTo>
                  <a:lnTo>
                    <a:pt x="666765" y="131976"/>
                  </a:lnTo>
                  <a:lnTo>
                    <a:pt x="719835" y="116710"/>
                  </a:lnTo>
                  <a:lnTo>
                    <a:pt x="772863" y="102341"/>
                  </a:lnTo>
                  <a:lnTo>
                    <a:pt x="825499" y="88837"/>
                  </a:lnTo>
                  <a:lnTo>
                    <a:pt x="877395" y="76164"/>
                  </a:lnTo>
                  <a:lnTo>
                    <a:pt x="928200" y="64292"/>
                  </a:lnTo>
                  <a:lnTo>
                    <a:pt x="977566" y="53188"/>
                  </a:lnTo>
                  <a:lnTo>
                    <a:pt x="1025144" y="42819"/>
                  </a:lnTo>
                  <a:lnTo>
                    <a:pt x="1078023" y="32455"/>
                  </a:lnTo>
                  <a:lnTo>
                    <a:pt x="1131749" y="23801"/>
                  </a:lnTo>
                  <a:lnTo>
                    <a:pt x="1186112" y="16725"/>
                  </a:lnTo>
                  <a:lnTo>
                    <a:pt x="1240905" y="11095"/>
                  </a:lnTo>
                  <a:lnTo>
                    <a:pt x="1295919" y="6778"/>
                  </a:lnTo>
                  <a:lnTo>
                    <a:pt x="1350948" y="3643"/>
                  </a:lnTo>
                  <a:lnTo>
                    <a:pt x="1405782" y="1556"/>
                  </a:lnTo>
                  <a:lnTo>
                    <a:pt x="1460214" y="385"/>
                  </a:lnTo>
                  <a:lnTo>
                    <a:pt x="1514036" y="0"/>
                  </a:lnTo>
                  <a:lnTo>
                    <a:pt x="1567039" y="266"/>
                  </a:lnTo>
                  <a:lnTo>
                    <a:pt x="1619017" y="1052"/>
                  </a:lnTo>
                  <a:lnTo>
                    <a:pt x="1669760" y="2225"/>
                  </a:lnTo>
                  <a:lnTo>
                    <a:pt x="1719061" y="3654"/>
                  </a:lnTo>
                  <a:lnTo>
                    <a:pt x="1766712" y="5205"/>
                  </a:lnTo>
                  <a:lnTo>
                    <a:pt x="1812505" y="6748"/>
                  </a:lnTo>
                  <a:lnTo>
                    <a:pt x="1856231" y="8148"/>
                  </a:lnTo>
                  <a:lnTo>
                    <a:pt x="1916476" y="10719"/>
                  </a:lnTo>
                  <a:lnTo>
                    <a:pt x="1973365" y="14537"/>
                  </a:lnTo>
                  <a:lnTo>
                    <a:pt x="2027233" y="19477"/>
                  </a:lnTo>
                  <a:lnTo>
                    <a:pt x="2078416" y="25414"/>
                  </a:lnTo>
                  <a:lnTo>
                    <a:pt x="2127248" y="32222"/>
                  </a:lnTo>
                  <a:lnTo>
                    <a:pt x="2174065" y="39776"/>
                  </a:lnTo>
                  <a:lnTo>
                    <a:pt x="2219200" y="47951"/>
                  </a:lnTo>
                  <a:lnTo>
                    <a:pt x="2262990" y="56621"/>
                  </a:lnTo>
                  <a:lnTo>
                    <a:pt x="2305768" y="65661"/>
                  </a:lnTo>
                  <a:lnTo>
                    <a:pt x="2347870" y="74945"/>
                  </a:lnTo>
                  <a:lnTo>
                    <a:pt x="2389631" y="84348"/>
                  </a:lnTo>
                </a:path>
              </a:pathLst>
            </a:custGeom>
            <a:ln w="25908">
              <a:solidFill>
                <a:srgbClr val="385D89"/>
              </a:solidFill>
            </a:ln>
          </p:spPr>
          <p:txBody>
            <a:bodyPr wrap="square" lIns="0" tIns="0" rIns="0" bIns="0" rtlCol="0"/>
            <a:lstStyle/>
            <a:p>
              <a:endParaRPr/>
            </a:p>
          </p:txBody>
        </p:sp>
        <p:sp>
          <p:nvSpPr>
            <p:cNvPr id="25" name="object 25"/>
            <p:cNvSpPr/>
            <p:nvPr/>
          </p:nvSpPr>
          <p:spPr>
            <a:xfrm>
              <a:off x="5206746" y="2295905"/>
              <a:ext cx="251460" cy="426720"/>
            </a:xfrm>
            <a:custGeom>
              <a:avLst/>
              <a:gdLst/>
              <a:ahLst/>
              <a:cxnLst/>
              <a:rect l="l" t="t" r="r" b="b"/>
              <a:pathLst>
                <a:path w="251460" h="426719">
                  <a:moveTo>
                    <a:pt x="0" y="213360"/>
                  </a:moveTo>
                  <a:lnTo>
                    <a:pt x="4489" y="156633"/>
                  </a:lnTo>
                  <a:lnTo>
                    <a:pt x="17159" y="105663"/>
                  </a:lnTo>
                  <a:lnTo>
                    <a:pt x="36814" y="62483"/>
                  </a:lnTo>
                  <a:lnTo>
                    <a:pt x="62258" y="29125"/>
                  </a:lnTo>
                  <a:lnTo>
                    <a:pt x="125729" y="0"/>
                  </a:lnTo>
                  <a:lnTo>
                    <a:pt x="159164" y="7619"/>
                  </a:lnTo>
                  <a:lnTo>
                    <a:pt x="214645" y="62483"/>
                  </a:lnTo>
                  <a:lnTo>
                    <a:pt x="234300" y="105663"/>
                  </a:lnTo>
                  <a:lnTo>
                    <a:pt x="246970" y="156633"/>
                  </a:lnTo>
                  <a:lnTo>
                    <a:pt x="251459" y="213360"/>
                  </a:lnTo>
                  <a:lnTo>
                    <a:pt x="246970" y="270086"/>
                  </a:lnTo>
                  <a:lnTo>
                    <a:pt x="234300" y="321056"/>
                  </a:lnTo>
                  <a:lnTo>
                    <a:pt x="214645" y="364236"/>
                  </a:lnTo>
                  <a:lnTo>
                    <a:pt x="189201" y="397594"/>
                  </a:lnTo>
                  <a:lnTo>
                    <a:pt x="125729" y="426719"/>
                  </a:lnTo>
                  <a:lnTo>
                    <a:pt x="92295" y="419100"/>
                  </a:lnTo>
                  <a:lnTo>
                    <a:pt x="36814" y="364236"/>
                  </a:lnTo>
                  <a:lnTo>
                    <a:pt x="17159" y="321056"/>
                  </a:lnTo>
                  <a:lnTo>
                    <a:pt x="4489" y="270086"/>
                  </a:lnTo>
                  <a:lnTo>
                    <a:pt x="0" y="213360"/>
                  </a:lnTo>
                  <a:close/>
                </a:path>
              </a:pathLst>
            </a:custGeom>
            <a:ln w="25908">
              <a:solidFill>
                <a:srgbClr val="8B3836"/>
              </a:solidFill>
            </a:ln>
          </p:spPr>
          <p:txBody>
            <a:bodyPr wrap="square" lIns="0" tIns="0" rIns="0" bIns="0" rtlCol="0"/>
            <a:lstStyle/>
            <a:p>
              <a:endParaRPr/>
            </a:p>
          </p:txBody>
        </p:sp>
      </p:grpSp>
      <p:sp>
        <p:nvSpPr>
          <p:cNvPr id="26" name="object 2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46</a:t>
            </a:fld>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5" dirty="0"/>
              <a:t>K-Means </a:t>
            </a:r>
            <a:r>
              <a:rPr spc="-15" dirty="0"/>
              <a:t>clustering</a:t>
            </a:r>
            <a:r>
              <a:rPr spc="40" dirty="0"/>
              <a:t> </a:t>
            </a:r>
            <a:r>
              <a:rPr spc="-20" dirty="0"/>
              <a:t>example</a:t>
            </a:r>
          </a:p>
        </p:txBody>
      </p:sp>
      <p:sp>
        <p:nvSpPr>
          <p:cNvPr id="3" name="object 3"/>
          <p:cNvSpPr txBox="1"/>
          <p:nvPr/>
        </p:nvSpPr>
        <p:spPr>
          <a:xfrm>
            <a:off x="535940" y="1216913"/>
            <a:ext cx="3206115" cy="3308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10" dirty="0">
                <a:latin typeface="Carlito"/>
                <a:cs typeface="Carlito"/>
              </a:rPr>
              <a:t>Update </a:t>
            </a:r>
            <a:r>
              <a:rPr sz="2000" dirty="0">
                <a:latin typeface="Carlito"/>
                <a:cs typeface="Carlito"/>
              </a:rPr>
              <a:t>the </a:t>
            </a:r>
            <a:r>
              <a:rPr sz="2000" spc="-5" dirty="0">
                <a:latin typeface="Carlito"/>
                <a:cs typeface="Carlito"/>
              </a:rPr>
              <a:t>cluster</a:t>
            </a:r>
            <a:r>
              <a:rPr sz="2000" spc="-20" dirty="0">
                <a:latin typeface="Carlito"/>
                <a:cs typeface="Carlito"/>
              </a:rPr>
              <a:t> </a:t>
            </a:r>
            <a:r>
              <a:rPr sz="2000" spc="-10" dirty="0">
                <a:latin typeface="Carlito"/>
                <a:cs typeface="Carlito"/>
              </a:rPr>
              <a:t>centroid</a:t>
            </a:r>
            <a:endParaRPr sz="2000">
              <a:latin typeface="Carlito"/>
              <a:cs typeface="Carlito"/>
            </a:endParaRPr>
          </a:p>
        </p:txBody>
      </p:sp>
      <p:sp>
        <p:nvSpPr>
          <p:cNvPr id="4" name="object 4"/>
          <p:cNvSpPr/>
          <p:nvPr/>
        </p:nvSpPr>
        <p:spPr>
          <a:xfrm>
            <a:off x="5726557" y="2534411"/>
            <a:ext cx="2118360" cy="640080"/>
          </a:xfrm>
          <a:custGeom>
            <a:avLst/>
            <a:gdLst/>
            <a:ahLst/>
            <a:cxnLst/>
            <a:rect l="l" t="t" r="r" b="b"/>
            <a:pathLst>
              <a:path w="2118359" h="640080">
                <a:moveTo>
                  <a:pt x="2118360" y="0"/>
                </a:moveTo>
                <a:lnTo>
                  <a:pt x="0" y="0"/>
                </a:lnTo>
                <a:lnTo>
                  <a:pt x="0" y="640080"/>
                </a:lnTo>
                <a:lnTo>
                  <a:pt x="2118360" y="640080"/>
                </a:lnTo>
                <a:lnTo>
                  <a:pt x="2118360" y="0"/>
                </a:lnTo>
                <a:close/>
              </a:path>
            </a:pathLst>
          </a:custGeom>
          <a:solidFill>
            <a:srgbClr val="E9ECF4"/>
          </a:solidFill>
        </p:spPr>
        <p:txBody>
          <a:bodyPr wrap="square" lIns="0" tIns="0" rIns="0" bIns="0" rtlCol="0"/>
          <a:lstStyle/>
          <a:p>
            <a:endParaRPr/>
          </a:p>
        </p:txBody>
      </p:sp>
      <p:graphicFrame>
        <p:nvGraphicFramePr>
          <p:cNvPr id="5" name="object 5"/>
          <p:cNvGraphicFramePr>
            <a:graphicFrameLocks noGrp="1"/>
          </p:cNvGraphicFramePr>
          <p:nvPr/>
        </p:nvGraphicFramePr>
        <p:xfrm>
          <a:off x="1483486" y="1796542"/>
          <a:ext cx="6355080" cy="1371600"/>
        </p:xfrm>
        <a:graphic>
          <a:graphicData uri="http://schemas.openxmlformats.org/drawingml/2006/table">
            <a:tbl>
              <a:tblPr firstRow="1" bandRow="1">
                <a:tableStyleId>{2D5ABB26-0587-4C30-8999-92F81FD0307C}</a:tableStyleId>
              </a:tblPr>
              <a:tblGrid>
                <a:gridCol w="2118360">
                  <a:extLst>
                    <a:ext uri="{9D8B030D-6E8A-4147-A177-3AD203B41FA5}">
                      <a16:colId xmlns:a16="http://schemas.microsoft.com/office/drawing/2014/main" val="20000"/>
                    </a:ext>
                  </a:extLst>
                </a:gridCol>
                <a:gridCol w="2118360">
                  <a:extLst>
                    <a:ext uri="{9D8B030D-6E8A-4147-A177-3AD203B41FA5}">
                      <a16:colId xmlns:a16="http://schemas.microsoft.com/office/drawing/2014/main" val="20001"/>
                    </a:ext>
                  </a:extLst>
                </a:gridCol>
                <a:gridCol w="2118360">
                  <a:extLst>
                    <a:ext uri="{9D8B030D-6E8A-4147-A177-3AD203B41FA5}">
                      <a16:colId xmlns:a16="http://schemas.microsoft.com/office/drawing/2014/main" val="20002"/>
                    </a:ext>
                  </a:extLst>
                </a:gridCol>
              </a:tblGrid>
              <a:tr h="365760">
                <a:tc>
                  <a:txBody>
                    <a:bodyPr/>
                    <a:lstStyle/>
                    <a:p>
                      <a:pPr marL="635" algn="ctr">
                        <a:lnSpc>
                          <a:spcPct val="100000"/>
                        </a:lnSpc>
                        <a:spcBef>
                          <a:spcPts val="245"/>
                        </a:spcBef>
                      </a:pPr>
                      <a:r>
                        <a:rPr sz="1800" b="1" spc="-10" dirty="0">
                          <a:solidFill>
                            <a:srgbClr val="FFFFFF"/>
                          </a:solidFill>
                          <a:latin typeface="Carlito"/>
                          <a:cs typeface="Carlito"/>
                        </a:rPr>
                        <a:t>Cluster</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2540" algn="ctr">
                        <a:lnSpc>
                          <a:spcPct val="100000"/>
                        </a:lnSpc>
                        <a:spcBef>
                          <a:spcPts val="245"/>
                        </a:spcBef>
                      </a:pPr>
                      <a:r>
                        <a:rPr sz="1800" b="1" spc="-25" dirty="0">
                          <a:solidFill>
                            <a:srgbClr val="FFFFFF"/>
                          </a:solidFill>
                          <a:latin typeface="Carlito"/>
                          <a:cs typeface="Carlito"/>
                        </a:rPr>
                        <a:t>Var1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3175" algn="ctr">
                        <a:lnSpc>
                          <a:spcPct val="100000"/>
                        </a:lnSpc>
                        <a:spcBef>
                          <a:spcPts val="245"/>
                        </a:spcBef>
                      </a:pPr>
                      <a:r>
                        <a:rPr sz="1800" b="1" spc="-25" dirty="0">
                          <a:solidFill>
                            <a:srgbClr val="FFFFFF"/>
                          </a:solidFill>
                          <a:latin typeface="Carlito"/>
                          <a:cs typeface="Carlito"/>
                        </a:rPr>
                        <a:t>Var2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60">
                <a:tc>
                  <a:txBody>
                    <a:bodyPr/>
                    <a:lstStyle/>
                    <a:p>
                      <a:pPr marL="1270" algn="ctr">
                        <a:lnSpc>
                          <a:spcPct val="100000"/>
                        </a:lnSpc>
                        <a:spcBef>
                          <a:spcPts val="245"/>
                        </a:spcBef>
                      </a:pPr>
                      <a:r>
                        <a:rPr sz="1800" spc="-5" dirty="0">
                          <a:latin typeface="Carlito"/>
                          <a:cs typeface="Carlito"/>
                        </a:rPr>
                        <a:t>K1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53975" algn="ctr">
                        <a:lnSpc>
                          <a:spcPct val="100000"/>
                        </a:lnSpc>
                        <a:spcBef>
                          <a:spcPts val="245"/>
                        </a:spcBef>
                      </a:pPr>
                      <a:r>
                        <a:rPr sz="1800" dirty="0">
                          <a:latin typeface="Carlito"/>
                          <a:cs typeface="Carlito"/>
                        </a:rPr>
                        <a:t>1.25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2540" algn="ctr">
                        <a:lnSpc>
                          <a:spcPct val="100000"/>
                        </a:lnSpc>
                        <a:spcBef>
                          <a:spcPts val="245"/>
                        </a:spcBef>
                      </a:pPr>
                      <a:r>
                        <a:rPr sz="1800" dirty="0">
                          <a:latin typeface="Carlito"/>
                          <a:cs typeface="Carlito"/>
                        </a:rPr>
                        <a:t>1.5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640080">
                <a:tc>
                  <a:txBody>
                    <a:bodyPr/>
                    <a:lstStyle/>
                    <a:p>
                      <a:pPr marL="1270" algn="ctr">
                        <a:lnSpc>
                          <a:spcPct val="100000"/>
                        </a:lnSpc>
                        <a:spcBef>
                          <a:spcPts val="245"/>
                        </a:spcBef>
                      </a:pPr>
                      <a:r>
                        <a:rPr sz="1800" dirty="0">
                          <a:latin typeface="Carlito"/>
                          <a:cs typeface="Carlito"/>
                        </a:rPr>
                        <a:t>K2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spc="-5" dirty="0">
                          <a:latin typeface="Carlito"/>
                          <a:cs typeface="Carlito"/>
                        </a:rPr>
                        <a:t>(3.0+5.0+ 3.5)/3 </a:t>
                      </a:r>
                      <a:r>
                        <a:rPr sz="1800" dirty="0">
                          <a:latin typeface="Carlito"/>
                          <a:cs typeface="Carlito"/>
                        </a:rPr>
                        <a:t>=</a:t>
                      </a:r>
                      <a:endParaRPr sz="1800">
                        <a:latin typeface="Carlito"/>
                        <a:cs typeface="Carlito"/>
                      </a:endParaRPr>
                    </a:p>
                    <a:p>
                      <a:pPr marL="1270" algn="ctr">
                        <a:lnSpc>
                          <a:spcPct val="100000"/>
                        </a:lnSpc>
                      </a:pPr>
                      <a:r>
                        <a:rPr sz="1800" dirty="0">
                          <a:latin typeface="Carlito"/>
                          <a:cs typeface="Carlito"/>
                        </a:rPr>
                        <a:t>3.83</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857250" marR="195580" indent="-654050">
                        <a:lnSpc>
                          <a:spcPct val="100000"/>
                        </a:lnSpc>
                        <a:spcBef>
                          <a:spcPts val="245"/>
                        </a:spcBef>
                      </a:pPr>
                      <a:r>
                        <a:rPr sz="1800" spc="-5" dirty="0">
                          <a:latin typeface="Carlito"/>
                          <a:cs typeface="Carlito"/>
                        </a:rPr>
                        <a:t>(4.0+7.0 </a:t>
                      </a:r>
                      <a:r>
                        <a:rPr sz="1800" dirty="0">
                          <a:latin typeface="Carlito"/>
                          <a:cs typeface="Carlito"/>
                        </a:rPr>
                        <a:t>+ 5.0)/3</a:t>
                      </a:r>
                      <a:r>
                        <a:rPr sz="1800" spc="-70" dirty="0">
                          <a:latin typeface="Carlito"/>
                          <a:cs typeface="Carlito"/>
                        </a:rPr>
                        <a:t> </a:t>
                      </a:r>
                      <a:r>
                        <a:rPr sz="1800" dirty="0">
                          <a:latin typeface="Carlito"/>
                          <a:cs typeface="Carlito"/>
                        </a:rPr>
                        <a:t>=  5.33</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2"/>
                  </a:ext>
                </a:extLst>
              </a:tr>
            </a:tbl>
          </a:graphicData>
        </a:graphic>
      </p:graphicFrame>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47</a:t>
            </a:fld>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7200" y="1200911"/>
            <a:ext cx="8229574" cy="339394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5" dirty="0"/>
              <a:t>K-Means </a:t>
            </a:r>
            <a:r>
              <a:rPr spc="-15" dirty="0"/>
              <a:t>clustering</a:t>
            </a:r>
            <a:r>
              <a:rPr spc="40" dirty="0"/>
              <a:t> </a:t>
            </a:r>
            <a:r>
              <a:rPr spc="-20" dirty="0"/>
              <a:t>example</a:t>
            </a:r>
          </a:p>
        </p:txBody>
      </p:sp>
      <p:sp>
        <p:nvSpPr>
          <p:cNvPr id="4" name="object 4"/>
          <p:cNvSpPr/>
          <p:nvPr/>
        </p:nvSpPr>
        <p:spPr>
          <a:xfrm>
            <a:off x="4146296" y="3531476"/>
            <a:ext cx="1438910" cy="400685"/>
          </a:xfrm>
          <a:custGeom>
            <a:avLst/>
            <a:gdLst/>
            <a:ahLst/>
            <a:cxnLst/>
            <a:rect l="l" t="t" r="r" b="b"/>
            <a:pathLst>
              <a:path w="1438910" h="400685">
                <a:moveTo>
                  <a:pt x="1438528" y="0"/>
                </a:moveTo>
                <a:lnTo>
                  <a:pt x="0" y="0"/>
                </a:lnTo>
                <a:lnTo>
                  <a:pt x="0" y="400469"/>
                </a:lnTo>
                <a:lnTo>
                  <a:pt x="1438528" y="400469"/>
                </a:lnTo>
                <a:lnTo>
                  <a:pt x="1438528" y="0"/>
                </a:lnTo>
                <a:close/>
              </a:path>
            </a:pathLst>
          </a:custGeom>
          <a:solidFill>
            <a:srgbClr val="E9ECF4"/>
          </a:solidFill>
        </p:spPr>
        <p:txBody>
          <a:bodyPr wrap="square" lIns="0" tIns="0" rIns="0" bIns="0" rtlCol="0"/>
          <a:lstStyle/>
          <a:p>
            <a:endParaRPr/>
          </a:p>
        </p:txBody>
      </p:sp>
      <p:graphicFrame>
        <p:nvGraphicFramePr>
          <p:cNvPr id="5" name="object 5"/>
          <p:cNvGraphicFramePr>
            <a:graphicFrameLocks noGrp="1"/>
          </p:cNvGraphicFramePr>
          <p:nvPr/>
        </p:nvGraphicFramePr>
        <p:xfrm>
          <a:off x="1619122" y="2793619"/>
          <a:ext cx="5708014" cy="1131975"/>
        </p:xfrm>
        <a:graphic>
          <a:graphicData uri="http://schemas.openxmlformats.org/drawingml/2006/table">
            <a:tbl>
              <a:tblPr firstRow="1" bandRow="1">
                <a:tableStyleId>{2D5ABB26-0587-4C30-8999-92F81FD0307C}</a:tableStyleId>
              </a:tblPr>
              <a:tblGrid>
                <a:gridCol w="1130300">
                  <a:extLst>
                    <a:ext uri="{9D8B030D-6E8A-4147-A177-3AD203B41FA5}">
                      <a16:colId xmlns:a16="http://schemas.microsoft.com/office/drawing/2014/main" val="20000"/>
                    </a:ext>
                  </a:extLst>
                </a:gridCol>
                <a:gridCol w="1390014">
                  <a:extLst>
                    <a:ext uri="{9D8B030D-6E8A-4147-A177-3AD203B41FA5}">
                      <a16:colId xmlns:a16="http://schemas.microsoft.com/office/drawing/2014/main" val="20001"/>
                    </a:ext>
                  </a:extLst>
                </a:gridCol>
                <a:gridCol w="1438275">
                  <a:extLst>
                    <a:ext uri="{9D8B030D-6E8A-4147-A177-3AD203B41FA5}">
                      <a16:colId xmlns:a16="http://schemas.microsoft.com/office/drawing/2014/main" val="20002"/>
                    </a:ext>
                  </a:extLst>
                </a:gridCol>
                <a:gridCol w="1749425">
                  <a:extLst>
                    <a:ext uri="{9D8B030D-6E8A-4147-A177-3AD203B41FA5}">
                      <a16:colId xmlns:a16="http://schemas.microsoft.com/office/drawing/2014/main" val="20003"/>
                    </a:ext>
                  </a:extLst>
                </a:gridCol>
              </a:tblGrid>
              <a:tr h="365760">
                <a:tc rowSpan="2">
                  <a:txBody>
                    <a:bodyPr/>
                    <a:lstStyle/>
                    <a:p>
                      <a:pPr>
                        <a:lnSpc>
                          <a:spcPct val="100000"/>
                        </a:lnSpc>
                        <a:spcBef>
                          <a:spcPts val="15"/>
                        </a:spcBef>
                      </a:pPr>
                      <a:endParaRPr sz="1450">
                        <a:latin typeface="Times New Roman"/>
                        <a:cs typeface="Times New Roman"/>
                      </a:endParaRPr>
                    </a:p>
                    <a:p>
                      <a:pPr marL="198755">
                        <a:lnSpc>
                          <a:spcPct val="100000"/>
                        </a:lnSpc>
                        <a:spcBef>
                          <a:spcPts val="5"/>
                        </a:spcBef>
                      </a:pPr>
                      <a:r>
                        <a:rPr sz="1800" b="1" spc="-5" dirty="0">
                          <a:solidFill>
                            <a:srgbClr val="FFFFFF"/>
                          </a:solidFill>
                          <a:latin typeface="Carlito"/>
                          <a:cs typeface="Carlito"/>
                        </a:rPr>
                        <a:t>Dataset</a:t>
                      </a:r>
                      <a:endParaRPr sz="1800">
                        <a:latin typeface="Carlito"/>
                        <a:cs typeface="Carlito"/>
                      </a:endParaRPr>
                    </a:p>
                  </a:txBody>
                  <a:tcPr marL="0" marR="0" marT="1905" marB="0">
                    <a:lnL w="1905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4F81BC"/>
                    </a:solidFill>
                  </a:tcPr>
                </a:tc>
                <a:tc gridSpan="3">
                  <a:txBody>
                    <a:bodyPr/>
                    <a:lstStyle/>
                    <a:p>
                      <a:pPr algn="ctr">
                        <a:lnSpc>
                          <a:spcPct val="100000"/>
                        </a:lnSpc>
                        <a:spcBef>
                          <a:spcPts val="245"/>
                        </a:spcBef>
                      </a:pPr>
                      <a:r>
                        <a:rPr sz="1800" b="1" dirty="0">
                          <a:solidFill>
                            <a:srgbClr val="FFFFFF"/>
                          </a:solidFill>
                          <a:latin typeface="Carlito"/>
                          <a:cs typeface="Carlito"/>
                        </a:rPr>
                        <a:t>Euclidean</a:t>
                      </a:r>
                      <a:r>
                        <a:rPr sz="1800" b="1" spc="-50" dirty="0">
                          <a:solidFill>
                            <a:srgbClr val="FFFFFF"/>
                          </a:solidFill>
                          <a:latin typeface="Carlito"/>
                          <a:cs typeface="Carlito"/>
                        </a:rPr>
                        <a:t> </a:t>
                      </a:r>
                      <a:r>
                        <a:rPr sz="1800" b="1" spc="-5" dirty="0">
                          <a:solidFill>
                            <a:srgbClr val="FFFFFF"/>
                          </a:solidFill>
                          <a:latin typeface="Carlito"/>
                          <a:cs typeface="Carlito"/>
                        </a:rPr>
                        <a:t>Distance</a:t>
                      </a:r>
                      <a:endParaRPr sz="1800">
                        <a:latin typeface="Carlito"/>
                        <a:cs typeface="Carlito"/>
                      </a:endParaRPr>
                    </a:p>
                  </a:txBody>
                  <a:tcPr marL="0" marR="0" marT="31115" marB="0">
                    <a:lnL w="381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65759">
                <a:tc vMerge="1">
                  <a:txBody>
                    <a:bodyPr/>
                    <a:lstStyle/>
                    <a:p>
                      <a:endParaRPr/>
                    </a:p>
                  </a:txBody>
                  <a:tcPr marL="0" marR="0" marT="1905" marB="0">
                    <a:lnL w="1905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270" algn="ctr">
                        <a:lnSpc>
                          <a:spcPct val="100000"/>
                        </a:lnSpc>
                        <a:spcBef>
                          <a:spcPts val="245"/>
                        </a:spcBef>
                      </a:pPr>
                      <a:r>
                        <a:rPr sz="1800" spc="-10" dirty="0">
                          <a:latin typeface="Carlito"/>
                          <a:cs typeface="Carlito"/>
                        </a:rPr>
                        <a:t>Cluster </a:t>
                      </a:r>
                      <a:r>
                        <a:rPr sz="1800" dirty="0">
                          <a:latin typeface="Carlito"/>
                          <a:cs typeface="Carlito"/>
                        </a:rPr>
                        <a:t>1</a:t>
                      </a:r>
                      <a:endParaRPr sz="1800">
                        <a:latin typeface="Carlito"/>
                        <a:cs typeface="Carlito"/>
                      </a:endParaRPr>
                    </a:p>
                  </a:txBody>
                  <a:tcPr marL="0" marR="0" marT="31115" marB="0">
                    <a:lnL w="381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spc="-10" dirty="0">
                          <a:latin typeface="Carlito"/>
                          <a:cs typeface="Carlito"/>
                        </a:rPr>
                        <a:t>Cluster</a:t>
                      </a:r>
                      <a:r>
                        <a:rPr sz="1800" spc="-5" dirty="0">
                          <a:latin typeface="Carlito"/>
                          <a:cs typeface="Carlito"/>
                        </a:rPr>
                        <a:t> </a:t>
                      </a:r>
                      <a:r>
                        <a:rPr sz="1800" dirty="0">
                          <a:latin typeface="Carlito"/>
                          <a:cs typeface="Carlito"/>
                        </a:rPr>
                        <a:t>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635" algn="ctr">
                        <a:lnSpc>
                          <a:spcPct val="100000"/>
                        </a:lnSpc>
                        <a:spcBef>
                          <a:spcPts val="245"/>
                        </a:spcBef>
                      </a:pPr>
                      <a:r>
                        <a:rPr sz="1800" spc="-5" dirty="0">
                          <a:latin typeface="Carlito"/>
                          <a:cs typeface="Carlito"/>
                        </a:rPr>
                        <a:t>Assignment</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400456">
                <a:tc>
                  <a:txBody>
                    <a:bodyPr/>
                    <a:lstStyle/>
                    <a:p>
                      <a:pPr marL="151130">
                        <a:lnSpc>
                          <a:spcPct val="100000"/>
                        </a:lnSpc>
                        <a:spcBef>
                          <a:spcPts val="385"/>
                        </a:spcBef>
                      </a:pPr>
                      <a:r>
                        <a:rPr sz="1800" spc="-5" dirty="0">
                          <a:latin typeface="Carlito"/>
                          <a:cs typeface="Carlito"/>
                        </a:rPr>
                        <a:t>(4.5,</a:t>
                      </a:r>
                      <a:r>
                        <a:rPr sz="1800" spc="-25" dirty="0">
                          <a:latin typeface="Carlito"/>
                          <a:cs typeface="Carlito"/>
                        </a:rPr>
                        <a:t> </a:t>
                      </a:r>
                      <a:r>
                        <a:rPr sz="1800" dirty="0">
                          <a:latin typeface="Carlito"/>
                          <a:cs typeface="Carlito"/>
                        </a:rPr>
                        <a:t>5.0)</a:t>
                      </a:r>
                      <a:endParaRPr sz="1800">
                        <a:latin typeface="Carlito"/>
                        <a:cs typeface="Carlito"/>
                      </a:endParaRPr>
                    </a:p>
                  </a:txBody>
                  <a:tcPr marL="0" marR="0" marT="48895" marB="0">
                    <a:lnL w="1905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85"/>
                        </a:spcBef>
                      </a:pPr>
                      <a:r>
                        <a:rPr sz="1800" dirty="0">
                          <a:latin typeface="Carlito"/>
                          <a:cs typeface="Carlito"/>
                        </a:rPr>
                        <a:t>4.78</a:t>
                      </a:r>
                      <a:endParaRPr sz="1800">
                        <a:latin typeface="Carlito"/>
                        <a:cs typeface="Carlito"/>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85"/>
                        </a:spcBef>
                      </a:pPr>
                      <a:r>
                        <a:rPr sz="1800" dirty="0">
                          <a:latin typeface="Carlito"/>
                          <a:cs typeface="Carlito"/>
                        </a:rPr>
                        <a:t>0.75</a:t>
                      </a:r>
                      <a:endParaRPr sz="1800">
                        <a:latin typeface="Carlito"/>
                        <a:cs typeface="Carlito"/>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gn="ctr">
                        <a:lnSpc>
                          <a:spcPct val="100000"/>
                        </a:lnSpc>
                        <a:spcBef>
                          <a:spcPts val="385"/>
                        </a:spcBef>
                      </a:pPr>
                      <a:r>
                        <a:rPr sz="1800" dirty="0">
                          <a:latin typeface="Carlito"/>
                          <a:cs typeface="Carlito"/>
                        </a:rPr>
                        <a:t>K-</a:t>
                      </a:r>
                      <a:r>
                        <a:rPr sz="1800" spc="-10" dirty="0">
                          <a:latin typeface="Carlito"/>
                          <a:cs typeface="Carlito"/>
                        </a:rPr>
                        <a:t> </a:t>
                      </a:r>
                      <a:r>
                        <a:rPr sz="1800" dirty="0">
                          <a:latin typeface="Carlito"/>
                          <a:cs typeface="Carlito"/>
                        </a:rPr>
                        <a:t>2</a:t>
                      </a:r>
                      <a:endParaRPr sz="1800">
                        <a:latin typeface="Carlito"/>
                        <a:cs typeface="Carlito"/>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graphicFrame>
        <p:nvGraphicFramePr>
          <p:cNvPr id="6" name="object 6"/>
          <p:cNvGraphicFramePr>
            <a:graphicFrameLocks noGrp="1"/>
          </p:cNvGraphicFramePr>
          <p:nvPr/>
        </p:nvGraphicFramePr>
        <p:xfrm>
          <a:off x="7218426" y="700531"/>
          <a:ext cx="1864995" cy="1706878"/>
        </p:xfrm>
        <a:graphic>
          <a:graphicData uri="http://schemas.openxmlformats.org/drawingml/2006/table">
            <a:tbl>
              <a:tblPr firstRow="1" bandRow="1">
                <a:tableStyleId>{2D5ABB26-0587-4C30-8999-92F81FD0307C}</a:tableStyleId>
              </a:tblPr>
              <a:tblGrid>
                <a:gridCol w="621665">
                  <a:extLst>
                    <a:ext uri="{9D8B030D-6E8A-4147-A177-3AD203B41FA5}">
                      <a16:colId xmlns:a16="http://schemas.microsoft.com/office/drawing/2014/main" val="20000"/>
                    </a:ext>
                  </a:extLst>
                </a:gridCol>
                <a:gridCol w="621665">
                  <a:extLst>
                    <a:ext uri="{9D8B030D-6E8A-4147-A177-3AD203B41FA5}">
                      <a16:colId xmlns:a16="http://schemas.microsoft.com/office/drawing/2014/main" val="20001"/>
                    </a:ext>
                  </a:extLst>
                </a:gridCol>
                <a:gridCol w="621665">
                  <a:extLst>
                    <a:ext uri="{9D8B030D-6E8A-4147-A177-3AD203B41FA5}">
                      <a16:colId xmlns:a16="http://schemas.microsoft.com/office/drawing/2014/main" val="20002"/>
                    </a:ext>
                  </a:extLst>
                </a:gridCol>
              </a:tblGrid>
              <a:tr h="213359">
                <a:tc>
                  <a:txBody>
                    <a:bodyPr/>
                    <a:lstStyle/>
                    <a:p>
                      <a:pPr marL="1905" algn="ctr">
                        <a:lnSpc>
                          <a:spcPct val="100000"/>
                        </a:lnSpc>
                        <a:spcBef>
                          <a:spcPts val="305"/>
                        </a:spcBef>
                      </a:pPr>
                      <a:r>
                        <a:rPr sz="800" b="1" dirty="0">
                          <a:solidFill>
                            <a:srgbClr val="FFFFFF"/>
                          </a:solidFill>
                          <a:latin typeface="Carlito"/>
                          <a:cs typeface="Carlito"/>
                        </a:rPr>
                        <a:t>Individual</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270" algn="ctr">
                        <a:lnSpc>
                          <a:spcPct val="100000"/>
                        </a:lnSpc>
                        <a:spcBef>
                          <a:spcPts val="305"/>
                        </a:spcBef>
                      </a:pPr>
                      <a:r>
                        <a:rPr sz="800" b="1" spc="-5" dirty="0">
                          <a:solidFill>
                            <a:srgbClr val="FFFFFF"/>
                          </a:solidFill>
                          <a:latin typeface="Carlito"/>
                          <a:cs typeface="Carlito"/>
                        </a:rPr>
                        <a:t>Variable</a:t>
                      </a:r>
                      <a:r>
                        <a:rPr sz="800" b="1" spc="-15" dirty="0">
                          <a:solidFill>
                            <a:srgbClr val="FFFFFF"/>
                          </a:solidFill>
                          <a:latin typeface="Carlito"/>
                          <a:cs typeface="Carlito"/>
                        </a:rPr>
                        <a:t> </a:t>
                      </a:r>
                      <a:r>
                        <a:rPr sz="800" b="1" dirty="0">
                          <a:solidFill>
                            <a:srgbClr val="FFFFFF"/>
                          </a:solidFill>
                          <a:latin typeface="Carlito"/>
                          <a:cs typeface="Carlito"/>
                        </a:rPr>
                        <a:t>1</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905" algn="ctr">
                        <a:lnSpc>
                          <a:spcPct val="100000"/>
                        </a:lnSpc>
                        <a:spcBef>
                          <a:spcPts val="305"/>
                        </a:spcBef>
                      </a:pPr>
                      <a:r>
                        <a:rPr sz="800" b="1" spc="-5" dirty="0">
                          <a:solidFill>
                            <a:srgbClr val="FFFFFF"/>
                          </a:solidFill>
                          <a:latin typeface="Carlito"/>
                          <a:cs typeface="Carlito"/>
                        </a:rPr>
                        <a:t>Variable</a:t>
                      </a:r>
                      <a:r>
                        <a:rPr sz="800" b="1" spc="-15" dirty="0">
                          <a:solidFill>
                            <a:srgbClr val="FFFFFF"/>
                          </a:solidFill>
                          <a:latin typeface="Carlito"/>
                          <a:cs typeface="Carlito"/>
                        </a:rPr>
                        <a:t> </a:t>
                      </a:r>
                      <a:r>
                        <a:rPr sz="800" b="1" dirty="0">
                          <a:solidFill>
                            <a:srgbClr val="FFFFFF"/>
                          </a:solidFill>
                          <a:latin typeface="Carlito"/>
                          <a:cs typeface="Carlito"/>
                        </a:rPr>
                        <a:t>2</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213360">
                <a:tc>
                  <a:txBody>
                    <a:bodyPr/>
                    <a:lstStyle/>
                    <a:p>
                      <a:pPr marL="2540" algn="ctr">
                        <a:lnSpc>
                          <a:spcPct val="100000"/>
                        </a:lnSpc>
                        <a:spcBef>
                          <a:spcPts val="305"/>
                        </a:spcBef>
                      </a:pPr>
                      <a:r>
                        <a:rPr sz="800" dirty="0">
                          <a:latin typeface="Carlito"/>
                          <a:cs typeface="Carlito"/>
                        </a:rPr>
                        <a:t>1</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305"/>
                        </a:spcBef>
                      </a:pPr>
                      <a:r>
                        <a:rPr sz="800" dirty="0">
                          <a:latin typeface="Carlito"/>
                          <a:cs typeface="Carlito"/>
                        </a:rPr>
                        <a:t>1.0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305"/>
                        </a:spcBef>
                      </a:pPr>
                      <a:r>
                        <a:rPr sz="800" dirty="0">
                          <a:latin typeface="Carlito"/>
                          <a:cs typeface="Carlito"/>
                        </a:rPr>
                        <a:t>1.0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213360">
                <a:tc>
                  <a:txBody>
                    <a:bodyPr/>
                    <a:lstStyle/>
                    <a:p>
                      <a:pPr marL="2540" algn="ctr">
                        <a:lnSpc>
                          <a:spcPct val="100000"/>
                        </a:lnSpc>
                        <a:spcBef>
                          <a:spcPts val="305"/>
                        </a:spcBef>
                      </a:pPr>
                      <a:r>
                        <a:rPr sz="800" dirty="0">
                          <a:latin typeface="Carlito"/>
                          <a:cs typeface="Carlito"/>
                        </a:rPr>
                        <a:t>2</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05"/>
                        </a:spcBef>
                      </a:pPr>
                      <a:r>
                        <a:rPr sz="800" dirty="0">
                          <a:latin typeface="Carlito"/>
                          <a:cs typeface="Carlito"/>
                        </a:rPr>
                        <a:t>1.5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305"/>
                        </a:spcBef>
                      </a:pPr>
                      <a:r>
                        <a:rPr sz="800" dirty="0">
                          <a:latin typeface="Carlito"/>
                          <a:cs typeface="Carlito"/>
                        </a:rPr>
                        <a:t>2.0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213360">
                <a:tc>
                  <a:txBody>
                    <a:bodyPr/>
                    <a:lstStyle/>
                    <a:p>
                      <a:pPr marL="2540" algn="ctr">
                        <a:lnSpc>
                          <a:spcPct val="100000"/>
                        </a:lnSpc>
                        <a:spcBef>
                          <a:spcPts val="305"/>
                        </a:spcBef>
                      </a:pPr>
                      <a:r>
                        <a:rPr sz="800" dirty="0">
                          <a:latin typeface="Carlito"/>
                          <a:cs typeface="Carlito"/>
                        </a:rPr>
                        <a:t>3</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305"/>
                        </a:spcBef>
                      </a:pPr>
                      <a:r>
                        <a:rPr sz="800" dirty="0">
                          <a:latin typeface="Carlito"/>
                          <a:cs typeface="Carlito"/>
                        </a:rPr>
                        <a:t>3.0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305"/>
                        </a:spcBef>
                      </a:pPr>
                      <a:r>
                        <a:rPr sz="800" dirty="0">
                          <a:latin typeface="Carlito"/>
                          <a:cs typeface="Carlito"/>
                        </a:rPr>
                        <a:t>4.0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213360">
                <a:tc>
                  <a:txBody>
                    <a:bodyPr/>
                    <a:lstStyle/>
                    <a:p>
                      <a:pPr marL="2540" algn="ctr">
                        <a:lnSpc>
                          <a:spcPct val="100000"/>
                        </a:lnSpc>
                        <a:spcBef>
                          <a:spcPts val="305"/>
                        </a:spcBef>
                      </a:pPr>
                      <a:r>
                        <a:rPr sz="800" dirty="0">
                          <a:latin typeface="Carlito"/>
                          <a:cs typeface="Carlito"/>
                        </a:rPr>
                        <a:t>4</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05"/>
                        </a:spcBef>
                      </a:pPr>
                      <a:r>
                        <a:rPr sz="800" dirty="0">
                          <a:latin typeface="Carlito"/>
                          <a:cs typeface="Carlito"/>
                        </a:rPr>
                        <a:t>5.0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305"/>
                        </a:spcBef>
                      </a:pPr>
                      <a:r>
                        <a:rPr sz="800" dirty="0">
                          <a:latin typeface="Carlito"/>
                          <a:cs typeface="Carlito"/>
                        </a:rPr>
                        <a:t>7.0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204469">
                <a:tc>
                  <a:txBody>
                    <a:bodyPr/>
                    <a:lstStyle/>
                    <a:p>
                      <a:pPr marL="2540" algn="ctr">
                        <a:lnSpc>
                          <a:spcPct val="100000"/>
                        </a:lnSpc>
                        <a:spcBef>
                          <a:spcPts val="305"/>
                        </a:spcBef>
                      </a:pPr>
                      <a:r>
                        <a:rPr sz="800" dirty="0">
                          <a:latin typeface="Carlito"/>
                          <a:cs typeface="Carlito"/>
                        </a:rPr>
                        <a:t>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C0504D"/>
                      </a:solidFill>
                      <a:prstDash val="solid"/>
                    </a:lnB>
                    <a:solidFill>
                      <a:srgbClr val="D0D7E8"/>
                    </a:solidFill>
                  </a:tcPr>
                </a:tc>
                <a:tc>
                  <a:txBody>
                    <a:bodyPr/>
                    <a:lstStyle/>
                    <a:p>
                      <a:pPr marL="1270" algn="ctr">
                        <a:lnSpc>
                          <a:spcPct val="100000"/>
                        </a:lnSpc>
                        <a:spcBef>
                          <a:spcPts val="305"/>
                        </a:spcBef>
                      </a:pPr>
                      <a:r>
                        <a:rPr sz="800" dirty="0">
                          <a:latin typeface="Carlito"/>
                          <a:cs typeface="Carlito"/>
                        </a:rPr>
                        <a:t>3.5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C0504D"/>
                      </a:solidFill>
                      <a:prstDash val="solid"/>
                    </a:lnB>
                    <a:solidFill>
                      <a:srgbClr val="D0D7E8"/>
                    </a:solidFill>
                  </a:tcPr>
                </a:tc>
                <a:tc>
                  <a:txBody>
                    <a:bodyPr/>
                    <a:lstStyle/>
                    <a:p>
                      <a:pPr marL="1905" algn="ctr">
                        <a:lnSpc>
                          <a:spcPct val="100000"/>
                        </a:lnSpc>
                        <a:spcBef>
                          <a:spcPts val="305"/>
                        </a:spcBef>
                      </a:pPr>
                      <a:r>
                        <a:rPr sz="800" dirty="0">
                          <a:latin typeface="Carlito"/>
                          <a:cs typeface="Carlito"/>
                        </a:rPr>
                        <a:t>5.0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C0504D"/>
                      </a:solidFill>
                      <a:prstDash val="solid"/>
                    </a:lnB>
                    <a:solidFill>
                      <a:srgbClr val="D0D7E8"/>
                    </a:solidFill>
                  </a:tcPr>
                </a:tc>
                <a:extLst>
                  <a:ext uri="{0D108BD9-81ED-4DB2-BD59-A6C34878D82A}">
                    <a16:rowId xmlns:a16="http://schemas.microsoft.com/office/drawing/2014/main" val="10005"/>
                  </a:ext>
                </a:extLst>
              </a:tr>
              <a:tr h="200406">
                <a:tc>
                  <a:txBody>
                    <a:bodyPr/>
                    <a:lstStyle/>
                    <a:p>
                      <a:pPr marL="2540" algn="ctr">
                        <a:lnSpc>
                          <a:spcPct val="100000"/>
                        </a:lnSpc>
                        <a:spcBef>
                          <a:spcPts val="375"/>
                        </a:spcBef>
                      </a:pPr>
                      <a:r>
                        <a:rPr sz="800" dirty="0">
                          <a:latin typeface="Carlito"/>
                          <a:cs typeface="Carlito"/>
                        </a:rPr>
                        <a:t>6</a:t>
                      </a:r>
                      <a:endParaRPr sz="800">
                        <a:latin typeface="Carlito"/>
                        <a:cs typeface="Carlito"/>
                      </a:endParaRPr>
                    </a:p>
                  </a:txBody>
                  <a:tcPr marL="0" marR="0" marT="47625" marB="0">
                    <a:lnL w="28575">
                      <a:solidFill>
                        <a:srgbClr val="C0504D"/>
                      </a:solidFill>
                      <a:prstDash val="solid"/>
                    </a:lnL>
                    <a:lnR w="12700">
                      <a:solidFill>
                        <a:srgbClr val="FFFFFF"/>
                      </a:solidFill>
                      <a:prstDash val="solid"/>
                    </a:lnR>
                    <a:lnT w="38100">
                      <a:solidFill>
                        <a:srgbClr val="C0504D"/>
                      </a:solidFill>
                      <a:prstDash val="solid"/>
                    </a:lnT>
                    <a:lnB w="28575">
                      <a:solidFill>
                        <a:srgbClr val="C0504D"/>
                      </a:solidFill>
                      <a:prstDash val="solid"/>
                    </a:lnB>
                    <a:solidFill>
                      <a:srgbClr val="E9ECF4"/>
                    </a:solidFill>
                  </a:tcPr>
                </a:tc>
                <a:tc>
                  <a:txBody>
                    <a:bodyPr/>
                    <a:lstStyle/>
                    <a:p>
                      <a:pPr marL="1270" algn="ctr">
                        <a:lnSpc>
                          <a:spcPct val="100000"/>
                        </a:lnSpc>
                        <a:spcBef>
                          <a:spcPts val="375"/>
                        </a:spcBef>
                      </a:pPr>
                      <a:r>
                        <a:rPr sz="800" dirty="0">
                          <a:latin typeface="Carlito"/>
                          <a:cs typeface="Carlito"/>
                        </a:rPr>
                        <a:t>4.5</a:t>
                      </a:r>
                      <a:endParaRPr sz="800">
                        <a:latin typeface="Carlito"/>
                        <a:cs typeface="Carlito"/>
                      </a:endParaRPr>
                    </a:p>
                  </a:txBody>
                  <a:tcPr marL="0" marR="0" marT="47625" marB="0">
                    <a:lnL w="12700">
                      <a:solidFill>
                        <a:srgbClr val="FFFFFF"/>
                      </a:solidFill>
                      <a:prstDash val="solid"/>
                    </a:lnL>
                    <a:lnR w="12700">
                      <a:solidFill>
                        <a:srgbClr val="FFFFFF"/>
                      </a:solidFill>
                      <a:prstDash val="solid"/>
                    </a:lnR>
                    <a:lnT w="38100">
                      <a:solidFill>
                        <a:srgbClr val="C0504D"/>
                      </a:solidFill>
                      <a:prstDash val="solid"/>
                    </a:lnT>
                    <a:lnB w="28575">
                      <a:solidFill>
                        <a:srgbClr val="C0504D"/>
                      </a:solidFill>
                      <a:prstDash val="solid"/>
                    </a:lnB>
                    <a:solidFill>
                      <a:srgbClr val="E9ECF4"/>
                    </a:solidFill>
                  </a:tcPr>
                </a:tc>
                <a:tc>
                  <a:txBody>
                    <a:bodyPr/>
                    <a:lstStyle/>
                    <a:p>
                      <a:pPr marL="1905" algn="ctr">
                        <a:lnSpc>
                          <a:spcPct val="100000"/>
                        </a:lnSpc>
                        <a:spcBef>
                          <a:spcPts val="375"/>
                        </a:spcBef>
                      </a:pPr>
                      <a:r>
                        <a:rPr sz="800" dirty="0">
                          <a:latin typeface="Carlito"/>
                          <a:cs typeface="Carlito"/>
                        </a:rPr>
                        <a:t>5.0</a:t>
                      </a:r>
                      <a:endParaRPr sz="800">
                        <a:latin typeface="Carlito"/>
                        <a:cs typeface="Carlito"/>
                      </a:endParaRPr>
                    </a:p>
                  </a:txBody>
                  <a:tcPr marL="0" marR="0" marT="47625" marB="0">
                    <a:lnL w="12700">
                      <a:solidFill>
                        <a:srgbClr val="FFFFFF"/>
                      </a:solidFill>
                      <a:prstDash val="solid"/>
                    </a:lnL>
                    <a:lnR w="28575">
                      <a:solidFill>
                        <a:srgbClr val="C0504D"/>
                      </a:solidFill>
                      <a:prstDash val="solid"/>
                    </a:lnR>
                    <a:lnT w="38100">
                      <a:solidFill>
                        <a:srgbClr val="C0504D"/>
                      </a:solidFill>
                      <a:prstDash val="solid"/>
                    </a:lnT>
                    <a:lnB w="28575">
                      <a:solidFill>
                        <a:srgbClr val="C0504D"/>
                      </a:solidFill>
                      <a:prstDash val="solid"/>
                    </a:lnB>
                    <a:solidFill>
                      <a:srgbClr val="E9ECF4"/>
                    </a:solidFill>
                  </a:tcPr>
                </a:tc>
                <a:extLst>
                  <a:ext uri="{0D108BD9-81ED-4DB2-BD59-A6C34878D82A}">
                    <a16:rowId xmlns:a16="http://schemas.microsoft.com/office/drawing/2014/main" val="10006"/>
                  </a:ext>
                </a:extLst>
              </a:tr>
              <a:tr h="235204">
                <a:tc>
                  <a:txBody>
                    <a:bodyPr/>
                    <a:lstStyle/>
                    <a:p>
                      <a:pPr marL="2540" algn="ctr">
                        <a:lnSpc>
                          <a:spcPct val="100000"/>
                        </a:lnSpc>
                        <a:spcBef>
                          <a:spcPts val="480"/>
                        </a:spcBef>
                      </a:pPr>
                      <a:r>
                        <a:rPr sz="800" dirty="0">
                          <a:latin typeface="Carlito"/>
                          <a:cs typeface="Carlito"/>
                        </a:rPr>
                        <a:t>7</a:t>
                      </a:r>
                      <a:endParaRPr sz="800">
                        <a:latin typeface="Carlito"/>
                        <a:cs typeface="Carlito"/>
                      </a:endParaRPr>
                    </a:p>
                  </a:txBody>
                  <a:tcPr marL="0" marR="0" marT="60960" marB="0">
                    <a:lnL w="12700">
                      <a:solidFill>
                        <a:srgbClr val="FFFFFF"/>
                      </a:solidFill>
                      <a:prstDash val="solid"/>
                    </a:lnL>
                    <a:lnR w="12700">
                      <a:solidFill>
                        <a:srgbClr val="FFFFFF"/>
                      </a:solidFill>
                      <a:prstDash val="solid"/>
                    </a:lnR>
                    <a:lnT w="28575">
                      <a:solidFill>
                        <a:srgbClr val="C0504D"/>
                      </a:solidFill>
                      <a:prstDash val="solid"/>
                    </a:lnT>
                    <a:lnB w="12700">
                      <a:solidFill>
                        <a:srgbClr val="FFFFFF"/>
                      </a:solidFill>
                      <a:prstDash val="solid"/>
                    </a:lnB>
                    <a:solidFill>
                      <a:srgbClr val="D0D7E8"/>
                    </a:solidFill>
                  </a:tcPr>
                </a:tc>
                <a:tc>
                  <a:txBody>
                    <a:bodyPr/>
                    <a:lstStyle/>
                    <a:p>
                      <a:pPr marL="1270" algn="ctr">
                        <a:lnSpc>
                          <a:spcPct val="100000"/>
                        </a:lnSpc>
                        <a:spcBef>
                          <a:spcPts val="480"/>
                        </a:spcBef>
                      </a:pPr>
                      <a:r>
                        <a:rPr sz="800" dirty="0">
                          <a:latin typeface="Carlito"/>
                          <a:cs typeface="Carlito"/>
                        </a:rPr>
                        <a:t>3.5</a:t>
                      </a:r>
                      <a:endParaRPr sz="800">
                        <a:latin typeface="Carlito"/>
                        <a:cs typeface="Carlito"/>
                      </a:endParaRPr>
                    </a:p>
                  </a:txBody>
                  <a:tcPr marL="0" marR="0" marT="60960" marB="0">
                    <a:lnL w="12700">
                      <a:solidFill>
                        <a:srgbClr val="FFFFFF"/>
                      </a:solidFill>
                      <a:prstDash val="solid"/>
                    </a:lnL>
                    <a:lnR w="12700">
                      <a:solidFill>
                        <a:srgbClr val="FFFFFF"/>
                      </a:solidFill>
                      <a:prstDash val="solid"/>
                    </a:lnR>
                    <a:lnT w="28575">
                      <a:solidFill>
                        <a:srgbClr val="C0504D"/>
                      </a:solidFill>
                      <a:prstDash val="solid"/>
                    </a:lnT>
                    <a:lnB w="12700">
                      <a:solidFill>
                        <a:srgbClr val="FFFFFF"/>
                      </a:solidFill>
                      <a:prstDash val="solid"/>
                    </a:lnB>
                    <a:solidFill>
                      <a:srgbClr val="D0D7E8"/>
                    </a:solidFill>
                  </a:tcPr>
                </a:tc>
                <a:tc>
                  <a:txBody>
                    <a:bodyPr/>
                    <a:lstStyle/>
                    <a:p>
                      <a:pPr marL="1905" algn="ctr">
                        <a:lnSpc>
                          <a:spcPct val="100000"/>
                        </a:lnSpc>
                        <a:spcBef>
                          <a:spcPts val="480"/>
                        </a:spcBef>
                      </a:pPr>
                      <a:r>
                        <a:rPr sz="800" dirty="0">
                          <a:latin typeface="Carlito"/>
                          <a:cs typeface="Carlito"/>
                        </a:rPr>
                        <a:t>4.5</a:t>
                      </a:r>
                      <a:endParaRPr sz="800">
                        <a:latin typeface="Carlito"/>
                        <a:cs typeface="Carlito"/>
                      </a:endParaRPr>
                    </a:p>
                  </a:txBody>
                  <a:tcPr marL="0" marR="0" marT="60960" marB="0">
                    <a:lnL w="12700">
                      <a:solidFill>
                        <a:srgbClr val="FFFFFF"/>
                      </a:solidFill>
                      <a:prstDash val="solid"/>
                    </a:lnL>
                    <a:lnR w="12700">
                      <a:solidFill>
                        <a:srgbClr val="FFFFFF"/>
                      </a:solidFill>
                      <a:prstDash val="solid"/>
                    </a:lnR>
                    <a:lnT w="28575">
                      <a:solidFill>
                        <a:srgbClr val="C0504D"/>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7"/>
                  </a:ext>
                </a:extLst>
              </a:tr>
            </a:tbl>
          </a:graphicData>
        </a:graphic>
      </p:graphicFrame>
      <p:sp>
        <p:nvSpPr>
          <p:cNvPr id="7" name="object 7"/>
          <p:cNvSpPr/>
          <p:nvPr/>
        </p:nvSpPr>
        <p:spPr>
          <a:xfrm>
            <a:off x="4592192" y="3844290"/>
            <a:ext cx="452882" cy="54863"/>
          </a:xfrm>
          <a:prstGeom prst="rect">
            <a:avLst/>
          </a:prstGeom>
          <a:blipFill>
            <a:blip r:embed="rId3" cstate="print"/>
            <a:stretch>
              <a:fillRect/>
            </a:stretch>
          </a:blipFill>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48</a:t>
            </a:fld>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40279" y="3809238"/>
            <a:ext cx="73152" cy="73152"/>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2855976" y="3464814"/>
            <a:ext cx="73152" cy="73152"/>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4703064" y="2775966"/>
            <a:ext cx="73152" cy="73152"/>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7165847" y="1744217"/>
            <a:ext cx="73151" cy="73152"/>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5318759" y="2433066"/>
            <a:ext cx="73151" cy="73152"/>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6550152" y="2433066"/>
            <a:ext cx="73151" cy="73152"/>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5318759" y="2567939"/>
            <a:ext cx="164591" cy="108966"/>
          </a:xfrm>
          <a:prstGeom prst="rect">
            <a:avLst/>
          </a:prstGeom>
          <a:blipFill>
            <a:blip r:embed="rId5" cstate="print"/>
            <a:stretch>
              <a:fillRect/>
            </a:stretch>
          </a:blipFill>
        </p:spPr>
        <p:txBody>
          <a:bodyPr wrap="square" lIns="0" tIns="0" rIns="0" bIns="0" rtlCol="0"/>
          <a:lstStyle/>
          <a:p>
            <a:endParaRPr/>
          </a:p>
        </p:txBody>
      </p:sp>
      <p:graphicFrame>
        <p:nvGraphicFramePr>
          <p:cNvPr id="9" name="object 9"/>
          <p:cNvGraphicFramePr>
            <a:graphicFrameLocks noGrp="1"/>
          </p:cNvGraphicFramePr>
          <p:nvPr/>
        </p:nvGraphicFramePr>
        <p:xfrm>
          <a:off x="1042416" y="1432560"/>
          <a:ext cx="7386317" cy="2752342"/>
        </p:xfrm>
        <a:graphic>
          <a:graphicData uri="http://schemas.openxmlformats.org/drawingml/2006/table">
            <a:tbl>
              <a:tblPr firstRow="1" bandRow="1">
                <a:tableStyleId>{2D5ABB26-0587-4C30-8999-92F81FD0307C}</a:tableStyleId>
              </a:tblPr>
              <a:tblGrid>
                <a:gridCol w="1229995">
                  <a:extLst>
                    <a:ext uri="{9D8B030D-6E8A-4147-A177-3AD203B41FA5}">
                      <a16:colId xmlns:a16="http://schemas.microsoft.com/office/drawing/2014/main" val="20000"/>
                    </a:ext>
                  </a:extLst>
                </a:gridCol>
                <a:gridCol w="1231265">
                  <a:extLst>
                    <a:ext uri="{9D8B030D-6E8A-4147-A177-3AD203B41FA5}">
                      <a16:colId xmlns:a16="http://schemas.microsoft.com/office/drawing/2014/main" val="20001"/>
                    </a:ext>
                  </a:extLst>
                </a:gridCol>
                <a:gridCol w="1231264">
                  <a:extLst>
                    <a:ext uri="{9D8B030D-6E8A-4147-A177-3AD203B41FA5}">
                      <a16:colId xmlns:a16="http://schemas.microsoft.com/office/drawing/2014/main" val="20002"/>
                    </a:ext>
                  </a:extLst>
                </a:gridCol>
                <a:gridCol w="1231264">
                  <a:extLst>
                    <a:ext uri="{9D8B030D-6E8A-4147-A177-3AD203B41FA5}">
                      <a16:colId xmlns:a16="http://schemas.microsoft.com/office/drawing/2014/main" val="20003"/>
                    </a:ext>
                  </a:extLst>
                </a:gridCol>
                <a:gridCol w="1231264">
                  <a:extLst>
                    <a:ext uri="{9D8B030D-6E8A-4147-A177-3AD203B41FA5}">
                      <a16:colId xmlns:a16="http://schemas.microsoft.com/office/drawing/2014/main" val="20004"/>
                    </a:ext>
                  </a:extLst>
                </a:gridCol>
                <a:gridCol w="1231265">
                  <a:extLst>
                    <a:ext uri="{9D8B030D-6E8A-4147-A177-3AD203B41FA5}">
                      <a16:colId xmlns:a16="http://schemas.microsoft.com/office/drawing/2014/main" val="20005"/>
                    </a:ext>
                  </a:extLst>
                </a:gridCol>
              </a:tblGrid>
              <a:tr h="344423">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spcBef>
                          <a:spcPts val="5"/>
                        </a:spcBef>
                      </a:pPr>
                      <a:endParaRPr sz="750">
                        <a:latin typeface="Times New Roman"/>
                        <a:cs typeface="Times New Roman"/>
                      </a:endParaRPr>
                    </a:p>
                    <a:p>
                      <a:pPr>
                        <a:lnSpc>
                          <a:spcPct val="100000"/>
                        </a:lnSpc>
                      </a:pPr>
                      <a:r>
                        <a:rPr sz="900" dirty="0">
                          <a:solidFill>
                            <a:srgbClr val="404040"/>
                          </a:solidFill>
                          <a:latin typeface="Carlito"/>
                          <a:cs typeface="Carlito"/>
                        </a:rPr>
                        <a:t>4</a:t>
                      </a:r>
                      <a:endParaRPr sz="900">
                        <a:latin typeface="Carlito"/>
                        <a:cs typeface="Carlito"/>
                      </a:endParaRPr>
                    </a:p>
                  </a:txBody>
                  <a:tcPr marL="0" marR="0" marT="635"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0"/>
                  </a:ext>
                </a:extLst>
              </a:tr>
              <a:tr h="344424">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1"/>
                  </a:ext>
                </a:extLst>
              </a:tr>
              <a:tr h="344424">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750">
                        <a:latin typeface="Times New Roman"/>
                        <a:cs typeface="Times New Roman"/>
                      </a:endParaRPr>
                    </a:p>
                    <a:p>
                      <a:pPr marL="1270" algn="ctr">
                        <a:lnSpc>
                          <a:spcPct val="100000"/>
                        </a:lnSpc>
                      </a:pPr>
                      <a:r>
                        <a:rPr sz="900" dirty="0">
                          <a:solidFill>
                            <a:srgbClr val="404040"/>
                          </a:solidFill>
                          <a:latin typeface="Carlito"/>
                          <a:cs typeface="Carlito"/>
                        </a:rPr>
                        <a:t>5</a:t>
                      </a:r>
                      <a:endParaRPr sz="900">
                        <a:latin typeface="Carlito"/>
                        <a:cs typeface="Carlito"/>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750">
                        <a:latin typeface="Times New Roman"/>
                        <a:cs typeface="Times New Roman"/>
                      </a:endParaRPr>
                    </a:p>
                    <a:p>
                      <a:pPr marL="1270" algn="ctr">
                        <a:lnSpc>
                          <a:spcPct val="100000"/>
                        </a:lnSpc>
                      </a:pPr>
                      <a:r>
                        <a:rPr sz="900" dirty="0">
                          <a:solidFill>
                            <a:srgbClr val="404040"/>
                          </a:solidFill>
                          <a:latin typeface="Carlito"/>
                          <a:cs typeface="Carlito"/>
                        </a:rPr>
                        <a:t>6</a:t>
                      </a:r>
                      <a:endParaRPr sz="900">
                        <a:latin typeface="Carlito"/>
                        <a:cs typeface="Carlito"/>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2"/>
                  </a:ext>
                </a:extLst>
              </a:tr>
              <a:tr h="342900">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77875">
                        <a:lnSpc>
                          <a:spcPts val="869"/>
                        </a:lnSpc>
                        <a:spcBef>
                          <a:spcPts val="209"/>
                        </a:spcBef>
                      </a:pPr>
                      <a:r>
                        <a:rPr sz="900" dirty="0">
                          <a:solidFill>
                            <a:srgbClr val="404040"/>
                          </a:solidFill>
                          <a:latin typeface="Carlito"/>
                          <a:cs typeface="Carlito"/>
                        </a:rPr>
                        <a:t>7</a:t>
                      </a:r>
                      <a:endParaRPr sz="900">
                        <a:latin typeface="Carlito"/>
                        <a:cs typeface="Carlito"/>
                      </a:endParaRPr>
                    </a:p>
                    <a:p>
                      <a:pPr>
                        <a:lnSpc>
                          <a:spcPts val="869"/>
                        </a:lnSpc>
                      </a:pPr>
                      <a:r>
                        <a:rPr sz="900" dirty="0">
                          <a:solidFill>
                            <a:srgbClr val="404040"/>
                          </a:solidFill>
                          <a:latin typeface="Carlito"/>
                          <a:cs typeface="Carlito"/>
                        </a:rPr>
                        <a:t>3</a:t>
                      </a:r>
                      <a:endParaRPr sz="900">
                        <a:latin typeface="Carlito"/>
                        <a:cs typeface="Carlito"/>
                      </a:endParaRPr>
                    </a:p>
                  </a:txBody>
                  <a:tcPr marL="0" marR="0" marT="26669"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3"/>
                  </a:ext>
                </a:extLst>
              </a:tr>
              <a:tr h="344423">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4"/>
                  </a:ext>
                </a:extLst>
              </a:tr>
              <a:tr h="344424">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spcBef>
                          <a:spcPts val="5"/>
                        </a:spcBef>
                      </a:pPr>
                      <a:endParaRPr sz="750">
                        <a:latin typeface="Times New Roman"/>
                        <a:cs typeface="Times New Roman"/>
                      </a:endParaRPr>
                    </a:p>
                    <a:p>
                      <a:pPr marL="1270" algn="ctr">
                        <a:lnSpc>
                          <a:spcPct val="100000"/>
                        </a:lnSpc>
                      </a:pPr>
                      <a:r>
                        <a:rPr sz="900" dirty="0">
                          <a:solidFill>
                            <a:srgbClr val="404040"/>
                          </a:solidFill>
                          <a:latin typeface="Carlito"/>
                          <a:cs typeface="Carlito"/>
                        </a:rPr>
                        <a:t>2</a:t>
                      </a:r>
                      <a:endParaRPr sz="900">
                        <a:latin typeface="Carlito"/>
                        <a:cs typeface="Carlito"/>
                      </a:endParaRPr>
                    </a:p>
                  </a:txBody>
                  <a:tcPr marL="0" marR="0" marT="635"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5"/>
                  </a:ext>
                </a:extLst>
              </a:tr>
              <a:tr h="344424">
                <a:tc>
                  <a:txBody>
                    <a:bodyPr/>
                    <a:lstStyle/>
                    <a:p>
                      <a:pPr>
                        <a:lnSpc>
                          <a:spcPct val="100000"/>
                        </a:lnSpc>
                        <a:spcBef>
                          <a:spcPts val="35"/>
                        </a:spcBef>
                      </a:pPr>
                      <a:endParaRPr sz="900">
                        <a:latin typeface="Times New Roman"/>
                        <a:cs typeface="Times New Roman"/>
                      </a:endParaRPr>
                    </a:p>
                    <a:p>
                      <a:pPr marR="69850" algn="r">
                        <a:lnSpc>
                          <a:spcPct val="100000"/>
                        </a:lnSpc>
                      </a:pPr>
                      <a:r>
                        <a:rPr sz="900" dirty="0">
                          <a:solidFill>
                            <a:srgbClr val="404040"/>
                          </a:solidFill>
                          <a:latin typeface="Carlito"/>
                          <a:cs typeface="Carlito"/>
                        </a:rPr>
                        <a:t>1</a:t>
                      </a:r>
                      <a:endParaRPr sz="900">
                        <a:latin typeface="Carlito"/>
                        <a:cs typeface="Carlito"/>
                      </a:endParaRPr>
                    </a:p>
                  </a:txBody>
                  <a:tcPr marL="0" marR="0" marT="4445"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6"/>
                  </a:ext>
                </a:extLst>
              </a:tr>
              <a:tr h="342900">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BEBEBE"/>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BEBEBE"/>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BEBEBE"/>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BEBEBE"/>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BEBEBE"/>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BEBEBE"/>
                      </a:solidFill>
                      <a:prstDash val="solid"/>
                    </a:lnB>
                  </a:tcPr>
                </a:tc>
                <a:extLst>
                  <a:ext uri="{0D108BD9-81ED-4DB2-BD59-A6C34878D82A}">
                    <a16:rowId xmlns:a16="http://schemas.microsoft.com/office/drawing/2014/main" val="10007"/>
                  </a:ext>
                </a:extLst>
              </a:tr>
            </a:tbl>
          </a:graphicData>
        </a:graphic>
      </p:graphicFrame>
      <p:sp>
        <p:nvSpPr>
          <p:cNvPr id="10" name="object 10"/>
          <p:cNvSpPr txBox="1"/>
          <p:nvPr/>
        </p:nvSpPr>
        <p:spPr>
          <a:xfrm>
            <a:off x="725220" y="1687448"/>
            <a:ext cx="228600" cy="257175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7.00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6.00</a:t>
            </a:r>
            <a:endParaRPr sz="900">
              <a:latin typeface="Carlito"/>
              <a:cs typeface="Carlito"/>
            </a:endParaRPr>
          </a:p>
          <a:p>
            <a:pPr>
              <a:lnSpc>
                <a:spcPct val="100000"/>
              </a:lnSpc>
              <a:spcBef>
                <a:spcPts val="45"/>
              </a:spcBef>
            </a:pPr>
            <a:endParaRPr sz="1300">
              <a:latin typeface="Carlito"/>
              <a:cs typeface="Carlito"/>
            </a:endParaRPr>
          </a:p>
          <a:p>
            <a:pPr marL="12700">
              <a:lnSpc>
                <a:spcPct val="100000"/>
              </a:lnSpc>
            </a:pPr>
            <a:r>
              <a:rPr sz="900" dirty="0">
                <a:solidFill>
                  <a:srgbClr val="585858"/>
                </a:solidFill>
                <a:latin typeface="Carlito"/>
                <a:cs typeface="Carlito"/>
              </a:rPr>
              <a:t>5.00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4.00</a:t>
            </a:r>
            <a:endParaRPr sz="900">
              <a:latin typeface="Carlito"/>
              <a:cs typeface="Carlito"/>
            </a:endParaRPr>
          </a:p>
          <a:p>
            <a:pPr>
              <a:lnSpc>
                <a:spcPct val="100000"/>
              </a:lnSpc>
              <a:spcBef>
                <a:spcPts val="45"/>
              </a:spcBef>
            </a:pPr>
            <a:endParaRPr sz="1300">
              <a:latin typeface="Carlito"/>
              <a:cs typeface="Carlito"/>
            </a:endParaRPr>
          </a:p>
          <a:p>
            <a:pPr marL="12700">
              <a:lnSpc>
                <a:spcPct val="100000"/>
              </a:lnSpc>
            </a:pPr>
            <a:r>
              <a:rPr sz="900" dirty="0">
                <a:solidFill>
                  <a:srgbClr val="585858"/>
                </a:solidFill>
                <a:latin typeface="Carlito"/>
                <a:cs typeface="Carlito"/>
              </a:rPr>
              <a:t>3.00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2.00</a:t>
            </a:r>
            <a:endParaRPr sz="900">
              <a:latin typeface="Carlito"/>
              <a:cs typeface="Carlito"/>
            </a:endParaRPr>
          </a:p>
          <a:p>
            <a:pPr>
              <a:lnSpc>
                <a:spcPct val="100000"/>
              </a:lnSpc>
              <a:spcBef>
                <a:spcPts val="45"/>
              </a:spcBef>
            </a:pPr>
            <a:endParaRPr sz="1300">
              <a:latin typeface="Carlito"/>
              <a:cs typeface="Carlito"/>
            </a:endParaRPr>
          </a:p>
          <a:p>
            <a:pPr marL="12700">
              <a:lnSpc>
                <a:spcPct val="100000"/>
              </a:lnSpc>
            </a:pPr>
            <a:r>
              <a:rPr sz="900" dirty="0">
                <a:solidFill>
                  <a:srgbClr val="585858"/>
                </a:solidFill>
                <a:latin typeface="Carlito"/>
                <a:cs typeface="Carlito"/>
              </a:rPr>
              <a:t>1.00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spcBef>
                <a:spcPts val="5"/>
              </a:spcBef>
            </a:pPr>
            <a:r>
              <a:rPr sz="900" dirty="0">
                <a:solidFill>
                  <a:srgbClr val="585858"/>
                </a:solidFill>
                <a:latin typeface="Carlito"/>
                <a:cs typeface="Carlito"/>
              </a:rPr>
              <a:t>0.00</a:t>
            </a:r>
            <a:endParaRPr sz="900">
              <a:latin typeface="Carlito"/>
              <a:cs typeface="Carlito"/>
            </a:endParaRPr>
          </a:p>
        </p:txBody>
      </p:sp>
      <p:sp>
        <p:nvSpPr>
          <p:cNvPr id="11" name="object 11"/>
          <p:cNvSpPr txBox="1"/>
          <p:nvPr/>
        </p:nvSpPr>
        <p:spPr>
          <a:xfrm>
            <a:off x="725220" y="1343405"/>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8.00</a:t>
            </a:r>
            <a:endParaRPr sz="900">
              <a:latin typeface="Carlito"/>
              <a:cs typeface="Carlito"/>
            </a:endParaRPr>
          </a:p>
        </p:txBody>
      </p:sp>
      <p:sp>
        <p:nvSpPr>
          <p:cNvPr id="12" name="object 12"/>
          <p:cNvSpPr txBox="1"/>
          <p:nvPr/>
        </p:nvSpPr>
        <p:spPr>
          <a:xfrm>
            <a:off x="932789" y="4244746"/>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0.00</a:t>
            </a:r>
            <a:endParaRPr sz="900">
              <a:latin typeface="Carlito"/>
              <a:cs typeface="Carlito"/>
            </a:endParaRPr>
          </a:p>
        </p:txBody>
      </p:sp>
      <p:sp>
        <p:nvSpPr>
          <p:cNvPr id="13" name="object 13"/>
          <p:cNvSpPr txBox="1"/>
          <p:nvPr/>
        </p:nvSpPr>
        <p:spPr>
          <a:xfrm>
            <a:off x="2163826" y="4244746"/>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1.00</a:t>
            </a:r>
            <a:endParaRPr sz="900">
              <a:latin typeface="Carlito"/>
              <a:cs typeface="Carlito"/>
            </a:endParaRPr>
          </a:p>
        </p:txBody>
      </p:sp>
      <p:sp>
        <p:nvSpPr>
          <p:cNvPr id="14" name="object 14"/>
          <p:cNvSpPr txBox="1"/>
          <p:nvPr/>
        </p:nvSpPr>
        <p:spPr>
          <a:xfrm>
            <a:off x="3395217" y="4244746"/>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2.00</a:t>
            </a:r>
            <a:endParaRPr sz="900">
              <a:latin typeface="Carlito"/>
              <a:cs typeface="Carlito"/>
            </a:endParaRPr>
          </a:p>
        </p:txBody>
      </p:sp>
      <p:sp>
        <p:nvSpPr>
          <p:cNvPr id="15" name="object 15"/>
          <p:cNvSpPr txBox="1"/>
          <p:nvPr/>
        </p:nvSpPr>
        <p:spPr>
          <a:xfrm>
            <a:off x="4626609" y="4244746"/>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3.00</a:t>
            </a:r>
            <a:endParaRPr sz="900">
              <a:latin typeface="Carlito"/>
              <a:cs typeface="Carlito"/>
            </a:endParaRPr>
          </a:p>
        </p:txBody>
      </p:sp>
      <p:sp>
        <p:nvSpPr>
          <p:cNvPr id="16" name="object 16"/>
          <p:cNvSpPr txBox="1"/>
          <p:nvPr/>
        </p:nvSpPr>
        <p:spPr>
          <a:xfrm>
            <a:off x="5858002" y="4244746"/>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4.00</a:t>
            </a:r>
            <a:endParaRPr sz="900">
              <a:latin typeface="Carlito"/>
              <a:cs typeface="Carlito"/>
            </a:endParaRPr>
          </a:p>
        </p:txBody>
      </p:sp>
      <p:sp>
        <p:nvSpPr>
          <p:cNvPr id="17" name="object 17"/>
          <p:cNvSpPr txBox="1"/>
          <p:nvPr/>
        </p:nvSpPr>
        <p:spPr>
          <a:xfrm>
            <a:off x="7089140" y="4244746"/>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5.00</a:t>
            </a:r>
            <a:endParaRPr sz="900">
              <a:latin typeface="Carlito"/>
              <a:cs typeface="Carlito"/>
            </a:endParaRPr>
          </a:p>
        </p:txBody>
      </p:sp>
      <p:sp>
        <p:nvSpPr>
          <p:cNvPr id="18" name="object 18"/>
          <p:cNvSpPr txBox="1"/>
          <p:nvPr/>
        </p:nvSpPr>
        <p:spPr>
          <a:xfrm>
            <a:off x="8320531" y="4244746"/>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6.00</a:t>
            </a:r>
            <a:endParaRPr sz="900">
              <a:latin typeface="Carlito"/>
              <a:cs typeface="Carlito"/>
            </a:endParaRPr>
          </a:p>
        </p:txBody>
      </p:sp>
      <p:sp>
        <p:nvSpPr>
          <p:cNvPr id="19" name="object 19"/>
          <p:cNvSpPr txBox="1"/>
          <p:nvPr/>
        </p:nvSpPr>
        <p:spPr>
          <a:xfrm>
            <a:off x="4201795" y="1273505"/>
            <a:ext cx="742950" cy="240029"/>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585858"/>
                </a:solidFill>
                <a:latin typeface="Carlito"/>
                <a:cs typeface="Carlito"/>
              </a:rPr>
              <a:t>Variable</a:t>
            </a:r>
            <a:r>
              <a:rPr sz="1400" spc="-85" dirty="0">
                <a:solidFill>
                  <a:srgbClr val="585858"/>
                </a:solidFill>
                <a:latin typeface="Carlito"/>
                <a:cs typeface="Carlito"/>
              </a:rPr>
              <a:t> </a:t>
            </a:r>
            <a:r>
              <a:rPr sz="1400" dirty="0">
                <a:solidFill>
                  <a:srgbClr val="585858"/>
                </a:solidFill>
                <a:latin typeface="Carlito"/>
                <a:cs typeface="Carlito"/>
              </a:rPr>
              <a:t>2</a:t>
            </a:r>
            <a:endParaRPr sz="1400">
              <a:latin typeface="Carlito"/>
              <a:cs typeface="Carlito"/>
            </a:endParaRPr>
          </a:p>
        </p:txBody>
      </p:sp>
      <p:sp>
        <p:nvSpPr>
          <p:cNvPr id="20" name="object 20"/>
          <p:cNvSpPr/>
          <p:nvPr/>
        </p:nvSpPr>
        <p:spPr>
          <a:xfrm>
            <a:off x="2102357" y="3195066"/>
            <a:ext cx="1207135" cy="944880"/>
          </a:xfrm>
          <a:custGeom>
            <a:avLst/>
            <a:gdLst/>
            <a:ahLst/>
            <a:cxnLst/>
            <a:rect l="l" t="t" r="r" b="b"/>
            <a:pathLst>
              <a:path w="1207135" h="944879">
                <a:moveTo>
                  <a:pt x="0" y="472439"/>
                </a:moveTo>
                <a:lnTo>
                  <a:pt x="2466" y="429428"/>
                </a:lnTo>
                <a:lnTo>
                  <a:pt x="9725" y="387501"/>
                </a:lnTo>
                <a:lnTo>
                  <a:pt x="21561" y="346824"/>
                </a:lnTo>
                <a:lnTo>
                  <a:pt x="37763" y="307564"/>
                </a:lnTo>
                <a:lnTo>
                  <a:pt x="58116" y="269888"/>
                </a:lnTo>
                <a:lnTo>
                  <a:pt x="82408" y="233962"/>
                </a:lnTo>
                <a:lnTo>
                  <a:pt x="110426" y="199952"/>
                </a:lnTo>
                <a:lnTo>
                  <a:pt x="141955" y="168026"/>
                </a:lnTo>
                <a:lnTo>
                  <a:pt x="176784" y="138350"/>
                </a:lnTo>
                <a:lnTo>
                  <a:pt x="214697" y="111091"/>
                </a:lnTo>
                <a:lnTo>
                  <a:pt x="255484" y="86414"/>
                </a:lnTo>
                <a:lnTo>
                  <a:pt x="298929" y="64487"/>
                </a:lnTo>
                <a:lnTo>
                  <a:pt x="344821" y="45477"/>
                </a:lnTo>
                <a:lnTo>
                  <a:pt x="392945" y="29549"/>
                </a:lnTo>
                <a:lnTo>
                  <a:pt x="443088" y="16871"/>
                </a:lnTo>
                <a:lnTo>
                  <a:pt x="495038" y="7609"/>
                </a:lnTo>
                <a:lnTo>
                  <a:pt x="548581" y="1930"/>
                </a:lnTo>
                <a:lnTo>
                  <a:pt x="603504" y="0"/>
                </a:lnTo>
                <a:lnTo>
                  <a:pt x="658426" y="1930"/>
                </a:lnTo>
                <a:lnTo>
                  <a:pt x="711969" y="7609"/>
                </a:lnTo>
                <a:lnTo>
                  <a:pt x="763919" y="16871"/>
                </a:lnTo>
                <a:lnTo>
                  <a:pt x="814062" y="29549"/>
                </a:lnTo>
                <a:lnTo>
                  <a:pt x="862186" y="45477"/>
                </a:lnTo>
                <a:lnTo>
                  <a:pt x="908078" y="64487"/>
                </a:lnTo>
                <a:lnTo>
                  <a:pt x="951523" y="86414"/>
                </a:lnTo>
                <a:lnTo>
                  <a:pt x="992310" y="111091"/>
                </a:lnTo>
                <a:lnTo>
                  <a:pt x="1030224" y="138350"/>
                </a:lnTo>
                <a:lnTo>
                  <a:pt x="1065052" y="168026"/>
                </a:lnTo>
                <a:lnTo>
                  <a:pt x="1096581" y="199952"/>
                </a:lnTo>
                <a:lnTo>
                  <a:pt x="1124599" y="233962"/>
                </a:lnTo>
                <a:lnTo>
                  <a:pt x="1148891" y="269888"/>
                </a:lnTo>
                <a:lnTo>
                  <a:pt x="1169244" y="307564"/>
                </a:lnTo>
                <a:lnTo>
                  <a:pt x="1185446" y="346824"/>
                </a:lnTo>
                <a:lnTo>
                  <a:pt x="1197282" y="387501"/>
                </a:lnTo>
                <a:lnTo>
                  <a:pt x="1204541" y="429428"/>
                </a:lnTo>
                <a:lnTo>
                  <a:pt x="1207008" y="472439"/>
                </a:lnTo>
                <a:lnTo>
                  <a:pt x="1204541" y="515441"/>
                </a:lnTo>
                <a:lnTo>
                  <a:pt x="1197282" y="557361"/>
                </a:lnTo>
                <a:lnTo>
                  <a:pt x="1185446" y="598033"/>
                </a:lnTo>
                <a:lnTo>
                  <a:pt x="1169244" y="637289"/>
                </a:lnTo>
                <a:lnTo>
                  <a:pt x="1148891" y="674964"/>
                </a:lnTo>
                <a:lnTo>
                  <a:pt x="1124599" y="710889"/>
                </a:lnTo>
                <a:lnTo>
                  <a:pt x="1096581" y="744899"/>
                </a:lnTo>
                <a:lnTo>
                  <a:pt x="1065052" y="776827"/>
                </a:lnTo>
                <a:lnTo>
                  <a:pt x="1030224" y="806505"/>
                </a:lnTo>
                <a:lnTo>
                  <a:pt x="992310" y="833768"/>
                </a:lnTo>
                <a:lnTo>
                  <a:pt x="951523" y="858447"/>
                </a:lnTo>
                <a:lnTo>
                  <a:pt x="908078" y="880378"/>
                </a:lnTo>
                <a:lnTo>
                  <a:pt x="862186" y="899392"/>
                </a:lnTo>
                <a:lnTo>
                  <a:pt x="814062" y="915322"/>
                </a:lnTo>
                <a:lnTo>
                  <a:pt x="763919" y="928003"/>
                </a:lnTo>
                <a:lnTo>
                  <a:pt x="711969" y="937268"/>
                </a:lnTo>
                <a:lnTo>
                  <a:pt x="658426" y="942949"/>
                </a:lnTo>
                <a:lnTo>
                  <a:pt x="603504" y="944879"/>
                </a:lnTo>
                <a:lnTo>
                  <a:pt x="548581" y="942949"/>
                </a:lnTo>
                <a:lnTo>
                  <a:pt x="495038" y="937268"/>
                </a:lnTo>
                <a:lnTo>
                  <a:pt x="443088" y="928003"/>
                </a:lnTo>
                <a:lnTo>
                  <a:pt x="392945" y="915322"/>
                </a:lnTo>
                <a:lnTo>
                  <a:pt x="344821" y="899392"/>
                </a:lnTo>
                <a:lnTo>
                  <a:pt x="298929" y="880378"/>
                </a:lnTo>
                <a:lnTo>
                  <a:pt x="255484" y="858447"/>
                </a:lnTo>
                <a:lnTo>
                  <a:pt x="214697" y="833768"/>
                </a:lnTo>
                <a:lnTo>
                  <a:pt x="176783" y="806505"/>
                </a:lnTo>
                <a:lnTo>
                  <a:pt x="141955" y="776827"/>
                </a:lnTo>
                <a:lnTo>
                  <a:pt x="110426" y="744899"/>
                </a:lnTo>
                <a:lnTo>
                  <a:pt x="82408" y="710889"/>
                </a:lnTo>
                <a:lnTo>
                  <a:pt x="58116" y="674964"/>
                </a:lnTo>
                <a:lnTo>
                  <a:pt x="37763" y="637289"/>
                </a:lnTo>
                <a:lnTo>
                  <a:pt x="21561" y="598033"/>
                </a:lnTo>
                <a:lnTo>
                  <a:pt x="9725" y="557361"/>
                </a:lnTo>
                <a:lnTo>
                  <a:pt x="2466" y="515441"/>
                </a:lnTo>
                <a:lnTo>
                  <a:pt x="0" y="472439"/>
                </a:lnTo>
                <a:close/>
              </a:path>
            </a:pathLst>
          </a:custGeom>
          <a:ln w="25908">
            <a:solidFill>
              <a:srgbClr val="8B3836"/>
            </a:solidFill>
          </a:ln>
        </p:spPr>
        <p:txBody>
          <a:bodyPr wrap="square" lIns="0" tIns="0" rIns="0" bIns="0" rtlCol="0"/>
          <a:lstStyle/>
          <a:p>
            <a:endParaRPr/>
          </a:p>
        </p:txBody>
      </p:sp>
      <p:grpSp>
        <p:nvGrpSpPr>
          <p:cNvPr id="21" name="object 21"/>
          <p:cNvGrpSpPr/>
          <p:nvPr/>
        </p:nvGrpSpPr>
        <p:grpSpPr>
          <a:xfrm>
            <a:off x="4599432" y="1642872"/>
            <a:ext cx="2776855" cy="1600200"/>
            <a:chOff x="4599432" y="1642872"/>
            <a:chExt cx="2776855" cy="1600200"/>
          </a:xfrm>
        </p:grpSpPr>
        <p:sp>
          <p:nvSpPr>
            <p:cNvPr id="22" name="object 22"/>
            <p:cNvSpPr/>
            <p:nvPr/>
          </p:nvSpPr>
          <p:spPr>
            <a:xfrm>
              <a:off x="4782312" y="2490228"/>
              <a:ext cx="481571" cy="399275"/>
            </a:xfrm>
            <a:prstGeom prst="rect">
              <a:avLst/>
            </a:prstGeom>
            <a:blipFill>
              <a:blip r:embed="rId6" cstate="print"/>
              <a:stretch>
                <a:fillRect/>
              </a:stretch>
            </a:blipFill>
          </p:spPr>
          <p:txBody>
            <a:bodyPr wrap="square" lIns="0" tIns="0" rIns="0" bIns="0" rtlCol="0"/>
            <a:lstStyle/>
            <a:p>
              <a:endParaRPr/>
            </a:p>
          </p:txBody>
        </p:sp>
        <p:sp>
          <p:nvSpPr>
            <p:cNvPr id="23" name="object 23"/>
            <p:cNvSpPr/>
            <p:nvPr/>
          </p:nvSpPr>
          <p:spPr>
            <a:xfrm>
              <a:off x="4836414" y="2529077"/>
              <a:ext cx="370840" cy="284480"/>
            </a:xfrm>
            <a:custGeom>
              <a:avLst/>
              <a:gdLst/>
              <a:ahLst/>
              <a:cxnLst/>
              <a:rect l="l" t="t" r="r" b="b"/>
              <a:pathLst>
                <a:path w="370839" h="284480">
                  <a:moveTo>
                    <a:pt x="0" y="284480"/>
                  </a:moveTo>
                  <a:lnTo>
                    <a:pt x="370332" y="0"/>
                  </a:lnTo>
                </a:path>
              </a:pathLst>
            </a:custGeom>
            <a:ln w="38100">
              <a:solidFill>
                <a:srgbClr val="4F81BC"/>
              </a:solidFill>
            </a:ln>
          </p:spPr>
          <p:txBody>
            <a:bodyPr wrap="square" lIns="0" tIns="0" rIns="0" bIns="0" rtlCol="0"/>
            <a:lstStyle/>
            <a:p>
              <a:endParaRPr/>
            </a:p>
          </p:txBody>
        </p:sp>
        <p:sp>
          <p:nvSpPr>
            <p:cNvPr id="24" name="object 24"/>
            <p:cNvSpPr/>
            <p:nvPr/>
          </p:nvSpPr>
          <p:spPr>
            <a:xfrm>
              <a:off x="4744212" y="2567965"/>
              <a:ext cx="1741932" cy="675106"/>
            </a:xfrm>
            <a:prstGeom prst="rect">
              <a:avLst/>
            </a:prstGeom>
            <a:blipFill>
              <a:blip r:embed="rId7" cstate="print"/>
              <a:stretch>
                <a:fillRect/>
              </a:stretch>
            </a:blipFill>
          </p:spPr>
          <p:txBody>
            <a:bodyPr wrap="square" lIns="0" tIns="0" rIns="0" bIns="0" rtlCol="0"/>
            <a:lstStyle/>
            <a:p>
              <a:endParaRPr/>
            </a:p>
          </p:txBody>
        </p:sp>
        <p:sp>
          <p:nvSpPr>
            <p:cNvPr id="25" name="object 25"/>
            <p:cNvSpPr/>
            <p:nvPr/>
          </p:nvSpPr>
          <p:spPr>
            <a:xfrm>
              <a:off x="4787646" y="2602230"/>
              <a:ext cx="1647825" cy="561340"/>
            </a:xfrm>
            <a:custGeom>
              <a:avLst/>
              <a:gdLst/>
              <a:ahLst/>
              <a:cxnLst/>
              <a:rect l="l" t="t" r="r" b="b"/>
              <a:pathLst>
                <a:path w="1647825" h="561339">
                  <a:moveTo>
                    <a:pt x="1647443" y="0"/>
                  </a:moveTo>
                  <a:lnTo>
                    <a:pt x="1609231" y="33276"/>
                  </a:lnTo>
                  <a:lnTo>
                    <a:pt x="1570974" y="66442"/>
                  </a:lnTo>
                  <a:lnTo>
                    <a:pt x="1532626" y="99386"/>
                  </a:lnTo>
                  <a:lnTo>
                    <a:pt x="1494139" y="131998"/>
                  </a:lnTo>
                  <a:lnTo>
                    <a:pt x="1455467" y="164167"/>
                  </a:lnTo>
                  <a:lnTo>
                    <a:pt x="1416562" y="195782"/>
                  </a:lnTo>
                  <a:lnTo>
                    <a:pt x="1377379" y="226732"/>
                  </a:lnTo>
                  <a:lnTo>
                    <a:pt x="1337869" y="256906"/>
                  </a:lnTo>
                  <a:lnTo>
                    <a:pt x="1297987" y="286194"/>
                  </a:lnTo>
                  <a:lnTo>
                    <a:pt x="1257685" y="314485"/>
                  </a:lnTo>
                  <a:lnTo>
                    <a:pt x="1216916" y="341668"/>
                  </a:lnTo>
                  <a:lnTo>
                    <a:pt x="1175634" y="367632"/>
                  </a:lnTo>
                  <a:lnTo>
                    <a:pt x="1133791" y="392266"/>
                  </a:lnTo>
                  <a:lnTo>
                    <a:pt x="1091340" y="415460"/>
                  </a:lnTo>
                  <a:lnTo>
                    <a:pt x="1048236" y="437103"/>
                  </a:lnTo>
                  <a:lnTo>
                    <a:pt x="1004430" y="457084"/>
                  </a:lnTo>
                  <a:lnTo>
                    <a:pt x="959876" y="475292"/>
                  </a:lnTo>
                  <a:lnTo>
                    <a:pt x="914526" y="491617"/>
                  </a:lnTo>
                  <a:lnTo>
                    <a:pt x="867552" y="505914"/>
                  </a:lnTo>
                  <a:lnTo>
                    <a:pt x="818374" y="518204"/>
                  </a:lnTo>
                  <a:lnTo>
                    <a:pt x="767321" y="528622"/>
                  </a:lnTo>
                  <a:lnTo>
                    <a:pt x="714720" y="537303"/>
                  </a:lnTo>
                  <a:lnTo>
                    <a:pt x="660902" y="544384"/>
                  </a:lnTo>
                  <a:lnTo>
                    <a:pt x="606194" y="549999"/>
                  </a:lnTo>
                  <a:lnTo>
                    <a:pt x="550926" y="554283"/>
                  </a:lnTo>
                  <a:lnTo>
                    <a:pt x="495426" y="557373"/>
                  </a:lnTo>
                  <a:lnTo>
                    <a:pt x="440023" y="559403"/>
                  </a:lnTo>
                  <a:lnTo>
                    <a:pt x="385045" y="560508"/>
                  </a:lnTo>
                  <a:lnTo>
                    <a:pt x="330822" y="560825"/>
                  </a:lnTo>
                  <a:lnTo>
                    <a:pt x="277683" y="560488"/>
                  </a:lnTo>
                  <a:lnTo>
                    <a:pt x="225955" y="559633"/>
                  </a:lnTo>
                  <a:lnTo>
                    <a:pt x="175967" y="558395"/>
                  </a:lnTo>
                  <a:lnTo>
                    <a:pt x="128050" y="556910"/>
                  </a:lnTo>
                  <a:lnTo>
                    <a:pt x="82530" y="555312"/>
                  </a:lnTo>
                  <a:lnTo>
                    <a:pt x="39737" y="553738"/>
                  </a:lnTo>
                  <a:lnTo>
                    <a:pt x="0" y="552322"/>
                  </a:lnTo>
                </a:path>
              </a:pathLst>
            </a:custGeom>
            <a:ln w="38099">
              <a:solidFill>
                <a:srgbClr val="4F81BC"/>
              </a:solidFill>
            </a:ln>
          </p:spPr>
          <p:txBody>
            <a:bodyPr wrap="square" lIns="0" tIns="0" rIns="0" bIns="0" rtlCol="0"/>
            <a:lstStyle/>
            <a:p>
              <a:endParaRPr/>
            </a:p>
          </p:txBody>
        </p:sp>
        <p:sp>
          <p:nvSpPr>
            <p:cNvPr id="26" name="object 26"/>
            <p:cNvSpPr/>
            <p:nvPr/>
          </p:nvSpPr>
          <p:spPr>
            <a:xfrm>
              <a:off x="4612386" y="1655826"/>
              <a:ext cx="2750820" cy="1539240"/>
            </a:xfrm>
            <a:custGeom>
              <a:avLst/>
              <a:gdLst/>
              <a:ahLst/>
              <a:cxnLst/>
              <a:rect l="l" t="t" r="r" b="b"/>
              <a:pathLst>
                <a:path w="2750820" h="1539239">
                  <a:moveTo>
                    <a:pt x="0" y="1266444"/>
                  </a:moveTo>
                  <a:lnTo>
                    <a:pt x="3341" y="1203906"/>
                  </a:lnTo>
                  <a:lnTo>
                    <a:pt x="12858" y="1146492"/>
                  </a:lnTo>
                  <a:lnTo>
                    <a:pt x="27791" y="1095840"/>
                  </a:lnTo>
                  <a:lnTo>
                    <a:pt x="47381" y="1053590"/>
                  </a:lnTo>
                  <a:lnTo>
                    <a:pt x="70868" y="1021382"/>
                  </a:lnTo>
                  <a:lnTo>
                    <a:pt x="126491" y="993648"/>
                  </a:lnTo>
                  <a:lnTo>
                    <a:pt x="155492" y="1000854"/>
                  </a:lnTo>
                  <a:lnTo>
                    <a:pt x="205602" y="1053590"/>
                  </a:lnTo>
                  <a:lnTo>
                    <a:pt x="225192" y="1095840"/>
                  </a:lnTo>
                  <a:lnTo>
                    <a:pt x="240125" y="1146492"/>
                  </a:lnTo>
                  <a:lnTo>
                    <a:pt x="249642" y="1203906"/>
                  </a:lnTo>
                  <a:lnTo>
                    <a:pt x="252984" y="1266444"/>
                  </a:lnTo>
                  <a:lnTo>
                    <a:pt x="249642" y="1328981"/>
                  </a:lnTo>
                  <a:lnTo>
                    <a:pt x="240125" y="1386395"/>
                  </a:lnTo>
                  <a:lnTo>
                    <a:pt x="225192" y="1437047"/>
                  </a:lnTo>
                  <a:lnTo>
                    <a:pt x="205602" y="1479297"/>
                  </a:lnTo>
                  <a:lnTo>
                    <a:pt x="182115" y="1511505"/>
                  </a:lnTo>
                  <a:lnTo>
                    <a:pt x="126491" y="1539240"/>
                  </a:lnTo>
                  <a:lnTo>
                    <a:pt x="97491" y="1532033"/>
                  </a:lnTo>
                  <a:lnTo>
                    <a:pt x="47381" y="1479297"/>
                  </a:lnTo>
                  <a:lnTo>
                    <a:pt x="27791" y="1437047"/>
                  </a:lnTo>
                  <a:lnTo>
                    <a:pt x="12858" y="1386395"/>
                  </a:lnTo>
                  <a:lnTo>
                    <a:pt x="3341" y="1328981"/>
                  </a:lnTo>
                  <a:lnTo>
                    <a:pt x="0" y="1266444"/>
                  </a:lnTo>
                  <a:close/>
                </a:path>
                <a:path w="2750820" h="1539239">
                  <a:moveTo>
                    <a:pt x="2499360" y="214122"/>
                  </a:moveTo>
                  <a:lnTo>
                    <a:pt x="2503849" y="157206"/>
                  </a:lnTo>
                  <a:lnTo>
                    <a:pt x="2516519" y="106059"/>
                  </a:lnTo>
                  <a:lnTo>
                    <a:pt x="2536174" y="62722"/>
                  </a:lnTo>
                  <a:lnTo>
                    <a:pt x="2561618" y="29238"/>
                  </a:lnTo>
                  <a:lnTo>
                    <a:pt x="2625090" y="0"/>
                  </a:lnTo>
                  <a:lnTo>
                    <a:pt x="2658524" y="7649"/>
                  </a:lnTo>
                  <a:lnTo>
                    <a:pt x="2714005" y="62722"/>
                  </a:lnTo>
                  <a:lnTo>
                    <a:pt x="2733660" y="106059"/>
                  </a:lnTo>
                  <a:lnTo>
                    <a:pt x="2746330" y="157206"/>
                  </a:lnTo>
                  <a:lnTo>
                    <a:pt x="2750819" y="214122"/>
                  </a:lnTo>
                  <a:lnTo>
                    <a:pt x="2746330" y="271037"/>
                  </a:lnTo>
                  <a:lnTo>
                    <a:pt x="2733660" y="322184"/>
                  </a:lnTo>
                  <a:lnTo>
                    <a:pt x="2714005" y="365521"/>
                  </a:lnTo>
                  <a:lnTo>
                    <a:pt x="2688561" y="399005"/>
                  </a:lnTo>
                  <a:lnTo>
                    <a:pt x="2625090" y="428244"/>
                  </a:lnTo>
                  <a:lnTo>
                    <a:pt x="2591655" y="420594"/>
                  </a:lnTo>
                  <a:lnTo>
                    <a:pt x="2536174" y="365521"/>
                  </a:lnTo>
                  <a:lnTo>
                    <a:pt x="2516519" y="322184"/>
                  </a:lnTo>
                  <a:lnTo>
                    <a:pt x="2503849" y="271037"/>
                  </a:lnTo>
                  <a:lnTo>
                    <a:pt x="2499360" y="214122"/>
                  </a:lnTo>
                  <a:close/>
                </a:path>
              </a:pathLst>
            </a:custGeom>
            <a:ln w="25908">
              <a:solidFill>
                <a:srgbClr val="8B3836"/>
              </a:solidFill>
            </a:ln>
          </p:spPr>
          <p:txBody>
            <a:bodyPr wrap="square" lIns="0" tIns="0" rIns="0" bIns="0" rtlCol="0"/>
            <a:lstStyle/>
            <a:p>
              <a:endParaRPr/>
            </a:p>
          </p:txBody>
        </p:sp>
        <p:sp>
          <p:nvSpPr>
            <p:cNvPr id="27" name="object 27"/>
            <p:cNvSpPr/>
            <p:nvPr/>
          </p:nvSpPr>
          <p:spPr>
            <a:xfrm>
              <a:off x="4738878" y="1675617"/>
              <a:ext cx="2390140" cy="1047115"/>
            </a:xfrm>
            <a:custGeom>
              <a:avLst/>
              <a:gdLst/>
              <a:ahLst/>
              <a:cxnLst/>
              <a:rect l="l" t="t" r="r" b="b"/>
              <a:pathLst>
                <a:path w="2390140" h="1047114">
                  <a:moveTo>
                    <a:pt x="0" y="1047008"/>
                  </a:moveTo>
                  <a:lnTo>
                    <a:pt x="965" y="995904"/>
                  </a:lnTo>
                  <a:lnTo>
                    <a:pt x="2229" y="944957"/>
                  </a:lnTo>
                  <a:lnTo>
                    <a:pt x="4086" y="894324"/>
                  </a:lnTo>
                  <a:lnTo>
                    <a:pt x="6832" y="844161"/>
                  </a:lnTo>
                  <a:lnTo>
                    <a:pt x="10762" y="794626"/>
                  </a:lnTo>
                  <a:lnTo>
                    <a:pt x="16170" y="745876"/>
                  </a:lnTo>
                  <a:lnTo>
                    <a:pt x="23353" y="698067"/>
                  </a:lnTo>
                  <a:lnTo>
                    <a:pt x="32604" y="651357"/>
                  </a:lnTo>
                  <a:lnTo>
                    <a:pt x="44220" y="605902"/>
                  </a:lnTo>
                  <a:lnTo>
                    <a:pt x="58495" y="561859"/>
                  </a:lnTo>
                  <a:lnTo>
                    <a:pt x="75724" y="519385"/>
                  </a:lnTo>
                  <a:lnTo>
                    <a:pt x="96203" y="478638"/>
                  </a:lnTo>
                  <a:lnTo>
                    <a:pt x="120226" y="439773"/>
                  </a:lnTo>
                  <a:lnTo>
                    <a:pt x="148088" y="402948"/>
                  </a:lnTo>
                  <a:lnTo>
                    <a:pt x="180086" y="368320"/>
                  </a:lnTo>
                  <a:lnTo>
                    <a:pt x="210571" y="341059"/>
                  </a:lnTo>
                  <a:lnTo>
                    <a:pt x="244856" y="315050"/>
                  </a:lnTo>
                  <a:lnTo>
                    <a:pt x="282590" y="290261"/>
                  </a:lnTo>
                  <a:lnTo>
                    <a:pt x="323426" y="266658"/>
                  </a:lnTo>
                  <a:lnTo>
                    <a:pt x="367014" y="244211"/>
                  </a:lnTo>
                  <a:lnTo>
                    <a:pt x="413003" y="222886"/>
                  </a:lnTo>
                  <a:lnTo>
                    <a:pt x="461047" y="202652"/>
                  </a:lnTo>
                  <a:lnTo>
                    <a:pt x="510793" y="183477"/>
                  </a:lnTo>
                  <a:lnTo>
                    <a:pt x="561895" y="165327"/>
                  </a:lnTo>
                  <a:lnTo>
                    <a:pt x="614002" y="148170"/>
                  </a:lnTo>
                  <a:lnTo>
                    <a:pt x="666765" y="131976"/>
                  </a:lnTo>
                  <a:lnTo>
                    <a:pt x="719835" y="116710"/>
                  </a:lnTo>
                  <a:lnTo>
                    <a:pt x="772863" y="102341"/>
                  </a:lnTo>
                  <a:lnTo>
                    <a:pt x="825499" y="88837"/>
                  </a:lnTo>
                  <a:lnTo>
                    <a:pt x="877395" y="76164"/>
                  </a:lnTo>
                  <a:lnTo>
                    <a:pt x="928200" y="64292"/>
                  </a:lnTo>
                  <a:lnTo>
                    <a:pt x="977566" y="53188"/>
                  </a:lnTo>
                  <a:lnTo>
                    <a:pt x="1025144" y="42819"/>
                  </a:lnTo>
                  <a:lnTo>
                    <a:pt x="1078023" y="32455"/>
                  </a:lnTo>
                  <a:lnTo>
                    <a:pt x="1131749" y="23801"/>
                  </a:lnTo>
                  <a:lnTo>
                    <a:pt x="1186112" y="16725"/>
                  </a:lnTo>
                  <a:lnTo>
                    <a:pt x="1240905" y="11095"/>
                  </a:lnTo>
                  <a:lnTo>
                    <a:pt x="1295919" y="6778"/>
                  </a:lnTo>
                  <a:lnTo>
                    <a:pt x="1350948" y="3643"/>
                  </a:lnTo>
                  <a:lnTo>
                    <a:pt x="1405782" y="1556"/>
                  </a:lnTo>
                  <a:lnTo>
                    <a:pt x="1460214" y="385"/>
                  </a:lnTo>
                  <a:lnTo>
                    <a:pt x="1514036" y="0"/>
                  </a:lnTo>
                  <a:lnTo>
                    <a:pt x="1567039" y="266"/>
                  </a:lnTo>
                  <a:lnTo>
                    <a:pt x="1619017" y="1052"/>
                  </a:lnTo>
                  <a:lnTo>
                    <a:pt x="1669760" y="2225"/>
                  </a:lnTo>
                  <a:lnTo>
                    <a:pt x="1719061" y="3654"/>
                  </a:lnTo>
                  <a:lnTo>
                    <a:pt x="1766712" y="5205"/>
                  </a:lnTo>
                  <a:lnTo>
                    <a:pt x="1812505" y="6748"/>
                  </a:lnTo>
                  <a:lnTo>
                    <a:pt x="1856231" y="8148"/>
                  </a:lnTo>
                  <a:lnTo>
                    <a:pt x="1916476" y="10719"/>
                  </a:lnTo>
                  <a:lnTo>
                    <a:pt x="1973365" y="14537"/>
                  </a:lnTo>
                  <a:lnTo>
                    <a:pt x="2027233" y="19477"/>
                  </a:lnTo>
                  <a:lnTo>
                    <a:pt x="2078416" y="25414"/>
                  </a:lnTo>
                  <a:lnTo>
                    <a:pt x="2127248" y="32222"/>
                  </a:lnTo>
                  <a:lnTo>
                    <a:pt x="2174065" y="39776"/>
                  </a:lnTo>
                  <a:lnTo>
                    <a:pt x="2219200" y="47951"/>
                  </a:lnTo>
                  <a:lnTo>
                    <a:pt x="2262990" y="56621"/>
                  </a:lnTo>
                  <a:lnTo>
                    <a:pt x="2305768" y="65661"/>
                  </a:lnTo>
                  <a:lnTo>
                    <a:pt x="2347870" y="74945"/>
                  </a:lnTo>
                  <a:lnTo>
                    <a:pt x="2389631" y="84348"/>
                  </a:lnTo>
                </a:path>
              </a:pathLst>
            </a:custGeom>
            <a:ln w="25908">
              <a:solidFill>
                <a:srgbClr val="385D89"/>
              </a:solidFill>
            </a:ln>
          </p:spPr>
          <p:txBody>
            <a:bodyPr wrap="square" lIns="0" tIns="0" rIns="0" bIns="0" rtlCol="0"/>
            <a:lstStyle/>
            <a:p>
              <a:endParaRPr/>
            </a:p>
          </p:txBody>
        </p:sp>
        <p:sp>
          <p:nvSpPr>
            <p:cNvPr id="28" name="object 28"/>
            <p:cNvSpPr/>
            <p:nvPr/>
          </p:nvSpPr>
          <p:spPr>
            <a:xfrm>
              <a:off x="5206746" y="2173986"/>
              <a:ext cx="1483360" cy="635635"/>
            </a:xfrm>
            <a:custGeom>
              <a:avLst/>
              <a:gdLst/>
              <a:ahLst/>
              <a:cxnLst/>
              <a:rect l="l" t="t" r="r" b="b"/>
              <a:pathLst>
                <a:path w="1483359" h="635635">
                  <a:moveTo>
                    <a:pt x="0" y="214121"/>
                  </a:moveTo>
                  <a:lnTo>
                    <a:pt x="4489" y="157206"/>
                  </a:lnTo>
                  <a:lnTo>
                    <a:pt x="17159" y="106059"/>
                  </a:lnTo>
                  <a:lnTo>
                    <a:pt x="36814" y="62722"/>
                  </a:lnTo>
                  <a:lnTo>
                    <a:pt x="62258" y="29238"/>
                  </a:lnTo>
                  <a:lnTo>
                    <a:pt x="125729" y="0"/>
                  </a:lnTo>
                  <a:lnTo>
                    <a:pt x="159164" y="7649"/>
                  </a:lnTo>
                  <a:lnTo>
                    <a:pt x="214645" y="62722"/>
                  </a:lnTo>
                  <a:lnTo>
                    <a:pt x="234300" y="106059"/>
                  </a:lnTo>
                  <a:lnTo>
                    <a:pt x="246970" y="157206"/>
                  </a:lnTo>
                  <a:lnTo>
                    <a:pt x="251459" y="214121"/>
                  </a:lnTo>
                  <a:lnTo>
                    <a:pt x="246970" y="271037"/>
                  </a:lnTo>
                  <a:lnTo>
                    <a:pt x="234300" y="322184"/>
                  </a:lnTo>
                  <a:lnTo>
                    <a:pt x="214645" y="365521"/>
                  </a:lnTo>
                  <a:lnTo>
                    <a:pt x="189201" y="399005"/>
                  </a:lnTo>
                  <a:lnTo>
                    <a:pt x="125729" y="428244"/>
                  </a:lnTo>
                  <a:lnTo>
                    <a:pt x="92295" y="420594"/>
                  </a:lnTo>
                  <a:lnTo>
                    <a:pt x="36814" y="365521"/>
                  </a:lnTo>
                  <a:lnTo>
                    <a:pt x="17159" y="322184"/>
                  </a:lnTo>
                  <a:lnTo>
                    <a:pt x="4489" y="271037"/>
                  </a:lnTo>
                  <a:lnTo>
                    <a:pt x="0" y="214121"/>
                  </a:lnTo>
                  <a:close/>
                </a:path>
                <a:path w="1483359" h="635635">
                  <a:moveTo>
                    <a:pt x="1231391" y="421386"/>
                  </a:moveTo>
                  <a:lnTo>
                    <a:pt x="1235881" y="364470"/>
                  </a:lnTo>
                  <a:lnTo>
                    <a:pt x="1248551" y="313323"/>
                  </a:lnTo>
                  <a:lnTo>
                    <a:pt x="1268206" y="269986"/>
                  </a:lnTo>
                  <a:lnTo>
                    <a:pt x="1293650" y="236502"/>
                  </a:lnTo>
                  <a:lnTo>
                    <a:pt x="1357122" y="207263"/>
                  </a:lnTo>
                  <a:lnTo>
                    <a:pt x="1390556" y="214913"/>
                  </a:lnTo>
                  <a:lnTo>
                    <a:pt x="1446037" y="269986"/>
                  </a:lnTo>
                  <a:lnTo>
                    <a:pt x="1465692" y="313323"/>
                  </a:lnTo>
                  <a:lnTo>
                    <a:pt x="1478362" y="364470"/>
                  </a:lnTo>
                  <a:lnTo>
                    <a:pt x="1482852" y="421386"/>
                  </a:lnTo>
                  <a:lnTo>
                    <a:pt x="1478362" y="478301"/>
                  </a:lnTo>
                  <a:lnTo>
                    <a:pt x="1465692" y="529448"/>
                  </a:lnTo>
                  <a:lnTo>
                    <a:pt x="1446037" y="572785"/>
                  </a:lnTo>
                  <a:lnTo>
                    <a:pt x="1420593" y="606269"/>
                  </a:lnTo>
                  <a:lnTo>
                    <a:pt x="1357122" y="635507"/>
                  </a:lnTo>
                  <a:lnTo>
                    <a:pt x="1323687" y="627858"/>
                  </a:lnTo>
                  <a:lnTo>
                    <a:pt x="1268206" y="572785"/>
                  </a:lnTo>
                  <a:lnTo>
                    <a:pt x="1248551" y="529448"/>
                  </a:lnTo>
                  <a:lnTo>
                    <a:pt x="1235881" y="478301"/>
                  </a:lnTo>
                  <a:lnTo>
                    <a:pt x="1231391" y="421386"/>
                  </a:lnTo>
                  <a:close/>
                </a:path>
              </a:pathLst>
            </a:custGeom>
            <a:ln w="25908">
              <a:solidFill>
                <a:srgbClr val="8B3836"/>
              </a:solidFill>
            </a:ln>
          </p:spPr>
          <p:txBody>
            <a:bodyPr wrap="square" lIns="0" tIns="0" rIns="0" bIns="0" rtlCol="0"/>
            <a:lstStyle/>
            <a:p>
              <a:endParaRPr/>
            </a:p>
          </p:txBody>
        </p:sp>
      </p:grpSp>
      <p:sp>
        <p:nvSpPr>
          <p:cNvPr id="29" name="object 2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49</a:t>
            </a:fld>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5" dirty="0"/>
              <a:t>K-Means </a:t>
            </a:r>
            <a:r>
              <a:rPr spc="-15" dirty="0"/>
              <a:t>clustering</a:t>
            </a:r>
            <a:r>
              <a:rPr spc="40" dirty="0"/>
              <a:t> </a:t>
            </a:r>
            <a:r>
              <a:rPr spc="-20" dirty="0"/>
              <a:t>example</a:t>
            </a:r>
          </a:p>
        </p:txBody>
      </p:sp>
      <p:sp>
        <p:nvSpPr>
          <p:cNvPr id="3" name="object 3"/>
          <p:cNvSpPr txBox="1"/>
          <p:nvPr/>
        </p:nvSpPr>
        <p:spPr>
          <a:xfrm>
            <a:off x="535940" y="1216913"/>
            <a:ext cx="3206115" cy="3308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10" dirty="0">
                <a:latin typeface="Carlito"/>
                <a:cs typeface="Carlito"/>
              </a:rPr>
              <a:t>Update </a:t>
            </a:r>
            <a:r>
              <a:rPr sz="2000" dirty="0">
                <a:latin typeface="Carlito"/>
                <a:cs typeface="Carlito"/>
              </a:rPr>
              <a:t>the </a:t>
            </a:r>
            <a:r>
              <a:rPr sz="2000" spc="-5" dirty="0">
                <a:latin typeface="Carlito"/>
                <a:cs typeface="Carlito"/>
              </a:rPr>
              <a:t>cluster</a:t>
            </a:r>
            <a:r>
              <a:rPr sz="2000" spc="-20" dirty="0">
                <a:latin typeface="Carlito"/>
                <a:cs typeface="Carlito"/>
              </a:rPr>
              <a:t> </a:t>
            </a:r>
            <a:r>
              <a:rPr sz="2000" spc="-10" dirty="0">
                <a:latin typeface="Carlito"/>
                <a:cs typeface="Carlito"/>
              </a:rPr>
              <a:t>centroid</a:t>
            </a:r>
            <a:endParaRPr sz="2000">
              <a:latin typeface="Carlito"/>
              <a:cs typeface="Carlito"/>
            </a:endParaRPr>
          </a:p>
        </p:txBody>
      </p:sp>
      <p:sp>
        <p:nvSpPr>
          <p:cNvPr id="4" name="object 4"/>
          <p:cNvSpPr/>
          <p:nvPr/>
        </p:nvSpPr>
        <p:spPr>
          <a:xfrm>
            <a:off x="2662554" y="2534411"/>
            <a:ext cx="2938145" cy="365760"/>
          </a:xfrm>
          <a:custGeom>
            <a:avLst/>
            <a:gdLst/>
            <a:ahLst/>
            <a:cxnLst/>
            <a:rect l="l" t="t" r="r" b="b"/>
            <a:pathLst>
              <a:path w="2938145" h="365760">
                <a:moveTo>
                  <a:pt x="2938145" y="0"/>
                </a:moveTo>
                <a:lnTo>
                  <a:pt x="0" y="0"/>
                </a:lnTo>
                <a:lnTo>
                  <a:pt x="0" y="365760"/>
                </a:lnTo>
                <a:lnTo>
                  <a:pt x="2938145" y="365760"/>
                </a:lnTo>
                <a:lnTo>
                  <a:pt x="2938145" y="0"/>
                </a:lnTo>
                <a:close/>
              </a:path>
            </a:pathLst>
          </a:custGeom>
          <a:solidFill>
            <a:srgbClr val="E9ECF4"/>
          </a:solidFill>
        </p:spPr>
        <p:txBody>
          <a:bodyPr wrap="square" lIns="0" tIns="0" rIns="0" bIns="0" rtlCol="0"/>
          <a:lstStyle/>
          <a:p>
            <a:endParaRPr/>
          </a:p>
        </p:txBody>
      </p:sp>
      <p:graphicFrame>
        <p:nvGraphicFramePr>
          <p:cNvPr id="5" name="object 5"/>
          <p:cNvGraphicFramePr>
            <a:graphicFrameLocks noGrp="1"/>
          </p:cNvGraphicFramePr>
          <p:nvPr/>
        </p:nvGraphicFramePr>
        <p:xfrm>
          <a:off x="1483486" y="1796542"/>
          <a:ext cx="6752590" cy="1097280"/>
        </p:xfrm>
        <a:graphic>
          <a:graphicData uri="http://schemas.openxmlformats.org/drawingml/2006/table">
            <a:tbl>
              <a:tblPr firstRow="1" bandRow="1">
                <a:tableStyleId>{2D5ABB26-0587-4C30-8999-92F81FD0307C}</a:tableStyleId>
              </a:tblPr>
              <a:tblGrid>
                <a:gridCol w="1172845">
                  <a:extLst>
                    <a:ext uri="{9D8B030D-6E8A-4147-A177-3AD203B41FA5}">
                      <a16:colId xmlns:a16="http://schemas.microsoft.com/office/drawing/2014/main" val="20000"/>
                    </a:ext>
                  </a:extLst>
                </a:gridCol>
                <a:gridCol w="2938145">
                  <a:extLst>
                    <a:ext uri="{9D8B030D-6E8A-4147-A177-3AD203B41FA5}">
                      <a16:colId xmlns:a16="http://schemas.microsoft.com/office/drawing/2014/main" val="20001"/>
                    </a:ext>
                  </a:extLst>
                </a:gridCol>
                <a:gridCol w="2641600">
                  <a:extLst>
                    <a:ext uri="{9D8B030D-6E8A-4147-A177-3AD203B41FA5}">
                      <a16:colId xmlns:a16="http://schemas.microsoft.com/office/drawing/2014/main" val="20002"/>
                    </a:ext>
                  </a:extLst>
                </a:gridCol>
              </a:tblGrid>
              <a:tr h="365760">
                <a:tc>
                  <a:txBody>
                    <a:bodyPr/>
                    <a:lstStyle/>
                    <a:p>
                      <a:pPr algn="ctr">
                        <a:lnSpc>
                          <a:spcPct val="100000"/>
                        </a:lnSpc>
                        <a:spcBef>
                          <a:spcPts val="245"/>
                        </a:spcBef>
                      </a:pPr>
                      <a:r>
                        <a:rPr sz="1800" b="1" spc="-10" dirty="0">
                          <a:solidFill>
                            <a:srgbClr val="FFFFFF"/>
                          </a:solidFill>
                          <a:latin typeface="Carlito"/>
                          <a:cs typeface="Carlito"/>
                        </a:rPr>
                        <a:t>Cluster</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5"/>
                        </a:spcBef>
                      </a:pPr>
                      <a:r>
                        <a:rPr sz="1800" b="1" spc="-25" dirty="0">
                          <a:solidFill>
                            <a:srgbClr val="FFFFFF"/>
                          </a:solidFill>
                          <a:latin typeface="Carlito"/>
                          <a:cs typeface="Carlito"/>
                        </a:rPr>
                        <a:t>Var1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905" algn="ctr">
                        <a:lnSpc>
                          <a:spcPct val="100000"/>
                        </a:lnSpc>
                        <a:spcBef>
                          <a:spcPts val="245"/>
                        </a:spcBef>
                      </a:pPr>
                      <a:r>
                        <a:rPr sz="1800" b="1" spc="-25" dirty="0">
                          <a:solidFill>
                            <a:srgbClr val="FFFFFF"/>
                          </a:solidFill>
                          <a:latin typeface="Carlito"/>
                          <a:cs typeface="Carlito"/>
                        </a:rPr>
                        <a:t>Var2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60">
                <a:tc>
                  <a:txBody>
                    <a:bodyPr/>
                    <a:lstStyle/>
                    <a:p>
                      <a:pPr algn="ctr">
                        <a:lnSpc>
                          <a:spcPct val="100000"/>
                        </a:lnSpc>
                        <a:spcBef>
                          <a:spcPts val="245"/>
                        </a:spcBef>
                      </a:pPr>
                      <a:r>
                        <a:rPr sz="1800" spc="-5" dirty="0">
                          <a:latin typeface="Carlito"/>
                          <a:cs typeface="Carlito"/>
                        </a:rPr>
                        <a:t>K1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1.25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245"/>
                        </a:spcBef>
                      </a:pPr>
                      <a:r>
                        <a:rPr sz="1800" dirty="0">
                          <a:latin typeface="Carlito"/>
                          <a:cs typeface="Carlito"/>
                        </a:rPr>
                        <a:t>1.5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760">
                <a:tc>
                  <a:txBody>
                    <a:bodyPr/>
                    <a:lstStyle/>
                    <a:p>
                      <a:pPr algn="ctr">
                        <a:lnSpc>
                          <a:spcPct val="100000"/>
                        </a:lnSpc>
                        <a:spcBef>
                          <a:spcPts val="245"/>
                        </a:spcBef>
                      </a:pPr>
                      <a:r>
                        <a:rPr sz="1800" dirty="0">
                          <a:latin typeface="Carlito"/>
                          <a:cs typeface="Carlito"/>
                        </a:rPr>
                        <a:t>K2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spc="-5" dirty="0">
                          <a:latin typeface="Carlito"/>
                          <a:cs typeface="Carlito"/>
                        </a:rPr>
                        <a:t>(3.0+5.0+3.5+4.5)/4=</a:t>
                      </a:r>
                      <a:r>
                        <a:rPr sz="1800" spc="5" dirty="0">
                          <a:latin typeface="Carlito"/>
                          <a:cs typeface="Carlito"/>
                        </a:rPr>
                        <a:t> </a:t>
                      </a:r>
                      <a:r>
                        <a:rPr sz="1800" dirty="0">
                          <a:latin typeface="Carlito"/>
                          <a:cs typeface="Carlito"/>
                        </a:rPr>
                        <a:t>4.00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marL="2540" algn="ctr">
                        <a:lnSpc>
                          <a:spcPct val="100000"/>
                        </a:lnSpc>
                        <a:spcBef>
                          <a:spcPts val="245"/>
                        </a:spcBef>
                      </a:pPr>
                      <a:r>
                        <a:rPr sz="1800" spc="-5" dirty="0">
                          <a:latin typeface="Carlito"/>
                          <a:cs typeface="Carlito"/>
                        </a:rPr>
                        <a:t>(4.0+7.0+5.0+5.0)/4=</a:t>
                      </a:r>
                      <a:r>
                        <a:rPr sz="1800" dirty="0">
                          <a:latin typeface="Carlito"/>
                          <a:cs typeface="Carlito"/>
                        </a:rPr>
                        <a:t> 5.25</a:t>
                      </a: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sp>
        <p:nvSpPr>
          <p:cNvPr id="6" name="object 6"/>
          <p:cNvSpPr/>
          <p:nvPr/>
        </p:nvSpPr>
        <p:spPr>
          <a:xfrm>
            <a:off x="7663180" y="2846070"/>
            <a:ext cx="526746" cy="60832"/>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753228" y="2808097"/>
            <a:ext cx="524510" cy="88900"/>
          </a:xfrm>
          <a:custGeom>
            <a:avLst/>
            <a:gdLst/>
            <a:ahLst/>
            <a:cxnLst/>
            <a:rect l="l" t="t" r="r" b="b"/>
            <a:pathLst>
              <a:path w="524510" h="88900">
                <a:moveTo>
                  <a:pt x="338328" y="40766"/>
                </a:moveTo>
                <a:lnTo>
                  <a:pt x="308863" y="45846"/>
                </a:lnTo>
                <a:lnTo>
                  <a:pt x="308991" y="45846"/>
                </a:lnTo>
                <a:lnTo>
                  <a:pt x="279400" y="50291"/>
                </a:lnTo>
                <a:lnTo>
                  <a:pt x="248158" y="54482"/>
                </a:lnTo>
                <a:lnTo>
                  <a:pt x="188595" y="61340"/>
                </a:lnTo>
                <a:lnTo>
                  <a:pt x="15367" y="78104"/>
                </a:lnTo>
                <a:lnTo>
                  <a:pt x="4825" y="79247"/>
                </a:lnTo>
                <a:lnTo>
                  <a:pt x="1650" y="80898"/>
                </a:lnTo>
                <a:lnTo>
                  <a:pt x="1524" y="81152"/>
                </a:lnTo>
                <a:lnTo>
                  <a:pt x="0" y="83057"/>
                </a:lnTo>
                <a:lnTo>
                  <a:pt x="254" y="85851"/>
                </a:lnTo>
                <a:lnTo>
                  <a:pt x="2159" y="87375"/>
                </a:lnTo>
                <a:lnTo>
                  <a:pt x="2286" y="87629"/>
                </a:lnTo>
                <a:lnTo>
                  <a:pt x="5715" y="88645"/>
                </a:lnTo>
                <a:lnTo>
                  <a:pt x="9525" y="88391"/>
                </a:lnTo>
                <a:lnTo>
                  <a:pt x="16256" y="87756"/>
                </a:lnTo>
                <a:lnTo>
                  <a:pt x="58674" y="84962"/>
                </a:lnTo>
                <a:lnTo>
                  <a:pt x="104521" y="81279"/>
                </a:lnTo>
                <a:lnTo>
                  <a:pt x="219329" y="70230"/>
                </a:lnTo>
                <a:lnTo>
                  <a:pt x="249682" y="66801"/>
                </a:lnTo>
                <a:lnTo>
                  <a:pt x="281178" y="62864"/>
                </a:lnTo>
                <a:lnTo>
                  <a:pt x="310769" y="58546"/>
                </a:lnTo>
                <a:lnTo>
                  <a:pt x="340487" y="53847"/>
                </a:lnTo>
                <a:lnTo>
                  <a:pt x="340741" y="53847"/>
                </a:lnTo>
                <a:lnTo>
                  <a:pt x="368808" y="48386"/>
                </a:lnTo>
                <a:lnTo>
                  <a:pt x="369062" y="48386"/>
                </a:lnTo>
                <a:lnTo>
                  <a:pt x="394588" y="42671"/>
                </a:lnTo>
                <a:lnTo>
                  <a:pt x="394716" y="42671"/>
                </a:lnTo>
                <a:lnTo>
                  <a:pt x="402025" y="40893"/>
                </a:lnTo>
                <a:lnTo>
                  <a:pt x="338074" y="40893"/>
                </a:lnTo>
                <a:lnTo>
                  <a:pt x="338328" y="40766"/>
                </a:lnTo>
                <a:close/>
              </a:path>
              <a:path w="524510" h="88900">
                <a:moveTo>
                  <a:pt x="501379" y="28035"/>
                </a:moveTo>
                <a:lnTo>
                  <a:pt x="492251" y="36321"/>
                </a:lnTo>
                <a:lnTo>
                  <a:pt x="490474" y="37972"/>
                </a:lnTo>
                <a:lnTo>
                  <a:pt x="490220" y="40639"/>
                </a:lnTo>
                <a:lnTo>
                  <a:pt x="491718" y="42671"/>
                </a:lnTo>
                <a:lnTo>
                  <a:pt x="493141" y="44450"/>
                </a:lnTo>
                <a:lnTo>
                  <a:pt x="495681" y="44830"/>
                </a:lnTo>
                <a:lnTo>
                  <a:pt x="497713" y="43687"/>
                </a:lnTo>
                <a:lnTo>
                  <a:pt x="508762" y="36702"/>
                </a:lnTo>
                <a:lnTo>
                  <a:pt x="510032" y="35686"/>
                </a:lnTo>
                <a:lnTo>
                  <a:pt x="516542" y="28575"/>
                </a:lnTo>
                <a:lnTo>
                  <a:pt x="501015" y="28575"/>
                </a:lnTo>
                <a:lnTo>
                  <a:pt x="501379" y="28035"/>
                </a:lnTo>
                <a:close/>
              </a:path>
              <a:path w="524510" h="88900">
                <a:moveTo>
                  <a:pt x="512014" y="507"/>
                </a:moveTo>
                <a:lnTo>
                  <a:pt x="510794" y="507"/>
                </a:lnTo>
                <a:lnTo>
                  <a:pt x="503936" y="1142"/>
                </a:lnTo>
                <a:lnTo>
                  <a:pt x="503682" y="1269"/>
                </a:lnTo>
                <a:lnTo>
                  <a:pt x="495426" y="2285"/>
                </a:lnTo>
                <a:lnTo>
                  <a:pt x="495046" y="2412"/>
                </a:lnTo>
                <a:lnTo>
                  <a:pt x="483997" y="4317"/>
                </a:lnTo>
                <a:lnTo>
                  <a:pt x="469392" y="7746"/>
                </a:lnTo>
                <a:lnTo>
                  <a:pt x="469138" y="7746"/>
                </a:lnTo>
                <a:lnTo>
                  <a:pt x="391160" y="28955"/>
                </a:lnTo>
                <a:lnTo>
                  <a:pt x="391413" y="28955"/>
                </a:lnTo>
                <a:lnTo>
                  <a:pt x="365887" y="35051"/>
                </a:lnTo>
                <a:lnTo>
                  <a:pt x="366141" y="35051"/>
                </a:lnTo>
                <a:lnTo>
                  <a:pt x="338074" y="40893"/>
                </a:lnTo>
                <a:lnTo>
                  <a:pt x="402025" y="40893"/>
                </a:lnTo>
                <a:lnTo>
                  <a:pt x="418211" y="36956"/>
                </a:lnTo>
                <a:lnTo>
                  <a:pt x="418211" y="36829"/>
                </a:lnTo>
                <a:lnTo>
                  <a:pt x="473075" y="22859"/>
                </a:lnTo>
                <a:lnTo>
                  <a:pt x="487045" y="19684"/>
                </a:lnTo>
                <a:lnTo>
                  <a:pt x="487282" y="19684"/>
                </a:lnTo>
                <a:lnTo>
                  <a:pt x="497713" y="17906"/>
                </a:lnTo>
                <a:lnTo>
                  <a:pt x="498490" y="17906"/>
                </a:lnTo>
                <a:lnTo>
                  <a:pt x="505713" y="17017"/>
                </a:lnTo>
                <a:lnTo>
                  <a:pt x="505460" y="17017"/>
                </a:lnTo>
                <a:lnTo>
                  <a:pt x="507093" y="16866"/>
                </a:lnTo>
                <a:lnTo>
                  <a:pt x="507253" y="14985"/>
                </a:lnTo>
                <a:lnTo>
                  <a:pt x="507365" y="11302"/>
                </a:lnTo>
                <a:lnTo>
                  <a:pt x="507492" y="10032"/>
                </a:lnTo>
                <a:lnTo>
                  <a:pt x="508044" y="6745"/>
                </a:lnTo>
                <a:lnTo>
                  <a:pt x="508762" y="2920"/>
                </a:lnTo>
                <a:lnTo>
                  <a:pt x="512014" y="507"/>
                </a:lnTo>
                <a:close/>
              </a:path>
              <a:path w="524510" h="88900">
                <a:moveTo>
                  <a:pt x="501904" y="27558"/>
                </a:moveTo>
                <a:lnTo>
                  <a:pt x="501379" y="28035"/>
                </a:lnTo>
                <a:lnTo>
                  <a:pt x="501015" y="28575"/>
                </a:lnTo>
                <a:lnTo>
                  <a:pt x="501904" y="27558"/>
                </a:lnTo>
                <a:close/>
              </a:path>
              <a:path w="524510" h="88900">
                <a:moveTo>
                  <a:pt x="517473" y="27558"/>
                </a:moveTo>
                <a:lnTo>
                  <a:pt x="501904" y="27558"/>
                </a:lnTo>
                <a:lnTo>
                  <a:pt x="501015" y="28575"/>
                </a:lnTo>
                <a:lnTo>
                  <a:pt x="516542" y="28575"/>
                </a:lnTo>
                <a:lnTo>
                  <a:pt x="517473" y="27558"/>
                </a:lnTo>
                <a:close/>
              </a:path>
              <a:path w="524510" h="88900">
                <a:moveTo>
                  <a:pt x="506858" y="19917"/>
                </a:moveTo>
                <a:lnTo>
                  <a:pt x="501379" y="28035"/>
                </a:lnTo>
                <a:lnTo>
                  <a:pt x="501904" y="27558"/>
                </a:lnTo>
                <a:lnTo>
                  <a:pt x="517473" y="27558"/>
                </a:lnTo>
                <a:lnTo>
                  <a:pt x="518287" y="26669"/>
                </a:lnTo>
                <a:lnTo>
                  <a:pt x="519811" y="24129"/>
                </a:lnTo>
                <a:lnTo>
                  <a:pt x="520588" y="21589"/>
                </a:lnTo>
                <a:lnTo>
                  <a:pt x="506730" y="21589"/>
                </a:lnTo>
                <a:lnTo>
                  <a:pt x="506858" y="19917"/>
                </a:lnTo>
                <a:close/>
              </a:path>
              <a:path w="524510" h="88900">
                <a:moveTo>
                  <a:pt x="507873" y="18414"/>
                </a:moveTo>
                <a:lnTo>
                  <a:pt x="506858" y="19917"/>
                </a:lnTo>
                <a:lnTo>
                  <a:pt x="506730" y="21589"/>
                </a:lnTo>
                <a:lnTo>
                  <a:pt x="507873" y="18414"/>
                </a:lnTo>
                <a:close/>
              </a:path>
              <a:path w="524510" h="88900">
                <a:moveTo>
                  <a:pt x="521560" y="18414"/>
                </a:moveTo>
                <a:lnTo>
                  <a:pt x="507873" y="18414"/>
                </a:lnTo>
                <a:lnTo>
                  <a:pt x="506730" y="21589"/>
                </a:lnTo>
                <a:lnTo>
                  <a:pt x="520588" y="21589"/>
                </a:lnTo>
                <a:lnTo>
                  <a:pt x="521560" y="18414"/>
                </a:lnTo>
                <a:close/>
              </a:path>
              <a:path w="524510" h="88900">
                <a:moveTo>
                  <a:pt x="522724" y="13821"/>
                </a:moveTo>
                <a:lnTo>
                  <a:pt x="520065" y="16382"/>
                </a:lnTo>
                <a:lnTo>
                  <a:pt x="512318" y="16382"/>
                </a:lnTo>
                <a:lnTo>
                  <a:pt x="507093" y="16866"/>
                </a:lnTo>
                <a:lnTo>
                  <a:pt x="506858" y="19917"/>
                </a:lnTo>
                <a:lnTo>
                  <a:pt x="507873" y="18414"/>
                </a:lnTo>
                <a:lnTo>
                  <a:pt x="521560" y="18414"/>
                </a:lnTo>
                <a:lnTo>
                  <a:pt x="521716" y="17906"/>
                </a:lnTo>
                <a:lnTo>
                  <a:pt x="521970" y="17271"/>
                </a:lnTo>
                <a:lnTo>
                  <a:pt x="522724" y="13821"/>
                </a:lnTo>
                <a:close/>
              </a:path>
              <a:path w="524510" h="88900">
                <a:moveTo>
                  <a:pt x="487282" y="19684"/>
                </a:moveTo>
                <a:lnTo>
                  <a:pt x="487045" y="19684"/>
                </a:lnTo>
                <a:lnTo>
                  <a:pt x="486537" y="19811"/>
                </a:lnTo>
                <a:lnTo>
                  <a:pt x="487282" y="19684"/>
                </a:lnTo>
                <a:close/>
              </a:path>
              <a:path w="524510" h="88900">
                <a:moveTo>
                  <a:pt x="498490" y="17906"/>
                </a:moveTo>
                <a:lnTo>
                  <a:pt x="497713" y="17906"/>
                </a:lnTo>
                <a:lnTo>
                  <a:pt x="497459" y="18033"/>
                </a:lnTo>
                <a:lnTo>
                  <a:pt x="498490" y="17906"/>
                </a:lnTo>
                <a:close/>
              </a:path>
              <a:path w="524510" h="88900">
                <a:moveTo>
                  <a:pt x="512699" y="0"/>
                </a:moveTo>
                <a:lnTo>
                  <a:pt x="507238" y="15493"/>
                </a:lnTo>
                <a:lnTo>
                  <a:pt x="507093" y="16866"/>
                </a:lnTo>
                <a:lnTo>
                  <a:pt x="512318" y="16382"/>
                </a:lnTo>
                <a:lnTo>
                  <a:pt x="520065" y="16382"/>
                </a:lnTo>
                <a:lnTo>
                  <a:pt x="522724" y="13821"/>
                </a:lnTo>
                <a:lnTo>
                  <a:pt x="522831" y="13334"/>
                </a:lnTo>
                <a:lnTo>
                  <a:pt x="523494" y="10286"/>
                </a:lnTo>
                <a:lnTo>
                  <a:pt x="523710" y="9507"/>
                </a:lnTo>
                <a:lnTo>
                  <a:pt x="523877" y="6745"/>
                </a:lnTo>
                <a:lnTo>
                  <a:pt x="523621" y="5460"/>
                </a:lnTo>
                <a:lnTo>
                  <a:pt x="520573" y="1650"/>
                </a:lnTo>
                <a:lnTo>
                  <a:pt x="518763" y="746"/>
                </a:lnTo>
                <a:lnTo>
                  <a:pt x="512699" y="0"/>
                </a:lnTo>
                <a:close/>
              </a:path>
              <a:path w="524510" h="88900">
                <a:moveTo>
                  <a:pt x="507238" y="14985"/>
                </a:moveTo>
                <a:lnTo>
                  <a:pt x="507198" y="15493"/>
                </a:lnTo>
                <a:lnTo>
                  <a:pt x="507238" y="14985"/>
                </a:lnTo>
                <a:close/>
              </a:path>
              <a:path w="524510" h="88900">
                <a:moveTo>
                  <a:pt x="507253" y="14985"/>
                </a:moveTo>
                <a:lnTo>
                  <a:pt x="507238" y="15493"/>
                </a:lnTo>
                <a:lnTo>
                  <a:pt x="507253" y="14985"/>
                </a:lnTo>
                <a:close/>
              </a:path>
              <a:path w="524510" h="88900">
                <a:moveTo>
                  <a:pt x="523710" y="9507"/>
                </a:moveTo>
                <a:lnTo>
                  <a:pt x="523494" y="10286"/>
                </a:lnTo>
                <a:lnTo>
                  <a:pt x="522859" y="13334"/>
                </a:lnTo>
                <a:lnTo>
                  <a:pt x="522724" y="13821"/>
                </a:lnTo>
                <a:lnTo>
                  <a:pt x="523494" y="13080"/>
                </a:lnTo>
                <a:lnTo>
                  <a:pt x="523710" y="9507"/>
                </a:lnTo>
                <a:close/>
              </a:path>
              <a:path w="524510" h="88900">
                <a:moveTo>
                  <a:pt x="522859" y="13207"/>
                </a:moveTo>
                <a:close/>
              </a:path>
              <a:path w="524510" h="88900">
                <a:moveTo>
                  <a:pt x="522885" y="13207"/>
                </a:moveTo>
                <a:close/>
              </a:path>
              <a:path w="524510" h="88900">
                <a:moveTo>
                  <a:pt x="523877" y="6745"/>
                </a:moveTo>
                <a:lnTo>
                  <a:pt x="523710" y="9507"/>
                </a:lnTo>
                <a:lnTo>
                  <a:pt x="524129" y="8000"/>
                </a:lnTo>
                <a:lnTo>
                  <a:pt x="523877" y="6745"/>
                </a:lnTo>
                <a:close/>
              </a:path>
              <a:path w="524510" h="88900">
                <a:moveTo>
                  <a:pt x="518763" y="746"/>
                </a:moveTo>
                <a:lnTo>
                  <a:pt x="520573" y="1650"/>
                </a:lnTo>
                <a:lnTo>
                  <a:pt x="523621" y="5460"/>
                </a:lnTo>
                <a:lnTo>
                  <a:pt x="523877" y="6745"/>
                </a:lnTo>
                <a:lnTo>
                  <a:pt x="524001" y="4698"/>
                </a:lnTo>
                <a:lnTo>
                  <a:pt x="520954" y="1015"/>
                </a:lnTo>
                <a:lnTo>
                  <a:pt x="518763" y="746"/>
                </a:lnTo>
                <a:close/>
              </a:path>
              <a:path w="524510" h="88900">
                <a:moveTo>
                  <a:pt x="518287" y="507"/>
                </a:moveTo>
                <a:lnTo>
                  <a:pt x="516826" y="507"/>
                </a:lnTo>
                <a:lnTo>
                  <a:pt x="518763" y="746"/>
                </a:lnTo>
                <a:lnTo>
                  <a:pt x="518287" y="507"/>
                </a:lnTo>
                <a:close/>
              </a:path>
            </a:pathLst>
          </a:custGeom>
          <a:solidFill>
            <a:srgbClr val="FF0000"/>
          </a:solidFill>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50</a:t>
            </a:fld>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7200" y="1200911"/>
            <a:ext cx="8229574" cy="339394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5" dirty="0"/>
              <a:t>K-Means </a:t>
            </a:r>
            <a:r>
              <a:rPr spc="-15" dirty="0"/>
              <a:t>clustering</a:t>
            </a:r>
            <a:r>
              <a:rPr spc="40" dirty="0"/>
              <a:t> </a:t>
            </a:r>
            <a:r>
              <a:rPr spc="-20" dirty="0"/>
              <a:t>example</a:t>
            </a:r>
          </a:p>
        </p:txBody>
      </p:sp>
      <p:sp>
        <p:nvSpPr>
          <p:cNvPr id="4" name="object 4"/>
          <p:cNvSpPr/>
          <p:nvPr/>
        </p:nvSpPr>
        <p:spPr>
          <a:xfrm>
            <a:off x="4146296" y="3531476"/>
            <a:ext cx="1438910" cy="400685"/>
          </a:xfrm>
          <a:custGeom>
            <a:avLst/>
            <a:gdLst/>
            <a:ahLst/>
            <a:cxnLst/>
            <a:rect l="l" t="t" r="r" b="b"/>
            <a:pathLst>
              <a:path w="1438910" h="400685">
                <a:moveTo>
                  <a:pt x="1438528" y="0"/>
                </a:moveTo>
                <a:lnTo>
                  <a:pt x="0" y="0"/>
                </a:lnTo>
                <a:lnTo>
                  <a:pt x="0" y="400469"/>
                </a:lnTo>
                <a:lnTo>
                  <a:pt x="1438528" y="400469"/>
                </a:lnTo>
                <a:lnTo>
                  <a:pt x="1438528" y="0"/>
                </a:lnTo>
                <a:close/>
              </a:path>
            </a:pathLst>
          </a:custGeom>
          <a:solidFill>
            <a:srgbClr val="E9ECF4"/>
          </a:solidFill>
        </p:spPr>
        <p:txBody>
          <a:bodyPr wrap="square" lIns="0" tIns="0" rIns="0" bIns="0" rtlCol="0"/>
          <a:lstStyle/>
          <a:p>
            <a:endParaRPr/>
          </a:p>
        </p:txBody>
      </p:sp>
      <p:graphicFrame>
        <p:nvGraphicFramePr>
          <p:cNvPr id="5" name="object 5"/>
          <p:cNvGraphicFramePr>
            <a:graphicFrameLocks noGrp="1"/>
          </p:cNvGraphicFramePr>
          <p:nvPr/>
        </p:nvGraphicFramePr>
        <p:xfrm>
          <a:off x="1619122" y="2793619"/>
          <a:ext cx="5708014" cy="1131975"/>
        </p:xfrm>
        <a:graphic>
          <a:graphicData uri="http://schemas.openxmlformats.org/drawingml/2006/table">
            <a:tbl>
              <a:tblPr firstRow="1" bandRow="1">
                <a:tableStyleId>{2D5ABB26-0587-4C30-8999-92F81FD0307C}</a:tableStyleId>
              </a:tblPr>
              <a:tblGrid>
                <a:gridCol w="1130300">
                  <a:extLst>
                    <a:ext uri="{9D8B030D-6E8A-4147-A177-3AD203B41FA5}">
                      <a16:colId xmlns:a16="http://schemas.microsoft.com/office/drawing/2014/main" val="20000"/>
                    </a:ext>
                  </a:extLst>
                </a:gridCol>
                <a:gridCol w="1390014">
                  <a:extLst>
                    <a:ext uri="{9D8B030D-6E8A-4147-A177-3AD203B41FA5}">
                      <a16:colId xmlns:a16="http://schemas.microsoft.com/office/drawing/2014/main" val="20001"/>
                    </a:ext>
                  </a:extLst>
                </a:gridCol>
                <a:gridCol w="1438275">
                  <a:extLst>
                    <a:ext uri="{9D8B030D-6E8A-4147-A177-3AD203B41FA5}">
                      <a16:colId xmlns:a16="http://schemas.microsoft.com/office/drawing/2014/main" val="20002"/>
                    </a:ext>
                  </a:extLst>
                </a:gridCol>
                <a:gridCol w="1749425">
                  <a:extLst>
                    <a:ext uri="{9D8B030D-6E8A-4147-A177-3AD203B41FA5}">
                      <a16:colId xmlns:a16="http://schemas.microsoft.com/office/drawing/2014/main" val="20003"/>
                    </a:ext>
                  </a:extLst>
                </a:gridCol>
              </a:tblGrid>
              <a:tr h="365760">
                <a:tc rowSpan="2">
                  <a:txBody>
                    <a:bodyPr/>
                    <a:lstStyle/>
                    <a:p>
                      <a:pPr>
                        <a:lnSpc>
                          <a:spcPct val="100000"/>
                        </a:lnSpc>
                        <a:spcBef>
                          <a:spcPts val="15"/>
                        </a:spcBef>
                      </a:pPr>
                      <a:endParaRPr sz="1450">
                        <a:latin typeface="Times New Roman"/>
                        <a:cs typeface="Times New Roman"/>
                      </a:endParaRPr>
                    </a:p>
                    <a:p>
                      <a:pPr marL="198755">
                        <a:lnSpc>
                          <a:spcPct val="100000"/>
                        </a:lnSpc>
                        <a:spcBef>
                          <a:spcPts val="5"/>
                        </a:spcBef>
                      </a:pPr>
                      <a:r>
                        <a:rPr sz="1800" b="1" spc="-5" dirty="0">
                          <a:solidFill>
                            <a:srgbClr val="FFFFFF"/>
                          </a:solidFill>
                          <a:latin typeface="Carlito"/>
                          <a:cs typeface="Carlito"/>
                        </a:rPr>
                        <a:t>Dataset</a:t>
                      </a:r>
                      <a:endParaRPr sz="1800">
                        <a:latin typeface="Carlito"/>
                        <a:cs typeface="Carlito"/>
                      </a:endParaRPr>
                    </a:p>
                  </a:txBody>
                  <a:tcPr marL="0" marR="0" marT="1905" marB="0">
                    <a:lnL w="1905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4F81BC"/>
                    </a:solidFill>
                  </a:tcPr>
                </a:tc>
                <a:tc gridSpan="3">
                  <a:txBody>
                    <a:bodyPr/>
                    <a:lstStyle/>
                    <a:p>
                      <a:pPr algn="ctr">
                        <a:lnSpc>
                          <a:spcPct val="100000"/>
                        </a:lnSpc>
                        <a:spcBef>
                          <a:spcPts val="245"/>
                        </a:spcBef>
                      </a:pPr>
                      <a:r>
                        <a:rPr sz="1800" b="1" dirty="0">
                          <a:solidFill>
                            <a:srgbClr val="FFFFFF"/>
                          </a:solidFill>
                          <a:latin typeface="Carlito"/>
                          <a:cs typeface="Carlito"/>
                        </a:rPr>
                        <a:t>Euclidean</a:t>
                      </a:r>
                      <a:r>
                        <a:rPr sz="1800" b="1" spc="-50" dirty="0">
                          <a:solidFill>
                            <a:srgbClr val="FFFFFF"/>
                          </a:solidFill>
                          <a:latin typeface="Carlito"/>
                          <a:cs typeface="Carlito"/>
                        </a:rPr>
                        <a:t> </a:t>
                      </a:r>
                      <a:r>
                        <a:rPr sz="1800" b="1" spc="-5" dirty="0">
                          <a:solidFill>
                            <a:srgbClr val="FFFFFF"/>
                          </a:solidFill>
                          <a:latin typeface="Carlito"/>
                          <a:cs typeface="Carlito"/>
                        </a:rPr>
                        <a:t>Distance</a:t>
                      </a:r>
                      <a:endParaRPr sz="1800">
                        <a:latin typeface="Carlito"/>
                        <a:cs typeface="Carlito"/>
                      </a:endParaRPr>
                    </a:p>
                  </a:txBody>
                  <a:tcPr marL="0" marR="0" marT="31115" marB="0">
                    <a:lnL w="381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65759">
                <a:tc vMerge="1">
                  <a:txBody>
                    <a:bodyPr/>
                    <a:lstStyle/>
                    <a:p>
                      <a:endParaRPr/>
                    </a:p>
                  </a:txBody>
                  <a:tcPr marL="0" marR="0" marT="1905" marB="0">
                    <a:lnL w="19050">
                      <a:solidFill>
                        <a:srgbClr val="FFFFFF"/>
                      </a:solidFill>
                      <a:prstDash val="solid"/>
                    </a:lnL>
                    <a:lnR w="381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270" algn="ctr">
                        <a:lnSpc>
                          <a:spcPct val="100000"/>
                        </a:lnSpc>
                        <a:spcBef>
                          <a:spcPts val="245"/>
                        </a:spcBef>
                      </a:pPr>
                      <a:r>
                        <a:rPr sz="1800" spc="-10" dirty="0">
                          <a:latin typeface="Carlito"/>
                          <a:cs typeface="Carlito"/>
                        </a:rPr>
                        <a:t>Cluster </a:t>
                      </a:r>
                      <a:r>
                        <a:rPr sz="1800" dirty="0">
                          <a:latin typeface="Carlito"/>
                          <a:cs typeface="Carlito"/>
                        </a:rPr>
                        <a:t>1</a:t>
                      </a:r>
                      <a:endParaRPr sz="1800">
                        <a:latin typeface="Carlito"/>
                        <a:cs typeface="Carlito"/>
                      </a:endParaRPr>
                    </a:p>
                  </a:txBody>
                  <a:tcPr marL="0" marR="0" marT="31115" marB="0">
                    <a:lnL w="381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spc="-10" dirty="0">
                          <a:latin typeface="Carlito"/>
                          <a:cs typeface="Carlito"/>
                        </a:rPr>
                        <a:t>Cluster</a:t>
                      </a:r>
                      <a:r>
                        <a:rPr sz="1800" spc="-5" dirty="0">
                          <a:latin typeface="Carlito"/>
                          <a:cs typeface="Carlito"/>
                        </a:rPr>
                        <a:t> </a:t>
                      </a:r>
                      <a:r>
                        <a:rPr sz="1800" dirty="0">
                          <a:latin typeface="Carlito"/>
                          <a:cs typeface="Carlito"/>
                        </a:rPr>
                        <a:t>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635" algn="ctr">
                        <a:lnSpc>
                          <a:spcPct val="100000"/>
                        </a:lnSpc>
                        <a:spcBef>
                          <a:spcPts val="245"/>
                        </a:spcBef>
                      </a:pPr>
                      <a:r>
                        <a:rPr sz="1800" spc="-5" dirty="0">
                          <a:latin typeface="Carlito"/>
                          <a:cs typeface="Carlito"/>
                        </a:rPr>
                        <a:t>Assignment</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400456">
                <a:tc>
                  <a:txBody>
                    <a:bodyPr/>
                    <a:lstStyle/>
                    <a:p>
                      <a:pPr marL="151130">
                        <a:lnSpc>
                          <a:spcPct val="100000"/>
                        </a:lnSpc>
                        <a:spcBef>
                          <a:spcPts val="385"/>
                        </a:spcBef>
                      </a:pPr>
                      <a:r>
                        <a:rPr sz="1800" spc="-5" dirty="0">
                          <a:latin typeface="Carlito"/>
                          <a:cs typeface="Carlito"/>
                        </a:rPr>
                        <a:t>(3.5,</a:t>
                      </a:r>
                      <a:r>
                        <a:rPr sz="1800" spc="-25" dirty="0">
                          <a:latin typeface="Carlito"/>
                          <a:cs typeface="Carlito"/>
                        </a:rPr>
                        <a:t> </a:t>
                      </a:r>
                      <a:r>
                        <a:rPr sz="1800" dirty="0">
                          <a:latin typeface="Carlito"/>
                          <a:cs typeface="Carlito"/>
                        </a:rPr>
                        <a:t>4.5)</a:t>
                      </a:r>
                      <a:endParaRPr sz="1800">
                        <a:latin typeface="Carlito"/>
                        <a:cs typeface="Carlito"/>
                      </a:endParaRPr>
                    </a:p>
                  </a:txBody>
                  <a:tcPr marL="0" marR="0" marT="48895" marB="0">
                    <a:lnL w="1905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85"/>
                        </a:spcBef>
                      </a:pPr>
                      <a:r>
                        <a:rPr sz="1800" dirty="0">
                          <a:latin typeface="Carlito"/>
                          <a:cs typeface="Carlito"/>
                        </a:rPr>
                        <a:t>3.75</a:t>
                      </a:r>
                      <a:endParaRPr sz="1800">
                        <a:latin typeface="Carlito"/>
                        <a:cs typeface="Carlito"/>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385"/>
                        </a:spcBef>
                      </a:pPr>
                      <a:r>
                        <a:rPr sz="1800" dirty="0">
                          <a:latin typeface="Carlito"/>
                          <a:cs typeface="Carlito"/>
                        </a:rPr>
                        <a:t>0.86</a:t>
                      </a:r>
                      <a:endParaRPr sz="1800">
                        <a:latin typeface="Carlito"/>
                        <a:cs typeface="Carlito"/>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gn="ctr">
                        <a:lnSpc>
                          <a:spcPct val="100000"/>
                        </a:lnSpc>
                        <a:spcBef>
                          <a:spcPts val="385"/>
                        </a:spcBef>
                      </a:pPr>
                      <a:r>
                        <a:rPr sz="1800" dirty="0">
                          <a:latin typeface="Carlito"/>
                          <a:cs typeface="Carlito"/>
                        </a:rPr>
                        <a:t>K-2</a:t>
                      </a:r>
                      <a:endParaRPr sz="1800">
                        <a:latin typeface="Carlito"/>
                        <a:cs typeface="Carlito"/>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graphicFrame>
        <p:nvGraphicFramePr>
          <p:cNvPr id="6" name="object 6"/>
          <p:cNvGraphicFramePr>
            <a:graphicFrameLocks noGrp="1"/>
          </p:cNvGraphicFramePr>
          <p:nvPr/>
        </p:nvGraphicFramePr>
        <p:xfrm>
          <a:off x="7218426" y="700531"/>
          <a:ext cx="1864995" cy="1707893"/>
        </p:xfrm>
        <a:graphic>
          <a:graphicData uri="http://schemas.openxmlformats.org/drawingml/2006/table">
            <a:tbl>
              <a:tblPr firstRow="1" bandRow="1">
                <a:tableStyleId>{2D5ABB26-0587-4C30-8999-92F81FD0307C}</a:tableStyleId>
              </a:tblPr>
              <a:tblGrid>
                <a:gridCol w="621665">
                  <a:extLst>
                    <a:ext uri="{9D8B030D-6E8A-4147-A177-3AD203B41FA5}">
                      <a16:colId xmlns:a16="http://schemas.microsoft.com/office/drawing/2014/main" val="20000"/>
                    </a:ext>
                  </a:extLst>
                </a:gridCol>
                <a:gridCol w="621665">
                  <a:extLst>
                    <a:ext uri="{9D8B030D-6E8A-4147-A177-3AD203B41FA5}">
                      <a16:colId xmlns:a16="http://schemas.microsoft.com/office/drawing/2014/main" val="20001"/>
                    </a:ext>
                  </a:extLst>
                </a:gridCol>
                <a:gridCol w="621665">
                  <a:extLst>
                    <a:ext uri="{9D8B030D-6E8A-4147-A177-3AD203B41FA5}">
                      <a16:colId xmlns:a16="http://schemas.microsoft.com/office/drawing/2014/main" val="20002"/>
                    </a:ext>
                  </a:extLst>
                </a:gridCol>
              </a:tblGrid>
              <a:tr h="213359">
                <a:tc>
                  <a:txBody>
                    <a:bodyPr/>
                    <a:lstStyle/>
                    <a:p>
                      <a:pPr marL="1905" algn="ctr">
                        <a:lnSpc>
                          <a:spcPct val="100000"/>
                        </a:lnSpc>
                        <a:spcBef>
                          <a:spcPts val="305"/>
                        </a:spcBef>
                      </a:pPr>
                      <a:r>
                        <a:rPr sz="800" b="1" dirty="0">
                          <a:solidFill>
                            <a:srgbClr val="FFFFFF"/>
                          </a:solidFill>
                          <a:latin typeface="Carlito"/>
                          <a:cs typeface="Carlito"/>
                        </a:rPr>
                        <a:t>Individual</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270" algn="ctr">
                        <a:lnSpc>
                          <a:spcPct val="100000"/>
                        </a:lnSpc>
                        <a:spcBef>
                          <a:spcPts val="305"/>
                        </a:spcBef>
                      </a:pPr>
                      <a:r>
                        <a:rPr sz="800" b="1" spc="-5" dirty="0">
                          <a:solidFill>
                            <a:srgbClr val="FFFFFF"/>
                          </a:solidFill>
                          <a:latin typeface="Carlito"/>
                          <a:cs typeface="Carlito"/>
                        </a:rPr>
                        <a:t>Variable</a:t>
                      </a:r>
                      <a:r>
                        <a:rPr sz="800" b="1" spc="-15" dirty="0">
                          <a:solidFill>
                            <a:srgbClr val="FFFFFF"/>
                          </a:solidFill>
                          <a:latin typeface="Carlito"/>
                          <a:cs typeface="Carlito"/>
                        </a:rPr>
                        <a:t> </a:t>
                      </a:r>
                      <a:r>
                        <a:rPr sz="800" b="1" dirty="0">
                          <a:solidFill>
                            <a:srgbClr val="FFFFFF"/>
                          </a:solidFill>
                          <a:latin typeface="Carlito"/>
                          <a:cs typeface="Carlito"/>
                        </a:rPr>
                        <a:t>1</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905" algn="ctr">
                        <a:lnSpc>
                          <a:spcPct val="100000"/>
                        </a:lnSpc>
                        <a:spcBef>
                          <a:spcPts val="305"/>
                        </a:spcBef>
                      </a:pPr>
                      <a:r>
                        <a:rPr sz="800" b="1" spc="-5" dirty="0">
                          <a:solidFill>
                            <a:srgbClr val="FFFFFF"/>
                          </a:solidFill>
                          <a:latin typeface="Carlito"/>
                          <a:cs typeface="Carlito"/>
                        </a:rPr>
                        <a:t>Variable</a:t>
                      </a:r>
                      <a:r>
                        <a:rPr sz="800" b="1" spc="-15" dirty="0">
                          <a:solidFill>
                            <a:srgbClr val="FFFFFF"/>
                          </a:solidFill>
                          <a:latin typeface="Carlito"/>
                          <a:cs typeface="Carlito"/>
                        </a:rPr>
                        <a:t> </a:t>
                      </a:r>
                      <a:r>
                        <a:rPr sz="800" b="1" dirty="0">
                          <a:solidFill>
                            <a:srgbClr val="FFFFFF"/>
                          </a:solidFill>
                          <a:latin typeface="Carlito"/>
                          <a:cs typeface="Carlito"/>
                        </a:rPr>
                        <a:t>2</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213360">
                <a:tc>
                  <a:txBody>
                    <a:bodyPr/>
                    <a:lstStyle/>
                    <a:p>
                      <a:pPr marL="2540" algn="ctr">
                        <a:lnSpc>
                          <a:spcPct val="100000"/>
                        </a:lnSpc>
                        <a:spcBef>
                          <a:spcPts val="305"/>
                        </a:spcBef>
                      </a:pPr>
                      <a:r>
                        <a:rPr sz="800" dirty="0">
                          <a:latin typeface="Carlito"/>
                          <a:cs typeface="Carlito"/>
                        </a:rPr>
                        <a:t>1</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305"/>
                        </a:spcBef>
                      </a:pPr>
                      <a:r>
                        <a:rPr sz="800" dirty="0">
                          <a:latin typeface="Carlito"/>
                          <a:cs typeface="Carlito"/>
                        </a:rPr>
                        <a:t>1.0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305"/>
                        </a:spcBef>
                      </a:pPr>
                      <a:r>
                        <a:rPr sz="800" dirty="0">
                          <a:latin typeface="Carlito"/>
                          <a:cs typeface="Carlito"/>
                        </a:rPr>
                        <a:t>1.0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213360">
                <a:tc>
                  <a:txBody>
                    <a:bodyPr/>
                    <a:lstStyle/>
                    <a:p>
                      <a:pPr marL="2540" algn="ctr">
                        <a:lnSpc>
                          <a:spcPct val="100000"/>
                        </a:lnSpc>
                        <a:spcBef>
                          <a:spcPts val="305"/>
                        </a:spcBef>
                      </a:pPr>
                      <a:r>
                        <a:rPr sz="800" dirty="0">
                          <a:latin typeface="Carlito"/>
                          <a:cs typeface="Carlito"/>
                        </a:rPr>
                        <a:t>2</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05"/>
                        </a:spcBef>
                      </a:pPr>
                      <a:r>
                        <a:rPr sz="800" dirty="0">
                          <a:latin typeface="Carlito"/>
                          <a:cs typeface="Carlito"/>
                        </a:rPr>
                        <a:t>1.5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305"/>
                        </a:spcBef>
                      </a:pPr>
                      <a:r>
                        <a:rPr sz="800" dirty="0">
                          <a:latin typeface="Carlito"/>
                          <a:cs typeface="Carlito"/>
                        </a:rPr>
                        <a:t>2.0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213360">
                <a:tc>
                  <a:txBody>
                    <a:bodyPr/>
                    <a:lstStyle/>
                    <a:p>
                      <a:pPr marL="2540" algn="ctr">
                        <a:lnSpc>
                          <a:spcPct val="100000"/>
                        </a:lnSpc>
                        <a:spcBef>
                          <a:spcPts val="305"/>
                        </a:spcBef>
                      </a:pPr>
                      <a:r>
                        <a:rPr sz="800" dirty="0">
                          <a:latin typeface="Carlito"/>
                          <a:cs typeface="Carlito"/>
                        </a:rPr>
                        <a:t>3</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305"/>
                        </a:spcBef>
                      </a:pPr>
                      <a:r>
                        <a:rPr sz="800" dirty="0">
                          <a:latin typeface="Carlito"/>
                          <a:cs typeface="Carlito"/>
                        </a:rPr>
                        <a:t>3.0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305"/>
                        </a:spcBef>
                      </a:pPr>
                      <a:r>
                        <a:rPr sz="800" dirty="0">
                          <a:latin typeface="Carlito"/>
                          <a:cs typeface="Carlito"/>
                        </a:rPr>
                        <a:t>4.0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213360">
                <a:tc>
                  <a:txBody>
                    <a:bodyPr/>
                    <a:lstStyle/>
                    <a:p>
                      <a:pPr marL="2540" algn="ctr">
                        <a:lnSpc>
                          <a:spcPct val="100000"/>
                        </a:lnSpc>
                        <a:spcBef>
                          <a:spcPts val="305"/>
                        </a:spcBef>
                      </a:pPr>
                      <a:r>
                        <a:rPr sz="800" dirty="0">
                          <a:latin typeface="Carlito"/>
                          <a:cs typeface="Carlito"/>
                        </a:rPr>
                        <a:t>4</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270" algn="ctr">
                        <a:lnSpc>
                          <a:spcPct val="100000"/>
                        </a:lnSpc>
                        <a:spcBef>
                          <a:spcPts val="305"/>
                        </a:spcBef>
                      </a:pPr>
                      <a:r>
                        <a:rPr sz="800" dirty="0">
                          <a:latin typeface="Carlito"/>
                          <a:cs typeface="Carlito"/>
                        </a:rPr>
                        <a:t>5.0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305"/>
                        </a:spcBef>
                      </a:pPr>
                      <a:r>
                        <a:rPr sz="800" dirty="0">
                          <a:latin typeface="Carlito"/>
                          <a:cs typeface="Carlito"/>
                        </a:rPr>
                        <a:t>7.0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213359">
                <a:tc>
                  <a:txBody>
                    <a:bodyPr/>
                    <a:lstStyle/>
                    <a:p>
                      <a:pPr marL="2540" algn="ctr">
                        <a:lnSpc>
                          <a:spcPct val="100000"/>
                        </a:lnSpc>
                        <a:spcBef>
                          <a:spcPts val="305"/>
                        </a:spcBef>
                      </a:pPr>
                      <a:r>
                        <a:rPr sz="800" dirty="0">
                          <a:latin typeface="Carlito"/>
                          <a:cs typeface="Carlito"/>
                        </a:rPr>
                        <a:t>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305"/>
                        </a:spcBef>
                      </a:pPr>
                      <a:r>
                        <a:rPr sz="800" dirty="0">
                          <a:latin typeface="Carlito"/>
                          <a:cs typeface="Carlito"/>
                        </a:rPr>
                        <a:t>3.5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905" algn="ctr">
                        <a:lnSpc>
                          <a:spcPct val="100000"/>
                        </a:lnSpc>
                        <a:spcBef>
                          <a:spcPts val="305"/>
                        </a:spcBef>
                      </a:pPr>
                      <a:r>
                        <a:rPr sz="800" dirty="0">
                          <a:latin typeface="Carlito"/>
                          <a:cs typeface="Carlito"/>
                        </a:rPr>
                        <a:t>5.0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r h="230123">
                <a:tc>
                  <a:txBody>
                    <a:bodyPr/>
                    <a:lstStyle/>
                    <a:p>
                      <a:pPr marL="2540" algn="ctr">
                        <a:lnSpc>
                          <a:spcPct val="100000"/>
                        </a:lnSpc>
                        <a:spcBef>
                          <a:spcPts val="305"/>
                        </a:spcBef>
                      </a:pPr>
                      <a:r>
                        <a:rPr sz="800" dirty="0">
                          <a:latin typeface="Carlito"/>
                          <a:cs typeface="Carlito"/>
                        </a:rPr>
                        <a:t>6</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28575">
                      <a:solidFill>
                        <a:srgbClr val="C0504D"/>
                      </a:solidFill>
                      <a:prstDash val="solid"/>
                    </a:lnB>
                    <a:solidFill>
                      <a:srgbClr val="E9ECF4"/>
                    </a:solidFill>
                  </a:tcPr>
                </a:tc>
                <a:tc>
                  <a:txBody>
                    <a:bodyPr/>
                    <a:lstStyle/>
                    <a:p>
                      <a:pPr marL="1270" algn="ctr">
                        <a:lnSpc>
                          <a:spcPct val="100000"/>
                        </a:lnSpc>
                        <a:spcBef>
                          <a:spcPts val="305"/>
                        </a:spcBef>
                      </a:pPr>
                      <a:r>
                        <a:rPr sz="800" dirty="0">
                          <a:latin typeface="Carlito"/>
                          <a:cs typeface="Carlito"/>
                        </a:rPr>
                        <a:t>4.5</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28575">
                      <a:solidFill>
                        <a:srgbClr val="C0504D"/>
                      </a:solidFill>
                      <a:prstDash val="solid"/>
                    </a:lnB>
                    <a:solidFill>
                      <a:srgbClr val="E9ECF4"/>
                    </a:solidFill>
                  </a:tcPr>
                </a:tc>
                <a:tc>
                  <a:txBody>
                    <a:bodyPr/>
                    <a:lstStyle/>
                    <a:p>
                      <a:pPr marL="1905" algn="ctr">
                        <a:lnSpc>
                          <a:spcPct val="100000"/>
                        </a:lnSpc>
                        <a:spcBef>
                          <a:spcPts val="305"/>
                        </a:spcBef>
                      </a:pPr>
                      <a:r>
                        <a:rPr sz="800" dirty="0">
                          <a:latin typeface="Carlito"/>
                          <a:cs typeface="Carlito"/>
                        </a:rPr>
                        <a:t>5.0</a:t>
                      </a:r>
                      <a:endParaRPr sz="800">
                        <a:latin typeface="Carlito"/>
                        <a:cs typeface="Carlito"/>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28575">
                      <a:solidFill>
                        <a:srgbClr val="C0504D"/>
                      </a:solidFill>
                      <a:prstDash val="solid"/>
                    </a:lnB>
                    <a:solidFill>
                      <a:srgbClr val="E9ECF4"/>
                    </a:solidFill>
                  </a:tcPr>
                </a:tc>
                <a:extLst>
                  <a:ext uri="{0D108BD9-81ED-4DB2-BD59-A6C34878D82A}">
                    <a16:rowId xmlns:a16="http://schemas.microsoft.com/office/drawing/2014/main" val="10006"/>
                  </a:ext>
                </a:extLst>
              </a:tr>
              <a:tr h="197612">
                <a:tc>
                  <a:txBody>
                    <a:bodyPr/>
                    <a:lstStyle/>
                    <a:p>
                      <a:pPr marL="2540" algn="ctr">
                        <a:lnSpc>
                          <a:spcPct val="100000"/>
                        </a:lnSpc>
                        <a:spcBef>
                          <a:spcPts val="175"/>
                        </a:spcBef>
                      </a:pPr>
                      <a:r>
                        <a:rPr sz="800" dirty="0">
                          <a:latin typeface="Carlito"/>
                          <a:cs typeface="Carlito"/>
                        </a:rPr>
                        <a:t>7</a:t>
                      </a:r>
                      <a:endParaRPr sz="800">
                        <a:latin typeface="Carlito"/>
                        <a:cs typeface="Carlito"/>
                      </a:endParaRPr>
                    </a:p>
                  </a:txBody>
                  <a:tcPr marL="0" marR="0" marT="22225" marB="0">
                    <a:lnL w="28575">
                      <a:solidFill>
                        <a:srgbClr val="C0504D"/>
                      </a:solidFill>
                      <a:prstDash val="solid"/>
                    </a:lnL>
                    <a:lnR w="12700">
                      <a:solidFill>
                        <a:srgbClr val="FFFFFF"/>
                      </a:solidFill>
                      <a:prstDash val="solid"/>
                    </a:lnR>
                    <a:lnT w="28575">
                      <a:solidFill>
                        <a:srgbClr val="C0504D"/>
                      </a:solidFill>
                      <a:prstDash val="solid"/>
                    </a:lnT>
                    <a:lnB w="28575">
                      <a:solidFill>
                        <a:srgbClr val="C0504D"/>
                      </a:solidFill>
                      <a:prstDash val="solid"/>
                    </a:lnB>
                    <a:solidFill>
                      <a:srgbClr val="D0D7E8"/>
                    </a:solidFill>
                  </a:tcPr>
                </a:tc>
                <a:tc>
                  <a:txBody>
                    <a:bodyPr/>
                    <a:lstStyle/>
                    <a:p>
                      <a:pPr marL="1270" algn="ctr">
                        <a:lnSpc>
                          <a:spcPct val="100000"/>
                        </a:lnSpc>
                        <a:spcBef>
                          <a:spcPts val="175"/>
                        </a:spcBef>
                      </a:pPr>
                      <a:r>
                        <a:rPr sz="800" dirty="0">
                          <a:latin typeface="Carlito"/>
                          <a:cs typeface="Carlito"/>
                        </a:rPr>
                        <a:t>3.5</a:t>
                      </a:r>
                      <a:endParaRPr sz="800">
                        <a:latin typeface="Carlito"/>
                        <a:cs typeface="Carlito"/>
                      </a:endParaRPr>
                    </a:p>
                  </a:txBody>
                  <a:tcPr marL="0" marR="0" marT="22225" marB="0">
                    <a:lnL w="12700">
                      <a:solidFill>
                        <a:srgbClr val="FFFFFF"/>
                      </a:solidFill>
                      <a:prstDash val="solid"/>
                    </a:lnL>
                    <a:lnR w="12700">
                      <a:solidFill>
                        <a:srgbClr val="FFFFFF"/>
                      </a:solidFill>
                      <a:prstDash val="solid"/>
                    </a:lnR>
                    <a:lnT w="28575">
                      <a:solidFill>
                        <a:srgbClr val="C0504D"/>
                      </a:solidFill>
                      <a:prstDash val="solid"/>
                    </a:lnT>
                    <a:lnB w="28575">
                      <a:solidFill>
                        <a:srgbClr val="C0504D"/>
                      </a:solidFill>
                      <a:prstDash val="solid"/>
                    </a:lnB>
                    <a:solidFill>
                      <a:srgbClr val="D0D7E8"/>
                    </a:solidFill>
                  </a:tcPr>
                </a:tc>
                <a:tc>
                  <a:txBody>
                    <a:bodyPr/>
                    <a:lstStyle/>
                    <a:p>
                      <a:pPr marL="1905" algn="ctr">
                        <a:lnSpc>
                          <a:spcPct val="100000"/>
                        </a:lnSpc>
                        <a:spcBef>
                          <a:spcPts val="175"/>
                        </a:spcBef>
                      </a:pPr>
                      <a:r>
                        <a:rPr sz="800" dirty="0">
                          <a:latin typeface="Carlito"/>
                          <a:cs typeface="Carlito"/>
                        </a:rPr>
                        <a:t>4.5</a:t>
                      </a:r>
                      <a:endParaRPr sz="800">
                        <a:latin typeface="Carlito"/>
                        <a:cs typeface="Carlito"/>
                      </a:endParaRPr>
                    </a:p>
                  </a:txBody>
                  <a:tcPr marL="0" marR="0" marT="22225" marB="0">
                    <a:lnL w="12700">
                      <a:solidFill>
                        <a:srgbClr val="FFFFFF"/>
                      </a:solidFill>
                      <a:prstDash val="solid"/>
                    </a:lnL>
                    <a:lnR w="28575">
                      <a:solidFill>
                        <a:srgbClr val="C0504D"/>
                      </a:solidFill>
                      <a:prstDash val="solid"/>
                    </a:lnR>
                    <a:lnT w="28575">
                      <a:solidFill>
                        <a:srgbClr val="C0504D"/>
                      </a:solidFill>
                      <a:prstDash val="solid"/>
                    </a:lnT>
                    <a:lnB w="28575">
                      <a:solidFill>
                        <a:srgbClr val="C0504D"/>
                      </a:solidFill>
                      <a:prstDash val="solid"/>
                    </a:lnB>
                    <a:solidFill>
                      <a:srgbClr val="D0D7E8"/>
                    </a:solidFill>
                  </a:tcPr>
                </a:tc>
                <a:extLst>
                  <a:ext uri="{0D108BD9-81ED-4DB2-BD59-A6C34878D82A}">
                    <a16:rowId xmlns:a16="http://schemas.microsoft.com/office/drawing/2014/main" val="10007"/>
                  </a:ext>
                </a:extLst>
              </a:tr>
            </a:tbl>
          </a:graphicData>
        </a:graphic>
      </p:graphicFrame>
      <p:sp>
        <p:nvSpPr>
          <p:cNvPr id="7" name="object 7"/>
          <p:cNvSpPr/>
          <p:nvPr/>
        </p:nvSpPr>
        <p:spPr>
          <a:xfrm>
            <a:off x="4037203" y="2410586"/>
            <a:ext cx="517144" cy="7937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628388" y="3849751"/>
            <a:ext cx="471805" cy="63500"/>
          </a:xfrm>
          <a:custGeom>
            <a:avLst/>
            <a:gdLst/>
            <a:ahLst/>
            <a:cxnLst/>
            <a:rect l="l" t="t" r="r" b="b"/>
            <a:pathLst>
              <a:path w="471804" h="63500">
                <a:moveTo>
                  <a:pt x="2048" y="60789"/>
                </a:moveTo>
                <a:lnTo>
                  <a:pt x="2539" y="61861"/>
                </a:lnTo>
                <a:lnTo>
                  <a:pt x="4063" y="62941"/>
                </a:lnTo>
                <a:lnTo>
                  <a:pt x="7747" y="63055"/>
                </a:lnTo>
                <a:lnTo>
                  <a:pt x="9398" y="62064"/>
                </a:lnTo>
                <a:lnTo>
                  <a:pt x="9824" y="61290"/>
                </a:lnTo>
                <a:lnTo>
                  <a:pt x="2666" y="61290"/>
                </a:lnTo>
                <a:lnTo>
                  <a:pt x="2539" y="61163"/>
                </a:lnTo>
                <a:lnTo>
                  <a:pt x="2048" y="60789"/>
                </a:lnTo>
                <a:close/>
              </a:path>
              <a:path w="471804" h="63500">
                <a:moveTo>
                  <a:pt x="1777" y="60198"/>
                </a:moveTo>
                <a:lnTo>
                  <a:pt x="2048" y="60789"/>
                </a:lnTo>
                <a:lnTo>
                  <a:pt x="2539" y="61163"/>
                </a:lnTo>
                <a:lnTo>
                  <a:pt x="2666" y="61290"/>
                </a:lnTo>
                <a:lnTo>
                  <a:pt x="1777" y="60198"/>
                </a:lnTo>
                <a:close/>
              </a:path>
              <a:path w="471804" h="63500">
                <a:moveTo>
                  <a:pt x="10101" y="59956"/>
                </a:moveTo>
                <a:lnTo>
                  <a:pt x="1650" y="59956"/>
                </a:lnTo>
                <a:lnTo>
                  <a:pt x="1777" y="60198"/>
                </a:lnTo>
                <a:lnTo>
                  <a:pt x="2666" y="61290"/>
                </a:lnTo>
                <a:lnTo>
                  <a:pt x="9824" y="61290"/>
                </a:lnTo>
                <a:lnTo>
                  <a:pt x="10076" y="60833"/>
                </a:lnTo>
                <a:lnTo>
                  <a:pt x="9778" y="60833"/>
                </a:lnTo>
                <a:lnTo>
                  <a:pt x="10101" y="59956"/>
                </a:lnTo>
                <a:close/>
              </a:path>
              <a:path w="471804" h="63500">
                <a:moveTo>
                  <a:pt x="10598" y="59659"/>
                </a:moveTo>
                <a:lnTo>
                  <a:pt x="10163" y="59790"/>
                </a:lnTo>
                <a:lnTo>
                  <a:pt x="9778" y="60833"/>
                </a:lnTo>
                <a:lnTo>
                  <a:pt x="10382" y="60280"/>
                </a:lnTo>
                <a:lnTo>
                  <a:pt x="10598" y="59659"/>
                </a:lnTo>
                <a:close/>
              </a:path>
              <a:path w="471804" h="63500">
                <a:moveTo>
                  <a:pt x="10382" y="60280"/>
                </a:moveTo>
                <a:lnTo>
                  <a:pt x="9778" y="60833"/>
                </a:lnTo>
                <a:lnTo>
                  <a:pt x="10076" y="60833"/>
                </a:lnTo>
                <a:lnTo>
                  <a:pt x="10382" y="60280"/>
                </a:lnTo>
                <a:close/>
              </a:path>
              <a:path w="471804" h="63500">
                <a:moveTo>
                  <a:pt x="58420" y="41338"/>
                </a:moveTo>
                <a:lnTo>
                  <a:pt x="16763" y="46088"/>
                </a:lnTo>
                <a:lnTo>
                  <a:pt x="0" y="57823"/>
                </a:lnTo>
                <a:lnTo>
                  <a:pt x="839" y="59790"/>
                </a:lnTo>
                <a:lnTo>
                  <a:pt x="955" y="59956"/>
                </a:lnTo>
                <a:lnTo>
                  <a:pt x="2048" y="60789"/>
                </a:lnTo>
                <a:lnTo>
                  <a:pt x="1650" y="59956"/>
                </a:lnTo>
                <a:lnTo>
                  <a:pt x="10101" y="59956"/>
                </a:lnTo>
                <a:lnTo>
                  <a:pt x="10033" y="59829"/>
                </a:lnTo>
                <a:lnTo>
                  <a:pt x="10228" y="59613"/>
                </a:lnTo>
                <a:lnTo>
                  <a:pt x="11557" y="56007"/>
                </a:lnTo>
                <a:lnTo>
                  <a:pt x="27343" y="56007"/>
                </a:lnTo>
                <a:lnTo>
                  <a:pt x="37001" y="54838"/>
                </a:lnTo>
                <a:lnTo>
                  <a:pt x="47878" y="54000"/>
                </a:lnTo>
                <a:lnTo>
                  <a:pt x="72136" y="52578"/>
                </a:lnTo>
                <a:lnTo>
                  <a:pt x="211849" y="41351"/>
                </a:lnTo>
                <a:lnTo>
                  <a:pt x="58420" y="41351"/>
                </a:lnTo>
                <a:close/>
              </a:path>
              <a:path w="471804" h="63500">
                <a:moveTo>
                  <a:pt x="1777" y="60198"/>
                </a:moveTo>
                <a:lnTo>
                  <a:pt x="1904" y="60502"/>
                </a:lnTo>
                <a:lnTo>
                  <a:pt x="1777" y="60198"/>
                </a:lnTo>
                <a:close/>
              </a:path>
              <a:path w="471804" h="63500">
                <a:moveTo>
                  <a:pt x="11284" y="59454"/>
                </a:moveTo>
                <a:lnTo>
                  <a:pt x="10598" y="59659"/>
                </a:lnTo>
                <a:lnTo>
                  <a:pt x="10382" y="60280"/>
                </a:lnTo>
                <a:lnTo>
                  <a:pt x="11284" y="59454"/>
                </a:lnTo>
                <a:close/>
              </a:path>
              <a:path w="471804" h="63500">
                <a:moveTo>
                  <a:pt x="10178" y="59748"/>
                </a:moveTo>
                <a:lnTo>
                  <a:pt x="10033" y="59829"/>
                </a:lnTo>
                <a:lnTo>
                  <a:pt x="10163" y="59790"/>
                </a:lnTo>
                <a:close/>
              </a:path>
              <a:path w="471804" h="63500">
                <a:moveTo>
                  <a:pt x="10163" y="59790"/>
                </a:moveTo>
                <a:lnTo>
                  <a:pt x="10033" y="59829"/>
                </a:lnTo>
                <a:lnTo>
                  <a:pt x="10163" y="59790"/>
                </a:lnTo>
                <a:close/>
              </a:path>
              <a:path w="471804" h="63500">
                <a:moveTo>
                  <a:pt x="10613" y="59613"/>
                </a:moveTo>
                <a:lnTo>
                  <a:pt x="10419" y="59613"/>
                </a:lnTo>
                <a:lnTo>
                  <a:pt x="10178" y="59748"/>
                </a:lnTo>
                <a:lnTo>
                  <a:pt x="10598" y="59659"/>
                </a:lnTo>
                <a:close/>
              </a:path>
              <a:path w="471804" h="63500">
                <a:moveTo>
                  <a:pt x="11557" y="56007"/>
                </a:moveTo>
                <a:lnTo>
                  <a:pt x="10178" y="59748"/>
                </a:lnTo>
                <a:lnTo>
                  <a:pt x="10564" y="59532"/>
                </a:lnTo>
                <a:lnTo>
                  <a:pt x="10922" y="58318"/>
                </a:lnTo>
                <a:lnTo>
                  <a:pt x="11557" y="56248"/>
                </a:lnTo>
                <a:lnTo>
                  <a:pt x="11557" y="56007"/>
                </a:lnTo>
                <a:close/>
              </a:path>
              <a:path w="471804" h="63500">
                <a:moveTo>
                  <a:pt x="12191" y="58623"/>
                </a:moveTo>
                <a:lnTo>
                  <a:pt x="10714" y="59448"/>
                </a:lnTo>
                <a:lnTo>
                  <a:pt x="10598" y="59659"/>
                </a:lnTo>
                <a:lnTo>
                  <a:pt x="11290" y="59448"/>
                </a:lnTo>
                <a:lnTo>
                  <a:pt x="12191" y="58623"/>
                </a:lnTo>
                <a:close/>
              </a:path>
              <a:path w="471804" h="63500">
                <a:moveTo>
                  <a:pt x="10564" y="59532"/>
                </a:moveTo>
                <a:lnTo>
                  <a:pt x="10419" y="59613"/>
                </a:lnTo>
                <a:lnTo>
                  <a:pt x="10564" y="59532"/>
                </a:lnTo>
                <a:close/>
              </a:path>
              <a:path w="471804" h="63500">
                <a:moveTo>
                  <a:pt x="10657" y="59480"/>
                </a:moveTo>
                <a:lnTo>
                  <a:pt x="10540" y="59613"/>
                </a:lnTo>
                <a:lnTo>
                  <a:pt x="10657" y="59480"/>
                </a:lnTo>
                <a:close/>
              </a:path>
              <a:path w="471804" h="63500">
                <a:moveTo>
                  <a:pt x="10922" y="58318"/>
                </a:moveTo>
                <a:lnTo>
                  <a:pt x="10564" y="59532"/>
                </a:lnTo>
                <a:lnTo>
                  <a:pt x="10883" y="58674"/>
                </a:lnTo>
                <a:lnTo>
                  <a:pt x="10922" y="58318"/>
                </a:lnTo>
                <a:close/>
              </a:path>
              <a:path w="471804" h="63500">
                <a:moveTo>
                  <a:pt x="27304" y="56007"/>
                </a:moveTo>
                <a:lnTo>
                  <a:pt x="11557" y="56007"/>
                </a:lnTo>
                <a:lnTo>
                  <a:pt x="11557" y="56248"/>
                </a:lnTo>
                <a:lnTo>
                  <a:pt x="10981" y="58318"/>
                </a:lnTo>
                <a:lnTo>
                  <a:pt x="10922" y="58674"/>
                </a:lnTo>
                <a:lnTo>
                  <a:pt x="10657" y="59480"/>
                </a:lnTo>
                <a:lnTo>
                  <a:pt x="12191" y="58623"/>
                </a:lnTo>
                <a:lnTo>
                  <a:pt x="13970" y="58623"/>
                </a:lnTo>
                <a:lnTo>
                  <a:pt x="19558" y="57327"/>
                </a:lnTo>
                <a:lnTo>
                  <a:pt x="27011" y="56057"/>
                </a:lnTo>
                <a:lnTo>
                  <a:pt x="27304" y="56007"/>
                </a:lnTo>
                <a:close/>
              </a:path>
              <a:path w="471804" h="63500">
                <a:moveTo>
                  <a:pt x="14054" y="58623"/>
                </a:moveTo>
                <a:lnTo>
                  <a:pt x="12191" y="58623"/>
                </a:lnTo>
                <a:lnTo>
                  <a:pt x="11284" y="59454"/>
                </a:lnTo>
                <a:lnTo>
                  <a:pt x="14054" y="58623"/>
                </a:lnTo>
                <a:close/>
              </a:path>
              <a:path w="471804" h="63500">
                <a:moveTo>
                  <a:pt x="10922" y="58534"/>
                </a:moveTo>
                <a:lnTo>
                  <a:pt x="10667" y="59448"/>
                </a:lnTo>
                <a:lnTo>
                  <a:pt x="10922" y="58674"/>
                </a:lnTo>
                <a:lnTo>
                  <a:pt x="10922" y="58534"/>
                </a:lnTo>
                <a:close/>
              </a:path>
              <a:path w="471804" h="63500">
                <a:moveTo>
                  <a:pt x="14342" y="58536"/>
                </a:moveTo>
                <a:lnTo>
                  <a:pt x="13970" y="58623"/>
                </a:lnTo>
                <a:lnTo>
                  <a:pt x="14342" y="58536"/>
                </a:lnTo>
                <a:close/>
              </a:path>
              <a:path w="471804" h="63500">
                <a:moveTo>
                  <a:pt x="10981" y="58318"/>
                </a:moveTo>
                <a:lnTo>
                  <a:pt x="10922" y="58534"/>
                </a:lnTo>
                <a:lnTo>
                  <a:pt x="10981" y="58318"/>
                </a:lnTo>
                <a:close/>
              </a:path>
              <a:path w="471804" h="63500">
                <a:moveTo>
                  <a:pt x="19671" y="57327"/>
                </a:moveTo>
                <a:lnTo>
                  <a:pt x="19303" y="57391"/>
                </a:lnTo>
                <a:lnTo>
                  <a:pt x="19671" y="57327"/>
                </a:lnTo>
                <a:close/>
              </a:path>
              <a:path w="471804" h="63500">
                <a:moveTo>
                  <a:pt x="397890" y="16890"/>
                </a:moveTo>
                <a:lnTo>
                  <a:pt x="382650" y="17780"/>
                </a:lnTo>
                <a:lnTo>
                  <a:pt x="286003" y="22860"/>
                </a:lnTo>
                <a:lnTo>
                  <a:pt x="238760" y="26174"/>
                </a:lnTo>
                <a:lnTo>
                  <a:pt x="71247" y="40525"/>
                </a:lnTo>
                <a:lnTo>
                  <a:pt x="58420" y="41351"/>
                </a:lnTo>
                <a:lnTo>
                  <a:pt x="211849" y="41351"/>
                </a:lnTo>
                <a:lnTo>
                  <a:pt x="216026" y="40995"/>
                </a:lnTo>
                <a:lnTo>
                  <a:pt x="239775" y="39166"/>
                </a:lnTo>
                <a:lnTo>
                  <a:pt x="308356" y="34798"/>
                </a:lnTo>
                <a:lnTo>
                  <a:pt x="348614" y="32816"/>
                </a:lnTo>
                <a:lnTo>
                  <a:pt x="398779" y="30721"/>
                </a:lnTo>
                <a:lnTo>
                  <a:pt x="414020" y="29641"/>
                </a:lnTo>
                <a:lnTo>
                  <a:pt x="424051" y="28520"/>
                </a:lnTo>
                <a:lnTo>
                  <a:pt x="422563" y="24726"/>
                </a:lnTo>
                <a:lnTo>
                  <a:pt x="422608" y="24434"/>
                </a:lnTo>
                <a:lnTo>
                  <a:pt x="423672" y="21717"/>
                </a:lnTo>
                <a:lnTo>
                  <a:pt x="426212" y="20574"/>
                </a:lnTo>
                <a:lnTo>
                  <a:pt x="433565" y="17018"/>
                </a:lnTo>
                <a:lnTo>
                  <a:pt x="397637" y="17018"/>
                </a:lnTo>
                <a:lnTo>
                  <a:pt x="397890" y="16890"/>
                </a:lnTo>
                <a:close/>
              </a:path>
              <a:path w="471804" h="63500">
                <a:moveTo>
                  <a:pt x="458597" y="20828"/>
                </a:moveTo>
                <a:lnTo>
                  <a:pt x="458342" y="20828"/>
                </a:lnTo>
                <a:lnTo>
                  <a:pt x="453009" y="22860"/>
                </a:lnTo>
                <a:lnTo>
                  <a:pt x="446786" y="24599"/>
                </a:lnTo>
                <a:lnTo>
                  <a:pt x="446277" y="24726"/>
                </a:lnTo>
                <a:lnTo>
                  <a:pt x="438023" y="26428"/>
                </a:lnTo>
                <a:lnTo>
                  <a:pt x="426974" y="28193"/>
                </a:lnTo>
                <a:lnTo>
                  <a:pt x="424051" y="28520"/>
                </a:lnTo>
                <a:lnTo>
                  <a:pt x="424561" y="29819"/>
                </a:lnTo>
                <a:lnTo>
                  <a:pt x="427354" y="31203"/>
                </a:lnTo>
                <a:lnTo>
                  <a:pt x="446532" y="25552"/>
                </a:lnTo>
                <a:lnTo>
                  <a:pt x="458597" y="20828"/>
                </a:lnTo>
                <a:close/>
              </a:path>
              <a:path w="471804" h="63500">
                <a:moveTo>
                  <a:pt x="470783" y="13081"/>
                </a:moveTo>
                <a:lnTo>
                  <a:pt x="441706" y="13081"/>
                </a:lnTo>
                <a:lnTo>
                  <a:pt x="426178" y="20588"/>
                </a:lnTo>
                <a:lnTo>
                  <a:pt x="423672" y="21717"/>
                </a:lnTo>
                <a:lnTo>
                  <a:pt x="422608" y="24434"/>
                </a:lnTo>
                <a:lnTo>
                  <a:pt x="422563" y="24726"/>
                </a:lnTo>
                <a:lnTo>
                  <a:pt x="424051" y="28520"/>
                </a:lnTo>
                <a:lnTo>
                  <a:pt x="458342" y="20828"/>
                </a:lnTo>
                <a:lnTo>
                  <a:pt x="458470" y="20828"/>
                </a:lnTo>
                <a:lnTo>
                  <a:pt x="459097" y="20574"/>
                </a:lnTo>
                <a:lnTo>
                  <a:pt x="467301" y="16397"/>
                </a:lnTo>
                <a:lnTo>
                  <a:pt x="467740" y="16002"/>
                </a:lnTo>
                <a:lnTo>
                  <a:pt x="470030" y="14399"/>
                </a:lnTo>
                <a:lnTo>
                  <a:pt x="470672" y="13335"/>
                </a:lnTo>
                <a:lnTo>
                  <a:pt x="470783" y="13081"/>
                </a:lnTo>
                <a:close/>
              </a:path>
              <a:path w="471804" h="63500">
                <a:moveTo>
                  <a:pt x="459067" y="20588"/>
                </a:moveTo>
                <a:lnTo>
                  <a:pt x="458470" y="20828"/>
                </a:lnTo>
                <a:lnTo>
                  <a:pt x="459067" y="20588"/>
                </a:lnTo>
                <a:close/>
              </a:path>
              <a:path w="471804" h="63500">
                <a:moveTo>
                  <a:pt x="467301" y="16397"/>
                </a:moveTo>
                <a:lnTo>
                  <a:pt x="459067" y="20588"/>
                </a:lnTo>
                <a:lnTo>
                  <a:pt x="461327" y="19685"/>
                </a:lnTo>
                <a:lnTo>
                  <a:pt x="462914" y="19177"/>
                </a:lnTo>
                <a:lnTo>
                  <a:pt x="464947" y="18034"/>
                </a:lnTo>
                <a:lnTo>
                  <a:pt x="466216" y="17145"/>
                </a:lnTo>
                <a:lnTo>
                  <a:pt x="466725" y="16890"/>
                </a:lnTo>
                <a:lnTo>
                  <a:pt x="467301" y="16397"/>
                </a:lnTo>
                <a:close/>
              </a:path>
              <a:path w="471804" h="63500">
                <a:moveTo>
                  <a:pt x="461539" y="19600"/>
                </a:moveTo>
                <a:lnTo>
                  <a:pt x="461263" y="19685"/>
                </a:lnTo>
                <a:lnTo>
                  <a:pt x="461539" y="19600"/>
                </a:lnTo>
                <a:close/>
              </a:path>
              <a:path w="471804" h="63500">
                <a:moveTo>
                  <a:pt x="446296" y="10160"/>
                </a:moveTo>
                <a:lnTo>
                  <a:pt x="442975" y="10160"/>
                </a:lnTo>
                <a:lnTo>
                  <a:pt x="434848" y="12065"/>
                </a:lnTo>
                <a:lnTo>
                  <a:pt x="435228" y="12065"/>
                </a:lnTo>
                <a:lnTo>
                  <a:pt x="424561" y="13970"/>
                </a:lnTo>
                <a:lnTo>
                  <a:pt x="424814" y="13970"/>
                </a:lnTo>
                <a:lnTo>
                  <a:pt x="412241" y="15621"/>
                </a:lnTo>
                <a:lnTo>
                  <a:pt x="412623" y="15621"/>
                </a:lnTo>
                <a:lnTo>
                  <a:pt x="397637" y="17018"/>
                </a:lnTo>
                <a:lnTo>
                  <a:pt x="433565" y="17018"/>
                </a:lnTo>
                <a:lnTo>
                  <a:pt x="441102" y="13372"/>
                </a:lnTo>
                <a:lnTo>
                  <a:pt x="446296" y="10160"/>
                </a:lnTo>
                <a:close/>
              </a:path>
              <a:path w="471804" h="63500">
                <a:moveTo>
                  <a:pt x="467815" y="16129"/>
                </a:moveTo>
                <a:lnTo>
                  <a:pt x="467613" y="16129"/>
                </a:lnTo>
                <a:lnTo>
                  <a:pt x="467301" y="16397"/>
                </a:lnTo>
                <a:lnTo>
                  <a:pt x="467815" y="16129"/>
                </a:lnTo>
                <a:close/>
              </a:path>
              <a:path w="471804" h="63500">
                <a:moveTo>
                  <a:pt x="470030" y="14399"/>
                </a:moveTo>
                <a:lnTo>
                  <a:pt x="467740" y="16002"/>
                </a:lnTo>
                <a:lnTo>
                  <a:pt x="467233" y="16383"/>
                </a:lnTo>
                <a:lnTo>
                  <a:pt x="467613" y="16129"/>
                </a:lnTo>
                <a:lnTo>
                  <a:pt x="467815" y="16129"/>
                </a:lnTo>
                <a:lnTo>
                  <a:pt x="469519" y="15240"/>
                </a:lnTo>
                <a:lnTo>
                  <a:pt x="470030" y="14399"/>
                </a:lnTo>
                <a:close/>
              </a:path>
              <a:path w="471804" h="63500">
                <a:moveTo>
                  <a:pt x="467613" y="16129"/>
                </a:moveTo>
                <a:lnTo>
                  <a:pt x="467233" y="16383"/>
                </a:lnTo>
                <a:lnTo>
                  <a:pt x="467613" y="16129"/>
                </a:lnTo>
                <a:close/>
              </a:path>
              <a:path w="471804" h="63500">
                <a:moveTo>
                  <a:pt x="470655" y="13372"/>
                </a:moveTo>
                <a:lnTo>
                  <a:pt x="470030" y="14399"/>
                </a:lnTo>
                <a:lnTo>
                  <a:pt x="470281" y="14224"/>
                </a:lnTo>
                <a:lnTo>
                  <a:pt x="470655" y="13372"/>
                </a:lnTo>
                <a:close/>
              </a:path>
              <a:path w="471804" h="63500">
                <a:moveTo>
                  <a:pt x="471297" y="11914"/>
                </a:moveTo>
                <a:lnTo>
                  <a:pt x="470655" y="13372"/>
                </a:lnTo>
                <a:lnTo>
                  <a:pt x="471297" y="12318"/>
                </a:lnTo>
                <a:lnTo>
                  <a:pt x="471297" y="11914"/>
                </a:lnTo>
                <a:close/>
              </a:path>
              <a:path w="471804" h="63500">
                <a:moveTo>
                  <a:pt x="471078" y="7239"/>
                </a:moveTo>
                <a:lnTo>
                  <a:pt x="451088" y="7250"/>
                </a:lnTo>
                <a:lnTo>
                  <a:pt x="450596" y="7620"/>
                </a:lnTo>
                <a:lnTo>
                  <a:pt x="441071" y="13335"/>
                </a:lnTo>
                <a:lnTo>
                  <a:pt x="441706" y="13081"/>
                </a:lnTo>
                <a:lnTo>
                  <a:pt x="470783" y="13081"/>
                </a:lnTo>
                <a:lnTo>
                  <a:pt x="471230" y="12065"/>
                </a:lnTo>
                <a:lnTo>
                  <a:pt x="471124" y="7620"/>
                </a:lnTo>
                <a:lnTo>
                  <a:pt x="471078" y="7239"/>
                </a:lnTo>
                <a:close/>
              </a:path>
              <a:path w="471804" h="63500">
                <a:moveTo>
                  <a:pt x="441706" y="13081"/>
                </a:moveTo>
                <a:lnTo>
                  <a:pt x="441071" y="13335"/>
                </a:lnTo>
                <a:lnTo>
                  <a:pt x="441706" y="13081"/>
                </a:lnTo>
                <a:close/>
              </a:path>
              <a:path w="471804" h="63500">
                <a:moveTo>
                  <a:pt x="471297" y="8763"/>
                </a:moveTo>
                <a:lnTo>
                  <a:pt x="471297" y="11914"/>
                </a:lnTo>
                <a:lnTo>
                  <a:pt x="471677" y="11049"/>
                </a:lnTo>
                <a:lnTo>
                  <a:pt x="471297" y="8763"/>
                </a:lnTo>
                <a:close/>
              </a:path>
              <a:path w="471804" h="63500">
                <a:moveTo>
                  <a:pt x="449431" y="8255"/>
                </a:moveTo>
                <a:lnTo>
                  <a:pt x="448437" y="8255"/>
                </a:lnTo>
                <a:lnTo>
                  <a:pt x="442340" y="10287"/>
                </a:lnTo>
                <a:lnTo>
                  <a:pt x="442975" y="10160"/>
                </a:lnTo>
                <a:lnTo>
                  <a:pt x="446296" y="10160"/>
                </a:lnTo>
                <a:lnTo>
                  <a:pt x="449431" y="8255"/>
                </a:lnTo>
                <a:close/>
              </a:path>
              <a:path w="471804" h="63500">
                <a:moveTo>
                  <a:pt x="470805" y="4960"/>
                </a:moveTo>
                <a:lnTo>
                  <a:pt x="471170" y="8001"/>
                </a:lnTo>
                <a:lnTo>
                  <a:pt x="471297" y="8763"/>
                </a:lnTo>
                <a:lnTo>
                  <a:pt x="471214" y="5587"/>
                </a:lnTo>
                <a:lnTo>
                  <a:pt x="470805" y="4960"/>
                </a:lnTo>
                <a:close/>
              </a:path>
              <a:path w="471804" h="63500">
                <a:moveTo>
                  <a:pt x="452276" y="6350"/>
                </a:moveTo>
                <a:lnTo>
                  <a:pt x="451738" y="6604"/>
                </a:lnTo>
                <a:lnTo>
                  <a:pt x="447674" y="8509"/>
                </a:lnTo>
                <a:lnTo>
                  <a:pt x="448437" y="8255"/>
                </a:lnTo>
                <a:lnTo>
                  <a:pt x="449431" y="8255"/>
                </a:lnTo>
                <a:lnTo>
                  <a:pt x="451100" y="7239"/>
                </a:lnTo>
                <a:lnTo>
                  <a:pt x="452276" y="6350"/>
                </a:lnTo>
                <a:close/>
              </a:path>
              <a:path w="471804" h="63500">
                <a:moveTo>
                  <a:pt x="451084" y="7250"/>
                </a:moveTo>
                <a:lnTo>
                  <a:pt x="450476" y="7620"/>
                </a:lnTo>
                <a:lnTo>
                  <a:pt x="451084" y="7250"/>
                </a:lnTo>
                <a:close/>
              </a:path>
              <a:path w="471804" h="63500">
                <a:moveTo>
                  <a:pt x="454648" y="5035"/>
                </a:moveTo>
                <a:lnTo>
                  <a:pt x="454151" y="5334"/>
                </a:lnTo>
                <a:lnTo>
                  <a:pt x="452451" y="6218"/>
                </a:lnTo>
                <a:lnTo>
                  <a:pt x="451084" y="7250"/>
                </a:lnTo>
                <a:lnTo>
                  <a:pt x="471078" y="7239"/>
                </a:lnTo>
                <a:lnTo>
                  <a:pt x="470880" y="5587"/>
                </a:lnTo>
                <a:lnTo>
                  <a:pt x="454151" y="5587"/>
                </a:lnTo>
                <a:lnTo>
                  <a:pt x="454648" y="5035"/>
                </a:lnTo>
                <a:close/>
              </a:path>
              <a:path w="471804" h="63500">
                <a:moveTo>
                  <a:pt x="451942" y="6493"/>
                </a:moveTo>
                <a:lnTo>
                  <a:pt x="451709" y="6604"/>
                </a:lnTo>
                <a:lnTo>
                  <a:pt x="451942" y="6493"/>
                </a:lnTo>
                <a:close/>
              </a:path>
              <a:path w="471804" h="63500">
                <a:moveTo>
                  <a:pt x="452247" y="6350"/>
                </a:moveTo>
                <a:lnTo>
                  <a:pt x="451942" y="6493"/>
                </a:lnTo>
                <a:lnTo>
                  <a:pt x="452247" y="6350"/>
                </a:lnTo>
                <a:close/>
              </a:path>
              <a:path w="471804" h="63500">
                <a:moveTo>
                  <a:pt x="452451" y="6218"/>
                </a:moveTo>
                <a:lnTo>
                  <a:pt x="452207" y="6350"/>
                </a:lnTo>
                <a:lnTo>
                  <a:pt x="452451" y="6218"/>
                </a:lnTo>
                <a:close/>
              </a:path>
              <a:path w="471804" h="63500">
                <a:moveTo>
                  <a:pt x="456438" y="3302"/>
                </a:moveTo>
                <a:lnTo>
                  <a:pt x="452451" y="6218"/>
                </a:lnTo>
                <a:lnTo>
                  <a:pt x="454448" y="5136"/>
                </a:lnTo>
                <a:lnTo>
                  <a:pt x="454723" y="4953"/>
                </a:lnTo>
                <a:lnTo>
                  <a:pt x="455295" y="4318"/>
                </a:lnTo>
                <a:lnTo>
                  <a:pt x="456438" y="3302"/>
                </a:lnTo>
                <a:close/>
              </a:path>
              <a:path w="471804" h="63500">
                <a:moveTo>
                  <a:pt x="454913" y="4953"/>
                </a:moveTo>
                <a:lnTo>
                  <a:pt x="454675" y="5020"/>
                </a:lnTo>
                <a:lnTo>
                  <a:pt x="454151" y="5587"/>
                </a:lnTo>
                <a:lnTo>
                  <a:pt x="454913" y="4953"/>
                </a:lnTo>
                <a:close/>
              </a:path>
              <a:path w="471804" h="63500">
                <a:moveTo>
                  <a:pt x="470385" y="4318"/>
                </a:moveTo>
                <a:lnTo>
                  <a:pt x="455675" y="4318"/>
                </a:lnTo>
                <a:lnTo>
                  <a:pt x="454151" y="5587"/>
                </a:lnTo>
                <a:lnTo>
                  <a:pt x="470880" y="5587"/>
                </a:lnTo>
                <a:lnTo>
                  <a:pt x="470800" y="4953"/>
                </a:lnTo>
                <a:lnTo>
                  <a:pt x="470385" y="4318"/>
                </a:lnTo>
                <a:close/>
              </a:path>
              <a:path w="471804" h="63500">
                <a:moveTo>
                  <a:pt x="454448" y="5136"/>
                </a:moveTo>
                <a:lnTo>
                  <a:pt x="454083" y="5334"/>
                </a:lnTo>
                <a:lnTo>
                  <a:pt x="454448" y="5136"/>
                </a:lnTo>
                <a:close/>
              </a:path>
              <a:path w="471804" h="63500">
                <a:moveTo>
                  <a:pt x="454663" y="5020"/>
                </a:moveTo>
                <a:lnTo>
                  <a:pt x="454448" y="5136"/>
                </a:lnTo>
                <a:lnTo>
                  <a:pt x="454151" y="5334"/>
                </a:lnTo>
                <a:lnTo>
                  <a:pt x="454663" y="5020"/>
                </a:lnTo>
                <a:close/>
              </a:path>
              <a:path w="471804" h="63500">
                <a:moveTo>
                  <a:pt x="454723" y="4953"/>
                </a:moveTo>
                <a:lnTo>
                  <a:pt x="454448" y="5136"/>
                </a:lnTo>
                <a:lnTo>
                  <a:pt x="454634" y="5035"/>
                </a:lnTo>
                <a:close/>
              </a:path>
              <a:path w="471804" h="63500">
                <a:moveTo>
                  <a:pt x="455675" y="4318"/>
                </a:moveTo>
                <a:lnTo>
                  <a:pt x="454723" y="4953"/>
                </a:lnTo>
                <a:lnTo>
                  <a:pt x="454913" y="4953"/>
                </a:lnTo>
                <a:lnTo>
                  <a:pt x="455675" y="4318"/>
                </a:lnTo>
                <a:close/>
              </a:path>
              <a:path w="471804" h="63500">
                <a:moveTo>
                  <a:pt x="470290" y="4171"/>
                </a:moveTo>
                <a:lnTo>
                  <a:pt x="470805" y="4960"/>
                </a:lnTo>
                <a:lnTo>
                  <a:pt x="470788" y="4826"/>
                </a:lnTo>
                <a:lnTo>
                  <a:pt x="470290" y="4171"/>
                </a:lnTo>
                <a:close/>
              </a:path>
              <a:path w="471804" h="63500">
                <a:moveTo>
                  <a:pt x="462957" y="63"/>
                </a:moveTo>
                <a:lnTo>
                  <a:pt x="455295" y="4445"/>
                </a:lnTo>
                <a:lnTo>
                  <a:pt x="454723" y="4953"/>
                </a:lnTo>
                <a:lnTo>
                  <a:pt x="455675" y="4318"/>
                </a:lnTo>
                <a:lnTo>
                  <a:pt x="470385" y="4318"/>
                </a:lnTo>
                <a:lnTo>
                  <a:pt x="469240" y="2793"/>
                </a:lnTo>
                <a:lnTo>
                  <a:pt x="466216" y="1275"/>
                </a:lnTo>
                <a:lnTo>
                  <a:pt x="462957" y="63"/>
                </a:lnTo>
                <a:close/>
              </a:path>
              <a:path w="471804" h="63500">
                <a:moveTo>
                  <a:pt x="455295" y="4318"/>
                </a:moveTo>
                <a:lnTo>
                  <a:pt x="455180" y="4445"/>
                </a:lnTo>
                <a:lnTo>
                  <a:pt x="455295" y="4318"/>
                </a:lnTo>
                <a:close/>
              </a:path>
              <a:path w="471804" h="63500">
                <a:moveTo>
                  <a:pt x="455422" y="4318"/>
                </a:moveTo>
                <a:lnTo>
                  <a:pt x="455295" y="4445"/>
                </a:lnTo>
                <a:lnTo>
                  <a:pt x="455422" y="4318"/>
                </a:lnTo>
                <a:close/>
              </a:path>
              <a:path w="471804" h="63500">
                <a:moveTo>
                  <a:pt x="469154" y="2680"/>
                </a:moveTo>
                <a:lnTo>
                  <a:pt x="470290" y="4171"/>
                </a:lnTo>
                <a:lnTo>
                  <a:pt x="469391" y="2793"/>
                </a:lnTo>
                <a:lnTo>
                  <a:pt x="469154" y="2680"/>
                </a:lnTo>
                <a:close/>
              </a:path>
              <a:path w="471804" h="63500">
                <a:moveTo>
                  <a:pt x="457072" y="2667"/>
                </a:moveTo>
                <a:lnTo>
                  <a:pt x="455802" y="3683"/>
                </a:lnTo>
                <a:lnTo>
                  <a:pt x="456311" y="3302"/>
                </a:lnTo>
                <a:lnTo>
                  <a:pt x="457072" y="2667"/>
                </a:lnTo>
                <a:close/>
              </a:path>
              <a:path w="471804" h="63500">
                <a:moveTo>
                  <a:pt x="466216" y="1275"/>
                </a:moveTo>
                <a:lnTo>
                  <a:pt x="469154" y="2680"/>
                </a:lnTo>
                <a:lnTo>
                  <a:pt x="468757" y="2159"/>
                </a:lnTo>
                <a:lnTo>
                  <a:pt x="466216" y="1275"/>
                </a:lnTo>
                <a:close/>
              </a:path>
              <a:path w="471804" h="63500">
                <a:moveTo>
                  <a:pt x="457731" y="2078"/>
                </a:moveTo>
                <a:lnTo>
                  <a:pt x="457453" y="2286"/>
                </a:lnTo>
                <a:lnTo>
                  <a:pt x="457072" y="2667"/>
                </a:lnTo>
                <a:lnTo>
                  <a:pt x="457731" y="2078"/>
                </a:lnTo>
                <a:close/>
              </a:path>
              <a:path w="471804" h="63500">
                <a:moveTo>
                  <a:pt x="459912" y="442"/>
                </a:moveTo>
                <a:lnTo>
                  <a:pt x="459486" y="508"/>
                </a:lnTo>
                <a:lnTo>
                  <a:pt x="457731" y="2078"/>
                </a:lnTo>
                <a:lnTo>
                  <a:pt x="459912" y="442"/>
                </a:lnTo>
                <a:close/>
              </a:path>
              <a:path w="471804" h="63500">
                <a:moveTo>
                  <a:pt x="463550" y="0"/>
                </a:moveTo>
                <a:lnTo>
                  <a:pt x="462957" y="63"/>
                </a:lnTo>
                <a:lnTo>
                  <a:pt x="466216" y="1275"/>
                </a:lnTo>
                <a:lnTo>
                  <a:pt x="463550" y="0"/>
                </a:lnTo>
                <a:close/>
              </a:path>
              <a:path w="471804" h="63500">
                <a:moveTo>
                  <a:pt x="461039" y="268"/>
                </a:moveTo>
                <a:lnTo>
                  <a:pt x="459994" y="381"/>
                </a:lnTo>
                <a:lnTo>
                  <a:pt x="461039" y="268"/>
                </a:lnTo>
                <a:close/>
              </a:path>
              <a:path w="471804" h="63500">
                <a:moveTo>
                  <a:pt x="462788" y="0"/>
                </a:moveTo>
                <a:lnTo>
                  <a:pt x="461039" y="268"/>
                </a:lnTo>
                <a:lnTo>
                  <a:pt x="462957" y="63"/>
                </a:lnTo>
                <a:lnTo>
                  <a:pt x="462788" y="0"/>
                </a:lnTo>
                <a:close/>
              </a:path>
            </a:pathLst>
          </a:custGeom>
          <a:solidFill>
            <a:srgbClr val="FF0000"/>
          </a:solidFill>
        </p:spPr>
        <p:txBody>
          <a:bodyPr wrap="square" lIns="0" tIns="0" rIns="0" bIns="0" rtlCol="0"/>
          <a:lstStyle/>
          <a:p>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51</a:t>
            </a:fld>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40279" y="3966209"/>
            <a:ext cx="73152" cy="73152"/>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2855976" y="3621785"/>
            <a:ext cx="73152" cy="73151"/>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4703064" y="2934461"/>
            <a:ext cx="73152" cy="73152"/>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7165847" y="1901189"/>
            <a:ext cx="73151" cy="73152"/>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5318759" y="2590038"/>
            <a:ext cx="73151" cy="73152"/>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6550152" y="2590038"/>
            <a:ext cx="73151" cy="73152"/>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5318759" y="2724911"/>
            <a:ext cx="164591" cy="110490"/>
          </a:xfrm>
          <a:prstGeom prst="rect">
            <a:avLst/>
          </a:prstGeom>
          <a:blipFill>
            <a:blip r:embed="rId6" cstate="print"/>
            <a:stretch>
              <a:fillRect/>
            </a:stretch>
          </a:blipFill>
        </p:spPr>
        <p:txBody>
          <a:bodyPr wrap="square" lIns="0" tIns="0" rIns="0" bIns="0" rtlCol="0"/>
          <a:lstStyle/>
          <a:p>
            <a:endParaRPr/>
          </a:p>
        </p:txBody>
      </p:sp>
      <p:graphicFrame>
        <p:nvGraphicFramePr>
          <p:cNvPr id="9" name="object 9"/>
          <p:cNvGraphicFramePr>
            <a:graphicFrameLocks noGrp="1"/>
          </p:cNvGraphicFramePr>
          <p:nvPr/>
        </p:nvGraphicFramePr>
        <p:xfrm>
          <a:off x="1042416" y="1591055"/>
          <a:ext cx="7386317" cy="2750819"/>
        </p:xfrm>
        <a:graphic>
          <a:graphicData uri="http://schemas.openxmlformats.org/drawingml/2006/table">
            <a:tbl>
              <a:tblPr firstRow="1" bandRow="1">
                <a:tableStyleId>{2D5ABB26-0587-4C30-8999-92F81FD0307C}</a:tableStyleId>
              </a:tblPr>
              <a:tblGrid>
                <a:gridCol w="1229995">
                  <a:extLst>
                    <a:ext uri="{9D8B030D-6E8A-4147-A177-3AD203B41FA5}">
                      <a16:colId xmlns:a16="http://schemas.microsoft.com/office/drawing/2014/main" val="20000"/>
                    </a:ext>
                  </a:extLst>
                </a:gridCol>
                <a:gridCol w="1231265">
                  <a:extLst>
                    <a:ext uri="{9D8B030D-6E8A-4147-A177-3AD203B41FA5}">
                      <a16:colId xmlns:a16="http://schemas.microsoft.com/office/drawing/2014/main" val="20001"/>
                    </a:ext>
                  </a:extLst>
                </a:gridCol>
                <a:gridCol w="1231264">
                  <a:extLst>
                    <a:ext uri="{9D8B030D-6E8A-4147-A177-3AD203B41FA5}">
                      <a16:colId xmlns:a16="http://schemas.microsoft.com/office/drawing/2014/main" val="20002"/>
                    </a:ext>
                  </a:extLst>
                </a:gridCol>
                <a:gridCol w="1231264">
                  <a:extLst>
                    <a:ext uri="{9D8B030D-6E8A-4147-A177-3AD203B41FA5}">
                      <a16:colId xmlns:a16="http://schemas.microsoft.com/office/drawing/2014/main" val="20003"/>
                    </a:ext>
                  </a:extLst>
                </a:gridCol>
                <a:gridCol w="1231264">
                  <a:extLst>
                    <a:ext uri="{9D8B030D-6E8A-4147-A177-3AD203B41FA5}">
                      <a16:colId xmlns:a16="http://schemas.microsoft.com/office/drawing/2014/main" val="20004"/>
                    </a:ext>
                  </a:extLst>
                </a:gridCol>
                <a:gridCol w="1231265">
                  <a:extLst>
                    <a:ext uri="{9D8B030D-6E8A-4147-A177-3AD203B41FA5}">
                      <a16:colId xmlns:a16="http://schemas.microsoft.com/office/drawing/2014/main" val="20005"/>
                    </a:ext>
                  </a:extLst>
                </a:gridCol>
              </a:tblGrid>
              <a:tr h="342900">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spcBef>
                          <a:spcPts val="55"/>
                        </a:spcBef>
                      </a:pPr>
                      <a:endParaRPr sz="700">
                        <a:latin typeface="Times New Roman"/>
                        <a:cs typeface="Times New Roman"/>
                      </a:endParaRPr>
                    </a:p>
                    <a:p>
                      <a:pPr>
                        <a:lnSpc>
                          <a:spcPct val="100000"/>
                        </a:lnSpc>
                      </a:pPr>
                      <a:r>
                        <a:rPr sz="900" dirty="0">
                          <a:solidFill>
                            <a:srgbClr val="404040"/>
                          </a:solidFill>
                          <a:latin typeface="Carlito"/>
                          <a:cs typeface="Carlito"/>
                        </a:rPr>
                        <a:t>4</a:t>
                      </a:r>
                      <a:endParaRPr sz="900">
                        <a:latin typeface="Carlito"/>
                        <a:cs typeface="Carlito"/>
                      </a:endParaRPr>
                    </a:p>
                  </a:txBody>
                  <a:tcPr marL="0" marR="0" marT="6985"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0"/>
                  </a:ext>
                </a:extLst>
              </a:tr>
              <a:tr h="344424">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1"/>
                  </a:ext>
                </a:extLst>
              </a:tr>
              <a:tr h="344424">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spcBef>
                          <a:spcPts val="5"/>
                        </a:spcBef>
                      </a:pPr>
                      <a:endParaRPr sz="750">
                        <a:latin typeface="Times New Roman"/>
                        <a:cs typeface="Times New Roman"/>
                      </a:endParaRPr>
                    </a:p>
                    <a:p>
                      <a:pPr marL="1270" algn="ctr">
                        <a:lnSpc>
                          <a:spcPct val="100000"/>
                        </a:lnSpc>
                      </a:pPr>
                      <a:r>
                        <a:rPr sz="900" dirty="0">
                          <a:solidFill>
                            <a:srgbClr val="404040"/>
                          </a:solidFill>
                          <a:latin typeface="Carlito"/>
                          <a:cs typeface="Carlito"/>
                        </a:rPr>
                        <a:t>5</a:t>
                      </a:r>
                      <a:endParaRPr sz="900">
                        <a:latin typeface="Carlito"/>
                        <a:cs typeface="Carlito"/>
                      </a:endParaRPr>
                    </a:p>
                  </a:txBody>
                  <a:tcPr marL="0" marR="0" marT="635"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spcBef>
                          <a:spcPts val="5"/>
                        </a:spcBef>
                      </a:pPr>
                      <a:endParaRPr sz="750">
                        <a:latin typeface="Times New Roman"/>
                        <a:cs typeface="Times New Roman"/>
                      </a:endParaRPr>
                    </a:p>
                    <a:p>
                      <a:pPr marL="1270" algn="ctr">
                        <a:lnSpc>
                          <a:spcPct val="100000"/>
                        </a:lnSpc>
                      </a:pPr>
                      <a:r>
                        <a:rPr sz="900" dirty="0">
                          <a:solidFill>
                            <a:srgbClr val="404040"/>
                          </a:solidFill>
                          <a:latin typeface="Carlito"/>
                          <a:cs typeface="Carlito"/>
                        </a:rPr>
                        <a:t>6</a:t>
                      </a:r>
                      <a:endParaRPr sz="900">
                        <a:latin typeface="Carlito"/>
                        <a:cs typeface="Carlito"/>
                      </a:endParaRPr>
                    </a:p>
                  </a:txBody>
                  <a:tcPr marL="0" marR="0" marT="635"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2"/>
                  </a:ext>
                </a:extLst>
              </a:tr>
              <a:tr h="344424">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77875">
                        <a:lnSpc>
                          <a:spcPts val="865"/>
                        </a:lnSpc>
                        <a:spcBef>
                          <a:spcPts val="210"/>
                        </a:spcBef>
                      </a:pPr>
                      <a:r>
                        <a:rPr sz="900" dirty="0">
                          <a:solidFill>
                            <a:srgbClr val="404040"/>
                          </a:solidFill>
                          <a:latin typeface="Carlito"/>
                          <a:cs typeface="Carlito"/>
                        </a:rPr>
                        <a:t>7</a:t>
                      </a:r>
                      <a:endParaRPr sz="900">
                        <a:latin typeface="Carlito"/>
                        <a:cs typeface="Carlito"/>
                      </a:endParaRPr>
                    </a:p>
                    <a:p>
                      <a:pPr>
                        <a:lnSpc>
                          <a:spcPts val="865"/>
                        </a:lnSpc>
                      </a:pPr>
                      <a:r>
                        <a:rPr sz="900" dirty="0">
                          <a:solidFill>
                            <a:srgbClr val="404040"/>
                          </a:solidFill>
                          <a:latin typeface="Carlito"/>
                          <a:cs typeface="Carlito"/>
                        </a:rPr>
                        <a:t>3</a:t>
                      </a:r>
                      <a:endParaRPr sz="900">
                        <a:latin typeface="Carlito"/>
                        <a:cs typeface="Carlito"/>
                      </a:endParaRPr>
                    </a:p>
                  </a:txBody>
                  <a:tcPr marL="0" marR="0" marT="2667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3"/>
                  </a:ext>
                </a:extLst>
              </a:tr>
              <a:tr h="342900">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4"/>
                  </a:ext>
                </a:extLst>
              </a:tr>
              <a:tr h="344424">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spcBef>
                          <a:spcPts val="10"/>
                        </a:spcBef>
                      </a:pPr>
                      <a:endParaRPr sz="750">
                        <a:latin typeface="Times New Roman"/>
                        <a:cs typeface="Times New Roman"/>
                      </a:endParaRPr>
                    </a:p>
                    <a:p>
                      <a:pPr marL="1270" algn="ctr">
                        <a:lnSpc>
                          <a:spcPct val="100000"/>
                        </a:lnSpc>
                      </a:pPr>
                      <a:r>
                        <a:rPr sz="900" dirty="0">
                          <a:solidFill>
                            <a:srgbClr val="404040"/>
                          </a:solidFill>
                          <a:latin typeface="Carlito"/>
                          <a:cs typeface="Carlito"/>
                        </a:rPr>
                        <a:t>2</a:t>
                      </a:r>
                      <a:endParaRPr sz="900">
                        <a:latin typeface="Carlito"/>
                        <a:cs typeface="Carlito"/>
                      </a:endParaRPr>
                    </a:p>
                  </a:txBody>
                  <a:tcPr marL="0" marR="0" marT="127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5"/>
                  </a:ext>
                </a:extLst>
              </a:tr>
              <a:tr h="344423">
                <a:tc>
                  <a:txBody>
                    <a:bodyPr/>
                    <a:lstStyle/>
                    <a:p>
                      <a:pPr>
                        <a:lnSpc>
                          <a:spcPct val="100000"/>
                        </a:lnSpc>
                        <a:spcBef>
                          <a:spcPts val="35"/>
                        </a:spcBef>
                      </a:pPr>
                      <a:endParaRPr sz="900">
                        <a:latin typeface="Times New Roman"/>
                        <a:cs typeface="Times New Roman"/>
                      </a:endParaRPr>
                    </a:p>
                    <a:p>
                      <a:pPr marR="69850" algn="r">
                        <a:lnSpc>
                          <a:spcPct val="100000"/>
                        </a:lnSpc>
                      </a:pPr>
                      <a:r>
                        <a:rPr sz="900" dirty="0">
                          <a:solidFill>
                            <a:srgbClr val="404040"/>
                          </a:solidFill>
                          <a:latin typeface="Carlito"/>
                          <a:cs typeface="Carlito"/>
                        </a:rPr>
                        <a:t>1</a:t>
                      </a:r>
                      <a:endParaRPr sz="900">
                        <a:latin typeface="Carlito"/>
                        <a:cs typeface="Carlito"/>
                      </a:endParaRPr>
                    </a:p>
                  </a:txBody>
                  <a:tcPr marL="0" marR="0" marT="4445" marB="0">
                    <a:lnL w="9525">
                      <a:solidFill>
                        <a:srgbClr val="BEBEBE"/>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6"/>
                  </a:ext>
                </a:extLst>
              </a:tr>
              <a:tr h="342900">
                <a:tc>
                  <a:txBody>
                    <a:bodyPr/>
                    <a:lstStyle/>
                    <a:p>
                      <a:pPr>
                        <a:lnSpc>
                          <a:spcPct val="100000"/>
                        </a:lnSpc>
                      </a:pPr>
                      <a:endParaRPr sz="900">
                        <a:latin typeface="Times New Roman"/>
                        <a:cs typeface="Times New Roman"/>
                      </a:endParaRPr>
                    </a:p>
                  </a:txBody>
                  <a:tcPr marL="0" marR="0" marT="0" marB="0">
                    <a:lnL w="9525">
                      <a:solidFill>
                        <a:srgbClr val="BEBEBE"/>
                      </a:solidFill>
                      <a:prstDash val="solid"/>
                    </a:lnL>
                    <a:lnR w="9525">
                      <a:solidFill>
                        <a:srgbClr val="D9D9D9"/>
                      </a:solidFill>
                      <a:prstDash val="solid"/>
                    </a:lnR>
                    <a:lnT w="9525">
                      <a:solidFill>
                        <a:srgbClr val="D9D9D9"/>
                      </a:solidFill>
                      <a:prstDash val="solid"/>
                    </a:lnT>
                    <a:lnB w="9525">
                      <a:solidFill>
                        <a:srgbClr val="BEBEBE"/>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BEBEBE"/>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BEBEBE"/>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BEBEBE"/>
                      </a:solidFill>
                      <a:prstDash val="solid"/>
                    </a:lnB>
                  </a:tcPr>
                </a:tc>
                <a:tc>
                  <a:txBody>
                    <a:bodyPr/>
                    <a:lstStyle/>
                    <a:p>
                      <a:pPr>
                        <a:lnSpc>
                          <a:spcPct val="100000"/>
                        </a:lnSpc>
                      </a:pPr>
                      <a:endParaRPr sz="90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BEBEBE"/>
                      </a:solidFill>
                      <a:prstDash val="solid"/>
                    </a:lnB>
                  </a:tcPr>
                </a:tc>
                <a:tc>
                  <a:txBody>
                    <a:bodyPr/>
                    <a:lstStyle/>
                    <a:p>
                      <a:pPr>
                        <a:lnSpc>
                          <a:spcPct val="100000"/>
                        </a:lnSpc>
                      </a:pPr>
                      <a:endParaRPr sz="900" dirty="0">
                        <a:latin typeface="Times New Roman"/>
                        <a:cs typeface="Times New Roman"/>
                      </a:endParaRPr>
                    </a:p>
                  </a:txBody>
                  <a:tcPr marL="0" marR="0" marT="0" marB="0">
                    <a:lnL w="9525">
                      <a:solidFill>
                        <a:srgbClr val="D9D9D9"/>
                      </a:solidFill>
                      <a:prstDash val="solid"/>
                    </a:lnL>
                    <a:lnR w="9525">
                      <a:solidFill>
                        <a:srgbClr val="D9D9D9"/>
                      </a:solidFill>
                      <a:prstDash val="solid"/>
                    </a:lnR>
                    <a:lnT w="9525">
                      <a:solidFill>
                        <a:srgbClr val="D9D9D9"/>
                      </a:solidFill>
                      <a:prstDash val="solid"/>
                    </a:lnT>
                    <a:lnB w="9525">
                      <a:solidFill>
                        <a:srgbClr val="BEBEBE"/>
                      </a:solidFill>
                      <a:prstDash val="solid"/>
                    </a:lnB>
                  </a:tcPr>
                </a:tc>
                <a:extLst>
                  <a:ext uri="{0D108BD9-81ED-4DB2-BD59-A6C34878D82A}">
                    <a16:rowId xmlns:a16="http://schemas.microsoft.com/office/drawing/2014/main" val="10007"/>
                  </a:ext>
                </a:extLst>
              </a:tr>
            </a:tbl>
          </a:graphicData>
        </a:graphic>
      </p:graphicFrame>
      <p:sp>
        <p:nvSpPr>
          <p:cNvPr id="10" name="object 10"/>
          <p:cNvSpPr txBox="1"/>
          <p:nvPr/>
        </p:nvSpPr>
        <p:spPr>
          <a:xfrm>
            <a:off x="725220" y="1500632"/>
            <a:ext cx="228600" cy="291592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8.00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7.00</a:t>
            </a:r>
            <a:endParaRPr sz="900">
              <a:latin typeface="Carlito"/>
              <a:cs typeface="Carlito"/>
            </a:endParaRPr>
          </a:p>
          <a:p>
            <a:pPr>
              <a:lnSpc>
                <a:spcPct val="100000"/>
              </a:lnSpc>
              <a:spcBef>
                <a:spcPts val="45"/>
              </a:spcBef>
            </a:pPr>
            <a:endParaRPr sz="1300">
              <a:latin typeface="Carlito"/>
              <a:cs typeface="Carlito"/>
            </a:endParaRPr>
          </a:p>
          <a:p>
            <a:pPr marL="12700">
              <a:lnSpc>
                <a:spcPct val="100000"/>
              </a:lnSpc>
            </a:pPr>
            <a:r>
              <a:rPr sz="900" dirty="0">
                <a:solidFill>
                  <a:srgbClr val="585858"/>
                </a:solidFill>
                <a:latin typeface="Carlito"/>
                <a:cs typeface="Carlito"/>
              </a:rPr>
              <a:t>6.00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5.00</a:t>
            </a:r>
            <a:endParaRPr sz="900">
              <a:latin typeface="Carlito"/>
              <a:cs typeface="Carlito"/>
            </a:endParaRPr>
          </a:p>
          <a:p>
            <a:pPr>
              <a:lnSpc>
                <a:spcPct val="100000"/>
              </a:lnSpc>
              <a:spcBef>
                <a:spcPts val="45"/>
              </a:spcBef>
            </a:pPr>
            <a:endParaRPr sz="1300">
              <a:latin typeface="Carlito"/>
              <a:cs typeface="Carlito"/>
            </a:endParaRPr>
          </a:p>
          <a:p>
            <a:pPr marL="12700">
              <a:lnSpc>
                <a:spcPct val="100000"/>
              </a:lnSpc>
            </a:pPr>
            <a:r>
              <a:rPr sz="900" dirty="0">
                <a:solidFill>
                  <a:srgbClr val="585858"/>
                </a:solidFill>
                <a:latin typeface="Carlito"/>
                <a:cs typeface="Carlito"/>
              </a:rPr>
              <a:t>4.00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3.00</a:t>
            </a:r>
            <a:endParaRPr sz="900">
              <a:latin typeface="Carlito"/>
              <a:cs typeface="Carlito"/>
            </a:endParaRPr>
          </a:p>
          <a:p>
            <a:pPr>
              <a:lnSpc>
                <a:spcPct val="100000"/>
              </a:lnSpc>
              <a:spcBef>
                <a:spcPts val="45"/>
              </a:spcBef>
            </a:pPr>
            <a:endParaRPr sz="1300">
              <a:latin typeface="Carlito"/>
              <a:cs typeface="Carlito"/>
            </a:endParaRPr>
          </a:p>
          <a:p>
            <a:pPr marL="12700">
              <a:lnSpc>
                <a:spcPct val="100000"/>
              </a:lnSpc>
            </a:pPr>
            <a:r>
              <a:rPr sz="900" dirty="0">
                <a:solidFill>
                  <a:srgbClr val="585858"/>
                </a:solidFill>
                <a:latin typeface="Carlito"/>
                <a:cs typeface="Carlito"/>
              </a:rPr>
              <a:t>2.00</a:t>
            </a:r>
            <a:endParaRPr sz="900">
              <a:latin typeface="Carlito"/>
              <a:cs typeface="Carlito"/>
            </a:endParaRPr>
          </a:p>
          <a:p>
            <a:pPr>
              <a:lnSpc>
                <a:spcPct val="100000"/>
              </a:lnSpc>
              <a:spcBef>
                <a:spcPts val="40"/>
              </a:spcBef>
            </a:pPr>
            <a:endParaRPr sz="1300">
              <a:latin typeface="Carlito"/>
              <a:cs typeface="Carlito"/>
            </a:endParaRPr>
          </a:p>
          <a:p>
            <a:pPr marL="12700">
              <a:lnSpc>
                <a:spcPct val="100000"/>
              </a:lnSpc>
            </a:pPr>
            <a:r>
              <a:rPr sz="900" dirty="0">
                <a:solidFill>
                  <a:srgbClr val="585858"/>
                </a:solidFill>
                <a:latin typeface="Carlito"/>
                <a:cs typeface="Carlito"/>
              </a:rPr>
              <a:t>1.00</a:t>
            </a:r>
            <a:endParaRPr sz="900">
              <a:latin typeface="Carlito"/>
              <a:cs typeface="Carlito"/>
            </a:endParaRPr>
          </a:p>
          <a:p>
            <a:pPr>
              <a:lnSpc>
                <a:spcPct val="100000"/>
              </a:lnSpc>
              <a:spcBef>
                <a:spcPts val="45"/>
              </a:spcBef>
            </a:pPr>
            <a:endParaRPr sz="1300">
              <a:latin typeface="Carlito"/>
              <a:cs typeface="Carlito"/>
            </a:endParaRPr>
          </a:p>
          <a:p>
            <a:pPr marL="12700">
              <a:lnSpc>
                <a:spcPct val="100000"/>
              </a:lnSpc>
            </a:pPr>
            <a:r>
              <a:rPr sz="900" dirty="0">
                <a:solidFill>
                  <a:srgbClr val="585858"/>
                </a:solidFill>
                <a:latin typeface="Carlito"/>
                <a:cs typeface="Carlito"/>
              </a:rPr>
              <a:t>0.00</a:t>
            </a:r>
            <a:endParaRPr sz="900">
              <a:latin typeface="Carlito"/>
              <a:cs typeface="Carlito"/>
            </a:endParaRPr>
          </a:p>
        </p:txBody>
      </p:sp>
      <p:sp>
        <p:nvSpPr>
          <p:cNvPr id="11" name="object 11"/>
          <p:cNvSpPr txBox="1"/>
          <p:nvPr/>
        </p:nvSpPr>
        <p:spPr>
          <a:xfrm>
            <a:off x="932789"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0.00</a:t>
            </a:r>
            <a:endParaRPr sz="900">
              <a:latin typeface="Carlito"/>
              <a:cs typeface="Carlito"/>
            </a:endParaRPr>
          </a:p>
        </p:txBody>
      </p:sp>
      <p:sp>
        <p:nvSpPr>
          <p:cNvPr id="12" name="object 12"/>
          <p:cNvSpPr txBox="1"/>
          <p:nvPr/>
        </p:nvSpPr>
        <p:spPr>
          <a:xfrm>
            <a:off x="2163826"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1.00</a:t>
            </a:r>
            <a:endParaRPr sz="900">
              <a:latin typeface="Carlito"/>
              <a:cs typeface="Carlito"/>
            </a:endParaRPr>
          </a:p>
        </p:txBody>
      </p:sp>
      <p:sp>
        <p:nvSpPr>
          <p:cNvPr id="13" name="object 13"/>
          <p:cNvSpPr txBox="1"/>
          <p:nvPr/>
        </p:nvSpPr>
        <p:spPr>
          <a:xfrm>
            <a:off x="3395217"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2.00</a:t>
            </a:r>
            <a:endParaRPr sz="900">
              <a:latin typeface="Carlito"/>
              <a:cs typeface="Carlito"/>
            </a:endParaRPr>
          </a:p>
        </p:txBody>
      </p:sp>
      <p:sp>
        <p:nvSpPr>
          <p:cNvPr id="14" name="object 14"/>
          <p:cNvSpPr txBox="1"/>
          <p:nvPr/>
        </p:nvSpPr>
        <p:spPr>
          <a:xfrm>
            <a:off x="4626609"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3.00</a:t>
            </a:r>
            <a:endParaRPr sz="900">
              <a:latin typeface="Carlito"/>
              <a:cs typeface="Carlito"/>
            </a:endParaRPr>
          </a:p>
        </p:txBody>
      </p:sp>
      <p:sp>
        <p:nvSpPr>
          <p:cNvPr id="15" name="object 15"/>
          <p:cNvSpPr txBox="1"/>
          <p:nvPr/>
        </p:nvSpPr>
        <p:spPr>
          <a:xfrm>
            <a:off x="5858002"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4.00</a:t>
            </a:r>
            <a:endParaRPr sz="900">
              <a:latin typeface="Carlito"/>
              <a:cs typeface="Carlito"/>
            </a:endParaRPr>
          </a:p>
        </p:txBody>
      </p:sp>
      <p:sp>
        <p:nvSpPr>
          <p:cNvPr id="16" name="object 16"/>
          <p:cNvSpPr txBox="1"/>
          <p:nvPr/>
        </p:nvSpPr>
        <p:spPr>
          <a:xfrm>
            <a:off x="7089140"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5.00</a:t>
            </a:r>
            <a:endParaRPr sz="900">
              <a:latin typeface="Carlito"/>
              <a:cs typeface="Carlito"/>
            </a:endParaRPr>
          </a:p>
        </p:txBody>
      </p:sp>
      <p:sp>
        <p:nvSpPr>
          <p:cNvPr id="17" name="object 17"/>
          <p:cNvSpPr txBox="1"/>
          <p:nvPr/>
        </p:nvSpPr>
        <p:spPr>
          <a:xfrm>
            <a:off x="8320531" y="4402328"/>
            <a:ext cx="22860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585858"/>
                </a:solidFill>
                <a:latin typeface="Carlito"/>
                <a:cs typeface="Carlito"/>
              </a:rPr>
              <a:t>6.00</a:t>
            </a:r>
            <a:endParaRPr sz="900">
              <a:latin typeface="Carlito"/>
              <a:cs typeface="Carlito"/>
            </a:endParaRPr>
          </a:p>
        </p:txBody>
      </p:sp>
      <p:sp>
        <p:nvSpPr>
          <p:cNvPr id="18" name="object 18"/>
          <p:cNvSpPr txBox="1"/>
          <p:nvPr/>
        </p:nvSpPr>
        <p:spPr>
          <a:xfrm>
            <a:off x="4201795" y="1273505"/>
            <a:ext cx="742950" cy="240029"/>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585858"/>
                </a:solidFill>
                <a:latin typeface="Carlito"/>
                <a:cs typeface="Carlito"/>
              </a:rPr>
              <a:t>Variable</a:t>
            </a:r>
            <a:r>
              <a:rPr sz="1400" spc="-85" dirty="0">
                <a:solidFill>
                  <a:srgbClr val="585858"/>
                </a:solidFill>
                <a:latin typeface="Carlito"/>
                <a:cs typeface="Carlito"/>
              </a:rPr>
              <a:t> </a:t>
            </a:r>
            <a:r>
              <a:rPr sz="1400" dirty="0">
                <a:solidFill>
                  <a:srgbClr val="585858"/>
                </a:solidFill>
                <a:latin typeface="Carlito"/>
                <a:cs typeface="Carlito"/>
              </a:rPr>
              <a:t>2</a:t>
            </a:r>
            <a:endParaRPr sz="1400">
              <a:latin typeface="Carlito"/>
              <a:cs typeface="Carlito"/>
            </a:endParaRPr>
          </a:p>
        </p:txBody>
      </p:sp>
      <p:sp>
        <p:nvSpPr>
          <p:cNvPr id="19" name="object 19"/>
          <p:cNvSpPr/>
          <p:nvPr/>
        </p:nvSpPr>
        <p:spPr>
          <a:xfrm>
            <a:off x="2102357" y="3281934"/>
            <a:ext cx="1085215" cy="858519"/>
          </a:xfrm>
          <a:custGeom>
            <a:avLst/>
            <a:gdLst/>
            <a:ahLst/>
            <a:cxnLst/>
            <a:rect l="l" t="t" r="r" b="b"/>
            <a:pathLst>
              <a:path w="1085214" h="858520">
                <a:moveTo>
                  <a:pt x="0" y="429006"/>
                </a:moveTo>
                <a:lnTo>
                  <a:pt x="2484" y="387682"/>
                </a:lnTo>
                <a:lnTo>
                  <a:pt x="9784" y="347471"/>
                </a:lnTo>
                <a:lnTo>
                  <a:pt x="21673" y="308553"/>
                </a:lnTo>
                <a:lnTo>
                  <a:pt x="37924" y="271107"/>
                </a:lnTo>
                <a:lnTo>
                  <a:pt x="58309" y="235313"/>
                </a:lnTo>
                <a:lnTo>
                  <a:pt x="82600" y="201350"/>
                </a:lnTo>
                <a:lnTo>
                  <a:pt x="110570" y="169398"/>
                </a:lnTo>
                <a:lnTo>
                  <a:pt x="141991" y="139637"/>
                </a:lnTo>
                <a:lnTo>
                  <a:pt x="176635" y="112246"/>
                </a:lnTo>
                <a:lnTo>
                  <a:pt x="214276" y="87405"/>
                </a:lnTo>
                <a:lnTo>
                  <a:pt x="254686" y="65294"/>
                </a:lnTo>
                <a:lnTo>
                  <a:pt x="297636" y="46091"/>
                </a:lnTo>
                <a:lnTo>
                  <a:pt x="342901" y="29977"/>
                </a:lnTo>
                <a:lnTo>
                  <a:pt x="390251" y="17131"/>
                </a:lnTo>
                <a:lnTo>
                  <a:pt x="439460" y="7733"/>
                </a:lnTo>
                <a:lnTo>
                  <a:pt x="490300" y="1963"/>
                </a:lnTo>
                <a:lnTo>
                  <a:pt x="542544" y="0"/>
                </a:lnTo>
                <a:lnTo>
                  <a:pt x="594787" y="1963"/>
                </a:lnTo>
                <a:lnTo>
                  <a:pt x="645627" y="7733"/>
                </a:lnTo>
                <a:lnTo>
                  <a:pt x="694836" y="17131"/>
                </a:lnTo>
                <a:lnTo>
                  <a:pt x="742186" y="29977"/>
                </a:lnTo>
                <a:lnTo>
                  <a:pt x="787451" y="46091"/>
                </a:lnTo>
                <a:lnTo>
                  <a:pt x="830401" y="65294"/>
                </a:lnTo>
                <a:lnTo>
                  <a:pt x="870811" y="87405"/>
                </a:lnTo>
                <a:lnTo>
                  <a:pt x="908452" y="112246"/>
                </a:lnTo>
                <a:lnTo>
                  <a:pt x="943096" y="139637"/>
                </a:lnTo>
                <a:lnTo>
                  <a:pt x="974517" y="169398"/>
                </a:lnTo>
                <a:lnTo>
                  <a:pt x="1002487" y="201350"/>
                </a:lnTo>
                <a:lnTo>
                  <a:pt x="1026778" y="235313"/>
                </a:lnTo>
                <a:lnTo>
                  <a:pt x="1047163" y="271107"/>
                </a:lnTo>
                <a:lnTo>
                  <a:pt x="1063414" y="308553"/>
                </a:lnTo>
                <a:lnTo>
                  <a:pt x="1075303" y="347471"/>
                </a:lnTo>
                <a:lnTo>
                  <a:pt x="1082603" y="387682"/>
                </a:lnTo>
                <a:lnTo>
                  <a:pt x="1085088" y="429006"/>
                </a:lnTo>
                <a:lnTo>
                  <a:pt x="1082603" y="470321"/>
                </a:lnTo>
                <a:lnTo>
                  <a:pt x="1075303" y="510526"/>
                </a:lnTo>
                <a:lnTo>
                  <a:pt x="1063414" y="549440"/>
                </a:lnTo>
                <a:lnTo>
                  <a:pt x="1047163" y="586883"/>
                </a:lnTo>
                <a:lnTo>
                  <a:pt x="1026778" y="622676"/>
                </a:lnTo>
                <a:lnTo>
                  <a:pt x="1002487" y="656638"/>
                </a:lnTo>
                <a:lnTo>
                  <a:pt x="974517" y="688591"/>
                </a:lnTo>
                <a:lnTo>
                  <a:pt x="943096" y="718354"/>
                </a:lnTo>
                <a:lnTo>
                  <a:pt x="908452" y="745747"/>
                </a:lnTo>
                <a:lnTo>
                  <a:pt x="870811" y="770591"/>
                </a:lnTo>
                <a:lnTo>
                  <a:pt x="830401" y="792705"/>
                </a:lnTo>
                <a:lnTo>
                  <a:pt x="787451" y="811911"/>
                </a:lnTo>
                <a:lnTo>
                  <a:pt x="742186" y="828028"/>
                </a:lnTo>
                <a:lnTo>
                  <a:pt x="694836" y="840876"/>
                </a:lnTo>
                <a:lnTo>
                  <a:pt x="645627" y="850276"/>
                </a:lnTo>
                <a:lnTo>
                  <a:pt x="594787" y="856048"/>
                </a:lnTo>
                <a:lnTo>
                  <a:pt x="542544" y="858012"/>
                </a:lnTo>
                <a:lnTo>
                  <a:pt x="490300" y="856048"/>
                </a:lnTo>
                <a:lnTo>
                  <a:pt x="439460" y="850276"/>
                </a:lnTo>
                <a:lnTo>
                  <a:pt x="390251" y="840876"/>
                </a:lnTo>
                <a:lnTo>
                  <a:pt x="342901" y="828028"/>
                </a:lnTo>
                <a:lnTo>
                  <a:pt x="297636" y="811911"/>
                </a:lnTo>
                <a:lnTo>
                  <a:pt x="254686" y="792705"/>
                </a:lnTo>
                <a:lnTo>
                  <a:pt x="214276" y="770591"/>
                </a:lnTo>
                <a:lnTo>
                  <a:pt x="176635" y="745747"/>
                </a:lnTo>
                <a:lnTo>
                  <a:pt x="141991" y="718354"/>
                </a:lnTo>
                <a:lnTo>
                  <a:pt x="110570" y="688591"/>
                </a:lnTo>
                <a:lnTo>
                  <a:pt x="82600" y="656638"/>
                </a:lnTo>
                <a:lnTo>
                  <a:pt x="58309" y="622676"/>
                </a:lnTo>
                <a:lnTo>
                  <a:pt x="37924" y="586883"/>
                </a:lnTo>
                <a:lnTo>
                  <a:pt x="21673" y="549440"/>
                </a:lnTo>
                <a:lnTo>
                  <a:pt x="9784" y="510526"/>
                </a:lnTo>
                <a:lnTo>
                  <a:pt x="2484" y="470321"/>
                </a:lnTo>
                <a:lnTo>
                  <a:pt x="0" y="429006"/>
                </a:lnTo>
                <a:close/>
              </a:path>
            </a:pathLst>
          </a:custGeom>
          <a:ln w="25908">
            <a:solidFill>
              <a:srgbClr val="8B3836"/>
            </a:solidFill>
          </a:ln>
        </p:spPr>
        <p:txBody>
          <a:bodyPr wrap="square" lIns="0" tIns="0" rIns="0" bIns="0" rtlCol="0"/>
          <a:lstStyle/>
          <a:p>
            <a:endParaRPr/>
          </a:p>
        </p:txBody>
      </p:sp>
      <p:grpSp>
        <p:nvGrpSpPr>
          <p:cNvPr id="20" name="object 20"/>
          <p:cNvGrpSpPr/>
          <p:nvPr/>
        </p:nvGrpSpPr>
        <p:grpSpPr>
          <a:xfrm>
            <a:off x="3909059" y="1511808"/>
            <a:ext cx="4597908" cy="2203704"/>
            <a:chOff x="3909059" y="1511808"/>
            <a:chExt cx="4597908" cy="2203704"/>
          </a:xfrm>
        </p:grpSpPr>
        <p:sp>
          <p:nvSpPr>
            <p:cNvPr id="21" name="object 21"/>
            <p:cNvSpPr/>
            <p:nvPr/>
          </p:nvSpPr>
          <p:spPr>
            <a:xfrm>
              <a:off x="4782311" y="2490228"/>
              <a:ext cx="481571" cy="399275"/>
            </a:xfrm>
            <a:prstGeom prst="rect">
              <a:avLst/>
            </a:prstGeom>
            <a:blipFill>
              <a:blip r:embed="rId7" cstate="print"/>
              <a:stretch>
                <a:fillRect/>
              </a:stretch>
            </a:blipFill>
          </p:spPr>
          <p:txBody>
            <a:bodyPr wrap="square" lIns="0" tIns="0" rIns="0" bIns="0" rtlCol="0"/>
            <a:lstStyle/>
            <a:p>
              <a:endParaRPr/>
            </a:p>
          </p:txBody>
        </p:sp>
        <p:sp>
          <p:nvSpPr>
            <p:cNvPr id="22" name="object 22"/>
            <p:cNvSpPr/>
            <p:nvPr/>
          </p:nvSpPr>
          <p:spPr>
            <a:xfrm>
              <a:off x="4836413" y="2529077"/>
              <a:ext cx="370840" cy="284480"/>
            </a:xfrm>
            <a:custGeom>
              <a:avLst/>
              <a:gdLst/>
              <a:ahLst/>
              <a:cxnLst/>
              <a:rect l="l" t="t" r="r" b="b"/>
              <a:pathLst>
                <a:path w="370839" h="284480">
                  <a:moveTo>
                    <a:pt x="0" y="284480"/>
                  </a:moveTo>
                  <a:lnTo>
                    <a:pt x="370332" y="0"/>
                  </a:lnTo>
                </a:path>
              </a:pathLst>
            </a:custGeom>
            <a:ln w="38100">
              <a:solidFill>
                <a:srgbClr val="4F81BC"/>
              </a:solidFill>
            </a:ln>
          </p:spPr>
          <p:txBody>
            <a:bodyPr wrap="square" lIns="0" tIns="0" rIns="0" bIns="0" rtlCol="0"/>
            <a:lstStyle/>
            <a:p>
              <a:endParaRPr/>
            </a:p>
          </p:txBody>
        </p:sp>
        <p:sp>
          <p:nvSpPr>
            <p:cNvPr id="23" name="object 23"/>
            <p:cNvSpPr/>
            <p:nvPr/>
          </p:nvSpPr>
          <p:spPr>
            <a:xfrm>
              <a:off x="4831079" y="2767558"/>
              <a:ext cx="1748027" cy="504469"/>
            </a:xfrm>
            <a:prstGeom prst="rect">
              <a:avLst/>
            </a:prstGeom>
            <a:blipFill>
              <a:blip r:embed="rId8" cstate="print"/>
              <a:stretch>
                <a:fillRect/>
              </a:stretch>
            </a:blipFill>
          </p:spPr>
          <p:txBody>
            <a:bodyPr wrap="square" lIns="0" tIns="0" rIns="0" bIns="0" rtlCol="0"/>
            <a:lstStyle/>
            <a:p>
              <a:endParaRPr/>
            </a:p>
          </p:txBody>
        </p:sp>
        <p:sp>
          <p:nvSpPr>
            <p:cNvPr id="24" name="object 24"/>
            <p:cNvSpPr/>
            <p:nvPr/>
          </p:nvSpPr>
          <p:spPr>
            <a:xfrm>
              <a:off x="3909059" y="1511808"/>
              <a:ext cx="4597908" cy="2203704"/>
            </a:xfrm>
            <a:prstGeom prst="rect">
              <a:avLst/>
            </a:prstGeom>
            <a:blipFill>
              <a:blip r:embed="rId9" cstate="print"/>
              <a:stretch>
                <a:fillRect/>
              </a:stretch>
            </a:blipFill>
          </p:spPr>
          <p:txBody>
            <a:bodyPr wrap="square" lIns="0" tIns="0" rIns="0" bIns="0" rtlCol="0"/>
            <a:lstStyle/>
            <a:p>
              <a:endParaRPr dirty="0"/>
            </a:p>
          </p:txBody>
        </p:sp>
      </p:grpSp>
      <p:sp>
        <p:nvSpPr>
          <p:cNvPr id="25" name="object 2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52</a:t>
            </a:fld>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5" dirty="0"/>
              <a:t>K-Means </a:t>
            </a:r>
            <a:r>
              <a:rPr spc="-15" dirty="0"/>
              <a:t>clustering</a:t>
            </a:r>
            <a:r>
              <a:rPr spc="40" dirty="0"/>
              <a:t> </a:t>
            </a:r>
            <a:r>
              <a:rPr spc="-20" dirty="0"/>
              <a:t>example</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53</a:t>
            </a:fld>
            <a:endParaRPr dirty="0"/>
          </a:p>
        </p:txBody>
      </p:sp>
      <p:sp>
        <p:nvSpPr>
          <p:cNvPr id="3" name="object 3"/>
          <p:cNvSpPr txBox="1"/>
          <p:nvPr/>
        </p:nvSpPr>
        <p:spPr>
          <a:xfrm>
            <a:off x="535940" y="1216913"/>
            <a:ext cx="3206115" cy="3308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10" dirty="0">
                <a:latin typeface="Carlito"/>
                <a:cs typeface="Carlito"/>
              </a:rPr>
              <a:t>Update </a:t>
            </a:r>
            <a:r>
              <a:rPr sz="2000" dirty="0">
                <a:latin typeface="Carlito"/>
                <a:cs typeface="Carlito"/>
              </a:rPr>
              <a:t>the </a:t>
            </a:r>
            <a:r>
              <a:rPr sz="2000" spc="-5" dirty="0">
                <a:latin typeface="Carlito"/>
                <a:cs typeface="Carlito"/>
              </a:rPr>
              <a:t>cluster</a:t>
            </a:r>
            <a:r>
              <a:rPr sz="2000" spc="-20" dirty="0">
                <a:latin typeface="Carlito"/>
                <a:cs typeface="Carlito"/>
              </a:rPr>
              <a:t> </a:t>
            </a:r>
            <a:r>
              <a:rPr sz="2000" spc="-10" dirty="0">
                <a:latin typeface="Carlito"/>
                <a:cs typeface="Carlito"/>
              </a:rPr>
              <a:t>centroid</a:t>
            </a:r>
            <a:endParaRPr sz="2000">
              <a:latin typeface="Carlito"/>
              <a:cs typeface="Carlito"/>
            </a:endParaRPr>
          </a:p>
        </p:txBody>
      </p:sp>
      <p:graphicFrame>
        <p:nvGraphicFramePr>
          <p:cNvPr id="4" name="object 4"/>
          <p:cNvGraphicFramePr>
            <a:graphicFrameLocks noGrp="1"/>
          </p:cNvGraphicFramePr>
          <p:nvPr/>
        </p:nvGraphicFramePr>
        <p:xfrm>
          <a:off x="1483486" y="1796542"/>
          <a:ext cx="6962140" cy="1097280"/>
        </p:xfrm>
        <a:graphic>
          <a:graphicData uri="http://schemas.openxmlformats.org/drawingml/2006/table">
            <a:tbl>
              <a:tblPr firstRow="1" bandRow="1">
                <a:tableStyleId>{2D5ABB26-0587-4C30-8999-92F81FD0307C}</a:tableStyleId>
              </a:tblPr>
              <a:tblGrid>
                <a:gridCol w="952500">
                  <a:extLst>
                    <a:ext uri="{9D8B030D-6E8A-4147-A177-3AD203B41FA5}">
                      <a16:colId xmlns:a16="http://schemas.microsoft.com/office/drawing/2014/main" val="20000"/>
                    </a:ext>
                  </a:extLst>
                </a:gridCol>
                <a:gridCol w="2983865">
                  <a:extLst>
                    <a:ext uri="{9D8B030D-6E8A-4147-A177-3AD203B41FA5}">
                      <a16:colId xmlns:a16="http://schemas.microsoft.com/office/drawing/2014/main" val="20001"/>
                    </a:ext>
                  </a:extLst>
                </a:gridCol>
                <a:gridCol w="3025775">
                  <a:extLst>
                    <a:ext uri="{9D8B030D-6E8A-4147-A177-3AD203B41FA5}">
                      <a16:colId xmlns:a16="http://schemas.microsoft.com/office/drawing/2014/main" val="20002"/>
                    </a:ext>
                  </a:extLst>
                </a:gridCol>
              </a:tblGrid>
              <a:tr h="365760">
                <a:tc>
                  <a:txBody>
                    <a:bodyPr/>
                    <a:lstStyle/>
                    <a:p>
                      <a:pPr algn="ctr">
                        <a:lnSpc>
                          <a:spcPct val="100000"/>
                        </a:lnSpc>
                        <a:spcBef>
                          <a:spcPts val="245"/>
                        </a:spcBef>
                      </a:pPr>
                      <a:r>
                        <a:rPr sz="1800" b="1" spc="-10" dirty="0">
                          <a:solidFill>
                            <a:srgbClr val="FFFFFF"/>
                          </a:solidFill>
                          <a:latin typeface="Carlito"/>
                          <a:cs typeface="Carlito"/>
                        </a:rPr>
                        <a:t>Cluster</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2540" algn="ctr">
                        <a:lnSpc>
                          <a:spcPct val="100000"/>
                        </a:lnSpc>
                        <a:spcBef>
                          <a:spcPts val="245"/>
                        </a:spcBef>
                      </a:pPr>
                      <a:r>
                        <a:rPr sz="1800" b="1" spc="-25" dirty="0">
                          <a:solidFill>
                            <a:srgbClr val="FFFFFF"/>
                          </a:solidFill>
                          <a:latin typeface="Carlito"/>
                          <a:cs typeface="Carlito"/>
                        </a:rPr>
                        <a:t>Var1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905" algn="ctr">
                        <a:lnSpc>
                          <a:spcPct val="100000"/>
                        </a:lnSpc>
                        <a:spcBef>
                          <a:spcPts val="245"/>
                        </a:spcBef>
                      </a:pPr>
                      <a:r>
                        <a:rPr sz="1800" b="1" spc="-25" dirty="0">
                          <a:solidFill>
                            <a:srgbClr val="FFFFFF"/>
                          </a:solidFill>
                          <a:latin typeface="Carlito"/>
                          <a:cs typeface="Carlito"/>
                        </a:rPr>
                        <a:t>Var2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60">
                <a:tc>
                  <a:txBody>
                    <a:bodyPr/>
                    <a:lstStyle/>
                    <a:p>
                      <a:pPr algn="ctr">
                        <a:lnSpc>
                          <a:spcPct val="100000"/>
                        </a:lnSpc>
                        <a:spcBef>
                          <a:spcPts val="245"/>
                        </a:spcBef>
                      </a:pPr>
                      <a:r>
                        <a:rPr sz="1800" spc="-5" dirty="0">
                          <a:latin typeface="Carlito"/>
                          <a:cs typeface="Carlito"/>
                        </a:rPr>
                        <a:t>K1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2540" algn="ctr">
                        <a:lnSpc>
                          <a:spcPct val="100000"/>
                        </a:lnSpc>
                        <a:spcBef>
                          <a:spcPts val="245"/>
                        </a:spcBef>
                      </a:pPr>
                      <a:r>
                        <a:rPr sz="1800" dirty="0">
                          <a:latin typeface="Carlito"/>
                          <a:cs typeface="Carlito"/>
                        </a:rPr>
                        <a:t>1.25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270" algn="ctr">
                        <a:lnSpc>
                          <a:spcPct val="100000"/>
                        </a:lnSpc>
                        <a:spcBef>
                          <a:spcPts val="245"/>
                        </a:spcBef>
                      </a:pPr>
                      <a:r>
                        <a:rPr sz="1800" dirty="0">
                          <a:latin typeface="Carlito"/>
                          <a:cs typeface="Carlito"/>
                        </a:rPr>
                        <a:t>1.5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760">
                <a:tc>
                  <a:txBody>
                    <a:bodyPr/>
                    <a:lstStyle/>
                    <a:p>
                      <a:pPr algn="ctr">
                        <a:lnSpc>
                          <a:spcPct val="100000"/>
                        </a:lnSpc>
                        <a:spcBef>
                          <a:spcPts val="245"/>
                        </a:spcBef>
                      </a:pPr>
                      <a:r>
                        <a:rPr sz="1800" dirty="0">
                          <a:latin typeface="Carlito"/>
                          <a:cs typeface="Carlito"/>
                        </a:rPr>
                        <a:t>K2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spc="-5" dirty="0">
                          <a:latin typeface="Carlito"/>
                          <a:cs typeface="Carlito"/>
                        </a:rPr>
                        <a:t>(3.0+5.0+3.5+4.5+3.5)/5=</a:t>
                      </a:r>
                      <a:r>
                        <a:rPr sz="1800" spc="-10" dirty="0">
                          <a:latin typeface="Carlito"/>
                          <a:cs typeface="Carlito"/>
                        </a:rPr>
                        <a:t> </a:t>
                      </a:r>
                      <a:r>
                        <a:rPr sz="1800" dirty="0">
                          <a:latin typeface="Carlito"/>
                          <a:cs typeface="Carlito"/>
                        </a:rPr>
                        <a:t>3.9</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905" algn="ctr">
                        <a:lnSpc>
                          <a:spcPct val="100000"/>
                        </a:lnSpc>
                        <a:spcBef>
                          <a:spcPts val="245"/>
                        </a:spcBef>
                      </a:pPr>
                      <a:r>
                        <a:rPr sz="1800" spc="-5" dirty="0">
                          <a:latin typeface="Carlito"/>
                          <a:cs typeface="Carlito"/>
                        </a:rPr>
                        <a:t>(4.0+7.0+5.0+5.0+4.5)/5=</a:t>
                      </a:r>
                      <a:r>
                        <a:rPr sz="1800" dirty="0">
                          <a:latin typeface="Carlito"/>
                          <a:cs typeface="Carlito"/>
                        </a:rPr>
                        <a:t> 5.1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5" dirty="0"/>
              <a:t>K-Means </a:t>
            </a:r>
            <a:r>
              <a:rPr spc="-15" dirty="0"/>
              <a:t>clustering</a:t>
            </a:r>
            <a:r>
              <a:rPr spc="40" dirty="0"/>
              <a:t> </a:t>
            </a:r>
            <a:r>
              <a:rPr spc="-20" dirty="0"/>
              <a:t>example</a:t>
            </a:r>
          </a:p>
        </p:txBody>
      </p:sp>
      <p:graphicFrame>
        <p:nvGraphicFramePr>
          <p:cNvPr id="3" name="object 3"/>
          <p:cNvGraphicFramePr>
            <a:graphicFrameLocks noGrp="1"/>
          </p:cNvGraphicFramePr>
          <p:nvPr/>
        </p:nvGraphicFramePr>
        <p:xfrm>
          <a:off x="1593341" y="1193800"/>
          <a:ext cx="6096000" cy="2966715"/>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39">
                <a:tc>
                  <a:txBody>
                    <a:bodyPr/>
                    <a:lstStyle/>
                    <a:p>
                      <a:pPr algn="ctr">
                        <a:lnSpc>
                          <a:spcPct val="100000"/>
                        </a:lnSpc>
                        <a:spcBef>
                          <a:spcPts val="244"/>
                        </a:spcBef>
                      </a:pPr>
                      <a:r>
                        <a:rPr sz="1800" b="1" spc="-5" dirty="0">
                          <a:solidFill>
                            <a:srgbClr val="FFFFFF"/>
                          </a:solidFill>
                          <a:latin typeface="Carlito"/>
                          <a:cs typeface="Carlito"/>
                        </a:rPr>
                        <a:t>Individual</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4"/>
                        </a:spcBef>
                      </a:pPr>
                      <a:r>
                        <a:rPr sz="1800" b="1" spc="-15" dirty="0">
                          <a:solidFill>
                            <a:srgbClr val="FFFFFF"/>
                          </a:solidFill>
                          <a:latin typeface="Carlito"/>
                          <a:cs typeface="Carlito"/>
                        </a:rPr>
                        <a:t>Variable </a:t>
                      </a:r>
                      <a:r>
                        <a:rPr sz="1800" b="1" dirty="0">
                          <a:solidFill>
                            <a:srgbClr val="FFFFFF"/>
                          </a:solidFill>
                          <a:latin typeface="Carlito"/>
                          <a:cs typeface="Carlito"/>
                        </a:rPr>
                        <a:t>1</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635" algn="ctr">
                        <a:lnSpc>
                          <a:spcPct val="100000"/>
                        </a:lnSpc>
                        <a:spcBef>
                          <a:spcPts val="244"/>
                        </a:spcBef>
                      </a:pPr>
                      <a:r>
                        <a:rPr sz="1800" b="1" spc="-15" dirty="0">
                          <a:solidFill>
                            <a:srgbClr val="FFFFFF"/>
                          </a:solidFill>
                          <a:latin typeface="Carlito"/>
                          <a:cs typeface="Carlito"/>
                        </a:rPr>
                        <a:t>Variable </a:t>
                      </a:r>
                      <a:r>
                        <a:rPr sz="1800" b="1" dirty="0">
                          <a:solidFill>
                            <a:srgbClr val="FFFFFF"/>
                          </a:solidFill>
                          <a:latin typeface="Carlito"/>
                          <a:cs typeface="Carlito"/>
                        </a:rPr>
                        <a:t>2</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4"/>
                        </a:spcBef>
                      </a:pPr>
                      <a:r>
                        <a:rPr sz="1800" b="1" spc="-5" dirty="0">
                          <a:solidFill>
                            <a:srgbClr val="FFFFFF"/>
                          </a:solidFill>
                          <a:latin typeface="Carlito"/>
                          <a:cs typeface="Carlito"/>
                        </a:rPr>
                        <a:t>Assignment</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70840">
                <a:tc>
                  <a:txBody>
                    <a:bodyPr/>
                    <a:lstStyle/>
                    <a:p>
                      <a:pPr algn="ctr">
                        <a:lnSpc>
                          <a:spcPct val="100000"/>
                        </a:lnSpc>
                        <a:spcBef>
                          <a:spcPts val="244"/>
                        </a:spcBef>
                      </a:pPr>
                      <a:r>
                        <a:rPr sz="1800" dirty="0">
                          <a:latin typeface="Carlito"/>
                          <a:cs typeface="Carlito"/>
                        </a:rPr>
                        <a:t>1</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4"/>
                        </a:spcBef>
                      </a:pPr>
                      <a:r>
                        <a:rPr sz="1800" dirty="0">
                          <a:latin typeface="Carlito"/>
                          <a:cs typeface="Carlito"/>
                        </a:rPr>
                        <a:t>1.0</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4"/>
                        </a:spcBef>
                      </a:pPr>
                      <a:r>
                        <a:rPr sz="1800" dirty="0">
                          <a:latin typeface="Carlito"/>
                          <a:cs typeface="Carlito"/>
                        </a:rPr>
                        <a:t>1.0</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4"/>
                        </a:spcBef>
                      </a:pPr>
                      <a:r>
                        <a:rPr sz="1800" dirty="0">
                          <a:latin typeface="Carlito"/>
                          <a:cs typeface="Carlito"/>
                        </a:rPr>
                        <a:t>1</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70839">
                <a:tc>
                  <a:txBody>
                    <a:bodyPr/>
                    <a:lstStyle/>
                    <a:p>
                      <a:pPr algn="ctr">
                        <a:lnSpc>
                          <a:spcPct val="100000"/>
                        </a:lnSpc>
                        <a:spcBef>
                          <a:spcPts val="245"/>
                        </a:spcBef>
                      </a:pPr>
                      <a:r>
                        <a:rPr sz="1800" dirty="0">
                          <a:latin typeface="Carlito"/>
                          <a:cs typeface="Carlito"/>
                        </a:rPr>
                        <a:t>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1.5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2.0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370840">
                <a:tc>
                  <a:txBody>
                    <a:bodyPr/>
                    <a:lstStyle/>
                    <a:p>
                      <a:pPr algn="ctr">
                        <a:lnSpc>
                          <a:spcPct val="100000"/>
                        </a:lnSpc>
                        <a:spcBef>
                          <a:spcPts val="245"/>
                        </a:spcBef>
                      </a:pPr>
                      <a:r>
                        <a:rPr sz="1800" dirty="0">
                          <a:latin typeface="Carlito"/>
                          <a:cs typeface="Carlito"/>
                        </a:rPr>
                        <a:t>3</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3.0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4.0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370839">
                <a:tc>
                  <a:txBody>
                    <a:bodyPr/>
                    <a:lstStyle/>
                    <a:p>
                      <a:pPr algn="ctr">
                        <a:lnSpc>
                          <a:spcPct val="100000"/>
                        </a:lnSpc>
                        <a:spcBef>
                          <a:spcPts val="245"/>
                        </a:spcBef>
                      </a:pPr>
                      <a:r>
                        <a:rPr sz="1800" dirty="0">
                          <a:latin typeface="Carlito"/>
                          <a:cs typeface="Carlito"/>
                        </a:rPr>
                        <a:t>4</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5.0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7.0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370839">
                <a:tc>
                  <a:txBody>
                    <a:bodyPr/>
                    <a:lstStyle/>
                    <a:p>
                      <a:pPr algn="ctr">
                        <a:lnSpc>
                          <a:spcPct val="100000"/>
                        </a:lnSpc>
                        <a:spcBef>
                          <a:spcPts val="245"/>
                        </a:spcBef>
                      </a:pPr>
                      <a:r>
                        <a:rPr sz="1800" dirty="0">
                          <a:latin typeface="Carlito"/>
                          <a:cs typeface="Carlito"/>
                        </a:rPr>
                        <a:t>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3.5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5.0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r h="370840">
                <a:tc>
                  <a:txBody>
                    <a:bodyPr/>
                    <a:lstStyle/>
                    <a:p>
                      <a:pPr algn="ctr">
                        <a:lnSpc>
                          <a:spcPct val="100000"/>
                        </a:lnSpc>
                        <a:spcBef>
                          <a:spcPts val="245"/>
                        </a:spcBef>
                      </a:pPr>
                      <a:r>
                        <a:rPr sz="1800" dirty="0">
                          <a:latin typeface="Carlito"/>
                          <a:cs typeface="Carlito"/>
                        </a:rPr>
                        <a:t>6</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4.5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5.0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6"/>
                  </a:ext>
                </a:extLst>
              </a:tr>
              <a:tr h="370839">
                <a:tc>
                  <a:txBody>
                    <a:bodyPr/>
                    <a:lstStyle/>
                    <a:p>
                      <a:pPr algn="ctr">
                        <a:lnSpc>
                          <a:spcPct val="100000"/>
                        </a:lnSpc>
                        <a:spcBef>
                          <a:spcPts val="250"/>
                        </a:spcBef>
                      </a:pPr>
                      <a:r>
                        <a:rPr sz="1800" dirty="0">
                          <a:latin typeface="Carlito"/>
                          <a:cs typeface="Carlito"/>
                        </a:rPr>
                        <a:t>7</a:t>
                      </a:r>
                      <a:endParaRPr sz="1800">
                        <a:latin typeface="Carlito"/>
                        <a:cs typeface="Carlito"/>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50"/>
                        </a:spcBef>
                      </a:pPr>
                      <a:r>
                        <a:rPr sz="1800" dirty="0">
                          <a:latin typeface="Carlito"/>
                          <a:cs typeface="Carlito"/>
                        </a:rPr>
                        <a:t>3.5</a:t>
                      </a:r>
                      <a:endParaRPr sz="1800">
                        <a:latin typeface="Carlito"/>
                        <a:cs typeface="Carlito"/>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50"/>
                        </a:spcBef>
                      </a:pPr>
                      <a:r>
                        <a:rPr sz="1800" dirty="0">
                          <a:latin typeface="Carlito"/>
                          <a:cs typeface="Carlito"/>
                        </a:rPr>
                        <a:t>4.5</a:t>
                      </a:r>
                      <a:endParaRPr sz="1800">
                        <a:latin typeface="Carlito"/>
                        <a:cs typeface="Carlito"/>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50"/>
                        </a:spcBef>
                      </a:pPr>
                      <a:r>
                        <a:rPr sz="1800" dirty="0">
                          <a:latin typeface="Carlito"/>
                          <a:cs typeface="Carlito"/>
                        </a:rPr>
                        <a:t>2</a:t>
                      </a:r>
                      <a:endParaRPr sz="1800">
                        <a:latin typeface="Carlito"/>
                        <a:cs typeface="Carlito"/>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7"/>
                  </a:ext>
                </a:extLst>
              </a:tr>
            </a:tbl>
          </a:graphicData>
        </a:graphic>
      </p:graphicFrame>
      <p:sp>
        <p:nvSpPr>
          <p:cNvPr id="4" name="object 4"/>
          <p:cNvSpPr/>
          <p:nvPr/>
        </p:nvSpPr>
        <p:spPr>
          <a:xfrm>
            <a:off x="1855470" y="1529333"/>
            <a:ext cx="5548122" cy="2734576"/>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54</a:t>
            </a:fld>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DBB52-3812-4639-AD7A-8AFFC73C237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FC2A48F6-9E29-432A-B502-0DE86E85DBE2}"/>
              </a:ext>
            </a:extLst>
          </p:cNvPr>
          <p:cNvSpPr>
            <a:spLocks noGrp="1"/>
          </p:cNvSpPr>
          <p:nvPr>
            <p:ph type="body" idx="1"/>
          </p:nvPr>
        </p:nvSpPr>
        <p:spPr/>
        <p:txBody>
          <a:bodyPr/>
          <a:lstStyle/>
          <a:p>
            <a:pPr algn="ctr"/>
            <a:r>
              <a:rPr lang="en-US" sz="2800" dirty="0">
                <a:solidFill>
                  <a:srgbClr val="FF0000"/>
                </a:solidFill>
              </a:rPr>
              <a:t>How to choose number of clusters</a:t>
            </a:r>
          </a:p>
          <a:p>
            <a:pPr algn="ctr"/>
            <a:r>
              <a:rPr lang="en-US" sz="2800" dirty="0">
                <a:solidFill>
                  <a:srgbClr val="FF0000"/>
                </a:solidFill>
              </a:rPr>
              <a:t>(Imp)</a:t>
            </a:r>
            <a:endParaRPr lang="en-IN" sz="2800" dirty="0">
              <a:solidFill>
                <a:srgbClr val="FF0000"/>
              </a:solidFill>
            </a:endParaRPr>
          </a:p>
        </p:txBody>
      </p:sp>
    </p:spTree>
    <p:extLst>
      <p:ext uri="{BB962C8B-B14F-4D97-AF65-F5344CB8AC3E}">
        <p14:creationId xmlns:p14="http://schemas.microsoft.com/office/powerpoint/2010/main" val="7370963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2C452-06BB-4D7C-8416-FAEF6D3C0F0A}"/>
              </a:ext>
            </a:extLst>
          </p:cNvPr>
          <p:cNvSpPr>
            <a:spLocks noGrp="1"/>
          </p:cNvSpPr>
          <p:nvPr>
            <p:ph type="title"/>
          </p:nvPr>
        </p:nvSpPr>
        <p:spPr>
          <a:xfrm>
            <a:off x="838200" y="385953"/>
            <a:ext cx="7696200" cy="452119"/>
          </a:xfrm>
        </p:spPr>
        <p:txBody>
          <a:bodyPr/>
          <a:lstStyle/>
          <a:p>
            <a:r>
              <a:rPr lang="en-US" sz="1200" b="0" i="0" dirty="0">
                <a:solidFill>
                  <a:srgbClr val="C00000"/>
                </a:solidFill>
                <a:effectLst/>
                <a:latin typeface="Open Sans" panose="020B0606030504020204" pitchFamily="34" charset="0"/>
              </a:rPr>
              <a:t>Now, the important question is how should you choose the optimum number of clusters? There are two possible ways for choosing the number of clusters</a:t>
            </a:r>
            <a:r>
              <a:rPr lang="en-US" sz="1200" b="0" i="0" dirty="0">
                <a:solidFill>
                  <a:srgbClr val="4A4A4A"/>
                </a:solidFill>
                <a:effectLst/>
                <a:latin typeface="Open Sans" panose="020B0606030504020204" pitchFamily="34" charset="0"/>
              </a:rPr>
              <a:t>.</a:t>
            </a:r>
            <a:endParaRPr lang="en-IN" sz="1200" dirty="0"/>
          </a:p>
        </p:txBody>
      </p:sp>
      <p:sp>
        <p:nvSpPr>
          <p:cNvPr id="3" name="Text Placeholder 2">
            <a:extLst>
              <a:ext uri="{FF2B5EF4-FFF2-40B4-BE49-F238E27FC236}">
                <a16:creationId xmlns:a16="http://schemas.microsoft.com/office/drawing/2014/main" id="{13FE1D6E-C2B5-417B-80D6-E656C4161759}"/>
              </a:ext>
            </a:extLst>
          </p:cNvPr>
          <p:cNvSpPr>
            <a:spLocks noGrp="1"/>
          </p:cNvSpPr>
          <p:nvPr>
            <p:ph type="body" idx="1"/>
          </p:nvPr>
        </p:nvSpPr>
        <p:spPr>
          <a:xfrm>
            <a:off x="609600" y="1127363"/>
            <a:ext cx="8077200" cy="1444830"/>
          </a:xfrm>
        </p:spPr>
        <p:txBody>
          <a:bodyPr/>
          <a:lstStyle/>
          <a:p>
            <a:pPr algn="just"/>
            <a:r>
              <a:rPr lang="en-US" sz="1400" b="1" i="0" dirty="0">
                <a:solidFill>
                  <a:srgbClr val="4A4A4A"/>
                </a:solidFill>
                <a:effectLst/>
                <a:latin typeface="Open Sans" panose="020B0606030504020204" pitchFamily="34" charset="0"/>
              </a:rPr>
              <a:t>(</a:t>
            </a:r>
            <a:r>
              <a:rPr lang="en-US" sz="1400" b="1" i="0" dirty="0" err="1">
                <a:solidFill>
                  <a:srgbClr val="4A4A4A"/>
                </a:solidFill>
                <a:effectLst/>
                <a:latin typeface="Open Sans" panose="020B0606030504020204" pitchFamily="34" charset="0"/>
              </a:rPr>
              <a:t>i</a:t>
            </a:r>
            <a:r>
              <a:rPr lang="en-US" sz="1400" b="1" i="0" dirty="0">
                <a:solidFill>
                  <a:srgbClr val="4A4A4A"/>
                </a:solidFill>
                <a:effectLst/>
                <a:latin typeface="Open Sans" panose="020B0606030504020204" pitchFamily="34" charset="0"/>
              </a:rPr>
              <a:t>)   Elbow Method: </a:t>
            </a:r>
            <a:r>
              <a:rPr lang="en-US" sz="1400" b="0" i="0" dirty="0">
                <a:solidFill>
                  <a:srgbClr val="4A4A4A"/>
                </a:solidFill>
                <a:effectLst/>
                <a:latin typeface="Open Sans" panose="020B0606030504020204" pitchFamily="34" charset="0"/>
              </a:rPr>
              <a:t>Here, you draw a curve between WSS (within sum of squares) and the number of clusters. It is called elbow method because the curve looks like a human arm and the elbow point gives us the optimum number of clusters. As you can see that after the elbow point, there is a very slow change in the value of WSS, so you should take the elbow point value as the final number of clusters.</a:t>
            </a:r>
          </a:p>
          <a:p>
            <a:br>
              <a:rPr lang="en-US" dirty="0"/>
            </a:br>
            <a:endParaRPr lang="en-IN" dirty="0"/>
          </a:p>
        </p:txBody>
      </p:sp>
      <p:pic>
        <p:nvPicPr>
          <p:cNvPr id="2050" name="Picture 2" descr="Elbow method - Edureka">
            <a:extLst>
              <a:ext uri="{FF2B5EF4-FFF2-40B4-BE49-F238E27FC236}">
                <a16:creationId xmlns:a16="http://schemas.microsoft.com/office/drawing/2014/main" id="{21839F46-1F27-4BDA-9367-35FE887E14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131629"/>
            <a:ext cx="3368364" cy="295472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eginner&amp;#39;s Guide To K-Means Clustering - Analytics India Magazine">
            <a:extLst>
              <a:ext uri="{FF2B5EF4-FFF2-40B4-BE49-F238E27FC236}">
                <a16:creationId xmlns:a16="http://schemas.microsoft.com/office/drawing/2014/main" id="{B88B0AE4-9934-463E-A2B6-C663F1495E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2114550"/>
            <a:ext cx="3067050" cy="9307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89152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6F13A-30AE-48FA-B25F-0563F22F2F4E}"/>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01B02CE-7FA6-417E-BE83-CAF1BCD078F4}"/>
              </a:ext>
            </a:extLst>
          </p:cNvPr>
          <p:cNvSpPr>
            <a:spLocks noGrp="1"/>
          </p:cNvSpPr>
          <p:nvPr>
            <p:ph type="body" idx="1"/>
          </p:nvPr>
        </p:nvSpPr>
        <p:spPr>
          <a:xfrm>
            <a:off x="1066800" y="1155995"/>
            <a:ext cx="6374130" cy="1384300"/>
          </a:xfrm>
        </p:spPr>
        <p:txBody>
          <a:bodyPr/>
          <a:lstStyle/>
          <a:p>
            <a:pPr algn="just"/>
            <a:r>
              <a:rPr lang="en-US" sz="1400" b="1" i="0" dirty="0">
                <a:solidFill>
                  <a:srgbClr val="4A4A4A"/>
                </a:solidFill>
                <a:effectLst/>
                <a:latin typeface="Open Sans" panose="020B0606030504020204" pitchFamily="34" charset="0"/>
              </a:rPr>
              <a:t>(ii)</a:t>
            </a:r>
            <a:r>
              <a:rPr lang="en-US" sz="1400" b="0" i="0" dirty="0">
                <a:solidFill>
                  <a:srgbClr val="4A4A4A"/>
                </a:solidFill>
                <a:effectLst/>
                <a:latin typeface="Open Sans" panose="020B0606030504020204" pitchFamily="34" charset="0"/>
              </a:rPr>
              <a:t>  </a:t>
            </a:r>
            <a:r>
              <a:rPr lang="en-US" sz="1400" b="1" i="0" dirty="0">
                <a:solidFill>
                  <a:srgbClr val="4A4A4A"/>
                </a:solidFill>
                <a:effectLst/>
                <a:latin typeface="Open Sans" panose="020B0606030504020204" pitchFamily="34" charset="0"/>
              </a:rPr>
              <a:t>Purpose Based: </a:t>
            </a:r>
            <a:r>
              <a:rPr lang="en-US" sz="1400" b="0" i="0" dirty="0">
                <a:solidFill>
                  <a:srgbClr val="4A4A4A"/>
                </a:solidFill>
                <a:effectLst/>
                <a:latin typeface="Open Sans" panose="020B0606030504020204" pitchFamily="34" charset="0"/>
              </a:rPr>
              <a:t>You can run k-means clustering algorithm to get different clusters based on a variety of purposes. You can partition the data on different metrics and see how well it performs for that particular case. Let’s take an example of marketing T-shirts of different sizes. You can partition the dataset into different number of clusters depending upon the purpose that you want to meet. In the following example, I have taken two different criteria, price and comfort.  </a:t>
            </a:r>
          </a:p>
          <a:p>
            <a:pPr algn="just"/>
            <a:r>
              <a:rPr lang="en-US" sz="1400" b="0" i="0" dirty="0">
                <a:solidFill>
                  <a:srgbClr val="4A4A4A"/>
                </a:solidFill>
                <a:effectLst/>
                <a:latin typeface="Open Sans" panose="020B0606030504020204" pitchFamily="34" charset="0"/>
              </a:rPr>
              <a:t>.</a:t>
            </a:r>
          </a:p>
          <a:p>
            <a:endParaRPr lang="en-IN" sz="1400" dirty="0"/>
          </a:p>
        </p:txBody>
      </p:sp>
    </p:spTree>
    <p:extLst>
      <p:ext uri="{BB962C8B-B14F-4D97-AF65-F5344CB8AC3E}">
        <p14:creationId xmlns:p14="http://schemas.microsoft.com/office/powerpoint/2010/main" val="18111641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B7BDE-5AE3-4652-828A-53E3241ABCD6}"/>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DE5DF2D0-AFAF-458A-90AD-EFDF39B85182}"/>
              </a:ext>
            </a:extLst>
          </p:cNvPr>
          <p:cNvSpPr>
            <a:spLocks noGrp="1"/>
          </p:cNvSpPr>
          <p:nvPr>
            <p:ph type="body" idx="1"/>
          </p:nvPr>
        </p:nvSpPr>
        <p:spPr/>
        <p:txBody>
          <a:bodyPr/>
          <a:lstStyle/>
          <a:p>
            <a:endParaRPr lang="en-IN" dirty="0"/>
          </a:p>
        </p:txBody>
      </p:sp>
      <p:pic>
        <p:nvPicPr>
          <p:cNvPr id="3074" name="Picture 2" descr="T shirt clusters - Edureka">
            <a:extLst>
              <a:ext uri="{FF2B5EF4-FFF2-40B4-BE49-F238E27FC236}">
                <a16:creationId xmlns:a16="http://schemas.microsoft.com/office/drawing/2014/main" id="{9399B87B-EDBC-4DD8-84BA-5F8748E27A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2493" y="1147519"/>
            <a:ext cx="5847907" cy="24224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F4E21AE-7B90-4AE9-809B-63CAC7B524EE}"/>
              </a:ext>
            </a:extLst>
          </p:cNvPr>
          <p:cNvSpPr txBox="1"/>
          <p:nvPr/>
        </p:nvSpPr>
        <p:spPr>
          <a:xfrm>
            <a:off x="888845" y="3914178"/>
            <a:ext cx="6324600" cy="1292662"/>
          </a:xfrm>
          <a:prstGeom prst="rect">
            <a:avLst/>
          </a:prstGeom>
          <a:noFill/>
        </p:spPr>
        <p:txBody>
          <a:bodyPr wrap="square" rtlCol="0">
            <a:spAutoFit/>
          </a:bodyPr>
          <a:lstStyle/>
          <a:p>
            <a:pPr algn="l">
              <a:buFont typeface="+mj-lt"/>
              <a:buAutoNum type="arabicPeriod"/>
            </a:pPr>
            <a:r>
              <a:rPr lang="en-US" sz="1200" b="0" i="0" dirty="0">
                <a:solidFill>
                  <a:srgbClr val="4A4A4A"/>
                </a:solidFill>
                <a:effectLst/>
                <a:latin typeface="Open Sans" panose="020B0606030504020204" pitchFamily="34" charset="0"/>
              </a:rPr>
              <a:t>1. K=3:  If you want to provide only 3 sizes(S, M, L) so that prices are cheaper, you will divide the data set into 3 clusters.</a:t>
            </a:r>
          </a:p>
          <a:p>
            <a:pPr algn="l">
              <a:buFont typeface="+mj-lt"/>
              <a:buAutoNum type="arabicPeriod"/>
            </a:pPr>
            <a:r>
              <a:rPr lang="en-US" sz="1200" b="0" i="0" dirty="0">
                <a:solidFill>
                  <a:srgbClr val="4A4A4A"/>
                </a:solidFill>
                <a:effectLst/>
                <a:latin typeface="Open Sans" panose="020B0606030504020204" pitchFamily="34" charset="0"/>
              </a:rPr>
              <a:t>K=5: Now, if you want to provide more comfort and variety to your customers with more sizes (XS, S, M, L, XL), then you will divide the data set into 5 clusters.</a:t>
            </a:r>
          </a:p>
          <a:p>
            <a:pPr algn="just"/>
            <a:r>
              <a:rPr lang="en-US" sz="1200" b="0" i="0" dirty="0">
                <a:solidFill>
                  <a:srgbClr val="4A4A4A"/>
                </a:solidFill>
                <a:effectLst/>
                <a:latin typeface="Open Sans" panose="020B0606030504020204" pitchFamily="34" charset="0"/>
              </a:rPr>
              <a:t>Now, once we have the value of k with us, let’s understand it’s execution.</a:t>
            </a:r>
          </a:p>
          <a:p>
            <a:endParaRPr lang="en-IN" dirty="0"/>
          </a:p>
        </p:txBody>
      </p:sp>
    </p:spTree>
    <p:extLst>
      <p:ext uri="{BB962C8B-B14F-4D97-AF65-F5344CB8AC3E}">
        <p14:creationId xmlns:p14="http://schemas.microsoft.com/office/powerpoint/2010/main" val="6595940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B7093-27A9-DA50-99B0-C91FC0943BBE}"/>
              </a:ext>
            </a:extLst>
          </p:cNvPr>
          <p:cNvSpPr>
            <a:spLocks noGrp="1"/>
          </p:cNvSpPr>
          <p:nvPr>
            <p:ph type="title"/>
          </p:nvPr>
        </p:nvSpPr>
        <p:spPr/>
        <p:txBody>
          <a:bodyPr/>
          <a:lstStyle/>
          <a:p>
            <a:r>
              <a:rPr lang="en-US" b="0" i="0" dirty="0">
                <a:solidFill>
                  <a:srgbClr val="0C0D0E"/>
                </a:solidFill>
                <a:effectLst/>
                <a:highlight>
                  <a:srgbClr val="FFFFFF"/>
                </a:highlight>
                <a:latin typeface="-apple-system"/>
              </a:rPr>
              <a:t>silhouette score</a:t>
            </a:r>
            <a:endParaRPr lang="en-US" dirty="0"/>
          </a:p>
        </p:txBody>
      </p:sp>
      <p:sp>
        <p:nvSpPr>
          <p:cNvPr id="3" name="Text Placeholder 2">
            <a:extLst>
              <a:ext uri="{FF2B5EF4-FFF2-40B4-BE49-F238E27FC236}">
                <a16:creationId xmlns:a16="http://schemas.microsoft.com/office/drawing/2014/main" id="{0A917600-0CAB-9F57-344F-84746EEB1BE6}"/>
              </a:ext>
            </a:extLst>
          </p:cNvPr>
          <p:cNvSpPr>
            <a:spLocks noGrp="1"/>
          </p:cNvSpPr>
          <p:nvPr>
            <p:ph type="body" idx="1"/>
          </p:nvPr>
        </p:nvSpPr>
        <p:spPr/>
        <p:txBody>
          <a:bodyPr/>
          <a:lstStyle/>
          <a:p>
            <a:r>
              <a:rPr lang="en-US" b="0" i="0" dirty="0">
                <a:solidFill>
                  <a:srgbClr val="0C0D0E"/>
                </a:solidFill>
                <a:effectLst/>
                <a:highlight>
                  <a:srgbClr val="FFFFFF"/>
                </a:highlight>
                <a:latin typeface="-apple-system"/>
              </a:rPr>
              <a:t>The silhouette score of 1 means that the clusters are very dense and nicely separated. </a:t>
            </a:r>
          </a:p>
          <a:p>
            <a:r>
              <a:rPr lang="en-US" b="0" i="0" dirty="0">
                <a:solidFill>
                  <a:srgbClr val="0C0D0E"/>
                </a:solidFill>
                <a:effectLst/>
                <a:highlight>
                  <a:srgbClr val="FFFFFF"/>
                </a:highlight>
                <a:latin typeface="-apple-system"/>
              </a:rPr>
              <a:t>The score of 0 means that clusters are overlapping. </a:t>
            </a:r>
          </a:p>
          <a:p>
            <a:endParaRPr lang="en-US" dirty="0">
              <a:solidFill>
                <a:srgbClr val="0C0D0E"/>
              </a:solidFill>
              <a:highlight>
                <a:srgbClr val="FFFFFF"/>
              </a:highlight>
              <a:latin typeface="-apple-system"/>
            </a:endParaRPr>
          </a:p>
          <a:p>
            <a:r>
              <a:rPr lang="en-US" b="0" i="0" dirty="0">
                <a:solidFill>
                  <a:srgbClr val="0C0D0E"/>
                </a:solidFill>
                <a:effectLst/>
                <a:highlight>
                  <a:srgbClr val="FFFFFF"/>
                </a:highlight>
                <a:latin typeface="-apple-system"/>
              </a:rPr>
              <a:t>The score of less than 0 means that data belonging to clusters may be wrong/incorrect</a:t>
            </a:r>
            <a:endParaRPr lang="en-US" dirty="0"/>
          </a:p>
        </p:txBody>
      </p:sp>
    </p:spTree>
    <p:extLst>
      <p:ext uri="{BB962C8B-B14F-4D97-AF65-F5344CB8AC3E}">
        <p14:creationId xmlns:p14="http://schemas.microsoft.com/office/powerpoint/2010/main" val="12079942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05EE-9DD2-CE56-C1A0-C10C039176A8}"/>
              </a:ext>
            </a:extLst>
          </p:cNvPr>
          <p:cNvSpPr>
            <a:spLocks noGrp="1"/>
          </p:cNvSpPr>
          <p:nvPr>
            <p:ph type="title"/>
          </p:nvPr>
        </p:nvSpPr>
        <p:spPr/>
        <p:txBody>
          <a:bodyPr/>
          <a:lstStyle/>
          <a:p>
            <a:r>
              <a:rPr lang="en-US" dirty="0"/>
              <a:t>References</a:t>
            </a:r>
          </a:p>
        </p:txBody>
      </p:sp>
      <p:sp>
        <p:nvSpPr>
          <p:cNvPr id="3" name="Text Placeholder 2">
            <a:extLst>
              <a:ext uri="{FF2B5EF4-FFF2-40B4-BE49-F238E27FC236}">
                <a16:creationId xmlns:a16="http://schemas.microsoft.com/office/drawing/2014/main" id="{CD0CF626-A1A0-2417-075D-E02C71CDF392}"/>
              </a:ext>
            </a:extLst>
          </p:cNvPr>
          <p:cNvSpPr>
            <a:spLocks noGrp="1"/>
          </p:cNvSpPr>
          <p:nvPr>
            <p:ph type="body" idx="1"/>
          </p:nvPr>
        </p:nvSpPr>
        <p:spPr/>
        <p:txBody>
          <a:bodyPr/>
          <a:lstStyle/>
          <a:p>
            <a:r>
              <a:rPr lang="en-US" dirty="0">
                <a:hlinkClick r:id="rId2"/>
              </a:rPr>
              <a:t>k-Means Advantages and Disadvantages  |  Machine Learning  |  Google for Developers</a:t>
            </a:r>
            <a:endParaRPr lang="en-US" dirty="0"/>
          </a:p>
          <a:p>
            <a:r>
              <a:rPr lang="en-US" dirty="0" err="1">
                <a:hlinkClick r:id="rId3"/>
              </a:rPr>
              <a:t>Kmeans</a:t>
            </a:r>
            <a:r>
              <a:rPr lang="en-US" dirty="0">
                <a:hlinkClick r:id="rId3"/>
              </a:rPr>
              <a:t> Clustering (youtube.com)</a:t>
            </a:r>
            <a:endParaRPr lang="en-US" dirty="0"/>
          </a:p>
          <a:p>
            <a:endParaRPr lang="en-US" dirty="0"/>
          </a:p>
        </p:txBody>
      </p:sp>
    </p:spTree>
    <p:extLst>
      <p:ext uri="{BB962C8B-B14F-4D97-AF65-F5344CB8AC3E}">
        <p14:creationId xmlns:p14="http://schemas.microsoft.com/office/powerpoint/2010/main" val="31715168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5334" y="1796287"/>
            <a:ext cx="1513840" cy="452120"/>
          </a:xfrm>
          <a:prstGeom prst="rect">
            <a:avLst/>
          </a:prstGeom>
        </p:spPr>
        <p:txBody>
          <a:bodyPr vert="horz" wrap="square" lIns="0" tIns="12065" rIns="0" bIns="0" rtlCol="0">
            <a:spAutoFit/>
          </a:bodyPr>
          <a:lstStyle/>
          <a:p>
            <a:pPr marL="12700">
              <a:lnSpc>
                <a:spcPct val="100000"/>
              </a:lnSpc>
              <a:spcBef>
                <a:spcPts val="95"/>
              </a:spcBef>
            </a:pPr>
            <a:r>
              <a:rPr spc="-10" dirty="0"/>
              <a:t>Thank</a:t>
            </a:r>
            <a:r>
              <a:rPr spc="-45" dirty="0"/>
              <a:t> </a:t>
            </a:r>
            <a:r>
              <a:rPr spc="-25" dirty="0"/>
              <a:t>you</a:t>
            </a: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61</a:t>
            </a:fld>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35528</TotalTime>
  <Words>2539</Words>
  <Application>Microsoft Office PowerPoint</Application>
  <PresentationFormat>On-screen Show (16:9)</PresentationFormat>
  <Paragraphs>855</Paragraphs>
  <Slides>61</Slides>
  <Notes>1</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61</vt:i4>
      </vt:variant>
    </vt:vector>
  </HeadingPairs>
  <TitlesOfParts>
    <vt:vector size="71" baseType="lpstr">
      <vt:lpstr>-apple-system</vt:lpstr>
      <vt:lpstr>Arial</vt:lpstr>
      <vt:lpstr>Calibri</vt:lpstr>
      <vt:lpstr>Cambria Math</vt:lpstr>
      <vt:lpstr>Carlito</vt:lpstr>
      <vt:lpstr>DejaVu Serif Condensed</vt:lpstr>
      <vt:lpstr>Open Sans</vt:lpstr>
      <vt:lpstr>Roboto</vt:lpstr>
      <vt:lpstr>Times New Roman</vt:lpstr>
      <vt:lpstr>Office Theme</vt:lpstr>
      <vt:lpstr>K means clustering</vt:lpstr>
      <vt:lpstr>Classification of Clustering Methods</vt:lpstr>
      <vt:lpstr>PowerPoint Presentation</vt:lpstr>
      <vt:lpstr>K-means clustering steps</vt:lpstr>
      <vt:lpstr>PowerPoint Presentation</vt:lpstr>
      <vt:lpstr>PowerPoint Presentation</vt:lpstr>
      <vt:lpstr>PowerPoint Presentation</vt:lpstr>
      <vt:lpstr>Which Clustering Algorithm to Choose</vt:lpstr>
      <vt:lpstr>Partitioning Method</vt:lpstr>
      <vt:lpstr>Partitioning Method</vt:lpstr>
      <vt:lpstr>K-Means Method</vt:lpstr>
      <vt:lpstr>Working Principle of K-Means Algorithm</vt:lpstr>
      <vt:lpstr>Working Principle of K-Means Algorithm</vt:lpstr>
      <vt:lpstr>PowerPoint Presentation</vt:lpstr>
      <vt:lpstr>K-Means Clustering Algorithm</vt:lpstr>
      <vt:lpstr>PowerPoint Presentation</vt:lpstr>
      <vt:lpstr>PowerPoint Presentation</vt:lpstr>
      <vt:lpstr>PowerPoint Presentation</vt:lpstr>
      <vt:lpstr>Comments on k-Means algorithm</vt:lpstr>
      <vt:lpstr>Comments on k-Means algorithm</vt:lpstr>
      <vt:lpstr>Advantages of K means</vt:lpstr>
      <vt:lpstr>Advantages of K means</vt:lpstr>
      <vt:lpstr>Advantages of K means</vt:lpstr>
      <vt:lpstr>Disadvantages of K means</vt:lpstr>
      <vt:lpstr>PowerPoint Presentation</vt:lpstr>
      <vt:lpstr>PowerPoint Presentation</vt:lpstr>
      <vt:lpstr>PowerPoint Presentation</vt:lpstr>
      <vt:lpstr>Limitation of k-means: Different sizes </vt:lpstr>
      <vt:lpstr>PowerPoint Presentation</vt:lpstr>
      <vt:lpstr>Limitations of K-means: Non-globular Shapes</vt:lpstr>
      <vt:lpstr>Overcoming K-means Limitations</vt:lpstr>
      <vt:lpstr>Overcoming K-means Limitations</vt:lpstr>
      <vt:lpstr>K-Means clustering example: Numerical </vt:lpstr>
      <vt:lpstr>K-Means clustering example k has to be given to the algorithm, assume k=2</vt:lpstr>
      <vt:lpstr>K-Means clustering example</vt:lpstr>
      <vt:lpstr>K-Means clustering example k has to be given to the algorithm, assume k=2</vt:lpstr>
      <vt:lpstr>K-Means clustering example</vt:lpstr>
      <vt:lpstr>At K = 2</vt:lpstr>
      <vt:lpstr>K-Means clustering example</vt:lpstr>
      <vt:lpstr>PowerPoint Presentation</vt:lpstr>
      <vt:lpstr>K-Means clustering example</vt:lpstr>
      <vt:lpstr>K-Means clustering example</vt:lpstr>
      <vt:lpstr>PowerPoint Presentation</vt:lpstr>
      <vt:lpstr>K-Means clustering example</vt:lpstr>
      <vt:lpstr>K-Means clustering example</vt:lpstr>
      <vt:lpstr>PowerPoint Presentation</vt:lpstr>
      <vt:lpstr>K-Means clustering example</vt:lpstr>
      <vt:lpstr>K-Means clustering example</vt:lpstr>
      <vt:lpstr>PowerPoint Presentation</vt:lpstr>
      <vt:lpstr>K-Means clustering example</vt:lpstr>
      <vt:lpstr>K-Means clustering example</vt:lpstr>
      <vt:lpstr>PowerPoint Presentation</vt:lpstr>
      <vt:lpstr>K-Means clustering example</vt:lpstr>
      <vt:lpstr>K-Means clustering example</vt:lpstr>
      <vt:lpstr>PowerPoint Presentation</vt:lpstr>
      <vt:lpstr>Now, the important question is how should you choose the optimum number of clusters? There are two possible ways for choosing the number of clusters.</vt:lpstr>
      <vt:lpstr>PowerPoint Presentation</vt:lpstr>
      <vt:lpstr>PowerPoint Presentation</vt:lpstr>
      <vt:lpstr>silhouette score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IITR</dc:creator>
  <cp:lastModifiedBy>lenovo</cp:lastModifiedBy>
  <cp:revision>26</cp:revision>
  <dcterms:created xsi:type="dcterms:W3CDTF">2021-06-27T07:44:12Z</dcterms:created>
  <dcterms:modified xsi:type="dcterms:W3CDTF">2024-06-26T15:47:33Z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2020-01-03T00:00:00Z</vt:filetime>
  </property>
  <property fmtid="{D5CDD505-2E9C-101B-9397-08002B2CF9AE}" pid="3" name="Creator">
    <vt:lpwstr>Microsoft® PowerPoint® 2016</vt:lpwstr>
  </property>
  <property fmtid="{D5CDD505-2E9C-101B-9397-08002B2CF9AE}" pid="4" name="LastSaved">
    <vt:filetime>2021-06-27T00:00:00Z</vt:filetime>
  </property>
</Properties>
</file>