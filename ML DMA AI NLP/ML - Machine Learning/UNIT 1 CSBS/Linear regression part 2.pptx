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20" r:id="rId2"/>
    <p:sldId id="256" r:id="rId3"/>
    <p:sldId id="257" r:id="rId4"/>
    <p:sldId id="260" r:id="rId5"/>
    <p:sldId id="261" r:id="rId6"/>
    <p:sldId id="280" r:id="rId7"/>
    <p:sldId id="281" r:id="rId8"/>
    <p:sldId id="262" r:id="rId9"/>
    <p:sldId id="263" r:id="rId10"/>
    <p:sldId id="264" r:id="rId11"/>
    <p:sldId id="265" r:id="rId12"/>
    <p:sldId id="273" r:id="rId13"/>
    <p:sldId id="274" r:id="rId14"/>
    <p:sldId id="275" r:id="rId15"/>
    <p:sldId id="276" r:id="rId16"/>
    <p:sldId id="291" r:id="rId17"/>
    <p:sldId id="277" r:id="rId18"/>
    <p:sldId id="278" r:id="rId19"/>
    <p:sldId id="279" r:id="rId20"/>
    <p:sldId id="321" r:id="rId21"/>
    <p:sldId id="272" r:id="rId22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966A14-EAB2-4717-BEB0-4F307C2C248F}">
          <p14:sldIdLst>
            <p14:sldId id="320"/>
            <p14:sldId id="256"/>
            <p14:sldId id="257"/>
            <p14:sldId id="260"/>
            <p14:sldId id="261"/>
            <p14:sldId id="280"/>
            <p14:sldId id="281"/>
            <p14:sldId id="262"/>
            <p14:sldId id="263"/>
            <p14:sldId id="264"/>
            <p14:sldId id="265"/>
            <p14:sldId id="273"/>
            <p14:sldId id="274"/>
            <p14:sldId id="275"/>
            <p14:sldId id="276"/>
            <p14:sldId id="291"/>
            <p14:sldId id="277"/>
            <p14:sldId id="278"/>
            <p14:sldId id="279"/>
            <p14:sldId id="321"/>
          </p14:sldIdLst>
        </p14:section>
        <p14:section name="Untitled Section" id="{8F7D86E3-9BDB-49F1-AAAF-AE1F808C70D7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01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4A103-09D1-4771-ACDB-226D470E9DF8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6DEB1-92FA-4771-A6E7-28E7034BE9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37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485DB-6355-47A6-ABCE-F416926EEF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10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R-Squared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statistical measure of fit that indicates how much variation of a dependent variable is explained by the independent variable(s) in a regression model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6DEB1-92FA-4771-A6E7-28E7034BE92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966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5266" y="1395255"/>
            <a:ext cx="2093467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53B5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8163" y="385648"/>
            <a:ext cx="194767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8092" y="1975866"/>
            <a:ext cx="5146040" cy="117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98180" y="4818379"/>
            <a:ext cx="309879" cy="189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bing.com/ck/a?!&amp;&amp;p=9158114ba42c886bJmltdHM9MTY2ODU1NjgwMCZpZ3VpZD0zZWZjMWQzYy01ZDhiLTY1NzEtM2I1Yy0wYzhhNWM2MzY0ZDYmaW5zaWQ9NTIwOA&amp;ptn=3&amp;hsh=3&amp;fclid=3efc1d3c-5d8b-6571-3b5c-0c8a5c6364d6&amp;psq=deprtaement+of+computer+scoence+and+engimnerring&amp;u=a1aHR0cHM6Ly93d3cuc2N1LmVkdS9lbmdpbmVlcmluZy9hY2FkZW1pYy1wcm9ncmFtcy9kZXBhcnRtZW50LW9mLWNvbXB1dGVyLWVuZ2luZWVyaW5nLw&amp;ntb=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14D4819-D7DD-F22A-4C68-D50A73BD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4" y="260297"/>
            <a:ext cx="8851064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b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VALLURUPALLI NAGESWARA RAO VIGNANA JYOTHI </a:t>
            </a:r>
            <a:r>
              <a:rPr lang="en-US" altLang="en-US" sz="2100" dirty="0"/>
              <a:t> </a:t>
            </a:r>
            <a:r>
              <a:rPr lang="en-US" altLang="en-US" sz="2100" b="1" dirty="0">
                <a:solidFill>
                  <a:srgbClr val="000000"/>
                </a:solidFill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INSTITUTE OF ENGINEERING AND TECHNOLOGY</a:t>
            </a:r>
            <a:endParaRPr lang="en-US" altLang="en-US" sz="2100" dirty="0"/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5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altLang="en-US" sz="600" dirty="0"/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1F402572-1AC1-C244-FE3C-D3880CA04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563" y="1001641"/>
            <a:ext cx="1343025" cy="125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4601E913-B864-500D-8186-0A789C88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613" y="3560589"/>
            <a:ext cx="3140923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Dr. Kriti Ohri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Department of Computer Science and Engineering</a:t>
            </a: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75C2-6977-6830-5E74-51E38502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Machine Learning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C03E4-1F28-2FB0-9B80-AE079E77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Kriti Ohri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3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525266" y="1395255"/>
            <a:ext cx="2093467" cy="53860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840"/>
              </a:spcBef>
            </a:pPr>
            <a:r>
              <a:rPr spc="-15" dirty="0"/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9281" y="4830267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</a:t>
            </a:fld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3794" y="227837"/>
            <a:ext cx="3305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Least Squares 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3775" y="1331214"/>
            <a:ext cx="5834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rlito"/>
                <a:cs typeface="Carlito"/>
              </a:rPr>
              <a:t>Slope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Estimated Regression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Equation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6079" y="2302154"/>
            <a:ext cx="3525520" cy="899794"/>
            <a:chOff x="2926079" y="2302154"/>
            <a:chExt cx="3525520" cy="899794"/>
          </a:xfrm>
        </p:grpSpPr>
        <p:sp>
          <p:nvSpPr>
            <p:cNvPr id="5" name="object 5"/>
            <p:cNvSpPr/>
            <p:nvPr/>
          </p:nvSpPr>
          <p:spPr>
            <a:xfrm>
              <a:off x="2936747" y="2313432"/>
              <a:ext cx="3514344" cy="88849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6079" y="2302154"/>
              <a:ext cx="3511550" cy="885190"/>
            </a:xfrm>
            <a:custGeom>
              <a:avLst/>
              <a:gdLst/>
              <a:ahLst/>
              <a:cxnLst/>
              <a:rect l="l" t="t" r="r" b="b"/>
              <a:pathLst>
                <a:path w="3511550" h="885189">
                  <a:moveTo>
                    <a:pt x="3511550" y="0"/>
                  </a:moveTo>
                  <a:lnTo>
                    <a:pt x="0" y="0"/>
                  </a:lnTo>
                  <a:lnTo>
                    <a:pt x="0" y="885164"/>
                  </a:lnTo>
                  <a:lnTo>
                    <a:pt x="3511550" y="885164"/>
                  </a:lnTo>
                  <a:lnTo>
                    <a:pt x="351155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49986" y="2401381"/>
              <a:ext cx="2752090" cy="455295"/>
            </a:xfrm>
            <a:custGeom>
              <a:avLst/>
              <a:gdLst/>
              <a:ahLst/>
              <a:cxnLst/>
              <a:rect l="l" t="t" r="r" b="b"/>
              <a:pathLst>
                <a:path w="2752090" h="455294">
                  <a:moveTo>
                    <a:pt x="1250705" y="0"/>
                  </a:moveTo>
                  <a:lnTo>
                    <a:pt x="1439804" y="0"/>
                  </a:lnTo>
                </a:path>
                <a:path w="2752090" h="455294">
                  <a:moveTo>
                    <a:pt x="2408124" y="0"/>
                  </a:moveTo>
                  <a:lnTo>
                    <a:pt x="2597226" y="0"/>
                  </a:lnTo>
                </a:path>
                <a:path w="2752090" h="455294">
                  <a:moveTo>
                    <a:pt x="1767361" y="454894"/>
                  </a:moveTo>
                  <a:lnTo>
                    <a:pt x="1956463" y="454894"/>
                  </a:lnTo>
                </a:path>
                <a:path w="2752090" h="455294">
                  <a:moveTo>
                    <a:pt x="0" y="332732"/>
                  </a:moveTo>
                  <a:lnTo>
                    <a:pt x="2751720" y="332732"/>
                  </a:lnTo>
                </a:path>
              </a:pathLst>
            </a:custGeom>
            <a:ln w="16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99106" y="2697459"/>
            <a:ext cx="135255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18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79281" y="4830267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3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9807" y="2932332"/>
            <a:ext cx="86360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i="1" spc="100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endParaRPr sz="1350">
              <a:latin typeface="Palladio Uralic"/>
              <a:cs typeface="Palladio Ural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28573" y="2494651"/>
            <a:ext cx="20066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i="1" spc="290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endParaRPr sz="2350">
              <a:latin typeface="Palladio Uralic"/>
              <a:cs typeface="Palladio Ural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05444" y="2123442"/>
            <a:ext cx="3129280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spc="517" baseline="-41371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3525" spc="517" baseline="-4137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525" spc="-352" baseline="-4137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325" spc="1237" baseline="-8607" dirty="0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sz="2350" spc="33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350" i="1" spc="350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2025" i="1" spc="150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r>
              <a:rPr sz="2025" i="1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  </a:t>
            </a:r>
            <a:r>
              <a:rPr sz="2025" i="1" spc="-195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2350" spc="345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23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50" i="1" spc="310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2350" i="1" spc="-310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2350" spc="19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350" spc="37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350" i="1" spc="405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2025" i="1" spc="150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r>
              <a:rPr sz="2025" i="1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  </a:t>
            </a:r>
            <a:r>
              <a:rPr sz="2025" i="1" spc="-195" baseline="-24691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2350" spc="345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23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50" i="1" spc="310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2350" i="1" spc="-305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2350" spc="204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0397" y="2578346"/>
            <a:ext cx="1795145" cy="570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014730" algn="l"/>
              </a:tabLst>
            </a:pPr>
            <a:r>
              <a:rPr sz="5325" spc="735" baseline="-8607" dirty="0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sz="2350" spc="49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350" i="1" spc="490" dirty="0">
                <a:solidFill>
                  <a:srgbClr val="FFFFFF"/>
                </a:solidFill>
                <a:latin typeface="Palladio Uralic"/>
                <a:cs typeface="Palladio Uralic"/>
              </a:rPr>
              <a:t>x	</a:t>
            </a:r>
            <a:r>
              <a:rPr sz="2350" spc="345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235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350" i="1" spc="310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2350" i="1" spc="-330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2350" spc="2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025" spc="300" baseline="43209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25" baseline="43209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101" y="816990"/>
            <a:ext cx="51568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10" dirty="0">
                <a:latin typeface="Carlito"/>
                <a:cs typeface="Carlito"/>
              </a:rPr>
              <a:t>y</a:t>
            </a:r>
            <a:r>
              <a:rPr sz="2000" spc="-10" dirty="0">
                <a:latin typeface="Carlito"/>
                <a:cs typeface="Carlito"/>
              </a:rPr>
              <a:t>-Intercept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Estimated Regression</a:t>
            </a:r>
            <a:r>
              <a:rPr sz="2000" spc="5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Equation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7951" y="237566"/>
            <a:ext cx="3305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Least Squares Method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35451" y="1352550"/>
            <a:ext cx="1699260" cy="386715"/>
            <a:chOff x="3735451" y="1352550"/>
            <a:chExt cx="1699260" cy="386715"/>
          </a:xfrm>
        </p:grpSpPr>
        <p:sp>
          <p:nvSpPr>
            <p:cNvPr id="5" name="object 5"/>
            <p:cNvSpPr/>
            <p:nvPr/>
          </p:nvSpPr>
          <p:spPr>
            <a:xfrm>
              <a:off x="3745992" y="1363979"/>
              <a:ext cx="1688591" cy="3749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35451" y="1352550"/>
              <a:ext cx="1684655" cy="371475"/>
            </a:xfrm>
            <a:custGeom>
              <a:avLst/>
              <a:gdLst/>
              <a:ahLst/>
              <a:cxnLst/>
              <a:rect l="l" t="t" r="r" b="b"/>
              <a:pathLst>
                <a:path w="1684654" h="371475">
                  <a:moveTo>
                    <a:pt x="1684274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1684274" y="371475"/>
                  </a:lnTo>
                  <a:lnTo>
                    <a:pt x="168427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40772" y="1440974"/>
              <a:ext cx="909319" cy="0"/>
            </a:xfrm>
            <a:custGeom>
              <a:avLst/>
              <a:gdLst/>
              <a:ahLst/>
              <a:cxnLst/>
              <a:rect l="l" t="t" r="r" b="b"/>
              <a:pathLst>
                <a:path w="909320">
                  <a:moveTo>
                    <a:pt x="0" y="0"/>
                  </a:moveTo>
                  <a:lnTo>
                    <a:pt x="165238" y="0"/>
                  </a:lnTo>
                </a:path>
                <a:path w="909320">
                  <a:moveTo>
                    <a:pt x="743541" y="0"/>
                  </a:moveTo>
                  <a:lnTo>
                    <a:pt x="908768" y="0"/>
                  </a:lnTo>
                </a:path>
              </a:pathLst>
            </a:custGeom>
            <a:ln w="1444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735451" y="1352550"/>
            <a:ext cx="1684655" cy="3714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"/>
              </a:spcBef>
            </a:pPr>
            <a:r>
              <a:rPr sz="1950" i="1" spc="235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650" spc="352" baseline="-25252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1650" spc="1012" baseline="-2525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spc="36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950" spc="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i="1" spc="325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1950" i="1" spc="120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950" spc="360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95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i="1" spc="240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650" spc="359" baseline="-25252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650" spc="-202" baseline="-25252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50" i="1" spc="325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endParaRPr sz="1950" dirty="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2082545" y="3699764"/>
            <a:ext cx="4011295" cy="645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latin typeface="Carlito"/>
                <a:cs typeface="Carlito"/>
              </a:rPr>
              <a:t>y </a:t>
            </a:r>
            <a:r>
              <a:rPr sz="2000" dirty="0">
                <a:latin typeface="Carlito"/>
                <a:cs typeface="Carlito"/>
              </a:rPr>
              <a:t>= mean </a:t>
            </a:r>
            <a:r>
              <a:rPr sz="2000" spc="-10" dirty="0">
                <a:latin typeface="Carlito"/>
                <a:cs typeface="Carlito"/>
              </a:rPr>
              <a:t>value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spc="-5" dirty="0">
                <a:latin typeface="Carlito"/>
                <a:cs typeface="Carlito"/>
              </a:rPr>
              <a:t>dependent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variable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000" i="1" dirty="0">
                <a:latin typeface="Carlito"/>
                <a:cs typeface="Carlito"/>
              </a:rPr>
              <a:t>n </a:t>
            </a:r>
            <a:r>
              <a:rPr sz="2000" dirty="0">
                <a:latin typeface="Carlito"/>
                <a:cs typeface="Carlito"/>
              </a:rPr>
              <a:t>= </a:t>
            </a:r>
            <a:r>
              <a:rPr sz="2000" spc="-10" dirty="0">
                <a:latin typeface="Carlito"/>
                <a:cs typeface="Carlito"/>
              </a:rPr>
              <a:t>total </a:t>
            </a:r>
            <a:r>
              <a:rPr sz="2000" dirty="0">
                <a:latin typeface="Carlito"/>
                <a:cs typeface="Carlito"/>
              </a:rPr>
              <a:t>number </a:t>
            </a:r>
            <a:r>
              <a:rPr sz="2000" spc="-5" dirty="0">
                <a:latin typeface="Carlito"/>
                <a:cs typeface="Carlito"/>
              </a:rPr>
              <a:t>of</a:t>
            </a:r>
            <a:r>
              <a:rPr sz="2000" spc="-5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observations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1054" y="317487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_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5052" y="3421126"/>
            <a:ext cx="4232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742" baseline="-19444" dirty="0">
                <a:latin typeface="Carlito"/>
                <a:cs typeface="Carlito"/>
              </a:rPr>
              <a:t>_</a:t>
            </a:r>
            <a:r>
              <a:rPr sz="2000" i="1" spc="-495" dirty="0">
                <a:latin typeface="Carlito"/>
                <a:cs typeface="Carlito"/>
              </a:rPr>
              <a:t>x</a:t>
            </a:r>
            <a:r>
              <a:rPr sz="2000" i="1" spc="-1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= </a:t>
            </a:r>
            <a:r>
              <a:rPr sz="2000" spc="-5" dirty="0">
                <a:latin typeface="Carlito"/>
                <a:cs typeface="Carlito"/>
              </a:rPr>
              <a:t>mean value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spc="-5" dirty="0">
                <a:latin typeface="Carlito"/>
                <a:cs typeface="Carlito"/>
              </a:rPr>
              <a:t>independent variable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where:</a:t>
            </a:r>
          </a:p>
          <a:p>
            <a:pPr marL="939165">
              <a:lnSpc>
                <a:spcPct val="100000"/>
              </a:lnSpc>
              <a:spcBef>
                <a:spcPts val="50"/>
              </a:spcBef>
            </a:pPr>
            <a:r>
              <a:rPr i="1" dirty="0">
                <a:latin typeface="Carlito"/>
                <a:cs typeface="Carlito"/>
              </a:rPr>
              <a:t>x</a:t>
            </a:r>
            <a:r>
              <a:rPr sz="1950" i="1" baseline="-21367" dirty="0">
                <a:latin typeface="Carlito"/>
                <a:cs typeface="Carlito"/>
              </a:rPr>
              <a:t>i </a:t>
            </a:r>
            <a:r>
              <a:rPr sz="2000" dirty="0"/>
              <a:t>= </a:t>
            </a:r>
            <a:r>
              <a:rPr sz="2000" spc="-10" dirty="0"/>
              <a:t>value </a:t>
            </a:r>
            <a:r>
              <a:rPr sz="2000" dirty="0"/>
              <a:t>of independent </a:t>
            </a:r>
            <a:r>
              <a:rPr sz="2000" spc="-5" dirty="0"/>
              <a:t>variable </a:t>
            </a:r>
            <a:r>
              <a:rPr sz="2000" spc="-15" dirty="0"/>
              <a:t>for</a:t>
            </a:r>
            <a:r>
              <a:rPr sz="2000" spc="-210" dirty="0"/>
              <a:t> </a:t>
            </a:r>
            <a:r>
              <a:rPr sz="2000" i="1" spc="-5" dirty="0">
                <a:latin typeface="Carlito"/>
                <a:cs typeface="Carlito"/>
              </a:rPr>
              <a:t>i</a:t>
            </a:r>
            <a:r>
              <a:rPr sz="2000" spc="-5" dirty="0"/>
              <a:t>th</a:t>
            </a:r>
            <a:endParaRPr sz="2000">
              <a:latin typeface="Carlito"/>
              <a:cs typeface="Carlito"/>
            </a:endParaRPr>
          </a:p>
          <a:p>
            <a:pPr marL="1397000">
              <a:lnSpc>
                <a:spcPts val="2085"/>
              </a:lnSpc>
            </a:pPr>
            <a:r>
              <a:rPr spc="-5" dirty="0"/>
              <a:t>observation</a:t>
            </a:r>
          </a:p>
          <a:p>
            <a:pPr marL="939800">
              <a:lnSpc>
                <a:spcPts val="2085"/>
              </a:lnSpc>
            </a:pPr>
            <a:r>
              <a:rPr i="1" dirty="0">
                <a:latin typeface="Carlito"/>
                <a:cs typeface="Carlito"/>
              </a:rPr>
              <a:t>y</a:t>
            </a:r>
            <a:r>
              <a:rPr sz="1950" i="1" baseline="-21367" dirty="0">
                <a:latin typeface="Carlito"/>
                <a:cs typeface="Carlito"/>
              </a:rPr>
              <a:t>i </a:t>
            </a:r>
            <a:r>
              <a:rPr sz="2000" dirty="0"/>
              <a:t>= </a:t>
            </a:r>
            <a:r>
              <a:rPr sz="2000" spc="-5" dirty="0"/>
              <a:t>value of dependent variable </a:t>
            </a:r>
            <a:r>
              <a:rPr sz="2000" spc="-15" dirty="0"/>
              <a:t>for</a:t>
            </a:r>
            <a:r>
              <a:rPr sz="2000" spc="-170" dirty="0"/>
              <a:t> </a:t>
            </a:r>
            <a:r>
              <a:rPr sz="2000" i="1" spc="-5" dirty="0">
                <a:latin typeface="Carlito"/>
                <a:cs typeface="Carlito"/>
              </a:rPr>
              <a:t>i</a:t>
            </a:r>
            <a:r>
              <a:rPr sz="2000" spc="-5" dirty="0"/>
              <a:t>th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4810" y="3120898"/>
            <a:ext cx="1250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o</a:t>
            </a:r>
            <a:r>
              <a:rPr sz="2000" spc="-10" dirty="0">
                <a:latin typeface="Carlito"/>
                <a:cs typeface="Carlito"/>
              </a:rPr>
              <a:t>b</a:t>
            </a:r>
            <a:r>
              <a:rPr sz="2000" spc="-5" dirty="0">
                <a:latin typeface="Carlito"/>
                <a:cs typeface="Carlito"/>
              </a:rPr>
              <a:t>se</a:t>
            </a:r>
            <a:r>
              <a:rPr sz="2000" spc="10" dirty="0">
                <a:latin typeface="Carlito"/>
                <a:cs typeface="Carlito"/>
              </a:rPr>
              <a:t>r</a:t>
            </a:r>
            <a:r>
              <a:rPr sz="2000" spc="-30" dirty="0">
                <a:latin typeface="Carlito"/>
                <a:cs typeface="Carlito"/>
              </a:rPr>
              <a:t>v</a:t>
            </a:r>
            <a:r>
              <a:rPr sz="2000" spc="-25" dirty="0">
                <a:latin typeface="Carlito"/>
                <a:cs typeface="Carlito"/>
              </a:rPr>
              <a:t>a</a:t>
            </a:r>
            <a:r>
              <a:rPr sz="2000" dirty="0">
                <a:latin typeface="Carlito"/>
                <a:cs typeface="Carlito"/>
              </a:rPr>
              <a:t>tion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5673" y="385648"/>
            <a:ext cx="3691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</a:t>
            </a:r>
            <a:r>
              <a:rPr spc="-20" dirty="0"/>
              <a:t> </a:t>
            </a:r>
            <a:r>
              <a:rPr spc="-15" dirty="0"/>
              <a:t>Regression</a:t>
            </a:r>
          </a:p>
        </p:txBody>
      </p:sp>
      <p:sp>
        <p:nvSpPr>
          <p:cNvPr id="3" name="object 3"/>
          <p:cNvSpPr/>
          <p:nvPr/>
        </p:nvSpPr>
        <p:spPr>
          <a:xfrm>
            <a:off x="2366898" y="961085"/>
            <a:ext cx="4410075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7910" y="4152391"/>
            <a:ext cx="441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Deviation from </a:t>
            </a:r>
            <a:r>
              <a:rPr sz="1800" dirty="0">
                <a:latin typeface="Carlito"/>
                <a:cs typeface="Carlito"/>
              </a:rPr>
              <a:t>the </a:t>
            </a:r>
            <a:r>
              <a:rPr sz="1800" spc="-10" dirty="0">
                <a:latin typeface="Carlito"/>
                <a:cs typeface="Carlito"/>
              </a:rPr>
              <a:t>estimated regression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model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D8EE8-3CAE-446F-B6A3-09C75D10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438150"/>
            <a:ext cx="4098037" cy="430887"/>
          </a:xfrm>
        </p:spPr>
        <p:txBody>
          <a:bodyPr/>
          <a:lstStyle/>
          <a:p>
            <a:pPr marL="12700">
              <a:spcBef>
                <a:spcPts val="95"/>
              </a:spcBef>
            </a:pPr>
            <a:r>
              <a:rPr lang="en-US" spc="-5" dirty="0"/>
              <a:t>Ordinary least square (OLS)</a:t>
            </a:r>
            <a:endParaRPr lang="en-IN" spc="-5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9F9C6-8D83-4D6C-A210-BF6538635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8092" y="1975866"/>
            <a:ext cx="7360108" cy="1846659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Ordinary least square or Residual Sum of squares (RSS) — Here the cost function is the (y(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) — y(pred))² which is minimized to find that value of β0 and β1, to find that best fit of the predicted line.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48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C84B-F4C6-477F-A95F-5CC5F46D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162" y="385648"/>
            <a:ext cx="3945637" cy="861774"/>
          </a:xfrm>
        </p:spPr>
        <p:txBody>
          <a:bodyPr/>
          <a:lstStyle/>
          <a:p>
            <a:r>
              <a:rPr lang="en-US" spc="-5" dirty="0"/>
              <a:t>Ordinary least square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04F80-BF22-43D9-8E77-4306BEC4D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AB39C-E882-4DA3-8B47-A6FDFAB86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247422"/>
            <a:ext cx="8324850" cy="3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4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6182" y="226313"/>
            <a:ext cx="3692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</a:t>
            </a:r>
            <a:r>
              <a:rPr spc="-20" dirty="0"/>
              <a:t> </a:t>
            </a:r>
            <a:r>
              <a:rPr spc="-15" dirty="0"/>
              <a:t>Regression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6323" y="1116584"/>
            <a:ext cx="7213600" cy="194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Example: </a:t>
            </a:r>
            <a:r>
              <a:rPr sz="2400" spc="-10" dirty="0">
                <a:latin typeface="Carlito"/>
                <a:cs typeface="Carlito"/>
              </a:rPr>
              <a:t>Auto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Sales</a:t>
            </a:r>
            <a:endParaRPr sz="2400">
              <a:latin typeface="Carlito"/>
              <a:cs typeface="Carlito"/>
            </a:endParaRPr>
          </a:p>
          <a:p>
            <a:pPr marL="262890">
              <a:lnSpc>
                <a:spcPct val="100000"/>
              </a:lnSpc>
              <a:spcBef>
                <a:spcPts val="1685"/>
              </a:spcBef>
            </a:pP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Auto </a:t>
            </a:r>
            <a:r>
              <a:rPr sz="2000" spc="-10" dirty="0">
                <a:latin typeface="Carlito"/>
                <a:cs typeface="Carlito"/>
              </a:rPr>
              <a:t>company </a:t>
            </a:r>
            <a:r>
              <a:rPr sz="2000" spc="-5" dirty="0">
                <a:latin typeface="Carlito"/>
                <a:cs typeface="Carlito"/>
              </a:rPr>
              <a:t>periodically has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special </a:t>
            </a:r>
            <a:r>
              <a:rPr sz="2000" dirty="0">
                <a:latin typeface="Carlito"/>
                <a:cs typeface="Carlito"/>
              </a:rPr>
              <a:t>week-long</a:t>
            </a:r>
            <a:r>
              <a:rPr sz="2000" spc="-3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sale.</a:t>
            </a:r>
            <a:endParaRPr sz="2000">
              <a:latin typeface="Carlito"/>
              <a:cs typeface="Carlito"/>
            </a:endParaRPr>
          </a:p>
          <a:p>
            <a:pPr marL="262890" marR="38989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rlito"/>
                <a:cs typeface="Carlito"/>
              </a:rPr>
              <a:t>As part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advertising campaign </a:t>
            </a:r>
            <a:r>
              <a:rPr sz="2000" dirty="0">
                <a:latin typeface="Carlito"/>
                <a:cs typeface="Carlito"/>
              </a:rPr>
              <a:t>runs </a:t>
            </a:r>
            <a:r>
              <a:rPr sz="2000" spc="-5" dirty="0">
                <a:latin typeface="Carlito"/>
                <a:cs typeface="Carlito"/>
              </a:rPr>
              <a:t>one or </a:t>
            </a:r>
            <a:r>
              <a:rPr sz="2000" spc="-10" dirty="0">
                <a:latin typeface="Carlito"/>
                <a:cs typeface="Carlito"/>
              </a:rPr>
              <a:t>more television  </a:t>
            </a:r>
            <a:r>
              <a:rPr sz="2000" spc="-5" dirty="0">
                <a:latin typeface="Carlito"/>
                <a:cs typeface="Carlito"/>
              </a:rPr>
              <a:t>commercials during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weekend </a:t>
            </a:r>
            <a:r>
              <a:rPr sz="2000" spc="-5" dirty="0">
                <a:latin typeface="Carlito"/>
                <a:cs typeface="Carlito"/>
              </a:rPr>
              <a:t>preceding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sale.</a:t>
            </a:r>
            <a:endParaRPr sz="2000">
              <a:latin typeface="Carlito"/>
              <a:cs typeface="Carlito"/>
            </a:endParaRPr>
          </a:p>
          <a:p>
            <a:pPr marL="262890">
              <a:lnSpc>
                <a:spcPct val="100000"/>
              </a:lnSpc>
              <a:spcBef>
                <a:spcPts val="484"/>
              </a:spcBef>
            </a:pPr>
            <a:r>
              <a:rPr sz="2000" spc="-15" dirty="0">
                <a:latin typeface="Carlito"/>
                <a:cs typeface="Carlito"/>
              </a:rPr>
              <a:t>Data from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sample of </a:t>
            </a:r>
            <a:r>
              <a:rPr sz="2000" dirty="0">
                <a:latin typeface="Carlito"/>
                <a:cs typeface="Carlito"/>
              </a:rPr>
              <a:t>5 </a:t>
            </a:r>
            <a:r>
              <a:rPr sz="2000" spc="-10" dirty="0">
                <a:latin typeface="Carlito"/>
                <a:cs typeface="Carlito"/>
              </a:rPr>
              <a:t>previous </a:t>
            </a:r>
            <a:r>
              <a:rPr sz="2000" spc="-5" dirty="0">
                <a:latin typeface="Carlito"/>
                <a:cs typeface="Carlito"/>
              </a:rPr>
              <a:t>sales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shown on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next</a:t>
            </a:r>
            <a:r>
              <a:rPr sz="2000" spc="7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slide.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6182" y="246329"/>
            <a:ext cx="3691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</a:t>
            </a:r>
            <a:r>
              <a:rPr spc="-20" dirty="0"/>
              <a:t> </a:t>
            </a:r>
            <a:r>
              <a:rPr spc="-15" dirty="0"/>
              <a:t>Regression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2101" y="840486"/>
            <a:ext cx="2101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Example: Auto</a:t>
            </a:r>
            <a:r>
              <a:rPr sz="2000" spc="-8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Sales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6364" y="1370457"/>
            <a:ext cx="1165225" cy="2314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Number</a:t>
            </a:r>
            <a:r>
              <a:rPr sz="2000" b="1" spc="-9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of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TV</a:t>
            </a:r>
            <a:r>
              <a:rPr sz="2000" b="1" u="heavy" spc="-2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Ads</a:t>
            </a:r>
            <a:endParaRPr sz="2000">
              <a:latin typeface="Carlito"/>
              <a:cs typeface="Carlito"/>
            </a:endParaRPr>
          </a:p>
          <a:p>
            <a:pPr marR="115570" algn="ctr">
              <a:lnSpc>
                <a:spcPct val="100000"/>
              </a:lnSpc>
              <a:spcBef>
                <a:spcPts val="1210"/>
              </a:spcBef>
            </a:pPr>
            <a:r>
              <a:rPr sz="2000" b="1" dirty="0">
                <a:latin typeface="Carlito"/>
                <a:cs typeface="Carlito"/>
              </a:rPr>
              <a:t>1</a:t>
            </a:r>
            <a:endParaRPr sz="2000">
              <a:latin typeface="Carlito"/>
              <a:cs typeface="Carlito"/>
            </a:endParaRPr>
          </a:p>
          <a:p>
            <a:pPr marR="115570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3</a:t>
            </a:r>
            <a:endParaRPr sz="2000">
              <a:latin typeface="Carlito"/>
              <a:cs typeface="Carlito"/>
            </a:endParaRPr>
          </a:p>
          <a:p>
            <a:pPr marR="115570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rlito"/>
                <a:cs typeface="Carlito"/>
              </a:rPr>
              <a:t>2</a:t>
            </a:r>
            <a:endParaRPr sz="2000">
              <a:latin typeface="Carlito"/>
              <a:cs typeface="Carlito"/>
            </a:endParaRPr>
          </a:p>
          <a:p>
            <a:pPr marR="115570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1</a:t>
            </a:r>
            <a:endParaRPr sz="2000">
              <a:latin typeface="Carlito"/>
              <a:cs typeface="Carlito"/>
            </a:endParaRPr>
          </a:p>
          <a:p>
            <a:pPr marR="115570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3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6623" y="1370457"/>
            <a:ext cx="1165225" cy="2314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Number</a:t>
            </a:r>
            <a:r>
              <a:rPr sz="2000" b="1" spc="-10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of  </a:t>
            </a:r>
            <a:r>
              <a:rPr sz="2000" b="1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Cars </a:t>
            </a:r>
            <a:r>
              <a:rPr sz="2000" b="1" u="heavy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Sold</a:t>
            </a:r>
            <a:endParaRPr sz="2000">
              <a:latin typeface="Carlito"/>
              <a:cs typeface="Carlito"/>
            </a:endParaRPr>
          </a:p>
          <a:p>
            <a:pPr marR="117475" algn="ctr">
              <a:lnSpc>
                <a:spcPct val="100000"/>
              </a:lnSpc>
              <a:spcBef>
                <a:spcPts val="1210"/>
              </a:spcBef>
            </a:pPr>
            <a:r>
              <a:rPr sz="2000" b="1" dirty="0">
                <a:latin typeface="Carlito"/>
                <a:cs typeface="Carlito"/>
              </a:rPr>
              <a:t>14</a:t>
            </a:r>
            <a:endParaRPr sz="2000">
              <a:latin typeface="Carlito"/>
              <a:cs typeface="Carlito"/>
            </a:endParaRPr>
          </a:p>
          <a:p>
            <a:pPr marR="117475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24</a:t>
            </a:r>
            <a:endParaRPr sz="2000">
              <a:latin typeface="Carlito"/>
              <a:cs typeface="Carlito"/>
            </a:endParaRPr>
          </a:p>
          <a:p>
            <a:pPr marR="117475" algn="ctr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Carlito"/>
                <a:cs typeface="Carlito"/>
              </a:rPr>
              <a:t>18</a:t>
            </a:r>
            <a:endParaRPr sz="2000">
              <a:latin typeface="Carlito"/>
              <a:cs typeface="Carlito"/>
            </a:endParaRPr>
          </a:p>
          <a:p>
            <a:pPr marR="117475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17</a:t>
            </a:r>
            <a:endParaRPr sz="2000">
              <a:latin typeface="Carlito"/>
              <a:cs typeface="Carlito"/>
            </a:endParaRPr>
          </a:p>
          <a:p>
            <a:pPr marR="117475" algn="ctr">
              <a:lnSpc>
                <a:spcPct val="100000"/>
              </a:lnSpc>
            </a:pPr>
            <a:r>
              <a:rPr sz="2000" b="1" dirty="0">
                <a:latin typeface="Carlito"/>
                <a:cs typeface="Carlito"/>
              </a:rPr>
              <a:t>27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457" y="318008"/>
            <a:ext cx="4569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Estimated Regression </a:t>
            </a:r>
            <a:r>
              <a:rPr spc="-10" dirty="0"/>
              <a:t>Equation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61916" y="3761181"/>
            <a:ext cx="1534795" cy="302260"/>
            <a:chOff x="4161916" y="3761181"/>
            <a:chExt cx="1534795" cy="302260"/>
          </a:xfrm>
        </p:grpSpPr>
        <p:sp>
          <p:nvSpPr>
            <p:cNvPr id="4" name="object 4"/>
            <p:cNvSpPr/>
            <p:nvPr/>
          </p:nvSpPr>
          <p:spPr>
            <a:xfrm>
              <a:off x="4172711" y="3771900"/>
              <a:ext cx="1524000" cy="2910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61916" y="3761181"/>
              <a:ext cx="1520825" cy="287020"/>
            </a:xfrm>
            <a:custGeom>
              <a:avLst/>
              <a:gdLst/>
              <a:ahLst/>
              <a:cxnLst/>
              <a:rect l="l" t="t" r="r" b="b"/>
              <a:pathLst>
                <a:path w="1520825" h="287020">
                  <a:moveTo>
                    <a:pt x="1520825" y="0"/>
                  </a:moveTo>
                  <a:lnTo>
                    <a:pt x="0" y="0"/>
                  </a:lnTo>
                  <a:lnTo>
                    <a:pt x="0" y="286943"/>
                  </a:lnTo>
                  <a:lnTo>
                    <a:pt x="1520825" y="286943"/>
                  </a:lnTo>
                  <a:lnTo>
                    <a:pt x="152082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814192" y="1714538"/>
            <a:ext cx="4211955" cy="673735"/>
            <a:chOff x="2814192" y="1714538"/>
            <a:chExt cx="4211955" cy="673735"/>
          </a:xfrm>
        </p:grpSpPr>
        <p:sp>
          <p:nvSpPr>
            <p:cNvPr id="7" name="object 7"/>
            <p:cNvSpPr/>
            <p:nvPr/>
          </p:nvSpPr>
          <p:spPr>
            <a:xfrm>
              <a:off x="2825495" y="1725168"/>
              <a:ext cx="4200144" cy="6629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4192" y="1714538"/>
              <a:ext cx="4197350" cy="659765"/>
            </a:xfrm>
            <a:custGeom>
              <a:avLst/>
              <a:gdLst/>
              <a:ahLst/>
              <a:cxnLst/>
              <a:rect l="l" t="t" r="r" b="b"/>
              <a:pathLst>
                <a:path w="4197350" h="659764">
                  <a:moveTo>
                    <a:pt x="4197350" y="0"/>
                  </a:moveTo>
                  <a:lnTo>
                    <a:pt x="0" y="0"/>
                  </a:lnTo>
                  <a:lnTo>
                    <a:pt x="0" y="659599"/>
                  </a:lnTo>
                  <a:lnTo>
                    <a:pt x="4197350" y="659599"/>
                  </a:lnTo>
                  <a:lnTo>
                    <a:pt x="419735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32250" y="1788478"/>
              <a:ext cx="2349500" cy="339090"/>
            </a:xfrm>
            <a:custGeom>
              <a:avLst/>
              <a:gdLst/>
              <a:ahLst/>
              <a:cxnLst/>
              <a:rect l="l" t="t" r="r" b="b"/>
              <a:pathLst>
                <a:path w="2349500" h="339089">
                  <a:moveTo>
                    <a:pt x="1067824" y="0"/>
                  </a:moveTo>
                  <a:lnTo>
                    <a:pt x="1229270" y="0"/>
                  </a:lnTo>
                </a:path>
                <a:path w="2349500" h="339089">
                  <a:moveTo>
                    <a:pt x="2055991" y="0"/>
                  </a:moveTo>
                  <a:lnTo>
                    <a:pt x="2217448" y="0"/>
                  </a:lnTo>
                </a:path>
                <a:path w="2349500" h="339089">
                  <a:moveTo>
                    <a:pt x="1508933" y="338975"/>
                  </a:moveTo>
                  <a:lnTo>
                    <a:pt x="1670386" y="338975"/>
                  </a:lnTo>
                </a:path>
                <a:path w="2349500" h="339089">
                  <a:moveTo>
                    <a:pt x="0" y="247943"/>
                  </a:moveTo>
                  <a:lnTo>
                    <a:pt x="2349345" y="247943"/>
                  </a:lnTo>
                </a:path>
              </a:pathLst>
            </a:custGeom>
            <a:ln w="134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960067" y="2005871"/>
            <a:ext cx="11938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23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23784" y="2029766"/>
            <a:ext cx="187325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spc="39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97466" y="2180893"/>
            <a:ext cx="7747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i="1" spc="130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endParaRPr sz="1000">
              <a:latin typeface="Palladio Uralic"/>
              <a:cs typeface="Palladio Ural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14465" y="1854744"/>
            <a:ext cx="175260" cy="295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50" i="1" spc="365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endParaRPr sz="1750">
              <a:latin typeface="Palladio Uralic"/>
              <a:cs typeface="Palladio Ural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32515" y="1578129"/>
            <a:ext cx="3906520" cy="431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625" spc="652" baseline="-41269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625" spc="652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-104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975" spc="1470" baseline="-8385" dirty="0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sz="1750" spc="36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750" i="1" spc="430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1500" i="1" spc="195" baseline="-25000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r>
              <a:rPr sz="1500" i="1" baseline="-25000" dirty="0">
                <a:solidFill>
                  <a:srgbClr val="FFFFFF"/>
                </a:solidFill>
                <a:latin typeface="Palladio Uralic"/>
                <a:cs typeface="Palladio Uralic"/>
              </a:rPr>
              <a:t>   </a:t>
            </a:r>
            <a:r>
              <a:rPr sz="1750" spc="434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7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i="1" spc="395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1750" i="1" spc="-204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750" spc="24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1750" spc="40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750" i="1" spc="475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1500" i="1" spc="195" baseline="-25000" dirty="0">
                <a:solidFill>
                  <a:srgbClr val="FFFFFF"/>
                </a:solidFill>
                <a:latin typeface="Palladio Uralic"/>
                <a:cs typeface="Palladio Uralic"/>
              </a:rPr>
              <a:t>i</a:t>
            </a:r>
            <a:r>
              <a:rPr sz="1500" i="1" baseline="-25000" dirty="0">
                <a:solidFill>
                  <a:srgbClr val="FFFFFF"/>
                </a:solidFill>
                <a:latin typeface="Palladio Uralic"/>
                <a:cs typeface="Palladio Uralic"/>
              </a:rPr>
              <a:t>   </a:t>
            </a:r>
            <a:r>
              <a:rPr sz="1750" spc="434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750" spc="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i="1" spc="395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1750" i="1" spc="-200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750" spc="26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17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652" baseline="-41269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625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-75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u="sng" spc="585" baseline="-634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625" u="sng" spc="592" baseline="-634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2625" baseline="-634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-75" baseline="-634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652" baseline="-41269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2625" spc="284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25" spc="592" baseline="-41269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625" baseline="-41269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9764" y="1917111"/>
            <a:ext cx="1543685" cy="431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871855" algn="l"/>
              </a:tabLst>
            </a:pPr>
            <a:r>
              <a:rPr sz="3975" spc="869" baseline="-8385" dirty="0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sz="1750" spc="58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750" i="1" spc="580" dirty="0">
                <a:solidFill>
                  <a:srgbClr val="FFFFFF"/>
                </a:solidFill>
                <a:latin typeface="Palladio Uralic"/>
                <a:cs typeface="Palladio Uralic"/>
              </a:rPr>
              <a:t>x	</a:t>
            </a:r>
            <a:r>
              <a:rPr sz="1750" spc="434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7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50" i="1" spc="395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1750" i="1" spc="-225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750" spc="254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1500" spc="382" baseline="44444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500" baseline="44444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34792" y="2905683"/>
            <a:ext cx="3782060" cy="356235"/>
            <a:chOff x="3034792" y="2905683"/>
            <a:chExt cx="3782060" cy="356235"/>
          </a:xfrm>
        </p:grpSpPr>
        <p:sp>
          <p:nvSpPr>
            <p:cNvPr id="17" name="object 17"/>
            <p:cNvSpPr/>
            <p:nvPr/>
          </p:nvSpPr>
          <p:spPr>
            <a:xfrm>
              <a:off x="3046476" y="2916936"/>
              <a:ext cx="3770376" cy="3444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34792" y="2905683"/>
              <a:ext cx="3767454" cy="342265"/>
            </a:xfrm>
            <a:custGeom>
              <a:avLst/>
              <a:gdLst/>
              <a:ahLst/>
              <a:cxnLst/>
              <a:rect l="l" t="t" r="r" b="b"/>
              <a:pathLst>
                <a:path w="3767454" h="342264">
                  <a:moveTo>
                    <a:pt x="3767201" y="0"/>
                  </a:moveTo>
                  <a:lnTo>
                    <a:pt x="0" y="0"/>
                  </a:lnTo>
                  <a:lnTo>
                    <a:pt x="0" y="341706"/>
                  </a:lnTo>
                  <a:lnTo>
                    <a:pt x="3767201" y="341706"/>
                  </a:lnTo>
                  <a:lnTo>
                    <a:pt x="376720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22486" y="2987018"/>
              <a:ext cx="882650" cy="0"/>
            </a:xfrm>
            <a:custGeom>
              <a:avLst/>
              <a:gdLst/>
              <a:ahLst/>
              <a:cxnLst/>
              <a:rect l="l" t="t" r="r" b="b"/>
              <a:pathLst>
                <a:path w="882650">
                  <a:moveTo>
                    <a:pt x="0" y="0"/>
                  </a:moveTo>
                  <a:lnTo>
                    <a:pt x="158334" y="0"/>
                  </a:lnTo>
                </a:path>
                <a:path w="882650">
                  <a:moveTo>
                    <a:pt x="724327" y="0"/>
                  </a:moveTo>
                  <a:lnTo>
                    <a:pt x="882652" y="0"/>
                  </a:lnTo>
                </a:path>
              </a:pathLst>
            </a:custGeom>
            <a:ln w="1360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34792" y="2905683"/>
            <a:ext cx="3767454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340">
              <a:lnSpc>
                <a:spcPts val="2160"/>
              </a:lnSpc>
              <a:tabLst>
                <a:tab pos="419100" algn="l"/>
              </a:tabLst>
            </a:pPr>
            <a:r>
              <a:rPr sz="1800" i="1" spc="254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500" spc="382" baseline="-25000" dirty="0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sz="1800" spc="38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8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spc="345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1800" i="1" spc="140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800" spc="380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spc="254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500" spc="382" baseline="-25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500" spc="-37" baseline="-25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spc="345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r>
              <a:rPr sz="1800" i="1" spc="325" dirty="0">
                <a:solidFill>
                  <a:srgbClr val="FFFFFF"/>
                </a:solidFill>
                <a:latin typeface="Palladio Uralic"/>
                <a:cs typeface="Palladio Uralic"/>
              </a:rPr>
              <a:t> </a:t>
            </a:r>
            <a:r>
              <a:rPr sz="1800" spc="38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800" spc="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45" dirty="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80" dirty="0">
                <a:solidFill>
                  <a:srgbClr val="FFFFFF"/>
                </a:solidFill>
                <a:latin typeface="Symbol"/>
                <a:cs typeface="Symbol"/>
              </a:rPr>
              <a:t>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20" dirty="0">
                <a:solidFill>
                  <a:srgbClr val="FFFFFF"/>
                </a:solidFill>
                <a:latin typeface="Times New Roman"/>
                <a:cs typeface="Times New Roman"/>
              </a:rPr>
              <a:t>5(2)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8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800" spc="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45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1" name="object 21"/>
          <p:cNvSpPr txBox="1"/>
          <p:nvPr/>
        </p:nvSpPr>
        <p:spPr>
          <a:xfrm>
            <a:off x="1088847" y="1166621"/>
            <a:ext cx="549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Slope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Estimated Regression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Equation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8847" y="2402585"/>
            <a:ext cx="6167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latin typeface="Carlito"/>
                <a:cs typeface="Carlito"/>
              </a:rPr>
              <a:t>y</a:t>
            </a:r>
            <a:r>
              <a:rPr sz="2400" spc="-10" dirty="0">
                <a:latin typeface="Carlito"/>
                <a:cs typeface="Carlito"/>
              </a:rPr>
              <a:t>-Intercept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Estimated Regression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Equation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8847" y="3266041"/>
            <a:ext cx="4580890" cy="7569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spc="-10" dirty="0">
                <a:latin typeface="Carlito"/>
                <a:cs typeface="Carlito"/>
              </a:rPr>
              <a:t>Estimated Regression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Equation</a:t>
            </a:r>
            <a:endParaRPr sz="2400" dirty="0">
              <a:latin typeface="Carlito"/>
              <a:cs typeface="Carlito"/>
            </a:endParaRPr>
          </a:p>
          <a:p>
            <a:pPr marR="5080" algn="r">
              <a:lnSpc>
                <a:spcPct val="100000"/>
              </a:lnSpc>
              <a:spcBef>
                <a:spcPts val="275"/>
              </a:spcBef>
            </a:pPr>
            <a:r>
              <a:rPr sz="1900" i="1" spc="-220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2850" spc="-330" baseline="5847" dirty="0">
                <a:solidFill>
                  <a:srgbClr val="FFFFFF"/>
                </a:solidFill>
                <a:latin typeface="Times New Roman"/>
                <a:cs typeface="Times New Roman"/>
              </a:rPr>
              <a:t>ˆ</a:t>
            </a:r>
            <a:r>
              <a:rPr sz="2850" spc="-262" baseline="584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36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9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33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19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36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19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spc="35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1900" i="1" spc="350" dirty="0">
                <a:solidFill>
                  <a:srgbClr val="FFFFFF"/>
                </a:solidFill>
                <a:latin typeface="Palladio Uralic"/>
                <a:cs typeface="Palladio Uralic"/>
              </a:rPr>
              <a:t>x</a:t>
            </a:r>
            <a:endParaRPr sz="1900" dirty="0">
              <a:latin typeface="Palladio Uralic"/>
              <a:cs typeface="Palladio Ural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7425" y="221742"/>
            <a:ext cx="4632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Scatter Diagram </a:t>
            </a:r>
            <a:r>
              <a:rPr spc="-5" dirty="0"/>
              <a:t>and </a:t>
            </a:r>
            <a:r>
              <a:rPr spc="-45" dirty="0"/>
              <a:t>Trend</a:t>
            </a:r>
            <a:r>
              <a:rPr spc="80" dirty="0"/>
              <a:t> </a:t>
            </a:r>
            <a:r>
              <a:rPr spc="-5" dirty="0"/>
              <a:t>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11212" y="827120"/>
            <a:ext cx="7560309" cy="3259454"/>
            <a:chOff x="811212" y="827120"/>
            <a:chExt cx="7560309" cy="3259454"/>
          </a:xfrm>
        </p:grpSpPr>
        <p:sp>
          <p:nvSpPr>
            <p:cNvPr id="4" name="object 4"/>
            <p:cNvSpPr/>
            <p:nvPr/>
          </p:nvSpPr>
          <p:spPr>
            <a:xfrm>
              <a:off x="829254" y="840699"/>
              <a:ext cx="7541895" cy="3246120"/>
            </a:xfrm>
            <a:custGeom>
              <a:avLst/>
              <a:gdLst/>
              <a:ahLst/>
              <a:cxnLst/>
              <a:rect l="l" t="t" r="r" b="b"/>
              <a:pathLst>
                <a:path w="7541895" h="3246120">
                  <a:moveTo>
                    <a:pt x="7541528" y="0"/>
                  </a:moveTo>
                  <a:lnTo>
                    <a:pt x="0" y="0"/>
                  </a:lnTo>
                  <a:lnTo>
                    <a:pt x="0" y="3245525"/>
                  </a:lnTo>
                  <a:lnTo>
                    <a:pt x="7541528" y="3245525"/>
                  </a:lnTo>
                  <a:lnTo>
                    <a:pt x="754152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0233" y="827211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1212" y="827120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0233" y="1058969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212" y="1058878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0233" y="1290728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212" y="1290637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0233" y="1522486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1212" y="1522486"/>
              <a:ext cx="7560309" cy="14604"/>
            </a:xfrm>
            <a:custGeom>
              <a:avLst/>
              <a:gdLst/>
              <a:ahLst/>
              <a:cxnLst/>
              <a:rect l="l" t="t" r="r" b="b"/>
              <a:pathLst>
                <a:path w="7560309" h="14605">
                  <a:moveTo>
                    <a:pt x="7559811" y="0"/>
                  </a:moveTo>
                  <a:lnTo>
                    <a:pt x="0" y="0"/>
                  </a:lnTo>
                  <a:lnTo>
                    <a:pt x="0" y="14032"/>
                  </a:lnTo>
                  <a:lnTo>
                    <a:pt x="7559811" y="14032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0233" y="1754607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1212" y="1754697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0233" y="1986365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1212" y="1986456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0233" y="2218124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1212" y="2218214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0233" y="2449882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1212" y="2449882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0233" y="2681641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1212" y="2681641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0233" y="2913400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1212" y="2913400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0233" y="3145158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69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1212" y="3145158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69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0233" y="3376917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70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1212" y="3376916"/>
              <a:ext cx="7560309" cy="14604"/>
            </a:xfrm>
            <a:custGeom>
              <a:avLst/>
              <a:gdLst/>
              <a:ahLst/>
              <a:cxnLst/>
              <a:rect l="l" t="t" r="r" b="b"/>
              <a:pathLst>
                <a:path w="7560309" h="14604">
                  <a:moveTo>
                    <a:pt x="7559811" y="0"/>
                  </a:moveTo>
                  <a:lnTo>
                    <a:pt x="0" y="0"/>
                  </a:lnTo>
                  <a:lnTo>
                    <a:pt x="0" y="14032"/>
                  </a:lnTo>
                  <a:lnTo>
                    <a:pt x="7559811" y="14032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0233" y="3609128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70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1212" y="3609128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70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0233" y="3840886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70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1212" y="3840886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70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233" y="4072645"/>
              <a:ext cx="7541895" cy="13970"/>
            </a:xfrm>
            <a:custGeom>
              <a:avLst/>
              <a:gdLst/>
              <a:ahLst/>
              <a:cxnLst/>
              <a:rect l="l" t="t" r="r" b="b"/>
              <a:pathLst>
                <a:path w="7541895" h="13970">
                  <a:moveTo>
                    <a:pt x="0" y="13579"/>
                  </a:moveTo>
                  <a:lnTo>
                    <a:pt x="7541889" y="13579"/>
                  </a:lnTo>
                  <a:lnTo>
                    <a:pt x="7541889" y="0"/>
                  </a:lnTo>
                  <a:lnTo>
                    <a:pt x="0" y="0"/>
                  </a:lnTo>
                  <a:lnTo>
                    <a:pt x="0" y="135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1212" y="4072645"/>
              <a:ext cx="7560309" cy="13970"/>
            </a:xfrm>
            <a:custGeom>
              <a:avLst/>
              <a:gdLst/>
              <a:ahLst/>
              <a:cxnLst/>
              <a:rect l="l" t="t" r="r" b="b"/>
              <a:pathLst>
                <a:path w="7560309" h="13970">
                  <a:moveTo>
                    <a:pt x="7559811" y="0"/>
                  </a:moveTo>
                  <a:lnTo>
                    <a:pt x="0" y="0"/>
                  </a:lnTo>
                  <a:lnTo>
                    <a:pt x="0" y="13579"/>
                  </a:lnTo>
                  <a:lnTo>
                    <a:pt x="7559811" y="13579"/>
                  </a:lnTo>
                  <a:lnTo>
                    <a:pt x="7559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11212" y="834000"/>
              <a:ext cx="18415" cy="3252470"/>
            </a:xfrm>
            <a:custGeom>
              <a:avLst/>
              <a:gdLst/>
              <a:ahLst/>
              <a:cxnLst/>
              <a:rect l="l" t="t" r="r" b="b"/>
              <a:pathLst>
                <a:path w="18415" h="3252470">
                  <a:moveTo>
                    <a:pt x="18042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8042" y="3252224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1212" y="827120"/>
              <a:ext cx="18415" cy="3259454"/>
            </a:xfrm>
            <a:custGeom>
              <a:avLst/>
              <a:gdLst/>
              <a:ahLst/>
              <a:cxnLst/>
              <a:rect l="l" t="t" r="r" b="b"/>
              <a:pathLst>
                <a:path w="18415" h="3259454">
                  <a:moveTo>
                    <a:pt x="18042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8042" y="3259103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20604" y="834000"/>
              <a:ext cx="18415" cy="3252470"/>
            </a:xfrm>
            <a:custGeom>
              <a:avLst/>
              <a:gdLst/>
              <a:ahLst/>
              <a:cxnLst/>
              <a:rect l="l" t="t" r="r" b="b"/>
              <a:pathLst>
                <a:path w="18414" h="3252470">
                  <a:moveTo>
                    <a:pt x="18042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8042" y="3252224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20604" y="827120"/>
              <a:ext cx="19050" cy="3259454"/>
            </a:xfrm>
            <a:custGeom>
              <a:avLst/>
              <a:gdLst/>
              <a:ahLst/>
              <a:cxnLst/>
              <a:rect l="l" t="t" r="r" b="b"/>
              <a:pathLst>
                <a:path w="19050" h="3259454">
                  <a:moveTo>
                    <a:pt x="18643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8643" y="3259103"/>
                  </a:lnTo>
                  <a:lnTo>
                    <a:pt x="18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30597" y="834000"/>
              <a:ext cx="18415" cy="3252470"/>
            </a:xfrm>
            <a:custGeom>
              <a:avLst/>
              <a:gdLst/>
              <a:ahLst/>
              <a:cxnLst/>
              <a:rect l="l" t="t" r="r" b="b"/>
              <a:pathLst>
                <a:path w="18414" h="3252470">
                  <a:moveTo>
                    <a:pt x="18042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8042" y="3252224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30717" y="827120"/>
              <a:ext cx="18415" cy="3259454"/>
            </a:xfrm>
            <a:custGeom>
              <a:avLst/>
              <a:gdLst/>
              <a:ahLst/>
              <a:cxnLst/>
              <a:rect l="l" t="t" r="r" b="b"/>
              <a:pathLst>
                <a:path w="18414" h="3259454">
                  <a:moveTo>
                    <a:pt x="18042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8042" y="3259103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39989" y="834000"/>
              <a:ext cx="18415" cy="3252470"/>
            </a:xfrm>
            <a:custGeom>
              <a:avLst/>
              <a:gdLst/>
              <a:ahLst/>
              <a:cxnLst/>
              <a:rect l="l" t="t" r="r" b="b"/>
              <a:pathLst>
                <a:path w="18414" h="3252470">
                  <a:moveTo>
                    <a:pt x="18042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8042" y="3252224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40109" y="827120"/>
              <a:ext cx="18415" cy="3259454"/>
            </a:xfrm>
            <a:custGeom>
              <a:avLst/>
              <a:gdLst/>
              <a:ahLst/>
              <a:cxnLst/>
              <a:rect l="l" t="t" r="r" b="b"/>
              <a:pathLst>
                <a:path w="18414" h="3259454">
                  <a:moveTo>
                    <a:pt x="18042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8042" y="3259103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49862" y="834000"/>
              <a:ext cx="18415" cy="3252470"/>
            </a:xfrm>
            <a:custGeom>
              <a:avLst/>
              <a:gdLst/>
              <a:ahLst/>
              <a:cxnLst/>
              <a:rect l="l" t="t" r="r" b="b"/>
              <a:pathLst>
                <a:path w="18415" h="3252470">
                  <a:moveTo>
                    <a:pt x="18042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8042" y="3252224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49982" y="827120"/>
              <a:ext cx="18415" cy="3259454"/>
            </a:xfrm>
            <a:custGeom>
              <a:avLst/>
              <a:gdLst/>
              <a:ahLst/>
              <a:cxnLst/>
              <a:rect l="l" t="t" r="r" b="b"/>
              <a:pathLst>
                <a:path w="18415" h="3259454">
                  <a:moveTo>
                    <a:pt x="18042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8042" y="3259103"/>
                  </a:lnTo>
                  <a:lnTo>
                    <a:pt x="180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353101" y="834000"/>
              <a:ext cx="17780" cy="3252470"/>
            </a:xfrm>
            <a:custGeom>
              <a:avLst/>
              <a:gdLst/>
              <a:ahLst/>
              <a:cxnLst/>
              <a:rect l="l" t="t" r="r" b="b"/>
              <a:pathLst>
                <a:path w="17779" h="3252470">
                  <a:moveTo>
                    <a:pt x="17681" y="0"/>
                  </a:moveTo>
                  <a:lnTo>
                    <a:pt x="0" y="0"/>
                  </a:lnTo>
                  <a:lnTo>
                    <a:pt x="0" y="3252224"/>
                  </a:lnTo>
                  <a:lnTo>
                    <a:pt x="17681" y="3252224"/>
                  </a:lnTo>
                  <a:lnTo>
                    <a:pt x="17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52981" y="827120"/>
              <a:ext cx="18415" cy="3259454"/>
            </a:xfrm>
            <a:custGeom>
              <a:avLst/>
              <a:gdLst/>
              <a:ahLst/>
              <a:cxnLst/>
              <a:rect l="l" t="t" r="r" b="b"/>
              <a:pathLst>
                <a:path w="18415" h="3259454">
                  <a:moveTo>
                    <a:pt x="17802" y="0"/>
                  </a:moveTo>
                  <a:lnTo>
                    <a:pt x="0" y="0"/>
                  </a:lnTo>
                  <a:lnTo>
                    <a:pt x="0" y="3259103"/>
                  </a:lnTo>
                  <a:lnTo>
                    <a:pt x="17802" y="3259103"/>
                  </a:lnTo>
                  <a:lnTo>
                    <a:pt x="17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29254" y="840698"/>
              <a:ext cx="7523726" cy="32319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38858" y="1139545"/>
              <a:ext cx="6153150" cy="1887855"/>
            </a:xfrm>
            <a:custGeom>
              <a:avLst/>
              <a:gdLst/>
              <a:ahLst/>
              <a:cxnLst/>
              <a:rect l="l" t="t" r="r" b="b"/>
              <a:pathLst>
                <a:path w="6153150" h="1887855">
                  <a:moveTo>
                    <a:pt x="6152616" y="1873885"/>
                  </a:moveTo>
                  <a:lnTo>
                    <a:pt x="0" y="1873885"/>
                  </a:lnTo>
                  <a:lnTo>
                    <a:pt x="0" y="1887486"/>
                  </a:lnTo>
                  <a:lnTo>
                    <a:pt x="6152616" y="1887486"/>
                  </a:lnTo>
                  <a:lnTo>
                    <a:pt x="6152616" y="1873885"/>
                  </a:lnTo>
                  <a:close/>
                </a:path>
                <a:path w="6153150" h="1887855">
                  <a:moveTo>
                    <a:pt x="6152616" y="1493659"/>
                  </a:moveTo>
                  <a:lnTo>
                    <a:pt x="0" y="1493659"/>
                  </a:lnTo>
                  <a:lnTo>
                    <a:pt x="0" y="1507248"/>
                  </a:lnTo>
                  <a:lnTo>
                    <a:pt x="6152616" y="1507248"/>
                  </a:lnTo>
                  <a:lnTo>
                    <a:pt x="6152616" y="1493659"/>
                  </a:lnTo>
                  <a:close/>
                </a:path>
                <a:path w="6153150" h="1887855">
                  <a:moveTo>
                    <a:pt x="6152616" y="1127099"/>
                  </a:moveTo>
                  <a:lnTo>
                    <a:pt x="0" y="1127099"/>
                  </a:lnTo>
                  <a:lnTo>
                    <a:pt x="0" y="1140701"/>
                  </a:lnTo>
                  <a:lnTo>
                    <a:pt x="6152616" y="1140701"/>
                  </a:lnTo>
                  <a:lnTo>
                    <a:pt x="6152616" y="1127099"/>
                  </a:lnTo>
                  <a:close/>
                </a:path>
                <a:path w="6153150" h="1887855">
                  <a:moveTo>
                    <a:pt x="6152616" y="746874"/>
                  </a:moveTo>
                  <a:lnTo>
                    <a:pt x="0" y="746874"/>
                  </a:lnTo>
                  <a:lnTo>
                    <a:pt x="0" y="760463"/>
                  </a:lnTo>
                  <a:lnTo>
                    <a:pt x="6152616" y="760463"/>
                  </a:lnTo>
                  <a:lnTo>
                    <a:pt x="6152616" y="746874"/>
                  </a:lnTo>
                  <a:close/>
                </a:path>
                <a:path w="6153150" h="1887855">
                  <a:moveTo>
                    <a:pt x="6152616" y="366649"/>
                  </a:moveTo>
                  <a:lnTo>
                    <a:pt x="0" y="366649"/>
                  </a:lnTo>
                  <a:lnTo>
                    <a:pt x="0" y="380238"/>
                  </a:lnTo>
                  <a:lnTo>
                    <a:pt x="6152616" y="380238"/>
                  </a:lnTo>
                  <a:lnTo>
                    <a:pt x="6152616" y="366649"/>
                  </a:lnTo>
                  <a:close/>
                </a:path>
                <a:path w="6153150" h="1887855">
                  <a:moveTo>
                    <a:pt x="6152616" y="0"/>
                  </a:moveTo>
                  <a:lnTo>
                    <a:pt x="0" y="0"/>
                  </a:lnTo>
                  <a:lnTo>
                    <a:pt x="0" y="13589"/>
                  </a:lnTo>
                  <a:lnTo>
                    <a:pt x="6152616" y="13589"/>
                  </a:lnTo>
                  <a:lnTo>
                    <a:pt x="6152616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938869" y="1146241"/>
              <a:ext cx="6152515" cy="2254250"/>
            </a:xfrm>
            <a:custGeom>
              <a:avLst/>
              <a:gdLst/>
              <a:ahLst/>
              <a:cxnLst/>
              <a:rect l="l" t="t" r="r" b="b"/>
              <a:pathLst>
                <a:path w="6152515" h="2254250">
                  <a:moveTo>
                    <a:pt x="0" y="2254213"/>
                  </a:moveTo>
                  <a:lnTo>
                    <a:pt x="6152495" y="2254213"/>
                  </a:lnTo>
                  <a:lnTo>
                    <a:pt x="6152495" y="0"/>
                  </a:lnTo>
                  <a:lnTo>
                    <a:pt x="0" y="0"/>
                  </a:lnTo>
                  <a:lnTo>
                    <a:pt x="0" y="2254213"/>
                  </a:lnTo>
                  <a:close/>
                </a:path>
              </a:pathLst>
            </a:custGeom>
            <a:ln w="14121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848656" y="1146331"/>
              <a:ext cx="6243320" cy="2308860"/>
            </a:xfrm>
            <a:custGeom>
              <a:avLst/>
              <a:gdLst/>
              <a:ahLst/>
              <a:cxnLst/>
              <a:rect l="l" t="t" r="r" b="b"/>
              <a:pathLst>
                <a:path w="6243320" h="2308860">
                  <a:moveTo>
                    <a:pt x="90212" y="2254123"/>
                  </a:moveTo>
                  <a:lnTo>
                    <a:pt x="90212" y="0"/>
                  </a:lnTo>
                </a:path>
                <a:path w="6243320" h="2308860">
                  <a:moveTo>
                    <a:pt x="0" y="2254123"/>
                  </a:moveTo>
                  <a:lnTo>
                    <a:pt x="90212" y="2254123"/>
                  </a:lnTo>
                </a:path>
                <a:path w="6243320" h="2308860">
                  <a:moveTo>
                    <a:pt x="0" y="1873894"/>
                  </a:moveTo>
                  <a:lnTo>
                    <a:pt x="90212" y="1873894"/>
                  </a:lnTo>
                </a:path>
                <a:path w="6243320" h="2308860">
                  <a:moveTo>
                    <a:pt x="0" y="1493665"/>
                  </a:moveTo>
                  <a:lnTo>
                    <a:pt x="90212" y="1493665"/>
                  </a:lnTo>
                </a:path>
                <a:path w="6243320" h="2308860">
                  <a:moveTo>
                    <a:pt x="0" y="1127106"/>
                  </a:moveTo>
                  <a:lnTo>
                    <a:pt x="90212" y="1127106"/>
                  </a:lnTo>
                </a:path>
                <a:path w="6243320" h="2308860">
                  <a:moveTo>
                    <a:pt x="0" y="746878"/>
                  </a:moveTo>
                  <a:lnTo>
                    <a:pt x="90212" y="746878"/>
                  </a:lnTo>
                </a:path>
                <a:path w="6243320" h="2308860">
                  <a:moveTo>
                    <a:pt x="0" y="366649"/>
                  </a:moveTo>
                  <a:lnTo>
                    <a:pt x="90212" y="366649"/>
                  </a:lnTo>
                </a:path>
                <a:path w="6243320" h="2308860">
                  <a:moveTo>
                    <a:pt x="0" y="0"/>
                  </a:moveTo>
                  <a:lnTo>
                    <a:pt x="90212" y="0"/>
                  </a:lnTo>
                </a:path>
                <a:path w="6243320" h="2308860">
                  <a:moveTo>
                    <a:pt x="90212" y="2254123"/>
                  </a:moveTo>
                  <a:lnTo>
                    <a:pt x="6242828" y="2254123"/>
                  </a:lnTo>
                </a:path>
                <a:path w="6243320" h="2308860">
                  <a:moveTo>
                    <a:pt x="90212" y="2254123"/>
                  </a:moveTo>
                  <a:lnTo>
                    <a:pt x="90212" y="2308441"/>
                  </a:lnTo>
                </a:path>
                <a:path w="6243320" h="2308860">
                  <a:moveTo>
                    <a:pt x="1623946" y="2254123"/>
                  </a:moveTo>
                  <a:lnTo>
                    <a:pt x="1623946" y="2308441"/>
                  </a:lnTo>
                </a:path>
                <a:path w="6243320" h="2308860">
                  <a:moveTo>
                    <a:pt x="3157559" y="2254123"/>
                  </a:moveTo>
                  <a:lnTo>
                    <a:pt x="3157559" y="2308441"/>
                  </a:lnTo>
                </a:path>
                <a:path w="6243320" h="2308860">
                  <a:moveTo>
                    <a:pt x="4691172" y="2254123"/>
                  </a:moveTo>
                  <a:lnTo>
                    <a:pt x="4691172" y="2308441"/>
                  </a:lnTo>
                </a:path>
                <a:path w="6243320" h="2308860">
                  <a:moveTo>
                    <a:pt x="6242828" y="2254123"/>
                  </a:moveTo>
                  <a:lnTo>
                    <a:pt x="6242828" y="2308441"/>
                  </a:lnTo>
                </a:path>
              </a:pathLst>
            </a:custGeom>
            <a:ln w="47433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410559" y="2292591"/>
              <a:ext cx="123846" cy="973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477788" y="1545806"/>
              <a:ext cx="123841" cy="97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44175" y="1993933"/>
              <a:ext cx="123841" cy="97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410561" y="2061831"/>
              <a:ext cx="123841" cy="97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477788" y="1314953"/>
              <a:ext cx="123841" cy="97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472602" y="1512980"/>
              <a:ext cx="3067685" cy="760730"/>
            </a:xfrm>
            <a:custGeom>
              <a:avLst/>
              <a:gdLst/>
              <a:ahLst/>
              <a:cxnLst/>
              <a:rect l="l" t="t" r="r" b="b"/>
              <a:pathLst>
                <a:path w="3067684" h="760730">
                  <a:moveTo>
                    <a:pt x="0" y="760457"/>
                  </a:moveTo>
                  <a:lnTo>
                    <a:pt x="3067226" y="0"/>
                  </a:lnTo>
                </a:path>
              </a:pathLst>
            </a:custGeom>
            <a:ln w="41514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72602" y="1512980"/>
              <a:ext cx="3067685" cy="760730"/>
            </a:xfrm>
            <a:custGeom>
              <a:avLst/>
              <a:gdLst/>
              <a:ahLst/>
              <a:cxnLst/>
              <a:rect l="l" t="t" r="r" b="b"/>
              <a:pathLst>
                <a:path w="3067684" h="760730">
                  <a:moveTo>
                    <a:pt x="0" y="760457"/>
                  </a:moveTo>
                  <a:lnTo>
                    <a:pt x="3067226" y="0"/>
                  </a:lnTo>
                </a:path>
              </a:pathLst>
            </a:custGeom>
            <a:ln w="41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5948566" y="1928400"/>
            <a:ext cx="1337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270" dirty="0">
                <a:solidFill>
                  <a:srgbClr val="003366"/>
                </a:solidFill>
                <a:latin typeface="Arial"/>
                <a:cs typeface="Arial"/>
              </a:rPr>
              <a:t>y </a:t>
            </a:r>
            <a:r>
              <a:rPr sz="1500" b="1" spc="285" dirty="0">
                <a:solidFill>
                  <a:srgbClr val="003366"/>
                </a:solidFill>
                <a:latin typeface="Arial"/>
                <a:cs typeface="Arial"/>
              </a:rPr>
              <a:t>= 5x +</a:t>
            </a:r>
            <a:r>
              <a:rPr sz="1500" b="1" spc="-19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500" b="1" spc="285" dirty="0">
                <a:solidFill>
                  <a:srgbClr val="003366"/>
                </a:solidFill>
                <a:latin typeface="Arial"/>
                <a:cs typeface="Arial"/>
              </a:rPr>
              <a:t>10</a:t>
            </a:r>
            <a:endParaRPr sz="15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408349" y="2131189"/>
            <a:ext cx="315595" cy="1386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1500" b="1" spc="30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5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1500" b="1" spc="30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500">
              <a:latin typeface="Arial"/>
              <a:cs typeface="Arial"/>
            </a:endParaRPr>
          </a:p>
          <a:p>
            <a:pPr marR="8890" algn="r">
              <a:lnSpc>
                <a:spcPct val="100000"/>
              </a:lnSpc>
              <a:spcBef>
                <a:spcPts val="1170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500">
              <a:latin typeface="Arial"/>
              <a:cs typeface="Arial"/>
            </a:endParaRPr>
          </a:p>
          <a:p>
            <a:pPr marR="9525" algn="r">
              <a:lnSpc>
                <a:spcPct val="100000"/>
              </a:lnSpc>
              <a:spcBef>
                <a:spcPts val="1170"/>
              </a:spcBef>
            </a:pPr>
            <a:r>
              <a:rPr sz="1500" b="1" spc="27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08349" y="1000099"/>
            <a:ext cx="315595" cy="100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30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500" b="1" spc="30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500" b="1" spc="30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47985" y="3495939"/>
            <a:ext cx="1670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5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89416" y="3495939"/>
            <a:ext cx="1670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31450" y="3495939"/>
            <a:ext cx="1670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473483" y="3495939"/>
            <a:ext cx="1670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015034" y="3495939"/>
            <a:ext cx="16700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003523" y="1837426"/>
            <a:ext cx="308610" cy="9321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305"/>
              </a:lnSpc>
            </a:pPr>
            <a:r>
              <a:rPr sz="2000" b="1" spc="-265" dirty="0">
                <a:solidFill>
                  <a:srgbClr val="FFFFFF"/>
                </a:solidFill>
                <a:latin typeface="Arial"/>
                <a:cs typeface="Arial"/>
              </a:rPr>
              <a:t>Cars</a:t>
            </a:r>
            <a:r>
              <a:rPr sz="20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70" dirty="0">
                <a:solidFill>
                  <a:srgbClr val="FFFFFF"/>
                </a:solidFill>
                <a:latin typeface="Arial"/>
                <a:cs typeface="Arial"/>
              </a:rPr>
              <a:t>Sold</a:t>
            </a:r>
            <a:endParaRPr sz="2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69397" y="3739466"/>
            <a:ext cx="88836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TV</a:t>
            </a:r>
            <a:r>
              <a:rPr sz="1500" b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275" dirty="0">
                <a:solidFill>
                  <a:srgbClr val="FFFFFF"/>
                </a:solidFill>
                <a:latin typeface="Arial"/>
                <a:cs typeface="Arial"/>
              </a:rPr>
              <a:t>Ads</a:t>
            </a:r>
            <a:endParaRPr sz="15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933450" y="942975"/>
            <a:ext cx="7315200" cy="3143250"/>
          </a:xfrm>
          <a:custGeom>
            <a:avLst/>
            <a:gdLst/>
            <a:ahLst/>
            <a:cxnLst/>
            <a:rect l="l" t="t" r="r" b="b"/>
            <a:pathLst>
              <a:path w="7315200" h="3143250">
                <a:moveTo>
                  <a:pt x="0" y="3143250"/>
                </a:moveTo>
                <a:lnTo>
                  <a:pt x="7315200" y="3143250"/>
                </a:lnTo>
                <a:lnTo>
                  <a:pt x="7315200" y="0"/>
                </a:lnTo>
                <a:lnTo>
                  <a:pt x="0" y="0"/>
                </a:lnTo>
                <a:lnTo>
                  <a:pt x="0" y="31432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E94F-F466-4B7F-AF06-717802B7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163" y="385648"/>
            <a:ext cx="1947672" cy="430887"/>
          </a:xfrm>
        </p:spPr>
        <p:txBody>
          <a:bodyPr/>
          <a:lstStyle/>
          <a:p>
            <a:r>
              <a:rPr lang="en-US" dirty="0"/>
              <a:t>Numerical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5EED2-5E47-4A63-9D11-A178551E0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7C047-56B6-4766-AD7C-FC1BB5B85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2" y="1047750"/>
            <a:ext cx="8592207" cy="3810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C0EE23-B303-496D-8B29-811D1622B49B}"/>
              </a:ext>
            </a:extLst>
          </p:cNvPr>
          <p:cNvCxnSpPr/>
          <p:nvPr/>
        </p:nvCxnSpPr>
        <p:spPr>
          <a:xfrm>
            <a:off x="7086600" y="3572329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527A1B-467B-4D0A-B8A5-A65EB5060B4B}"/>
              </a:ext>
            </a:extLst>
          </p:cNvPr>
          <p:cNvCxnSpPr/>
          <p:nvPr/>
        </p:nvCxnSpPr>
        <p:spPr>
          <a:xfrm>
            <a:off x="6387326" y="3562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9C8AD0-0FBF-43DB-976E-EFD46C626131}"/>
              </a:ext>
            </a:extLst>
          </p:cNvPr>
          <p:cNvCxnSpPr/>
          <p:nvPr/>
        </p:nvCxnSpPr>
        <p:spPr>
          <a:xfrm>
            <a:off x="5638800" y="1276350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AE42B2-CAD7-487C-8007-48D997A454A8}"/>
              </a:ext>
            </a:extLst>
          </p:cNvPr>
          <p:cNvCxnSpPr/>
          <p:nvPr/>
        </p:nvCxnSpPr>
        <p:spPr>
          <a:xfrm>
            <a:off x="6402881" y="1276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2E6F54-BBDF-45BE-9A9C-152EFDC692FF}"/>
              </a:ext>
            </a:extLst>
          </p:cNvPr>
          <p:cNvCxnSpPr/>
          <p:nvPr/>
        </p:nvCxnSpPr>
        <p:spPr>
          <a:xfrm>
            <a:off x="7086600" y="1276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C96BAF-D5D6-475B-B291-B1BB31885BD5}"/>
              </a:ext>
            </a:extLst>
          </p:cNvPr>
          <p:cNvCxnSpPr/>
          <p:nvPr/>
        </p:nvCxnSpPr>
        <p:spPr>
          <a:xfrm>
            <a:off x="7848600" y="1276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8F16DD-7169-4BC1-AD61-2A98174B064B}"/>
              </a:ext>
            </a:extLst>
          </p:cNvPr>
          <p:cNvCxnSpPr/>
          <p:nvPr/>
        </p:nvCxnSpPr>
        <p:spPr>
          <a:xfrm>
            <a:off x="8534400" y="1276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D2BB3F2-64CB-41EA-BB10-A1B49FAFB04D}"/>
              </a:ext>
            </a:extLst>
          </p:cNvPr>
          <p:cNvSpPr txBox="1"/>
          <p:nvPr/>
        </p:nvSpPr>
        <p:spPr>
          <a:xfrm>
            <a:off x="5410200" y="4248150"/>
            <a:ext cx="457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4">
              <a:lnSpc>
                <a:spcPct val="100000"/>
              </a:lnSpc>
              <a:spcBef>
                <a:spcPts val="5"/>
              </a:spcBef>
            </a:pPr>
            <a:r>
              <a:rPr lang="en-IN" spc="180" dirty="0">
                <a:solidFill>
                  <a:srgbClr val="FF0000"/>
                </a:solidFill>
                <a:latin typeface="Times New Roman"/>
                <a:cs typeface="Times New Roman"/>
              </a:rPr>
              <a:t>C =</a:t>
            </a:r>
            <a:r>
              <a:rPr lang="en-IN" sz="1800" i="1" spc="325" dirty="0">
                <a:solidFill>
                  <a:srgbClr val="FF0000"/>
                </a:solidFill>
                <a:latin typeface="Palladio Uralic"/>
                <a:cs typeface="Palladio Uralic"/>
              </a:rPr>
              <a:t>y</a:t>
            </a:r>
            <a:r>
              <a:rPr lang="en-IN" sz="1800" i="1" spc="120" dirty="0">
                <a:solidFill>
                  <a:srgbClr val="FF0000"/>
                </a:solidFill>
                <a:latin typeface="Palladio Uralic"/>
                <a:cs typeface="Palladio Uralic"/>
              </a:rPr>
              <a:t> </a:t>
            </a:r>
            <a:r>
              <a:rPr lang="en-IN" sz="1800" spc="360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lang="en-IN" sz="18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i="1" spc="240" dirty="0">
                <a:solidFill>
                  <a:srgbClr val="FF0000"/>
                </a:solidFill>
                <a:latin typeface="Palladio Uralic"/>
                <a:cs typeface="Times New Roman"/>
              </a:rPr>
              <a:t>m</a:t>
            </a:r>
            <a:r>
              <a:rPr lang="en-IN" sz="1600" spc="-202" baseline="-2525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1800" i="1" spc="325" dirty="0">
                <a:solidFill>
                  <a:srgbClr val="FF0000"/>
                </a:solidFill>
                <a:latin typeface="Palladio Uralic"/>
                <a:cs typeface="Palladio Uralic"/>
              </a:rPr>
              <a:t>x</a:t>
            </a:r>
            <a:endParaRPr lang="en-IN" sz="1800" dirty="0">
              <a:solidFill>
                <a:srgbClr val="FF0000"/>
              </a:solidFill>
              <a:latin typeface="Palladio Uralic"/>
              <a:cs typeface="Palladio Uralic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1B4BD2-6AFF-8560-7CA1-9A15BEB7E7F8}"/>
              </a:ext>
            </a:extLst>
          </p:cNvPr>
          <p:cNvCxnSpPr>
            <a:cxnSpLocks/>
          </p:cNvCxnSpPr>
          <p:nvPr/>
        </p:nvCxnSpPr>
        <p:spPr>
          <a:xfrm>
            <a:off x="6705600" y="38671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AA93E8-AE21-442E-D67F-C083CBEBE446}"/>
              </a:ext>
            </a:extLst>
          </p:cNvPr>
          <p:cNvCxnSpPr/>
          <p:nvPr/>
        </p:nvCxnSpPr>
        <p:spPr>
          <a:xfrm>
            <a:off x="5943600" y="4324350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74DF51-A60A-D667-7F32-544D58BBBDD8}"/>
              </a:ext>
            </a:extLst>
          </p:cNvPr>
          <p:cNvCxnSpPr/>
          <p:nvPr/>
        </p:nvCxnSpPr>
        <p:spPr>
          <a:xfrm>
            <a:off x="6629400" y="4324965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94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4673-701A-44B2-8CC6-8C3A7BD8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6BE3F-2F70-4086-9765-9D224857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99608-1A20-42BD-A897-50C88534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00"/>
            <a:ext cx="9144000" cy="411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1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39C4-7564-4ECD-AEA6-892CB514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1BAA9-F5D0-4DF0-AD49-BC825B9AE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771BC-2C9A-40A9-A1FA-E910AF7AE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095"/>
            <a:ext cx="9144000" cy="411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5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386B-FD1C-4AD7-92F5-669DE9AC8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82724-E2A4-40E6-B1D6-BCBC7E6A7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B0D06-1CC0-413E-9B23-DDC018571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070"/>
            <a:ext cx="9144000" cy="48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8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292D3-08AF-4552-B356-E7424FEC8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43FF0-B31D-4D56-9569-6BF9A713A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linear regression questions">
            <a:extLst>
              <a:ext uri="{FF2B5EF4-FFF2-40B4-BE49-F238E27FC236}">
                <a16:creationId xmlns:a16="http://schemas.microsoft.com/office/drawing/2014/main" id="{A9FC9FBB-E042-4D5D-8F8E-F9A9F8B5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32" y="1073886"/>
            <a:ext cx="6946348" cy="393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B836F-426D-06B9-6365-F6277AF50C07}"/>
              </a:ext>
            </a:extLst>
          </p:cNvPr>
          <p:cNvSpPr txBox="1"/>
          <p:nvPr/>
        </p:nvSpPr>
        <p:spPr>
          <a:xfrm>
            <a:off x="6858000" y="1428750"/>
            <a:ext cx="2209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2060"/>
                </a:solidFill>
              </a:rPr>
              <a:t>SST: </a:t>
            </a:r>
            <a:r>
              <a:rPr lang="en-IN" sz="1400" dirty="0"/>
              <a:t>Sum of squares total</a:t>
            </a:r>
          </a:p>
          <a:p>
            <a:r>
              <a:rPr lang="en-IN" sz="1400" b="1" dirty="0">
                <a:solidFill>
                  <a:srgbClr val="FFC000"/>
                </a:solidFill>
              </a:rPr>
              <a:t>SSE</a:t>
            </a:r>
            <a:r>
              <a:rPr lang="en-IN" sz="1400" dirty="0"/>
              <a:t>: Sum of squares error</a:t>
            </a:r>
          </a:p>
          <a:p>
            <a:r>
              <a:rPr lang="en-IN" sz="1400" dirty="0">
                <a:solidFill>
                  <a:srgbClr val="0070C0"/>
                </a:solidFill>
              </a:rPr>
              <a:t>SSR</a:t>
            </a:r>
            <a:r>
              <a:rPr lang="en-IN" sz="1400" dirty="0"/>
              <a:t>: Sum of squares due to regression</a:t>
            </a:r>
          </a:p>
        </p:txBody>
      </p:sp>
    </p:spTree>
    <p:extLst>
      <p:ext uri="{BB962C8B-B14F-4D97-AF65-F5344CB8AC3E}">
        <p14:creationId xmlns:p14="http://schemas.microsoft.com/office/powerpoint/2010/main" val="1410635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F4C4-BCED-4F1E-88E3-6D3895AA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5E6F7-21DC-48B2-A0F3-4EFCB906F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1BCD6-9362-49C8-9931-8F3AD92F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428"/>
            <a:ext cx="9000090" cy="47655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C1554-F9CE-4674-ABF3-B7183977D8AC}"/>
                  </a:ext>
                </a:extLst>
              </p:cNvPr>
              <p:cNvSpPr txBox="1"/>
              <p:nvPr/>
            </p:nvSpPr>
            <p:spPr>
              <a:xfrm>
                <a:off x="4648200" y="4095750"/>
                <a:ext cx="2362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𝑐𝑎𝑙𝑙𝑒𝑑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𝑑𝑒𝑡𝑒𝑟𝑚𝑖𝑛𝑎𝑡𝑖𝑜𝑛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B8C1554-F9CE-4674-ABF3-B7183977D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4095750"/>
                <a:ext cx="2362200" cy="369332"/>
              </a:xfrm>
              <a:prstGeom prst="rect">
                <a:avLst/>
              </a:prstGeom>
              <a:blipFill>
                <a:blip r:embed="rId4"/>
                <a:stretch>
                  <a:fillRect r="-75711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 descr="Coefficient of Determination ...">
            <a:extLst>
              <a:ext uri="{FF2B5EF4-FFF2-40B4-BE49-F238E27FC236}">
                <a16:creationId xmlns:a16="http://schemas.microsoft.com/office/drawing/2014/main" id="{9D141100-3C13-7171-B84D-E9CBEFC67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134" y="803314"/>
            <a:ext cx="20002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178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7497-D7CD-46E9-9465-A30AA506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150D9-3EBB-4850-8754-82C0AF4A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B782A-EDE7-476E-8F77-6E9DEC79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66"/>
            <a:ext cx="9144000" cy="463083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221F51-C81E-440D-B038-781E7A48BA47}"/>
              </a:ext>
            </a:extLst>
          </p:cNvPr>
          <p:cNvCxnSpPr/>
          <p:nvPr/>
        </p:nvCxnSpPr>
        <p:spPr>
          <a:xfrm>
            <a:off x="7696200" y="4171950"/>
            <a:ext cx="1524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8CD8F5-20EA-4B93-BE64-431696A28650}"/>
              </a:ext>
            </a:extLst>
          </p:cNvPr>
          <p:cNvCxnSpPr/>
          <p:nvPr/>
        </p:nvCxnSpPr>
        <p:spPr>
          <a:xfrm>
            <a:off x="5181600" y="1200150"/>
            <a:ext cx="1524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9C1F63-30CF-4280-A835-EEACAFB5F116}"/>
              </a:ext>
            </a:extLst>
          </p:cNvPr>
          <p:cNvCxnSpPr/>
          <p:nvPr/>
        </p:nvCxnSpPr>
        <p:spPr>
          <a:xfrm>
            <a:off x="7692571" y="1200150"/>
            <a:ext cx="1524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9524DE-EB36-43FA-B3B2-04C630266B38}"/>
              </a:ext>
            </a:extLst>
          </p:cNvPr>
          <p:cNvCxnSpPr/>
          <p:nvPr/>
        </p:nvCxnSpPr>
        <p:spPr>
          <a:xfrm>
            <a:off x="8610600" y="1200150"/>
            <a:ext cx="15240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4714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A0B3-1780-4B6C-AA0C-F666CC7D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C3CAB-466E-4F58-A3C5-5B4E2D29A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C3431-CE7B-48EC-ACEA-B680AF0F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4" y="0"/>
            <a:ext cx="88415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F977-5118-63CE-3A3F-043CDF7A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1B8F6-2D90-1921-3D8D-BFC0142DB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5C928-901E-0B5E-8266-E0765FB6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8" y="681826"/>
            <a:ext cx="7406204" cy="402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7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295" y="2108403"/>
            <a:ext cx="15487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353B5F"/>
                </a:solidFill>
              </a:rPr>
              <a:t>Thank</a:t>
            </a:r>
            <a:r>
              <a:rPr spc="-45" dirty="0">
                <a:solidFill>
                  <a:srgbClr val="353B5F"/>
                </a:solidFill>
              </a:rPr>
              <a:t> </a:t>
            </a:r>
            <a:r>
              <a:rPr spc="-80" dirty="0">
                <a:solidFill>
                  <a:srgbClr val="353B5F"/>
                </a:solidFill>
              </a:rPr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970">
              <a:lnSpc>
                <a:spcPts val="133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64732</TotalTime>
  <Words>435</Words>
  <Application>Microsoft Office PowerPoint</Application>
  <PresentationFormat>On-screen Show (16:9)</PresentationFormat>
  <Paragraphs>107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Adobe Caslon Pro</vt:lpstr>
      <vt:lpstr>Arial</vt:lpstr>
      <vt:lpstr>Arial</vt:lpstr>
      <vt:lpstr>Calibri</vt:lpstr>
      <vt:lpstr>Cambria</vt:lpstr>
      <vt:lpstr>Cambria Math</vt:lpstr>
      <vt:lpstr>Carlito</vt:lpstr>
      <vt:lpstr>charter</vt:lpstr>
      <vt:lpstr>Palladio Uralic</vt:lpstr>
      <vt:lpstr>Symbol</vt:lpstr>
      <vt:lpstr>Times New Roman</vt:lpstr>
      <vt:lpstr>Office Theme</vt:lpstr>
      <vt:lpstr>PowerPoint Presentation</vt:lpstr>
      <vt:lpstr>REGRESSION</vt:lpstr>
      <vt:lpstr>Least Squares Method</vt:lpstr>
      <vt:lpstr>Least Squares Method</vt:lpstr>
      <vt:lpstr>Simple Linear Regression</vt:lpstr>
      <vt:lpstr>Ordinary least square (OLS)</vt:lpstr>
      <vt:lpstr>Ordinary least square</vt:lpstr>
      <vt:lpstr>Simple Linear Regression</vt:lpstr>
      <vt:lpstr>Simple Linear Regression</vt:lpstr>
      <vt:lpstr>Estimated Regression Equation</vt:lpstr>
      <vt:lpstr>Scatter Diagram and Trend Line</vt:lpstr>
      <vt:lpstr>Numerical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IITR</dc:creator>
  <cp:lastModifiedBy>lenovo</cp:lastModifiedBy>
  <cp:revision>17</cp:revision>
  <dcterms:created xsi:type="dcterms:W3CDTF">2021-03-20T04:32:38Z</dcterms:created>
  <dcterms:modified xsi:type="dcterms:W3CDTF">2024-09-01T04:38:55Z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2021-03-20T00:00:00Z</vt:filetime>
  </property>
</Properties>
</file>