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20" r:id="rId2"/>
    <p:sldId id="256" r:id="rId3"/>
    <p:sldId id="257" r:id="rId4"/>
    <p:sldId id="258" r:id="rId5"/>
    <p:sldId id="325" r:id="rId6"/>
    <p:sldId id="259" r:id="rId7"/>
    <p:sldId id="260" r:id="rId8"/>
    <p:sldId id="261" r:id="rId9"/>
    <p:sldId id="265" r:id="rId10"/>
    <p:sldId id="266" r:id="rId11"/>
    <p:sldId id="262" r:id="rId12"/>
    <p:sldId id="321" r:id="rId13"/>
    <p:sldId id="322" r:id="rId14"/>
    <p:sldId id="263" r:id="rId15"/>
    <p:sldId id="264" r:id="rId16"/>
    <p:sldId id="269" r:id="rId17"/>
    <p:sldId id="268" r:id="rId18"/>
    <p:sldId id="324" r:id="rId19"/>
    <p:sldId id="323" r:id="rId20"/>
    <p:sldId id="267" r:id="rId21"/>
    <p:sldId id="327" r:id="rId22"/>
    <p:sldId id="32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B67E0-ECE7-4E3A-97FE-134CF5032819}" type="datetimeFigureOut">
              <a:rPr lang="en-IN" smtClean="0"/>
              <a:t>01-09-2024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DBE123-C3B1-4B07-A5D0-79A5A44EDC4C}" type="slidenum">
              <a:rPr lang="en-IN" smtClean="0"/>
              <a:t>‹#›</a:t>
            </a:fld>
            <a:endParaRPr lang="en-IN"/>
          </a:p>
        </p:txBody>
      </p:sp>
    </p:spTree>
    <p:extLst>
      <p:ext uri="{BB962C8B-B14F-4D97-AF65-F5344CB8AC3E}">
        <p14:creationId xmlns:p14="http://schemas.microsoft.com/office/powerpoint/2010/main" val="2341799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485DB-6355-47A6-ABCE-F416926EEF60}" type="slidenum">
              <a:rPr lang="en-IN" smtClean="0"/>
              <a:t>1</a:t>
            </a:fld>
            <a:endParaRPr lang="en-IN"/>
          </a:p>
        </p:txBody>
      </p:sp>
    </p:spTree>
    <p:extLst>
      <p:ext uri="{BB962C8B-B14F-4D97-AF65-F5344CB8AC3E}">
        <p14:creationId xmlns:p14="http://schemas.microsoft.com/office/powerpoint/2010/main" val="278051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DBE123-C3B1-4B07-A5D0-79A5A44EDC4C}" type="slidenum">
              <a:rPr lang="en-IN" smtClean="0"/>
              <a:t>3</a:t>
            </a:fld>
            <a:endParaRPr lang="en-IN"/>
          </a:p>
        </p:txBody>
      </p:sp>
    </p:spTree>
    <p:extLst>
      <p:ext uri="{BB962C8B-B14F-4D97-AF65-F5344CB8AC3E}">
        <p14:creationId xmlns:p14="http://schemas.microsoft.com/office/powerpoint/2010/main" val="883088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DBE123-C3B1-4B07-A5D0-79A5A44EDC4C}" type="slidenum">
              <a:rPr lang="en-IN" smtClean="0"/>
              <a:t>10</a:t>
            </a:fld>
            <a:endParaRPr lang="en-IN"/>
          </a:p>
        </p:txBody>
      </p:sp>
    </p:spTree>
    <p:extLst>
      <p:ext uri="{BB962C8B-B14F-4D97-AF65-F5344CB8AC3E}">
        <p14:creationId xmlns:p14="http://schemas.microsoft.com/office/powerpoint/2010/main" val="124939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B3A0-791D-4F40-A824-5D447E904A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41C282-E8B7-4300-86A2-389DAF825C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D04B9A-162B-4823-9E02-232ABFD2B15D}"/>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5" name="Footer Placeholder 4">
            <a:extLst>
              <a:ext uri="{FF2B5EF4-FFF2-40B4-BE49-F238E27FC236}">
                <a16:creationId xmlns:a16="http://schemas.microsoft.com/office/drawing/2014/main" id="{2363D4D2-CEE4-4AFF-863D-957759735E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AEB346-6222-43A9-8394-DC6717905829}"/>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1300717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6E113-3074-46AC-AF15-1759D03644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3E31D2-E915-4887-B25F-6C523FCF66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217F1-5ADC-4607-B321-A4D42F34947F}"/>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5" name="Footer Placeholder 4">
            <a:extLst>
              <a:ext uri="{FF2B5EF4-FFF2-40B4-BE49-F238E27FC236}">
                <a16:creationId xmlns:a16="http://schemas.microsoft.com/office/drawing/2014/main" id="{4ECB7A67-2785-4594-8045-B635F92167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F31246-7139-4C0C-BBFE-55E0D473940F}"/>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1666383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16A3-0788-408C-B0ED-A632BA031E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6F46A4-B280-4751-9ED1-CC65DB6683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75B635-44B9-4834-B2F6-3E096A0620E5}"/>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5" name="Footer Placeholder 4">
            <a:extLst>
              <a:ext uri="{FF2B5EF4-FFF2-40B4-BE49-F238E27FC236}">
                <a16:creationId xmlns:a16="http://schemas.microsoft.com/office/drawing/2014/main" id="{41F3A0F6-196F-48BB-8A33-32534ABC8C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B3806B-D4FB-4A28-9852-20560A86099F}"/>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972881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B5709-DB2F-476F-9443-E2C985BA2C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BD0D3D-E30B-4C90-86C1-7D9EE75205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1F05A55-71E9-47BD-853F-7D08874B75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56CAE9-4C23-499A-8138-CA335D1A5362}"/>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6" name="Footer Placeholder 5">
            <a:extLst>
              <a:ext uri="{FF2B5EF4-FFF2-40B4-BE49-F238E27FC236}">
                <a16:creationId xmlns:a16="http://schemas.microsoft.com/office/drawing/2014/main" id="{57336221-1BA7-416A-A249-47386C16D5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089984-60DA-4116-A515-C25847A300F7}"/>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3251596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F54A2-CFF7-4E34-BB95-73807AD7036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6108CD-5578-4AF8-89FD-1FC95E8FDC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4B8398-C9C5-485C-89E4-A2E7544029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83632D-F7D3-4A66-80BE-E7184E995F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D8DF3B-3D0C-4AC6-992D-8E183C3108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B6C583-27D5-4D0B-940A-6FC1BE7660EA}"/>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8" name="Footer Placeholder 7">
            <a:extLst>
              <a:ext uri="{FF2B5EF4-FFF2-40B4-BE49-F238E27FC236}">
                <a16:creationId xmlns:a16="http://schemas.microsoft.com/office/drawing/2014/main" id="{A70250F4-EE2D-48A8-BBF5-EAEF55F765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55C6C33-C99A-4BC2-B309-172D35983DCB}"/>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2743554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A3410-131D-49A4-B3E1-EDE950DA36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C8851A-D737-418B-8DC5-E13690D8F798}"/>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4" name="Footer Placeholder 3">
            <a:extLst>
              <a:ext uri="{FF2B5EF4-FFF2-40B4-BE49-F238E27FC236}">
                <a16:creationId xmlns:a16="http://schemas.microsoft.com/office/drawing/2014/main" id="{BA961712-D67F-4609-8CA8-B602375BF8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EA2115-1D62-4B9E-B5C9-27AAD6680E4B}"/>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2967990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34E06C-6A7C-49F1-AC3A-A4D47A37C5C6}"/>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3" name="Footer Placeholder 2">
            <a:extLst>
              <a:ext uri="{FF2B5EF4-FFF2-40B4-BE49-F238E27FC236}">
                <a16:creationId xmlns:a16="http://schemas.microsoft.com/office/drawing/2014/main" id="{57B33D6F-D22D-4E31-96C1-CAD0FD42198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452358-263F-43C9-89EB-6825DC570228}"/>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3968254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5EF07-AD14-4A37-A7BA-8ADBAB5983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B335A0-63DB-48F4-9336-8EAB1AFF1A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19CD2B-6E0E-49D1-9FCB-7C43024187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E8D8F6-F03F-4680-8283-B44AB8CA0B47}"/>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6" name="Footer Placeholder 5">
            <a:extLst>
              <a:ext uri="{FF2B5EF4-FFF2-40B4-BE49-F238E27FC236}">
                <a16:creationId xmlns:a16="http://schemas.microsoft.com/office/drawing/2014/main" id="{14FB2342-4A49-4F42-AD62-FCAEAA0C1B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C2C611-C772-4B60-B5F4-0AAFCF41E1DC}"/>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3639265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424FC-27B5-4CC5-88D6-D912521ACF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74A513-E477-4FE1-A18B-BCC2AA221A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676BF86-DD3D-4C61-8024-02445C5204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33CA2-CDB8-498B-9DA8-977BCFA61235}"/>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6" name="Footer Placeholder 5">
            <a:extLst>
              <a:ext uri="{FF2B5EF4-FFF2-40B4-BE49-F238E27FC236}">
                <a16:creationId xmlns:a16="http://schemas.microsoft.com/office/drawing/2014/main" id="{9BD732D3-10F7-46BE-98EF-7FE9F33862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9CB8DD-CF1E-4DAD-AE28-CEFA71C19BCB}"/>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2126568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AE5BA-00A1-44C1-89DB-CE8B97A826C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22DF75-5B6A-4480-B81E-AE5B6E06A7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BD0CC7-808E-42FE-93C0-F2B925B4C018}"/>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5" name="Footer Placeholder 4">
            <a:extLst>
              <a:ext uri="{FF2B5EF4-FFF2-40B4-BE49-F238E27FC236}">
                <a16:creationId xmlns:a16="http://schemas.microsoft.com/office/drawing/2014/main" id="{AEE4323F-A50A-4A08-B787-1AFCCF055C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91C09-8A00-4E57-8B44-47AA21E5CBA2}"/>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1276729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87BB-439F-4D46-AF69-180A63EA7F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A6E1E4-7024-4E48-99EC-1C87B3D366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793B6E-183C-4B9C-AC7C-E9EE97D0FA97}"/>
              </a:ext>
            </a:extLst>
          </p:cNvPr>
          <p:cNvSpPr>
            <a:spLocks noGrp="1"/>
          </p:cNvSpPr>
          <p:nvPr>
            <p:ph type="dt" sz="half" idx="10"/>
          </p:nvPr>
        </p:nvSpPr>
        <p:spPr/>
        <p:txBody>
          <a:bodyPr/>
          <a:lstStyle/>
          <a:p>
            <a:fld id="{794C2008-84F1-40C2-9993-8378A4011EA7}" type="datetimeFigureOut">
              <a:rPr lang="en-IN" smtClean="0"/>
              <a:t>01-09-2024</a:t>
            </a:fld>
            <a:endParaRPr lang="en-IN"/>
          </a:p>
        </p:txBody>
      </p:sp>
      <p:sp>
        <p:nvSpPr>
          <p:cNvPr id="5" name="Footer Placeholder 4">
            <a:extLst>
              <a:ext uri="{FF2B5EF4-FFF2-40B4-BE49-F238E27FC236}">
                <a16:creationId xmlns:a16="http://schemas.microsoft.com/office/drawing/2014/main" id="{D09471E7-FB65-44C7-BF83-0AB7CB5D2B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68DA04-5E25-4786-9C8C-CD540A02EC9B}"/>
              </a:ext>
            </a:extLst>
          </p:cNvPr>
          <p:cNvSpPr>
            <a:spLocks noGrp="1"/>
          </p:cNvSpPr>
          <p:nvPr>
            <p:ph type="sldNum" sz="quarter" idx="12"/>
          </p:nvPr>
        </p:nvSpPr>
        <p:spPr/>
        <p:txBody>
          <a:bodyPr/>
          <a:lstStyle/>
          <a:p>
            <a:fld id="{5EC0BE69-0282-431D-8149-D525BA6A02F4}" type="slidenum">
              <a:rPr lang="en-IN" smtClean="0"/>
              <a:t>‹#›</a:t>
            </a:fld>
            <a:endParaRPr lang="en-IN"/>
          </a:p>
        </p:txBody>
      </p:sp>
    </p:spTree>
    <p:extLst>
      <p:ext uri="{BB962C8B-B14F-4D97-AF65-F5344CB8AC3E}">
        <p14:creationId xmlns:p14="http://schemas.microsoft.com/office/powerpoint/2010/main" val="3692202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4083E3-CDA8-4A2E-A85D-2CED8ACD23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EDF6E2-2693-41A5-8456-4AC71800E4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7CDE74-03B6-4F2B-95FC-2275218D90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4C2008-84F1-40C2-9993-8378A4011EA7}" type="datetimeFigureOut">
              <a:rPr lang="en-IN" smtClean="0"/>
              <a:t>01-09-2024</a:t>
            </a:fld>
            <a:endParaRPr lang="en-IN"/>
          </a:p>
        </p:txBody>
      </p:sp>
      <p:sp>
        <p:nvSpPr>
          <p:cNvPr id="5" name="Footer Placeholder 4">
            <a:extLst>
              <a:ext uri="{FF2B5EF4-FFF2-40B4-BE49-F238E27FC236}">
                <a16:creationId xmlns:a16="http://schemas.microsoft.com/office/drawing/2014/main" id="{6D435E45-B700-4AAF-8086-52CDDE5A31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40FB77F-CAD2-4873-BDE3-70E32C6C6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C0BE69-0282-431D-8149-D525BA6A02F4}" type="slidenum">
              <a:rPr lang="en-IN" smtClean="0"/>
              <a:t>‹#›</a:t>
            </a:fld>
            <a:endParaRPr lang="en-IN"/>
          </a:p>
        </p:txBody>
      </p:sp>
    </p:spTree>
    <p:extLst>
      <p:ext uri="{BB962C8B-B14F-4D97-AF65-F5344CB8AC3E}">
        <p14:creationId xmlns:p14="http://schemas.microsoft.com/office/powerpoint/2010/main" val="1473875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bing.com/ck/a?!&amp;&amp;p=9158114ba42c886bJmltdHM9MTY2ODU1NjgwMCZpZ3VpZD0zZWZjMWQzYy01ZDhiLTY1NzEtM2I1Yy0wYzhhNWM2MzY0ZDYmaW5zaWQ9NTIwOA&amp;ptn=3&amp;hsh=3&amp;fclid=3efc1d3c-5d8b-6571-3b5c-0c8a5c6364d6&amp;psq=deprtaement+of+computer+scoence+and+engimnerring&amp;u=a1aHR0cHM6Ly93d3cuc2N1LmVkdS9lbmdpbmVlcmluZy9hY2FkZW1pYy1wcm9ncmFtcy9kZXBhcnRtZW50LW9mLWNvbXB1dGVyLWVuZ2luZWVyaW5nLw&amp;ntb=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developers.google.com/machine-learning/crash-course/generalization/peril-of-overfitt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14D4819-D7DD-F22A-4C68-D50A73BD631A}"/>
              </a:ext>
            </a:extLst>
          </p:cNvPr>
          <p:cNvSpPr>
            <a:spLocks noChangeArrowheads="1"/>
          </p:cNvSpPr>
          <p:nvPr/>
        </p:nvSpPr>
        <p:spPr bwMode="auto">
          <a:xfrm>
            <a:off x="258059" y="70066"/>
            <a:ext cx="11801419"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457189" algn="ctr" defTabSz="914377" eaLnBrk="0" fontAlgn="base" hangingPunct="0">
              <a:spcBef>
                <a:spcPct val="0"/>
              </a:spcBef>
              <a:spcAft>
                <a:spcPct val="0"/>
              </a:spcAft>
            </a:pPr>
            <a:r>
              <a:rPr lang="en-US" altLang="en-US" sz="2800" b="1" dirty="0">
                <a:latin typeface="Cambria" panose="02040503050406030204" pitchFamily="18" charset="0"/>
                <a:ea typeface="Calibri" panose="020F0502020204030204" pitchFamily="34" charset="0"/>
                <a:cs typeface="Times New Roman" panose="02020603050405020304" pitchFamily="18" charset="0"/>
              </a:rPr>
              <a:t>VALLURUPALLI NAGESWARA RAO VIGNANA JYOTHI </a:t>
            </a:r>
            <a:r>
              <a:rPr lang="en-US" altLang="en-US" sz="2800" dirty="0"/>
              <a:t> </a:t>
            </a:r>
            <a:r>
              <a:rPr lang="en-US" altLang="en-US" sz="2800" b="1" dirty="0">
                <a:solidFill>
                  <a:srgbClr val="000000"/>
                </a:solidFill>
                <a:latin typeface="Cambria" panose="02040503050406030204" pitchFamily="18" charset="0"/>
                <a:ea typeface="Calibri" panose="020F0502020204030204" pitchFamily="34" charset="0"/>
                <a:cs typeface="Arial" panose="020B0604020202020204" pitchFamily="34" charset="0"/>
              </a:rPr>
              <a:t>INSTITUTE OF ENGINEERING AND TECHNOLOGY</a:t>
            </a:r>
            <a:endParaRPr lang="en-US" altLang="en-US" sz="2800" dirty="0"/>
          </a:p>
          <a:p>
            <a:pPr indent="457189" algn="ctr" defTabSz="914377" eaLnBrk="0" fontAlgn="base" hangingPunct="0">
              <a:spcBef>
                <a:spcPct val="0"/>
              </a:spcBef>
              <a:spcAft>
                <a:spcPct val="0"/>
              </a:spcAft>
            </a:pPr>
            <a:endParaRPr lang="en-US" altLang="en-US" sz="40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457189" defTabSz="914377" eaLnBrk="0" fontAlgn="base" hangingPunct="0">
              <a:spcBef>
                <a:spcPct val="0"/>
              </a:spcBef>
              <a:spcAft>
                <a:spcPct val="0"/>
              </a:spcAf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457189" defTabSz="914377" eaLnBrk="0" fontAlgn="base" hangingPunct="0">
              <a:spcBef>
                <a:spcPct val="0"/>
              </a:spcBef>
              <a:spcAft>
                <a:spcPct val="0"/>
              </a:spcAf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457189" defTabSz="914377" eaLnBrk="0" fontAlgn="base" hangingPunct="0">
              <a:spcBef>
                <a:spcPct val="0"/>
              </a:spcBef>
              <a:spcAft>
                <a:spcPct val="0"/>
              </a:spcAf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457189" defTabSz="914377" eaLnBrk="0" fontAlgn="base" hangingPunct="0">
              <a:spcBef>
                <a:spcPct val="0"/>
              </a:spcBef>
              <a:spcAft>
                <a:spcPct val="0"/>
              </a:spcAf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457189" algn="ctr" defTabSz="914377" eaLnBrk="0" fontAlgn="base" hangingPunct="0">
              <a:spcBef>
                <a:spcPct val="0"/>
              </a:spcBef>
              <a:spcAft>
                <a:spcPct val="0"/>
              </a:spcAf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457189" algn="ctr" defTabSz="914377" eaLnBrk="0" fontAlgn="base" hangingPunct="0">
              <a:spcBef>
                <a:spcPct val="0"/>
              </a:spcBef>
              <a:spcAft>
                <a:spcPct val="0"/>
              </a:spcAft>
            </a:pPr>
            <a:r>
              <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Department of Computer Science and Engineering </a:t>
            </a:r>
          </a:p>
          <a:p>
            <a:pPr indent="457189" algn="ctr" defTabSz="914377" eaLnBrk="0" fontAlgn="base" hangingPunct="0">
              <a:spcBef>
                <a:spcPct val="0"/>
              </a:spcBef>
              <a:spcAft>
                <a:spcPct val="0"/>
              </a:spcAft>
            </a:pPr>
            <a:endParaRPr lang="en-US" dirty="0">
              <a:effectLst/>
              <a:latin typeface="Times New Roman" panose="02020603050405020304" pitchFamily="18" charset="0"/>
              <a:ea typeface="Times New Roman" panose="02020603050405020304" pitchFamily="18" charset="0"/>
            </a:endParaRPr>
          </a:p>
          <a:p>
            <a:pPr indent="457189" algn="ctr" defTabSz="914377" eaLnBrk="0" fontAlgn="base" hangingPunct="0">
              <a:spcBef>
                <a:spcPct val="0"/>
              </a:spcBef>
              <a:spcAft>
                <a:spcPct val="0"/>
              </a:spcAft>
            </a:pPr>
            <a:r>
              <a:rPr lang="en-US" dirty="0"/>
              <a:t>Regularization</a:t>
            </a:r>
            <a:br>
              <a:rPr lang="en-US" dirty="0"/>
            </a:br>
            <a:r>
              <a:rPr lang="en-US" dirty="0"/>
              <a:t>Ridge and Lasso Regression</a:t>
            </a:r>
            <a:endParaRPr lang="en-US" altLang="en-US" dirty="0">
              <a:latin typeface="Arial" panose="020B0604020202020204" pitchFamily="34" charset="0"/>
            </a:endParaRPr>
          </a:p>
        </p:txBody>
      </p:sp>
      <p:pic>
        <p:nvPicPr>
          <p:cNvPr id="1025" name="Picture 3">
            <a:extLst>
              <a:ext uri="{FF2B5EF4-FFF2-40B4-BE49-F238E27FC236}">
                <a16:creationId xmlns:a16="http://schemas.microsoft.com/office/drawing/2014/main" id="{1F402572-1AC1-C244-FE3C-D3880CA04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3418" y="1335522"/>
            <a:ext cx="1790700" cy="16684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601E913-B864-500D-8186-0A789C882082}"/>
              </a:ext>
            </a:extLst>
          </p:cNvPr>
          <p:cNvSpPr>
            <a:spLocks noChangeArrowheads="1"/>
          </p:cNvSpPr>
          <p:nvPr/>
        </p:nvSpPr>
        <p:spPr bwMode="auto">
          <a:xfrm>
            <a:off x="4057871" y="4947507"/>
            <a:ext cx="4201791"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defTabSz="914377" eaLnBrk="0" fontAlgn="base" hangingPunct="0">
              <a:spcBef>
                <a:spcPct val="0"/>
              </a:spcBef>
              <a:spcAft>
                <a:spcPct val="0"/>
              </a:spcAft>
            </a:pPr>
            <a:r>
              <a:rPr lang="en-US" altLang="en-US" b="1">
                <a:latin typeface="Adobe Caslon Pro"/>
                <a:ea typeface="Calibri" panose="020F0502020204030204" pitchFamily="34" charset="0"/>
                <a:cs typeface="Times New Roman" panose="02020603050405020304" pitchFamily="18" charset="0"/>
              </a:rPr>
              <a:t>Dr. Kriti </a:t>
            </a:r>
            <a:r>
              <a:rPr lang="en-US" altLang="en-US" b="1" dirty="0">
                <a:latin typeface="Adobe Caslon Pro"/>
                <a:ea typeface="Calibri" panose="020F0502020204030204" pitchFamily="34" charset="0"/>
                <a:cs typeface="Times New Roman" panose="02020603050405020304" pitchFamily="18" charset="0"/>
              </a:rPr>
              <a:t>Ohri</a:t>
            </a:r>
            <a:endParaRPr lang="en-US" altLang="en-US" sz="800" dirty="0"/>
          </a:p>
          <a:p>
            <a:pPr algn="ctr" defTabSz="914377" eaLnBrk="0" fontAlgn="base" hangingPunct="0">
              <a:spcBef>
                <a:spcPct val="0"/>
              </a:spcBef>
              <a:spcAft>
                <a:spcPct val="0"/>
              </a:spcAft>
            </a:pPr>
            <a:r>
              <a:rPr lang="en-US" altLang="en-US" sz="1400" dirty="0">
                <a:latin typeface="Adobe Caslon Pro"/>
                <a:ea typeface="Calibri" panose="020F0502020204030204" pitchFamily="34" charset="0"/>
                <a:cs typeface="Times New Roman" panose="02020603050405020304" pitchFamily="18" charset="0"/>
              </a:rPr>
              <a:t>Assistant Professor</a:t>
            </a:r>
            <a:endParaRPr lang="en-US" altLang="en-US" sz="800" dirty="0"/>
          </a:p>
          <a:p>
            <a:pPr algn="ctr" defTabSz="914377" eaLnBrk="0" fontAlgn="base" hangingPunct="0">
              <a:spcBef>
                <a:spcPct val="0"/>
              </a:spcBef>
              <a:spcAft>
                <a:spcPct val="0"/>
              </a:spcAft>
            </a:pPr>
            <a:r>
              <a:rPr lang="en-US" altLang="en-US" sz="1400" dirty="0">
                <a:latin typeface="Adobe Caslon Pro"/>
                <a:ea typeface="Calibri" panose="020F0502020204030204" pitchFamily="34" charset="0"/>
                <a:cs typeface="Times New Roman" panose="02020603050405020304" pitchFamily="18" charset="0"/>
                <a:hlinkClick r:id="rId4"/>
              </a:rPr>
              <a:t>Department of Computer Science and Engineering</a:t>
            </a:r>
            <a:endParaRPr lang="en-US" altLang="en-US" dirty="0">
              <a:latin typeface="Arial" panose="020B0604020202020204" pitchFamily="34" charset="0"/>
            </a:endParaRPr>
          </a:p>
        </p:txBody>
      </p:sp>
      <p:sp>
        <p:nvSpPr>
          <p:cNvPr id="5" name="Footer Placeholder 4">
            <a:extLst>
              <a:ext uri="{FF2B5EF4-FFF2-40B4-BE49-F238E27FC236}">
                <a16:creationId xmlns:a16="http://schemas.microsoft.com/office/drawing/2014/main" id="{FF3375C2-6977-6830-5E74-51E3850230E9}"/>
              </a:ext>
            </a:extLst>
          </p:cNvPr>
          <p:cNvSpPr>
            <a:spLocks noGrp="1"/>
          </p:cNvSpPr>
          <p:nvPr>
            <p:ph type="ftr" sz="quarter" idx="11"/>
          </p:nvPr>
        </p:nvSpPr>
        <p:spPr>
          <a:xfrm>
            <a:off x="5384800" y="8475133"/>
            <a:ext cx="5486400" cy="486833"/>
          </a:xfrm>
          <a:prstGeom prst="rect">
            <a:avLst/>
          </a:prstGeom>
        </p:spPr>
        <p:txBody>
          <a:bodyPr vert="horz" lIns="121920" tIns="60960" rIns="121920" bIns="60960" rtlCol="0" anchor="ctr"/>
          <a:lstStyle>
            <a:defPPr>
              <a:defRPr lang="en-US"/>
            </a:defPPr>
            <a:lvl1pPr marL="0" algn="ctr" defTabSz="1219170" rtl="0" eaLnBrk="1" latinLnBrk="0" hangingPunct="1">
              <a:defRPr sz="1600" kern="1200">
                <a:solidFill>
                  <a:schemeClr val="tx1">
                    <a:tint val="75000"/>
                  </a:schemeClr>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IN"/>
              <a:t>Machine Learning</a:t>
            </a:r>
          </a:p>
        </p:txBody>
      </p:sp>
      <p:sp>
        <p:nvSpPr>
          <p:cNvPr id="7" name="Date Placeholder 6">
            <a:extLst>
              <a:ext uri="{FF2B5EF4-FFF2-40B4-BE49-F238E27FC236}">
                <a16:creationId xmlns:a16="http://schemas.microsoft.com/office/drawing/2014/main" id="{104C03E4-1F28-2FB0-9B80-AE079E772F4D}"/>
              </a:ext>
            </a:extLst>
          </p:cNvPr>
          <p:cNvSpPr>
            <a:spLocks noGrp="1"/>
          </p:cNvSpPr>
          <p:nvPr>
            <p:ph type="dt" sz="half" idx="10"/>
          </p:nvPr>
        </p:nvSpPr>
        <p:spPr>
          <a:xfrm>
            <a:off x="1117600" y="8475133"/>
            <a:ext cx="3657600" cy="486833"/>
          </a:xfrm>
          <a:prstGeom prst="rect">
            <a:avLst/>
          </a:prstGeom>
        </p:spPr>
        <p:txBody>
          <a:bodyPr vert="horz" lIns="121920" tIns="60960" rIns="121920" bIns="60960" rtlCol="0" anchor="ctr"/>
          <a:lstStyle>
            <a:defPPr>
              <a:defRPr lang="en-US"/>
            </a:defPPr>
            <a:lvl1pPr marL="0" algn="l" defTabSz="1219170" rtl="0" eaLnBrk="1" latinLnBrk="0" hangingPunct="1">
              <a:defRPr sz="1600" kern="1200">
                <a:solidFill>
                  <a:schemeClr val="tx1">
                    <a:tint val="75000"/>
                  </a:schemeClr>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t>Kriti Ohri</a:t>
            </a:r>
            <a:endParaRPr lang="en-IN"/>
          </a:p>
        </p:txBody>
      </p:sp>
    </p:spTree>
    <p:extLst>
      <p:ext uri="{BB962C8B-B14F-4D97-AF65-F5344CB8AC3E}">
        <p14:creationId xmlns:p14="http://schemas.microsoft.com/office/powerpoint/2010/main" val="9663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43DC7-7615-4D79-AC4F-9C603ED3CC92}"/>
              </a:ext>
            </a:extLst>
          </p:cNvPr>
          <p:cNvSpPr>
            <a:spLocks noGrp="1"/>
          </p:cNvSpPr>
          <p:nvPr>
            <p:ph type="ctrTitle"/>
          </p:nvPr>
        </p:nvSpPr>
        <p:spPr/>
        <p:txBody>
          <a:bodyPr/>
          <a:lstStyle/>
          <a:p>
            <a:r>
              <a:rPr lang="en-US" dirty="0"/>
              <a:t>Regularization</a:t>
            </a:r>
            <a:br>
              <a:rPr lang="en-US" dirty="0"/>
            </a:br>
            <a:r>
              <a:rPr lang="en-US" dirty="0"/>
              <a:t>Ridge and Lasso Regression</a:t>
            </a:r>
            <a:endParaRPr lang="en-IN" dirty="0"/>
          </a:p>
        </p:txBody>
      </p:sp>
      <p:sp>
        <p:nvSpPr>
          <p:cNvPr id="3" name="Subtitle 2">
            <a:extLst>
              <a:ext uri="{FF2B5EF4-FFF2-40B4-BE49-F238E27FC236}">
                <a16:creationId xmlns:a16="http://schemas.microsoft.com/office/drawing/2014/main" id="{BC2D3406-8AE2-424D-B15C-A422EC8DBCC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20426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E618C-20B1-42C3-A59B-00B97390B9AD}"/>
              </a:ext>
            </a:extLst>
          </p:cNvPr>
          <p:cNvSpPr>
            <a:spLocks noGrp="1"/>
          </p:cNvSpPr>
          <p:nvPr>
            <p:ph type="title"/>
          </p:nvPr>
        </p:nvSpPr>
        <p:spPr/>
        <p:txBody>
          <a:bodyPr/>
          <a:lstStyle/>
          <a:p>
            <a:r>
              <a:rPr lang="en-US" dirty="0"/>
              <a:t>What is Regularization in machine Learning</a:t>
            </a:r>
            <a:endParaRPr lang="en-IN" dirty="0"/>
          </a:p>
        </p:txBody>
      </p:sp>
      <p:sp>
        <p:nvSpPr>
          <p:cNvPr id="3" name="Content Placeholder 2">
            <a:extLst>
              <a:ext uri="{FF2B5EF4-FFF2-40B4-BE49-F238E27FC236}">
                <a16:creationId xmlns:a16="http://schemas.microsoft.com/office/drawing/2014/main" id="{9BED25BC-BD93-4D5A-9821-BCE7A63B7AEA}"/>
              </a:ext>
            </a:extLst>
          </p:cNvPr>
          <p:cNvSpPr>
            <a:spLocks noGrp="1"/>
          </p:cNvSpPr>
          <p:nvPr>
            <p:ph idx="1"/>
          </p:nvPr>
        </p:nvSpPr>
        <p:spPr/>
        <p:txBody>
          <a:bodyPr>
            <a:normAutofit/>
          </a:bodyPr>
          <a:lstStyle/>
          <a:p>
            <a:pPr algn="just"/>
            <a:r>
              <a:rPr lang="en-US" sz="1800" dirty="0">
                <a:solidFill>
                  <a:srgbClr val="4A4A4A"/>
                </a:solidFill>
                <a:latin typeface="Open Sans" panose="020B0606030504020204" pitchFamily="34" charset="0"/>
              </a:rPr>
              <a:t>Have you ever encountered a situation where your machine learning model models the training data exceptionally well but fails to perform well on the testing data i.e. was not able to predict test data? This situation can be dealt with regularization in Machine learning.</a:t>
            </a:r>
            <a:endParaRPr lang="en-IN" sz="1800" dirty="0">
              <a:solidFill>
                <a:srgbClr val="4A4A4A"/>
              </a:solidFill>
              <a:latin typeface="Open Sans" panose="020B0606030504020204" pitchFamily="34" charset="0"/>
            </a:endParaRPr>
          </a:p>
        </p:txBody>
      </p:sp>
      <p:pic>
        <p:nvPicPr>
          <p:cNvPr id="4" name="Picture 3">
            <a:extLst>
              <a:ext uri="{FF2B5EF4-FFF2-40B4-BE49-F238E27FC236}">
                <a16:creationId xmlns:a16="http://schemas.microsoft.com/office/drawing/2014/main" id="{89456002-913A-42F3-ABEE-6C4897600201}"/>
              </a:ext>
            </a:extLst>
          </p:cNvPr>
          <p:cNvPicPr>
            <a:picLocks noChangeAspect="1"/>
          </p:cNvPicPr>
          <p:nvPr/>
        </p:nvPicPr>
        <p:blipFill>
          <a:blip r:embed="rId3"/>
          <a:stretch>
            <a:fillRect/>
          </a:stretch>
        </p:blipFill>
        <p:spPr>
          <a:xfrm>
            <a:off x="2806810" y="2603600"/>
            <a:ext cx="5111156" cy="2317057"/>
          </a:xfrm>
          <a:prstGeom prst="rect">
            <a:avLst/>
          </a:prstGeom>
        </p:spPr>
      </p:pic>
      <p:sp>
        <p:nvSpPr>
          <p:cNvPr id="6" name="TextBox 5">
            <a:extLst>
              <a:ext uri="{FF2B5EF4-FFF2-40B4-BE49-F238E27FC236}">
                <a16:creationId xmlns:a16="http://schemas.microsoft.com/office/drawing/2014/main" id="{B20610A7-FECB-4D3E-860C-C6DC2A48E112}"/>
              </a:ext>
            </a:extLst>
          </p:cNvPr>
          <p:cNvSpPr txBox="1"/>
          <p:nvPr/>
        </p:nvSpPr>
        <p:spPr>
          <a:xfrm>
            <a:off x="1242392" y="5437022"/>
            <a:ext cx="10422172" cy="738664"/>
          </a:xfrm>
          <a:prstGeom prst="rect">
            <a:avLst/>
          </a:prstGeom>
          <a:noFill/>
        </p:spPr>
        <p:txBody>
          <a:bodyPr wrap="square">
            <a:spAutoFit/>
          </a:bodyPr>
          <a:lstStyle/>
          <a:p>
            <a:r>
              <a:rPr lang="en-US" sz="1400" b="0" i="0" dirty="0">
                <a:solidFill>
                  <a:srgbClr val="202124"/>
                </a:solidFill>
                <a:effectLst/>
                <a:latin typeface="Roboto" panose="02000000000000000000" pitchFamily="2" charset="0"/>
              </a:rPr>
              <a:t>Figure 1 shows a model in which training loss gradually decreases, but validation loss eventually goes up. In other words, this generalization curve shows that the model is </a:t>
            </a:r>
            <a:r>
              <a:rPr lang="en-US" sz="1400" b="0" i="0" dirty="0">
                <a:effectLst/>
                <a:latin typeface="Roboto" panose="02000000000000000000" pitchFamily="2" charset="0"/>
                <a:hlinkClick r:id="rId4"/>
              </a:rPr>
              <a:t>overfitting</a:t>
            </a:r>
            <a:r>
              <a:rPr lang="en-US" sz="1400" b="0" i="0" dirty="0">
                <a:solidFill>
                  <a:srgbClr val="202124"/>
                </a:solidFill>
                <a:effectLst/>
                <a:latin typeface="Roboto" panose="02000000000000000000" pitchFamily="2" charset="0"/>
              </a:rPr>
              <a:t> to the data in the training set. </a:t>
            </a:r>
            <a:r>
              <a:rPr lang="en-US" sz="1400" b="0" i="0" dirty="0">
                <a:solidFill>
                  <a:srgbClr val="202124"/>
                </a:solidFill>
                <a:effectLst/>
                <a:highlight>
                  <a:srgbClr val="FFFF00"/>
                </a:highlight>
                <a:latin typeface="Roboto" panose="02000000000000000000" pitchFamily="2" charset="0"/>
              </a:rPr>
              <a:t>we could prevent overfitting by penalizing complex models, a principle called </a:t>
            </a:r>
            <a:r>
              <a:rPr lang="en-US" sz="1400" b="1" i="0" dirty="0">
                <a:solidFill>
                  <a:srgbClr val="202124"/>
                </a:solidFill>
                <a:effectLst/>
                <a:highlight>
                  <a:srgbClr val="FFFF00"/>
                </a:highlight>
                <a:latin typeface="Roboto" panose="02000000000000000000" pitchFamily="2" charset="0"/>
              </a:rPr>
              <a:t>regularization</a:t>
            </a:r>
            <a:r>
              <a:rPr lang="en-US" sz="1400" b="0" i="0" dirty="0">
                <a:solidFill>
                  <a:srgbClr val="202124"/>
                </a:solidFill>
                <a:effectLst/>
                <a:highlight>
                  <a:srgbClr val="FFFF00"/>
                </a:highlight>
                <a:latin typeface="Roboto" panose="02000000000000000000" pitchFamily="2" charset="0"/>
              </a:rPr>
              <a:t>.</a:t>
            </a:r>
            <a:endParaRPr lang="en-IN" sz="1400" dirty="0">
              <a:highlight>
                <a:srgbClr val="FFFF00"/>
              </a:highlight>
            </a:endParaRPr>
          </a:p>
        </p:txBody>
      </p:sp>
    </p:spTree>
    <p:extLst>
      <p:ext uri="{BB962C8B-B14F-4D97-AF65-F5344CB8AC3E}">
        <p14:creationId xmlns:p14="http://schemas.microsoft.com/office/powerpoint/2010/main" val="3692728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02AD9-06FF-4E4C-B7C0-3D9A3934682E}"/>
              </a:ext>
            </a:extLst>
          </p:cNvPr>
          <p:cNvSpPr>
            <a:spLocks noGrp="1"/>
          </p:cNvSpPr>
          <p:nvPr>
            <p:ph type="title"/>
          </p:nvPr>
        </p:nvSpPr>
        <p:spPr/>
        <p:txBody>
          <a:bodyPr/>
          <a:lstStyle/>
          <a:p>
            <a:r>
              <a:rPr lang="en-US" sz="4400" b="0" i="0" dirty="0">
                <a:solidFill>
                  <a:srgbClr val="4A4A4A"/>
                </a:solidFill>
                <a:effectLst/>
                <a:latin typeface="Open Sans" panose="020B0606030504020204" pitchFamily="34" charset="0"/>
              </a:rPr>
              <a:t>Overfitting</a:t>
            </a:r>
            <a:endParaRPr lang="en-IN" dirty="0"/>
          </a:p>
        </p:txBody>
      </p:sp>
      <p:sp>
        <p:nvSpPr>
          <p:cNvPr id="3" name="Content Placeholder 2">
            <a:extLst>
              <a:ext uri="{FF2B5EF4-FFF2-40B4-BE49-F238E27FC236}">
                <a16:creationId xmlns:a16="http://schemas.microsoft.com/office/drawing/2014/main" id="{159E04B4-5A20-41FB-B078-4D6E53AF3AC6}"/>
              </a:ext>
            </a:extLst>
          </p:cNvPr>
          <p:cNvSpPr>
            <a:spLocks noGrp="1"/>
          </p:cNvSpPr>
          <p:nvPr>
            <p:ph idx="1"/>
          </p:nvPr>
        </p:nvSpPr>
        <p:spPr/>
        <p:txBody>
          <a:bodyPr>
            <a:normAutofit/>
          </a:bodyPr>
          <a:lstStyle/>
          <a:p>
            <a:pPr algn="just"/>
            <a:r>
              <a:rPr lang="en-US" sz="1800" b="0" i="0" dirty="0">
                <a:effectLst/>
                <a:latin typeface="Open Sans" panose="020B0606030504020204" pitchFamily="34" charset="0"/>
              </a:rPr>
              <a:t>Overfitting happens when a model learns the very specific pattern and noise from the training data to such an extent that it negatively impacts our model’s ability to generalize from our training data to new (“unseen”) data. By noise, we mean the irrelevant information or randomness in a dataset.</a:t>
            </a:r>
          </a:p>
          <a:p>
            <a:pPr algn="just"/>
            <a:r>
              <a:rPr lang="en-US" sz="1800" b="0" i="0" dirty="0">
                <a:effectLst/>
                <a:latin typeface="Open Sans" panose="020B0606030504020204" pitchFamily="34" charset="0"/>
              </a:rPr>
              <a:t>Preventing overfitting is very necessary to improve the performance of our machine learning model.</a:t>
            </a:r>
          </a:p>
          <a:p>
            <a:pPr algn="just"/>
            <a:r>
              <a:rPr lang="en-US" sz="1800" dirty="0">
                <a:latin typeface="Open Sans" panose="020B0606030504020204" pitchFamily="34" charset="0"/>
              </a:rPr>
              <a:t>The model fits the parameters too closely with regard to the particular observations in the training dataset but don’t generalize well to unseen data.</a:t>
            </a:r>
          </a:p>
          <a:p>
            <a:pPr algn="just"/>
            <a:r>
              <a:rPr lang="en-US" sz="1800" dirty="0">
                <a:latin typeface="Open Sans" panose="020B0606030504020204" pitchFamily="34" charset="0"/>
              </a:rPr>
              <a:t>Overfitting means high variance in the model.</a:t>
            </a:r>
          </a:p>
          <a:p>
            <a:pPr algn="just"/>
            <a:r>
              <a:rPr lang="en-US" sz="1800" dirty="0">
                <a:latin typeface="Open Sans" panose="020B0606030504020204" pitchFamily="34" charset="0"/>
              </a:rPr>
              <a:t>One of the ways to reduce overfitting is regularization. Apart from that other methods  can also be used such as:</a:t>
            </a:r>
          </a:p>
          <a:p>
            <a:pPr lvl="1" algn="just"/>
            <a:r>
              <a:rPr lang="en-US" sz="1400" dirty="0">
                <a:latin typeface="Open Sans" panose="020B0606030504020204" pitchFamily="34" charset="0"/>
              </a:rPr>
              <a:t>Collect more training data.</a:t>
            </a:r>
          </a:p>
          <a:p>
            <a:pPr lvl="1" algn="just"/>
            <a:r>
              <a:rPr lang="en-US" sz="1400" dirty="0">
                <a:latin typeface="Open Sans" panose="020B0606030504020204" pitchFamily="34" charset="0"/>
              </a:rPr>
              <a:t>Choose simple model with few parameters.</a:t>
            </a:r>
          </a:p>
          <a:p>
            <a:pPr lvl="1" algn="just"/>
            <a:r>
              <a:rPr lang="en-US" sz="1400" dirty="0">
                <a:latin typeface="Open Sans" panose="020B0606030504020204" pitchFamily="34" charset="0"/>
              </a:rPr>
              <a:t>Reduce dimensionality of the data.</a:t>
            </a:r>
          </a:p>
          <a:p>
            <a:pPr algn="just"/>
            <a:endParaRPr lang="en-US" sz="1800" dirty="0">
              <a:solidFill>
                <a:srgbClr val="4A4A4A"/>
              </a:solidFill>
              <a:latin typeface="Open Sans" panose="020B0606030504020204" pitchFamily="34" charset="0"/>
            </a:endParaRPr>
          </a:p>
          <a:p>
            <a:pPr algn="just"/>
            <a:endParaRPr lang="en-US" sz="1800" b="0" i="0" dirty="0">
              <a:solidFill>
                <a:srgbClr val="4A4A4A"/>
              </a:solidFill>
              <a:effectLst/>
              <a:latin typeface="Open Sans" panose="020B0606030504020204" pitchFamily="34" charset="0"/>
            </a:endParaRPr>
          </a:p>
          <a:p>
            <a:endParaRPr lang="en-IN" dirty="0"/>
          </a:p>
        </p:txBody>
      </p:sp>
    </p:spTree>
    <p:extLst>
      <p:ext uri="{BB962C8B-B14F-4D97-AF65-F5344CB8AC3E}">
        <p14:creationId xmlns:p14="http://schemas.microsoft.com/office/powerpoint/2010/main" val="3888752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580ED-3018-2DBB-0A40-1FF7CEC66D7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BE1CA6F-CE0B-E920-9020-9231942CEED9}"/>
              </a:ext>
            </a:extLst>
          </p:cNvPr>
          <p:cNvPicPr>
            <a:picLocks noGrp="1" noChangeAspect="1"/>
          </p:cNvPicPr>
          <p:nvPr>
            <p:ph idx="1"/>
          </p:nvPr>
        </p:nvPicPr>
        <p:blipFill>
          <a:blip r:embed="rId2"/>
          <a:stretch>
            <a:fillRect/>
          </a:stretch>
        </p:blipFill>
        <p:spPr>
          <a:xfrm>
            <a:off x="1111045" y="1861366"/>
            <a:ext cx="9232489" cy="3942817"/>
          </a:xfrm>
        </p:spPr>
      </p:pic>
      <p:sp>
        <p:nvSpPr>
          <p:cNvPr id="3" name="TextBox 2">
            <a:extLst>
              <a:ext uri="{FF2B5EF4-FFF2-40B4-BE49-F238E27FC236}">
                <a16:creationId xmlns:a16="http://schemas.microsoft.com/office/drawing/2014/main" id="{F78B4C3F-97AA-1769-C7DB-9290CD121DC6}"/>
              </a:ext>
            </a:extLst>
          </p:cNvPr>
          <p:cNvSpPr txBox="1"/>
          <p:nvPr/>
        </p:nvSpPr>
        <p:spPr>
          <a:xfrm>
            <a:off x="7987004" y="5290457"/>
            <a:ext cx="1539551" cy="369332"/>
          </a:xfrm>
          <a:prstGeom prst="rect">
            <a:avLst/>
          </a:prstGeom>
          <a:noFill/>
        </p:spPr>
        <p:txBody>
          <a:bodyPr wrap="square" rtlCol="0">
            <a:spAutoFit/>
          </a:bodyPr>
          <a:lstStyle/>
          <a:p>
            <a:r>
              <a:rPr lang="en-US" dirty="0"/>
              <a:t>Good fit</a:t>
            </a:r>
          </a:p>
        </p:txBody>
      </p:sp>
    </p:spTree>
    <p:extLst>
      <p:ext uri="{BB962C8B-B14F-4D97-AF65-F5344CB8AC3E}">
        <p14:creationId xmlns:p14="http://schemas.microsoft.com/office/powerpoint/2010/main" val="1820807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6C6ED-1019-478A-ACF5-FFB1E7B7ABDC}"/>
              </a:ext>
            </a:extLst>
          </p:cNvPr>
          <p:cNvSpPr>
            <a:spLocks noGrp="1"/>
          </p:cNvSpPr>
          <p:nvPr>
            <p:ph type="title"/>
          </p:nvPr>
        </p:nvSpPr>
        <p:spPr/>
        <p:txBody>
          <a:bodyPr/>
          <a:lstStyle/>
          <a:p>
            <a:r>
              <a:rPr lang="en-IN" dirty="0"/>
              <a:t>To prevent overfitting use regularization</a:t>
            </a:r>
          </a:p>
        </p:txBody>
      </p:sp>
      <p:sp>
        <p:nvSpPr>
          <p:cNvPr id="3" name="Content Placeholder 2">
            <a:extLst>
              <a:ext uri="{FF2B5EF4-FFF2-40B4-BE49-F238E27FC236}">
                <a16:creationId xmlns:a16="http://schemas.microsoft.com/office/drawing/2014/main" id="{C7D6B550-8BF9-4E30-8C74-5FFA143E370E}"/>
              </a:ext>
            </a:extLst>
          </p:cNvPr>
          <p:cNvSpPr>
            <a:spLocks noGrp="1"/>
          </p:cNvSpPr>
          <p:nvPr>
            <p:ph idx="1"/>
          </p:nvPr>
        </p:nvSpPr>
        <p:spPr/>
        <p:txBody>
          <a:bodyPr/>
          <a:lstStyle/>
          <a:p>
            <a:pPr algn="l"/>
            <a:r>
              <a:rPr lang="en-US" b="1" i="0" dirty="0">
                <a:solidFill>
                  <a:srgbClr val="4A4A4A"/>
                </a:solidFill>
                <a:effectLst/>
                <a:latin typeface="Open Sans" panose="020B0606030504020204" pitchFamily="34" charset="0"/>
              </a:rPr>
              <a:t>What is Regularization?</a:t>
            </a:r>
            <a:endParaRPr lang="en-US" b="0" i="0" dirty="0">
              <a:solidFill>
                <a:srgbClr val="4A4A4A"/>
              </a:solidFill>
              <a:effectLst/>
              <a:latin typeface="Open Sans" panose="020B0606030504020204" pitchFamily="34" charset="0"/>
            </a:endParaRPr>
          </a:p>
          <a:p>
            <a:pPr algn="just"/>
            <a:r>
              <a:rPr lang="en-US" b="0" i="0" dirty="0">
                <a:solidFill>
                  <a:srgbClr val="4A4A4A"/>
                </a:solidFill>
                <a:effectLst/>
                <a:latin typeface="Open Sans" panose="020B0606030504020204" pitchFamily="34" charset="0"/>
              </a:rPr>
              <a:t>In general, regularization means to make things regular or acceptable. This is exactly why we use it for applied machine learning. In the context of machine learning, regularization is the process which </a:t>
            </a:r>
            <a:r>
              <a:rPr lang="en-US" b="0" i="0" dirty="0">
                <a:solidFill>
                  <a:srgbClr val="4A4A4A"/>
                </a:solidFill>
                <a:effectLst/>
                <a:highlight>
                  <a:srgbClr val="FFFF00"/>
                </a:highlight>
                <a:latin typeface="Open Sans" panose="020B0606030504020204" pitchFamily="34" charset="0"/>
              </a:rPr>
              <a:t>regularizes or shrinks the coefficients </a:t>
            </a:r>
            <a:r>
              <a:rPr lang="en-US" b="0" i="0" dirty="0">
                <a:solidFill>
                  <a:srgbClr val="4A4A4A"/>
                </a:solidFill>
                <a:effectLst/>
                <a:latin typeface="Open Sans" panose="020B0606030504020204" pitchFamily="34" charset="0"/>
              </a:rPr>
              <a:t>towards zero. In simple words, regularization discourages learning a more complex or flexible model, to prevent overfitting.</a:t>
            </a:r>
          </a:p>
          <a:p>
            <a:endParaRPr lang="en-IN" dirty="0"/>
          </a:p>
        </p:txBody>
      </p:sp>
    </p:spTree>
    <p:extLst>
      <p:ext uri="{BB962C8B-B14F-4D97-AF65-F5344CB8AC3E}">
        <p14:creationId xmlns:p14="http://schemas.microsoft.com/office/powerpoint/2010/main" val="4029591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73BDB-CBEE-4DAC-8D64-3E9B4470A8A3}"/>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790953BD-4192-4CAB-B4E8-2D447F0E2845}"/>
              </a:ext>
            </a:extLst>
          </p:cNvPr>
          <p:cNvPicPr>
            <a:picLocks noGrp="1" noChangeAspect="1"/>
          </p:cNvPicPr>
          <p:nvPr>
            <p:ph idx="1"/>
          </p:nvPr>
        </p:nvPicPr>
        <p:blipFill>
          <a:blip r:embed="rId2"/>
          <a:stretch>
            <a:fillRect/>
          </a:stretch>
        </p:blipFill>
        <p:spPr>
          <a:xfrm>
            <a:off x="764308" y="2191735"/>
            <a:ext cx="11427692" cy="3438523"/>
          </a:xfrm>
        </p:spPr>
      </p:pic>
      <p:sp>
        <p:nvSpPr>
          <p:cNvPr id="3" name="TextBox 2">
            <a:extLst>
              <a:ext uri="{FF2B5EF4-FFF2-40B4-BE49-F238E27FC236}">
                <a16:creationId xmlns:a16="http://schemas.microsoft.com/office/drawing/2014/main" id="{46E8D33E-426E-E674-D045-0322E9B18F1A}"/>
              </a:ext>
            </a:extLst>
          </p:cNvPr>
          <p:cNvSpPr txBox="1"/>
          <p:nvPr/>
        </p:nvSpPr>
        <p:spPr>
          <a:xfrm>
            <a:off x="3313471" y="2782669"/>
            <a:ext cx="1602658" cy="646331"/>
          </a:xfrm>
          <a:prstGeom prst="rect">
            <a:avLst/>
          </a:prstGeom>
          <a:noFill/>
        </p:spPr>
        <p:txBody>
          <a:bodyPr wrap="square" rtlCol="0">
            <a:spAutoFit/>
          </a:bodyPr>
          <a:lstStyle/>
          <a:p>
            <a:r>
              <a:rPr lang="en-US" dirty="0">
                <a:solidFill>
                  <a:srgbClr val="C00000"/>
                </a:solidFill>
              </a:rPr>
              <a:t>Unregularized loss function</a:t>
            </a:r>
          </a:p>
        </p:txBody>
      </p:sp>
      <p:sp>
        <p:nvSpPr>
          <p:cNvPr id="4" name="TextBox 3">
            <a:extLst>
              <a:ext uri="{FF2B5EF4-FFF2-40B4-BE49-F238E27FC236}">
                <a16:creationId xmlns:a16="http://schemas.microsoft.com/office/drawing/2014/main" id="{06F6C964-F4CD-1E57-5B7A-AC30E704BD58}"/>
              </a:ext>
            </a:extLst>
          </p:cNvPr>
          <p:cNvSpPr txBox="1"/>
          <p:nvPr/>
        </p:nvSpPr>
        <p:spPr>
          <a:xfrm>
            <a:off x="2207342" y="4019934"/>
            <a:ext cx="1602658" cy="646331"/>
          </a:xfrm>
          <a:prstGeom prst="rect">
            <a:avLst/>
          </a:prstGeom>
          <a:noFill/>
        </p:spPr>
        <p:txBody>
          <a:bodyPr wrap="square" rtlCol="0">
            <a:spAutoFit/>
          </a:bodyPr>
          <a:lstStyle/>
          <a:p>
            <a:r>
              <a:rPr lang="en-US" dirty="0">
                <a:solidFill>
                  <a:srgbClr val="C00000"/>
                </a:solidFill>
              </a:rPr>
              <a:t>Regularized loss function</a:t>
            </a:r>
          </a:p>
        </p:txBody>
      </p:sp>
    </p:spTree>
    <p:extLst>
      <p:ext uri="{BB962C8B-B14F-4D97-AF65-F5344CB8AC3E}">
        <p14:creationId xmlns:p14="http://schemas.microsoft.com/office/powerpoint/2010/main" val="1683280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A9051-B6D1-4D23-BC74-62D3E8DCE98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A960FE8-EF95-4C9C-B1FF-EA56D2DE2037}"/>
              </a:ext>
            </a:extLst>
          </p:cNvPr>
          <p:cNvPicPr>
            <a:picLocks noGrp="1" noChangeAspect="1"/>
          </p:cNvPicPr>
          <p:nvPr>
            <p:ph idx="1"/>
          </p:nvPr>
        </p:nvPicPr>
        <p:blipFill>
          <a:blip r:embed="rId2"/>
          <a:stretch>
            <a:fillRect/>
          </a:stretch>
        </p:blipFill>
        <p:spPr>
          <a:xfrm>
            <a:off x="838200" y="2062238"/>
            <a:ext cx="10515600" cy="1960535"/>
          </a:xfrm>
        </p:spPr>
      </p:pic>
    </p:spTree>
    <p:extLst>
      <p:ext uri="{BB962C8B-B14F-4D97-AF65-F5344CB8AC3E}">
        <p14:creationId xmlns:p14="http://schemas.microsoft.com/office/powerpoint/2010/main" val="2724819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0EBF5-DFFD-4A1D-8EA9-0FD7839E5D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FC8C7B-E8CB-4239-9837-51AD83FA9EE4}"/>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0BDD51BF-A757-4F12-AD49-D00DF2A466C8}"/>
              </a:ext>
            </a:extLst>
          </p:cNvPr>
          <p:cNvSpPr/>
          <p:nvPr/>
        </p:nvSpPr>
        <p:spPr>
          <a:xfrm>
            <a:off x="3888419" y="2414726"/>
            <a:ext cx="4216894" cy="497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Regularization</a:t>
            </a:r>
            <a:endParaRPr lang="en-IN" dirty="0"/>
          </a:p>
        </p:txBody>
      </p:sp>
      <p:sp>
        <p:nvSpPr>
          <p:cNvPr id="5" name="Rectangle 4">
            <a:extLst>
              <a:ext uri="{FF2B5EF4-FFF2-40B4-BE49-F238E27FC236}">
                <a16:creationId xmlns:a16="http://schemas.microsoft.com/office/drawing/2014/main" id="{27218360-8B56-4E4C-BFCE-CEB389BBACCA}"/>
              </a:ext>
            </a:extLst>
          </p:cNvPr>
          <p:cNvSpPr/>
          <p:nvPr/>
        </p:nvSpPr>
        <p:spPr>
          <a:xfrm>
            <a:off x="1873188" y="3879833"/>
            <a:ext cx="3296576" cy="6865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i="0" dirty="0">
                <a:solidFill>
                  <a:schemeClr val="bg1"/>
                </a:solidFill>
                <a:effectLst/>
                <a:latin typeface="Open Sans" panose="020B0606030504020204" pitchFamily="34" charset="0"/>
              </a:rPr>
              <a:t>Ridge Regression (L2 Regularization)</a:t>
            </a:r>
            <a:endParaRPr lang="en-IN" dirty="0">
              <a:solidFill>
                <a:schemeClr val="bg1"/>
              </a:solidFill>
            </a:endParaRPr>
          </a:p>
        </p:txBody>
      </p:sp>
      <p:sp>
        <p:nvSpPr>
          <p:cNvPr id="6" name="Rectangle 5">
            <a:extLst>
              <a:ext uri="{FF2B5EF4-FFF2-40B4-BE49-F238E27FC236}">
                <a16:creationId xmlns:a16="http://schemas.microsoft.com/office/drawing/2014/main" id="{7BCA4504-DAFA-4B60-A39D-5843AA7FF493}"/>
              </a:ext>
            </a:extLst>
          </p:cNvPr>
          <p:cNvSpPr/>
          <p:nvPr/>
        </p:nvSpPr>
        <p:spPr>
          <a:xfrm>
            <a:off x="7304842" y="3744896"/>
            <a:ext cx="3296576" cy="6865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i="0" dirty="0">
                <a:solidFill>
                  <a:schemeClr val="bg1"/>
                </a:solidFill>
                <a:effectLst/>
                <a:latin typeface="Open Sans" panose="020B0606030504020204" pitchFamily="34" charset="0"/>
              </a:rPr>
              <a:t>Lasso Regression (L1 Regularization)</a:t>
            </a:r>
            <a:endParaRPr lang="en-IN" dirty="0">
              <a:solidFill>
                <a:schemeClr val="bg1"/>
              </a:solidFill>
            </a:endParaRPr>
          </a:p>
        </p:txBody>
      </p:sp>
      <p:cxnSp>
        <p:nvCxnSpPr>
          <p:cNvPr id="8" name="Straight Arrow Connector 7">
            <a:extLst>
              <a:ext uri="{FF2B5EF4-FFF2-40B4-BE49-F238E27FC236}">
                <a16:creationId xmlns:a16="http://schemas.microsoft.com/office/drawing/2014/main" id="{3C524CE8-DB96-4B05-A345-EBAC977DD191}"/>
              </a:ext>
            </a:extLst>
          </p:cNvPr>
          <p:cNvCxnSpPr>
            <a:stCxn id="4" idx="2"/>
          </p:cNvCxnSpPr>
          <p:nvPr/>
        </p:nvCxnSpPr>
        <p:spPr>
          <a:xfrm flipH="1">
            <a:off x="4172505" y="2911876"/>
            <a:ext cx="1824361" cy="833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D987C70-A53E-41F7-9BD1-E331C468E9E4}"/>
              </a:ext>
            </a:extLst>
          </p:cNvPr>
          <p:cNvCxnSpPr>
            <a:cxnSpLocks/>
          </p:cNvCxnSpPr>
          <p:nvPr/>
        </p:nvCxnSpPr>
        <p:spPr>
          <a:xfrm>
            <a:off x="7022237" y="2911876"/>
            <a:ext cx="1846555" cy="7634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E7EA005-7C24-06DC-A007-6B93A8F5C90A}"/>
              </a:ext>
            </a:extLst>
          </p:cNvPr>
          <p:cNvSpPr txBox="1"/>
          <p:nvPr/>
        </p:nvSpPr>
        <p:spPr>
          <a:xfrm>
            <a:off x="7022237" y="4500976"/>
            <a:ext cx="4312919" cy="646331"/>
          </a:xfrm>
          <a:prstGeom prst="rect">
            <a:avLst/>
          </a:prstGeom>
          <a:noFill/>
        </p:spPr>
        <p:txBody>
          <a:bodyPr wrap="square" rtlCol="0">
            <a:spAutoFit/>
          </a:bodyPr>
          <a:lstStyle/>
          <a:p>
            <a:pPr algn="ctr"/>
            <a:r>
              <a:rPr lang="en-US" dirty="0"/>
              <a:t>Least Absolute Shrinkage and Selection Operator</a:t>
            </a:r>
            <a:endParaRPr lang="en-IN" dirty="0"/>
          </a:p>
        </p:txBody>
      </p:sp>
    </p:spTree>
    <p:extLst>
      <p:ext uri="{BB962C8B-B14F-4D97-AF65-F5344CB8AC3E}">
        <p14:creationId xmlns:p14="http://schemas.microsoft.com/office/powerpoint/2010/main" val="2536980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xfrm>
            <a:off x="5609082" y="9184385"/>
            <a:ext cx="2787650" cy="417829"/>
          </a:xfrm>
          <a:prstGeom prst="rect">
            <a:avLst/>
          </a:prstGeom>
        </p:spPr>
        <p:txBody>
          <a:bodyPr vert="horz" wrap="square" lIns="0" tIns="0" rIns="0" bIns="0" rtlCol="0">
            <a:spAutoFit/>
          </a:bodyPr>
          <a:lstStyle>
            <a:defPPr>
              <a:defRPr kern="0"/>
            </a:defPPr>
            <a:lvl1pPr>
              <a:defRPr sz="2000" b="0" i="0">
                <a:solidFill>
                  <a:srgbClr val="929292"/>
                </a:solidFill>
                <a:latin typeface="Tahoma"/>
                <a:cs typeface="Tahoma"/>
              </a:defRPr>
            </a:lvl1pPr>
          </a:lstStyle>
          <a:p>
            <a:pPr marL="8929">
              <a:spcBef>
                <a:spcPts val="337"/>
              </a:spcBef>
            </a:pPr>
            <a:r>
              <a:rPr lang="en-IN"/>
              <a:t>STAT</a:t>
            </a:r>
            <a:r>
              <a:rPr lang="en-IN" spc="15"/>
              <a:t> </a:t>
            </a:r>
            <a:r>
              <a:rPr lang="en-IN" spc="-85"/>
              <a:t>479:</a:t>
            </a:r>
            <a:r>
              <a:rPr lang="en-IN" spc="20"/>
              <a:t> </a:t>
            </a:r>
            <a:r>
              <a:rPr lang="en-IN" spc="-50"/>
              <a:t>Deep</a:t>
            </a:r>
            <a:r>
              <a:rPr lang="en-IN" spc="20"/>
              <a:t> </a:t>
            </a:r>
            <a:r>
              <a:rPr lang="en-IN" spc="-55"/>
              <a:t>Learning</a:t>
            </a:r>
            <a:endParaRPr spc="-39" dirty="0"/>
          </a:p>
        </p:txBody>
      </p:sp>
      <p:sp>
        <p:nvSpPr>
          <p:cNvPr id="6" name="object 6"/>
          <p:cNvSpPr txBox="1">
            <a:spLocks noGrp="1"/>
          </p:cNvSpPr>
          <p:nvPr>
            <p:ph type="ftr" sz="quarter" idx="5"/>
          </p:nvPr>
        </p:nvSpPr>
        <p:spPr>
          <a:xfrm>
            <a:off x="9385808" y="9184385"/>
            <a:ext cx="900429" cy="417829"/>
          </a:xfrm>
          <a:prstGeom prst="rect">
            <a:avLst/>
          </a:prstGeom>
        </p:spPr>
        <p:txBody>
          <a:bodyPr vert="horz" wrap="square" lIns="0" tIns="0" rIns="0" bIns="0" rtlCol="0">
            <a:spAutoFit/>
          </a:bodyPr>
          <a:lstStyle>
            <a:defPPr>
              <a:defRPr kern="0"/>
            </a:defPPr>
            <a:lvl1pPr>
              <a:defRPr sz="2000" b="0" i="0">
                <a:solidFill>
                  <a:srgbClr val="929292"/>
                </a:solidFill>
                <a:latin typeface="Tahoma"/>
                <a:cs typeface="Tahoma"/>
              </a:defRPr>
            </a:lvl1pPr>
          </a:lstStyle>
          <a:p>
            <a:pPr marL="8929">
              <a:spcBef>
                <a:spcPts val="337"/>
              </a:spcBef>
            </a:pPr>
            <a:r>
              <a:rPr lang="en-IN"/>
              <a:t>SS</a:t>
            </a:r>
            <a:r>
              <a:rPr lang="en-IN" spc="15"/>
              <a:t> </a:t>
            </a:r>
            <a:r>
              <a:rPr lang="en-IN" spc="-75"/>
              <a:t>2019</a:t>
            </a:r>
            <a:endParaRPr spc="-53" dirty="0"/>
          </a:p>
        </p:txBody>
      </p:sp>
      <p:sp>
        <p:nvSpPr>
          <p:cNvPr id="7" name="object 7"/>
          <p:cNvSpPr txBox="1">
            <a:spLocks noGrp="1"/>
          </p:cNvSpPr>
          <p:nvPr>
            <p:ph type="sldNum" sz="quarter" idx="7"/>
          </p:nvPr>
        </p:nvSpPr>
        <p:spPr>
          <a:xfrm>
            <a:off x="12344400" y="9253981"/>
            <a:ext cx="519429" cy="325120"/>
          </a:xfrm>
          <a:prstGeom prst="rect">
            <a:avLst/>
          </a:prstGeom>
        </p:spPr>
        <p:txBody>
          <a:bodyPr vert="horz" wrap="square" lIns="0" tIns="0" rIns="0" bIns="0" rtlCol="0">
            <a:spAutoFit/>
          </a:bodyPr>
          <a:lstStyle>
            <a:defPPr>
              <a:defRPr kern="0"/>
            </a:defPPr>
            <a:lvl1pPr>
              <a:defRPr sz="1600" b="0" i="0">
                <a:solidFill>
                  <a:schemeClr val="tx1"/>
                </a:solidFill>
                <a:latin typeface="Arial MT"/>
                <a:cs typeface="Arial MT"/>
              </a:defRPr>
            </a:lvl1pPr>
          </a:lstStyle>
          <a:p>
            <a:pPr marL="355600">
              <a:spcBef>
                <a:spcPts val="45"/>
              </a:spcBef>
            </a:pPr>
            <a:fld id="{81D60167-4931-47E6-BA6A-407CBD079E47}" type="slidenum">
              <a:rPr lang="en-IN" spc="-50" smtClean="0"/>
              <a:pPr marL="355600">
                <a:spcBef>
                  <a:spcPts val="45"/>
                </a:spcBef>
              </a:pPr>
              <a:t>10</a:t>
            </a:fld>
            <a:endParaRPr sz="1406"/>
          </a:p>
        </p:txBody>
      </p:sp>
      <p:sp>
        <p:nvSpPr>
          <p:cNvPr id="2" name="object 2"/>
          <p:cNvSpPr txBox="1"/>
          <p:nvPr/>
        </p:nvSpPr>
        <p:spPr>
          <a:xfrm>
            <a:off x="1684734" y="1160860"/>
            <a:ext cx="8664476" cy="2829661"/>
          </a:xfrm>
          <a:prstGeom prst="rect">
            <a:avLst/>
          </a:prstGeom>
        </p:spPr>
        <p:txBody>
          <a:bodyPr vert="horz" wrap="square" lIns="0" tIns="8930" rIns="0" bIns="0" rtlCol="0">
            <a:spAutoFit/>
          </a:bodyPr>
          <a:lstStyle/>
          <a:p>
            <a:pPr>
              <a:lnSpc>
                <a:spcPct val="100000"/>
              </a:lnSpc>
            </a:pPr>
            <a:endParaRPr sz="2461" dirty="0">
              <a:latin typeface="Tahoma"/>
              <a:cs typeface="Tahoma"/>
            </a:endParaRPr>
          </a:p>
          <a:p>
            <a:pPr>
              <a:spcBef>
                <a:spcPts val="316"/>
              </a:spcBef>
            </a:pPr>
            <a:endParaRPr sz="2461" dirty="0">
              <a:latin typeface="Tahoma"/>
              <a:cs typeface="Tahoma"/>
            </a:endParaRPr>
          </a:p>
          <a:p>
            <a:pPr marL="392446" indent="-294223">
              <a:buChar char="•"/>
              <a:tabLst>
                <a:tab pos="392446" algn="l"/>
              </a:tabLst>
            </a:pPr>
            <a:r>
              <a:rPr sz="2320" spc="-21" dirty="0">
                <a:latin typeface="Tahoma"/>
                <a:cs typeface="Tahoma"/>
              </a:rPr>
              <a:t>L</a:t>
            </a:r>
            <a:r>
              <a:rPr sz="2320" spc="-31" baseline="-7575" dirty="0">
                <a:latin typeface="Tahoma"/>
                <a:cs typeface="Tahoma"/>
              </a:rPr>
              <a:t>1</a:t>
            </a:r>
            <a:r>
              <a:rPr sz="2320" spc="-21" dirty="0">
                <a:latin typeface="Tahoma"/>
                <a:cs typeface="Tahoma"/>
              </a:rPr>
              <a:t>-</a:t>
            </a:r>
            <a:r>
              <a:rPr sz="2320" spc="-56" dirty="0">
                <a:latin typeface="Tahoma"/>
                <a:cs typeface="Tahoma"/>
              </a:rPr>
              <a:t>regularization</a:t>
            </a:r>
            <a:r>
              <a:rPr sz="2320" spc="4" dirty="0">
                <a:latin typeface="Tahoma"/>
                <a:cs typeface="Tahoma"/>
              </a:rPr>
              <a:t> </a:t>
            </a:r>
            <a:r>
              <a:rPr sz="2320" spc="98" dirty="0">
                <a:latin typeface="Tahoma"/>
                <a:cs typeface="Tahoma"/>
              </a:rPr>
              <a:t>=&gt;</a:t>
            </a:r>
            <a:r>
              <a:rPr sz="2320" spc="4" dirty="0">
                <a:latin typeface="Tahoma"/>
                <a:cs typeface="Tahoma"/>
              </a:rPr>
              <a:t> </a:t>
            </a:r>
            <a:r>
              <a:rPr sz="2320" spc="53" dirty="0">
                <a:latin typeface="Tahoma"/>
                <a:cs typeface="Tahoma"/>
              </a:rPr>
              <a:t>LASSO</a:t>
            </a:r>
            <a:r>
              <a:rPr sz="2320" spc="4" dirty="0">
                <a:latin typeface="Tahoma"/>
                <a:cs typeface="Tahoma"/>
              </a:rPr>
              <a:t> </a:t>
            </a:r>
            <a:r>
              <a:rPr sz="2320" spc="-25" dirty="0">
                <a:latin typeface="Tahoma"/>
                <a:cs typeface="Tahoma"/>
              </a:rPr>
              <a:t>regression</a:t>
            </a:r>
            <a:endParaRPr sz="2320" dirty="0">
              <a:latin typeface="Tahoma"/>
              <a:cs typeface="Tahoma"/>
            </a:endParaRPr>
          </a:p>
          <a:p>
            <a:pPr marL="392446" indent="-294223">
              <a:spcBef>
                <a:spcPts val="380"/>
              </a:spcBef>
              <a:buChar char="•"/>
              <a:tabLst>
                <a:tab pos="392446" algn="l"/>
              </a:tabLst>
            </a:pPr>
            <a:r>
              <a:rPr sz="2320" spc="-21" dirty="0">
                <a:latin typeface="Tahoma"/>
                <a:cs typeface="Tahoma"/>
              </a:rPr>
              <a:t>L</a:t>
            </a:r>
            <a:r>
              <a:rPr sz="2320" spc="-31" baseline="-7575" dirty="0">
                <a:latin typeface="Tahoma"/>
                <a:cs typeface="Tahoma"/>
              </a:rPr>
              <a:t>2</a:t>
            </a:r>
            <a:r>
              <a:rPr sz="2320" spc="-21" dirty="0">
                <a:latin typeface="Tahoma"/>
                <a:cs typeface="Tahoma"/>
              </a:rPr>
              <a:t>-</a:t>
            </a:r>
            <a:r>
              <a:rPr sz="2320" spc="-56" dirty="0">
                <a:latin typeface="Tahoma"/>
                <a:cs typeface="Tahoma"/>
              </a:rPr>
              <a:t>regularization</a:t>
            </a:r>
            <a:r>
              <a:rPr sz="2320" spc="-74" dirty="0">
                <a:latin typeface="Tahoma"/>
                <a:cs typeface="Tahoma"/>
              </a:rPr>
              <a:t> </a:t>
            </a:r>
            <a:r>
              <a:rPr sz="2320" spc="98" dirty="0">
                <a:latin typeface="Tahoma"/>
                <a:cs typeface="Tahoma"/>
              </a:rPr>
              <a:t>=&gt;</a:t>
            </a:r>
            <a:r>
              <a:rPr sz="2320" spc="-70" dirty="0">
                <a:latin typeface="Tahoma"/>
                <a:cs typeface="Tahoma"/>
              </a:rPr>
              <a:t> </a:t>
            </a:r>
            <a:r>
              <a:rPr sz="2320" spc="-35" dirty="0">
                <a:latin typeface="Tahoma"/>
                <a:cs typeface="Tahoma"/>
              </a:rPr>
              <a:t>Ridge</a:t>
            </a:r>
            <a:r>
              <a:rPr sz="2320" spc="-74" dirty="0">
                <a:latin typeface="Tahoma"/>
                <a:cs typeface="Tahoma"/>
              </a:rPr>
              <a:t> </a:t>
            </a:r>
            <a:r>
              <a:rPr sz="2320" spc="-95" dirty="0">
                <a:latin typeface="Tahoma"/>
                <a:cs typeface="Tahoma"/>
              </a:rPr>
              <a:t>regression</a:t>
            </a:r>
            <a:r>
              <a:rPr sz="2320" spc="-70" dirty="0">
                <a:latin typeface="Tahoma"/>
                <a:cs typeface="Tahoma"/>
              </a:rPr>
              <a:t> </a:t>
            </a:r>
            <a:r>
              <a:rPr sz="2320" spc="-14" dirty="0">
                <a:latin typeface="Tahoma"/>
                <a:cs typeface="Tahoma"/>
              </a:rPr>
              <a:t>(Thikonov</a:t>
            </a:r>
            <a:r>
              <a:rPr sz="2320" spc="-70" dirty="0">
                <a:latin typeface="Tahoma"/>
                <a:cs typeface="Tahoma"/>
              </a:rPr>
              <a:t> </a:t>
            </a:r>
            <a:r>
              <a:rPr sz="2320" spc="-7" dirty="0">
                <a:latin typeface="Tahoma"/>
                <a:cs typeface="Tahoma"/>
              </a:rPr>
              <a:t>regularization)</a:t>
            </a:r>
            <a:endParaRPr sz="2320" dirty="0">
              <a:latin typeface="Tahoma"/>
              <a:cs typeface="Tahoma"/>
            </a:endParaRPr>
          </a:p>
          <a:p>
            <a:pPr>
              <a:lnSpc>
                <a:spcPct val="100000"/>
              </a:lnSpc>
            </a:pPr>
            <a:endParaRPr sz="2320" dirty="0">
              <a:latin typeface="Tahoma"/>
              <a:cs typeface="Tahoma"/>
            </a:endParaRPr>
          </a:p>
          <a:p>
            <a:pPr>
              <a:spcBef>
                <a:spcPts val="1315"/>
              </a:spcBef>
            </a:pPr>
            <a:endParaRPr sz="2320" dirty="0">
              <a:latin typeface="Tahoma"/>
              <a:cs typeface="Tahoma"/>
            </a:endParaRPr>
          </a:p>
          <a:p>
            <a:pPr marL="17859">
              <a:tabLst>
                <a:tab pos="4617377" algn="l"/>
              </a:tabLst>
            </a:pPr>
            <a:r>
              <a:rPr sz="2461" spc="-35" dirty="0">
                <a:latin typeface="Tahoma"/>
                <a:cs typeface="Tahoma"/>
              </a:rPr>
              <a:t>Basically,</a:t>
            </a:r>
            <a:r>
              <a:rPr sz="2461" spc="-112" dirty="0">
                <a:latin typeface="Tahoma"/>
                <a:cs typeface="Tahoma"/>
              </a:rPr>
              <a:t> </a:t>
            </a:r>
            <a:r>
              <a:rPr sz="2461" dirty="0">
                <a:latin typeface="Tahoma"/>
                <a:cs typeface="Tahoma"/>
              </a:rPr>
              <a:t>a</a:t>
            </a:r>
            <a:r>
              <a:rPr sz="2461" spc="-109" dirty="0">
                <a:latin typeface="Tahoma"/>
                <a:cs typeface="Tahoma"/>
              </a:rPr>
              <a:t> </a:t>
            </a:r>
            <a:r>
              <a:rPr sz="2461" spc="-21" dirty="0">
                <a:latin typeface="Tahoma"/>
                <a:cs typeface="Tahoma"/>
              </a:rPr>
              <a:t>"weight</a:t>
            </a:r>
            <a:r>
              <a:rPr sz="2461" spc="-112" dirty="0">
                <a:latin typeface="Tahoma"/>
                <a:cs typeface="Tahoma"/>
              </a:rPr>
              <a:t> </a:t>
            </a:r>
            <a:r>
              <a:rPr sz="2461" spc="-60" dirty="0">
                <a:latin typeface="Tahoma"/>
                <a:cs typeface="Tahoma"/>
              </a:rPr>
              <a:t>shrinkage"</a:t>
            </a:r>
            <a:r>
              <a:rPr sz="2461" spc="-109" dirty="0">
                <a:latin typeface="Tahoma"/>
                <a:cs typeface="Tahoma"/>
              </a:rPr>
              <a:t> </a:t>
            </a:r>
            <a:r>
              <a:rPr sz="2461" spc="-25" dirty="0">
                <a:latin typeface="Tahoma"/>
                <a:cs typeface="Tahoma"/>
              </a:rPr>
              <a:t>or</a:t>
            </a:r>
            <a:r>
              <a:rPr sz="2461" dirty="0">
                <a:latin typeface="Tahoma"/>
                <a:cs typeface="Tahoma"/>
              </a:rPr>
              <a:t>	a</a:t>
            </a:r>
            <a:r>
              <a:rPr sz="2461" spc="-105" dirty="0">
                <a:latin typeface="Tahoma"/>
                <a:cs typeface="Tahoma"/>
              </a:rPr>
              <a:t> </a:t>
            </a:r>
            <a:r>
              <a:rPr sz="2461" spc="-18" dirty="0">
                <a:latin typeface="Tahoma"/>
                <a:cs typeface="Tahoma"/>
              </a:rPr>
              <a:t>"penalty</a:t>
            </a:r>
            <a:r>
              <a:rPr sz="2461" spc="-105" dirty="0">
                <a:latin typeface="Tahoma"/>
                <a:cs typeface="Tahoma"/>
              </a:rPr>
              <a:t> </a:t>
            </a:r>
            <a:r>
              <a:rPr sz="2461" spc="-56" dirty="0">
                <a:latin typeface="Tahoma"/>
                <a:cs typeface="Tahoma"/>
              </a:rPr>
              <a:t>against</a:t>
            </a:r>
            <a:r>
              <a:rPr sz="2461" spc="-105" dirty="0">
                <a:latin typeface="Tahoma"/>
                <a:cs typeface="Tahoma"/>
              </a:rPr>
              <a:t> </a:t>
            </a:r>
            <a:r>
              <a:rPr sz="2461" spc="-25" dirty="0">
                <a:latin typeface="Tahoma"/>
                <a:cs typeface="Tahoma"/>
              </a:rPr>
              <a:t>complexity"</a:t>
            </a:r>
            <a:endParaRPr sz="2461" dirty="0">
              <a:latin typeface="Tahoma"/>
              <a:cs typeface="Tahoma"/>
            </a:endParaRPr>
          </a:p>
        </p:txBody>
      </p:sp>
      <p:sp>
        <p:nvSpPr>
          <p:cNvPr id="3" name="object 3"/>
          <p:cNvSpPr txBox="1">
            <a:spLocks noGrp="1"/>
          </p:cNvSpPr>
          <p:nvPr>
            <p:ph type="title"/>
          </p:nvPr>
        </p:nvSpPr>
        <p:spPr>
          <a:xfrm>
            <a:off x="4534867" y="287642"/>
            <a:ext cx="3122265" cy="686126"/>
          </a:xfrm>
          <a:prstGeom prst="rect">
            <a:avLst/>
          </a:prstGeom>
        </p:spPr>
        <p:txBody>
          <a:bodyPr vert="horz" wrap="square" lIns="0" tIns="8930" rIns="0" bIns="0" rtlCol="0" anchor="ctr">
            <a:spAutoFit/>
          </a:bodyPr>
          <a:lstStyle/>
          <a:p>
            <a:pPr marL="17859">
              <a:lnSpc>
                <a:spcPct val="100000"/>
              </a:lnSpc>
              <a:spcBef>
                <a:spcPts val="70"/>
              </a:spcBef>
              <a:tabLst>
                <a:tab pos="959014" algn="l"/>
              </a:tabLst>
            </a:pPr>
            <a:r>
              <a:rPr spc="-7" dirty="0"/>
              <a:t>L</a:t>
            </a:r>
            <a:r>
              <a:rPr sz="3006" spc="-11" baseline="-8771" dirty="0"/>
              <a:t>1</a:t>
            </a:r>
            <a:r>
              <a:rPr sz="3023" spc="-7" dirty="0"/>
              <a:t>/L</a:t>
            </a:r>
            <a:r>
              <a:rPr sz="3006" spc="-11" baseline="-8771" dirty="0"/>
              <a:t>2</a:t>
            </a:r>
            <a:r>
              <a:rPr sz="3006" baseline="-8771" dirty="0"/>
              <a:t>	</a:t>
            </a:r>
            <a:r>
              <a:rPr sz="3023" spc="-267" dirty="0"/>
              <a:t>Regularization</a:t>
            </a:r>
            <a:endParaRPr sz="302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3AED-4DE5-412D-ACE6-B6029D8C69C3}"/>
              </a:ext>
            </a:extLst>
          </p:cNvPr>
          <p:cNvSpPr>
            <a:spLocks noGrp="1"/>
          </p:cNvSpPr>
          <p:nvPr>
            <p:ph type="title"/>
          </p:nvPr>
        </p:nvSpPr>
        <p:spPr/>
        <p:txBody>
          <a:bodyPr/>
          <a:lstStyle/>
          <a:p>
            <a:r>
              <a:rPr lang="en-IN" b="1" i="0" dirty="0">
                <a:solidFill>
                  <a:srgbClr val="4A4A4A"/>
                </a:solidFill>
                <a:effectLst/>
                <a:latin typeface="Open Sans" panose="020B0606030504020204" pitchFamily="34" charset="0"/>
              </a:rPr>
              <a:t>Ridge Regression (L2 Regularization)</a:t>
            </a:r>
            <a:endParaRPr lang="en-IN" dirty="0"/>
          </a:p>
        </p:txBody>
      </p:sp>
      <p:sp>
        <p:nvSpPr>
          <p:cNvPr id="3" name="Content Placeholder 2">
            <a:extLst>
              <a:ext uri="{FF2B5EF4-FFF2-40B4-BE49-F238E27FC236}">
                <a16:creationId xmlns:a16="http://schemas.microsoft.com/office/drawing/2014/main" id="{79D3AA0F-D161-46DB-9A1A-E99C77D73295}"/>
              </a:ext>
            </a:extLst>
          </p:cNvPr>
          <p:cNvSpPr>
            <a:spLocks noGrp="1"/>
          </p:cNvSpPr>
          <p:nvPr>
            <p:ph idx="1"/>
          </p:nvPr>
        </p:nvSpPr>
        <p:spPr>
          <a:xfrm>
            <a:off x="710979" y="1825625"/>
            <a:ext cx="10515600" cy="4351338"/>
          </a:xfrm>
        </p:spPr>
        <p:txBody>
          <a:bodyPr/>
          <a:lstStyle/>
          <a:p>
            <a:r>
              <a:rPr lang="en-US" sz="2400" b="0" i="0" dirty="0">
                <a:solidFill>
                  <a:srgbClr val="4A4A4A"/>
                </a:solidFill>
                <a:effectLst/>
                <a:latin typeface="Open Sans" panose="020B0606030504020204" pitchFamily="34" charset="0"/>
              </a:rPr>
              <a:t>Ridge regression  modifies the mean squared error in regression by adding the penalty (shrinkage quantity) equivalent to the square of the magnitude of coefficients.</a:t>
            </a:r>
          </a:p>
          <a:p>
            <a:endParaRPr lang="en-US" dirty="0">
              <a:solidFill>
                <a:srgbClr val="4A4A4A"/>
              </a:solidFill>
              <a:latin typeface="Open Sans" panose="020B0606030504020204" pitchFamily="34" charset="0"/>
            </a:endParaRPr>
          </a:p>
          <a:p>
            <a:pPr lvl="8"/>
            <a:endParaRPr lang="en-IN" dirty="0"/>
          </a:p>
        </p:txBody>
      </p:sp>
      <p:pic>
        <p:nvPicPr>
          <p:cNvPr id="2050" name="Picture 2" descr="Linear Regression. What is Linear Regression? | by Jorge Leonel | Medium">
            <a:extLst>
              <a:ext uri="{FF2B5EF4-FFF2-40B4-BE49-F238E27FC236}">
                <a16:creationId xmlns:a16="http://schemas.microsoft.com/office/drawing/2014/main" id="{D9528A08-5694-4E9E-9E5F-089D406735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8029" y="3166613"/>
            <a:ext cx="2395466" cy="78448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AC457AD-8A18-45AF-AC98-7BB65610DD4B}"/>
                  </a:ext>
                </a:extLst>
              </p:cNvPr>
              <p:cNvSpPr txBox="1"/>
              <p:nvPr/>
            </p:nvSpPr>
            <p:spPr>
              <a:xfrm>
                <a:off x="5468799" y="4358888"/>
                <a:ext cx="189924" cy="756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IN"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IN" i="1" smtClean="0">
                                  <a:latin typeface="Cambria Math" panose="02040503050406030204" pitchFamily="18" charset="0"/>
                                </a:rPr>
                              </m:ctrlPr>
                            </m:sSupPr>
                            <m:e>
                              <m:r>
                                <a:rPr lang="en-US" b="0" i="1" smtClean="0">
                                  <a:latin typeface="Cambria Math" panose="02040503050406030204" pitchFamily="18" charset="0"/>
                                </a:rPr>
                                <m:t>(</m:t>
                              </m:r>
                              <m:sSub>
                                <m:sSubPr>
                                  <m:ctrlPr>
                                    <a:rPr lang="en-IN"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𝑌</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acc>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𝛌</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𝑠𝑙𝑜𝑝𝑒</m:t>
                              </m:r>
                              <m:r>
                                <a:rPr lang="en-US" b="0" i="1" smtClean="0">
                                  <a:latin typeface="Cambria Math" panose="02040503050406030204" pitchFamily="18" charset="0"/>
                                </a:rPr>
                                <m:t>)</m:t>
                              </m:r>
                            </m:e>
                            <m:sup>
                              <m:r>
                                <a:rPr lang="en-US" b="0" i="1" smtClean="0">
                                  <a:latin typeface="Cambria Math" panose="02040503050406030204" pitchFamily="18" charset="0"/>
                                </a:rPr>
                                <m:t>2</m:t>
                              </m:r>
                            </m:sup>
                          </m:sSup>
                        </m:e>
                      </m:nary>
                    </m:oMath>
                  </m:oMathPara>
                </a14:m>
                <a:endParaRPr lang="en-IN" dirty="0"/>
              </a:p>
            </p:txBody>
          </p:sp>
        </mc:Choice>
        <mc:Fallback xmlns="">
          <p:sp>
            <p:nvSpPr>
              <p:cNvPr id="7" name="TextBox 6">
                <a:extLst>
                  <a:ext uri="{FF2B5EF4-FFF2-40B4-BE49-F238E27FC236}">
                    <a16:creationId xmlns:a16="http://schemas.microsoft.com/office/drawing/2014/main" id="{4AC457AD-8A18-45AF-AC98-7BB65610DD4B}"/>
                  </a:ext>
                </a:extLst>
              </p:cNvPr>
              <p:cNvSpPr txBox="1">
                <a:spLocks noRot="1" noChangeAspect="1" noMove="1" noResize="1" noEditPoints="1" noAdjustHandles="1" noChangeArrowheads="1" noChangeShapeType="1" noTextEdit="1"/>
              </p:cNvSpPr>
              <p:nvPr/>
            </p:nvSpPr>
            <p:spPr>
              <a:xfrm>
                <a:off x="5468799" y="4358888"/>
                <a:ext cx="189924" cy="756233"/>
              </a:xfrm>
              <a:prstGeom prst="rect">
                <a:avLst/>
              </a:prstGeom>
              <a:blipFill>
                <a:blip r:embed="rId3"/>
                <a:stretch>
                  <a:fillRect r="-1241935"/>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FABA4CC9-6B4C-468F-92E2-8E2FF9F54933}"/>
              </a:ext>
            </a:extLst>
          </p:cNvPr>
          <p:cNvSpPr txBox="1"/>
          <p:nvPr/>
        </p:nvSpPr>
        <p:spPr>
          <a:xfrm>
            <a:off x="2933843" y="3393557"/>
            <a:ext cx="2317071" cy="369332"/>
          </a:xfrm>
          <a:prstGeom prst="rect">
            <a:avLst/>
          </a:prstGeom>
          <a:noFill/>
        </p:spPr>
        <p:txBody>
          <a:bodyPr wrap="square" rtlCol="0">
            <a:spAutoFit/>
          </a:bodyPr>
          <a:lstStyle/>
          <a:p>
            <a:r>
              <a:rPr lang="en-US" dirty="0"/>
              <a:t>Normal Loss function</a:t>
            </a:r>
            <a:endParaRPr lang="en-IN"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ED9A954-C722-48A1-9842-3EEA89C2EA30}"/>
                  </a:ext>
                </a:extLst>
              </p:cNvPr>
              <p:cNvSpPr txBox="1"/>
              <p:nvPr/>
            </p:nvSpPr>
            <p:spPr>
              <a:xfrm>
                <a:off x="5329309" y="5276710"/>
                <a:ext cx="4536490" cy="369332"/>
              </a:xfrm>
              <a:prstGeom prst="rect">
                <a:avLst/>
              </a:prstGeom>
              <a:noFill/>
            </p:spPr>
            <p:txBody>
              <a:bodyPr wrap="square" rtlCol="0">
                <a:spAutoFit/>
              </a:bodyPr>
              <a:lstStyle/>
              <a:p>
                <a:r>
                  <a:rPr lang="en-US" dirty="0"/>
                  <a:t>Normal Loss function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2</m:t>
                        </m:r>
                      </m:sub>
                    </m:sSub>
                  </m:oMath>
                </a14:m>
                <a:r>
                  <a:rPr lang="en-US" dirty="0"/>
                  <a:t>Regularization term</a:t>
                </a:r>
                <a:endParaRPr lang="en-IN" dirty="0"/>
              </a:p>
            </p:txBody>
          </p:sp>
        </mc:Choice>
        <mc:Fallback xmlns="">
          <p:sp>
            <p:nvSpPr>
              <p:cNvPr id="10" name="TextBox 9">
                <a:extLst>
                  <a:ext uri="{FF2B5EF4-FFF2-40B4-BE49-F238E27FC236}">
                    <a16:creationId xmlns:a16="http://schemas.microsoft.com/office/drawing/2014/main" id="{6ED9A954-C722-48A1-9842-3EEA89C2EA30}"/>
                  </a:ext>
                </a:extLst>
              </p:cNvPr>
              <p:cNvSpPr txBox="1">
                <a:spLocks noRot="1" noChangeAspect="1" noMove="1" noResize="1" noEditPoints="1" noAdjustHandles="1" noChangeArrowheads="1" noChangeShapeType="1" noTextEdit="1"/>
              </p:cNvSpPr>
              <p:nvPr/>
            </p:nvSpPr>
            <p:spPr>
              <a:xfrm>
                <a:off x="5329309" y="5276710"/>
                <a:ext cx="4536490" cy="369332"/>
              </a:xfrm>
              <a:prstGeom prst="rect">
                <a:avLst/>
              </a:prstGeom>
              <a:blipFill>
                <a:blip r:embed="rId4"/>
                <a:stretch>
                  <a:fillRect l="-1075" t="-10000" b="-26667"/>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0758DDF4-07B2-4274-88FF-330ED509BC9B}"/>
              </a:ext>
            </a:extLst>
          </p:cNvPr>
          <p:cNvSpPr txBox="1"/>
          <p:nvPr/>
        </p:nvSpPr>
        <p:spPr>
          <a:xfrm>
            <a:off x="1725116" y="4515683"/>
            <a:ext cx="3870663" cy="646331"/>
          </a:xfrm>
          <a:prstGeom prst="rect">
            <a:avLst/>
          </a:prstGeom>
          <a:noFill/>
        </p:spPr>
        <p:txBody>
          <a:bodyPr wrap="square" rtlCol="0">
            <a:spAutoFit/>
          </a:bodyPr>
          <a:lstStyle/>
          <a:p>
            <a:r>
              <a:rPr lang="en-US" dirty="0"/>
              <a:t>Normal Loss function+ Regularization term=</a:t>
            </a:r>
            <a:endParaRPr lang="en-IN" dirty="0"/>
          </a:p>
        </p:txBody>
      </p:sp>
      <p:cxnSp>
        <p:nvCxnSpPr>
          <p:cNvPr id="12" name="Straight Arrow Connector 11">
            <a:extLst>
              <a:ext uri="{FF2B5EF4-FFF2-40B4-BE49-F238E27FC236}">
                <a16:creationId xmlns:a16="http://schemas.microsoft.com/office/drawing/2014/main" id="{9AFD3E59-B987-4FA1-9F0D-D0137B143344}"/>
              </a:ext>
            </a:extLst>
          </p:cNvPr>
          <p:cNvCxnSpPr/>
          <p:nvPr/>
        </p:nvCxnSpPr>
        <p:spPr>
          <a:xfrm>
            <a:off x="6596109" y="4953740"/>
            <a:ext cx="0" cy="3229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E2FDB6C-F730-424F-AD84-31EBE2149B2F}"/>
              </a:ext>
            </a:extLst>
          </p:cNvPr>
          <p:cNvCxnSpPr/>
          <p:nvPr/>
        </p:nvCxnSpPr>
        <p:spPr>
          <a:xfrm>
            <a:off x="7158109" y="4341193"/>
            <a:ext cx="0" cy="3229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ight Brace 3">
            <a:extLst>
              <a:ext uri="{FF2B5EF4-FFF2-40B4-BE49-F238E27FC236}">
                <a16:creationId xmlns:a16="http://schemas.microsoft.com/office/drawing/2014/main" id="{17428AE8-6469-4FF1-BDCE-F359671F9CDF}"/>
              </a:ext>
            </a:extLst>
          </p:cNvPr>
          <p:cNvSpPr/>
          <p:nvPr/>
        </p:nvSpPr>
        <p:spPr>
          <a:xfrm rot="5400000">
            <a:off x="7328832" y="4393769"/>
            <a:ext cx="409326" cy="108668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TextBox 4">
            <a:extLst>
              <a:ext uri="{FF2B5EF4-FFF2-40B4-BE49-F238E27FC236}">
                <a16:creationId xmlns:a16="http://schemas.microsoft.com/office/drawing/2014/main" id="{C99C1303-00E2-43E0-984F-3C7BB7D51CD8}"/>
              </a:ext>
            </a:extLst>
          </p:cNvPr>
          <p:cNvSpPr txBox="1"/>
          <p:nvPr/>
        </p:nvSpPr>
        <p:spPr>
          <a:xfrm>
            <a:off x="6208556" y="4016860"/>
            <a:ext cx="4536483" cy="307777"/>
          </a:xfrm>
          <a:prstGeom prst="rect">
            <a:avLst/>
          </a:prstGeom>
          <a:noFill/>
        </p:spPr>
        <p:txBody>
          <a:bodyPr wrap="square" rtlCol="0">
            <a:spAutoFit/>
          </a:bodyPr>
          <a:lstStyle/>
          <a:p>
            <a:r>
              <a:rPr lang="en-US" sz="1400" b="0" i="0" dirty="0">
                <a:solidFill>
                  <a:srgbClr val="FF0000"/>
                </a:solidFill>
                <a:effectLst/>
                <a:latin typeface="Open Sans" panose="020B0606030504020204" pitchFamily="34" charset="0"/>
              </a:rPr>
              <a:t>tuning parameter</a:t>
            </a:r>
            <a:r>
              <a:rPr lang="en-US" sz="1400" dirty="0">
                <a:solidFill>
                  <a:srgbClr val="FF0000"/>
                </a:solidFill>
                <a:latin typeface="Open Sans" panose="020B0606030504020204" pitchFamily="34" charset="0"/>
              </a:rPr>
              <a:t>/regularization parameter</a:t>
            </a:r>
            <a:endParaRPr lang="en-IN" sz="1400" dirty="0">
              <a:solidFill>
                <a:srgbClr val="FF0000"/>
              </a:solidFill>
            </a:endParaRPr>
          </a:p>
        </p:txBody>
      </p:sp>
      <p:sp>
        <p:nvSpPr>
          <p:cNvPr id="18" name="Rectangle 5">
            <a:extLst>
              <a:ext uri="{FF2B5EF4-FFF2-40B4-BE49-F238E27FC236}">
                <a16:creationId xmlns:a16="http://schemas.microsoft.com/office/drawing/2014/main" id="{F8CB7DC1-FDB5-56E0-B190-BC12C572DD9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11111"/>
                </a:solidFill>
                <a:effectLst/>
                <a:latin typeface="Helvetica" panose="020B0604020202020204" pitchFamily="34" charset="0"/>
              </a:rPr>
              <a:t>In addition, we can control the regularization strength via the regularization parameter </a:t>
            </a:r>
            <a:r>
              <a:rPr kumimoji="0" lang="en-US" altLang="en-US" sz="1400" b="0" i="0" u="none" strike="noStrike" cap="none" normalizeH="0" baseline="0">
                <a:ln>
                  <a:noFill/>
                </a:ln>
                <a:solidFill>
                  <a:srgbClr val="111111"/>
                </a:solidFill>
                <a:effectLst/>
                <a:latin typeface="MathJax_Math-italic"/>
              </a:rPr>
              <a:t>λ</a:t>
            </a:r>
            <a:r>
              <a:rPr kumimoji="0" lang="en-US" altLang="en-US" sz="1200" b="0" i="0" u="none" strike="noStrike" cap="none" normalizeH="0" baseline="0">
                <a:ln>
                  <a:noFill/>
                </a:ln>
                <a:solidFill>
                  <a:srgbClr val="111111"/>
                </a:solidFill>
                <a:effectLst/>
                <a:latin typeface="Helvetica" panose="020B0604020202020204" pitchFamily="34" charset="0"/>
              </a:rPr>
              <a:t>�. The larger the value of </a:t>
            </a:r>
            <a:r>
              <a:rPr kumimoji="0" lang="en-US" altLang="en-US" sz="1400" b="0" i="0" u="none" strike="noStrike" cap="none" normalizeH="0" baseline="0">
                <a:ln>
                  <a:noFill/>
                </a:ln>
                <a:solidFill>
                  <a:srgbClr val="111111"/>
                </a:solidFill>
                <a:effectLst/>
                <a:latin typeface="MathJax_Math-italic"/>
              </a:rPr>
              <a:t>λ</a:t>
            </a:r>
            <a:r>
              <a:rPr kumimoji="0" lang="en-US" altLang="en-US" sz="1200" b="0" i="0" u="none" strike="noStrike" cap="none" normalizeH="0" baseline="0">
                <a:ln>
                  <a:noFill/>
                </a:ln>
                <a:solidFill>
                  <a:srgbClr val="111111"/>
                </a:solidFill>
                <a:effectLst/>
                <a:latin typeface="Helvetica" panose="020B0604020202020204" pitchFamily="34" charset="0"/>
              </a:rPr>
              <a:t>�, the stronger the regularization of the model. The weight coefficients approach 0 when </a:t>
            </a:r>
            <a:r>
              <a:rPr kumimoji="0" lang="en-US" altLang="en-US" sz="1400" b="0" i="0" u="none" strike="noStrike" cap="none" normalizeH="0" baseline="0">
                <a:ln>
                  <a:noFill/>
                </a:ln>
                <a:solidFill>
                  <a:srgbClr val="111111"/>
                </a:solidFill>
                <a:effectLst/>
                <a:latin typeface="MathJax_Math-italic"/>
              </a:rPr>
              <a:t>λ</a:t>
            </a:r>
            <a:r>
              <a:rPr kumimoji="0" lang="en-US" altLang="en-US" sz="1200" b="0" i="0" u="none" strike="noStrike" cap="none" normalizeH="0" baseline="0">
                <a:ln>
                  <a:noFill/>
                </a:ln>
                <a:solidFill>
                  <a:srgbClr val="111111"/>
                </a:solidFill>
                <a:effectLst/>
                <a:latin typeface="Helvetica" panose="020B0604020202020204" pitchFamily="34" charset="0"/>
              </a:rPr>
              <a:t>� goes towards infinity.</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C4EC8EB7-B2FB-F75C-5449-272C705BBE69}"/>
              </a:ext>
            </a:extLst>
          </p:cNvPr>
          <p:cNvPicPr>
            <a:picLocks noChangeAspect="1"/>
          </p:cNvPicPr>
          <p:nvPr/>
        </p:nvPicPr>
        <p:blipFill>
          <a:blip r:embed="rId5"/>
          <a:stretch>
            <a:fillRect/>
          </a:stretch>
        </p:blipFill>
        <p:spPr>
          <a:xfrm>
            <a:off x="1145737" y="5820682"/>
            <a:ext cx="9025971" cy="941953"/>
          </a:xfrm>
          <a:prstGeom prst="rect">
            <a:avLst/>
          </a:prstGeom>
        </p:spPr>
      </p:pic>
    </p:spTree>
    <p:extLst>
      <p:ext uri="{BB962C8B-B14F-4D97-AF65-F5344CB8AC3E}">
        <p14:creationId xmlns:p14="http://schemas.microsoft.com/office/powerpoint/2010/main" val="4166905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2CBAE-764B-F3FD-78C1-991BA3143547}"/>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1E8831B9-1E19-423E-6E39-C6DEC3311EE5}"/>
              </a:ext>
            </a:extLst>
          </p:cNvPr>
          <p:cNvPicPr>
            <a:picLocks noGrp="1" noChangeAspect="1"/>
          </p:cNvPicPr>
          <p:nvPr>
            <p:ph idx="1"/>
          </p:nvPr>
        </p:nvPicPr>
        <p:blipFill>
          <a:blip r:embed="rId2"/>
          <a:stretch>
            <a:fillRect/>
          </a:stretch>
        </p:blipFill>
        <p:spPr>
          <a:xfrm>
            <a:off x="983970" y="1690688"/>
            <a:ext cx="10044858" cy="4652963"/>
          </a:xfrm>
        </p:spPr>
      </p:pic>
      <p:cxnSp>
        <p:nvCxnSpPr>
          <p:cNvPr id="4" name="Straight Arrow Connector 3">
            <a:extLst>
              <a:ext uri="{FF2B5EF4-FFF2-40B4-BE49-F238E27FC236}">
                <a16:creationId xmlns:a16="http://schemas.microsoft.com/office/drawing/2014/main" id="{3F5B6296-B34A-1806-7DB1-91364E35488E}"/>
              </a:ext>
            </a:extLst>
          </p:cNvPr>
          <p:cNvCxnSpPr>
            <a:cxnSpLocks/>
          </p:cNvCxnSpPr>
          <p:nvPr/>
        </p:nvCxnSpPr>
        <p:spPr>
          <a:xfrm flipV="1">
            <a:off x="5584723" y="3696929"/>
            <a:ext cx="0" cy="320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B359EFD-260B-57B3-4185-FFB7DA7A15D7}"/>
              </a:ext>
            </a:extLst>
          </p:cNvPr>
          <p:cNvSpPr txBox="1"/>
          <p:nvPr/>
        </p:nvSpPr>
        <p:spPr>
          <a:xfrm>
            <a:off x="4742954" y="3878670"/>
            <a:ext cx="2526890" cy="276999"/>
          </a:xfrm>
          <a:prstGeom prst="rect">
            <a:avLst/>
          </a:prstGeom>
          <a:noFill/>
        </p:spPr>
        <p:txBody>
          <a:bodyPr wrap="square" rtlCol="0">
            <a:spAutoFit/>
          </a:bodyPr>
          <a:lstStyle/>
          <a:p>
            <a:r>
              <a:rPr lang="en-US" sz="1200" dirty="0"/>
              <a:t>L2 norm of weight vector</a:t>
            </a:r>
          </a:p>
        </p:txBody>
      </p:sp>
    </p:spTree>
    <p:extLst>
      <p:ext uri="{BB962C8B-B14F-4D97-AF65-F5344CB8AC3E}">
        <p14:creationId xmlns:p14="http://schemas.microsoft.com/office/powerpoint/2010/main" val="450482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57D4D-00FA-2D21-5C17-414D5E88C097}"/>
              </a:ext>
            </a:extLst>
          </p:cNvPr>
          <p:cNvSpPr>
            <a:spLocks noGrp="1"/>
          </p:cNvSpPr>
          <p:nvPr>
            <p:ph type="title"/>
          </p:nvPr>
        </p:nvSpPr>
        <p:spPr/>
        <p:txBody>
          <a:bodyPr/>
          <a:lstStyle/>
          <a:p>
            <a:r>
              <a:rPr lang="en-IN" dirty="0"/>
              <a:t>Geometric interpretation of L2 Regularization</a:t>
            </a:r>
          </a:p>
        </p:txBody>
      </p:sp>
      <p:pic>
        <p:nvPicPr>
          <p:cNvPr id="2050" name="Picture 2" descr="How do we regularize generalized linear models?">
            <a:extLst>
              <a:ext uri="{FF2B5EF4-FFF2-40B4-BE49-F238E27FC236}">
                <a16:creationId xmlns:a16="http://schemas.microsoft.com/office/drawing/2014/main" id="{56986DB7-950E-4020-F88F-55B33FEC3C2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3549" y="1825625"/>
            <a:ext cx="5685959"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1E35AB-6E39-FBB6-17A6-68A05D622860}"/>
              </a:ext>
            </a:extLst>
          </p:cNvPr>
          <p:cNvSpPr txBox="1"/>
          <p:nvPr/>
        </p:nvSpPr>
        <p:spPr>
          <a:xfrm>
            <a:off x="7511845" y="2136338"/>
            <a:ext cx="426720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Grey ball shape: represents L2 regularization term</a:t>
            </a:r>
          </a:p>
          <a:p>
            <a:pPr marL="285750" indent="-285750">
              <a:buFont typeface="Arial" panose="020B0604020202020204" pitchFamily="34" charset="0"/>
              <a:buChar char="•"/>
            </a:pPr>
            <a:r>
              <a:rPr lang="en-US" dirty="0"/>
              <a:t>Weight coefficients cannot fall outside shaded area, at the same time we want to reduce the error</a:t>
            </a:r>
          </a:p>
          <a:p>
            <a:pPr marL="285750" indent="-285750">
              <a:buFont typeface="Arial" panose="020B0604020202020204" pitchFamily="34" charset="0"/>
              <a:buChar char="•"/>
            </a:pPr>
            <a:r>
              <a:rPr lang="en-US" dirty="0"/>
              <a:t>Under the penalty constraint, our best effort is to use the point where L2 ball intersects with the contours of the unpenalized loss function.</a:t>
            </a:r>
          </a:p>
        </p:txBody>
      </p:sp>
    </p:spTree>
    <p:extLst>
      <p:ext uri="{BB962C8B-B14F-4D97-AF65-F5344CB8AC3E}">
        <p14:creationId xmlns:p14="http://schemas.microsoft.com/office/powerpoint/2010/main" val="877100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585CD-1AAB-4F97-8101-242A253F3771}"/>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5408A0-67E0-48A0-AAD4-19DC4FCF1D6B}"/>
                  </a:ext>
                </a:extLst>
              </p:cNvPr>
              <p:cNvSpPr>
                <a:spLocks noGrp="1"/>
              </p:cNvSpPr>
              <p:nvPr>
                <p:ph idx="1"/>
              </p:nvPr>
            </p:nvSpPr>
            <p:spPr/>
            <p:txBody>
              <a:bodyPr/>
              <a:lstStyle/>
              <a:p>
                <a:pPr algn="just"/>
                <a:r>
                  <a:rPr lang="en-US" b="0" i="0" dirty="0">
                    <a:solidFill>
                      <a:srgbClr val="4A4A4A"/>
                    </a:solidFill>
                    <a:effectLst/>
                    <a:latin typeface="Open Sans" panose="020B0606030504020204" pitchFamily="34" charset="0"/>
                  </a:rPr>
                  <a:t>Now, the coefficients are estimated using this modified loss function.</a:t>
                </a:r>
              </a:p>
              <a:p>
                <a:pPr algn="just"/>
                <a:r>
                  <a:rPr lang="en-US" b="0" i="0" dirty="0">
                    <a:solidFill>
                      <a:srgbClr val="4A4A4A"/>
                    </a:solidFill>
                    <a:effectLst/>
                    <a:latin typeface="Open Sans" panose="020B0606030504020204" pitchFamily="34" charset="0"/>
                  </a:rPr>
                  <a:t>In the above equation, you may have noticed the parameter </a:t>
                </a:r>
                <a14:m>
                  <m:oMath xmlns:m="http://schemas.openxmlformats.org/officeDocument/2006/math">
                    <m:r>
                      <a:rPr lang="en-US" b="0" i="1" smtClean="0">
                        <a:latin typeface="Cambria Math" panose="02040503050406030204" pitchFamily="18" charset="0"/>
                      </a:rPr>
                      <m:t>𝛌</m:t>
                    </m:r>
                  </m:oMath>
                </a14:m>
                <a:r>
                  <a:rPr lang="en-US" b="0" i="0" dirty="0">
                    <a:solidFill>
                      <a:srgbClr val="4A4A4A"/>
                    </a:solidFill>
                    <a:effectLst/>
                    <a:latin typeface="Open Sans" panose="020B0606030504020204" pitchFamily="34" charset="0"/>
                  </a:rPr>
                  <a:t> along with shrinkage quantity. This is called a </a:t>
                </a:r>
                <a:r>
                  <a:rPr lang="en-US" b="0" i="0" dirty="0">
                    <a:solidFill>
                      <a:srgbClr val="FF0000"/>
                    </a:solidFill>
                    <a:effectLst/>
                    <a:latin typeface="Open Sans" panose="020B0606030504020204" pitchFamily="34" charset="0"/>
                  </a:rPr>
                  <a:t>tuning parameter</a:t>
                </a:r>
                <a:r>
                  <a:rPr lang="en-US" b="0" i="0" dirty="0">
                    <a:solidFill>
                      <a:srgbClr val="4A4A4A"/>
                    </a:solidFill>
                    <a:effectLst/>
                    <a:latin typeface="Open Sans" panose="020B0606030504020204" pitchFamily="34" charset="0"/>
                  </a:rPr>
                  <a:t> that decides how much we want to penalize our model. In other terms, tuning parameter balances the amount of emphasis given to minimizing MSE vs minimizing the sum of the square of coefficients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𝑠𝑙𝑜𝑝𝑒</m:t>
                        </m:r>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r>
                  <a:rPr lang="en-US" b="0" i="0" dirty="0">
                    <a:solidFill>
                      <a:srgbClr val="4A4A4A"/>
                    </a:solidFill>
                    <a:effectLst/>
                    <a:latin typeface="Open Sans" panose="020B0606030504020204" pitchFamily="34" charset="0"/>
                  </a:rPr>
                  <a:t>.</a:t>
                </a:r>
              </a:p>
              <a:p>
                <a:endParaRPr lang="en-IN" dirty="0"/>
              </a:p>
            </p:txBody>
          </p:sp>
        </mc:Choice>
        <mc:Fallback xmlns="">
          <p:sp>
            <p:nvSpPr>
              <p:cNvPr id="3" name="Content Placeholder 2">
                <a:extLst>
                  <a:ext uri="{FF2B5EF4-FFF2-40B4-BE49-F238E27FC236}">
                    <a16:creationId xmlns:a16="http://schemas.microsoft.com/office/drawing/2014/main" id="{E85408A0-67E0-48A0-AAD4-19DC4FCF1D6B}"/>
                  </a:ext>
                </a:extLst>
              </p:cNvPr>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en-IN">
                    <a:noFill/>
                  </a:rPr>
                  <a:t> </a:t>
                </a:r>
              </a:p>
            </p:txBody>
          </p:sp>
        </mc:Fallback>
      </mc:AlternateContent>
    </p:spTree>
    <p:extLst>
      <p:ext uri="{BB962C8B-B14F-4D97-AF65-F5344CB8AC3E}">
        <p14:creationId xmlns:p14="http://schemas.microsoft.com/office/powerpoint/2010/main" val="3410214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63C3A-D618-4476-B630-C18BC1EFCB62}"/>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B12DFF-7B8C-4894-9D92-C7E239FC8A8D}"/>
                  </a:ext>
                </a:extLst>
              </p:cNvPr>
              <p:cNvSpPr>
                <a:spLocks noGrp="1"/>
              </p:cNvSpPr>
              <p:nvPr>
                <p:ph idx="1"/>
              </p:nvPr>
            </p:nvSpPr>
            <p:spPr/>
            <p:txBody>
              <a:bodyPr>
                <a:normAutofit fontScale="85000" lnSpcReduction="20000"/>
              </a:bodyPr>
              <a:lstStyle/>
              <a:p>
                <a:pPr algn="l"/>
                <a:r>
                  <a:rPr lang="en-US" b="0" i="0" dirty="0">
                    <a:solidFill>
                      <a:srgbClr val="4A4A4A"/>
                    </a:solidFill>
                    <a:effectLst/>
                    <a:latin typeface="Open Sans" panose="020B0606030504020204" pitchFamily="34" charset="0"/>
                  </a:rPr>
                  <a:t>Let’s see how the value of </a:t>
                </a:r>
                <a14:m>
                  <m:oMath xmlns:m="http://schemas.openxmlformats.org/officeDocument/2006/math">
                    <m:r>
                      <a:rPr lang="en-US" b="0" i="1" smtClean="0">
                        <a:latin typeface="Cambria Math" panose="02040503050406030204" pitchFamily="18" charset="0"/>
                      </a:rPr>
                      <m:t>𝛌</m:t>
                    </m:r>
                  </m:oMath>
                </a14:m>
                <a:r>
                  <a:rPr lang="en-US" b="0" i="0" dirty="0">
                    <a:solidFill>
                      <a:srgbClr val="4A4A4A"/>
                    </a:solidFill>
                    <a:effectLst/>
                    <a:latin typeface="Open Sans" panose="020B0606030504020204" pitchFamily="34" charset="0"/>
                  </a:rPr>
                  <a:t> affects the estimates produced by ridge regression.</a:t>
                </a:r>
              </a:p>
              <a:p>
                <a:r>
                  <a:rPr lang="en-US" b="1" i="0" dirty="0">
                    <a:solidFill>
                      <a:srgbClr val="4A4A4A"/>
                    </a:solidFill>
                    <a:effectLst/>
                    <a:latin typeface="Open Sans" panose="020B0606030504020204" pitchFamily="34" charset="0"/>
                  </a:rPr>
                  <a:t>When</a:t>
                </a:r>
                <a:r>
                  <a:rPr lang="en-US" b="0" i="0" dirty="0">
                    <a:solidFill>
                      <a:srgbClr val="4A4A4A"/>
                    </a:solidFill>
                    <a:effectLst/>
                    <a:latin typeface="Open Sans" panose="020B0606030504020204" pitchFamily="34" charset="0"/>
                  </a:rPr>
                  <a:t> </a:t>
                </a:r>
                <a:r>
                  <a:rPr lang="en-US" b="0" dirty="0"/>
                  <a:t> </a:t>
                </a:r>
                <a14:m>
                  <m:oMath xmlns:m="http://schemas.openxmlformats.org/officeDocument/2006/math">
                    <m:r>
                      <a:rPr lang="en-US" b="0" i="1" smtClean="0">
                        <a:latin typeface="Cambria Math" panose="02040503050406030204" pitchFamily="18" charset="0"/>
                      </a:rPr>
                      <m:t>𝛌</m:t>
                    </m:r>
                    <m:r>
                      <a:rPr lang="en-US" b="0" i="1" smtClean="0">
                        <a:latin typeface="Cambria Math" panose="02040503050406030204" pitchFamily="18" charset="0"/>
                      </a:rPr>
                      <m:t> </m:t>
                    </m:r>
                  </m:oMath>
                </a14:m>
                <a:r>
                  <a:rPr lang="en-US" b="0" i="0" dirty="0">
                    <a:solidFill>
                      <a:srgbClr val="4A4A4A"/>
                    </a:solidFill>
                    <a:effectLst/>
                    <a:latin typeface="Open Sans" panose="020B0606030504020204" pitchFamily="34" charset="0"/>
                  </a:rPr>
                  <a:t>=0, the penalty term has no effect. It means it returns the </a:t>
                </a:r>
                <a:r>
                  <a:rPr lang="en-US" dirty="0">
                    <a:solidFill>
                      <a:srgbClr val="4A4A4A"/>
                    </a:solidFill>
                    <a:latin typeface="Open Sans" panose="020B0606030504020204" pitchFamily="34" charset="0"/>
                  </a:rPr>
                  <a:t>mean squared error </a:t>
                </a:r>
                <a:r>
                  <a:rPr lang="en-US" b="0" i="0" dirty="0">
                    <a:solidFill>
                      <a:srgbClr val="4A4A4A"/>
                    </a:solidFill>
                    <a:effectLst/>
                    <a:latin typeface="Open Sans" panose="020B0606030504020204" pitchFamily="34" charset="0"/>
                  </a:rPr>
                  <a:t>as loss function which we choose initially i.e. we will get the same coefficients as simple linear regression.</a:t>
                </a:r>
              </a:p>
              <a:p>
                <a:pPr algn="l"/>
                <a:r>
                  <a:rPr lang="en-US" b="1" i="0" dirty="0">
                    <a:solidFill>
                      <a:srgbClr val="4A4A4A"/>
                    </a:solidFill>
                    <a:effectLst/>
                    <a:latin typeface="Open Sans" panose="020B0606030504020204" pitchFamily="34" charset="0"/>
                  </a:rPr>
                  <a:t>When</a:t>
                </a:r>
                <a:r>
                  <a:rPr lang="en-US" b="0" i="0" dirty="0">
                    <a:solidFill>
                      <a:srgbClr val="4A4A4A"/>
                    </a:solidFill>
                    <a:effectLst/>
                    <a:latin typeface="Open Sans" panose="020B0606030504020204" pitchFamily="34" charset="0"/>
                  </a:rPr>
                  <a:t> </a:t>
                </a:r>
                <a:r>
                  <a:rPr lang="en-US" b="0" dirty="0"/>
                  <a:t> </a:t>
                </a:r>
                <a14:m>
                  <m:oMath xmlns:m="http://schemas.openxmlformats.org/officeDocument/2006/math">
                    <m:r>
                      <a:rPr lang="en-US" b="0" i="1" smtClean="0">
                        <a:latin typeface="Cambria Math" panose="02040503050406030204" pitchFamily="18" charset="0"/>
                      </a:rPr>
                      <m:t>𝛌</m:t>
                    </m:r>
                    <m:r>
                      <a:rPr lang="en-US" b="0" i="1" smtClean="0">
                        <a:latin typeface="Cambria Math" panose="02040503050406030204" pitchFamily="18" charset="0"/>
                      </a:rPr>
                      <m:t> </m:t>
                    </m:r>
                  </m:oMath>
                </a14:m>
                <a:r>
                  <a:rPr lang="en-US" b="0" i="0" dirty="0">
                    <a:solidFill>
                      <a:srgbClr val="4A4A4A"/>
                    </a:solidFill>
                    <a:effectLst/>
                    <a:latin typeface="Open Sans" panose="020B0606030504020204" pitchFamily="34" charset="0"/>
                  </a:rPr>
                  <a:t>=∞, the ridge regression coefficient will be zero because the modified loss function will ignore the core loss function and minimize coefficients square and eventually end up taking the parameter’s value as 0.</a:t>
                </a:r>
              </a:p>
              <a:p>
                <a:pPr algn="l"/>
                <a:r>
                  <a:rPr lang="en-US" b="1" i="0" dirty="0">
                    <a:solidFill>
                      <a:srgbClr val="4A4A4A"/>
                    </a:solidFill>
                    <a:effectLst/>
                    <a:latin typeface="Open Sans" panose="020B0606030504020204" pitchFamily="34" charset="0"/>
                  </a:rPr>
                  <a:t>When</a:t>
                </a:r>
                <a:r>
                  <a:rPr lang="en-US" b="0" i="0" dirty="0">
                    <a:solidFill>
                      <a:srgbClr val="4A4A4A"/>
                    </a:solidFill>
                    <a:effectLst/>
                    <a:latin typeface="Open Sans" panose="020B0606030504020204" pitchFamily="34" charset="0"/>
                  </a:rPr>
                  <a:t> 0&lt;</a:t>
                </a:r>
                <a:r>
                  <a:rPr lang="en-US" b="0" dirty="0"/>
                  <a:t> </a:t>
                </a:r>
                <a14:m>
                  <m:oMath xmlns:m="http://schemas.openxmlformats.org/officeDocument/2006/math">
                    <m:r>
                      <a:rPr lang="en-US" b="0" i="1" smtClean="0">
                        <a:latin typeface="Cambria Math" panose="02040503050406030204" pitchFamily="18" charset="0"/>
                      </a:rPr>
                      <m:t>𝛌</m:t>
                    </m:r>
                    <m:r>
                      <a:rPr lang="en-US" b="0" i="1" smtClean="0">
                        <a:latin typeface="Cambria Math" panose="02040503050406030204" pitchFamily="18" charset="0"/>
                      </a:rPr>
                      <m:t> </m:t>
                    </m:r>
                  </m:oMath>
                </a14:m>
                <a:r>
                  <a:rPr lang="en-US" b="0" i="0" dirty="0">
                    <a:solidFill>
                      <a:srgbClr val="4A4A4A"/>
                    </a:solidFill>
                    <a:effectLst/>
                    <a:latin typeface="Open Sans" panose="020B0606030504020204" pitchFamily="34" charset="0"/>
                  </a:rPr>
                  <a:t>&lt;∞, for simple linear regression, the ridge regression coefficient will be somewhere between 0 and 1.</a:t>
                </a:r>
              </a:p>
              <a:p>
                <a:pPr algn="l"/>
                <a:r>
                  <a:rPr lang="en-US" b="0" i="0" dirty="0">
                    <a:solidFill>
                      <a:srgbClr val="4A4A4A"/>
                    </a:solidFill>
                    <a:effectLst/>
                    <a:latin typeface="Open Sans" panose="020B0606030504020204" pitchFamily="34" charset="0"/>
                  </a:rPr>
                  <a:t>That’s the reason for selecting a good value of </a:t>
                </a:r>
                <a14:m>
                  <m:oMath xmlns:m="http://schemas.openxmlformats.org/officeDocument/2006/math">
                    <m:r>
                      <a:rPr lang="en-US" b="0" i="1" smtClean="0">
                        <a:latin typeface="Cambria Math" panose="02040503050406030204" pitchFamily="18" charset="0"/>
                      </a:rPr>
                      <m:t>𝛌</m:t>
                    </m:r>
                  </m:oMath>
                </a14:m>
                <a:r>
                  <a:rPr lang="en-US" b="0" i="0" dirty="0">
                    <a:solidFill>
                      <a:srgbClr val="4A4A4A"/>
                    </a:solidFill>
                    <a:effectLst/>
                    <a:latin typeface="Open Sans" panose="020B0606030504020204" pitchFamily="34" charset="0"/>
                  </a:rPr>
                  <a:t> is critical. The coefficient methods produced by ridge regression regularization technique are also known as the L2 norm.</a:t>
                </a:r>
              </a:p>
              <a:p>
                <a:endParaRPr lang="en-IN" dirty="0"/>
              </a:p>
            </p:txBody>
          </p:sp>
        </mc:Choice>
        <mc:Fallback xmlns="">
          <p:sp>
            <p:nvSpPr>
              <p:cNvPr id="3" name="Content Placeholder 2">
                <a:extLst>
                  <a:ext uri="{FF2B5EF4-FFF2-40B4-BE49-F238E27FC236}">
                    <a16:creationId xmlns:a16="http://schemas.microsoft.com/office/drawing/2014/main" id="{E4B12DFF-7B8C-4894-9D92-C7E239FC8A8D}"/>
                  </a:ext>
                </a:extLst>
              </p:cNvPr>
              <p:cNvSpPr>
                <a:spLocks noGrp="1" noRot="1" noChangeAspect="1" noMove="1" noResize="1" noEditPoints="1" noAdjustHandles="1" noChangeArrowheads="1" noChangeShapeType="1" noTextEdit="1"/>
              </p:cNvSpPr>
              <p:nvPr>
                <p:ph idx="1"/>
              </p:nvPr>
            </p:nvSpPr>
            <p:spPr>
              <a:blipFill>
                <a:blip r:embed="rId2"/>
                <a:stretch>
                  <a:fillRect l="-812" t="-3221" r="-928"/>
                </a:stretch>
              </a:blipFill>
            </p:spPr>
            <p:txBody>
              <a:bodyPr/>
              <a:lstStyle/>
              <a:p>
                <a:r>
                  <a:rPr lang="en-IN">
                    <a:noFill/>
                  </a:rPr>
                  <a:t> </a:t>
                </a:r>
              </a:p>
            </p:txBody>
          </p:sp>
        </mc:Fallback>
      </mc:AlternateContent>
    </p:spTree>
    <p:extLst>
      <p:ext uri="{BB962C8B-B14F-4D97-AF65-F5344CB8AC3E}">
        <p14:creationId xmlns:p14="http://schemas.microsoft.com/office/powerpoint/2010/main" val="3532845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E9E81-DF8A-48D1-B5C7-8F781EBE7DF7}"/>
              </a:ext>
            </a:extLst>
          </p:cNvPr>
          <p:cNvSpPr>
            <a:spLocks noGrp="1"/>
          </p:cNvSpPr>
          <p:nvPr>
            <p:ph type="title"/>
          </p:nvPr>
        </p:nvSpPr>
        <p:spPr/>
        <p:txBody>
          <a:bodyPr/>
          <a:lstStyle/>
          <a:p>
            <a:r>
              <a:rPr lang="en-US" dirty="0"/>
              <a:t>Features of Ridge regression</a:t>
            </a:r>
            <a:endParaRPr lang="en-IN" dirty="0"/>
          </a:p>
        </p:txBody>
      </p:sp>
      <p:sp>
        <p:nvSpPr>
          <p:cNvPr id="3" name="Content Placeholder 2">
            <a:extLst>
              <a:ext uri="{FF2B5EF4-FFF2-40B4-BE49-F238E27FC236}">
                <a16:creationId xmlns:a16="http://schemas.microsoft.com/office/drawing/2014/main" id="{2DA9F1AE-8975-4CF1-96F7-6DEB734A71E7}"/>
              </a:ext>
            </a:extLst>
          </p:cNvPr>
          <p:cNvSpPr>
            <a:spLocks noGrp="1"/>
          </p:cNvSpPr>
          <p:nvPr>
            <p:ph idx="1"/>
          </p:nvPr>
        </p:nvSpPr>
        <p:spPr/>
        <p:txBody>
          <a:bodyPr/>
          <a:lstStyle/>
          <a:p>
            <a:r>
              <a:rPr lang="en-US" dirty="0"/>
              <a:t>Reduces overfitting</a:t>
            </a:r>
          </a:p>
          <a:p>
            <a:r>
              <a:rPr lang="en-US" dirty="0"/>
              <a:t>Ridge Regression is a popular type of regularized linear regression that includes an </a:t>
            </a:r>
            <a:r>
              <a:rPr lang="en-US" dirty="0">
                <a:solidFill>
                  <a:srgbClr val="FF0000"/>
                </a:solidFill>
              </a:rPr>
              <a:t>L2</a:t>
            </a:r>
            <a:r>
              <a:rPr lang="en-US" dirty="0"/>
              <a:t> penalty. This has the effect of </a:t>
            </a:r>
            <a:r>
              <a:rPr lang="en-US" dirty="0">
                <a:solidFill>
                  <a:srgbClr val="FF0000"/>
                </a:solidFill>
              </a:rPr>
              <a:t>shrinking the coefficients</a:t>
            </a:r>
            <a:r>
              <a:rPr lang="en-US" dirty="0"/>
              <a:t> for those input variables that do not contribute much to the prediction task.</a:t>
            </a:r>
          </a:p>
          <a:p>
            <a:r>
              <a:rPr lang="en-US" dirty="0"/>
              <a:t>Ridge Regression is an extension of linear regression that adds a </a:t>
            </a:r>
            <a:r>
              <a:rPr lang="en-US" dirty="0">
                <a:solidFill>
                  <a:srgbClr val="FF0000"/>
                </a:solidFill>
              </a:rPr>
              <a:t>regularization penalty to the loss function </a:t>
            </a:r>
            <a:r>
              <a:rPr lang="en-US" dirty="0"/>
              <a:t>during training.</a:t>
            </a:r>
          </a:p>
          <a:p>
            <a:r>
              <a:rPr lang="en-US" dirty="0">
                <a:solidFill>
                  <a:srgbClr val="FF0000"/>
                </a:solidFill>
              </a:rPr>
              <a:t>Have the capability to drive the coefficients towards zero but not equal to zero.</a:t>
            </a:r>
          </a:p>
          <a:p>
            <a:endParaRPr lang="en-US" dirty="0"/>
          </a:p>
          <a:p>
            <a:endParaRPr lang="en-IN" dirty="0"/>
          </a:p>
        </p:txBody>
      </p:sp>
    </p:spTree>
    <p:extLst>
      <p:ext uri="{BB962C8B-B14F-4D97-AF65-F5344CB8AC3E}">
        <p14:creationId xmlns:p14="http://schemas.microsoft.com/office/powerpoint/2010/main" val="3293803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3AED-4DE5-412D-ACE6-B6029D8C69C3}"/>
              </a:ext>
            </a:extLst>
          </p:cNvPr>
          <p:cNvSpPr>
            <a:spLocks noGrp="1"/>
          </p:cNvSpPr>
          <p:nvPr>
            <p:ph type="title"/>
          </p:nvPr>
        </p:nvSpPr>
        <p:spPr/>
        <p:txBody>
          <a:bodyPr/>
          <a:lstStyle/>
          <a:p>
            <a:r>
              <a:rPr lang="en-IN" b="1" i="0" dirty="0">
                <a:solidFill>
                  <a:srgbClr val="4A4A4A"/>
                </a:solidFill>
                <a:effectLst/>
                <a:latin typeface="Open Sans" panose="020B0606030504020204" pitchFamily="34" charset="0"/>
              </a:rPr>
              <a:t>Lasso Regression (L1 Regularization)</a:t>
            </a:r>
            <a:endParaRPr lang="en-IN" dirty="0"/>
          </a:p>
        </p:txBody>
      </p:sp>
      <p:sp>
        <p:nvSpPr>
          <p:cNvPr id="3" name="Content Placeholder 2">
            <a:extLst>
              <a:ext uri="{FF2B5EF4-FFF2-40B4-BE49-F238E27FC236}">
                <a16:creationId xmlns:a16="http://schemas.microsoft.com/office/drawing/2014/main" id="{79D3AA0F-D161-46DB-9A1A-E99C77D73295}"/>
              </a:ext>
            </a:extLst>
          </p:cNvPr>
          <p:cNvSpPr>
            <a:spLocks noGrp="1"/>
          </p:cNvSpPr>
          <p:nvPr>
            <p:ph idx="1"/>
          </p:nvPr>
        </p:nvSpPr>
        <p:spPr>
          <a:xfrm>
            <a:off x="710979" y="1825625"/>
            <a:ext cx="10515600" cy="4351338"/>
          </a:xfrm>
        </p:spPr>
        <p:txBody>
          <a:bodyPr/>
          <a:lstStyle/>
          <a:p>
            <a:pPr algn="just"/>
            <a:r>
              <a:rPr lang="en-US" sz="1800" b="0" i="0" dirty="0">
                <a:solidFill>
                  <a:srgbClr val="4A4A4A"/>
                </a:solidFill>
                <a:effectLst/>
                <a:latin typeface="Open Sans" panose="020B0606030504020204" pitchFamily="34" charset="0"/>
              </a:rPr>
              <a:t>This regularization technique performs L1 regularization. It modifies the mean squared error by adding the </a:t>
            </a:r>
            <a:r>
              <a:rPr lang="en-US" sz="1800" b="0" i="0" dirty="0">
                <a:solidFill>
                  <a:srgbClr val="FF0000"/>
                </a:solidFill>
                <a:effectLst/>
                <a:latin typeface="Open Sans" panose="020B0606030504020204" pitchFamily="34" charset="0"/>
              </a:rPr>
              <a:t>penalty (shrinkage quantity)</a:t>
            </a:r>
            <a:r>
              <a:rPr lang="en-US" sz="1800" b="0" i="0" dirty="0">
                <a:solidFill>
                  <a:srgbClr val="4A4A4A"/>
                </a:solidFill>
                <a:effectLst/>
                <a:latin typeface="Open Sans" panose="020B0606030504020204" pitchFamily="34" charset="0"/>
              </a:rPr>
              <a:t> equivalent to the sum of the absolute value of coefficients. Lasso regression can drive coefficients to be zero, hence it can act as feature selection method</a:t>
            </a:r>
            <a:endParaRPr lang="en-IN" sz="1800" dirty="0"/>
          </a:p>
          <a:p>
            <a:endParaRPr lang="en-US" dirty="0">
              <a:solidFill>
                <a:srgbClr val="4A4A4A"/>
              </a:solidFill>
              <a:latin typeface="Open Sans" panose="020B0606030504020204" pitchFamily="34" charset="0"/>
            </a:endParaRPr>
          </a:p>
          <a:p>
            <a:pPr lvl="8"/>
            <a:endParaRPr lang="en-IN" dirty="0"/>
          </a:p>
        </p:txBody>
      </p:sp>
      <p:pic>
        <p:nvPicPr>
          <p:cNvPr id="2050" name="Picture 2" descr="Linear Regression. What is Linear Regression? | by Jorge Leonel | Medium">
            <a:extLst>
              <a:ext uri="{FF2B5EF4-FFF2-40B4-BE49-F238E27FC236}">
                <a16:creationId xmlns:a16="http://schemas.microsoft.com/office/drawing/2014/main" id="{D9528A08-5694-4E9E-9E5F-089D406735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0914" y="3185983"/>
            <a:ext cx="2395466" cy="78448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AC457AD-8A18-45AF-AC98-7BB65610DD4B}"/>
                  </a:ext>
                </a:extLst>
              </p:cNvPr>
              <p:cNvSpPr txBox="1"/>
              <p:nvPr/>
            </p:nvSpPr>
            <p:spPr>
              <a:xfrm>
                <a:off x="5468799" y="4358888"/>
                <a:ext cx="189924" cy="756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IN"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IN" i="1" smtClean="0">
                                  <a:latin typeface="Cambria Math" panose="02040503050406030204" pitchFamily="18" charset="0"/>
                                </a:rPr>
                              </m:ctrlPr>
                            </m:sSupPr>
                            <m:e>
                              <m:r>
                                <a:rPr lang="en-US" b="0" i="1" smtClean="0">
                                  <a:latin typeface="Cambria Math" panose="02040503050406030204" pitchFamily="18" charset="0"/>
                                </a:rPr>
                                <m:t>(</m:t>
                              </m:r>
                              <m:sSub>
                                <m:sSubPr>
                                  <m:ctrlPr>
                                    <a:rPr lang="en-IN"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𝑌</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acc>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𝛌</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𝑠𝑙𝑜𝑝𝑒</m:t>
                              </m:r>
                              <m:r>
                                <a:rPr lang="en-US" b="0" i="1" smtClean="0">
                                  <a:latin typeface="Cambria Math" panose="02040503050406030204" pitchFamily="18" charset="0"/>
                                </a:rPr>
                                <m:t>|</m:t>
                              </m:r>
                            </m:e>
                            <m:sup/>
                          </m:sSup>
                        </m:e>
                      </m:nary>
                    </m:oMath>
                  </m:oMathPara>
                </a14:m>
                <a:endParaRPr lang="en-IN" dirty="0"/>
              </a:p>
            </p:txBody>
          </p:sp>
        </mc:Choice>
        <mc:Fallback xmlns="">
          <p:sp>
            <p:nvSpPr>
              <p:cNvPr id="7" name="TextBox 6">
                <a:extLst>
                  <a:ext uri="{FF2B5EF4-FFF2-40B4-BE49-F238E27FC236}">
                    <a16:creationId xmlns:a16="http://schemas.microsoft.com/office/drawing/2014/main" id="{4AC457AD-8A18-45AF-AC98-7BB65610DD4B}"/>
                  </a:ext>
                </a:extLst>
              </p:cNvPr>
              <p:cNvSpPr txBox="1">
                <a:spLocks noRot="1" noChangeAspect="1" noMove="1" noResize="1" noEditPoints="1" noAdjustHandles="1" noChangeArrowheads="1" noChangeShapeType="1" noTextEdit="1"/>
              </p:cNvSpPr>
              <p:nvPr/>
            </p:nvSpPr>
            <p:spPr>
              <a:xfrm>
                <a:off x="5468799" y="4358888"/>
                <a:ext cx="189924" cy="756233"/>
              </a:xfrm>
              <a:prstGeom prst="rect">
                <a:avLst/>
              </a:prstGeom>
              <a:blipFill>
                <a:blip r:embed="rId3"/>
                <a:stretch>
                  <a:fillRect r="-1158065"/>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FABA4CC9-6B4C-468F-92E2-8E2FF9F54933}"/>
              </a:ext>
            </a:extLst>
          </p:cNvPr>
          <p:cNvSpPr txBox="1"/>
          <p:nvPr/>
        </p:nvSpPr>
        <p:spPr>
          <a:xfrm>
            <a:off x="2933843" y="3393557"/>
            <a:ext cx="2317071" cy="369332"/>
          </a:xfrm>
          <a:prstGeom prst="rect">
            <a:avLst/>
          </a:prstGeom>
          <a:noFill/>
        </p:spPr>
        <p:txBody>
          <a:bodyPr wrap="square" rtlCol="0">
            <a:spAutoFit/>
          </a:bodyPr>
          <a:lstStyle/>
          <a:p>
            <a:r>
              <a:rPr lang="en-US" dirty="0"/>
              <a:t>Normal Loss function</a:t>
            </a:r>
            <a:endParaRPr lang="en-IN"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ED9A954-C722-48A1-9842-3EEA89C2EA30}"/>
                  </a:ext>
                </a:extLst>
              </p:cNvPr>
              <p:cNvSpPr txBox="1"/>
              <p:nvPr/>
            </p:nvSpPr>
            <p:spPr>
              <a:xfrm>
                <a:off x="5329309" y="5276710"/>
                <a:ext cx="4536490" cy="369332"/>
              </a:xfrm>
              <a:prstGeom prst="rect">
                <a:avLst/>
              </a:prstGeom>
              <a:noFill/>
            </p:spPr>
            <p:txBody>
              <a:bodyPr wrap="square" rtlCol="0">
                <a:spAutoFit/>
              </a:bodyPr>
              <a:lstStyle/>
              <a:p>
                <a:r>
                  <a:rPr lang="en-US" dirty="0"/>
                  <a:t>Normal Loss function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oMath>
                </a14:m>
                <a:r>
                  <a:rPr lang="en-US" dirty="0"/>
                  <a:t>Regularization term</a:t>
                </a:r>
                <a:endParaRPr lang="en-IN" dirty="0"/>
              </a:p>
            </p:txBody>
          </p:sp>
        </mc:Choice>
        <mc:Fallback xmlns="">
          <p:sp>
            <p:nvSpPr>
              <p:cNvPr id="10" name="TextBox 9">
                <a:extLst>
                  <a:ext uri="{FF2B5EF4-FFF2-40B4-BE49-F238E27FC236}">
                    <a16:creationId xmlns:a16="http://schemas.microsoft.com/office/drawing/2014/main" id="{6ED9A954-C722-48A1-9842-3EEA89C2EA30}"/>
                  </a:ext>
                </a:extLst>
              </p:cNvPr>
              <p:cNvSpPr txBox="1">
                <a:spLocks noRot="1" noChangeAspect="1" noMove="1" noResize="1" noEditPoints="1" noAdjustHandles="1" noChangeArrowheads="1" noChangeShapeType="1" noTextEdit="1"/>
              </p:cNvSpPr>
              <p:nvPr/>
            </p:nvSpPr>
            <p:spPr>
              <a:xfrm>
                <a:off x="5329309" y="5276710"/>
                <a:ext cx="4536490" cy="369332"/>
              </a:xfrm>
              <a:prstGeom prst="rect">
                <a:avLst/>
              </a:prstGeom>
              <a:blipFill>
                <a:blip r:embed="rId4"/>
                <a:stretch>
                  <a:fillRect l="-1075" t="-10000" b="-26667"/>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0758DDF4-07B2-4274-88FF-330ED509BC9B}"/>
              </a:ext>
            </a:extLst>
          </p:cNvPr>
          <p:cNvSpPr txBox="1"/>
          <p:nvPr/>
        </p:nvSpPr>
        <p:spPr>
          <a:xfrm>
            <a:off x="1725116" y="4515683"/>
            <a:ext cx="3870663" cy="369332"/>
          </a:xfrm>
          <a:prstGeom prst="rect">
            <a:avLst/>
          </a:prstGeom>
          <a:noFill/>
        </p:spPr>
        <p:txBody>
          <a:bodyPr wrap="square" rtlCol="0">
            <a:spAutoFit/>
          </a:bodyPr>
          <a:lstStyle/>
          <a:p>
            <a:r>
              <a:rPr lang="en-US" dirty="0"/>
              <a:t>Normal Loss function+ Regularization=</a:t>
            </a:r>
            <a:endParaRPr lang="en-IN" dirty="0"/>
          </a:p>
        </p:txBody>
      </p:sp>
      <p:cxnSp>
        <p:nvCxnSpPr>
          <p:cNvPr id="12" name="Straight Arrow Connector 11">
            <a:extLst>
              <a:ext uri="{FF2B5EF4-FFF2-40B4-BE49-F238E27FC236}">
                <a16:creationId xmlns:a16="http://schemas.microsoft.com/office/drawing/2014/main" id="{9AFD3E59-B987-4FA1-9F0D-D0137B143344}"/>
              </a:ext>
            </a:extLst>
          </p:cNvPr>
          <p:cNvCxnSpPr/>
          <p:nvPr/>
        </p:nvCxnSpPr>
        <p:spPr>
          <a:xfrm>
            <a:off x="6596109" y="4953740"/>
            <a:ext cx="0" cy="3229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E2FDB6C-F730-424F-AD84-31EBE2149B2F}"/>
              </a:ext>
            </a:extLst>
          </p:cNvPr>
          <p:cNvCxnSpPr/>
          <p:nvPr/>
        </p:nvCxnSpPr>
        <p:spPr>
          <a:xfrm>
            <a:off x="7646380" y="4956803"/>
            <a:ext cx="0" cy="3229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837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56E84-E6CE-13AF-1D19-9876A2DF09B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5ABDDD6-6C5A-5015-62A2-6CE7BC651822}"/>
              </a:ext>
            </a:extLst>
          </p:cNvPr>
          <p:cNvPicPr>
            <a:picLocks noGrp="1" noChangeAspect="1"/>
          </p:cNvPicPr>
          <p:nvPr>
            <p:ph idx="1"/>
          </p:nvPr>
        </p:nvPicPr>
        <p:blipFill>
          <a:blip r:embed="rId2"/>
          <a:stretch>
            <a:fillRect/>
          </a:stretch>
        </p:blipFill>
        <p:spPr>
          <a:xfrm>
            <a:off x="1324118" y="1854257"/>
            <a:ext cx="9347120" cy="4351338"/>
          </a:xfrm>
        </p:spPr>
      </p:pic>
      <p:cxnSp>
        <p:nvCxnSpPr>
          <p:cNvPr id="4" name="Straight Arrow Connector 3">
            <a:extLst>
              <a:ext uri="{FF2B5EF4-FFF2-40B4-BE49-F238E27FC236}">
                <a16:creationId xmlns:a16="http://schemas.microsoft.com/office/drawing/2014/main" id="{C348E619-6AF0-E635-B444-69E86628C01A}"/>
              </a:ext>
            </a:extLst>
          </p:cNvPr>
          <p:cNvCxnSpPr/>
          <p:nvPr/>
        </p:nvCxnSpPr>
        <p:spPr>
          <a:xfrm>
            <a:off x="7079226" y="3883741"/>
            <a:ext cx="5702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2BC8614-3A8C-1C2B-C09D-AFAC41B7827E}"/>
              </a:ext>
            </a:extLst>
          </p:cNvPr>
          <p:cNvSpPr txBox="1"/>
          <p:nvPr/>
        </p:nvSpPr>
        <p:spPr>
          <a:xfrm>
            <a:off x="7649497" y="3560575"/>
            <a:ext cx="2487562" cy="584775"/>
          </a:xfrm>
          <a:prstGeom prst="rect">
            <a:avLst/>
          </a:prstGeom>
          <a:noFill/>
        </p:spPr>
        <p:txBody>
          <a:bodyPr wrap="square" rtlCol="0">
            <a:spAutoFit/>
          </a:bodyPr>
          <a:lstStyle/>
          <a:p>
            <a:r>
              <a:rPr lang="en-US" sz="1600" dirty="0">
                <a:solidFill>
                  <a:srgbClr val="C00000"/>
                </a:solidFill>
              </a:rPr>
              <a:t>Sum of the absolute weight coefficients </a:t>
            </a:r>
          </a:p>
        </p:txBody>
      </p:sp>
    </p:spTree>
    <p:extLst>
      <p:ext uri="{BB962C8B-B14F-4D97-AF65-F5344CB8AC3E}">
        <p14:creationId xmlns:p14="http://schemas.microsoft.com/office/powerpoint/2010/main" val="3255138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4A02A-C8E9-357D-B7B2-640245D93DE0}"/>
              </a:ext>
            </a:extLst>
          </p:cNvPr>
          <p:cNvSpPr>
            <a:spLocks noGrp="1"/>
          </p:cNvSpPr>
          <p:nvPr>
            <p:ph type="title"/>
          </p:nvPr>
        </p:nvSpPr>
        <p:spPr/>
        <p:txBody>
          <a:bodyPr/>
          <a:lstStyle/>
          <a:p>
            <a:r>
              <a:rPr lang="en-IN"/>
              <a:t>Geometric interpretation of L1 Regularization</a:t>
            </a:r>
          </a:p>
        </p:txBody>
      </p:sp>
      <p:pic>
        <p:nvPicPr>
          <p:cNvPr id="3074" name="Picture 2" descr="How do we regularize generalized linear models?">
            <a:extLst>
              <a:ext uri="{FF2B5EF4-FFF2-40B4-BE49-F238E27FC236}">
                <a16:creationId xmlns:a16="http://schemas.microsoft.com/office/drawing/2014/main" id="{61A3A44F-3C8D-80B6-516C-0896F3CB53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5075" y="1776463"/>
            <a:ext cx="5604586"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423926D-7066-420C-398A-6742C7E3D842}"/>
              </a:ext>
            </a:extLst>
          </p:cNvPr>
          <p:cNvSpPr txBox="1"/>
          <p:nvPr/>
        </p:nvSpPr>
        <p:spPr>
          <a:xfrm>
            <a:off x="8032955" y="1563329"/>
            <a:ext cx="3077497" cy="3970318"/>
          </a:xfrm>
          <a:prstGeom prst="rect">
            <a:avLst/>
          </a:prstGeom>
          <a:noFill/>
        </p:spPr>
        <p:txBody>
          <a:bodyPr wrap="square" rtlCol="0">
            <a:spAutoFit/>
          </a:bodyPr>
          <a:lstStyle/>
          <a:p>
            <a:pPr marL="285750" indent="-285750">
              <a:buFont typeface="Arial" panose="020B0604020202020204" pitchFamily="34" charset="0"/>
              <a:buChar char="•"/>
            </a:pPr>
            <a:r>
              <a:rPr lang="en-US" dirty="0"/>
              <a:t>In Figure we can see that contours of the loss function touches the L1 Dimond at w1=0. </a:t>
            </a:r>
          </a:p>
          <a:p>
            <a:pPr marL="285750" indent="-285750">
              <a:buFont typeface="Arial" panose="020B0604020202020204" pitchFamily="34" charset="0"/>
              <a:buChar char="•"/>
            </a:pPr>
            <a:r>
              <a:rPr lang="en-US" dirty="0"/>
              <a:t>Since the contours of an L1 regularized system are sharp , it is more likely that the optimum –that is, the intersection between eclipses of the loss function and boundary of L1 diamond is located on the axes that encourages sparsity.</a:t>
            </a:r>
          </a:p>
        </p:txBody>
      </p:sp>
    </p:spTree>
    <p:extLst>
      <p:ext uri="{BB962C8B-B14F-4D97-AF65-F5344CB8AC3E}">
        <p14:creationId xmlns:p14="http://schemas.microsoft.com/office/powerpoint/2010/main" val="3145539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51BBD-11F2-4534-AB17-816023B6D8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B9E37E-A422-4EEB-84C4-4FE3C8B284F5}"/>
              </a:ext>
            </a:extLst>
          </p:cNvPr>
          <p:cNvSpPr>
            <a:spLocks noGrp="1"/>
          </p:cNvSpPr>
          <p:nvPr>
            <p:ph idx="1"/>
          </p:nvPr>
        </p:nvSpPr>
        <p:spPr/>
        <p:txBody>
          <a:bodyPr/>
          <a:lstStyle/>
          <a:p>
            <a:pPr algn="just"/>
            <a:r>
              <a:rPr lang="en-US" dirty="0"/>
              <a:t>Lasso Regression is different from ridge regression as it uses absolute coefficient values for normalization.</a:t>
            </a:r>
          </a:p>
          <a:p>
            <a:pPr algn="just"/>
            <a:r>
              <a:rPr lang="en-US" dirty="0"/>
              <a:t>As loss function only considers </a:t>
            </a:r>
            <a:r>
              <a:rPr lang="en-US" dirty="0">
                <a:solidFill>
                  <a:srgbClr val="FF0000"/>
                </a:solidFill>
              </a:rPr>
              <a:t>absolute coefficients (weights), </a:t>
            </a:r>
            <a:r>
              <a:rPr lang="en-US" dirty="0"/>
              <a:t>the optimization algorithm will </a:t>
            </a:r>
            <a:r>
              <a:rPr lang="en-US" dirty="0">
                <a:solidFill>
                  <a:srgbClr val="FF0000"/>
                </a:solidFill>
              </a:rPr>
              <a:t>penalize high coefficients</a:t>
            </a:r>
            <a:r>
              <a:rPr lang="en-US" dirty="0"/>
              <a:t>. This is known as the L1 norm.</a:t>
            </a:r>
          </a:p>
          <a:p>
            <a:pPr algn="just"/>
            <a:r>
              <a:rPr lang="en-US" dirty="0"/>
              <a:t>Lasso regression not only tries to </a:t>
            </a:r>
            <a:r>
              <a:rPr lang="en-US" dirty="0">
                <a:solidFill>
                  <a:srgbClr val="FF0000"/>
                </a:solidFill>
              </a:rPr>
              <a:t>prevent overfitting </a:t>
            </a:r>
            <a:r>
              <a:rPr lang="en-US" dirty="0"/>
              <a:t>but also acts as a </a:t>
            </a:r>
            <a:r>
              <a:rPr lang="en-US" dirty="0">
                <a:solidFill>
                  <a:srgbClr val="FF0000"/>
                </a:solidFill>
              </a:rPr>
              <a:t>feature selection </a:t>
            </a:r>
            <a:r>
              <a:rPr lang="en-US" dirty="0"/>
              <a:t>method because it can drive the coefficients to exactly zero, if they are not important in the model (Sparse feature vector)</a:t>
            </a:r>
          </a:p>
          <a:p>
            <a:pPr algn="just"/>
            <a:endParaRPr lang="en-IN" dirty="0"/>
          </a:p>
          <a:p>
            <a:pPr algn="just"/>
            <a:endParaRPr lang="en-US" b="0" i="0" dirty="0">
              <a:solidFill>
                <a:srgbClr val="4A4A4A"/>
              </a:solidFill>
              <a:effectLst/>
              <a:latin typeface="Open Sans" panose="020B0606030504020204" pitchFamily="34" charset="0"/>
            </a:endParaRPr>
          </a:p>
          <a:p>
            <a:endParaRPr lang="en-IN" dirty="0"/>
          </a:p>
        </p:txBody>
      </p:sp>
    </p:spTree>
    <p:extLst>
      <p:ext uri="{BB962C8B-B14F-4D97-AF65-F5344CB8AC3E}">
        <p14:creationId xmlns:p14="http://schemas.microsoft.com/office/powerpoint/2010/main" val="1643281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54F81-3503-22E5-5695-712DB03BD58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8088C61-B4C7-1064-2EAE-FF6CF88D727F}"/>
              </a:ext>
            </a:extLst>
          </p:cNvPr>
          <p:cNvPicPr>
            <a:picLocks noGrp="1" noChangeAspect="1"/>
          </p:cNvPicPr>
          <p:nvPr>
            <p:ph idx="1"/>
          </p:nvPr>
        </p:nvPicPr>
        <p:blipFill>
          <a:blip r:embed="rId2"/>
          <a:stretch>
            <a:fillRect/>
          </a:stretch>
        </p:blipFill>
        <p:spPr>
          <a:xfrm>
            <a:off x="1771275" y="1974198"/>
            <a:ext cx="8649450" cy="4054191"/>
          </a:xfrm>
        </p:spPr>
      </p:pic>
    </p:spTree>
    <p:extLst>
      <p:ext uri="{BB962C8B-B14F-4D97-AF65-F5344CB8AC3E}">
        <p14:creationId xmlns:p14="http://schemas.microsoft.com/office/powerpoint/2010/main" val="3912432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D71D0-862D-92D3-91B0-91A9D7E510E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E63D8F4-1776-FBA9-9A75-548C794681B5}"/>
              </a:ext>
            </a:extLst>
          </p:cNvPr>
          <p:cNvPicPr>
            <a:picLocks noGrp="1" noChangeAspect="1"/>
          </p:cNvPicPr>
          <p:nvPr>
            <p:ph idx="1"/>
          </p:nvPr>
        </p:nvPicPr>
        <p:blipFill>
          <a:blip r:embed="rId2"/>
          <a:stretch>
            <a:fillRect/>
          </a:stretch>
        </p:blipFill>
        <p:spPr>
          <a:xfrm>
            <a:off x="1778896" y="2096129"/>
            <a:ext cx="8634208" cy="3810330"/>
          </a:xfrm>
        </p:spPr>
      </p:pic>
    </p:spTree>
    <p:extLst>
      <p:ext uri="{BB962C8B-B14F-4D97-AF65-F5344CB8AC3E}">
        <p14:creationId xmlns:p14="http://schemas.microsoft.com/office/powerpoint/2010/main" val="2862430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49326</TotalTime>
  <Words>1128</Words>
  <Application>Microsoft Office PowerPoint</Application>
  <PresentationFormat>Widescreen</PresentationFormat>
  <Paragraphs>92</Paragraphs>
  <Slides>22</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Adobe Caslon Pro</vt:lpstr>
      <vt:lpstr>Arial</vt:lpstr>
      <vt:lpstr>Calibri</vt:lpstr>
      <vt:lpstr>Calibri Light</vt:lpstr>
      <vt:lpstr>Cambria</vt:lpstr>
      <vt:lpstr>Cambria Math</vt:lpstr>
      <vt:lpstr>Helvetica</vt:lpstr>
      <vt:lpstr>MathJax_Math-italic</vt:lpstr>
      <vt:lpstr>Open Sans</vt:lpstr>
      <vt:lpstr>Roboto</vt:lpstr>
      <vt:lpstr>Tahoma</vt:lpstr>
      <vt:lpstr>Times New Roman</vt:lpstr>
      <vt:lpstr>Office Theme</vt:lpstr>
      <vt:lpstr>PowerPoint Presentation</vt:lpstr>
      <vt:lpstr>Regularization Ridge and Lasso Regression</vt:lpstr>
      <vt:lpstr>What is Regularization in machine Learning</vt:lpstr>
      <vt:lpstr>Overfitting</vt:lpstr>
      <vt:lpstr>PowerPoint Presentation</vt:lpstr>
      <vt:lpstr>To prevent overfitting use regularization</vt:lpstr>
      <vt:lpstr>PowerPoint Presentation</vt:lpstr>
      <vt:lpstr>PowerPoint Presentation</vt:lpstr>
      <vt:lpstr>PowerPoint Presentation</vt:lpstr>
      <vt:lpstr>L1/L2 Regularization</vt:lpstr>
      <vt:lpstr>Ridge Regression (L2 Regularization)</vt:lpstr>
      <vt:lpstr>PowerPoint Presentation</vt:lpstr>
      <vt:lpstr>Geometric interpretation of L2 Regularization</vt:lpstr>
      <vt:lpstr>PowerPoint Presentation</vt:lpstr>
      <vt:lpstr>PowerPoint Presentation</vt:lpstr>
      <vt:lpstr>Features of Ridge regression</vt:lpstr>
      <vt:lpstr>Lasso Regression (L1 Regularization)</vt:lpstr>
      <vt:lpstr>PowerPoint Presentation</vt:lpstr>
      <vt:lpstr>Geometric interpretation of L1 Regularization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kriti ohri</dc:creator>
  <cp:lastModifiedBy>lenovo</cp:lastModifiedBy>
  <cp:revision>13</cp:revision>
  <dcterms:created xsi:type="dcterms:W3CDTF">2021-10-29T10:50:37Z</dcterms:created>
  <dcterms:modified xsi:type="dcterms:W3CDTF">2024-09-01T04:35:34Z</dcterms:modified>
</cp:coreProperties>
</file>