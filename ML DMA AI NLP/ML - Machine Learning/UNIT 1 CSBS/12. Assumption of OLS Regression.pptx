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60" r:id="rId5"/>
    <p:sldId id="259" r:id="rId6"/>
    <p:sldId id="261" r:id="rId7"/>
    <p:sldId id="266" r:id="rId8"/>
    <p:sldId id="262" r:id="rId9"/>
    <p:sldId id="263" r:id="rId10"/>
    <p:sldId id="264" r:id="rId11"/>
    <p:sldId id="267" r:id="rId12"/>
    <p:sldId id="269" r:id="rId13"/>
    <p:sldId id="265" r:id="rId14"/>
    <p:sldId id="278" r:id="rId15"/>
    <p:sldId id="276" r:id="rId16"/>
    <p:sldId id="277" r:id="rId17"/>
    <p:sldId id="284" r:id="rId18"/>
    <p:sldId id="279" r:id="rId19"/>
    <p:sldId id="288" r:id="rId20"/>
    <p:sldId id="285" r:id="rId21"/>
    <p:sldId id="286" r:id="rId22"/>
    <p:sldId id="287" r:id="rId23"/>
    <p:sldId id="296" r:id="rId24"/>
    <p:sldId id="297" r:id="rId25"/>
    <p:sldId id="294" r:id="rId26"/>
    <p:sldId id="295" r:id="rId27"/>
    <p:sldId id="273" r:id="rId28"/>
    <p:sldId id="299" r:id="rId29"/>
    <p:sldId id="275" r:id="rId30"/>
    <p:sldId id="289" r:id="rId31"/>
    <p:sldId id="290" r:id="rId32"/>
    <p:sldId id="291" r:id="rId33"/>
    <p:sldId id="292" r:id="rId34"/>
    <p:sldId id="282"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2349" autoAdjust="0"/>
  </p:normalViewPr>
  <p:slideViewPr>
    <p:cSldViewPr>
      <p:cViewPr varScale="1">
        <p:scale>
          <a:sx n="76" d="100"/>
          <a:sy n="76" d="100"/>
        </p:scale>
        <p:origin x="1642" y="58"/>
      </p:cViewPr>
      <p:guideLst>
        <p:guide orient="horz" pos="2160"/>
        <p:guide pos="2880"/>
      </p:guideLst>
    </p:cSldViewPr>
  </p:slideViewPr>
  <p:outlineViewPr>
    <p:cViewPr>
      <p:scale>
        <a:sx n="33" d="100"/>
        <a:sy n="33" d="100"/>
      </p:scale>
      <p:origin x="0" y="388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E44B38-CE6C-4801-B395-1A96BAD558AC}" type="datetimeFigureOut">
              <a:rPr lang="en-US" smtClean="0"/>
              <a:t>9/1/2024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756875-34E5-45F4-ABF9-0150CE4D03D7}" type="slidenum">
              <a:rPr lang="en-US" smtClean="0"/>
              <a:t>‹#›</a:t>
            </a:fld>
            <a:endParaRPr lang="en-US"/>
          </a:p>
        </p:txBody>
      </p:sp>
    </p:spTree>
    <p:extLst>
      <p:ext uri="{BB962C8B-B14F-4D97-AF65-F5344CB8AC3E}">
        <p14:creationId xmlns:p14="http://schemas.microsoft.com/office/powerpoint/2010/main" val="897908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respect to error terms</a:t>
            </a:r>
          </a:p>
          <a:p>
            <a:r>
              <a:rPr lang="en-US" dirty="0"/>
              <a:t>Variance</a:t>
            </a:r>
            <a:r>
              <a:rPr lang="en-US" baseline="0" dirty="0"/>
              <a:t> is constant</a:t>
            </a:r>
          </a:p>
          <a:p>
            <a:r>
              <a:rPr lang="en-US" baseline="0" dirty="0"/>
              <a:t>Magnitude of errors is constant</a:t>
            </a:r>
          </a:p>
          <a:p>
            <a:r>
              <a:rPr lang="en-US" baseline="0" dirty="0"/>
              <a:t>As x increases , the magnitude of errors remains fixed</a:t>
            </a:r>
            <a:endParaRPr lang="en-US" dirty="0"/>
          </a:p>
        </p:txBody>
      </p:sp>
      <p:sp>
        <p:nvSpPr>
          <p:cNvPr id="4" name="Slide Number Placeholder 3"/>
          <p:cNvSpPr>
            <a:spLocks noGrp="1"/>
          </p:cNvSpPr>
          <p:nvPr>
            <p:ph type="sldNum" sz="quarter" idx="10"/>
          </p:nvPr>
        </p:nvSpPr>
        <p:spPr/>
        <p:txBody>
          <a:bodyPr/>
          <a:lstStyle/>
          <a:p>
            <a:fld id="{28756875-34E5-45F4-ABF9-0150CE4D03D7}" type="slidenum">
              <a:rPr lang="en-US" smtClean="0"/>
              <a:t>13</a:t>
            </a:fld>
            <a:endParaRPr lang="en-US"/>
          </a:p>
        </p:txBody>
      </p:sp>
    </p:spTree>
    <p:extLst>
      <p:ext uri="{BB962C8B-B14F-4D97-AF65-F5344CB8AC3E}">
        <p14:creationId xmlns:p14="http://schemas.microsoft.com/office/powerpoint/2010/main" val="4251453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756875-34E5-45F4-ABF9-0150CE4D03D7}" type="slidenum">
              <a:rPr lang="en-US" smtClean="0"/>
              <a:t>14</a:t>
            </a:fld>
            <a:endParaRPr lang="en-US"/>
          </a:p>
        </p:txBody>
      </p:sp>
    </p:spTree>
    <p:extLst>
      <p:ext uri="{BB962C8B-B14F-4D97-AF65-F5344CB8AC3E}">
        <p14:creationId xmlns:p14="http://schemas.microsoft.com/office/powerpoint/2010/main" val="1145729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9592F9C-D386-4177-9206-FFF6BC138046}"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8516F-9508-4298-80F4-B823C9AF8633}" type="slidenum">
              <a:rPr lang="en-US" smtClean="0"/>
              <a:t>‹#›</a:t>
            </a:fld>
            <a:endParaRPr lang="en-US"/>
          </a:p>
        </p:txBody>
      </p:sp>
    </p:spTree>
    <p:extLst>
      <p:ext uri="{BB962C8B-B14F-4D97-AF65-F5344CB8AC3E}">
        <p14:creationId xmlns:p14="http://schemas.microsoft.com/office/powerpoint/2010/main" val="2211634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92F9C-D386-4177-9206-FFF6BC138046}"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8516F-9508-4298-80F4-B823C9AF8633}" type="slidenum">
              <a:rPr lang="en-US" smtClean="0"/>
              <a:t>‹#›</a:t>
            </a:fld>
            <a:endParaRPr lang="en-US"/>
          </a:p>
        </p:txBody>
      </p:sp>
    </p:spTree>
    <p:extLst>
      <p:ext uri="{BB962C8B-B14F-4D97-AF65-F5344CB8AC3E}">
        <p14:creationId xmlns:p14="http://schemas.microsoft.com/office/powerpoint/2010/main" val="4189457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592F9C-D386-4177-9206-FFF6BC138046}"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8516F-9508-4298-80F4-B823C9AF8633}" type="slidenum">
              <a:rPr lang="en-US" smtClean="0"/>
              <a:t>‹#›</a:t>
            </a:fld>
            <a:endParaRPr lang="en-US"/>
          </a:p>
        </p:txBody>
      </p:sp>
    </p:spTree>
    <p:extLst>
      <p:ext uri="{BB962C8B-B14F-4D97-AF65-F5344CB8AC3E}">
        <p14:creationId xmlns:p14="http://schemas.microsoft.com/office/powerpoint/2010/main" val="1952822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592F9C-D386-4177-9206-FFF6BC138046}" type="datetimeFigureOut">
              <a:rPr lang="en-US" smtClean="0"/>
              <a:t>9/1/2024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88516F-9508-4298-80F4-B823C9AF8633}" type="slidenum">
              <a:rPr lang="en-US" smtClean="0"/>
              <a:t>‹#›</a:t>
            </a:fld>
            <a:endParaRPr lang="en-US"/>
          </a:p>
        </p:txBody>
      </p:sp>
    </p:spTree>
    <p:extLst>
      <p:ext uri="{BB962C8B-B14F-4D97-AF65-F5344CB8AC3E}">
        <p14:creationId xmlns:p14="http://schemas.microsoft.com/office/powerpoint/2010/main" val="3460289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592F9C-D386-4177-9206-FFF6BC138046}" type="datetimeFigureOut">
              <a:rPr lang="en-US" smtClean="0"/>
              <a:t>9/1/2024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88516F-9508-4298-80F4-B823C9AF8633}" type="slidenum">
              <a:rPr lang="en-US" smtClean="0"/>
              <a:t>‹#›</a:t>
            </a:fld>
            <a:endParaRPr lang="en-US"/>
          </a:p>
        </p:txBody>
      </p:sp>
    </p:spTree>
    <p:extLst>
      <p:ext uri="{BB962C8B-B14F-4D97-AF65-F5344CB8AC3E}">
        <p14:creationId xmlns:p14="http://schemas.microsoft.com/office/powerpoint/2010/main" val="941509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9592F9C-D386-4177-9206-FFF6BC138046}" type="datetimeFigureOut">
              <a:rPr lang="en-US" smtClean="0"/>
              <a:t>9/1/2024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88516F-9508-4298-80F4-B823C9AF8633}" type="slidenum">
              <a:rPr lang="en-US" smtClean="0"/>
              <a:t>‹#›</a:t>
            </a:fld>
            <a:endParaRPr lang="en-US"/>
          </a:p>
        </p:txBody>
      </p:sp>
    </p:spTree>
    <p:extLst>
      <p:ext uri="{BB962C8B-B14F-4D97-AF65-F5344CB8AC3E}">
        <p14:creationId xmlns:p14="http://schemas.microsoft.com/office/powerpoint/2010/main" val="3955296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92F9C-D386-4177-9206-FFF6BC138046}" type="datetimeFigureOut">
              <a:rPr lang="en-US" smtClean="0"/>
              <a:t>9/1/2024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88516F-9508-4298-80F4-B823C9AF8633}" type="slidenum">
              <a:rPr lang="en-US" smtClean="0"/>
              <a:t>‹#›</a:t>
            </a:fld>
            <a:endParaRPr lang="en-US"/>
          </a:p>
        </p:txBody>
      </p:sp>
    </p:spTree>
    <p:extLst>
      <p:ext uri="{BB962C8B-B14F-4D97-AF65-F5344CB8AC3E}">
        <p14:creationId xmlns:p14="http://schemas.microsoft.com/office/powerpoint/2010/main" val="3149418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592F9C-D386-4177-9206-FFF6BC138046}" type="datetimeFigureOut">
              <a:rPr lang="en-US" smtClean="0"/>
              <a:t>9/1/2024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88516F-9508-4298-80F4-B823C9AF8633}" type="slidenum">
              <a:rPr lang="en-US" smtClean="0"/>
              <a:t>‹#›</a:t>
            </a:fld>
            <a:endParaRPr lang="en-US"/>
          </a:p>
        </p:txBody>
      </p:sp>
    </p:spTree>
    <p:extLst>
      <p:ext uri="{BB962C8B-B14F-4D97-AF65-F5344CB8AC3E}">
        <p14:creationId xmlns:p14="http://schemas.microsoft.com/office/powerpoint/2010/main" val="2309377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592F9C-D386-4177-9206-FFF6BC138046}" type="datetimeFigureOut">
              <a:rPr lang="en-US" smtClean="0"/>
              <a:t>9/1/2024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88516F-9508-4298-80F4-B823C9AF8633}" type="slidenum">
              <a:rPr lang="en-US" smtClean="0"/>
              <a:t>‹#›</a:t>
            </a:fld>
            <a:endParaRPr lang="en-US"/>
          </a:p>
        </p:txBody>
      </p:sp>
    </p:spTree>
    <p:extLst>
      <p:ext uri="{BB962C8B-B14F-4D97-AF65-F5344CB8AC3E}">
        <p14:creationId xmlns:p14="http://schemas.microsoft.com/office/powerpoint/2010/main" val="871649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92F9C-D386-4177-9206-FFF6BC138046}"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8516F-9508-4298-80F4-B823C9AF8633}" type="slidenum">
              <a:rPr lang="en-US" smtClean="0"/>
              <a:t>‹#›</a:t>
            </a:fld>
            <a:endParaRPr lang="en-US"/>
          </a:p>
        </p:txBody>
      </p:sp>
    </p:spTree>
    <p:extLst>
      <p:ext uri="{BB962C8B-B14F-4D97-AF65-F5344CB8AC3E}">
        <p14:creationId xmlns:p14="http://schemas.microsoft.com/office/powerpoint/2010/main" val="554615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92F9C-D386-4177-9206-FFF6BC138046}"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8516F-9508-4298-80F4-B823C9AF8633}" type="slidenum">
              <a:rPr lang="en-US" smtClean="0"/>
              <a:t>‹#›</a:t>
            </a:fld>
            <a:endParaRPr lang="en-US"/>
          </a:p>
        </p:txBody>
      </p:sp>
    </p:spTree>
    <p:extLst>
      <p:ext uri="{BB962C8B-B14F-4D97-AF65-F5344CB8AC3E}">
        <p14:creationId xmlns:p14="http://schemas.microsoft.com/office/powerpoint/2010/main" val="1337873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592F9C-D386-4177-9206-FFF6BC138046}" type="datetimeFigureOut">
              <a:rPr lang="en-US" smtClean="0"/>
              <a:t>9/1/2024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88516F-9508-4298-80F4-B823C9AF8633}" type="slidenum">
              <a:rPr lang="en-US" smtClean="0"/>
              <a:t>‹#›</a:t>
            </a:fld>
            <a:endParaRPr lang="en-US"/>
          </a:p>
        </p:txBody>
      </p:sp>
    </p:spTree>
    <p:extLst>
      <p:ext uri="{BB962C8B-B14F-4D97-AF65-F5344CB8AC3E}">
        <p14:creationId xmlns:p14="http://schemas.microsoft.com/office/powerpoint/2010/main" val="34780570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OLS Regression </a:t>
            </a:r>
            <a:r>
              <a:rPr lang="en-US" dirty="0"/>
              <a:t>	</a:t>
            </a:r>
            <a:br>
              <a:rPr lang="en-US" dirty="0"/>
            </a:br>
            <a:endParaRPr lang="en-US" dirty="0"/>
          </a:p>
        </p:txBody>
      </p:sp>
      <p:sp>
        <p:nvSpPr>
          <p:cNvPr id="3" name="Subtitle 2"/>
          <p:cNvSpPr>
            <a:spLocks noGrp="1"/>
          </p:cNvSpPr>
          <p:nvPr>
            <p:ph type="subTitle" idx="1"/>
          </p:nvPr>
        </p:nvSpPr>
        <p:spPr/>
        <p:txBody>
          <a:bodyPr>
            <a:normAutofit/>
          </a:bodyPr>
          <a:lstStyle/>
          <a:p>
            <a:endParaRPr lang="en-US" dirty="0"/>
          </a:p>
        </p:txBody>
      </p:sp>
    </p:spTree>
    <p:extLst>
      <p:ext uri="{BB962C8B-B14F-4D97-AF65-F5344CB8AC3E}">
        <p14:creationId xmlns:p14="http://schemas.microsoft.com/office/powerpoint/2010/main" val="528135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b="1" dirty="0"/>
              <a:t>OLS:- </a:t>
            </a:r>
            <a:r>
              <a:rPr lang="en-US" dirty="0"/>
              <a:t>Ordinary least squares (OLS) or linear least squares is a </a:t>
            </a:r>
            <a:r>
              <a:rPr lang="en-US" u="sng" dirty="0"/>
              <a:t>method</a:t>
            </a:r>
            <a:r>
              <a:rPr lang="en-US" dirty="0"/>
              <a:t> for estimating the unknown parameters in a linear regression model, with the goal of </a:t>
            </a:r>
            <a:r>
              <a:rPr lang="en-US" u="sng" dirty="0"/>
              <a:t>minimizing the differences between the observed responses</a:t>
            </a:r>
            <a:r>
              <a:rPr lang="en-US" dirty="0"/>
              <a:t> in some arbitrary dataset and the </a:t>
            </a:r>
            <a:r>
              <a:rPr lang="en-US" u="sng" dirty="0"/>
              <a:t>responses predicted </a:t>
            </a:r>
            <a:r>
              <a:rPr lang="en-US" dirty="0"/>
              <a:t>by the linear approximation of the data. </a:t>
            </a:r>
          </a:p>
          <a:p>
            <a:pPr algn="just"/>
            <a:endParaRPr lang="en-US" dirty="0"/>
          </a:p>
          <a:p>
            <a:pPr algn="just"/>
            <a:r>
              <a:rPr lang="en-US" dirty="0"/>
              <a:t>This is applied in </a:t>
            </a:r>
            <a:r>
              <a:rPr lang="en-US" u="sng" dirty="0"/>
              <a:t>both simple linear and multiple regression.</a:t>
            </a:r>
            <a:endParaRPr lang="en-US" dirty="0"/>
          </a:p>
          <a:p>
            <a:pPr marL="0" indent="0">
              <a:buNone/>
            </a:pPr>
            <a:r>
              <a:rPr lang="en-US" dirty="0"/>
              <a:t>	</a:t>
            </a:r>
          </a:p>
          <a:p>
            <a:endParaRPr lang="en-US" dirty="0"/>
          </a:p>
        </p:txBody>
      </p:sp>
    </p:spTree>
    <p:extLst>
      <p:ext uri="{BB962C8B-B14F-4D97-AF65-F5344CB8AC3E}">
        <p14:creationId xmlns:p14="http://schemas.microsoft.com/office/powerpoint/2010/main" val="3338421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Infinite number of lines can be plotted through the scatter diagram between 2 variables.</a:t>
            </a:r>
          </a:p>
          <a:p>
            <a:r>
              <a:rPr lang="en-US" dirty="0"/>
              <a:t>Calculate the error terms of each line</a:t>
            </a:r>
          </a:p>
          <a:p>
            <a:r>
              <a:rPr lang="en-US" dirty="0"/>
              <a:t>Errors can be positive or negative, therefore sum of squared errors.</a:t>
            </a:r>
          </a:p>
          <a:p>
            <a:r>
              <a:rPr lang="en-US" dirty="0"/>
              <a:t>The line of best fit is one which has minimum sum of squared errors</a:t>
            </a:r>
          </a:p>
          <a:p>
            <a:r>
              <a:rPr lang="en-US" dirty="0"/>
              <a:t>Error is calculated as deviation of point from line as parallel to Y axis  </a:t>
            </a:r>
          </a:p>
          <a:p>
            <a:endParaRPr lang="en-US" dirty="0"/>
          </a:p>
          <a:p>
            <a:endParaRPr lang="en-US" dirty="0"/>
          </a:p>
        </p:txBody>
      </p:sp>
    </p:spTree>
    <p:extLst>
      <p:ext uri="{BB962C8B-B14F-4D97-AF65-F5344CB8AC3E}">
        <p14:creationId xmlns:p14="http://schemas.microsoft.com/office/powerpoint/2010/main" val="3446377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 of squared error</a:t>
            </a:r>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981200"/>
            <a:ext cx="5562600" cy="44764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H="1">
            <a:off x="1905000" y="2971800"/>
            <a:ext cx="1981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762000" y="2590800"/>
            <a:ext cx="1066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Error term</a:t>
            </a:r>
          </a:p>
        </p:txBody>
      </p:sp>
    </p:spTree>
    <p:extLst>
      <p:ext uri="{BB962C8B-B14F-4D97-AF65-F5344CB8AC3E}">
        <p14:creationId xmlns:p14="http://schemas.microsoft.com/office/powerpoint/2010/main" val="2866454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1600200"/>
            <a:ext cx="5514975" cy="4595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ight Brace 3"/>
          <p:cNvSpPr/>
          <p:nvPr/>
        </p:nvSpPr>
        <p:spPr>
          <a:xfrm>
            <a:off x="3095368" y="4191000"/>
            <a:ext cx="152400" cy="533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3095368" y="4090427"/>
            <a:ext cx="990600" cy="338554"/>
          </a:xfrm>
          <a:prstGeom prst="rect">
            <a:avLst/>
          </a:prstGeom>
          <a:noFill/>
        </p:spPr>
        <p:txBody>
          <a:bodyPr wrap="square" rtlCol="0">
            <a:spAutoFit/>
          </a:bodyPr>
          <a:lstStyle/>
          <a:p>
            <a:r>
              <a:rPr lang="en-US" sz="1600" dirty="0">
                <a:solidFill>
                  <a:srgbClr val="FF0000"/>
                </a:solidFill>
              </a:rPr>
              <a:t>erro</a:t>
            </a:r>
            <a:r>
              <a:rPr lang="en-US" sz="1600" dirty="0"/>
              <a:t>r</a:t>
            </a:r>
          </a:p>
        </p:txBody>
      </p:sp>
    </p:spTree>
    <p:extLst>
      <p:ext uri="{BB962C8B-B14F-4D97-AF65-F5344CB8AC3E}">
        <p14:creationId xmlns:p14="http://schemas.microsoft.com/office/powerpoint/2010/main" val="1953413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linear regression we try to minimize the sum of squared errors.</a:t>
            </a:r>
          </a:p>
          <a:p>
            <a:r>
              <a:rPr lang="en-US" dirty="0"/>
              <a:t>The best regression line is one which has minimum sum of squared errors.</a:t>
            </a:r>
          </a:p>
          <a:p>
            <a:endParaRPr lang="en-US" dirty="0"/>
          </a:p>
        </p:txBody>
      </p:sp>
    </p:spTree>
    <p:extLst>
      <p:ext uri="{BB962C8B-B14F-4D97-AF65-F5344CB8AC3E}">
        <p14:creationId xmlns:p14="http://schemas.microsoft.com/office/powerpoint/2010/main" val="1110696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1143000"/>
          </a:xfrm>
        </p:spPr>
        <p:style>
          <a:lnRef idx="2">
            <a:schemeClr val="accent3">
              <a:shade val="50000"/>
            </a:schemeClr>
          </a:lnRef>
          <a:fillRef idx="1">
            <a:schemeClr val="accent3"/>
          </a:fillRef>
          <a:effectRef idx="0">
            <a:schemeClr val="accent3"/>
          </a:effectRef>
          <a:fontRef idx="minor">
            <a:schemeClr val="lt1"/>
          </a:fontRef>
        </p:style>
        <p:txBody>
          <a:bodyPr/>
          <a:lstStyle/>
          <a:p>
            <a:r>
              <a:rPr lang="en-US" dirty="0"/>
              <a:t>Assumptions Of OLS</a:t>
            </a:r>
          </a:p>
        </p:txBody>
      </p:sp>
      <p:sp>
        <p:nvSpPr>
          <p:cNvPr id="3" name="Content Placeholder 2"/>
          <p:cNvSpPr>
            <a:spLocks noGrp="1"/>
          </p:cNvSpPr>
          <p:nvPr>
            <p:ph idx="1"/>
          </p:nvPr>
        </p:nvSpPr>
        <p:spPr/>
        <p:txBody>
          <a:bodyPr/>
          <a:lstStyle/>
          <a:p>
            <a:pPr algn="just"/>
            <a:endParaRPr lang="en-US" dirty="0"/>
          </a:p>
          <a:p>
            <a:pPr algn="just"/>
            <a:r>
              <a:rPr lang="en-US" dirty="0"/>
              <a:t>It is important to know the underlying assumptions of OLS regression. </a:t>
            </a:r>
            <a:r>
              <a:rPr lang="en-US" u="sng" dirty="0"/>
              <a:t>This is because a lack of knowledge of OLS assumptions would result in its misuse and give incorrect results </a:t>
            </a:r>
            <a:r>
              <a:rPr lang="en-US" dirty="0"/>
              <a:t>for the econometrics test completed. The importance of OLS assumptions cannot be overemphasized. </a:t>
            </a:r>
          </a:p>
        </p:txBody>
      </p:sp>
    </p:spTree>
    <p:extLst>
      <p:ext uri="{BB962C8B-B14F-4D97-AF65-F5344CB8AC3E}">
        <p14:creationId xmlns:p14="http://schemas.microsoft.com/office/powerpoint/2010/main" val="2205582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1143000"/>
          </a:xfrm>
        </p:spPr>
        <p:style>
          <a:lnRef idx="2">
            <a:schemeClr val="accent3">
              <a:shade val="50000"/>
            </a:schemeClr>
          </a:lnRef>
          <a:fillRef idx="1">
            <a:schemeClr val="accent3"/>
          </a:fillRef>
          <a:effectRef idx="0">
            <a:schemeClr val="accent3"/>
          </a:effectRef>
          <a:fontRef idx="minor">
            <a:schemeClr val="lt1"/>
          </a:fontRef>
        </p:style>
        <p:txBody>
          <a:bodyPr>
            <a:normAutofit fontScale="90000"/>
          </a:bodyPr>
          <a:lstStyle/>
          <a:p>
            <a:br>
              <a:rPr lang="en-US" sz="3600" b="1" dirty="0"/>
            </a:br>
            <a:r>
              <a:rPr lang="en-US" sz="3600" b="1" dirty="0"/>
              <a:t>OLS Assumptions 1: Linear in Parameters</a:t>
            </a:r>
            <a:br>
              <a:rPr lang="en-US" dirty="0"/>
            </a:br>
            <a:endParaRPr lang="en-US" b="1" dirty="0"/>
          </a:p>
        </p:txBody>
      </p:sp>
      <p:sp>
        <p:nvSpPr>
          <p:cNvPr id="3" name="Content Placeholder 2"/>
          <p:cNvSpPr>
            <a:spLocks noGrp="1"/>
          </p:cNvSpPr>
          <p:nvPr>
            <p:ph idx="1"/>
          </p:nvPr>
        </p:nvSpPr>
        <p:spPr>
          <a:xfrm>
            <a:off x="457200" y="1981200"/>
            <a:ext cx="8229600" cy="4525963"/>
          </a:xfrm>
        </p:spPr>
        <p:txBody>
          <a:bodyPr>
            <a:normAutofit/>
          </a:bodyPr>
          <a:lstStyle/>
          <a:p>
            <a:pPr marL="0" indent="0" algn="just">
              <a:buNone/>
            </a:pPr>
            <a:endParaRPr lang="en-US" dirty="0"/>
          </a:p>
          <a:p>
            <a:pPr marL="0" indent="0" algn="just">
              <a:buNone/>
            </a:pPr>
            <a:r>
              <a:rPr lang="en-US" dirty="0"/>
              <a:t>When the dependent variable (Y) is a linear function of independent variables (X's) and the error term, the regression is linear in parameters and not necessarily linear in X's. </a:t>
            </a:r>
          </a:p>
          <a:p>
            <a:pPr marL="0" indent="0" algn="just">
              <a:buNone/>
            </a:pPr>
            <a:r>
              <a:rPr lang="en-US" dirty="0"/>
              <a:t>In simpler terms we can say that the parameters that is intercept and slope (B</a:t>
            </a:r>
            <a:r>
              <a:rPr lang="en-US" sz="2000" dirty="0"/>
              <a:t>0</a:t>
            </a:r>
            <a:r>
              <a:rPr lang="en-US" dirty="0"/>
              <a:t> and B</a:t>
            </a:r>
            <a:r>
              <a:rPr lang="en-US" sz="2000" dirty="0"/>
              <a:t>1</a:t>
            </a:r>
            <a:r>
              <a:rPr lang="en-US" dirty="0"/>
              <a:t>) needs to linear.</a:t>
            </a:r>
          </a:p>
        </p:txBody>
      </p:sp>
      <p:cxnSp>
        <p:nvCxnSpPr>
          <p:cNvPr id="5" name="Straight Connector 4"/>
          <p:cNvCxnSpPr/>
          <p:nvPr/>
        </p:nvCxnSpPr>
        <p:spPr>
          <a:xfrm>
            <a:off x="5334000" y="5257800"/>
            <a:ext cx="0" cy="381000"/>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6553200" y="5257800"/>
            <a:ext cx="0" cy="381000"/>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5619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style>
          <a:lnRef idx="2">
            <a:schemeClr val="accent3">
              <a:shade val="50000"/>
            </a:schemeClr>
          </a:lnRef>
          <a:fillRef idx="1">
            <a:schemeClr val="accent3"/>
          </a:fillRef>
          <a:effectRef idx="0">
            <a:schemeClr val="accent3"/>
          </a:effectRef>
          <a:fontRef idx="minor">
            <a:schemeClr val="lt1"/>
          </a:fontRef>
        </p:style>
        <p:txBody>
          <a:bodyPr/>
          <a:lstStyle/>
          <a:p>
            <a:r>
              <a:rPr lang="en-US" dirty="0"/>
              <a:t>Assumption 1</a:t>
            </a:r>
          </a:p>
        </p:txBody>
      </p:sp>
      <p:pic>
        <p:nvPicPr>
          <p:cNvPr id="4098"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brightnessContrast bright="-38000"/>
                    </a14:imgEffect>
                  </a14:imgLayer>
                </a14:imgProps>
              </a:ext>
              <a:ext uri="{28A0092B-C50C-407E-A947-70E740481C1C}">
                <a14:useLocalDpi xmlns:a14="http://schemas.microsoft.com/office/drawing/2010/main" val="0"/>
              </a:ext>
            </a:extLst>
          </a:blip>
          <a:srcRect/>
          <a:stretch>
            <a:fillRect/>
          </a:stretch>
        </p:blipFill>
        <p:spPr bwMode="auto">
          <a:xfrm>
            <a:off x="715965" y="2362200"/>
            <a:ext cx="7132636"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8943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style>
          <a:lnRef idx="2">
            <a:schemeClr val="accent3">
              <a:shade val="50000"/>
            </a:schemeClr>
          </a:lnRef>
          <a:fillRef idx="1">
            <a:schemeClr val="accent3"/>
          </a:fillRef>
          <a:effectRef idx="0">
            <a:schemeClr val="accent3"/>
          </a:effectRef>
          <a:fontRef idx="minor">
            <a:schemeClr val="lt1"/>
          </a:fontRef>
        </p:style>
        <p:txBody>
          <a:bodyPr>
            <a:normAutofit fontScale="90000"/>
          </a:bodyPr>
          <a:lstStyle/>
          <a:p>
            <a:br>
              <a:rPr lang="en-US" sz="3600" dirty="0"/>
            </a:br>
            <a:r>
              <a:rPr lang="en-US" sz="3600" dirty="0"/>
              <a:t>OLS Assumption 2: There is a random sampling of observations</a:t>
            </a:r>
            <a:br>
              <a:rPr lang="en-US" dirty="0"/>
            </a:br>
            <a:endParaRPr lang="en-US" dirty="0"/>
          </a:p>
        </p:txBody>
      </p:sp>
      <p:sp>
        <p:nvSpPr>
          <p:cNvPr id="3" name="Content Placeholder 2"/>
          <p:cNvSpPr>
            <a:spLocks noGrp="1"/>
          </p:cNvSpPr>
          <p:nvPr>
            <p:ph idx="1"/>
          </p:nvPr>
        </p:nvSpPr>
        <p:spPr>
          <a:xfrm>
            <a:off x="381000" y="2133600"/>
            <a:ext cx="8229600" cy="4525963"/>
          </a:xfrm>
        </p:spPr>
        <p:txBody>
          <a:bodyPr>
            <a:normAutofit fontScale="92500" lnSpcReduction="20000"/>
          </a:bodyPr>
          <a:lstStyle/>
          <a:p>
            <a:pPr algn="just" fontAlgn="base"/>
            <a:endParaRPr lang="en-US" sz="2400" dirty="0"/>
          </a:p>
          <a:p>
            <a:pPr algn="just" fontAlgn="base"/>
            <a:r>
              <a:rPr lang="en-US" sz="2400" dirty="0"/>
              <a:t>This assumption of OLS regression says that:</a:t>
            </a:r>
          </a:p>
          <a:p>
            <a:pPr algn="just" fontAlgn="base"/>
            <a:r>
              <a:rPr lang="en-US" sz="2400" dirty="0"/>
              <a:t>The sample taken for the linear regression model must be </a:t>
            </a:r>
            <a:r>
              <a:rPr lang="en-US" sz="2400" u="sng" dirty="0"/>
              <a:t>drawn randomly </a:t>
            </a:r>
            <a:r>
              <a:rPr lang="en-US" sz="2400" dirty="0"/>
              <a:t>from the population. For example, if you have to run a regression model to study the factors that impact the scores of students in the final exam, then you must select students randomly from the university during your data collection process, rather than adopting a convenient sampling procedure.</a:t>
            </a:r>
          </a:p>
          <a:p>
            <a:pPr algn="just" fontAlgn="base"/>
            <a:r>
              <a:rPr lang="en-US" sz="2400" dirty="0"/>
              <a:t>The </a:t>
            </a:r>
            <a:r>
              <a:rPr lang="en-US" sz="2400" u="sng" dirty="0"/>
              <a:t>number of observations </a:t>
            </a:r>
            <a:r>
              <a:rPr lang="en-US" sz="2400" dirty="0"/>
              <a:t>taken in the sample for making the linear regression model should be greater than the number of parameters to be estimated. </a:t>
            </a:r>
          </a:p>
          <a:p>
            <a:pPr algn="just" fontAlgn="base"/>
            <a:r>
              <a:rPr lang="en-US" sz="2400" dirty="0"/>
              <a:t>The </a:t>
            </a:r>
            <a:r>
              <a:rPr lang="en-US" sz="2400" u="sng" dirty="0"/>
              <a:t>X's</a:t>
            </a:r>
            <a:r>
              <a:rPr lang="en-US" sz="2400" i="1" u="sng" dirty="0"/>
              <a:t> </a:t>
            </a:r>
            <a:r>
              <a:rPr lang="en-US" sz="2400" u="sng" dirty="0"/>
              <a:t>should be fixed </a:t>
            </a:r>
            <a:r>
              <a:rPr lang="en-US" sz="2400" dirty="0"/>
              <a:t>(i.e. independent variables should impact dependent variables). It should not be the case that dependent variables impact independent variables</a:t>
            </a:r>
          </a:p>
          <a:p>
            <a:endParaRPr lang="en-US" dirty="0"/>
          </a:p>
        </p:txBody>
      </p:sp>
    </p:spTree>
    <p:extLst>
      <p:ext uri="{BB962C8B-B14F-4D97-AF65-F5344CB8AC3E}">
        <p14:creationId xmlns:p14="http://schemas.microsoft.com/office/powerpoint/2010/main" val="285056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style>
          <a:lnRef idx="2">
            <a:schemeClr val="accent3">
              <a:shade val="50000"/>
            </a:schemeClr>
          </a:lnRef>
          <a:fillRef idx="1">
            <a:schemeClr val="accent3"/>
          </a:fillRef>
          <a:effectRef idx="0">
            <a:schemeClr val="accent3"/>
          </a:effectRef>
          <a:fontRef idx="minor">
            <a:schemeClr val="lt1"/>
          </a:fontRef>
        </p:style>
        <p:txBody>
          <a:bodyPr>
            <a:normAutofit fontScale="90000"/>
          </a:bodyPr>
          <a:lstStyle/>
          <a:p>
            <a:br>
              <a:rPr lang="en-US" sz="3100" b="1" dirty="0"/>
            </a:br>
            <a:r>
              <a:rPr lang="en-US" sz="3100" b="1" dirty="0"/>
              <a:t>OLS Assumption 3: conditional mean should be zero</a:t>
            </a:r>
            <a:r>
              <a:rPr lang="en-US" sz="3100" dirty="0"/>
              <a:t>.</a:t>
            </a:r>
            <a:br>
              <a:rPr lang="en-US" dirty="0"/>
            </a:br>
            <a:endParaRPr lang="en-US" dirty="0"/>
          </a:p>
        </p:txBody>
      </p:sp>
      <p:sp>
        <p:nvSpPr>
          <p:cNvPr id="3" name="Content Placeholder 2"/>
          <p:cNvSpPr>
            <a:spLocks noGrp="1"/>
          </p:cNvSpPr>
          <p:nvPr>
            <p:ph idx="1"/>
          </p:nvPr>
        </p:nvSpPr>
        <p:spPr/>
        <p:txBody>
          <a:bodyPr>
            <a:normAutofit/>
          </a:bodyPr>
          <a:lstStyle/>
          <a:p>
            <a:pPr marL="0" indent="0">
              <a:buNone/>
            </a:pPr>
            <a:endParaRPr lang="en-US" sz="2600" b="1" dirty="0"/>
          </a:p>
          <a:p>
            <a:pPr fontAlgn="base"/>
            <a:r>
              <a:rPr lang="en-US" sz="2600" dirty="0"/>
              <a:t>The expected value of the mean of the error terms of OLS regression should be zero given the values of independent variables.</a:t>
            </a:r>
          </a:p>
          <a:p>
            <a:pPr fontAlgn="base"/>
            <a:r>
              <a:rPr lang="en-US" sz="2600" dirty="0"/>
              <a:t>In other words, the distribution of error terms has zero mean and doesn’t depend on the independent variables X's. Thus, there must be no relationship between the X's and the error term.</a:t>
            </a:r>
          </a:p>
          <a:p>
            <a:pPr fontAlgn="base"/>
            <a:endParaRPr lang="en-US" dirty="0"/>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5091112"/>
            <a:ext cx="7659277" cy="852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20501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1143000"/>
          </a:xfrm>
        </p:spPr>
        <p:style>
          <a:lnRef idx="2">
            <a:schemeClr val="accent3">
              <a:shade val="50000"/>
            </a:schemeClr>
          </a:lnRef>
          <a:fillRef idx="1">
            <a:schemeClr val="accent3"/>
          </a:fillRef>
          <a:effectRef idx="0">
            <a:schemeClr val="accent3"/>
          </a:effectRef>
          <a:fontRef idx="minor">
            <a:schemeClr val="lt1"/>
          </a:fontRef>
        </p:style>
        <p:txBody>
          <a:bodyPr>
            <a:normAutofit fontScale="90000"/>
          </a:bodyPr>
          <a:lstStyle/>
          <a:p>
            <a:r>
              <a:rPr lang="en-US" b="1" dirty="0"/>
              <a:t>OLS Assumption 4: Sample Variation</a:t>
            </a:r>
            <a:endParaRPr lang="en-US" dirty="0"/>
          </a:p>
        </p:txBody>
      </p:sp>
      <p:sp>
        <p:nvSpPr>
          <p:cNvPr id="3" name="Content Placeholder 2"/>
          <p:cNvSpPr>
            <a:spLocks noGrp="1"/>
          </p:cNvSpPr>
          <p:nvPr>
            <p:ph idx="1"/>
          </p:nvPr>
        </p:nvSpPr>
        <p:spPr>
          <a:xfrm>
            <a:off x="457200" y="2209800"/>
            <a:ext cx="8229600" cy="4525963"/>
          </a:xfrm>
        </p:spPr>
        <p:txBody>
          <a:bodyPr/>
          <a:lstStyle/>
          <a:p>
            <a:r>
              <a:rPr lang="en-US" b="1" dirty="0"/>
              <a:t>Sample variation: </a:t>
            </a:r>
            <a:r>
              <a:rPr lang="en-US" dirty="0"/>
              <a:t>The sample observations should not be of same type they should have some variation. We cant take one observation and multiply it will 100 and say we have 100 observations, this should not be done.</a:t>
            </a:r>
          </a:p>
        </p:txBody>
      </p:sp>
    </p:spTree>
    <p:extLst>
      <p:ext uri="{BB962C8B-B14F-4D97-AF65-F5344CB8AC3E}">
        <p14:creationId xmlns:p14="http://schemas.microsoft.com/office/powerpoint/2010/main" val="1625816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style>
          <a:lnRef idx="3">
            <a:schemeClr val="lt1"/>
          </a:lnRef>
          <a:fillRef idx="1">
            <a:schemeClr val="accent3"/>
          </a:fillRef>
          <a:effectRef idx="1">
            <a:schemeClr val="accent3"/>
          </a:effectRef>
          <a:fontRef idx="minor">
            <a:schemeClr val="lt1"/>
          </a:fontRef>
        </p:style>
        <p:txBody>
          <a:bodyPr>
            <a:normAutofit fontScale="90000"/>
          </a:bodyPr>
          <a:lstStyle/>
          <a:p>
            <a:r>
              <a:rPr lang="en-US" sz="3600" b="1" i="1" dirty="0"/>
              <a:t>Assumption 5:  There should be homoscedasticity and no autocorrelation</a:t>
            </a:r>
            <a:r>
              <a:rPr lang="en-US" b="1" i="1" dirty="0"/>
              <a:t>.</a:t>
            </a:r>
          </a:p>
        </p:txBody>
      </p:sp>
      <p:sp>
        <p:nvSpPr>
          <p:cNvPr id="3" name="Content Placeholder 2"/>
          <p:cNvSpPr>
            <a:spLocks noGrp="1"/>
          </p:cNvSpPr>
          <p:nvPr>
            <p:ph idx="1"/>
          </p:nvPr>
        </p:nvSpPr>
        <p:spPr/>
        <p:txBody>
          <a:bodyPr>
            <a:normAutofit fontScale="92500" lnSpcReduction="10000"/>
          </a:bodyPr>
          <a:lstStyle/>
          <a:p>
            <a:endParaRPr lang="en-US" i="1" dirty="0"/>
          </a:p>
          <a:p>
            <a:pPr algn="just"/>
            <a:r>
              <a:rPr lang="en-US" i="1" dirty="0"/>
              <a:t>The error terms all have the </a:t>
            </a:r>
            <a:r>
              <a:rPr lang="en-US" u="sng" dirty="0"/>
              <a:t>same variance </a:t>
            </a:r>
            <a:r>
              <a:rPr lang="en-US" i="1" dirty="0"/>
              <a:t>and are </a:t>
            </a:r>
            <a:r>
              <a:rPr lang="en-US" i="1" u="sng" dirty="0"/>
              <a:t>not correlated </a:t>
            </a:r>
            <a:r>
              <a:rPr lang="en-US" i="1" dirty="0"/>
              <a:t>with each other.</a:t>
            </a:r>
            <a:r>
              <a:rPr lang="en-US" dirty="0"/>
              <a:t>  In statistical jargon, the </a:t>
            </a:r>
            <a:r>
              <a:rPr lang="en-US" u="sng" dirty="0"/>
              <a:t>error terms are independent </a:t>
            </a:r>
            <a:r>
              <a:rPr lang="en-US" dirty="0"/>
              <a:t>and identically distributed .  This assumption means the error terms associated with different observations are not related to each other</a:t>
            </a:r>
          </a:p>
          <a:p>
            <a:pPr algn="just"/>
            <a:r>
              <a:rPr lang="en-US" dirty="0"/>
              <a:t>This OLS assumption of </a:t>
            </a:r>
            <a:r>
              <a:rPr lang="en-US" u="sng" dirty="0"/>
              <a:t>no autocorrelation </a:t>
            </a:r>
            <a:r>
              <a:rPr lang="en-US" dirty="0"/>
              <a:t>says that the error terms of different observations should not be correlated with each other.</a:t>
            </a:r>
          </a:p>
        </p:txBody>
      </p:sp>
    </p:spTree>
    <p:extLst>
      <p:ext uri="{BB962C8B-B14F-4D97-AF65-F5344CB8AC3E}">
        <p14:creationId xmlns:p14="http://schemas.microsoft.com/office/powerpoint/2010/main" val="2101673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fontAlgn="base"/>
            <a:r>
              <a:rPr lang="en-US" dirty="0"/>
              <a:t>According to this OLS assumption, the error terms in the regression should all have the same variance.</a:t>
            </a:r>
          </a:p>
          <a:p>
            <a:pPr algn="just" fontAlgn="base"/>
            <a:endParaRPr lang="en-US" dirty="0"/>
          </a:p>
          <a:p>
            <a:pPr algn="just" fontAlgn="base"/>
            <a:endParaRPr lang="en-US" dirty="0"/>
          </a:p>
          <a:p>
            <a:pPr algn="just" fontAlgn="base"/>
            <a:r>
              <a:rPr lang="en-US" dirty="0"/>
              <a:t>If this variance is not constant (i.e. dependent on X’s), then the linear regression model has heteroscedastic errors and likely to give incorrect estimates.</a:t>
            </a:r>
          </a:p>
          <a:p>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162299"/>
            <a:ext cx="3733800" cy="7362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49681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Homoscedasticity</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8400" y="2667000"/>
            <a:ext cx="3195637" cy="3316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6333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0150" y="2677319"/>
            <a:ext cx="6743700" cy="2371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99507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dirty="0"/>
              <a:t>If the residuals are scattered with no pattern and you see a line (red) more or less straight, you can say that there is homoscedasticity  in the error terms/residuals</a:t>
            </a:r>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1" y="1600200"/>
            <a:ext cx="5551648"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1981200" y="6096000"/>
            <a:ext cx="4572000" cy="646331"/>
          </a:xfrm>
          <a:prstGeom prst="rect">
            <a:avLst/>
          </a:prstGeom>
        </p:spPr>
        <p:txBody>
          <a:bodyPr>
            <a:spAutoFit/>
          </a:bodyPr>
          <a:lstStyle/>
          <a:p>
            <a:pPr algn="ctr"/>
            <a:r>
              <a:rPr lang="en-US" b="1" dirty="0"/>
              <a:t>A fitted value is simply another name for a predicted value</a:t>
            </a:r>
          </a:p>
        </p:txBody>
      </p:sp>
    </p:spTree>
    <p:extLst>
      <p:ext uri="{BB962C8B-B14F-4D97-AF65-F5344CB8AC3E}">
        <p14:creationId xmlns:p14="http://schemas.microsoft.com/office/powerpoint/2010/main" val="951215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style>
          <a:lnRef idx="2">
            <a:schemeClr val="accent3">
              <a:shade val="50000"/>
            </a:schemeClr>
          </a:lnRef>
          <a:fillRef idx="1">
            <a:schemeClr val="accent3"/>
          </a:fillRef>
          <a:effectRef idx="0">
            <a:schemeClr val="accent3"/>
          </a:effectRef>
          <a:fontRef idx="minor">
            <a:schemeClr val="lt1"/>
          </a:fontRef>
        </p:style>
        <p:txBody>
          <a:bodyPr/>
          <a:lstStyle/>
          <a:p>
            <a:r>
              <a:rPr lang="en-US" dirty="0"/>
              <a:t>No Autocorrelation</a:t>
            </a:r>
          </a:p>
        </p:txBody>
      </p:sp>
      <p:sp>
        <p:nvSpPr>
          <p:cNvPr id="3" name="Content Placeholder 2"/>
          <p:cNvSpPr>
            <a:spLocks noGrp="1"/>
          </p:cNvSpPr>
          <p:nvPr>
            <p:ph idx="1"/>
          </p:nvPr>
        </p:nvSpPr>
        <p:spPr/>
        <p:txBody>
          <a:bodyPr>
            <a:noAutofit/>
          </a:bodyPr>
          <a:lstStyle/>
          <a:p>
            <a:pPr algn="just"/>
            <a:endParaRPr lang="en-US" sz="2400" dirty="0"/>
          </a:p>
          <a:p>
            <a:pPr algn="just"/>
            <a:r>
              <a:rPr lang="en-US" sz="2400" dirty="0"/>
              <a:t>This OLS assumption of no autocorrelation says that the </a:t>
            </a:r>
            <a:r>
              <a:rPr lang="en-US" sz="2400" u="sng" dirty="0"/>
              <a:t>error terms of different observations should not be correlated with each other.</a:t>
            </a:r>
          </a:p>
          <a:p>
            <a:pPr algn="just"/>
            <a:r>
              <a:rPr lang="en-US" sz="2400" dirty="0"/>
              <a:t>In simple terms, this OLS assumption means that the error terms should be IID (</a:t>
            </a:r>
            <a:r>
              <a:rPr lang="en-US" sz="2400" u="sng" dirty="0"/>
              <a:t>Independent and Identically Distributed</a:t>
            </a:r>
            <a:r>
              <a:rPr lang="en-US" sz="2400" dirty="0"/>
              <a:t>).</a:t>
            </a:r>
          </a:p>
          <a:p>
            <a:pPr algn="just"/>
            <a:r>
              <a:rPr lang="en-US" sz="2400" dirty="0"/>
              <a:t>In linear regression the error terms needs to be independent.</a:t>
            </a:r>
          </a:p>
          <a:p>
            <a:pPr algn="just"/>
            <a:r>
              <a:rPr lang="en-US" sz="2400" dirty="0"/>
              <a:t>If violation happens we need to detect and correct them.</a:t>
            </a:r>
          </a:p>
        </p:txBody>
      </p:sp>
    </p:spTree>
    <p:extLst>
      <p:ext uri="{BB962C8B-B14F-4D97-AF65-F5344CB8AC3E}">
        <p14:creationId xmlns:p14="http://schemas.microsoft.com/office/powerpoint/2010/main" val="2547912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There should exist no correlation between the series and its past values.</a:t>
            </a:r>
          </a:p>
          <a:p>
            <a:pPr marL="0" indent="0">
              <a:buNone/>
            </a:pPr>
            <a:r>
              <a:rPr lang="en-US" dirty="0"/>
              <a:t>There should not exist correlation between pairs of error terms at a certain lag.</a:t>
            </a:r>
          </a:p>
          <a:p>
            <a:pPr marL="0" indent="0">
              <a:buNone/>
            </a:pPr>
            <a:r>
              <a:rPr lang="en-US" dirty="0"/>
              <a:t>Lag 1: autocorrelation: between e</a:t>
            </a:r>
            <a:r>
              <a:rPr lang="en-US" sz="2400" dirty="0"/>
              <a:t>t</a:t>
            </a:r>
            <a:r>
              <a:rPr lang="en-US" dirty="0"/>
              <a:t> and e</a:t>
            </a:r>
            <a:r>
              <a:rPr lang="en-US" sz="1600" dirty="0"/>
              <a:t>t-1</a:t>
            </a:r>
          </a:p>
          <a:p>
            <a:pPr marL="0" indent="0">
              <a:buNone/>
            </a:pPr>
            <a:r>
              <a:rPr lang="en-US" dirty="0"/>
              <a:t>Lag 2: autocorrelation : between e</a:t>
            </a:r>
            <a:r>
              <a:rPr lang="en-US" sz="2400" dirty="0"/>
              <a:t>t</a:t>
            </a:r>
            <a:r>
              <a:rPr lang="en-US" dirty="0"/>
              <a:t> and e</a:t>
            </a:r>
            <a:r>
              <a:rPr lang="en-US" sz="1600" dirty="0"/>
              <a:t>t-2</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01019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81000" y="1505079"/>
            <a:ext cx="8229600" cy="4525963"/>
          </a:xfrm>
        </p:spPr>
        <p:txBody>
          <a:bodyPr/>
          <a:lstStyle/>
          <a:p>
            <a:r>
              <a:rPr lang="en-US" dirty="0"/>
              <a:t>Usually in time series analysis we find the autocorrelation of error terms.</a:t>
            </a:r>
          </a:p>
          <a:p>
            <a:endParaRPr lang="en-US" dirty="0"/>
          </a:p>
          <a:p>
            <a:endParaRPr lang="en-US" dirty="0"/>
          </a:p>
        </p:txBody>
      </p:sp>
      <p:cxnSp>
        <p:nvCxnSpPr>
          <p:cNvPr id="5" name="Straight Connector 4"/>
          <p:cNvCxnSpPr/>
          <p:nvPr/>
        </p:nvCxnSpPr>
        <p:spPr>
          <a:xfrm>
            <a:off x="1524000" y="3276600"/>
            <a:ext cx="0" cy="2438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1524000" y="4495800"/>
            <a:ext cx="2362200" cy="76200"/>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18288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152338" y="40005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432154" y="411917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2781300" y="4209113"/>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905000" y="4800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2081134" y="472065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2944318" y="4953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2731957" y="39243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287218" y="472065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1984323" y="5016708"/>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3124200" y="48387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2626402" y="4800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3086100" y="4321539"/>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3211018" y="4052965"/>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1981200" y="4191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3287218" y="4298429"/>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2866869" y="468255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1836295" y="4374629"/>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2335343" y="4374629"/>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2588302" y="4397739"/>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2373443" y="4911777"/>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2438400" y="4648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2590800" y="4800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2590800" y="49911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2286000" y="4495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p:cNvCxnSpPr/>
          <p:nvPr/>
        </p:nvCxnSpPr>
        <p:spPr>
          <a:xfrm>
            <a:off x="5181600" y="35814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5181600" y="4648200"/>
            <a:ext cx="3352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2133600" y="4343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5410200" y="4359639"/>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5562600" y="4512039"/>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376472" y="4216607"/>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5867400" y="4816839"/>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6019800" y="4969239"/>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6248400" y="4956747"/>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6407670" y="4854939"/>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5715000" y="4664439"/>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5867400" y="4816839"/>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6019800" y="4969239"/>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6743700" y="4475813"/>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6819900" y="4179132"/>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6972300" y="4285313"/>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7076607" y="4512039"/>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7253366" y="4756878"/>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7378284" y="5029200"/>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7546299" y="4871803"/>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7772400" y="4542019"/>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6629400" y="4720652"/>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7860467" y="4378376"/>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6172200" y="5121639"/>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8153400" y="4269073"/>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954156" y="4239093"/>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7992256" y="4064208"/>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8669311" y="4838700"/>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8579370" y="5054808"/>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8455077" y="4739389"/>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8305800" y="4485806"/>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8503170" y="4909278"/>
            <a:ext cx="76200" cy="599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p:cNvSpPr txBox="1"/>
          <p:nvPr/>
        </p:nvSpPr>
        <p:spPr>
          <a:xfrm>
            <a:off x="1066800" y="5715000"/>
            <a:ext cx="3886200" cy="369332"/>
          </a:xfrm>
          <a:prstGeom prst="rect">
            <a:avLst/>
          </a:prstGeom>
          <a:noFill/>
        </p:spPr>
        <p:txBody>
          <a:bodyPr wrap="square" rtlCol="0">
            <a:spAutoFit/>
          </a:bodyPr>
          <a:lstStyle/>
          <a:p>
            <a:r>
              <a:rPr lang="en-US" b="1" dirty="0"/>
              <a:t>Uncorrelated error terms</a:t>
            </a:r>
          </a:p>
        </p:txBody>
      </p:sp>
      <p:sp>
        <p:nvSpPr>
          <p:cNvPr id="69" name="TextBox 68"/>
          <p:cNvSpPr txBox="1"/>
          <p:nvPr/>
        </p:nvSpPr>
        <p:spPr>
          <a:xfrm>
            <a:off x="5126636" y="5723532"/>
            <a:ext cx="3886200" cy="369332"/>
          </a:xfrm>
          <a:prstGeom prst="rect">
            <a:avLst/>
          </a:prstGeom>
          <a:noFill/>
        </p:spPr>
        <p:txBody>
          <a:bodyPr wrap="square" rtlCol="0">
            <a:spAutoFit/>
          </a:bodyPr>
          <a:lstStyle/>
          <a:p>
            <a:r>
              <a:rPr lang="en-US" b="1" dirty="0"/>
              <a:t>correlated error terms</a:t>
            </a:r>
          </a:p>
        </p:txBody>
      </p:sp>
      <p:sp>
        <p:nvSpPr>
          <p:cNvPr id="70" name="TextBox 69"/>
          <p:cNvSpPr txBox="1"/>
          <p:nvPr/>
        </p:nvSpPr>
        <p:spPr>
          <a:xfrm>
            <a:off x="457200" y="4533900"/>
            <a:ext cx="914400" cy="646331"/>
          </a:xfrm>
          <a:prstGeom prst="rect">
            <a:avLst/>
          </a:prstGeom>
          <a:noFill/>
        </p:spPr>
        <p:txBody>
          <a:bodyPr wrap="square" rtlCol="0">
            <a:spAutoFit/>
          </a:bodyPr>
          <a:lstStyle/>
          <a:p>
            <a:r>
              <a:rPr lang="en-US" dirty="0"/>
              <a:t>Error terms</a:t>
            </a:r>
          </a:p>
        </p:txBody>
      </p:sp>
      <p:sp>
        <p:nvSpPr>
          <p:cNvPr id="71" name="TextBox 70"/>
          <p:cNvSpPr txBox="1"/>
          <p:nvPr/>
        </p:nvSpPr>
        <p:spPr>
          <a:xfrm>
            <a:off x="4212236" y="4329034"/>
            <a:ext cx="914400" cy="646331"/>
          </a:xfrm>
          <a:prstGeom prst="rect">
            <a:avLst/>
          </a:prstGeom>
          <a:noFill/>
        </p:spPr>
        <p:txBody>
          <a:bodyPr wrap="square" rtlCol="0">
            <a:spAutoFit/>
          </a:bodyPr>
          <a:lstStyle/>
          <a:p>
            <a:r>
              <a:rPr lang="en-US" dirty="0"/>
              <a:t>Error terms</a:t>
            </a:r>
          </a:p>
        </p:txBody>
      </p:sp>
    </p:spTree>
    <p:extLst>
      <p:ext uri="{BB962C8B-B14F-4D97-AF65-F5344CB8AC3E}">
        <p14:creationId xmlns:p14="http://schemas.microsoft.com/office/powerpoint/2010/main" val="2363954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0" y="1816951"/>
            <a:ext cx="5562600" cy="41493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50338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style>
          <a:lnRef idx="2">
            <a:schemeClr val="accent3">
              <a:shade val="50000"/>
            </a:schemeClr>
          </a:lnRef>
          <a:fillRef idx="1">
            <a:schemeClr val="accent3"/>
          </a:fillRef>
          <a:effectRef idx="0">
            <a:schemeClr val="accent3"/>
          </a:effectRef>
          <a:fontRef idx="minor">
            <a:schemeClr val="lt1"/>
          </a:fontRef>
        </p:style>
        <p:txBody>
          <a:bodyPr/>
          <a:lstStyle/>
          <a:p>
            <a:r>
              <a:rPr lang="en-US" b="1" dirty="0"/>
              <a:t>How to check for auto correlation</a:t>
            </a:r>
          </a:p>
        </p:txBody>
      </p:sp>
      <p:sp>
        <p:nvSpPr>
          <p:cNvPr id="3" name="Content Placeholder 2"/>
          <p:cNvSpPr>
            <a:spLocks noGrp="1"/>
          </p:cNvSpPr>
          <p:nvPr>
            <p:ph idx="1"/>
          </p:nvPr>
        </p:nvSpPr>
        <p:spPr/>
        <p:txBody>
          <a:bodyPr/>
          <a:lstStyle/>
          <a:p>
            <a:endParaRPr lang="en-US" sz="2000" dirty="0"/>
          </a:p>
          <a:p>
            <a:endParaRPr lang="en-US" sz="2000" dirty="0"/>
          </a:p>
          <a:p>
            <a:r>
              <a:rPr lang="en-US" sz="2000" dirty="0"/>
              <a:t>In statistics, the </a:t>
            </a:r>
            <a:r>
              <a:rPr lang="en-US" sz="2000" b="1" dirty="0"/>
              <a:t>Durbin</a:t>
            </a:r>
            <a:r>
              <a:rPr lang="en-US" sz="2000" dirty="0"/>
              <a:t>–</a:t>
            </a:r>
            <a:r>
              <a:rPr lang="en-US" sz="2000" b="1" dirty="0"/>
              <a:t>Watson statistic</a:t>
            </a:r>
            <a:r>
              <a:rPr lang="en-US" sz="2000" dirty="0"/>
              <a:t> is a </a:t>
            </a:r>
            <a:r>
              <a:rPr lang="en-US" sz="2000" b="1" dirty="0"/>
              <a:t>test statistic</a:t>
            </a:r>
            <a:r>
              <a:rPr lang="en-US" sz="2000" dirty="0"/>
              <a:t> used to detect the presence of autocorrelation in error terms.</a:t>
            </a:r>
          </a:p>
          <a:p>
            <a:r>
              <a:rPr lang="en-US" sz="2000" dirty="0"/>
              <a:t>The null and alternative hypotheses of the Durbin-Watson test are:</a:t>
            </a:r>
          </a:p>
          <a:p>
            <a:r>
              <a:rPr lang="en-US" sz="2000" dirty="0"/>
              <a:t>H0: The errors are uncorrelated</a:t>
            </a:r>
          </a:p>
          <a:p>
            <a:r>
              <a:rPr lang="en-US" sz="2000" dirty="0"/>
              <a:t>H1: The errors are correlated</a:t>
            </a:r>
          </a:p>
          <a:p>
            <a:endParaRPr lang="en-US" sz="2000" dirty="0"/>
          </a:p>
          <a:p>
            <a:r>
              <a:rPr lang="en-US" sz="2000" dirty="0"/>
              <a:t>And the test statistic D is:</a:t>
            </a:r>
          </a:p>
          <a:p>
            <a:endParaRPr lang="en-US" sz="20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799" y="4343400"/>
            <a:ext cx="1922045" cy="51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descr="Using the Durbin-Watson (DW) test for ...">
            <a:extLst>
              <a:ext uri="{FF2B5EF4-FFF2-40B4-BE49-F238E27FC236}">
                <a16:creationId xmlns:a16="http://schemas.microsoft.com/office/drawing/2014/main" id="{A60A146D-0B34-2069-6DEC-D25B160635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5263116"/>
            <a:ext cx="3571875" cy="1276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033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5267" y="1828800"/>
            <a:ext cx="6935782" cy="3886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9004" y="5705167"/>
            <a:ext cx="1922045" cy="51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a:extLst>
              <a:ext uri="{FF2B5EF4-FFF2-40B4-BE49-F238E27FC236}">
                <a16:creationId xmlns:a16="http://schemas.microsoft.com/office/drawing/2014/main" id="{00EC7B8F-74ED-32F2-ECC4-F425460D0177}"/>
              </a:ext>
            </a:extLst>
          </p:cNvPr>
          <p:cNvPicPr>
            <a:picLocks noChangeAspect="1"/>
          </p:cNvPicPr>
          <p:nvPr/>
        </p:nvPicPr>
        <p:blipFill>
          <a:blip r:embed="rId4"/>
          <a:stretch>
            <a:fillRect/>
          </a:stretch>
        </p:blipFill>
        <p:spPr>
          <a:xfrm>
            <a:off x="6544105" y="3771899"/>
            <a:ext cx="2313912" cy="830635"/>
          </a:xfrm>
          <a:prstGeom prst="rect">
            <a:avLst/>
          </a:prstGeom>
        </p:spPr>
      </p:pic>
    </p:spTree>
    <p:extLst>
      <p:ext uri="{BB962C8B-B14F-4D97-AF65-F5344CB8AC3E}">
        <p14:creationId xmlns:p14="http://schemas.microsoft.com/office/powerpoint/2010/main" val="3447351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838200"/>
            <a:ext cx="8229600" cy="1143000"/>
          </a:xfrm>
        </p:spPr>
        <p:style>
          <a:lnRef idx="2">
            <a:schemeClr val="accent3">
              <a:shade val="50000"/>
            </a:schemeClr>
          </a:lnRef>
          <a:fillRef idx="1">
            <a:schemeClr val="accent3"/>
          </a:fillRef>
          <a:effectRef idx="0">
            <a:schemeClr val="accent3"/>
          </a:effectRef>
          <a:fontRef idx="minor">
            <a:schemeClr val="lt1"/>
          </a:fontRef>
        </p:style>
        <p:txBody>
          <a:bodyPr/>
          <a:lstStyle/>
          <a:p>
            <a:r>
              <a:rPr lang="en-US" b="1" dirty="0"/>
              <a:t>Positive Autocorrelation</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0" y="1981200"/>
            <a:ext cx="5367337" cy="3692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52400" y="5858656"/>
            <a:ext cx="8610600" cy="646331"/>
          </a:xfrm>
          <a:prstGeom prst="rect">
            <a:avLst/>
          </a:prstGeom>
          <a:noFill/>
        </p:spPr>
        <p:txBody>
          <a:bodyPr wrap="square" rtlCol="0">
            <a:spAutoFit/>
          </a:bodyPr>
          <a:lstStyle/>
          <a:p>
            <a:r>
              <a:rPr lang="en-US" b="1" dirty="0"/>
              <a:t>Error terms instead of randomly distributed are positive if previous term is positive and negative error if previous error term is negative. </a:t>
            </a:r>
          </a:p>
        </p:txBody>
      </p:sp>
    </p:spTree>
    <p:extLst>
      <p:ext uri="{BB962C8B-B14F-4D97-AF65-F5344CB8AC3E}">
        <p14:creationId xmlns:p14="http://schemas.microsoft.com/office/powerpoint/2010/main" val="14949817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style>
          <a:lnRef idx="2">
            <a:schemeClr val="accent3">
              <a:shade val="50000"/>
            </a:schemeClr>
          </a:lnRef>
          <a:fillRef idx="1">
            <a:schemeClr val="accent3"/>
          </a:fillRef>
          <a:effectRef idx="0">
            <a:schemeClr val="accent3"/>
          </a:effectRef>
          <a:fontRef idx="minor">
            <a:schemeClr val="lt1"/>
          </a:fontRef>
        </p:style>
        <p:txBody>
          <a:bodyPr/>
          <a:lstStyle/>
          <a:p>
            <a:r>
              <a:rPr lang="en-US" dirty="0"/>
              <a:t>No autocorrelation</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905471"/>
            <a:ext cx="6172200" cy="44032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3886200" y="4800600"/>
            <a:ext cx="25908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9920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Negative Autocorrelation</a:t>
            </a:r>
          </a:p>
        </p:txBody>
      </p:sp>
      <p:sp>
        <p:nvSpPr>
          <p:cNvPr id="4" name="TextBox 3"/>
          <p:cNvSpPr txBox="1"/>
          <p:nvPr/>
        </p:nvSpPr>
        <p:spPr>
          <a:xfrm>
            <a:off x="914400" y="5987534"/>
            <a:ext cx="8077200" cy="369332"/>
          </a:xfrm>
          <a:prstGeom prst="rect">
            <a:avLst/>
          </a:prstGeom>
          <a:noFill/>
        </p:spPr>
        <p:txBody>
          <a:bodyPr wrap="square" rtlCol="0">
            <a:spAutoFit/>
          </a:bodyPr>
          <a:lstStyle/>
          <a:p>
            <a:r>
              <a:rPr lang="en-US" b="1" dirty="0"/>
              <a:t>Sequence of positive and negative </a:t>
            </a:r>
            <a:r>
              <a:rPr lang="en-US" b="1"/>
              <a:t>error terms.</a:t>
            </a:r>
            <a:endParaRPr lang="en-US" b="1" dirty="0"/>
          </a:p>
        </p:txBody>
      </p:sp>
      <p:sp>
        <p:nvSpPr>
          <p:cNvPr id="6" name="Content Placeholder 5"/>
          <p:cNvSpPr>
            <a:spLocks noGrp="1"/>
          </p:cNvSpPr>
          <p:nvPr>
            <p:ph idx="1"/>
          </p:nvPr>
        </p:nvSpPr>
        <p:spPr>
          <a:xfrm>
            <a:off x="417159" y="1472814"/>
            <a:ext cx="8229600" cy="4525963"/>
          </a:xfrm>
        </p:spPr>
        <p:txBody>
          <a:bodyPr/>
          <a:lstStyle/>
          <a:p>
            <a:endParaRPr lang="en-US" dirty="0"/>
          </a:p>
        </p:txBody>
      </p:sp>
      <p:pic>
        <p:nvPicPr>
          <p:cNvPr id="410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159" y="2214563"/>
            <a:ext cx="7812441" cy="3152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35300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72190" y="863184"/>
            <a:ext cx="8229600" cy="1143000"/>
          </a:xfrm>
        </p:spPr>
        <p:style>
          <a:lnRef idx="3">
            <a:schemeClr val="lt1"/>
          </a:lnRef>
          <a:fillRef idx="1">
            <a:schemeClr val="accent3"/>
          </a:fillRef>
          <a:effectRef idx="1">
            <a:schemeClr val="accent3"/>
          </a:effectRef>
          <a:fontRef idx="minor">
            <a:schemeClr val="lt1"/>
          </a:fontRef>
        </p:style>
        <p:txBody>
          <a:bodyPr>
            <a:normAutofit/>
          </a:bodyPr>
          <a:lstStyle/>
          <a:p>
            <a:r>
              <a:rPr lang="en-US" sz="3600" b="1" i="1" dirty="0"/>
              <a:t>Assumption 6:  </a:t>
            </a:r>
            <a:r>
              <a:rPr lang="en-US" sz="3200" b="1" dirty="0"/>
              <a:t>There is no multi-collinearity</a:t>
            </a:r>
            <a:endParaRPr lang="en-US" sz="3200" dirty="0"/>
          </a:p>
        </p:txBody>
      </p:sp>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2438400"/>
            <a:ext cx="7391400" cy="289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48849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In statistics, </a:t>
            </a:r>
            <a:r>
              <a:rPr lang="en-US" b="1" dirty="0"/>
              <a:t>multicollinearity</a:t>
            </a:r>
            <a:r>
              <a:rPr lang="en-US" dirty="0"/>
              <a:t> (also collinearity) is a phenomenon in which one predictor variable in a multiple regression model can be linearly predicted from the others with a substantial degree of accuracy.</a:t>
            </a:r>
          </a:p>
        </p:txBody>
      </p:sp>
    </p:spTree>
    <p:extLst>
      <p:ext uri="{BB962C8B-B14F-4D97-AF65-F5344CB8AC3E}">
        <p14:creationId xmlns:p14="http://schemas.microsoft.com/office/powerpoint/2010/main" val="923093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70000" lnSpcReduction="20000"/>
          </a:bodyPr>
          <a:lstStyle/>
          <a:p>
            <a:pPr algn="just" fontAlgn="base"/>
            <a:r>
              <a:rPr lang="en-US" dirty="0"/>
              <a:t>For example, suppose you spend your 24 hours in a day on three things – sleeping, studying, or playing. Now, if you run a regression with dependent variable as exam score/performance and independent variables as time spent sleeping, time spent studying, and time spent playing, then this assumption will not hold.</a:t>
            </a:r>
          </a:p>
          <a:p>
            <a:pPr algn="just" fontAlgn="base"/>
            <a:r>
              <a:rPr lang="en-US" dirty="0"/>
              <a:t>This is because there is perfect collinearity between the three independent variables.</a:t>
            </a:r>
          </a:p>
          <a:p>
            <a:pPr algn="just" fontAlgn="base"/>
            <a:r>
              <a:rPr lang="en-US" dirty="0"/>
              <a:t>Time spent sleeping = 24 – Time spent studying – Time spent playing.</a:t>
            </a:r>
          </a:p>
          <a:p>
            <a:pPr algn="just" fontAlgn="base"/>
            <a:r>
              <a:rPr lang="en-US" dirty="0"/>
              <a:t>In such a situation, it is better to drop one of the three independent variables from the linear regression model. If the relationship (correlation) between independent variables is strong (but not exactly perfect), it still causes problems in OLS estimators. Hence, this OLS assumption says that you should select independent variables that are not correlated with each other.</a:t>
            </a:r>
          </a:p>
          <a:p>
            <a:pPr algn="just"/>
            <a:endParaRPr lang="en-US" dirty="0"/>
          </a:p>
        </p:txBody>
      </p:sp>
    </p:spTree>
    <p:extLst>
      <p:ext uri="{BB962C8B-B14F-4D97-AF65-F5344CB8AC3E}">
        <p14:creationId xmlns:p14="http://schemas.microsoft.com/office/powerpoint/2010/main" val="4075665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Hence, there should not be any inter correlation between the independent variables like x1, x2, x3 </a:t>
            </a:r>
            <a:r>
              <a:rPr lang="en-US" dirty="0" err="1"/>
              <a:t>etc</a:t>
            </a:r>
            <a:r>
              <a:rPr lang="en-US" dirty="0"/>
              <a:t>…</a:t>
            </a:r>
          </a:p>
          <a:p>
            <a:pPr algn="just"/>
            <a:r>
              <a:rPr lang="en-US" dirty="0"/>
              <a:t>If there is moderate to high inter correlation among the independent variables it gives rise to problem of multi collinearity.</a:t>
            </a:r>
          </a:p>
          <a:p>
            <a:pPr algn="just"/>
            <a:endParaRPr lang="en-US" dirty="0"/>
          </a:p>
          <a:p>
            <a:pPr algn="just"/>
            <a:endParaRPr lang="en-US" dirty="0"/>
          </a:p>
        </p:txBody>
      </p:sp>
    </p:spTree>
    <p:extLst>
      <p:ext uri="{BB962C8B-B14F-4D97-AF65-F5344CB8AC3E}">
        <p14:creationId xmlns:p14="http://schemas.microsoft.com/office/powerpoint/2010/main" val="29325260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style>
          <a:lnRef idx="2">
            <a:schemeClr val="accent3">
              <a:shade val="50000"/>
            </a:schemeClr>
          </a:lnRef>
          <a:fillRef idx="1">
            <a:schemeClr val="accent3"/>
          </a:fillRef>
          <a:effectRef idx="0">
            <a:schemeClr val="accent3"/>
          </a:effectRef>
          <a:fontRef idx="minor">
            <a:schemeClr val="lt1"/>
          </a:fontRef>
        </p:style>
        <p:txBody>
          <a:bodyPr>
            <a:normAutofit fontScale="90000"/>
          </a:bodyPr>
          <a:lstStyle/>
          <a:p>
            <a:r>
              <a:rPr lang="en-US" dirty="0"/>
              <a:t>What are the problems of inter collinearity</a:t>
            </a:r>
          </a:p>
        </p:txBody>
      </p:sp>
      <p:sp>
        <p:nvSpPr>
          <p:cNvPr id="3" name="Content Placeholder 2"/>
          <p:cNvSpPr>
            <a:spLocks noGrp="1"/>
          </p:cNvSpPr>
          <p:nvPr>
            <p:ph idx="1"/>
          </p:nvPr>
        </p:nvSpPr>
        <p:spPr/>
        <p:txBody>
          <a:bodyPr/>
          <a:lstStyle/>
          <a:p>
            <a:pPr algn="just"/>
            <a:endParaRPr lang="en-US" dirty="0"/>
          </a:p>
          <a:p>
            <a:pPr algn="just"/>
            <a:r>
              <a:rPr lang="en-US" dirty="0"/>
              <a:t>If two independent variables  contain essentially same information to a large extend, </a:t>
            </a:r>
            <a:r>
              <a:rPr lang="en-US" u="sng" dirty="0"/>
              <a:t>one gains little by using both in the regression model.</a:t>
            </a:r>
          </a:p>
          <a:p>
            <a:pPr algn="just"/>
            <a:r>
              <a:rPr lang="en-US" dirty="0"/>
              <a:t>Multicollinearity leads to unstable estimates, it tends to increase the variance of regression coefficients.</a:t>
            </a:r>
          </a:p>
        </p:txBody>
      </p:sp>
    </p:spTree>
    <p:extLst>
      <p:ext uri="{BB962C8B-B14F-4D97-AF65-F5344CB8AC3E}">
        <p14:creationId xmlns:p14="http://schemas.microsoft.com/office/powerpoint/2010/main" val="14842841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style>
          <a:lnRef idx="2">
            <a:schemeClr val="accent3">
              <a:shade val="50000"/>
            </a:schemeClr>
          </a:lnRef>
          <a:fillRef idx="1">
            <a:schemeClr val="accent3"/>
          </a:fillRef>
          <a:effectRef idx="0">
            <a:schemeClr val="accent3"/>
          </a:effectRef>
          <a:fontRef idx="minor">
            <a:schemeClr val="lt1"/>
          </a:fontRef>
        </p:style>
        <p:txBody>
          <a:bodyPr>
            <a:normAutofit fontScale="90000"/>
          </a:bodyPr>
          <a:lstStyle/>
          <a:p>
            <a:r>
              <a:rPr lang="en-US" dirty="0"/>
              <a:t>How to assess presence of multicollinearity</a:t>
            </a:r>
          </a:p>
        </p:txBody>
      </p:sp>
      <p:sp>
        <p:nvSpPr>
          <p:cNvPr id="3" name="Content Placeholder 2"/>
          <p:cNvSpPr>
            <a:spLocks noGrp="1"/>
          </p:cNvSpPr>
          <p:nvPr>
            <p:ph idx="1"/>
          </p:nvPr>
        </p:nvSpPr>
        <p:spPr>
          <a:xfrm>
            <a:off x="457200" y="2332037"/>
            <a:ext cx="8229600" cy="3763963"/>
          </a:xfrm>
        </p:spPr>
        <p:txBody>
          <a:bodyPr/>
          <a:lstStyle/>
          <a:p>
            <a:r>
              <a:rPr lang="en-US" dirty="0"/>
              <a:t>One way is to obtain </a:t>
            </a:r>
            <a:r>
              <a:rPr lang="en-US" b="1" dirty="0"/>
              <a:t>variance inflation factor (VIF).</a:t>
            </a:r>
          </a:p>
          <a:p>
            <a:endParaRPr lang="en-US" b="1" dirty="0"/>
          </a:p>
          <a:p>
            <a:r>
              <a:rPr lang="en-US" b="1" dirty="0"/>
              <a:t>VIF&gt;10 indicates presence of multicollinearity </a:t>
            </a:r>
            <a:r>
              <a:rPr lang="en-US" b="1" dirty="0" err="1"/>
              <a:t>ity</a:t>
            </a:r>
            <a:r>
              <a:rPr lang="en-US" b="1" dirty="0"/>
              <a:t>.</a:t>
            </a:r>
          </a:p>
        </p:txBody>
      </p:sp>
    </p:spTree>
    <p:extLst>
      <p:ext uri="{BB962C8B-B14F-4D97-AF65-F5344CB8AC3E}">
        <p14:creationId xmlns:p14="http://schemas.microsoft.com/office/powerpoint/2010/main" val="14248935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style>
          <a:lnRef idx="2">
            <a:schemeClr val="accent3">
              <a:shade val="50000"/>
            </a:schemeClr>
          </a:lnRef>
          <a:fillRef idx="1">
            <a:schemeClr val="accent3"/>
          </a:fillRef>
          <a:effectRef idx="0">
            <a:schemeClr val="accent3"/>
          </a:effectRef>
          <a:fontRef idx="minor">
            <a:schemeClr val="lt1"/>
          </a:fontRef>
        </p:style>
        <p:txBody>
          <a:bodyPr/>
          <a:lstStyle/>
          <a:p>
            <a:r>
              <a:rPr lang="en-US" b="1" dirty="0"/>
              <a:t>What is the solution</a:t>
            </a:r>
          </a:p>
        </p:txBody>
      </p:sp>
      <p:sp>
        <p:nvSpPr>
          <p:cNvPr id="3" name="Content Placeholder 2"/>
          <p:cNvSpPr>
            <a:spLocks noGrp="1"/>
          </p:cNvSpPr>
          <p:nvPr>
            <p:ph idx="1"/>
          </p:nvPr>
        </p:nvSpPr>
        <p:spPr/>
        <p:txBody>
          <a:bodyPr/>
          <a:lstStyle/>
          <a:p>
            <a:pPr algn="just"/>
            <a:endParaRPr lang="en-US" dirty="0"/>
          </a:p>
          <a:p>
            <a:pPr algn="just"/>
            <a:endParaRPr lang="en-US" dirty="0"/>
          </a:p>
          <a:p>
            <a:pPr algn="just"/>
            <a:r>
              <a:rPr lang="en-US" dirty="0"/>
              <a:t>One way is to keep only one of the two independent variables that are highly correlated in regression model.</a:t>
            </a:r>
          </a:p>
        </p:txBody>
      </p:sp>
    </p:spTree>
    <p:extLst>
      <p:ext uri="{BB962C8B-B14F-4D97-AF65-F5344CB8AC3E}">
        <p14:creationId xmlns:p14="http://schemas.microsoft.com/office/powerpoint/2010/main" val="2583023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ctr">
              <a:buNone/>
            </a:pPr>
            <a:endParaRPr lang="en-US" b="1" dirty="0"/>
          </a:p>
          <a:p>
            <a:pPr marL="0" indent="0" algn="ctr">
              <a:buNone/>
            </a:pPr>
            <a:endParaRPr lang="en-US" b="1" dirty="0"/>
          </a:p>
          <a:p>
            <a:pPr marL="0" indent="0" algn="ctr">
              <a:buNone/>
            </a:pPr>
            <a:endParaRPr lang="en-US" b="1" dirty="0"/>
          </a:p>
          <a:p>
            <a:pPr marL="0" indent="0" algn="ctr">
              <a:buNone/>
            </a:pPr>
            <a:r>
              <a:rPr lang="en-US" b="1" dirty="0"/>
              <a:t>THANK YOU</a:t>
            </a:r>
          </a:p>
        </p:txBody>
      </p:sp>
    </p:spTree>
    <p:extLst>
      <p:ext uri="{BB962C8B-B14F-4D97-AF65-F5344CB8AC3E}">
        <p14:creationId xmlns:p14="http://schemas.microsoft.com/office/powerpoint/2010/main" val="12700407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21629</TotalTime>
  <Words>1312</Words>
  <Application>Microsoft Office PowerPoint</Application>
  <PresentationFormat>On-screen Show (4:3)</PresentationFormat>
  <Paragraphs>106</Paragraphs>
  <Slides>34</Slides>
  <Notes>2</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OLS Regression   </vt:lpstr>
      <vt:lpstr>PowerPoint Presentation</vt:lpstr>
      <vt:lpstr>PowerPoint Presentation</vt:lpstr>
      <vt:lpstr>Sum of squared error</vt:lpstr>
      <vt:lpstr>PowerPoint Presentation</vt:lpstr>
      <vt:lpstr>PowerPoint Presentation</vt:lpstr>
      <vt:lpstr>Assumptions Of OLS</vt:lpstr>
      <vt:lpstr> OLS Assumptions 1: Linear in Parameters </vt:lpstr>
      <vt:lpstr>Assumption 1</vt:lpstr>
      <vt:lpstr> OLS Assumption 2: There is a random sampling of observations </vt:lpstr>
      <vt:lpstr> OLS Assumption 3: conditional mean should be zero. </vt:lpstr>
      <vt:lpstr>OLS Assumption 4: Sample Variation</vt:lpstr>
      <vt:lpstr>Assumption 5:  There should be homoscedasticity and no autocorrelation.</vt:lpstr>
      <vt:lpstr>PowerPoint Presentation</vt:lpstr>
      <vt:lpstr>Homoscedasticity</vt:lpstr>
      <vt:lpstr>PowerPoint Presentation</vt:lpstr>
      <vt:lpstr>If the residuals are scattered with no pattern and you see a line (red) more or less straight, you can say that there is homoscedasticity  in the error terms/residuals</vt:lpstr>
      <vt:lpstr>No Autocorrelation</vt:lpstr>
      <vt:lpstr>PowerPoint Presentation</vt:lpstr>
      <vt:lpstr>PowerPoint Presentation</vt:lpstr>
      <vt:lpstr>PowerPoint Presentation</vt:lpstr>
      <vt:lpstr>How to check for auto correlation</vt:lpstr>
      <vt:lpstr>PowerPoint Presentation</vt:lpstr>
      <vt:lpstr>Positive Autocorrelation</vt:lpstr>
      <vt:lpstr>No autocorrelation</vt:lpstr>
      <vt:lpstr>Negative Autocorrelation</vt:lpstr>
      <vt:lpstr>Assumption 6:  There is no multi-collinearity</vt:lpstr>
      <vt:lpstr>PowerPoint Presentation</vt:lpstr>
      <vt:lpstr>PowerPoint Presentation</vt:lpstr>
      <vt:lpstr>PowerPoint Presentation</vt:lpstr>
      <vt:lpstr>What are the problems of inter collinearity</vt:lpstr>
      <vt:lpstr>How to assess presence of multicollinearity</vt:lpstr>
      <vt:lpstr>What is the solution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OLS Regression</dc:title>
  <dc:creator>rishabh ohri</dc:creator>
  <cp:lastModifiedBy>lenovo</cp:lastModifiedBy>
  <cp:revision>71</cp:revision>
  <dcterms:created xsi:type="dcterms:W3CDTF">2018-02-25T07:11:02Z</dcterms:created>
  <dcterms:modified xsi:type="dcterms:W3CDTF">2024-09-01T04:42:34Z</dcterms:modified>
</cp:coreProperties>
</file>