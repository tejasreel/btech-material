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20" r:id="rId65"/>
    <p:sldId id="321" r:id="rId66"/>
    <p:sldId id="322" r:id="rId67"/>
    <p:sldId id="319" r:id="rId68"/>
  </p:sldIdLst>
  <p:sldSz cx="10782300" cy="6858000"/>
  <p:notesSz cx="107823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205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07140" y="-10376"/>
            <a:ext cx="6568018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17345" y="3840480"/>
            <a:ext cx="75476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9115" y="1577340"/>
            <a:ext cx="46903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52884" y="1577340"/>
            <a:ext cx="46903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8416" y="-191420"/>
            <a:ext cx="9785467" cy="16629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3864" y="1572578"/>
            <a:ext cx="9474571" cy="4581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65982" y="6377940"/>
            <a:ext cx="345033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9115" y="6377940"/>
            <a:ext cx="247992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63256" y="6377940"/>
            <a:ext cx="247992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cs224n/slides/cs224n-2019-lecture10-QA.pdf" TargetMode="External"/><Relationship Id="rId2" Type="http://schemas.openxmlformats.org/officeDocument/2006/relationships/hyperlink" Target="https://www.slideshare.net/marinasantini1/lecture-question-answe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7638" rIns="0" bIns="0" rtlCol="0">
            <a:spAutoFit/>
          </a:bodyPr>
          <a:lstStyle/>
          <a:p>
            <a:pPr marL="3835400" marR="5080" indent="-3441065">
              <a:lnSpc>
                <a:spcPct val="100000"/>
              </a:lnSpc>
              <a:spcBef>
                <a:spcPts val="100"/>
              </a:spcBef>
            </a:pPr>
            <a:r>
              <a:rPr sz="4000" spc="-30" dirty="0"/>
              <a:t>Question</a:t>
            </a:r>
            <a:r>
              <a:rPr sz="4000" spc="-225" dirty="0"/>
              <a:t> </a:t>
            </a:r>
            <a:r>
              <a:rPr sz="4000" dirty="0"/>
              <a:t>Answering:</a:t>
            </a:r>
            <a:r>
              <a:rPr sz="4000" spc="-95" dirty="0"/>
              <a:t> </a:t>
            </a:r>
            <a:r>
              <a:rPr sz="4000" dirty="0"/>
              <a:t>Learning</a:t>
            </a:r>
            <a:r>
              <a:rPr sz="4000" spc="-45" dirty="0"/>
              <a:t> </a:t>
            </a:r>
            <a:r>
              <a:rPr sz="4000" spc="-10" dirty="0"/>
              <a:t>to</a:t>
            </a:r>
            <a:r>
              <a:rPr sz="4000" spc="-240" dirty="0"/>
              <a:t> </a:t>
            </a:r>
            <a:r>
              <a:rPr sz="4000" spc="-10" dirty="0"/>
              <a:t>Answer </a:t>
            </a:r>
            <a:r>
              <a:rPr sz="4000" dirty="0"/>
              <a:t>from</a:t>
            </a:r>
            <a:r>
              <a:rPr sz="4000" spc="-245" dirty="0"/>
              <a:t> </a:t>
            </a:r>
            <a:r>
              <a:rPr sz="4000" spc="-20" dirty="0"/>
              <a:t>Text</a:t>
            </a:r>
            <a:endParaRPr sz="4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7519" y="1981200"/>
            <a:ext cx="4765674" cy="3571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2986" y="-149738"/>
            <a:ext cx="18230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822" y="461605"/>
            <a:ext cx="5020945" cy="6362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ts val="3350"/>
              </a:lnSpc>
              <a:spcBef>
                <a:spcPts val="100"/>
              </a:spcBef>
              <a:buChar char="•"/>
              <a:tabLst>
                <a:tab pos="365125" algn="l"/>
              </a:tabLst>
            </a:pP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What</a:t>
            </a:r>
            <a:r>
              <a:rPr sz="2800" spc="-5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is</a:t>
            </a:r>
            <a:r>
              <a:rPr sz="2800" spc="-3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Arial MT"/>
                <a:cs typeface="Arial MT"/>
              </a:rPr>
              <a:t>Question</a:t>
            </a:r>
            <a:r>
              <a:rPr sz="2800" spc="-17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Arial MT"/>
                <a:cs typeface="Arial MT"/>
              </a:rPr>
              <a:t>Answering?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ts val="3350"/>
              </a:lnSpc>
              <a:buChar char="•"/>
              <a:tabLst>
                <a:tab pos="365125" algn="l"/>
              </a:tabLst>
            </a:pP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Search</a:t>
            </a:r>
            <a:r>
              <a:rPr sz="2800" spc="-8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Engine</a:t>
            </a:r>
            <a:r>
              <a:rPr sz="2800" spc="-8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vs.</a:t>
            </a:r>
            <a:r>
              <a:rPr sz="2800" spc="-8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00FF"/>
                </a:solidFill>
                <a:latin typeface="Arial MT"/>
                <a:cs typeface="Arial MT"/>
              </a:rPr>
              <a:t>QA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ct val="100000"/>
              </a:lnSpc>
              <a:spcBef>
                <a:spcPts val="15"/>
              </a:spcBef>
              <a:buChar char="•"/>
              <a:tabLst>
                <a:tab pos="365125" algn="l"/>
              </a:tabLst>
            </a:pP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IR</a:t>
            </a:r>
            <a:r>
              <a:rPr sz="2800" spc="-8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Arial MT"/>
                <a:cs typeface="Arial MT"/>
              </a:rPr>
              <a:t>based</a:t>
            </a:r>
            <a:r>
              <a:rPr sz="2800" spc="-1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Approach</a:t>
            </a:r>
            <a:r>
              <a:rPr sz="2800" spc="-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for</a:t>
            </a:r>
            <a:r>
              <a:rPr sz="2800" spc="-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00FF"/>
                </a:solidFill>
                <a:latin typeface="Arial MT"/>
                <a:cs typeface="Arial MT"/>
              </a:rPr>
              <a:t>QA</a:t>
            </a:r>
            <a:endParaRPr sz="2800">
              <a:latin typeface="Arial MT"/>
              <a:cs typeface="Arial MT"/>
            </a:endParaRPr>
          </a:p>
          <a:p>
            <a:pPr marL="822325" lvl="1" indent="-397510">
              <a:lnSpc>
                <a:spcPts val="2865"/>
              </a:lnSpc>
              <a:spcBef>
                <a:spcPts val="30"/>
              </a:spcBef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Motivation</a:t>
            </a:r>
            <a:r>
              <a:rPr sz="2400" spc="-1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and</a:t>
            </a:r>
            <a:r>
              <a:rPr sz="2400" spc="-10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History</a:t>
            </a:r>
            <a:endParaRPr sz="2400">
              <a:latin typeface="Arial MT"/>
              <a:cs typeface="Arial MT"/>
            </a:endParaRPr>
          </a:p>
          <a:p>
            <a:pPr marL="822325" lvl="1" indent="-397510">
              <a:lnSpc>
                <a:spcPts val="2850"/>
              </a:lnSpc>
              <a:buChar char="–"/>
              <a:tabLst>
                <a:tab pos="822325" algn="l"/>
              </a:tabLst>
            </a:pP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AskMSR:</a:t>
            </a:r>
            <a:r>
              <a:rPr sz="2400" spc="-16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A</a:t>
            </a:r>
            <a:r>
              <a:rPr sz="2400" spc="-16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shallow</a:t>
            </a:r>
            <a:r>
              <a:rPr sz="2400" spc="-3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approach</a:t>
            </a:r>
            <a:endParaRPr sz="2400">
              <a:latin typeface="Arial MT"/>
              <a:cs typeface="Arial MT"/>
            </a:endParaRPr>
          </a:p>
          <a:p>
            <a:pPr marL="822325" lvl="1" indent="-397510">
              <a:lnSpc>
                <a:spcPts val="2840"/>
              </a:lnSpc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Common</a:t>
            </a:r>
            <a:r>
              <a:rPr sz="2400" spc="-14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Evaluation</a:t>
            </a:r>
            <a:r>
              <a:rPr sz="2400" spc="-14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Metrics</a:t>
            </a:r>
            <a:endParaRPr sz="2400">
              <a:latin typeface="Arial MT"/>
              <a:cs typeface="Arial MT"/>
            </a:endParaRPr>
          </a:p>
          <a:p>
            <a:pPr marL="365125" indent="-352425">
              <a:lnSpc>
                <a:spcPts val="3335"/>
              </a:lnSpc>
              <a:buChar char="•"/>
              <a:tabLst>
                <a:tab pos="365125" algn="l"/>
              </a:tabLst>
            </a:pP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Machine</a:t>
            </a:r>
            <a:r>
              <a:rPr sz="2800" spc="-14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Arial MT"/>
                <a:cs typeface="Arial MT"/>
              </a:rPr>
              <a:t>Comprehension</a:t>
            </a:r>
            <a:endParaRPr sz="2800">
              <a:latin typeface="Arial MT"/>
              <a:cs typeface="Arial MT"/>
            </a:endParaRPr>
          </a:p>
          <a:p>
            <a:pPr marL="822325" lvl="1" indent="-397510">
              <a:lnSpc>
                <a:spcPts val="2865"/>
              </a:lnSpc>
              <a:spcBef>
                <a:spcPts val="30"/>
              </a:spcBef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Motivation</a:t>
            </a:r>
            <a:r>
              <a:rPr sz="2400" spc="-11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and</a:t>
            </a:r>
            <a:r>
              <a:rPr sz="2400" spc="-10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History</a:t>
            </a:r>
            <a:endParaRPr sz="2400">
              <a:latin typeface="Arial MT"/>
              <a:cs typeface="Arial MT"/>
            </a:endParaRPr>
          </a:p>
          <a:p>
            <a:pPr marL="822325" lvl="1" indent="-397510">
              <a:lnSpc>
                <a:spcPts val="2850"/>
              </a:lnSpc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MC</a:t>
            </a:r>
            <a:r>
              <a:rPr sz="2400" spc="-5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Datasets</a:t>
            </a:r>
            <a:endParaRPr sz="2400">
              <a:latin typeface="Arial MT"/>
              <a:cs typeface="Arial MT"/>
            </a:endParaRPr>
          </a:p>
          <a:p>
            <a:pPr marL="822325" lvl="1" indent="-397510">
              <a:lnSpc>
                <a:spcPts val="2855"/>
              </a:lnSpc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Machine</a:t>
            </a:r>
            <a:r>
              <a:rPr sz="2400" spc="-8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37761C"/>
                </a:solidFill>
                <a:latin typeface="Arial MT"/>
                <a:cs typeface="Arial MT"/>
              </a:rPr>
              <a:t>Learning</a:t>
            </a:r>
            <a:r>
              <a:rPr sz="2400" spc="-14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Approach</a:t>
            </a:r>
            <a:endParaRPr sz="2400">
              <a:latin typeface="Arial MT"/>
              <a:cs typeface="Arial MT"/>
            </a:endParaRPr>
          </a:p>
          <a:p>
            <a:pPr marL="1279525" lvl="2" indent="-325755">
              <a:lnSpc>
                <a:spcPts val="2620"/>
              </a:lnSpc>
              <a:buChar char="•"/>
              <a:tabLst>
                <a:tab pos="1279525" algn="l"/>
              </a:tabLst>
            </a:pPr>
            <a:r>
              <a:rPr sz="2200" dirty="0">
                <a:solidFill>
                  <a:srgbClr val="980000"/>
                </a:solidFill>
                <a:latin typeface="Arial MT"/>
                <a:cs typeface="Arial MT"/>
              </a:rPr>
              <a:t>Sliding</a:t>
            </a:r>
            <a:r>
              <a:rPr sz="2200" spc="-4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980000"/>
                </a:solidFill>
                <a:latin typeface="Arial MT"/>
                <a:cs typeface="Arial MT"/>
              </a:rPr>
              <a:t>Window</a:t>
            </a:r>
            <a:endParaRPr sz="2200">
              <a:latin typeface="Arial MT"/>
              <a:cs typeface="Arial MT"/>
            </a:endParaRPr>
          </a:p>
          <a:p>
            <a:pPr marL="1279525" lvl="2" indent="-325755">
              <a:lnSpc>
                <a:spcPts val="2620"/>
              </a:lnSpc>
              <a:buChar char="•"/>
              <a:tabLst>
                <a:tab pos="1279525" algn="l"/>
              </a:tabLst>
            </a:pPr>
            <a:r>
              <a:rPr sz="2200" dirty="0">
                <a:solidFill>
                  <a:srgbClr val="980000"/>
                </a:solidFill>
                <a:latin typeface="Arial MT"/>
                <a:cs typeface="Arial MT"/>
              </a:rPr>
              <a:t>Logistic</a:t>
            </a:r>
            <a:r>
              <a:rPr sz="2200" spc="-8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980000"/>
                </a:solidFill>
                <a:latin typeface="Arial MT"/>
                <a:cs typeface="Arial MT"/>
              </a:rPr>
              <a:t>Regression</a:t>
            </a:r>
            <a:endParaRPr sz="2200">
              <a:latin typeface="Arial MT"/>
              <a:cs typeface="Arial MT"/>
            </a:endParaRPr>
          </a:p>
          <a:p>
            <a:pPr marL="822325" lvl="1" indent="-397510">
              <a:lnSpc>
                <a:spcPts val="2860"/>
              </a:lnSpc>
              <a:buChar char="–"/>
              <a:tabLst>
                <a:tab pos="822325" algn="l"/>
              </a:tabLst>
            </a:pPr>
            <a:r>
              <a:rPr sz="2400" dirty="0">
                <a:solidFill>
                  <a:srgbClr val="37761C"/>
                </a:solidFill>
                <a:latin typeface="Arial MT"/>
                <a:cs typeface="Arial MT"/>
              </a:rPr>
              <a:t>Deep</a:t>
            </a:r>
            <a:r>
              <a:rPr sz="2400" spc="-40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37761C"/>
                </a:solidFill>
                <a:latin typeface="Arial MT"/>
                <a:cs typeface="Arial MT"/>
              </a:rPr>
              <a:t>Learning</a:t>
            </a:r>
            <a:r>
              <a:rPr sz="2400" spc="-145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7761C"/>
                </a:solidFill>
                <a:latin typeface="Arial MT"/>
                <a:cs typeface="Arial MT"/>
              </a:rPr>
              <a:t>Approach</a:t>
            </a:r>
            <a:endParaRPr sz="2400">
              <a:latin typeface="Arial MT"/>
              <a:cs typeface="Arial MT"/>
            </a:endParaRPr>
          </a:p>
          <a:p>
            <a:pPr marL="1279525" lvl="2" indent="-325755">
              <a:lnSpc>
                <a:spcPts val="2620"/>
              </a:lnSpc>
              <a:buChar char="•"/>
              <a:tabLst>
                <a:tab pos="1279525" algn="l"/>
              </a:tabLst>
            </a:pPr>
            <a:r>
              <a:rPr sz="2200" spc="-20" dirty="0">
                <a:solidFill>
                  <a:srgbClr val="980000"/>
                </a:solidFill>
                <a:latin typeface="Arial MT"/>
                <a:cs typeface="Arial MT"/>
              </a:rPr>
              <a:t>Stanford</a:t>
            </a:r>
            <a:r>
              <a:rPr sz="2200" spc="-1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980000"/>
                </a:solidFill>
                <a:latin typeface="Arial MT"/>
                <a:cs typeface="Arial MT"/>
              </a:rPr>
              <a:t>Attentive</a:t>
            </a:r>
            <a:r>
              <a:rPr sz="2200" spc="-8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980000"/>
                </a:solidFill>
                <a:latin typeface="Arial MT"/>
                <a:cs typeface="Arial MT"/>
              </a:rPr>
              <a:t>Reader</a:t>
            </a:r>
            <a:endParaRPr sz="2200">
              <a:latin typeface="Arial MT"/>
              <a:cs typeface="Arial MT"/>
            </a:endParaRPr>
          </a:p>
          <a:p>
            <a:pPr marL="1279525" lvl="2" indent="-325755">
              <a:lnSpc>
                <a:spcPts val="2625"/>
              </a:lnSpc>
              <a:buChar char="•"/>
              <a:tabLst>
                <a:tab pos="1279525" algn="l"/>
              </a:tabLst>
            </a:pPr>
            <a:r>
              <a:rPr sz="2200" spc="-20" dirty="0">
                <a:solidFill>
                  <a:srgbClr val="980000"/>
                </a:solidFill>
                <a:latin typeface="Arial MT"/>
                <a:cs typeface="Arial MT"/>
              </a:rPr>
              <a:t>Stanford</a:t>
            </a:r>
            <a:r>
              <a:rPr sz="2200" spc="-1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980000"/>
                </a:solidFill>
                <a:latin typeface="Arial MT"/>
                <a:cs typeface="Arial MT"/>
              </a:rPr>
              <a:t>Attentive</a:t>
            </a:r>
            <a:r>
              <a:rPr sz="2200" spc="-8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980000"/>
                </a:solidFill>
                <a:latin typeface="Arial MT"/>
                <a:cs typeface="Arial MT"/>
              </a:rPr>
              <a:t>Reader++</a:t>
            </a:r>
            <a:endParaRPr sz="2200">
              <a:latin typeface="Arial MT"/>
              <a:cs typeface="Arial MT"/>
            </a:endParaRPr>
          </a:p>
          <a:p>
            <a:pPr marL="1279525" lvl="2" indent="-325755">
              <a:lnSpc>
                <a:spcPts val="2615"/>
              </a:lnSpc>
              <a:buChar char="•"/>
              <a:tabLst>
                <a:tab pos="1279525" algn="l"/>
              </a:tabLst>
            </a:pPr>
            <a:r>
              <a:rPr sz="2200" spc="-10" dirty="0">
                <a:solidFill>
                  <a:srgbClr val="980000"/>
                </a:solidFill>
                <a:latin typeface="Arial MT"/>
                <a:cs typeface="Arial MT"/>
              </a:rPr>
              <a:t>BiDAF</a:t>
            </a:r>
            <a:endParaRPr sz="2200">
              <a:latin typeface="Arial MT"/>
              <a:cs typeface="Arial MT"/>
            </a:endParaRPr>
          </a:p>
          <a:p>
            <a:pPr marL="365125" indent="-352425">
              <a:lnSpc>
                <a:spcPts val="3340"/>
              </a:lnSpc>
              <a:buChar char="•"/>
              <a:tabLst>
                <a:tab pos="365125" algn="l"/>
              </a:tabLst>
            </a:pPr>
            <a:r>
              <a:rPr sz="2800" spc="-10" dirty="0">
                <a:solidFill>
                  <a:srgbClr val="0000FF"/>
                </a:solidFill>
                <a:latin typeface="Arial MT"/>
                <a:cs typeface="Arial MT"/>
              </a:rPr>
              <a:t>References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61747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Question</a:t>
            </a:r>
            <a:r>
              <a:rPr spc="-210" dirty="0"/>
              <a:t> </a:t>
            </a:r>
            <a:r>
              <a:rPr spc="-10" dirty="0"/>
              <a:t>Answering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147500"/>
            <a:ext cx="10641425" cy="4562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  <a:tabLst>
                <a:tab pos="6684009" algn="l"/>
              </a:tabLst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Engine</a:t>
            </a:r>
            <a:r>
              <a:rPr spc="-12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10" dirty="0"/>
              <a:t>moving</a:t>
            </a:r>
            <a:r>
              <a:rPr dirty="0"/>
              <a:t>	towards</a:t>
            </a:r>
            <a:r>
              <a:rPr spc="-45" dirty="0"/>
              <a:t> </a:t>
            </a:r>
            <a:r>
              <a:rPr spc="-25" dirty="0"/>
              <a:t>QA!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2725" y="1185862"/>
            <a:ext cx="8000999" cy="4724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  <a:tabLst>
                <a:tab pos="6684009" algn="l"/>
              </a:tabLst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Engine</a:t>
            </a:r>
            <a:r>
              <a:rPr spc="-12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10" dirty="0"/>
              <a:t>moving</a:t>
            </a:r>
            <a:r>
              <a:rPr dirty="0"/>
              <a:t>	towards</a:t>
            </a:r>
            <a:r>
              <a:rPr spc="-45" dirty="0"/>
              <a:t> </a:t>
            </a:r>
            <a:r>
              <a:rPr spc="-25" dirty="0"/>
              <a:t>QA!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0812" y="1247775"/>
            <a:ext cx="7924799" cy="42576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  <a:tabLst>
                <a:tab pos="6684009" algn="l"/>
              </a:tabLst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Engine</a:t>
            </a:r>
            <a:r>
              <a:rPr spc="-12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10" dirty="0"/>
              <a:t>moving</a:t>
            </a:r>
            <a:r>
              <a:rPr dirty="0"/>
              <a:t>	towards</a:t>
            </a:r>
            <a:r>
              <a:rPr spc="-45" dirty="0"/>
              <a:t> </a:t>
            </a:r>
            <a:r>
              <a:rPr spc="-25" dirty="0"/>
              <a:t>QA!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425" y="1143000"/>
            <a:ext cx="7924799" cy="50291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  <a:tabLst>
                <a:tab pos="6684009" algn="l"/>
              </a:tabLst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Engine</a:t>
            </a:r>
            <a:r>
              <a:rPr spc="-12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10" dirty="0"/>
              <a:t>moving</a:t>
            </a:r>
            <a:r>
              <a:rPr dirty="0"/>
              <a:t>	towards</a:t>
            </a:r>
            <a:r>
              <a:rPr spc="-45" dirty="0"/>
              <a:t> </a:t>
            </a:r>
            <a:r>
              <a:rPr spc="-25" dirty="0"/>
              <a:t>QA!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643" y="1241636"/>
            <a:ext cx="9359068" cy="4578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100"/>
              </a:spcBef>
              <a:tabLst>
                <a:tab pos="6684009" algn="l"/>
              </a:tabLst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Engine</a:t>
            </a:r>
            <a:r>
              <a:rPr spc="-12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10" dirty="0"/>
              <a:t>moving</a:t>
            </a:r>
            <a:r>
              <a:rPr dirty="0"/>
              <a:t>	towards</a:t>
            </a:r>
            <a:r>
              <a:rPr spc="-45" dirty="0"/>
              <a:t> </a:t>
            </a:r>
            <a:r>
              <a:rPr spc="-25" dirty="0"/>
              <a:t>QA!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205" y="1461682"/>
            <a:ext cx="10354619" cy="50021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7928" y="188060"/>
            <a:ext cx="86842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5425" algn="l"/>
              </a:tabLst>
            </a:pPr>
            <a:r>
              <a:rPr spc="-30" dirty="0"/>
              <a:t>Question</a:t>
            </a:r>
            <a:r>
              <a:rPr spc="-210" dirty="0"/>
              <a:t> </a:t>
            </a:r>
            <a:r>
              <a:rPr spc="-10" dirty="0"/>
              <a:t>Answering:</a:t>
            </a:r>
            <a:r>
              <a:rPr dirty="0"/>
              <a:t>	</a:t>
            </a:r>
            <a:r>
              <a:rPr spc="-45" dirty="0"/>
              <a:t>IBM’s</a:t>
            </a:r>
            <a:r>
              <a:rPr spc="-555" dirty="0"/>
              <a:t> </a:t>
            </a:r>
            <a:r>
              <a:rPr spc="-35" dirty="0"/>
              <a:t>Watson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7466" y="1083055"/>
            <a:ext cx="8459470" cy="875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ts val="3350"/>
              </a:lnSpc>
              <a:spcBef>
                <a:spcPts val="100"/>
              </a:spcBef>
              <a:buChar char="•"/>
              <a:tabLst>
                <a:tab pos="365125" algn="l"/>
                <a:tab pos="1279525" algn="l"/>
                <a:tab pos="3108325" algn="l"/>
                <a:tab pos="5394325" algn="l"/>
                <a:tab pos="6308725" algn="l"/>
              </a:tabLst>
            </a:pPr>
            <a:r>
              <a:rPr sz="2800" spc="-25" dirty="0">
                <a:latin typeface="Arial MT"/>
                <a:cs typeface="Arial MT"/>
              </a:rPr>
              <a:t>Won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Jeopardy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on</a:t>
            </a:r>
            <a:r>
              <a:rPr sz="2800" spc="-2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February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16,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2011!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ts val="3350"/>
              </a:lnSpc>
              <a:buChar char="•"/>
              <a:tabLst>
                <a:tab pos="365125" algn="l"/>
                <a:tab pos="2651125" algn="l"/>
                <a:tab pos="3108325" algn="l"/>
                <a:tab pos="3565525" algn="l"/>
                <a:tab pos="5394325" algn="l"/>
                <a:tab pos="7223125" algn="l"/>
              </a:tabLst>
            </a:pPr>
            <a:r>
              <a:rPr sz="2800" spc="-20" dirty="0">
                <a:latin typeface="Arial MT"/>
                <a:cs typeface="Arial MT"/>
              </a:rPr>
              <a:t>IBM’s</a:t>
            </a:r>
            <a:r>
              <a:rPr sz="2800" spc="-509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Watson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0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Question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Answering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system.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812" y="2967600"/>
            <a:ext cx="8553449" cy="30575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7928" y="188060"/>
            <a:ext cx="86842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5425" algn="l"/>
              </a:tabLst>
            </a:pPr>
            <a:r>
              <a:rPr spc="-30" dirty="0"/>
              <a:t>Question</a:t>
            </a:r>
            <a:r>
              <a:rPr spc="-210" dirty="0"/>
              <a:t> </a:t>
            </a:r>
            <a:r>
              <a:rPr spc="-10" dirty="0"/>
              <a:t>Answering:</a:t>
            </a:r>
            <a:r>
              <a:rPr dirty="0"/>
              <a:t>	</a:t>
            </a:r>
            <a:r>
              <a:rPr spc="-45" dirty="0"/>
              <a:t>IBM’s</a:t>
            </a:r>
            <a:r>
              <a:rPr spc="-555" dirty="0"/>
              <a:t> </a:t>
            </a:r>
            <a:r>
              <a:rPr spc="-35" dirty="0"/>
              <a:t>Watson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7466" y="1083055"/>
            <a:ext cx="8459470" cy="875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ts val="3350"/>
              </a:lnSpc>
              <a:spcBef>
                <a:spcPts val="100"/>
              </a:spcBef>
              <a:buChar char="•"/>
              <a:tabLst>
                <a:tab pos="365125" algn="l"/>
                <a:tab pos="1279525" algn="l"/>
                <a:tab pos="3108325" algn="l"/>
                <a:tab pos="5394325" algn="l"/>
                <a:tab pos="6308725" algn="l"/>
              </a:tabLst>
            </a:pPr>
            <a:r>
              <a:rPr sz="2800" spc="-25" dirty="0">
                <a:latin typeface="Arial MT"/>
                <a:cs typeface="Arial MT"/>
              </a:rPr>
              <a:t>Won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Jeopardy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on</a:t>
            </a:r>
            <a:r>
              <a:rPr sz="2800" spc="-2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February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16,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2011!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ts val="3350"/>
              </a:lnSpc>
              <a:buChar char="•"/>
              <a:tabLst>
                <a:tab pos="365125" algn="l"/>
                <a:tab pos="2651125" algn="l"/>
                <a:tab pos="3108325" algn="l"/>
                <a:tab pos="3565525" algn="l"/>
                <a:tab pos="5394325" algn="l"/>
                <a:tab pos="7223125" algn="l"/>
              </a:tabLst>
            </a:pPr>
            <a:r>
              <a:rPr sz="2800" spc="-20" dirty="0">
                <a:latin typeface="Arial MT"/>
                <a:cs typeface="Arial MT"/>
              </a:rPr>
              <a:t>IBM’s</a:t>
            </a:r>
            <a:r>
              <a:rPr sz="2800" spc="-509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Watson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0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Question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Answering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system.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3712" y="2909012"/>
            <a:ext cx="7943849" cy="19907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7928" y="188060"/>
            <a:ext cx="86842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5425" algn="l"/>
              </a:tabLst>
            </a:pPr>
            <a:r>
              <a:rPr spc="-30" dirty="0"/>
              <a:t>Question</a:t>
            </a:r>
            <a:r>
              <a:rPr spc="-210" dirty="0"/>
              <a:t> </a:t>
            </a:r>
            <a:r>
              <a:rPr spc="-10" dirty="0"/>
              <a:t>Answering:</a:t>
            </a:r>
            <a:r>
              <a:rPr dirty="0"/>
              <a:t>	</a:t>
            </a:r>
            <a:r>
              <a:rPr spc="-45" dirty="0"/>
              <a:t>IBM’s</a:t>
            </a:r>
            <a:r>
              <a:rPr spc="-555" dirty="0"/>
              <a:t> </a:t>
            </a:r>
            <a:r>
              <a:rPr spc="-35" dirty="0"/>
              <a:t>Watson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7466" y="1083055"/>
            <a:ext cx="8459470" cy="875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ts val="3350"/>
              </a:lnSpc>
              <a:spcBef>
                <a:spcPts val="100"/>
              </a:spcBef>
              <a:buChar char="•"/>
              <a:tabLst>
                <a:tab pos="365125" algn="l"/>
                <a:tab pos="1279525" algn="l"/>
                <a:tab pos="3108325" algn="l"/>
                <a:tab pos="5394325" algn="l"/>
                <a:tab pos="6308725" algn="l"/>
              </a:tabLst>
            </a:pPr>
            <a:r>
              <a:rPr sz="2800" spc="-25" dirty="0">
                <a:latin typeface="Arial MT"/>
                <a:cs typeface="Arial MT"/>
              </a:rPr>
              <a:t>Won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Jeopardy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on</a:t>
            </a:r>
            <a:r>
              <a:rPr sz="2800" spc="-2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February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16,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2011!</a:t>
            </a:r>
            <a:endParaRPr sz="2800">
              <a:latin typeface="Arial MT"/>
              <a:cs typeface="Arial MT"/>
            </a:endParaRPr>
          </a:p>
          <a:p>
            <a:pPr marL="365125" indent="-352425">
              <a:lnSpc>
                <a:spcPts val="3350"/>
              </a:lnSpc>
              <a:buChar char="•"/>
              <a:tabLst>
                <a:tab pos="365125" algn="l"/>
                <a:tab pos="2651125" algn="l"/>
                <a:tab pos="3108325" algn="l"/>
                <a:tab pos="3565525" algn="l"/>
                <a:tab pos="5394325" algn="l"/>
                <a:tab pos="7223125" algn="l"/>
              </a:tabLst>
            </a:pPr>
            <a:r>
              <a:rPr sz="2800" spc="-20" dirty="0">
                <a:latin typeface="Arial MT"/>
                <a:cs typeface="Arial MT"/>
              </a:rPr>
              <a:t>IBM’s</a:t>
            </a:r>
            <a:r>
              <a:rPr sz="2800" spc="-509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Watson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0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Question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Answering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system.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962" y="2926737"/>
            <a:ext cx="8686799" cy="27527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3812540">
              <a:lnSpc>
                <a:spcPct val="100000"/>
              </a:lnSpc>
              <a:spcBef>
                <a:spcPts val="100"/>
              </a:spcBef>
            </a:pPr>
            <a:r>
              <a:rPr dirty="0"/>
              <a:t>Apple</a:t>
            </a:r>
            <a:r>
              <a:rPr spc="-140" dirty="0"/>
              <a:t> </a:t>
            </a:r>
            <a:r>
              <a:rPr spc="-20" dirty="0"/>
              <a:t>Siri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500" y="918074"/>
            <a:ext cx="3550613" cy="553378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7600" y="1022762"/>
            <a:ext cx="4374474" cy="55744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710" y="210875"/>
            <a:ext cx="9323626" cy="62241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8308" y="188060"/>
            <a:ext cx="26631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Motivation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066" y="1083055"/>
            <a:ext cx="6421120" cy="87566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65760" marR="5080" indent="-353695">
              <a:lnSpc>
                <a:spcPts val="3340"/>
              </a:lnSpc>
              <a:spcBef>
                <a:spcPts val="215"/>
              </a:spcBef>
              <a:buChar char="•"/>
              <a:tabLst>
                <a:tab pos="365760" algn="l"/>
                <a:tab pos="3217545" algn="l"/>
                <a:tab pos="4846320" algn="l"/>
              </a:tabLst>
            </a:pPr>
            <a:r>
              <a:rPr sz="2800" b="1" spc="-10" dirty="0">
                <a:latin typeface="Arial"/>
                <a:cs typeface="Arial"/>
              </a:rPr>
              <a:t>Conversational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10" dirty="0">
                <a:latin typeface="Arial"/>
                <a:cs typeface="Arial"/>
              </a:rPr>
              <a:t>Agents: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spc="-10" dirty="0">
                <a:latin typeface="Arial MT"/>
                <a:cs typeface="Arial MT"/>
              </a:rPr>
              <a:t>Facebook </a:t>
            </a:r>
            <a:r>
              <a:rPr sz="2800" dirty="0">
                <a:latin typeface="Arial MT"/>
                <a:cs typeface="Arial MT"/>
              </a:rPr>
              <a:t>Google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9079" y="1083055"/>
            <a:ext cx="29940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3925" algn="l"/>
                <a:tab pos="2133600" algn="l"/>
              </a:tabLst>
            </a:pPr>
            <a:r>
              <a:rPr sz="2800" spc="-20" dirty="0">
                <a:latin typeface="Arial MT"/>
                <a:cs typeface="Arial MT"/>
              </a:rPr>
              <a:t>(M),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Apple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(Siri),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066" y="1935226"/>
            <a:ext cx="9825355" cy="4309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4490" indent="-35179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64490" algn="l"/>
              </a:tabLst>
            </a:pPr>
            <a:r>
              <a:rPr sz="2800" b="1" spc="-10" dirty="0">
                <a:latin typeface="Arial"/>
                <a:cs typeface="Arial"/>
              </a:rPr>
              <a:t>Google</a:t>
            </a:r>
            <a:r>
              <a:rPr sz="2800" b="1" spc="-1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Assistant: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Ask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questions.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Tell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things.</a:t>
            </a:r>
            <a:endParaRPr sz="2800">
              <a:latin typeface="Arial MT"/>
              <a:cs typeface="Arial MT"/>
            </a:endParaRPr>
          </a:p>
          <a:p>
            <a:pPr marL="363855" marR="10795" indent="-351790" algn="just">
              <a:lnSpc>
                <a:spcPct val="100400"/>
              </a:lnSpc>
              <a:buFont typeface="Arial MT"/>
              <a:buChar char="•"/>
              <a:tabLst>
                <a:tab pos="365760" algn="l"/>
              </a:tabLst>
            </a:pPr>
            <a:r>
              <a:rPr sz="2800" b="1" dirty="0">
                <a:latin typeface="Arial"/>
                <a:cs typeface="Arial"/>
              </a:rPr>
              <a:t>Jeopardy!:</a:t>
            </a:r>
            <a:r>
              <a:rPr sz="2800" b="1" spc="-25" dirty="0">
                <a:latin typeface="Arial"/>
                <a:cs typeface="Arial"/>
              </a:rPr>
              <a:t> 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2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2011,</a:t>
            </a:r>
            <a:r>
              <a:rPr sz="2800" spc="-2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2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IBM</a:t>
            </a:r>
            <a:r>
              <a:rPr sz="2800" spc="-2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Watson</a:t>
            </a:r>
            <a:r>
              <a:rPr sz="2800" spc="-2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computer</a:t>
            </a:r>
            <a:r>
              <a:rPr sz="2800" spc="-25" dirty="0">
                <a:latin typeface="Arial MT"/>
                <a:cs typeface="Arial MT"/>
              </a:rPr>
              <a:t>  </a:t>
            </a:r>
            <a:r>
              <a:rPr sz="2800" spc="-10" dirty="0">
                <a:latin typeface="Arial MT"/>
                <a:cs typeface="Arial MT"/>
              </a:rPr>
              <a:t>system 	</a:t>
            </a:r>
            <a:r>
              <a:rPr sz="2800" dirty="0">
                <a:latin typeface="Arial MT"/>
                <a:cs typeface="Arial MT"/>
              </a:rPr>
              <a:t>competed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Jeopardy!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against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former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winners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won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	</a:t>
            </a:r>
            <a:r>
              <a:rPr sz="2800" dirty="0">
                <a:latin typeface="Arial MT"/>
                <a:cs typeface="Arial MT"/>
              </a:rPr>
              <a:t>first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place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prize.</a:t>
            </a:r>
            <a:endParaRPr sz="2800">
              <a:latin typeface="Arial MT"/>
              <a:cs typeface="Arial MT"/>
            </a:endParaRPr>
          </a:p>
          <a:p>
            <a:pPr marL="363855" marR="5080" indent="-351790" algn="just">
              <a:lnSpc>
                <a:spcPct val="100400"/>
              </a:lnSpc>
              <a:buFont typeface="Arial MT"/>
              <a:buChar char="•"/>
              <a:tabLst>
                <a:tab pos="365760" algn="l"/>
              </a:tabLst>
            </a:pPr>
            <a:r>
              <a:rPr sz="2800" b="1" dirty="0">
                <a:latin typeface="Arial"/>
                <a:cs typeface="Arial"/>
              </a:rPr>
              <a:t>Biomedical</a:t>
            </a:r>
            <a:r>
              <a:rPr sz="2800" b="1" spc="2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and</a:t>
            </a:r>
            <a:r>
              <a:rPr sz="2800" b="1" spc="2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Clinical</a:t>
            </a:r>
            <a:r>
              <a:rPr sz="2800" b="1" spc="2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QA:</a:t>
            </a:r>
            <a:r>
              <a:rPr sz="2800" b="1" spc="27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Urgent</a:t>
            </a:r>
            <a:r>
              <a:rPr sz="2800" spc="2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2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2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</a:t>
            </a:r>
            <a:r>
              <a:rPr sz="2800" spc="22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that 	</a:t>
            </a:r>
            <a:r>
              <a:rPr sz="2800" dirty="0">
                <a:latin typeface="Arial MT"/>
                <a:cs typeface="Arial MT"/>
              </a:rPr>
              <a:t>accepts</a:t>
            </a:r>
            <a:r>
              <a:rPr sz="2800" spc="6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queries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medical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practitioners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61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natural 	</a:t>
            </a:r>
            <a:r>
              <a:rPr sz="2800" dirty="0">
                <a:latin typeface="Arial MT"/>
                <a:cs typeface="Arial MT"/>
              </a:rPr>
              <a:t>language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returns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answers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quickly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efficiently 	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biomedical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literature,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EMR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  <a:p>
            <a:pPr marL="363855" marR="19685" indent="-351790" algn="just">
              <a:lnSpc>
                <a:spcPct val="100400"/>
              </a:lnSpc>
              <a:spcBef>
                <a:spcPts val="5"/>
              </a:spcBef>
              <a:buFont typeface="Arial MT"/>
              <a:buChar char="•"/>
              <a:tabLst>
                <a:tab pos="365760" algn="l"/>
              </a:tabLst>
            </a:pPr>
            <a:r>
              <a:rPr sz="2800" b="1" dirty="0">
                <a:latin typeface="Arial"/>
                <a:cs typeface="Arial"/>
              </a:rPr>
              <a:t>Online</a:t>
            </a:r>
            <a:r>
              <a:rPr sz="2800" b="1" spc="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knowledge</a:t>
            </a:r>
            <a:r>
              <a:rPr sz="2800" b="1" spc="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service: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online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service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provide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	</a:t>
            </a:r>
            <a:r>
              <a:rPr sz="2800" dirty="0">
                <a:latin typeface="Arial MT"/>
                <a:cs typeface="Arial MT"/>
              </a:rPr>
              <a:t>answer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various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question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science,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mathematics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8258" y="188060"/>
            <a:ext cx="56438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History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066" y="1083055"/>
            <a:ext cx="9825990" cy="47332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65760" marR="25400" indent="-353695">
              <a:lnSpc>
                <a:spcPts val="3340"/>
              </a:lnSpc>
              <a:spcBef>
                <a:spcPts val="225"/>
              </a:spcBef>
              <a:buChar char="•"/>
              <a:tabLst>
                <a:tab pos="365760" algn="l"/>
                <a:tab pos="1385570" algn="l"/>
                <a:tab pos="2702560" algn="l"/>
                <a:tab pos="4801870" algn="l"/>
                <a:tab pos="6296025" algn="l"/>
                <a:tab pos="7355840" algn="l"/>
                <a:tab pos="8870315" algn="l"/>
                <a:tab pos="9297670" algn="l"/>
              </a:tabLst>
            </a:pPr>
            <a:r>
              <a:rPr sz="2800" spc="-20" dirty="0">
                <a:latin typeface="Arial MT"/>
                <a:cs typeface="Arial MT"/>
              </a:rPr>
              <a:t>Open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domain</a:t>
            </a:r>
            <a:r>
              <a:rPr sz="2800" dirty="0">
                <a:latin typeface="Arial MT"/>
                <a:cs typeface="Arial MT"/>
              </a:rPr>
              <a:t>	QA</a:t>
            </a:r>
            <a:r>
              <a:rPr sz="2800" spc="2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systems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received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larger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attention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in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the 90s</a:t>
            </a:r>
            <a:endParaRPr sz="2800">
              <a:latin typeface="Arial MT"/>
              <a:cs typeface="Arial MT"/>
            </a:endParaRPr>
          </a:p>
          <a:p>
            <a:pPr marL="921385" lvl="1" indent="-525145">
              <a:lnSpc>
                <a:spcPts val="3260"/>
              </a:lnSpc>
              <a:buChar char="–"/>
              <a:tabLst>
                <a:tab pos="921385" algn="l"/>
              </a:tabLst>
            </a:pPr>
            <a:r>
              <a:rPr sz="2800" spc="-10" dirty="0">
                <a:latin typeface="Arial MT"/>
                <a:cs typeface="Arial MT"/>
              </a:rPr>
              <a:t>Combination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NLP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IR/IE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techniques</a:t>
            </a:r>
            <a:endParaRPr sz="2800">
              <a:latin typeface="Arial MT"/>
              <a:cs typeface="Arial MT"/>
            </a:endParaRPr>
          </a:p>
          <a:p>
            <a:pPr marL="921385" lvl="1" indent="-525145">
              <a:lnSpc>
                <a:spcPct val="100000"/>
              </a:lnSpc>
              <a:spcBef>
                <a:spcPts val="15"/>
              </a:spcBef>
              <a:buChar char="–"/>
              <a:tabLst>
                <a:tab pos="921385" algn="l"/>
              </a:tabLst>
            </a:pPr>
            <a:r>
              <a:rPr sz="2800" dirty="0">
                <a:latin typeface="Arial MT"/>
                <a:cs typeface="Arial MT"/>
              </a:rPr>
              <a:t>One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most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famous: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MIT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55" dirty="0">
                <a:latin typeface="Arial MT"/>
                <a:cs typeface="Arial MT"/>
              </a:rPr>
              <a:t>START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system</a:t>
            </a:r>
            <a:endParaRPr sz="2800">
              <a:latin typeface="Arial MT"/>
              <a:cs typeface="Arial MT"/>
            </a:endParaRPr>
          </a:p>
          <a:p>
            <a:pPr marL="921385" lvl="1" indent="-525145">
              <a:lnSpc>
                <a:spcPct val="100000"/>
              </a:lnSpc>
              <a:spcBef>
                <a:spcPts val="15"/>
              </a:spcBef>
              <a:buChar char="–"/>
              <a:tabLst>
                <a:tab pos="921385" algn="l"/>
              </a:tabLst>
            </a:pPr>
            <a:r>
              <a:rPr sz="2800" spc="-20" dirty="0">
                <a:latin typeface="Arial MT"/>
                <a:cs typeface="Arial MT"/>
              </a:rPr>
              <a:t>Wolfram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Alpha</a:t>
            </a:r>
            <a:endParaRPr sz="2800">
              <a:latin typeface="Arial MT"/>
              <a:cs typeface="Arial MT"/>
            </a:endParaRPr>
          </a:p>
          <a:p>
            <a:pPr marL="363855" marR="5080" indent="-351790" algn="just">
              <a:lnSpc>
                <a:spcPct val="100400"/>
              </a:lnSpc>
              <a:spcBef>
                <a:spcPts val="5"/>
              </a:spcBef>
              <a:buChar char="•"/>
              <a:tabLst>
                <a:tab pos="365760" algn="l"/>
              </a:tabLst>
            </a:pPr>
            <a:r>
              <a:rPr sz="2800" dirty="0">
                <a:latin typeface="Arial MT"/>
                <a:cs typeface="Arial MT"/>
              </a:rPr>
              <a:t>Advanced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systems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combination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“shallow”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methods 	</a:t>
            </a:r>
            <a:r>
              <a:rPr sz="2800" dirty="0">
                <a:latin typeface="Arial MT"/>
                <a:cs typeface="Arial MT"/>
              </a:rPr>
              <a:t>together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2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knowledge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bases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2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complex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spc="-25" dirty="0">
                <a:latin typeface="Arial MT"/>
                <a:cs typeface="Arial MT"/>
              </a:rPr>
              <a:t>NLP 	</a:t>
            </a:r>
            <a:r>
              <a:rPr sz="2800" spc="-10" dirty="0">
                <a:latin typeface="Arial MT"/>
                <a:cs typeface="Arial MT"/>
              </a:rPr>
              <a:t>methods.</a:t>
            </a:r>
            <a:endParaRPr sz="2800">
              <a:latin typeface="Arial MT"/>
              <a:cs typeface="Arial MT"/>
            </a:endParaRPr>
          </a:p>
          <a:p>
            <a:pPr marL="363855" marR="25400" indent="-351790" algn="just">
              <a:lnSpc>
                <a:spcPct val="100400"/>
              </a:lnSpc>
              <a:buChar char="•"/>
              <a:tabLst>
                <a:tab pos="365760" algn="l"/>
              </a:tabLst>
            </a:pPr>
            <a:r>
              <a:rPr sz="2800" dirty="0">
                <a:latin typeface="Arial MT"/>
                <a:cs typeface="Arial MT"/>
              </a:rPr>
              <a:t>In</a:t>
            </a:r>
            <a:r>
              <a:rPr sz="2800" spc="5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5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last</a:t>
            </a:r>
            <a:r>
              <a:rPr sz="2800" spc="5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20</a:t>
            </a:r>
            <a:r>
              <a:rPr sz="2800" spc="5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years,</a:t>
            </a:r>
            <a:r>
              <a:rPr sz="2800" spc="5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TREC,</a:t>
            </a:r>
            <a:r>
              <a:rPr sz="2800" spc="5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SemEval</a:t>
            </a:r>
            <a:r>
              <a:rPr sz="2800" spc="5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4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ACL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provided 	</a:t>
            </a:r>
            <a:r>
              <a:rPr sz="2800" dirty="0">
                <a:latin typeface="Arial MT"/>
                <a:cs typeface="Arial MT"/>
              </a:rPr>
              <a:t>workshops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tracks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various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flavor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QA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tasks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(closed 	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open-</a:t>
            </a:r>
            <a:r>
              <a:rPr sz="2800" spc="-10" dirty="0">
                <a:latin typeface="Arial MT"/>
                <a:cs typeface="Arial MT"/>
              </a:rPr>
              <a:t>domain)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2580" y="188060"/>
            <a:ext cx="82353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70245" algn="l"/>
              </a:tabLst>
            </a:pPr>
            <a:r>
              <a:rPr dirty="0"/>
              <a:t>Motivation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History</a:t>
            </a:r>
            <a:r>
              <a:rPr dirty="0"/>
              <a:t>	</a:t>
            </a:r>
            <a:r>
              <a:rPr spc="-10" dirty="0"/>
              <a:t>(cont’d…)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726" y="931822"/>
            <a:ext cx="9815830" cy="583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235" marR="5080" indent="-344170" algn="just">
              <a:lnSpc>
                <a:spcPct val="100299"/>
              </a:lnSpc>
              <a:spcBef>
                <a:spcPts val="90"/>
              </a:spcBef>
              <a:buChar char="•"/>
              <a:tabLst>
                <a:tab pos="356235" algn="l"/>
              </a:tabLst>
            </a:pPr>
            <a:r>
              <a:rPr sz="2600" dirty="0">
                <a:latin typeface="Arial MT"/>
                <a:cs typeface="Arial MT"/>
              </a:rPr>
              <a:t>Lately,</a:t>
            </a:r>
            <a:r>
              <a:rPr sz="2600" spc="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large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number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new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datasets</a:t>
            </a:r>
            <a:r>
              <a:rPr sz="2600" spc="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tasks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have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become </a:t>
            </a:r>
            <a:r>
              <a:rPr sz="2600" dirty="0">
                <a:latin typeface="Arial MT"/>
                <a:cs typeface="Arial MT"/>
              </a:rPr>
              <a:t>available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dirty="0">
                <a:latin typeface="Arial MT"/>
                <a:cs typeface="Arial MT"/>
              </a:rPr>
              <a:t>which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dirty="0">
                <a:latin typeface="Arial MT"/>
                <a:cs typeface="Arial MT"/>
              </a:rPr>
              <a:t>have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dirty="0">
                <a:latin typeface="Arial MT"/>
                <a:cs typeface="Arial MT"/>
              </a:rPr>
              <a:t>improved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dirty="0">
                <a:latin typeface="Arial MT"/>
                <a:cs typeface="Arial MT"/>
              </a:rPr>
              <a:t>performance</a:t>
            </a:r>
            <a:r>
              <a:rPr sz="2600" spc="395" dirty="0">
                <a:latin typeface="Arial MT"/>
                <a:cs typeface="Arial MT"/>
              </a:rPr>
              <a:t>   </a:t>
            </a:r>
            <a:r>
              <a:rPr sz="2600" spc="-25" dirty="0">
                <a:latin typeface="Arial MT"/>
                <a:cs typeface="Arial MT"/>
              </a:rPr>
              <a:t>of </a:t>
            </a:r>
            <a:r>
              <a:rPr sz="2600" spc="-20" dirty="0">
                <a:latin typeface="Arial MT"/>
                <a:cs typeface="Arial MT"/>
              </a:rPr>
              <a:t>(open-</a:t>
            </a:r>
            <a:r>
              <a:rPr sz="2600" dirty="0">
                <a:latin typeface="Arial MT"/>
                <a:cs typeface="Arial MT"/>
              </a:rPr>
              <a:t>domain)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QA</a:t>
            </a:r>
            <a:r>
              <a:rPr sz="2600" spc="-1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systems</a:t>
            </a:r>
            <a:endParaRPr sz="2600">
              <a:latin typeface="Arial MT"/>
              <a:cs typeface="Arial MT"/>
            </a:endParaRPr>
          </a:p>
          <a:p>
            <a:pPr marL="813435" lvl="1" indent="-426084">
              <a:lnSpc>
                <a:spcPct val="100000"/>
              </a:lnSpc>
              <a:spcBef>
                <a:spcPts val="20"/>
              </a:spcBef>
              <a:buChar char="–"/>
              <a:tabLst>
                <a:tab pos="813435" algn="l"/>
              </a:tabLst>
            </a:pPr>
            <a:r>
              <a:rPr sz="2800" spc="-10" dirty="0">
                <a:latin typeface="Arial MT"/>
                <a:cs typeface="Arial MT"/>
              </a:rPr>
              <a:t>VisualQA</a:t>
            </a:r>
            <a:endParaRPr sz="2800">
              <a:latin typeface="Arial MT"/>
              <a:cs typeface="Arial MT"/>
            </a:endParaRPr>
          </a:p>
          <a:p>
            <a:pPr marL="1270635" marR="8255" lvl="2" indent="-309245">
              <a:lnSpc>
                <a:spcPts val="2850"/>
              </a:lnSpc>
              <a:spcBef>
                <a:spcPts val="150"/>
              </a:spcBef>
              <a:buSzPct val="75000"/>
              <a:buChar char="•"/>
              <a:tabLst>
                <a:tab pos="1270635" algn="l"/>
                <a:tab pos="2203450" algn="l"/>
                <a:tab pos="2679065" algn="l"/>
                <a:tab pos="3645535" algn="l"/>
                <a:tab pos="4290060" algn="l"/>
                <a:tab pos="4596130" algn="l"/>
                <a:tab pos="5885180" algn="l"/>
                <a:tab pos="6258560" algn="l"/>
                <a:tab pos="7326630" algn="l"/>
                <a:tab pos="8799830" algn="l"/>
              </a:tabLst>
            </a:pPr>
            <a:r>
              <a:rPr sz="2400" spc="-10" dirty="0">
                <a:latin typeface="Arial MT"/>
                <a:cs typeface="Arial MT"/>
              </a:rPr>
              <a:t>Given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image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question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natural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language,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provide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correct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answer</a:t>
            </a:r>
            <a:endParaRPr sz="2400">
              <a:latin typeface="Arial MT"/>
              <a:cs typeface="Arial MT"/>
            </a:endParaRPr>
          </a:p>
          <a:p>
            <a:pPr marL="1270635" lvl="2" indent="-308610">
              <a:lnSpc>
                <a:spcPts val="2735"/>
              </a:lnSpc>
              <a:buSzPct val="75000"/>
              <a:buChar char="•"/>
              <a:tabLst>
                <a:tab pos="1270635" algn="l"/>
              </a:tabLst>
            </a:pPr>
            <a:r>
              <a:rPr sz="2400" dirty="0">
                <a:latin typeface="Arial MT"/>
                <a:cs typeface="Arial MT"/>
              </a:rPr>
              <a:t>600,000+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questions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200,000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images</a:t>
            </a:r>
            <a:endParaRPr sz="2400">
              <a:latin typeface="Arial MT"/>
              <a:cs typeface="Arial MT"/>
            </a:endParaRPr>
          </a:p>
          <a:p>
            <a:pPr marL="912494" lvl="1" indent="-525145">
              <a:lnSpc>
                <a:spcPts val="3335"/>
              </a:lnSpc>
              <a:buChar char="–"/>
              <a:tabLst>
                <a:tab pos="912494" algn="l"/>
              </a:tabLst>
            </a:pPr>
            <a:r>
              <a:rPr sz="2800" dirty="0">
                <a:latin typeface="Arial MT"/>
                <a:cs typeface="Arial MT"/>
              </a:rPr>
              <a:t>SQuAD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-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Stanford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QA</a:t>
            </a:r>
            <a:r>
              <a:rPr sz="2800" spc="-1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Dataset</a:t>
            </a:r>
            <a:endParaRPr sz="2800">
              <a:latin typeface="Arial MT"/>
              <a:cs typeface="Arial MT"/>
            </a:endParaRPr>
          </a:p>
          <a:p>
            <a:pPr marL="1270635" lvl="2" indent="-308610">
              <a:lnSpc>
                <a:spcPts val="2865"/>
              </a:lnSpc>
              <a:spcBef>
                <a:spcPts val="35"/>
              </a:spcBef>
              <a:buSzPct val="75000"/>
              <a:buChar char="•"/>
              <a:tabLst>
                <a:tab pos="1270635" algn="l"/>
              </a:tabLst>
            </a:pPr>
            <a:r>
              <a:rPr sz="2400" spc="-25" dirty="0">
                <a:latin typeface="Arial MT"/>
                <a:cs typeface="Arial MT"/>
              </a:rPr>
              <a:t>Open-</a:t>
            </a:r>
            <a:r>
              <a:rPr sz="2400" dirty="0">
                <a:latin typeface="Arial MT"/>
                <a:cs typeface="Arial MT"/>
              </a:rPr>
              <a:t>domain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question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answering</a:t>
            </a:r>
            <a:endParaRPr sz="2400">
              <a:latin typeface="Arial MT"/>
              <a:cs typeface="Arial MT"/>
            </a:endParaRPr>
          </a:p>
          <a:p>
            <a:pPr marL="1355090" lvl="2" indent="-393065">
              <a:lnSpc>
                <a:spcPts val="2840"/>
              </a:lnSpc>
              <a:buSzPct val="75000"/>
              <a:buChar char="•"/>
              <a:tabLst>
                <a:tab pos="1355090" algn="l"/>
              </a:tabLst>
            </a:pPr>
            <a:r>
              <a:rPr sz="2400" dirty="0">
                <a:latin typeface="Arial MT"/>
                <a:cs typeface="Arial MT"/>
              </a:rPr>
              <a:t>100,000+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Q-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500+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articles</a:t>
            </a:r>
            <a:endParaRPr sz="2400">
              <a:latin typeface="Arial MT"/>
              <a:cs typeface="Arial MT"/>
            </a:endParaRPr>
          </a:p>
          <a:p>
            <a:pPr marL="912494" lvl="1" indent="-454659">
              <a:lnSpc>
                <a:spcPts val="3335"/>
              </a:lnSpc>
              <a:buSzPct val="64285"/>
              <a:buChar char="–"/>
              <a:tabLst>
                <a:tab pos="912494" algn="l"/>
              </a:tabLst>
            </a:pPr>
            <a:r>
              <a:rPr sz="2800" spc="-25" dirty="0">
                <a:latin typeface="Arial MT"/>
                <a:cs typeface="Arial MT"/>
              </a:rPr>
              <a:t>NewsQA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dataset</a:t>
            </a:r>
            <a:endParaRPr sz="2800">
              <a:latin typeface="Arial MT"/>
              <a:cs typeface="Arial MT"/>
            </a:endParaRPr>
          </a:p>
          <a:p>
            <a:pPr marL="1270635" lvl="2" indent="-308610">
              <a:lnSpc>
                <a:spcPts val="2865"/>
              </a:lnSpc>
              <a:spcBef>
                <a:spcPts val="30"/>
              </a:spcBef>
              <a:buSzPct val="75000"/>
              <a:buChar char="•"/>
              <a:tabLst>
                <a:tab pos="1270635" algn="l"/>
              </a:tabLst>
            </a:pPr>
            <a:r>
              <a:rPr sz="2400" spc="-25" dirty="0">
                <a:latin typeface="Arial MT"/>
                <a:cs typeface="Arial MT"/>
              </a:rPr>
              <a:t>Crowd-</a:t>
            </a:r>
            <a:r>
              <a:rPr sz="2400" dirty="0">
                <a:latin typeface="Arial MT"/>
                <a:cs typeface="Arial MT"/>
              </a:rPr>
              <a:t>sourced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machine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reading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comprehension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dataset</a:t>
            </a:r>
            <a:endParaRPr sz="2400">
              <a:latin typeface="Arial MT"/>
              <a:cs typeface="Arial MT"/>
            </a:endParaRPr>
          </a:p>
          <a:p>
            <a:pPr marL="1270635" lvl="2" indent="-308610">
              <a:lnSpc>
                <a:spcPts val="2845"/>
              </a:lnSpc>
              <a:buSzPct val="75000"/>
              <a:buChar char="•"/>
              <a:tabLst>
                <a:tab pos="1270635" algn="l"/>
              </a:tabLst>
            </a:pPr>
            <a:r>
              <a:rPr sz="2400" dirty="0">
                <a:latin typeface="Arial MT"/>
                <a:cs typeface="Arial MT"/>
              </a:rPr>
              <a:t>120,000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answered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questions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12,000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articles</a:t>
            </a:r>
            <a:endParaRPr sz="2400">
              <a:latin typeface="Arial MT"/>
              <a:cs typeface="Arial MT"/>
            </a:endParaRPr>
          </a:p>
          <a:p>
            <a:pPr marL="356235" marR="29845" indent="-344170">
              <a:lnSpc>
                <a:spcPts val="3150"/>
              </a:lnSpc>
              <a:spcBef>
                <a:spcPts val="50"/>
              </a:spcBef>
              <a:buChar char="•"/>
              <a:tabLst>
                <a:tab pos="356235" algn="l"/>
                <a:tab pos="1042669" algn="l"/>
                <a:tab pos="1717675" algn="l"/>
                <a:tab pos="2612390" algn="l"/>
                <a:tab pos="2993390" algn="l"/>
                <a:tab pos="4915535" algn="l"/>
                <a:tab pos="5571490" algn="l"/>
                <a:tab pos="6850380" algn="l"/>
                <a:tab pos="7708265" algn="l"/>
                <a:tab pos="8418830" algn="l"/>
              </a:tabLst>
            </a:pPr>
            <a:r>
              <a:rPr sz="2600" spc="-25" dirty="0">
                <a:latin typeface="Arial MT"/>
                <a:cs typeface="Arial MT"/>
              </a:rPr>
              <a:t>We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are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build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50" dirty="0">
                <a:latin typeface="Arial MT"/>
                <a:cs typeface="Arial MT"/>
              </a:rPr>
              <a:t>a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comparable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QA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dataset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0" dirty="0">
                <a:latin typeface="Arial MT"/>
                <a:cs typeface="Arial MT"/>
              </a:rPr>
              <a:t>from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two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language </a:t>
            </a:r>
            <a:r>
              <a:rPr sz="2600" dirty="0">
                <a:latin typeface="Arial MT"/>
                <a:cs typeface="Arial MT"/>
              </a:rPr>
              <a:t>English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&amp;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Hindi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2959" y="188060"/>
            <a:ext cx="68129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1425" algn="l"/>
              </a:tabLst>
            </a:pPr>
            <a:r>
              <a:rPr spc="-10" dirty="0"/>
              <a:t>AskMSR:</a:t>
            </a:r>
            <a:r>
              <a:rPr dirty="0"/>
              <a:t>	Shallow</a:t>
            </a:r>
            <a:r>
              <a:rPr spc="-18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225" y="910075"/>
            <a:ext cx="10309726" cy="57193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5509" y="188060"/>
            <a:ext cx="41694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1425" algn="l"/>
              </a:tabLst>
            </a:pPr>
            <a:r>
              <a:rPr spc="-10" dirty="0"/>
              <a:t>AskMSR:</a:t>
            </a:r>
            <a:r>
              <a:rPr dirty="0"/>
              <a:t>	</a:t>
            </a:r>
            <a:r>
              <a:rPr spc="-10" dirty="0"/>
              <a:t>Details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350" y="1515096"/>
            <a:ext cx="10078500" cy="461363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2265" y="188060"/>
            <a:ext cx="55924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12289" algn="l"/>
              </a:tabLst>
            </a:pPr>
            <a:r>
              <a:rPr dirty="0"/>
              <a:t>Step</a:t>
            </a:r>
            <a:r>
              <a:rPr spc="-114" dirty="0"/>
              <a:t> </a:t>
            </a:r>
            <a:r>
              <a:rPr spc="-25" dirty="0"/>
              <a:t>1:</a:t>
            </a:r>
            <a:r>
              <a:rPr dirty="0"/>
              <a:t>	Rewrite</a:t>
            </a:r>
            <a:r>
              <a:rPr spc="-45" dirty="0"/>
              <a:t> </a:t>
            </a:r>
            <a:r>
              <a:rPr spc="-10" dirty="0"/>
              <a:t>queries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830" y="1154391"/>
            <a:ext cx="8907513" cy="31531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5227" y="188060"/>
            <a:ext cx="391032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72589" algn="l"/>
              </a:tabLst>
            </a:pPr>
            <a:r>
              <a:rPr spc="-10" dirty="0"/>
              <a:t>Query</a:t>
            </a:r>
            <a:r>
              <a:rPr dirty="0"/>
              <a:t>	</a:t>
            </a:r>
            <a:r>
              <a:rPr spc="-10" dirty="0"/>
              <a:t>rewriting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5789" y="990599"/>
            <a:ext cx="9458325" cy="5357495"/>
            <a:chOff x="625789" y="990599"/>
            <a:chExt cx="9458325" cy="53574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789" y="990599"/>
              <a:ext cx="9457776" cy="52024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3650" y="5550199"/>
              <a:ext cx="6252210" cy="797560"/>
            </a:xfrm>
            <a:custGeom>
              <a:avLst/>
              <a:gdLst/>
              <a:ahLst/>
              <a:cxnLst/>
              <a:rect l="l" t="t" r="r" b="b"/>
              <a:pathLst>
                <a:path w="6252209" h="797560">
                  <a:moveTo>
                    <a:pt x="6251999" y="797399"/>
                  </a:moveTo>
                  <a:lnTo>
                    <a:pt x="0" y="797399"/>
                  </a:lnTo>
                  <a:lnTo>
                    <a:pt x="0" y="0"/>
                  </a:lnTo>
                  <a:lnTo>
                    <a:pt x="6251999" y="0"/>
                  </a:lnTo>
                  <a:lnTo>
                    <a:pt x="6251999" y="797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52597" y="188060"/>
            <a:ext cx="25552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9365" algn="l"/>
              </a:tabLst>
            </a:pPr>
            <a:r>
              <a:rPr spc="-20" dirty="0"/>
              <a:t>Next</a:t>
            </a:r>
            <a:r>
              <a:rPr dirty="0"/>
              <a:t>	</a:t>
            </a:r>
            <a:r>
              <a:rPr spc="-10" dirty="0"/>
              <a:t>Steps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400" y="950949"/>
            <a:ext cx="9207799" cy="579752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1058" y="188060"/>
            <a:ext cx="41382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1030" algn="l"/>
              </a:tabLst>
            </a:pPr>
            <a:r>
              <a:rPr spc="-10" dirty="0"/>
              <a:t>Mining</a:t>
            </a:r>
            <a:r>
              <a:rPr dirty="0"/>
              <a:t>	</a:t>
            </a:r>
            <a:r>
              <a:rPr spc="-10" dirty="0"/>
              <a:t>N-</a:t>
            </a:r>
            <a:r>
              <a:rPr spc="-20" dirty="0"/>
              <a:t>Grams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100" y="992277"/>
            <a:ext cx="9794899" cy="53766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0829" y="188060"/>
            <a:ext cx="44786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1390" algn="l"/>
              </a:tabLst>
            </a:pPr>
            <a:r>
              <a:rPr spc="-10" dirty="0"/>
              <a:t>Filtering</a:t>
            </a:r>
            <a:r>
              <a:rPr dirty="0"/>
              <a:t>	</a:t>
            </a:r>
            <a:r>
              <a:rPr spc="-10" dirty="0"/>
              <a:t>N-Grams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163" y="990600"/>
            <a:ext cx="10158986" cy="52932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7286" y="188060"/>
            <a:ext cx="44843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0355" algn="l"/>
              </a:tabLst>
            </a:pPr>
            <a:r>
              <a:rPr spc="-10" dirty="0"/>
              <a:t>Tiling</a:t>
            </a:r>
            <a:r>
              <a:rPr dirty="0"/>
              <a:t>	the</a:t>
            </a:r>
            <a:r>
              <a:rPr spc="-260" dirty="0"/>
              <a:t> </a:t>
            </a:r>
            <a:r>
              <a:rPr spc="-10" dirty="0"/>
              <a:t>Answers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6900" y="952500"/>
            <a:ext cx="10307320" cy="5870575"/>
            <a:chOff x="206900" y="952500"/>
            <a:chExt cx="10307320" cy="5870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900" y="952500"/>
              <a:ext cx="10307100" cy="58701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050" y="990600"/>
              <a:ext cx="10192799" cy="57557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696899" y="6395475"/>
              <a:ext cx="654050" cy="239395"/>
            </a:xfrm>
            <a:custGeom>
              <a:avLst/>
              <a:gdLst/>
              <a:ahLst/>
              <a:cxnLst/>
              <a:rect l="l" t="t" r="r" b="b"/>
              <a:pathLst>
                <a:path w="654050" h="239395">
                  <a:moveTo>
                    <a:pt x="653999" y="239399"/>
                  </a:moveTo>
                  <a:lnTo>
                    <a:pt x="0" y="239399"/>
                  </a:lnTo>
                  <a:lnTo>
                    <a:pt x="0" y="0"/>
                  </a:lnTo>
                  <a:lnTo>
                    <a:pt x="653999" y="0"/>
                  </a:lnTo>
                  <a:lnTo>
                    <a:pt x="653999" y="239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81" rIns="0" bIns="0" rtlCol="0">
            <a:spAutoFit/>
          </a:bodyPr>
          <a:lstStyle/>
          <a:p>
            <a:pPr marL="227965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110" dirty="0"/>
              <a:t> </a:t>
            </a:r>
            <a:r>
              <a:rPr spc="-35" dirty="0"/>
              <a:t>Q/A</a:t>
            </a:r>
            <a:r>
              <a:rPr spc="-484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900" y="1107550"/>
            <a:ext cx="10118375" cy="409395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7730" y="188060"/>
            <a:ext cx="68846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Common</a:t>
            </a:r>
            <a:r>
              <a:rPr spc="-455" dirty="0"/>
              <a:t> </a:t>
            </a:r>
            <a:r>
              <a:rPr spc="-10" dirty="0"/>
              <a:t>Evaluation</a:t>
            </a:r>
            <a:r>
              <a:rPr spc="-155" dirty="0"/>
              <a:t> </a:t>
            </a:r>
            <a:r>
              <a:rPr spc="-10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066" y="1083055"/>
            <a:ext cx="9613900" cy="875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indent="-352425">
              <a:lnSpc>
                <a:spcPts val="3350"/>
              </a:lnSpc>
              <a:spcBef>
                <a:spcPts val="100"/>
              </a:spcBef>
              <a:buFont typeface="Arial"/>
              <a:buChar char="•"/>
              <a:tabLst>
                <a:tab pos="365125" algn="l"/>
                <a:tab pos="3108325" algn="l"/>
                <a:tab pos="4479925" algn="l"/>
                <a:tab pos="5851525" algn="l"/>
                <a:tab pos="8137525" algn="l"/>
              </a:tabLst>
            </a:pPr>
            <a:r>
              <a:rPr sz="2800" b="1" i="1" dirty="0">
                <a:solidFill>
                  <a:srgbClr val="980000"/>
                </a:solidFill>
                <a:latin typeface="Arial"/>
                <a:cs typeface="Arial"/>
              </a:rPr>
              <a:t>Accuracy</a:t>
            </a:r>
            <a:r>
              <a:rPr sz="2800" b="1" i="1" spc="-17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980000"/>
                </a:solidFill>
                <a:latin typeface="Arial"/>
                <a:cs typeface="Arial"/>
              </a:rPr>
              <a:t>(does</a:t>
            </a:r>
            <a:r>
              <a:rPr sz="28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800" i="1" spc="-10" dirty="0">
                <a:solidFill>
                  <a:srgbClr val="980000"/>
                </a:solidFill>
                <a:latin typeface="Arial"/>
                <a:cs typeface="Arial"/>
              </a:rPr>
              <a:t>answer</a:t>
            </a:r>
            <a:r>
              <a:rPr sz="28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800" i="1" spc="-10" dirty="0">
                <a:solidFill>
                  <a:srgbClr val="980000"/>
                </a:solidFill>
                <a:latin typeface="Arial"/>
                <a:cs typeface="Arial"/>
              </a:rPr>
              <a:t>match</a:t>
            </a:r>
            <a:r>
              <a:rPr sz="28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800" i="1" spc="-25" dirty="0">
                <a:solidFill>
                  <a:srgbClr val="980000"/>
                </a:solidFill>
                <a:latin typeface="Arial"/>
                <a:cs typeface="Arial"/>
              </a:rPr>
              <a:t>gold-</a:t>
            </a:r>
            <a:r>
              <a:rPr sz="2800" i="1" spc="-10" dirty="0">
                <a:solidFill>
                  <a:srgbClr val="980000"/>
                </a:solidFill>
                <a:latin typeface="Arial"/>
                <a:cs typeface="Arial"/>
              </a:rPr>
              <a:t>labeled</a:t>
            </a:r>
            <a:r>
              <a:rPr sz="28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800" i="1" spc="-10" dirty="0">
                <a:solidFill>
                  <a:srgbClr val="980000"/>
                </a:solidFill>
                <a:latin typeface="Arial"/>
                <a:cs typeface="Arial"/>
              </a:rPr>
              <a:t>answer?)</a:t>
            </a:r>
            <a:endParaRPr sz="2800">
              <a:latin typeface="Arial"/>
              <a:cs typeface="Arial"/>
            </a:endParaRPr>
          </a:p>
          <a:p>
            <a:pPr marL="365125" indent="-352425">
              <a:lnSpc>
                <a:spcPts val="3350"/>
              </a:lnSpc>
              <a:buChar char="•"/>
              <a:tabLst>
                <a:tab pos="365125" algn="l"/>
                <a:tab pos="3565525" algn="l"/>
              </a:tabLst>
            </a:pPr>
            <a:r>
              <a:rPr sz="2800" b="1" i="1" dirty="0">
                <a:solidFill>
                  <a:srgbClr val="980000"/>
                </a:solidFill>
                <a:latin typeface="Arial"/>
                <a:cs typeface="Arial"/>
              </a:rPr>
              <a:t>Mean</a:t>
            </a:r>
            <a:r>
              <a:rPr sz="2800" b="1" i="1" spc="-4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980000"/>
                </a:solidFill>
                <a:latin typeface="Arial"/>
                <a:cs typeface="Arial"/>
              </a:rPr>
              <a:t>Reciprocal</a:t>
            </a:r>
            <a:r>
              <a:rPr sz="2800" b="1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800" b="1" i="1" spc="-10" dirty="0">
                <a:solidFill>
                  <a:srgbClr val="980000"/>
                </a:solidFill>
                <a:latin typeface="Arial"/>
                <a:cs typeface="Arial"/>
              </a:rPr>
              <a:t>Rank: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5228" y="1937258"/>
            <a:ext cx="2353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0209" algn="l"/>
              </a:tabLst>
            </a:pPr>
            <a:r>
              <a:rPr sz="2400" i="1" spc="-50" dirty="0">
                <a:solidFill>
                  <a:srgbClr val="980000"/>
                </a:solidFill>
                <a:latin typeface="Arial"/>
                <a:cs typeface="Arial"/>
              </a:rPr>
              <a:t>–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The</a:t>
            </a:r>
            <a:r>
              <a:rPr sz="2400" i="1" spc="-6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reciprocal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10944" y="1937258"/>
            <a:ext cx="36499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1468120" algn="l"/>
                <a:tab pos="3212465" algn="l"/>
              </a:tabLst>
            </a:pPr>
            <a:r>
              <a:rPr sz="2400" i="1" spc="-50" dirty="0">
                <a:solidFill>
                  <a:srgbClr val="980000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query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response</a:t>
            </a:r>
            <a:r>
              <a:rPr sz="2400" i="1" spc="1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is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37403" y="1937258"/>
            <a:ext cx="148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4755" algn="l"/>
              </a:tabLst>
            </a:pP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inverse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67744" y="2299208"/>
            <a:ext cx="119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i="1" spc="-20" dirty="0">
                <a:solidFill>
                  <a:srgbClr val="980000"/>
                </a:solidFill>
                <a:latin typeface="Arial"/>
                <a:cs typeface="Arial"/>
              </a:rPr>
              <a:t>rank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9344" y="1937258"/>
            <a:ext cx="1193800" cy="7531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  <a:tabLst>
                <a:tab pos="926465" algn="l"/>
              </a:tabLst>
            </a:pPr>
            <a:r>
              <a:rPr sz="2400" i="1" spc="-20" dirty="0">
                <a:solidFill>
                  <a:srgbClr val="980000"/>
                </a:solidFill>
                <a:latin typeface="Arial"/>
                <a:cs typeface="Arial"/>
              </a:rPr>
              <a:t>rank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of the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53744" y="2299208"/>
            <a:ext cx="515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8144" y="2299208"/>
            <a:ext cx="955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correct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39744" y="2299208"/>
            <a:ext cx="1081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answer.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67744" y="2661158"/>
            <a:ext cx="290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mean</a:t>
            </a:r>
            <a:r>
              <a:rPr sz="2400" i="1" spc="-10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reciprocal</a:t>
            </a:r>
            <a:r>
              <a:rPr sz="2400" i="1" spc="13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980000"/>
                </a:solidFill>
                <a:latin typeface="Arial"/>
                <a:cs typeface="Arial"/>
              </a:rPr>
              <a:t>rank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68144" y="2661158"/>
            <a:ext cx="2565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2298065" algn="l"/>
              </a:tabLst>
            </a:pP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is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the</a:t>
            </a:r>
            <a:r>
              <a:rPr sz="2400" i="1" spc="21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average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5228" y="2299208"/>
            <a:ext cx="1169035" cy="111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209">
              <a:lnSpc>
                <a:spcPts val="2865"/>
              </a:lnSpc>
              <a:spcBef>
                <a:spcPts val="100"/>
              </a:spcBef>
            </a:pP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410209" marR="5080" indent="-398145">
              <a:lnSpc>
                <a:spcPts val="2850"/>
              </a:lnSpc>
              <a:spcBef>
                <a:spcPts val="105"/>
              </a:spcBef>
              <a:tabLst>
                <a:tab pos="410209" algn="l"/>
              </a:tabLst>
            </a:pPr>
            <a:r>
              <a:rPr sz="2400" i="1" spc="-50" dirty="0">
                <a:solidFill>
                  <a:srgbClr val="980000"/>
                </a:solidFill>
                <a:latin typeface="Arial"/>
                <a:cs typeface="Arial"/>
              </a:rPr>
              <a:t>–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The 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ranks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52173" y="3023108"/>
            <a:ext cx="2396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6410" algn="l"/>
              </a:tabLst>
            </a:pP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r>
              <a:rPr sz="2400" i="1" spc="26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results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for</a:t>
            </a:r>
            <a:r>
              <a:rPr sz="2400" i="1" spc="13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980000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10944" y="2661158"/>
            <a:ext cx="5003800" cy="7531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3200400">
              <a:lnSpc>
                <a:spcPts val="2850"/>
              </a:lnSpc>
              <a:spcBef>
                <a:spcPts val="220"/>
              </a:spcBef>
              <a:tabLst>
                <a:tab pos="1383665" algn="l"/>
                <a:tab pos="1840864" algn="l"/>
                <a:tab pos="3212465" algn="l"/>
              </a:tabLst>
            </a:pPr>
            <a:r>
              <a:rPr sz="2400" i="1" spc="-20" dirty="0">
                <a:solidFill>
                  <a:srgbClr val="980000"/>
                </a:solidFill>
                <a:latin typeface="Arial"/>
                <a:cs typeface="Arial"/>
              </a:rPr>
              <a:t>the</a:t>
            </a:r>
            <a:r>
              <a:rPr sz="2400" i="1" spc="-39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reciprocal sample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of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10" dirty="0">
                <a:solidFill>
                  <a:srgbClr val="980000"/>
                </a:solidFill>
                <a:latin typeface="Arial"/>
                <a:cs typeface="Arial"/>
              </a:rPr>
              <a:t>queries</a:t>
            </a:r>
            <a:r>
              <a:rPr sz="2400" i="1" dirty="0">
                <a:solidFill>
                  <a:srgbClr val="980000"/>
                </a:solidFill>
                <a:latin typeface="Arial"/>
                <a:cs typeface="Arial"/>
              </a:rPr>
              <a:t>	</a:t>
            </a:r>
            <a:r>
              <a:rPr sz="2400" i="1" spc="-25" dirty="0">
                <a:solidFill>
                  <a:srgbClr val="980000"/>
                </a:solidFill>
                <a:latin typeface="Arial"/>
                <a:cs typeface="Arial"/>
              </a:rPr>
              <a:t>Q.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652" y="3429000"/>
            <a:ext cx="9392124" cy="327659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9328" y="187991"/>
            <a:ext cx="60166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35" dirty="0"/>
              <a:t> </a:t>
            </a:r>
            <a:r>
              <a:rPr spc="-10" dirty="0"/>
              <a:t>Comprehension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9899" y="999744"/>
            <a:ext cx="9867265" cy="553783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94640" marR="7620" indent="-281940" algn="just">
              <a:lnSpc>
                <a:spcPts val="3829"/>
              </a:lnSpc>
              <a:spcBef>
                <a:spcPts val="235"/>
              </a:spcBef>
              <a:buFont typeface="Arial MT"/>
              <a:buChar char="•"/>
              <a:tabLst>
                <a:tab pos="294640" algn="l"/>
              </a:tabLst>
            </a:pPr>
            <a:r>
              <a:rPr sz="3200" b="1" dirty="0">
                <a:latin typeface="Arial"/>
                <a:cs typeface="Arial"/>
              </a:rPr>
              <a:t>Machine</a:t>
            </a:r>
            <a:r>
              <a:rPr sz="3200" b="1" spc="280" dirty="0">
                <a:latin typeface="Arial"/>
                <a:cs typeface="Arial"/>
              </a:rPr>
              <a:t>  </a:t>
            </a:r>
            <a:r>
              <a:rPr sz="3200" b="1" dirty="0">
                <a:latin typeface="Arial"/>
                <a:cs typeface="Arial"/>
              </a:rPr>
              <a:t>Comprehension</a:t>
            </a:r>
            <a:r>
              <a:rPr sz="3200" b="1" spc="285" dirty="0">
                <a:latin typeface="Arial"/>
                <a:cs typeface="Arial"/>
              </a:rPr>
              <a:t>  </a:t>
            </a:r>
            <a:r>
              <a:rPr sz="3200" b="1" dirty="0">
                <a:latin typeface="Arial"/>
                <a:cs typeface="Arial"/>
              </a:rPr>
              <a:t>or</a:t>
            </a:r>
            <a:r>
              <a:rPr sz="3200" b="1" spc="280" dirty="0">
                <a:latin typeface="Arial"/>
                <a:cs typeface="Arial"/>
              </a:rPr>
              <a:t>  </a:t>
            </a:r>
            <a:r>
              <a:rPr sz="3200" b="1" dirty="0">
                <a:latin typeface="Arial"/>
                <a:cs typeface="Arial"/>
              </a:rPr>
              <a:t>Machine</a:t>
            </a:r>
            <a:r>
              <a:rPr sz="3200" b="1" spc="285" dirty="0">
                <a:latin typeface="Arial"/>
                <a:cs typeface="Arial"/>
              </a:rPr>
              <a:t>  </a:t>
            </a:r>
            <a:r>
              <a:rPr sz="3200" b="1" spc="-10" dirty="0">
                <a:latin typeface="Arial"/>
                <a:cs typeface="Arial"/>
              </a:rPr>
              <a:t>Reading </a:t>
            </a:r>
            <a:r>
              <a:rPr sz="3200" b="1" dirty="0">
                <a:latin typeface="Arial"/>
                <a:cs typeface="Arial"/>
              </a:rPr>
              <a:t>Comprehension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(MRC)</a:t>
            </a:r>
            <a:r>
              <a:rPr sz="3200" spc="11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114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all</a:t>
            </a:r>
            <a:r>
              <a:rPr sz="3200" spc="11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about</a:t>
            </a:r>
            <a:r>
              <a:rPr sz="3200" spc="11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answering</a:t>
            </a:r>
            <a:r>
              <a:rPr sz="3200" spc="110" dirty="0">
                <a:latin typeface="Arial MT"/>
                <a:cs typeface="Arial MT"/>
              </a:rPr>
              <a:t>  </a:t>
            </a:r>
            <a:r>
              <a:rPr sz="3200" spc="-50" dirty="0">
                <a:latin typeface="Arial MT"/>
                <a:cs typeface="Arial MT"/>
              </a:rPr>
              <a:t>a </a:t>
            </a:r>
            <a:r>
              <a:rPr sz="3200" dirty="0">
                <a:latin typeface="Arial MT"/>
                <a:cs typeface="Arial MT"/>
              </a:rPr>
              <a:t>query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about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given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context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paragraph.</a:t>
            </a:r>
            <a:endParaRPr sz="3200">
              <a:latin typeface="Arial MT"/>
              <a:cs typeface="Arial MT"/>
            </a:endParaRPr>
          </a:p>
          <a:p>
            <a:pPr marL="294640" marR="5080" indent="-281940" algn="just">
              <a:lnSpc>
                <a:spcPct val="99800"/>
              </a:lnSpc>
              <a:spcBef>
                <a:spcPts val="495"/>
              </a:spcBef>
              <a:buChar char="•"/>
              <a:tabLst>
                <a:tab pos="294640" algn="l"/>
              </a:tabLst>
            </a:pPr>
            <a:r>
              <a:rPr sz="3200" dirty="0">
                <a:latin typeface="Arial MT"/>
                <a:cs typeface="Arial MT"/>
              </a:rPr>
              <a:t>“A</a:t>
            </a:r>
            <a:r>
              <a:rPr sz="3200" spc="204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machine</a:t>
            </a:r>
            <a:r>
              <a:rPr sz="3200" spc="395" dirty="0">
                <a:latin typeface="Arial MT"/>
                <a:cs typeface="Arial MT"/>
              </a:rPr>
              <a:t> </a:t>
            </a:r>
            <a:r>
              <a:rPr sz="3200" b="1" dirty="0">
                <a:solidFill>
                  <a:srgbClr val="2D2D8A"/>
                </a:solidFill>
                <a:latin typeface="Arial"/>
                <a:cs typeface="Arial"/>
              </a:rPr>
              <a:t>comprehends</a:t>
            </a:r>
            <a:r>
              <a:rPr sz="3200" b="1" spc="385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3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passage</a:t>
            </a:r>
            <a:r>
              <a:rPr sz="3200" spc="3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405" dirty="0">
                <a:latin typeface="Arial MT"/>
                <a:cs typeface="Arial MT"/>
              </a:rPr>
              <a:t> </a:t>
            </a:r>
            <a:r>
              <a:rPr sz="3200" b="1" dirty="0">
                <a:solidFill>
                  <a:srgbClr val="2D2D8A"/>
                </a:solidFill>
                <a:latin typeface="Arial"/>
                <a:cs typeface="Arial"/>
              </a:rPr>
              <a:t>text</a:t>
            </a:r>
            <a:r>
              <a:rPr sz="3200" b="1" spc="385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if,</a:t>
            </a:r>
            <a:r>
              <a:rPr sz="3200" spc="38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for </a:t>
            </a:r>
            <a:r>
              <a:rPr sz="3200" dirty="0">
                <a:latin typeface="Arial MT"/>
                <a:cs typeface="Arial MT"/>
              </a:rPr>
              <a:t>any</a:t>
            </a:r>
            <a:r>
              <a:rPr sz="3200" spc="375" dirty="0">
                <a:latin typeface="Arial MT"/>
                <a:cs typeface="Arial MT"/>
              </a:rPr>
              <a:t>  </a:t>
            </a:r>
            <a:r>
              <a:rPr sz="3200" b="1" dirty="0">
                <a:solidFill>
                  <a:srgbClr val="2D2D8A"/>
                </a:solidFill>
                <a:latin typeface="Arial"/>
                <a:cs typeface="Arial"/>
              </a:rPr>
              <a:t>question</a:t>
            </a:r>
            <a:r>
              <a:rPr sz="3200" b="1" spc="390" dirty="0">
                <a:solidFill>
                  <a:srgbClr val="2D2D8A"/>
                </a:solidFill>
                <a:latin typeface="Arial"/>
                <a:cs typeface="Arial"/>
              </a:rPr>
              <a:t>  </a:t>
            </a:r>
            <a:r>
              <a:rPr sz="3200" dirty="0">
                <a:latin typeface="Arial MT"/>
                <a:cs typeface="Arial MT"/>
              </a:rPr>
              <a:t>regarding</a:t>
            </a:r>
            <a:r>
              <a:rPr sz="3200" spc="37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38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text</a:t>
            </a:r>
            <a:r>
              <a:rPr sz="3200" spc="37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37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380" dirty="0">
                <a:latin typeface="Arial MT"/>
                <a:cs typeface="Arial MT"/>
              </a:rPr>
              <a:t>  </a:t>
            </a:r>
            <a:r>
              <a:rPr sz="3200" spc="-25" dirty="0">
                <a:latin typeface="Arial MT"/>
                <a:cs typeface="Arial MT"/>
              </a:rPr>
              <a:t>be </a:t>
            </a:r>
            <a:r>
              <a:rPr sz="3200" b="1" dirty="0">
                <a:solidFill>
                  <a:srgbClr val="2D2D8A"/>
                </a:solidFill>
                <a:latin typeface="Arial"/>
                <a:cs typeface="Arial"/>
              </a:rPr>
              <a:t>answered</a:t>
            </a:r>
            <a:r>
              <a:rPr sz="3200" b="1" spc="110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correctly</a:t>
            </a:r>
            <a:r>
              <a:rPr sz="3200" spc="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by</a:t>
            </a:r>
            <a:r>
              <a:rPr sz="3200" spc="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majority</a:t>
            </a:r>
            <a:r>
              <a:rPr sz="3200" spc="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native</a:t>
            </a:r>
            <a:r>
              <a:rPr sz="3200" spc="9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speakers,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28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machine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provide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string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which</a:t>
            </a:r>
            <a:r>
              <a:rPr sz="3200" spc="285" dirty="0">
                <a:latin typeface="Arial MT"/>
                <a:cs typeface="Arial MT"/>
              </a:rPr>
              <a:t>  </a:t>
            </a:r>
            <a:r>
              <a:rPr sz="3200" spc="-10" dirty="0">
                <a:latin typeface="Arial MT"/>
                <a:cs typeface="Arial MT"/>
              </a:rPr>
              <a:t>those </a:t>
            </a:r>
            <a:r>
              <a:rPr sz="3200" dirty="0">
                <a:latin typeface="Arial MT"/>
                <a:cs typeface="Arial MT"/>
              </a:rPr>
              <a:t>speakers</a:t>
            </a:r>
            <a:r>
              <a:rPr sz="3200" spc="6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would</a:t>
            </a:r>
            <a:r>
              <a:rPr sz="3200" spc="6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agree</a:t>
            </a:r>
            <a:r>
              <a:rPr sz="3200" spc="6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both</a:t>
            </a:r>
            <a:r>
              <a:rPr sz="3200" spc="6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answers</a:t>
            </a:r>
            <a:r>
              <a:rPr sz="3200" spc="6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6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question,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6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does</a:t>
            </a:r>
            <a:r>
              <a:rPr sz="3200" spc="6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not</a:t>
            </a:r>
            <a:r>
              <a:rPr sz="3200" spc="6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contain</a:t>
            </a:r>
            <a:r>
              <a:rPr sz="3200" spc="6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information</a:t>
            </a:r>
            <a:r>
              <a:rPr sz="3200" spc="6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irrelevant</a:t>
            </a:r>
            <a:r>
              <a:rPr sz="3200" spc="6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69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that </a:t>
            </a:r>
            <a:r>
              <a:rPr sz="3200" spc="-10" dirty="0">
                <a:latin typeface="Arial MT"/>
                <a:cs typeface="Arial MT"/>
              </a:rPr>
              <a:t>question.”</a:t>
            </a:r>
            <a:endParaRPr sz="3200">
              <a:latin typeface="Arial MT"/>
              <a:cs typeface="Arial MT"/>
            </a:endParaRPr>
          </a:p>
          <a:p>
            <a:pPr marL="401955" algn="just">
              <a:lnSpc>
                <a:spcPct val="100000"/>
              </a:lnSpc>
              <a:spcBef>
                <a:spcPts val="625"/>
              </a:spcBef>
            </a:pPr>
            <a:r>
              <a:rPr sz="3200" dirty="0">
                <a:latin typeface="Arial MT"/>
                <a:cs typeface="Arial MT"/>
              </a:rPr>
              <a:t>(Burges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2013)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4493" y="-177214"/>
            <a:ext cx="6509384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367155" marR="5080" indent="-1355090">
              <a:lnSpc>
                <a:spcPts val="5250"/>
              </a:lnSpc>
              <a:spcBef>
                <a:spcPts val="229"/>
              </a:spcBef>
              <a:tabLst>
                <a:tab pos="1874520" algn="l"/>
                <a:tab pos="3814445" algn="l"/>
                <a:tab pos="4419600" algn="l"/>
              </a:tabLst>
            </a:pPr>
            <a:r>
              <a:rPr dirty="0"/>
              <a:t>A</a:t>
            </a:r>
            <a:r>
              <a:rPr spc="-245" dirty="0"/>
              <a:t> </a:t>
            </a:r>
            <a:r>
              <a:rPr spc="-20" dirty="0"/>
              <a:t>Brief</a:t>
            </a:r>
            <a:r>
              <a:rPr dirty="0"/>
              <a:t>	</a:t>
            </a:r>
            <a:r>
              <a:rPr spc="-10" dirty="0"/>
              <a:t>History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Machine Comprehension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3975" y="1109683"/>
            <a:ext cx="9921875" cy="502412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4965" indent="-297180">
              <a:lnSpc>
                <a:spcPct val="100000"/>
              </a:lnSpc>
              <a:spcBef>
                <a:spcPts val="55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Much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early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NLP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attempted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reading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comprehension</a:t>
            </a:r>
            <a:endParaRPr sz="240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450"/>
              </a:spcBef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Schank,</a:t>
            </a:r>
            <a:r>
              <a:rPr sz="2400" spc="-14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Abelson,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Lehnert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et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al.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c.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1977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–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60" dirty="0">
                <a:solidFill>
                  <a:srgbClr val="2D2D8A"/>
                </a:solidFill>
                <a:latin typeface="Times New Roman"/>
                <a:cs typeface="Times New Roman"/>
              </a:rPr>
              <a:t>“Yale</a:t>
            </a:r>
            <a:r>
              <a:rPr sz="2400" spc="-13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A.I.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Project”</a:t>
            </a:r>
            <a:endParaRPr sz="2400">
              <a:latin typeface="Times New Roman"/>
              <a:cs typeface="Times New Roman"/>
            </a:endParaRPr>
          </a:p>
          <a:p>
            <a:pPr marL="347345" indent="-334645">
              <a:lnSpc>
                <a:spcPct val="100000"/>
              </a:lnSpc>
              <a:spcBef>
                <a:spcPts val="495"/>
              </a:spcBef>
              <a:buChar char="•"/>
              <a:tabLst>
                <a:tab pos="347345" algn="l"/>
              </a:tabLst>
            </a:pPr>
            <a:r>
              <a:rPr sz="2400" dirty="0">
                <a:latin typeface="Times New Roman"/>
                <a:cs typeface="Times New Roman"/>
              </a:rPr>
              <a:t>Revived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Lynette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Hirschman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1999:</a:t>
            </a:r>
            <a:endParaRPr sz="2400">
              <a:latin typeface="Times New Roman"/>
              <a:cs typeface="Times New Roman"/>
            </a:endParaRPr>
          </a:p>
          <a:p>
            <a:pPr marL="755650" marR="15875" lvl="1" indent="-285750">
              <a:lnSpc>
                <a:spcPct val="100499"/>
              </a:lnSpc>
              <a:spcBef>
                <a:spcPts val="480"/>
              </a:spcBef>
              <a:buChar char="–"/>
              <a:tabLst>
                <a:tab pos="755650" algn="l"/>
                <a:tab pos="838200" algn="l"/>
                <a:tab pos="3277870" algn="l"/>
                <a:tab pos="8301355" algn="l"/>
              </a:tabLst>
            </a:pP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Could</a:t>
            </a:r>
            <a:r>
              <a:rPr sz="2400" spc="7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NLP</a:t>
            </a:r>
            <a:r>
              <a:rPr sz="2400" spc="-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systems</a:t>
            </a:r>
            <a:r>
              <a:rPr sz="2400" spc="8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answer</a:t>
            </a:r>
            <a:r>
              <a:rPr sz="2400" spc="7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human</a:t>
            </a:r>
            <a:r>
              <a:rPr sz="2400" spc="8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reading</a:t>
            </a:r>
            <a:r>
              <a:rPr sz="2400" spc="8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comprehension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	questions</a:t>
            </a:r>
            <a:r>
              <a:rPr sz="2400" spc="5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2D2D8A"/>
                </a:solidFill>
                <a:latin typeface="Times New Roman"/>
                <a:cs typeface="Times New Roman"/>
              </a:rPr>
              <a:t>for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3rd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to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6th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graders?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Simple</a:t>
            </a:r>
            <a:r>
              <a:rPr sz="24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methods</a:t>
            </a:r>
            <a:r>
              <a:rPr sz="2400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Times New Roman"/>
                <a:cs typeface="Times New Roman"/>
              </a:rPr>
              <a:t>attempted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450"/>
              </a:spcBef>
              <a:buChar char="•"/>
              <a:tabLst>
                <a:tab pos="194945" algn="l"/>
              </a:tabLst>
            </a:pPr>
            <a:r>
              <a:rPr sz="2400" dirty="0">
                <a:latin typeface="Times New Roman"/>
                <a:cs typeface="Times New Roman"/>
              </a:rPr>
              <a:t>Revived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again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Chris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Burges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2013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MCTest</a:t>
            </a:r>
            <a:endParaRPr sz="2400">
              <a:latin typeface="Times New Roman"/>
              <a:cs typeface="Times New Roman"/>
            </a:endParaRPr>
          </a:p>
          <a:p>
            <a:pPr marL="831215" lvl="1" indent="-361315">
              <a:lnSpc>
                <a:spcPct val="100000"/>
              </a:lnSpc>
              <a:spcBef>
                <a:spcPts val="495"/>
              </a:spcBef>
              <a:buClr>
                <a:srgbClr val="000000"/>
              </a:buClr>
              <a:buChar char="–"/>
              <a:tabLst>
                <a:tab pos="831215" algn="l"/>
              </a:tabLst>
            </a:pP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Again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answering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questions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over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simple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story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texts</a:t>
            </a:r>
            <a:endParaRPr sz="2400">
              <a:latin typeface="Times New Roman"/>
              <a:cs typeface="Times New Roman"/>
            </a:endParaRPr>
          </a:p>
          <a:p>
            <a:pPr marL="12700" marR="5080" indent="245745">
              <a:lnSpc>
                <a:spcPct val="100499"/>
              </a:lnSpc>
              <a:spcBef>
                <a:spcPts val="480"/>
              </a:spcBef>
              <a:buChar char="•"/>
              <a:tabLst>
                <a:tab pos="258445" algn="l"/>
                <a:tab pos="1735455" algn="l"/>
                <a:tab pos="2643505" algn="l"/>
                <a:tab pos="2755265" algn="l"/>
                <a:tab pos="3131820" algn="l"/>
                <a:tab pos="4270375" algn="l"/>
                <a:tab pos="4951730" algn="l"/>
                <a:tab pos="5462905" algn="l"/>
                <a:tab pos="6923405" algn="l"/>
                <a:tab pos="7317105" algn="l"/>
                <a:tab pos="8059420" algn="l"/>
                <a:tab pos="9163685" algn="l"/>
              </a:tabLst>
            </a:pPr>
            <a:r>
              <a:rPr sz="2400" spc="-10" dirty="0">
                <a:latin typeface="Times New Roman"/>
                <a:cs typeface="Times New Roman"/>
              </a:rPr>
              <a:t>Floodgates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opened</a:t>
            </a:r>
            <a:r>
              <a:rPr sz="2400" dirty="0">
                <a:latin typeface="Times New Roman"/>
                <a:cs typeface="Times New Roman"/>
              </a:rPr>
              <a:t>		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2015/16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with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production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large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datasets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which </a:t>
            </a:r>
            <a:r>
              <a:rPr sz="2400" dirty="0">
                <a:latin typeface="Times New Roman"/>
                <a:cs typeface="Times New Roman"/>
              </a:rPr>
              <a:t>permit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supervised</a:t>
            </a:r>
            <a:r>
              <a:rPr sz="2400" dirty="0">
                <a:latin typeface="Times New Roman"/>
                <a:cs typeface="Times New Roman"/>
              </a:rPr>
              <a:t>	neural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built</a:t>
            </a:r>
            <a:endParaRPr sz="2400">
              <a:latin typeface="Times New Roman"/>
              <a:cs typeface="Times New Roman"/>
            </a:endParaRPr>
          </a:p>
          <a:p>
            <a:pPr marL="831215" lvl="1" indent="-361315">
              <a:lnSpc>
                <a:spcPct val="100000"/>
              </a:lnSpc>
              <a:spcBef>
                <a:spcPts val="450"/>
              </a:spcBef>
              <a:buClr>
                <a:srgbClr val="000000"/>
              </a:buClr>
              <a:buChar char="–"/>
              <a:tabLst>
                <a:tab pos="831215" algn="l"/>
              </a:tabLst>
            </a:pP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Hermann</a:t>
            </a:r>
            <a:r>
              <a:rPr sz="2400" spc="-4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et</a:t>
            </a:r>
            <a:r>
              <a:rPr sz="2400" spc="-4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al.</a:t>
            </a:r>
            <a:r>
              <a:rPr sz="2400" spc="-4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(NIPS</a:t>
            </a:r>
            <a:r>
              <a:rPr sz="2400" spc="-4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2015)</a:t>
            </a:r>
            <a:r>
              <a:rPr sz="2400" spc="-4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DeepMind</a:t>
            </a:r>
            <a:r>
              <a:rPr sz="2400" spc="-3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CNN/DM</a:t>
            </a:r>
            <a:r>
              <a:rPr sz="2400" spc="-4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dataset</a:t>
            </a:r>
            <a:endParaRPr sz="240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495"/>
              </a:spcBef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Rajpurkar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et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al.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2D2D8A"/>
                </a:solidFill>
                <a:latin typeface="Times New Roman"/>
                <a:cs typeface="Times New Roman"/>
              </a:rPr>
              <a:t>(EMNLP</a:t>
            </a:r>
            <a:r>
              <a:rPr sz="2400" spc="-10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2016)</a:t>
            </a:r>
            <a:r>
              <a:rPr sz="2400" spc="-1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SQuAD</a:t>
            </a:r>
            <a:endParaRPr sz="240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495"/>
              </a:spcBef>
              <a:buChar char="–"/>
              <a:tabLst>
                <a:tab pos="755015" algn="l"/>
                <a:tab pos="7934959" algn="l"/>
              </a:tabLst>
            </a:pP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MS</a:t>
            </a:r>
            <a:r>
              <a:rPr sz="2400" spc="-70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MARCO,</a:t>
            </a:r>
            <a:r>
              <a:rPr sz="2400" spc="-10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TriviaQA,</a:t>
            </a:r>
            <a:r>
              <a:rPr sz="2400" spc="-6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RACE,</a:t>
            </a:r>
            <a:r>
              <a:rPr sz="2400" spc="-6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NewsQA,</a:t>
            </a:r>
            <a:r>
              <a:rPr sz="2400" spc="-6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NarrativeQA,</a:t>
            </a:r>
            <a:r>
              <a:rPr sz="2400" dirty="0">
                <a:solidFill>
                  <a:srgbClr val="2D2D8A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solidFill>
                  <a:srgbClr val="2D2D8A"/>
                </a:solidFill>
                <a:latin typeface="Times New Roman"/>
                <a:cs typeface="Times New Roman"/>
              </a:rPr>
              <a:t>HotpotQA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12" rIns="0" bIns="0" rtlCol="0">
            <a:spAutoFit/>
          </a:bodyPr>
          <a:lstStyle/>
          <a:p>
            <a:pPr marL="203327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35" dirty="0"/>
              <a:t> </a:t>
            </a:r>
            <a:r>
              <a:rPr spc="-10" dirty="0"/>
              <a:t>Comprehension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675" y="1133475"/>
            <a:ext cx="9753599" cy="9239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075" y="2240107"/>
            <a:ext cx="9753599" cy="33146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5921" y="5715000"/>
            <a:ext cx="5258411" cy="6175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23743" y="5668962"/>
            <a:ext cx="1851375" cy="66357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2729" y="187991"/>
            <a:ext cx="3454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5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6255" y="847344"/>
            <a:ext cx="9864090" cy="411861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94640" marR="43815" indent="-281940">
              <a:lnSpc>
                <a:spcPts val="3829"/>
              </a:lnSpc>
              <a:spcBef>
                <a:spcPts val="235"/>
              </a:spcBef>
              <a:buChar char="•"/>
              <a:tabLst>
                <a:tab pos="294640" algn="l"/>
                <a:tab pos="2093595" algn="l"/>
                <a:tab pos="4006215" algn="l"/>
                <a:tab pos="4518025" algn="l"/>
                <a:tab pos="6724015" algn="l"/>
                <a:tab pos="8139430" algn="l"/>
              </a:tabLst>
            </a:pPr>
            <a:r>
              <a:rPr sz="3200" spc="-10" dirty="0">
                <a:latin typeface="Arial MT"/>
                <a:cs typeface="Arial MT"/>
              </a:rPr>
              <a:t>Teaching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machines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to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understand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human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language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long-</a:t>
            </a:r>
            <a:r>
              <a:rPr sz="3200" dirty="0">
                <a:latin typeface="Arial MT"/>
                <a:cs typeface="Arial MT"/>
              </a:rPr>
              <a:t>standing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challenge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19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AI.</a:t>
            </a:r>
            <a:endParaRPr sz="3200">
              <a:latin typeface="Arial MT"/>
              <a:cs typeface="Arial MT"/>
            </a:endParaRPr>
          </a:p>
          <a:p>
            <a:pPr marL="407034" indent="-394335">
              <a:lnSpc>
                <a:spcPct val="100000"/>
              </a:lnSpc>
              <a:spcBef>
                <a:spcPts val="495"/>
              </a:spcBef>
              <a:buChar char="•"/>
              <a:tabLst>
                <a:tab pos="407034" algn="l"/>
              </a:tabLst>
            </a:pPr>
            <a:r>
              <a:rPr sz="3200" dirty="0">
                <a:latin typeface="Arial MT"/>
                <a:cs typeface="Arial MT"/>
              </a:rPr>
              <a:t>Requires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various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aspects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text</a:t>
            </a:r>
            <a:r>
              <a:rPr sz="3200" spc="-10" dirty="0">
                <a:latin typeface="Arial MT"/>
                <a:cs typeface="Arial MT"/>
              </a:rPr>
              <a:t> understanding.</a:t>
            </a:r>
            <a:endParaRPr sz="32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95"/>
              </a:spcBef>
              <a:buChar char="–"/>
              <a:tabLst>
                <a:tab pos="793115" algn="l"/>
              </a:tabLst>
            </a:pPr>
            <a:r>
              <a:rPr sz="2800" spc="-25" dirty="0">
                <a:latin typeface="Arial MT"/>
                <a:cs typeface="Arial MT"/>
              </a:rPr>
              <a:t>Part-of-</a:t>
            </a:r>
            <a:r>
              <a:rPr sz="2800" dirty="0">
                <a:latin typeface="Arial MT"/>
                <a:cs typeface="Arial MT"/>
              </a:rPr>
              <a:t>speech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Tagging</a:t>
            </a:r>
            <a:endParaRPr sz="28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40"/>
              </a:spcBef>
              <a:buChar char="–"/>
              <a:tabLst>
                <a:tab pos="793115" algn="l"/>
              </a:tabLst>
            </a:pPr>
            <a:r>
              <a:rPr sz="2800" dirty="0">
                <a:latin typeface="Arial MT"/>
                <a:cs typeface="Arial MT"/>
              </a:rPr>
              <a:t>Named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Entity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Recognition</a:t>
            </a:r>
            <a:endParaRPr sz="28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40"/>
              </a:spcBef>
              <a:buChar char="–"/>
              <a:tabLst>
                <a:tab pos="793115" algn="l"/>
              </a:tabLst>
            </a:pPr>
            <a:r>
              <a:rPr sz="2800" dirty="0">
                <a:latin typeface="Arial MT"/>
                <a:cs typeface="Arial MT"/>
              </a:rPr>
              <a:t>Syntactic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Parsing</a:t>
            </a:r>
            <a:endParaRPr sz="28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40"/>
              </a:spcBef>
              <a:buChar char="–"/>
              <a:tabLst>
                <a:tab pos="793115" algn="l"/>
              </a:tabLst>
            </a:pPr>
            <a:r>
              <a:rPr sz="2800" spc="-10" dirty="0">
                <a:latin typeface="Arial MT"/>
                <a:cs typeface="Arial MT"/>
              </a:rPr>
              <a:t>Coreference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resolution</a:t>
            </a:r>
            <a:endParaRPr sz="2800">
              <a:latin typeface="Arial MT"/>
              <a:cs typeface="Arial MT"/>
            </a:endParaRPr>
          </a:p>
          <a:p>
            <a:pPr marL="411480" indent="-398780">
              <a:lnSpc>
                <a:spcPct val="100000"/>
              </a:lnSpc>
              <a:spcBef>
                <a:spcPts val="605"/>
              </a:spcBef>
              <a:buChar char="•"/>
              <a:tabLst>
                <a:tab pos="411480" algn="l"/>
              </a:tabLst>
            </a:pPr>
            <a:r>
              <a:rPr sz="3200" dirty="0">
                <a:latin typeface="Arial MT"/>
                <a:cs typeface="Arial MT"/>
              </a:rPr>
              <a:t>Is</a:t>
            </a:r>
            <a:r>
              <a:rPr sz="3200" spc="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there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comprehensive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evaluation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test</a:t>
            </a:r>
            <a:r>
              <a:rPr sz="3200" spc="4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all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50147" y="4943093"/>
            <a:ext cx="43745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68400" algn="l"/>
                <a:tab pos="2708910" algn="l"/>
                <a:tab pos="4023360" algn="l"/>
              </a:tabLst>
            </a:pPr>
            <a:r>
              <a:rPr sz="3200" spc="-20" dirty="0">
                <a:latin typeface="Arial MT"/>
                <a:cs typeface="Arial MT"/>
              </a:rPr>
              <a:t>even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deeper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levels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of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200" y="4943093"/>
            <a:ext cx="4962525" cy="149733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35"/>
              </a:spcBef>
              <a:tabLst>
                <a:tab pos="1281430" algn="l"/>
                <a:tab pos="2957195" algn="l"/>
                <a:tab pos="3910329" algn="l"/>
              </a:tabLst>
            </a:pPr>
            <a:r>
              <a:rPr sz="3200" spc="-10" dirty="0">
                <a:latin typeface="Arial MT"/>
                <a:cs typeface="Arial MT"/>
              </a:rPr>
              <a:t>these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aspects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and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probe understanding?</a:t>
            </a:r>
            <a:endParaRPr sz="3200">
              <a:latin typeface="Arial MT"/>
              <a:cs typeface="Arial MT"/>
            </a:endParaRPr>
          </a:p>
          <a:p>
            <a:pPr marL="106680">
              <a:lnSpc>
                <a:spcPct val="100000"/>
              </a:lnSpc>
              <a:spcBef>
                <a:spcPts val="430"/>
              </a:spcBef>
            </a:pPr>
            <a:r>
              <a:rPr sz="2800" b="1" dirty="0">
                <a:solidFill>
                  <a:srgbClr val="2D2D8A"/>
                </a:solidFill>
                <a:latin typeface="Arial"/>
                <a:cs typeface="Arial"/>
              </a:rPr>
              <a:t>–</a:t>
            </a:r>
            <a:r>
              <a:rPr sz="2800" b="1" spc="-15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D2D8A"/>
                </a:solidFill>
                <a:latin typeface="Arial"/>
                <a:cs typeface="Arial"/>
              </a:rPr>
              <a:t>Machine</a:t>
            </a:r>
            <a:r>
              <a:rPr sz="2800" b="1" spc="-80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D2D8A"/>
                </a:solidFill>
                <a:latin typeface="Arial"/>
                <a:cs typeface="Arial"/>
              </a:rPr>
              <a:t>Comprehension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2729" y="187991"/>
            <a:ext cx="3454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Motivation</a:t>
            </a:r>
            <a:r>
              <a:rPr spc="-5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6255" y="847344"/>
            <a:ext cx="9866630" cy="311340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94640" marR="7620" indent="-281940">
              <a:lnSpc>
                <a:spcPts val="3829"/>
              </a:lnSpc>
              <a:spcBef>
                <a:spcPts val="235"/>
              </a:spcBef>
              <a:buChar char="•"/>
              <a:tabLst>
                <a:tab pos="294640" algn="l"/>
                <a:tab pos="5094605" algn="l"/>
              </a:tabLst>
            </a:pPr>
            <a:r>
              <a:rPr sz="3200" dirty="0">
                <a:latin typeface="Arial MT"/>
                <a:cs typeface="Arial MT"/>
              </a:rPr>
              <a:t>Reading</a:t>
            </a:r>
            <a:r>
              <a:rPr sz="3200" spc="1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comprehension:</a:t>
            </a:r>
            <a:r>
              <a:rPr sz="3200" dirty="0">
                <a:latin typeface="Arial MT"/>
                <a:cs typeface="Arial MT"/>
              </a:rPr>
              <a:t>	tests</a:t>
            </a:r>
            <a:r>
              <a:rPr sz="3200" spc="1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1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measure</a:t>
            </a:r>
            <a:r>
              <a:rPr sz="3200" spc="1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15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well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human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has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understood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piece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text.</a:t>
            </a:r>
            <a:endParaRPr sz="3200">
              <a:latin typeface="Arial MT"/>
              <a:cs typeface="Arial MT"/>
            </a:endParaRPr>
          </a:p>
          <a:p>
            <a:pPr marL="294640" marR="5715" indent="-281940">
              <a:lnSpc>
                <a:spcPct val="100499"/>
              </a:lnSpc>
              <a:spcBef>
                <a:spcPts val="475"/>
              </a:spcBef>
              <a:buChar char="•"/>
              <a:tabLst>
                <a:tab pos="294640" algn="l"/>
                <a:tab pos="2329180" algn="l"/>
                <a:tab pos="5715000" algn="l"/>
                <a:tab pos="6959600" algn="l"/>
                <a:tab pos="8158480" algn="l"/>
              </a:tabLst>
            </a:pPr>
            <a:r>
              <a:rPr sz="3200" spc="-10" dirty="0">
                <a:latin typeface="Arial MT"/>
                <a:cs typeface="Arial MT"/>
              </a:rPr>
              <a:t>Machine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comprehension: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5" dirty="0">
                <a:latin typeface="Arial MT"/>
                <a:cs typeface="Arial MT"/>
              </a:rPr>
              <a:t>how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20" dirty="0">
                <a:latin typeface="Arial MT"/>
                <a:cs typeface="Arial MT"/>
              </a:rPr>
              <a:t>well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10" dirty="0">
                <a:latin typeface="Arial MT"/>
                <a:cs typeface="Arial MT"/>
              </a:rPr>
              <a:t>computer </a:t>
            </a:r>
            <a:r>
              <a:rPr sz="3200" dirty="0">
                <a:latin typeface="Arial MT"/>
                <a:cs typeface="Arial MT"/>
              </a:rPr>
              <a:t>systems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understand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human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language.</a:t>
            </a:r>
            <a:endParaRPr sz="3200">
              <a:latin typeface="Arial MT"/>
              <a:cs typeface="Arial MT"/>
            </a:endParaRPr>
          </a:p>
          <a:p>
            <a:pPr marL="294640" marR="5080" indent="-281940">
              <a:lnSpc>
                <a:spcPct val="100499"/>
              </a:lnSpc>
              <a:spcBef>
                <a:spcPts val="605"/>
              </a:spcBef>
              <a:buChar char="•"/>
              <a:tabLst>
                <a:tab pos="294640" algn="l"/>
              </a:tabLst>
            </a:pP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Machine</a:t>
            </a:r>
            <a:r>
              <a:rPr sz="3200" spc="36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comprehension</a:t>
            </a:r>
            <a:r>
              <a:rPr sz="3200" spc="36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could</a:t>
            </a:r>
            <a:r>
              <a:rPr sz="3200" spc="37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be</a:t>
            </a:r>
            <a:r>
              <a:rPr sz="3200" spc="36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the</a:t>
            </a:r>
            <a:r>
              <a:rPr sz="3200" spc="36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most</a:t>
            </a:r>
            <a:r>
              <a:rPr sz="3200" spc="37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suitable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task</a:t>
            </a:r>
            <a:r>
              <a:rPr sz="3200" spc="-2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for</a:t>
            </a:r>
            <a:r>
              <a:rPr sz="3200" spc="-2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evaluating</a:t>
            </a:r>
            <a:r>
              <a:rPr sz="3200" spc="-2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language</a:t>
            </a:r>
            <a:r>
              <a:rPr sz="3200" spc="-2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understanding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1832" rIns="0" bIns="0" rtlCol="0">
            <a:spAutoFit/>
          </a:bodyPr>
          <a:lstStyle/>
          <a:p>
            <a:pPr marL="38881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Datasets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5651" y="1568513"/>
            <a:ext cx="204088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2D2D8A"/>
                </a:solidFill>
                <a:latin typeface="Arial"/>
                <a:cs typeface="Arial"/>
              </a:rPr>
              <a:t>Before</a:t>
            </a:r>
            <a:r>
              <a:rPr sz="2800" b="1" spc="-120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2D2D8A"/>
                </a:solidFill>
                <a:latin typeface="Arial"/>
                <a:cs typeface="Arial"/>
              </a:rPr>
              <a:t>2015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1341" y="2060131"/>
            <a:ext cx="4519930" cy="15494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09880" marR="72390" indent="-297815">
              <a:lnSpc>
                <a:spcPct val="100499"/>
              </a:lnSpc>
              <a:spcBef>
                <a:spcPts val="85"/>
              </a:spcBef>
              <a:buChar char="•"/>
              <a:tabLst>
                <a:tab pos="309880" algn="l"/>
                <a:tab pos="1665605" algn="l"/>
                <a:tab pos="3586479" algn="l"/>
                <a:tab pos="4117340" algn="l"/>
              </a:tabLst>
            </a:pPr>
            <a:r>
              <a:rPr sz="2400" b="1" spc="-10" dirty="0">
                <a:solidFill>
                  <a:srgbClr val="00B050"/>
                </a:solidFill>
                <a:latin typeface="Arial"/>
                <a:cs typeface="Arial"/>
              </a:rPr>
              <a:t>MCTest</a:t>
            </a:r>
            <a:r>
              <a:rPr sz="2400" b="1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2400" spc="-10" dirty="0">
                <a:latin typeface="Arial MT"/>
                <a:cs typeface="Arial MT"/>
              </a:rPr>
              <a:t>(Richardson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et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al, </a:t>
            </a:r>
            <a:r>
              <a:rPr sz="2400" dirty="0">
                <a:latin typeface="Arial MT"/>
                <a:cs typeface="Arial MT"/>
              </a:rPr>
              <a:t>2013):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2600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questions</a:t>
            </a:r>
            <a:endParaRPr sz="2400">
              <a:latin typeface="Arial MT"/>
              <a:cs typeface="Arial MT"/>
            </a:endParaRPr>
          </a:p>
          <a:p>
            <a:pPr marL="309880" marR="5080" indent="-297815">
              <a:lnSpc>
                <a:spcPct val="100499"/>
              </a:lnSpc>
              <a:spcBef>
                <a:spcPts val="434"/>
              </a:spcBef>
              <a:buChar char="•"/>
              <a:tabLst>
                <a:tab pos="309880" algn="l"/>
                <a:tab pos="445134" algn="l"/>
                <a:tab pos="2562225" algn="l"/>
                <a:tab pos="3745865" algn="l"/>
                <a:tab pos="4185285" algn="l"/>
              </a:tabLst>
            </a:pPr>
            <a:r>
              <a:rPr sz="2400" dirty="0">
                <a:latin typeface="Arial MT"/>
                <a:cs typeface="Arial MT"/>
              </a:rPr>
              <a:t>	</a:t>
            </a:r>
            <a:r>
              <a:rPr sz="2400" b="1" spc="-10" dirty="0">
                <a:solidFill>
                  <a:srgbClr val="00B050"/>
                </a:solidFill>
                <a:latin typeface="Arial"/>
                <a:cs typeface="Arial"/>
              </a:rPr>
              <a:t>ProcessBank</a:t>
            </a:r>
            <a:r>
              <a:rPr sz="2400" b="1" dirty="0">
                <a:solidFill>
                  <a:srgbClr val="00B050"/>
                </a:solidFill>
                <a:latin typeface="Arial"/>
                <a:cs typeface="Arial"/>
              </a:rPr>
              <a:t>	</a:t>
            </a:r>
            <a:r>
              <a:rPr sz="2400" spc="-10" dirty="0">
                <a:latin typeface="Arial MT"/>
                <a:cs typeface="Arial MT"/>
              </a:rPr>
              <a:t>(Berant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et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al, </a:t>
            </a:r>
            <a:r>
              <a:rPr sz="2400" dirty="0">
                <a:latin typeface="Arial MT"/>
                <a:cs typeface="Arial MT"/>
              </a:rPr>
              <a:t>2014):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500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questions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71176" y="1568513"/>
            <a:ext cx="17443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2D2D8A"/>
                </a:solidFill>
                <a:latin typeface="Arial"/>
                <a:cs typeface="Arial"/>
              </a:rPr>
              <a:t>After</a:t>
            </a:r>
            <a:r>
              <a:rPr sz="2800" b="1" spc="-95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2D2D8A"/>
                </a:solidFill>
                <a:latin typeface="Arial"/>
                <a:cs typeface="Arial"/>
              </a:rPr>
              <a:t>2015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326" y="1981200"/>
            <a:ext cx="4267993" cy="450123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2940" y="477711"/>
            <a:ext cx="77393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5455" algn="l"/>
              </a:tabLst>
            </a:pPr>
            <a:r>
              <a:rPr dirty="0"/>
              <a:t>QA</a:t>
            </a:r>
            <a:r>
              <a:rPr spc="-250" dirty="0"/>
              <a:t> </a:t>
            </a:r>
            <a:r>
              <a:rPr spc="-25" dirty="0"/>
              <a:t>vs.</a:t>
            </a:r>
            <a:r>
              <a:rPr dirty="0"/>
              <a:t>	Machine</a:t>
            </a:r>
            <a:r>
              <a:rPr spc="-35" dirty="0"/>
              <a:t> </a:t>
            </a:r>
            <a:r>
              <a:rPr spc="-10" dirty="0"/>
              <a:t>Comprehension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4666" y="1230376"/>
            <a:ext cx="9543415" cy="40144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02260" marR="6350" indent="-290195" algn="just">
              <a:lnSpc>
                <a:spcPct val="100400"/>
              </a:lnSpc>
              <a:spcBef>
                <a:spcPts val="85"/>
              </a:spcBef>
              <a:buFont typeface="Arial"/>
              <a:buChar char="•"/>
              <a:tabLst>
                <a:tab pos="302260" algn="l"/>
                <a:tab pos="473709" algn="l"/>
              </a:tabLst>
            </a:pPr>
            <a:r>
              <a:rPr sz="2800" b="1" dirty="0">
                <a:solidFill>
                  <a:srgbClr val="2D2D8A"/>
                </a:solidFill>
                <a:latin typeface="Arial MT"/>
                <a:cs typeface="Arial MT"/>
              </a:rPr>
              <a:t>	</a:t>
            </a:r>
            <a:r>
              <a:rPr sz="2800" dirty="0">
                <a:latin typeface="Arial MT"/>
                <a:cs typeface="Arial MT"/>
              </a:rPr>
              <a:t>Reading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comprehension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instance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145" dirty="0">
                <a:latin typeface="Arial MT"/>
                <a:cs typeface="Arial MT"/>
              </a:rPr>
              <a:t>  </a:t>
            </a:r>
            <a:r>
              <a:rPr sz="2800" spc="-10" dirty="0">
                <a:latin typeface="Arial MT"/>
                <a:cs typeface="Arial MT"/>
              </a:rPr>
              <a:t>question </a:t>
            </a:r>
            <a:r>
              <a:rPr sz="2800" dirty="0">
                <a:latin typeface="Arial MT"/>
                <a:cs typeface="Arial MT"/>
              </a:rPr>
              <a:t>answering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because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2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essentially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2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question</a:t>
            </a:r>
            <a:r>
              <a:rPr sz="2800" spc="2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answering </a:t>
            </a:r>
            <a:r>
              <a:rPr sz="2800" dirty="0">
                <a:latin typeface="Arial MT"/>
                <a:cs typeface="Arial MT"/>
              </a:rPr>
              <a:t>problem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over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short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passage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text.</a:t>
            </a:r>
            <a:endParaRPr sz="2800">
              <a:latin typeface="Arial MT"/>
              <a:cs typeface="Arial MT"/>
            </a:endParaRPr>
          </a:p>
          <a:p>
            <a:pPr marL="300355" marR="5080" indent="-288290" algn="just">
              <a:lnSpc>
                <a:spcPct val="99900"/>
              </a:lnSpc>
              <a:spcBef>
                <a:spcPts val="58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Question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answering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build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computer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systems</a:t>
            </a:r>
            <a:r>
              <a:rPr sz="2800" spc="4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which 	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10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able</a:t>
            </a:r>
            <a:r>
              <a:rPr sz="2800" spc="11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11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automatically</a:t>
            </a:r>
            <a:r>
              <a:rPr sz="2800" spc="10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answer</a:t>
            </a:r>
            <a:r>
              <a:rPr sz="2800" spc="11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questions</a:t>
            </a:r>
            <a:r>
              <a:rPr sz="2800" spc="11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posed</a:t>
            </a:r>
            <a:r>
              <a:rPr sz="2800" spc="105" dirty="0">
                <a:latin typeface="Arial MT"/>
                <a:cs typeface="Arial MT"/>
              </a:rPr>
              <a:t>  </a:t>
            </a:r>
            <a:r>
              <a:rPr sz="2800" spc="-25" dirty="0">
                <a:latin typeface="Arial MT"/>
                <a:cs typeface="Arial MT"/>
              </a:rPr>
              <a:t>by 	</a:t>
            </a:r>
            <a:r>
              <a:rPr sz="2800" dirty="0">
                <a:latin typeface="Arial MT"/>
                <a:cs typeface="Arial MT"/>
              </a:rPr>
              <a:t>humans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various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sources.</a:t>
            </a:r>
            <a:endParaRPr sz="2800">
              <a:latin typeface="Arial MT"/>
              <a:cs typeface="Arial MT"/>
            </a:endParaRPr>
          </a:p>
          <a:p>
            <a:pPr marL="300355" marR="5080" indent="-288290" algn="just">
              <a:lnSpc>
                <a:spcPct val="99900"/>
              </a:lnSpc>
              <a:spcBef>
                <a:spcPts val="575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Machine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comprehension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puts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emphasis</a:t>
            </a:r>
            <a:r>
              <a:rPr sz="2800" spc="14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spc="-20" dirty="0">
                <a:latin typeface="Arial MT"/>
                <a:cs typeface="Arial MT"/>
              </a:rPr>
              <a:t>text 	</a:t>
            </a:r>
            <a:r>
              <a:rPr sz="2800" dirty="0">
                <a:latin typeface="Arial MT"/>
                <a:cs typeface="Arial MT"/>
              </a:rPr>
              <a:t>understanding</a:t>
            </a:r>
            <a:r>
              <a:rPr sz="2800" spc="6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6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answering</a:t>
            </a:r>
            <a:r>
              <a:rPr sz="2800" spc="6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questions</a:t>
            </a:r>
            <a:r>
              <a:rPr sz="2800" spc="6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regarded</a:t>
            </a:r>
            <a:r>
              <a:rPr sz="2800" spc="6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67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a 	</a:t>
            </a:r>
            <a:r>
              <a:rPr sz="2800" dirty="0">
                <a:latin typeface="Arial MT"/>
                <a:cs typeface="Arial MT"/>
              </a:rPr>
              <a:t>way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measure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language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understanding.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9614" y="477711"/>
            <a:ext cx="28695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Approaches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034" y="1175258"/>
            <a:ext cx="9544685" cy="551942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550"/>
              </a:spcBef>
              <a:buChar char="•"/>
              <a:tabLst>
                <a:tab pos="309245" algn="l"/>
              </a:tabLst>
            </a:pPr>
            <a:r>
              <a:rPr sz="2400" b="1" dirty="0">
                <a:solidFill>
                  <a:srgbClr val="2D2D8A"/>
                </a:solidFill>
                <a:latin typeface="Times New Roman"/>
                <a:cs typeface="Times New Roman"/>
              </a:rPr>
              <a:t>Machine</a:t>
            </a:r>
            <a:r>
              <a:rPr sz="2400" b="1" spc="-3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D2D8A"/>
                </a:solidFill>
                <a:latin typeface="Times New Roman"/>
                <a:cs typeface="Times New Roman"/>
              </a:rPr>
              <a:t>Learning</a:t>
            </a:r>
            <a:r>
              <a:rPr sz="2400" b="1" spc="-145" dirty="0">
                <a:solidFill>
                  <a:srgbClr val="2D2D8A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D2D8A"/>
                </a:solidFill>
                <a:latin typeface="Times New Roman"/>
                <a:cs typeface="Times New Roman"/>
              </a:rPr>
              <a:t>Approaches</a:t>
            </a:r>
            <a:endParaRPr sz="2400">
              <a:latin typeface="Times New Roman"/>
              <a:cs typeface="Times New Roman"/>
            </a:endParaRPr>
          </a:p>
          <a:p>
            <a:pPr marL="785495" lvl="1" indent="-361315">
              <a:lnSpc>
                <a:spcPct val="100000"/>
              </a:lnSpc>
              <a:spcBef>
                <a:spcPts val="450"/>
              </a:spcBef>
              <a:buClr>
                <a:srgbClr val="2D2D8A"/>
              </a:buClr>
              <a:buFont typeface="Times New Roman"/>
              <a:buChar char="–"/>
              <a:tabLst>
                <a:tab pos="785495" algn="l"/>
              </a:tabLst>
            </a:pPr>
            <a:r>
              <a:rPr sz="2400" dirty="0">
                <a:latin typeface="Times New Roman"/>
                <a:cs typeface="Times New Roman"/>
              </a:rPr>
              <a:t>Sliding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Window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(Richardson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et.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2013)</a:t>
            </a:r>
            <a:endParaRPr sz="2400">
              <a:latin typeface="Times New Roman"/>
              <a:cs typeface="Times New Roman"/>
            </a:endParaRPr>
          </a:p>
          <a:p>
            <a:pPr marL="1109980" marR="5080" lvl="2" indent="-183515">
              <a:lnSpc>
                <a:spcPct val="100499"/>
              </a:lnSpc>
              <a:spcBef>
                <a:spcPts val="480"/>
              </a:spcBef>
              <a:buChar char="•"/>
              <a:tabLst>
                <a:tab pos="1109980" algn="l"/>
                <a:tab pos="2496185" algn="l"/>
                <a:tab pos="3138805" algn="l"/>
                <a:tab pos="5370195" algn="l"/>
                <a:tab pos="6555105" algn="l"/>
                <a:tab pos="7841615" algn="l"/>
                <a:tab pos="8484235" algn="l"/>
              </a:tabLst>
            </a:pPr>
            <a:r>
              <a:rPr sz="2400" spc="-10" dirty="0">
                <a:latin typeface="Times New Roman"/>
                <a:cs typeface="Times New Roman"/>
              </a:rPr>
              <a:t>Compute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unigram/bigram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overlap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between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sentence </a:t>
            </a:r>
            <a:r>
              <a:rPr sz="2400" dirty="0">
                <a:latin typeface="Times New Roman"/>
                <a:cs typeface="Times New Roman"/>
              </a:rPr>
              <a:t>containing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candidate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answer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question.</a:t>
            </a:r>
            <a:endParaRPr sz="2400">
              <a:latin typeface="Times New Roman"/>
              <a:cs typeface="Times New Roman"/>
            </a:endParaRPr>
          </a:p>
          <a:p>
            <a:pPr marL="1185545" lvl="2" indent="-258445">
              <a:lnSpc>
                <a:spcPct val="100000"/>
              </a:lnSpc>
              <a:spcBef>
                <a:spcPts val="450"/>
              </a:spcBef>
              <a:buClr>
                <a:srgbClr val="2D2D8A"/>
              </a:buClr>
              <a:buFont typeface="Times New Roman"/>
              <a:buChar char="•"/>
              <a:tabLst>
                <a:tab pos="1185545" algn="l"/>
              </a:tabLst>
            </a:pP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TF-</a:t>
            </a:r>
            <a:r>
              <a:rPr sz="2400" dirty="0">
                <a:latin typeface="Times New Roman"/>
                <a:cs typeface="Times New Roman"/>
              </a:rPr>
              <a:t>IDF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similarity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candidate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answer.</a:t>
            </a:r>
            <a:endParaRPr sz="2400">
              <a:latin typeface="Times New Roman"/>
              <a:cs typeface="Times New Roman"/>
            </a:endParaRPr>
          </a:p>
          <a:p>
            <a:pPr marL="785495" lvl="1" indent="-361315">
              <a:lnSpc>
                <a:spcPct val="100000"/>
              </a:lnSpc>
              <a:spcBef>
                <a:spcPts val="495"/>
              </a:spcBef>
              <a:buChar char="–"/>
              <a:tabLst>
                <a:tab pos="785495" algn="l"/>
              </a:tabLst>
            </a:pPr>
            <a:r>
              <a:rPr sz="2400" dirty="0">
                <a:latin typeface="Times New Roman"/>
                <a:cs typeface="Times New Roman"/>
              </a:rPr>
              <a:t>Logistic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Regression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(Rajpurkar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et.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2013)</a:t>
            </a:r>
            <a:endParaRPr sz="2400">
              <a:latin typeface="Times New Roman"/>
              <a:cs typeface="Times New Roman"/>
            </a:endParaRPr>
          </a:p>
          <a:p>
            <a:pPr marL="1109980" lvl="2" indent="-182880">
              <a:lnSpc>
                <a:spcPct val="100000"/>
              </a:lnSpc>
              <a:spcBef>
                <a:spcPts val="495"/>
              </a:spcBef>
              <a:buChar char="•"/>
              <a:tabLst>
                <a:tab pos="1109980" algn="l"/>
              </a:tabLst>
            </a:pPr>
            <a:r>
              <a:rPr sz="2400" dirty="0">
                <a:latin typeface="Times New Roman"/>
                <a:cs typeface="Times New Roman"/>
              </a:rPr>
              <a:t>Extract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several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features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candidate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answer</a:t>
            </a:r>
            <a:endParaRPr sz="2400">
              <a:latin typeface="Times New Roman"/>
              <a:cs typeface="Times New Roman"/>
            </a:endParaRPr>
          </a:p>
          <a:p>
            <a:pPr marL="1109980" lvl="2" indent="-182880">
              <a:lnSpc>
                <a:spcPct val="100000"/>
              </a:lnSpc>
              <a:spcBef>
                <a:spcPts val="495"/>
              </a:spcBef>
              <a:buChar char="•"/>
              <a:tabLst>
                <a:tab pos="1109980" algn="l"/>
              </a:tabLst>
            </a:pPr>
            <a:r>
              <a:rPr sz="2400" spc="-10" dirty="0">
                <a:latin typeface="Times New Roman"/>
                <a:cs typeface="Times New Roman"/>
              </a:rPr>
              <a:t>Features</a:t>
            </a:r>
            <a:endParaRPr sz="2400">
              <a:latin typeface="Times New Roman"/>
              <a:cs typeface="Times New Roman"/>
            </a:endParaRPr>
          </a:p>
          <a:p>
            <a:pPr marL="156718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567180" algn="l"/>
              </a:tabLst>
            </a:pPr>
            <a:r>
              <a:rPr sz="2400" dirty="0">
                <a:latin typeface="Times New Roman"/>
                <a:cs typeface="Times New Roman"/>
              </a:rPr>
              <a:t>Matching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Word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Frequencies</a:t>
            </a:r>
            <a:endParaRPr sz="2400">
              <a:latin typeface="Times New Roman"/>
              <a:cs typeface="Times New Roman"/>
            </a:endParaRPr>
          </a:p>
          <a:p>
            <a:pPr marL="156718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567180" algn="l"/>
              </a:tabLst>
            </a:pPr>
            <a:r>
              <a:rPr sz="2400" dirty="0">
                <a:latin typeface="Times New Roman"/>
                <a:cs typeface="Times New Roman"/>
              </a:rPr>
              <a:t>Matching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Bigram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Frequencies</a:t>
            </a:r>
            <a:endParaRPr sz="2400">
              <a:latin typeface="Times New Roman"/>
              <a:cs typeface="Times New Roman"/>
            </a:endParaRPr>
          </a:p>
          <a:p>
            <a:pPr marL="156718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567180" algn="l"/>
              </a:tabLst>
            </a:pPr>
            <a:r>
              <a:rPr sz="2400" spc="-10" dirty="0">
                <a:latin typeface="Times New Roman"/>
                <a:cs typeface="Times New Roman"/>
              </a:rPr>
              <a:t>Lengths</a:t>
            </a:r>
            <a:endParaRPr sz="2400">
              <a:latin typeface="Times New Roman"/>
              <a:cs typeface="Times New Roman"/>
            </a:endParaRPr>
          </a:p>
          <a:p>
            <a:pPr marL="156718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567180" algn="l"/>
              </a:tabLst>
            </a:pPr>
            <a:r>
              <a:rPr sz="2400" dirty="0">
                <a:latin typeface="Times New Roman"/>
                <a:cs typeface="Times New Roman"/>
              </a:rPr>
              <a:t>Span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Tags</a:t>
            </a:r>
            <a:endParaRPr sz="2400">
              <a:latin typeface="Times New Roman"/>
              <a:cs typeface="Times New Roman"/>
            </a:endParaRPr>
          </a:p>
          <a:p>
            <a:pPr marL="1567180" lvl="3" indent="-228600">
              <a:lnSpc>
                <a:spcPct val="100000"/>
              </a:lnSpc>
              <a:spcBef>
                <a:spcPts val="495"/>
              </a:spcBef>
              <a:buChar char="–"/>
              <a:tabLst>
                <a:tab pos="1567180" algn="l"/>
              </a:tabLst>
            </a:pPr>
            <a:r>
              <a:rPr sz="2400" spc="-25" dirty="0">
                <a:latin typeface="Times New Roman"/>
                <a:cs typeface="Times New Roman"/>
              </a:rPr>
              <a:t>…..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9614" y="477711"/>
            <a:ext cx="28695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Approaches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348" y="1002263"/>
            <a:ext cx="6726555" cy="9588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695"/>
              </a:spcBef>
              <a:buChar char="•"/>
              <a:tabLst>
                <a:tab pos="301625" algn="l"/>
              </a:tabLst>
            </a:pPr>
            <a:r>
              <a:rPr sz="2800" b="1" dirty="0">
                <a:solidFill>
                  <a:srgbClr val="2D2D8A"/>
                </a:solidFill>
                <a:latin typeface="Arial"/>
                <a:cs typeface="Arial"/>
              </a:rPr>
              <a:t>Deep</a:t>
            </a:r>
            <a:r>
              <a:rPr sz="2800" b="1" spc="-90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D2D8A"/>
                </a:solidFill>
                <a:latin typeface="Arial"/>
                <a:cs typeface="Arial"/>
              </a:rPr>
              <a:t>Learning</a:t>
            </a:r>
            <a:r>
              <a:rPr sz="2800" b="1" spc="-185" dirty="0">
                <a:solidFill>
                  <a:srgbClr val="2D2D8A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D2D8A"/>
                </a:solidFill>
                <a:latin typeface="Arial"/>
                <a:cs typeface="Arial"/>
              </a:rPr>
              <a:t>Approaches</a:t>
            </a:r>
            <a:endParaRPr sz="2800">
              <a:latin typeface="Arial"/>
              <a:cs typeface="Arial"/>
            </a:endParaRPr>
          </a:p>
          <a:p>
            <a:pPr marL="399415">
              <a:lnSpc>
                <a:spcPct val="100000"/>
              </a:lnSpc>
              <a:spcBef>
                <a:spcPts val="509"/>
              </a:spcBef>
              <a:tabLst>
                <a:tab pos="701675" algn="l"/>
              </a:tabLst>
            </a:pPr>
            <a:r>
              <a:rPr sz="2400" spc="-50" dirty="0">
                <a:latin typeface="Arial MT"/>
                <a:cs typeface="Arial MT"/>
              </a:rPr>
              <a:t>–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Stanford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Attentive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Reader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(Chen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2016)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4119" y="1905000"/>
            <a:ext cx="8382000" cy="495299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3110" y="477711"/>
            <a:ext cx="8147684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27505">
              <a:lnSpc>
                <a:spcPts val="501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  <a:p>
            <a:pPr marL="12700">
              <a:lnSpc>
                <a:spcPts val="2610"/>
              </a:lnSpc>
              <a:tabLst>
                <a:tab pos="314960" algn="l"/>
              </a:tabLst>
            </a:pPr>
            <a:r>
              <a:rPr sz="2400" b="0" spc="-50" dirty="0">
                <a:solidFill>
                  <a:srgbClr val="000000"/>
                </a:solidFill>
                <a:latin typeface="Arial MT"/>
                <a:cs typeface="Arial MT"/>
              </a:rPr>
              <a:t>–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	</a:t>
            </a:r>
            <a:r>
              <a:rPr sz="2400" b="0" spc="-20" dirty="0">
                <a:solidFill>
                  <a:srgbClr val="000000"/>
                </a:solidFill>
                <a:latin typeface="Arial MT"/>
                <a:cs typeface="Arial MT"/>
              </a:rPr>
              <a:t>Stanford</a:t>
            </a:r>
            <a:r>
              <a:rPr sz="2400" b="0" spc="-1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Attentive</a:t>
            </a:r>
            <a:r>
              <a:rPr sz="2400"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Reader</a:t>
            </a:r>
            <a:r>
              <a:rPr sz="24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(Chen</a:t>
            </a:r>
            <a:r>
              <a:rPr sz="24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et</a:t>
            </a:r>
            <a:r>
              <a:rPr sz="2400" b="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 MT"/>
                <a:cs typeface="Arial MT"/>
              </a:rPr>
              <a:t>al,</a:t>
            </a:r>
            <a:r>
              <a:rPr sz="2400"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Arial MT"/>
                <a:cs typeface="Arial MT"/>
              </a:rPr>
              <a:t>2016)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420" y="1447800"/>
            <a:ext cx="8378824" cy="498316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1832" rIns="0" bIns="0" rtlCol="0">
            <a:spAutoFit/>
          </a:bodyPr>
          <a:lstStyle/>
          <a:p>
            <a:pPr marL="164211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3194" y="1590675"/>
            <a:ext cx="7172324" cy="214312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793" rIns="0" bIns="0" rtlCol="0">
            <a:spAutoFit/>
          </a:bodyPr>
          <a:lstStyle/>
          <a:p>
            <a:pPr marL="168021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1032" y="770875"/>
            <a:ext cx="7785242" cy="59758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893" rIns="0" bIns="0" rtlCol="0">
            <a:spAutoFit/>
          </a:bodyPr>
          <a:lstStyle/>
          <a:p>
            <a:pPr marL="160401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9896" y="914400"/>
            <a:ext cx="7647136" cy="581015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093" rIns="0" bIns="0" rtlCol="0">
            <a:spAutoFit/>
          </a:bodyPr>
          <a:lstStyle/>
          <a:p>
            <a:pPr marL="16592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20" y="756668"/>
            <a:ext cx="8381999" cy="602084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093" rIns="0" bIns="0" rtlCol="0">
            <a:spAutoFit/>
          </a:bodyPr>
          <a:lstStyle/>
          <a:p>
            <a:pPr marL="16973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19" y="731568"/>
            <a:ext cx="8610600" cy="609440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7193" rIns="0" bIns="0" rtlCol="0">
            <a:spAutoFit/>
          </a:bodyPr>
          <a:lstStyle/>
          <a:p>
            <a:pPr marL="15449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755" y="1206196"/>
            <a:ext cx="8326899" cy="55650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7193" rIns="0" bIns="0" rtlCol="0">
            <a:spAutoFit/>
          </a:bodyPr>
          <a:lstStyle/>
          <a:p>
            <a:pPr marL="15449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7649" y="1193562"/>
            <a:ext cx="8117791" cy="558823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793" rIns="0" bIns="0" rtlCol="0">
            <a:spAutoFit/>
          </a:bodyPr>
          <a:lstStyle/>
          <a:p>
            <a:pPr marL="15449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948" y="1060846"/>
            <a:ext cx="8390964" cy="570076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1832" rIns="0" bIns="0" rtlCol="0">
            <a:spAutoFit/>
          </a:bodyPr>
          <a:lstStyle/>
          <a:p>
            <a:pPr marL="164211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5651" y="1487106"/>
            <a:ext cx="8564880" cy="230251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CNN/Daily</a:t>
            </a:r>
            <a:r>
              <a:rPr sz="32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Mail</a:t>
            </a:r>
            <a:r>
              <a:rPr sz="32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Arial"/>
                <a:cs typeface="Arial"/>
              </a:rPr>
              <a:t>Datasets</a:t>
            </a:r>
            <a:endParaRPr sz="3200">
              <a:latin typeface="Arial"/>
              <a:cs typeface="Arial"/>
            </a:endParaRPr>
          </a:p>
          <a:p>
            <a:pPr marL="467995" indent="-394970">
              <a:lnSpc>
                <a:spcPct val="100000"/>
              </a:lnSpc>
              <a:spcBef>
                <a:spcPts val="625"/>
              </a:spcBef>
              <a:buChar char="•"/>
              <a:tabLst>
                <a:tab pos="467995" algn="l"/>
              </a:tabLst>
            </a:pPr>
            <a:r>
              <a:rPr sz="3200" dirty="0">
                <a:latin typeface="Arial MT"/>
                <a:cs typeface="Arial MT"/>
              </a:rPr>
              <a:t>Still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noisy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artificial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(not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real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questions)</a:t>
            </a:r>
            <a:endParaRPr sz="3200">
              <a:latin typeface="Arial MT"/>
              <a:cs typeface="Arial MT"/>
            </a:endParaRPr>
          </a:p>
          <a:p>
            <a:pPr marL="467995" indent="-394970">
              <a:lnSpc>
                <a:spcPct val="100000"/>
              </a:lnSpc>
              <a:spcBef>
                <a:spcPts val="660"/>
              </a:spcBef>
              <a:buChar char="•"/>
              <a:tabLst>
                <a:tab pos="467995" algn="l"/>
              </a:tabLst>
            </a:pPr>
            <a:r>
              <a:rPr sz="3200" dirty="0">
                <a:latin typeface="Arial MT"/>
                <a:cs typeface="Arial MT"/>
              </a:rPr>
              <a:t>Not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hard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enough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reasoning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inference</a:t>
            </a:r>
            <a:endParaRPr sz="3200">
              <a:latin typeface="Arial MT"/>
              <a:cs typeface="Arial MT"/>
            </a:endParaRPr>
          </a:p>
          <a:p>
            <a:pPr marL="354330" indent="-281305">
              <a:lnSpc>
                <a:spcPct val="100000"/>
              </a:lnSpc>
              <a:spcBef>
                <a:spcPts val="660"/>
              </a:spcBef>
              <a:buChar char="•"/>
              <a:tabLst>
                <a:tab pos="354330" algn="l"/>
              </a:tabLst>
            </a:pP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Does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it</a:t>
            </a:r>
            <a:r>
              <a:rPr sz="3200" spc="-15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work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for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a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D2D8A"/>
                </a:solidFill>
                <a:latin typeface="Arial MT"/>
                <a:cs typeface="Arial MT"/>
              </a:rPr>
              <a:t>real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2D2D8A"/>
                </a:solidFill>
                <a:latin typeface="Arial MT"/>
                <a:cs typeface="Arial MT"/>
              </a:rPr>
              <a:t>QA</a:t>
            </a:r>
            <a:r>
              <a:rPr sz="3200" spc="-190" dirty="0">
                <a:solidFill>
                  <a:srgbClr val="2D2D8A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2D2D8A"/>
                </a:solidFill>
                <a:latin typeface="Arial MT"/>
                <a:cs typeface="Arial MT"/>
              </a:rPr>
              <a:t>problem?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611" y="-191420"/>
            <a:ext cx="9043035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403600" marR="5080" indent="-3391535">
              <a:lnSpc>
                <a:spcPts val="5250"/>
              </a:lnSpc>
              <a:spcBef>
                <a:spcPts val="229"/>
              </a:spcBef>
              <a:tabLst>
                <a:tab pos="7230109" algn="l"/>
              </a:tabLst>
            </a:pPr>
            <a:r>
              <a:rPr dirty="0"/>
              <a:t>Stanford</a:t>
            </a:r>
            <a:r>
              <a:rPr spc="-185" dirty="0"/>
              <a:t> </a:t>
            </a:r>
            <a:r>
              <a:rPr spc="-30" dirty="0"/>
              <a:t>Question</a:t>
            </a:r>
            <a:r>
              <a:rPr spc="-245" dirty="0"/>
              <a:t> </a:t>
            </a:r>
            <a:r>
              <a:rPr spc="-10" dirty="0"/>
              <a:t>Answering</a:t>
            </a:r>
            <a:r>
              <a:rPr dirty="0"/>
              <a:t>	</a:t>
            </a:r>
            <a:r>
              <a:rPr spc="-10" dirty="0"/>
              <a:t>Dataset (SQuAD)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2293" y="1141594"/>
            <a:ext cx="7127240" cy="244030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07034" indent="-394335">
              <a:lnSpc>
                <a:spcPct val="100000"/>
              </a:lnSpc>
              <a:spcBef>
                <a:spcPts val="740"/>
              </a:spcBef>
              <a:buChar char="•"/>
              <a:tabLst>
                <a:tab pos="407034" algn="l"/>
                <a:tab pos="4301490" algn="l"/>
              </a:tabLst>
            </a:pPr>
            <a:r>
              <a:rPr sz="3200" dirty="0">
                <a:latin typeface="Arial MT"/>
                <a:cs typeface="Arial MT"/>
              </a:rPr>
              <a:t>Passage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+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Question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800" dirty="0">
                <a:latin typeface="Arial MT"/>
                <a:cs typeface="Arial MT"/>
              </a:rPr>
              <a:t>□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Answer</a:t>
            </a:r>
            <a:endParaRPr sz="32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60"/>
              </a:spcBef>
              <a:buFont typeface="Arial MT"/>
              <a:buChar char="–"/>
              <a:tabLst>
                <a:tab pos="793115" algn="l"/>
              </a:tabLst>
            </a:pPr>
            <a:r>
              <a:rPr sz="2800" b="1" dirty="0">
                <a:latin typeface="Arial"/>
                <a:cs typeface="Arial"/>
              </a:rPr>
              <a:t>Passage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selected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Wikipedia</a:t>
            </a:r>
            <a:endParaRPr sz="28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40"/>
              </a:spcBef>
              <a:buFont typeface="Arial MT"/>
              <a:buChar char="–"/>
              <a:tabLst>
                <a:tab pos="793115" algn="l"/>
              </a:tabLst>
            </a:pPr>
            <a:r>
              <a:rPr sz="2800" b="1" dirty="0">
                <a:latin typeface="Arial"/>
                <a:cs typeface="Arial"/>
              </a:rPr>
              <a:t>Question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crowdsourced</a:t>
            </a:r>
            <a:endParaRPr sz="2800">
              <a:latin typeface="Arial MT"/>
              <a:cs typeface="Arial MT"/>
            </a:endParaRPr>
          </a:p>
          <a:p>
            <a:pPr marL="793115" lvl="1" indent="-404495">
              <a:lnSpc>
                <a:spcPct val="100000"/>
              </a:lnSpc>
              <a:spcBef>
                <a:spcPts val="540"/>
              </a:spcBef>
              <a:buFont typeface="Arial MT"/>
              <a:buChar char="–"/>
              <a:tabLst>
                <a:tab pos="793115" algn="l"/>
              </a:tabLst>
            </a:pPr>
            <a:r>
              <a:rPr sz="2800" b="1" dirty="0">
                <a:latin typeface="Arial"/>
                <a:cs typeface="Arial"/>
              </a:rPr>
              <a:t>Answer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must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span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passage</a:t>
            </a:r>
            <a:endParaRPr sz="2800">
              <a:latin typeface="Arial MT"/>
              <a:cs typeface="Arial MT"/>
            </a:endParaRPr>
          </a:p>
          <a:p>
            <a:pPr marL="2694940">
              <a:lnSpc>
                <a:spcPct val="100000"/>
              </a:lnSpc>
              <a:spcBef>
                <a:spcPts val="414"/>
              </a:spcBef>
            </a:pP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Extractive</a:t>
            </a:r>
            <a:r>
              <a:rPr sz="2000" spc="-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Question</a:t>
            </a:r>
            <a:r>
              <a:rPr sz="2000" spc="-114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Answering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879" y="-31851"/>
            <a:ext cx="9043035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403600" marR="5080" indent="-3391535">
              <a:lnSpc>
                <a:spcPts val="5250"/>
              </a:lnSpc>
              <a:spcBef>
                <a:spcPts val="229"/>
              </a:spcBef>
              <a:tabLst>
                <a:tab pos="7230109" algn="l"/>
              </a:tabLst>
            </a:pPr>
            <a:r>
              <a:rPr dirty="0"/>
              <a:t>Stanford</a:t>
            </a:r>
            <a:r>
              <a:rPr spc="-185" dirty="0"/>
              <a:t> </a:t>
            </a:r>
            <a:r>
              <a:rPr spc="-30" dirty="0"/>
              <a:t>Question</a:t>
            </a:r>
            <a:r>
              <a:rPr spc="-245" dirty="0"/>
              <a:t> </a:t>
            </a:r>
            <a:r>
              <a:rPr spc="-10" dirty="0"/>
              <a:t>Answering</a:t>
            </a:r>
            <a:r>
              <a:rPr dirty="0"/>
              <a:t>	</a:t>
            </a:r>
            <a:r>
              <a:rPr spc="-10" dirty="0"/>
              <a:t>Dataset (SQuAD)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481" y="1324381"/>
            <a:ext cx="60648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 indent="-394335">
              <a:lnSpc>
                <a:spcPct val="100000"/>
              </a:lnSpc>
              <a:spcBef>
                <a:spcPts val="100"/>
              </a:spcBef>
              <a:buChar char="•"/>
              <a:tabLst>
                <a:tab pos="407034" algn="l"/>
                <a:tab pos="4301490" algn="l"/>
              </a:tabLst>
            </a:pPr>
            <a:r>
              <a:rPr sz="3200" dirty="0">
                <a:latin typeface="Arial MT"/>
                <a:cs typeface="Arial MT"/>
              </a:rPr>
              <a:t>Passage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+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Question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800" dirty="0">
                <a:latin typeface="Arial MT"/>
                <a:cs typeface="Arial MT"/>
              </a:rPr>
              <a:t>□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Answer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4147" y="2152664"/>
            <a:ext cx="8697933" cy="339499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3004" y="-15902"/>
            <a:ext cx="9043035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403600" marR="5080" indent="-3391535">
              <a:lnSpc>
                <a:spcPts val="5250"/>
              </a:lnSpc>
              <a:spcBef>
                <a:spcPts val="229"/>
              </a:spcBef>
              <a:tabLst>
                <a:tab pos="7230109" algn="l"/>
              </a:tabLst>
            </a:pPr>
            <a:r>
              <a:rPr dirty="0"/>
              <a:t>Stanford</a:t>
            </a:r>
            <a:r>
              <a:rPr spc="-185" dirty="0"/>
              <a:t> </a:t>
            </a:r>
            <a:r>
              <a:rPr spc="-30" dirty="0"/>
              <a:t>Question</a:t>
            </a:r>
            <a:r>
              <a:rPr spc="-245" dirty="0"/>
              <a:t> </a:t>
            </a:r>
            <a:r>
              <a:rPr spc="-10" dirty="0"/>
              <a:t>Answering</a:t>
            </a:r>
            <a:r>
              <a:rPr dirty="0"/>
              <a:t>	</a:t>
            </a:r>
            <a:r>
              <a:rPr spc="-10" dirty="0"/>
              <a:t>Dataset (SQuAD)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681" y="1366568"/>
            <a:ext cx="60648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 indent="-394335">
              <a:lnSpc>
                <a:spcPct val="100000"/>
              </a:lnSpc>
              <a:spcBef>
                <a:spcPts val="100"/>
              </a:spcBef>
              <a:buChar char="•"/>
              <a:tabLst>
                <a:tab pos="407034" algn="l"/>
                <a:tab pos="4301490" algn="l"/>
              </a:tabLst>
            </a:pPr>
            <a:r>
              <a:rPr sz="3200" dirty="0">
                <a:latin typeface="Arial MT"/>
                <a:cs typeface="Arial MT"/>
              </a:rPr>
              <a:t>Passage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+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Question</a:t>
            </a:r>
            <a:r>
              <a:rPr sz="3200" dirty="0">
                <a:latin typeface="Arial MT"/>
                <a:cs typeface="Arial MT"/>
              </a:rPr>
              <a:t>	</a:t>
            </a:r>
            <a:r>
              <a:rPr sz="3200" spc="-800" dirty="0">
                <a:latin typeface="Arial MT"/>
                <a:cs typeface="Arial MT"/>
              </a:rPr>
              <a:t>□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Answer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641" y="2381235"/>
            <a:ext cx="8698828" cy="339442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993" rIns="0" bIns="0" rtlCol="0">
            <a:spAutoFit/>
          </a:bodyPr>
          <a:lstStyle/>
          <a:p>
            <a:pPr marL="164211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9601" y="838200"/>
            <a:ext cx="7900146" cy="582705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6211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8456" y="1221249"/>
            <a:ext cx="7946943" cy="547599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621155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719" y="820005"/>
            <a:ext cx="7696200" cy="598740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Deep </a:t>
            </a:r>
            <a:r>
              <a:rPr spc="-25" dirty="0"/>
              <a:t>Learning</a:t>
            </a:r>
            <a:r>
              <a:rPr spc="-240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582" y="933768"/>
            <a:ext cx="8184379" cy="590086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39617" y="1053494"/>
            <a:ext cx="24942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7125" algn="l"/>
              </a:tabLst>
            </a:pPr>
            <a:r>
              <a:rPr sz="2000" spc="-10" dirty="0">
                <a:latin typeface="Arial MT"/>
                <a:cs typeface="Arial MT"/>
              </a:rPr>
              <a:t>(Minjoon</a:t>
            </a:r>
            <a:r>
              <a:rPr sz="2000" dirty="0">
                <a:latin typeface="Arial MT"/>
                <a:cs typeface="Arial MT"/>
              </a:rPr>
              <a:t>	et.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2018)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519" y="762000"/>
            <a:ext cx="8763000" cy="602297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450" y="1133475"/>
            <a:ext cx="9582149" cy="465772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119" y="957126"/>
            <a:ext cx="7692698" cy="5806127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052" y="962461"/>
            <a:ext cx="9432072" cy="530108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319" y="762000"/>
            <a:ext cx="8381999" cy="598963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928" y="1219200"/>
            <a:ext cx="9601199" cy="496252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988" y="811213"/>
            <a:ext cx="9464675" cy="523557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075" y="1600200"/>
            <a:ext cx="9467849" cy="380999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19" y="904731"/>
            <a:ext cx="8069262" cy="586390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18" y="1123950"/>
            <a:ext cx="9153524" cy="2219324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954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(Bidirectional)</a:t>
            </a:r>
            <a:r>
              <a:rPr spc="-229" dirty="0"/>
              <a:t> </a:t>
            </a:r>
            <a:r>
              <a:rPr dirty="0"/>
              <a:t>Attention</a:t>
            </a:r>
            <a:r>
              <a:rPr spc="1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719" y="762000"/>
            <a:ext cx="8115300" cy="593248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1B40E-9F5E-30B1-54EA-1DDC7CFA7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16" y="228600"/>
            <a:ext cx="9785467" cy="677108"/>
          </a:xfrm>
        </p:spPr>
        <p:txBody>
          <a:bodyPr/>
          <a:lstStyle/>
          <a:p>
            <a:r>
              <a:rPr lang="en-IN" dirty="0"/>
              <a:t>Dense retrieval + generative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E7992D-441E-27C0-BAFF-368E90F38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073" y="1504783"/>
            <a:ext cx="4778154" cy="384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0270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7D3B2-B285-B797-8AAC-B7A0A4DCA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16" y="228600"/>
            <a:ext cx="9785467" cy="1354217"/>
          </a:xfrm>
        </p:spPr>
        <p:txBody>
          <a:bodyPr/>
          <a:lstStyle/>
          <a:p>
            <a:r>
              <a:rPr lang="en-US" dirty="0"/>
              <a:t>Large language models can do open-domain QA well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BB7803-1079-58A1-4252-3D77E1561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91" y="1905000"/>
            <a:ext cx="10416399" cy="410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1422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05695-EEC6-E5AB-BC73-4F0D4F5E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2819400"/>
            <a:ext cx="9785467" cy="1354217"/>
          </a:xfrm>
        </p:spPr>
        <p:txBody>
          <a:bodyPr/>
          <a:lstStyle/>
          <a:p>
            <a:r>
              <a:rPr lang="en-IN" dirty="0"/>
              <a:t>For LLMs refer Unit-2</a:t>
            </a:r>
            <a:br>
              <a:rPr lang="en-IN" dirty="0"/>
            </a:br>
            <a:r>
              <a:rPr lang="en-IN" dirty="0"/>
              <a:t>Knowledge based </a:t>
            </a:r>
            <a:r>
              <a:rPr lang="en-IN"/>
              <a:t>QA-refer class notes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277013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1832" rIns="0" bIns="0" rtlCol="0">
            <a:spAutoFit/>
          </a:bodyPr>
          <a:lstStyle/>
          <a:p>
            <a:pPr marL="35985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marR="2461895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27025" algn="l"/>
              </a:tabLst>
            </a:pPr>
            <a:r>
              <a:rPr dirty="0"/>
              <a:t>Seo,</a:t>
            </a:r>
            <a:r>
              <a:rPr spc="-40" dirty="0"/>
              <a:t> </a:t>
            </a:r>
            <a:r>
              <a:rPr dirty="0"/>
              <a:t>Minjoon,</a:t>
            </a:r>
            <a:r>
              <a:rPr spc="-40" dirty="0"/>
              <a:t> </a:t>
            </a:r>
            <a:r>
              <a:rPr dirty="0"/>
              <a:t>et</a:t>
            </a:r>
            <a:r>
              <a:rPr spc="-40" dirty="0"/>
              <a:t> </a:t>
            </a:r>
            <a:r>
              <a:rPr dirty="0"/>
              <a:t>al.</a:t>
            </a:r>
            <a:r>
              <a:rPr spc="-40" dirty="0"/>
              <a:t> </a:t>
            </a:r>
            <a:r>
              <a:rPr spc="-10" dirty="0"/>
              <a:t>"Bidirectional</a:t>
            </a:r>
            <a:r>
              <a:rPr spc="-40" dirty="0"/>
              <a:t> </a:t>
            </a:r>
            <a:r>
              <a:rPr dirty="0"/>
              <a:t>attention</a:t>
            </a:r>
            <a:r>
              <a:rPr spc="-35" dirty="0"/>
              <a:t> </a:t>
            </a:r>
            <a:r>
              <a:rPr dirty="0"/>
              <a:t>flow</a:t>
            </a:r>
            <a:r>
              <a:rPr spc="-4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spc="-10" dirty="0"/>
              <a:t>machine </a:t>
            </a:r>
            <a:r>
              <a:rPr dirty="0"/>
              <a:t>comprehension."</a:t>
            </a:r>
            <a:r>
              <a:rPr spc="-40" dirty="0"/>
              <a:t> </a:t>
            </a:r>
            <a:r>
              <a:rPr i="1" dirty="0">
                <a:latin typeface="Arial"/>
                <a:cs typeface="Arial"/>
              </a:rPr>
              <a:t>arXiv</a:t>
            </a:r>
            <a:r>
              <a:rPr i="1" spc="-6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preprint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arXiv:1611.01603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spc="-10" dirty="0"/>
              <a:t>(2016).</a:t>
            </a:r>
          </a:p>
          <a:p>
            <a:pPr marL="326390" marR="455295" indent="-304800">
              <a:lnSpc>
                <a:spcPct val="99500"/>
              </a:lnSpc>
              <a:spcBef>
                <a:spcPts val="409"/>
              </a:spcBef>
              <a:buChar char="•"/>
              <a:tabLst>
                <a:tab pos="327025" algn="l"/>
              </a:tabLst>
            </a:pPr>
            <a:r>
              <a:rPr dirty="0"/>
              <a:t>Chen,</a:t>
            </a:r>
            <a:r>
              <a:rPr spc="-65" dirty="0"/>
              <a:t> </a:t>
            </a:r>
            <a:r>
              <a:rPr dirty="0"/>
              <a:t>Danqi,</a:t>
            </a:r>
            <a:r>
              <a:rPr spc="-45" dirty="0"/>
              <a:t> </a:t>
            </a:r>
            <a:r>
              <a:rPr dirty="0"/>
              <a:t>Jason</a:t>
            </a:r>
            <a:r>
              <a:rPr spc="-45" dirty="0"/>
              <a:t> </a:t>
            </a:r>
            <a:r>
              <a:rPr dirty="0"/>
              <a:t>Bolton,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Christopher</a:t>
            </a:r>
            <a:r>
              <a:rPr spc="-45" dirty="0"/>
              <a:t> </a:t>
            </a:r>
            <a:r>
              <a:rPr dirty="0"/>
              <a:t>D.</a:t>
            </a:r>
            <a:r>
              <a:rPr spc="-45" dirty="0"/>
              <a:t> </a:t>
            </a:r>
            <a:r>
              <a:rPr dirty="0"/>
              <a:t>Manning.</a:t>
            </a:r>
            <a:r>
              <a:rPr spc="-45" dirty="0"/>
              <a:t> </a:t>
            </a:r>
            <a:r>
              <a:rPr spc="-10" dirty="0"/>
              <a:t>"A</a:t>
            </a:r>
            <a:r>
              <a:rPr spc="-125" dirty="0"/>
              <a:t> </a:t>
            </a:r>
            <a:r>
              <a:rPr spc="-10" dirty="0"/>
              <a:t>thorough examination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cnn/daily</a:t>
            </a:r>
            <a:r>
              <a:rPr spc="-55" dirty="0"/>
              <a:t> </a:t>
            </a:r>
            <a:r>
              <a:rPr dirty="0"/>
              <a:t>mail</a:t>
            </a:r>
            <a:r>
              <a:rPr spc="-50" dirty="0"/>
              <a:t> </a:t>
            </a:r>
            <a:r>
              <a:rPr dirty="0"/>
              <a:t>reading</a:t>
            </a:r>
            <a:r>
              <a:rPr spc="-50" dirty="0"/>
              <a:t> </a:t>
            </a:r>
            <a:r>
              <a:rPr dirty="0"/>
              <a:t>comprehension</a:t>
            </a:r>
            <a:r>
              <a:rPr spc="-55" dirty="0"/>
              <a:t> </a:t>
            </a:r>
            <a:r>
              <a:rPr dirty="0"/>
              <a:t>task."</a:t>
            </a:r>
            <a:r>
              <a:rPr spc="-35" dirty="0"/>
              <a:t> </a:t>
            </a:r>
            <a:r>
              <a:rPr i="1" dirty="0">
                <a:latin typeface="Arial"/>
                <a:cs typeface="Arial"/>
              </a:rPr>
              <a:t>arXiv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preprint </a:t>
            </a:r>
            <a:r>
              <a:rPr i="1" dirty="0">
                <a:latin typeface="Arial"/>
                <a:cs typeface="Arial"/>
              </a:rPr>
              <a:t>arXiv:1606.02858</a:t>
            </a:r>
            <a:r>
              <a:rPr i="1" spc="-80" dirty="0">
                <a:latin typeface="Arial"/>
                <a:cs typeface="Arial"/>
              </a:rPr>
              <a:t> </a:t>
            </a:r>
            <a:r>
              <a:rPr spc="-10" dirty="0"/>
              <a:t>(2016).</a:t>
            </a:r>
          </a:p>
          <a:p>
            <a:pPr marL="326390" marR="822325" indent="-304800">
              <a:lnSpc>
                <a:spcPts val="2370"/>
              </a:lnSpc>
              <a:spcBef>
                <a:spcPts val="505"/>
              </a:spcBef>
              <a:buChar char="•"/>
              <a:tabLst>
                <a:tab pos="327025" algn="l"/>
                <a:tab pos="397510" algn="l"/>
              </a:tabLst>
            </a:pPr>
            <a:r>
              <a:rPr dirty="0"/>
              <a:t>	Manning,</a:t>
            </a:r>
            <a:r>
              <a:rPr spc="-80" dirty="0"/>
              <a:t> </a:t>
            </a:r>
            <a:r>
              <a:rPr spc="-10" dirty="0"/>
              <a:t>Christopher.</a:t>
            </a:r>
            <a:r>
              <a:rPr spc="-75" dirty="0"/>
              <a:t> </a:t>
            </a:r>
            <a:r>
              <a:rPr dirty="0"/>
              <a:t>"Natural</a:t>
            </a:r>
            <a:r>
              <a:rPr spc="-80" dirty="0"/>
              <a:t> </a:t>
            </a:r>
            <a:r>
              <a:rPr dirty="0"/>
              <a:t>Language</a:t>
            </a:r>
            <a:r>
              <a:rPr spc="-75" dirty="0"/>
              <a:t> </a:t>
            </a:r>
            <a:r>
              <a:rPr spc="-10" dirty="0"/>
              <a:t>Processing</a:t>
            </a:r>
            <a:r>
              <a:rPr spc="-80" dirty="0"/>
              <a:t> </a:t>
            </a:r>
            <a:r>
              <a:rPr dirty="0"/>
              <a:t>with</a:t>
            </a:r>
            <a:r>
              <a:rPr spc="-75" dirty="0"/>
              <a:t> </a:t>
            </a:r>
            <a:r>
              <a:rPr dirty="0"/>
              <a:t>Deep</a:t>
            </a:r>
            <a:r>
              <a:rPr spc="-75" dirty="0"/>
              <a:t> </a:t>
            </a:r>
            <a:r>
              <a:rPr spc="-10" dirty="0"/>
              <a:t>Learning CS224N/Ling284.</a:t>
            </a:r>
            <a:r>
              <a:rPr spc="-80" dirty="0"/>
              <a:t> </a:t>
            </a:r>
            <a:r>
              <a:rPr dirty="0"/>
              <a:t>Lecture</a:t>
            </a:r>
            <a:r>
              <a:rPr spc="-75" dirty="0"/>
              <a:t> </a:t>
            </a:r>
            <a:r>
              <a:rPr spc="-20" dirty="0"/>
              <a:t>11."</a:t>
            </a:r>
            <a:r>
              <a:rPr spc="-75" dirty="0"/>
              <a:t> </a:t>
            </a:r>
            <a:r>
              <a:rPr spc="-10" dirty="0"/>
              <a:t>(2017).</a:t>
            </a:r>
          </a:p>
          <a:p>
            <a:pPr marL="326390" marR="5080" indent="-304800">
              <a:lnSpc>
                <a:spcPct val="99700"/>
              </a:lnSpc>
              <a:spcBef>
                <a:spcPts val="340"/>
              </a:spcBef>
              <a:buChar char="•"/>
              <a:tabLst>
                <a:tab pos="327025" algn="l"/>
              </a:tabLst>
            </a:pPr>
            <a:r>
              <a:rPr dirty="0"/>
              <a:t>Brill,</a:t>
            </a:r>
            <a:r>
              <a:rPr spc="-80" dirty="0"/>
              <a:t> </a:t>
            </a:r>
            <a:r>
              <a:rPr dirty="0"/>
              <a:t>Eric,</a:t>
            </a:r>
            <a:r>
              <a:rPr spc="-55" dirty="0"/>
              <a:t> </a:t>
            </a:r>
            <a:r>
              <a:rPr dirty="0"/>
              <a:t>Susan</a:t>
            </a:r>
            <a:r>
              <a:rPr spc="-55" dirty="0"/>
              <a:t> </a:t>
            </a:r>
            <a:r>
              <a:rPr dirty="0"/>
              <a:t>Dumais,</a:t>
            </a:r>
            <a:r>
              <a:rPr spc="-6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Michele</a:t>
            </a:r>
            <a:r>
              <a:rPr spc="-60" dirty="0"/>
              <a:t> </a:t>
            </a:r>
            <a:r>
              <a:rPr dirty="0"/>
              <a:t>Banko.</a:t>
            </a:r>
            <a:r>
              <a:rPr spc="-55" dirty="0"/>
              <a:t> </a:t>
            </a:r>
            <a:r>
              <a:rPr dirty="0"/>
              <a:t>"An</a:t>
            </a:r>
            <a:r>
              <a:rPr spc="-55" dirty="0"/>
              <a:t> </a:t>
            </a:r>
            <a:r>
              <a:rPr dirty="0"/>
              <a:t>analysis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the</a:t>
            </a:r>
            <a:r>
              <a:rPr spc="-140" dirty="0"/>
              <a:t> </a:t>
            </a:r>
            <a:r>
              <a:rPr spc="-10" dirty="0"/>
              <a:t>AskMSR </a:t>
            </a:r>
            <a:r>
              <a:rPr spc="-20" dirty="0"/>
              <a:t>question-</a:t>
            </a:r>
            <a:r>
              <a:rPr dirty="0"/>
              <a:t>answering</a:t>
            </a:r>
            <a:r>
              <a:rPr spc="-55" dirty="0"/>
              <a:t> </a:t>
            </a:r>
            <a:r>
              <a:rPr dirty="0"/>
              <a:t>system."</a:t>
            </a:r>
            <a:r>
              <a:rPr spc="-45" dirty="0"/>
              <a:t> </a:t>
            </a:r>
            <a:r>
              <a:rPr dirty="0"/>
              <a:t>Proceedings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135" dirty="0"/>
              <a:t> </a:t>
            </a:r>
            <a:r>
              <a:rPr spc="-25" dirty="0"/>
              <a:t>ACL-</a:t>
            </a:r>
            <a:r>
              <a:rPr dirty="0"/>
              <a:t>02</a:t>
            </a:r>
            <a:r>
              <a:rPr spc="-45" dirty="0"/>
              <a:t> </a:t>
            </a:r>
            <a:r>
              <a:rPr dirty="0"/>
              <a:t>conference</a:t>
            </a:r>
            <a:r>
              <a:rPr spc="-45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spc="-10" dirty="0"/>
              <a:t>Empirical </a:t>
            </a:r>
            <a:r>
              <a:rPr dirty="0"/>
              <a:t>methods</a:t>
            </a:r>
            <a:r>
              <a:rPr spc="-5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natural</a:t>
            </a:r>
            <a:r>
              <a:rPr spc="-45" dirty="0"/>
              <a:t> </a:t>
            </a:r>
            <a:r>
              <a:rPr dirty="0"/>
              <a:t>language</a:t>
            </a:r>
            <a:r>
              <a:rPr spc="-40" dirty="0"/>
              <a:t> </a:t>
            </a:r>
            <a:r>
              <a:rPr spc="-10" dirty="0"/>
              <a:t>processing-</a:t>
            </a:r>
            <a:r>
              <a:rPr spc="-20" dirty="0"/>
              <a:t>Volume</a:t>
            </a:r>
            <a:r>
              <a:rPr spc="-40" dirty="0"/>
              <a:t> </a:t>
            </a:r>
            <a:r>
              <a:rPr dirty="0"/>
              <a:t>10.</a:t>
            </a:r>
            <a:r>
              <a:rPr spc="-140" dirty="0"/>
              <a:t> </a:t>
            </a:r>
            <a:r>
              <a:rPr spc="-10" dirty="0"/>
              <a:t>Association</a:t>
            </a:r>
            <a:r>
              <a:rPr spc="-40" dirty="0"/>
              <a:t> </a:t>
            </a:r>
            <a:r>
              <a:rPr spc="-25" dirty="0"/>
              <a:t>for </a:t>
            </a:r>
            <a:r>
              <a:rPr spc="-10" dirty="0"/>
              <a:t>Computational</a:t>
            </a:r>
            <a:r>
              <a:rPr spc="-55" dirty="0"/>
              <a:t> </a:t>
            </a:r>
            <a:r>
              <a:rPr spc="-10" dirty="0"/>
              <a:t>Linguistics,</a:t>
            </a:r>
            <a:r>
              <a:rPr spc="-50" dirty="0"/>
              <a:t> </a:t>
            </a:r>
            <a:r>
              <a:rPr spc="-10" dirty="0"/>
              <a:t>2002.</a:t>
            </a:r>
          </a:p>
          <a:p>
            <a:pPr marL="326390">
              <a:lnSpc>
                <a:spcPct val="100000"/>
              </a:lnSpc>
              <a:spcBef>
                <a:spcPts val="400"/>
              </a:spcBef>
            </a:pPr>
            <a:r>
              <a:rPr b="1" dirty="0">
                <a:latin typeface="Arial"/>
                <a:cs typeface="Arial"/>
              </a:rPr>
              <a:t>Credit</a:t>
            </a:r>
            <a:r>
              <a:rPr dirty="0"/>
              <a:t>:</a:t>
            </a:r>
            <a:r>
              <a:rPr spc="-30" dirty="0"/>
              <a:t> </a:t>
            </a:r>
            <a:r>
              <a:rPr dirty="0"/>
              <a:t>Some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slides</a:t>
            </a:r>
            <a:r>
              <a:rPr spc="-25" dirty="0"/>
              <a:t> </a:t>
            </a:r>
            <a:r>
              <a:rPr dirty="0"/>
              <a:t>are</a:t>
            </a:r>
            <a:r>
              <a:rPr spc="-30" dirty="0"/>
              <a:t> </a:t>
            </a:r>
            <a:r>
              <a:rPr dirty="0"/>
              <a:t>taken</a:t>
            </a:r>
            <a:r>
              <a:rPr spc="-30" dirty="0"/>
              <a:t> </a:t>
            </a:r>
            <a:r>
              <a:rPr dirty="0"/>
              <a:t>from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following</a:t>
            </a:r>
            <a:r>
              <a:rPr spc="-30" dirty="0"/>
              <a:t> </a:t>
            </a:r>
            <a:r>
              <a:rPr spc="-10" dirty="0"/>
              <a:t>lectures:</a:t>
            </a:r>
          </a:p>
          <a:p>
            <a:pPr marL="326390" indent="-304165">
              <a:lnSpc>
                <a:spcPct val="100000"/>
              </a:lnSpc>
              <a:spcBef>
                <a:spcPts val="375"/>
              </a:spcBef>
              <a:buClr>
                <a:srgbClr val="000000"/>
              </a:buClr>
              <a:buChar char="•"/>
              <a:tabLst>
                <a:tab pos="327025" algn="l"/>
              </a:tabLst>
            </a:pPr>
            <a:r>
              <a:rPr u="heavy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hlinkClick r:id="rId2"/>
              </a:rPr>
              <a:t>https://www.slideshare.net/marinasantini1/lecture-question-answering</a:t>
            </a:r>
          </a:p>
          <a:p>
            <a:pPr marL="326390" indent="-304165">
              <a:lnSpc>
                <a:spcPct val="100000"/>
              </a:lnSpc>
              <a:spcBef>
                <a:spcPts val="375"/>
              </a:spcBef>
              <a:buClr>
                <a:srgbClr val="000000"/>
              </a:buClr>
              <a:buChar char="•"/>
              <a:tabLst>
                <a:tab pos="327025" algn="l"/>
              </a:tabLst>
            </a:pPr>
            <a:r>
              <a:rPr u="heavy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hlinkClick r:id="rId3"/>
              </a:rPr>
              <a:t>https://web.stanford.edu/class/cs224n/slides/cs224n-2019-lecture10-QA.pdf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9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1568</Words>
  <Application>Microsoft Office PowerPoint</Application>
  <PresentationFormat>Custom</PresentationFormat>
  <Paragraphs>195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Arial</vt:lpstr>
      <vt:lpstr>Arial MT</vt:lpstr>
      <vt:lpstr>Times New Roman</vt:lpstr>
      <vt:lpstr>Office Theme</vt:lpstr>
      <vt:lpstr>Question Answering: Learning to Answer from Text</vt:lpstr>
      <vt:lpstr>Outline</vt:lpstr>
      <vt:lpstr>Question Answering</vt:lpstr>
      <vt:lpstr>Search Engine are moving towards QA!</vt:lpstr>
      <vt:lpstr>Search Engine are moving towards QA!</vt:lpstr>
      <vt:lpstr>Search Engine are moving towards QA!</vt:lpstr>
      <vt:lpstr>Search Engine are moving towards QA!</vt:lpstr>
      <vt:lpstr>Search Engine are moving towards QA!</vt:lpstr>
      <vt:lpstr>Question Answering: IBM’s Watson</vt:lpstr>
      <vt:lpstr>Question Answering: IBM’s Watson</vt:lpstr>
      <vt:lpstr>Question Answering: IBM’s Watson</vt:lpstr>
      <vt:lpstr>Apple Siri</vt:lpstr>
      <vt:lpstr>PowerPoint Presentation</vt:lpstr>
      <vt:lpstr>Motivation</vt:lpstr>
      <vt:lpstr>Motivation and History</vt:lpstr>
      <vt:lpstr>Motivation and History (cont’d…)</vt:lpstr>
      <vt:lpstr>AskMSR: Shallow approach</vt:lpstr>
      <vt:lpstr>AskMSR: Details</vt:lpstr>
      <vt:lpstr>Step 1: Rewrite queries</vt:lpstr>
      <vt:lpstr>Query rewriting</vt:lpstr>
      <vt:lpstr>Next Steps</vt:lpstr>
      <vt:lpstr>Mining N-Grams</vt:lpstr>
      <vt:lpstr>Filtering N-Grams</vt:lpstr>
      <vt:lpstr>Tiling the Answers</vt:lpstr>
      <vt:lpstr>Basic Q/A Architecture</vt:lpstr>
      <vt:lpstr>Common Evaluation Metrics</vt:lpstr>
      <vt:lpstr>Machine Comprehension</vt:lpstr>
      <vt:lpstr>A Brief History of Machine Comprehension</vt:lpstr>
      <vt:lpstr>Machine Comprehension</vt:lpstr>
      <vt:lpstr>Motivation (1)</vt:lpstr>
      <vt:lpstr>Motivation (2)</vt:lpstr>
      <vt:lpstr>Datasets</vt:lpstr>
      <vt:lpstr>QA vs. Machine Comprehension</vt:lpstr>
      <vt:lpstr>Approaches</vt:lpstr>
      <vt:lpstr>Approaches</vt:lpstr>
      <vt:lpstr>Deep Learning Approaches – Stanford Attentive Reader (Chen et al, 2016)</vt:lpstr>
      <vt:lpstr>Deep Learning Approaches</vt:lpstr>
      <vt:lpstr>Deep Learning Approaches</vt:lpstr>
      <vt:lpstr>Deep Learning Approaches</vt:lpstr>
      <vt:lpstr>Deep Learning Approaches</vt:lpstr>
      <vt:lpstr>Deep Learning Approaches</vt:lpstr>
      <vt:lpstr>Deep Learning Approaches</vt:lpstr>
      <vt:lpstr>Deep Learning Approaches</vt:lpstr>
      <vt:lpstr>Deep Learning Approaches</vt:lpstr>
      <vt:lpstr>Deep Learning Approaches</vt:lpstr>
      <vt:lpstr>Stanford Question Answering Dataset (SQuAD)</vt:lpstr>
      <vt:lpstr>Stanford Question Answering Dataset (SQuAD)</vt:lpstr>
      <vt:lpstr>Stanford Question Answering Dataset (SQuAD)</vt:lpstr>
      <vt:lpstr>Deep Learning Approaches</vt:lpstr>
      <vt:lpstr>Deep Learning Approaches</vt:lpstr>
      <vt:lpstr>Deep Learning Approaches</vt:lpstr>
      <vt:lpstr>Deep Learning Approaches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(Bidirectional) Attention Flow</vt:lpstr>
      <vt:lpstr>Dense retrieval + generative models</vt:lpstr>
      <vt:lpstr>Large language models can do open-domain QA well</vt:lpstr>
      <vt:lpstr>For LLMs refer Unit-2 Knowledge based QA-refer class notes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Answering: Learning to Answer from Text</dc:title>
  <dc:creator>Akhil</dc:creator>
  <cp:lastModifiedBy>Karnam Akhil</cp:lastModifiedBy>
  <cp:revision>3</cp:revision>
  <dcterms:created xsi:type="dcterms:W3CDTF">2025-05-10T05:32:39Z</dcterms:created>
  <dcterms:modified xsi:type="dcterms:W3CDTF">2025-05-30T11:09:02Z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2025-05-10T00:00:00Z</vt:filetime>
  </property>
  <property fmtid="{D5CDD505-2E9C-101B-9397-08002B2CF9AE}" pid="3" name="Creator">
    <vt:lpwstr>Google</vt:lpwstr>
  </property>
  <property fmtid="{D5CDD505-2E9C-101B-9397-08002B2CF9AE}" pid="4" name="LastSaved">
    <vt:filetime>2025-05-10T00:00:00Z</vt:filetime>
  </property>
</Properties>
</file>