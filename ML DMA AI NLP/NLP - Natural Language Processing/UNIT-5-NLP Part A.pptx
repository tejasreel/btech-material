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1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F5B74-2E2B-4A61-91C1-55AC4A4AF97C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03529-D066-43BD-8CE5-6A855FE7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7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3763" y="403859"/>
            <a:ext cx="83769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" y="0"/>
            <a:ext cx="4848225" cy="8229600"/>
          </a:xfrm>
          <a:custGeom>
            <a:avLst/>
            <a:gdLst/>
            <a:ahLst/>
            <a:cxnLst/>
            <a:rect l="l" t="t" r="r" b="b"/>
            <a:pathLst>
              <a:path w="4848225" h="8229600">
                <a:moveTo>
                  <a:pt x="0" y="8229599"/>
                </a:moveTo>
                <a:lnTo>
                  <a:pt x="4848057" y="8229599"/>
                </a:lnTo>
                <a:lnTo>
                  <a:pt x="4848057" y="0"/>
                </a:lnTo>
                <a:lnTo>
                  <a:pt x="0" y="0"/>
                </a:lnTo>
                <a:lnTo>
                  <a:pt x="0" y="82295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48085" y="0"/>
            <a:ext cx="76835" cy="8229600"/>
          </a:xfrm>
          <a:custGeom>
            <a:avLst/>
            <a:gdLst/>
            <a:ahLst/>
            <a:cxnLst/>
            <a:rect l="l" t="t" r="r" b="b"/>
            <a:pathLst>
              <a:path w="76835" h="8229600">
                <a:moveTo>
                  <a:pt x="76809" y="0"/>
                </a:moveTo>
                <a:lnTo>
                  <a:pt x="0" y="0"/>
                </a:lnTo>
                <a:lnTo>
                  <a:pt x="0" y="8229599"/>
                </a:lnTo>
                <a:lnTo>
                  <a:pt x="76809" y="8229599"/>
                </a:lnTo>
                <a:lnTo>
                  <a:pt x="76809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42570" cy="8229600"/>
          </a:xfrm>
          <a:custGeom>
            <a:avLst/>
            <a:gdLst/>
            <a:ahLst/>
            <a:cxnLst/>
            <a:rect l="l" t="t" r="r" b="b"/>
            <a:pathLst>
              <a:path w="242570" h="8229600">
                <a:moveTo>
                  <a:pt x="242012" y="0"/>
                </a:moveTo>
                <a:lnTo>
                  <a:pt x="242012" y="8229600"/>
                </a:lnTo>
                <a:lnTo>
                  <a:pt x="0" y="8229603"/>
                </a:lnTo>
                <a:lnTo>
                  <a:pt x="0" y="0"/>
                </a:lnTo>
                <a:lnTo>
                  <a:pt x="242012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0059" y="17989"/>
            <a:ext cx="73660" cy="8211820"/>
          </a:xfrm>
          <a:custGeom>
            <a:avLst/>
            <a:gdLst/>
            <a:ahLst/>
            <a:cxnLst/>
            <a:rect l="l" t="t" r="r" b="b"/>
            <a:pathLst>
              <a:path w="73660" h="8211820">
                <a:moveTo>
                  <a:pt x="73150" y="0"/>
                </a:moveTo>
                <a:lnTo>
                  <a:pt x="0" y="0"/>
                </a:lnTo>
                <a:lnTo>
                  <a:pt x="0" y="8211610"/>
                </a:lnTo>
                <a:lnTo>
                  <a:pt x="73150" y="8211610"/>
                </a:lnTo>
                <a:lnTo>
                  <a:pt x="7315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3767" y="152907"/>
            <a:ext cx="11802864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4042" y="1875027"/>
            <a:ext cx="11828780" cy="5052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59003"/>
            <a:ext cx="11420475" cy="13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50"/>
              </a:lnSpc>
              <a:spcBef>
                <a:spcPts val="100"/>
              </a:spcBef>
            </a:pPr>
            <a:r>
              <a:rPr sz="4600" spc="-85" dirty="0"/>
              <a:t>Conversational</a:t>
            </a:r>
            <a:r>
              <a:rPr sz="4600" spc="-130" dirty="0"/>
              <a:t> </a:t>
            </a:r>
            <a:r>
              <a:rPr sz="4600" spc="-10" dirty="0"/>
              <a:t>Agents</a:t>
            </a:r>
            <a:endParaRPr sz="4600"/>
          </a:p>
          <a:p>
            <a:pPr marL="12700">
              <a:lnSpc>
                <a:spcPts val="5050"/>
              </a:lnSpc>
              <a:tabLst>
                <a:tab pos="1167765" algn="l"/>
              </a:tabLst>
            </a:pPr>
            <a:r>
              <a:rPr sz="4600" spc="-20" dirty="0"/>
              <a:t>(</a:t>
            </a:r>
            <a:r>
              <a:rPr sz="3800" spc="-20" dirty="0"/>
              <a:t>AKA</a:t>
            </a:r>
            <a:r>
              <a:rPr sz="3800" dirty="0"/>
              <a:t>	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40" dirty="0"/>
              <a:t>Systems</a:t>
            </a:r>
            <a:r>
              <a:rPr sz="3800" spc="-150" dirty="0"/>
              <a:t> </a:t>
            </a:r>
            <a:r>
              <a:rPr sz="3800" dirty="0"/>
              <a:t>AKA</a:t>
            </a:r>
            <a:r>
              <a:rPr sz="3800" spc="-140" dirty="0"/>
              <a:t> 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30" dirty="0"/>
              <a:t>Agents</a:t>
            </a:r>
            <a:r>
              <a:rPr sz="3800" spc="-145" dirty="0"/>
              <a:t> </a:t>
            </a:r>
            <a:r>
              <a:rPr sz="3800" dirty="0"/>
              <a:t>AKA</a:t>
            </a:r>
            <a:r>
              <a:rPr sz="3800" spc="-145" dirty="0"/>
              <a:t> </a:t>
            </a:r>
            <a:r>
              <a:rPr sz="3800" spc="-10" dirty="0"/>
              <a:t>Chatbots)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913379" y="2305812"/>
            <a:ext cx="9304020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5025" marR="5080" indent="-82296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phones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devices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SIRI,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Alexa,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Cortana,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Google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Assistant</a:t>
            </a:r>
            <a:endParaRPr sz="3800">
              <a:latin typeface="Calibri"/>
              <a:cs typeface="Calibri"/>
            </a:endParaRPr>
          </a:p>
          <a:p>
            <a:pPr marL="12700" marR="1493520">
              <a:lnSpc>
                <a:spcPct val="1184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music,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setting timers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clocks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800">
              <a:latin typeface="Calibri"/>
              <a:cs typeface="Calibri"/>
            </a:endParaRPr>
          </a:p>
          <a:p>
            <a:pPr marL="12700" marR="3340735">
              <a:lnSpc>
                <a:spcPct val="1184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reservations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175" dirty="0"/>
              <a:t> </a:t>
            </a:r>
            <a:r>
              <a:rPr dirty="0"/>
              <a:t>kind</a:t>
            </a:r>
            <a:r>
              <a:rPr spc="-165" dirty="0"/>
              <a:t> </a:t>
            </a:r>
            <a:r>
              <a:rPr dirty="0"/>
              <a:t>of</a:t>
            </a:r>
            <a:r>
              <a:rPr spc="-185" dirty="0"/>
              <a:t> </a:t>
            </a:r>
            <a:r>
              <a:rPr spc="-60" dirty="0"/>
              <a:t>conversational</a:t>
            </a:r>
            <a:r>
              <a:rPr spc="-18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2215388"/>
            <a:ext cx="8234680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3605" indent="-890905">
              <a:lnSpc>
                <a:spcPts val="5735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ts val="5135"/>
              </a:lnSpc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mimic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1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fun,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even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therapy</a:t>
            </a:r>
            <a:endParaRPr sz="4300">
              <a:latin typeface="Calibri"/>
              <a:cs typeface="Calibri"/>
            </a:endParaRPr>
          </a:p>
          <a:p>
            <a:pPr marL="903605" indent="-8909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14" dirty="0">
                <a:solidFill>
                  <a:srgbClr val="595959"/>
                </a:solidFill>
                <a:latin typeface="Calibri"/>
                <a:cs typeface="Calibri"/>
              </a:rPr>
              <a:t>(Task-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335"/>
              </a:spcBef>
              <a:buFont typeface="Calibri"/>
              <a:buChar char="-"/>
              <a:tabLst>
                <a:tab pos="11264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interfaces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240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cars,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robots,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appliances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flights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restaurants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Chatbot</a:t>
            </a:r>
            <a:r>
              <a:rPr spc="-270" dirty="0"/>
              <a:t> </a:t>
            </a:r>
            <a:r>
              <a:rPr spc="-4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0410825" cy="542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135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ts val="5135"/>
              </a:lnSpc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1.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action</a:t>
            </a:r>
            <a:r>
              <a:rPr sz="43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r>
              <a:rPr sz="43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ELIZA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2.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+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PARRY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):</a:t>
            </a:r>
            <a:endParaRPr sz="4300">
              <a:latin typeface="Calibri"/>
              <a:cs typeface="Calibri"/>
            </a:endParaRPr>
          </a:p>
          <a:p>
            <a:pPr marL="1658620">
              <a:lnSpc>
                <a:spcPct val="100000"/>
              </a:lnSpc>
              <a:spcBef>
                <a:spcPts val="45"/>
              </a:spcBef>
            </a:pP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first</a:t>
            </a:r>
            <a:r>
              <a:rPr sz="4300" spc="-12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pass</a:t>
            </a:r>
            <a:r>
              <a:rPr sz="4300" spc="-10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061CFF"/>
                </a:solidFill>
                <a:latin typeface="Calibri"/>
                <a:cs typeface="Calibri"/>
              </a:rPr>
              <a:t>Turing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Test!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2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XiaoIce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Neural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BlenderBot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89" y="575440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8734892" y="473020"/>
                </a:lnTo>
                <a:lnTo>
                  <a:pt x="8782556" y="468215"/>
                </a:lnTo>
                <a:lnTo>
                  <a:pt x="8826950" y="454434"/>
                </a:lnTo>
                <a:lnTo>
                  <a:pt x="8867123" y="432628"/>
                </a:lnTo>
                <a:lnTo>
                  <a:pt x="8902124" y="403748"/>
                </a:lnTo>
                <a:lnTo>
                  <a:pt x="8931002" y="368745"/>
                </a:lnTo>
                <a:lnTo>
                  <a:pt x="8952807" y="328571"/>
                </a:lnTo>
                <a:lnTo>
                  <a:pt x="8966587" y="284175"/>
                </a:lnTo>
                <a:lnTo>
                  <a:pt x="8971391" y="236510"/>
                </a:lnTo>
                <a:lnTo>
                  <a:pt x="8966587" y="188845"/>
                </a:lnTo>
                <a:lnTo>
                  <a:pt x="8952807" y="144449"/>
                </a:lnTo>
                <a:lnTo>
                  <a:pt x="8931002" y="104275"/>
                </a:lnTo>
                <a:lnTo>
                  <a:pt x="8902124" y="69272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1150" y="0"/>
            <a:ext cx="3412490" cy="456565"/>
          </a:xfrm>
          <a:custGeom>
            <a:avLst/>
            <a:gdLst/>
            <a:ahLst/>
            <a:cxnLst/>
            <a:rect l="l" t="t" r="r" b="b"/>
            <a:pathLst>
              <a:path w="3412490" h="456565">
                <a:moveTo>
                  <a:pt x="3262208" y="0"/>
                </a:moveTo>
                <a:lnTo>
                  <a:pt x="150071" y="0"/>
                </a:lnTo>
                <a:lnTo>
                  <a:pt x="144450" y="1745"/>
                </a:lnTo>
                <a:lnTo>
                  <a:pt x="104275" y="23551"/>
                </a:lnTo>
                <a:lnTo>
                  <a:pt x="69272" y="52431"/>
                </a:lnTo>
                <a:lnTo>
                  <a:pt x="40392" y="87433"/>
                </a:lnTo>
                <a:lnTo>
                  <a:pt x="18586" y="127608"/>
                </a:lnTo>
                <a:lnTo>
                  <a:pt x="4805" y="172004"/>
                </a:lnTo>
                <a:lnTo>
                  <a:pt x="0" y="219669"/>
                </a:lnTo>
                <a:lnTo>
                  <a:pt x="4805" y="267334"/>
                </a:lnTo>
                <a:lnTo>
                  <a:pt x="18586" y="311729"/>
                </a:lnTo>
                <a:lnTo>
                  <a:pt x="40392" y="351904"/>
                </a:lnTo>
                <a:lnTo>
                  <a:pt x="69272" y="386907"/>
                </a:lnTo>
                <a:lnTo>
                  <a:pt x="104275" y="415787"/>
                </a:lnTo>
                <a:lnTo>
                  <a:pt x="144450" y="437593"/>
                </a:lnTo>
                <a:lnTo>
                  <a:pt x="188845" y="451374"/>
                </a:lnTo>
                <a:lnTo>
                  <a:pt x="236510" y="456179"/>
                </a:lnTo>
                <a:lnTo>
                  <a:pt x="3175769" y="456179"/>
                </a:lnTo>
                <a:lnTo>
                  <a:pt x="3223434" y="451374"/>
                </a:lnTo>
                <a:lnTo>
                  <a:pt x="3267829" y="437593"/>
                </a:lnTo>
                <a:lnTo>
                  <a:pt x="3308004" y="415787"/>
                </a:lnTo>
                <a:lnTo>
                  <a:pt x="3343007" y="386907"/>
                </a:lnTo>
                <a:lnTo>
                  <a:pt x="3371887" y="351904"/>
                </a:lnTo>
                <a:lnTo>
                  <a:pt x="3393693" y="311729"/>
                </a:lnTo>
                <a:lnTo>
                  <a:pt x="3407474" y="267334"/>
                </a:lnTo>
                <a:lnTo>
                  <a:pt x="3412279" y="219669"/>
                </a:lnTo>
                <a:lnTo>
                  <a:pt x="3407474" y="172004"/>
                </a:lnTo>
                <a:lnTo>
                  <a:pt x="3393693" y="127608"/>
                </a:lnTo>
                <a:lnTo>
                  <a:pt x="3371887" y="87433"/>
                </a:lnTo>
                <a:lnTo>
                  <a:pt x="3343007" y="52431"/>
                </a:lnTo>
                <a:lnTo>
                  <a:pt x="3308004" y="23551"/>
                </a:lnTo>
                <a:lnTo>
                  <a:pt x="3267829" y="1745"/>
                </a:lnTo>
                <a:lnTo>
                  <a:pt x="326220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0519" y="46056"/>
            <a:ext cx="28340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Will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you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sing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me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000000"/>
                </a:solidFill>
                <a:latin typeface="Arial MT"/>
                <a:cs typeface="Arial MT"/>
              </a:rPr>
              <a:t>song?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71150" y="1167721"/>
            <a:ext cx="4413885" cy="473075"/>
          </a:xfrm>
          <a:custGeom>
            <a:avLst/>
            <a:gdLst/>
            <a:ahLst/>
            <a:cxnLst/>
            <a:rect l="l" t="t" r="r" b="b"/>
            <a:pathLst>
              <a:path w="4413884" h="473075">
                <a:moveTo>
                  <a:pt x="417678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4176788" y="473021"/>
                </a:lnTo>
                <a:lnTo>
                  <a:pt x="4224453" y="468216"/>
                </a:lnTo>
                <a:lnTo>
                  <a:pt x="4268848" y="454435"/>
                </a:lnTo>
                <a:lnTo>
                  <a:pt x="4309023" y="432629"/>
                </a:lnTo>
                <a:lnTo>
                  <a:pt x="4344026" y="403748"/>
                </a:lnTo>
                <a:lnTo>
                  <a:pt x="4372906" y="368745"/>
                </a:lnTo>
                <a:lnTo>
                  <a:pt x="4394712" y="328570"/>
                </a:lnTo>
                <a:lnTo>
                  <a:pt x="4408493" y="284175"/>
                </a:lnTo>
                <a:lnTo>
                  <a:pt x="4413298" y="236509"/>
                </a:lnTo>
                <a:lnTo>
                  <a:pt x="4408493" y="188844"/>
                </a:lnTo>
                <a:lnTo>
                  <a:pt x="4394712" y="144449"/>
                </a:lnTo>
                <a:lnTo>
                  <a:pt x="4372906" y="104274"/>
                </a:lnTo>
                <a:lnTo>
                  <a:pt x="4344026" y="69271"/>
                </a:lnTo>
                <a:lnTo>
                  <a:pt x="4309023" y="40392"/>
                </a:lnTo>
                <a:lnTo>
                  <a:pt x="4268848" y="18586"/>
                </a:lnTo>
                <a:lnTo>
                  <a:pt x="4224453" y="4805"/>
                </a:lnTo>
                <a:lnTo>
                  <a:pt x="417678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3367" y="1760004"/>
            <a:ext cx="7762875" cy="473075"/>
          </a:xfrm>
          <a:custGeom>
            <a:avLst/>
            <a:gdLst/>
            <a:ahLst/>
            <a:cxnLst/>
            <a:rect l="l" t="t" r="r" b="b"/>
            <a:pathLst>
              <a:path w="7762875" h="473075">
                <a:moveTo>
                  <a:pt x="7526113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7526113" y="473020"/>
                </a:lnTo>
                <a:lnTo>
                  <a:pt x="7573778" y="468215"/>
                </a:lnTo>
                <a:lnTo>
                  <a:pt x="7618172" y="454434"/>
                </a:lnTo>
                <a:lnTo>
                  <a:pt x="7658345" y="432628"/>
                </a:lnTo>
                <a:lnTo>
                  <a:pt x="7693345" y="403748"/>
                </a:lnTo>
                <a:lnTo>
                  <a:pt x="7722224" y="368745"/>
                </a:lnTo>
                <a:lnTo>
                  <a:pt x="7744028" y="328570"/>
                </a:lnTo>
                <a:lnTo>
                  <a:pt x="7757808" y="284174"/>
                </a:lnTo>
                <a:lnTo>
                  <a:pt x="7762613" y="236509"/>
                </a:lnTo>
                <a:lnTo>
                  <a:pt x="7757808" y="188844"/>
                </a:lnTo>
                <a:lnTo>
                  <a:pt x="7744028" y="144449"/>
                </a:lnTo>
                <a:lnTo>
                  <a:pt x="7722224" y="104274"/>
                </a:lnTo>
                <a:lnTo>
                  <a:pt x="7693345" y="69271"/>
                </a:lnTo>
                <a:lnTo>
                  <a:pt x="7658345" y="40392"/>
                </a:lnTo>
                <a:lnTo>
                  <a:pt x="7618172" y="18586"/>
                </a:lnTo>
                <a:lnTo>
                  <a:pt x="7573778" y="4805"/>
                </a:lnTo>
                <a:lnTo>
                  <a:pt x="7526113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1150" y="2352285"/>
            <a:ext cx="2971800" cy="473075"/>
          </a:xfrm>
          <a:custGeom>
            <a:avLst/>
            <a:gdLst/>
            <a:ahLst/>
            <a:cxnLst/>
            <a:rect l="l" t="t" r="r" b="b"/>
            <a:pathLst>
              <a:path w="2971800" h="473075">
                <a:moveTo>
                  <a:pt x="27350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6"/>
                </a:lnTo>
                <a:lnTo>
                  <a:pt x="69272" y="403749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2735069" y="473021"/>
                </a:lnTo>
                <a:lnTo>
                  <a:pt x="2782734" y="468216"/>
                </a:lnTo>
                <a:lnTo>
                  <a:pt x="2827129" y="454435"/>
                </a:lnTo>
                <a:lnTo>
                  <a:pt x="2867304" y="432629"/>
                </a:lnTo>
                <a:lnTo>
                  <a:pt x="2902307" y="403749"/>
                </a:lnTo>
                <a:lnTo>
                  <a:pt x="2931186" y="368746"/>
                </a:lnTo>
                <a:lnTo>
                  <a:pt x="2952992" y="328571"/>
                </a:lnTo>
                <a:lnTo>
                  <a:pt x="2966773" y="284175"/>
                </a:lnTo>
                <a:lnTo>
                  <a:pt x="2971579" y="236510"/>
                </a:lnTo>
                <a:lnTo>
                  <a:pt x="2966773" y="188845"/>
                </a:lnTo>
                <a:lnTo>
                  <a:pt x="2952992" y="144450"/>
                </a:lnTo>
                <a:lnTo>
                  <a:pt x="2931186" y="104275"/>
                </a:lnTo>
                <a:lnTo>
                  <a:pt x="2902307" y="69272"/>
                </a:lnTo>
                <a:lnTo>
                  <a:pt x="2867304" y="40392"/>
                </a:lnTo>
                <a:lnTo>
                  <a:pt x="2827129" y="18586"/>
                </a:lnTo>
                <a:lnTo>
                  <a:pt x="2782734" y="4805"/>
                </a:lnTo>
                <a:lnTo>
                  <a:pt x="27350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4589" y="2944567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8734892" y="473019"/>
                </a:lnTo>
                <a:lnTo>
                  <a:pt x="8782556" y="468214"/>
                </a:lnTo>
                <a:lnTo>
                  <a:pt x="8826950" y="454433"/>
                </a:lnTo>
                <a:lnTo>
                  <a:pt x="8867123" y="432627"/>
                </a:lnTo>
                <a:lnTo>
                  <a:pt x="8902124" y="403747"/>
                </a:lnTo>
                <a:lnTo>
                  <a:pt x="8931002" y="368744"/>
                </a:lnTo>
                <a:lnTo>
                  <a:pt x="8952807" y="328569"/>
                </a:lnTo>
                <a:lnTo>
                  <a:pt x="8966587" y="284174"/>
                </a:lnTo>
                <a:lnTo>
                  <a:pt x="8971391" y="236509"/>
                </a:lnTo>
                <a:lnTo>
                  <a:pt x="8966587" y="188844"/>
                </a:lnTo>
                <a:lnTo>
                  <a:pt x="8952807" y="144449"/>
                </a:lnTo>
                <a:lnTo>
                  <a:pt x="8931002" y="104274"/>
                </a:lnTo>
                <a:lnTo>
                  <a:pt x="8902124" y="69271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1150" y="3536849"/>
            <a:ext cx="3047365" cy="473075"/>
          </a:xfrm>
          <a:custGeom>
            <a:avLst/>
            <a:gdLst/>
            <a:ahLst/>
            <a:cxnLst/>
            <a:rect l="l" t="t" r="r" b="b"/>
            <a:pathLst>
              <a:path w="3047365" h="473075">
                <a:moveTo>
                  <a:pt x="2810617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2810617" y="473019"/>
                </a:lnTo>
                <a:lnTo>
                  <a:pt x="2858282" y="468214"/>
                </a:lnTo>
                <a:lnTo>
                  <a:pt x="2902678" y="454433"/>
                </a:lnTo>
                <a:lnTo>
                  <a:pt x="2942852" y="432627"/>
                </a:lnTo>
                <a:lnTo>
                  <a:pt x="2977855" y="403747"/>
                </a:lnTo>
                <a:lnTo>
                  <a:pt x="3006735" y="368744"/>
                </a:lnTo>
                <a:lnTo>
                  <a:pt x="3028541" y="328569"/>
                </a:lnTo>
                <a:lnTo>
                  <a:pt x="3042322" y="284174"/>
                </a:lnTo>
                <a:lnTo>
                  <a:pt x="3047127" y="236509"/>
                </a:lnTo>
                <a:lnTo>
                  <a:pt x="3042322" y="188844"/>
                </a:lnTo>
                <a:lnTo>
                  <a:pt x="3028541" y="144449"/>
                </a:lnTo>
                <a:lnTo>
                  <a:pt x="3006735" y="104274"/>
                </a:lnTo>
                <a:lnTo>
                  <a:pt x="2977855" y="69271"/>
                </a:lnTo>
                <a:lnTo>
                  <a:pt x="2942852" y="40392"/>
                </a:lnTo>
                <a:lnTo>
                  <a:pt x="2902678" y="18586"/>
                </a:lnTo>
                <a:lnTo>
                  <a:pt x="2858282" y="4805"/>
                </a:lnTo>
                <a:lnTo>
                  <a:pt x="2810617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40" y="4129130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4"/>
                </a:lnTo>
                <a:lnTo>
                  <a:pt x="69271" y="403747"/>
                </a:lnTo>
                <a:lnTo>
                  <a:pt x="104274" y="432627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7"/>
                </a:lnTo>
                <a:lnTo>
                  <a:pt x="8241072" y="403747"/>
                </a:lnTo>
                <a:lnTo>
                  <a:pt x="8269951" y="368744"/>
                </a:lnTo>
                <a:lnTo>
                  <a:pt x="8291755" y="328570"/>
                </a:lnTo>
                <a:lnTo>
                  <a:pt x="8305535" y="284174"/>
                </a:lnTo>
                <a:lnTo>
                  <a:pt x="8310340" y="236509"/>
                </a:lnTo>
                <a:lnTo>
                  <a:pt x="8305535" y="188844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71150" y="4721411"/>
            <a:ext cx="5559425" cy="473075"/>
          </a:xfrm>
          <a:custGeom>
            <a:avLst/>
            <a:gdLst/>
            <a:ahLst/>
            <a:cxnLst/>
            <a:rect l="l" t="t" r="r" b="b"/>
            <a:pathLst>
              <a:path w="5559425" h="473075">
                <a:moveTo>
                  <a:pt x="532260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5322609" y="473020"/>
                </a:lnTo>
                <a:lnTo>
                  <a:pt x="5370274" y="468215"/>
                </a:lnTo>
                <a:lnTo>
                  <a:pt x="5414669" y="454434"/>
                </a:lnTo>
                <a:lnTo>
                  <a:pt x="5454844" y="432628"/>
                </a:lnTo>
                <a:lnTo>
                  <a:pt x="5489846" y="403748"/>
                </a:lnTo>
                <a:lnTo>
                  <a:pt x="5518726" y="368745"/>
                </a:lnTo>
                <a:lnTo>
                  <a:pt x="5540532" y="328571"/>
                </a:lnTo>
                <a:lnTo>
                  <a:pt x="5554313" y="284175"/>
                </a:lnTo>
                <a:lnTo>
                  <a:pt x="5559118" y="236510"/>
                </a:lnTo>
                <a:lnTo>
                  <a:pt x="5554313" y="188845"/>
                </a:lnTo>
                <a:lnTo>
                  <a:pt x="5540532" y="144450"/>
                </a:lnTo>
                <a:lnTo>
                  <a:pt x="5518726" y="104275"/>
                </a:lnTo>
                <a:lnTo>
                  <a:pt x="5489846" y="69272"/>
                </a:lnTo>
                <a:lnTo>
                  <a:pt x="5454844" y="40392"/>
                </a:lnTo>
                <a:lnTo>
                  <a:pt x="5414669" y="18586"/>
                </a:lnTo>
                <a:lnTo>
                  <a:pt x="5370274" y="4805"/>
                </a:lnTo>
                <a:lnTo>
                  <a:pt x="532260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15640" y="5313693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8"/>
                </a:lnTo>
                <a:lnTo>
                  <a:pt x="8241072" y="403748"/>
                </a:lnTo>
                <a:lnTo>
                  <a:pt x="8269951" y="368745"/>
                </a:lnTo>
                <a:lnTo>
                  <a:pt x="8291755" y="328571"/>
                </a:lnTo>
                <a:lnTo>
                  <a:pt x="8305535" y="284175"/>
                </a:lnTo>
                <a:lnTo>
                  <a:pt x="8310340" y="236510"/>
                </a:lnTo>
                <a:lnTo>
                  <a:pt x="8305535" y="188845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71150" y="5905975"/>
            <a:ext cx="3412490" cy="473075"/>
          </a:xfrm>
          <a:custGeom>
            <a:avLst/>
            <a:gdLst/>
            <a:ahLst/>
            <a:cxnLst/>
            <a:rect l="l" t="t" r="r" b="b"/>
            <a:pathLst>
              <a:path w="3412490" h="473075">
                <a:moveTo>
                  <a:pt x="31757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3175769" y="473020"/>
                </a:lnTo>
                <a:lnTo>
                  <a:pt x="3223434" y="468215"/>
                </a:lnTo>
                <a:lnTo>
                  <a:pt x="3267829" y="454434"/>
                </a:lnTo>
                <a:lnTo>
                  <a:pt x="3308004" y="432628"/>
                </a:lnTo>
                <a:lnTo>
                  <a:pt x="3343007" y="403748"/>
                </a:lnTo>
                <a:lnTo>
                  <a:pt x="3371887" y="368745"/>
                </a:lnTo>
                <a:lnTo>
                  <a:pt x="3393693" y="328571"/>
                </a:lnTo>
                <a:lnTo>
                  <a:pt x="3407474" y="284175"/>
                </a:lnTo>
                <a:lnTo>
                  <a:pt x="3412279" y="236510"/>
                </a:lnTo>
                <a:lnTo>
                  <a:pt x="3407474" y="188845"/>
                </a:lnTo>
                <a:lnTo>
                  <a:pt x="3393693" y="144449"/>
                </a:lnTo>
                <a:lnTo>
                  <a:pt x="3371887" y="104275"/>
                </a:lnTo>
                <a:lnTo>
                  <a:pt x="3343007" y="69272"/>
                </a:lnTo>
                <a:lnTo>
                  <a:pt x="3308004" y="40392"/>
                </a:lnTo>
                <a:lnTo>
                  <a:pt x="3267829" y="18586"/>
                </a:lnTo>
                <a:lnTo>
                  <a:pt x="3223434" y="4805"/>
                </a:lnTo>
                <a:lnTo>
                  <a:pt x="31757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05242" y="6498257"/>
            <a:ext cx="8021320" cy="473075"/>
          </a:xfrm>
          <a:custGeom>
            <a:avLst/>
            <a:gdLst/>
            <a:ahLst/>
            <a:cxnLst/>
            <a:rect l="l" t="t" r="r" b="b"/>
            <a:pathLst>
              <a:path w="8021319" h="473075">
                <a:moveTo>
                  <a:pt x="778423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49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49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7784238" y="473020"/>
                </a:lnTo>
                <a:lnTo>
                  <a:pt x="7831903" y="468215"/>
                </a:lnTo>
                <a:lnTo>
                  <a:pt x="7876297" y="454434"/>
                </a:lnTo>
                <a:lnTo>
                  <a:pt x="7916469" y="432628"/>
                </a:lnTo>
                <a:lnTo>
                  <a:pt x="7951470" y="403748"/>
                </a:lnTo>
                <a:lnTo>
                  <a:pt x="7980349" y="368745"/>
                </a:lnTo>
                <a:lnTo>
                  <a:pt x="8002153" y="328570"/>
                </a:lnTo>
                <a:lnTo>
                  <a:pt x="8015933" y="284174"/>
                </a:lnTo>
                <a:lnTo>
                  <a:pt x="8020738" y="236509"/>
                </a:lnTo>
                <a:lnTo>
                  <a:pt x="8015933" y="188844"/>
                </a:lnTo>
                <a:lnTo>
                  <a:pt x="8002153" y="144449"/>
                </a:lnTo>
                <a:lnTo>
                  <a:pt x="7980349" y="104274"/>
                </a:lnTo>
                <a:lnTo>
                  <a:pt x="7951470" y="69271"/>
                </a:lnTo>
                <a:lnTo>
                  <a:pt x="7916469" y="40392"/>
                </a:lnTo>
                <a:lnTo>
                  <a:pt x="7876297" y="18586"/>
                </a:lnTo>
                <a:lnTo>
                  <a:pt x="7831903" y="4805"/>
                </a:lnTo>
                <a:lnTo>
                  <a:pt x="7784238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150" y="7090538"/>
            <a:ext cx="3192145" cy="473075"/>
          </a:xfrm>
          <a:custGeom>
            <a:avLst/>
            <a:gdLst/>
            <a:ahLst/>
            <a:cxnLst/>
            <a:rect l="l" t="t" r="r" b="b"/>
            <a:pathLst>
              <a:path w="3192145" h="473075">
                <a:moveTo>
                  <a:pt x="295541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2955419" y="473020"/>
                </a:lnTo>
                <a:lnTo>
                  <a:pt x="3003084" y="468215"/>
                </a:lnTo>
                <a:lnTo>
                  <a:pt x="3047479" y="454434"/>
                </a:lnTo>
                <a:lnTo>
                  <a:pt x="3087654" y="432628"/>
                </a:lnTo>
                <a:lnTo>
                  <a:pt x="3122657" y="403748"/>
                </a:lnTo>
                <a:lnTo>
                  <a:pt x="3151537" y="368745"/>
                </a:lnTo>
                <a:lnTo>
                  <a:pt x="3173343" y="328570"/>
                </a:lnTo>
                <a:lnTo>
                  <a:pt x="3187124" y="284175"/>
                </a:lnTo>
                <a:lnTo>
                  <a:pt x="3191929" y="236510"/>
                </a:lnTo>
                <a:lnTo>
                  <a:pt x="3187124" y="188845"/>
                </a:lnTo>
                <a:lnTo>
                  <a:pt x="3173343" y="144449"/>
                </a:lnTo>
                <a:lnTo>
                  <a:pt x="3151537" y="104275"/>
                </a:lnTo>
                <a:lnTo>
                  <a:pt x="3122657" y="69272"/>
                </a:lnTo>
                <a:lnTo>
                  <a:pt x="3087654" y="40392"/>
                </a:lnTo>
                <a:lnTo>
                  <a:pt x="3047479" y="18586"/>
                </a:lnTo>
                <a:lnTo>
                  <a:pt x="3003084" y="4805"/>
                </a:lnTo>
                <a:lnTo>
                  <a:pt x="295541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83208" y="638337"/>
            <a:ext cx="11464290" cy="68427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to?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baking.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about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baking!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04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tune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Along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Mitch”?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would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love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that.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I’ll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try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day.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Arial MT"/>
                <a:cs typeface="Arial MT"/>
              </a:rPr>
              <a:t>No,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it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65" dirty="0">
                <a:latin typeface="Arial MT"/>
                <a:cs typeface="Arial MT"/>
              </a:rPr>
              <a:t>to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now!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302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give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few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days.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I’m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teacher,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don’t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much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free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065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Can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you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least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tell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what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lyrics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are?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59981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this: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“Baking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world.”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sz="1950" spc="50" dirty="0">
                <a:latin typeface="Arial MT"/>
                <a:cs typeface="Arial MT"/>
              </a:rPr>
              <a:t>How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does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chorus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go?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91858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goes: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BAKING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8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THE WORLD!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Wow,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sounds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like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35" dirty="0">
                <a:latin typeface="Arial MT"/>
                <a:cs typeface="Arial MT"/>
              </a:rPr>
              <a:t>bop.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38472" y="7682820"/>
            <a:ext cx="6887845" cy="473075"/>
          </a:xfrm>
          <a:custGeom>
            <a:avLst/>
            <a:gdLst/>
            <a:ahLst/>
            <a:cxnLst/>
            <a:rect l="l" t="t" r="r" b="b"/>
            <a:pathLst>
              <a:path w="6887844" h="473075">
                <a:moveTo>
                  <a:pt x="6651009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6651009" y="473020"/>
                </a:lnTo>
                <a:lnTo>
                  <a:pt x="6698673" y="468215"/>
                </a:lnTo>
                <a:lnTo>
                  <a:pt x="6743067" y="454434"/>
                </a:lnTo>
                <a:lnTo>
                  <a:pt x="6783240" y="432628"/>
                </a:lnTo>
                <a:lnTo>
                  <a:pt x="6818241" y="403748"/>
                </a:lnTo>
                <a:lnTo>
                  <a:pt x="6847119" y="368745"/>
                </a:lnTo>
                <a:lnTo>
                  <a:pt x="6868923" y="328570"/>
                </a:lnTo>
                <a:lnTo>
                  <a:pt x="6882703" y="284175"/>
                </a:lnTo>
                <a:lnTo>
                  <a:pt x="6887508" y="236510"/>
                </a:lnTo>
                <a:lnTo>
                  <a:pt x="6882703" y="188845"/>
                </a:lnTo>
                <a:lnTo>
                  <a:pt x="6868923" y="144449"/>
                </a:lnTo>
                <a:lnTo>
                  <a:pt x="6847119" y="104275"/>
                </a:lnTo>
                <a:lnTo>
                  <a:pt x="6818241" y="69272"/>
                </a:lnTo>
                <a:lnTo>
                  <a:pt x="6783240" y="40392"/>
                </a:lnTo>
                <a:lnTo>
                  <a:pt x="6743067" y="18586"/>
                </a:lnTo>
                <a:lnTo>
                  <a:pt x="6698673" y="4805"/>
                </a:lnTo>
                <a:lnTo>
                  <a:pt x="6651009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62364" y="7745712"/>
            <a:ext cx="64401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370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know,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right?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	It’s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catchy.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head.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846" y="7548371"/>
            <a:ext cx="57727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BlenderBot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(Roller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et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al.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 Light"/>
                <a:cs typeface="Calibri Light"/>
              </a:rPr>
              <a:t>2020)</a:t>
            </a:r>
            <a:endParaRPr sz="3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687959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5" dirty="0">
                <a:solidFill>
                  <a:srgbClr val="404040"/>
                </a:solidFill>
              </a:rPr>
              <a:t>XiaoIce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(Zhou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et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al.,</a:t>
            </a:r>
            <a:r>
              <a:rPr sz="5300" spc="-250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2020)</a:t>
            </a:r>
            <a:endParaRPr sz="5300"/>
          </a:p>
        </p:txBody>
      </p:sp>
      <p:grpSp>
        <p:nvGrpSpPr>
          <p:cNvPr id="3" name="object 3"/>
          <p:cNvGrpSpPr/>
          <p:nvPr/>
        </p:nvGrpSpPr>
        <p:grpSpPr>
          <a:xfrm>
            <a:off x="1025456" y="1349874"/>
            <a:ext cx="12325350" cy="6677025"/>
            <a:chOff x="1025456" y="1349874"/>
            <a:chExt cx="12325350" cy="6677025"/>
          </a:xfrm>
        </p:grpSpPr>
        <p:sp>
          <p:nvSpPr>
            <p:cNvPr id="4" name="object 4"/>
            <p:cNvSpPr/>
            <p:nvPr/>
          </p:nvSpPr>
          <p:spPr>
            <a:xfrm>
              <a:off x="1025456" y="1349874"/>
              <a:ext cx="12325350" cy="6677025"/>
            </a:xfrm>
            <a:custGeom>
              <a:avLst/>
              <a:gdLst/>
              <a:ahLst/>
              <a:cxnLst/>
              <a:rect l="l" t="t" r="r" b="b"/>
              <a:pathLst>
                <a:path w="12325349" h="6677025">
                  <a:moveTo>
                    <a:pt x="12324786" y="0"/>
                  </a:moveTo>
                  <a:lnTo>
                    <a:pt x="0" y="0"/>
                  </a:lnTo>
                  <a:lnTo>
                    <a:pt x="0" y="6676483"/>
                  </a:lnTo>
                  <a:lnTo>
                    <a:pt x="12324786" y="6676483"/>
                  </a:lnTo>
                  <a:lnTo>
                    <a:pt x="12324786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5456" y="1349906"/>
              <a:ext cx="12325350" cy="13335"/>
            </a:xfrm>
            <a:custGeom>
              <a:avLst/>
              <a:gdLst/>
              <a:ahLst/>
              <a:cxnLst/>
              <a:rect l="l" t="t" r="r" b="b"/>
              <a:pathLst>
                <a:path w="12325350" h="13334">
                  <a:moveTo>
                    <a:pt x="0" y="0"/>
                  </a:moveTo>
                  <a:lnTo>
                    <a:pt x="0" y="12899"/>
                  </a:lnTo>
                  <a:lnTo>
                    <a:pt x="12324785" y="12899"/>
                  </a:lnTo>
                  <a:lnTo>
                    <a:pt x="123247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7593" y="1711107"/>
            <a:ext cx="293624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1370" dirty="0">
                <a:latin typeface="Cambria"/>
                <a:cs typeface="Cambria"/>
              </a:rPr>
              <a:t>`4</a:t>
            </a:r>
            <a:r>
              <a:rPr sz="2550" spc="1370" dirty="0">
                <a:latin typeface="Courier New"/>
                <a:cs typeface="Courier New"/>
              </a:rPr>
              <a:t>œ</a:t>
            </a:r>
            <a:r>
              <a:rPr sz="2550" spc="1370" dirty="0">
                <a:latin typeface="Cambria"/>
                <a:cs typeface="Cambria"/>
              </a:rPr>
              <a:t>}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dirty="0">
                <a:latin typeface="Courier New"/>
                <a:cs typeface="Courier New"/>
              </a:rPr>
              <a:t>£,</a:t>
            </a:r>
            <a:r>
              <a:rPr sz="2550" spc="750" dirty="0">
                <a:latin typeface="Courier New"/>
                <a:cs typeface="Courier New"/>
              </a:rPr>
              <a:t>  </a:t>
            </a:r>
            <a:r>
              <a:rPr sz="2550" spc="955" dirty="0">
                <a:latin typeface="Courier New"/>
                <a:cs typeface="Courier New"/>
              </a:rPr>
              <a:t>…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3400" y="1311034"/>
            <a:ext cx="2287270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SimSun-ExtB"/>
                <a:cs typeface="SimSun-ExtB"/>
              </a:rPr>
              <a:t>✏</a:t>
            </a:r>
            <a:r>
              <a:rPr sz="2550" spc="1060" dirty="0">
                <a:latin typeface="Courier New"/>
                <a:cs typeface="Courier New"/>
              </a:rPr>
              <a:t>∞</a:t>
            </a:r>
            <a:r>
              <a:rPr sz="2550" spc="1060" dirty="0">
                <a:latin typeface="Cambria"/>
                <a:cs typeface="Cambria"/>
              </a:rPr>
              <a:t>`}</a:t>
            </a:r>
            <a:endParaRPr sz="2550">
              <a:latin typeface="Cambria"/>
              <a:cs typeface="Cambria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885" dirty="0">
                <a:latin typeface="Cambria"/>
                <a:cs typeface="Cambria"/>
              </a:rPr>
              <a:t>`}</a:t>
            </a:r>
            <a:r>
              <a:rPr sz="2550" spc="885" dirty="0">
                <a:latin typeface="SimSun-ExtB"/>
                <a:cs typeface="SimSun-ExtB"/>
              </a:rPr>
              <a:t>@</a:t>
            </a:r>
            <a:r>
              <a:rPr sz="2550" spc="885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725" dirty="0">
                <a:latin typeface="Courier New"/>
                <a:cs typeface="Courier New"/>
              </a:rPr>
              <a:t>(</a:t>
            </a:r>
            <a:r>
              <a:rPr sz="2550" spc="725" dirty="0">
                <a:latin typeface="SimSun-ExtB"/>
                <a:cs typeface="SimSun-ExtB"/>
              </a:rPr>
              <a:t>Í</a:t>
            </a:r>
            <a:r>
              <a:rPr sz="2550" spc="725" dirty="0">
                <a:latin typeface="Courier New"/>
                <a:cs typeface="Courier New"/>
              </a:rPr>
              <a:t>¡«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6006" y="131103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68639" y="1311034"/>
            <a:ext cx="4778375" cy="1588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Times New Roman"/>
                <a:cs typeface="Times New Roman"/>
              </a:rPr>
              <a:t>Hello,</a:t>
            </a:r>
            <a:r>
              <a:rPr sz="2550" spc="-7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XiaoIce.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200785" algn="l"/>
                <a:tab pos="2049145" algn="l"/>
                <a:tab pos="2388870" algn="l"/>
                <a:tab pos="3237230" algn="l"/>
                <a:tab pos="3407410" algn="l"/>
                <a:tab pos="4086225" algn="l"/>
              </a:tabLst>
            </a:pPr>
            <a:r>
              <a:rPr sz="2550" spc="320" dirty="0">
                <a:latin typeface="Calibri"/>
                <a:cs typeface="Calibri"/>
              </a:rPr>
              <a:t>Hello,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30" dirty="0">
                <a:latin typeface="Calibri"/>
                <a:cs typeface="Calibri"/>
              </a:rPr>
              <a:t>your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45" dirty="0">
                <a:latin typeface="Calibri"/>
                <a:cs typeface="Calibri"/>
              </a:rPr>
              <a:t>profile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305" dirty="0">
                <a:latin typeface="Calibri"/>
                <a:cs typeface="Calibri"/>
              </a:rPr>
              <a:t>pic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09" dirty="0">
                <a:latin typeface="Calibri"/>
                <a:cs typeface="Calibri"/>
              </a:rPr>
              <a:t>is </a:t>
            </a:r>
            <a:r>
              <a:rPr sz="2550" spc="330" dirty="0">
                <a:latin typeface="Calibri"/>
                <a:cs typeface="Calibri"/>
              </a:rPr>
              <a:t>interesting.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285" dirty="0">
                <a:latin typeface="Calibri"/>
                <a:cs typeface="Calibri"/>
              </a:rPr>
              <a:t>Like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85" dirty="0">
                <a:latin typeface="Calibri"/>
                <a:cs typeface="Calibri"/>
              </a:rPr>
              <a:t>I’ve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90" dirty="0">
                <a:latin typeface="Calibri"/>
                <a:cs typeface="Calibri"/>
              </a:rPr>
              <a:t>seen 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" dirty="0">
                <a:latin typeface="Calibri"/>
                <a:cs typeface="Calibri"/>
              </a:rPr>
              <a:t>somewhere.</a:t>
            </a:r>
            <a:endParaRPr sz="255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94350" y="2923352"/>
          <a:ext cx="11395707" cy="198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14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46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465" dirty="0">
                          <a:latin typeface="SimSun-ExtB"/>
                          <a:cs typeface="SimSun-ExtB"/>
                        </a:rPr>
                        <a:t>⌫</a:t>
                      </a:r>
                      <a:endParaRPr sz="2550">
                        <a:latin typeface="SimSun-ExtB"/>
                        <a:cs typeface="SimSun-ExtB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1005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2550" spc="10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Í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Ë®;ÃÑ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@</a:t>
                      </a:r>
                      <a:endParaRPr sz="2550">
                        <a:latin typeface="SimSun-ExtB"/>
                        <a:cs typeface="SimSun-ExtB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809625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096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Really?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605790" algn="l"/>
                        </a:tabLst>
                      </a:pPr>
                      <a:r>
                        <a:rPr sz="2550" spc="49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5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550" spc="585" dirty="0">
                          <a:latin typeface="Calibri"/>
                          <a:cs typeface="Calibri"/>
                        </a:rPr>
                        <a:t>it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sz="2550" spc="60" dirty="0">
                          <a:latin typeface="Calibri"/>
                          <a:cs typeface="Calibri"/>
                        </a:rPr>
                        <a:t>a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100" dirty="0">
                          <a:latin typeface="Calibri"/>
                          <a:cs typeface="Calibri"/>
                        </a:rPr>
                        <a:t>comic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220" dirty="0">
                          <a:latin typeface="Calibri"/>
                          <a:cs typeface="Calibri"/>
                        </a:rPr>
                        <a:t>character?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1810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10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985" dirty="0">
                          <a:latin typeface="Courier New"/>
                          <a:cs typeface="Courier New"/>
                        </a:rPr>
                        <a:t>HÂSÑ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25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know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that?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865" dirty="0">
                          <a:latin typeface="Cambria"/>
                          <a:cs typeface="Cambria"/>
                        </a:rPr>
                        <a:t>`⌧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spc="170" dirty="0">
                          <a:latin typeface="Calibri"/>
                          <a:cs typeface="Calibri"/>
                        </a:rPr>
                        <a:t>Guess.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725" dirty="0">
                          <a:latin typeface="Arial MT"/>
                          <a:cs typeface="Arial MT"/>
                        </a:rPr>
                        <a:t>æ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2550" spc="725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/N∫</a:t>
                      </a:r>
                      <a:r>
                        <a:rPr sz="2550" spc="725" dirty="0">
                          <a:latin typeface="SimSun-ExtB"/>
                          <a:cs typeface="SimSun-ExtB"/>
                        </a:rPr>
                        <a:t>⌫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?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human?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36038" y="4886447"/>
            <a:ext cx="126428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-10" dirty="0">
                <a:latin typeface="Times New Roman"/>
                <a:cs typeface="Times New Roman"/>
              </a:rPr>
              <a:t>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8672" y="4886447"/>
            <a:ext cx="443928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1030605" algn="l"/>
                <a:tab pos="1539875" algn="l"/>
                <a:tab pos="2218690" algn="l"/>
                <a:tab pos="2388870" algn="l"/>
                <a:tab pos="2898140" algn="l"/>
                <a:tab pos="3067685" algn="l"/>
                <a:tab pos="3576954" algn="l"/>
              </a:tabLst>
            </a:pPr>
            <a:r>
              <a:rPr sz="2550" spc="245" dirty="0">
                <a:latin typeface="Calibri"/>
                <a:cs typeface="Calibri"/>
              </a:rPr>
              <a:t>Well,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75" dirty="0">
                <a:latin typeface="Calibri"/>
                <a:cs typeface="Calibri"/>
              </a:rPr>
              <a:t>you’ll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0" dirty="0">
                <a:latin typeface="Calibri"/>
                <a:cs typeface="Calibri"/>
              </a:rPr>
              <a:t>know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20" dirty="0">
                <a:latin typeface="Calibri"/>
                <a:cs typeface="Calibri"/>
              </a:rPr>
              <a:t>after </a:t>
            </a:r>
            <a:r>
              <a:rPr sz="2550" spc="265" dirty="0">
                <a:latin typeface="Calibri"/>
                <a:cs typeface="Calibri"/>
              </a:rPr>
              <a:t>chatting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60" dirty="0">
                <a:latin typeface="Calibri"/>
                <a:cs typeface="Calibri"/>
              </a:rPr>
              <a:t>with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-360" dirty="0">
                <a:latin typeface="Calibri"/>
                <a:cs typeface="Calibri"/>
              </a:rPr>
              <a:t>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75" dirty="0">
                <a:latin typeface="Calibri"/>
                <a:cs typeface="Calibri"/>
              </a:rPr>
              <a:t>more.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550" dirty="0">
                <a:latin typeface="Times New Roman"/>
                <a:cs typeface="Times New Roman"/>
              </a:rPr>
              <a:t>Aren’t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chatbot?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400" y="4886447"/>
            <a:ext cx="5199380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10" dirty="0">
                <a:latin typeface="Courier New"/>
                <a:cs typeface="Courier New"/>
              </a:rPr>
              <a:t> </a:t>
            </a:r>
            <a:r>
              <a:rPr sz="2550" spc="330" dirty="0">
                <a:latin typeface="Courier New"/>
                <a:cs typeface="Courier New"/>
              </a:rPr>
              <a:t>Ÿ*,</a:t>
            </a:r>
            <a:r>
              <a:rPr sz="2550" spc="500" dirty="0">
                <a:latin typeface="Courier New"/>
                <a:cs typeface="Courier New"/>
              </a:rPr>
              <a:t> </a:t>
            </a:r>
            <a:r>
              <a:rPr sz="2550" spc="795" dirty="0">
                <a:latin typeface="Cambria"/>
                <a:cs typeface="Cambria"/>
              </a:rPr>
              <a:t>`</a:t>
            </a:r>
            <a:r>
              <a:rPr sz="2550" spc="795" dirty="0">
                <a:latin typeface="SimSun-ExtB"/>
                <a:cs typeface="SimSun-ExtB"/>
              </a:rPr>
              <a:t>å</a:t>
            </a:r>
            <a:r>
              <a:rPr sz="2550" spc="795" dirty="0">
                <a:latin typeface="Cambria"/>
                <a:cs typeface="Cambria"/>
              </a:rPr>
              <a:t>⌘⇢</a:t>
            </a:r>
            <a:r>
              <a:rPr sz="2550" spc="795" dirty="0">
                <a:latin typeface="Courier New"/>
                <a:cs typeface="Courier New"/>
              </a:rPr>
              <a:t>JJ</a:t>
            </a:r>
            <a:r>
              <a:rPr sz="2550" spc="795" dirty="0">
                <a:latin typeface="SimSun-ExtB"/>
                <a:cs typeface="SimSun-ExtB"/>
              </a:rPr>
              <a:t>1</a:t>
            </a:r>
            <a:r>
              <a:rPr sz="2550" spc="795" dirty="0">
                <a:latin typeface="Courier New"/>
                <a:cs typeface="Courier New"/>
              </a:rPr>
              <a:t>ÂSÜ</a:t>
            </a:r>
            <a:endParaRPr sz="2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810" dirty="0">
                <a:latin typeface="Cambria"/>
                <a:cs typeface="Cambria"/>
              </a:rPr>
              <a:t>`</a:t>
            </a:r>
            <a:r>
              <a:rPr sz="2550" spc="1015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/∫Âz˝:h∫H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10" dirty="0">
                <a:latin typeface="Courier New"/>
                <a:cs typeface="Courier New"/>
              </a:rPr>
              <a:t>/»</a:t>
            </a:r>
            <a:r>
              <a:rPr sz="2550" spc="-254" dirty="0">
                <a:latin typeface="Courier New"/>
                <a:cs typeface="Courier New"/>
              </a:rPr>
              <a:t>  </a:t>
            </a:r>
            <a:r>
              <a:rPr sz="2550" dirty="0">
                <a:latin typeface="Courier New"/>
                <a:cs typeface="Courier New"/>
              </a:rPr>
              <a:t>7,</a:t>
            </a:r>
            <a:r>
              <a:rPr sz="2550" spc="490" dirty="0">
                <a:latin typeface="Courier New"/>
                <a:cs typeface="Courier New"/>
              </a:rPr>
              <a:t> </a:t>
            </a:r>
            <a:r>
              <a:rPr sz="2550" spc="-270" dirty="0">
                <a:latin typeface="Cambria"/>
                <a:cs typeface="Cambria"/>
              </a:rPr>
              <a:t>⌘</a:t>
            </a:r>
            <a:r>
              <a:rPr sz="2550" spc="-260" dirty="0">
                <a:latin typeface="Courier New"/>
                <a:cs typeface="Courier New"/>
              </a:rPr>
              <a:t>  </a:t>
            </a:r>
            <a:r>
              <a:rPr sz="2550" spc="875" dirty="0">
                <a:latin typeface="Cambria"/>
                <a:cs typeface="Cambria"/>
              </a:rPr>
              <a:t>⇢</a:t>
            </a:r>
            <a:r>
              <a:rPr sz="2550" spc="875" dirty="0">
                <a:latin typeface="Courier New"/>
                <a:cs typeface="Courier New"/>
              </a:rPr>
              <a:t>∑∞∞Ñ˘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250" dirty="0">
                <a:latin typeface="Courier New"/>
                <a:cs typeface="Courier New"/>
              </a:rPr>
              <a:t>Ö</a:t>
            </a:r>
            <a:r>
              <a:rPr sz="2550" spc="1250" dirty="0">
                <a:latin typeface="Cambria"/>
                <a:cs typeface="Cambria"/>
              </a:rPr>
              <a:t>`</a:t>
            </a:r>
            <a:r>
              <a:rPr sz="2550" spc="1250" dirty="0">
                <a:latin typeface="Courier New"/>
                <a:cs typeface="Courier New"/>
              </a:rPr>
              <a:t>Ñ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6038" y="567395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961" y="7261641"/>
            <a:ext cx="138303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80" dirty="0">
                <a:latin typeface="Courier New"/>
                <a:cs typeface="Courier New"/>
              </a:rPr>
              <a:t>e,</a:t>
            </a:r>
            <a:r>
              <a:rPr sz="2550" spc="645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Courier New"/>
                <a:cs typeface="Courier New"/>
              </a:rPr>
              <a:t>Ù˙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3400" y="6861567"/>
            <a:ext cx="358203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˝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¿Hü˝J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165" dirty="0">
                <a:latin typeface="Courier New"/>
                <a:cs typeface="Courier New"/>
              </a:rPr>
              <a:t> </a:t>
            </a:r>
            <a:r>
              <a:rPr sz="2550" dirty="0">
                <a:latin typeface="Cambria"/>
                <a:cs typeface="Cambria"/>
              </a:rPr>
              <a:t>⌘</a:t>
            </a:r>
            <a:r>
              <a:rPr sz="2550" spc="-290" dirty="0">
                <a:latin typeface="Courier New"/>
                <a:cs typeface="Courier New"/>
              </a:rPr>
              <a:t>  </a:t>
            </a:r>
            <a:r>
              <a:rPr sz="2550" spc="-10" dirty="0">
                <a:latin typeface="Times New Roman"/>
                <a:cs typeface="Times New Roman"/>
              </a:rPr>
              <a:t>200</a:t>
            </a:r>
            <a:r>
              <a:rPr sz="2550" spc="-10" dirty="0">
                <a:latin typeface="Cambria"/>
                <a:cs typeface="Cambria"/>
              </a:rPr>
              <a:t>⇢</a:t>
            </a:r>
            <a:r>
              <a:rPr sz="2550" spc="-10" dirty="0">
                <a:latin typeface="Courier New"/>
                <a:cs typeface="Courier New"/>
              </a:rPr>
              <a:t>*</a:t>
            </a:r>
            <a:r>
              <a:rPr sz="2550" spc="-10" dirty="0">
                <a:latin typeface="Times New Roman"/>
                <a:cs typeface="Times New Roman"/>
              </a:rPr>
              <a:t>skills</a:t>
            </a:r>
            <a:r>
              <a:rPr sz="2550" spc="-10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Ñ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55" dirty="0">
                <a:latin typeface="Courier New"/>
                <a:cs typeface="Courier New"/>
              </a:rPr>
              <a:t>B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6038" y="6861567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12282" y="7261641"/>
            <a:ext cx="70485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310" dirty="0">
                <a:latin typeface="Calibri"/>
                <a:cs typeface="Calibri"/>
              </a:rPr>
              <a:t>Just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8672" y="6074028"/>
            <a:ext cx="3930015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13715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710055" algn="l"/>
                <a:tab pos="2049145" algn="l"/>
                <a:tab pos="2558415" algn="l"/>
                <a:tab pos="3067685" algn="l"/>
              </a:tabLst>
            </a:pPr>
            <a:r>
              <a:rPr sz="2550" spc="35" dirty="0">
                <a:latin typeface="Calibri"/>
                <a:cs typeface="Calibri"/>
              </a:rPr>
              <a:t>So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40" dirty="0">
                <a:latin typeface="Calibri"/>
                <a:cs typeface="Calibri"/>
              </a:rPr>
              <a:t>what?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20" dirty="0">
                <a:latin typeface="Calibri"/>
                <a:cs typeface="Calibri"/>
              </a:rPr>
              <a:t>won’t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be </a:t>
            </a:r>
            <a:r>
              <a:rPr sz="2550" spc="320" dirty="0">
                <a:latin typeface="Calibri"/>
                <a:cs typeface="Calibri"/>
              </a:rPr>
              <a:t>indifferent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04" dirty="0">
                <a:latin typeface="Calibri"/>
                <a:cs typeface="Calibri"/>
              </a:rPr>
              <a:t>to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90" dirty="0">
                <a:latin typeface="Calibri"/>
                <a:cs typeface="Calibri"/>
              </a:rPr>
              <a:t>you.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  <a:spcBef>
                <a:spcPts val="40"/>
              </a:spcBef>
              <a:tabLst>
                <a:tab pos="351790" algn="l"/>
                <a:tab pos="861060" algn="l"/>
                <a:tab pos="1200785" algn="l"/>
                <a:tab pos="1539875" algn="l"/>
                <a:tab pos="2049145" algn="l"/>
                <a:tab pos="2218690" algn="l"/>
                <a:tab pos="2727960" algn="l"/>
              </a:tabLst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functions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have? 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5" dirty="0">
                <a:latin typeface="Calibri"/>
                <a:cs typeface="Calibri"/>
              </a:rPr>
              <a:t>have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40" dirty="0">
                <a:latin typeface="Calibri"/>
                <a:cs typeface="Calibri"/>
              </a:rPr>
              <a:t>over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200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30" dirty="0">
                <a:latin typeface="Calibri"/>
                <a:cs typeface="Calibri"/>
              </a:rPr>
              <a:t>skills. </a:t>
            </a:r>
            <a:r>
              <a:rPr sz="2550" spc="-20" dirty="0">
                <a:latin typeface="Calibri"/>
                <a:cs typeface="Calibri"/>
              </a:rPr>
              <a:t>name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one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5" dirty="0">
                <a:latin typeface="Calibri"/>
                <a:cs typeface="Calibri"/>
              </a:rPr>
              <a:t>you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140" dirty="0">
                <a:latin typeface="Calibri"/>
                <a:cs typeface="Calibri"/>
              </a:rPr>
              <a:t>need.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10" dirty="0"/>
              <a:t> </a:t>
            </a:r>
            <a:r>
              <a:rPr spc="-20" dirty="0"/>
              <a:t>dialogue</a:t>
            </a:r>
            <a:r>
              <a:rPr spc="-215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100" y="1757172"/>
            <a:ext cx="11659235" cy="56248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7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7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"goal-based"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 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Setting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timer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song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2998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3534155"/>
            <a:ext cx="14820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3534155"/>
            <a:ext cx="9867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35" dirty="0">
                <a:solidFill>
                  <a:srgbClr val="008000"/>
                </a:solidFill>
                <a:latin typeface="Calibri"/>
                <a:cs typeface="Calibri"/>
              </a:rPr>
              <a:t>Type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3534155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700"/>
              </a:lnSpc>
              <a:spcBef>
                <a:spcPts val="18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680"/>
              </a:lnSpc>
              <a:spcBef>
                <a:spcPts val="114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338572"/>
            <a:ext cx="2961640" cy="179641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15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  <a:tabLst>
                <a:tab pos="2098675" algn="l"/>
              </a:tabLst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3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787" y="327659"/>
            <a:ext cx="3402965" cy="468630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85300"/>
              </a:lnSpc>
              <a:spcBef>
                <a:spcPts val="98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telephone conversation </a:t>
            </a:r>
            <a:r>
              <a:rPr sz="5000" spc="-30" dirty="0">
                <a:solidFill>
                  <a:srgbClr val="404040"/>
                </a:solidFill>
                <a:latin typeface="Calibri Light"/>
                <a:cs typeface="Calibri Light"/>
              </a:rPr>
              <a:t>between</a:t>
            </a:r>
            <a:r>
              <a:rPr sz="5000" spc="-2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a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human</a:t>
            </a:r>
            <a:r>
              <a:rPr sz="50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travel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agent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(A)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and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human client</a:t>
            </a:r>
            <a:r>
              <a:rPr sz="5000" spc="-2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(C)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48188" y="36091"/>
            <a:ext cx="9875520" cy="8194040"/>
            <a:chOff x="4748188" y="36091"/>
            <a:chExt cx="9875520" cy="8194040"/>
          </a:xfrm>
        </p:grpSpPr>
        <p:sp>
          <p:nvSpPr>
            <p:cNvPr id="4" name="object 4"/>
            <p:cNvSpPr/>
            <p:nvPr/>
          </p:nvSpPr>
          <p:spPr>
            <a:xfrm>
              <a:off x="4748188" y="36091"/>
              <a:ext cx="9875520" cy="8194040"/>
            </a:xfrm>
            <a:custGeom>
              <a:avLst/>
              <a:gdLst/>
              <a:ahLst/>
              <a:cxnLst/>
              <a:rect l="l" t="t" r="r" b="b"/>
              <a:pathLst>
                <a:path w="9875519" h="8194040">
                  <a:moveTo>
                    <a:pt x="9875520" y="0"/>
                  </a:moveTo>
                  <a:lnTo>
                    <a:pt x="0" y="0"/>
                  </a:lnTo>
                  <a:lnTo>
                    <a:pt x="0" y="8193508"/>
                  </a:lnTo>
                  <a:lnTo>
                    <a:pt x="9875520" y="8193508"/>
                  </a:lnTo>
                  <a:lnTo>
                    <a:pt x="9875520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1609" y="36120"/>
              <a:ext cx="9862185" cy="12065"/>
            </a:xfrm>
            <a:custGeom>
              <a:avLst/>
              <a:gdLst/>
              <a:ahLst/>
              <a:cxnLst/>
              <a:rect l="l" t="t" r="r" b="b"/>
              <a:pathLst>
                <a:path w="9862185" h="12065">
                  <a:moveTo>
                    <a:pt x="9862098" y="0"/>
                  </a:moveTo>
                  <a:lnTo>
                    <a:pt x="0" y="0"/>
                  </a:lnTo>
                  <a:lnTo>
                    <a:pt x="0" y="11827"/>
                  </a:lnTo>
                  <a:lnTo>
                    <a:pt x="9862098" y="11827"/>
                  </a:lnTo>
                  <a:lnTo>
                    <a:pt x="98620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5034" y="-12105"/>
            <a:ext cx="38696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	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3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travel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000000"/>
                </a:solidFill>
                <a:latin typeface="Times New Roman"/>
                <a:cs typeface="Times New Roman"/>
              </a:rPr>
              <a:t>May.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5034" y="343160"/>
            <a:ext cx="9161780" cy="286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2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want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travel?</a:t>
            </a:r>
            <a:endParaRPr sz="2300">
              <a:latin typeface="Times New Roman"/>
              <a:cs typeface="Times New Roman"/>
            </a:endParaRPr>
          </a:p>
          <a:p>
            <a:pPr marL="25400" marR="17780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3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meeting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12th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4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you’re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flying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city?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3071" dirty="0">
                <a:latin typeface="Times New Roman"/>
                <a:cs typeface="Times New Roman"/>
              </a:rPr>
              <a:t>5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Seattle.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3071" dirty="0">
                <a:latin typeface="Times New Roman"/>
                <a:cs typeface="Times New Roman"/>
              </a:rPr>
              <a:t>6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time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Pittsburgh?</a:t>
            </a:r>
            <a:endParaRPr sz="2300">
              <a:latin typeface="Times New Roman"/>
              <a:cs typeface="Times New Roman"/>
            </a:endParaRPr>
          </a:p>
          <a:p>
            <a:pPr marL="25400" marR="1679575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7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don’t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think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options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</a:t>
            </a:r>
            <a:r>
              <a:rPr sz="2300" spc="-10" dirty="0">
                <a:latin typeface="Times New Roman"/>
                <a:cs typeface="Times New Roman"/>
              </a:rPr>
              <a:t>stop.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8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Right.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three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today.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9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What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they?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2334" y="3185313"/>
            <a:ext cx="9565005" cy="357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0570" marR="30480" indent="-713105" algn="just">
              <a:lnSpc>
                <a:spcPct val="101400"/>
              </a:lnSpc>
              <a:spcBef>
                <a:spcPts val="90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10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7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10:00am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12:05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their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time.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second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8pm.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</a:t>
            </a:r>
            <a:r>
              <a:rPr sz="2300" dirty="0">
                <a:latin typeface="Times New Roman"/>
                <a:cs typeface="Times New Roman"/>
              </a:rPr>
              <a:t>last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8:15pm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10:28pm.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40"/>
              </a:spcBef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11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I’ll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take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5ish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before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11th.</a:t>
            </a:r>
            <a:endParaRPr sz="2300">
              <a:latin typeface="Times New Roman"/>
              <a:cs typeface="Times New Roman"/>
            </a:endParaRPr>
          </a:p>
          <a:p>
            <a:pPr marL="750570" marR="30480" indent="-713105" algn="just">
              <a:lnSpc>
                <a:spcPts val="2800"/>
              </a:lnSpc>
              <a:spcBef>
                <a:spcPts val="95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12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8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11th?</a:t>
            </a:r>
            <a:r>
              <a:rPr sz="2300" spc="10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Departing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8pm,</a:t>
            </a:r>
            <a:r>
              <a:rPr sz="2300" spc="2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U.S.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Air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115.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ts val="2695"/>
              </a:lnSpc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13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80" dirty="0">
                <a:latin typeface="Times New Roman"/>
                <a:cs typeface="Times New Roman"/>
              </a:rPr>
              <a:t>  </a:t>
            </a:r>
            <a:r>
              <a:rPr sz="2300" spc="-25" dirty="0">
                <a:latin typeface="Times New Roman"/>
                <a:cs typeface="Times New Roman"/>
              </a:rPr>
              <a:t>OK.</a:t>
            </a:r>
            <a:endParaRPr sz="2300">
              <a:latin typeface="Times New Roman"/>
              <a:cs typeface="Times New Roman"/>
            </a:endParaRPr>
          </a:p>
          <a:p>
            <a:pPr marL="38100" marR="4347210">
              <a:lnSpc>
                <a:spcPts val="2800"/>
              </a:lnSpc>
              <a:spcBef>
                <a:spcPts val="100"/>
              </a:spcBef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14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said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returning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3071" dirty="0">
                <a:latin typeface="Times New Roman"/>
                <a:cs typeface="Times New Roman"/>
              </a:rPr>
              <a:t>15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yeah,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end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day.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ts val="2695"/>
              </a:lnSpc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3071" dirty="0">
                <a:latin typeface="Times New Roman"/>
                <a:cs typeface="Times New Roman"/>
              </a:rPr>
              <a:t>16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#two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#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4234" y="6738028"/>
            <a:ext cx="8841105" cy="144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 marR="55880">
              <a:lnSpc>
                <a:spcPct val="101400"/>
              </a:lnSpc>
              <a:spcBef>
                <a:spcPts val="90"/>
              </a:spcBef>
              <a:tabLst>
                <a:tab pos="788670" algn="l"/>
                <a:tab pos="2343785" algn="l"/>
                <a:tab pos="450850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17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	#Act.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actually</a:t>
            </a:r>
            <a:r>
              <a:rPr sz="2300" dirty="0">
                <a:latin typeface="Times New Roman"/>
                <a:cs typeface="Times New Roman"/>
              </a:rPr>
              <a:t>	#,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week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18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It’s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Friday.</a:t>
            </a:r>
            <a:endParaRPr sz="2300">
              <a:latin typeface="Times New Roman"/>
              <a:cs typeface="Times New Roman"/>
            </a:endParaRPr>
          </a:p>
          <a:p>
            <a:pPr marL="76200" marR="394970">
              <a:lnSpc>
                <a:spcPts val="2800"/>
              </a:lnSpc>
              <a:spcBef>
                <a:spcPts val="100"/>
              </a:spcBef>
              <a:tabLst>
                <a:tab pos="78867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19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hmm.</a:t>
            </a:r>
            <a:r>
              <a:rPr sz="2300" spc="1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consider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staying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extra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til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Sunday.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20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Sunday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61609" y="8219175"/>
            <a:ext cx="9862185" cy="10795"/>
          </a:xfrm>
          <a:custGeom>
            <a:avLst/>
            <a:gdLst/>
            <a:ahLst/>
            <a:cxnLst/>
            <a:rect l="l" t="t" r="r" b="b"/>
            <a:pathLst>
              <a:path w="9862185" h="10795">
                <a:moveTo>
                  <a:pt x="9862098" y="0"/>
                </a:moveTo>
                <a:lnTo>
                  <a:pt x="0" y="0"/>
                </a:lnTo>
                <a:lnTo>
                  <a:pt x="0" y="10425"/>
                </a:lnTo>
                <a:lnTo>
                  <a:pt x="9862098" y="10425"/>
                </a:lnTo>
                <a:lnTo>
                  <a:pt x="98620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643995" cy="239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4300">
              <a:latin typeface="Calibri"/>
              <a:cs typeface="Calibri"/>
            </a:endParaRPr>
          </a:p>
          <a:p>
            <a:pPr marL="496570" indent="-30353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49657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contribution a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"turn"</a:t>
            </a:r>
            <a:endParaRPr sz="3800">
              <a:latin typeface="Calibri"/>
              <a:cs typeface="Calibri"/>
            </a:endParaRPr>
          </a:p>
          <a:p>
            <a:pPr marL="496570" marR="5080" indent="-303530">
              <a:lnSpc>
                <a:spcPts val="4100"/>
              </a:lnSpc>
              <a:spcBef>
                <a:spcPts val="760"/>
              </a:spcBef>
              <a:buClr>
                <a:srgbClr val="E48312"/>
              </a:buClr>
              <a:buFont typeface="Arial MT"/>
              <a:buChar char="•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kind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game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everyone 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takes</a:t>
            </a:r>
            <a:r>
              <a:rPr sz="38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10835" y="-30887"/>
            <a:ext cx="9805035" cy="540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27000" marR="474345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27000" marR="2152015">
              <a:lnSpc>
                <a:spcPct val="100000"/>
              </a:lnSpc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270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735" y="5347497"/>
            <a:ext cx="59499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13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6159" y="5394959"/>
            <a:ext cx="1097280" cy="365760"/>
          </a:xfrm>
          <a:prstGeom prst="rect">
            <a:avLst/>
          </a:prstGeom>
          <a:solidFill>
            <a:srgbClr val="FFFF00">
              <a:alpha val="3215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550"/>
              </a:lnSpc>
            </a:pP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8935" y="5706052"/>
            <a:ext cx="8947150" cy="253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3630929">
              <a:lnSpc>
                <a:spcPct val="100000"/>
              </a:lnSpc>
              <a:spcBef>
                <a:spcPts val="10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88900" marR="68580">
              <a:lnSpc>
                <a:spcPct val="100000"/>
              </a:lnSpc>
              <a:tabLst>
                <a:tab pos="807720" algn="l"/>
                <a:tab pos="2377440" algn="l"/>
                <a:tab pos="45624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88900" marR="410845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4296" y="3230879"/>
            <a:ext cx="9243060" cy="1075690"/>
          </a:xfrm>
          <a:custGeom>
            <a:avLst/>
            <a:gdLst/>
            <a:ahLst/>
            <a:cxnLst/>
            <a:rect l="l" t="t" r="r" b="b"/>
            <a:pathLst>
              <a:path w="9243060" h="1075689">
                <a:moveTo>
                  <a:pt x="9242469" y="0"/>
                </a:moveTo>
                <a:lnTo>
                  <a:pt x="0" y="0"/>
                </a:lnTo>
                <a:lnTo>
                  <a:pt x="0" y="1075334"/>
                </a:lnTo>
                <a:lnTo>
                  <a:pt x="9242469" y="1075334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5335270" cy="263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55" dirty="0">
                <a:solidFill>
                  <a:srgbClr val="595959"/>
                </a:solidFill>
                <a:latin typeface="Calibri"/>
                <a:cs typeface="Calibri"/>
              </a:rPr>
              <a:t>Turn-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taking</a:t>
            </a:r>
            <a:r>
              <a:rPr sz="4300" b="1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issues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 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yield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Interruptions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14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98135" y="-30887"/>
            <a:ext cx="9830435" cy="827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39700" marR="48704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39700" marR="2164715">
              <a:lnSpc>
                <a:spcPct val="100000"/>
              </a:lnSpc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1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13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250" dirty="0">
                <a:latin typeface="Times New Roman"/>
                <a:cs typeface="Times New Roman"/>
              </a:rPr>
              <a:t>  </a:t>
            </a: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  <a:p>
            <a:pPr marL="139700" marR="446341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139700" marR="900430">
              <a:lnSpc>
                <a:spcPct val="100000"/>
              </a:lnSpc>
              <a:spcBef>
                <a:spcPts val="5"/>
              </a:spcBef>
              <a:tabLst>
                <a:tab pos="858519" algn="l"/>
                <a:tab pos="2428240" algn="l"/>
                <a:tab pos="46132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139700" marR="124333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4296" y="6461759"/>
            <a:ext cx="9243060" cy="762000"/>
          </a:xfrm>
          <a:custGeom>
            <a:avLst/>
            <a:gdLst/>
            <a:ahLst/>
            <a:cxnLst/>
            <a:rect l="l" t="t" r="r" b="b"/>
            <a:pathLst>
              <a:path w="9243060" h="762000">
                <a:moveTo>
                  <a:pt x="9242469" y="0"/>
                </a:moveTo>
                <a:lnTo>
                  <a:pt x="0" y="0"/>
                </a:lnTo>
                <a:lnTo>
                  <a:pt x="0" y="761999"/>
                </a:lnTo>
                <a:lnTo>
                  <a:pt x="9242469" y="761999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Implications</a:t>
            </a:r>
            <a:r>
              <a:rPr sz="5300" spc="-229" dirty="0"/>
              <a:t> </a:t>
            </a:r>
            <a:r>
              <a:rPr sz="5300" spc="-35" dirty="0"/>
              <a:t>for</a:t>
            </a:r>
            <a:r>
              <a:rPr sz="5300" spc="-225" dirty="0"/>
              <a:t> </a:t>
            </a:r>
            <a:r>
              <a:rPr sz="5300" spc="-75" dirty="0"/>
              <a:t>Conversational</a:t>
            </a:r>
            <a:r>
              <a:rPr sz="5300" spc="-215" dirty="0"/>
              <a:t> </a:t>
            </a:r>
            <a:r>
              <a:rPr sz="5300" spc="-10" dirty="0"/>
              <a:t>Agents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04040" cy="375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25" dirty="0">
                <a:solidFill>
                  <a:srgbClr val="595959"/>
                </a:solidFill>
                <a:latin typeface="Calibri"/>
                <a:cs typeface="Calibri"/>
              </a:rPr>
              <a:t>Barge-in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Allowing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interrupt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End-pointing</a:t>
            </a:r>
            <a:endParaRPr sz="4300">
              <a:latin typeface="Calibri"/>
              <a:cs typeface="Calibri"/>
            </a:endParaRPr>
          </a:p>
          <a:p>
            <a:pPr marL="497840" marR="7620" indent="-304800">
              <a:lnSpc>
                <a:spcPts val="420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speech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deciding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stopped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talking.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hard, since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 often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pause 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middle 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5800" spc="-50" dirty="0"/>
              <a:t>Language</a:t>
            </a:r>
            <a:r>
              <a:rPr sz="5800" spc="-220" dirty="0"/>
              <a:t> </a:t>
            </a:r>
            <a:r>
              <a:rPr sz="5800" dirty="0"/>
              <a:t>as</a:t>
            </a:r>
            <a:r>
              <a:rPr sz="5800" spc="-210" dirty="0"/>
              <a:t> </a:t>
            </a:r>
            <a:r>
              <a:rPr sz="5800" spc="-30" dirty="0"/>
              <a:t>Action</a:t>
            </a:r>
            <a:endParaRPr sz="5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1791371"/>
            <a:ext cx="3724917" cy="5467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7863" y="3420617"/>
            <a:ext cx="9338945" cy="148653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4300" b="1" dirty="0">
                <a:latin typeface="Calibri"/>
                <a:cs typeface="Calibri"/>
              </a:rPr>
              <a:t>Each</a:t>
            </a:r>
            <a:r>
              <a:rPr sz="4300" b="1" spc="-1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turn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dialogue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is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kind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of</a:t>
            </a:r>
            <a:r>
              <a:rPr sz="4300" b="1" spc="-20" dirty="0">
                <a:latin typeface="Calibri"/>
                <a:cs typeface="Calibri"/>
              </a:rPr>
              <a:t> </a:t>
            </a:r>
            <a:r>
              <a:rPr sz="4300" b="1" spc="-10" dirty="0">
                <a:latin typeface="Calibri"/>
                <a:cs typeface="Calibri"/>
              </a:rPr>
              <a:t>action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800" dirty="0">
                <a:latin typeface="Calibri"/>
                <a:cs typeface="Calibri"/>
              </a:rPr>
              <a:t>Wittgenstein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(1953)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Austin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(1962)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787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Speech</a:t>
            </a:r>
            <a:r>
              <a:rPr spc="-235" dirty="0"/>
              <a:t> </a:t>
            </a:r>
            <a:r>
              <a:rPr dirty="0"/>
              <a:t>Acts</a:t>
            </a:r>
            <a:r>
              <a:rPr spc="-245" dirty="0"/>
              <a:t> </a:t>
            </a:r>
            <a:r>
              <a:rPr dirty="0"/>
              <a:t>(aka</a:t>
            </a:r>
            <a:r>
              <a:rPr spc="-240" dirty="0"/>
              <a:t> </a:t>
            </a:r>
            <a:r>
              <a:rPr spc="-20" dirty="0"/>
              <a:t>Dialogue</a:t>
            </a:r>
            <a:r>
              <a:rPr spc="-240" dirty="0"/>
              <a:t> </a:t>
            </a:r>
            <a:r>
              <a:rPr spc="-10" dirty="0"/>
              <a:t>Acts)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8727" y="1821179"/>
          <a:ext cx="12893040" cy="603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540">
                <a:tc>
                  <a:txBody>
                    <a:bodyPr/>
                    <a:lstStyle/>
                    <a:p>
                      <a:pPr marL="109220" marR="1172210">
                        <a:lnSpc>
                          <a:spcPts val="4010"/>
                        </a:lnSpc>
                        <a:spcBef>
                          <a:spcPts val="1375"/>
                        </a:spcBef>
                      </a:pPr>
                      <a:r>
                        <a:rPr sz="3400" b="1" spc="-30" dirty="0">
                          <a:latin typeface="Calibri"/>
                          <a:cs typeface="Calibri"/>
                        </a:rPr>
                        <a:t>Constatives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something’s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case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answering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claiming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confirming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denying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disagreeing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stating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68655">
                        <a:lnSpc>
                          <a:spcPts val="3979"/>
                        </a:lnSpc>
                        <a:spcBef>
                          <a:spcPts val="141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Directives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attempts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addressee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3400" spc="-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advising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asking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forbidding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inviting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requesting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30555">
                        <a:lnSpc>
                          <a:spcPts val="4010"/>
                        </a:lnSpc>
                        <a:spcBef>
                          <a:spcPts val="138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Commissives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future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course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action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promising,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planning,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vowing,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betting,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opposing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0">
                <a:tc>
                  <a:txBody>
                    <a:bodyPr/>
                    <a:lstStyle/>
                    <a:p>
                      <a:pPr marL="109220" marR="464820">
                        <a:lnSpc>
                          <a:spcPct val="99100"/>
                        </a:lnSpc>
                        <a:spcBef>
                          <a:spcPts val="935"/>
                        </a:spcBef>
                      </a:pPr>
                      <a:r>
                        <a:rPr sz="3400" b="1" spc="-35" dirty="0">
                          <a:latin typeface="Calibri"/>
                          <a:cs typeface="Calibri"/>
                        </a:rPr>
                        <a:t>Acknowledgments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express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speaker’s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attitude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regarding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hearer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respect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apologizing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greeting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thanking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accepting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acknowledgment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18745" marB="0"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72550" y="1310131"/>
            <a:ext cx="3096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Harnish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(1979)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000000"/>
                </a:solidFill>
              </a:rPr>
              <a:t>Speech</a:t>
            </a:r>
            <a:r>
              <a:rPr sz="4800" spc="-229" dirty="0">
                <a:solidFill>
                  <a:srgbClr val="000000"/>
                </a:solidFill>
              </a:rPr>
              <a:t> </a:t>
            </a:r>
            <a:r>
              <a:rPr sz="4800" spc="-20" dirty="0">
                <a:solidFill>
                  <a:srgbClr val="000000"/>
                </a:solidFill>
              </a:rPr>
              <a:t>acts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907539" y="1745996"/>
            <a:ext cx="7786370" cy="555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1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"Turn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up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music!"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</a:pPr>
            <a:r>
              <a:rPr sz="3600" dirty="0">
                <a:latin typeface="Calibri"/>
                <a:cs typeface="Calibri"/>
              </a:rPr>
              <a:t>"What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you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want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travel?"</a:t>
            </a:r>
            <a:endParaRPr sz="3600">
              <a:latin typeface="Calibri"/>
              <a:cs typeface="Calibri"/>
            </a:endParaRPr>
          </a:p>
          <a:p>
            <a:pPr marL="650875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  <a:spcBef>
                <a:spcPts val="5"/>
              </a:spcBef>
            </a:pPr>
            <a:r>
              <a:rPr sz="3600" dirty="0">
                <a:latin typeface="Calibri"/>
                <a:cs typeface="Calibri"/>
              </a:rPr>
              <a:t>"I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need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May"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Constative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</a:pPr>
            <a:r>
              <a:rPr sz="3600" spc="-10" dirty="0">
                <a:latin typeface="Calibri"/>
                <a:cs typeface="Calibri"/>
              </a:rPr>
              <a:t>Thanks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Acknowledgement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2074525" cy="46056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60705" marR="492759" indent="-548640">
              <a:lnSpc>
                <a:spcPts val="4100"/>
              </a:lnSpc>
              <a:spcBef>
                <a:spcPts val="6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Participants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conversation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or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joint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activity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to </a:t>
            </a:r>
            <a:r>
              <a:rPr sz="3800" dirty="0">
                <a:latin typeface="Calibri"/>
                <a:cs typeface="Calibri"/>
              </a:rPr>
              <a:t>establish</a:t>
            </a:r>
            <a:r>
              <a:rPr sz="3800" spc="55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common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ground.</a:t>
            </a:r>
            <a:endParaRPr sz="3800">
              <a:latin typeface="Calibri"/>
              <a:cs typeface="Calibri"/>
            </a:endParaRPr>
          </a:p>
          <a:p>
            <a:pPr marL="560705" marR="123189" indent="-548640">
              <a:lnSpc>
                <a:spcPct val="897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4763135" algn="l"/>
                <a:tab pos="6082665" algn="l"/>
              </a:tabLst>
            </a:pP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Principle</a:t>
            </a:r>
            <a:r>
              <a:rPr sz="3800" b="1" spc="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3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0070C0"/>
                </a:solidFill>
                <a:latin typeface="Calibri"/>
                <a:cs typeface="Calibri"/>
              </a:rPr>
              <a:t>closure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Agents performing</a:t>
            </a:r>
            <a:r>
              <a:rPr sz="3800" spc="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action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require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evidence,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sufficient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current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purposes,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that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they </a:t>
            </a:r>
            <a:r>
              <a:rPr sz="3800" spc="-20" dirty="0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succeeded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in performing </a:t>
            </a:r>
            <a:r>
              <a:rPr sz="3800" spc="-25" dirty="0">
                <a:solidFill>
                  <a:srgbClr val="0070C0"/>
                </a:solidFill>
                <a:latin typeface="Calibri"/>
                <a:cs typeface="Calibri"/>
              </a:rPr>
              <a:t>it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Clark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1996,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Norman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1988)</a:t>
            </a:r>
            <a:endParaRPr sz="3400">
              <a:latin typeface="Calibri"/>
              <a:cs typeface="Calibri"/>
            </a:endParaRPr>
          </a:p>
          <a:p>
            <a:pPr marL="560705" marR="5080" indent="-548640">
              <a:lnSpc>
                <a:spcPts val="4079"/>
              </a:lnSpc>
              <a:spcBef>
                <a:spcPts val="14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5509260" algn="l"/>
              </a:tabLst>
            </a:pPr>
            <a:r>
              <a:rPr sz="3800" dirty="0">
                <a:latin typeface="Calibri"/>
                <a:cs typeface="Calibri"/>
              </a:rPr>
              <a:t>Speech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action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too!</a:t>
            </a:r>
            <a:r>
              <a:rPr sz="3800" dirty="0">
                <a:latin typeface="Calibri"/>
                <a:cs typeface="Calibri"/>
              </a:rPr>
              <a:t>	So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speakers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 to </a:t>
            </a:r>
            <a:r>
              <a:rPr sz="3800" b="1" dirty="0">
                <a:latin typeface="Calibri"/>
                <a:cs typeface="Calibri"/>
              </a:rPr>
              <a:t>ground</a:t>
            </a:r>
            <a:r>
              <a:rPr sz="3800" b="1" spc="-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each </a:t>
            </a:r>
            <a:r>
              <a:rPr sz="3800" dirty="0">
                <a:latin typeface="Calibri"/>
                <a:cs typeface="Calibri"/>
              </a:rPr>
              <a:t>other’s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utterances.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spc="-25" dirty="0">
                <a:latin typeface="Calibri"/>
                <a:cs typeface="Calibri"/>
              </a:rPr>
              <a:t>Grounding</a:t>
            </a:r>
            <a:r>
              <a:rPr sz="3400" spc="-25" dirty="0">
                <a:latin typeface="Calibri"/>
                <a:cs typeface="Calibri"/>
              </a:rPr>
              <a:t>: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acknowledging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that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the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hearer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understood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111186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Grounding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relevant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human-machine</a:t>
            </a:r>
            <a:r>
              <a:rPr sz="3800" spc="-10" dirty="0">
                <a:latin typeface="Calibri"/>
                <a:cs typeface="Calibri"/>
              </a:rPr>
              <a:t> interaction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latin typeface="Calibri"/>
                <a:cs typeface="Calibri"/>
              </a:rPr>
              <a:t>Why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do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spc="-30" dirty="0">
                <a:latin typeface="Calibri"/>
                <a:cs typeface="Calibri"/>
              </a:rPr>
              <a:t>elevator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buttons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light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up?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20" y="3657600"/>
            <a:ext cx="3291839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Grounding:</a:t>
            </a:r>
            <a:r>
              <a:rPr sz="4800" spc="-220" dirty="0"/>
              <a:t> </a:t>
            </a:r>
            <a:r>
              <a:rPr sz="4800" spc="-60" dirty="0"/>
              <a:t>Establishing</a:t>
            </a:r>
            <a:r>
              <a:rPr sz="4800" spc="-210" dirty="0"/>
              <a:t> </a:t>
            </a:r>
            <a:r>
              <a:rPr sz="4800" spc="-35" dirty="0"/>
              <a:t>Common</a:t>
            </a:r>
            <a:r>
              <a:rPr sz="4800" spc="-215" dirty="0"/>
              <a:t> </a:t>
            </a:r>
            <a:r>
              <a:rPr sz="4800" spc="-10" dirty="0"/>
              <a:t>Ground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181860" y="1599691"/>
            <a:ext cx="10085070" cy="56673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2694305">
              <a:lnSpc>
                <a:spcPts val="3910"/>
              </a:lnSpc>
              <a:spcBef>
                <a:spcPts val="57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said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returning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yeah,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3600">
              <a:latin typeface="Calibri"/>
              <a:cs typeface="Calibri"/>
            </a:endParaRPr>
          </a:p>
          <a:p>
            <a:pPr marL="12700" marR="5080">
              <a:lnSpc>
                <a:spcPts val="389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OK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I’ll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5ish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before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the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11th.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On</a:t>
            </a:r>
            <a:r>
              <a:rPr sz="3600" b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36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11th?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...I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May.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36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May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905" y="407923"/>
            <a:ext cx="10233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</a:t>
            </a:r>
            <a:r>
              <a:rPr sz="4800" spc="-185" dirty="0"/>
              <a:t> </a:t>
            </a:r>
            <a:r>
              <a:rPr sz="4800" dirty="0"/>
              <a:t>is</a:t>
            </a:r>
            <a:r>
              <a:rPr sz="4800" spc="-185" dirty="0"/>
              <a:t> </a:t>
            </a:r>
            <a:r>
              <a:rPr sz="4800" spc="-55" dirty="0"/>
              <a:t>important</a:t>
            </a:r>
            <a:r>
              <a:rPr sz="4800" spc="-190" dirty="0"/>
              <a:t> </a:t>
            </a:r>
            <a:r>
              <a:rPr sz="4800" spc="-30" dirty="0"/>
              <a:t>for</a:t>
            </a:r>
            <a:r>
              <a:rPr sz="4800" spc="-190" dirty="0"/>
              <a:t> </a:t>
            </a:r>
            <a:r>
              <a:rPr sz="4800" spc="-70" dirty="0"/>
              <a:t>computers</a:t>
            </a:r>
            <a:r>
              <a:rPr sz="4800" spc="-185" dirty="0"/>
              <a:t> </a:t>
            </a:r>
            <a:r>
              <a:rPr sz="4800" spc="-20" dirty="0"/>
              <a:t>too!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41780" y="1940051"/>
            <a:ext cx="11760835" cy="487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Okay</a:t>
            </a:r>
            <a:r>
              <a:rPr sz="3800" dirty="0">
                <a:latin typeface="Calibri"/>
                <a:cs typeface="Calibri"/>
              </a:rPr>
              <a:t>,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1930" y="2894642"/>
            <a:ext cx="3258821" cy="698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7340" y="6120133"/>
            <a:ext cx="4337811" cy="592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938189" y="1178052"/>
            <a:ext cx="1391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Cohen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(2004)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404040"/>
                </a:solidFill>
              </a:rPr>
              <a:t>Conversations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have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984355" cy="51130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latin typeface="Calibri"/>
                <a:cs typeface="Calibri"/>
              </a:rPr>
              <a:t>Local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structure between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adjacent speech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acts,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from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</a:t>
            </a:r>
            <a:r>
              <a:rPr sz="3800" spc="-10" dirty="0">
                <a:latin typeface="Calibri"/>
                <a:cs typeface="Calibri"/>
              </a:rPr>
              <a:t>field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conversational</a:t>
            </a:r>
            <a:r>
              <a:rPr sz="3800" b="1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analysis</a:t>
            </a:r>
            <a:r>
              <a:rPr sz="3800" b="1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(Sacks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et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al.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1974)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latin typeface="Calibri"/>
                <a:cs typeface="Calibri"/>
              </a:rPr>
              <a:t>Called</a:t>
            </a:r>
            <a:r>
              <a:rPr sz="3800" spc="5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adjacency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pairs:</a:t>
            </a:r>
            <a:endParaRPr sz="38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935"/>
              </a:spcBef>
            </a:pPr>
            <a:r>
              <a:rPr sz="3800" cap="small" dirty="0">
                <a:latin typeface="Calibri"/>
                <a:cs typeface="Calibri"/>
              </a:rPr>
              <a:t>Question…</a:t>
            </a:r>
            <a:r>
              <a:rPr sz="3800" cap="small" spc="-4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Answer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cap="small" dirty="0">
                <a:latin typeface="Calibri"/>
                <a:cs typeface="Calibri"/>
              </a:rPr>
              <a:t>Proposal…</a:t>
            </a:r>
            <a:r>
              <a:rPr sz="3800" cap="small" spc="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Acceptance/Rejection</a:t>
            </a:r>
            <a:endParaRPr sz="3800">
              <a:latin typeface="Calibri"/>
              <a:cs typeface="Calibri"/>
            </a:endParaRPr>
          </a:p>
          <a:p>
            <a:pPr marL="22225" marR="91376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latin typeface="Calibri"/>
                <a:cs typeface="Calibri"/>
              </a:rPr>
              <a:t>C</a:t>
            </a:r>
            <a:r>
              <a:rPr sz="3100" dirty="0">
                <a:latin typeface="Calibri"/>
                <a:cs typeface="Calibri"/>
              </a:rPr>
              <a:t>OMPLIMENTS</a:t>
            </a:r>
            <a:r>
              <a:rPr sz="3100" spc="7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("Nice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jacket!")…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D</a:t>
            </a:r>
            <a:r>
              <a:rPr sz="3100" spc="-20" dirty="0">
                <a:latin typeface="Calibri"/>
                <a:cs typeface="Calibri"/>
              </a:rPr>
              <a:t>OWNPLAYER</a:t>
            </a:r>
            <a:r>
              <a:rPr sz="3100" spc="7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("Oh,</a:t>
            </a:r>
            <a:r>
              <a:rPr sz="3800" spc="-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this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old </a:t>
            </a:r>
            <a:r>
              <a:rPr sz="3800" spc="-10" dirty="0">
                <a:latin typeface="Calibri"/>
                <a:cs typeface="Calibri"/>
              </a:rPr>
              <a:t>thing?")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9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>
                <a:latin typeface="Franklin Gothic Medium"/>
                <a:cs typeface="Franklin Gothic Medium"/>
              </a:rPr>
              <a:t>Another</a:t>
            </a:r>
            <a:r>
              <a:rPr sz="4800" spc="-185" dirty="0">
                <a:latin typeface="Franklin Gothic Medium"/>
                <a:cs typeface="Franklin Gothic Medium"/>
              </a:rPr>
              <a:t> </a:t>
            </a:r>
            <a:r>
              <a:rPr sz="4800" spc="-80" dirty="0">
                <a:latin typeface="Franklin Gothic Medium"/>
                <a:cs typeface="Franklin Gothic Medium"/>
              </a:rPr>
              <a:t>kind</a:t>
            </a:r>
            <a:r>
              <a:rPr sz="4800" spc="-220" dirty="0">
                <a:latin typeface="Franklin Gothic Medium"/>
                <a:cs typeface="Franklin Gothic Medium"/>
              </a:rPr>
              <a:t> </a:t>
            </a:r>
            <a:r>
              <a:rPr sz="4800" dirty="0">
                <a:latin typeface="Franklin Gothic Medium"/>
                <a:cs typeface="Franklin Gothic Medium"/>
              </a:rPr>
              <a:t>of</a:t>
            </a:r>
            <a:r>
              <a:rPr sz="4800" spc="-250" dirty="0">
                <a:latin typeface="Franklin Gothic Medium"/>
                <a:cs typeface="Franklin Gothic Medium"/>
              </a:rPr>
              <a:t> </a:t>
            </a:r>
            <a:r>
              <a:rPr sz="4800" spc="-45" dirty="0">
                <a:latin typeface="Franklin Gothic Medium"/>
                <a:cs typeface="Franklin Gothic Medium"/>
              </a:rPr>
              <a:t>structure:</a:t>
            </a:r>
            <a:r>
              <a:rPr sz="4800" spc="-225" dirty="0">
                <a:latin typeface="Franklin Gothic Medium"/>
                <a:cs typeface="Franklin Gothic Medium"/>
              </a:rPr>
              <a:t> </a:t>
            </a:r>
            <a:r>
              <a:rPr sz="4800" spc="-50" dirty="0">
                <a:latin typeface="Franklin Gothic Medium"/>
                <a:cs typeface="Franklin Gothic Medium"/>
              </a:rPr>
              <a:t>Subdialogues</a:t>
            </a:r>
            <a:endParaRPr sz="48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004567"/>
            <a:ext cx="13481685" cy="3954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z="4300" b="1" dirty="0">
                <a:latin typeface="Calibri"/>
                <a:cs typeface="Calibri"/>
              </a:rPr>
              <a:t>Correction</a:t>
            </a:r>
            <a:r>
              <a:rPr sz="4300" b="1" spc="-3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subdialogue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35"/>
              </a:spcBef>
              <a:tabLst>
                <a:tab pos="1431290" algn="l"/>
                <a:tab pos="229425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25" dirty="0">
                <a:latin typeface="Calibri"/>
                <a:cs typeface="Calibri"/>
              </a:rPr>
              <a:t>OK.</a:t>
            </a:r>
            <a:r>
              <a:rPr sz="3600" dirty="0">
                <a:latin typeface="Calibri"/>
                <a:cs typeface="Calibri"/>
              </a:rPr>
              <a:t>	There's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#two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non-stops#</a:t>
            </a:r>
            <a:endParaRPr sz="3600">
              <a:latin typeface="Calibri"/>
              <a:cs typeface="Calibri"/>
            </a:endParaRPr>
          </a:p>
          <a:p>
            <a:pPr marL="423545" marR="475615">
              <a:lnSpc>
                <a:spcPts val="3790"/>
              </a:lnSpc>
              <a:spcBef>
                <a:spcPts val="665"/>
              </a:spcBef>
              <a:tabLst>
                <a:tab pos="377126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#Act-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actually#,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what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week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It’s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Friday.</a:t>
            </a:r>
            <a:endParaRPr sz="36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  <a:spcBef>
                <a:spcPts val="15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Uh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hmm.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would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consider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staying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there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extra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til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Sunday.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OK...OK.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Sunday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have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...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25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76" rIns="0" bIns="0" rtlCol="0">
            <a:spAutoFit/>
          </a:bodyPr>
          <a:lstStyle/>
          <a:p>
            <a:pPr marL="897255">
              <a:lnSpc>
                <a:spcPct val="100000"/>
              </a:lnSpc>
              <a:spcBef>
                <a:spcPts val="100"/>
              </a:spcBef>
            </a:pPr>
            <a:r>
              <a:rPr sz="5300" spc="-110" dirty="0">
                <a:latin typeface="Franklin Gothic Medium"/>
                <a:cs typeface="Franklin Gothic Medium"/>
              </a:rPr>
              <a:t>Clarification</a:t>
            </a:r>
            <a:r>
              <a:rPr sz="5300" spc="-135" dirty="0">
                <a:latin typeface="Franklin Gothic Medium"/>
                <a:cs typeface="Franklin Gothic Medium"/>
              </a:rPr>
              <a:t> </a:t>
            </a:r>
            <a:r>
              <a:rPr sz="5300" spc="-70" dirty="0">
                <a:latin typeface="Franklin Gothic Medium"/>
                <a:cs typeface="Franklin Gothic Medium"/>
              </a:rPr>
              <a:t>Subdialogues</a:t>
            </a:r>
            <a:endParaRPr sz="53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4039" y="2159507"/>
            <a:ext cx="12708255" cy="27171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have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UNKNOWN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WORD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</a:t>
            </a:r>
            <a:endParaRPr sz="3800">
              <a:latin typeface="Calibri"/>
              <a:cs typeface="Calibri"/>
            </a:endParaRPr>
          </a:p>
          <a:p>
            <a:pPr marL="561340" marR="3602354">
              <a:lnSpc>
                <a:spcPts val="5210"/>
              </a:lnSpc>
              <a:spcBef>
                <a:spcPts val="65"/>
              </a:spcBef>
              <a:tabLst>
                <a:tab pos="2324100" algn="l"/>
              </a:tabLst>
            </a:pP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spc="-10" dirty="0">
                <a:latin typeface="Calibri"/>
                <a:cs typeface="Calibri"/>
              </a:rPr>
              <a:t>:</a:t>
            </a:r>
            <a:r>
              <a:rPr sz="3800" dirty="0">
                <a:latin typeface="Calibri"/>
                <a:cs typeface="Calibri"/>
              </a:rPr>
              <a:t>	Let’s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see, going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where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Hong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Kong.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OK,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here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some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flights...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6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800" spc="-65" dirty="0"/>
              <a:t>Presequences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304042" y="1550416"/>
            <a:ext cx="11897995" cy="375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84525">
              <a:lnSpc>
                <a:spcPct val="157200"/>
              </a:lnSpc>
              <a:spcBef>
                <a:spcPts val="100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reservations?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Yes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can.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5090"/>
              </a:lnSpc>
              <a:spcBef>
                <a:spcPts val="3025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Great,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404040"/>
                </a:solidFill>
                <a:latin typeface="Calibri"/>
                <a:cs typeface="Calibri"/>
              </a:rPr>
              <a:t>I’d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reserve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seat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4pm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train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 York.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050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Conversational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Initiative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378563"/>
            <a:ext cx="12919075" cy="604837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controlled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person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interviewing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3400" b="1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(Walker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Whittaker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1990)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3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lead.</a:t>
            </a:r>
            <a:endParaRPr sz="2900">
              <a:latin typeface="Calibri"/>
              <a:cs typeface="Calibri"/>
            </a:endParaRPr>
          </a:p>
          <a:p>
            <a:pPr marL="561340" marR="704850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NLP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systems,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often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styles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frustrating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humans: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ts val="4040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(user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commands,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responds)</a:t>
            </a:r>
            <a:endParaRPr sz="3400">
              <a:latin typeface="Calibri"/>
              <a:cs typeface="Calibri"/>
            </a:endParaRPr>
          </a:p>
          <a:p>
            <a:pPr marL="1037590" marR="200025" lvl="1" indent="-548640">
              <a:lnSpc>
                <a:spcPts val="3720"/>
              </a:lnSpc>
              <a:spcBef>
                <a:spcPts val="54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b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(system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form,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can't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direction)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7415" algn="l"/>
              </a:tabLst>
            </a:pPr>
            <a:r>
              <a:rPr spc="-50" dirty="0"/>
              <a:t>Even</a:t>
            </a:r>
            <a:r>
              <a:rPr spc="-215" dirty="0"/>
              <a:t> </a:t>
            </a:r>
            <a:r>
              <a:rPr spc="-25" dirty="0"/>
              <a:t>harder</a:t>
            </a:r>
            <a:r>
              <a:rPr spc="-220" dirty="0"/>
              <a:t> </a:t>
            </a:r>
            <a:r>
              <a:rPr spc="-10" dirty="0"/>
              <a:t>problems:</a:t>
            </a:r>
            <a:r>
              <a:rPr dirty="0"/>
              <a:t>	</a:t>
            </a:r>
            <a:r>
              <a:rPr spc="-55" dirty="0"/>
              <a:t>Inference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925319"/>
            <a:ext cx="11789410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 indent="-10160" algn="just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Agent: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And,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travel?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Client: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OK,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meeting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that’s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12th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15th.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0467" y="184403"/>
            <a:ext cx="67773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ELIZA:</a:t>
            </a:r>
            <a:r>
              <a:rPr spc="-229" dirty="0"/>
              <a:t> </a:t>
            </a:r>
            <a:r>
              <a:rPr spc="-50" dirty="0"/>
              <a:t>Weizenbaum</a:t>
            </a:r>
            <a:r>
              <a:rPr spc="-204" dirty="0"/>
              <a:t> </a:t>
            </a:r>
            <a:r>
              <a:rPr spc="-10" dirty="0"/>
              <a:t>(1966)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763523"/>
            <a:ext cx="18154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Men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alike.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 WAY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580" y="1336548"/>
            <a:ext cx="5561965" cy="299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They're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always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bugging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other.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CAN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SPECIFIC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12700" marR="1120775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Well,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made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come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here.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He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says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I'm</a:t>
            </a:r>
            <a:r>
              <a:rPr sz="20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depressed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SORRY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HEAR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DEPRESSED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spc="-25" dirty="0">
                <a:solidFill>
                  <a:srgbClr val="595959"/>
                </a:solidFill>
                <a:latin typeface="Calibri"/>
                <a:cs typeface="Calibri"/>
              </a:rPr>
              <a:t>...</a:t>
            </a:r>
            <a:endParaRPr sz="1200">
              <a:latin typeface="Calibri"/>
              <a:cs typeface="Calibri"/>
            </a:endParaRPr>
          </a:p>
          <a:p>
            <a:pPr marL="12700" marR="1740535">
              <a:lnSpc>
                <a:spcPts val="2810"/>
              </a:lnSpc>
              <a:spcBef>
                <a:spcPts val="4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 like my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ways.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RESEMBLANCE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580" y="4308347"/>
            <a:ext cx="10528935" cy="3579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1465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aggressive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think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notice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that.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MAKES YOU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NOT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AGGRESSIVE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argue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WHY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DON’T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ARGUE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IT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BELIEVE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I’M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AFRAID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everybody.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ELSE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COMES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MIND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WHEN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FATHER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Bullies.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HAVE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ANYTHING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FACT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2307" y="2212847"/>
            <a:ext cx="6237605" cy="8058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700" spc="-20" dirty="0">
                <a:latin typeface="Arial MT"/>
                <a:cs typeface="Arial MT"/>
              </a:rPr>
              <a:t>Weizenbaum,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Joseph.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1966,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"ELIZA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-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Computer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Program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Study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Natural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Language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Between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Man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Machine",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9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(1):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36-</a:t>
            </a:r>
            <a:r>
              <a:rPr sz="1700" spc="-25" dirty="0">
                <a:latin typeface="Arial MT"/>
                <a:cs typeface="Arial MT"/>
              </a:rPr>
              <a:t>45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50" dirty="0"/>
              <a:t>ELIZA's</a:t>
            </a:r>
            <a:r>
              <a:rPr sz="4600" spc="-160" dirty="0"/>
              <a:t> </a:t>
            </a:r>
            <a:r>
              <a:rPr sz="4600" spc="-45" dirty="0"/>
              <a:t>trick:</a:t>
            </a:r>
            <a:r>
              <a:rPr sz="4600" spc="-150" dirty="0"/>
              <a:t> </a:t>
            </a:r>
            <a:r>
              <a:rPr sz="4600" dirty="0"/>
              <a:t>be</a:t>
            </a:r>
            <a:r>
              <a:rPr sz="4600" spc="-175" dirty="0"/>
              <a:t> </a:t>
            </a:r>
            <a:r>
              <a:rPr sz="4600" dirty="0"/>
              <a:t>a</a:t>
            </a:r>
            <a:r>
              <a:rPr sz="4600" spc="-170" dirty="0"/>
              <a:t> </a:t>
            </a:r>
            <a:r>
              <a:rPr sz="4600" spc="-85" dirty="0"/>
              <a:t>Rogerian</a:t>
            </a:r>
            <a:r>
              <a:rPr sz="4600" spc="-165" dirty="0"/>
              <a:t> </a:t>
            </a:r>
            <a:r>
              <a:rPr sz="4600" spc="-55" dirty="0"/>
              <a:t>psychologist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75795" cy="2625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248793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Draw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patient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out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patient’s statements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back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endParaRPr sz="4300">
              <a:latin typeface="Calibri"/>
              <a:cs typeface="Calibri"/>
            </a:endParaRPr>
          </a:p>
          <a:p>
            <a:pPr marL="12700" marR="5080">
              <a:lnSpc>
                <a:spcPts val="4700"/>
              </a:lnSpc>
              <a:spcBef>
                <a:spcPts val="12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“assume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pose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almost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real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world”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Rogerian</a:t>
            </a:r>
            <a:r>
              <a:rPr sz="4600" spc="-185" dirty="0"/>
              <a:t> </a:t>
            </a:r>
            <a:r>
              <a:rPr sz="4600" spc="-65" dirty="0"/>
              <a:t>psychologist</a:t>
            </a:r>
            <a:endParaRPr sz="4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341630" marR="4227830">
              <a:lnSpc>
                <a:spcPts val="4700"/>
              </a:lnSpc>
              <a:spcBef>
                <a:spcPts val="140"/>
              </a:spcBef>
            </a:pPr>
            <a:r>
              <a:rPr sz="3800" dirty="0">
                <a:solidFill>
                  <a:srgbClr val="595959"/>
                </a:solidFill>
              </a:rPr>
              <a:t>Patient: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"I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went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for</a:t>
            </a:r>
            <a:r>
              <a:rPr sz="3800" spc="-2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long boat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ride” </a:t>
            </a:r>
            <a:r>
              <a:rPr sz="3800" dirty="0">
                <a:solidFill>
                  <a:srgbClr val="595959"/>
                </a:solidFill>
              </a:rPr>
              <a:t>Psychologist:</a:t>
            </a:r>
            <a:r>
              <a:rPr sz="3800" spc="-5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"Tell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me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about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boats”</a:t>
            </a:r>
            <a:endParaRPr sz="3800"/>
          </a:p>
          <a:p>
            <a:pPr marL="12700" marR="2081530">
              <a:lnSpc>
                <a:spcPct val="120500"/>
              </a:lnSpc>
              <a:spcBef>
                <a:spcPts val="1935"/>
              </a:spcBef>
            </a:pP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don’t assume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didn’t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know</a:t>
            </a:r>
            <a:r>
              <a:rPr sz="3800" spc="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what a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boat </a:t>
            </a:r>
            <a:r>
              <a:rPr sz="3800" spc="-25" dirty="0">
                <a:solidFill>
                  <a:srgbClr val="595959"/>
                </a:solidFill>
              </a:rPr>
              <a:t>is </a:t>
            </a: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assume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had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some</a:t>
            </a:r>
            <a:r>
              <a:rPr sz="3800" spc="-4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conversational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goal</a:t>
            </a:r>
            <a:endParaRPr sz="3800"/>
          </a:p>
          <a:p>
            <a:pPr marL="22225" marR="5080" indent="-10160">
              <a:lnSpc>
                <a:spcPts val="4079"/>
              </a:lnSpc>
              <a:spcBef>
                <a:spcPts val="1375"/>
              </a:spcBef>
            </a:pPr>
            <a:r>
              <a:rPr sz="3800" dirty="0">
                <a:solidFill>
                  <a:srgbClr val="595959"/>
                </a:solidFill>
              </a:rPr>
              <a:t>Chatbots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trying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to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pass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the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Turing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test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usually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choose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some </a:t>
            </a:r>
            <a:r>
              <a:rPr sz="3800" dirty="0">
                <a:solidFill>
                  <a:srgbClr val="595959"/>
                </a:solidFill>
              </a:rPr>
              <a:t>such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domain</a:t>
            </a:r>
            <a:endParaRPr sz="3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25" dirty="0"/>
              <a:t> </a:t>
            </a:r>
            <a:r>
              <a:rPr spc="-60" dirty="0"/>
              <a:t>pattern/transform</a:t>
            </a:r>
            <a:r>
              <a:rPr spc="-204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80539"/>
            <a:ext cx="9923780" cy="17570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7929245" algn="l"/>
              </a:tabLst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ourier New"/>
                <a:cs typeface="Courier New"/>
              </a:rPr>
              <a:t>ME)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	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400" spc="-50" dirty="0">
                <a:solidFill>
                  <a:srgbClr val="E48312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(WHAT</a:t>
            </a:r>
            <a:r>
              <a:rPr sz="3400" spc="-16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MAKES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THINK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3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YOU)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4084827"/>
            <a:ext cx="6476365" cy="30048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42354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0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	means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Kleene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*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constituent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You</a:t>
            </a:r>
            <a:r>
              <a:rPr sz="3800" spc="114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hate</a:t>
            </a:r>
            <a:r>
              <a:rPr sz="3800" spc="12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spc="-3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WHAT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MAKES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THINK</a:t>
            </a:r>
            <a:r>
              <a:rPr sz="3800" spc="14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60" dirty="0">
                <a:solidFill>
                  <a:srgbClr val="00B050"/>
                </a:solidFill>
                <a:latin typeface="Courier New"/>
                <a:cs typeface="Courier New"/>
              </a:rPr>
              <a:t>I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1609" y="6484620"/>
            <a:ext cx="23729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HATE</a:t>
            </a:r>
            <a:r>
              <a:rPr sz="3800" spc="1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50" dirty="0"/>
              <a:t> </a:t>
            </a:r>
            <a:r>
              <a:rPr spc="-20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038" y="6122821"/>
            <a:ext cx="6943920" cy="19362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3763" y="1692147"/>
            <a:ext cx="1021397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45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Rules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are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35" dirty="0">
                <a:latin typeface="Calibri"/>
                <a:cs typeface="Calibri"/>
              </a:rPr>
              <a:t>organized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by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keywords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latin typeface="Calibri"/>
                <a:cs typeface="Calibri"/>
              </a:rPr>
              <a:t>Each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40" dirty="0">
                <a:latin typeface="Calibri"/>
                <a:cs typeface="Calibri"/>
              </a:rPr>
              <a:t>keyword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pattern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list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of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possible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transform</a:t>
            </a:r>
            <a:endParaRPr sz="3400">
              <a:latin typeface="Calibri"/>
              <a:cs typeface="Calibri"/>
            </a:endParaRPr>
          </a:p>
          <a:p>
            <a:pPr marL="51435">
              <a:lnSpc>
                <a:spcPts val="4045"/>
              </a:lnSpc>
              <a:spcBef>
                <a:spcPts val="3165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Keyword: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spc="-25" dirty="0">
                <a:latin typeface="Courier New"/>
                <a:cs typeface="Courier New"/>
              </a:rPr>
              <a:t>YOU</a:t>
            </a:r>
            <a:endParaRPr sz="3400">
              <a:latin typeface="Courier New"/>
              <a:cs typeface="Courier New"/>
            </a:endParaRPr>
          </a:p>
          <a:p>
            <a:pPr marL="51435">
              <a:lnSpc>
                <a:spcPts val="4010"/>
              </a:lnSpc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Pattern: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spc="-25" dirty="0">
                <a:latin typeface="Courier New"/>
                <a:cs typeface="Courier New"/>
              </a:rPr>
              <a:t>ME)</a:t>
            </a:r>
            <a:endParaRPr sz="3400">
              <a:latin typeface="Courier New"/>
              <a:cs typeface="Courier New"/>
            </a:endParaRPr>
          </a:p>
          <a:p>
            <a:pPr marL="2245995" marR="300990" indent="-2194560">
              <a:lnSpc>
                <a:spcPts val="3979"/>
              </a:lnSpc>
              <a:spcBef>
                <a:spcPts val="180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Transforms: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(WHAT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MAKES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 </a:t>
            </a:r>
            <a:r>
              <a:rPr sz="3400" dirty="0">
                <a:latin typeface="Courier New"/>
                <a:cs typeface="Courier New"/>
              </a:rPr>
              <a:t>(WHY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DO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</a:t>
            </a:r>
            <a:endParaRPr sz="3400">
              <a:latin typeface="Courier New"/>
              <a:cs typeface="Courier New"/>
            </a:endParaRPr>
          </a:p>
          <a:p>
            <a:pPr marL="944244">
              <a:lnSpc>
                <a:spcPct val="100000"/>
              </a:lnSpc>
              <a:spcBef>
                <a:spcPts val="2670"/>
              </a:spcBef>
              <a:tabLst>
                <a:tab pos="2482215" algn="l"/>
                <a:tab pos="3907790" algn="l"/>
              </a:tabLst>
            </a:pP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keyword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4350" spc="-15" baseline="1915" dirty="0">
                <a:solidFill>
                  <a:srgbClr val="0070C0"/>
                </a:solidFill>
                <a:latin typeface="Calibri"/>
                <a:cs typeface="Calibri"/>
              </a:rPr>
              <a:t>pattern</a:t>
            </a:r>
            <a:r>
              <a:rPr sz="4350" baseline="1915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list</a:t>
            </a:r>
            <a:r>
              <a:rPr sz="29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9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transforms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76783"/>
            <a:ext cx="1186878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85" dirty="0"/>
              <a:t>Keywords</a:t>
            </a:r>
            <a:r>
              <a:rPr sz="5300" spc="-215" dirty="0"/>
              <a:t> </a:t>
            </a:r>
            <a:r>
              <a:rPr sz="5300" spc="-20" dirty="0"/>
              <a:t>are</a:t>
            </a:r>
            <a:r>
              <a:rPr sz="5300" spc="-215" dirty="0"/>
              <a:t> </a:t>
            </a:r>
            <a:r>
              <a:rPr sz="5300" spc="-90" dirty="0"/>
              <a:t>ranked</a:t>
            </a:r>
            <a:r>
              <a:rPr sz="5300" spc="-210" dirty="0"/>
              <a:t> </a:t>
            </a:r>
            <a:r>
              <a:rPr sz="5300" spc="-40" dirty="0"/>
              <a:t>from</a:t>
            </a:r>
            <a:r>
              <a:rPr sz="5300" spc="-225" dirty="0"/>
              <a:t> </a:t>
            </a:r>
            <a:r>
              <a:rPr sz="5300" spc="-40" dirty="0"/>
              <a:t>specific</a:t>
            </a:r>
            <a:r>
              <a:rPr sz="5300" spc="-204" dirty="0"/>
              <a:t> </a:t>
            </a:r>
            <a:r>
              <a:rPr sz="5300" dirty="0"/>
              <a:t>to</a:t>
            </a:r>
            <a:r>
              <a:rPr sz="5300" spc="-204" dirty="0"/>
              <a:t> </a:t>
            </a:r>
            <a:r>
              <a:rPr sz="5300" spc="-10" dirty="0"/>
              <a:t>general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718819" y="1285443"/>
            <a:ext cx="11837670" cy="394398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445"/>
              </a:spcBef>
            </a:pP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User: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I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know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everybody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laughed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at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“I”</a:t>
            </a:r>
            <a:r>
              <a:rPr sz="40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general:</a:t>
            </a:r>
            <a:endParaRPr sz="40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4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I: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(I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*)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-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(YOU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SAY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595959"/>
                </a:solidFill>
                <a:latin typeface="Courier New"/>
                <a:cs typeface="Courier New"/>
              </a:rPr>
              <a:t>2)</a:t>
            </a:r>
            <a:endParaRPr sz="31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575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SAY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KNOW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EVERYBODY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LAUGHED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AT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YOU</a:t>
            </a:r>
            <a:endParaRPr sz="3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“Everybody”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40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interesting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4599" y="5277611"/>
            <a:ext cx="24485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THINKING</a:t>
            </a:r>
            <a:r>
              <a:rPr sz="26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OF)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819" y="5226058"/>
            <a:ext cx="11123295" cy="10071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Everybody: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(Everybody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*)</a:t>
            </a:r>
            <a:r>
              <a:rPr sz="2600" spc="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-&gt;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(WHO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IN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PARTICULAR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ARE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endParaRPr sz="26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484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WHO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IN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PARTICULAR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ARE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THINKING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OF?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6386067"/>
            <a:ext cx="10037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solidFill>
                  <a:srgbClr val="595959"/>
                </a:solidFill>
                <a:latin typeface="Calibri"/>
                <a:cs typeface="Calibri"/>
              </a:rPr>
              <a:t>Implementation: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595959"/>
                </a:solidFill>
                <a:latin typeface="Calibri"/>
                <a:cs typeface="Calibri"/>
              </a:rPr>
              <a:t>keywords</a:t>
            </a:r>
            <a:r>
              <a:rPr sz="40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stored</a:t>
            </a:r>
            <a:r>
              <a:rPr sz="40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rank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344" y="6954519"/>
            <a:ext cx="216852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100"/>
              </a:spcBef>
            </a:pP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Everybody </a:t>
            </a:r>
            <a:r>
              <a:rPr sz="3100" spc="-5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5825" y="6954519"/>
            <a:ext cx="1748789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5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0703" y="6954519"/>
            <a:ext cx="4130675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6847" y="6954519"/>
            <a:ext cx="150939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515">
              <a:lnSpc>
                <a:spcPct val="118700"/>
              </a:lnSpc>
              <a:spcBef>
                <a:spcPts val="100"/>
              </a:spcBef>
            </a:pP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</a:t>
            </a:r>
            <a:endParaRPr sz="3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925" y="359625"/>
            <a:ext cx="13623290" cy="7395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b="1" dirty="0">
                <a:latin typeface="Times New Roman"/>
                <a:cs typeface="Times New Roman"/>
              </a:rPr>
              <a:t>function </a:t>
            </a:r>
            <a:r>
              <a:rPr sz="3250" spc="11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LIZA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3250" spc="55" dirty="0">
                <a:latin typeface="Times New Roman"/>
                <a:cs typeface="Times New Roman"/>
              </a:rPr>
              <a:t>G</a:t>
            </a:r>
            <a:r>
              <a:rPr sz="2600" spc="55" dirty="0">
                <a:latin typeface="Times New Roman"/>
                <a:cs typeface="Times New Roman"/>
              </a:rPr>
              <a:t>ENERATOR</a:t>
            </a:r>
            <a:r>
              <a:rPr sz="3250" spc="55" dirty="0">
                <a:latin typeface="Times New Roman"/>
                <a:cs typeface="Times New Roman"/>
              </a:rPr>
              <a:t>(user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dirty="0">
                <a:latin typeface="Times New Roman"/>
                <a:cs typeface="Times New Roman"/>
              </a:rPr>
              <a:t>)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b="1" spc="-10" dirty="0">
                <a:latin typeface="Times New Roman"/>
                <a:cs typeface="Times New Roman"/>
              </a:rPr>
              <a:t>returns</a:t>
            </a:r>
            <a:r>
              <a:rPr sz="3250" b="1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3250" dirty="0">
                <a:latin typeface="Times New Roman"/>
                <a:cs typeface="Times New Roman"/>
              </a:rPr>
              <a:t>Find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word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i="1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has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rank</a:t>
            </a:r>
            <a:endParaRPr sz="32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65"/>
              </a:spcBef>
              <a:tabLst>
                <a:tab pos="77724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exists</a:t>
            </a:r>
            <a:endParaRPr sz="3250">
              <a:latin typeface="Times New Roman"/>
              <a:cs typeface="Times New Roman"/>
            </a:endParaRPr>
          </a:p>
          <a:p>
            <a:pPr marL="1040130" marR="2574925">
              <a:lnSpc>
                <a:spcPct val="101600"/>
              </a:lnSpc>
            </a:pPr>
            <a:r>
              <a:rPr sz="3250" dirty="0">
                <a:latin typeface="Times New Roman"/>
                <a:cs typeface="Times New Roman"/>
              </a:rPr>
              <a:t>Choose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ranked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matches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 </a:t>
            </a: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040130">
              <a:lnSpc>
                <a:spcPct val="100000"/>
              </a:lnSpc>
              <a:spcBef>
                <a:spcPts val="65"/>
              </a:spcBef>
              <a:tabLst>
                <a:tab pos="149733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=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‘my’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  <a:tabLst>
                <a:tab pos="4645660" algn="l"/>
              </a:tabLst>
            </a:pPr>
            <a:r>
              <a:rPr sz="3250" i="1" spc="-40" dirty="0">
                <a:latin typeface="Times New Roman"/>
                <a:cs typeface="Times New Roman"/>
              </a:rPr>
              <a:t>future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a</a:t>
            </a:r>
            <a:r>
              <a:rPr sz="3250" dirty="0">
                <a:latin typeface="Times New Roman"/>
                <a:cs typeface="Times New Roman"/>
              </a:rPr>
              <a:t>	transformation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‘memory’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list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</a:pPr>
            <a:r>
              <a:rPr sz="3250" dirty="0">
                <a:latin typeface="Times New Roman"/>
                <a:cs typeface="Times New Roman"/>
              </a:rPr>
              <a:t>Push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future</a:t>
            </a:r>
            <a:r>
              <a:rPr sz="3250" i="1" spc="-1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onto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423545">
              <a:lnSpc>
                <a:spcPct val="100000"/>
              </a:lnSpc>
              <a:spcBef>
                <a:spcPts val="65"/>
              </a:spcBef>
            </a:pPr>
            <a:r>
              <a:rPr sz="3250" b="1" dirty="0">
                <a:latin typeface="Times New Roman"/>
                <a:cs typeface="Times New Roman"/>
              </a:rPr>
              <a:t>else</a:t>
            </a:r>
            <a:r>
              <a:rPr sz="3250" b="1" spc="-9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(no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applies)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0"/>
              </a:spcBef>
            </a:pPr>
            <a:r>
              <a:rPr sz="3250" b="1" spc="-10" dirty="0">
                <a:latin typeface="Times New Roman"/>
                <a:cs typeface="Times New Roman"/>
              </a:rPr>
              <a:t>either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12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NONE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5"/>
              </a:spcBef>
            </a:pPr>
            <a:r>
              <a:rPr sz="3250" b="1" spc="-25" dirty="0">
                <a:latin typeface="Times New Roman"/>
                <a:cs typeface="Times New Roman"/>
              </a:rPr>
              <a:t>or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Pop</a:t>
            </a:r>
            <a:r>
              <a:rPr sz="3250" spc="-10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top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response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5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  <a:spcBef>
                <a:spcPts val="65"/>
              </a:spcBef>
            </a:pPr>
            <a:r>
              <a:rPr sz="3250" b="1" spc="-10" dirty="0">
                <a:latin typeface="Times New Roman"/>
                <a:cs typeface="Times New Roman"/>
              </a:rPr>
              <a:t>return</a:t>
            </a:r>
            <a:r>
              <a:rPr sz="3250" spc="-10" dirty="0">
                <a:latin typeface="Times New Roman"/>
                <a:cs typeface="Times New Roman"/>
              </a:rPr>
              <a:t>(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r>
              <a:rPr sz="3250" spc="-10" dirty="0">
                <a:latin typeface="Times New Roman"/>
                <a:cs typeface="Times New Roman"/>
              </a:rPr>
              <a:t>)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0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NONE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7172"/>
            <a:ext cx="5253355" cy="21075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GO</a:t>
            </a:r>
            <a:r>
              <a:rPr sz="38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ON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THAT’S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VERY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B050"/>
                </a:solidFill>
                <a:latin typeface="Calibri"/>
                <a:cs typeface="Calibri"/>
              </a:rPr>
              <a:t>INTERESTING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1983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496568"/>
            <a:ext cx="12950825" cy="601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00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(MEMORY</a:t>
            </a:r>
            <a:r>
              <a:rPr sz="2900" spc="-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ts val="3085"/>
              </a:lnSpc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LETS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DISCUSS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FURTHER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WHY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ct val="100000"/>
              </a:lnSpc>
              <a:spcBef>
                <a:spcPts val="62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EARLIER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SAID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12700" marR="5080" indent="219075">
              <a:lnSpc>
                <a:spcPts val="2810"/>
              </a:lnSpc>
              <a:spcBef>
                <a:spcPts val="117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DOES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THAT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HAVE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ANYTHING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WITH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FACT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ourier New"/>
                <a:cs typeface="Courier New"/>
              </a:rPr>
              <a:t>THAT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3))</a:t>
            </a:r>
            <a:endParaRPr sz="2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ts val="437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Whenever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“MY”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highest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397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Randomly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select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list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054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Apply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210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(first-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first-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r>
              <a:rPr sz="36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85"/>
              </a:lnSpc>
              <a:spcBef>
                <a:spcPts val="475"/>
              </a:spcBef>
            </a:pP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Later,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matches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414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top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instead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7" y="570483"/>
            <a:ext cx="118497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90" dirty="0"/>
              <a:t> </a:t>
            </a:r>
            <a:r>
              <a:rPr sz="4600" spc="-65" dirty="0"/>
              <a:t>implications:</a:t>
            </a:r>
            <a:r>
              <a:rPr sz="4600" spc="-170" dirty="0"/>
              <a:t> </a:t>
            </a:r>
            <a:r>
              <a:rPr sz="4600" spc="-75" dirty="0"/>
              <a:t>Anthropomorphism</a:t>
            </a:r>
            <a:r>
              <a:rPr sz="4600" spc="-185" dirty="0"/>
              <a:t> </a:t>
            </a:r>
            <a:r>
              <a:rPr sz="4600" dirty="0"/>
              <a:t>and</a:t>
            </a:r>
            <a:r>
              <a:rPr sz="4600" spc="-180" dirty="0"/>
              <a:t> </a:t>
            </a:r>
            <a:r>
              <a:rPr sz="4600" spc="-10" dirty="0"/>
              <a:t>Privacy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733655" cy="5334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58559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became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deeply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emotionally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involved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program</a:t>
            </a:r>
            <a:endParaRPr sz="3800">
              <a:latin typeface="Calibri"/>
              <a:cs typeface="Calibri"/>
            </a:endParaRPr>
          </a:p>
          <a:p>
            <a:pPr marL="22225" marR="44259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Weizenbaum's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staff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room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when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talked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22225" marR="5080" indent="-10160">
              <a:lnSpc>
                <a:spcPct val="91100"/>
              </a:lnSpc>
              <a:spcBef>
                <a:spcPts val="119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 suggested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he might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 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analysis,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pointed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out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privacy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implications</a:t>
            </a:r>
            <a:endParaRPr sz="3800">
              <a:latin typeface="Calibri"/>
              <a:cs typeface="Calibri"/>
            </a:endParaRPr>
          </a:p>
          <a:p>
            <a:pPr marL="497840" marR="193675" indent="-304800">
              <a:lnSpc>
                <a:spcPts val="4100"/>
              </a:lnSpc>
              <a:spcBef>
                <a:spcPts val="5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Suggesting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having quite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conversations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Despite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software.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40" dirty="0"/>
              <a:t> </a:t>
            </a:r>
            <a:r>
              <a:rPr sz="4600" spc="-60" dirty="0"/>
              <a:t>implications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513331"/>
            <a:ext cx="12856845" cy="6350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worried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confided in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12700" marR="5080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misled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understood?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studied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face-to-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face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interaction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vital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also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develop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relationships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artifacts</a:t>
            </a:r>
            <a:endParaRPr sz="3800">
              <a:latin typeface="Calibri"/>
              <a:cs typeface="Calibri"/>
            </a:endParaRPr>
          </a:p>
          <a:p>
            <a:pPr marL="561340" marR="831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told 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kind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diary,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way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privately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explore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thoughts.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Importance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3800">
              <a:latin typeface="Calibri"/>
              <a:cs typeface="Calibri"/>
            </a:endParaRPr>
          </a:p>
          <a:p>
            <a:pPr marL="1365885" marR="3068955">
              <a:lnSpc>
                <a:spcPct val="101400"/>
              </a:lnSpc>
              <a:spcBef>
                <a:spcPts val="2405"/>
              </a:spcBef>
            </a:pPr>
            <a:r>
              <a:rPr sz="1400" dirty="0">
                <a:latin typeface="Times New Roman"/>
                <a:cs typeface="Times New Roman"/>
              </a:rPr>
              <a:t>Joseph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Weizenbaum.</a:t>
            </a:r>
            <a:r>
              <a:rPr sz="1400" spc="4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1976.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Computer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Power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Human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Reason:</a:t>
            </a:r>
            <a:r>
              <a:rPr sz="1400" i="1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From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Judgment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to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Calculation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4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Freeman. </a:t>
            </a: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2011.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Taking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Things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Interface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chapter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Life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Screen.</a:t>
            </a:r>
            <a:r>
              <a:rPr sz="1400" i="1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Simon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Schuster.</a:t>
            </a:r>
            <a:endParaRPr sz="1400">
              <a:latin typeface="Times New Roman"/>
              <a:cs typeface="Times New Roman"/>
            </a:endParaRPr>
          </a:p>
          <a:p>
            <a:pPr marL="136588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2007.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Authenticity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Interaction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Studies,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8(3),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pp.501-</a:t>
            </a:r>
            <a:r>
              <a:rPr sz="1400" spc="-25" dirty="0">
                <a:latin typeface="Times New Roman"/>
                <a:cs typeface="Times New Roman"/>
              </a:rPr>
              <a:t>517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8627" y="495300"/>
            <a:ext cx="120097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PARRY:</a:t>
            </a:r>
            <a:r>
              <a:rPr spc="-114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40" dirty="0"/>
              <a:t>computational</a:t>
            </a:r>
            <a:r>
              <a:rPr spc="-150" dirty="0"/>
              <a:t> </a:t>
            </a:r>
            <a:r>
              <a:rPr dirty="0"/>
              <a:t>model</a:t>
            </a:r>
            <a:r>
              <a:rPr spc="-14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spc="-10" dirty="0"/>
              <a:t>schizophrenia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72830"/>
            <a:ext cx="11495405" cy="5697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Another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 with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psychology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focus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ts val="3635"/>
              </a:lnSpc>
              <a:spcBef>
                <a:spcPts val="4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80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(1971).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paranoia.</a:t>
            </a:r>
            <a:endParaRPr sz="3400">
              <a:latin typeface="Calibri"/>
              <a:cs typeface="Calibri"/>
            </a:endParaRPr>
          </a:p>
          <a:p>
            <a:pPr marL="560705">
              <a:lnSpc>
                <a:spcPts val="3635"/>
              </a:lnSpc>
            </a:pP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spc="-25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dirty="0">
                <a:solidFill>
                  <a:srgbClr val="595959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(1),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1–25.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 to study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schizophrenia</a:t>
            </a:r>
            <a:endParaRPr sz="3800">
              <a:latin typeface="Calibri"/>
              <a:cs typeface="Calibri"/>
            </a:endParaRPr>
          </a:p>
          <a:p>
            <a:pPr marL="12700" marR="3411220">
              <a:lnSpc>
                <a:spcPct val="107400"/>
              </a:lnSpc>
              <a:spcBef>
                <a:spcPts val="9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richer: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07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control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capabilities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state.</a:t>
            </a:r>
            <a:endParaRPr sz="3800">
              <a:latin typeface="Calibri"/>
              <a:cs typeface="Calibri"/>
            </a:endParaRPr>
          </a:p>
          <a:p>
            <a:pPr marL="631190" lvl="2" indent="-274320">
              <a:lnSpc>
                <a:spcPts val="443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modeling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Affect</a:t>
            </a:r>
            <a:r>
              <a:rPr spc="-180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0" y="1784604"/>
            <a:ext cx="12118340" cy="559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980" algn="l"/>
                <a:tab pos="4508500" algn="l"/>
                <a:tab pos="8997315" algn="l"/>
                <a:tab pos="10916285" algn="l"/>
              </a:tabLst>
            </a:pPr>
            <a:r>
              <a:rPr sz="3800" b="1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r>
              <a:rPr sz="3800" b="1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15)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3800">
              <a:latin typeface="Calibri"/>
              <a:cs typeface="Calibri"/>
            </a:endParaRPr>
          </a:p>
          <a:p>
            <a:pPr marL="12700" marR="6885305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Start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variables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low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statement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change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E.g.,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Insults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Flattery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decreases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his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delusions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Else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malevolent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drop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283971"/>
            <a:ext cx="1206754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>
                <a:solidFill>
                  <a:srgbClr val="404040"/>
                </a:solidFill>
              </a:rPr>
              <a:t>Parry's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0" dirty="0">
                <a:solidFill>
                  <a:srgbClr val="404040"/>
                </a:solidFill>
              </a:rPr>
              <a:t>responses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20" dirty="0">
                <a:solidFill>
                  <a:srgbClr val="404040"/>
                </a:solidFill>
              </a:rPr>
              <a:t>depend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dirty="0">
                <a:solidFill>
                  <a:srgbClr val="404040"/>
                </a:solidFill>
              </a:rPr>
              <a:t>on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5" dirty="0">
                <a:solidFill>
                  <a:srgbClr val="404040"/>
                </a:solidFill>
              </a:rPr>
              <a:t>mental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40" dirty="0">
                <a:solidFill>
                  <a:srgbClr val="404040"/>
                </a:solidFill>
              </a:rPr>
              <a:t>state</a:t>
            </a:r>
            <a:endParaRPr sz="5800"/>
          </a:p>
        </p:txBody>
      </p:sp>
      <p:grpSp>
        <p:nvGrpSpPr>
          <p:cNvPr id="3" name="object 3"/>
          <p:cNvGrpSpPr/>
          <p:nvPr/>
        </p:nvGrpSpPr>
        <p:grpSpPr>
          <a:xfrm>
            <a:off x="5842634" y="2744229"/>
            <a:ext cx="3310890" cy="831850"/>
            <a:chOff x="5842634" y="2744229"/>
            <a:chExt cx="3310890" cy="831850"/>
          </a:xfrm>
        </p:grpSpPr>
        <p:sp>
          <p:nvSpPr>
            <p:cNvPr id="4" name="object 4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3291840" y="0"/>
                  </a:moveTo>
                  <a:lnTo>
                    <a:pt x="0" y="0"/>
                  </a:lnTo>
                  <a:lnTo>
                    <a:pt x="0" y="812406"/>
                  </a:lnTo>
                  <a:lnTo>
                    <a:pt x="3291840" y="812406"/>
                  </a:lnTo>
                  <a:lnTo>
                    <a:pt x="329184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0" y="0"/>
                  </a:moveTo>
                  <a:lnTo>
                    <a:pt x="3291840" y="0"/>
                  </a:lnTo>
                  <a:lnTo>
                    <a:pt x="3291840" y="812406"/>
                  </a:lnTo>
                  <a:lnTo>
                    <a:pt x="0" y="81240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0930" y="2685288"/>
            <a:ext cx="2316480" cy="8972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613410">
              <a:lnSpc>
                <a:spcPts val="3379"/>
              </a:lnSpc>
              <a:spcBef>
                <a:spcPts val="29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Modify Affect</a:t>
            </a:r>
            <a:r>
              <a:rPr sz="29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7520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574040" marR="170815" indent="-395605">
              <a:lnSpc>
                <a:spcPts val="3410"/>
              </a:lnSpc>
              <a:spcBef>
                <a:spcPts val="484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7520" y="5869745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2050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Escape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5864" y="4536431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45134" marR="170815" indent="-266700">
              <a:lnSpc>
                <a:spcPts val="3410"/>
              </a:lnSpc>
              <a:spcBef>
                <a:spcPts val="480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anger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5664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Hostility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36411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36854" marR="161290" indent="-67310">
              <a:lnSpc>
                <a:spcPct val="100699"/>
              </a:lnSpc>
              <a:spcBef>
                <a:spcPts val="240"/>
              </a:spcBef>
            </a:pP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mentions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delusion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6886" y="4538974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2039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8119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045"/>
              </a:spcBef>
            </a:pP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86886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271" y="1528571"/>
            <a:ext cx="21075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Calibri"/>
                <a:cs typeface="Calibri"/>
              </a:rPr>
              <a:t>User </a:t>
            </a:r>
            <a:r>
              <a:rPr sz="3800" spc="-10" dirty="0"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98081" y="2090815"/>
            <a:ext cx="182880" cy="647065"/>
          </a:xfrm>
          <a:custGeom>
            <a:avLst/>
            <a:gdLst/>
            <a:ahLst/>
            <a:cxnLst/>
            <a:rect l="l" t="t" r="r" b="b"/>
            <a:pathLst>
              <a:path w="182879" h="647064">
                <a:moveTo>
                  <a:pt x="60959" y="464130"/>
                </a:moveTo>
                <a:lnTo>
                  <a:pt x="0" y="464130"/>
                </a:lnTo>
                <a:lnTo>
                  <a:pt x="91440" y="647010"/>
                </a:lnTo>
                <a:lnTo>
                  <a:pt x="167640" y="494610"/>
                </a:lnTo>
                <a:lnTo>
                  <a:pt x="60960" y="494610"/>
                </a:lnTo>
                <a:lnTo>
                  <a:pt x="60959" y="464130"/>
                </a:lnTo>
                <a:close/>
              </a:path>
              <a:path w="182879" h="647064">
                <a:moveTo>
                  <a:pt x="121918" y="0"/>
                </a:moveTo>
                <a:lnTo>
                  <a:pt x="60958" y="0"/>
                </a:lnTo>
                <a:lnTo>
                  <a:pt x="60960" y="494610"/>
                </a:lnTo>
                <a:lnTo>
                  <a:pt x="121920" y="494610"/>
                </a:lnTo>
                <a:lnTo>
                  <a:pt x="121918" y="0"/>
                </a:lnTo>
                <a:close/>
              </a:path>
              <a:path w="182879" h="647064">
                <a:moveTo>
                  <a:pt x="182880" y="464130"/>
                </a:moveTo>
                <a:lnTo>
                  <a:pt x="121919" y="464130"/>
                </a:lnTo>
                <a:lnTo>
                  <a:pt x="121920" y="494610"/>
                </a:lnTo>
                <a:lnTo>
                  <a:pt x="167640" y="494610"/>
                </a:lnTo>
                <a:lnTo>
                  <a:pt x="182880" y="46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4423" y="4670044"/>
            <a:ext cx="1666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latin typeface="Calibri"/>
                <a:cs typeface="Calibri"/>
              </a:rPr>
              <a:t>condition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0620" y="5919723"/>
            <a:ext cx="16040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latin typeface="Calibri"/>
                <a:cs typeface="Calibri"/>
              </a:rPr>
              <a:t>response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77768" y="5253735"/>
            <a:ext cx="5715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50" dirty="0">
                <a:latin typeface="Times New Roman"/>
                <a:cs typeface="Times New Roman"/>
              </a:rPr>
              <a:t>…</a:t>
            </a:r>
            <a:endParaRPr sz="4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33675" y="3497675"/>
            <a:ext cx="10662920" cy="3842385"/>
            <a:chOff x="2733675" y="3497675"/>
            <a:chExt cx="10662920" cy="3842385"/>
          </a:xfrm>
        </p:grpSpPr>
        <p:sp>
          <p:nvSpPr>
            <p:cNvPr id="21" name="object 21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4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4" y="3200399"/>
                  </a:lnTo>
                  <a:lnTo>
                    <a:pt x="2223634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876291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876291" y="3200399"/>
                  </a:lnTo>
                  <a:lnTo>
                    <a:pt x="876291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0" y="0"/>
                  </a:moveTo>
                  <a:lnTo>
                    <a:pt x="876296" y="0"/>
                  </a:lnTo>
                  <a:lnTo>
                    <a:pt x="876296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3380" y="3497681"/>
              <a:ext cx="8965565" cy="676275"/>
            </a:xfrm>
            <a:custGeom>
              <a:avLst/>
              <a:gdLst/>
              <a:ahLst/>
              <a:cxnLst/>
              <a:rect l="l" t="t" r="r" b="b"/>
              <a:pathLst>
                <a:path w="8965565" h="676275">
                  <a:moveTo>
                    <a:pt x="7207288" y="617131"/>
                  </a:moveTo>
                  <a:lnTo>
                    <a:pt x="7200036" y="612038"/>
                  </a:lnTo>
                  <a:lnTo>
                    <a:pt x="7067740" y="519353"/>
                  </a:lnTo>
                  <a:lnTo>
                    <a:pt x="7058787" y="579653"/>
                  </a:lnTo>
                  <a:lnTo>
                    <a:pt x="3605898" y="66636"/>
                  </a:lnTo>
                  <a:lnTo>
                    <a:pt x="3604044" y="51460"/>
                  </a:lnTo>
                  <a:lnTo>
                    <a:pt x="3549091" y="58204"/>
                  </a:lnTo>
                  <a:lnTo>
                    <a:pt x="3516934" y="53416"/>
                  </a:lnTo>
                  <a:lnTo>
                    <a:pt x="3515601" y="62306"/>
                  </a:lnTo>
                  <a:lnTo>
                    <a:pt x="3511829" y="62763"/>
                  </a:lnTo>
                  <a:lnTo>
                    <a:pt x="3507879" y="54851"/>
                  </a:lnTo>
                  <a:lnTo>
                    <a:pt x="3485629" y="65976"/>
                  </a:lnTo>
                  <a:lnTo>
                    <a:pt x="113626" y="479247"/>
                  </a:lnTo>
                  <a:lnTo>
                    <a:pt x="102108" y="497941"/>
                  </a:lnTo>
                  <a:lnTo>
                    <a:pt x="104178" y="514946"/>
                  </a:lnTo>
                  <a:lnTo>
                    <a:pt x="102095" y="497941"/>
                  </a:lnTo>
                  <a:lnTo>
                    <a:pt x="113626" y="479247"/>
                  </a:lnTo>
                  <a:lnTo>
                    <a:pt x="159740" y="404495"/>
                  </a:lnTo>
                  <a:lnTo>
                    <a:pt x="0" y="510438"/>
                  </a:lnTo>
                  <a:lnTo>
                    <a:pt x="180606" y="574675"/>
                  </a:lnTo>
                  <a:lnTo>
                    <a:pt x="119507" y="514946"/>
                  </a:lnTo>
                  <a:lnTo>
                    <a:pt x="117805" y="513283"/>
                  </a:lnTo>
                  <a:lnTo>
                    <a:pt x="3394100" y="111747"/>
                  </a:lnTo>
                  <a:lnTo>
                    <a:pt x="2546908" y="535343"/>
                  </a:lnTo>
                  <a:lnTo>
                    <a:pt x="2519642" y="480822"/>
                  </a:lnTo>
                  <a:lnTo>
                    <a:pt x="2417419" y="617131"/>
                  </a:lnTo>
                  <a:lnTo>
                    <a:pt x="2587802" y="617131"/>
                  </a:lnTo>
                  <a:lnTo>
                    <a:pt x="2563952" y="569417"/>
                  </a:lnTo>
                  <a:lnTo>
                    <a:pt x="2560536" y="562610"/>
                  </a:lnTo>
                  <a:lnTo>
                    <a:pt x="3484397" y="100672"/>
                  </a:lnTo>
                  <a:lnTo>
                    <a:pt x="3535070" y="94462"/>
                  </a:lnTo>
                  <a:lnTo>
                    <a:pt x="4612843" y="583298"/>
                  </a:lnTo>
                  <a:lnTo>
                    <a:pt x="4587672" y="638810"/>
                  </a:lnTo>
                  <a:lnTo>
                    <a:pt x="4757940" y="632371"/>
                  </a:lnTo>
                  <a:lnTo>
                    <a:pt x="4723244" y="589584"/>
                  </a:lnTo>
                  <a:lnTo>
                    <a:pt x="4650613" y="500024"/>
                  </a:lnTo>
                  <a:lnTo>
                    <a:pt x="4625441" y="555536"/>
                  </a:lnTo>
                  <a:lnTo>
                    <a:pt x="3620046" y="99555"/>
                  </a:lnTo>
                  <a:lnTo>
                    <a:pt x="7054304" y="609803"/>
                  </a:lnTo>
                  <a:lnTo>
                    <a:pt x="7045350" y="670102"/>
                  </a:lnTo>
                  <a:lnTo>
                    <a:pt x="7207288" y="617131"/>
                  </a:lnTo>
                  <a:close/>
                </a:path>
                <a:path w="8965565" h="676275">
                  <a:moveTo>
                    <a:pt x="8962212" y="615124"/>
                  </a:moveTo>
                  <a:lnTo>
                    <a:pt x="8822423" y="524268"/>
                  </a:lnTo>
                  <a:lnTo>
                    <a:pt x="8815565" y="584847"/>
                  </a:lnTo>
                  <a:lnTo>
                    <a:pt x="3647833" y="0"/>
                  </a:lnTo>
                  <a:lnTo>
                    <a:pt x="3644404" y="30289"/>
                  </a:lnTo>
                  <a:lnTo>
                    <a:pt x="8812136" y="615124"/>
                  </a:lnTo>
                  <a:lnTo>
                    <a:pt x="8827491" y="615124"/>
                  </a:lnTo>
                  <a:lnTo>
                    <a:pt x="8962212" y="615124"/>
                  </a:lnTo>
                  <a:close/>
                </a:path>
                <a:path w="8965565" h="676275">
                  <a:moveTo>
                    <a:pt x="8965286" y="617118"/>
                  </a:moveTo>
                  <a:lnTo>
                    <a:pt x="8964854" y="616839"/>
                  </a:lnTo>
                  <a:lnTo>
                    <a:pt x="8827300" y="616839"/>
                  </a:lnTo>
                  <a:lnTo>
                    <a:pt x="8811946" y="616839"/>
                  </a:lnTo>
                  <a:lnTo>
                    <a:pt x="8805291" y="675703"/>
                  </a:lnTo>
                  <a:lnTo>
                    <a:pt x="8965286" y="6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PARRY</a:t>
            </a:r>
            <a:r>
              <a:rPr spc="-180" dirty="0"/>
              <a:t> </a:t>
            </a:r>
            <a:r>
              <a:rPr spc="-10" dirty="0"/>
              <a:t>passes</a:t>
            </a:r>
            <a:r>
              <a:rPr spc="-19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spc="-75" dirty="0"/>
              <a:t>Turing</a:t>
            </a:r>
            <a:r>
              <a:rPr spc="-185" dirty="0"/>
              <a:t> </a:t>
            </a:r>
            <a:r>
              <a:rPr spc="-20" dirty="0"/>
              <a:t>test</a:t>
            </a:r>
            <a:r>
              <a:rPr spc="-195" dirty="0"/>
              <a:t> </a:t>
            </a:r>
            <a:r>
              <a:rPr dirty="0"/>
              <a:t>in</a:t>
            </a:r>
            <a:r>
              <a:rPr spc="-180" dirty="0"/>
              <a:t> </a:t>
            </a:r>
            <a:r>
              <a:rPr spc="-20" dirty="0"/>
              <a:t>1972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57679"/>
            <a:ext cx="12353925" cy="49904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pass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Turing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endParaRPr sz="4300">
              <a:latin typeface="Calibri"/>
              <a:cs typeface="Calibri"/>
            </a:endParaRPr>
          </a:p>
          <a:p>
            <a:pPr marL="22225" marR="59690" indent="-10160">
              <a:lnSpc>
                <a:spcPct val="90000"/>
              </a:lnSpc>
              <a:spcBef>
                <a:spcPts val="1355"/>
              </a:spcBef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Psychiatrists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couldn’t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distinguish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PARRY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(text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of)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people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diagnosed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paranoid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schizophrenia</a:t>
            </a:r>
            <a:endParaRPr sz="4300">
              <a:latin typeface="Calibri"/>
              <a:cs typeface="Calibri"/>
            </a:endParaRPr>
          </a:p>
          <a:p>
            <a:pPr marL="560705" marR="5080" indent="-548640">
              <a:lnSpc>
                <a:spcPct val="90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35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Kraemer,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(1972).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Turing-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indistinguishability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tests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validation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paranoid processes.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595959"/>
                </a:solidFill>
                <a:latin typeface="Calibri"/>
                <a:cs typeface="Calibri"/>
              </a:rPr>
              <a:t>Artificial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199–221.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210" dirty="0"/>
              <a:t> </a:t>
            </a:r>
            <a:r>
              <a:rPr spc="-45" dirty="0"/>
              <a:t>architectures</a:t>
            </a:r>
            <a:r>
              <a:rPr spc="-220" dirty="0"/>
              <a:t> </a:t>
            </a:r>
            <a:r>
              <a:rPr spc="-20" dirty="0"/>
              <a:t>for</a:t>
            </a:r>
            <a:r>
              <a:rPr spc="-215" dirty="0"/>
              <a:t> </a:t>
            </a:r>
            <a:r>
              <a:rPr spc="-55" dirty="0"/>
              <a:t>corpus-</a:t>
            </a:r>
            <a:r>
              <a:rPr dirty="0"/>
              <a:t>based</a:t>
            </a:r>
            <a:r>
              <a:rPr spc="-204" dirty="0"/>
              <a:t> </a:t>
            </a:r>
            <a:r>
              <a:rPr spc="-10" dirty="0"/>
              <a:t>chabots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49628"/>
            <a:ext cx="12189460" cy="407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35"/>
              </a:lnSpc>
              <a:spcBef>
                <a:spcPts val="10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endParaRPr sz="4800">
              <a:latin typeface="Calibri"/>
              <a:cs typeface="Calibri"/>
            </a:endParaRPr>
          </a:p>
          <a:p>
            <a:pPr marL="1174750" marR="5080" indent="-685800">
              <a:lnSpc>
                <a:spcPts val="4700"/>
              </a:lnSpc>
              <a:spcBef>
                <a:spcPts val="509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grab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(that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appropriate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context)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ts val="5720"/>
              </a:lnSpc>
              <a:spcBef>
                <a:spcPts val="77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generation</a:t>
            </a:r>
            <a:endParaRPr sz="4800">
              <a:latin typeface="Calibri"/>
              <a:cs typeface="Calibri"/>
            </a:endParaRPr>
          </a:p>
          <a:p>
            <a:pPr marL="1174750" marR="17780" indent="-685800">
              <a:lnSpc>
                <a:spcPts val="4610"/>
              </a:lnSpc>
              <a:spcBef>
                <a:spcPts val="575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Corpus-</a:t>
            </a:r>
            <a:r>
              <a:rPr dirty="0"/>
              <a:t>based</a:t>
            </a:r>
            <a:r>
              <a:rPr spc="-195" dirty="0"/>
              <a:t> </a:t>
            </a:r>
            <a:r>
              <a:rPr spc="-25" dirty="0"/>
              <a:t>chatbots</a:t>
            </a:r>
            <a:r>
              <a:rPr spc="-200" dirty="0"/>
              <a:t> </a:t>
            </a:r>
            <a:r>
              <a:rPr spc="-45" dirty="0"/>
              <a:t>require</a:t>
            </a:r>
            <a:r>
              <a:rPr spc="-204" dirty="0"/>
              <a:t> </a:t>
            </a:r>
            <a:r>
              <a:rPr spc="-10" dirty="0"/>
              <a:t>corpora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64359"/>
            <a:ext cx="11264900" cy="26225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98500" marR="388620" indent="-685800">
              <a:lnSpc>
                <a:spcPts val="4680"/>
              </a:lnSpc>
              <a:spcBef>
                <a:spcPts val="6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data- intensive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700"/>
              </a:lnSpc>
              <a:spcBef>
                <a:spcPts val="121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commonly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require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hundreds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millions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billions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words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20395"/>
            <a:ext cx="81565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15" dirty="0"/>
              <a:t> </a:t>
            </a:r>
            <a:r>
              <a:rPr spc="-60" dirty="0"/>
              <a:t>conversations</a:t>
            </a:r>
            <a:r>
              <a:rPr spc="-200" dirty="0"/>
              <a:t> </a:t>
            </a:r>
            <a:r>
              <a:rPr dirty="0"/>
              <a:t>to</a:t>
            </a:r>
            <a:r>
              <a:rPr spc="-204" dirty="0"/>
              <a:t> </a:t>
            </a:r>
            <a:r>
              <a:rPr spc="-10" dirty="0"/>
              <a:t>draw</a:t>
            </a:r>
            <a:r>
              <a:rPr spc="-190" dirty="0"/>
              <a:t> </a:t>
            </a:r>
            <a:r>
              <a:rPr spc="-25" dirty="0"/>
              <a:t>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387315"/>
            <a:ext cx="11846560" cy="63614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between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volunteers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Switchboard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English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Various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corpora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subtitles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  <a:spcBef>
                <a:spcPts val="484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Hire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crowdworkers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Topical-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Chat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11K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8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topics</a:t>
            </a:r>
            <a:endParaRPr sz="3100">
              <a:latin typeface="Calibri"/>
              <a:cs typeface="Calibri"/>
            </a:endParaRPr>
          </a:p>
          <a:p>
            <a:pPr marL="943610" marR="5080" indent="-548640">
              <a:lnSpc>
                <a:spcPts val="30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MPATHETIC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D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IALOGUES</a:t>
            </a:r>
            <a:r>
              <a:rPr sz="25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25K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grounded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a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situation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speaker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feeling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emotion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160"/>
              </a:lnSpc>
              <a:spcBef>
                <a:spcPts val="600"/>
              </a:spcBef>
            </a:pP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Pseudo-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posts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social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media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Drawn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Reddit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Weibo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(</a:t>
            </a:r>
            <a:r>
              <a:rPr sz="3100" dirty="0">
                <a:solidFill>
                  <a:srgbClr val="595959"/>
                </a:solidFill>
                <a:latin typeface="MS PGothic"/>
                <a:cs typeface="MS PGothic"/>
              </a:rPr>
              <a:t>微博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), etc.</a:t>
            </a:r>
            <a:endParaRPr sz="3100">
              <a:latin typeface="Calibri"/>
              <a:cs typeface="Calibri"/>
            </a:endParaRPr>
          </a:p>
          <a:p>
            <a:pPr marL="943610" indent="-548640">
              <a:lnSpc>
                <a:spcPts val="366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Tend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noisy;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pre-training.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Crucial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personally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identifiable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(PII)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0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10" dirty="0"/>
              <a:t>classic</a:t>
            </a:r>
            <a:r>
              <a:rPr spc="-18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61311"/>
            <a:ext cx="12234545" cy="3375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29920" marR="143319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29920" marR="50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(tf-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cosine)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2633" y="6207955"/>
            <a:ext cx="814069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i="1" spc="-25" dirty="0">
                <a:latin typeface="Times New Roman"/>
                <a:cs typeface="Times New Roman"/>
              </a:rPr>
              <a:t>r</a:t>
            </a:r>
            <a:r>
              <a:rPr sz="3700" i="1" spc="-25" dirty="0">
                <a:latin typeface="Verdana"/>
                <a:cs typeface="Verdana"/>
              </a:rPr>
              <a:t>2</a:t>
            </a:r>
            <a:r>
              <a:rPr sz="3700" i="1" spc="-25" dirty="0">
                <a:latin typeface="Times New Roman"/>
                <a:cs typeface="Times New Roman"/>
              </a:rPr>
              <a:t>C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397" y="5477499"/>
            <a:ext cx="759079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44640" algn="l"/>
              </a:tabLst>
            </a:pPr>
            <a:r>
              <a:rPr sz="5050" spc="-55" dirty="0">
                <a:latin typeface="Times New Roman"/>
                <a:cs typeface="Times New Roman"/>
              </a:rPr>
              <a:t>response</a:t>
            </a:r>
            <a:r>
              <a:rPr sz="5050" spc="-55" dirty="0">
                <a:latin typeface="Tahoma"/>
                <a:cs typeface="Tahoma"/>
              </a:rPr>
              <a:t>(</a:t>
            </a:r>
            <a:r>
              <a:rPr sz="5050" i="1" spc="-55" dirty="0">
                <a:latin typeface="Times New Roman"/>
                <a:cs typeface="Times New Roman"/>
              </a:rPr>
              <a:t>q</a:t>
            </a:r>
            <a:r>
              <a:rPr sz="5050" i="1" spc="-55" dirty="0">
                <a:latin typeface="Verdana"/>
                <a:cs typeface="Verdana"/>
              </a:rPr>
              <a:t>,</a:t>
            </a:r>
            <a:r>
              <a:rPr sz="5050" i="1" spc="-55" dirty="0">
                <a:latin typeface="Times New Roman"/>
                <a:cs typeface="Times New Roman"/>
              </a:rPr>
              <a:t>C</a:t>
            </a:r>
            <a:r>
              <a:rPr sz="5050" spc="-55" dirty="0">
                <a:latin typeface="Tahoma"/>
                <a:cs typeface="Tahoma"/>
              </a:rPr>
              <a:t>)</a:t>
            </a:r>
            <a:r>
              <a:rPr sz="5050" spc="-434" dirty="0">
                <a:latin typeface="Tahoma"/>
                <a:cs typeface="Tahoma"/>
              </a:rPr>
              <a:t> </a:t>
            </a:r>
            <a:r>
              <a:rPr sz="5050" spc="145" dirty="0">
                <a:latin typeface="Tahoma"/>
                <a:cs typeface="Tahoma"/>
              </a:rPr>
              <a:t>=</a:t>
            </a:r>
            <a:r>
              <a:rPr sz="5050" spc="-430" dirty="0">
                <a:latin typeface="Tahoma"/>
                <a:cs typeface="Tahoma"/>
              </a:rPr>
              <a:t> </a:t>
            </a:r>
            <a:r>
              <a:rPr sz="5050" spc="-10" dirty="0">
                <a:latin typeface="Times New Roman"/>
                <a:cs typeface="Times New Roman"/>
              </a:rPr>
              <a:t>argmax</a:t>
            </a:r>
            <a:r>
              <a:rPr sz="5050" dirty="0">
                <a:latin typeface="Times New Roman"/>
                <a:cs typeface="Times New Roman"/>
              </a:rPr>
              <a:t>	</a:t>
            </a:r>
            <a:r>
              <a:rPr sz="7575" i="1" spc="-127" baseline="37403" dirty="0">
                <a:latin typeface="Times New Roman"/>
                <a:cs typeface="Times New Roman"/>
              </a:rPr>
              <a:t>q</a:t>
            </a:r>
            <a:r>
              <a:rPr sz="7575" i="1" spc="-862" baseline="37403" dirty="0">
                <a:latin typeface="Times New Roman"/>
                <a:cs typeface="Times New Roman"/>
              </a:rPr>
              <a:t> </a:t>
            </a:r>
            <a:r>
              <a:rPr sz="7575" spc="-2729" baseline="37403" dirty="0">
                <a:latin typeface="Lucida Sans Unicode"/>
                <a:cs typeface="Lucida Sans Unicode"/>
              </a:rPr>
              <a:t>·</a:t>
            </a:r>
            <a:r>
              <a:rPr sz="7575" spc="-1364" baseline="37403" dirty="0">
                <a:latin typeface="Lucida Sans Unicode"/>
                <a:cs typeface="Lucida Sans Unicode"/>
              </a:rPr>
              <a:t> </a:t>
            </a:r>
            <a:r>
              <a:rPr sz="7575" i="1" spc="-75" baseline="37403" dirty="0">
                <a:latin typeface="Times New Roman"/>
                <a:cs typeface="Times New Roman"/>
              </a:rPr>
              <a:t>r</a:t>
            </a:r>
            <a:endParaRPr sz="7575" baseline="3740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86682" y="5970595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0" y="0"/>
                </a:moveTo>
                <a:lnTo>
                  <a:pt x="1269565" y="0"/>
                </a:lnTo>
              </a:path>
            </a:pathLst>
          </a:custGeom>
          <a:ln w="2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73983" y="5916905"/>
            <a:ext cx="129540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50" spc="-370" dirty="0">
                <a:latin typeface="Lucida Sans Unicode"/>
                <a:cs typeface="Lucida Sans Unicode"/>
              </a:rPr>
              <a:t>|</a:t>
            </a:r>
            <a:r>
              <a:rPr sz="5050" i="1" spc="-370" dirty="0">
                <a:latin typeface="Times New Roman"/>
                <a:cs typeface="Times New Roman"/>
              </a:rPr>
              <a:t>q</a:t>
            </a:r>
            <a:r>
              <a:rPr sz="5050" spc="-370" dirty="0">
                <a:latin typeface="Lucida Sans Unicode"/>
                <a:cs typeface="Lucida Sans Unicode"/>
              </a:rPr>
              <a:t>||</a:t>
            </a:r>
            <a:r>
              <a:rPr sz="5050" i="1" spc="-370" dirty="0">
                <a:latin typeface="Times New Roman"/>
                <a:cs typeface="Times New Roman"/>
              </a:rPr>
              <a:t>r</a:t>
            </a:r>
            <a:r>
              <a:rPr sz="5050" spc="-370" dirty="0">
                <a:latin typeface="Lucida Sans Unicode"/>
                <a:cs typeface="Lucida Sans Unicode"/>
              </a:rPr>
              <a:t>|</a:t>
            </a:r>
            <a:endParaRPr sz="5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5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25" dirty="0"/>
              <a:t>neural</a:t>
            </a:r>
            <a:r>
              <a:rPr spc="-19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769871"/>
            <a:ext cx="11502390" cy="62693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55320" marR="67500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55320" marR="304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(BERT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dot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product)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546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546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  <a:p>
            <a:pPr marL="3764279">
              <a:lnSpc>
                <a:spcPct val="100000"/>
              </a:lnSpc>
              <a:spcBef>
                <a:spcPts val="140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q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3801745">
              <a:lnSpc>
                <a:spcPct val="100000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984250">
              <a:lnSpc>
                <a:spcPts val="5285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spc="-10" dirty="0">
                <a:latin typeface="Times New Roman"/>
                <a:cs typeface="Times New Roman"/>
              </a:rPr>
              <a:t>response</a:t>
            </a:r>
            <a:r>
              <a:rPr sz="4500" spc="-10" dirty="0">
                <a:latin typeface="Tahoma"/>
                <a:cs typeface="Tahoma"/>
              </a:rPr>
              <a:t>(</a:t>
            </a:r>
            <a:r>
              <a:rPr sz="4500" i="1" spc="-10" dirty="0">
                <a:latin typeface="Times New Roman"/>
                <a:cs typeface="Times New Roman"/>
              </a:rPr>
              <a:t>q</a:t>
            </a:r>
            <a:r>
              <a:rPr sz="4500" i="1" spc="-10" dirty="0">
                <a:latin typeface="Verdana"/>
                <a:cs typeface="Verdana"/>
              </a:rPr>
              <a:t>,</a:t>
            </a:r>
            <a:r>
              <a:rPr sz="4500" i="1" spc="-10" dirty="0">
                <a:latin typeface="Times New Roman"/>
                <a:cs typeface="Times New Roman"/>
              </a:rPr>
              <a:t>C</a:t>
            </a:r>
            <a:r>
              <a:rPr sz="4500" spc="-10" dirty="0">
                <a:latin typeface="Tahoma"/>
                <a:cs typeface="Tahoma"/>
              </a:rPr>
              <a:t>)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-45" dirty="0">
                <a:latin typeface="Times New Roman"/>
                <a:cs typeface="Times New Roman"/>
              </a:rPr>
              <a:t>argmax</a:t>
            </a:r>
            <a:r>
              <a:rPr sz="4500" spc="-625" dirty="0">
                <a:latin typeface="Times New Roman"/>
                <a:cs typeface="Times New Roman"/>
              </a:rPr>
              <a:t> </a:t>
            </a:r>
            <a:r>
              <a:rPr sz="4500" i="1" dirty="0">
                <a:latin typeface="Times New Roman"/>
                <a:cs typeface="Times New Roman"/>
              </a:rPr>
              <a:t>h</a:t>
            </a:r>
            <a:r>
              <a:rPr sz="4950" i="1" baseline="-11784" dirty="0">
                <a:latin typeface="Times New Roman"/>
                <a:cs typeface="Times New Roman"/>
              </a:rPr>
              <a:t>q</a:t>
            </a:r>
            <a:r>
              <a:rPr sz="4950" i="1" spc="52" baseline="-11784" dirty="0">
                <a:latin typeface="Times New Roman"/>
                <a:cs typeface="Times New Roman"/>
              </a:rPr>
              <a:t> </a:t>
            </a:r>
            <a:r>
              <a:rPr sz="4500" i="1" spc="-35" dirty="0">
                <a:latin typeface="Georgia"/>
                <a:cs typeface="Georgia"/>
              </a:rPr>
              <a:t>·</a:t>
            </a:r>
            <a:r>
              <a:rPr sz="4500" i="1" spc="-455" dirty="0">
                <a:latin typeface="Georgia"/>
                <a:cs typeface="Georgia"/>
              </a:rPr>
              <a:t> </a:t>
            </a: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endParaRPr sz="4950" baseline="-11784">
              <a:latin typeface="Times New Roman"/>
              <a:cs typeface="Times New Roman"/>
            </a:endParaRPr>
          </a:p>
          <a:p>
            <a:pPr marL="1014730" algn="ctr">
              <a:lnSpc>
                <a:spcPts val="3845"/>
              </a:lnSpc>
            </a:pPr>
            <a:r>
              <a:rPr sz="3300" i="1" spc="-25" dirty="0">
                <a:latin typeface="Times New Roman"/>
                <a:cs typeface="Times New Roman"/>
              </a:rPr>
              <a:t>r</a:t>
            </a:r>
            <a:r>
              <a:rPr sz="3300" i="1" spc="-25" dirty="0">
                <a:latin typeface="Verdana"/>
                <a:cs typeface="Verdana"/>
              </a:rPr>
              <a:t>2</a:t>
            </a:r>
            <a:r>
              <a:rPr sz="3300" i="1" spc="-25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339" y="1574292"/>
            <a:ext cx="12327255" cy="27692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production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34925" marR="17780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Generate 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i="1" spc="375" baseline="-192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query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q</a:t>
            </a:r>
            <a:r>
              <a:rPr sz="3800" i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far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...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spc="-15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−1</a:t>
            </a:r>
            <a:endParaRPr sz="3900" baseline="-19230">
              <a:latin typeface="Calibri"/>
              <a:cs typeface="Calibri"/>
            </a:endParaRPr>
          </a:p>
          <a:p>
            <a:pPr marR="1304290" algn="ctr">
              <a:lnSpc>
                <a:spcPct val="100000"/>
              </a:lnSpc>
              <a:spcBef>
                <a:spcPts val="1590"/>
              </a:spcBef>
              <a:tabLst>
                <a:tab pos="655320" algn="l"/>
                <a:tab pos="1362710" algn="l"/>
              </a:tabLst>
            </a:pPr>
            <a:r>
              <a:rPr sz="4050" i="1" spc="-1260" dirty="0">
                <a:latin typeface="Times New Roman"/>
                <a:cs typeface="Times New Roman"/>
              </a:rPr>
              <a:t>r</a:t>
            </a:r>
            <a:r>
              <a:rPr sz="4050" spc="-250" dirty="0">
                <a:latin typeface="Times New Roman"/>
                <a:cs typeface="Times New Roman"/>
              </a:rPr>
              <a:t>ˆ</a:t>
            </a:r>
            <a:r>
              <a:rPr sz="4500" i="1" spc="-44" baseline="-11111" dirty="0">
                <a:latin typeface="Times New Roman"/>
                <a:cs typeface="Times New Roman"/>
              </a:rPr>
              <a:t>t</a:t>
            </a:r>
            <a:r>
              <a:rPr sz="4500" i="1" baseline="-11111" dirty="0">
                <a:latin typeface="Times New Roman"/>
                <a:cs typeface="Times New Roman"/>
              </a:rPr>
              <a:t>	</a:t>
            </a:r>
            <a:r>
              <a:rPr sz="4050" spc="125" dirty="0">
                <a:latin typeface="Tahoma"/>
                <a:cs typeface="Tahoma"/>
              </a:rPr>
              <a:t>=</a:t>
            </a:r>
            <a:r>
              <a:rPr sz="4050" dirty="0">
                <a:latin typeface="Tahoma"/>
                <a:cs typeface="Tahoma"/>
              </a:rPr>
              <a:t>	</a:t>
            </a:r>
            <a:r>
              <a:rPr sz="4050" spc="-35" dirty="0">
                <a:latin typeface="Times New Roman"/>
                <a:cs typeface="Times New Roman"/>
              </a:rPr>
              <a:t>argmax</a:t>
            </a:r>
            <a:r>
              <a:rPr sz="4500" spc="-52" baseline="-11111" dirty="0">
                <a:latin typeface="Times New Roman"/>
                <a:cs typeface="Times New Roman"/>
              </a:rPr>
              <a:t>w</a:t>
            </a:r>
            <a:r>
              <a:rPr sz="4500" spc="-52" baseline="-11111" dirty="0">
                <a:latin typeface="Lucida Sans Unicode"/>
                <a:cs typeface="Lucida Sans Unicode"/>
              </a:rPr>
              <a:t>∈</a:t>
            </a:r>
            <a:r>
              <a:rPr sz="4500" spc="-52" baseline="-11111" dirty="0">
                <a:latin typeface="Times New Roman"/>
                <a:cs typeface="Times New Roman"/>
              </a:rPr>
              <a:t>V</a:t>
            </a:r>
            <a:r>
              <a:rPr sz="4500" spc="157" baseline="-11111" dirty="0">
                <a:latin typeface="Times New Roman"/>
                <a:cs typeface="Times New Roman"/>
              </a:rPr>
              <a:t> </a:t>
            </a:r>
            <a:r>
              <a:rPr sz="4050" i="1" spc="-80" dirty="0">
                <a:latin typeface="Times New Roman"/>
                <a:cs typeface="Times New Roman"/>
              </a:rPr>
              <a:t>P</a:t>
            </a:r>
            <a:r>
              <a:rPr sz="4050" spc="-80" dirty="0">
                <a:latin typeface="Tahoma"/>
                <a:cs typeface="Tahoma"/>
              </a:rPr>
              <a:t>(</a:t>
            </a:r>
            <a:r>
              <a:rPr sz="4050" i="1" spc="-80" dirty="0">
                <a:latin typeface="Times New Roman"/>
                <a:cs typeface="Times New Roman"/>
              </a:rPr>
              <a:t>w|q</a:t>
            </a:r>
            <a:r>
              <a:rPr sz="4050" i="1" spc="-80" dirty="0">
                <a:latin typeface="Verdana"/>
                <a:cs typeface="Verdana"/>
              </a:rPr>
              <a:t>,</a:t>
            </a:r>
            <a:r>
              <a:rPr sz="4050" i="1" spc="-975" dirty="0">
                <a:latin typeface="Verdana"/>
                <a:cs typeface="Verdana"/>
              </a:rPr>
              <a:t> 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spc="-300" baseline="-11111" dirty="0">
                <a:latin typeface="Times New Roman"/>
                <a:cs typeface="Times New Roman"/>
              </a:rPr>
              <a:t>1</a:t>
            </a:r>
            <a:r>
              <a:rPr sz="4050" i="1" spc="-200" dirty="0">
                <a:latin typeface="Verdana"/>
                <a:cs typeface="Verdana"/>
              </a:rPr>
              <a:t>...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i="1" spc="-300" baseline="-11111" dirty="0">
                <a:latin typeface="Times New Roman"/>
                <a:cs typeface="Times New Roman"/>
              </a:rPr>
              <a:t>t</a:t>
            </a:r>
            <a:r>
              <a:rPr sz="4500" spc="-300" baseline="-11111" dirty="0">
                <a:latin typeface="Lucida Sans Unicode"/>
                <a:cs typeface="Lucida Sans Unicode"/>
              </a:rPr>
              <a:t>—</a:t>
            </a:r>
            <a:r>
              <a:rPr sz="4500" spc="112" baseline="-11111" dirty="0">
                <a:latin typeface="Times New Roman"/>
                <a:cs typeface="Times New Roman"/>
              </a:rPr>
              <a:t>1</a:t>
            </a:r>
            <a:r>
              <a:rPr sz="4050" spc="75" dirty="0">
                <a:latin typeface="Tahoma"/>
                <a:cs typeface="Tahoma"/>
              </a:rPr>
              <a:t>)</a:t>
            </a:r>
            <a:endParaRPr sz="40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796" y="6091494"/>
            <a:ext cx="5739765" cy="789305"/>
            <a:chOff x="1198796" y="6091494"/>
            <a:chExt cx="5739765" cy="789305"/>
          </a:xfrm>
        </p:grpSpPr>
        <p:sp>
          <p:nvSpPr>
            <p:cNvPr id="5" name="object 5"/>
            <p:cNvSpPr/>
            <p:nvPr/>
          </p:nvSpPr>
          <p:spPr>
            <a:xfrm>
              <a:off x="1213083" y="6105784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075906" y="0"/>
                  </a:moveTo>
                  <a:lnTo>
                    <a:pt x="260673" y="0"/>
                  </a:lnTo>
                  <a:lnTo>
                    <a:pt x="213817" y="4185"/>
                  </a:lnTo>
                  <a:lnTo>
                    <a:pt x="169716" y="16252"/>
                  </a:lnTo>
                  <a:lnTo>
                    <a:pt x="129106" y="35468"/>
                  </a:lnTo>
                  <a:lnTo>
                    <a:pt x="92725" y="61097"/>
                  </a:lnTo>
                  <a:lnTo>
                    <a:pt x="61307" y="92408"/>
                  </a:lnTo>
                  <a:lnTo>
                    <a:pt x="35589" y="128665"/>
                  </a:lnTo>
                  <a:lnTo>
                    <a:pt x="16308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8" y="350428"/>
                  </a:lnTo>
                  <a:lnTo>
                    <a:pt x="35589" y="390899"/>
                  </a:lnTo>
                  <a:lnTo>
                    <a:pt x="61307" y="427156"/>
                  </a:lnTo>
                  <a:lnTo>
                    <a:pt x="92725" y="458466"/>
                  </a:lnTo>
                  <a:lnTo>
                    <a:pt x="129106" y="484096"/>
                  </a:lnTo>
                  <a:lnTo>
                    <a:pt x="169716" y="503311"/>
                  </a:lnTo>
                  <a:lnTo>
                    <a:pt x="213817" y="515379"/>
                  </a:lnTo>
                  <a:lnTo>
                    <a:pt x="260673" y="519564"/>
                  </a:lnTo>
                  <a:lnTo>
                    <a:pt x="2075906" y="519564"/>
                  </a:lnTo>
                  <a:lnTo>
                    <a:pt x="2122762" y="515379"/>
                  </a:lnTo>
                  <a:lnTo>
                    <a:pt x="2166864" y="503311"/>
                  </a:lnTo>
                  <a:lnTo>
                    <a:pt x="2207473" y="484096"/>
                  </a:lnTo>
                  <a:lnTo>
                    <a:pt x="2243855" y="458466"/>
                  </a:lnTo>
                  <a:lnTo>
                    <a:pt x="2275273" y="427156"/>
                  </a:lnTo>
                  <a:lnTo>
                    <a:pt x="2300991" y="390899"/>
                  </a:lnTo>
                  <a:lnTo>
                    <a:pt x="2320273" y="350428"/>
                  </a:lnTo>
                  <a:lnTo>
                    <a:pt x="2332381" y="306478"/>
                  </a:lnTo>
                  <a:lnTo>
                    <a:pt x="2336581" y="259782"/>
                  </a:lnTo>
                  <a:lnTo>
                    <a:pt x="2332381" y="213086"/>
                  </a:lnTo>
                  <a:lnTo>
                    <a:pt x="2320273" y="169136"/>
                  </a:lnTo>
                  <a:lnTo>
                    <a:pt x="2300991" y="128665"/>
                  </a:lnTo>
                  <a:lnTo>
                    <a:pt x="2275273" y="92408"/>
                  </a:lnTo>
                  <a:lnTo>
                    <a:pt x="2243855" y="61097"/>
                  </a:lnTo>
                  <a:lnTo>
                    <a:pt x="2207473" y="35468"/>
                  </a:lnTo>
                  <a:lnTo>
                    <a:pt x="2166864" y="16252"/>
                  </a:lnTo>
                  <a:lnTo>
                    <a:pt x="2122762" y="4185"/>
                  </a:lnTo>
                  <a:lnTo>
                    <a:pt x="207590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3083" y="6105781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60673" y="0"/>
                  </a:moveTo>
                  <a:lnTo>
                    <a:pt x="2075907" y="0"/>
                  </a:lnTo>
                  <a:lnTo>
                    <a:pt x="2122763" y="4185"/>
                  </a:lnTo>
                  <a:lnTo>
                    <a:pt x="2166864" y="16252"/>
                  </a:lnTo>
                  <a:lnTo>
                    <a:pt x="2207473" y="35467"/>
                  </a:lnTo>
                  <a:lnTo>
                    <a:pt x="2243855" y="61097"/>
                  </a:lnTo>
                  <a:lnTo>
                    <a:pt x="2275273" y="92407"/>
                  </a:lnTo>
                  <a:lnTo>
                    <a:pt x="2300990" y="128664"/>
                  </a:lnTo>
                  <a:lnTo>
                    <a:pt x="2320272" y="169135"/>
                  </a:lnTo>
                  <a:lnTo>
                    <a:pt x="2332380" y="213085"/>
                  </a:lnTo>
                  <a:lnTo>
                    <a:pt x="2336580" y="259781"/>
                  </a:lnTo>
                  <a:lnTo>
                    <a:pt x="2332380" y="306477"/>
                  </a:lnTo>
                  <a:lnTo>
                    <a:pt x="2320272" y="350427"/>
                  </a:lnTo>
                  <a:lnTo>
                    <a:pt x="2300990" y="390897"/>
                  </a:lnTo>
                  <a:lnTo>
                    <a:pt x="2275273" y="427155"/>
                  </a:lnTo>
                  <a:lnTo>
                    <a:pt x="2243855" y="458465"/>
                  </a:lnTo>
                  <a:lnTo>
                    <a:pt x="2207473" y="484094"/>
                  </a:lnTo>
                  <a:lnTo>
                    <a:pt x="2166864" y="503310"/>
                  </a:lnTo>
                  <a:lnTo>
                    <a:pt x="2122763" y="515377"/>
                  </a:lnTo>
                  <a:lnTo>
                    <a:pt x="2075907" y="519562"/>
                  </a:lnTo>
                  <a:lnTo>
                    <a:pt x="260673" y="519562"/>
                  </a:lnTo>
                  <a:lnTo>
                    <a:pt x="213816" y="515377"/>
                  </a:lnTo>
                  <a:lnTo>
                    <a:pt x="169715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5" y="16252"/>
                  </a:lnTo>
                  <a:lnTo>
                    <a:pt x="213816" y="4185"/>
                  </a:lnTo>
                  <a:lnTo>
                    <a:pt x="260673" y="0"/>
                  </a:lnTo>
                  <a:close/>
                </a:path>
              </a:pathLst>
            </a:custGeom>
            <a:ln w="2834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015" y="6637641"/>
              <a:ext cx="87183" cy="2427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549" y="6637604"/>
              <a:ext cx="87183" cy="2333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5331" y="6105784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398191" y="0"/>
                  </a:moveTo>
                  <a:lnTo>
                    <a:pt x="260670" y="0"/>
                  </a:lnTo>
                  <a:lnTo>
                    <a:pt x="213813" y="4185"/>
                  </a:lnTo>
                  <a:lnTo>
                    <a:pt x="169713" y="16252"/>
                  </a:lnTo>
                  <a:lnTo>
                    <a:pt x="129104" y="35468"/>
                  </a:lnTo>
                  <a:lnTo>
                    <a:pt x="92722" y="61097"/>
                  </a:lnTo>
                  <a:lnTo>
                    <a:pt x="61305" y="92408"/>
                  </a:lnTo>
                  <a:lnTo>
                    <a:pt x="35588" y="128665"/>
                  </a:lnTo>
                  <a:lnTo>
                    <a:pt x="16307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7" y="350428"/>
                  </a:lnTo>
                  <a:lnTo>
                    <a:pt x="35588" y="390899"/>
                  </a:lnTo>
                  <a:lnTo>
                    <a:pt x="61305" y="427156"/>
                  </a:lnTo>
                  <a:lnTo>
                    <a:pt x="92722" y="458466"/>
                  </a:lnTo>
                  <a:lnTo>
                    <a:pt x="129104" y="484096"/>
                  </a:lnTo>
                  <a:lnTo>
                    <a:pt x="169713" y="503311"/>
                  </a:lnTo>
                  <a:lnTo>
                    <a:pt x="213813" y="515379"/>
                  </a:lnTo>
                  <a:lnTo>
                    <a:pt x="260670" y="519564"/>
                  </a:lnTo>
                  <a:lnTo>
                    <a:pt x="2398191" y="519564"/>
                  </a:lnTo>
                  <a:lnTo>
                    <a:pt x="2445048" y="515379"/>
                  </a:lnTo>
                  <a:lnTo>
                    <a:pt x="2489149" y="503311"/>
                  </a:lnTo>
                  <a:lnTo>
                    <a:pt x="2529758" y="484096"/>
                  </a:lnTo>
                  <a:lnTo>
                    <a:pt x="2566140" y="458466"/>
                  </a:lnTo>
                  <a:lnTo>
                    <a:pt x="2597558" y="427156"/>
                  </a:lnTo>
                  <a:lnTo>
                    <a:pt x="2623275" y="390899"/>
                  </a:lnTo>
                  <a:lnTo>
                    <a:pt x="2642557" y="350428"/>
                  </a:lnTo>
                  <a:lnTo>
                    <a:pt x="2654665" y="306478"/>
                  </a:lnTo>
                  <a:lnTo>
                    <a:pt x="2658865" y="259782"/>
                  </a:lnTo>
                  <a:lnTo>
                    <a:pt x="2654665" y="213086"/>
                  </a:lnTo>
                  <a:lnTo>
                    <a:pt x="2642557" y="169136"/>
                  </a:lnTo>
                  <a:lnTo>
                    <a:pt x="2623275" y="128665"/>
                  </a:lnTo>
                  <a:lnTo>
                    <a:pt x="2597558" y="92408"/>
                  </a:lnTo>
                  <a:lnTo>
                    <a:pt x="2566140" y="61097"/>
                  </a:lnTo>
                  <a:lnTo>
                    <a:pt x="2529758" y="35468"/>
                  </a:lnTo>
                  <a:lnTo>
                    <a:pt x="2489149" y="16252"/>
                  </a:lnTo>
                  <a:lnTo>
                    <a:pt x="2445048" y="4185"/>
                  </a:lnTo>
                  <a:lnTo>
                    <a:pt x="239819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5331" y="6105781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60673" y="0"/>
                  </a:moveTo>
                  <a:lnTo>
                    <a:pt x="2398194" y="0"/>
                  </a:lnTo>
                  <a:lnTo>
                    <a:pt x="2445050" y="4185"/>
                  </a:lnTo>
                  <a:lnTo>
                    <a:pt x="2489151" y="16252"/>
                  </a:lnTo>
                  <a:lnTo>
                    <a:pt x="2529760" y="35467"/>
                  </a:lnTo>
                  <a:lnTo>
                    <a:pt x="2566142" y="61097"/>
                  </a:lnTo>
                  <a:lnTo>
                    <a:pt x="2597560" y="92407"/>
                  </a:lnTo>
                  <a:lnTo>
                    <a:pt x="2623277" y="128664"/>
                  </a:lnTo>
                  <a:lnTo>
                    <a:pt x="2642559" y="169135"/>
                  </a:lnTo>
                  <a:lnTo>
                    <a:pt x="2654667" y="213085"/>
                  </a:lnTo>
                  <a:lnTo>
                    <a:pt x="2658867" y="259781"/>
                  </a:lnTo>
                  <a:lnTo>
                    <a:pt x="2654667" y="306477"/>
                  </a:lnTo>
                  <a:lnTo>
                    <a:pt x="2642559" y="350427"/>
                  </a:lnTo>
                  <a:lnTo>
                    <a:pt x="2623277" y="390897"/>
                  </a:lnTo>
                  <a:lnTo>
                    <a:pt x="2597560" y="427155"/>
                  </a:lnTo>
                  <a:lnTo>
                    <a:pt x="2566142" y="458465"/>
                  </a:lnTo>
                  <a:lnTo>
                    <a:pt x="2529760" y="484094"/>
                  </a:lnTo>
                  <a:lnTo>
                    <a:pt x="2489151" y="503310"/>
                  </a:lnTo>
                  <a:lnTo>
                    <a:pt x="2445050" y="515377"/>
                  </a:lnTo>
                  <a:lnTo>
                    <a:pt x="2398194" y="519562"/>
                  </a:lnTo>
                  <a:lnTo>
                    <a:pt x="260673" y="519562"/>
                  </a:lnTo>
                  <a:lnTo>
                    <a:pt x="213817" y="515377"/>
                  </a:lnTo>
                  <a:lnTo>
                    <a:pt x="169716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6" y="16252"/>
                  </a:lnTo>
                  <a:lnTo>
                    <a:pt x="213817" y="4185"/>
                  </a:lnTo>
                  <a:lnTo>
                    <a:pt x="260673" y="0"/>
                  </a:lnTo>
                  <a:close/>
                </a:path>
              </a:pathLst>
            </a:custGeom>
            <a:ln w="28343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2119" y="6231474"/>
            <a:ext cx="2445385" cy="958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3300" spc="-15" baseline="20202" dirty="0">
                <a:latin typeface="Arial MT"/>
                <a:cs typeface="Arial MT"/>
              </a:rPr>
              <a:t>ENCODER</a:t>
            </a:r>
            <a:r>
              <a:rPr sz="1850" spc="-10" dirty="0">
                <a:latin typeface="Arial MT"/>
                <a:cs typeface="Arial MT"/>
              </a:rPr>
              <a:t>response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5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tabLst>
                <a:tab pos="1156335" algn="l"/>
                <a:tab pos="2147570" algn="l"/>
              </a:tabLst>
            </a:pP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4979" y="5213039"/>
            <a:ext cx="4342130" cy="1667510"/>
            <a:chOff x="2334979" y="5213039"/>
            <a:chExt cx="4342130" cy="16675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9466" y="6637641"/>
              <a:ext cx="87183" cy="242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9894" y="6637604"/>
              <a:ext cx="87183" cy="2333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2227" y="6637604"/>
              <a:ext cx="87183" cy="2333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44504" y="5686926"/>
              <a:ext cx="1007744" cy="419100"/>
            </a:xfrm>
            <a:custGeom>
              <a:avLst/>
              <a:gdLst/>
              <a:ahLst/>
              <a:cxnLst/>
              <a:rect l="l" t="t" r="r" b="b"/>
              <a:pathLst>
                <a:path w="1007745" h="419100">
                  <a:moveTo>
                    <a:pt x="0" y="418855"/>
                  </a:moveTo>
                  <a:lnTo>
                    <a:pt x="1007640" y="0"/>
                  </a:lnTo>
                </a:path>
              </a:pathLst>
            </a:custGeom>
            <a:ln w="189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9550" y="5642557"/>
              <a:ext cx="116036" cy="852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12140" y="5678523"/>
              <a:ext cx="1106805" cy="427355"/>
            </a:xfrm>
            <a:custGeom>
              <a:avLst/>
              <a:gdLst/>
              <a:ahLst/>
              <a:cxnLst/>
              <a:rect l="l" t="t" r="r" b="b"/>
              <a:pathLst>
                <a:path w="1106804" h="427354">
                  <a:moveTo>
                    <a:pt x="1106574" y="427258"/>
                  </a:moveTo>
                  <a:lnTo>
                    <a:pt x="0" y="0"/>
                  </a:lnTo>
                </a:path>
              </a:pathLst>
            </a:custGeom>
            <a:ln w="18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830" y="5636304"/>
              <a:ext cx="116094" cy="833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86942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1151609" y="0"/>
                  </a:moveTo>
                  <a:lnTo>
                    <a:pt x="213276" y="0"/>
                  </a:lnTo>
                  <a:lnTo>
                    <a:pt x="164374" y="5613"/>
                  </a:lnTo>
                  <a:lnTo>
                    <a:pt x="119482" y="21604"/>
                  </a:lnTo>
                  <a:lnTo>
                    <a:pt x="79883" y="46695"/>
                  </a:lnTo>
                  <a:lnTo>
                    <a:pt x="46854" y="79611"/>
                  </a:lnTo>
                  <a:lnTo>
                    <a:pt x="21677" y="119077"/>
                  </a:lnTo>
                  <a:lnTo>
                    <a:pt x="5632" y="163815"/>
                  </a:lnTo>
                  <a:lnTo>
                    <a:pt x="0" y="212551"/>
                  </a:lnTo>
                  <a:lnTo>
                    <a:pt x="5632" y="261285"/>
                  </a:lnTo>
                  <a:lnTo>
                    <a:pt x="21677" y="306023"/>
                  </a:lnTo>
                  <a:lnTo>
                    <a:pt x="46854" y="345488"/>
                  </a:lnTo>
                  <a:lnTo>
                    <a:pt x="79883" y="378403"/>
                  </a:lnTo>
                  <a:lnTo>
                    <a:pt x="119482" y="403494"/>
                  </a:lnTo>
                  <a:lnTo>
                    <a:pt x="164374" y="419484"/>
                  </a:lnTo>
                  <a:lnTo>
                    <a:pt x="213276" y="425098"/>
                  </a:lnTo>
                  <a:lnTo>
                    <a:pt x="1151609" y="425098"/>
                  </a:lnTo>
                  <a:lnTo>
                    <a:pt x="1200513" y="419484"/>
                  </a:lnTo>
                  <a:lnTo>
                    <a:pt x="1245405" y="403494"/>
                  </a:lnTo>
                  <a:lnTo>
                    <a:pt x="1285006" y="378403"/>
                  </a:lnTo>
                  <a:lnTo>
                    <a:pt x="1318035" y="345488"/>
                  </a:lnTo>
                  <a:lnTo>
                    <a:pt x="1343212" y="306023"/>
                  </a:lnTo>
                  <a:lnTo>
                    <a:pt x="1359257" y="261285"/>
                  </a:lnTo>
                  <a:lnTo>
                    <a:pt x="1364890" y="212551"/>
                  </a:lnTo>
                  <a:lnTo>
                    <a:pt x="1359257" y="163815"/>
                  </a:lnTo>
                  <a:lnTo>
                    <a:pt x="1343212" y="119077"/>
                  </a:lnTo>
                  <a:lnTo>
                    <a:pt x="1318035" y="79611"/>
                  </a:lnTo>
                  <a:lnTo>
                    <a:pt x="1285006" y="46695"/>
                  </a:lnTo>
                  <a:lnTo>
                    <a:pt x="1245405" y="21604"/>
                  </a:lnTo>
                  <a:lnTo>
                    <a:pt x="1200513" y="5613"/>
                  </a:lnTo>
                  <a:lnTo>
                    <a:pt x="1151609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86941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213278" y="0"/>
                  </a:moveTo>
                  <a:lnTo>
                    <a:pt x="1151612" y="0"/>
                  </a:lnTo>
                  <a:lnTo>
                    <a:pt x="1200515" y="5613"/>
                  </a:lnTo>
                  <a:lnTo>
                    <a:pt x="1245407" y="21603"/>
                  </a:lnTo>
                  <a:lnTo>
                    <a:pt x="1285007" y="46694"/>
                  </a:lnTo>
                  <a:lnTo>
                    <a:pt x="1318036" y="79610"/>
                  </a:lnTo>
                  <a:lnTo>
                    <a:pt x="1343213" y="119075"/>
                  </a:lnTo>
                  <a:lnTo>
                    <a:pt x="1359258" y="163813"/>
                  </a:lnTo>
                  <a:lnTo>
                    <a:pt x="1364891" y="212548"/>
                  </a:lnTo>
                  <a:lnTo>
                    <a:pt x="1359258" y="261283"/>
                  </a:lnTo>
                  <a:lnTo>
                    <a:pt x="1343213" y="306021"/>
                  </a:lnTo>
                  <a:lnTo>
                    <a:pt x="1318036" y="345486"/>
                  </a:lnTo>
                  <a:lnTo>
                    <a:pt x="1285007" y="378402"/>
                  </a:lnTo>
                  <a:lnTo>
                    <a:pt x="1245407" y="403493"/>
                  </a:lnTo>
                  <a:lnTo>
                    <a:pt x="1200515" y="419483"/>
                  </a:lnTo>
                  <a:lnTo>
                    <a:pt x="1151612" y="425096"/>
                  </a:lnTo>
                  <a:lnTo>
                    <a:pt x="213278" y="425096"/>
                  </a:lnTo>
                  <a:lnTo>
                    <a:pt x="164375" y="419483"/>
                  </a:lnTo>
                  <a:lnTo>
                    <a:pt x="119483" y="403493"/>
                  </a:lnTo>
                  <a:lnTo>
                    <a:pt x="79883" y="378402"/>
                  </a:lnTo>
                  <a:lnTo>
                    <a:pt x="46854" y="345486"/>
                  </a:lnTo>
                  <a:lnTo>
                    <a:pt x="21677" y="306021"/>
                  </a:lnTo>
                  <a:lnTo>
                    <a:pt x="5632" y="261283"/>
                  </a:lnTo>
                  <a:lnTo>
                    <a:pt x="0" y="212548"/>
                  </a:lnTo>
                  <a:lnTo>
                    <a:pt x="5632" y="163813"/>
                  </a:lnTo>
                  <a:lnTo>
                    <a:pt x="21677" y="119075"/>
                  </a:lnTo>
                  <a:lnTo>
                    <a:pt x="46854" y="79610"/>
                  </a:lnTo>
                  <a:lnTo>
                    <a:pt x="79883" y="46694"/>
                  </a:lnTo>
                  <a:lnTo>
                    <a:pt x="119483" y="21603"/>
                  </a:lnTo>
                  <a:lnTo>
                    <a:pt x="164375" y="5613"/>
                  </a:lnTo>
                  <a:lnTo>
                    <a:pt x="213278" y="0"/>
                  </a:lnTo>
                  <a:close/>
                </a:path>
              </a:pathLst>
            </a:custGeom>
            <a:ln w="9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73054" y="5277632"/>
            <a:ext cx="119316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50" dirty="0">
                <a:latin typeface="Arial MT"/>
                <a:cs typeface="Arial MT"/>
              </a:rPr>
              <a:t>dot-</a:t>
            </a:r>
            <a:r>
              <a:rPr sz="1700" spc="-10" dirty="0"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872" y="6647048"/>
            <a:ext cx="87178" cy="2333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17527" y="5464883"/>
            <a:ext cx="2103120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9126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q</a:t>
            </a:r>
            <a:endParaRPr sz="2625" baseline="-2539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750">
              <a:latin typeface="Tahoma"/>
              <a:cs typeface="Tahoma"/>
            </a:endParaRPr>
          </a:p>
          <a:p>
            <a:pPr marL="80645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</a:rPr>
              <a:t>ENCODER</a:t>
            </a:r>
            <a:r>
              <a:rPr sz="2775" spc="-15" baseline="-24024" dirty="0">
                <a:latin typeface="Arial MT"/>
                <a:cs typeface="Arial MT"/>
              </a:rPr>
              <a:t>query</a:t>
            </a:r>
            <a:endParaRPr sz="2775" baseline="-24024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2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tabLst>
                <a:tab pos="951230" algn="l"/>
                <a:tab pos="1765300" algn="l"/>
              </a:tabLst>
            </a:pP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3290" y="5464883"/>
            <a:ext cx="295910" cy="320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r</a:t>
            </a:r>
            <a:endParaRPr sz="2625" baseline="-25396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25795" y="5008066"/>
            <a:ext cx="87183" cy="20973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8219551" y="6071311"/>
            <a:ext cx="2405380" cy="557530"/>
            <a:chOff x="8219551" y="6071311"/>
            <a:chExt cx="2405380" cy="557530"/>
          </a:xfrm>
        </p:grpSpPr>
        <p:sp>
          <p:nvSpPr>
            <p:cNvPr id="28" name="object 28"/>
            <p:cNvSpPr/>
            <p:nvPr/>
          </p:nvSpPr>
          <p:spPr>
            <a:xfrm>
              <a:off x="8234156" y="6085915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110694" y="0"/>
                  </a:moveTo>
                  <a:lnTo>
                    <a:pt x="265038" y="0"/>
                  </a:lnTo>
                  <a:lnTo>
                    <a:pt x="217398" y="4255"/>
                  </a:lnTo>
                  <a:lnTo>
                    <a:pt x="172559" y="16525"/>
                  </a:lnTo>
                  <a:lnTo>
                    <a:pt x="131270" y="36062"/>
                  </a:lnTo>
                  <a:lnTo>
                    <a:pt x="94278" y="62121"/>
                  </a:lnTo>
                  <a:lnTo>
                    <a:pt x="62334" y="93956"/>
                  </a:lnTo>
                  <a:lnTo>
                    <a:pt x="36186" y="130821"/>
                  </a:lnTo>
                  <a:lnTo>
                    <a:pt x="16581" y="171970"/>
                  </a:lnTo>
                  <a:lnTo>
                    <a:pt x="4270" y="216657"/>
                  </a:lnTo>
                  <a:lnTo>
                    <a:pt x="0" y="264135"/>
                  </a:lnTo>
                  <a:lnTo>
                    <a:pt x="4270" y="311614"/>
                  </a:lnTo>
                  <a:lnTo>
                    <a:pt x="16581" y="356301"/>
                  </a:lnTo>
                  <a:lnTo>
                    <a:pt x="36186" y="397449"/>
                  </a:lnTo>
                  <a:lnTo>
                    <a:pt x="62334" y="434314"/>
                  </a:lnTo>
                  <a:lnTo>
                    <a:pt x="94278" y="466148"/>
                  </a:lnTo>
                  <a:lnTo>
                    <a:pt x="131270" y="492207"/>
                  </a:lnTo>
                  <a:lnTo>
                    <a:pt x="172559" y="511744"/>
                  </a:lnTo>
                  <a:lnTo>
                    <a:pt x="217398" y="524013"/>
                  </a:lnTo>
                  <a:lnTo>
                    <a:pt x="265038" y="528269"/>
                  </a:lnTo>
                  <a:lnTo>
                    <a:pt x="2110694" y="528269"/>
                  </a:lnTo>
                  <a:lnTo>
                    <a:pt x="2158336" y="524013"/>
                  </a:lnTo>
                  <a:lnTo>
                    <a:pt x="2203176" y="511744"/>
                  </a:lnTo>
                  <a:lnTo>
                    <a:pt x="2244466" y="492207"/>
                  </a:lnTo>
                  <a:lnTo>
                    <a:pt x="2281458" y="466148"/>
                  </a:lnTo>
                  <a:lnTo>
                    <a:pt x="2313402" y="434314"/>
                  </a:lnTo>
                  <a:lnTo>
                    <a:pt x="2339551" y="397449"/>
                  </a:lnTo>
                  <a:lnTo>
                    <a:pt x="2359156" y="356301"/>
                  </a:lnTo>
                  <a:lnTo>
                    <a:pt x="2371467" y="311614"/>
                  </a:lnTo>
                  <a:lnTo>
                    <a:pt x="2375738" y="264135"/>
                  </a:lnTo>
                  <a:lnTo>
                    <a:pt x="2371467" y="216657"/>
                  </a:lnTo>
                  <a:lnTo>
                    <a:pt x="2359156" y="171970"/>
                  </a:lnTo>
                  <a:lnTo>
                    <a:pt x="2339551" y="130821"/>
                  </a:lnTo>
                  <a:lnTo>
                    <a:pt x="2313402" y="93956"/>
                  </a:lnTo>
                  <a:lnTo>
                    <a:pt x="2281458" y="62121"/>
                  </a:lnTo>
                  <a:lnTo>
                    <a:pt x="2244466" y="36062"/>
                  </a:lnTo>
                  <a:lnTo>
                    <a:pt x="2203176" y="16525"/>
                  </a:lnTo>
                  <a:lnTo>
                    <a:pt x="2158336" y="4255"/>
                  </a:lnTo>
                  <a:lnTo>
                    <a:pt x="211069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34156" y="6085916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65041" y="0"/>
                  </a:moveTo>
                  <a:lnTo>
                    <a:pt x="2110695" y="0"/>
                  </a:lnTo>
                  <a:lnTo>
                    <a:pt x="2158336" y="4255"/>
                  </a:lnTo>
                  <a:lnTo>
                    <a:pt x="2203176" y="16524"/>
                  </a:lnTo>
                  <a:lnTo>
                    <a:pt x="2244466" y="36062"/>
                  </a:lnTo>
                  <a:lnTo>
                    <a:pt x="2281458" y="62121"/>
                  </a:lnTo>
                  <a:lnTo>
                    <a:pt x="2313402" y="93956"/>
                  </a:lnTo>
                  <a:lnTo>
                    <a:pt x="2339550" y="130821"/>
                  </a:lnTo>
                  <a:lnTo>
                    <a:pt x="2359155" y="171969"/>
                  </a:lnTo>
                  <a:lnTo>
                    <a:pt x="2371466" y="216656"/>
                  </a:lnTo>
                  <a:lnTo>
                    <a:pt x="2375736" y="264134"/>
                  </a:lnTo>
                  <a:lnTo>
                    <a:pt x="2371466" y="311613"/>
                  </a:lnTo>
                  <a:lnTo>
                    <a:pt x="2359155" y="356299"/>
                  </a:lnTo>
                  <a:lnTo>
                    <a:pt x="2339550" y="397448"/>
                  </a:lnTo>
                  <a:lnTo>
                    <a:pt x="2313402" y="434313"/>
                  </a:lnTo>
                  <a:lnTo>
                    <a:pt x="2281458" y="466148"/>
                  </a:lnTo>
                  <a:lnTo>
                    <a:pt x="2244466" y="492207"/>
                  </a:lnTo>
                  <a:lnTo>
                    <a:pt x="2203176" y="511744"/>
                  </a:lnTo>
                  <a:lnTo>
                    <a:pt x="2158336" y="524013"/>
                  </a:lnTo>
                  <a:lnTo>
                    <a:pt x="2110695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5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5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9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13228" y="6155626"/>
            <a:ext cx="141795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0" dirty="0">
                <a:latin typeface="Arial MT"/>
                <a:cs typeface="Arial MT"/>
              </a:rPr>
              <a:t>ENCODER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79726" y="6851213"/>
            <a:ext cx="3517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endParaRPr sz="2850" baseline="-26315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511187" y="5523832"/>
            <a:ext cx="5448300" cy="1350010"/>
            <a:chOff x="8511187" y="5523832"/>
            <a:chExt cx="5448300" cy="1350010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0999" y="6626688"/>
              <a:ext cx="88644" cy="24686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1187" y="6626651"/>
              <a:ext cx="88644" cy="2372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241174" y="5538439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438377" y="0"/>
                  </a:moveTo>
                  <a:lnTo>
                    <a:pt x="265040" y="0"/>
                  </a:lnTo>
                  <a:lnTo>
                    <a:pt x="217399" y="4255"/>
                  </a:lnTo>
                  <a:lnTo>
                    <a:pt x="172560" y="16524"/>
                  </a:lnTo>
                  <a:lnTo>
                    <a:pt x="131270" y="36061"/>
                  </a:lnTo>
                  <a:lnTo>
                    <a:pt x="94279" y="62120"/>
                  </a:lnTo>
                  <a:lnTo>
                    <a:pt x="62334" y="93954"/>
                  </a:lnTo>
                  <a:lnTo>
                    <a:pt x="36186" y="130819"/>
                  </a:lnTo>
                  <a:lnTo>
                    <a:pt x="16581" y="171967"/>
                  </a:lnTo>
                  <a:lnTo>
                    <a:pt x="4270" y="216653"/>
                  </a:lnTo>
                  <a:lnTo>
                    <a:pt x="0" y="264132"/>
                  </a:lnTo>
                  <a:lnTo>
                    <a:pt x="4270" y="311610"/>
                  </a:lnTo>
                  <a:lnTo>
                    <a:pt x="16581" y="356297"/>
                  </a:lnTo>
                  <a:lnTo>
                    <a:pt x="36186" y="397445"/>
                  </a:lnTo>
                  <a:lnTo>
                    <a:pt x="62334" y="434310"/>
                  </a:lnTo>
                  <a:lnTo>
                    <a:pt x="94279" y="466145"/>
                  </a:lnTo>
                  <a:lnTo>
                    <a:pt x="131270" y="492203"/>
                  </a:lnTo>
                  <a:lnTo>
                    <a:pt x="172560" y="511740"/>
                  </a:lnTo>
                  <a:lnTo>
                    <a:pt x="217399" y="524009"/>
                  </a:lnTo>
                  <a:lnTo>
                    <a:pt x="265040" y="528265"/>
                  </a:lnTo>
                  <a:lnTo>
                    <a:pt x="2438377" y="528265"/>
                  </a:lnTo>
                  <a:lnTo>
                    <a:pt x="2486019" y="524009"/>
                  </a:lnTo>
                  <a:lnTo>
                    <a:pt x="2530860" y="511740"/>
                  </a:lnTo>
                  <a:lnTo>
                    <a:pt x="2572151" y="492203"/>
                  </a:lnTo>
                  <a:lnTo>
                    <a:pt x="2609143" y="466145"/>
                  </a:lnTo>
                  <a:lnTo>
                    <a:pt x="2641089" y="434310"/>
                  </a:lnTo>
                  <a:lnTo>
                    <a:pt x="2667238" y="397445"/>
                  </a:lnTo>
                  <a:lnTo>
                    <a:pt x="2686843" y="356297"/>
                  </a:lnTo>
                  <a:lnTo>
                    <a:pt x="2699155" y="311610"/>
                  </a:lnTo>
                  <a:lnTo>
                    <a:pt x="2703426" y="264132"/>
                  </a:lnTo>
                  <a:lnTo>
                    <a:pt x="2699155" y="216653"/>
                  </a:lnTo>
                  <a:lnTo>
                    <a:pt x="2686843" y="171967"/>
                  </a:lnTo>
                  <a:lnTo>
                    <a:pt x="2667238" y="130819"/>
                  </a:lnTo>
                  <a:lnTo>
                    <a:pt x="2641089" y="93954"/>
                  </a:lnTo>
                  <a:lnTo>
                    <a:pt x="2609143" y="62120"/>
                  </a:lnTo>
                  <a:lnTo>
                    <a:pt x="2572151" y="36061"/>
                  </a:lnTo>
                  <a:lnTo>
                    <a:pt x="2530860" y="16524"/>
                  </a:lnTo>
                  <a:lnTo>
                    <a:pt x="2486019" y="4255"/>
                  </a:lnTo>
                  <a:lnTo>
                    <a:pt x="2438377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241174" y="5538437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65041" y="0"/>
                  </a:moveTo>
                  <a:lnTo>
                    <a:pt x="2438383" y="0"/>
                  </a:lnTo>
                  <a:lnTo>
                    <a:pt x="2486024" y="4255"/>
                  </a:lnTo>
                  <a:lnTo>
                    <a:pt x="2530864" y="16524"/>
                  </a:lnTo>
                  <a:lnTo>
                    <a:pt x="2572154" y="36062"/>
                  </a:lnTo>
                  <a:lnTo>
                    <a:pt x="2609145" y="62121"/>
                  </a:lnTo>
                  <a:lnTo>
                    <a:pt x="2641090" y="93956"/>
                  </a:lnTo>
                  <a:lnTo>
                    <a:pt x="2667238" y="130821"/>
                  </a:lnTo>
                  <a:lnTo>
                    <a:pt x="2686842" y="171969"/>
                  </a:lnTo>
                  <a:lnTo>
                    <a:pt x="2699154" y="216656"/>
                  </a:lnTo>
                  <a:lnTo>
                    <a:pt x="2703424" y="264134"/>
                  </a:lnTo>
                  <a:lnTo>
                    <a:pt x="2699154" y="311613"/>
                  </a:lnTo>
                  <a:lnTo>
                    <a:pt x="2686842" y="356299"/>
                  </a:lnTo>
                  <a:lnTo>
                    <a:pt x="2667238" y="397448"/>
                  </a:lnTo>
                  <a:lnTo>
                    <a:pt x="2641090" y="434313"/>
                  </a:lnTo>
                  <a:lnTo>
                    <a:pt x="2609145" y="466148"/>
                  </a:lnTo>
                  <a:lnTo>
                    <a:pt x="2572154" y="492207"/>
                  </a:lnTo>
                  <a:lnTo>
                    <a:pt x="2530864" y="511744"/>
                  </a:lnTo>
                  <a:lnTo>
                    <a:pt x="2486024" y="524013"/>
                  </a:lnTo>
                  <a:lnTo>
                    <a:pt x="2438383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6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6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8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886693" y="5608147"/>
            <a:ext cx="141287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5" dirty="0">
                <a:latin typeface="Arial MT"/>
                <a:cs typeface="Arial MT"/>
              </a:rPr>
              <a:t>DECODER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44596" y="6851213"/>
            <a:ext cx="3794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890269" algn="l"/>
                <a:tab pos="2816860" algn="l"/>
                <a:tab pos="3542665" algn="l"/>
              </a:tabLst>
            </a:pPr>
            <a:r>
              <a:rPr sz="2050" spc="-50" dirty="0">
                <a:latin typeface="Tahoma"/>
                <a:cs typeface="Tahoma"/>
              </a:rPr>
              <a:t>…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373727" y="5997849"/>
            <a:ext cx="3564890" cy="876300"/>
            <a:chOff x="9373727" y="5997849"/>
            <a:chExt cx="3564890" cy="876300"/>
          </a:xfrm>
        </p:grpSpPr>
        <p:sp>
          <p:nvSpPr>
            <p:cNvPr id="40" name="object 40"/>
            <p:cNvSpPr/>
            <p:nvPr/>
          </p:nvSpPr>
          <p:spPr>
            <a:xfrm>
              <a:off x="12893985" y="6181005"/>
              <a:ext cx="0" cy="683260"/>
            </a:xfrm>
            <a:custGeom>
              <a:avLst/>
              <a:gdLst/>
              <a:ahLst/>
              <a:cxnLst/>
              <a:rect l="l" t="t" r="r" b="b"/>
              <a:pathLst>
                <a:path h="683259">
                  <a:moveTo>
                    <a:pt x="0" y="68290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49662" y="6079172"/>
              <a:ext cx="88644" cy="11145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166081" y="6180999"/>
              <a:ext cx="6985" cy="683260"/>
            </a:xfrm>
            <a:custGeom>
              <a:avLst/>
              <a:gdLst/>
              <a:ahLst/>
              <a:cxnLst/>
              <a:rect l="l" t="t" r="r" b="b"/>
              <a:pathLst>
                <a:path w="6984" h="683259">
                  <a:moveTo>
                    <a:pt x="6465" y="68291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21761" y="6079171"/>
              <a:ext cx="88641" cy="1117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73727" y="6636253"/>
              <a:ext cx="88639" cy="23729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28817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144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00278" y="5997849"/>
              <a:ext cx="120481" cy="8670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1305576" y="6899237"/>
            <a:ext cx="5492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&lt;S&gt;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1508000" y="5133084"/>
            <a:ext cx="2191385" cy="1788795"/>
            <a:chOff x="11508000" y="5133084"/>
            <a:chExt cx="2191385" cy="1788795"/>
          </a:xfrm>
        </p:grpSpPr>
        <p:sp>
          <p:nvSpPr>
            <p:cNvPr id="50" name="object 50"/>
            <p:cNvSpPr/>
            <p:nvPr/>
          </p:nvSpPr>
          <p:spPr>
            <a:xfrm>
              <a:off x="11578036" y="6190609"/>
              <a:ext cx="1905" cy="721360"/>
            </a:xfrm>
            <a:custGeom>
              <a:avLst/>
              <a:gdLst/>
              <a:ahLst/>
              <a:cxnLst/>
              <a:rect l="l" t="t" r="r" b="b"/>
              <a:pathLst>
                <a:path w="1904" h="721359">
                  <a:moveTo>
                    <a:pt x="1681" y="7213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33713" y="6088776"/>
              <a:ext cx="88644" cy="11153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3652704" y="5287970"/>
              <a:ext cx="2540" cy="241300"/>
            </a:xfrm>
            <a:custGeom>
              <a:avLst/>
              <a:gdLst/>
              <a:ahLst/>
              <a:cxnLst/>
              <a:rect l="l" t="t" r="r" b="b"/>
              <a:pathLst>
                <a:path w="2540" h="241300">
                  <a:moveTo>
                    <a:pt x="0" y="241086"/>
                  </a:moveTo>
                  <a:lnTo>
                    <a:pt x="2015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10399" y="5186139"/>
              <a:ext cx="88641" cy="11174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2896450" y="5268759"/>
              <a:ext cx="2540" cy="269875"/>
            </a:xfrm>
            <a:custGeom>
              <a:avLst/>
              <a:gdLst/>
              <a:ahLst/>
              <a:cxnLst/>
              <a:rect l="l" t="t" r="r" b="b"/>
              <a:pathLst>
                <a:path w="2540" h="269875">
                  <a:moveTo>
                    <a:pt x="2353" y="269677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52128" y="5166930"/>
              <a:ext cx="88641" cy="11175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2137695" y="5239693"/>
              <a:ext cx="6985" cy="299085"/>
            </a:xfrm>
            <a:custGeom>
              <a:avLst/>
              <a:gdLst/>
              <a:ahLst/>
              <a:cxnLst/>
              <a:rect l="l" t="t" r="r" b="b"/>
              <a:pathLst>
                <a:path w="6984" h="299085">
                  <a:moveTo>
                    <a:pt x="6813" y="29874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093382" y="5137882"/>
              <a:ext cx="88626" cy="11222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552317" y="5234904"/>
              <a:ext cx="5080" cy="294005"/>
            </a:xfrm>
            <a:custGeom>
              <a:avLst/>
              <a:gdLst/>
              <a:ahLst/>
              <a:cxnLst/>
              <a:rect l="l" t="t" r="r" b="b"/>
              <a:pathLst>
                <a:path w="5079" h="294004">
                  <a:moveTo>
                    <a:pt x="5029" y="2939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08000" y="5133084"/>
              <a:ext cx="88634" cy="112035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1383131" y="4680506"/>
            <a:ext cx="9105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33730" algn="l"/>
              </a:tabLst>
            </a:pPr>
            <a:r>
              <a:rPr sz="3075" spc="-37" baseline="1355" dirty="0">
                <a:latin typeface="Tahoma"/>
                <a:cs typeface="Tahoma"/>
              </a:rPr>
              <a:t>r</a:t>
            </a:r>
            <a:r>
              <a:rPr sz="2850" spc="-37" baseline="-24853" dirty="0">
                <a:latin typeface="Tahoma"/>
                <a:cs typeface="Tahoma"/>
              </a:rPr>
              <a:t>1</a:t>
            </a:r>
            <a:r>
              <a:rPr sz="2850" baseline="-24853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2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74934" y="4815199"/>
            <a:ext cx="238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505360" y="4728755"/>
            <a:ext cx="30480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19321" y="7357285"/>
            <a:ext cx="409384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(a)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0" dirty="0">
                <a:latin typeface="Times New Roman"/>
                <a:cs typeface="Times New Roman"/>
              </a:rPr>
              <a:t> Retrieval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865707" y="7357285"/>
            <a:ext cx="444246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(b)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Generation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972" y="3284223"/>
            <a:ext cx="13571855" cy="1227455"/>
            <a:chOff x="491972" y="3284223"/>
            <a:chExt cx="13571855" cy="1227455"/>
          </a:xfrm>
        </p:grpSpPr>
        <p:sp>
          <p:nvSpPr>
            <p:cNvPr id="4" name="object 4"/>
            <p:cNvSpPr/>
            <p:nvPr/>
          </p:nvSpPr>
          <p:spPr>
            <a:xfrm>
              <a:off x="508164" y="3908313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6369384" y="0"/>
                  </a:moveTo>
                  <a:lnTo>
                    <a:pt x="293397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4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3"/>
                  </a:lnTo>
                  <a:lnTo>
                    <a:pt x="32748" y="158502"/>
                  </a:lnTo>
                  <a:lnTo>
                    <a:pt x="14957" y="200582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5"/>
                  </a:lnTo>
                  <a:lnTo>
                    <a:pt x="14957" y="385982"/>
                  </a:lnTo>
                  <a:lnTo>
                    <a:pt x="32748" y="428063"/>
                  </a:lnTo>
                  <a:lnTo>
                    <a:pt x="56608" y="466491"/>
                  </a:lnTo>
                  <a:lnTo>
                    <a:pt x="85933" y="500665"/>
                  </a:lnTo>
                  <a:lnTo>
                    <a:pt x="120120" y="529979"/>
                  </a:lnTo>
                  <a:lnTo>
                    <a:pt x="158564" y="553830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7" y="586567"/>
                  </a:lnTo>
                  <a:lnTo>
                    <a:pt x="6369384" y="586567"/>
                  </a:lnTo>
                  <a:lnTo>
                    <a:pt x="6416974" y="582728"/>
                  </a:lnTo>
                  <a:lnTo>
                    <a:pt x="6462120" y="571615"/>
                  </a:lnTo>
                  <a:lnTo>
                    <a:pt x="6504217" y="553830"/>
                  </a:lnTo>
                  <a:lnTo>
                    <a:pt x="6542660" y="529979"/>
                  </a:lnTo>
                  <a:lnTo>
                    <a:pt x="6576847" y="500665"/>
                  </a:lnTo>
                  <a:lnTo>
                    <a:pt x="6606172" y="466491"/>
                  </a:lnTo>
                  <a:lnTo>
                    <a:pt x="6630032" y="428063"/>
                  </a:lnTo>
                  <a:lnTo>
                    <a:pt x="6647823" y="385982"/>
                  </a:lnTo>
                  <a:lnTo>
                    <a:pt x="6658940" y="340855"/>
                  </a:lnTo>
                  <a:lnTo>
                    <a:pt x="6662780" y="293283"/>
                  </a:lnTo>
                  <a:lnTo>
                    <a:pt x="6658940" y="245711"/>
                  </a:lnTo>
                  <a:lnTo>
                    <a:pt x="6647823" y="200582"/>
                  </a:lnTo>
                  <a:lnTo>
                    <a:pt x="6630032" y="158502"/>
                  </a:lnTo>
                  <a:lnTo>
                    <a:pt x="6606172" y="120073"/>
                  </a:lnTo>
                  <a:lnTo>
                    <a:pt x="6576847" y="85900"/>
                  </a:lnTo>
                  <a:lnTo>
                    <a:pt x="6542660" y="56586"/>
                  </a:lnTo>
                  <a:lnTo>
                    <a:pt x="6504217" y="32735"/>
                  </a:lnTo>
                  <a:lnTo>
                    <a:pt x="6462120" y="14951"/>
                  </a:lnTo>
                  <a:lnTo>
                    <a:pt x="6416974" y="3838"/>
                  </a:lnTo>
                  <a:lnTo>
                    <a:pt x="636938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165" y="3908312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293397" y="0"/>
                  </a:moveTo>
                  <a:lnTo>
                    <a:pt x="6369385" y="0"/>
                  </a:lnTo>
                  <a:lnTo>
                    <a:pt x="6416975" y="3838"/>
                  </a:lnTo>
                  <a:lnTo>
                    <a:pt x="6462121" y="14951"/>
                  </a:lnTo>
                  <a:lnTo>
                    <a:pt x="6504217" y="32735"/>
                  </a:lnTo>
                  <a:lnTo>
                    <a:pt x="6542661" y="56586"/>
                  </a:lnTo>
                  <a:lnTo>
                    <a:pt x="6576848" y="85900"/>
                  </a:lnTo>
                  <a:lnTo>
                    <a:pt x="6606173" y="120074"/>
                  </a:lnTo>
                  <a:lnTo>
                    <a:pt x="6630033" y="158503"/>
                  </a:lnTo>
                  <a:lnTo>
                    <a:pt x="6647824" y="200583"/>
                  </a:lnTo>
                  <a:lnTo>
                    <a:pt x="6658942" y="245711"/>
                  </a:lnTo>
                  <a:lnTo>
                    <a:pt x="6662782" y="293283"/>
                  </a:lnTo>
                  <a:lnTo>
                    <a:pt x="6658942" y="340855"/>
                  </a:lnTo>
                  <a:lnTo>
                    <a:pt x="6647824" y="385983"/>
                  </a:lnTo>
                  <a:lnTo>
                    <a:pt x="6630033" y="428064"/>
                  </a:lnTo>
                  <a:lnTo>
                    <a:pt x="6606173" y="466492"/>
                  </a:lnTo>
                  <a:lnTo>
                    <a:pt x="6576848" y="500666"/>
                  </a:lnTo>
                  <a:lnTo>
                    <a:pt x="6542661" y="529980"/>
                  </a:lnTo>
                  <a:lnTo>
                    <a:pt x="6504217" y="553831"/>
                  </a:lnTo>
                  <a:lnTo>
                    <a:pt x="6462121" y="571615"/>
                  </a:lnTo>
                  <a:lnTo>
                    <a:pt x="6416975" y="582728"/>
                  </a:lnTo>
                  <a:lnTo>
                    <a:pt x="6369385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0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0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69765" y="3300413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5883953" y="0"/>
                  </a:moveTo>
                  <a:lnTo>
                    <a:pt x="293396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3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4"/>
                  </a:lnTo>
                  <a:lnTo>
                    <a:pt x="32748" y="158503"/>
                  </a:lnTo>
                  <a:lnTo>
                    <a:pt x="14957" y="200583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6"/>
                  </a:lnTo>
                  <a:lnTo>
                    <a:pt x="14957" y="385984"/>
                  </a:lnTo>
                  <a:lnTo>
                    <a:pt x="32748" y="428064"/>
                  </a:lnTo>
                  <a:lnTo>
                    <a:pt x="56608" y="466493"/>
                  </a:lnTo>
                  <a:lnTo>
                    <a:pt x="85933" y="500666"/>
                  </a:lnTo>
                  <a:lnTo>
                    <a:pt x="120120" y="529980"/>
                  </a:lnTo>
                  <a:lnTo>
                    <a:pt x="158563" y="553831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6" y="586567"/>
                  </a:lnTo>
                  <a:lnTo>
                    <a:pt x="5883953" y="586567"/>
                  </a:lnTo>
                  <a:lnTo>
                    <a:pt x="5931543" y="582728"/>
                  </a:lnTo>
                  <a:lnTo>
                    <a:pt x="5976689" y="571615"/>
                  </a:lnTo>
                  <a:lnTo>
                    <a:pt x="6018785" y="553831"/>
                  </a:lnTo>
                  <a:lnTo>
                    <a:pt x="6057229" y="529980"/>
                  </a:lnTo>
                  <a:lnTo>
                    <a:pt x="6091415" y="500666"/>
                  </a:lnTo>
                  <a:lnTo>
                    <a:pt x="6120740" y="466493"/>
                  </a:lnTo>
                  <a:lnTo>
                    <a:pt x="6144600" y="428064"/>
                  </a:lnTo>
                  <a:lnTo>
                    <a:pt x="6162391" y="385984"/>
                  </a:lnTo>
                  <a:lnTo>
                    <a:pt x="6173508" y="340856"/>
                  </a:lnTo>
                  <a:lnTo>
                    <a:pt x="6177348" y="293283"/>
                  </a:lnTo>
                  <a:lnTo>
                    <a:pt x="6173508" y="245711"/>
                  </a:lnTo>
                  <a:lnTo>
                    <a:pt x="6162391" y="200583"/>
                  </a:lnTo>
                  <a:lnTo>
                    <a:pt x="6144600" y="158503"/>
                  </a:lnTo>
                  <a:lnTo>
                    <a:pt x="6120740" y="120074"/>
                  </a:lnTo>
                  <a:lnTo>
                    <a:pt x="6091415" y="85900"/>
                  </a:lnTo>
                  <a:lnTo>
                    <a:pt x="6057229" y="56586"/>
                  </a:lnTo>
                  <a:lnTo>
                    <a:pt x="6018785" y="32735"/>
                  </a:lnTo>
                  <a:lnTo>
                    <a:pt x="5976689" y="14951"/>
                  </a:lnTo>
                  <a:lnTo>
                    <a:pt x="5931543" y="3838"/>
                  </a:lnTo>
                  <a:lnTo>
                    <a:pt x="5883953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9765" y="3300415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293397" y="0"/>
                  </a:moveTo>
                  <a:lnTo>
                    <a:pt x="5883946" y="0"/>
                  </a:lnTo>
                  <a:lnTo>
                    <a:pt x="5931537" y="3838"/>
                  </a:lnTo>
                  <a:lnTo>
                    <a:pt x="5976683" y="14951"/>
                  </a:lnTo>
                  <a:lnTo>
                    <a:pt x="6018779" y="32735"/>
                  </a:lnTo>
                  <a:lnTo>
                    <a:pt x="6057223" y="56586"/>
                  </a:lnTo>
                  <a:lnTo>
                    <a:pt x="6091409" y="85900"/>
                  </a:lnTo>
                  <a:lnTo>
                    <a:pt x="6120735" y="120074"/>
                  </a:lnTo>
                  <a:lnTo>
                    <a:pt x="6144595" y="158503"/>
                  </a:lnTo>
                  <a:lnTo>
                    <a:pt x="6162385" y="200583"/>
                  </a:lnTo>
                  <a:lnTo>
                    <a:pt x="6173503" y="245711"/>
                  </a:lnTo>
                  <a:lnTo>
                    <a:pt x="6177343" y="293283"/>
                  </a:lnTo>
                  <a:lnTo>
                    <a:pt x="6173503" y="340855"/>
                  </a:lnTo>
                  <a:lnTo>
                    <a:pt x="6162385" y="385983"/>
                  </a:lnTo>
                  <a:lnTo>
                    <a:pt x="6144595" y="428064"/>
                  </a:lnTo>
                  <a:lnTo>
                    <a:pt x="6120735" y="466492"/>
                  </a:lnTo>
                  <a:lnTo>
                    <a:pt x="6091409" y="500666"/>
                  </a:lnTo>
                  <a:lnTo>
                    <a:pt x="6057223" y="529980"/>
                  </a:lnTo>
                  <a:lnTo>
                    <a:pt x="6018779" y="553831"/>
                  </a:lnTo>
                  <a:lnTo>
                    <a:pt x="5976683" y="571615"/>
                  </a:lnTo>
                  <a:lnTo>
                    <a:pt x="5931537" y="582728"/>
                  </a:lnTo>
                  <a:lnTo>
                    <a:pt x="5883946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1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1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30306" y="2359873"/>
            <a:ext cx="6751955" cy="1428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quite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accomplishment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proud!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Arial MT"/>
              <a:cs typeface="Arial MT"/>
            </a:endParaRPr>
          </a:p>
          <a:p>
            <a:pPr marL="304165" algn="ctr">
              <a:lnSpc>
                <a:spcPct val="100000"/>
              </a:lnSpc>
            </a:pPr>
            <a:r>
              <a:rPr sz="2500" spc="-10" dirty="0">
                <a:latin typeface="Arial MT"/>
                <a:cs typeface="Arial MT"/>
              </a:rPr>
              <a:t>DECODER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7855" y="2861020"/>
            <a:ext cx="10064750" cy="2068195"/>
            <a:chOff x="917855" y="2861020"/>
            <a:chExt cx="10064750" cy="2068195"/>
          </a:xfrm>
        </p:grpSpPr>
        <p:sp>
          <p:nvSpPr>
            <p:cNvPr id="10" name="object 10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53324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266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730" y="3798562"/>
              <a:ext cx="171312" cy="1280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19764" y="2977382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688" y="2864332"/>
              <a:ext cx="98151" cy="1237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2430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5230" y="2861020"/>
              <a:ext cx="98151" cy="1237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28849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79773" y="2861020"/>
              <a:ext cx="98151" cy="1237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933393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4317" y="2861020"/>
              <a:ext cx="98151" cy="12371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6931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855" y="4492743"/>
              <a:ext cx="98151" cy="12371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20885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1809" y="4492743"/>
              <a:ext cx="98151" cy="1237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47862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8786" y="4492743"/>
              <a:ext cx="98151" cy="12371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61350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2275" y="4492743"/>
              <a:ext cx="98151" cy="12371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74839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5763" y="4492743"/>
              <a:ext cx="98151" cy="12371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08793" y="3987117"/>
            <a:ext cx="6379845" cy="23088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9905" algn="ctr">
              <a:lnSpc>
                <a:spcPct val="100000"/>
              </a:lnSpc>
              <a:spcBef>
                <a:spcPts val="120"/>
              </a:spcBef>
            </a:pPr>
            <a:r>
              <a:rPr sz="2500" spc="-10" dirty="0">
                <a:latin typeface="Arial MT"/>
                <a:cs typeface="Arial MT"/>
              </a:rPr>
              <a:t>ENCODER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500">
              <a:latin typeface="Arial MT"/>
              <a:cs typeface="Arial MT"/>
            </a:endParaRPr>
          </a:p>
          <a:p>
            <a:pPr marL="12700" marR="1768475">
              <a:lnSpc>
                <a:spcPct val="142300"/>
              </a:lnSpc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finally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got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promoted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work!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[S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Congrats!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That’s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great!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you!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I’ve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trying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now!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31344" y="2861020"/>
            <a:ext cx="12065000" cy="2084070"/>
            <a:chOff x="1631344" y="2861020"/>
            <a:chExt cx="12065000" cy="2084070"/>
          </a:xfrm>
        </p:grpSpPr>
        <p:sp>
          <p:nvSpPr>
            <p:cNvPr id="33" name="object 33"/>
            <p:cNvSpPr/>
            <p:nvPr/>
          </p:nvSpPr>
          <p:spPr>
            <a:xfrm>
              <a:off x="2393908" y="4632456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4832" y="4519406"/>
              <a:ext cx="98151" cy="1237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80420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1344" y="4503408"/>
              <a:ext cx="98151" cy="12371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07397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8321" y="4503408"/>
              <a:ext cx="98151" cy="12371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34374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5298" y="4503408"/>
              <a:ext cx="98151" cy="1237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3647022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97946" y="2861020"/>
              <a:ext cx="98151" cy="12371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42484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93408" y="2861020"/>
              <a:ext cx="98151" cy="1237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83793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8860" y="2861020"/>
              <a:ext cx="98151" cy="123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81155" cy="34143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1022985" indent="-10160">
              <a:lnSpc>
                <a:spcPts val="4700"/>
              </a:lnSpc>
              <a:spcBef>
                <a:spcPts val="640"/>
              </a:spcBef>
              <a:tabLst>
                <a:tab pos="1682114" algn="l"/>
              </a:tabLst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Alternative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approach: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fine-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tune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language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	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2020):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fine-tunes</a:t>
            </a:r>
            <a:r>
              <a:rPr sz="38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75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MPATHETIC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IALOGUES</a:t>
            </a:r>
            <a:r>
              <a:rPr sz="31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(Rashkin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2019)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547" y="769619"/>
            <a:ext cx="103498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45" dirty="0"/>
              <a:t>P</a:t>
            </a:r>
            <a:r>
              <a:rPr spc="-170" dirty="0"/>
              <a:t>.</a:t>
            </a:r>
            <a:r>
              <a:rPr spc="-50" dirty="0"/>
              <a:t>G</a:t>
            </a:r>
            <a:r>
              <a:rPr spc="-25" dirty="0"/>
              <a:t>.</a:t>
            </a:r>
            <a:r>
              <a:rPr spc="-70" dirty="0"/>
              <a:t> </a:t>
            </a:r>
            <a:r>
              <a:rPr spc="-50" dirty="0"/>
              <a:t>Wodehouse</a:t>
            </a:r>
            <a:r>
              <a:rPr spc="-235" dirty="0"/>
              <a:t> </a:t>
            </a:r>
            <a:r>
              <a:rPr spc="-30" dirty="0"/>
              <a:t>predicts</a:t>
            </a:r>
            <a:r>
              <a:rPr spc="-215" dirty="0"/>
              <a:t> </a:t>
            </a:r>
            <a:r>
              <a:rPr spc="-25" dirty="0"/>
              <a:t>neural</a:t>
            </a:r>
            <a:r>
              <a:rPr spc="-180" dirty="0"/>
              <a:t> </a:t>
            </a:r>
            <a:r>
              <a:rPr spc="-10" dirty="0"/>
              <a:t>chatbots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9237345" cy="39179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4615815">
              <a:lnSpc>
                <a:spcPct val="91100"/>
              </a:lnSpc>
              <a:spcBef>
                <a:spcPts val="505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said.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said</a:t>
            </a:r>
            <a:r>
              <a:rPr sz="3800" spc="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Motty.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 marR="530225">
              <a:lnSpc>
                <a:spcPts val="4200"/>
              </a:lnSpc>
              <a:spcBef>
                <a:spcPts val="210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3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seemed</a:t>
            </a:r>
            <a:r>
              <a:rPr sz="38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rather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difficult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go</a:t>
            </a:r>
            <a:r>
              <a:rPr sz="3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conversation.”</a:t>
            </a:r>
            <a:endParaRPr sz="3800">
              <a:latin typeface="Calibri"/>
              <a:cs typeface="Calibri"/>
            </a:endParaRPr>
          </a:p>
          <a:p>
            <a:pPr marL="248158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Wodehouse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3800" i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Man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Jeeves,</a:t>
            </a:r>
            <a:r>
              <a:rPr sz="3800" i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1919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67131"/>
            <a:ext cx="108400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80"/>
              </a:lnSpc>
              <a:spcBef>
                <a:spcPts val="100"/>
              </a:spcBef>
            </a:pPr>
            <a:r>
              <a:rPr sz="4800" spc="-45" dirty="0"/>
              <a:t>Ongoing</a:t>
            </a:r>
            <a:r>
              <a:rPr sz="4800" spc="-210" dirty="0"/>
              <a:t> </a:t>
            </a:r>
            <a:r>
              <a:rPr sz="4800" spc="-60" dirty="0"/>
              <a:t>research</a:t>
            </a:r>
            <a:r>
              <a:rPr sz="4800" spc="-215" dirty="0"/>
              <a:t> </a:t>
            </a:r>
            <a:r>
              <a:rPr sz="4800" spc="-10" dirty="0"/>
              <a:t>problem:</a:t>
            </a:r>
            <a:endParaRPr sz="4800"/>
          </a:p>
          <a:p>
            <a:pPr marL="12700">
              <a:lnSpc>
                <a:spcPts val="5280"/>
              </a:lnSpc>
            </a:pPr>
            <a:r>
              <a:rPr sz="4800" spc="-60" dirty="0"/>
              <a:t>Neural</a:t>
            </a:r>
            <a:r>
              <a:rPr sz="4800" spc="-215" dirty="0"/>
              <a:t> </a:t>
            </a:r>
            <a:r>
              <a:rPr sz="4800" spc="-45" dirty="0"/>
              <a:t>chatbots</a:t>
            </a:r>
            <a:r>
              <a:rPr sz="4800" spc="-225" dirty="0"/>
              <a:t> </a:t>
            </a:r>
            <a:r>
              <a:rPr sz="4800" spc="-10" dirty="0"/>
              <a:t>can</a:t>
            </a:r>
            <a:r>
              <a:rPr sz="4800" spc="-235" dirty="0"/>
              <a:t> </a:t>
            </a:r>
            <a:r>
              <a:rPr sz="4800" spc="-10" dirty="0"/>
              <a:t>get</a:t>
            </a:r>
            <a:r>
              <a:rPr sz="4800" spc="-220" dirty="0"/>
              <a:t> </a:t>
            </a:r>
            <a:r>
              <a:rPr sz="4800" spc="-65" dirty="0"/>
              <a:t>repetitive</a:t>
            </a:r>
            <a:r>
              <a:rPr sz="4800" spc="-210" dirty="0"/>
              <a:t> </a:t>
            </a:r>
            <a:r>
              <a:rPr sz="4800" spc="-10" dirty="0"/>
              <a:t>and</a:t>
            </a:r>
            <a:r>
              <a:rPr sz="4800" spc="-225" dirty="0"/>
              <a:t> </a:t>
            </a:r>
            <a:r>
              <a:rPr sz="4800" spc="-10" dirty="0"/>
              <a:t>boring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16939" y="2292603"/>
            <a:ext cx="4990465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going?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100"/>
              </a:lnSpc>
              <a:spcBef>
                <a:spcPts val="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restroom.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 marR="2198370">
              <a:lnSpc>
                <a:spcPts val="3979"/>
              </a:lnSpc>
              <a:spcBef>
                <a:spcPts val="1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later.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3588" y="2216403"/>
            <a:ext cx="7480300" cy="36042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3971925">
              <a:lnSpc>
                <a:spcPts val="3979"/>
              </a:lnSpc>
              <a:spcBef>
                <a:spcPts val="31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old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you?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954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010"/>
              </a:lnSpc>
              <a:spcBef>
                <a:spcPts val="15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90" dirty="0"/>
              <a:t> </a:t>
            </a:r>
            <a:r>
              <a:rPr dirty="0"/>
              <a:t>by</a:t>
            </a:r>
            <a:r>
              <a:rPr spc="-190" dirty="0"/>
              <a:t> </a:t>
            </a:r>
            <a:r>
              <a:rPr spc="-40" dirty="0"/>
              <a:t>retrieving</a:t>
            </a:r>
            <a:r>
              <a:rPr spc="-18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40" dirty="0"/>
              <a:t>refining</a:t>
            </a:r>
            <a:r>
              <a:rPr spc="-180" dirty="0"/>
              <a:t> </a:t>
            </a:r>
            <a:r>
              <a:rPr spc="-10" dirty="0"/>
              <a:t>knowledge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2684760" cy="55714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4777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responses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informative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rather</a:t>
            </a:r>
            <a:r>
              <a:rPr sz="38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800">
              <a:latin typeface="Calibri"/>
              <a:cs typeface="Calibri"/>
            </a:endParaRPr>
          </a:p>
          <a:p>
            <a:pPr marL="663575" indent="-65087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663575" algn="l"/>
              </a:tabLst>
            </a:pPr>
            <a:r>
              <a:rPr sz="3600" spc="-145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respond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“Tell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Beijing”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XiaoIce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collects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lectures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news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articles.</a:t>
            </a:r>
            <a:endParaRPr sz="29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searches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expansion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user’s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augment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5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retrieve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passages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endParaRPr sz="2900">
              <a:latin typeface="Calibri"/>
              <a:cs typeface="Calibri"/>
            </a:endParaRPr>
          </a:p>
          <a:p>
            <a:pPr marL="1037590" marR="5080" lvl="1" indent="-548640">
              <a:lnSpc>
                <a:spcPts val="3100"/>
              </a:lnSpc>
              <a:spcBef>
                <a:spcPts val="6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spc="-30" dirty="0">
                <a:solidFill>
                  <a:srgbClr val="595959"/>
                </a:solidFill>
                <a:latin typeface="Calibri"/>
                <a:cs typeface="Calibri"/>
              </a:rPr>
              <a:t>concatenate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separator token.</a:t>
            </a:r>
            <a:endParaRPr sz="2900">
              <a:latin typeface="Calibri"/>
              <a:cs typeface="Calibri"/>
            </a:endParaRPr>
          </a:p>
          <a:p>
            <a:pPr marL="1037590" marR="1022350" lvl="1" indent="-548640">
              <a:lnSpc>
                <a:spcPts val="31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Give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encoder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3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model,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learns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incorporate</a:t>
            </a:r>
            <a:r>
              <a:rPr sz="29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Hybrid</a:t>
            </a:r>
            <a:r>
              <a:rPr spc="-26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1651615" cy="47345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2020)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series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generators: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EmpatheticDialogues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paraphrase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Wikipedia</a:t>
            </a:r>
            <a:endParaRPr sz="3400">
              <a:latin typeface="Calibri"/>
              <a:cs typeface="Calibri"/>
            </a:endParaRPr>
          </a:p>
          <a:p>
            <a:pPr marL="561340" marR="627380" indent="-548640">
              <a:lnSpc>
                <a:spcPts val="3600"/>
              </a:lnSpc>
              <a:spcBef>
                <a:spcPts val="13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generators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scripted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musician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fun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fact,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actor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420" y="3316223"/>
            <a:ext cx="1433195" cy="10160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720"/>
              </a:spcBef>
            </a:pPr>
            <a:r>
              <a:rPr sz="3500" spc="-10" dirty="0">
                <a:solidFill>
                  <a:srgbClr val="404040"/>
                </a:solidFill>
                <a:latin typeface="Calibri Light"/>
                <a:cs typeface="Calibri Light"/>
              </a:rPr>
              <a:t>Chirpy </a:t>
            </a:r>
            <a:r>
              <a:rPr sz="3500" spc="-70" dirty="0">
                <a:solidFill>
                  <a:srgbClr val="404040"/>
                </a:solidFill>
                <a:latin typeface="Calibri Light"/>
                <a:cs typeface="Calibri Light"/>
              </a:rPr>
              <a:t>Cardinal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20" y="4218432"/>
            <a:ext cx="186943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5" dirty="0">
                <a:solidFill>
                  <a:srgbClr val="404040"/>
                </a:solidFill>
                <a:latin typeface="Calibri Light"/>
                <a:cs typeface="Calibri Light"/>
              </a:rPr>
              <a:t>(Paranjape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420" y="4663440"/>
            <a:ext cx="19704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404040"/>
                </a:solidFill>
                <a:latin typeface="Calibri Light"/>
                <a:cs typeface="Calibri Light"/>
              </a:rPr>
              <a:t>et</a:t>
            </a:r>
            <a:r>
              <a:rPr sz="35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al.</a:t>
            </a:r>
            <a:r>
              <a:rPr sz="3500" spc="-1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2020)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8780" y="102766"/>
            <a:ext cx="15062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#</a:t>
            </a:r>
            <a:r>
              <a:rPr sz="20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0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Utterance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1534" y="102766"/>
            <a:ext cx="15189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Commentary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1480" y="471638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26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78780" y="416563"/>
            <a:ext cx="2034539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let’s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chat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3792" y="102766"/>
            <a:ext cx="728345" cy="6553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Entity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12649" y="1356275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90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46830" y="748298"/>
            <a:ext cx="5441315" cy="8667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algn="just">
              <a:lnSpc>
                <a:spcPct val="84000"/>
              </a:lnSpc>
              <a:spcBef>
                <a:spcPts val="51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Hi,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Alexa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Prize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Socialbot.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I’d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to </a:t>
            </a:r>
            <a:r>
              <a:rPr sz="2050" dirty="0">
                <a:latin typeface="Times New Roman"/>
                <a:cs typeface="Times New Roman"/>
              </a:rPr>
              <a:t>get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know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better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before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all </a:t>
            </a:r>
            <a:r>
              <a:rPr sz="2050" dirty="0">
                <a:latin typeface="Times New Roman"/>
                <a:cs typeface="Times New Roman"/>
              </a:rPr>
              <a:t>right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if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ask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name?</a:t>
            </a:r>
            <a:r>
              <a:rPr sz="2050" spc="2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3797" y="748298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44309" y="831146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46250" y="74829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be-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1613" y="1013035"/>
            <a:ext cx="2214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gin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conversation.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91480" y="1633987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78780" y="1567082"/>
            <a:ext cx="288353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2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chris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09167" y="2261026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89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46830" y="1898818"/>
            <a:ext cx="5485130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meet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Chris!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I’m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excited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today.</a:t>
            </a:r>
            <a:r>
              <a:rPr sz="2050" spc="20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]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hope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after-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29232" y="2805091"/>
            <a:ext cx="1617980" cy="250190"/>
          </a:xfrm>
          <a:custGeom>
            <a:avLst/>
            <a:gdLst/>
            <a:ahLst/>
            <a:cxnLst/>
            <a:rect l="l" t="t" r="r" b="b"/>
            <a:pathLst>
              <a:path w="1617979" h="250189">
                <a:moveTo>
                  <a:pt x="1617367" y="0"/>
                </a:moveTo>
                <a:lnTo>
                  <a:pt x="0" y="0"/>
                </a:lnTo>
                <a:lnTo>
                  <a:pt x="0" y="249968"/>
                </a:lnTo>
                <a:lnTo>
                  <a:pt x="1617367" y="249968"/>
                </a:lnTo>
                <a:lnTo>
                  <a:pt x="1617367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6830" y="2442883"/>
            <a:ext cx="544131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dirty="0">
                <a:latin typeface="Times New Roman"/>
                <a:cs typeface="Times New Roman"/>
              </a:rPr>
              <a:t>noon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going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well.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are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plans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rest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today?</a:t>
            </a:r>
            <a:r>
              <a:rPr sz="2050" spc="2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13797" y="1551248"/>
            <a:ext cx="59690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44309" y="1981667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746250" y="189881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48055" algn="l"/>
                <a:tab pos="1636395" algn="l"/>
                <a:tab pos="1886585" algn="l"/>
                <a:tab pos="4491990" algn="l"/>
              </a:tabLst>
            </a:pPr>
            <a:r>
              <a:rPr sz="2050" spc="-10" dirty="0">
                <a:latin typeface="Times New Roman"/>
                <a:cs typeface="Times New Roman"/>
              </a:rPr>
              <a:t>Launch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Times New Roman"/>
                <a:cs typeface="Times New Roman"/>
              </a:rPr>
              <a:t>a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i="1" spc="-10" dirty="0">
                <a:latin typeface="Times New Roman"/>
                <a:cs typeface="Times New Roman"/>
              </a:rPr>
              <a:t>STRONG_CONTINUE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re-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31613" y="2163554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sponse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needs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prompt,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which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supplied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066480" y="2525733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19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731613" y="2442883"/>
            <a:ext cx="478409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by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1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22913" y="2707619"/>
            <a:ext cx="216281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(scripted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transition).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91480" y="308283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91848" y="3709837"/>
            <a:ext cx="1683385" cy="250190"/>
          </a:xfrm>
          <a:custGeom>
            <a:avLst/>
            <a:gdLst/>
            <a:ahLst/>
            <a:cxnLst/>
            <a:rect l="l" t="t" r="r" b="b"/>
            <a:pathLst>
              <a:path w="1683384" h="250189">
                <a:moveTo>
                  <a:pt x="1683265" y="0"/>
                </a:moveTo>
                <a:lnTo>
                  <a:pt x="0" y="0"/>
                </a:lnTo>
                <a:lnTo>
                  <a:pt x="0" y="249968"/>
                </a:lnTo>
                <a:lnTo>
                  <a:pt x="1683265" y="249968"/>
                </a:lnTo>
                <a:lnTo>
                  <a:pt x="1683265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078780" y="3000032"/>
            <a:ext cx="5808980" cy="96837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3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hang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friends</a:t>
            </a:r>
            <a:endParaRPr sz="2050">
              <a:latin typeface="Times New Roman"/>
              <a:cs typeface="Times New Roman"/>
            </a:endParaRPr>
          </a:p>
          <a:p>
            <a:pPr marL="380365" marR="5080">
              <a:lnSpc>
                <a:spcPts val="2200"/>
              </a:lnSpc>
              <a:spcBef>
                <a:spcPts val="44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3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sounds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great,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spending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time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 </a:t>
            </a:r>
            <a:r>
              <a:rPr sz="2050" dirty="0">
                <a:latin typeface="Times New Roman"/>
                <a:cs typeface="Times New Roman"/>
              </a:rPr>
              <a:t>friends.</a:t>
            </a:r>
            <a:r>
              <a:rPr sz="2050" spc="7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What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will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together?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4309" y="3430479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746250" y="3347661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generates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70" dirty="0">
                <a:latin typeface="Times New Roman"/>
                <a:cs typeface="Times New Roman"/>
              </a:rPr>
              <a:t>GPT-</a:t>
            </a:r>
            <a:r>
              <a:rPr sz="2050" dirty="0">
                <a:latin typeface="Times New Roman"/>
                <a:cs typeface="Times New Roman"/>
              </a:rPr>
              <a:t>2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725029" y="3612368"/>
            <a:ext cx="3357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i="1" dirty="0">
                <a:latin typeface="Times New Roman"/>
                <a:cs typeface="Times New Roman"/>
              </a:rPr>
              <a:t>STRONG_CONTINUE</a:t>
            </a:r>
            <a:r>
              <a:rPr sz="2050" i="1" spc="1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91480" y="398758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78780" y="3920645"/>
            <a:ext cx="33889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4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maybe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watch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movie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13797" y="3000032"/>
            <a:ext cx="596900" cy="1262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46830" y="4252410"/>
            <a:ext cx="5441315" cy="6064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50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too!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 watching movies;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 get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learn </a:t>
            </a:r>
            <a:r>
              <a:rPr sz="2050" dirty="0">
                <a:latin typeface="Times New Roman"/>
                <a:cs typeface="Times New Roman"/>
              </a:rPr>
              <a:t>so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much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world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outside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of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59530" y="5089688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4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46830" y="4727480"/>
            <a:ext cx="545274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7305" marR="5080" indent="-15240">
              <a:lnSpc>
                <a:spcPts val="2200"/>
              </a:lnSpc>
              <a:spcBef>
                <a:spcPts val="409"/>
              </a:spcBef>
              <a:tabLst>
                <a:tab pos="1332230" algn="l"/>
              </a:tabLst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cloud!</a:t>
            </a:r>
            <a:r>
              <a:rPr sz="2050" dirty="0">
                <a:latin typeface="Times New Roman"/>
                <a:cs typeface="Times New Roman"/>
              </a:rPr>
              <a:t>	Have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3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seen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any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recently?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13797" y="4252410"/>
            <a:ext cx="5238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Film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744309" y="4335230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746250" y="4252410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detects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‘movie’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keyword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the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31613" y="4517117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user’s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utterance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gives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156975" y="4879326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731613" y="4796475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88390" algn="l"/>
                <a:tab pos="2439670" algn="l"/>
                <a:tab pos="4044315" algn="l"/>
              </a:tabLst>
            </a:pPr>
            <a:r>
              <a:rPr sz="2050" spc="-10" dirty="0">
                <a:latin typeface="Times New Roman"/>
                <a:cs typeface="Times New Roman"/>
              </a:rPr>
              <a:t>response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(overriding</a:t>
            </a:r>
            <a:r>
              <a:rPr sz="2050" dirty="0">
                <a:latin typeface="Times New Roman"/>
                <a:cs typeface="Times New Roman"/>
              </a:rPr>
              <a:t>	Neural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Chat),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setting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731613" y="5061182"/>
            <a:ext cx="232664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20" dirty="0">
                <a:latin typeface="Times New Roman"/>
                <a:cs typeface="Times New Roman"/>
              </a:rPr>
              <a:t>Film</a:t>
            </a:r>
            <a:r>
              <a:rPr sz="2050" spc="-2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91480" y="542177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78780" y="5366582"/>
            <a:ext cx="27768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5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saw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13797" y="5366582"/>
            <a:ext cx="11918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274251" y="5449402"/>
            <a:ext cx="143954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Linker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731613" y="5366582"/>
            <a:ext cx="24949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93595" algn="l"/>
              </a:tabLst>
            </a:pPr>
            <a:r>
              <a:rPr sz="2050" spc="-25" dirty="0">
                <a:latin typeface="Times New Roman"/>
                <a:cs typeface="Times New Roman"/>
              </a:rPr>
              <a:t>The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and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325774" y="5449402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972004" y="5366582"/>
            <a:ext cx="577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iden-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731613" y="5645940"/>
            <a:ext cx="383730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tify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The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Matrix</a:t>
            </a:r>
            <a:r>
              <a:rPr sz="2050" i="1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464019" y="6060522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5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446830" y="5977675"/>
            <a:ext cx="51390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Did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Matrix?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91480" y="633827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078780" y="6271331"/>
            <a:ext cx="366585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6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loved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neo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amazing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13797" y="5977675"/>
            <a:ext cx="1191895" cy="6350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310"/>
              </a:lnSpc>
              <a:spcBef>
                <a:spcPts val="325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46830" y="6603096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Oooh,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yeah,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agree.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Hey,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isn’t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Keanu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46830" y="6867804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12289" algn="l"/>
              </a:tabLst>
            </a:pP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3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3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movie?</a:t>
            </a:r>
            <a:r>
              <a:rPr sz="2050" dirty="0">
                <a:latin typeface="Times New Roman"/>
                <a:cs typeface="Times New Roman"/>
              </a:rPr>
              <a:t>	What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think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46830" y="7147161"/>
            <a:ext cx="89344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Reeves?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08812" y="7230010"/>
            <a:ext cx="1123315" cy="250190"/>
          </a:xfrm>
          <a:prstGeom prst="rect">
            <a:avLst/>
          </a:prstGeom>
          <a:solidFill>
            <a:srgbClr val="DFE674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13797" y="6603096"/>
            <a:ext cx="72072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13797" y="6806324"/>
            <a:ext cx="7759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9744309" y="6685915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9746250" y="6603096"/>
            <a:ext cx="4641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sets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 </a:t>
            </a:r>
            <a:r>
              <a:rPr sz="2050" i="1" dirty="0">
                <a:latin typeface="Times New Roman"/>
                <a:cs typeface="Times New Roman"/>
              </a:rPr>
              <a:t>Keanu </a:t>
            </a:r>
            <a:r>
              <a:rPr sz="2050" i="1" spc="-10" dirty="0">
                <a:latin typeface="Times New Roman"/>
                <a:cs typeface="Times New Roman"/>
              </a:rPr>
              <a:t>Reeves</a:t>
            </a:r>
            <a:r>
              <a:rPr sz="2050" spc="-1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091480" y="7507609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078780" y="7452414"/>
            <a:ext cx="476250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7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want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talk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something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else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13929" y="7452414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744309" y="7535234"/>
            <a:ext cx="2065020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Navigational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Intent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850913" y="7452414"/>
            <a:ext cx="26555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detects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30" dirty="0">
                <a:latin typeface="Times New Roman"/>
                <a:cs typeface="Times New Roman"/>
              </a:rPr>
              <a:t>negative</a:t>
            </a:r>
            <a:r>
              <a:rPr sz="2050" i="1" spc="-75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intent</a:t>
            </a:r>
            <a:r>
              <a:rPr sz="2050" spc="-10" dirty="0">
                <a:latin typeface="Times New Roman"/>
                <a:cs typeface="Times New Roman"/>
              </a:rPr>
              <a:t>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so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744309" y="7829213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344636" y="7746393"/>
            <a:ext cx="2628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rejects 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Chatbots:</a:t>
            </a:r>
            <a:r>
              <a:rPr spc="-215" dirty="0"/>
              <a:t> </a:t>
            </a:r>
            <a:r>
              <a:rPr spc="-10" dirty="0"/>
              <a:t>pro</a:t>
            </a:r>
            <a:r>
              <a:rPr spc="-204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spc="-25" dirty="0"/>
              <a:t>con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653540"/>
            <a:ext cx="12378690" cy="573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90"/>
              </a:lnSpc>
              <a:spcBef>
                <a:spcPts val="100"/>
              </a:spcBef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Pro: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93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Good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narrow,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scriptable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applications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390"/>
              </a:lnSpc>
              <a:spcBef>
                <a:spcPts val="50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Cons: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don't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really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understand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79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Giving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appearance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problematic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expensive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brittle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IR-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only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mirror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400">
              <a:latin typeface="Calibri"/>
              <a:cs typeface="Calibri"/>
            </a:endParaRPr>
          </a:p>
          <a:p>
            <a:pPr marL="629920" lvl="1" indent="-273050">
              <a:lnSpc>
                <a:spcPts val="3790"/>
              </a:lnSpc>
              <a:buClr>
                <a:srgbClr val="E48312"/>
              </a:buClr>
              <a:buChar char="◦"/>
              <a:tabLst>
                <a:tab pos="62992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We'll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discuss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case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endParaRPr sz="3400">
              <a:latin typeface="Calibri"/>
              <a:cs typeface="Calibri"/>
            </a:endParaRPr>
          </a:p>
          <a:p>
            <a:pPr marL="840740" lvl="2" indent="-318135">
              <a:lnSpc>
                <a:spcPts val="3935"/>
              </a:lnSpc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(or,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Next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steps: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integrating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ability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Frame-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20" dirty="0"/>
              <a:t>dialogue</a:t>
            </a:r>
            <a:r>
              <a:rPr spc="-21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757172"/>
            <a:ext cx="12440920" cy="47104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b="1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agents"</a:t>
            </a:r>
            <a:endParaRPr sz="3800">
              <a:latin typeface="Calibri"/>
              <a:cs typeface="Calibri"/>
            </a:endParaRPr>
          </a:p>
          <a:p>
            <a:pPr marL="560705" marR="5080" indent="-548640">
              <a:lnSpc>
                <a:spcPts val="410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like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making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proposed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1977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(each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consisting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9215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 marR="2441575">
              <a:lnSpc>
                <a:spcPct val="120000"/>
              </a:lnSpc>
              <a:spcBef>
                <a:spcPts val="12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400" b="1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595959"/>
                </a:solidFill>
                <a:latin typeface="Calibri"/>
                <a:cs typeface="Calibri"/>
              </a:rPr>
              <a:t>ontology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4155947"/>
            <a:ext cx="14820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800"/>
              </a:lnSpc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4155947"/>
            <a:ext cx="9867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Type</a:t>
            </a:r>
            <a:endParaRPr sz="3800">
              <a:latin typeface="Calibri"/>
              <a:cs typeface="Calibri"/>
            </a:endParaRPr>
          </a:p>
          <a:p>
            <a:pPr marL="12700" marR="266065">
              <a:lnSpc>
                <a:spcPts val="4800"/>
              </a:lnSpc>
            </a:pP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4155947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800"/>
              </a:lnSpc>
              <a:spcBef>
                <a:spcPts val="10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05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2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960364"/>
            <a:ext cx="29368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264" y="6557771"/>
            <a:ext cx="2961640" cy="11988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80"/>
              </a:spcBef>
              <a:tabLst>
                <a:tab pos="2098675" algn="l"/>
              </a:tabLst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404040"/>
                </a:solidFill>
              </a:rPr>
              <a:t>Two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basic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30421"/>
            <a:ext cx="12579350" cy="63773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4300" b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frame-based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3800">
              <a:latin typeface="Calibri"/>
              <a:cs typeface="Calibri"/>
            </a:endParaRPr>
          </a:p>
          <a:p>
            <a:pPr marL="561340" marR="1587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Over 40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years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old,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still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2590"/>
              </a:lnSpc>
              <a:spcBef>
                <a:spcPts val="141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Bobrow,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Daniel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G.,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Ronald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Kaplan,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Martin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Kay,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Donald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Norman,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Henry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Thompson,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Terry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Winograd.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1977.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24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driven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dialog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system."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2400" i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2400" i="1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8,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2:155-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173.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dialogue-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state</a:t>
            </a:r>
            <a:r>
              <a:rPr sz="4300" b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Extension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research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aspects making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0398" y="157801"/>
            <a:ext cx="12211685" cy="8029575"/>
          </a:xfrm>
          <a:custGeom>
            <a:avLst/>
            <a:gdLst/>
            <a:ahLst/>
            <a:cxnLst/>
            <a:rect l="l" t="t" r="r" b="b"/>
            <a:pathLst>
              <a:path w="12211685" h="8029575">
                <a:moveTo>
                  <a:pt x="0" y="0"/>
                </a:moveTo>
                <a:lnTo>
                  <a:pt x="0" y="8029306"/>
                </a:lnTo>
                <a:lnTo>
                  <a:pt x="12211151" y="8029306"/>
                </a:lnTo>
                <a:lnTo>
                  <a:pt x="12211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9165" y="86400"/>
            <a:ext cx="775335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165" y="889003"/>
            <a:ext cx="921385" cy="40316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5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165" y="5303283"/>
            <a:ext cx="921385" cy="20250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2703" y="86400"/>
            <a:ext cx="10461625" cy="80441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-635">
              <a:lnSpc>
                <a:spcPct val="103299"/>
              </a:lnSpc>
              <a:spcBef>
                <a:spcPts val="35"/>
              </a:spcBef>
            </a:pPr>
            <a:r>
              <a:rPr sz="2550" dirty="0">
                <a:latin typeface="Times New Roman"/>
                <a:cs typeface="Times New Roman"/>
              </a:rPr>
              <a:t>Hello.</a:t>
            </a:r>
            <a:r>
              <a:rPr sz="2550" spc="1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GUS.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can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help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plan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simple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trip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air.</a:t>
            </a:r>
            <a:r>
              <a:rPr sz="2550" spc="1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Where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5559425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time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leave?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304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must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before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</a:t>
            </a:r>
            <a:endParaRPr sz="2550">
              <a:latin typeface="Times New Roman"/>
              <a:cs typeface="Times New Roman"/>
            </a:endParaRPr>
          </a:p>
          <a:p>
            <a:pPr marL="12700" marR="2943860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like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P.S.A.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next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131826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Air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California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310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8.30am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10.00am </a:t>
            </a:r>
            <a:r>
              <a:rPr sz="2550" dirty="0">
                <a:latin typeface="Times New Roman"/>
                <a:cs typeface="Times New Roman"/>
              </a:rPr>
              <a:t>I’ll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take the first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one</a:t>
            </a:r>
            <a:endParaRPr sz="2550">
              <a:latin typeface="Times New Roman"/>
              <a:cs typeface="Times New Roman"/>
            </a:endParaRPr>
          </a:p>
          <a:p>
            <a:pPr marL="12700" marR="381000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should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make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reservation,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please? </a:t>
            </a:r>
            <a:r>
              <a:rPr sz="2550" dirty="0">
                <a:latin typeface="Times New Roman"/>
                <a:cs typeface="Times New Roman"/>
              </a:rPr>
              <a:t>Dan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Bobrow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P.S.A.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Wednesday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from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7.30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am.</a:t>
            </a:r>
            <a:endParaRPr sz="2550">
              <a:latin typeface="Times New Roman"/>
              <a:cs typeface="Times New Roman"/>
            </a:endParaRPr>
          </a:p>
          <a:p>
            <a:pPr marL="12700" marR="55460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date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return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evening.</a:t>
            </a:r>
            <a:endParaRPr sz="2550">
              <a:latin typeface="Times New Roman"/>
              <a:cs typeface="Times New Roman"/>
            </a:endParaRPr>
          </a:p>
          <a:p>
            <a:pPr marL="12700" marR="39839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 like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 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 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 pm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That’s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fine.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3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P.S.A.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307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from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9.30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Thank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calling.</a:t>
            </a:r>
            <a:r>
              <a:rPr sz="2550" spc="2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Goodbye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0398" y="8172497"/>
            <a:ext cx="12211685" cy="57150"/>
            <a:chOff x="860398" y="8172497"/>
            <a:chExt cx="12211685" cy="57150"/>
          </a:xfrm>
        </p:grpSpPr>
        <p:sp>
          <p:nvSpPr>
            <p:cNvPr id="8" name="object 8"/>
            <p:cNvSpPr/>
            <p:nvPr/>
          </p:nvSpPr>
          <p:spPr>
            <a:xfrm>
              <a:off x="869535" y="8172497"/>
              <a:ext cx="12202160" cy="14604"/>
            </a:xfrm>
            <a:custGeom>
              <a:avLst/>
              <a:gdLst/>
              <a:ahLst/>
              <a:cxnLst/>
              <a:rect l="l" t="t" r="r" b="b"/>
              <a:pathLst>
                <a:path w="12202160" h="14604">
                  <a:moveTo>
                    <a:pt x="12202014" y="0"/>
                  </a:moveTo>
                  <a:lnTo>
                    <a:pt x="0" y="0"/>
                  </a:lnTo>
                  <a:lnTo>
                    <a:pt x="0" y="14574"/>
                  </a:lnTo>
                  <a:lnTo>
                    <a:pt x="12202014" y="14574"/>
                  </a:lnTo>
                  <a:lnTo>
                    <a:pt x="12202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0398" y="8223580"/>
              <a:ext cx="1657350" cy="6350"/>
            </a:xfrm>
            <a:custGeom>
              <a:avLst/>
              <a:gdLst/>
              <a:ahLst/>
              <a:cxnLst/>
              <a:rect l="l" t="t" r="r" b="b"/>
              <a:pathLst>
                <a:path w="1657350" h="6350">
                  <a:moveTo>
                    <a:pt x="1657247" y="0"/>
                  </a:moveTo>
                  <a:lnTo>
                    <a:pt x="0" y="0"/>
                  </a:lnTo>
                  <a:lnTo>
                    <a:pt x="0" y="6019"/>
                  </a:lnTo>
                  <a:lnTo>
                    <a:pt x="1657247" y="6019"/>
                  </a:lnTo>
                  <a:lnTo>
                    <a:pt x="1657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507" y="861059"/>
            <a:ext cx="11217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Control</a:t>
            </a:r>
            <a:r>
              <a:rPr spc="-200" dirty="0"/>
              <a:t> </a:t>
            </a:r>
            <a:r>
              <a:rPr spc="-45" dirty="0"/>
              <a:t>structure</a:t>
            </a:r>
            <a:r>
              <a:rPr spc="-190" dirty="0"/>
              <a:t> </a:t>
            </a:r>
            <a:r>
              <a:rPr spc="-20" dirty="0"/>
              <a:t>for</a:t>
            </a:r>
            <a:r>
              <a:rPr spc="-190" dirty="0"/>
              <a:t> </a:t>
            </a:r>
            <a:r>
              <a:rPr dirty="0"/>
              <a:t>GUS</a:t>
            </a:r>
            <a:r>
              <a:rPr spc="-190" dirty="0"/>
              <a:t> </a:t>
            </a:r>
            <a:r>
              <a:rPr spc="-20" dirty="0"/>
              <a:t>frame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2409951"/>
            <a:ext cx="12249785" cy="3768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asks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questions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user,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specifies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many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time:</a:t>
            </a:r>
            <a:endParaRPr sz="4300">
              <a:latin typeface="Calibri"/>
              <a:cs typeface="Calibri"/>
            </a:endParaRPr>
          </a:p>
          <a:p>
            <a:pPr marL="698500" marR="231140" indent="-685800">
              <a:lnSpc>
                <a:spcPts val="3600"/>
              </a:lnSpc>
              <a:spcBef>
                <a:spcPts val="147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from</a:t>
            </a:r>
            <a:r>
              <a:rPr sz="3400" spc="-1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San</a:t>
            </a:r>
            <a:r>
              <a:rPr sz="3400" spc="-11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50"/>
                </a:solidFill>
                <a:latin typeface="Calibri"/>
                <a:cs typeface="Calibri"/>
              </a:rPr>
              <a:t>Francisco</a:t>
            </a:r>
            <a:r>
              <a:rPr sz="3400" spc="-1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F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F0"/>
                </a:solidFill>
                <a:latin typeface="Calibri"/>
                <a:cs typeface="Calibri"/>
              </a:rPr>
              <a:t>Denver</a:t>
            </a:r>
            <a:r>
              <a:rPr sz="3400" spc="-12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one</a:t>
            </a:r>
            <a:r>
              <a:rPr sz="3400" spc="-13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way</a:t>
            </a:r>
            <a:r>
              <a:rPr sz="3400" spc="-12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leaving</a:t>
            </a:r>
            <a:r>
              <a:rPr sz="3400" spc="-12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after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five</a:t>
            </a:r>
            <a:r>
              <a:rPr sz="3400" spc="-10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p.m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F7F7F"/>
                </a:solidFill>
                <a:latin typeface="Calibri"/>
                <a:cs typeface="Calibri"/>
              </a:rPr>
              <a:t>on</a:t>
            </a:r>
            <a:r>
              <a:rPr sz="3400" spc="-1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F7F7F"/>
                </a:solidFill>
                <a:latin typeface="Calibri"/>
                <a:cs typeface="Calibri"/>
              </a:rPr>
              <a:t>Tuesday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  <a:p>
            <a:pPr marL="25400">
              <a:lnSpc>
                <a:spcPts val="5035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frame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filled,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database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slots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condition-</a:t>
            </a:r>
            <a:r>
              <a:rPr spc="-10" dirty="0">
                <a:solidFill>
                  <a:srgbClr val="404040"/>
                </a:solidFill>
              </a:rPr>
              <a:t>action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rules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attached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0888345" cy="45567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45402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attached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plane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8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endParaRPr sz="3800">
              <a:latin typeface="Calibri"/>
              <a:cs typeface="Calibri"/>
            </a:endParaRPr>
          </a:p>
          <a:p>
            <a:pPr marL="739775" indent="-72707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AutoNum type="arabicPeriod"/>
              <a:tabLst>
                <a:tab pos="73977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endParaRPr sz="3800">
              <a:latin typeface="Calibri"/>
              <a:cs typeface="Calibri"/>
            </a:endParaRPr>
          </a:p>
          <a:p>
            <a:pPr marL="1037590" marR="364490" lvl="1" indent="-54864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city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30" dirty="0">
                <a:solidFill>
                  <a:srgbClr val="404040"/>
                </a:solidFill>
                <a:latin typeface="Calibri"/>
                <a:cs typeface="Calibri"/>
              </a:rPr>
              <a:t>StayLocation</a:t>
            </a:r>
            <a:r>
              <a:rPr sz="3400" i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hotel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4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  <a:p>
            <a:pPr marL="629920" marR="5080" indent="-617220">
              <a:lnSpc>
                <a:spcPts val="4100"/>
              </a:lnSpc>
              <a:spcBef>
                <a:spcPts val="1495"/>
              </a:spcBef>
              <a:buAutoNum type="arabicPeriod"/>
              <a:tabLst>
                <a:tab pos="629920" algn="l"/>
                <a:tab pos="739775" algn="l"/>
              </a:tabLst>
            </a:pPr>
            <a:r>
              <a:rPr sz="38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DAY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short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trip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Automatically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copy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ARRIVAL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DAY.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systems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multiple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095990" cy="536257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Frames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like: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hotel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reservations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route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airlines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fly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Boston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Francisco?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airfare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practices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stay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days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decent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airfare?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).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detection: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filling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1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55" dirty="0"/>
              <a:t>GUS:</a:t>
            </a:r>
            <a:r>
              <a:rPr sz="4600" spc="-155" dirty="0"/>
              <a:t> </a:t>
            </a:r>
            <a:r>
              <a:rPr sz="4600" spc="-80" dirty="0"/>
              <a:t>Natural</a:t>
            </a:r>
            <a:r>
              <a:rPr sz="4600" spc="-155" dirty="0"/>
              <a:t> </a:t>
            </a:r>
            <a:r>
              <a:rPr sz="4600" spc="-7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70" dirty="0"/>
              <a:t>for</a:t>
            </a:r>
            <a:r>
              <a:rPr sz="4600" spc="-155" dirty="0"/>
              <a:t> </a:t>
            </a:r>
            <a:r>
              <a:rPr sz="4600" spc="-10" dirty="0"/>
              <a:t>filling </a:t>
            </a:r>
            <a:r>
              <a:rPr sz="4600" spc="-50" dirty="0"/>
              <a:t>dialog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080115" cy="429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800" b="1" spc="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classification</a:t>
            </a:r>
            <a:endParaRPr sz="3800">
              <a:latin typeface="Calibri"/>
              <a:cs typeface="Calibri"/>
            </a:endParaRPr>
          </a:p>
          <a:p>
            <a:pPr marL="341630" marR="5080">
              <a:lnSpc>
                <a:spcPts val="4200"/>
              </a:lnSpc>
              <a:spcBef>
                <a:spcPts val="459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weather?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Programming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alarm clock?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AutoNum type="arabicPeriod" startAt="2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Intent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Determination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Movie,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Flight,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Calendar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Appt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1055"/>
              </a:spcBef>
              <a:buClr>
                <a:srgbClr val="E48312"/>
              </a:buClr>
              <a:buAutoNum type="arabicPeriod" startAt="3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Extract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actual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5" dirty="0"/>
              <a:t> </a:t>
            </a:r>
            <a:r>
              <a:rPr sz="4600" spc="-60" dirty="0"/>
              <a:t>Language</a:t>
            </a:r>
            <a:r>
              <a:rPr sz="4600" spc="-175" dirty="0"/>
              <a:t> </a:t>
            </a:r>
            <a:r>
              <a:rPr sz="4600" spc="-80" dirty="0"/>
              <a:t>Understanding</a:t>
            </a:r>
            <a:r>
              <a:rPr sz="4600" spc="-165" dirty="0"/>
              <a:t> </a:t>
            </a:r>
            <a:r>
              <a:rPr sz="4600" spc="-70" dirty="0"/>
              <a:t>for</a:t>
            </a:r>
            <a:r>
              <a:rPr sz="4600" spc="-160" dirty="0"/>
              <a:t> </a:t>
            </a:r>
            <a:r>
              <a:rPr sz="4600" spc="-40" dirty="0"/>
              <a:t>filling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8240395" cy="11258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Show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morning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flights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from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Boston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SF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Tuesday.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0908" y="3847496"/>
            <a:ext cx="293751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sz="3600" spc="-10" dirty="0">
                <a:latin typeface="Calibri"/>
                <a:cs typeface="Calibri"/>
              </a:rPr>
              <a:t>DOMAIN: </a:t>
            </a:r>
            <a:r>
              <a:rPr sz="3600" spc="204" dirty="0">
                <a:latin typeface="Calibri"/>
                <a:cs typeface="Calibri"/>
              </a:rPr>
              <a:t>INTENT: </a:t>
            </a:r>
            <a:r>
              <a:rPr sz="3600" spc="320" dirty="0">
                <a:latin typeface="Calibri"/>
                <a:cs typeface="Calibri"/>
              </a:rPr>
              <a:t>ORIGIN-</a:t>
            </a:r>
            <a:r>
              <a:rPr sz="3600" spc="265" dirty="0">
                <a:latin typeface="Calibri"/>
                <a:cs typeface="Calibri"/>
              </a:rPr>
              <a:t>CITY: </a:t>
            </a:r>
            <a:r>
              <a:rPr sz="3600" spc="185" dirty="0">
                <a:latin typeface="Calibri"/>
                <a:cs typeface="Calibri"/>
              </a:rPr>
              <a:t>ORIGIN-</a:t>
            </a:r>
            <a:r>
              <a:rPr sz="3600" spc="180" dirty="0">
                <a:latin typeface="Calibri"/>
                <a:cs typeface="Calibri"/>
              </a:rPr>
              <a:t>DATE: </a:t>
            </a:r>
            <a:r>
              <a:rPr sz="3600" spc="200" dirty="0">
                <a:latin typeface="Calibri"/>
                <a:cs typeface="Calibri"/>
              </a:rPr>
              <a:t>ORIGIN-</a:t>
            </a:r>
            <a:r>
              <a:rPr sz="3600" spc="190" dirty="0">
                <a:latin typeface="Calibri"/>
                <a:cs typeface="Calibri"/>
              </a:rPr>
              <a:t>TIME: </a:t>
            </a:r>
            <a:r>
              <a:rPr sz="3600" spc="355" dirty="0">
                <a:latin typeface="Calibri"/>
                <a:cs typeface="Calibri"/>
              </a:rPr>
              <a:t>DEST-</a:t>
            </a:r>
            <a:r>
              <a:rPr sz="3600" spc="295" dirty="0">
                <a:latin typeface="Calibri"/>
                <a:cs typeface="Calibri"/>
              </a:rPr>
              <a:t>CITY: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18344" y="3847496"/>
            <a:ext cx="318071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7650">
              <a:lnSpc>
                <a:spcPct val="100899"/>
              </a:lnSpc>
              <a:spcBef>
                <a:spcPts val="95"/>
              </a:spcBef>
            </a:pPr>
            <a:r>
              <a:rPr sz="3600" spc="165" dirty="0">
                <a:latin typeface="Calibri"/>
                <a:cs typeface="Calibri"/>
              </a:rPr>
              <a:t>AIR-</a:t>
            </a:r>
            <a:r>
              <a:rPr sz="3600" spc="190" dirty="0">
                <a:latin typeface="Calibri"/>
                <a:cs typeface="Calibri"/>
              </a:rPr>
              <a:t>TRAVEL </a:t>
            </a:r>
            <a:r>
              <a:rPr sz="3600" dirty="0">
                <a:latin typeface="Calibri"/>
                <a:cs typeface="Calibri"/>
              </a:rPr>
              <a:t>SHOW-</a:t>
            </a:r>
            <a:r>
              <a:rPr sz="3600" spc="-10" dirty="0">
                <a:latin typeface="Calibri"/>
                <a:cs typeface="Calibri"/>
              </a:rPr>
              <a:t>FLIGHTS</a:t>
            </a:r>
            <a:endParaRPr sz="3600">
              <a:latin typeface="Calibri"/>
              <a:cs typeface="Calibri"/>
            </a:endParaRPr>
          </a:p>
          <a:p>
            <a:pPr marL="12700" marR="1460500">
              <a:lnSpc>
                <a:spcPct val="100899"/>
              </a:lnSpc>
            </a:pPr>
            <a:r>
              <a:rPr sz="3600" spc="175" dirty="0">
                <a:latin typeface="Calibri"/>
                <a:cs typeface="Calibri"/>
              </a:rPr>
              <a:t>Boston </a:t>
            </a:r>
            <a:r>
              <a:rPr sz="3600" spc="160" dirty="0">
                <a:latin typeface="Calibri"/>
                <a:cs typeface="Calibri"/>
              </a:rPr>
              <a:t>Tuesday </a:t>
            </a:r>
            <a:r>
              <a:rPr sz="3600" spc="130" dirty="0">
                <a:latin typeface="Calibri"/>
                <a:cs typeface="Calibri"/>
              </a:rPr>
              <a:t>morning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982980" algn="l"/>
              </a:tabLst>
            </a:pPr>
            <a:r>
              <a:rPr sz="3600" spc="114" dirty="0">
                <a:latin typeface="Calibri"/>
                <a:cs typeface="Calibri"/>
              </a:rPr>
              <a:t>San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370" dirty="0">
                <a:latin typeface="Calibri"/>
                <a:cs typeface="Calibri"/>
              </a:rPr>
              <a:t>Francisco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0" dirty="0"/>
              <a:t> </a:t>
            </a:r>
            <a:r>
              <a:rPr sz="4600" spc="-6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85" dirty="0"/>
              <a:t>for</a:t>
            </a:r>
            <a:r>
              <a:rPr sz="4600" spc="-170" dirty="0"/>
              <a:t> </a:t>
            </a:r>
            <a:r>
              <a:rPr sz="4600" spc="-40" dirty="0"/>
              <a:t>filling</a:t>
            </a:r>
            <a:r>
              <a:rPr sz="4600" spc="-15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706691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tomorrow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at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six.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5715" y="4140743"/>
            <a:ext cx="2045335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5"/>
              </a:spcBef>
            </a:pPr>
            <a:r>
              <a:rPr sz="4300" spc="-125" dirty="0">
                <a:latin typeface="Calibri"/>
                <a:cs typeface="Calibri"/>
              </a:rPr>
              <a:t>DOMAIN: </a:t>
            </a:r>
            <a:r>
              <a:rPr sz="4300" spc="229" dirty="0">
                <a:latin typeface="Calibri"/>
                <a:cs typeface="Calibri"/>
              </a:rPr>
              <a:t>INTENT: TIME: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2364" y="4140743"/>
            <a:ext cx="5796280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1595">
              <a:lnSpc>
                <a:spcPct val="100400"/>
              </a:lnSpc>
              <a:spcBef>
                <a:spcPts val="95"/>
              </a:spcBef>
            </a:pPr>
            <a:r>
              <a:rPr sz="4300" spc="-80" dirty="0">
                <a:latin typeface="Calibri"/>
                <a:cs typeface="Calibri"/>
              </a:rPr>
              <a:t>ALARM-</a:t>
            </a:r>
            <a:r>
              <a:rPr sz="4300" spc="-50" dirty="0">
                <a:latin typeface="Calibri"/>
                <a:cs typeface="Calibri"/>
              </a:rPr>
              <a:t>CLOCK </a:t>
            </a:r>
            <a:r>
              <a:rPr sz="4300" dirty="0">
                <a:latin typeface="Calibri"/>
                <a:cs typeface="Calibri"/>
              </a:rPr>
              <a:t>SET-</a:t>
            </a:r>
            <a:r>
              <a:rPr sz="4300" spc="-10" dirty="0">
                <a:latin typeface="Calibri"/>
                <a:cs typeface="Calibri"/>
              </a:rPr>
              <a:t>ALARM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185795" algn="l"/>
              </a:tabLst>
            </a:pPr>
            <a:r>
              <a:rPr sz="4300" spc="260" dirty="0">
                <a:latin typeface="Calibri"/>
                <a:cs typeface="Calibri"/>
              </a:rPr>
              <a:t>2017-</a:t>
            </a:r>
            <a:r>
              <a:rPr sz="4300" spc="245" dirty="0">
                <a:latin typeface="Calibri"/>
                <a:cs typeface="Calibri"/>
              </a:rPr>
              <a:t>07-</a:t>
            </a:r>
            <a:r>
              <a:rPr sz="4300" spc="254" dirty="0">
                <a:latin typeface="Calibri"/>
                <a:cs typeface="Calibri"/>
              </a:rPr>
              <a:t>01</a:t>
            </a:r>
            <a:r>
              <a:rPr sz="4300" dirty="0">
                <a:latin typeface="Calibri"/>
                <a:cs typeface="Calibri"/>
              </a:rPr>
              <a:t>	</a:t>
            </a:r>
            <a:r>
              <a:rPr sz="4300" spc="180" dirty="0">
                <a:latin typeface="Calibri"/>
                <a:cs typeface="Calibri"/>
              </a:rPr>
              <a:t>0600-</a:t>
            </a:r>
            <a:r>
              <a:rPr sz="4300" spc="175" dirty="0">
                <a:latin typeface="Calibri"/>
                <a:cs typeface="Calibri"/>
              </a:rPr>
              <a:t>0800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377062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45" dirty="0"/>
              <a:t>How</a:t>
            </a:r>
            <a:r>
              <a:rPr sz="4600" spc="-215" dirty="0"/>
              <a:t> </a:t>
            </a:r>
            <a:r>
              <a:rPr sz="4600" dirty="0"/>
              <a:t>to</a:t>
            </a:r>
            <a:r>
              <a:rPr sz="4600" spc="-245" dirty="0"/>
              <a:t> </a:t>
            </a:r>
            <a:r>
              <a:rPr sz="4600" spc="-20" dirty="0"/>
              <a:t>fill</a:t>
            </a:r>
            <a:r>
              <a:rPr sz="4600" spc="-220" dirty="0"/>
              <a:t> </a:t>
            </a:r>
            <a:r>
              <a:rPr sz="4600" spc="-20" dirty="0"/>
              <a:t>slots?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472947"/>
            <a:ext cx="8603615" cy="262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z="4600" spc="-20" dirty="0">
                <a:solidFill>
                  <a:srgbClr val="595959"/>
                </a:solidFill>
                <a:latin typeface="Calibri Light"/>
                <a:cs typeface="Calibri Light"/>
              </a:rPr>
              <a:t>(1)</a:t>
            </a:r>
            <a:r>
              <a:rPr sz="4600" spc="-17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80" dirty="0">
                <a:solidFill>
                  <a:srgbClr val="595959"/>
                </a:solidFill>
                <a:latin typeface="Calibri Light"/>
                <a:cs typeface="Calibri Light"/>
              </a:rPr>
              <a:t>Rule-</a:t>
            </a:r>
            <a:r>
              <a:rPr sz="4600" spc="-30" dirty="0">
                <a:solidFill>
                  <a:srgbClr val="595959"/>
                </a:solidFill>
                <a:latin typeface="Calibri Light"/>
                <a:cs typeface="Calibri Light"/>
              </a:rPr>
              <a:t>based</a:t>
            </a:r>
            <a:r>
              <a:rPr sz="4600" spc="-17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125" dirty="0">
                <a:solidFill>
                  <a:srgbClr val="595959"/>
                </a:solidFill>
                <a:latin typeface="Calibri Light"/>
                <a:cs typeface="Calibri Light"/>
              </a:rPr>
              <a:t>Slot-</a:t>
            </a:r>
            <a:r>
              <a:rPr sz="4600" spc="-10" dirty="0">
                <a:solidFill>
                  <a:srgbClr val="595959"/>
                </a:solidFill>
                <a:latin typeface="Calibri Light"/>
                <a:cs typeface="Calibri Light"/>
              </a:rPr>
              <a:t>filling</a:t>
            </a:r>
            <a:endParaRPr sz="4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805"/>
              </a:spcBef>
            </a:pPr>
            <a:endParaRPr sz="4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Write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regular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expressions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grammar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3881628"/>
            <a:ext cx="9707245" cy="25095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(up)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set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(the|an)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alarm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up</a:t>
            </a:r>
            <a:endParaRPr sz="3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normalization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8642" y="3881628"/>
            <a:ext cx="14928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get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5" dirty="0"/>
              <a:t>Generating</a:t>
            </a:r>
            <a:r>
              <a:rPr sz="4600" spc="-165" dirty="0"/>
              <a:t> </a:t>
            </a:r>
            <a:r>
              <a:rPr sz="4600" spc="-65" dirty="0"/>
              <a:t>responses:</a:t>
            </a:r>
            <a:r>
              <a:rPr sz="4600" spc="-160" dirty="0"/>
              <a:t> </a:t>
            </a:r>
            <a:r>
              <a:rPr sz="4600" spc="-90" dirty="0"/>
              <a:t>template-</a:t>
            </a:r>
            <a:r>
              <a:rPr sz="4600" spc="-30" dirty="0"/>
              <a:t>based</a:t>
            </a:r>
            <a:r>
              <a:rPr sz="4600" spc="-170" dirty="0"/>
              <a:t> </a:t>
            </a:r>
            <a:r>
              <a:rPr sz="4600" spc="-35" dirty="0"/>
              <a:t>generation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6" y="2058924"/>
            <a:ext cx="9791700" cy="506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template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pre-built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string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3800">
              <a:latin typeface="Calibri"/>
              <a:cs typeface="Calibri"/>
            </a:endParaRPr>
          </a:p>
          <a:p>
            <a:pPr marL="394970" marR="3803650" indent="-382905">
              <a:lnSpc>
                <a:spcPct val="101099"/>
              </a:lnSpc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Templates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fixed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"Hello,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you?"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 have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394970" marR="5080">
              <a:lnSpc>
                <a:spcPts val="47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"What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ORIG?"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"Will 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ORIG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DEST?"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09067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Summary: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simple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frame-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017760" cy="46913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approaches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Positives: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38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precision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coverage if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narrow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Negatives: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expensive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create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rules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suffer</a:t>
            </a:r>
            <a:r>
              <a:rPr sz="3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recall</a:t>
            </a:r>
            <a:r>
              <a:rPr sz="3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problems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Dialogue-</a:t>
            </a:r>
            <a:r>
              <a:rPr spc="-40" dirty="0"/>
              <a:t>State</a:t>
            </a:r>
            <a:r>
              <a:rPr spc="-140" dirty="0"/>
              <a:t> </a:t>
            </a:r>
            <a:r>
              <a:rPr dirty="0"/>
              <a:t>or</a:t>
            </a:r>
            <a:r>
              <a:rPr spc="-135" dirty="0"/>
              <a:t> </a:t>
            </a:r>
            <a:r>
              <a:rPr spc="-80" dirty="0"/>
              <a:t>Belief-</a:t>
            </a:r>
            <a:r>
              <a:rPr spc="-40" dirty="0"/>
              <a:t>State</a:t>
            </a:r>
            <a:r>
              <a:rPr spc="-1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39245" cy="48869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899794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sophisticated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based architecture</a:t>
            </a:r>
            <a:endParaRPr sz="4300">
              <a:latin typeface="Calibri"/>
              <a:cs typeface="Calibri"/>
            </a:endParaRPr>
          </a:p>
          <a:p>
            <a:pPr marL="12700" marR="587375" indent="822325">
              <a:lnSpc>
                <a:spcPts val="6000"/>
              </a:lnSpc>
              <a:spcBef>
                <a:spcPts val="16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acts,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ML,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better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generation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basis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research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Slowly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61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aspects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(ML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understanding)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already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widely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industrially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71088" y="136829"/>
          <a:ext cx="358965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DOWNTOWN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ARRIVING</a:t>
                      </a:r>
                      <a:r>
                        <a:rPr sz="1600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80075" y="136829"/>
          <a:ext cx="358076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downtown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depart-time: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arrive-time: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502343" y="2546007"/>
            <a:ext cx="2978150" cy="4441825"/>
            <a:chOff x="10502343" y="2546007"/>
            <a:chExt cx="2978150" cy="4441825"/>
          </a:xfrm>
        </p:grpSpPr>
        <p:sp>
          <p:nvSpPr>
            <p:cNvPr id="5" name="object 5"/>
            <p:cNvSpPr/>
            <p:nvPr/>
          </p:nvSpPr>
          <p:spPr>
            <a:xfrm>
              <a:off x="12207021" y="2546007"/>
              <a:ext cx="169545" cy="4441825"/>
            </a:xfrm>
            <a:custGeom>
              <a:avLst/>
              <a:gdLst/>
              <a:ahLst/>
              <a:cxnLst/>
              <a:rect l="l" t="t" r="r" b="b"/>
              <a:pathLst>
                <a:path w="169545" h="4441825">
                  <a:moveTo>
                    <a:pt x="56440" y="4271791"/>
                  </a:moveTo>
                  <a:lnTo>
                    <a:pt x="0" y="4271791"/>
                  </a:lnTo>
                  <a:lnTo>
                    <a:pt x="84662" y="4441530"/>
                  </a:lnTo>
                  <a:lnTo>
                    <a:pt x="155209" y="4300082"/>
                  </a:lnTo>
                  <a:lnTo>
                    <a:pt x="56440" y="4300082"/>
                  </a:lnTo>
                  <a:lnTo>
                    <a:pt x="56440" y="4271791"/>
                  </a:lnTo>
                  <a:close/>
                </a:path>
                <a:path w="169545" h="4441825">
                  <a:moveTo>
                    <a:pt x="112880" y="0"/>
                  </a:moveTo>
                  <a:lnTo>
                    <a:pt x="56440" y="0"/>
                  </a:lnTo>
                  <a:lnTo>
                    <a:pt x="56440" y="4300082"/>
                  </a:lnTo>
                  <a:lnTo>
                    <a:pt x="112880" y="4300082"/>
                  </a:lnTo>
                  <a:lnTo>
                    <a:pt x="112880" y="0"/>
                  </a:lnTo>
                  <a:close/>
                </a:path>
                <a:path w="169545" h="4441825">
                  <a:moveTo>
                    <a:pt x="169320" y="4271791"/>
                  </a:moveTo>
                  <a:lnTo>
                    <a:pt x="112880" y="4271791"/>
                  </a:lnTo>
                  <a:lnTo>
                    <a:pt x="112880" y="4300082"/>
                  </a:lnTo>
                  <a:lnTo>
                    <a:pt x="155209" y="4300082"/>
                  </a:lnTo>
                  <a:lnTo>
                    <a:pt x="169320" y="4271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11550" y="4271697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11550" y="4271696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72112" y="4350512"/>
            <a:ext cx="2369185" cy="984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  <a:tabLst>
                <a:tab pos="1494790" algn="l"/>
              </a:tabLst>
            </a:pPr>
            <a:r>
              <a:rPr sz="1650" spc="-20" dirty="0">
                <a:latin typeface="Courier New"/>
                <a:cs typeface="Courier New"/>
              </a:rPr>
              <a:t>rom:</a:t>
            </a:r>
            <a:r>
              <a:rPr sz="1650" dirty="0">
                <a:latin typeface="Courier New"/>
                <a:cs typeface="Courier New"/>
              </a:rPr>
              <a:t>	</a:t>
            </a:r>
            <a:r>
              <a:rPr sz="1650" spc="-25" dirty="0">
                <a:latin typeface="Courier New"/>
                <a:cs typeface="Courier New"/>
              </a:rPr>
              <a:t>CMU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48423" y="3911693"/>
            <a:ext cx="2978150" cy="1412875"/>
            <a:chOff x="10748423" y="3911693"/>
            <a:chExt cx="2978150" cy="1412875"/>
          </a:xfrm>
        </p:grpSpPr>
        <p:sp>
          <p:nvSpPr>
            <p:cNvPr id="10" name="object 10"/>
            <p:cNvSpPr/>
            <p:nvPr/>
          </p:nvSpPr>
          <p:spPr>
            <a:xfrm>
              <a:off x="10757630" y="3920898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57631" y="3920900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80764" y="3951201"/>
            <a:ext cx="15049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ourier New"/>
                <a:cs typeface="Courier New"/>
              </a:rPr>
              <a:t>f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9848" y="4199700"/>
            <a:ext cx="446405" cy="525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75" baseline="-26936" dirty="0">
                <a:latin typeface="Courier New"/>
                <a:cs typeface="Courier New"/>
              </a:rPr>
              <a:t>f</a:t>
            </a:r>
            <a:r>
              <a:rPr sz="2475" spc="-82" baseline="-26936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400" baseline="-27777" dirty="0">
                <a:latin typeface="Courier New"/>
                <a:cs typeface="Courier New"/>
              </a:rPr>
              <a:t>t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09848" y="4698057"/>
            <a:ext cx="44640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400" baseline="-27777" dirty="0">
                <a:latin typeface="Courier New"/>
                <a:cs typeface="Courier New"/>
              </a:rPr>
              <a:t>d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17628" y="3998772"/>
            <a:ext cx="236918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5"/>
              </a:lnSpc>
              <a:tabLst>
                <a:tab pos="1494790" algn="l"/>
              </a:tabLst>
            </a:pPr>
            <a:r>
              <a:rPr sz="1600" spc="-20" dirty="0">
                <a:latin typeface="Courier New"/>
                <a:cs typeface="Courier New"/>
              </a:rPr>
              <a:t>rom: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CMU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84448" y="4844184"/>
            <a:ext cx="2478405" cy="73088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0"/>
              </a:spcBef>
              <a:tabLst>
                <a:tab pos="1927860" algn="l"/>
              </a:tabLst>
            </a:pPr>
            <a:r>
              <a:rPr sz="2400" baseline="-27777" dirty="0">
                <a:latin typeface="Courier New"/>
                <a:cs typeface="Courier New"/>
              </a:rPr>
              <a:t>c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0.15</a:t>
            </a:r>
            <a:endParaRPr sz="160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855"/>
              </a:spcBef>
              <a:tabLst>
                <a:tab pos="1682114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0.10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94504" y="3554107"/>
            <a:ext cx="2978150" cy="1412875"/>
            <a:chOff x="10994504" y="3554107"/>
            <a:chExt cx="2978150" cy="1412875"/>
          </a:xfrm>
        </p:grpSpPr>
        <p:sp>
          <p:nvSpPr>
            <p:cNvPr id="18" name="object 18"/>
            <p:cNvSpPr/>
            <p:nvPr/>
          </p:nvSpPr>
          <p:spPr>
            <a:xfrm>
              <a:off x="11003711" y="3563315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03711" y="3563314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139168" y="3594558"/>
            <a:ext cx="6343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from: </a:t>
            </a:r>
            <a:r>
              <a:rPr sz="1600" spc="-25" dirty="0">
                <a:latin typeface="Courier New"/>
                <a:cs typeface="Courier New"/>
              </a:rPr>
              <a:t>to: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58403" y="3594558"/>
            <a:ext cx="1010919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downtown airport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9168" y="4092462"/>
            <a:ext cx="2131060" cy="77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5270">
              <a:lnSpc>
                <a:spcPct val="102099"/>
              </a:lnSpc>
              <a:spcBef>
                <a:spcPts val="100"/>
              </a:spcBef>
              <a:tabLst>
                <a:tab pos="1618615" algn="l"/>
              </a:tabLst>
            </a:pPr>
            <a:r>
              <a:rPr sz="1600" dirty="0">
                <a:latin typeface="Courier New"/>
                <a:cs typeface="Courier New"/>
              </a:rPr>
              <a:t>depart-time:</a:t>
            </a:r>
            <a:r>
              <a:rPr sz="1600" spc="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-</a:t>
            </a:r>
            <a:r>
              <a:rPr sz="1600" spc="-50" dirty="0">
                <a:latin typeface="Courier New"/>
                <a:cs typeface="Courier New"/>
              </a:rPr>
              <a:t>- </a:t>
            </a:r>
            <a:r>
              <a:rPr sz="1600" spc="-10" dirty="0">
                <a:latin typeface="Courier New"/>
                <a:cs typeface="Courier New"/>
              </a:rPr>
              <a:t>confirmed: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618615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0.65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87345" y="1449249"/>
            <a:ext cx="2167890" cy="1096010"/>
            <a:chOff x="1187345" y="1449249"/>
            <a:chExt cx="2167890" cy="109601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106" y="1454014"/>
              <a:ext cx="2158283" cy="10863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92107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96377" y="1722325"/>
            <a:ext cx="15487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Speech </a:t>
            </a:r>
            <a:r>
              <a:rPr sz="1600" dirty="0">
                <a:latin typeface="Calibri"/>
                <a:cs typeface="Calibri"/>
              </a:rPr>
              <a:t>Recognition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(ASR)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87967" y="1449249"/>
            <a:ext cx="2167890" cy="1096010"/>
            <a:chOff x="6187967" y="1449249"/>
            <a:chExt cx="2167890" cy="109601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2728" y="1454014"/>
              <a:ext cx="2158282" cy="108633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2729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94879" y="1722325"/>
            <a:ext cx="175387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Spoken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Understanding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(SLU)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206650" y="1453775"/>
            <a:ext cx="2167890" cy="1096010"/>
            <a:chOff x="11206650" y="1453775"/>
            <a:chExt cx="2167890" cy="109601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1411" y="1458540"/>
              <a:ext cx="2158284" cy="10863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211412" y="1458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714389" y="1726851"/>
            <a:ext cx="115443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 </a:t>
            </a:r>
            <a:r>
              <a:rPr sz="1600" dirty="0">
                <a:latin typeface="Calibri"/>
                <a:cs typeface="Calibri"/>
              </a:rPr>
              <a:t>Tracker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(DST)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206650" y="6982775"/>
            <a:ext cx="2167890" cy="1096010"/>
            <a:chOff x="11206650" y="6982775"/>
            <a:chExt cx="2167890" cy="109601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11411" y="6987537"/>
              <a:ext cx="2158284" cy="10863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211412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745996" y="7381836"/>
            <a:ext cx="10922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Policy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715616" y="6529239"/>
            <a:ext cx="108585" cy="796925"/>
          </a:xfrm>
          <a:custGeom>
            <a:avLst/>
            <a:gdLst/>
            <a:ahLst/>
            <a:cxnLst/>
            <a:rect l="l" t="t" r="r" b="b"/>
            <a:pathLst>
              <a:path w="108584" h="796925">
                <a:moveTo>
                  <a:pt x="107989" y="796646"/>
                </a:moveTo>
                <a:lnTo>
                  <a:pt x="87012" y="792379"/>
                </a:lnTo>
                <a:lnTo>
                  <a:pt x="69845" y="780757"/>
                </a:lnTo>
                <a:lnTo>
                  <a:pt x="58251" y="763547"/>
                </a:lnTo>
                <a:lnTo>
                  <a:pt x="53994" y="742518"/>
                </a:lnTo>
                <a:lnTo>
                  <a:pt x="53994" y="452451"/>
                </a:lnTo>
                <a:lnTo>
                  <a:pt x="49764" y="431422"/>
                </a:lnTo>
                <a:lnTo>
                  <a:pt x="38214" y="414212"/>
                </a:lnTo>
                <a:lnTo>
                  <a:pt x="21056" y="402590"/>
                </a:lnTo>
                <a:lnTo>
                  <a:pt x="0" y="398323"/>
                </a:lnTo>
                <a:lnTo>
                  <a:pt x="21056" y="394056"/>
                </a:lnTo>
                <a:lnTo>
                  <a:pt x="38214" y="382433"/>
                </a:lnTo>
                <a:lnTo>
                  <a:pt x="49764" y="365224"/>
                </a:lnTo>
                <a:lnTo>
                  <a:pt x="53994" y="344195"/>
                </a:lnTo>
                <a:lnTo>
                  <a:pt x="53994" y="54128"/>
                </a:lnTo>
                <a:lnTo>
                  <a:pt x="58251" y="33099"/>
                </a:lnTo>
                <a:lnTo>
                  <a:pt x="69845" y="15889"/>
                </a:lnTo>
                <a:lnTo>
                  <a:pt x="87012" y="4267"/>
                </a:lnTo>
                <a:lnTo>
                  <a:pt x="107989" y="0"/>
                </a:lnTo>
              </a:path>
            </a:pathLst>
          </a:custGeom>
          <a:ln w="29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6196997" y="6514317"/>
            <a:ext cx="4789170" cy="1564640"/>
            <a:chOff x="6196997" y="6514317"/>
            <a:chExt cx="4789170" cy="1564640"/>
          </a:xfrm>
        </p:grpSpPr>
        <p:sp>
          <p:nvSpPr>
            <p:cNvPr id="41" name="object 41"/>
            <p:cNvSpPr/>
            <p:nvPr/>
          </p:nvSpPr>
          <p:spPr>
            <a:xfrm>
              <a:off x="10862986" y="6529239"/>
              <a:ext cx="108585" cy="796925"/>
            </a:xfrm>
            <a:custGeom>
              <a:avLst/>
              <a:gdLst/>
              <a:ahLst/>
              <a:cxnLst/>
              <a:rect l="l" t="t" r="r" b="b"/>
              <a:pathLst>
                <a:path w="108584" h="796925">
                  <a:moveTo>
                    <a:pt x="0" y="0"/>
                  </a:moveTo>
                  <a:lnTo>
                    <a:pt x="20977" y="4267"/>
                  </a:lnTo>
                  <a:lnTo>
                    <a:pt x="38144" y="15889"/>
                  </a:lnTo>
                  <a:lnTo>
                    <a:pt x="49738" y="33099"/>
                  </a:lnTo>
                  <a:lnTo>
                    <a:pt x="53994" y="54128"/>
                  </a:lnTo>
                  <a:lnTo>
                    <a:pt x="53994" y="344195"/>
                  </a:lnTo>
                  <a:lnTo>
                    <a:pt x="58224" y="365224"/>
                  </a:lnTo>
                  <a:lnTo>
                    <a:pt x="69774" y="382433"/>
                  </a:lnTo>
                  <a:lnTo>
                    <a:pt x="86932" y="394056"/>
                  </a:lnTo>
                  <a:lnTo>
                    <a:pt x="107989" y="398323"/>
                  </a:lnTo>
                  <a:lnTo>
                    <a:pt x="86932" y="402590"/>
                  </a:lnTo>
                  <a:lnTo>
                    <a:pt x="69774" y="414212"/>
                  </a:lnTo>
                  <a:lnTo>
                    <a:pt x="58224" y="431422"/>
                  </a:lnTo>
                  <a:lnTo>
                    <a:pt x="53994" y="452451"/>
                  </a:lnTo>
                  <a:lnTo>
                    <a:pt x="53994" y="742518"/>
                  </a:lnTo>
                  <a:lnTo>
                    <a:pt x="49738" y="763547"/>
                  </a:lnTo>
                  <a:lnTo>
                    <a:pt x="38144" y="780757"/>
                  </a:lnTo>
                  <a:lnTo>
                    <a:pt x="20977" y="792379"/>
                  </a:lnTo>
                  <a:lnTo>
                    <a:pt x="0" y="796646"/>
                  </a:lnTo>
                </a:path>
              </a:pathLst>
            </a:custGeom>
            <a:ln w="2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1759" y="6987537"/>
              <a:ext cx="2158282" cy="10863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01760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909112" y="6667985"/>
            <a:ext cx="176974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  <a:tabLst>
                <a:tab pos="757555" algn="l"/>
              </a:tabLst>
            </a:pPr>
            <a:r>
              <a:rPr sz="1600" spc="-20" dirty="0">
                <a:latin typeface="Courier New"/>
                <a:cs typeface="Courier New"/>
              </a:rPr>
              <a:t>act: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confirm </a:t>
            </a:r>
            <a:r>
              <a:rPr sz="1600" dirty="0">
                <a:latin typeface="Courier New"/>
                <a:cs typeface="Courier New"/>
              </a:rPr>
              <a:t>from: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25154" y="6605056"/>
            <a:ext cx="2185670" cy="640715"/>
          </a:xfrm>
          <a:prstGeom prst="rect">
            <a:avLst/>
          </a:prstGeom>
          <a:ln w="18102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5255" marR="297815">
              <a:lnSpc>
                <a:spcPct val="102299"/>
              </a:lnSpc>
              <a:spcBef>
                <a:spcPts val="350"/>
              </a:spcBef>
            </a:pP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DOWNTOWN,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RIGHT?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29960" y="7257360"/>
            <a:ext cx="150177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Generation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(NLG)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87345" y="6982775"/>
            <a:ext cx="2167890" cy="1096010"/>
            <a:chOff x="1187345" y="6982775"/>
            <a:chExt cx="2167890" cy="1096010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2106" y="6987537"/>
              <a:ext cx="2158283" cy="10863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92107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404266" y="7381836"/>
            <a:ext cx="173355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Speech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(TTS)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90653" y="1100952"/>
            <a:ext cx="13578840" cy="6516370"/>
            <a:chOff x="390653" y="1100952"/>
            <a:chExt cx="13578840" cy="651637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836" y="2712352"/>
              <a:ext cx="1537436" cy="126286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653" y="5396508"/>
              <a:ext cx="1365858" cy="13081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2328" y="3853005"/>
              <a:ext cx="1137838" cy="17109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84908" y="1100962"/>
              <a:ext cx="11784330" cy="6516370"/>
            </a:xfrm>
            <a:custGeom>
              <a:avLst/>
              <a:gdLst/>
              <a:ahLst/>
              <a:cxnLst/>
              <a:rect l="l" t="t" r="r" b="b"/>
              <a:pathLst>
                <a:path w="11784330" h="6516370">
                  <a:moveTo>
                    <a:pt x="169303" y="1611769"/>
                  </a:moveTo>
                  <a:lnTo>
                    <a:pt x="154825" y="1581404"/>
                  </a:lnTo>
                  <a:lnTo>
                    <a:pt x="87655" y="1440522"/>
                  </a:lnTo>
                  <a:lnTo>
                    <a:pt x="0" y="1608759"/>
                  </a:lnTo>
                  <a:lnTo>
                    <a:pt x="56438" y="1609763"/>
                  </a:lnTo>
                  <a:lnTo>
                    <a:pt x="36664" y="2712250"/>
                  </a:lnTo>
                  <a:lnTo>
                    <a:pt x="93103" y="2713202"/>
                  </a:lnTo>
                  <a:lnTo>
                    <a:pt x="112903" y="1611769"/>
                  </a:lnTo>
                  <a:lnTo>
                    <a:pt x="112915" y="1610766"/>
                  </a:lnTo>
                  <a:lnTo>
                    <a:pt x="113423" y="1582534"/>
                  </a:lnTo>
                  <a:lnTo>
                    <a:pt x="112953" y="1608759"/>
                  </a:lnTo>
                  <a:lnTo>
                    <a:pt x="112915" y="1610766"/>
                  </a:lnTo>
                  <a:lnTo>
                    <a:pt x="169303" y="1611769"/>
                  </a:lnTo>
                  <a:close/>
                </a:path>
                <a:path w="11784330" h="6516370">
                  <a:moveTo>
                    <a:pt x="172123" y="4633900"/>
                  </a:moveTo>
                  <a:lnTo>
                    <a:pt x="158013" y="4605604"/>
                  </a:lnTo>
                  <a:lnTo>
                    <a:pt x="87464" y="4464164"/>
                  </a:lnTo>
                  <a:lnTo>
                    <a:pt x="2806" y="4633900"/>
                  </a:lnTo>
                  <a:lnTo>
                    <a:pt x="59245" y="4633900"/>
                  </a:lnTo>
                  <a:lnTo>
                    <a:pt x="59245" y="5886386"/>
                  </a:lnTo>
                  <a:lnTo>
                    <a:pt x="115684" y="5886386"/>
                  </a:lnTo>
                  <a:lnTo>
                    <a:pt x="115684" y="4633900"/>
                  </a:lnTo>
                  <a:lnTo>
                    <a:pt x="172123" y="4633900"/>
                  </a:lnTo>
                  <a:close/>
                </a:path>
                <a:path w="11784330" h="6516370">
                  <a:moveTo>
                    <a:pt x="4010634" y="897356"/>
                  </a:moveTo>
                  <a:lnTo>
                    <a:pt x="3954195" y="869061"/>
                  </a:lnTo>
                  <a:lnTo>
                    <a:pt x="3841318" y="812482"/>
                  </a:lnTo>
                  <a:lnTo>
                    <a:pt x="3841318" y="869061"/>
                  </a:lnTo>
                  <a:lnTo>
                    <a:pt x="1166609" y="869061"/>
                  </a:lnTo>
                  <a:lnTo>
                    <a:pt x="1166609" y="925652"/>
                  </a:lnTo>
                  <a:lnTo>
                    <a:pt x="3841318" y="925652"/>
                  </a:lnTo>
                  <a:lnTo>
                    <a:pt x="3841318" y="982230"/>
                  </a:lnTo>
                  <a:lnTo>
                    <a:pt x="3954195" y="925652"/>
                  </a:lnTo>
                  <a:lnTo>
                    <a:pt x="4010634" y="897356"/>
                  </a:lnTo>
                  <a:close/>
                </a:path>
                <a:path w="11784330" h="6516370">
                  <a:moveTo>
                    <a:pt x="4018915" y="6402591"/>
                  </a:moveTo>
                  <a:lnTo>
                    <a:pt x="1335925" y="6402591"/>
                  </a:lnTo>
                  <a:lnTo>
                    <a:pt x="1335925" y="6346012"/>
                  </a:lnTo>
                  <a:lnTo>
                    <a:pt x="1166609" y="6430886"/>
                  </a:lnTo>
                  <a:lnTo>
                    <a:pt x="1335925" y="6515748"/>
                  </a:lnTo>
                  <a:lnTo>
                    <a:pt x="1335925" y="6459169"/>
                  </a:lnTo>
                  <a:lnTo>
                    <a:pt x="4018915" y="6459169"/>
                  </a:lnTo>
                  <a:lnTo>
                    <a:pt x="4018915" y="6402591"/>
                  </a:lnTo>
                  <a:close/>
                </a:path>
                <a:path w="11784330" h="6516370">
                  <a:moveTo>
                    <a:pt x="9027630" y="901877"/>
                  </a:moveTo>
                  <a:lnTo>
                    <a:pt x="8971128" y="873404"/>
                  </a:lnTo>
                  <a:lnTo>
                    <a:pt x="8886520" y="830770"/>
                  </a:lnTo>
                  <a:lnTo>
                    <a:pt x="8886520" y="929982"/>
                  </a:lnTo>
                  <a:lnTo>
                    <a:pt x="8858364" y="929982"/>
                  </a:lnTo>
                  <a:lnTo>
                    <a:pt x="8886520" y="929982"/>
                  </a:lnTo>
                  <a:lnTo>
                    <a:pt x="8886520" y="830770"/>
                  </a:lnTo>
                  <a:lnTo>
                    <a:pt x="8858491" y="816635"/>
                  </a:lnTo>
                  <a:lnTo>
                    <a:pt x="8858428" y="873366"/>
                  </a:lnTo>
                  <a:lnTo>
                    <a:pt x="6167221" y="869061"/>
                  </a:lnTo>
                  <a:lnTo>
                    <a:pt x="6167221" y="925652"/>
                  </a:lnTo>
                  <a:lnTo>
                    <a:pt x="8858352" y="929944"/>
                  </a:lnTo>
                  <a:lnTo>
                    <a:pt x="8858301" y="986370"/>
                  </a:lnTo>
                  <a:lnTo>
                    <a:pt x="8971305" y="929982"/>
                  </a:lnTo>
                  <a:lnTo>
                    <a:pt x="9027630" y="901877"/>
                  </a:lnTo>
                  <a:close/>
                </a:path>
                <a:path w="11784330" h="6516370">
                  <a:moveTo>
                    <a:pt x="9028570" y="6402591"/>
                  </a:moveTo>
                  <a:lnTo>
                    <a:pt x="6345580" y="6402591"/>
                  </a:lnTo>
                  <a:lnTo>
                    <a:pt x="6345580" y="6346012"/>
                  </a:lnTo>
                  <a:lnTo>
                    <a:pt x="6176264" y="6430886"/>
                  </a:lnTo>
                  <a:lnTo>
                    <a:pt x="6345580" y="6515748"/>
                  </a:lnTo>
                  <a:lnTo>
                    <a:pt x="6345580" y="6459169"/>
                  </a:lnTo>
                  <a:lnTo>
                    <a:pt x="9028570" y="6459169"/>
                  </a:lnTo>
                  <a:lnTo>
                    <a:pt x="9028570" y="6402591"/>
                  </a:lnTo>
                  <a:close/>
                </a:path>
                <a:path w="11784330" h="6516370">
                  <a:moveTo>
                    <a:pt x="10144773" y="1455420"/>
                  </a:moveTo>
                  <a:lnTo>
                    <a:pt x="10088334" y="1455420"/>
                  </a:lnTo>
                  <a:lnTo>
                    <a:pt x="10088334" y="1625168"/>
                  </a:lnTo>
                  <a:lnTo>
                    <a:pt x="10144773" y="1625168"/>
                  </a:lnTo>
                  <a:lnTo>
                    <a:pt x="10144773" y="1455420"/>
                  </a:lnTo>
                  <a:close/>
                </a:path>
                <a:path w="11784330" h="6516370">
                  <a:moveTo>
                    <a:pt x="10172992" y="1766608"/>
                  </a:moveTo>
                  <a:lnTo>
                    <a:pt x="10144773" y="1766608"/>
                  </a:lnTo>
                  <a:lnTo>
                    <a:pt x="10144773" y="1681746"/>
                  </a:lnTo>
                  <a:lnTo>
                    <a:pt x="10088334" y="1681746"/>
                  </a:lnTo>
                  <a:lnTo>
                    <a:pt x="10088334" y="1823199"/>
                  </a:lnTo>
                  <a:lnTo>
                    <a:pt x="10172992" y="1823199"/>
                  </a:lnTo>
                  <a:lnTo>
                    <a:pt x="10172992" y="1794903"/>
                  </a:lnTo>
                  <a:lnTo>
                    <a:pt x="10172992" y="1766608"/>
                  </a:lnTo>
                  <a:close/>
                </a:path>
                <a:path w="11784330" h="6516370">
                  <a:moveTo>
                    <a:pt x="10182403" y="198031"/>
                  </a:moveTo>
                  <a:lnTo>
                    <a:pt x="10125964" y="198031"/>
                  </a:lnTo>
                  <a:lnTo>
                    <a:pt x="10125964" y="48463"/>
                  </a:lnTo>
                  <a:lnTo>
                    <a:pt x="10069512" y="48463"/>
                  </a:lnTo>
                  <a:lnTo>
                    <a:pt x="10069512" y="198031"/>
                  </a:lnTo>
                  <a:lnTo>
                    <a:pt x="10013074" y="198031"/>
                  </a:lnTo>
                  <a:lnTo>
                    <a:pt x="10097745" y="367766"/>
                  </a:lnTo>
                  <a:lnTo>
                    <a:pt x="10172332" y="218211"/>
                  </a:lnTo>
                  <a:lnTo>
                    <a:pt x="10182403" y="198031"/>
                  </a:lnTo>
                  <a:close/>
                </a:path>
                <a:path w="11784330" h="6516370">
                  <a:moveTo>
                    <a:pt x="10303370" y="0"/>
                  </a:moveTo>
                  <a:lnTo>
                    <a:pt x="10134054" y="0"/>
                  </a:lnTo>
                  <a:lnTo>
                    <a:pt x="10134054" y="56578"/>
                  </a:lnTo>
                  <a:lnTo>
                    <a:pt x="10303370" y="56578"/>
                  </a:lnTo>
                  <a:lnTo>
                    <a:pt x="10303370" y="0"/>
                  </a:lnTo>
                  <a:close/>
                </a:path>
                <a:path w="11784330" h="6516370">
                  <a:moveTo>
                    <a:pt x="10398760" y="1766608"/>
                  </a:moveTo>
                  <a:lnTo>
                    <a:pt x="10229431" y="1766608"/>
                  </a:lnTo>
                  <a:lnTo>
                    <a:pt x="10229431" y="1823199"/>
                  </a:lnTo>
                  <a:lnTo>
                    <a:pt x="10398760" y="1823199"/>
                  </a:lnTo>
                  <a:lnTo>
                    <a:pt x="10398760" y="1766608"/>
                  </a:lnTo>
                  <a:close/>
                </a:path>
                <a:path w="11784330" h="6516370">
                  <a:moveTo>
                    <a:pt x="10529138" y="0"/>
                  </a:moveTo>
                  <a:lnTo>
                    <a:pt x="10359809" y="0"/>
                  </a:lnTo>
                  <a:lnTo>
                    <a:pt x="10359809" y="56578"/>
                  </a:lnTo>
                  <a:lnTo>
                    <a:pt x="10529138" y="56578"/>
                  </a:lnTo>
                  <a:lnTo>
                    <a:pt x="10529138" y="0"/>
                  </a:lnTo>
                  <a:close/>
                </a:path>
                <a:path w="11784330" h="6516370">
                  <a:moveTo>
                    <a:pt x="10624515" y="1766608"/>
                  </a:moveTo>
                  <a:lnTo>
                    <a:pt x="10455199" y="1766608"/>
                  </a:lnTo>
                  <a:lnTo>
                    <a:pt x="10455199" y="1823199"/>
                  </a:lnTo>
                  <a:lnTo>
                    <a:pt x="10624515" y="1823199"/>
                  </a:lnTo>
                  <a:lnTo>
                    <a:pt x="10624515" y="1766608"/>
                  </a:lnTo>
                  <a:close/>
                </a:path>
                <a:path w="11784330" h="6516370">
                  <a:moveTo>
                    <a:pt x="10754893" y="0"/>
                  </a:moveTo>
                  <a:lnTo>
                    <a:pt x="10585577" y="0"/>
                  </a:lnTo>
                  <a:lnTo>
                    <a:pt x="10585577" y="56578"/>
                  </a:lnTo>
                  <a:lnTo>
                    <a:pt x="10754893" y="56578"/>
                  </a:lnTo>
                  <a:lnTo>
                    <a:pt x="10754893" y="0"/>
                  </a:lnTo>
                  <a:close/>
                </a:path>
                <a:path w="11784330" h="6516370">
                  <a:moveTo>
                    <a:pt x="10850283" y="1766608"/>
                  </a:moveTo>
                  <a:lnTo>
                    <a:pt x="10680967" y="1766608"/>
                  </a:lnTo>
                  <a:lnTo>
                    <a:pt x="10680967" y="1823199"/>
                  </a:lnTo>
                  <a:lnTo>
                    <a:pt x="10850283" y="1823199"/>
                  </a:lnTo>
                  <a:lnTo>
                    <a:pt x="10850283" y="1766608"/>
                  </a:lnTo>
                  <a:close/>
                </a:path>
                <a:path w="11784330" h="6516370">
                  <a:moveTo>
                    <a:pt x="10980661" y="0"/>
                  </a:moveTo>
                  <a:lnTo>
                    <a:pt x="10811345" y="0"/>
                  </a:lnTo>
                  <a:lnTo>
                    <a:pt x="10811345" y="56578"/>
                  </a:lnTo>
                  <a:lnTo>
                    <a:pt x="10980661" y="56578"/>
                  </a:lnTo>
                  <a:lnTo>
                    <a:pt x="10980661" y="0"/>
                  </a:lnTo>
                  <a:close/>
                </a:path>
                <a:path w="11784330" h="6516370">
                  <a:moveTo>
                    <a:pt x="11076038" y="1766608"/>
                  </a:moveTo>
                  <a:lnTo>
                    <a:pt x="10906722" y="1766608"/>
                  </a:lnTo>
                  <a:lnTo>
                    <a:pt x="10906722" y="1823199"/>
                  </a:lnTo>
                  <a:lnTo>
                    <a:pt x="11076038" y="1823199"/>
                  </a:lnTo>
                  <a:lnTo>
                    <a:pt x="11076038" y="1766608"/>
                  </a:lnTo>
                  <a:close/>
                </a:path>
                <a:path w="11784330" h="6516370">
                  <a:moveTo>
                    <a:pt x="11206417" y="0"/>
                  </a:moveTo>
                  <a:lnTo>
                    <a:pt x="11037100" y="0"/>
                  </a:lnTo>
                  <a:lnTo>
                    <a:pt x="11037100" y="56578"/>
                  </a:lnTo>
                  <a:lnTo>
                    <a:pt x="11206417" y="56578"/>
                  </a:lnTo>
                  <a:lnTo>
                    <a:pt x="11206417" y="0"/>
                  </a:lnTo>
                  <a:close/>
                </a:path>
                <a:path w="11784330" h="6516370">
                  <a:moveTo>
                    <a:pt x="11301806" y="1766608"/>
                  </a:moveTo>
                  <a:lnTo>
                    <a:pt x="11132490" y="1766608"/>
                  </a:lnTo>
                  <a:lnTo>
                    <a:pt x="11132490" y="1823199"/>
                  </a:lnTo>
                  <a:lnTo>
                    <a:pt x="11301806" y="1823199"/>
                  </a:lnTo>
                  <a:lnTo>
                    <a:pt x="11301806" y="1766608"/>
                  </a:lnTo>
                  <a:close/>
                </a:path>
                <a:path w="11784330" h="6516370">
                  <a:moveTo>
                    <a:pt x="11432184" y="0"/>
                  </a:moveTo>
                  <a:lnTo>
                    <a:pt x="11262868" y="0"/>
                  </a:lnTo>
                  <a:lnTo>
                    <a:pt x="11262868" y="56578"/>
                  </a:lnTo>
                  <a:lnTo>
                    <a:pt x="11432184" y="56578"/>
                  </a:lnTo>
                  <a:lnTo>
                    <a:pt x="11432184" y="0"/>
                  </a:lnTo>
                  <a:close/>
                </a:path>
                <a:path w="11784330" h="6516370">
                  <a:moveTo>
                    <a:pt x="11527574" y="1766608"/>
                  </a:moveTo>
                  <a:lnTo>
                    <a:pt x="11358245" y="1766608"/>
                  </a:lnTo>
                  <a:lnTo>
                    <a:pt x="11358245" y="1823199"/>
                  </a:lnTo>
                  <a:lnTo>
                    <a:pt x="11527574" y="1823199"/>
                  </a:lnTo>
                  <a:lnTo>
                    <a:pt x="11527574" y="1766608"/>
                  </a:lnTo>
                  <a:close/>
                </a:path>
                <a:path w="11784330" h="6516370">
                  <a:moveTo>
                    <a:pt x="11657940" y="0"/>
                  </a:moveTo>
                  <a:lnTo>
                    <a:pt x="11488623" y="0"/>
                  </a:lnTo>
                  <a:lnTo>
                    <a:pt x="11488623" y="56578"/>
                  </a:lnTo>
                  <a:lnTo>
                    <a:pt x="11657940" y="56578"/>
                  </a:lnTo>
                  <a:lnTo>
                    <a:pt x="11657940" y="0"/>
                  </a:lnTo>
                  <a:close/>
                </a:path>
                <a:path w="11784330" h="6516370">
                  <a:moveTo>
                    <a:pt x="11753329" y="1766608"/>
                  </a:moveTo>
                  <a:lnTo>
                    <a:pt x="11584013" y="1766608"/>
                  </a:lnTo>
                  <a:lnTo>
                    <a:pt x="11584013" y="1823199"/>
                  </a:lnTo>
                  <a:lnTo>
                    <a:pt x="11753329" y="1823199"/>
                  </a:lnTo>
                  <a:lnTo>
                    <a:pt x="11753329" y="1766608"/>
                  </a:lnTo>
                  <a:close/>
                </a:path>
                <a:path w="11784330" h="6516370">
                  <a:moveTo>
                    <a:pt x="11784000" y="1571040"/>
                  </a:moveTo>
                  <a:lnTo>
                    <a:pt x="11727561" y="1571040"/>
                  </a:lnTo>
                  <a:lnTo>
                    <a:pt x="11727561" y="1740776"/>
                  </a:lnTo>
                  <a:lnTo>
                    <a:pt x="11784000" y="1740776"/>
                  </a:lnTo>
                  <a:lnTo>
                    <a:pt x="11784000" y="1571040"/>
                  </a:lnTo>
                  <a:close/>
                </a:path>
                <a:path w="11784330" h="6516370">
                  <a:moveTo>
                    <a:pt x="11784000" y="1344714"/>
                  </a:moveTo>
                  <a:lnTo>
                    <a:pt x="11727561" y="1344714"/>
                  </a:lnTo>
                  <a:lnTo>
                    <a:pt x="11727561" y="1514449"/>
                  </a:lnTo>
                  <a:lnTo>
                    <a:pt x="11784000" y="1514449"/>
                  </a:lnTo>
                  <a:lnTo>
                    <a:pt x="11784000" y="1344714"/>
                  </a:lnTo>
                  <a:close/>
                </a:path>
                <a:path w="11784330" h="6516370">
                  <a:moveTo>
                    <a:pt x="11784000" y="1118400"/>
                  </a:moveTo>
                  <a:lnTo>
                    <a:pt x="11727561" y="1118400"/>
                  </a:lnTo>
                  <a:lnTo>
                    <a:pt x="11727561" y="1288135"/>
                  </a:lnTo>
                  <a:lnTo>
                    <a:pt x="11784000" y="1288135"/>
                  </a:lnTo>
                  <a:lnTo>
                    <a:pt x="11784000" y="1118400"/>
                  </a:lnTo>
                  <a:close/>
                </a:path>
                <a:path w="11784330" h="6516370">
                  <a:moveTo>
                    <a:pt x="11784000" y="892073"/>
                  </a:moveTo>
                  <a:lnTo>
                    <a:pt x="11727561" y="892073"/>
                  </a:lnTo>
                  <a:lnTo>
                    <a:pt x="11727561" y="1061808"/>
                  </a:lnTo>
                  <a:lnTo>
                    <a:pt x="11784000" y="1061808"/>
                  </a:lnTo>
                  <a:lnTo>
                    <a:pt x="11784000" y="892073"/>
                  </a:lnTo>
                  <a:close/>
                </a:path>
                <a:path w="11784330" h="6516370">
                  <a:moveTo>
                    <a:pt x="11784000" y="665759"/>
                  </a:moveTo>
                  <a:lnTo>
                    <a:pt x="11727561" y="665759"/>
                  </a:lnTo>
                  <a:lnTo>
                    <a:pt x="11727561" y="835494"/>
                  </a:lnTo>
                  <a:lnTo>
                    <a:pt x="11784000" y="835494"/>
                  </a:lnTo>
                  <a:lnTo>
                    <a:pt x="11784000" y="665759"/>
                  </a:lnTo>
                  <a:close/>
                </a:path>
                <a:path w="11784330" h="6516370">
                  <a:moveTo>
                    <a:pt x="11784000" y="439432"/>
                  </a:moveTo>
                  <a:lnTo>
                    <a:pt x="11727561" y="439432"/>
                  </a:lnTo>
                  <a:lnTo>
                    <a:pt x="11727561" y="609168"/>
                  </a:lnTo>
                  <a:lnTo>
                    <a:pt x="11784000" y="609168"/>
                  </a:lnTo>
                  <a:lnTo>
                    <a:pt x="11784000" y="439432"/>
                  </a:lnTo>
                  <a:close/>
                </a:path>
                <a:path w="11784330" h="6516370">
                  <a:moveTo>
                    <a:pt x="11784000" y="213118"/>
                  </a:moveTo>
                  <a:lnTo>
                    <a:pt x="11727561" y="213118"/>
                  </a:lnTo>
                  <a:lnTo>
                    <a:pt x="11727561" y="382854"/>
                  </a:lnTo>
                  <a:lnTo>
                    <a:pt x="11784000" y="382854"/>
                  </a:lnTo>
                  <a:lnTo>
                    <a:pt x="11784000" y="213118"/>
                  </a:lnTo>
                  <a:close/>
                </a:path>
                <a:path w="11784330" h="6516370">
                  <a:moveTo>
                    <a:pt x="11784000" y="0"/>
                  </a:moveTo>
                  <a:lnTo>
                    <a:pt x="11714378" y="0"/>
                  </a:lnTo>
                  <a:lnTo>
                    <a:pt x="11714378" y="56578"/>
                  </a:lnTo>
                  <a:lnTo>
                    <a:pt x="11727561" y="56578"/>
                  </a:lnTo>
                  <a:lnTo>
                    <a:pt x="11727561" y="156527"/>
                  </a:lnTo>
                  <a:lnTo>
                    <a:pt x="11784000" y="156527"/>
                  </a:lnTo>
                  <a:lnTo>
                    <a:pt x="11784000" y="56578"/>
                  </a:lnTo>
                  <a:lnTo>
                    <a:pt x="11784000" y="28282"/>
                  </a:lnTo>
                  <a:lnTo>
                    <a:pt x="1178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657348" y="3034284"/>
            <a:ext cx="8037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5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Dialogue-</a:t>
            </a:r>
            <a:r>
              <a:rPr sz="5000" spc="-40" dirty="0">
                <a:solidFill>
                  <a:srgbClr val="404040"/>
                </a:solidFill>
                <a:latin typeface="Calibri Light"/>
                <a:cs typeface="Calibri Light"/>
              </a:rPr>
              <a:t>State</a:t>
            </a:r>
            <a:r>
              <a:rPr sz="50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Architecture</a:t>
            </a:r>
            <a:endParaRPr sz="5000">
              <a:latin typeface="Calibri Light"/>
              <a:cs typeface="Calibri Ligh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97428" y="3910584"/>
            <a:ext cx="6977380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spc="-20" dirty="0">
                <a:latin typeface="Times New Roman"/>
                <a:cs typeface="Times New Roman"/>
              </a:rPr>
              <a:t>Williams,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D.,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Antoine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Raux,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Matthew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Henderson.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 </a:t>
            </a:r>
            <a:r>
              <a:rPr sz="1700" dirty="0">
                <a:latin typeface="Times New Roman"/>
                <a:cs typeface="Times New Roman"/>
              </a:rPr>
              <a:t>tracking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challenge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series: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review."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&amp;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Discourse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7,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(2016):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4-</a:t>
            </a:r>
            <a:r>
              <a:rPr sz="1700" spc="-25" dirty="0">
                <a:latin typeface="Times New Roman"/>
                <a:cs typeface="Times New Roman"/>
              </a:rPr>
              <a:t>33.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Components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in</a:t>
            </a:r>
            <a:r>
              <a:rPr spc="-1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dialogue-</a:t>
            </a:r>
            <a:r>
              <a:rPr spc="-50" dirty="0">
                <a:solidFill>
                  <a:srgbClr val="404040"/>
                </a:solidFill>
              </a:rPr>
              <a:t>state</a:t>
            </a:r>
            <a:r>
              <a:rPr spc="-13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4011"/>
            <a:ext cx="13007340" cy="535051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225" marR="1028700" indent="-10160">
              <a:lnSpc>
                <a:spcPts val="3910"/>
              </a:lnSpc>
              <a:spcBef>
                <a:spcPts val="570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NLU: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extracts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machine learning</a:t>
            </a:r>
            <a:endParaRPr sz="3600">
              <a:latin typeface="Calibri"/>
              <a:cs typeface="Calibri"/>
            </a:endParaRPr>
          </a:p>
          <a:p>
            <a:pPr marL="22225" marR="5080" indent="-10160">
              <a:lnSpc>
                <a:spcPts val="3790"/>
              </a:lnSpc>
              <a:spcBef>
                <a:spcPts val="139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r>
              <a:rPr sz="3600" b="1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maintains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dialogue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(user’s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recent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act,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constraints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decides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GUS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ask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full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back</a:t>
            </a:r>
            <a:endParaRPr sz="3600">
              <a:latin typeface="Calibri"/>
              <a:cs typeface="Calibri"/>
            </a:endParaRPr>
          </a:p>
          <a:p>
            <a:pPr marL="561340" marR="190500" indent="-548640">
              <a:lnSpc>
                <a:spcPts val="3890"/>
              </a:lnSpc>
              <a:spcBef>
                <a:spcPts val="137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sophisticated: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answer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04040"/>
                </a:solidFill>
                <a:latin typeface="Calibri"/>
                <a:cs typeface="Calibri"/>
              </a:rPr>
              <a:t>ask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question,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natural,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less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templated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06699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Combine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ideas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speech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acts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grounding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single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948" y="2332227"/>
            <a:ext cx="25888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representation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6738" y="3093325"/>
          <a:ext cx="11963399" cy="4895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13030">
                        <a:lnSpc>
                          <a:spcPts val="2815"/>
                        </a:lnSpc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Tag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2600" b="1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121920">
                        <a:lnSpc>
                          <a:spcPts val="2815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HELLO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dialogue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INFORM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45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55" dirty="0">
                          <a:latin typeface="Times New Roman"/>
                          <a:cs typeface="Times New Roman"/>
                        </a:rPr>
                        <a:t>REQALTS</a:t>
                      </a:r>
                      <a:r>
                        <a:rPr sz="2600" spc="5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5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3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3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Explicitly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CONFREQ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60" dirty="0">
                          <a:latin typeface="Verdana"/>
                          <a:cs typeface="Verdana"/>
                        </a:rPr>
                        <a:t>,...,</a:t>
                      </a:r>
                      <a:r>
                        <a:rPr sz="2600" i="1" spc="-6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4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7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260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corrected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6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40" dirty="0">
                          <a:latin typeface="Times New Roman"/>
                          <a:cs typeface="Times New Roman"/>
                        </a:rPr>
                        <a:t>BYE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()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Close a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dialogue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161270" y="2559811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34455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643920"/>
          <a:ext cx="14156689" cy="6008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4870">
                <a:tc gridSpan="7">
                  <a:txBody>
                    <a:bodyPr/>
                    <a:lstStyle/>
                    <a:p>
                      <a:pPr marL="680720">
                        <a:lnSpc>
                          <a:spcPts val="2965"/>
                        </a:lnSpc>
                        <a:tabLst>
                          <a:tab pos="6678295" algn="l"/>
                        </a:tabLst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	Dialogue</a:t>
                      </a:r>
                      <a:r>
                        <a:rPr sz="2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act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spcBef>
                          <a:spcPts val="105"/>
                        </a:spcBef>
                        <a:tabLst>
                          <a:tab pos="680720" algn="l"/>
                          <a:tab pos="6678295" algn="l"/>
                          <a:tab pos="8728075" algn="l"/>
                          <a:tab pos="910018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Hi,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eat.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345" dirty="0">
                          <a:latin typeface="Calibri"/>
                          <a:cs typeface="Calibri"/>
                        </a:rPr>
                        <a:t>hello(task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90" dirty="0">
                          <a:latin typeface="Calibri"/>
                          <a:cs typeface="Calibri"/>
                        </a:rPr>
                        <a:t>find,type=restaurant)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tabLst>
                          <a:tab pos="680720" algn="l"/>
                          <a:tab pos="5554345" algn="l"/>
                          <a:tab pos="6678295" algn="l"/>
                          <a:tab pos="9100185" algn="l"/>
                          <a:tab pos="9472930" algn="l"/>
                          <a:tab pos="1170876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confreq(type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food)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food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214120" algn="l"/>
                          <a:tab pos="1880235" algn="l"/>
                          <a:tab pos="2352675" algn="l"/>
                          <a:tab pos="3396615" algn="l"/>
                          <a:tab pos="5141595" algn="l"/>
                          <a:tab pos="5889625" algn="l"/>
                          <a:tab pos="6678295" algn="l"/>
                          <a:tab pos="8914130" algn="l"/>
                          <a:tab pos="9286875" algn="l"/>
                          <a:tab pos="109639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I’d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00" dirty="0">
                          <a:latin typeface="Calibri"/>
                          <a:cs typeface="Calibri"/>
                        </a:rPr>
                        <a:t>inform(food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near=museum)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677035" algn="l"/>
                          <a:tab pos="2062480" algn="l"/>
                          <a:tab pos="2368550" algn="l"/>
                          <a:tab pos="3108960" algn="l"/>
                          <a:tab pos="4164329" algn="l"/>
                          <a:tab pos="571246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1708765" algn="l"/>
                          <a:tab pos="120815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65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997575" algn="l"/>
                          <a:tab pos="6929120" algn="l"/>
                          <a:tab pos="7301865" algn="l"/>
                          <a:tab pos="8978900" algn="l"/>
                          <a:tab pos="9910445" algn="l"/>
                          <a:tab pos="10283190" algn="l"/>
                        </a:tabLst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25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45" dirty="0">
                          <a:latin typeface="Calibri"/>
                          <a:cs typeface="Calibri"/>
                        </a:rPr>
                        <a:t>near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67690" algn="l"/>
                          <a:tab pos="6565265" algn="l"/>
                          <a:tab pos="10105390" algn="l"/>
                          <a:tab pos="1047813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Is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reasonably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priced?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confirm(pricerange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510665" algn="l"/>
                          <a:tab pos="2555875" algn="l"/>
                          <a:tab pos="2990850" algn="l"/>
                          <a:tab pos="3464560" algn="l"/>
                          <a:tab pos="4095750" algn="l"/>
                          <a:tab pos="561340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282700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Yes,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affirm(name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4"/>
                        </a:lnSpc>
                        <a:tabLst>
                          <a:tab pos="6678295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range.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0" algn="ctr">
                        <a:lnSpc>
                          <a:spcPts val="314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4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number?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40"/>
                        </a:lnSpc>
                      </a:pPr>
                      <a:r>
                        <a:rPr sz="2800" spc="175" dirty="0">
                          <a:latin typeface="Calibri"/>
                          <a:cs typeface="Calibri"/>
                        </a:rPr>
                        <a:t>request(phone)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R="444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385456.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35"/>
                        </a:lnSpc>
                        <a:tabLst>
                          <a:tab pos="2927985" algn="l"/>
                        </a:tabLst>
                      </a:pP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35"/>
                        </a:lnSpc>
                      </a:pP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phone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155" dirty="0">
                          <a:latin typeface="Calibri"/>
                          <a:cs typeface="Calibri"/>
                        </a:rPr>
                        <a:t>"385456")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63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Ok,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thank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goodbye.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bye()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63688" y="2076768"/>
            <a:ext cx="14166850" cy="14604"/>
          </a:xfrm>
          <a:custGeom>
            <a:avLst/>
            <a:gdLst/>
            <a:ahLst/>
            <a:cxnLst/>
            <a:rect l="l" t="t" r="r" b="b"/>
            <a:pathLst>
              <a:path w="14166850" h="14605">
                <a:moveTo>
                  <a:pt x="14166711" y="0"/>
                </a:moveTo>
                <a:lnTo>
                  <a:pt x="0" y="0"/>
                </a:lnTo>
                <a:lnTo>
                  <a:pt x="0" y="14174"/>
                </a:lnTo>
                <a:lnTo>
                  <a:pt x="14166711" y="14174"/>
                </a:lnTo>
                <a:lnTo>
                  <a:pt x="14166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18470" y="514603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824483"/>
            <a:ext cx="7148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35" dirty="0"/>
              <a:t> </a:t>
            </a:r>
            <a:r>
              <a:rPr spc="-20" dirty="0"/>
              <a:t>filling:</a:t>
            </a:r>
            <a:r>
              <a:rPr spc="-235" dirty="0"/>
              <a:t> </a:t>
            </a:r>
            <a:r>
              <a:rPr spc="-10" dirty="0"/>
              <a:t>Machine</a:t>
            </a:r>
            <a:r>
              <a:rPr spc="-22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214372"/>
            <a:ext cx="13633450" cy="435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211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semantic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endParaRPr sz="38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Input:</a:t>
            </a:r>
            <a:r>
              <a:rPr sz="32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"I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want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fly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San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Francisco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on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please"</a:t>
            </a:r>
            <a:endParaRPr sz="3200">
              <a:latin typeface="Courier New"/>
              <a:cs typeface="Courier New"/>
            </a:endParaRPr>
          </a:p>
          <a:p>
            <a:pPr marL="1658620" marR="7260590" indent="-1263650">
              <a:lnSpc>
                <a:spcPts val="4100"/>
              </a:lnSpc>
              <a:spcBef>
                <a:spcPts val="6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Output:</a:t>
            </a:r>
            <a:r>
              <a:rPr sz="32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Destination:</a:t>
            </a:r>
            <a:r>
              <a:rPr sz="3200" spc="6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25" dirty="0">
                <a:solidFill>
                  <a:srgbClr val="0070C0"/>
                </a:solidFill>
                <a:latin typeface="Courier New"/>
                <a:cs typeface="Courier New"/>
              </a:rPr>
              <a:t>SF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Depart-time:</a:t>
            </a:r>
            <a:r>
              <a:rPr sz="3200" spc="9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endParaRPr sz="3200">
              <a:latin typeface="Courier New"/>
              <a:cs typeface="Courier New"/>
            </a:endParaRPr>
          </a:p>
          <a:p>
            <a:pPr marL="12700" marR="4483735">
              <a:lnSpc>
                <a:spcPts val="552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other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Requirements: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04" dirty="0"/>
              <a:t> </a:t>
            </a:r>
            <a:r>
              <a:rPr spc="-10" dirty="0"/>
              <a:t>filling</a:t>
            </a:r>
            <a:r>
              <a:rPr spc="-185" dirty="0"/>
              <a:t> </a:t>
            </a:r>
            <a:r>
              <a:rPr dirty="0"/>
              <a:t>as</a:t>
            </a:r>
            <a:r>
              <a:rPr spc="-195" dirty="0"/>
              <a:t> </a:t>
            </a:r>
            <a:r>
              <a:rPr spc="-25" dirty="0"/>
              <a:t>sequence</a:t>
            </a:r>
            <a:r>
              <a:rPr spc="-190" dirty="0"/>
              <a:t> </a:t>
            </a:r>
            <a:r>
              <a:rPr spc="-20" dirty="0"/>
              <a:t>labeling:</a:t>
            </a:r>
            <a:r>
              <a:rPr spc="-204" dirty="0"/>
              <a:t> </a:t>
            </a:r>
            <a:r>
              <a:rPr dirty="0"/>
              <a:t>BIO</a:t>
            </a:r>
            <a:r>
              <a:rPr spc="-185" dirty="0"/>
              <a:t> </a:t>
            </a:r>
            <a:r>
              <a:rPr spc="-10" dirty="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529079"/>
            <a:ext cx="11820525" cy="51555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BIO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tagging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paradigm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4580"/>
              </a:lnSpc>
              <a:spcBef>
                <a:spcPts val="147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Idea: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Train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label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tells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(if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any)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fills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4300">
              <a:latin typeface="Calibri"/>
              <a:cs typeface="Calibri"/>
            </a:endParaRPr>
          </a:p>
          <a:p>
            <a:pPr marL="12700" marR="2124710">
              <a:lnSpc>
                <a:spcPct val="114399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create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type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convert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format</a:t>
            </a:r>
            <a:endParaRPr sz="43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474" y="4043098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0226" y="7139880"/>
            <a:ext cx="139001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Monday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6490" y="3785072"/>
            <a:ext cx="1814830" cy="2038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Arial MT"/>
                <a:cs typeface="Arial MT"/>
              </a:rPr>
              <a:t>Classifier</a:t>
            </a:r>
            <a:endParaRPr sz="2950">
              <a:latin typeface="Arial MT"/>
              <a:cs typeface="Arial MT"/>
            </a:endParaRPr>
          </a:p>
          <a:p>
            <a:pPr marL="213360">
              <a:lnSpc>
                <a:spcPct val="100000"/>
              </a:lnSpc>
              <a:spcBef>
                <a:spcPts val="15"/>
              </a:spcBef>
            </a:pPr>
            <a:r>
              <a:rPr sz="2950" spc="-10" dirty="0">
                <a:latin typeface="Arial MT"/>
                <a:cs typeface="Arial MT"/>
              </a:rPr>
              <a:t>+softmax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950" spc="-10" dirty="0">
                <a:latin typeface="Arial MT"/>
                <a:cs typeface="Arial MT"/>
              </a:rPr>
              <a:t>Encodings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83398" y="2218681"/>
            <a:ext cx="9955530" cy="5053330"/>
            <a:chOff x="2983398" y="2218681"/>
            <a:chExt cx="9955530" cy="5053330"/>
          </a:xfrm>
        </p:grpSpPr>
        <p:sp>
          <p:nvSpPr>
            <p:cNvPr id="5" name="object 5"/>
            <p:cNvSpPr/>
            <p:nvPr/>
          </p:nvSpPr>
          <p:spPr>
            <a:xfrm>
              <a:off x="3510189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2" y="86113"/>
                  </a:lnTo>
                  <a:lnTo>
                    <a:pt x="176855" y="108986"/>
                  </a:lnTo>
                  <a:lnTo>
                    <a:pt x="135404" y="137247"/>
                  </a:lnTo>
                  <a:lnTo>
                    <a:pt x="99481" y="167359"/>
                  </a:lnTo>
                  <a:lnTo>
                    <a:pt x="69084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4" y="545143"/>
                  </a:lnTo>
                  <a:lnTo>
                    <a:pt x="99481" y="576842"/>
                  </a:lnTo>
                  <a:lnTo>
                    <a:pt x="135404" y="606954"/>
                  </a:lnTo>
                  <a:lnTo>
                    <a:pt x="176855" y="635215"/>
                  </a:lnTo>
                  <a:lnTo>
                    <a:pt x="217462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3" y="658089"/>
                  </a:lnTo>
                  <a:lnTo>
                    <a:pt x="1030780" y="635215"/>
                  </a:lnTo>
                  <a:lnTo>
                    <a:pt x="1072230" y="606954"/>
                  </a:lnTo>
                  <a:lnTo>
                    <a:pt x="1108154" y="576842"/>
                  </a:lnTo>
                  <a:lnTo>
                    <a:pt x="1138551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1" y="199058"/>
                  </a:lnTo>
                  <a:lnTo>
                    <a:pt x="1108154" y="167359"/>
                  </a:lnTo>
                  <a:lnTo>
                    <a:pt x="1072230" y="137247"/>
                  </a:lnTo>
                  <a:lnTo>
                    <a:pt x="1030780" y="108986"/>
                  </a:lnTo>
                  <a:lnTo>
                    <a:pt x="990173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0188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64355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1" y="86113"/>
                  </a:lnTo>
                  <a:lnTo>
                    <a:pt x="176854" y="108986"/>
                  </a:lnTo>
                  <a:lnTo>
                    <a:pt x="135404" y="137247"/>
                  </a:lnTo>
                  <a:lnTo>
                    <a:pt x="99480" y="167359"/>
                  </a:lnTo>
                  <a:lnTo>
                    <a:pt x="69083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3" y="545143"/>
                  </a:lnTo>
                  <a:lnTo>
                    <a:pt x="99480" y="576842"/>
                  </a:lnTo>
                  <a:lnTo>
                    <a:pt x="135404" y="606954"/>
                  </a:lnTo>
                  <a:lnTo>
                    <a:pt x="176854" y="635215"/>
                  </a:lnTo>
                  <a:lnTo>
                    <a:pt x="217461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2" y="658089"/>
                  </a:lnTo>
                  <a:lnTo>
                    <a:pt x="1030779" y="635215"/>
                  </a:lnTo>
                  <a:lnTo>
                    <a:pt x="1072230" y="606954"/>
                  </a:lnTo>
                  <a:lnTo>
                    <a:pt x="1108153" y="576842"/>
                  </a:lnTo>
                  <a:lnTo>
                    <a:pt x="1138550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0" y="199058"/>
                  </a:lnTo>
                  <a:lnTo>
                    <a:pt x="1108153" y="167359"/>
                  </a:lnTo>
                  <a:lnTo>
                    <a:pt x="1072230" y="137247"/>
                  </a:lnTo>
                  <a:lnTo>
                    <a:pt x="1030779" y="108986"/>
                  </a:lnTo>
                  <a:lnTo>
                    <a:pt x="990172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64353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9113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8" y="0"/>
                  </a:moveTo>
                  <a:lnTo>
                    <a:pt x="374378" y="0"/>
                  </a:lnTo>
                  <a:lnTo>
                    <a:pt x="327582" y="5159"/>
                  </a:lnTo>
                  <a:lnTo>
                    <a:pt x="281579" y="15477"/>
                  </a:lnTo>
                  <a:lnTo>
                    <a:pt x="236896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6" y="711958"/>
                  </a:lnTo>
                  <a:lnTo>
                    <a:pt x="281579" y="727436"/>
                  </a:lnTo>
                  <a:lnTo>
                    <a:pt x="327582" y="737755"/>
                  </a:lnTo>
                  <a:lnTo>
                    <a:pt x="374378" y="742914"/>
                  </a:lnTo>
                  <a:lnTo>
                    <a:pt x="421438" y="742914"/>
                  </a:lnTo>
                  <a:lnTo>
                    <a:pt x="468233" y="737755"/>
                  </a:lnTo>
                  <a:lnTo>
                    <a:pt x="514236" y="727436"/>
                  </a:lnTo>
                  <a:lnTo>
                    <a:pt x="558918" y="711958"/>
                  </a:lnTo>
                  <a:lnTo>
                    <a:pt x="601751" y="691321"/>
                  </a:lnTo>
                  <a:lnTo>
                    <a:pt x="642207" y="665525"/>
                  </a:lnTo>
                  <a:lnTo>
                    <a:pt x="679757" y="634570"/>
                  </a:lnTo>
                  <a:lnTo>
                    <a:pt x="712917" y="599515"/>
                  </a:lnTo>
                  <a:lnTo>
                    <a:pt x="740550" y="561748"/>
                  </a:lnTo>
                  <a:lnTo>
                    <a:pt x="762656" y="521762"/>
                  </a:lnTo>
                  <a:lnTo>
                    <a:pt x="779236" y="480050"/>
                  </a:lnTo>
                  <a:lnTo>
                    <a:pt x="790289" y="437105"/>
                  </a:lnTo>
                  <a:lnTo>
                    <a:pt x="795816" y="393421"/>
                  </a:lnTo>
                  <a:lnTo>
                    <a:pt x="795816" y="349490"/>
                  </a:lnTo>
                  <a:lnTo>
                    <a:pt x="790289" y="305805"/>
                  </a:lnTo>
                  <a:lnTo>
                    <a:pt x="779236" y="262861"/>
                  </a:lnTo>
                  <a:lnTo>
                    <a:pt x="762656" y="221149"/>
                  </a:lnTo>
                  <a:lnTo>
                    <a:pt x="740550" y="181163"/>
                  </a:lnTo>
                  <a:lnTo>
                    <a:pt x="712917" y="143396"/>
                  </a:lnTo>
                  <a:lnTo>
                    <a:pt x="679757" y="108342"/>
                  </a:lnTo>
                  <a:lnTo>
                    <a:pt x="642207" y="77387"/>
                  </a:lnTo>
                  <a:lnTo>
                    <a:pt x="601751" y="51591"/>
                  </a:lnTo>
                  <a:lnTo>
                    <a:pt x="558918" y="30954"/>
                  </a:lnTo>
                  <a:lnTo>
                    <a:pt x="514236" y="15477"/>
                  </a:lnTo>
                  <a:lnTo>
                    <a:pt x="468233" y="5159"/>
                  </a:lnTo>
                  <a:lnTo>
                    <a:pt x="421438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9110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2" y="691320"/>
                  </a:lnTo>
                  <a:lnTo>
                    <a:pt x="558919" y="711957"/>
                  </a:lnTo>
                  <a:lnTo>
                    <a:pt x="514237" y="727434"/>
                  </a:lnTo>
                  <a:lnTo>
                    <a:pt x="468234" y="737753"/>
                  </a:lnTo>
                  <a:lnTo>
                    <a:pt x="421439" y="742912"/>
                  </a:lnTo>
                  <a:lnTo>
                    <a:pt x="374379" y="742912"/>
                  </a:lnTo>
                  <a:lnTo>
                    <a:pt x="327583" y="737753"/>
                  </a:lnTo>
                  <a:lnTo>
                    <a:pt x="281580" y="727434"/>
                  </a:lnTo>
                  <a:lnTo>
                    <a:pt x="236898" y="711957"/>
                  </a:lnTo>
                  <a:lnTo>
                    <a:pt x="194064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4" y="51591"/>
                  </a:lnTo>
                  <a:lnTo>
                    <a:pt x="236898" y="30954"/>
                  </a:lnTo>
                  <a:lnTo>
                    <a:pt x="281580" y="15477"/>
                  </a:lnTo>
                  <a:lnTo>
                    <a:pt x="327583" y="5159"/>
                  </a:lnTo>
                  <a:lnTo>
                    <a:pt x="374379" y="0"/>
                  </a:lnTo>
                  <a:lnTo>
                    <a:pt x="421439" y="0"/>
                  </a:lnTo>
                  <a:lnTo>
                    <a:pt x="468234" y="5159"/>
                  </a:lnTo>
                  <a:lnTo>
                    <a:pt x="514237" y="15477"/>
                  </a:lnTo>
                  <a:lnTo>
                    <a:pt x="558919" y="30954"/>
                  </a:lnTo>
                  <a:lnTo>
                    <a:pt x="601752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3685" y="2234559"/>
              <a:ext cx="1800225" cy="744220"/>
            </a:xfrm>
            <a:custGeom>
              <a:avLst/>
              <a:gdLst/>
              <a:ahLst/>
              <a:cxnLst/>
              <a:rect l="l" t="t" r="r" b="b"/>
              <a:pathLst>
                <a:path w="1800225" h="744219">
                  <a:moveTo>
                    <a:pt x="899807" y="0"/>
                  </a:moveTo>
                  <a:lnTo>
                    <a:pt x="846690" y="644"/>
                  </a:lnTo>
                  <a:lnTo>
                    <a:pt x="793722" y="2579"/>
                  </a:lnTo>
                  <a:lnTo>
                    <a:pt x="741052" y="5804"/>
                  </a:lnTo>
                  <a:lnTo>
                    <a:pt x="688830" y="10318"/>
                  </a:lnTo>
                  <a:lnTo>
                    <a:pt x="637204" y="16122"/>
                  </a:lnTo>
                  <a:lnTo>
                    <a:pt x="586323" y="23216"/>
                  </a:lnTo>
                  <a:lnTo>
                    <a:pt x="536336" y="31599"/>
                  </a:lnTo>
                  <a:lnTo>
                    <a:pt x="487393" y="41273"/>
                  </a:lnTo>
                  <a:lnTo>
                    <a:pt x="439643" y="52236"/>
                  </a:lnTo>
                  <a:lnTo>
                    <a:pt x="393234" y="64489"/>
                  </a:lnTo>
                  <a:lnTo>
                    <a:pt x="348316" y="78032"/>
                  </a:lnTo>
                  <a:lnTo>
                    <a:pt x="305037" y="92864"/>
                  </a:lnTo>
                  <a:lnTo>
                    <a:pt x="263548" y="108986"/>
                  </a:lnTo>
                  <a:lnTo>
                    <a:pt x="213474" y="131438"/>
                  </a:lnTo>
                  <a:lnTo>
                    <a:pt x="168670" y="155109"/>
                  </a:lnTo>
                  <a:lnTo>
                    <a:pt x="129138" y="179863"/>
                  </a:lnTo>
                  <a:lnTo>
                    <a:pt x="94877" y="205565"/>
                  </a:lnTo>
                  <a:lnTo>
                    <a:pt x="65887" y="232079"/>
                  </a:lnTo>
                  <a:lnTo>
                    <a:pt x="23719" y="287004"/>
                  </a:lnTo>
                  <a:lnTo>
                    <a:pt x="2635" y="343554"/>
                  </a:lnTo>
                  <a:lnTo>
                    <a:pt x="0" y="372100"/>
                  </a:lnTo>
                  <a:lnTo>
                    <a:pt x="2635" y="400646"/>
                  </a:lnTo>
                  <a:lnTo>
                    <a:pt x="23719" y="457196"/>
                  </a:lnTo>
                  <a:lnTo>
                    <a:pt x="65887" y="512121"/>
                  </a:lnTo>
                  <a:lnTo>
                    <a:pt x="94877" y="538636"/>
                  </a:lnTo>
                  <a:lnTo>
                    <a:pt x="129138" y="564338"/>
                  </a:lnTo>
                  <a:lnTo>
                    <a:pt x="168670" y="589092"/>
                  </a:lnTo>
                  <a:lnTo>
                    <a:pt x="213474" y="612763"/>
                  </a:lnTo>
                  <a:lnTo>
                    <a:pt x="263548" y="635215"/>
                  </a:lnTo>
                  <a:lnTo>
                    <a:pt x="305037" y="651337"/>
                  </a:lnTo>
                  <a:lnTo>
                    <a:pt x="348316" y="666170"/>
                  </a:lnTo>
                  <a:lnTo>
                    <a:pt x="393234" y="679713"/>
                  </a:lnTo>
                  <a:lnTo>
                    <a:pt x="439643" y="691966"/>
                  </a:lnTo>
                  <a:lnTo>
                    <a:pt x="487393" y="702930"/>
                  </a:lnTo>
                  <a:lnTo>
                    <a:pt x="536336" y="712603"/>
                  </a:lnTo>
                  <a:lnTo>
                    <a:pt x="586323" y="720987"/>
                  </a:lnTo>
                  <a:lnTo>
                    <a:pt x="637204" y="728081"/>
                  </a:lnTo>
                  <a:lnTo>
                    <a:pt x="688830" y="733885"/>
                  </a:lnTo>
                  <a:lnTo>
                    <a:pt x="741052" y="738399"/>
                  </a:lnTo>
                  <a:lnTo>
                    <a:pt x="793722" y="741624"/>
                  </a:lnTo>
                  <a:lnTo>
                    <a:pt x="846690" y="743559"/>
                  </a:lnTo>
                  <a:lnTo>
                    <a:pt x="899807" y="744204"/>
                  </a:lnTo>
                  <a:lnTo>
                    <a:pt x="952924" y="743559"/>
                  </a:lnTo>
                  <a:lnTo>
                    <a:pt x="1005891" y="741624"/>
                  </a:lnTo>
                  <a:lnTo>
                    <a:pt x="1058561" y="738399"/>
                  </a:lnTo>
                  <a:lnTo>
                    <a:pt x="1110783" y="733885"/>
                  </a:lnTo>
                  <a:lnTo>
                    <a:pt x="1162410" y="728081"/>
                  </a:lnTo>
                  <a:lnTo>
                    <a:pt x="1213290" y="720987"/>
                  </a:lnTo>
                  <a:lnTo>
                    <a:pt x="1263277" y="712603"/>
                  </a:lnTo>
                  <a:lnTo>
                    <a:pt x="1312220" y="702930"/>
                  </a:lnTo>
                  <a:lnTo>
                    <a:pt x="1359970" y="691966"/>
                  </a:lnTo>
                  <a:lnTo>
                    <a:pt x="1406379" y="679713"/>
                  </a:lnTo>
                  <a:lnTo>
                    <a:pt x="1451297" y="666170"/>
                  </a:lnTo>
                  <a:lnTo>
                    <a:pt x="1494575" y="651337"/>
                  </a:lnTo>
                  <a:lnTo>
                    <a:pt x="1536065" y="635215"/>
                  </a:lnTo>
                  <a:lnTo>
                    <a:pt x="1586139" y="612763"/>
                  </a:lnTo>
                  <a:lnTo>
                    <a:pt x="1630943" y="589092"/>
                  </a:lnTo>
                  <a:lnTo>
                    <a:pt x="1670475" y="564338"/>
                  </a:lnTo>
                  <a:lnTo>
                    <a:pt x="1704736" y="538636"/>
                  </a:lnTo>
                  <a:lnTo>
                    <a:pt x="1733727" y="512121"/>
                  </a:lnTo>
                  <a:lnTo>
                    <a:pt x="1775895" y="457196"/>
                  </a:lnTo>
                  <a:lnTo>
                    <a:pt x="1796978" y="400646"/>
                  </a:lnTo>
                  <a:lnTo>
                    <a:pt x="1799614" y="372100"/>
                  </a:lnTo>
                  <a:lnTo>
                    <a:pt x="1796978" y="343554"/>
                  </a:lnTo>
                  <a:lnTo>
                    <a:pt x="1775895" y="287004"/>
                  </a:lnTo>
                  <a:lnTo>
                    <a:pt x="1733727" y="232079"/>
                  </a:lnTo>
                  <a:lnTo>
                    <a:pt x="1704736" y="205565"/>
                  </a:lnTo>
                  <a:lnTo>
                    <a:pt x="1670475" y="179863"/>
                  </a:lnTo>
                  <a:lnTo>
                    <a:pt x="1630943" y="155109"/>
                  </a:lnTo>
                  <a:lnTo>
                    <a:pt x="1586139" y="131438"/>
                  </a:lnTo>
                  <a:lnTo>
                    <a:pt x="1536065" y="108986"/>
                  </a:lnTo>
                  <a:lnTo>
                    <a:pt x="1494575" y="92864"/>
                  </a:lnTo>
                  <a:lnTo>
                    <a:pt x="1451297" y="78032"/>
                  </a:lnTo>
                  <a:lnTo>
                    <a:pt x="1406379" y="64489"/>
                  </a:lnTo>
                  <a:lnTo>
                    <a:pt x="1359970" y="52236"/>
                  </a:lnTo>
                  <a:lnTo>
                    <a:pt x="1312220" y="41273"/>
                  </a:lnTo>
                  <a:lnTo>
                    <a:pt x="1263277" y="31599"/>
                  </a:lnTo>
                  <a:lnTo>
                    <a:pt x="1213290" y="23216"/>
                  </a:lnTo>
                  <a:lnTo>
                    <a:pt x="1162410" y="16122"/>
                  </a:lnTo>
                  <a:lnTo>
                    <a:pt x="1110783" y="10318"/>
                  </a:lnTo>
                  <a:lnTo>
                    <a:pt x="1058561" y="5804"/>
                  </a:lnTo>
                  <a:lnTo>
                    <a:pt x="1005891" y="2579"/>
                  </a:lnTo>
                  <a:lnTo>
                    <a:pt x="952924" y="644"/>
                  </a:lnTo>
                  <a:lnTo>
                    <a:pt x="89980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0466" y="2234556"/>
              <a:ext cx="2953385" cy="1378585"/>
            </a:xfrm>
            <a:custGeom>
              <a:avLst/>
              <a:gdLst/>
              <a:ahLst/>
              <a:cxnLst/>
              <a:rect l="l" t="t" r="r" b="b"/>
              <a:pathLst>
                <a:path w="2953384" h="1378585">
                  <a:moveTo>
                    <a:pt x="2689284" y="108986"/>
                  </a:moveTo>
                  <a:lnTo>
                    <a:pt x="2739358" y="131438"/>
                  </a:lnTo>
                  <a:lnTo>
                    <a:pt x="2784161" y="155108"/>
                  </a:lnTo>
                  <a:lnTo>
                    <a:pt x="2823694" y="179862"/>
                  </a:lnTo>
                  <a:lnTo>
                    <a:pt x="2857955" y="205564"/>
                  </a:lnTo>
                  <a:lnTo>
                    <a:pt x="2886945" y="232079"/>
                  </a:lnTo>
                  <a:lnTo>
                    <a:pt x="2929113" y="287004"/>
                  </a:lnTo>
                  <a:lnTo>
                    <a:pt x="2950197" y="343554"/>
                  </a:lnTo>
                  <a:lnTo>
                    <a:pt x="2952833" y="372100"/>
                  </a:lnTo>
                  <a:lnTo>
                    <a:pt x="2950197" y="400646"/>
                  </a:lnTo>
                  <a:lnTo>
                    <a:pt x="2929113" y="457197"/>
                  </a:lnTo>
                  <a:lnTo>
                    <a:pt x="2886945" y="512122"/>
                  </a:lnTo>
                  <a:lnTo>
                    <a:pt x="2857955" y="538636"/>
                  </a:lnTo>
                  <a:lnTo>
                    <a:pt x="2823694" y="564339"/>
                  </a:lnTo>
                  <a:lnTo>
                    <a:pt x="2784161" y="589093"/>
                  </a:lnTo>
                  <a:lnTo>
                    <a:pt x="2739358" y="612763"/>
                  </a:lnTo>
                  <a:lnTo>
                    <a:pt x="2689284" y="635215"/>
                  </a:lnTo>
                  <a:lnTo>
                    <a:pt x="2647794" y="651337"/>
                  </a:lnTo>
                  <a:lnTo>
                    <a:pt x="2604516" y="666170"/>
                  </a:lnTo>
                  <a:lnTo>
                    <a:pt x="2559597" y="679712"/>
                  </a:lnTo>
                  <a:lnTo>
                    <a:pt x="2513189" y="691965"/>
                  </a:lnTo>
                  <a:lnTo>
                    <a:pt x="2465438" y="702929"/>
                  </a:lnTo>
                  <a:lnTo>
                    <a:pt x="2416495" y="712602"/>
                  </a:lnTo>
                  <a:lnTo>
                    <a:pt x="2366509" y="720985"/>
                  </a:lnTo>
                  <a:lnTo>
                    <a:pt x="2315628" y="728079"/>
                  </a:lnTo>
                  <a:lnTo>
                    <a:pt x="2264002" y="733883"/>
                  </a:lnTo>
                  <a:lnTo>
                    <a:pt x="2211779" y="738397"/>
                  </a:lnTo>
                  <a:lnTo>
                    <a:pt x="2159110" y="741622"/>
                  </a:lnTo>
                  <a:lnTo>
                    <a:pt x="2106142" y="743557"/>
                  </a:lnTo>
                  <a:lnTo>
                    <a:pt x="2053025" y="744201"/>
                  </a:lnTo>
                  <a:lnTo>
                    <a:pt x="1999908" y="743557"/>
                  </a:lnTo>
                  <a:lnTo>
                    <a:pt x="1946941" y="741622"/>
                  </a:lnTo>
                  <a:lnTo>
                    <a:pt x="1894271" y="738397"/>
                  </a:lnTo>
                  <a:lnTo>
                    <a:pt x="1842049" y="733883"/>
                  </a:lnTo>
                  <a:lnTo>
                    <a:pt x="1790423" y="728079"/>
                  </a:lnTo>
                  <a:lnTo>
                    <a:pt x="1739542" y="720985"/>
                  </a:lnTo>
                  <a:lnTo>
                    <a:pt x="1689555" y="712602"/>
                  </a:lnTo>
                  <a:lnTo>
                    <a:pt x="1640612" y="702929"/>
                  </a:lnTo>
                  <a:lnTo>
                    <a:pt x="1592862" y="691965"/>
                  </a:lnTo>
                  <a:lnTo>
                    <a:pt x="1546453" y="679712"/>
                  </a:lnTo>
                  <a:lnTo>
                    <a:pt x="1501535" y="666170"/>
                  </a:lnTo>
                  <a:lnTo>
                    <a:pt x="1458256" y="651337"/>
                  </a:lnTo>
                  <a:lnTo>
                    <a:pt x="1416767" y="635215"/>
                  </a:lnTo>
                  <a:lnTo>
                    <a:pt x="1366692" y="612763"/>
                  </a:lnTo>
                  <a:lnTo>
                    <a:pt x="1321889" y="589093"/>
                  </a:lnTo>
                  <a:lnTo>
                    <a:pt x="1282357" y="564339"/>
                  </a:lnTo>
                  <a:lnTo>
                    <a:pt x="1248095" y="538636"/>
                  </a:lnTo>
                  <a:lnTo>
                    <a:pt x="1219105" y="512122"/>
                  </a:lnTo>
                  <a:lnTo>
                    <a:pt x="1176937" y="457197"/>
                  </a:lnTo>
                  <a:lnTo>
                    <a:pt x="1155853" y="400646"/>
                  </a:lnTo>
                  <a:lnTo>
                    <a:pt x="1153218" y="372100"/>
                  </a:lnTo>
                  <a:lnTo>
                    <a:pt x="1155853" y="343554"/>
                  </a:lnTo>
                  <a:lnTo>
                    <a:pt x="1176937" y="287004"/>
                  </a:lnTo>
                  <a:lnTo>
                    <a:pt x="1219105" y="232079"/>
                  </a:lnTo>
                  <a:lnTo>
                    <a:pt x="1248095" y="205564"/>
                  </a:lnTo>
                  <a:lnTo>
                    <a:pt x="1282357" y="179862"/>
                  </a:lnTo>
                  <a:lnTo>
                    <a:pt x="1321889" y="155108"/>
                  </a:lnTo>
                  <a:lnTo>
                    <a:pt x="1366692" y="131438"/>
                  </a:lnTo>
                  <a:lnTo>
                    <a:pt x="1416767" y="108986"/>
                  </a:lnTo>
                  <a:lnTo>
                    <a:pt x="1458256" y="92864"/>
                  </a:lnTo>
                  <a:lnTo>
                    <a:pt x="1501535" y="78031"/>
                  </a:lnTo>
                  <a:lnTo>
                    <a:pt x="1546453" y="64488"/>
                  </a:lnTo>
                  <a:lnTo>
                    <a:pt x="1592862" y="52236"/>
                  </a:lnTo>
                  <a:lnTo>
                    <a:pt x="1640612" y="41272"/>
                  </a:lnTo>
                  <a:lnTo>
                    <a:pt x="1689555" y="31599"/>
                  </a:lnTo>
                  <a:lnTo>
                    <a:pt x="1739542" y="23216"/>
                  </a:lnTo>
                  <a:lnTo>
                    <a:pt x="1790423" y="16122"/>
                  </a:lnTo>
                  <a:lnTo>
                    <a:pt x="1842049" y="10318"/>
                  </a:lnTo>
                  <a:lnTo>
                    <a:pt x="1894271" y="5804"/>
                  </a:lnTo>
                  <a:lnTo>
                    <a:pt x="1946941" y="2579"/>
                  </a:lnTo>
                  <a:lnTo>
                    <a:pt x="1999908" y="644"/>
                  </a:lnTo>
                  <a:lnTo>
                    <a:pt x="2053025" y="0"/>
                  </a:lnTo>
                  <a:lnTo>
                    <a:pt x="2106142" y="644"/>
                  </a:lnTo>
                  <a:lnTo>
                    <a:pt x="2159110" y="2579"/>
                  </a:lnTo>
                  <a:lnTo>
                    <a:pt x="2211779" y="5804"/>
                  </a:lnTo>
                  <a:lnTo>
                    <a:pt x="2264002" y="10318"/>
                  </a:lnTo>
                  <a:lnTo>
                    <a:pt x="2315628" y="16122"/>
                  </a:lnTo>
                  <a:lnTo>
                    <a:pt x="2366509" y="23216"/>
                  </a:lnTo>
                  <a:lnTo>
                    <a:pt x="2416495" y="31599"/>
                  </a:lnTo>
                  <a:lnTo>
                    <a:pt x="2465438" y="41272"/>
                  </a:lnTo>
                  <a:lnTo>
                    <a:pt x="2513189" y="52236"/>
                  </a:lnTo>
                  <a:lnTo>
                    <a:pt x="2559597" y="64488"/>
                  </a:lnTo>
                  <a:lnTo>
                    <a:pt x="2604516" y="78031"/>
                  </a:lnTo>
                  <a:lnTo>
                    <a:pt x="2647794" y="92864"/>
                  </a:lnTo>
                  <a:lnTo>
                    <a:pt x="2689284" y="108986"/>
                  </a:lnTo>
                </a:path>
                <a:path w="2953384" h="1378585">
                  <a:moveTo>
                    <a:pt x="2768" y="1378149"/>
                  </a:moveTo>
                  <a:lnTo>
                    <a:pt x="0" y="930044"/>
                  </a:lnTo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7334" y="3022829"/>
              <a:ext cx="126263" cy="1578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23411" y="3164563"/>
              <a:ext cx="7620" cy="448309"/>
            </a:xfrm>
            <a:custGeom>
              <a:avLst/>
              <a:gdLst/>
              <a:ahLst/>
              <a:cxnLst/>
              <a:rect l="l" t="t" r="r" b="b"/>
              <a:pathLst>
                <a:path w="7620" h="448310">
                  <a:moveTo>
                    <a:pt x="7555" y="448142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0286" y="3022807"/>
              <a:ext cx="126250" cy="1583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817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5040" y="3022835"/>
              <a:ext cx="126262" cy="1575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20349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40360" y="3022835"/>
              <a:ext cx="126262" cy="1575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3398" y="5157734"/>
              <a:ext cx="9954963" cy="21139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39857" y="7009941"/>
            <a:ext cx="25336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50" dirty="0">
                <a:latin typeface="Courier New"/>
                <a:cs typeface="Courier New"/>
              </a:rPr>
              <a:t>…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808690" y="2219326"/>
            <a:ext cx="828040" cy="774700"/>
            <a:chOff x="11808690" y="2219326"/>
            <a:chExt cx="828040" cy="774700"/>
          </a:xfrm>
        </p:grpSpPr>
        <p:sp>
          <p:nvSpPr>
            <p:cNvPr id="23" name="object 23"/>
            <p:cNvSpPr/>
            <p:nvPr/>
          </p:nvSpPr>
          <p:spPr>
            <a:xfrm>
              <a:off x="11824567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6" y="0"/>
                  </a:moveTo>
                  <a:lnTo>
                    <a:pt x="374376" y="0"/>
                  </a:lnTo>
                  <a:lnTo>
                    <a:pt x="327581" y="5159"/>
                  </a:lnTo>
                  <a:lnTo>
                    <a:pt x="281578" y="15477"/>
                  </a:lnTo>
                  <a:lnTo>
                    <a:pt x="236895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5" y="711958"/>
                  </a:lnTo>
                  <a:lnTo>
                    <a:pt x="281578" y="727436"/>
                  </a:lnTo>
                  <a:lnTo>
                    <a:pt x="327581" y="737755"/>
                  </a:lnTo>
                  <a:lnTo>
                    <a:pt x="374376" y="742914"/>
                  </a:lnTo>
                  <a:lnTo>
                    <a:pt x="421436" y="742914"/>
                  </a:lnTo>
                  <a:lnTo>
                    <a:pt x="468232" y="737755"/>
                  </a:lnTo>
                  <a:lnTo>
                    <a:pt x="514235" y="727436"/>
                  </a:lnTo>
                  <a:lnTo>
                    <a:pt x="558918" y="711958"/>
                  </a:lnTo>
                  <a:lnTo>
                    <a:pt x="601752" y="691321"/>
                  </a:lnTo>
                  <a:lnTo>
                    <a:pt x="642209" y="665525"/>
                  </a:lnTo>
                  <a:lnTo>
                    <a:pt x="679761" y="634570"/>
                  </a:lnTo>
                  <a:lnTo>
                    <a:pt x="712920" y="599515"/>
                  </a:lnTo>
                  <a:lnTo>
                    <a:pt x="740552" y="561748"/>
                  </a:lnTo>
                  <a:lnTo>
                    <a:pt x="762658" y="521762"/>
                  </a:lnTo>
                  <a:lnTo>
                    <a:pt x="779237" y="480050"/>
                  </a:lnTo>
                  <a:lnTo>
                    <a:pt x="790290" y="437105"/>
                  </a:lnTo>
                  <a:lnTo>
                    <a:pt x="795817" y="393421"/>
                  </a:lnTo>
                  <a:lnTo>
                    <a:pt x="795817" y="349490"/>
                  </a:lnTo>
                  <a:lnTo>
                    <a:pt x="790290" y="305805"/>
                  </a:lnTo>
                  <a:lnTo>
                    <a:pt x="779237" y="262861"/>
                  </a:lnTo>
                  <a:lnTo>
                    <a:pt x="762658" y="221149"/>
                  </a:lnTo>
                  <a:lnTo>
                    <a:pt x="740552" y="181163"/>
                  </a:lnTo>
                  <a:lnTo>
                    <a:pt x="712920" y="143396"/>
                  </a:lnTo>
                  <a:lnTo>
                    <a:pt x="679761" y="108342"/>
                  </a:lnTo>
                  <a:lnTo>
                    <a:pt x="642209" y="77387"/>
                  </a:lnTo>
                  <a:lnTo>
                    <a:pt x="601752" y="51591"/>
                  </a:lnTo>
                  <a:lnTo>
                    <a:pt x="558918" y="30954"/>
                  </a:lnTo>
                  <a:lnTo>
                    <a:pt x="514235" y="15477"/>
                  </a:lnTo>
                  <a:lnTo>
                    <a:pt x="468232" y="5159"/>
                  </a:lnTo>
                  <a:lnTo>
                    <a:pt x="42143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824565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1" y="691320"/>
                  </a:lnTo>
                  <a:lnTo>
                    <a:pt x="558917" y="711957"/>
                  </a:lnTo>
                  <a:lnTo>
                    <a:pt x="514235" y="727434"/>
                  </a:lnTo>
                  <a:lnTo>
                    <a:pt x="468232" y="737753"/>
                  </a:lnTo>
                  <a:lnTo>
                    <a:pt x="421436" y="742912"/>
                  </a:lnTo>
                  <a:lnTo>
                    <a:pt x="374377" y="742912"/>
                  </a:lnTo>
                  <a:lnTo>
                    <a:pt x="327581" y="737753"/>
                  </a:lnTo>
                  <a:lnTo>
                    <a:pt x="281578" y="727434"/>
                  </a:lnTo>
                  <a:lnTo>
                    <a:pt x="236896" y="711957"/>
                  </a:lnTo>
                  <a:lnTo>
                    <a:pt x="194063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3" y="51591"/>
                  </a:lnTo>
                  <a:lnTo>
                    <a:pt x="236896" y="30954"/>
                  </a:lnTo>
                  <a:lnTo>
                    <a:pt x="281578" y="15477"/>
                  </a:lnTo>
                  <a:lnTo>
                    <a:pt x="327581" y="5159"/>
                  </a:lnTo>
                  <a:lnTo>
                    <a:pt x="374377" y="0"/>
                  </a:lnTo>
                  <a:lnTo>
                    <a:pt x="421436" y="0"/>
                  </a:lnTo>
                  <a:lnTo>
                    <a:pt x="468232" y="5159"/>
                  </a:lnTo>
                  <a:lnTo>
                    <a:pt x="514235" y="15477"/>
                  </a:lnTo>
                  <a:lnTo>
                    <a:pt x="558917" y="30954"/>
                  </a:lnTo>
                  <a:lnTo>
                    <a:pt x="601751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21882" y="2400544"/>
            <a:ext cx="883666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33600" algn="l"/>
                <a:tab pos="4404995" algn="l"/>
                <a:tab pos="5935345" algn="l"/>
                <a:tab pos="8376920" algn="l"/>
              </a:tabLst>
            </a:pPr>
            <a:r>
              <a:rPr sz="2450" dirty="0">
                <a:latin typeface="Arial MT"/>
                <a:cs typeface="Arial MT"/>
              </a:rPr>
              <a:t>B-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I-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50" dirty="0">
                <a:latin typeface="Arial MT"/>
                <a:cs typeface="Arial MT"/>
              </a:rPr>
              <a:t>O</a:t>
            </a:r>
            <a:r>
              <a:rPr sz="2450" dirty="0">
                <a:latin typeface="Arial MT"/>
                <a:cs typeface="Arial MT"/>
              </a:rPr>
              <a:t>	B-</a:t>
            </a:r>
            <a:r>
              <a:rPr sz="2450" spc="-10" dirty="0">
                <a:latin typeface="Arial MT"/>
                <a:cs typeface="Arial MT"/>
              </a:rPr>
              <a:t>DTIME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30" dirty="0">
                <a:latin typeface="Arial MT"/>
                <a:cs typeface="Arial MT"/>
              </a:rPr>
              <a:t>d+i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6966" y="7139880"/>
            <a:ext cx="116268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&lt;EoS&gt;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16353" y="3022737"/>
            <a:ext cx="9355455" cy="2106930"/>
            <a:chOff x="3516353" y="3022737"/>
            <a:chExt cx="9355455" cy="2106930"/>
          </a:xfrm>
        </p:grpSpPr>
        <p:sp>
          <p:nvSpPr>
            <p:cNvPr id="28" name="object 28"/>
            <p:cNvSpPr/>
            <p:nvPr/>
          </p:nvSpPr>
          <p:spPr>
            <a:xfrm>
              <a:off x="12235023" y="3164481"/>
              <a:ext cx="10160" cy="448309"/>
            </a:xfrm>
            <a:custGeom>
              <a:avLst/>
              <a:gdLst/>
              <a:ahLst/>
              <a:cxnLst/>
              <a:rect l="l" t="t" r="r" b="b"/>
              <a:pathLst>
                <a:path w="10159" h="448310">
                  <a:moveTo>
                    <a:pt x="10087" y="448224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71904" y="3022737"/>
              <a:ext cx="126241" cy="1585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32229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7" y="598738"/>
                  </a:lnTo>
                  <a:lnTo>
                    <a:pt x="1013299" y="587995"/>
                  </a:lnTo>
                  <a:lnTo>
                    <a:pt x="1054069" y="570804"/>
                  </a:lnTo>
                  <a:lnTo>
                    <a:pt x="1091301" y="547749"/>
                  </a:lnTo>
                  <a:lnTo>
                    <a:pt x="1124410" y="519412"/>
                  </a:lnTo>
                  <a:lnTo>
                    <a:pt x="1152811" y="486378"/>
                  </a:lnTo>
                  <a:lnTo>
                    <a:pt x="1175920" y="449231"/>
                  </a:lnTo>
                  <a:lnTo>
                    <a:pt x="1193150" y="408554"/>
                  </a:lnTo>
                  <a:lnTo>
                    <a:pt x="1203917" y="364930"/>
                  </a:lnTo>
                  <a:lnTo>
                    <a:pt x="1207636" y="318943"/>
                  </a:lnTo>
                  <a:lnTo>
                    <a:pt x="1207636" y="283505"/>
                  </a:lnTo>
                  <a:lnTo>
                    <a:pt x="1203917" y="237520"/>
                  </a:lnTo>
                  <a:lnTo>
                    <a:pt x="1193150" y="193896"/>
                  </a:lnTo>
                  <a:lnTo>
                    <a:pt x="1175920" y="153219"/>
                  </a:lnTo>
                  <a:lnTo>
                    <a:pt x="1152811" y="116071"/>
                  </a:lnTo>
                  <a:lnTo>
                    <a:pt x="1124410" y="83037"/>
                  </a:lnTo>
                  <a:lnTo>
                    <a:pt x="1091301" y="54700"/>
                  </a:lnTo>
                  <a:lnTo>
                    <a:pt x="1054069" y="31644"/>
                  </a:lnTo>
                  <a:lnTo>
                    <a:pt x="1013299" y="14453"/>
                  </a:lnTo>
                  <a:lnTo>
                    <a:pt x="969577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32228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6" y="3710"/>
                  </a:lnTo>
                  <a:lnTo>
                    <a:pt x="1013299" y="14453"/>
                  </a:lnTo>
                  <a:lnTo>
                    <a:pt x="1054068" y="31644"/>
                  </a:lnTo>
                  <a:lnTo>
                    <a:pt x="1091300" y="54699"/>
                  </a:lnTo>
                  <a:lnTo>
                    <a:pt x="1124409" y="83036"/>
                  </a:lnTo>
                  <a:lnTo>
                    <a:pt x="1152811" y="116070"/>
                  </a:lnTo>
                  <a:lnTo>
                    <a:pt x="1175919" y="153217"/>
                  </a:lnTo>
                  <a:lnTo>
                    <a:pt x="1193149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49" y="408552"/>
                  </a:lnTo>
                  <a:lnTo>
                    <a:pt x="1175919" y="449230"/>
                  </a:lnTo>
                  <a:lnTo>
                    <a:pt x="1152811" y="486377"/>
                  </a:lnTo>
                  <a:lnTo>
                    <a:pt x="1124409" y="519411"/>
                  </a:lnTo>
                  <a:lnTo>
                    <a:pt x="1091300" y="547748"/>
                  </a:lnTo>
                  <a:lnTo>
                    <a:pt x="1054068" y="570803"/>
                  </a:lnTo>
                  <a:lnTo>
                    <a:pt x="1013299" y="587994"/>
                  </a:lnTo>
                  <a:lnTo>
                    <a:pt x="969576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0265" y="4011928"/>
              <a:ext cx="143903" cy="11070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04824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4821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5278" y="3880478"/>
              <a:ext cx="280564" cy="2421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02473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02472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2964" y="4259219"/>
              <a:ext cx="145181" cy="39771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32229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2228" y="3612706"/>
              <a:ext cx="3239770" cy="1501140"/>
            </a:xfrm>
            <a:custGeom>
              <a:avLst/>
              <a:gdLst/>
              <a:ahLst/>
              <a:cxnLst/>
              <a:rect l="l" t="t" r="r" b="b"/>
              <a:pathLst>
                <a:path w="3239770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39770" h="1501139">
                  <a:moveTo>
                    <a:pt x="2316274" y="0"/>
                  </a:moveTo>
                  <a:lnTo>
                    <a:pt x="2955611" y="0"/>
                  </a:lnTo>
                  <a:lnTo>
                    <a:pt x="3001702" y="3710"/>
                  </a:lnTo>
                  <a:lnTo>
                    <a:pt x="3045425" y="14453"/>
                  </a:lnTo>
                  <a:lnTo>
                    <a:pt x="3086195" y="31644"/>
                  </a:lnTo>
                  <a:lnTo>
                    <a:pt x="3123427" y="54699"/>
                  </a:lnTo>
                  <a:lnTo>
                    <a:pt x="3156536" y="83036"/>
                  </a:lnTo>
                  <a:lnTo>
                    <a:pt x="3184937" y="116070"/>
                  </a:lnTo>
                  <a:lnTo>
                    <a:pt x="3208045" y="153217"/>
                  </a:lnTo>
                  <a:lnTo>
                    <a:pt x="3225275" y="193894"/>
                  </a:lnTo>
                  <a:lnTo>
                    <a:pt x="3236042" y="237518"/>
                  </a:lnTo>
                  <a:lnTo>
                    <a:pt x="3239761" y="283504"/>
                  </a:lnTo>
                  <a:lnTo>
                    <a:pt x="3239761" y="318943"/>
                  </a:lnTo>
                  <a:lnTo>
                    <a:pt x="3236042" y="364929"/>
                  </a:lnTo>
                  <a:lnTo>
                    <a:pt x="3225275" y="408552"/>
                  </a:lnTo>
                  <a:lnTo>
                    <a:pt x="3208045" y="449230"/>
                  </a:lnTo>
                  <a:lnTo>
                    <a:pt x="3184937" y="486377"/>
                  </a:lnTo>
                  <a:lnTo>
                    <a:pt x="3156536" y="519411"/>
                  </a:lnTo>
                  <a:lnTo>
                    <a:pt x="3123427" y="547748"/>
                  </a:lnTo>
                  <a:lnTo>
                    <a:pt x="3086195" y="570803"/>
                  </a:lnTo>
                  <a:lnTo>
                    <a:pt x="3045425" y="587994"/>
                  </a:lnTo>
                  <a:lnTo>
                    <a:pt x="3001702" y="598737"/>
                  </a:lnTo>
                  <a:lnTo>
                    <a:pt x="2955611" y="602447"/>
                  </a:lnTo>
                  <a:lnTo>
                    <a:pt x="2316274" y="602447"/>
                  </a:lnTo>
                  <a:lnTo>
                    <a:pt x="2270183" y="598737"/>
                  </a:lnTo>
                  <a:lnTo>
                    <a:pt x="2226460" y="587994"/>
                  </a:lnTo>
                  <a:lnTo>
                    <a:pt x="2185691" y="570803"/>
                  </a:lnTo>
                  <a:lnTo>
                    <a:pt x="2148459" y="547748"/>
                  </a:lnTo>
                  <a:lnTo>
                    <a:pt x="2115350" y="519411"/>
                  </a:lnTo>
                  <a:lnTo>
                    <a:pt x="2086949" y="486377"/>
                  </a:lnTo>
                  <a:lnTo>
                    <a:pt x="2063841" y="449230"/>
                  </a:lnTo>
                  <a:lnTo>
                    <a:pt x="2046611" y="408552"/>
                  </a:lnTo>
                  <a:lnTo>
                    <a:pt x="2035843" y="364929"/>
                  </a:lnTo>
                  <a:lnTo>
                    <a:pt x="2032124" y="318943"/>
                  </a:lnTo>
                  <a:lnTo>
                    <a:pt x="2032124" y="283504"/>
                  </a:lnTo>
                  <a:lnTo>
                    <a:pt x="2035843" y="237518"/>
                  </a:lnTo>
                  <a:lnTo>
                    <a:pt x="2046611" y="193894"/>
                  </a:lnTo>
                  <a:lnTo>
                    <a:pt x="2063841" y="153217"/>
                  </a:lnTo>
                  <a:lnTo>
                    <a:pt x="2086949" y="116070"/>
                  </a:lnTo>
                  <a:lnTo>
                    <a:pt x="2115350" y="83036"/>
                  </a:lnTo>
                  <a:lnTo>
                    <a:pt x="2148459" y="54699"/>
                  </a:lnTo>
                  <a:lnTo>
                    <a:pt x="2185691" y="31644"/>
                  </a:lnTo>
                  <a:lnTo>
                    <a:pt x="2226460" y="14453"/>
                  </a:lnTo>
                  <a:lnTo>
                    <a:pt x="2270183" y="3710"/>
                  </a:lnTo>
                  <a:lnTo>
                    <a:pt x="2316274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2393" y="4011928"/>
              <a:ext cx="143900" cy="11070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36950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36946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7403" y="3880478"/>
              <a:ext cx="280564" cy="2421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934599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459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85089" y="4259219"/>
              <a:ext cx="145181" cy="39771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64353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3" y="465081"/>
                  </a:lnTo>
                  <a:lnTo>
                    <a:pt x="1140429" y="444828"/>
                  </a:lnTo>
                  <a:lnTo>
                    <a:pt x="1160728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8" y="57716"/>
                  </a:lnTo>
                  <a:lnTo>
                    <a:pt x="1140429" y="27678"/>
                  </a:lnTo>
                  <a:lnTo>
                    <a:pt x="1110323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6435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51280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3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3" y="602448"/>
                  </a:lnTo>
                  <a:lnTo>
                    <a:pt x="969574" y="598738"/>
                  </a:lnTo>
                  <a:lnTo>
                    <a:pt x="1013297" y="587995"/>
                  </a:lnTo>
                  <a:lnTo>
                    <a:pt x="1054067" y="570804"/>
                  </a:lnTo>
                  <a:lnTo>
                    <a:pt x="1091299" y="547749"/>
                  </a:lnTo>
                  <a:lnTo>
                    <a:pt x="1124408" y="519412"/>
                  </a:lnTo>
                  <a:lnTo>
                    <a:pt x="1152809" y="486378"/>
                  </a:lnTo>
                  <a:lnTo>
                    <a:pt x="1175916" y="449231"/>
                  </a:lnTo>
                  <a:lnTo>
                    <a:pt x="1193146" y="408554"/>
                  </a:lnTo>
                  <a:lnTo>
                    <a:pt x="1203913" y="364930"/>
                  </a:lnTo>
                  <a:lnTo>
                    <a:pt x="1207632" y="318943"/>
                  </a:lnTo>
                  <a:lnTo>
                    <a:pt x="1207632" y="283505"/>
                  </a:lnTo>
                  <a:lnTo>
                    <a:pt x="1203913" y="237520"/>
                  </a:lnTo>
                  <a:lnTo>
                    <a:pt x="1193146" y="193896"/>
                  </a:lnTo>
                  <a:lnTo>
                    <a:pt x="1175916" y="153219"/>
                  </a:lnTo>
                  <a:lnTo>
                    <a:pt x="1152809" y="116071"/>
                  </a:lnTo>
                  <a:lnTo>
                    <a:pt x="1124408" y="83037"/>
                  </a:lnTo>
                  <a:lnTo>
                    <a:pt x="1091299" y="54700"/>
                  </a:lnTo>
                  <a:lnTo>
                    <a:pt x="1054067" y="31644"/>
                  </a:lnTo>
                  <a:lnTo>
                    <a:pt x="1013297" y="14453"/>
                  </a:lnTo>
                  <a:lnTo>
                    <a:pt x="969574" y="3710"/>
                  </a:lnTo>
                  <a:lnTo>
                    <a:pt x="923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1276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79316" y="4011928"/>
              <a:ext cx="143900" cy="11070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23871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23870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4326" y="3880478"/>
              <a:ext cx="280564" cy="24215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21520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921520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012" y="4259219"/>
              <a:ext cx="145181" cy="39771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51280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6" y="7426"/>
                  </a:lnTo>
                  <a:lnTo>
                    <a:pt x="27739" y="27678"/>
                  </a:lnTo>
                  <a:lnTo>
                    <a:pt x="7442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2" y="414790"/>
                  </a:lnTo>
                  <a:lnTo>
                    <a:pt x="27739" y="444828"/>
                  </a:lnTo>
                  <a:lnTo>
                    <a:pt x="57846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0" y="465081"/>
                  </a:lnTo>
                  <a:lnTo>
                    <a:pt x="1140427" y="444828"/>
                  </a:lnTo>
                  <a:lnTo>
                    <a:pt x="1160727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7" y="57716"/>
                  </a:lnTo>
                  <a:lnTo>
                    <a:pt x="1140427" y="27678"/>
                  </a:lnTo>
                  <a:lnTo>
                    <a:pt x="1110320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51276" y="3612706"/>
              <a:ext cx="3256279" cy="1501140"/>
            </a:xfrm>
            <a:custGeom>
              <a:avLst/>
              <a:gdLst/>
              <a:ahLst/>
              <a:cxnLst/>
              <a:rect l="l" t="t" r="r" b="b"/>
              <a:pathLst>
                <a:path w="3256279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56279" h="1501139">
                  <a:moveTo>
                    <a:pt x="2332546" y="0"/>
                  </a:moveTo>
                  <a:lnTo>
                    <a:pt x="2971883" y="0"/>
                  </a:lnTo>
                  <a:lnTo>
                    <a:pt x="3017974" y="3710"/>
                  </a:lnTo>
                  <a:lnTo>
                    <a:pt x="3061697" y="14453"/>
                  </a:lnTo>
                  <a:lnTo>
                    <a:pt x="3102467" y="31644"/>
                  </a:lnTo>
                  <a:lnTo>
                    <a:pt x="3139699" y="54699"/>
                  </a:lnTo>
                  <a:lnTo>
                    <a:pt x="3172808" y="83036"/>
                  </a:lnTo>
                  <a:lnTo>
                    <a:pt x="3201209" y="116070"/>
                  </a:lnTo>
                  <a:lnTo>
                    <a:pt x="3224317" y="153217"/>
                  </a:lnTo>
                  <a:lnTo>
                    <a:pt x="3241547" y="193894"/>
                  </a:lnTo>
                  <a:lnTo>
                    <a:pt x="3252314" y="237518"/>
                  </a:lnTo>
                  <a:lnTo>
                    <a:pt x="3256033" y="283504"/>
                  </a:lnTo>
                  <a:lnTo>
                    <a:pt x="3256033" y="318943"/>
                  </a:lnTo>
                  <a:lnTo>
                    <a:pt x="3252314" y="364929"/>
                  </a:lnTo>
                  <a:lnTo>
                    <a:pt x="3241547" y="408552"/>
                  </a:lnTo>
                  <a:lnTo>
                    <a:pt x="3224317" y="449230"/>
                  </a:lnTo>
                  <a:lnTo>
                    <a:pt x="3201209" y="486377"/>
                  </a:lnTo>
                  <a:lnTo>
                    <a:pt x="3172808" y="519411"/>
                  </a:lnTo>
                  <a:lnTo>
                    <a:pt x="3139699" y="547748"/>
                  </a:lnTo>
                  <a:lnTo>
                    <a:pt x="3102467" y="570803"/>
                  </a:lnTo>
                  <a:lnTo>
                    <a:pt x="3061697" y="587994"/>
                  </a:lnTo>
                  <a:lnTo>
                    <a:pt x="3017974" y="598737"/>
                  </a:lnTo>
                  <a:lnTo>
                    <a:pt x="2971883" y="602447"/>
                  </a:lnTo>
                  <a:lnTo>
                    <a:pt x="2332546" y="602447"/>
                  </a:lnTo>
                  <a:lnTo>
                    <a:pt x="2286456" y="598737"/>
                  </a:lnTo>
                  <a:lnTo>
                    <a:pt x="2242733" y="587994"/>
                  </a:lnTo>
                  <a:lnTo>
                    <a:pt x="2201963" y="570803"/>
                  </a:lnTo>
                  <a:lnTo>
                    <a:pt x="2164731" y="547748"/>
                  </a:lnTo>
                  <a:lnTo>
                    <a:pt x="2131622" y="519411"/>
                  </a:lnTo>
                  <a:lnTo>
                    <a:pt x="2103221" y="486377"/>
                  </a:lnTo>
                  <a:lnTo>
                    <a:pt x="2080113" y="449230"/>
                  </a:lnTo>
                  <a:lnTo>
                    <a:pt x="2062883" y="408552"/>
                  </a:lnTo>
                  <a:lnTo>
                    <a:pt x="2052116" y="364929"/>
                  </a:lnTo>
                  <a:lnTo>
                    <a:pt x="2048397" y="318943"/>
                  </a:lnTo>
                  <a:lnTo>
                    <a:pt x="2048397" y="283504"/>
                  </a:lnTo>
                  <a:lnTo>
                    <a:pt x="2052116" y="237518"/>
                  </a:lnTo>
                  <a:lnTo>
                    <a:pt x="2062883" y="193894"/>
                  </a:lnTo>
                  <a:lnTo>
                    <a:pt x="2080113" y="153217"/>
                  </a:lnTo>
                  <a:lnTo>
                    <a:pt x="2103221" y="116070"/>
                  </a:lnTo>
                  <a:lnTo>
                    <a:pt x="2131622" y="83036"/>
                  </a:lnTo>
                  <a:lnTo>
                    <a:pt x="2164731" y="54699"/>
                  </a:lnTo>
                  <a:lnTo>
                    <a:pt x="2201963" y="31644"/>
                  </a:lnTo>
                  <a:lnTo>
                    <a:pt x="2242733" y="14453"/>
                  </a:lnTo>
                  <a:lnTo>
                    <a:pt x="2286456" y="3710"/>
                  </a:lnTo>
                  <a:lnTo>
                    <a:pt x="2332546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7714" y="4011928"/>
              <a:ext cx="143900" cy="11070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172269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72267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2724" y="3880478"/>
              <a:ext cx="280564" cy="24215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969918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96991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20410" y="4259219"/>
              <a:ext cx="145181" cy="39771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599674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59967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48072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9" y="598738"/>
                  </a:lnTo>
                  <a:lnTo>
                    <a:pt x="1013303" y="587995"/>
                  </a:lnTo>
                  <a:lnTo>
                    <a:pt x="1054074" y="570804"/>
                  </a:lnTo>
                  <a:lnTo>
                    <a:pt x="1091307" y="547749"/>
                  </a:lnTo>
                  <a:lnTo>
                    <a:pt x="1124416" y="519412"/>
                  </a:lnTo>
                  <a:lnTo>
                    <a:pt x="1152817" y="486378"/>
                  </a:lnTo>
                  <a:lnTo>
                    <a:pt x="1175925" y="449231"/>
                  </a:lnTo>
                  <a:lnTo>
                    <a:pt x="1193155" y="408554"/>
                  </a:lnTo>
                  <a:lnTo>
                    <a:pt x="1203922" y="364930"/>
                  </a:lnTo>
                  <a:lnTo>
                    <a:pt x="1207641" y="318943"/>
                  </a:lnTo>
                  <a:lnTo>
                    <a:pt x="1207641" y="283505"/>
                  </a:lnTo>
                  <a:lnTo>
                    <a:pt x="1203922" y="237520"/>
                  </a:lnTo>
                  <a:lnTo>
                    <a:pt x="1193155" y="193896"/>
                  </a:lnTo>
                  <a:lnTo>
                    <a:pt x="1175925" y="153219"/>
                  </a:lnTo>
                  <a:lnTo>
                    <a:pt x="1152817" y="116071"/>
                  </a:lnTo>
                  <a:lnTo>
                    <a:pt x="1124416" y="83037"/>
                  </a:lnTo>
                  <a:lnTo>
                    <a:pt x="1091307" y="54700"/>
                  </a:lnTo>
                  <a:lnTo>
                    <a:pt x="1054074" y="31644"/>
                  </a:lnTo>
                  <a:lnTo>
                    <a:pt x="1013303" y="14453"/>
                  </a:lnTo>
                  <a:lnTo>
                    <a:pt x="969579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648071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76111" y="4011928"/>
              <a:ext cx="143900" cy="11070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2220668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220664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81121" y="3880478"/>
              <a:ext cx="280564" cy="24215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018317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018315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68807" y="4259219"/>
              <a:ext cx="145181" cy="39771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1648072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9" y="7426"/>
                  </a:lnTo>
                  <a:lnTo>
                    <a:pt x="27742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2" y="444828"/>
                  </a:lnTo>
                  <a:lnTo>
                    <a:pt x="57849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648071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9" y="465081"/>
                  </a:lnTo>
                  <a:lnTo>
                    <a:pt x="27742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2" y="27678"/>
                  </a:lnTo>
                  <a:lnTo>
                    <a:pt x="57849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756322" y="6281172"/>
            <a:ext cx="5669280" cy="133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52725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Encoder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(BERT)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  <a:tabLst>
                <a:tab pos="1374140" algn="l"/>
                <a:tab pos="4150360" algn="l"/>
              </a:tabLst>
            </a:pPr>
            <a:r>
              <a:rPr sz="2950" spc="-25" dirty="0">
                <a:latin typeface="Courier New"/>
                <a:cs typeface="Courier New"/>
              </a:rPr>
              <a:t>San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10" dirty="0">
                <a:latin typeface="Courier New"/>
                <a:cs typeface="Courier New"/>
              </a:rPr>
              <a:t>Francisco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25" dirty="0">
                <a:latin typeface="Courier New"/>
                <a:cs typeface="Courier New"/>
              </a:rPr>
              <a:t>on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1413763" y="166792"/>
            <a:ext cx="12355195" cy="187325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/>
              <a:t>Slot</a:t>
            </a:r>
            <a:r>
              <a:rPr spc="-250" dirty="0"/>
              <a:t> </a:t>
            </a:r>
            <a:r>
              <a:rPr spc="-10" dirty="0"/>
              <a:t>filling</a:t>
            </a:r>
            <a:r>
              <a:rPr spc="-225" dirty="0"/>
              <a:t> </a:t>
            </a:r>
            <a:r>
              <a:rPr dirty="0"/>
              <a:t>using</a:t>
            </a:r>
            <a:r>
              <a:rPr spc="-225" dirty="0"/>
              <a:t> </a:t>
            </a:r>
            <a:r>
              <a:rPr spc="-45" dirty="0"/>
              <a:t>contextual</a:t>
            </a:r>
            <a:r>
              <a:rPr spc="-235" dirty="0"/>
              <a:t> </a:t>
            </a:r>
            <a:r>
              <a:rPr spc="-10" dirty="0"/>
              <a:t>embeddings</a:t>
            </a:r>
          </a:p>
          <a:p>
            <a:pPr marL="5573395" marR="5080">
              <a:lnSpc>
                <a:spcPct val="100800"/>
              </a:lnSpc>
              <a:spcBef>
                <a:spcPts val="875"/>
              </a:spcBef>
              <a:tabLst>
                <a:tab pos="10087610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domain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intent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too: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e.g.,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generate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label "AIRLINE_TRAVEL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SEARCH_FLIGHT"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2075794" y="1686426"/>
            <a:ext cx="171450" cy="508634"/>
          </a:xfrm>
          <a:custGeom>
            <a:avLst/>
            <a:gdLst/>
            <a:ahLst/>
            <a:cxnLst/>
            <a:rect l="l" t="t" r="r" b="b"/>
            <a:pathLst>
              <a:path w="171450" h="508635">
                <a:moveTo>
                  <a:pt x="57150" y="222385"/>
                </a:moveTo>
                <a:lnTo>
                  <a:pt x="0" y="222385"/>
                </a:lnTo>
                <a:lnTo>
                  <a:pt x="85726" y="508135"/>
                </a:lnTo>
                <a:lnTo>
                  <a:pt x="162877" y="250960"/>
                </a:lnTo>
                <a:lnTo>
                  <a:pt x="57150" y="250960"/>
                </a:lnTo>
                <a:lnTo>
                  <a:pt x="57150" y="222385"/>
                </a:lnTo>
                <a:close/>
              </a:path>
              <a:path w="171450" h="508635">
                <a:moveTo>
                  <a:pt x="114300" y="0"/>
                </a:moveTo>
                <a:lnTo>
                  <a:pt x="57150" y="0"/>
                </a:lnTo>
                <a:lnTo>
                  <a:pt x="57150" y="250960"/>
                </a:lnTo>
                <a:lnTo>
                  <a:pt x="114300" y="250960"/>
                </a:lnTo>
                <a:lnTo>
                  <a:pt x="114300" y="0"/>
                </a:lnTo>
                <a:close/>
              </a:path>
              <a:path w="171450" h="508635">
                <a:moveTo>
                  <a:pt x="171450" y="222385"/>
                </a:moveTo>
                <a:lnTo>
                  <a:pt x="114300" y="222385"/>
                </a:lnTo>
                <a:lnTo>
                  <a:pt x="114300" y="250960"/>
                </a:lnTo>
                <a:lnTo>
                  <a:pt x="162877" y="250960"/>
                </a:lnTo>
                <a:lnTo>
                  <a:pt x="171450" y="2223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Once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BIO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tag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sentence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3403092"/>
            <a:ext cx="11845290" cy="27933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extract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normalize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ontology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"SFO"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homonym</a:t>
            </a:r>
            <a:r>
              <a:rPr sz="38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dictionaries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(SF=SFO=San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Francisco)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12855" y="2026101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899731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404040"/>
                </a:solidFill>
              </a:rPr>
              <a:t>The</a:t>
            </a:r>
            <a:r>
              <a:rPr sz="5300" spc="-240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task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of</a:t>
            </a:r>
            <a:r>
              <a:rPr sz="5300" spc="-22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dialogue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85" dirty="0">
                <a:solidFill>
                  <a:srgbClr val="404040"/>
                </a:solidFill>
              </a:rPr>
              <a:t>state</a:t>
            </a:r>
            <a:r>
              <a:rPr sz="5300" spc="-21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tracking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675176" y="2207179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2572" y="2207179"/>
            <a:ext cx="552005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I’m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looking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restaurant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spc="250" dirty="0">
                <a:latin typeface="Calibri"/>
                <a:cs typeface="Calibri"/>
              </a:rPr>
              <a:t>inform(price=cheap)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176" y="3122982"/>
            <a:ext cx="10088880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Sure.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kind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-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where?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r>
              <a:rPr sz="3000" dirty="0">
                <a:latin typeface="Times New Roman"/>
                <a:cs typeface="Times New Roman"/>
              </a:rPr>
              <a:t>	Thai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food,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somewhere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downtown</a:t>
            </a:r>
            <a:endParaRPr sz="3000">
              <a:latin typeface="Times New Roman"/>
              <a:cs typeface="Times New Roman"/>
            </a:endParaRPr>
          </a:p>
          <a:p>
            <a:pPr marL="1470025">
              <a:lnSpc>
                <a:spcPct val="100000"/>
              </a:lnSpc>
              <a:spcBef>
                <a:spcPts val="5"/>
              </a:spcBef>
              <a:tabLst>
                <a:tab pos="5472430" algn="l"/>
                <a:tab pos="7673975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area=centre)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Thai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food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176" y="4954511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2573" y="4954511"/>
            <a:ext cx="1243457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it?</a:t>
            </a:r>
            <a:endParaRPr sz="30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5"/>
              </a:spcBef>
              <a:tabLst>
                <a:tab pos="4215130" algn="l"/>
                <a:tab pos="6416675" algn="l"/>
                <a:tab pos="9218930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90" dirty="0">
                <a:latin typeface="Calibri"/>
                <a:cs typeface="Calibri"/>
              </a:rPr>
              <a:t>area=centre);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70" dirty="0">
                <a:latin typeface="Calibri"/>
                <a:cs typeface="Calibri"/>
              </a:rPr>
              <a:t>request(address)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176" y="5870314"/>
            <a:ext cx="668655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106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Street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4902" y="7262368"/>
            <a:ext cx="804354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Example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Mrkšić,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Séaghdha,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Wen,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5" dirty="0">
                <a:latin typeface="Times New Roman"/>
                <a:cs typeface="Times New Roman"/>
              </a:rPr>
              <a:t>T.-</a:t>
            </a:r>
            <a:r>
              <a:rPr sz="1900" dirty="0">
                <a:latin typeface="Times New Roman"/>
                <a:cs typeface="Times New Roman"/>
              </a:rPr>
              <a:t>H.,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Thomson,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-10" dirty="0">
                <a:latin typeface="Times New Roman"/>
                <a:cs typeface="Times New Roman"/>
              </a:rPr>
              <a:t>Young,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(2017).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Neural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belief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tracker: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Data-driven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dialogue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tracking.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ACL</a:t>
            </a:r>
            <a:r>
              <a:rPr sz="1900" spc="-2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742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state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12075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I'd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Cantonese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food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near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Mission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district.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spc="-5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20" dirty="0">
                <a:solidFill>
                  <a:srgbClr val="404040"/>
                </a:solidFill>
                <a:latin typeface="Courier New"/>
                <a:cs typeface="Courier New"/>
              </a:rPr>
              <a:t>inform(food=cantonese,</a:t>
            </a:r>
            <a:r>
              <a:rPr sz="3400" spc="-3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area=mission).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algorithm: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1-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of-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choose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inform</a:t>
            </a:r>
            <a:endParaRPr sz="3400">
              <a:latin typeface="Courier New"/>
              <a:cs typeface="Courier New"/>
            </a:endParaRPr>
          </a:p>
          <a:p>
            <a:pPr marL="12700" marR="5080" indent="548005">
              <a:lnSpc>
                <a:spcPct val="120600"/>
              </a:lnSpc>
              <a:spcBef>
                <a:spcPts val="7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encodings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prior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acts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Run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8539" y="159003"/>
            <a:ext cx="9372600" cy="13087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1035"/>
              </a:spcBef>
            </a:pPr>
            <a:r>
              <a:rPr sz="4600" dirty="0"/>
              <a:t>An</a:t>
            </a:r>
            <a:r>
              <a:rPr sz="4600" spc="-210" dirty="0"/>
              <a:t> </a:t>
            </a:r>
            <a:r>
              <a:rPr sz="4600" spc="-45" dirty="0"/>
              <a:t>special</a:t>
            </a:r>
            <a:r>
              <a:rPr sz="4600" spc="-195" dirty="0"/>
              <a:t> </a:t>
            </a:r>
            <a:r>
              <a:rPr sz="4600" spc="-50" dirty="0"/>
              <a:t>case</a:t>
            </a:r>
            <a:r>
              <a:rPr sz="4600" spc="-210" dirty="0"/>
              <a:t> </a:t>
            </a:r>
            <a:r>
              <a:rPr sz="4600" dirty="0"/>
              <a:t>of</a:t>
            </a:r>
            <a:r>
              <a:rPr sz="4600" spc="-200" dirty="0"/>
              <a:t> </a:t>
            </a:r>
            <a:r>
              <a:rPr sz="4600" spc="-50" dirty="0"/>
              <a:t>dialogue</a:t>
            </a:r>
            <a:r>
              <a:rPr sz="4600" spc="-210" dirty="0"/>
              <a:t> </a:t>
            </a:r>
            <a:r>
              <a:rPr sz="4600" spc="-20" dirty="0"/>
              <a:t>act</a:t>
            </a:r>
            <a:r>
              <a:rPr sz="4600" spc="-204" dirty="0"/>
              <a:t> </a:t>
            </a:r>
            <a:r>
              <a:rPr sz="4600" spc="-45" dirty="0"/>
              <a:t>detection: </a:t>
            </a:r>
            <a:r>
              <a:rPr sz="4600" spc="-75" dirty="0"/>
              <a:t>Detecting</a:t>
            </a:r>
            <a:r>
              <a:rPr sz="4600" spc="-105" dirty="0"/>
              <a:t> </a:t>
            </a:r>
            <a:r>
              <a:rPr sz="4600" spc="-80" dirty="0"/>
              <a:t>Correction</a:t>
            </a:r>
            <a:r>
              <a:rPr sz="4600" spc="-114" dirty="0"/>
              <a:t> </a:t>
            </a:r>
            <a:r>
              <a:rPr sz="4600" spc="-20" dirty="0"/>
              <a:t>Acts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090420" y="2117343"/>
            <a:ext cx="9267825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7120">
              <a:lnSpc>
                <a:spcPct val="1167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misrecognizes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utterance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0000FF"/>
                </a:solidFill>
                <a:latin typeface="Calibri"/>
                <a:cs typeface="Calibri"/>
              </a:rPr>
              <a:t>correction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ts val="509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Repeat</a:t>
            </a:r>
            <a:r>
              <a:rPr sz="4300" spc="-1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themselves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50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Rephrasing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Saying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“no”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confirmation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83971"/>
            <a:ext cx="104349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/>
              <a:t>Corrections</a:t>
            </a:r>
            <a:r>
              <a:rPr sz="5800" spc="-265" dirty="0"/>
              <a:t> </a:t>
            </a:r>
            <a:r>
              <a:rPr sz="5800" spc="-20" dirty="0"/>
              <a:t>are</a:t>
            </a:r>
            <a:r>
              <a:rPr sz="5800" spc="-270" dirty="0"/>
              <a:t> </a:t>
            </a:r>
            <a:r>
              <a:rPr sz="5800" spc="-45" dirty="0"/>
              <a:t>harder</a:t>
            </a:r>
            <a:r>
              <a:rPr sz="5800" spc="-275" dirty="0"/>
              <a:t> </a:t>
            </a:r>
            <a:r>
              <a:rPr sz="5800" dirty="0"/>
              <a:t>to</a:t>
            </a:r>
            <a:r>
              <a:rPr sz="5800" spc="-280" dirty="0"/>
              <a:t> </a:t>
            </a:r>
            <a:r>
              <a:rPr sz="5800" spc="-65" dirty="0"/>
              <a:t>recognize!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265174" y="2214372"/>
            <a:ext cx="12583160" cy="41713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17500" marR="5080" indent="-304800">
              <a:lnSpc>
                <a:spcPct val="100499"/>
              </a:lnSpc>
              <a:spcBef>
                <a:spcPts val="7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 speech,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corrections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misrecognized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twice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(in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terms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rate)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non-corrections!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(Swerts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al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2000)</a:t>
            </a:r>
            <a:endParaRPr sz="3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55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Hyperarticulation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(exaggerated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prosody)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large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factor:</a:t>
            </a:r>
            <a:endParaRPr sz="3800">
              <a:latin typeface="Calibri"/>
              <a:cs typeface="Calibri"/>
            </a:endParaRPr>
          </a:p>
          <a:p>
            <a:pPr marL="448945" marR="507365" lvl="1" indent="-272415" algn="just">
              <a:lnSpc>
                <a:spcPct val="99200"/>
              </a:lnSpc>
              <a:spcBef>
                <a:spcPts val="750"/>
              </a:spcBef>
              <a:buClr>
                <a:srgbClr val="E48312"/>
              </a:buClr>
              <a:buChar char="◦"/>
              <a:tabLst>
                <a:tab pos="450850" algn="l"/>
              </a:tabLst>
            </a:pP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Shriberg,</a:t>
            </a:r>
            <a:r>
              <a:rPr sz="24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Wade,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Price,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0" dirty="0">
                <a:solidFill>
                  <a:srgbClr val="595959"/>
                </a:solidFill>
                <a:latin typeface="Calibri"/>
                <a:cs typeface="Calibri"/>
              </a:rPr>
              <a:t>P.,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1992.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Human-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problem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solving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spoken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language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(SLS):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Factors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affect-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ng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performance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satisfaction.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Calibri"/>
                <a:cs typeface="Calibri"/>
              </a:rPr>
              <a:t>DARPA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Natural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2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Workshop.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75"/>
              </a:spcBef>
              <a:buClr>
                <a:srgbClr val="E48312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"I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said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BAL-TI-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MORE,</a:t>
            </a:r>
            <a:r>
              <a:rPr sz="4300" spc="-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not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Boston"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2" y="447547"/>
            <a:ext cx="1269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0" dirty="0">
                <a:solidFill>
                  <a:srgbClr val="404040"/>
                </a:solidFill>
              </a:rPr>
              <a:t>Features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for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spc="-50" dirty="0">
                <a:solidFill>
                  <a:srgbClr val="404040"/>
                </a:solidFill>
              </a:rPr>
              <a:t>detecting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55" dirty="0">
                <a:solidFill>
                  <a:srgbClr val="404040"/>
                </a:solidFill>
              </a:rPr>
              <a:t>corrections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in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70" dirty="0">
                <a:solidFill>
                  <a:srgbClr val="404040"/>
                </a:solidFill>
              </a:rPr>
              <a:t>spoken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10" dirty="0">
                <a:solidFill>
                  <a:srgbClr val="404040"/>
                </a:solidFill>
              </a:rPr>
              <a:t>dialogue</a:t>
            </a:r>
            <a:endParaRPr sz="4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6704" y="2738772"/>
          <a:ext cx="13860780" cy="382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9842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examples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lexical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“no”,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“correction”,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“I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don’t”,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swear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words,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length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semantic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  <a:tabLst>
                          <a:tab pos="2176780" algn="l"/>
                          <a:tab pos="3141980" algn="l"/>
                          <a:tab pos="4313555" algn="l"/>
                          <a:tab pos="4741545" algn="l"/>
                          <a:tab pos="6426200" algn="l"/>
                          <a:tab pos="7008495" algn="l"/>
                          <a:tab pos="8326120" algn="l"/>
                          <a:tab pos="9623425" algn="l"/>
                          <a:tab pos="10186670" algn="l"/>
                        </a:tabLst>
                      </a:pP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similarity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(word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dot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product)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candidate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phonetic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phonetic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ut-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(i.e.</a:t>
                      </a:r>
                      <a:r>
                        <a:rPr sz="27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“WhatsApp”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recognized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“What’s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0" dirty="0">
                          <a:latin typeface="Times New Roman"/>
                          <a:cs typeface="Times New Roman"/>
                        </a:rPr>
                        <a:t>up”)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prosodic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hyperarticulation,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F0</a:t>
                      </a:r>
                      <a:r>
                        <a:rPr sz="27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range,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pause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duration,</a:t>
                      </a:r>
                      <a:r>
                        <a:rPr sz="27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duration,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generally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normalized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sentences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25" dirty="0">
                          <a:latin typeface="Times New Roman"/>
                          <a:cs typeface="Times New Roman"/>
                        </a:rPr>
                        <a:t>ASR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confidence,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probability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696845"/>
            <a:ext cx="12916535" cy="593852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action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50" i="1" baseline="-19157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50" i="1" spc="352" baseline="-1915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take,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history:</a:t>
            </a:r>
            <a:endParaRPr sz="4300">
              <a:latin typeface="Calibri"/>
              <a:cs typeface="Calibri"/>
            </a:endParaRPr>
          </a:p>
          <a:p>
            <a:pPr marL="807085">
              <a:lnSpc>
                <a:spcPts val="5800"/>
              </a:lnSpc>
              <a:spcBef>
                <a:spcPts val="1485"/>
              </a:spcBef>
              <a:tabLst>
                <a:tab pos="1503045" algn="l"/>
              </a:tabLst>
            </a:pPr>
            <a:r>
              <a:rPr sz="4950" i="1" spc="-1730" dirty="0">
                <a:latin typeface="Times New Roman"/>
                <a:cs typeface="Times New Roman"/>
              </a:rPr>
              <a:t>A</a:t>
            </a:r>
            <a:r>
              <a:rPr sz="7425" spc="67" baseline="12345" dirty="0">
                <a:latin typeface="Times New Roman"/>
                <a:cs typeface="Times New Roman"/>
              </a:rPr>
              <a:t>ˆ</a:t>
            </a:r>
            <a:r>
              <a:rPr sz="5475" i="1" spc="-15" baseline="-11415" dirty="0">
                <a:latin typeface="Times New Roman"/>
                <a:cs typeface="Times New Roman"/>
              </a:rPr>
              <a:t>i</a:t>
            </a:r>
            <a:r>
              <a:rPr sz="5475" i="1" baseline="-11415" dirty="0">
                <a:latin typeface="Times New Roman"/>
                <a:cs typeface="Times New Roman"/>
              </a:rPr>
              <a:t>	</a:t>
            </a:r>
            <a:r>
              <a:rPr sz="4950" spc="285" dirty="0">
                <a:latin typeface="Tahoma"/>
                <a:cs typeface="Tahoma"/>
              </a:rPr>
              <a:t>=</a:t>
            </a:r>
            <a:r>
              <a:rPr sz="4950" spc="-225" dirty="0">
                <a:latin typeface="Tahoma"/>
                <a:cs typeface="Tahoma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argmax</a:t>
            </a:r>
            <a:r>
              <a:rPr sz="4950" spc="-575" dirty="0">
                <a:latin typeface="Times New Roman"/>
                <a:cs typeface="Times New Roman"/>
              </a:rPr>
              <a:t> </a:t>
            </a:r>
            <a:r>
              <a:rPr sz="4950" i="1" dirty="0">
                <a:latin typeface="Times New Roman"/>
                <a:cs typeface="Times New Roman"/>
              </a:rPr>
              <a:t>P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i="1" baseline="-11415" dirty="0">
                <a:latin typeface="Times New Roman"/>
                <a:cs typeface="Times New Roman"/>
              </a:rPr>
              <a:t>i</a:t>
            </a:r>
            <a:r>
              <a:rPr sz="4950" i="1" dirty="0">
                <a:latin typeface="Times New Roman"/>
                <a:cs typeface="Times New Roman"/>
              </a:rPr>
              <a:t>|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dirty="0">
                <a:latin typeface="Times New Roman"/>
                <a:cs typeface="Times New Roman"/>
              </a:rPr>
              <a:t>U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420" dirty="0">
                <a:latin typeface="Verdana"/>
                <a:cs typeface="Verdana"/>
              </a:rPr>
              <a:t>...,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250" dirty="0">
                <a:latin typeface="Times New Roman"/>
                <a:cs typeface="Times New Roman"/>
              </a:rPr>
              <a:t>A</a:t>
            </a:r>
            <a:r>
              <a:rPr sz="5475" i="1" spc="-375" baseline="-11415" dirty="0">
                <a:latin typeface="Times New Roman"/>
                <a:cs typeface="Times New Roman"/>
              </a:rPr>
              <a:t>i</a:t>
            </a:r>
            <a:r>
              <a:rPr sz="5475" spc="-375" baseline="-11415" dirty="0">
                <a:latin typeface="Lucida Sans Unicode"/>
                <a:cs typeface="Lucida Sans Unicode"/>
              </a:rPr>
              <a:t>—</a:t>
            </a:r>
            <a:r>
              <a:rPr sz="5475" spc="-209" baseline="-11415" dirty="0">
                <a:latin typeface="Times New Roman"/>
                <a:cs typeface="Times New Roman"/>
              </a:rPr>
              <a:t>1</a:t>
            </a:r>
            <a:r>
              <a:rPr sz="4950" i="1" spc="-140" dirty="0">
                <a:latin typeface="Verdana"/>
                <a:cs typeface="Verdana"/>
              </a:rPr>
              <a:t>,</a:t>
            </a:r>
            <a:r>
              <a:rPr sz="4950" i="1" spc="-140" dirty="0">
                <a:latin typeface="Times New Roman"/>
                <a:cs typeface="Times New Roman"/>
              </a:rPr>
              <a:t>U</a:t>
            </a:r>
            <a:r>
              <a:rPr sz="5475" i="1" spc="-209" baseline="-11415" dirty="0">
                <a:latin typeface="Times New Roman"/>
                <a:cs typeface="Times New Roman"/>
              </a:rPr>
              <a:t>i</a:t>
            </a:r>
            <a:r>
              <a:rPr sz="5475" spc="-209" baseline="-11415" dirty="0">
                <a:latin typeface="Lucida Sans Unicode"/>
                <a:cs typeface="Lucida Sans Unicode"/>
              </a:rPr>
              <a:t>—</a:t>
            </a:r>
            <a:r>
              <a:rPr sz="5475" spc="202" baseline="-11415" dirty="0">
                <a:latin typeface="Times New Roman"/>
                <a:cs typeface="Times New Roman"/>
              </a:rPr>
              <a:t>1</a:t>
            </a:r>
            <a:r>
              <a:rPr sz="4950" spc="135" dirty="0">
                <a:latin typeface="Tahoma"/>
                <a:cs typeface="Tahoma"/>
              </a:rPr>
              <a:t>)</a:t>
            </a:r>
            <a:endParaRPr sz="4950">
              <a:latin typeface="Tahoma"/>
              <a:cs typeface="Tahoma"/>
            </a:endParaRPr>
          </a:p>
          <a:p>
            <a:pPr marL="2578735">
              <a:lnSpc>
                <a:spcPts val="4240"/>
              </a:lnSpc>
            </a:pPr>
            <a:r>
              <a:rPr sz="3650" i="1" spc="-20" dirty="0">
                <a:latin typeface="Times New Roman"/>
                <a:cs typeface="Times New Roman"/>
              </a:rPr>
              <a:t>A</a:t>
            </a:r>
            <a:r>
              <a:rPr sz="4425" i="1" spc="-30" baseline="-12241" dirty="0">
                <a:latin typeface="Times New Roman"/>
                <a:cs typeface="Times New Roman"/>
              </a:rPr>
              <a:t>i</a:t>
            </a:r>
            <a:r>
              <a:rPr sz="3650" spc="-20" dirty="0">
                <a:latin typeface="Lucida Sans Unicode"/>
                <a:cs typeface="Lucida Sans Unicode"/>
              </a:rPr>
              <a:t>∈</a:t>
            </a:r>
            <a:r>
              <a:rPr sz="3650" i="1" spc="-20" dirty="0">
                <a:latin typeface="Times New Roman"/>
                <a:cs typeface="Times New Roman"/>
              </a:rPr>
              <a:t>A</a:t>
            </a:r>
            <a:endParaRPr sz="3650">
              <a:latin typeface="Times New Roman"/>
              <a:cs typeface="Times New Roman"/>
            </a:endParaRPr>
          </a:p>
          <a:p>
            <a:pPr marL="47625" marR="30480" indent="-10160">
              <a:lnSpc>
                <a:spcPct val="90000"/>
              </a:lnSpc>
              <a:spcBef>
                <a:spcPts val="17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Simplify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43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state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(filled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slots)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last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endParaRPr sz="4300">
              <a:latin typeface="Calibri"/>
              <a:cs typeface="Calibri"/>
            </a:endParaRPr>
          </a:p>
          <a:p>
            <a:pPr marL="830580">
              <a:lnSpc>
                <a:spcPts val="5865"/>
              </a:lnSpc>
              <a:spcBef>
                <a:spcPts val="2715"/>
              </a:spcBef>
            </a:pPr>
            <a:r>
              <a:rPr sz="5000" i="1" spc="-1710" dirty="0">
                <a:latin typeface="Times New Roman"/>
                <a:cs typeface="Times New Roman"/>
              </a:rPr>
              <a:t>A</a:t>
            </a:r>
            <a:r>
              <a:rPr sz="7500" spc="104" baseline="12222" dirty="0">
                <a:latin typeface="Times New Roman"/>
                <a:cs typeface="Times New Roman"/>
              </a:rPr>
              <a:t>ˆ</a:t>
            </a:r>
            <a:r>
              <a:rPr sz="5550" i="1" spc="22" baseline="-11261" dirty="0">
                <a:latin typeface="Times New Roman"/>
                <a:cs typeface="Times New Roman"/>
              </a:rPr>
              <a:t>i</a:t>
            </a:r>
            <a:r>
              <a:rPr sz="5550" i="1" spc="780" baseline="-11261" dirty="0">
                <a:latin typeface="Times New Roman"/>
                <a:cs typeface="Times New Roman"/>
              </a:rPr>
              <a:t> </a:t>
            </a:r>
            <a:r>
              <a:rPr sz="5000" spc="250" dirty="0">
                <a:latin typeface="Tahoma"/>
                <a:cs typeface="Tahoma"/>
              </a:rPr>
              <a:t>=</a:t>
            </a:r>
            <a:r>
              <a:rPr sz="5000" spc="-380" dirty="0">
                <a:latin typeface="Tahoma"/>
                <a:cs typeface="Tahoma"/>
              </a:rPr>
              <a:t> </a:t>
            </a:r>
            <a:r>
              <a:rPr sz="5000" spc="-25" dirty="0">
                <a:latin typeface="Times New Roman"/>
                <a:cs typeface="Times New Roman"/>
              </a:rPr>
              <a:t>argmax</a:t>
            </a:r>
            <a:r>
              <a:rPr sz="5000" spc="-655" dirty="0">
                <a:latin typeface="Times New Roman"/>
                <a:cs typeface="Times New Roman"/>
              </a:rPr>
              <a:t> </a:t>
            </a:r>
            <a:r>
              <a:rPr sz="5000" i="1" spc="-45" dirty="0">
                <a:latin typeface="Times New Roman"/>
                <a:cs typeface="Times New Roman"/>
              </a:rPr>
              <a:t>P</a:t>
            </a:r>
            <a:r>
              <a:rPr sz="5000" spc="-45" dirty="0">
                <a:latin typeface="Tahoma"/>
                <a:cs typeface="Tahoma"/>
              </a:rPr>
              <a:t>(</a:t>
            </a:r>
            <a:r>
              <a:rPr sz="5000" i="1" spc="-45" dirty="0">
                <a:latin typeface="Times New Roman"/>
                <a:cs typeface="Times New Roman"/>
              </a:rPr>
              <a:t>A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000" i="1" spc="-45" dirty="0">
                <a:latin typeface="Times New Roman"/>
                <a:cs typeface="Times New Roman"/>
              </a:rPr>
              <a:t>|</a:t>
            </a:r>
            <a:r>
              <a:rPr sz="5000" spc="-45" dirty="0">
                <a:latin typeface="Times New Roman"/>
                <a:cs typeface="Times New Roman"/>
              </a:rPr>
              <a:t>Frame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550" spc="-67" baseline="-11261" dirty="0">
                <a:latin typeface="Lucida Sans Unicode"/>
                <a:cs typeface="Lucida Sans Unicode"/>
              </a:rPr>
              <a:t>—</a:t>
            </a:r>
            <a:r>
              <a:rPr sz="5550" spc="-150" baseline="-11261" dirty="0">
                <a:latin typeface="Times New Roman"/>
                <a:cs typeface="Times New Roman"/>
              </a:rPr>
              <a:t>1</a:t>
            </a:r>
            <a:r>
              <a:rPr sz="5000" i="1" spc="-100" dirty="0">
                <a:latin typeface="Verdana"/>
                <a:cs typeface="Verdana"/>
              </a:rPr>
              <a:t>,</a:t>
            </a:r>
            <a:r>
              <a:rPr sz="5000" i="1" spc="-1170" dirty="0">
                <a:latin typeface="Verdana"/>
                <a:cs typeface="Verdana"/>
              </a:rPr>
              <a:t> </a:t>
            </a:r>
            <a:r>
              <a:rPr sz="5000" i="1" spc="-265" dirty="0">
                <a:latin typeface="Times New Roman"/>
                <a:cs typeface="Times New Roman"/>
              </a:rPr>
              <a:t>A</a:t>
            </a:r>
            <a:r>
              <a:rPr sz="5550" i="1" spc="-397" baseline="-11261" dirty="0">
                <a:latin typeface="Times New Roman"/>
                <a:cs typeface="Times New Roman"/>
              </a:rPr>
              <a:t>i</a:t>
            </a:r>
            <a:r>
              <a:rPr sz="5550" spc="-397" baseline="-11261" dirty="0">
                <a:latin typeface="Lucida Sans Unicode"/>
                <a:cs typeface="Lucida Sans Unicode"/>
              </a:rPr>
              <a:t>—</a:t>
            </a:r>
            <a:r>
              <a:rPr sz="5550" spc="-262" baseline="-11261" dirty="0">
                <a:latin typeface="Times New Roman"/>
                <a:cs typeface="Times New Roman"/>
              </a:rPr>
              <a:t>1</a:t>
            </a:r>
            <a:r>
              <a:rPr sz="5000" i="1" spc="-175" dirty="0">
                <a:latin typeface="Verdana"/>
                <a:cs typeface="Verdana"/>
              </a:rPr>
              <a:t>,</a:t>
            </a:r>
            <a:r>
              <a:rPr sz="5000" i="1" spc="-175" dirty="0">
                <a:latin typeface="Times New Roman"/>
                <a:cs typeface="Times New Roman"/>
              </a:rPr>
              <a:t>U</a:t>
            </a:r>
            <a:r>
              <a:rPr sz="5550" i="1" spc="-262" baseline="-11261" dirty="0">
                <a:latin typeface="Times New Roman"/>
                <a:cs typeface="Times New Roman"/>
              </a:rPr>
              <a:t>i</a:t>
            </a:r>
            <a:r>
              <a:rPr sz="5550" spc="-262" baseline="-11261" dirty="0">
                <a:latin typeface="Lucida Sans Unicode"/>
                <a:cs typeface="Lucida Sans Unicode"/>
              </a:rPr>
              <a:t>—</a:t>
            </a:r>
            <a:r>
              <a:rPr sz="5550" spc="172" baseline="-11261" dirty="0">
                <a:latin typeface="Times New Roman"/>
                <a:cs typeface="Times New Roman"/>
              </a:rPr>
              <a:t>1</a:t>
            </a:r>
            <a:r>
              <a:rPr sz="5000" spc="114" dirty="0">
                <a:latin typeface="Tahoma"/>
                <a:cs typeface="Tahoma"/>
              </a:rPr>
              <a:t>)</a:t>
            </a:r>
            <a:endParaRPr sz="5000">
              <a:latin typeface="Tahoma"/>
              <a:cs typeface="Tahoma"/>
            </a:endParaRPr>
          </a:p>
          <a:p>
            <a:pPr marL="2607945">
              <a:lnSpc>
                <a:spcPts val="4305"/>
              </a:lnSpc>
            </a:pPr>
            <a:r>
              <a:rPr sz="3700" i="1" spc="-20" dirty="0">
                <a:latin typeface="Times New Roman"/>
                <a:cs typeface="Times New Roman"/>
              </a:rPr>
              <a:t>A</a:t>
            </a:r>
            <a:r>
              <a:rPr sz="4500" i="1" spc="-30" baseline="-12962" dirty="0">
                <a:latin typeface="Times New Roman"/>
                <a:cs typeface="Times New Roman"/>
              </a:rPr>
              <a:t>i</a:t>
            </a:r>
            <a:r>
              <a:rPr sz="3700" spc="-20" dirty="0">
                <a:latin typeface="Lucida Sans Unicode"/>
                <a:cs typeface="Lucida Sans Unicode"/>
              </a:rPr>
              <a:t>∈</a:t>
            </a:r>
            <a:r>
              <a:rPr sz="3700" i="1" spc="-20" dirty="0">
                <a:latin typeface="Times New Roman"/>
                <a:cs typeface="Times New Roman"/>
              </a:rPr>
              <a:t>A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404040"/>
                </a:solidFill>
              </a:rPr>
              <a:t>Policy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example: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930255" cy="44119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4300">
              <a:latin typeface="Calibri"/>
              <a:cs typeface="Calibri"/>
            </a:endParaRPr>
          </a:p>
          <a:p>
            <a:pPr marL="12700" marR="180340">
              <a:lnSpc>
                <a:spcPct val="114399"/>
              </a:lnSpc>
              <a:spcBef>
                <a:spcPts val="12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4300" spc="-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important</a:t>
            </a:r>
            <a:r>
              <a:rPr sz="4300" spc="-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mechanisms: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confirming</a:t>
            </a:r>
            <a:r>
              <a:rPr sz="4300" b="1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understandings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4300">
              <a:latin typeface="Calibri"/>
              <a:cs typeface="Calibri"/>
            </a:endParaRPr>
          </a:p>
          <a:p>
            <a:pPr marL="561340" marR="5080" indent="-548640">
              <a:lnSpc>
                <a:spcPts val="4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rejecting</a:t>
            </a:r>
            <a:r>
              <a:rPr sz="43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misunderstood.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Explicit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2594" y="2672769"/>
            <a:ext cx="13220700" cy="4657725"/>
            <a:chOff x="1272594" y="2672769"/>
            <a:chExt cx="13220700" cy="4657725"/>
          </a:xfrm>
        </p:grpSpPr>
        <p:sp>
          <p:nvSpPr>
            <p:cNvPr id="4" name="object 4"/>
            <p:cNvSpPr/>
            <p:nvPr/>
          </p:nvSpPr>
          <p:spPr>
            <a:xfrm>
              <a:off x="1272594" y="2672769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4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2590" y="2689897"/>
              <a:ext cx="13220700" cy="2057400"/>
            </a:xfrm>
            <a:custGeom>
              <a:avLst/>
              <a:gdLst/>
              <a:ahLst/>
              <a:cxnLst/>
              <a:rect l="l" t="t" r="r" b="b"/>
              <a:pathLst>
                <a:path w="13220700" h="2057400">
                  <a:moveTo>
                    <a:pt x="13220484" y="1542961"/>
                  </a:moveTo>
                  <a:lnTo>
                    <a:pt x="635000" y="1542961"/>
                  </a:lnTo>
                  <a:lnTo>
                    <a:pt x="0" y="1542961"/>
                  </a:lnTo>
                  <a:lnTo>
                    <a:pt x="0" y="2057273"/>
                  </a:lnTo>
                  <a:lnTo>
                    <a:pt x="635000" y="2057273"/>
                  </a:lnTo>
                  <a:lnTo>
                    <a:pt x="13220484" y="2057273"/>
                  </a:lnTo>
                  <a:lnTo>
                    <a:pt x="13220484" y="1542961"/>
                  </a:lnTo>
                  <a:close/>
                </a:path>
                <a:path w="13220700" h="205740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514311"/>
                  </a:lnTo>
                  <a:lnTo>
                    <a:pt x="0" y="1028611"/>
                  </a:lnTo>
                  <a:lnTo>
                    <a:pt x="0" y="1542923"/>
                  </a:lnTo>
                  <a:lnTo>
                    <a:pt x="635000" y="1542923"/>
                  </a:lnTo>
                  <a:lnTo>
                    <a:pt x="13220484" y="1542923"/>
                  </a:lnTo>
                  <a:lnTo>
                    <a:pt x="13220484" y="1028611"/>
                  </a:lnTo>
                  <a:lnTo>
                    <a:pt x="13220484" y="5143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2594" y="4747162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5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72590" y="4764290"/>
              <a:ext cx="13220700" cy="2566670"/>
            </a:xfrm>
            <a:custGeom>
              <a:avLst/>
              <a:gdLst/>
              <a:ahLst/>
              <a:cxnLst/>
              <a:rect l="l" t="t" r="r" b="b"/>
              <a:pathLst>
                <a:path w="13220700" h="2566670">
                  <a:moveTo>
                    <a:pt x="13220484" y="1028661"/>
                  </a:moveTo>
                  <a:lnTo>
                    <a:pt x="635000" y="1028661"/>
                  </a:lnTo>
                  <a:lnTo>
                    <a:pt x="0" y="1028661"/>
                  </a:lnTo>
                  <a:lnTo>
                    <a:pt x="0" y="2057273"/>
                  </a:lnTo>
                  <a:lnTo>
                    <a:pt x="0" y="2566162"/>
                  </a:lnTo>
                  <a:lnTo>
                    <a:pt x="635000" y="2566162"/>
                  </a:lnTo>
                  <a:lnTo>
                    <a:pt x="13220484" y="2566162"/>
                  </a:lnTo>
                  <a:lnTo>
                    <a:pt x="13220484" y="2057273"/>
                  </a:lnTo>
                  <a:lnTo>
                    <a:pt x="13220484" y="1028661"/>
                  </a:lnTo>
                  <a:close/>
                </a:path>
                <a:path w="13220700" h="256667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1028611"/>
                  </a:lnTo>
                  <a:lnTo>
                    <a:pt x="635000" y="1028611"/>
                  </a:lnTo>
                  <a:lnTo>
                    <a:pt x="13220484" y="10286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9192" y="2608588"/>
            <a:ext cx="13066394" cy="467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97220">
              <a:lnSpc>
                <a:spcPct val="100699"/>
              </a:lnSpc>
              <a:spcBef>
                <a:spcPts val="9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Which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do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you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want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leave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from? </a:t>
            </a: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10" dirty="0">
                <a:latin typeface="Times New Roman"/>
                <a:cs typeface="Times New Roman"/>
              </a:rPr>
              <a:t>Baltimore.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Do</a:t>
            </a:r>
            <a:r>
              <a:rPr sz="3350" b="1" spc="-5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want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leave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Baltimore?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0" dirty="0">
                <a:latin typeface="Times New Roman"/>
                <a:cs typeface="Times New Roman"/>
              </a:rPr>
              <a:t>Yes.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13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I’d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like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fly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from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Denver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Colorado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New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York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September </a:t>
            </a:r>
            <a:r>
              <a:rPr sz="3350" dirty="0">
                <a:latin typeface="Times New Roman"/>
                <a:cs typeface="Times New Roman"/>
              </a:rPr>
              <a:t>twenty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first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in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the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morning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United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Airlines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Let’s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then.</a:t>
            </a:r>
            <a:r>
              <a:rPr sz="3350" b="1" spc="2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</a:t>
            </a:r>
            <a:r>
              <a:rPr sz="3350" b="1" spc="-2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have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going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Denver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Colorado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New</a:t>
            </a:r>
            <a:r>
              <a:rPr sz="3350" b="1" spc="-20" dirty="0">
                <a:latin typeface="Times New Roman"/>
                <a:cs typeface="Times New Roman"/>
              </a:rPr>
              <a:t> York </a:t>
            </a:r>
            <a:r>
              <a:rPr sz="3350" b="1" dirty="0">
                <a:latin typeface="Times New Roman"/>
                <a:cs typeface="Times New Roman"/>
              </a:rPr>
              <a:t>on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September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twenty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first.</a:t>
            </a:r>
            <a:r>
              <a:rPr sz="3350" b="1" spc="16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that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correct?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5" dirty="0">
                <a:latin typeface="Times New Roman"/>
                <a:cs typeface="Times New Roman"/>
              </a:rPr>
              <a:t>Yes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04040"/>
                </a:solidFill>
              </a:rPr>
              <a:t>Implicit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confirmation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5841" y="3108960"/>
            <a:ext cx="13220700" cy="1068705"/>
            <a:chOff x="1005841" y="3108960"/>
            <a:chExt cx="13220700" cy="1068705"/>
          </a:xfrm>
        </p:grpSpPr>
        <p:sp>
          <p:nvSpPr>
            <p:cNvPr id="4" name="object 4"/>
            <p:cNvSpPr/>
            <p:nvPr/>
          </p:nvSpPr>
          <p:spPr>
            <a:xfrm>
              <a:off x="1005841" y="3108960"/>
              <a:ext cx="13220700" cy="6985"/>
            </a:xfrm>
            <a:custGeom>
              <a:avLst/>
              <a:gdLst/>
              <a:ahLst/>
              <a:cxnLst/>
              <a:rect l="l" t="t" r="r" b="b"/>
              <a:pathLst>
                <a:path w="13220700" h="6985">
                  <a:moveTo>
                    <a:pt x="0" y="6493"/>
                  </a:moveTo>
                  <a:lnTo>
                    <a:pt x="13220484" y="6493"/>
                  </a:lnTo>
                  <a:lnTo>
                    <a:pt x="13220484" y="0"/>
                  </a:lnTo>
                  <a:lnTo>
                    <a:pt x="0" y="0"/>
                  </a:lnTo>
                  <a:lnTo>
                    <a:pt x="0" y="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40" y="3115500"/>
              <a:ext cx="13220700" cy="1062355"/>
            </a:xfrm>
            <a:custGeom>
              <a:avLst/>
              <a:gdLst/>
              <a:ahLst/>
              <a:cxnLst/>
              <a:rect l="l" t="t" r="r" b="b"/>
              <a:pathLst>
                <a:path w="13220700" h="1062354">
                  <a:moveTo>
                    <a:pt x="13220484" y="0"/>
                  </a:moveTo>
                  <a:lnTo>
                    <a:pt x="881722" y="0"/>
                  </a:lnTo>
                  <a:lnTo>
                    <a:pt x="0" y="0"/>
                  </a:lnTo>
                  <a:lnTo>
                    <a:pt x="0" y="530999"/>
                  </a:lnTo>
                  <a:lnTo>
                    <a:pt x="0" y="1061999"/>
                  </a:lnTo>
                  <a:lnTo>
                    <a:pt x="881722" y="1061999"/>
                  </a:lnTo>
                  <a:lnTo>
                    <a:pt x="13220484" y="1061999"/>
                  </a:lnTo>
                  <a:lnTo>
                    <a:pt x="13220484" y="530999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92407" y="3031973"/>
            <a:ext cx="8141970" cy="1087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U:</a:t>
            </a:r>
            <a:r>
              <a:rPr sz="3450" dirty="0">
                <a:latin typeface="Times New Roman"/>
                <a:cs typeface="Times New Roman"/>
              </a:rPr>
              <a:t>	I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want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travel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Berlin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S: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dirty="0">
                <a:latin typeface="Times New Roman"/>
                <a:cs typeface="Times New Roman"/>
              </a:rPr>
              <a:t>When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do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you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want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travel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Berlin?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5841" y="4177500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5841" y="4195178"/>
            <a:ext cx="13220700" cy="159321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3615"/>
              </a:lnSpc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U2:</a:t>
            </a:r>
            <a:r>
              <a:rPr sz="3450" dirty="0">
                <a:latin typeface="Times New Roman"/>
                <a:cs typeface="Times New Roman"/>
              </a:rPr>
              <a:t>	Hi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I’d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like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fly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Seattle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Tuesday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Morning</a:t>
            </a:r>
            <a:endParaRPr sz="3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40"/>
              </a:spcBef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A3: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spc="-20" dirty="0">
                <a:latin typeface="Times New Roman"/>
                <a:cs typeface="Times New Roman"/>
              </a:rPr>
              <a:t>Traveling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Seattle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on</a:t>
            </a:r>
            <a:r>
              <a:rPr sz="3450" b="1" spc="-40" dirty="0">
                <a:latin typeface="Times New Roman"/>
                <a:cs typeface="Times New Roman"/>
              </a:rPr>
              <a:t> Tuesday,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August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eleventh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in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the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morning.</a:t>
            </a:r>
            <a:endParaRPr sz="3450">
              <a:latin typeface="Times New Roman"/>
              <a:cs typeface="Times New Roman"/>
            </a:endParaRPr>
          </a:p>
          <a:p>
            <a:pPr marL="1014094">
              <a:lnSpc>
                <a:spcPct val="100000"/>
              </a:lnSpc>
              <a:spcBef>
                <a:spcPts val="40"/>
              </a:spcBef>
            </a:pPr>
            <a:r>
              <a:rPr sz="3450" spc="-60" dirty="0">
                <a:latin typeface="Times New Roman"/>
                <a:cs typeface="Times New Roman"/>
              </a:rPr>
              <a:t>Your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full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name?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841" y="5788224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80257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8655" algn="l"/>
              </a:tabLst>
            </a:pP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strategy</a:t>
            </a:r>
            <a:r>
              <a:rPr dirty="0">
                <a:solidFill>
                  <a:srgbClr val="404040"/>
                </a:solidFill>
              </a:rPr>
              <a:t>	</a:t>
            </a:r>
            <a:r>
              <a:rPr spc="-60" dirty="0">
                <a:solidFill>
                  <a:srgbClr val="404040"/>
                </a:solidFill>
              </a:rPr>
              <a:t>tradeoffs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2225" marR="5080" indent="-10160">
              <a:lnSpc>
                <a:spcPct val="91100"/>
              </a:lnSpc>
              <a:spcBef>
                <a:spcPts val="505"/>
              </a:spcBef>
            </a:pPr>
            <a:r>
              <a:rPr sz="3800" dirty="0"/>
              <a:t>Explicit</a:t>
            </a:r>
            <a:r>
              <a:rPr sz="3800" spc="-30" dirty="0"/>
              <a:t> </a:t>
            </a:r>
            <a:r>
              <a:rPr sz="3800" dirty="0"/>
              <a:t>confirmation</a:t>
            </a:r>
            <a:r>
              <a:rPr sz="3800" spc="-15" dirty="0"/>
              <a:t> </a:t>
            </a:r>
            <a:r>
              <a:rPr sz="3800" dirty="0"/>
              <a:t>makes</a:t>
            </a:r>
            <a:r>
              <a:rPr sz="3800" spc="-30" dirty="0"/>
              <a:t> </a:t>
            </a:r>
            <a:r>
              <a:rPr sz="3800" dirty="0"/>
              <a:t>it</a:t>
            </a:r>
            <a:r>
              <a:rPr sz="3800" spc="-30" dirty="0"/>
              <a:t> </a:t>
            </a:r>
            <a:r>
              <a:rPr sz="3800" dirty="0"/>
              <a:t>easier</a:t>
            </a:r>
            <a:r>
              <a:rPr sz="3800" spc="-35" dirty="0"/>
              <a:t> </a:t>
            </a:r>
            <a:r>
              <a:rPr sz="3800" dirty="0"/>
              <a:t>for</a:t>
            </a:r>
            <a:r>
              <a:rPr sz="3800" spc="-35" dirty="0"/>
              <a:t> </a:t>
            </a:r>
            <a:r>
              <a:rPr sz="3800" dirty="0"/>
              <a:t>users</a:t>
            </a:r>
            <a:r>
              <a:rPr sz="3800" spc="-30" dirty="0"/>
              <a:t> </a:t>
            </a:r>
            <a:r>
              <a:rPr sz="3800" dirty="0"/>
              <a:t>to</a:t>
            </a:r>
            <a:r>
              <a:rPr sz="3800" spc="-25" dirty="0"/>
              <a:t> </a:t>
            </a:r>
            <a:r>
              <a:rPr sz="3800" dirty="0"/>
              <a:t>correct</a:t>
            </a:r>
            <a:r>
              <a:rPr sz="3800" spc="-25" dirty="0"/>
              <a:t> the </a:t>
            </a:r>
            <a:r>
              <a:rPr sz="3800" spc="-30" dirty="0"/>
              <a:t>system’s</a:t>
            </a:r>
            <a:r>
              <a:rPr sz="3800" spc="-20" dirty="0"/>
              <a:t> </a:t>
            </a:r>
            <a:r>
              <a:rPr sz="3800" dirty="0"/>
              <a:t>misrecognitions</a:t>
            </a:r>
            <a:r>
              <a:rPr sz="3800" spc="-15" dirty="0"/>
              <a:t> </a:t>
            </a:r>
            <a:r>
              <a:rPr sz="3800" dirty="0"/>
              <a:t>since</a:t>
            </a:r>
            <a:r>
              <a:rPr sz="3800" spc="-15" dirty="0"/>
              <a:t> </a:t>
            </a:r>
            <a:r>
              <a:rPr sz="3800" dirty="0"/>
              <a:t>a</a:t>
            </a:r>
            <a:r>
              <a:rPr sz="3800" spc="-10" dirty="0"/>
              <a:t> </a:t>
            </a:r>
            <a:r>
              <a:rPr sz="3800" dirty="0"/>
              <a:t>user</a:t>
            </a:r>
            <a:r>
              <a:rPr sz="3800" spc="-20" dirty="0"/>
              <a:t> </a:t>
            </a:r>
            <a:r>
              <a:rPr sz="3800" dirty="0"/>
              <a:t>can just</a:t>
            </a:r>
            <a:r>
              <a:rPr sz="3800" spc="-20" dirty="0"/>
              <a:t> </a:t>
            </a:r>
            <a:r>
              <a:rPr sz="3800" dirty="0"/>
              <a:t>answer</a:t>
            </a:r>
            <a:r>
              <a:rPr sz="3800" spc="-20" dirty="0"/>
              <a:t> “no” </a:t>
            </a:r>
            <a:r>
              <a:rPr sz="3800" dirty="0"/>
              <a:t>to</a:t>
            </a:r>
            <a:r>
              <a:rPr sz="3800" spc="-15" dirty="0"/>
              <a:t> </a:t>
            </a:r>
            <a:r>
              <a:rPr sz="3800" dirty="0"/>
              <a:t>the</a:t>
            </a:r>
            <a:r>
              <a:rPr sz="3800" spc="-15" dirty="0"/>
              <a:t> </a:t>
            </a:r>
            <a:r>
              <a:rPr sz="3800" dirty="0"/>
              <a:t>confirmation</a:t>
            </a:r>
            <a:r>
              <a:rPr sz="3800" spc="-5" dirty="0"/>
              <a:t> </a:t>
            </a:r>
            <a:r>
              <a:rPr sz="3800" spc="-10" dirty="0"/>
              <a:t>question.</a:t>
            </a:r>
            <a:endParaRPr sz="3800"/>
          </a:p>
          <a:p>
            <a:pPr marL="22225" marR="106045" indent="-10160">
              <a:lnSpc>
                <a:spcPct val="90800"/>
              </a:lnSpc>
              <a:spcBef>
                <a:spcPts val="1260"/>
              </a:spcBef>
            </a:pPr>
            <a:r>
              <a:rPr sz="3800" dirty="0"/>
              <a:t>But</a:t>
            </a:r>
            <a:r>
              <a:rPr sz="3800" spc="-5" dirty="0"/>
              <a:t> </a:t>
            </a:r>
            <a:r>
              <a:rPr sz="3800" dirty="0"/>
              <a:t>explicit</a:t>
            </a:r>
            <a:r>
              <a:rPr sz="3800" spc="-5" dirty="0"/>
              <a:t> </a:t>
            </a:r>
            <a:r>
              <a:rPr sz="3800" dirty="0"/>
              <a:t>confirmation</a:t>
            </a:r>
            <a:r>
              <a:rPr sz="3800" spc="5" dirty="0"/>
              <a:t> </a:t>
            </a:r>
            <a:r>
              <a:rPr sz="3800" dirty="0"/>
              <a:t>is</a:t>
            </a:r>
            <a:r>
              <a:rPr sz="3800" spc="-10" dirty="0"/>
              <a:t> </a:t>
            </a:r>
            <a:r>
              <a:rPr sz="3800" dirty="0"/>
              <a:t>also awkward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10" dirty="0"/>
              <a:t> </a:t>
            </a:r>
            <a:r>
              <a:rPr sz="3800" dirty="0"/>
              <a:t>increases</a:t>
            </a:r>
            <a:r>
              <a:rPr sz="3800" spc="-10" dirty="0"/>
              <a:t> </a:t>
            </a:r>
            <a:r>
              <a:rPr sz="3800" spc="-25" dirty="0"/>
              <a:t>the </a:t>
            </a:r>
            <a:r>
              <a:rPr sz="3800" dirty="0"/>
              <a:t>length</a:t>
            </a:r>
            <a:r>
              <a:rPr sz="3800" spc="15" dirty="0"/>
              <a:t> </a:t>
            </a:r>
            <a:r>
              <a:rPr sz="3800" dirty="0"/>
              <a:t>of</a:t>
            </a:r>
            <a:r>
              <a:rPr sz="3800" spc="5" dirty="0"/>
              <a:t> </a:t>
            </a:r>
            <a:r>
              <a:rPr sz="3800" dirty="0"/>
              <a:t>the</a:t>
            </a:r>
            <a:r>
              <a:rPr sz="3800" spc="10" dirty="0"/>
              <a:t> </a:t>
            </a:r>
            <a:r>
              <a:rPr sz="3800" dirty="0"/>
              <a:t>conversation</a:t>
            </a:r>
            <a:r>
              <a:rPr sz="3800" spc="15" dirty="0"/>
              <a:t> </a:t>
            </a:r>
            <a:r>
              <a:rPr sz="3800" dirty="0"/>
              <a:t>(Danieli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25" dirty="0"/>
              <a:t> </a:t>
            </a:r>
            <a:r>
              <a:rPr sz="3800" dirty="0"/>
              <a:t>Gerbino</a:t>
            </a:r>
            <a:r>
              <a:rPr sz="3800" spc="15" dirty="0"/>
              <a:t> </a:t>
            </a:r>
            <a:r>
              <a:rPr sz="3800" spc="-10" dirty="0"/>
              <a:t>1995, </a:t>
            </a:r>
            <a:r>
              <a:rPr sz="3800" dirty="0"/>
              <a:t>Walker</a:t>
            </a:r>
            <a:r>
              <a:rPr sz="3800" spc="-60" dirty="0"/>
              <a:t> </a:t>
            </a:r>
            <a:r>
              <a:rPr sz="3800" dirty="0"/>
              <a:t>et</a:t>
            </a:r>
            <a:r>
              <a:rPr sz="3800" spc="-45" dirty="0"/>
              <a:t> </a:t>
            </a:r>
            <a:r>
              <a:rPr sz="3800" dirty="0"/>
              <a:t>al.</a:t>
            </a:r>
            <a:r>
              <a:rPr sz="3800" spc="-50" dirty="0"/>
              <a:t> </a:t>
            </a:r>
            <a:r>
              <a:rPr sz="3800" spc="-10" dirty="0"/>
              <a:t>1998).</a:t>
            </a:r>
            <a:endParaRPr sz="38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8425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1" spc="-40" dirty="0">
                <a:solidFill>
                  <a:srgbClr val="404040"/>
                </a:solidFill>
                <a:latin typeface="Calibri"/>
                <a:cs typeface="Calibri"/>
              </a:rPr>
              <a:t>I’m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20" dirty="0">
                <a:solidFill>
                  <a:srgbClr val="404040"/>
                </a:solidFill>
                <a:latin typeface="Calibri"/>
                <a:cs typeface="Calibri"/>
              </a:rPr>
              <a:t>sorry,</a:t>
            </a:r>
            <a:r>
              <a:rPr sz="4800" i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800" i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understand</a:t>
            </a:r>
            <a:r>
              <a:rPr sz="4800" i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8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Progressive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prompting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for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731507" y="3940187"/>
            <a:ext cx="13666469" cy="2392680"/>
          </a:xfrm>
          <a:custGeom>
            <a:avLst/>
            <a:gdLst/>
            <a:ahLst/>
            <a:cxnLst/>
            <a:rect l="l" t="t" r="r" b="b"/>
            <a:pathLst>
              <a:path w="13666469" h="2392679">
                <a:moveTo>
                  <a:pt x="13666445" y="957097"/>
                </a:moveTo>
                <a:lnTo>
                  <a:pt x="1501152" y="957097"/>
                </a:lnTo>
                <a:lnTo>
                  <a:pt x="0" y="957097"/>
                </a:lnTo>
                <a:lnTo>
                  <a:pt x="0" y="1914144"/>
                </a:lnTo>
                <a:lnTo>
                  <a:pt x="12" y="2392667"/>
                </a:lnTo>
                <a:lnTo>
                  <a:pt x="1501152" y="2392667"/>
                </a:lnTo>
                <a:lnTo>
                  <a:pt x="13666445" y="2392667"/>
                </a:lnTo>
                <a:lnTo>
                  <a:pt x="13666445" y="1914144"/>
                </a:lnTo>
                <a:lnTo>
                  <a:pt x="13666445" y="957097"/>
                </a:lnTo>
                <a:close/>
              </a:path>
              <a:path w="13666469" h="2392679">
                <a:moveTo>
                  <a:pt x="13666445" y="0"/>
                </a:moveTo>
                <a:lnTo>
                  <a:pt x="1501152" y="0"/>
                </a:lnTo>
                <a:lnTo>
                  <a:pt x="0" y="0"/>
                </a:lnTo>
                <a:lnTo>
                  <a:pt x="0" y="478523"/>
                </a:lnTo>
                <a:lnTo>
                  <a:pt x="12" y="957046"/>
                </a:lnTo>
                <a:lnTo>
                  <a:pt x="1501152" y="957046"/>
                </a:lnTo>
                <a:lnTo>
                  <a:pt x="13666445" y="957046"/>
                </a:lnTo>
                <a:lnTo>
                  <a:pt x="13666445" y="478523"/>
                </a:lnTo>
                <a:lnTo>
                  <a:pt x="13666445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4970" y="1818132"/>
            <a:ext cx="13475335" cy="44640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91795" marR="577850">
              <a:lnSpc>
                <a:spcPct val="100499"/>
              </a:lnSpc>
              <a:spcBef>
                <a:spcPts val="75"/>
              </a:spcBef>
            </a:pPr>
            <a:r>
              <a:rPr sz="3800" dirty="0">
                <a:latin typeface="Calibri"/>
                <a:cs typeface="Calibri"/>
              </a:rPr>
              <a:t>Don't just repeat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question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"When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would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like to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leave?" </a:t>
            </a:r>
            <a:r>
              <a:rPr sz="3800" dirty="0">
                <a:latin typeface="Calibri"/>
                <a:cs typeface="Calibri"/>
              </a:rPr>
              <a:t>Give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user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guidance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about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they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can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say: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When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would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like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leave?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Well,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um,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need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New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30" dirty="0">
                <a:latin typeface="Times New Roman"/>
                <a:cs typeface="Times New Roman"/>
              </a:rPr>
              <a:t>York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time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for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first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World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Series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game.</a:t>
            </a:r>
            <a:endParaRPr sz="3100">
              <a:latin typeface="Times New Roman"/>
              <a:cs typeface="Times New Roman"/>
            </a:endParaRPr>
          </a:p>
          <a:p>
            <a:pPr marL="1537970" marR="5080" indent="-1538605">
              <a:lnSpc>
                <a:spcPct val="101299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</a:t>
            </a:r>
            <a:r>
              <a:rPr sz="3100" i="1" dirty="0">
                <a:latin typeface="Verdana"/>
                <a:cs typeface="Verdana"/>
              </a:rPr>
              <a:t>&lt;</a:t>
            </a:r>
            <a:r>
              <a:rPr sz="3100" dirty="0">
                <a:latin typeface="Times New Roman"/>
                <a:cs typeface="Times New Roman"/>
              </a:rPr>
              <a:t>reject</a:t>
            </a:r>
            <a:r>
              <a:rPr sz="3100" i="1" dirty="0">
                <a:latin typeface="Verdana"/>
                <a:cs typeface="Verdana"/>
              </a:rPr>
              <a:t>&gt;</a:t>
            </a:r>
            <a:r>
              <a:rPr sz="3100" dirty="0">
                <a:latin typeface="Times New Roman"/>
                <a:cs typeface="Times New Roman"/>
              </a:rPr>
              <a:t>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Sorry,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didn’t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get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Please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month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and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you’d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like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leave.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I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wanna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October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fifteenth.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019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Using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confidence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decide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whether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confirm: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8" y="1601724"/>
            <a:ext cx="12186285" cy="37045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  <a:tabLst>
                <a:tab pos="100520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or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NLU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assign a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value,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indicating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user.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9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Acoustic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log-likelihood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Prosodic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features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12547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Ratio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of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second-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could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thresholds: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0309" y="5483662"/>
          <a:ext cx="944118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i="1" spc="-2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3900" i="1" spc="-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39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explicitly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60" dirty="0">
                          <a:latin typeface="Trebuchet MS"/>
                          <a:cs typeface="Trebuchet MS"/>
                        </a:rPr>
                        <a:t>b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implictly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425" dirty="0">
                          <a:latin typeface="Trebuchet MS"/>
                          <a:cs typeface="Trebuchet MS"/>
                        </a:rPr>
                        <a:t>g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don’t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Natural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Language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0749280" cy="38938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  <a:tabLst>
                <a:tab pos="105092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information-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architecture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modeled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two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stages: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(what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say)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sentence realization</a:t>
            </a:r>
            <a:r>
              <a:rPr sz="38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(how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say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it).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We'll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realization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here.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520295" cy="362140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Assume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policy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endParaRPr sz="3800">
              <a:latin typeface="Calibri"/>
              <a:cs typeface="Calibri"/>
            </a:endParaRPr>
          </a:p>
          <a:p>
            <a:pPr marL="561340" marR="36766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attributes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(slots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values)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planner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wants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800">
              <a:latin typeface="Calibri"/>
              <a:cs typeface="Calibri"/>
            </a:endParaRPr>
          </a:p>
          <a:p>
            <a:pPr marL="1037590" marR="724535" lvl="1" indent="-548640">
              <a:lnSpc>
                <a:spcPts val="3700"/>
              </a:lnSpc>
              <a:spcBef>
                <a:spcPts val="42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answer,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confirmation strategy)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79043"/>
            <a:ext cx="1184338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404040"/>
                </a:solidFill>
              </a:rPr>
              <a:t>2</a:t>
            </a:r>
            <a:r>
              <a:rPr sz="4600" spc="-215" dirty="0">
                <a:solidFill>
                  <a:srgbClr val="404040"/>
                </a:solidFill>
              </a:rPr>
              <a:t> </a:t>
            </a:r>
            <a:r>
              <a:rPr sz="4600" spc="-45" dirty="0">
                <a:solidFill>
                  <a:srgbClr val="404040"/>
                </a:solidFill>
              </a:rPr>
              <a:t>samples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of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30" dirty="0">
                <a:solidFill>
                  <a:srgbClr val="404040"/>
                </a:solidFill>
              </a:rPr>
              <a:t>Input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and</a:t>
            </a:r>
            <a:r>
              <a:rPr sz="4600" spc="-190" dirty="0">
                <a:solidFill>
                  <a:srgbClr val="404040"/>
                </a:solidFill>
              </a:rPr>
              <a:t> </a:t>
            </a:r>
            <a:r>
              <a:rPr sz="4600" spc="-55" dirty="0">
                <a:solidFill>
                  <a:srgbClr val="404040"/>
                </a:solidFill>
              </a:rPr>
              <a:t>Output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for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35" dirty="0">
                <a:solidFill>
                  <a:srgbClr val="404040"/>
                </a:solidFill>
              </a:rPr>
              <a:t>Realizer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88104" y="2835780"/>
            <a:ext cx="13611860" cy="1003300"/>
            <a:chOff x="588104" y="2835780"/>
            <a:chExt cx="13611860" cy="1003300"/>
          </a:xfrm>
        </p:grpSpPr>
        <p:sp>
          <p:nvSpPr>
            <p:cNvPr id="4" name="object 4"/>
            <p:cNvSpPr/>
            <p:nvPr/>
          </p:nvSpPr>
          <p:spPr>
            <a:xfrm>
              <a:off x="588104" y="2835780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10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8098" y="2852203"/>
              <a:ext cx="13611860" cy="986790"/>
            </a:xfrm>
            <a:custGeom>
              <a:avLst/>
              <a:gdLst/>
              <a:ahLst/>
              <a:cxnLst/>
              <a:rect l="l" t="t" r="r" b="b"/>
              <a:pathLst>
                <a:path w="13611860" h="986789">
                  <a:moveTo>
                    <a:pt x="13611378" y="0"/>
                  </a:moveTo>
                  <a:lnTo>
                    <a:pt x="435965" y="0"/>
                  </a:lnTo>
                  <a:lnTo>
                    <a:pt x="0" y="0"/>
                  </a:lnTo>
                  <a:lnTo>
                    <a:pt x="0" y="986409"/>
                  </a:lnTo>
                  <a:lnTo>
                    <a:pt x="435965" y="986409"/>
                  </a:lnTo>
                  <a:lnTo>
                    <a:pt x="13611378" y="986409"/>
                  </a:lnTo>
                  <a:lnTo>
                    <a:pt x="1361137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8104" y="2773757"/>
            <a:ext cx="13611860" cy="1998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165" marR="372110">
              <a:lnSpc>
                <a:spcPct val="101099"/>
              </a:lnSpc>
              <a:spcBef>
                <a:spcPts val="95"/>
              </a:spcBef>
              <a:tabLst>
                <a:tab pos="2276475" algn="l"/>
                <a:tab pos="2706370" algn="l"/>
                <a:tab pos="5069205" algn="l"/>
                <a:tab pos="6357620" algn="l"/>
                <a:tab pos="7002145" algn="l"/>
                <a:tab pos="8291195" algn="l"/>
                <a:tab pos="11083290" algn="l"/>
                <a:tab pos="11512550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Au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35" dirty="0">
                <a:latin typeface="Calibri"/>
                <a:cs typeface="Calibri"/>
              </a:rPr>
              <a:t>Midi,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14" dirty="0">
                <a:latin typeface="Calibri"/>
                <a:cs typeface="Calibri"/>
              </a:rPr>
              <a:t>midtown, 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french</a:t>
            </a:r>
            <a:endParaRPr sz="3200">
              <a:latin typeface="Calibri"/>
              <a:cs typeface="Calibri"/>
            </a:endParaRPr>
          </a:p>
          <a:p>
            <a:pPr marL="558165" indent="-44958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Au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10" dirty="0">
                <a:latin typeface="Times New Roman"/>
                <a:cs typeface="Times New Roman"/>
              </a:rPr>
              <a:t> food.</a:t>
            </a:r>
            <a:endParaRPr sz="3200">
              <a:latin typeface="Times New Roman"/>
              <a:cs typeface="Times New Roman"/>
            </a:endParaRPr>
          </a:p>
          <a:p>
            <a:pPr marL="558165" indent="-449580">
              <a:lnSpc>
                <a:spcPct val="100000"/>
              </a:lnSpc>
              <a:spcBef>
                <a:spcPts val="45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 </a:t>
            </a:r>
            <a:r>
              <a:rPr sz="3200" spc="-10" dirty="0">
                <a:latin typeface="Times New Roman"/>
                <a:cs typeface="Times New Roman"/>
              </a:rPr>
              <a:t>Midi.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104" y="4825052"/>
            <a:ext cx="13611860" cy="986790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558165">
              <a:lnSpc>
                <a:spcPts val="3360"/>
              </a:lnSpc>
              <a:tabLst>
                <a:tab pos="5069205" algn="l"/>
                <a:tab pos="6357620" algn="l"/>
                <a:tab pos="7431405" algn="l"/>
                <a:tab pos="8720455" algn="l"/>
                <a:tab pos="11512550" algn="l"/>
                <a:tab pos="11942445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5" dirty="0">
                <a:latin typeface="Calibri"/>
                <a:cs typeface="Calibri"/>
              </a:rPr>
              <a:t>Loch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Fyne,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09" dirty="0">
                <a:latin typeface="Calibri"/>
                <a:cs typeface="Calibri"/>
              </a:rPr>
              <a:t>city</a:t>
            </a:r>
            <a:endParaRPr sz="3200">
              <a:latin typeface="Calibri"/>
              <a:cs typeface="Calibri"/>
            </a:endParaRPr>
          </a:p>
          <a:p>
            <a:pPr marL="558165">
              <a:lnSpc>
                <a:spcPct val="100000"/>
              </a:lnSpc>
              <a:spcBef>
                <a:spcPts val="40"/>
              </a:spcBef>
              <a:tabLst>
                <a:tab pos="2276475" algn="l"/>
                <a:tab pos="3994785" algn="l"/>
                <a:tab pos="4424680" algn="l"/>
              </a:tabLst>
            </a:pPr>
            <a:r>
              <a:rPr sz="3200" spc="355" dirty="0">
                <a:latin typeface="Calibri"/>
                <a:cs typeface="Calibri"/>
              </a:rPr>
              <a:t>centre,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45" dirty="0">
                <a:latin typeface="Calibri"/>
                <a:cs typeface="Calibri"/>
              </a:rPr>
              <a:t>seafood)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069" y="5733014"/>
            <a:ext cx="11247120" cy="1012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13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Loch Fyne is in the City Center and serves seafood </a:t>
            </a:r>
            <a:r>
              <a:rPr sz="3200" spc="-10" dirty="0">
                <a:latin typeface="Times New Roman"/>
                <a:cs typeface="Times New Roman"/>
              </a:rPr>
              <a:t>food.</a:t>
            </a:r>
            <a:endParaRPr sz="3200">
              <a:latin typeface="Times New Roman"/>
              <a:cs typeface="Times New Roman"/>
            </a:endParaRPr>
          </a:p>
          <a:p>
            <a:pPr marL="462280" indent="-449580">
              <a:lnSpc>
                <a:spcPct val="100000"/>
              </a:lnSpc>
              <a:spcBef>
                <a:spcPts val="4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seafood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City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Fyne.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8104" y="6797904"/>
            <a:ext cx="13611860" cy="60325"/>
            <a:chOff x="588104" y="6797904"/>
            <a:chExt cx="13611860" cy="60325"/>
          </a:xfrm>
        </p:grpSpPr>
        <p:sp>
          <p:nvSpPr>
            <p:cNvPr id="10" name="object 10"/>
            <p:cNvSpPr/>
            <p:nvPr/>
          </p:nvSpPr>
          <p:spPr>
            <a:xfrm>
              <a:off x="588104" y="6797904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09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104" y="6855413"/>
              <a:ext cx="2008505" cy="3175"/>
            </a:xfrm>
            <a:custGeom>
              <a:avLst/>
              <a:gdLst/>
              <a:ahLst/>
              <a:cxnLst/>
              <a:rect l="l" t="t" r="r" b="b"/>
              <a:pathLst>
                <a:path w="2008505" h="3175">
                  <a:moveTo>
                    <a:pt x="2008447" y="2586"/>
                  </a:moveTo>
                  <a:lnTo>
                    <a:pt x="2008447" y="0"/>
                  </a:lnTo>
                  <a:lnTo>
                    <a:pt x="0" y="0"/>
                  </a:lnTo>
                  <a:lnTo>
                    <a:pt x="0" y="2586"/>
                  </a:lnTo>
                  <a:lnTo>
                    <a:pt x="2008447" y="2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3552" y="5401968"/>
            <a:ext cx="12333605" cy="908685"/>
            <a:chOff x="1303552" y="5401968"/>
            <a:chExt cx="12333605" cy="908685"/>
          </a:xfrm>
        </p:grpSpPr>
        <p:sp>
          <p:nvSpPr>
            <p:cNvPr id="3" name="object 3"/>
            <p:cNvSpPr/>
            <p:nvPr/>
          </p:nvSpPr>
          <p:spPr>
            <a:xfrm>
              <a:off x="1303552" y="5401968"/>
              <a:ext cx="12333605" cy="15240"/>
            </a:xfrm>
            <a:custGeom>
              <a:avLst/>
              <a:gdLst/>
              <a:ahLst/>
              <a:cxnLst/>
              <a:rect l="l" t="t" r="r" b="b"/>
              <a:pathLst>
                <a:path w="12333605" h="15239">
                  <a:moveTo>
                    <a:pt x="0" y="0"/>
                  </a:moveTo>
                  <a:lnTo>
                    <a:pt x="0" y="14877"/>
                  </a:lnTo>
                  <a:lnTo>
                    <a:pt x="12333545" y="14877"/>
                  </a:lnTo>
                  <a:lnTo>
                    <a:pt x="123335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3540" y="5416854"/>
              <a:ext cx="12333605" cy="894080"/>
            </a:xfrm>
            <a:custGeom>
              <a:avLst/>
              <a:gdLst/>
              <a:ahLst/>
              <a:cxnLst/>
              <a:rect l="l" t="t" r="r" b="b"/>
              <a:pathLst>
                <a:path w="12333605" h="894079">
                  <a:moveTo>
                    <a:pt x="12333554" y="0"/>
                  </a:moveTo>
                  <a:lnTo>
                    <a:pt x="395046" y="0"/>
                  </a:lnTo>
                  <a:lnTo>
                    <a:pt x="0" y="0"/>
                  </a:lnTo>
                  <a:lnTo>
                    <a:pt x="0" y="893800"/>
                  </a:lnTo>
                  <a:lnTo>
                    <a:pt x="395046" y="893800"/>
                  </a:lnTo>
                  <a:lnTo>
                    <a:pt x="12333554" y="893800"/>
                  </a:lnTo>
                  <a:lnTo>
                    <a:pt x="1233355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67462" y="1391412"/>
            <a:ext cx="12369800" cy="57664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333692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7308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E48312"/>
              </a:buClr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542290" marR="336550">
              <a:lnSpc>
                <a:spcPct val="101099"/>
              </a:lnSpc>
              <a:tabLst>
                <a:tab pos="2099310" algn="l"/>
                <a:tab pos="2488565" algn="l"/>
                <a:tab pos="4629150" algn="l"/>
                <a:tab pos="5796915" algn="l"/>
                <a:tab pos="6381115" algn="l"/>
                <a:tab pos="7548880" algn="l"/>
                <a:tab pos="10078720" algn="l"/>
                <a:tab pos="10467975" algn="l"/>
              </a:tabLst>
            </a:pPr>
            <a:r>
              <a:rPr sz="2900" spc="140" dirty="0">
                <a:latin typeface="Calibri"/>
                <a:cs typeface="Calibri"/>
              </a:rPr>
              <a:t>recommend(restaurant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name=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25" dirty="0">
                <a:latin typeface="Calibri"/>
                <a:cs typeface="Calibri"/>
              </a:rPr>
              <a:t>Au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300" dirty="0">
                <a:latin typeface="Calibri"/>
                <a:cs typeface="Calibri"/>
              </a:rPr>
              <a:t>Midi,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25" dirty="0">
                <a:latin typeface="Calibri"/>
                <a:cs typeface="Calibri"/>
              </a:rPr>
              <a:t>neighborhood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00" dirty="0">
                <a:latin typeface="Calibri"/>
                <a:cs typeface="Calibri"/>
              </a:rPr>
              <a:t>midtown, </a:t>
            </a:r>
            <a:r>
              <a:rPr sz="2900" spc="350" dirty="0">
                <a:latin typeface="Calibri"/>
                <a:cs typeface="Calibri"/>
              </a:rPr>
              <a:t>cuisine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40" dirty="0">
                <a:latin typeface="Calibri"/>
                <a:cs typeface="Calibri"/>
              </a:rPr>
              <a:t>french</a:t>
            </a:r>
            <a:endParaRPr sz="2900">
              <a:latin typeface="Calibri"/>
              <a:cs typeface="Calibri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Midi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serves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food.</a:t>
            </a:r>
            <a:endParaRPr sz="2900">
              <a:latin typeface="Times New Roman"/>
              <a:cs typeface="Times New Roman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There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restaurant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called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0" dirty="0">
                <a:latin typeface="Times New Roman"/>
                <a:cs typeface="Times New Roman"/>
              </a:rPr>
              <a:t> Midi.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3540" y="7204494"/>
            <a:ext cx="12333605" cy="19685"/>
          </a:xfrm>
          <a:custGeom>
            <a:avLst/>
            <a:gdLst/>
            <a:ahLst/>
            <a:cxnLst/>
            <a:rect l="l" t="t" r="r" b="b"/>
            <a:pathLst>
              <a:path w="12333605" h="19684">
                <a:moveTo>
                  <a:pt x="12333554" y="0"/>
                </a:moveTo>
                <a:lnTo>
                  <a:pt x="395046" y="0"/>
                </a:lnTo>
                <a:lnTo>
                  <a:pt x="0" y="0"/>
                </a:lnTo>
                <a:lnTo>
                  <a:pt x="0" y="19265"/>
                </a:lnTo>
                <a:lnTo>
                  <a:pt x="395046" y="19265"/>
                </a:lnTo>
                <a:lnTo>
                  <a:pt x="12333554" y="19265"/>
                </a:lnTo>
                <a:lnTo>
                  <a:pt x="12333554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2" y="1391412"/>
            <a:ext cx="11643360" cy="33267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261175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3021" y="5397657"/>
            <a:ext cx="12242800" cy="91376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487680">
              <a:lnSpc>
                <a:spcPts val="3115"/>
              </a:lnSpc>
              <a:tabLst>
                <a:tab pos="4667885" algn="l"/>
                <a:tab pos="5862320" algn="l"/>
                <a:tab pos="6459220" algn="l"/>
                <a:tab pos="7653655" algn="l"/>
                <a:tab pos="10241280" algn="l"/>
                <a:tab pos="10639425" algn="l"/>
              </a:tabLst>
            </a:pPr>
            <a:r>
              <a:rPr sz="3000" spc="114" dirty="0">
                <a:latin typeface="Calibri"/>
                <a:cs typeface="Calibri"/>
              </a:rPr>
              <a:t>recommend(restaurant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name=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Au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300" dirty="0">
                <a:latin typeface="Calibri"/>
                <a:cs typeface="Calibri"/>
              </a:rPr>
              <a:t>Midi,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5" dirty="0">
                <a:latin typeface="Calibri"/>
                <a:cs typeface="Calibri"/>
              </a:rPr>
              <a:t>neighborhood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75" dirty="0">
                <a:latin typeface="Calibri"/>
                <a:cs typeface="Calibri"/>
              </a:rPr>
              <a:t>midtown,</a:t>
            </a:r>
            <a:endParaRPr sz="3000">
              <a:latin typeface="Calibri"/>
              <a:cs typeface="Calibri"/>
            </a:endParaRPr>
          </a:p>
          <a:p>
            <a:pPr marL="487680" marR="3175">
              <a:lnSpc>
                <a:spcPts val="3600"/>
              </a:lnSpc>
              <a:tabLst>
                <a:tab pos="2080260" algn="l"/>
                <a:tab pos="2478405" algn="l"/>
              </a:tabLst>
            </a:pPr>
            <a:r>
              <a:rPr sz="3000" spc="340" dirty="0">
                <a:latin typeface="Calibri"/>
                <a:cs typeface="Calibri"/>
              </a:rPr>
              <a:t>cuisine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35" dirty="0">
                <a:latin typeface="Calibri"/>
                <a:cs typeface="Calibri"/>
              </a:rPr>
              <a:t>french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04441" y="662356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55" y="0"/>
                </a:lnTo>
              </a:path>
            </a:pathLst>
          </a:custGeom>
          <a:ln w="1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1363" y="6237751"/>
            <a:ext cx="1200213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9259" indent="-416559">
              <a:lnSpc>
                <a:spcPts val="3600"/>
              </a:lnSpc>
              <a:spcBef>
                <a:spcPts val="95"/>
              </a:spcBef>
              <a:buFont typeface="Times New Roman"/>
              <a:buAutoNum type="arabicPlain"/>
              <a:tabLst>
                <a:tab pos="429259" algn="l"/>
                <a:tab pos="2556510" algn="l"/>
              </a:tabLst>
            </a:pPr>
            <a:r>
              <a:rPr sz="3000" spc="270" dirty="0">
                <a:latin typeface="Calibri"/>
                <a:cs typeface="Calibri"/>
              </a:rPr>
              <a:t>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60" dirty="0">
                <a:latin typeface="Calibri"/>
                <a:cs typeface="Calibri"/>
              </a:rPr>
              <a:t>name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food.</a:t>
            </a:r>
            <a:endParaRPr sz="3000">
              <a:latin typeface="Times New Roman"/>
              <a:cs typeface="Times New Roman"/>
            </a:endParaRPr>
          </a:p>
          <a:p>
            <a:pPr marL="429259" indent="-416559">
              <a:lnSpc>
                <a:spcPts val="3600"/>
              </a:lnSpc>
              <a:buAutoNum type="arabicPlain"/>
              <a:tabLst>
                <a:tab pos="429259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restaurant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called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295" dirty="0">
                <a:latin typeface="Calibri"/>
                <a:cs typeface="Calibri"/>
              </a:rPr>
              <a:t>restaurant</a:t>
            </a:r>
            <a:r>
              <a:rPr sz="30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Calibri"/>
                <a:cs typeface="Calibri"/>
              </a:rPr>
              <a:t>name</a:t>
            </a:r>
            <a:r>
              <a:rPr sz="3000" spc="-4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95832" y="6354460"/>
            <a:ext cx="3000375" cy="293370"/>
            <a:chOff x="1695832" y="6354460"/>
            <a:chExt cx="3000375" cy="293370"/>
          </a:xfrm>
        </p:grpSpPr>
        <p:sp>
          <p:nvSpPr>
            <p:cNvPr id="8" name="object 8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3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980943" y="274321"/>
                  </a:lnTo>
                  <a:lnTo>
                    <a:pt x="2980943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476875" y="6354460"/>
            <a:ext cx="2487930" cy="293370"/>
            <a:chOff x="5476875" y="6354460"/>
            <a:chExt cx="2487930" cy="293370"/>
          </a:xfrm>
        </p:grpSpPr>
        <p:sp>
          <p:nvSpPr>
            <p:cNvPr id="11" name="object 11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79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468879" y="274321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591675" y="6391276"/>
            <a:ext cx="1482090" cy="293370"/>
            <a:chOff x="9591675" y="6391276"/>
            <a:chExt cx="1482090" cy="293370"/>
          </a:xfrm>
        </p:grpSpPr>
        <p:sp>
          <p:nvSpPr>
            <p:cNvPr id="14" name="object 14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146304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40" y="27432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82315" y="6854521"/>
            <a:ext cx="1482090" cy="293370"/>
            <a:chOff x="3282315" y="6854521"/>
            <a:chExt cx="1482090" cy="293370"/>
          </a:xfrm>
        </p:grpSpPr>
        <p:sp>
          <p:nvSpPr>
            <p:cNvPr id="17" name="object 17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1463039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39" y="27432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268331" y="6848477"/>
            <a:ext cx="3000375" cy="293370"/>
            <a:chOff x="10268331" y="6848477"/>
            <a:chExt cx="3000375" cy="293370"/>
          </a:xfrm>
        </p:grpSpPr>
        <p:sp>
          <p:nvSpPr>
            <p:cNvPr id="20" name="object 20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4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980944" y="274320"/>
                  </a:lnTo>
                  <a:lnTo>
                    <a:pt x="2980944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757034" y="6848477"/>
            <a:ext cx="2487930" cy="293370"/>
            <a:chOff x="6757034" y="6848477"/>
            <a:chExt cx="2487930" cy="293370"/>
          </a:xfrm>
        </p:grpSpPr>
        <p:sp>
          <p:nvSpPr>
            <p:cNvPr id="23" name="object 23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8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468880" y="274320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9097" y="1648001"/>
            <a:ext cx="3350260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8600" algn="l"/>
                <a:tab pos="2487295" algn="l"/>
              </a:tabLst>
            </a:pPr>
            <a:r>
              <a:rPr sz="2550" spc="-10" dirty="0">
                <a:latin typeface="Courier New"/>
                <a:cs typeface="Courier New"/>
              </a:rPr>
              <a:t>[name]</a:t>
            </a:r>
            <a:r>
              <a:rPr sz="2550" dirty="0">
                <a:latin typeface="Courier New"/>
                <a:cs typeface="Courier New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has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decent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98415" y="1645806"/>
            <a:ext cx="948055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latin typeface="Times New Roman"/>
                <a:cs typeface="Times New Roman"/>
              </a:rPr>
              <a:t>service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22039" y="3236126"/>
            <a:ext cx="5728335" cy="672465"/>
            <a:chOff x="2322039" y="3236126"/>
            <a:chExt cx="5728335" cy="672465"/>
          </a:xfrm>
        </p:grpSpPr>
        <p:sp>
          <p:nvSpPr>
            <p:cNvPr id="5" name="object 5"/>
            <p:cNvSpPr/>
            <p:nvPr/>
          </p:nvSpPr>
          <p:spPr>
            <a:xfrm>
              <a:off x="2339502" y="3253586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5373076" y="0"/>
                  </a:moveTo>
                  <a:lnTo>
                    <a:pt x="319825" y="0"/>
                  </a:lnTo>
                  <a:lnTo>
                    <a:pt x="272563" y="3454"/>
                  </a:lnTo>
                  <a:lnTo>
                    <a:pt x="227454" y="13488"/>
                  </a:lnTo>
                  <a:lnTo>
                    <a:pt x="184994" y="29609"/>
                  </a:lnTo>
                  <a:lnTo>
                    <a:pt x="145676" y="51325"/>
                  </a:lnTo>
                  <a:lnTo>
                    <a:pt x="109995" y="78142"/>
                  </a:lnTo>
                  <a:lnTo>
                    <a:pt x="78447" y="109567"/>
                  </a:lnTo>
                  <a:lnTo>
                    <a:pt x="51525" y="145109"/>
                  </a:lnTo>
                  <a:lnTo>
                    <a:pt x="29725" y="184274"/>
                  </a:lnTo>
                  <a:lnTo>
                    <a:pt x="13540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0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5" y="559014"/>
                  </a:lnTo>
                  <a:lnTo>
                    <a:pt x="145676" y="585831"/>
                  </a:lnTo>
                  <a:lnTo>
                    <a:pt x="184994" y="607547"/>
                  </a:lnTo>
                  <a:lnTo>
                    <a:pt x="227454" y="623668"/>
                  </a:lnTo>
                  <a:lnTo>
                    <a:pt x="272563" y="633702"/>
                  </a:lnTo>
                  <a:lnTo>
                    <a:pt x="319825" y="637156"/>
                  </a:lnTo>
                  <a:lnTo>
                    <a:pt x="5373076" y="637156"/>
                  </a:lnTo>
                  <a:lnTo>
                    <a:pt x="5420337" y="633702"/>
                  </a:lnTo>
                  <a:lnTo>
                    <a:pt x="5465446" y="623668"/>
                  </a:lnTo>
                  <a:lnTo>
                    <a:pt x="5507906" y="607547"/>
                  </a:lnTo>
                  <a:lnTo>
                    <a:pt x="5547224" y="585831"/>
                  </a:lnTo>
                  <a:lnTo>
                    <a:pt x="5582905" y="559014"/>
                  </a:lnTo>
                  <a:lnTo>
                    <a:pt x="5614454" y="527589"/>
                  </a:lnTo>
                  <a:lnTo>
                    <a:pt x="5641376" y="492048"/>
                  </a:lnTo>
                  <a:lnTo>
                    <a:pt x="5663176" y="452883"/>
                  </a:lnTo>
                  <a:lnTo>
                    <a:pt x="5679360" y="410589"/>
                  </a:lnTo>
                  <a:lnTo>
                    <a:pt x="5689434" y="365657"/>
                  </a:lnTo>
                  <a:lnTo>
                    <a:pt x="5692902" y="318580"/>
                  </a:lnTo>
                  <a:lnTo>
                    <a:pt x="5689434" y="271503"/>
                  </a:lnTo>
                  <a:lnTo>
                    <a:pt x="5679360" y="226570"/>
                  </a:lnTo>
                  <a:lnTo>
                    <a:pt x="5663176" y="184274"/>
                  </a:lnTo>
                  <a:lnTo>
                    <a:pt x="5641376" y="145109"/>
                  </a:lnTo>
                  <a:lnTo>
                    <a:pt x="5614454" y="109567"/>
                  </a:lnTo>
                  <a:lnTo>
                    <a:pt x="5582905" y="78142"/>
                  </a:lnTo>
                  <a:lnTo>
                    <a:pt x="5547224" y="51325"/>
                  </a:lnTo>
                  <a:lnTo>
                    <a:pt x="5507906" y="29609"/>
                  </a:lnTo>
                  <a:lnTo>
                    <a:pt x="5465446" y="13488"/>
                  </a:lnTo>
                  <a:lnTo>
                    <a:pt x="5420337" y="3454"/>
                  </a:lnTo>
                  <a:lnTo>
                    <a:pt x="537307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39501" y="3253589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319826" y="0"/>
                  </a:moveTo>
                  <a:lnTo>
                    <a:pt x="5373078" y="0"/>
                  </a:lnTo>
                  <a:lnTo>
                    <a:pt x="5420339" y="3454"/>
                  </a:lnTo>
                  <a:lnTo>
                    <a:pt x="5465447" y="13488"/>
                  </a:lnTo>
                  <a:lnTo>
                    <a:pt x="5507908" y="29609"/>
                  </a:lnTo>
                  <a:lnTo>
                    <a:pt x="5547226" y="51324"/>
                  </a:lnTo>
                  <a:lnTo>
                    <a:pt x="5582907" y="78141"/>
                  </a:lnTo>
                  <a:lnTo>
                    <a:pt x="5614456" y="109567"/>
                  </a:lnTo>
                  <a:lnTo>
                    <a:pt x="5641378" y="145108"/>
                  </a:lnTo>
                  <a:lnTo>
                    <a:pt x="5663178" y="184273"/>
                  </a:lnTo>
                  <a:lnTo>
                    <a:pt x="5679362" y="226568"/>
                  </a:lnTo>
                  <a:lnTo>
                    <a:pt x="5689436" y="271500"/>
                  </a:lnTo>
                  <a:lnTo>
                    <a:pt x="5692904" y="318577"/>
                  </a:lnTo>
                  <a:lnTo>
                    <a:pt x="5689436" y="365654"/>
                  </a:lnTo>
                  <a:lnTo>
                    <a:pt x="5679362" y="410586"/>
                  </a:lnTo>
                  <a:lnTo>
                    <a:pt x="5663178" y="452881"/>
                  </a:lnTo>
                  <a:lnTo>
                    <a:pt x="5641378" y="492046"/>
                  </a:lnTo>
                  <a:lnTo>
                    <a:pt x="5614456" y="527587"/>
                  </a:lnTo>
                  <a:lnTo>
                    <a:pt x="5582907" y="559013"/>
                  </a:lnTo>
                  <a:lnTo>
                    <a:pt x="5547226" y="585830"/>
                  </a:lnTo>
                  <a:lnTo>
                    <a:pt x="5507908" y="607545"/>
                  </a:lnTo>
                  <a:lnTo>
                    <a:pt x="5465447" y="623666"/>
                  </a:lnTo>
                  <a:lnTo>
                    <a:pt x="5420339" y="633700"/>
                  </a:lnTo>
                  <a:lnTo>
                    <a:pt x="5373078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7" y="527587"/>
                  </a:lnTo>
                  <a:lnTo>
                    <a:pt x="51525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5" y="145108"/>
                  </a:lnTo>
                  <a:lnTo>
                    <a:pt x="78447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5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10501" y="3340285"/>
            <a:ext cx="5595620" cy="1381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algn="ctr">
              <a:lnSpc>
                <a:spcPct val="100000"/>
              </a:lnSpc>
              <a:spcBef>
                <a:spcPts val="135"/>
              </a:spcBef>
            </a:pPr>
            <a:r>
              <a:rPr sz="2700" spc="-10" dirty="0">
                <a:latin typeface="Arial MT"/>
                <a:cs typeface="Arial MT"/>
              </a:rPr>
              <a:t>ENCODER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18130" algn="l"/>
                <a:tab pos="3950335" algn="l"/>
                <a:tab pos="5111750" algn="l"/>
              </a:tabLst>
            </a:pPr>
            <a:r>
              <a:rPr sz="2700" baseline="3086" dirty="0">
                <a:latin typeface="Arial MT"/>
                <a:cs typeface="Arial MT"/>
              </a:rPr>
              <a:t>RECOMMEND</a:t>
            </a:r>
            <a:r>
              <a:rPr sz="2700" spc="540" baseline="3086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service: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decent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cuisine: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20" dirty="0">
                <a:latin typeface="Arial MT"/>
                <a:cs typeface="Arial MT"/>
              </a:rPr>
              <a:t>null</a:t>
            </a:r>
            <a:endParaRPr sz="2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76710" y="2575802"/>
            <a:ext cx="4780280" cy="672465"/>
            <a:chOff x="8776710" y="2575802"/>
            <a:chExt cx="4780280" cy="672465"/>
          </a:xfrm>
        </p:grpSpPr>
        <p:sp>
          <p:nvSpPr>
            <p:cNvPr id="9" name="object 9"/>
            <p:cNvSpPr/>
            <p:nvPr/>
          </p:nvSpPr>
          <p:spPr>
            <a:xfrm>
              <a:off x="8794173" y="2593261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4425231" y="0"/>
                  </a:moveTo>
                  <a:lnTo>
                    <a:pt x="319824" y="0"/>
                  </a:lnTo>
                  <a:lnTo>
                    <a:pt x="272563" y="3454"/>
                  </a:lnTo>
                  <a:lnTo>
                    <a:pt x="227455" y="13488"/>
                  </a:lnTo>
                  <a:lnTo>
                    <a:pt x="184994" y="29609"/>
                  </a:lnTo>
                  <a:lnTo>
                    <a:pt x="145677" y="51325"/>
                  </a:lnTo>
                  <a:lnTo>
                    <a:pt x="109996" y="78142"/>
                  </a:lnTo>
                  <a:lnTo>
                    <a:pt x="78447" y="109568"/>
                  </a:lnTo>
                  <a:lnTo>
                    <a:pt x="51525" y="145110"/>
                  </a:lnTo>
                  <a:lnTo>
                    <a:pt x="29725" y="184275"/>
                  </a:lnTo>
                  <a:lnTo>
                    <a:pt x="13541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1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6" y="559015"/>
                  </a:lnTo>
                  <a:lnTo>
                    <a:pt x="145677" y="585832"/>
                  </a:lnTo>
                  <a:lnTo>
                    <a:pt x="184994" y="607548"/>
                  </a:lnTo>
                  <a:lnTo>
                    <a:pt x="227455" y="623669"/>
                  </a:lnTo>
                  <a:lnTo>
                    <a:pt x="272563" y="633703"/>
                  </a:lnTo>
                  <a:lnTo>
                    <a:pt x="319824" y="637157"/>
                  </a:lnTo>
                  <a:lnTo>
                    <a:pt x="4425231" y="637157"/>
                  </a:lnTo>
                  <a:lnTo>
                    <a:pt x="4472491" y="633703"/>
                  </a:lnTo>
                  <a:lnTo>
                    <a:pt x="4517599" y="623669"/>
                  </a:lnTo>
                  <a:lnTo>
                    <a:pt x="4560059" y="607548"/>
                  </a:lnTo>
                  <a:lnTo>
                    <a:pt x="4599377" y="585832"/>
                  </a:lnTo>
                  <a:lnTo>
                    <a:pt x="4635058" y="559015"/>
                  </a:lnTo>
                  <a:lnTo>
                    <a:pt x="4666607" y="527589"/>
                  </a:lnTo>
                  <a:lnTo>
                    <a:pt x="4693529" y="492048"/>
                  </a:lnTo>
                  <a:lnTo>
                    <a:pt x="4715329" y="452883"/>
                  </a:lnTo>
                  <a:lnTo>
                    <a:pt x="4731514" y="410589"/>
                  </a:lnTo>
                  <a:lnTo>
                    <a:pt x="4741587" y="365657"/>
                  </a:lnTo>
                  <a:lnTo>
                    <a:pt x="4745055" y="318580"/>
                  </a:lnTo>
                  <a:lnTo>
                    <a:pt x="4741587" y="271503"/>
                  </a:lnTo>
                  <a:lnTo>
                    <a:pt x="4731514" y="226570"/>
                  </a:lnTo>
                  <a:lnTo>
                    <a:pt x="4715329" y="184275"/>
                  </a:lnTo>
                  <a:lnTo>
                    <a:pt x="4693529" y="145110"/>
                  </a:lnTo>
                  <a:lnTo>
                    <a:pt x="4666607" y="109568"/>
                  </a:lnTo>
                  <a:lnTo>
                    <a:pt x="4635058" y="78142"/>
                  </a:lnTo>
                  <a:lnTo>
                    <a:pt x="4599377" y="51325"/>
                  </a:lnTo>
                  <a:lnTo>
                    <a:pt x="4560059" y="29609"/>
                  </a:lnTo>
                  <a:lnTo>
                    <a:pt x="4517599" y="13488"/>
                  </a:lnTo>
                  <a:lnTo>
                    <a:pt x="4472491" y="3454"/>
                  </a:lnTo>
                  <a:lnTo>
                    <a:pt x="442523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94173" y="2593264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319826" y="0"/>
                  </a:moveTo>
                  <a:lnTo>
                    <a:pt x="4425229" y="0"/>
                  </a:lnTo>
                  <a:lnTo>
                    <a:pt x="4472491" y="3454"/>
                  </a:lnTo>
                  <a:lnTo>
                    <a:pt x="4517599" y="13488"/>
                  </a:lnTo>
                  <a:lnTo>
                    <a:pt x="4560060" y="29609"/>
                  </a:lnTo>
                  <a:lnTo>
                    <a:pt x="4599378" y="51324"/>
                  </a:lnTo>
                  <a:lnTo>
                    <a:pt x="4635059" y="78141"/>
                  </a:lnTo>
                  <a:lnTo>
                    <a:pt x="4666607" y="109567"/>
                  </a:lnTo>
                  <a:lnTo>
                    <a:pt x="4693529" y="145108"/>
                  </a:lnTo>
                  <a:lnTo>
                    <a:pt x="4715330" y="184273"/>
                  </a:lnTo>
                  <a:lnTo>
                    <a:pt x="4731514" y="226568"/>
                  </a:lnTo>
                  <a:lnTo>
                    <a:pt x="4741588" y="271500"/>
                  </a:lnTo>
                  <a:lnTo>
                    <a:pt x="4745055" y="318577"/>
                  </a:lnTo>
                  <a:lnTo>
                    <a:pt x="4741588" y="365654"/>
                  </a:lnTo>
                  <a:lnTo>
                    <a:pt x="4731514" y="410586"/>
                  </a:lnTo>
                  <a:lnTo>
                    <a:pt x="4715330" y="452881"/>
                  </a:lnTo>
                  <a:lnTo>
                    <a:pt x="4693529" y="492046"/>
                  </a:lnTo>
                  <a:lnTo>
                    <a:pt x="4666607" y="527587"/>
                  </a:lnTo>
                  <a:lnTo>
                    <a:pt x="4635059" y="559013"/>
                  </a:lnTo>
                  <a:lnTo>
                    <a:pt x="4599378" y="585830"/>
                  </a:lnTo>
                  <a:lnTo>
                    <a:pt x="4560060" y="607545"/>
                  </a:lnTo>
                  <a:lnTo>
                    <a:pt x="4517599" y="623666"/>
                  </a:lnTo>
                  <a:lnTo>
                    <a:pt x="4472491" y="633700"/>
                  </a:lnTo>
                  <a:lnTo>
                    <a:pt x="4425229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8" y="527587"/>
                  </a:lnTo>
                  <a:lnTo>
                    <a:pt x="51526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6" y="145108"/>
                  </a:lnTo>
                  <a:lnTo>
                    <a:pt x="78448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6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17161" y="2679961"/>
            <a:ext cx="1699260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-45" dirty="0">
                <a:latin typeface="Arial MT"/>
                <a:cs typeface="Arial MT"/>
              </a:rPr>
              <a:t>DECODER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48932" y="2115948"/>
            <a:ext cx="10015855" cy="2235200"/>
            <a:chOff x="2948932" y="2115948"/>
            <a:chExt cx="10015855" cy="2235200"/>
          </a:xfrm>
        </p:grpSpPr>
        <p:sp>
          <p:nvSpPr>
            <p:cNvPr id="13" name="object 13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57925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289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573" y="3115009"/>
              <a:ext cx="187871" cy="1388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75698" y="2242372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2217" y="2119545"/>
              <a:ext cx="106963" cy="1344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20868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7386" y="2115948"/>
              <a:ext cx="106963" cy="1344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666037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2555" y="2115948"/>
              <a:ext cx="106963" cy="1344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1206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7724" y="2115948"/>
              <a:ext cx="106963" cy="134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02413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932" y="3888398"/>
              <a:ext cx="106963" cy="134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5845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4976" y="3888398"/>
              <a:ext cx="106963" cy="13443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09831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6349" y="3888398"/>
              <a:ext cx="106963" cy="13443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61205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7724" y="3888398"/>
              <a:ext cx="106963" cy="1344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49160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8126" y="3888398"/>
              <a:ext cx="106963" cy="134439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10503535" cy="13119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Realization: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50" dirty="0">
                <a:solidFill>
                  <a:srgbClr val="404040"/>
                </a:solidFill>
              </a:rPr>
              <a:t>mapping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from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70" dirty="0">
                <a:solidFill>
                  <a:srgbClr val="404040"/>
                </a:solidFill>
              </a:rPr>
              <a:t>frames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25" dirty="0">
                <a:solidFill>
                  <a:srgbClr val="404040"/>
                </a:solidFill>
              </a:rPr>
              <a:t>to </a:t>
            </a:r>
            <a:r>
              <a:rPr sz="4600" spc="-80" dirty="0">
                <a:solidFill>
                  <a:srgbClr val="404040"/>
                </a:solidFill>
              </a:rPr>
              <a:t>delexicalized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sentences</a:t>
            </a:r>
            <a:endParaRPr sz="4600"/>
          </a:p>
        </p:txBody>
      </p:sp>
      <p:sp>
        <p:nvSpPr>
          <p:cNvPr id="35" name="object 35"/>
          <p:cNvSpPr txBox="1"/>
          <p:nvPr/>
        </p:nvSpPr>
        <p:spPr>
          <a:xfrm>
            <a:off x="1304042" y="1876044"/>
            <a:ext cx="50990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models: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4042" y="5064252"/>
            <a:ext cx="10756900" cy="239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75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Output:</a:t>
            </a:r>
            <a:endParaRPr sz="3800">
              <a:latin typeface="Calibri"/>
              <a:cs typeface="Calibri"/>
            </a:endParaRPr>
          </a:p>
          <a:p>
            <a:pPr marL="2064385">
              <a:lnSpc>
                <a:spcPts val="3895"/>
              </a:lnSpc>
            </a:pP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restaurant_name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Relexicalize</a:t>
            </a:r>
            <a:r>
              <a:rPr sz="38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to:</a:t>
            </a:r>
            <a:endParaRPr sz="3800">
              <a:latin typeface="Calibri"/>
              <a:cs typeface="Calibri"/>
            </a:endParaRPr>
          </a:p>
          <a:p>
            <a:pPr marL="2054860">
              <a:lnSpc>
                <a:spcPct val="100000"/>
              </a:lnSpc>
              <a:spcBef>
                <a:spcPts val="925"/>
              </a:spcBef>
            </a:pP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Au</a:t>
            </a:r>
            <a:r>
              <a:rPr sz="3400" spc="-1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Midi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Generating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clarification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762251"/>
            <a:ext cx="13196569" cy="519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380">
              <a:lnSpc>
                <a:spcPct val="116500"/>
              </a:lnSpc>
              <a:spcBef>
                <a:spcPts val="100"/>
              </a:spcBef>
            </a:pP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40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 </a:t>
            </a:r>
            <a:r>
              <a:rPr sz="4000" spc="-35" dirty="0">
                <a:solidFill>
                  <a:srgbClr val="404040"/>
                </a:solidFill>
                <a:latin typeface="Calibri"/>
                <a:cs typeface="Calibri"/>
              </a:rPr>
              <a:t>System:</a:t>
            </a:r>
            <a:r>
              <a:rPr sz="4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4000">
              <a:latin typeface="Calibri"/>
              <a:cs typeface="Calibri"/>
            </a:endParaRPr>
          </a:p>
          <a:p>
            <a:pPr marL="22225" marR="723265" indent="-10160">
              <a:lnSpc>
                <a:spcPts val="3910"/>
              </a:lnSpc>
              <a:spcBef>
                <a:spcPts val="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repeats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“going”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“on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5th”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aspect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clarified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Methods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generating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questions: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'replace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WORD”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where”'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46202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Classifiers</a:t>
            </a:r>
            <a:r>
              <a:rPr sz="36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	guess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misrecognized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404040"/>
                </a:solidFill>
              </a:rPr>
              <a:t>Evaluating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chatbots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95" dirty="0">
                <a:solidFill>
                  <a:srgbClr val="404040"/>
                </a:solidFill>
              </a:rPr>
              <a:t>task-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dialogue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5648"/>
            <a:ext cx="11289665" cy="35826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5300" spc="-160" dirty="0">
                <a:solidFill>
                  <a:srgbClr val="404040"/>
                </a:solidFill>
                <a:latin typeface="Calibri"/>
                <a:cs typeface="Calibri"/>
              </a:rPr>
              <a:t>Task-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5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dialogue:</a:t>
            </a:r>
            <a:endParaRPr sz="5300">
              <a:latin typeface="Calibri"/>
              <a:cs typeface="Calibri"/>
            </a:endParaRPr>
          </a:p>
          <a:p>
            <a:pPr marL="12700" marR="5080" indent="685165">
              <a:lnSpc>
                <a:spcPct val="110200"/>
              </a:lnSpc>
              <a:buClr>
                <a:srgbClr val="E48312"/>
              </a:buClr>
              <a:buFont typeface="Arial MT"/>
              <a:buChar char="•"/>
              <a:tabLst>
                <a:tab pos="69786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measuring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performance Chatbots:</a:t>
            </a:r>
            <a:endParaRPr sz="5300">
              <a:latin typeface="Calibri"/>
              <a:cs typeface="Calibri"/>
            </a:endParaRPr>
          </a:p>
          <a:p>
            <a:pPr marL="835025" indent="-822325">
              <a:lnSpc>
                <a:spcPct val="100000"/>
              </a:lnSpc>
              <a:spcBef>
                <a:spcPts val="62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53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Chatbots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are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evaluated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humans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b="1" dirty="0">
                <a:latin typeface="Calibri"/>
                <a:cs typeface="Calibri"/>
              </a:rPr>
              <a:t>Participant</a:t>
            </a:r>
            <a:r>
              <a:rPr sz="4300" b="1" spc="-10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100" dirty="0"/>
              <a:t> </a:t>
            </a:r>
            <a:r>
              <a:rPr sz="4300" dirty="0"/>
              <a:t>The</a:t>
            </a:r>
            <a:r>
              <a:rPr sz="4300" spc="-105" dirty="0"/>
              <a:t> </a:t>
            </a:r>
            <a:r>
              <a:rPr sz="4300" dirty="0"/>
              <a:t>human</a:t>
            </a:r>
            <a:r>
              <a:rPr sz="4300" spc="-105" dirty="0"/>
              <a:t> </a:t>
            </a:r>
            <a:r>
              <a:rPr sz="4300" dirty="0"/>
              <a:t>who</a:t>
            </a:r>
            <a:r>
              <a:rPr sz="4300" spc="-95" dirty="0"/>
              <a:t> </a:t>
            </a:r>
            <a:r>
              <a:rPr sz="4300" dirty="0"/>
              <a:t>talked</a:t>
            </a:r>
            <a:r>
              <a:rPr sz="4300" spc="-105" dirty="0"/>
              <a:t> </a:t>
            </a:r>
            <a:r>
              <a:rPr sz="4300" dirty="0"/>
              <a:t>to</a:t>
            </a:r>
            <a:r>
              <a:rPr sz="4300" spc="-95" dirty="0"/>
              <a:t> </a:t>
            </a:r>
            <a:r>
              <a:rPr sz="4300" spc="-25" dirty="0"/>
              <a:t>the </a:t>
            </a:r>
            <a:r>
              <a:rPr sz="4300" dirty="0"/>
              <a:t>chatbot</a:t>
            </a:r>
            <a:r>
              <a:rPr sz="4300" spc="-50" dirty="0"/>
              <a:t> </a:t>
            </a:r>
            <a:r>
              <a:rPr sz="4300" dirty="0"/>
              <a:t>assigns</a:t>
            </a:r>
            <a:r>
              <a:rPr sz="4300" spc="-35" dirty="0"/>
              <a:t> </a:t>
            </a:r>
            <a:r>
              <a:rPr sz="4300" dirty="0"/>
              <a:t>a</a:t>
            </a:r>
            <a:r>
              <a:rPr sz="4300" spc="-35" dirty="0"/>
              <a:t> </a:t>
            </a:r>
            <a:r>
              <a:rPr sz="4300" spc="-10" dirty="0"/>
              <a:t>score</a:t>
            </a:r>
            <a:endParaRPr sz="4300">
              <a:latin typeface="Calibri"/>
              <a:cs typeface="Calibri"/>
            </a:endParaRPr>
          </a:p>
          <a:p>
            <a:pPr marL="22225" marR="38100" indent="-10160">
              <a:lnSpc>
                <a:spcPct val="90200"/>
              </a:lnSpc>
              <a:spcBef>
                <a:spcPts val="1170"/>
              </a:spcBef>
            </a:pPr>
            <a:r>
              <a:rPr sz="4300" b="1" dirty="0">
                <a:latin typeface="Calibri"/>
                <a:cs typeface="Calibri"/>
              </a:rPr>
              <a:t>Observer</a:t>
            </a:r>
            <a:r>
              <a:rPr sz="4300" b="1" spc="-10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90" dirty="0"/>
              <a:t> </a:t>
            </a:r>
            <a:r>
              <a:rPr sz="4300" dirty="0"/>
              <a:t>third</a:t>
            </a:r>
            <a:r>
              <a:rPr sz="4300" spc="-95" dirty="0"/>
              <a:t> </a:t>
            </a:r>
            <a:r>
              <a:rPr sz="4300" dirty="0"/>
              <a:t>party</a:t>
            </a:r>
            <a:r>
              <a:rPr sz="4300" spc="-95" dirty="0"/>
              <a:t> </a:t>
            </a:r>
            <a:r>
              <a:rPr sz="4300" dirty="0"/>
              <a:t>who</a:t>
            </a:r>
            <a:r>
              <a:rPr sz="4300" spc="-80" dirty="0"/>
              <a:t> </a:t>
            </a:r>
            <a:r>
              <a:rPr sz="4300" dirty="0"/>
              <a:t>reads</a:t>
            </a:r>
            <a:r>
              <a:rPr sz="4300" spc="-85" dirty="0"/>
              <a:t> </a:t>
            </a:r>
            <a:r>
              <a:rPr sz="4300" spc="-50" dirty="0"/>
              <a:t>a </a:t>
            </a:r>
            <a:r>
              <a:rPr sz="4300" dirty="0"/>
              <a:t>transcript</a:t>
            </a:r>
            <a:r>
              <a:rPr sz="4300" spc="-105" dirty="0"/>
              <a:t> </a:t>
            </a:r>
            <a:r>
              <a:rPr sz="4300" dirty="0"/>
              <a:t>of</a:t>
            </a:r>
            <a:r>
              <a:rPr sz="4300" spc="-90" dirty="0"/>
              <a:t> </a:t>
            </a:r>
            <a:r>
              <a:rPr sz="4300" dirty="0"/>
              <a:t>a</a:t>
            </a:r>
            <a:r>
              <a:rPr sz="4300" spc="-90" dirty="0"/>
              <a:t> </a:t>
            </a:r>
            <a:r>
              <a:rPr sz="4300" spc="-10" dirty="0"/>
              <a:t>human/chatbot</a:t>
            </a:r>
            <a:r>
              <a:rPr sz="4300" spc="-100" dirty="0"/>
              <a:t> </a:t>
            </a:r>
            <a:r>
              <a:rPr sz="4300" spc="-10" dirty="0"/>
              <a:t>conversation</a:t>
            </a:r>
            <a:r>
              <a:rPr sz="4300" spc="-90" dirty="0"/>
              <a:t> </a:t>
            </a:r>
            <a:r>
              <a:rPr sz="4300" dirty="0"/>
              <a:t>assigns</a:t>
            </a:r>
            <a:r>
              <a:rPr sz="4300" spc="-90" dirty="0"/>
              <a:t> </a:t>
            </a:r>
            <a:r>
              <a:rPr sz="4300" spc="-50" dirty="0"/>
              <a:t>a </a:t>
            </a:r>
            <a:r>
              <a:rPr sz="4300" spc="-10" dirty="0"/>
              <a:t>score.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487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Participant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95476"/>
            <a:ext cx="13368655" cy="580199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chats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6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rates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8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dimensions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quality:</a:t>
            </a:r>
            <a:endParaRPr sz="3600">
              <a:latin typeface="Calibri"/>
              <a:cs typeface="Calibri"/>
            </a:endParaRPr>
          </a:p>
          <a:p>
            <a:pPr marL="561340" marR="1607185" indent="-548640">
              <a:lnSpc>
                <a:spcPts val="391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repetition,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404040"/>
                </a:solidFill>
                <a:latin typeface="Calibri"/>
                <a:cs typeface="Calibri"/>
              </a:rPr>
              <a:t>interestingness,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sense,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fluency,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listening,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inquisitiveness,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humanness,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engagingness,</a:t>
            </a:r>
            <a:endParaRPr sz="3600">
              <a:latin typeface="Calibri"/>
              <a:cs typeface="Calibri"/>
            </a:endParaRPr>
          </a:p>
          <a:p>
            <a:pPr marL="548640" indent="-535940">
              <a:lnSpc>
                <a:spcPct val="100000"/>
              </a:lnSpc>
              <a:spcBef>
                <a:spcPts val="919"/>
              </a:spcBef>
              <a:buAutoNum type="arabicParenBoth"/>
              <a:tabLst>
                <a:tab pos="548640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1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Repetition:</a:t>
            </a:r>
            <a:r>
              <a:rPr sz="31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repetitive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497840" marR="210185" lvl="1" indent="-304800">
              <a:lnSpc>
                <a:spcPts val="312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•Repeated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themselves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•Sometimes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twice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Always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(3)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1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sense: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often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user say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didn't make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sense?</a:t>
            </a:r>
            <a:endParaRPr sz="3100">
              <a:latin typeface="Calibri"/>
              <a:cs typeface="Calibri"/>
            </a:endParaRPr>
          </a:p>
          <a:p>
            <a:pPr marL="497840" marR="325120" indent="-304800">
              <a:lnSpc>
                <a:spcPts val="3100"/>
              </a:lnSpc>
              <a:spcBef>
                <a:spcPts val="59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•Never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•Most</a:t>
            </a:r>
            <a:r>
              <a:rPr sz="29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•Some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didn’t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•Everything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perfect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038475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(8)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Engagingness: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much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enjoy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talking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to this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579755" indent="-386715">
              <a:lnSpc>
                <a:spcPct val="100000"/>
              </a:lnSpc>
              <a:spcBef>
                <a:spcPts val="80"/>
              </a:spcBef>
              <a:buClr>
                <a:srgbClr val="E48312"/>
              </a:buClr>
              <a:buChar char="◦"/>
              <a:tabLst>
                <a:tab pos="5797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•Not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little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•Somewhat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27" y="7799831"/>
            <a:ext cx="139287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Abigail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See,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Stephen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Douwe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Kiela,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2019.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What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makes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good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conversation?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controllable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attributes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affect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human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judgments.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NAACL.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89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Observer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evaluation: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acute-</a:t>
            </a:r>
            <a:r>
              <a:rPr spc="-20" dirty="0">
                <a:solidFill>
                  <a:srgbClr val="404040"/>
                </a:solidFill>
              </a:rPr>
              <a:t>eval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2396236"/>
            <a:ext cx="12503150" cy="40919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Annotators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look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(A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B)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decide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better: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  <a:tabLst>
                <a:tab pos="268732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Engagingness: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prefer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talk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conversation?</a:t>
            </a:r>
            <a:endParaRPr sz="3400">
              <a:latin typeface="Calibri"/>
              <a:cs typeface="Calibri"/>
            </a:endParaRPr>
          </a:p>
          <a:p>
            <a:pPr marL="22225" marR="457834" indent="-10160">
              <a:lnSpc>
                <a:spcPts val="3600"/>
              </a:lnSpc>
              <a:spcBef>
                <a:spcPts val="1335"/>
              </a:spcBef>
              <a:tabLst>
                <a:tab pos="3016885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Interestingness: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speakers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boring,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interesting?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400" b="1" spc="-25" dirty="0">
                <a:solidFill>
                  <a:srgbClr val="404040"/>
                </a:solidFill>
                <a:latin typeface="Calibri"/>
                <a:cs typeface="Calibri"/>
              </a:rPr>
              <a:t>Humanness:</a:t>
            </a:r>
            <a:r>
              <a:rPr sz="3400" b="1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sounds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human?</a:t>
            </a:r>
            <a:endParaRPr sz="3400">
              <a:latin typeface="Calibri"/>
              <a:cs typeface="Calibri"/>
            </a:endParaRPr>
          </a:p>
          <a:p>
            <a:pPr marL="22225" marR="143510" indent="-10160">
              <a:lnSpc>
                <a:spcPts val="3700"/>
              </a:lnSpc>
              <a:spcBef>
                <a:spcPts val="1260"/>
              </a:spcBef>
              <a:tabLst>
                <a:tab pos="305054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Knowledgeable: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more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knowledgeable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ignorant,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knowledgeable?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428" y="1325880"/>
            <a:ext cx="848423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latin typeface="Times New Roman"/>
                <a:cs typeface="Times New Roman"/>
              </a:rPr>
              <a:t>Li,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J.,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(2019).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Acute-</a:t>
            </a:r>
            <a:r>
              <a:rPr sz="1700" dirty="0">
                <a:latin typeface="Times New Roman"/>
                <a:cs typeface="Times New Roman"/>
              </a:rPr>
              <a:t>eval: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Improved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evaluation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optimized questions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multi-</a:t>
            </a:r>
            <a:r>
              <a:rPr sz="1700" dirty="0">
                <a:latin typeface="Times New Roman"/>
                <a:cs typeface="Times New Roman"/>
              </a:rPr>
              <a:t>turn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comparisons.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NeurIPS19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30" dirty="0">
                <a:latin typeface="Times New Roman"/>
                <a:cs typeface="Times New Roman"/>
              </a:rPr>
              <a:t>Workshop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on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Times New Roman"/>
                <a:cs typeface="Times New Roman"/>
              </a:rPr>
              <a:t>Conversational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AI</a:t>
            </a:r>
            <a:r>
              <a:rPr sz="1700" spc="-25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59" y="360313"/>
            <a:ext cx="7496175" cy="78568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188" y="2201163"/>
            <a:ext cx="291211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000000"/>
                </a:solidFill>
                <a:latin typeface="Calibri"/>
                <a:cs typeface="Calibri"/>
              </a:rPr>
              <a:t>ACUTE-</a:t>
            </a:r>
            <a:r>
              <a:rPr sz="3400" spc="-20" dirty="0">
                <a:solidFill>
                  <a:srgbClr val="000000"/>
                </a:solidFill>
                <a:latin typeface="Calibri"/>
                <a:cs typeface="Calibri"/>
              </a:rPr>
              <a:t>EVAL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29"/>
              </a:lnSpc>
            </a:pPr>
            <a:r>
              <a:rPr sz="3400" spc="-1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343" y="3228339"/>
            <a:ext cx="2338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Li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et</a:t>
            </a:r>
            <a:r>
              <a:rPr sz="3400" spc="-6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el.,</a:t>
            </a:r>
            <a:r>
              <a:rPr sz="3400" spc="-60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2019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75668" y="6942328"/>
            <a:ext cx="2416810" cy="1226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300" dirty="0">
                <a:latin typeface="Times New Roman"/>
                <a:cs typeface="Times New Roman"/>
              </a:rPr>
              <a:t>Figure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Weston,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Roller,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(2019).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Acute-</a:t>
            </a:r>
            <a:r>
              <a:rPr sz="1300" spc="-20" dirty="0">
                <a:latin typeface="Times New Roman"/>
                <a:cs typeface="Times New Roman"/>
              </a:rPr>
              <a:t>eval: </a:t>
            </a:r>
            <a:r>
              <a:rPr sz="1300" dirty="0">
                <a:latin typeface="Times New Roman"/>
                <a:cs typeface="Times New Roman"/>
              </a:rPr>
              <a:t>Improved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dialogue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evaluation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with </a:t>
            </a:r>
            <a:r>
              <a:rPr sz="1300" dirty="0">
                <a:latin typeface="Times New Roman"/>
                <a:cs typeface="Times New Roman"/>
              </a:rPr>
              <a:t>optimized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questions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multi-</a:t>
            </a:r>
            <a:r>
              <a:rPr sz="1300" spc="-20" dirty="0">
                <a:latin typeface="Times New Roman"/>
                <a:cs typeface="Times New Roman"/>
              </a:rPr>
              <a:t>turn </a:t>
            </a:r>
            <a:r>
              <a:rPr sz="1300" dirty="0">
                <a:latin typeface="Times New Roman"/>
                <a:cs typeface="Times New Roman"/>
              </a:rPr>
              <a:t>comparisons.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NeurIPS19</a:t>
            </a:r>
            <a:r>
              <a:rPr sz="1300" i="1" spc="60" dirty="0">
                <a:latin typeface="Times New Roman"/>
                <a:cs typeface="Times New Roman"/>
              </a:rPr>
              <a:t> </a:t>
            </a:r>
            <a:r>
              <a:rPr sz="1300" i="1" spc="-10" dirty="0">
                <a:latin typeface="Times New Roman"/>
                <a:cs typeface="Times New Roman"/>
              </a:rPr>
              <a:t>Workshop </a:t>
            </a:r>
            <a:r>
              <a:rPr sz="1300" i="1" dirty="0">
                <a:latin typeface="Times New Roman"/>
                <a:cs typeface="Times New Roman"/>
              </a:rPr>
              <a:t>on</a:t>
            </a:r>
            <a:r>
              <a:rPr sz="1300" i="1" spc="3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Conversational</a:t>
            </a:r>
            <a:r>
              <a:rPr sz="1300" i="1" spc="30" dirty="0">
                <a:latin typeface="Times New Roman"/>
                <a:cs typeface="Times New Roman"/>
              </a:rPr>
              <a:t> </a:t>
            </a:r>
            <a:r>
              <a:rPr sz="1300" i="1" spc="-25" dirty="0">
                <a:latin typeface="Times New Roman"/>
                <a:cs typeface="Times New Roman"/>
              </a:rPr>
              <a:t>AI</a:t>
            </a:r>
            <a:r>
              <a:rPr sz="1300" spc="-2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Automatic</a:t>
            </a:r>
            <a:r>
              <a:rPr spc="-18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open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80160" indent="-10160">
              <a:lnSpc>
                <a:spcPts val="3600"/>
              </a:lnSpc>
              <a:spcBef>
                <a:spcPts val="620"/>
              </a:spcBef>
            </a:pPr>
            <a:r>
              <a:rPr spc="-10" dirty="0"/>
              <a:t>Automatic</a:t>
            </a:r>
            <a:r>
              <a:rPr spc="-130" dirty="0"/>
              <a:t> </a:t>
            </a:r>
            <a:r>
              <a:rPr spc="-25" dirty="0"/>
              <a:t>evaluation</a:t>
            </a:r>
            <a:r>
              <a:rPr spc="-130" dirty="0"/>
              <a:t> </a:t>
            </a:r>
            <a:r>
              <a:rPr spc="-10" dirty="0"/>
              <a:t>methods</a:t>
            </a:r>
            <a:r>
              <a:rPr spc="-125" dirty="0"/>
              <a:t> </a:t>
            </a:r>
            <a:r>
              <a:rPr spc="-10" dirty="0"/>
              <a:t>(like</a:t>
            </a:r>
            <a:r>
              <a:rPr spc="-14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BLEU</a:t>
            </a:r>
            <a:r>
              <a:rPr spc="-135" dirty="0"/>
              <a:t> </a:t>
            </a:r>
            <a:r>
              <a:rPr spc="-10" dirty="0"/>
              <a:t>scores</a:t>
            </a:r>
            <a:r>
              <a:rPr spc="-125" dirty="0"/>
              <a:t> </a:t>
            </a:r>
            <a:r>
              <a:rPr dirty="0"/>
              <a:t>used</a:t>
            </a:r>
            <a:r>
              <a:rPr spc="-130" dirty="0"/>
              <a:t> </a:t>
            </a:r>
            <a:r>
              <a:rPr spc="-25" dirty="0"/>
              <a:t>for </a:t>
            </a:r>
            <a:r>
              <a:rPr spc="-10" dirty="0"/>
              <a:t>Machine</a:t>
            </a:r>
            <a:r>
              <a:rPr spc="-130" dirty="0"/>
              <a:t> </a:t>
            </a:r>
            <a:r>
              <a:rPr spc="-40" dirty="0"/>
              <a:t>Translation)</a:t>
            </a:r>
            <a:r>
              <a:rPr spc="-11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20" dirty="0"/>
              <a:t>generally</a:t>
            </a:r>
            <a:r>
              <a:rPr spc="-125" dirty="0"/>
              <a:t> </a:t>
            </a:r>
            <a:r>
              <a:rPr dirty="0"/>
              <a:t>not</a:t>
            </a:r>
            <a:r>
              <a:rPr spc="-120" dirty="0"/>
              <a:t> </a:t>
            </a:r>
            <a:r>
              <a:rPr dirty="0"/>
              <a:t>used</a:t>
            </a:r>
            <a:r>
              <a:rPr spc="-114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spc="-10" dirty="0"/>
              <a:t>chatbots.</a:t>
            </a:r>
          </a:p>
          <a:p>
            <a:pPr marL="12700" marR="2323465" indent="548005">
              <a:lnSpc>
                <a:spcPct val="120000"/>
              </a:lnSpc>
              <a:spcBef>
                <a:spcPts val="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dirty="0"/>
              <a:t>They</a:t>
            </a:r>
            <a:r>
              <a:rPr spc="-150" dirty="0"/>
              <a:t> </a:t>
            </a:r>
            <a:r>
              <a:rPr spc="-25" dirty="0"/>
              <a:t>correlate</a:t>
            </a:r>
            <a:r>
              <a:rPr spc="-145" dirty="0"/>
              <a:t> </a:t>
            </a:r>
            <a:r>
              <a:rPr dirty="0"/>
              <a:t>poorly</a:t>
            </a:r>
            <a:r>
              <a:rPr spc="-145" dirty="0"/>
              <a:t> </a:t>
            </a:r>
            <a:r>
              <a:rPr dirty="0"/>
              <a:t>with</a:t>
            </a:r>
            <a:r>
              <a:rPr spc="-140" dirty="0"/>
              <a:t> </a:t>
            </a:r>
            <a:r>
              <a:rPr dirty="0"/>
              <a:t>human</a:t>
            </a:r>
            <a:r>
              <a:rPr spc="-140" dirty="0"/>
              <a:t> </a:t>
            </a:r>
            <a:r>
              <a:rPr spc="-10" dirty="0"/>
              <a:t>judgements.</a:t>
            </a:r>
            <a:r>
              <a:rPr spc="850" dirty="0"/>
              <a:t> </a:t>
            </a:r>
            <a:r>
              <a:rPr dirty="0"/>
              <a:t>One</a:t>
            </a:r>
            <a:r>
              <a:rPr spc="-130" dirty="0"/>
              <a:t> </a:t>
            </a:r>
            <a:r>
              <a:rPr spc="-20" dirty="0"/>
              <a:t>current</a:t>
            </a:r>
            <a:r>
              <a:rPr spc="-120" dirty="0"/>
              <a:t> </a:t>
            </a:r>
            <a:r>
              <a:rPr spc="-20" dirty="0"/>
              <a:t>research</a:t>
            </a:r>
            <a:r>
              <a:rPr spc="-120" dirty="0"/>
              <a:t> </a:t>
            </a:r>
            <a:r>
              <a:rPr spc="-20" dirty="0"/>
              <a:t>direction:</a:t>
            </a:r>
            <a:r>
              <a:rPr spc="-114" dirty="0"/>
              <a:t> </a:t>
            </a:r>
            <a:r>
              <a:rPr b="1" spc="-25" dirty="0">
                <a:latin typeface="Calibri"/>
                <a:cs typeface="Calibri"/>
              </a:rPr>
              <a:t>Adversarial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Evaluation</a:t>
            </a: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pc="-20" dirty="0"/>
              <a:t>Inspired</a:t>
            </a:r>
            <a:r>
              <a:rPr spc="-100" dirty="0"/>
              <a:t> </a:t>
            </a:r>
            <a:r>
              <a:rPr dirty="0"/>
              <a:t>by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40" dirty="0"/>
              <a:t>Turing</a:t>
            </a:r>
            <a:r>
              <a:rPr spc="-105" dirty="0"/>
              <a:t> </a:t>
            </a:r>
            <a:r>
              <a:rPr spc="-20" dirty="0"/>
              <a:t>Test</a:t>
            </a:r>
          </a:p>
          <a:p>
            <a:pPr marL="561340" marR="857885" indent="-548640">
              <a:lnSpc>
                <a:spcPts val="3700"/>
              </a:lnSpc>
              <a:spcBef>
                <a:spcPts val="125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train</a:t>
            </a:r>
            <a:r>
              <a:rPr spc="-114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spc="-55" dirty="0"/>
              <a:t>``Turing-</a:t>
            </a:r>
            <a:r>
              <a:rPr spc="-10" dirty="0"/>
              <a:t>like''</a:t>
            </a:r>
            <a:r>
              <a:rPr spc="-110" dirty="0"/>
              <a:t> </a:t>
            </a:r>
            <a:r>
              <a:rPr spc="-10" dirty="0"/>
              <a:t>classifier</a:t>
            </a:r>
            <a:r>
              <a:rPr spc="-11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10" dirty="0"/>
              <a:t>distinguish</a:t>
            </a:r>
            <a:r>
              <a:rPr spc="-114" dirty="0"/>
              <a:t> </a:t>
            </a:r>
            <a:r>
              <a:rPr spc="-10" dirty="0"/>
              <a:t>between</a:t>
            </a:r>
            <a:r>
              <a:rPr spc="-110" dirty="0"/>
              <a:t> </a:t>
            </a:r>
            <a:r>
              <a:rPr spc="-10" dirty="0"/>
              <a:t>human responses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machine</a:t>
            </a:r>
            <a:r>
              <a:rPr spc="-140" dirty="0"/>
              <a:t> </a:t>
            </a:r>
            <a:r>
              <a:rPr spc="-10" dirty="0"/>
              <a:t>responses.</a:t>
            </a:r>
          </a:p>
          <a:p>
            <a:pPr marL="561340" marR="5080" indent="-548640">
              <a:lnSpc>
                <a:spcPts val="3600"/>
              </a:lnSpc>
              <a:spcBef>
                <a:spcPts val="127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more</a:t>
            </a:r>
            <a:r>
              <a:rPr spc="-105" dirty="0"/>
              <a:t> </a:t>
            </a:r>
            <a:r>
              <a:rPr spc="-10" dirty="0"/>
              <a:t>successful</a:t>
            </a:r>
            <a:r>
              <a:rPr spc="-10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dialogue</a:t>
            </a:r>
            <a:r>
              <a:rPr spc="-105" dirty="0"/>
              <a:t> </a:t>
            </a:r>
            <a:r>
              <a:rPr spc="-25" dirty="0"/>
              <a:t>system</a:t>
            </a:r>
            <a:r>
              <a:rPr spc="-11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fooling</a:t>
            </a:r>
            <a:r>
              <a:rPr spc="-114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25" dirty="0"/>
              <a:t>evaluator,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better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system.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561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60" dirty="0"/>
              <a:t>systems</a:t>
            </a:r>
            <a:r>
              <a:rPr spc="-200" dirty="0"/>
              <a:t> </a:t>
            </a:r>
            <a:r>
              <a:rPr dirty="0"/>
              <a:t>are</a:t>
            </a:r>
            <a:r>
              <a:rPr spc="-204" dirty="0"/>
              <a:t> </a:t>
            </a:r>
            <a:r>
              <a:rPr spc="-45" dirty="0"/>
              <a:t>evaluated</a:t>
            </a:r>
            <a:r>
              <a:rPr spc="-195" dirty="0"/>
              <a:t> </a:t>
            </a:r>
            <a:r>
              <a:rPr dirty="0"/>
              <a:t>by</a:t>
            </a:r>
            <a:r>
              <a:rPr spc="-204" dirty="0"/>
              <a:t> </a:t>
            </a:r>
            <a:r>
              <a:rPr dirty="0"/>
              <a:t>task</a:t>
            </a:r>
            <a:r>
              <a:rPr spc="-204" dirty="0"/>
              <a:t> </a:t>
            </a:r>
            <a:r>
              <a:rPr spc="-10" dirty="0"/>
              <a:t>success!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0420" y="2208784"/>
            <a:ext cx="9566910" cy="30676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96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End-to-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43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evaluation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(Task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Success)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Rate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  <a:p>
            <a:pPr marL="1250950" marR="5080" indent="-415290">
              <a:lnSpc>
                <a:spcPts val="6000"/>
              </a:lnSpc>
              <a:spcBef>
                <a:spcPts val="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inserted/deleted/subsituted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10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total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reference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400" y="4663440"/>
            <a:ext cx="7589520" cy="0"/>
          </a:xfrm>
          <a:custGeom>
            <a:avLst/>
            <a:gdLst/>
            <a:ahLst/>
            <a:cxnLst/>
            <a:rect l="l" t="t" r="r" b="b"/>
            <a:pathLst>
              <a:path w="7589520">
                <a:moveTo>
                  <a:pt x="0" y="0"/>
                </a:moveTo>
                <a:lnTo>
                  <a:pt x="7589520" y="1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68224"/>
            <a:ext cx="89071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70" dirty="0">
                <a:solidFill>
                  <a:srgbClr val="404040"/>
                </a:solidFill>
              </a:rPr>
              <a:t>Evaluation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40" dirty="0">
                <a:solidFill>
                  <a:srgbClr val="404040"/>
                </a:solidFill>
              </a:rPr>
              <a:t>Metrics:</a:t>
            </a:r>
            <a:r>
              <a:rPr sz="5300" spc="-260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Slot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error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20" dirty="0">
                <a:solidFill>
                  <a:srgbClr val="404040"/>
                </a:solidFill>
              </a:rPr>
              <a:t>rate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194308" y="6101588"/>
            <a:ext cx="12903835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Slot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error</a:t>
            </a:r>
            <a:r>
              <a:rPr sz="3600" b="1" spc="-1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rate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1/3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10"/>
              </a:lnSpc>
            </a:pPr>
            <a:r>
              <a:rPr sz="3600" b="1" spc="-50" dirty="0">
                <a:latin typeface="Calibri"/>
                <a:cs typeface="Calibri"/>
              </a:rPr>
              <a:t>Task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success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end,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correct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meeting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added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calendar?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11" y="1561084"/>
            <a:ext cx="98221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" dirty="0">
                <a:latin typeface="Calibri"/>
                <a:cs typeface="Calibri"/>
              </a:rPr>
              <a:t>“Make</a:t>
            </a:r>
            <a:r>
              <a:rPr sz="3400" spc="-13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appointment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with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Chris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at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10:30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in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Gates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104”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75659" y="2735579"/>
          <a:ext cx="6858000" cy="277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Slot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Filler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PERSON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Chris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TIME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r>
                        <a:rPr sz="3800" spc="1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a.m.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ROOM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latin typeface="Calibri"/>
                          <a:cs typeface="Calibri"/>
                        </a:rPr>
                        <a:t>Gates</a:t>
                      </a:r>
                      <a:r>
                        <a:rPr sz="3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5" dirty="0">
                          <a:latin typeface="Calibri"/>
                          <a:cs typeface="Calibri"/>
                        </a:rPr>
                        <a:t>104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0" dirty="0">
                <a:solidFill>
                  <a:srgbClr val="404040"/>
                </a:solidFill>
              </a:rPr>
              <a:t>More</a:t>
            </a:r>
            <a:r>
              <a:rPr sz="4600" spc="-170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fine-</a:t>
            </a:r>
            <a:r>
              <a:rPr sz="4600" spc="-70" dirty="0">
                <a:solidFill>
                  <a:srgbClr val="404040"/>
                </a:solidFill>
              </a:rPr>
              <a:t>grained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metrics: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40" dirty="0">
                <a:solidFill>
                  <a:srgbClr val="404040"/>
                </a:solidFill>
              </a:rPr>
              <a:t>User</a:t>
            </a:r>
            <a:r>
              <a:rPr sz="4600" spc="-150" dirty="0">
                <a:solidFill>
                  <a:srgbClr val="404040"/>
                </a:solidFill>
              </a:rPr>
              <a:t> </a:t>
            </a:r>
            <a:r>
              <a:rPr sz="4600" spc="-75" dirty="0">
                <a:solidFill>
                  <a:srgbClr val="404040"/>
                </a:solidFill>
              </a:rPr>
              <a:t>Satisfaction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Survey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28009" y="3077643"/>
            <a:ext cx="14032865" cy="3736975"/>
            <a:chOff x="528009" y="3077643"/>
            <a:chExt cx="14032865" cy="3736975"/>
          </a:xfrm>
        </p:grpSpPr>
        <p:sp>
          <p:nvSpPr>
            <p:cNvPr id="4" name="object 4"/>
            <p:cNvSpPr/>
            <p:nvPr/>
          </p:nvSpPr>
          <p:spPr>
            <a:xfrm>
              <a:off x="528009" y="3077643"/>
              <a:ext cx="14022069" cy="3736975"/>
            </a:xfrm>
            <a:custGeom>
              <a:avLst/>
              <a:gdLst/>
              <a:ahLst/>
              <a:cxnLst/>
              <a:rect l="l" t="t" r="r" b="b"/>
              <a:pathLst>
                <a:path w="14022069" h="3736975">
                  <a:moveTo>
                    <a:pt x="14022044" y="0"/>
                  </a:moveTo>
                  <a:lnTo>
                    <a:pt x="0" y="0"/>
                  </a:lnTo>
                  <a:lnTo>
                    <a:pt x="0" y="3736893"/>
                  </a:lnTo>
                  <a:lnTo>
                    <a:pt x="14022044" y="3736893"/>
                  </a:lnTo>
                  <a:lnTo>
                    <a:pt x="1402204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8494" y="3077686"/>
              <a:ext cx="14022069" cy="17145"/>
            </a:xfrm>
            <a:custGeom>
              <a:avLst/>
              <a:gdLst/>
              <a:ahLst/>
              <a:cxnLst/>
              <a:rect l="l" t="t" r="r" b="b"/>
              <a:pathLst>
                <a:path w="14022069" h="17144">
                  <a:moveTo>
                    <a:pt x="0" y="16736"/>
                  </a:moveTo>
                  <a:lnTo>
                    <a:pt x="14022041" y="16736"/>
                  </a:lnTo>
                  <a:lnTo>
                    <a:pt x="14022041" y="0"/>
                  </a:lnTo>
                  <a:lnTo>
                    <a:pt x="0" y="0"/>
                  </a:lnTo>
                  <a:lnTo>
                    <a:pt x="0" y="16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4694" y="3044029"/>
            <a:ext cx="3068320" cy="370395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30"/>
              </a:spcBef>
            </a:pPr>
            <a:r>
              <a:rPr sz="2950" b="1" dirty="0">
                <a:latin typeface="Times New Roman"/>
                <a:cs typeface="Times New Roman"/>
              </a:rPr>
              <a:t>TTS</a:t>
            </a:r>
            <a:r>
              <a:rPr sz="2950" b="1" spc="60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dirty="0">
                <a:latin typeface="Times New Roman"/>
                <a:cs typeface="Times New Roman"/>
              </a:rPr>
              <a:t>ASR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spc="-25" dirty="0">
                <a:latin typeface="Times New Roman"/>
                <a:cs typeface="Times New Roman"/>
              </a:rPr>
              <a:t>Task</a:t>
            </a:r>
            <a:r>
              <a:rPr sz="2950" b="1" spc="-15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Ease </a:t>
            </a:r>
            <a:r>
              <a:rPr sz="2950" b="1" dirty="0">
                <a:latin typeface="Times New Roman"/>
                <a:cs typeface="Times New Roman"/>
              </a:rPr>
              <a:t>Interaction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Pace </a:t>
            </a:r>
            <a:r>
              <a:rPr sz="2950" b="1" dirty="0">
                <a:latin typeface="Times New Roman"/>
                <a:cs typeface="Times New Roman"/>
              </a:rPr>
              <a:t>User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Expertise </a:t>
            </a:r>
            <a:r>
              <a:rPr sz="2950" b="1" dirty="0">
                <a:latin typeface="Times New Roman"/>
                <a:cs typeface="Times New Roman"/>
              </a:rPr>
              <a:t>System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Response </a:t>
            </a:r>
            <a:r>
              <a:rPr sz="2950" b="1" dirty="0">
                <a:latin typeface="Times New Roman"/>
                <a:cs typeface="Times New Roman"/>
              </a:rPr>
              <a:t>Expected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Behavior </a:t>
            </a:r>
            <a:r>
              <a:rPr sz="2950" b="1" dirty="0">
                <a:latin typeface="Times New Roman"/>
                <a:cs typeface="Times New Roman"/>
              </a:rPr>
              <a:t>Future</a:t>
            </a:r>
            <a:r>
              <a:rPr sz="2950" b="1" spc="-50" dirty="0">
                <a:latin typeface="Times New Roman"/>
                <a:cs typeface="Times New Roman"/>
              </a:rPr>
              <a:t> </a:t>
            </a:r>
            <a:r>
              <a:rPr sz="2950" b="1" spc="-25" dirty="0">
                <a:latin typeface="Times New Roman"/>
                <a:cs typeface="Times New Roman"/>
              </a:rPr>
              <a:t>Use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1735" y="3044029"/>
            <a:ext cx="9263380" cy="37039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Times New Roman"/>
                <a:cs typeface="Times New Roman"/>
              </a:rPr>
              <a:t>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said?</a:t>
            </a:r>
            <a:endParaRPr sz="2950">
              <a:latin typeface="Times New Roman"/>
              <a:cs typeface="Times New Roman"/>
            </a:endParaRPr>
          </a:p>
          <a:p>
            <a:pPr marL="12700" marR="695325">
              <a:lnSpc>
                <a:spcPct val="102499"/>
              </a:lnSpc>
            </a:pPr>
            <a:r>
              <a:rPr sz="2950" spc="-35" dirty="0">
                <a:latin typeface="Times New Roman"/>
                <a:cs typeface="Times New Roman"/>
              </a:rPr>
              <a:t>Was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find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3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message/flight/train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wanted? </a:t>
            </a: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pace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interaction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with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0" dirty="0">
                <a:latin typeface="Times New Roman"/>
                <a:cs typeface="Times New Roman"/>
              </a:rPr>
              <a:t> appropriate?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know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 you could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say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each </a:t>
            </a:r>
            <a:r>
              <a:rPr sz="2950" spc="-10" dirty="0">
                <a:latin typeface="Times New Roman"/>
                <a:cs typeface="Times New Roman"/>
              </a:rPr>
              <a:t>point?</a:t>
            </a:r>
            <a:endParaRPr sz="2950">
              <a:latin typeface="Times New Roman"/>
              <a:cs typeface="Times New Roman"/>
            </a:endParaRPr>
          </a:p>
          <a:p>
            <a:pPr marL="12700" marR="5080">
              <a:lnSpc>
                <a:spcPct val="102499"/>
              </a:lnSpc>
            </a:pPr>
            <a:r>
              <a:rPr sz="2950" dirty="0">
                <a:latin typeface="Times New Roman"/>
                <a:cs typeface="Times New Roman"/>
              </a:rPr>
              <a:t>How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often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was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sluggish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and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reply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Times New Roman"/>
                <a:cs typeface="Times New Roman"/>
              </a:rPr>
              <a:t>you?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 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work the way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 expected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25" dirty="0">
                <a:latin typeface="Times New Roman"/>
                <a:cs typeface="Times New Roman"/>
              </a:rPr>
              <a:t>to?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Do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think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you’d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use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future?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8494" y="6797800"/>
            <a:ext cx="14022069" cy="17145"/>
          </a:xfrm>
          <a:custGeom>
            <a:avLst/>
            <a:gdLst/>
            <a:ahLst/>
            <a:cxnLst/>
            <a:rect l="l" t="t" r="r" b="b"/>
            <a:pathLst>
              <a:path w="14022069" h="17145">
                <a:moveTo>
                  <a:pt x="0" y="16736"/>
                </a:moveTo>
                <a:lnTo>
                  <a:pt x="14022041" y="16736"/>
                </a:lnTo>
                <a:lnTo>
                  <a:pt x="14022041" y="0"/>
                </a:lnTo>
                <a:lnTo>
                  <a:pt x="0" y="0"/>
                </a:lnTo>
                <a:lnTo>
                  <a:pt x="0" y="16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74466" y="1583944"/>
            <a:ext cx="921829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latin typeface="Times New Roman"/>
                <a:cs typeface="Times New Roman"/>
              </a:rPr>
              <a:t>Walker,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Marilyn,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Candace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Kamm,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Diane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Litman.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"Towards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developing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general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models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usability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PARADISE."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Natural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Language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Engineering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6,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no.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&amp;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(2000):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363-</a:t>
            </a:r>
            <a:r>
              <a:rPr sz="1900" spc="-20" dirty="0">
                <a:latin typeface="Times New Roman"/>
                <a:cs typeface="Times New Roman"/>
              </a:rPr>
              <a:t>377.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Other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Heuristics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203642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elapsed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seconds,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queries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“turn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correction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ratio”: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sz="34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rejection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prompts.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barge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Dialog</a:t>
            </a:r>
            <a:r>
              <a:rPr spc="-229" dirty="0"/>
              <a:t> </a:t>
            </a:r>
            <a:r>
              <a:rPr spc="-40" dirty="0"/>
              <a:t>System</a:t>
            </a:r>
            <a:r>
              <a:rPr spc="-220" dirty="0"/>
              <a:t> </a:t>
            </a:r>
            <a:r>
              <a:rPr spc="-20" dirty="0"/>
              <a:t>Design:</a:t>
            </a:r>
            <a:r>
              <a:rPr spc="-240" dirty="0"/>
              <a:t> </a:t>
            </a:r>
            <a:r>
              <a:rPr spc="-85" dirty="0"/>
              <a:t>User-</a:t>
            </a:r>
            <a:r>
              <a:rPr spc="-45" dirty="0"/>
              <a:t>centered</a:t>
            </a:r>
            <a:r>
              <a:rPr spc="-229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819" y="1660143"/>
            <a:ext cx="7395209" cy="372617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16585" marR="1348740" indent="-616585" algn="r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AutoNum type="arabicPeriod"/>
              <a:tabLst>
                <a:tab pos="6165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4300">
              <a:latin typeface="Calibri"/>
              <a:cs typeface="Calibri"/>
            </a:endParaRPr>
          </a:p>
          <a:p>
            <a:pPr marL="479425" marR="1406525" lvl="1" indent="-479425" algn="r">
              <a:lnSpc>
                <a:spcPct val="100000"/>
              </a:lnSpc>
              <a:spcBef>
                <a:spcPts val="860"/>
              </a:spcBef>
              <a:buClr>
                <a:srgbClr val="E48312"/>
              </a:buClr>
              <a:buFont typeface="Arial MT"/>
              <a:buChar char="•"/>
              <a:tabLst>
                <a:tab pos="47942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4300">
              <a:latin typeface="Calibri"/>
              <a:cs typeface="Calibri"/>
            </a:endParaRPr>
          </a:p>
          <a:p>
            <a:pPr marL="633095" indent="-620395">
              <a:lnSpc>
                <a:spcPts val="5125"/>
              </a:lnSpc>
              <a:spcBef>
                <a:spcPts val="745"/>
              </a:spcBef>
              <a:buClr>
                <a:srgbClr val="E48312"/>
              </a:buClr>
              <a:buAutoNum type="arabicPeriod"/>
              <a:tabLst>
                <a:tab pos="63309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simulations</a:t>
            </a:r>
            <a:endParaRPr sz="4300">
              <a:latin typeface="Calibri"/>
              <a:cs typeface="Calibri"/>
            </a:endParaRPr>
          </a:p>
          <a:p>
            <a:pPr marL="1149350" lvl="1" indent="-515620">
              <a:lnSpc>
                <a:spcPts val="5125"/>
              </a:lnSpc>
              <a:buClr>
                <a:srgbClr val="E48312"/>
              </a:buClr>
              <a:buFont typeface="Arial MT"/>
              <a:buChar char="•"/>
              <a:tabLst>
                <a:tab pos="1149350" algn="l"/>
              </a:tabLst>
            </a:pP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Wizard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Oz</a:t>
            </a:r>
            <a:r>
              <a:rPr sz="4300" b="1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Iteratively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4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1119" y="1280160"/>
            <a:ext cx="4754880" cy="65427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5668" y="6705600"/>
            <a:ext cx="7748905" cy="1299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39370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Gould,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John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D.,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Clayton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Lewis.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"Designing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usability: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principles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what </a:t>
            </a:r>
            <a:r>
              <a:rPr sz="1700" dirty="0">
                <a:latin typeface="Times New Roman"/>
                <a:cs typeface="Times New Roman"/>
              </a:rPr>
              <a:t>designers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think."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Communications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of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the</a:t>
            </a:r>
            <a:r>
              <a:rPr sz="1700" i="1" spc="-8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ACM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28,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(1985):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300-311.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ts val="1989"/>
              </a:lnSpc>
            </a:pPr>
            <a:r>
              <a:rPr sz="1700" spc="-10" dirty="0">
                <a:latin typeface="Times New Roman"/>
                <a:cs typeface="Times New Roman"/>
              </a:rPr>
              <a:t>Bender,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Emily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Batya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Friedman.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"Data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statements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natural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language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processing: </a:t>
            </a:r>
            <a:r>
              <a:rPr sz="1700" spc="-25" dirty="0">
                <a:latin typeface="Times New Roman"/>
                <a:cs typeface="Times New Roman"/>
              </a:rPr>
              <a:t>Toward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mitigating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bias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enabling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better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science."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TACL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(2018):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587-</a:t>
            </a:r>
            <a:r>
              <a:rPr sz="1700" spc="-20" dirty="0">
                <a:latin typeface="Times New Roman"/>
                <a:cs typeface="Times New Roman"/>
              </a:rPr>
              <a:t>604.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Ethical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8291195" cy="61341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991869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be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crucial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artificial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Mary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Shelley's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10" dirty="0">
                <a:solidFill>
                  <a:srgbClr val="404040"/>
                </a:solidFill>
                <a:latin typeface="Calibri"/>
                <a:cs typeface="Calibri"/>
              </a:rPr>
              <a:t>Frankenstein</a:t>
            </a:r>
            <a:endParaRPr sz="3400">
              <a:latin typeface="Calibri"/>
              <a:cs typeface="Calibri"/>
            </a:endParaRPr>
          </a:p>
          <a:p>
            <a:pPr marL="561340" marR="413384" indent="-548640">
              <a:lnSpc>
                <a:spcPts val="3579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creating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consideration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humanistic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concerns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issues:</a:t>
            </a:r>
            <a:endParaRPr sz="3400">
              <a:latin typeface="Calibri"/>
              <a:cs typeface="Calibri"/>
            </a:endParaRPr>
          </a:p>
          <a:p>
            <a:pPr marL="561340" marR="437515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  <a:tab pos="1971039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Safety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abusing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users,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distracting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drivers,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medical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advice</a:t>
            </a:r>
            <a:endParaRPr sz="3400">
              <a:latin typeface="Calibri"/>
              <a:cs typeface="Calibri"/>
            </a:endParaRPr>
          </a:p>
          <a:p>
            <a:pPr marL="561340" marR="5080" indent="-548640">
              <a:lnSpc>
                <a:spcPts val="3600"/>
              </a:lnSpc>
              <a:spcBef>
                <a:spcPts val="129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Representational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harm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demeaning particular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social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groups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Privacy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Leakage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962" y="735843"/>
            <a:ext cx="428243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89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824970" cy="262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Extremely important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wrong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thing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vehicle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aware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environment,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driver's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attention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9718" y="6786371"/>
            <a:ext cx="8267065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 Angelard-Gontier,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Lowe,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Conference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523239"/>
            <a:ext cx="126898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25" dirty="0"/>
              <a:t>Abuse</a:t>
            </a:r>
            <a:r>
              <a:rPr sz="4300" spc="-190" dirty="0"/>
              <a:t> </a:t>
            </a:r>
            <a:r>
              <a:rPr sz="4300" dirty="0"/>
              <a:t>and</a:t>
            </a:r>
            <a:r>
              <a:rPr sz="4300" spc="-170" dirty="0"/>
              <a:t> </a:t>
            </a:r>
            <a:r>
              <a:rPr sz="4300" spc="-60" dirty="0"/>
              <a:t>Representation</a:t>
            </a:r>
            <a:r>
              <a:rPr sz="4300" spc="-170" dirty="0"/>
              <a:t> </a:t>
            </a:r>
            <a:r>
              <a:rPr sz="4300" spc="-10" dirty="0"/>
              <a:t>Harm:</a:t>
            </a:r>
            <a:r>
              <a:rPr sz="4300" spc="-170" dirty="0"/>
              <a:t> </a:t>
            </a:r>
            <a:r>
              <a:rPr sz="4300" dirty="0"/>
              <a:t>The</a:t>
            </a:r>
            <a:r>
              <a:rPr sz="4300" spc="-180" dirty="0"/>
              <a:t> </a:t>
            </a:r>
            <a:r>
              <a:rPr sz="4300" spc="-20" dirty="0"/>
              <a:t>case</a:t>
            </a:r>
            <a:r>
              <a:rPr sz="4300" spc="-185" dirty="0"/>
              <a:t> </a:t>
            </a:r>
            <a:r>
              <a:rPr sz="4300" dirty="0"/>
              <a:t>of</a:t>
            </a:r>
            <a:r>
              <a:rPr sz="4300" spc="-180" dirty="0"/>
              <a:t> </a:t>
            </a:r>
            <a:r>
              <a:rPr sz="4300" spc="-45" dirty="0"/>
              <a:t>Microsoft</a:t>
            </a:r>
            <a:r>
              <a:rPr sz="4300" spc="-175" dirty="0"/>
              <a:t> </a:t>
            </a:r>
            <a:r>
              <a:rPr sz="4300" spc="-25" dirty="0"/>
              <a:t>Tay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633220" y="2105151"/>
            <a:ext cx="10831195" cy="420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Experimental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launched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2016</a:t>
            </a:r>
            <a:endParaRPr sz="4300">
              <a:latin typeface="Calibri"/>
              <a:cs typeface="Calibri"/>
            </a:endParaRPr>
          </a:p>
          <a:p>
            <a:pPr marL="497840" marR="5080" indent="-304800">
              <a:lnSpc>
                <a:spcPts val="4200"/>
              </a:lnSpc>
              <a:spcBef>
                <a:spcPts val="48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profile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personality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18-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24-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year-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old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woman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could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share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horoscopes,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tell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jokes,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 people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selfies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slang,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emojis,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GIFs,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(IR-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3855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80" dirty="0"/>
              <a:t> </a:t>
            </a:r>
            <a:r>
              <a:rPr spc="-10" dirty="0"/>
              <a:t>case</a:t>
            </a:r>
            <a:r>
              <a:rPr spc="-18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40" dirty="0"/>
              <a:t>Microsoft</a:t>
            </a:r>
            <a:r>
              <a:rPr spc="-185" dirty="0"/>
              <a:t> </a:t>
            </a:r>
            <a:r>
              <a:rPr spc="-60" dirty="0"/>
              <a:t>Tay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876044"/>
            <a:ext cx="11286490" cy="503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turned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offensive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abusive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Obscene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inflammatory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tweets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Nazi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propaganda,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conspiracy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theories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Began harassing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women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online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racism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misogyny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took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down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hours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Lessons: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 response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considered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phase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6308" y="7691628"/>
            <a:ext cx="8159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Gina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Neff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Peter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Nagy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2016.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Talking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Bots: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Symbiotic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Agency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45" dirty="0">
                <a:latin typeface="Calibri"/>
                <a:cs typeface="Calibri"/>
              </a:rPr>
              <a:t>Tay.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International</a:t>
            </a:r>
            <a:r>
              <a:rPr sz="1400" i="1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Journal</a:t>
            </a:r>
            <a:r>
              <a:rPr sz="1400" i="1" spc="4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of </a:t>
            </a:r>
            <a:r>
              <a:rPr sz="1400" i="1" dirty="0">
                <a:latin typeface="Calibri"/>
                <a:cs typeface="Calibri"/>
              </a:rPr>
              <a:t>Communication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10(2016),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4915–4931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586739"/>
            <a:ext cx="59442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Bias</a:t>
            </a:r>
            <a:r>
              <a:rPr spc="-17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spc="-30" dirty="0"/>
              <a:t>training</a:t>
            </a:r>
            <a:r>
              <a:rPr spc="-165" dirty="0"/>
              <a:t> </a:t>
            </a:r>
            <a:r>
              <a:rPr spc="-2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69871"/>
            <a:ext cx="12307570" cy="3820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4300" i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al.</a:t>
            </a:r>
            <a:r>
              <a:rPr sz="4300" i="1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detectors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on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standard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ts val="453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Twitter,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Reddit,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datasets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Found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1990" y="7225283"/>
            <a:ext cx="8911590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Joelle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Privacy:</a:t>
            </a:r>
            <a:r>
              <a:rPr spc="-190" dirty="0"/>
              <a:t> </a:t>
            </a:r>
            <a:r>
              <a:rPr spc="-85" dirty="0"/>
              <a:t>Training</a:t>
            </a:r>
            <a:r>
              <a:rPr spc="-175" dirty="0"/>
              <a:t> </a:t>
            </a:r>
            <a:r>
              <a:rPr dirty="0"/>
              <a:t>on</a:t>
            </a:r>
            <a:r>
              <a:rPr spc="-165" dirty="0"/>
              <a:t> </a:t>
            </a:r>
            <a:r>
              <a:rPr dirty="0"/>
              <a:t>user</a:t>
            </a:r>
            <a:r>
              <a:rPr spc="-18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5084"/>
            <a:ext cx="13336905" cy="639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Accidental</a:t>
            </a:r>
            <a:r>
              <a:rPr sz="38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72135" marR="2060575" indent="-28067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57213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“Computer,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lights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[answers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phone]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Hi,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yes,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my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password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is...”</a:t>
            </a:r>
            <a:endParaRPr sz="3400">
              <a:latin typeface="Calibri"/>
              <a:cs typeface="Calibri"/>
            </a:endParaRPr>
          </a:p>
          <a:p>
            <a:pPr marL="572770" indent="-280670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Font typeface="Arial MT"/>
              <a:buChar char="•"/>
              <a:tabLst>
                <a:tab pos="57277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occur.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Intentional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60705" marR="789940" indent="-269240">
              <a:lnSpc>
                <a:spcPts val="36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developer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advertisers</a:t>
            </a:r>
            <a:endParaRPr sz="3400">
              <a:latin typeface="Calibri"/>
              <a:cs typeface="Calibri"/>
            </a:endParaRPr>
          </a:p>
          <a:p>
            <a:pPr marL="561340" indent="-269240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Important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consider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5" dirty="0">
                <a:solidFill>
                  <a:srgbClr val="595959"/>
                </a:solidFill>
                <a:latin typeface="Calibri"/>
                <a:cs typeface="Calibri"/>
              </a:rPr>
              <a:t>privacy-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preserving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400">
              <a:latin typeface="Calibri"/>
              <a:cs typeface="Calibri"/>
            </a:endParaRPr>
          </a:p>
          <a:p>
            <a:pPr marL="3339465" marR="53340">
              <a:lnSpc>
                <a:spcPct val="100000"/>
              </a:lnSpc>
              <a:spcBef>
                <a:spcPts val="3130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2018.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3339465" marR="5080">
              <a:lnSpc>
                <a:spcPct val="104299"/>
              </a:lnSpc>
            </a:pPr>
            <a:r>
              <a:rPr sz="1400" dirty="0">
                <a:latin typeface="Times New Roman"/>
                <a:cs typeface="Times New Roman"/>
              </a:rPr>
              <a:t>Campagna,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Giovanni,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Rakesh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Ramesh,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Silei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Xu,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Michael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Fischer,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Monica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Lam.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"Almond: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open, </a:t>
            </a:r>
            <a:r>
              <a:rPr sz="1400" dirty="0">
                <a:latin typeface="Times New Roman"/>
                <a:cs typeface="Times New Roman"/>
              </a:rPr>
              <a:t>crowdsourced,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privacy-preserving,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programmable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virtual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assistant."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Proceedings</a:t>
            </a:r>
            <a:r>
              <a:rPr sz="1400" i="1" spc="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of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26th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International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Conference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World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Wide </a:t>
            </a:r>
            <a:r>
              <a:rPr sz="1400" i="1" dirty="0">
                <a:latin typeface="Times New Roman"/>
                <a:cs typeface="Times New Roman"/>
              </a:rPr>
              <a:t>Web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341-350.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2017.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9754</Words>
  <Application>Microsoft Office PowerPoint</Application>
  <PresentationFormat>Custom</PresentationFormat>
  <Paragraphs>1204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50" baseType="lpstr">
      <vt:lpstr>MS PGothic</vt:lpstr>
      <vt:lpstr>SimSun-ExtB</vt:lpstr>
      <vt:lpstr>Aptos</vt:lpstr>
      <vt:lpstr>Arial</vt:lpstr>
      <vt:lpstr>Arial MT</vt:lpstr>
      <vt:lpstr>Calibri</vt:lpstr>
      <vt:lpstr>Calibri Light</vt:lpstr>
      <vt:lpstr>Cambria</vt:lpstr>
      <vt:lpstr>Courier New</vt:lpstr>
      <vt:lpstr>Franklin Gothic Medium</vt:lpstr>
      <vt:lpstr>Georgia</vt:lpstr>
      <vt:lpstr>Lucida Sans Unicode</vt:lpstr>
      <vt:lpstr>Tahoma</vt:lpstr>
      <vt:lpstr>Times New Roman</vt:lpstr>
      <vt:lpstr>Trebuchet MS</vt:lpstr>
      <vt:lpstr>Verdana</vt:lpstr>
      <vt:lpstr>Wingdings</vt:lpstr>
      <vt:lpstr>Office Theme</vt:lpstr>
      <vt:lpstr>Introduction to Chatbots and Dialogue Systems</vt:lpstr>
      <vt:lpstr>Conversational Agents (AKA Dialogue Systems AKA Dialogue Agents AKA Chatbots)</vt:lpstr>
      <vt:lpstr>Two kind of conversational agents</vt:lpstr>
      <vt:lpstr>Chatbot Architectures</vt:lpstr>
      <vt:lpstr>Will you sing me a song?</vt:lpstr>
      <vt:lpstr>XiaoIce (Zhou et al., 2020)</vt:lpstr>
      <vt:lpstr>Task-based dialogue agents</vt:lpstr>
      <vt:lpstr>The Frame</vt:lpstr>
      <vt:lpstr>Introduction to Chatbots and Dialogue Systems</vt:lpstr>
      <vt:lpstr>Properties of Human Conversation</vt:lpstr>
      <vt:lpstr>C1: . . . I need to travel in May.</vt:lpstr>
      <vt:lpstr>Properties of Human Conversation</vt:lpstr>
      <vt:lpstr>PowerPoint Presentation</vt:lpstr>
      <vt:lpstr>Properties of Human Conversation</vt:lpstr>
      <vt:lpstr>PowerPoint Presentation</vt:lpstr>
      <vt:lpstr>Implications for Conversational Agents</vt:lpstr>
      <vt:lpstr>Language as Action</vt:lpstr>
      <vt:lpstr>Speech Acts (aka Dialogue Acts)</vt:lpstr>
      <vt:lpstr>Speech acts</vt:lpstr>
      <vt:lpstr>Grounding</vt:lpstr>
      <vt:lpstr>Grounding</vt:lpstr>
      <vt:lpstr>Grounding: Establishing Common Ground</vt:lpstr>
      <vt:lpstr>Grounding is important for computers too!</vt:lpstr>
      <vt:lpstr>Conversations have structure</vt:lpstr>
      <vt:lpstr>Another kind of structure: Subdialogues</vt:lpstr>
      <vt:lpstr>Clarification Subdialogues</vt:lpstr>
      <vt:lpstr>Presequences</vt:lpstr>
      <vt:lpstr>Conversational Initiative</vt:lpstr>
      <vt:lpstr>Even harder problems: Inference</vt:lpstr>
      <vt:lpstr>Properties of Human Conversation</vt:lpstr>
      <vt:lpstr>Rule-based Chatbots: ELIZA and PARRY</vt:lpstr>
      <vt:lpstr>ELIZA: Weizenbaum (1966)</vt:lpstr>
      <vt:lpstr>ELIZA's trick: be a Rogerian psychologist</vt:lpstr>
      <vt:lpstr>Rogerian psychologist</vt:lpstr>
      <vt:lpstr>Eliza pattern/transform rules</vt:lpstr>
      <vt:lpstr>Eliza Rules</vt:lpstr>
      <vt:lpstr>Keywords are ranked from specific to general</vt:lpstr>
      <vt:lpstr>PowerPoint Presentation</vt:lpstr>
      <vt:lpstr>NONE</vt:lpstr>
      <vt:lpstr>Memory</vt:lpstr>
      <vt:lpstr>Ethical implications: Anthropomorphism and Privacy</vt:lpstr>
      <vt:lpstr>Ethical implications</vt:lpstr>
      <vt:lpstr>PARRY: A computational model of schizophrenia</vt:lpstr>
      <vt:lpstr>Affect variables</vt:lpstr>
      <vt:lpstr>Parry's responses depend on mental state</vt:lpstr>
      <vt:lpstr>PARRY passes the Turing test in 1972</vt:lpstr>
      <vt:lpstr>Rule-based Chatbots: ELIZA and PARRY</vt:lpstr>
      <vt:lpstr>Corpus-based Chatbots</vt:lpstr>
      <vt:lpstr>Two architectures for corpus-based chabots</vt:lpstr>
      <vt:lpstr>Corpus-based chatbots require corpora</vt:lpstr>
      <vt:lpstr>What conversations to draw on?</vt:lpstr>
      <vt:lpstr>Response by retrieval: classic IR method</vt:lpstr>
      <vt:lpstr>Response by retrieval: neural IR method</vt:lpstr>
      <vt:lpstr>Response by generation</vt:lpstr>
      <vt:lpstr>Response by generation</vt:lpstr>
      <vt:lpstr>Response by generation</vt:lpstr>
      <vt:lpstr>P.G. Wodehouse predicts neural chatbots</vt:lpstr>
      <vt:lpstr>Ongoing research problem: Neural chatbots can get repetitive and boring</vt:lpstr>
      <vt:lpstr>Response by retrieving and refining knowledge</vt:lpstr>
      <vt:lpstr>Hybrid Architectures</vt:lpstr>
      <vt:lpstr># Utterance</vt:lpstr>
      <vt:lpstr>Chatbots: pro and con</vt:lpstr>
      <vt:lpstr>Corpus-based Chatbots</vt:lpstr>
      <vt:lpstr>The Frame-based ("GUS") Dialogue Architecture</vt:lpstr>
      <vt:lpstr>Frame-based dialogue agents</vt:lpstr>
      <vt:lpstr>The Frame</vt:lpstr>
      <vt:lpstr>Two basic architectures</vt:lpstr>
      <vt:lpstr>PowerPoint Presentation</vt:lpstr>
      <vt:lpstr>Control structure for GUS frame architecture</vt:lpstr>
      <vt:lpstr>GUS slots have condition-action rules attached</vt:lpstr>
      <vt:lpstr>GUS systems have multiple frames</vt:lpstr>
      <vt:lpstr>GUS: Natural Language Understanding for filling dialog slots</vt:lpstr>
      <vt:lpstr>Natural Language Understanding for filling slots</vt:lpstr>
      <vt:lpstr>Natural Language Understanding for filling slots</vt:lpstr>
      <vt:lpstr>How to fill slots?</vt:lpstr>
      <vt:lpstr>Generating responses: template-based generation</vt:lpstr>
      <vt:lpstr>Summary: simple frame-based architecture</vt:lpstr>
      <vt:lpstr>The Frame-based ("GUS") Dialogue Architecture</vt:lpstr>
      <vt:lpstr>The Dialogue-State Architecture</vt:lpstr>
      <vt:lpstr>Dialogue-State or Belief-State Architecture</vt:lpstr>
      <vt:lpstr>PowerPoint Presentation</vt:lpstr>
      <vt:lpstr>Components in a dialogue-state architecture</vt:lpstr>
      <vt:lpstr>Dialogue Acts</vt:lpstr>
      <vt:lpstr>Dialogue Acts</vt:lpstr>
      <vt:lpstr>Slot filling: Machine learning</vt:lpstr>
      <vt:lpstr>Slot filling as sequence labeling: BIO tagging</vt:lpstr>
      <vt:lpstr>Slot filling using contextual embeddings Can do domain and intent too: e.g., generate the label "AIRLINE_TRAVEL + SEARCH_FLIGHT"</vt:lpstr>
      <vt:lpstr>Once we have the BIO tag of the sentence</vt:lpstr>
      <vt:lpstr>The task of dialogue state tracking</vt:lpstr>
      <vt:lpstr>Dialogue state tracking</vt:lpstr>
      <vt:lpstr>An special case of dialogue act detection: Detecting Correction Acts</vt:lpstr>
      <vt:lpstr>Corrections are harder to recognize!</vt:lpstr>
      <vt:lpstr>Features for detecting corrections in spoken dialogue</vt:lpstr>
      <vt:lpstr>The Dialogue-State Architecture</vt:lpstr>
      <vt:lpstr>The Dialogue-State Architecture Continued: Policy and Generation</vt:lpstr>
      <vt:lpstr>Dialogue Policy</vt:lpstr>
      <vt:lpstr>Policy example: Confirmation and Rejection</vt:lpstr>
      <vt:lpstr>Explicit confirmation strategy</vt:lpstr>
      <vt:lpstr>Implicit confirmation strategy</vt:lpstr>
      <vt:lpstr>Confirmation strategy tradeoffs</vt:lpstr>
      <vt:lpstr>Rejection</vt:lpstr>
      <vt:lpstr>Progressive prompting for rejection</vt:lpstr>
      <vt:lpstr>Using confidence to decide whether to confirm:</vt:lpstr>
      <vt:lpstr>Natural Language Generation</vt:lpstr>
      <vt:lpstr>Sentence Realization</vt:lpstr>
      <vt:lpstr>2 samples of Input and Output for Sentence Realizer</vt:lpstr>
      <vt:lpstr>Sentence Realization</vt:lpstr>
      <vt:lpstr>Sentence Realization</vt:lpstr>
      <vt:lpstr>Sentence Realization: mapping from frames to delexicalized sentences</vt:lpstr>
      <vt:lpstr>Generating clarification questions</vt:lpstr>
      <vt:lpstr>The Dialogue-State Architecture Continued: Policy and Generation</vt:lpstr>
      <vt:lpstr>Evaluating Dialogue Systems</vt:lpstr>
      <vt:lpstr>Evaluating chatbots and task-based dialogue</vt:lpstr>
      <vt:lpstr>Chatbots are evaluated by humans</vt:lpstr>
      <vt:lpstr>Participant evaluation</vt:lpstr>
      <vt:lpstr>Observer evaluation: acute-eval</vt:lpstr>
      <vt:lpstr>The ACUTE-EVAL method</vt:lpstr>
      <vt:lpstr>Automatic evaluation is an open problem</vt:lpstr>
      <vt:lpstr>Task-based systems are evaluated by task success!</vt:lpstr>
      <vt:lpstr>Evaluation Metrics: Slot error rate</vt:lpstr>
      <vt:lpstr>More fine-grained metrics: User Satisfaction Survey</vt:lpstr>
      <vt:lpstr>Other Heuristics</vt:lpstr>
      <vt:lpstr>Evaluating Dialogue Systems</vt:lpstr>
      <vt:lpstr>Design and Ethical Issues</vt:lpstr>
      <vt:lpstr>Dialog System Design: User-centered Design</vt:lpstr>
      <vt:lpstr>Ethical design</vt:lpstr>
      <vt:lpstr>Safety</vt:lpstr>
      <vt:lpstr>Abuse and Representation Harm: The case of Microsoft Tay</vt:lpstr>
      <vt:lpstr>The case of Microsoft Tay</vt:lpstr>
      <vt:lpstr>Bias in training datasets</vt:lpstr>
      <vt:lpstr>Privacy: Training on user data</vt:lpstr>
      <vt:lpstr>Design and Ethical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Akhil</dc:creator>
  <cp:lastModifiedBy>Karnam Akhil</cp:lastModifiedBy>
  <cp:revision>1</cp:revision>
  <dcterms:created xsi:type="dcterms:W3CDTF">2025-05-10T10:49:01Z</dcterms:created>
  <dcterms:modified xsi:type="dcterms:W3CDTF">2025-05-30T11:09:12Z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2025-05-10T00:00:00Z</vt:filetime>
  </property>
  <property fmtid="{D5CDD505-2E9C-101B-9397-08002B2CF9AE}" pid="5" name="Producer">
    <vt:lpwstr>macOS Version 10.15.7 (Build 19H524) Quartz PDFContext</vt:lpwstr>
  </property>
</Properties>
</file>