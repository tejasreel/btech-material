
<file path=[Content_Types].xml><?xml version="1.0" encoding="utf-8"?>
<Types xmlns="http://schemas.openxmlformats.org/package/2006/content-types">
  <Default Extension="image" ContentType="image/jp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</p:sldMasterIdLst>
  <p:notesMasterIdLst>
    <p:notesMasterId r:id="rId229"/>
  </p:notesMasterIdLst>
  <p:handoutMasterIdLst>
    <p:handoutMasterId r:id="rId23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473" r:id="rId72"/>
    <p:sldId id="471" r:id="rId73"/>
    <p:sldId id="475" r:id="rId74"/>
    <p:sldId id="476" r:id="rId75"/>
    <p:sldId id="477" r:id="rId76"/>
    <p:sldId id="478" r:id="rId77"/>
    <p:sldId id="479" r:id="rId78"/>
    <p:sldId id="480" r:id="rId79"/>
    <p:sldId id="481" r:id="rId80"/>
    <p:sldId id="483" r:id="rId81"/>
    <p:sldId id="482" r:id="rId82"/>
    <p:sldId id="325" r:id="rId83"/>
    <p:sldId id="326" r:id="rId84"/>
    <p:sldId id="327" r:id="rId85"/>
    <p:sldId id="328" r:id="rId86"/>
    <p:sldId id="329" r:id="rId87"/>
    <p:sldId id="330" r:id="rId88"/>
    <p:sldId id="331" r:id="rId89"/>
    <p:sldId id="332" r:id="rId90"/>
    <p:sldId id="333" r:id="rId91"/>
    <p:sldId id="334" r:id="rId92"/>
    <p:sldId id="335" r:id="rId93"/>
    <p:sldId id="336" r:id="rId94"/>
    <p:sldId id="337" r:id="rId95"/>
    <p:sldId id="338" r:id="rId96"/>
    <p:sldId id="339" r:id="rId97"/>
    <p:sldId id="340" r:id="rId98"/>
    <p:sldId id="341" r:id="rId99"/>
    <p:sldId id="342" r:id="rId100"/>
    <p:sldId id="343" r:id="rId101"/>
    <p:sldId id="344" r:id="rId102"/>
    <p:sldId id="345" r:id="rId103"/>
    <p:sldId id="346" r:id="rId104"/>
    <p:sldId id="347" r:id="rId105"/>
    <p:sldId id="348" r:id="rId106"/>
    <p:sldId id="349" r:id="rId107"/>
    <p:sldId id="350" r:id="rId108"/>
    <p:sldId id="351" r:id="rId109"/>
    <p:sldId id="352" r:id="rId110"/>
    <p:sldId id="353" r:id="rId111"/>
    <p:sldId id="354" r:id="rId112"/>
    <p:sldId id="355" r:id="rId113"/>
    <p:sldId id="356" r:id="rId114"/>
    <p:sldId id="357" r:id="rId115"/>
    <p:sldId id="358" r:id="rId116"/>
    <p:sldId id="359" r:id="rId117"/>
    <p:sldId id="360" r:id="rId118"/>
    <p:sldId id="361" r:id="rId119"/>
    <p:sldId id="362" r:id="rId120"/>
    <p:sldId id="363" r:id="rId121"/>
    <p:sldId id="364" r:id="rId122"/>
    <p:sldId id="365" r:id="rId123"/>
    <p:sldId id="366" r:id="rId124"/>
    <p:sldId id="367" r:id="rId125"/>
    <p:sldId id="368" r:id="rId126"/>
    <p:sldId id="369" r:id="rId127"/>
    <p:sldId id="370" r:id="rId128"/>
    <p:sldId id="371" r:id="rId129"/>
    <p:sldId id="372" r:id="rId130"/>
    <p:sldId id="373" r:id="rId131"/>
    <p:sldId id="374" r:id="rId132"/>
    <p:sldId id="375" r:id="rId133"/>
    <p:sldId id="376" r:id="rId134"/>
    <p:sldId id="377" r:id="rId135"/>
    <p:sldId id="378" r:id="rId136"/>
    <p:sldId id="379" r:id="rId137"/>
    <p:sldId id="380" r:id="rId138"/>
    <p:sldId id="381" r:id="rId139"/>
    <p:sldId id="382" r:id="rId140"/>
    <p:sldId id="383" r:id="rId141"/>
    <p:sldId id="384" r:id="rId142"/>
    <p:sldId id="385" r:id="rId143"/>
    <p:sldId id="386" r:id="rId144"/>
    <p:sldId id="387" r:id="rId145"/>
    <p:sldId id="388" r:id="rId146"/>
    <p:sldId id="389" r:id="rId147"/>
    <p:sldId id="390" r:id="rId148"/>
    <p:sldId id="391" r:id="rId149"/>
    <p:sldId id="392" r:id="rId150"/>
    <p:sldId id="393" r:id="rId151"/>
    <p:sldId id="394" r:id="rId152"/>
    <p:sldId id="395" r:id="rId153"/>
    <p:sldId id="396" r:id="rId154"/>
    <p:sldId id="397" r:id="rId155"/>
    <p:sldId id="398" r:id="rId156"/>
    <p:sldId id="399" r:id="rId157"/>
    <p:sldId id="400" r:id="rId158"/>
    <p:sldId id="401" r:id="rId159"/>
    <p:sldId id="402" r:id="rId160"/>
    <p:sldId id="403" r:id="rId161"/>
    <p:sldId id="404" r:id="rId162"/>
    <p:sldId id="405" r:id="rId163"/>
    <p:sldId id="406" r:id="rId164"/>
    <p:sldId id="407" r:id="rId165"/>
    <p:sldId id="408" r:id="rId166"/>
    <p:sldId id="409" r:id="rId167"/>
    <p:sldId id="410" r:id="rId168"/>
    <p:sldId id="411" r:id="rId169"/>
    <p:sldId id="412" r:id="rId170"/>
    <p:sldId id="413" r:id="rId171"/>
    <p:sldId id="414" r:id="rId172"/>
    <p:sldId id="415" r:id="rId173"/>
    <p:sldId id="416" r:id="rId174"/>
    <p:sldId id="417" r:id="rId175"/>
    <p:sldId id="418" r:id="rId176"/>
    <p:sldId id="419" r:id="rId177"/>
    <p:sldId id="420" r:id="rId178"/>
    <p:sldId id="421" r:id="rId179"/>
    <p:sldId id="422" r:id="rId180"/>
    <p:sldId id="423" r:id="rId181"/>
    <p:sldId id="424" r:id="rId182"/>
    <p:sldId id="425" r:id="rId183"/>
    <p:sldId id="426" r:id="rId184"/>
    <p:sldId id="427" r:id="rId185"/>
    <p:sldId id="428" r:id="rId186"/>
    <p:sldId id="429" r:id="rId187"/>
    <p:sldId id="430" r:id="rId188"/>
    <p:sldId id="431" r:id="rId189"/>
    <p:sldId id="432" r:id="rId190"/>
    <p:sldId id="433" r:id="rId191"/>
    <p:sldId id="434" r:id="rId192"/>
    <p:sldId id="435" r:id="rId193"/>
    <p:sldId id="436" r:id="rId194"/>
    <p:sldId id="437" r:id="rId195"/>
    <p:sldId id="438" r:id="rId196"/>
    <p:sldId id="439" r:id="rId197"/>
    <p:sldId id="440" r:id="rId198"/>
    <p:sldId id="441" r:id="rId199"/>
    <p:sldId id="442" r:id="rId200"/>
    <p:sldId id="443" r:id="rId201"/>
    <p:sldId id="444" r:id="rId202"/>
    <p:sldId id="445" r:id="rId203"/>
    <p:sldId id="446" r:id="rId204"/>
    <p:sldId id="447" r:id="rId205"/>
    <p:sldId id="448" r:id="rId206"/>
    <p:sldId id="449" r:id="rId207"/>
    <p:sldId id="450" r:id="rId208"/>
    <p:sldId id="451" r:id="rId209"/>
    <p:sldId id="452" r:id="rId210"/>
    <p:sldId id="453" r:id="rId211"/>
    <p:sldId id="454" r:id="rId212"/>
    <p:sldId id="455" r:id="rId213"/>
    <p:sldId id="456" r:id="rId214"/>
    <p:sldId id="457" r:id="rId215"/>
    <p:sldId id="458" r:id="rId216"/>
    <p:sldId id="459" r:id="rId217"/>
    <p:sldId id="460" r:id="rId218"/>
    <p:sldId id="461" r:id="rId219"/>
    <p:sldId id="462" r:id="rId220"/>
    <p:sldId id="463" r:id="rId221"/>
    <p:sldId id="464" r:id="rId222"/>
    <p:sldId id="465" r:id="rId223"/>
    <p:sldId id="466" r:id="rId224"/>
    <p:sldId id="467" r:id="rId225"/>
    <p:sldId id="468" r:id="rId226"/>
    <p:sldId id="469" r:id="rId227"/>
    <p:sldId id="470" r:id="rId228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80" autoAdjust="0"/>
  </p:normalViewPr>
  <p:slideViewPr>
    <p:cSldViewPr>
      <p:cViewPr varScale="1">
        <p:scale>
          <a:sx n="125" d="100"/>
          <a:sy n="125" d="100"/>
        </p:scale>
        <p:origin x="1500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34" d="100"/>
          <a:sy n="134" d="100"/>
        </p:scale>
        <p:origin x="203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226" Type="http://schemas.openxmlformats.org/officeDocument/2006/relationships/slide" Target="slides/slide22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227" Type="http://schemas.openxmlformats.org/officeDocument/2006/relationships/slide" Target="slides/slide225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228" Type="http://schemas.openxmlformats.org/officeDocument/2006/relationships/slide" Target="slides/slide226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229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219" Type="http://schemas.openxmlformats.org/officeDocument/2006/relationships/slide" Target="slides/slide217.xml"/><Relationship Id="rId230" Type="http://schemas.openxmlformats.org/officeDocument/2006/relationships/handoutMaster" Target="handoutMasters/handoutMaster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slide" Target="slides/slide218.xml"/><Relationship Id="rId225" Type="http://schemas.openxmlformats.org/officeDocument/2006/relationships/slide" Target="slides/slide223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231" Type="http://schemas.openxmlformats.org/officeDocument/2006/relationships/presProps" Target="presProps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slide" Target="slides/slide219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32" Type="http://schemas.openxmlformats.org/officeDocument/2006/relationships/viewProps" Target="viewProps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slide" Target="slides/slide220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33" Type="http://schemas.openxmlformats.org/officeDocument/2006/relationships/theme" Target="theme/theme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slide" Target="slides/slide22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34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224" Type="http://schemas.openxmlformats.org/officeDocument/2006/relationships/slide" Target="slides/slide222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189" Type="http://schemas.openxmlformats.org/officeDocument/2006/relationships/slide" Target="slides/slide187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387C394-F17D-48D3-AC57-930F62CF904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CD8C5E-0C16-4421-8823-C66493AA0B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7A014C-5584-454B-9492-D56C21F211C1}" type="datetimeFigureOut">
              <a:rPr lang="en-IN"/>
              <a:t>08-03-2025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468531-07E1-4ADC-92A9-A1D697795D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A343A6-C36C-4981-92CF-59A7AA43EE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8AAA78-9C16-4716-A0C6-C3A85F7D7472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400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CA3867-F0D9-488E-AAA4-A4969ED7BB2D}" type="datetimeFigureOut">
              <a:rPr lang="en-IN"/>
              <a:t>08-03-2025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99FD1-92A6-4171-B02A-94300A6DE7D0}" type="slidenum">
              <a:rPr lang="en-IN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40460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192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55EBA51-E221-6F4B-9ECF-31AD9B977258}" type="slidenum">
              <a:rPr lang="en-US"/>
              <a:pPr/>
              <a:t>193</a:t>
            </a:fld>
            <a:endParaRPr lang="en-US"/>
          </a:p>
        </p:txBody>
      </p:sp>
      <p:sp>
        <p:nvSpPr>
          <p:cNvPr id="6861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19174B-7304-3A45-9ED1-3169AE6E584D}" type="slidenum">
              <a:rPr lang="en-US"/>
              <a:pPr/>
              <a:t>194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195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9EE444-6282-C242-93C0-393321149F9D}" type="slidenum">
              <a:rPr lang="en-US"/>
              <a:pPr/>
              <a:t>196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2DBBC272-86A8-B54C-AFFC-48DBE25965C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199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072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07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pPr eaLnBrk="1" hangingPunct="1"/>
            <a:fld id="{D86BE477-4654-8746-8CBD-AE3C40EAA3DF}" type="slidenum">
              <a:rPr lang="en-US" sz="1200">
                <a:solidFill>
                  <a:schemeClr val="tx1"/>
                </a:solidFill>
                <a:latin typeface="Times New Roman" charset="0"/>
              </a:rPr>
              <a:pPr eaLnBrk="1" hangingPunct="1"/>
              <a:t>200</a:t>
            </a:fld>
            <a:endParaRPr lang="en-US" sz="120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348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202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203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206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054C909-A1CF-2E43-AF34-84A05567BE64}" type="slidenum">
              <a:rPr lang="en-US"/>
              <a:pPr/>
              <a:t>207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208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AD5FB1-F71F-D44B-8F15-528B3F5166D9}" type="slidenum">
              <a:rPr lang="en-US"/>
              <a:pPr/>
              <a:t>209</a:t>
            </a:fld>
            <a:endParaRPr lang="en-US"/>
          </a:p>
        </p:txBody>
      </p:sp>
      <p:sp>
        <p:nvSpPr>
          <p:cNvPr id="8909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210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211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13C6E27-0B5E-554F-99E3-D944B2DAB7CD}" type="slidenum">
              <a:rPr lang="en-US"/>
              <a:pPr/>
              <a:t>212</a:t>
            </a:fld>
            <a:endParaRPr lang="en-US"/>
          </a:p>
        </p:txBody>
      </p:sp>
      <p:sp>
        <p:nvSpPr>
          <p:cNvPr id="9113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A3B974-C2D4-8B41-AE93-F0BDF356406D}" type="slidenum">
              <a:rPr lang="en-US"/>
              <a:pPr/>
              <a:t>213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2707" y="4463296"/>
            <a:ext cx="5019887" cy="4228386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5EC786-90C9-B845-9111-8E3E763FE7DB}" type="slidenum">
              <a:rPr lang="en-US"/>
              <a:pPr/>
              <a:t>216</a:t>
            </a:fld>
            <a:endParaRPr lang="en-US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0651CC7-184B-FE41-B411-1713AAE7DA86}" type="slidenum">
              <a:rPr lang="en-US"/>
              <a:pPr/>
              <a:t>217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2E73B70-6BD1-6D4B-9F6E-5CC283986628}" type="slidenum">
              <a:rPr lang="en-US"/>
              <a:pPr/>
              <a:t>218</a:t>
            </a:fld>
            <a:endParaRPr lang="en-US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219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220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2C5E02-D1A9-3348-91F2-7B092968B812}" type="slidenum">
              <a:rPr lang="en-US"/>
              <a:pPr/>
              <a:t>221</a:t>
            </a:fld>
            <a:endParaRPr lang="en-US"/>
          </a:p>
        </p:txBody>
      </p:sp>
      <p:sp>
        <p:nvSpPr>
          <p:cNvPr id="99331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9031F-EB71-7642-8F3C-6FDC1408CB92}" type="slidenum">
              <a:rPr lang="en-US"/>
              <a:pPr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70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346639-C8C4-9A48-A995-2E425D4B1E5C}" type="slidenum">
              <a:rPr lang="en-US"/>
              <a:pPr/>
              <a:t>226</a:t>
            </a:fld>
            <a:endParaRPr lang="en-US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13664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8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2"/>
                </a:moveTo>
                <a:lnTo>
                  <a:pt x="43052" y="30352"/>
                </a:lnTo>
                <a:lnTo>
                  <a:pt x="43052" y="0"/>
                </a:lnTo>
                <a:lnTo>
                  <a:pt x="0" y="0"/>
                </a:lnTo>
                <a:lnTo>
                  <a:pt x="0" y="30352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1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2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90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2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2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2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2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4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39"/>
                </a:moveTo>
                <a:lnTo>
                  <a:pt x="30352" y="6857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7"/>
                </a:lnTo>
                <a:lnTo>
                  <a:pt x="0" y="15239"/>
                </a:lnTo>
                <a:lnTo>
                  <a:pt x="0" y="23621"/>
                </a:lnTo>
                <a:lnTo>
                  <a:pt x="6730" y="30479"/>
                </a:lnTo>
                <a:lnTo>
                  <a:pt x="15112" y="30479"/>
                </a:lnTo>
                <a:lnTo>
                  <a:pt x="23621" y="30479"/>
                </a:lnTo>
                <a:lnTo>
                  <a:pt x="30352" y="23621"/>
                </a:lnTo>
                <a:lnTo>
                  <a:pt x="30352" y="15239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3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13664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9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28E5E2-1321-4548-96C8-615581C5A8C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278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681910"/>
            <a:ext cx="4302760" cy="16807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3457575" y="2372280"/>
            <a:ext cx="998855" cy="17287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1536700" y="2372280"/>
            <a:ext cx="1459865" cy="172878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F35DC5-7E65-8247-99AB-4E984F8A921E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8" name="Rectangle 2"/>
          <p:cNvSpPr>
            <a:spLocks noChangeArrowheads="1"/>
          </p:cNvSpPr>
          <p:nvPr userDrawn="1"/>
        </p:nvSpPr>
        <p:spPr bwMode="auto">
          <a:xfrm rot="5400000">
            <a:off x="-1285066" y="1285065"/>
            <a:ext cx="2593181" cy="2304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6176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05050" y="257517"/>
            <a:ext cx="1961694" cy="654898"/>
          </a:xfrm>
        </p:spPr>
        <p:txBody>
          <a:bodyPr/>
          <a:lstStyle>
            <a:lvl1pPr algn="ctr">
              <a:defRPr sz="1613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582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05050" y="1450260"/>
            <a:ext cx="1959292" cy="845185"/>
          </a:xfrm>
        </p:spPr>
        <p:txBody>
          <a:bodyPr/>
          <a:lstStyle>
            <a:lvl1pPr marL="0" indent="0" algn="ctr">
              <a:spcBef>
                <a:spcPts val="900"/>
              </a:spcBef>
              <a:buFont typeface="Times" pitchFamily="-65" charset="0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649662" y="2372280"/>
            <a:ext cx="614680" cy="172878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2689225" y="2372280"/>
            <a:ext cx="960437" cy="172878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pic>
        <p:nvPicPr>
          <p:cNvPr id="9" name="Picture 8" descr="wordcloud2.jpg"/>
          <p:cNvPicPr>
            <a:picLocks noChangeAspect="1"/>
          </p:cNvPicPr>
          <p:nvPr userDrawn="1"/>
        </p:nvPicPr>
        <p:blipFill rotWithShape="1">
          <a:blip r:embed="rId2"/>
          <a:srcRect l="19740" t="8415" r="20308" b="8153"/>
          <a:stretch/>
        </p:blipFill>
        <p:spPr>
          <a:xfrm>
            <a:off x="393981" y="83599"/>
            <a:ext cx="1334805" cy="2403933"/>
          </a:xfrm>
          <a:prstGeom prst="rect">
            <a:avLst/>
          </a:prstGeom>
        </p:spPr>
      </p:pic>
      <p:sp>
        <p:nvSpPr>
          <p:cNvPr id="11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305050" y="2372280"/>
            <a:ext cx="385775" cy="172878"/>
          </a:xfrm>
        </p:spPr>
        <p:txBody>
          <a:bodyPr anchor="b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74C7FEE-6B48-4643-BCFB-F13B0E13E171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C7101-16EA-C942-850C-355264FDE9E8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 userDrawn="1"/>
        </p:nvSpPr>
        <p:spPr bwMode="auto">
          <a:xfrm rot="5400000">
            <a:off x="-1285066" y="1285065"/>
            <a:ext cx="2593181" cy="23049"/>
          </a:xfrm>
          <a:prstGeom prst="rect">
            <a:avLst/>
          </a:prstGeom>
          <a:solidFill>
            <a:srgbClr val="A40508"/>
          </a:solidFill>
          <a:ln w="9525">
            <a:solidFill>
              <a:srgbClr val="A4001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A50021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62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95408" y="3262401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52"/>
                </a:moveTo>
                <a:lnTo>
                  <a:pt x="43052" y="30352"/>
                </a:lnTo>
                <a:lnTo>
                  <a:pt x="43052" y="0"/>
                </a:lnTo>
                <a:lnTo>
                  <a:pt x="0" y="0"/>
                </a:lnTo>
                <a:lnTo>
                  <a:pt x="0" y="30352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015781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93582" y="3258464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099"/>
                </a:lnTo>
                <a:lnTo>
                  <a:pt x="25400" y="19049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44608" y="32521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799"/>
                </a:moveTo>
                <a:lnTo>
                  <a:pt x="43052" y="50799"/>
                </a:lnTo>
                <a:lnTo>
                  <a:pt x="43052" y="20446"/>
                </a:lnTo>
                <a:lnTo>
                  <a:pt x="0" y="20446"/>
                </a:lnTo>
                <a:lnTo>
                  <a:pt x="0" y="50799"/>
                </a:lnTo>
                <a:close/>
              </a:path>
              <a:path w="64135" h="50800">
                <a:moveTo>
                  <a:pt x="10540" y="20319"/>
                </a:moveTo>
                <a:lnTo>
                  <a:pt x="10540" y="10159"/>
                </a:lnTo>
                <a:lnTo>
                  <a:pt x="53720" y="10159"/>
                </a:lnTo>
                <a:lnTo>
                  <a:pt x="53720" y="40639"/>
                </a:lnTo>
                <a:lnTo>
                  <a:pt x="43560" y="40639"/>
                </a:lnTo>
              </a:path>
              <a:path w="64135" h="50800">
                <a:moveTo>
                  <a:pt x="20700" y="10159"/>
                </a:moveTo>
                <a:lnTo>
                  <a:pt x="20700" y="0"/>
                </a:lnTo>
                <a:lnTo>
                  <a:pt x="63880" y="0"/>
                </a:lnTo>
                <a:lnTo>
                  <a:pt x="63880" y="30479"/>
                </a:lnTo>
                <a:lnTo>
                  <a:pt x="53720" y="304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81490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36112" y="3264814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4721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23412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89122" y="3252113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12922" y="32584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49"/>
                </a:lnTo>
                <a:lnTo>
                  <a:pt x="25400" y="38099"/>
                </a:lnTo>
                <a:lnTo>
                  <a:pt x="25400" y="0"/>
                </a:lnTo>
                <a:close/>
              </a:path>
              <a:path w="203200" h="38100">
                <a:moveTo>
                  <a:pt x="177800" y="0"/>
                </a:moveTo>
                <a:lnTo>
                  <a:pt x="177800" y="38099"/>
                </a:lnTo>
                <a:lnTo>
                  <a:pt x="203200" y="19049"/>
                </a:lnTo>
                <a:lnTo>
                  <a:pt x="1778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89122" y="3290214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4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54831" y="3252113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2594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19"/>
                </a:lnTo>
              </a:path>
            </a:pathLst>
          </a:custGeom>
          <a:ln w="759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84" y="3256042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52" y="15239"/>
                </a:moveTo>
                <a:lnTo>
                  <a:pt x="30352" y="6857"/>
                </a:lnTo>
                <a:lnTo>
                  <a:pt x="23621" y="0"/>
                </a:lnTo>
                <a:lnTo>
                  <a:pt x="15112" y="0"/>
                </a:lnTo>
                <a:lnTo>
                  <a:pt x="6730" y="0"/>
                </a:lnTo>
                <a:lnTo>
                  <a:pt x="0" y="6857"/>
                </a:lnTo>
                <a:lnTo>
                  <a:pt x="0" y="15239"/>
                </a:lnTo>
                <a:lnTo>
                  <a:pt x="0" y="23621"/>
                </a:lnTo>
                <a:lnTo>
                  <a:pt x="6730" y="30479"/>
                </a:lnTo>
                <a:lnTo>
                  <a:pt x="15112" y="30479"/>
                </a:lnTo>
                <a:lnTo>
                  <a:pt x="23621" y="30479"/>
                </a:lnTo>
                <a:lnTo>
                  <a:pt x="30352" y="23621"/>
                </a:lnTo>
                <a:lnTo>
                  <a:pt x="30352" y="15239"/>
                </a:lnTo>
                <a:close/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3" y="32521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39" y="50799"/>
                </a:moveTo>
                <a:lnTo>
                  <a:pt x="50395" y="48795"/>
                </a:lnTo>
                <a:lnTo>
                  <a:pt x="58483" y="43338"/>
                </a:lnTo>
                <a:lnTo>
                  <a:pt x="64000" y="35262"/>
                </a:lnTo>
                <a:lnTo>
                  <a:pt x="66039" y="25399"/>
                </a:lnTo>
                <a:lnTo>
                  <a:pt x="64035" y="15537"/>
                </a:lnTo>
                <a:lnTo>
                  <a:pt x="58578" y="7461"/>
                </a:lnTo>
                <a:lnTo>
                  <a:pt x="50502" y="2004"/>
                </a:lnTo>
                <a:lnTo>
                  <a:pt x="40639" y="0"/>
                </a:lnTo>
                <a:lnTo>
                  <a:pt x="30777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39" y="25399"/>
                </a:lnTo>
              </a:path>
              <a:path w="233679" h="50800">
                <a:moveTo>
                  <a:pt x="30479" y="17779"/>
                </a:moveTo>
                <a:lnTo>
                  <a:pt x="15239" y="30479"/>
                </a:lnTo>
                <a:lnTo>
                  <a:pt x="0" y="17779"/>
                </a:lnTo>
              </a:path>
              <a:path w="233679" h="50800">
                <a:moveTo>
                  <a:pt x="193039" y="50799"/>
                </a:moveTo>
                <a:lnTo>
                  <a:pt x="183177" y="48795"/>
                </a:lnTo>
                <a:lnTo>
                  <a:pt x="175101" y="43338"/>
                </a:lnTo>
                <a:lnTo>
                  <a:pt x="169644" y="35262"/>
                </a:lnTo>
                <a:lnTo>
                  <a:pt x="167639" y="25399"/>
                </a:lnTo>
                <a:lnTo>
                  <a:pt x="169644" y="15537"/>
                </a:lnTo>
                <a:lnTo>
                  <a:pt x="175101" y="7461"/>
                </a:lnTo>
                <a:lnTo>
                  <a:pt x="183177" y="2004"/>
                </a:lnTo>
                <a:lnTo>
                  <a:pt x="193039" y="0"/>
                </a:lnTo>
                <a:lnTo>
                  <a:pt x="202902" y="2004"/>
                </a:lnTo>
                <a:lnTo>
                  <a:pt x="210978" y="7461"/>
                </a:lnTo>
                <a:lnTo>
                  <a:pt x="216435" y="15537"/>
                </a:lnTo>
                <a:lnTo>
                  <a:pt x="218439" y="25399"/>
                </a:lnTo>
              </a:path>
              <a:path w="233679" h="50800">
                <a:moveTo>
                  <a:pt x="233679" y="17779"/>
                </a:moveTo>
                <a:lnTo>
                  <a:pt x="218439" y="30479"/>
                </a:lnTo>
                <a:lnTo>
                  <a:pt x="203199" y="17779"/>
                </a:lnTo>
              </a:path>
            </a:pathLst>
          </a:custGeom>
          <a:ln w="5054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630" y="525537"/>
            <a:ext cx="4394834" cy="2393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2022" y="3339672"/>
            <a:ext cx="262254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1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13664">
              <a:lnSpc>
                <a:spcPct val="100000"/>
              </a:lnSpc>
              <a:spcBef>
                <a:spcPts val="50"/>
              </a:spcBef>
            </a:pPr>
            <a:fld id="{81D60167-4931-47E6-BA6A-407CBD079E47}" type="slidenum">
              <a:rPr dirty="0"/>
              <a:t>‹#›</a:t>
            </a:fld>
            <a:r>
              <a:rPr spc="-5" dirty="0"/>
              <a:t> </a:t>
            </a:r>
            <a:r>
              <a:rPr spc="-110" dirty="0"/>
              <a:t>/</a:t>
            </a:r>
            <a:r>
              <a:rPr spc="15" dirty="0"/>
              <a:t> </a:t>
            </a:r>
            <a:r>
              <a:rPr spc="-50" dirty="0"/>
              <a:t>9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91515" y="192087"/>
            <a:ext cx="3764915" cy="374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ma14="http://schemas.microsoft.com/office/mac/drawingml/2011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a14="http://schemas.microsoft.com/office/drawing/2010/main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3670" y="681910"/>
            <a:ext cx="3918585" cy="1680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ma14="http://schemas.microsoft.com/office/mac/drawingml/2011/main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ma14="http://schemas.microsoft.com/office/mac/drawingml/2011/main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a14="http://schemas.microsoft.com/office/drawing/2010/main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480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73400" y="2372280"/>
            <a:ext cx="998855" cy="172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705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383030" y="2362676"/>
            <a:ext cx="1459865" cy="172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705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0480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53670" y="2372280"/>
            <a:ext cx="998855" cy="172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705">
                <a:latin typeface="+mn-lt"/>
              </a:defRPr>
            </a:lvl1pPr>
          </a:lstStyle>
          <a:p>
            <a:fld id="{91F816EA-24CC-2048-859A-C5EA9F275392}" type="slidenum">
              <a:rPr lang="en-US"/>
              <a:pPr/>
              <a:t>‹#›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69" y="164029"/>
            <a:ext cx="438092" cy="4410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8417" y="4411"/>
            <a:ext cx="653097" cy="13189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ctr"/>
            <a:r>
              <a:rPr lang="en-US" sz="554" dirty="0">
                <a:solidFill>
                  <a:srgbClr val="A4001D"/>
                </a:solidFill>
                <a:latin typeface="+mn-lt"/>
              </a:rPr>
              <a:t>Dan Jurafsky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60" r:id="rId2"/>
    <p:sldLayoutId id="2147483661" r:id="rId3"/>
    <p:sldLayoutId id="2147483662" r:id="rId4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1613" b="1">
          <a:solidFill>
            <a:schemeClr val="tx1"/>
          </a:solidFill>
          <a:latin typeface="+mj-lt"/>
          <a:ea typeface="ＭＳ Ｐゴシック" pitchFamily="-65" charset="-128"/>
          <a:cs typeface="ＭＳ Ｐゴシック" pitchFamily="-65" charset="-128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  <a:ea typeface="ＭＳ Ｐゴシック" pitchFamily="-65" charset="-128"/>
          <a:cs typeface="ＭＳ Ｐゴシック" pitchFamily="-65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1815">
          <a:solidFill>
            <a:schemeClr val="tx1"/>
          </a:solidFill>
          <a:latin typeface="Lucida Sans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1210">
          <a:solidFill>
            <a:schemeClr val="tx1"/>
          </a:solidFill>
          <a:latin typeface="+mn-lt"/>
          <a:ea typeface="ＭＳ Ｐゴシック" pitchFamily="-65" charset="-128"/>
          <a:cs typeface="ＭＳ Ｐゴシック" pitchFamily="-65" charset="-128"/>
        </a:defRPr>
      </a:lvl1pPr>
      <a:lvl2pPr marL="6858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 sz="1008">
          <a:solidFill>
            <a:schemeClr val="tx1"/>
          </a:solidFill>
          <a:latin typeface="+mn-lt"/>
          <a:ea typeface="ＭＳ Ｐゴシック" pitchFamily="-65" charset="-128"/>
        </a:defRPr>
      </a:lvl2pPr>
      <a:lvl3pPr marL="1028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 sz="1008">
          <a:solidFill>
            <a:schemeClr val="tx1"/>
          </a:solidFill>
          <a:latin typeface="+mn-lt"/>
          <a:ea typeface="ＭＳ Ｐゴシック" pitchFamily="-65" charset="-128"/>
        </a:defRPr>
      </a:lvl3pPr>
      <a:lvl4pPr marL="13716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4pPr>
      <a:lvl5pPr marL="17145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charset="0"/>
        <a:buChar char="•"/>
        <a:defRPr>
          <a:solidFill>
            <a:schemeClr val="tx1"/>
          </a:solidFill>
          <a:latin typeface="+mn-lt"/>
          <a:ea typeface="ＭＳ Ｐゴシック" pitchFamily="-65" charset="-128"/>
        </a:defRPr>
      </a:lvl5pPr>
      <a:lvl6pPr marL="21717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705">
          <a:solidFill>
            <a:schemeClr val="tx1"/>
          </a:solidFill>
          <a:latin typeface="+mn-lt"/>
          <a:ea typeface="ＭＳ Ｐゴシック" pitchFamily="-65" charset="-128"/>
        </a:defRPr>
      </a:lvl6pPr>
      <a:lvl7pPr marL="26289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705">
          <a:solidFill>
            <a:schemeClr val="tx1"/>
          </a:solidFill>
          <a:latin typeface="+mn-lt"/>
          <a:ea typeface="ＭＳ Ｐゴシック" pitchFamily="-65" charset="-128"/>
        </a:defRPr>
      </a:lvl7pPr>
      <a:lvl8pPr marL="30861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705">
          <a:solidFill>
            <a:schemeClr val="tx1"/>
          </a:solidFill>
          <a:latin typeface="+mn-lt"/>
          <a:ea typeface="ＭＳ Ｐゴシック" pitchFamily="-65" charset="-128"/>
        </a:defRPr>
      </a:lvl8pPr>
      <a:lvl9pPr marL="3543300" indent="-2286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Times" pitchFamily="-65" charset="0"/>
        <a:buChar char="•"/>
        <a:defRPr sz="705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image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image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image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image"/><Relationship Id="rId2" Type="http://schemas.openxmlformats.org/officeDocument/2006/relationships/image" Target="../media/image36.image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image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image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image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image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image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ews.gatech.edu/2016/05/09/artificial-intelligence-course-creates-ai-teaching-assist" TargetMode="External"/><Relationship Id="rId2" Type="http://schemas.openxmlformats.org/officeDocument/2006/relationships/image" Target="../media/image43.image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image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59.png"/><Relationship Id="rId7" Type="http://schemas.openxmlformats.org/officeDocument/2006/relationships/image" Target="../media/image6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4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12" Type="http://schemas.openxmlformats.org/officeDocument/2006/relationships/image" Target="../media/image7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2.png"/><Relationship Id="rId5" Type="http://schemas.openxmlformats.org/officeDocument/2006/relationships/image" Target="../media/image67.png"/><Relationship Id="rId10" Type="http://schemas.openxmlformats.org/officeDocument/2006/relationships/image" Target="../media/image71.png"/><Relationship Id="rId4" Type="http://schemas.openxmlformats.org/officeDocument/2006/relationships/image" Target="../media/image66.png"/><Relationship Id="rId9" Type="http://schemas.openxmlformats.org/officeDocument/2006/relationships/image" Target="../media/image6.png"/><Relationship Id="rId1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9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1.png"/><Relationship Id="rId11" Type="http://schemas.openxmlformats.org/officeDocument/2006/relationships/image" Target="../media/image96.png"/><Relationship Id="rId5" Type="http://schemas.openxmlformats.org/officeDocument/2006/relationships/image" Target="../media/image90.png"/><Relationship Id="rId10" Type="http://schemas.openxmlformats.org/officeDocument/2006/relationships/image" Target="../media/image95.png"/><Relationship Id="rId4" Type="http://schemas.openxmlformats.org/officeDocument/2006/relationships/image" Target="../media/image89.png"/><Relationship Id="rId9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13" Type="http://schemas.openxmlformats.org/officeDocument/2006/relationships/image" Target="../media/image106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12" Type="http://schemas.openxmlformats.org/officeDocument/2006/relationships/image" Target="../media/image10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0.png"/><Relationship Id="rId11" Type="http://schemas.openxmlformats.org/officeDocument/2006/relationships/image" Target="../media/image104.png"/><Relationship Id="rId5" Type="http://schemas.openxmlformats.org/officeDocument/2006/relationships/image" Target="../media/image99.png"/><Relationship Id="rId10" Type="http://schemas.openxmlformats.org/officeDocument/2006/relationships/image" Target="../media/image103.png"/><Relationship Id="rId4" Type="http://schemas.openxmlformats.org/officeDocument/2006/relationships/image" Target="../media/image98.png"/><Relationship Id="rId9" Type="http://schemas.openxmlformats.org/officeDocument/2006/relationships/image" Target="../media/image21.png"/><Relationship Id="rId14" Type="http://schemas.openxmlformats.org/officeDocument/2006/relationships/image" Target="../media/image107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image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jpg"/><Relationship Id="rId2" Type="http://schemas.openxmlformats.org/officeDocument/2006/relationships/image" Target="../media/image11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jpg"/><Relationship Id="rId5" Type="http://schemas.openxmlformats.org/officeDocument/2006/relationships/image" Target="../media/image119.jpg"/><Relationship Id="rId4" Type="http://schemas.openxmlformats.org/officeDocument/2006/relationships/image" Target="../media/image118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7.png"/><Relationship Id="rId7" Type="http://schemas.openxmlformats.org/officeDocument/2006/relationships/image" Target="../media/image1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8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3" Type="http://schemas.openxmlformats.org/officeDocument/2006/relationships/image" Target="../media/image127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8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12" Type="http://schemas.openxmlformats.org/officeDocument/2006/relationships/image" Target="../media/image1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5" Type="http://schemas.openxmlformats.org/officeDocument/2006/relationships/image" Target="../media/image140.png"/><Relationship Id="rId10" Type="http://schemas.openxmlformats.org/officeDocument/2006/relationships/image" Target="../media/image145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50.png"/><Relationship Id="rId4" Type="http://schemas.openxmlformats.org/officeDocument/2006/relationships/image" Target="../media/image149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7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5" Type="http://schemas.openxmlformats.org/officeDocument/2006/relationships/image" Target="../media/image150.png"/><Relationship Id="rId10" Type="http://schemas.openxmlformats.org/officeDocument/2006/relationships/image" Target="../media/image154.png"/><Relationship Id="rId4" Type="http://schemas.openxmlformats.org/officeDocument/2006/relationships/image" Target="../media/image149.png"/><Relationship Id="rId9" Type="http://schemas.openxmlformats.org/officeDocument/2006/relationships/image" Target="../media/image2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7.png"/><Relationship Id="rId3" Type="http://schemas.openxmlformats.org/officeDocument/2006/relationships/image" Target="../media/image148.png"/><Relationship Id="rId7" Type="http://schemas.openxmlformats.org/officeDocument/2006/relationships/image" Target="../media/image152.png"/><Relationship Id="rId12" Type="http://schemas.openxmlformats.org/officeDocument/2006/relationships/image" Target="../media/image1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11" Type="http://schemas.openxmlformats.org/officeDocument/2006/relationships/image" Target="../media/image155.png"/><Relationship Id="rId5" Type="http://schemas.openxmlformats.org/officeDocument/2006/relationships/image" Target="../media/image150.png"/><Relationship Id="rId10" Type="http://schemas.openxmlformats.org/officeDocument/2006/relationships/image" Target="../media/image154.png"/><Relationship Id="rId4" Type="http://schemas.openxmlformats.org/officeDocument/2006/relationships/image" Target="../media/image149.png"/><Relationship Id="rId9" Type="http://schemas.openxmlformats.org/officeDocument/2006/relationships/image" Target="../media/image21.png"/><Relationship Id="rId14" Type="http://schemas.openxmlformats.org/officeDocument/2006/relationships/image" Target="../media/image158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2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4" Type="http://schemas.openxmlformats.org/officeDocument/2006/relationships/image" Target="../media/image164.png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3.png"/><Relationship Id="rId7" Type="http://schemas.openxmlformats.org/officeDocument/2006/relationships/image" Target="../media/image16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6.png"/><Relationship Id="rId11" Type="http://schemas.openxmlformats.org/officeDocument/2006/relationships/image" Target="../media/image170.png"/><Relationship Id="rId5" Type="http://schemas.openxmlformats.org/officeDocument/2006/relationships/image" Target="../media/image165.png"/><Relationship Id="rId10" Type="http://schemas.openxmlformats.org/officeDocument/2006/relationships/image" Target="../media/image169.png"/><Relationship Id="rId4" Type="http://schemas.openxmlformats.org/officeDocument/2006/relationships/image" Target="../media/image164.png"/><Relationship Id="rId9" Type="http://schemas.openxmlformats.org/officeDocument/2006/relationships/image" Target="../media/image168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3.png"/><Relationship Id="rId7" Type="http://schemas.openxmlformats.org/officeDocument/2006/relationships/image" Target="../media/image176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80.png"/><Relationship Id="rId5" Type="http://schemas.openxmlformats.org/officeDocument/2006/relationships/image" Target="../media/image175.png"/><Relationship Id="rId10" Type="http://schemas.openxmlformats.org/officeDocument/2006/relationships/image" Target="../media/image179.png"/><Relationship Id="rId4" Type="http://schemas.openxmlformats.org/officeDocument/2006/relationships/image" Target="../media/image174.png"/><Relationship Id="rId9" Type="http://schemas.openxmlformats.org/officeDocument/2006/relationships/image" Target="../media/image178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7.png"/><Relationship Id="rId13" Type="http://schemas.openxmlformats.org/officeDocument/2006/relationships/image" Target="../media/image189.png"/><Relationship Id="rId3" Type="http://schemas.openxmlformats.org/officeDocument/2006/relationships/image" Target="../media/image182.png"/><Relationship Id="rId7" Type="http://schemas.openxmlformats.org/officeDocument/2006/relationships/image" Target="../media/image186.png"/><Relationship Id="rId12" Type="http://schemas.openxmlformats.org/officeDocument/2006/relationships/image" Target="../media/image188.png"/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5.png"/><Relationship Id="rId11" Type="http://schemas.openxmlformats.org/officeDocument/2006/relationships/image" Target="../media/image54.png"/><Relationship Id="rId5" Type="http://schemas.openxmlformats.org/officeDocument/2006/relationships/image" Target="../media/image184.png"/><Relationship Id="rId15" Type="http://schemas.openxmlformats.org/officeDocument/2006/relationships/image" Target="../media/image191.png"/><Relationship Id="rId10" Type="http://schemas.openxmlformats.org/officeDocument/2006/relationships/image" Target="../media/image53.png"/><Relationship Id="rId4" Type="http://schemas.openxmlformats.org/officeDocument/2006/relationships/image" Target="../media/image183.png"/><Relationship Id="rId9" Type="http://schemas.openxmlformats.org/officeDocument/2006/relationships/image" Target="../media/image6.png"/><Relationship Id="rId14" Type="http://schemas.openxmlformats.org/officeDocument/2006/relationships/image" Target="../media/image190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3.png"/><Relationship Id="rId4" Type="http://schemas.openxmlformats.org/officeDocument/2006/relationships/image" Target="../media/image149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49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7" Type="http://schemas.openxmlformats.org/officeDocument/2006/relationships/image" Target="../media/image19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49.png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3" Type="http://schemas.openxmlformats.org/officeDocument/2006/relationships/image" Target="../media/image192.png"/><Relationship Id="rId7" Type="http://schemas.openxmlformats.org/officeDocument/2006/relationships/image" Target="../media/image19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5" Type="http://schemas.openxmlformats.org/officeDocument/2006/relationships/image" Target="../media/image193.png"/><Relationship Id="rId4" Type="http://schemas.openxmlformats.org/officeDocument/2006/relationships/image" Target="../media/image149.png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6.png"/><Relationship Id="rId13" Type="http://schemas.openxmlformats.org/officeDocument/2006/relationships/image" Target="../media/image201.png"/><Relationship Id="rId3" Type="http://schemas.openxmlformats.org/officeDocument/2006/relationships/image" Target="../media/image192.png"/><Relationship Id="rId7" Type="http://schemas.openxmlformats.org/officeDocument/2006/relationships/image" Target="../media/image195.png"/><Relationship Id="rId12" Type="http://schemas.openxmlformats.org/officeDocument/2006/relationships/image" Target="../media/image20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4.png"/><Relationship Id="rId11" Type="http://schemas.openxmlformats.org/officeDocument/2006/relationships/image" Target="../media/image199.png"/><Relationship Id="rId5" Type="http://schemas.openxmlformats.org/officeDocument/2006/relationships/image" Target="../media/image193.png"/><Relationship Id="rId10" Type="http://schemas.openxmlformats.org/officeDocument/2006/relationships/image" Target="../media/image198.png"/><Relationship Id="rId4" Type="http://schemas.openxmlformats.org/officeDocument/2006/relationships/image" Target="../media/image149.png"/><Relationship Id="rId9" Type="http://schemas.openxmlformats.org/officeDocument/2006/relationships/image" Target="../media/image197.png"/><Relationship Id="rId14" Type="http://schemas.openxmlformats.org/officeDocument/2006/relationships/image" Target="../media/image20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5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5" Type="http://schemas.openxmlformats.org/officeDocument/2006/relationships/image" Target="../media/image20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9.png"/><Relationship Id="rId13" Type="http://schemas.openxmlformats.org/officeDocument/2006/relationships/image" Target="../media/image214.png"/><Relationship Id="rId3" Type="http://schemas.openxmlformats.org/officeDocument/2006/relationships/image" Target="../media/image204.png"/><Relationship Id="rId7" Type="http://schemas.openxmlformats.org/officeDocument/2006/relationships/image" Target="../media/image208.png"/><Relationship Id="rId12" Type="http://schemas.openxmlformats.org/officeDocument/2006/relationships/image" Target="../media/image213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7.png"/><Relationship Id="rId11" Type="http://schemas.openxmlformats.org/officeDocument/2006/relationships/image" Target="../media/image212.png"/><Relationship Id="rId5" Type="http://schemas.openxmlformats.org/officeDocument/2006/relationships/image" Target="../media/image206.png"/><Relationship Id="rId15" Type="http://schemas.openxmlformats.org/officeDocument/2006/relationships/image" Target="../media/image216.png"/><Relationship Id="rId10" Type="http://schemas.openxmlformats.org/officeDocument/2006/relationships/image" Target="../media/image211.png"/><Relationship Id="rId4" Type="http://schemas.openxmlformats.org/officeDocument/2006/relationships/image" Target="../media/image205.png"/><Relationship Id="rId9" Type="http://schemas.openxmlformats.org/officeDocument/2006/relationships/image" Target="../media/image210.png"/><Relationship Id="rId14" Type="http://schemas.openxmlformats.org/officeDocument/2006/relationships/image" Target="../media/image215.png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4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221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221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6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221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6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7" Type="http://schemas.openxmlformats.org/officeDocument/2006/relationships/image" Target="../media/image221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6.png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3.png"/><Relationship Id="rId2" Type="http://schemas.openxmlformats.org/officeDocument/2006/relationships/image" Target="../media/image222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7.png"/><Relationship Id="rId4" Type="http://schemas.openxmlformats.org/officeDocument/2006/relationships/image" Target="../media/image22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7.png"/><Relationship Id="rId4" Type="http://schemas.openxmlformats.org/officeDocument/2006/relationships/image" Target="../media/image226.png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9.png"/><Relationship Id="rId3" Type="http://schemas.openxmlformats.org/officeDocument/2006/relationships/image" Target="../media/image225.png"/><Relationship Id="rId7" Type="http://schemas.openxmlformats.org/officeDocument/2006/relationships/image" Target="../media/image228.png"/><Relationship Id="rId12" Type="http://schemas.openxmlformats.org/officeDocument/2006/relationships/image" Target="../media/image23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2.png"/><Relationship Id="rId11" Type="http://schemas.openxmlformats.org/officeDocument/2006/relationships/image" Target="../media/image232.png"/><Relationship Id="rId5" Type="http://schemas.openxmlformats.org/officeDocument/2006/relationships/image" Target="../media/image227.png"/><Relationship Id="rId10" Type="http://schemas.openxmlformats.org/officeDocument/2006/relationships/image" Target="../media/image231.png"/><Relationship Id="rId4" Type="http://schemas.openxmlformats.org/officeDocument/2006/relationships/image" Target="../media/image226.png"/><Relationship Id="rId9" Type="http://schemas.openxmlformats.org/officeDocument/2006/relationships/image" Target="../media/image230.png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6.png"/><Relationship Id="rId4" Type="http://schemas.openxmlformats.org/officeDocument/2006/relationships/image" Target="../media/image235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9.png"/><Relationship Id="rId4" Type="http://schemas.openxmlformats.org/officeDocument/2006/relationships/image" Target="../media/image238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237.png"/><Relationship Id="rId7" Type="http://schemas.openxmlformats.org/officeDocument/2006/relationships/image" Target="../media/image24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7.png"/><Relationship Id="rId5" Type="http://schemas.openxmlformats.org/officeDocument/2006/relationships/image" Target="../media/image239.png"/><Relationship Id="rId4" Type="http://schemas.openxmlformats.org/officeDocument/2006/relationships/image" Target="../media/image238.png"/><Relationship Id="rId9" Type="http://schemas.openxmlformats.org/officeDocument/2006/relationships/image" Target="../media/image242.png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4.png"/><Relationship Id="rId4" Type="http://schemas.openxmlformats.org/officeDocument/2006/relationships/image" Target="../media/image77.png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png"/><Relationship Id="rId7" Type="http://schemas.openxmlformats.org/officeDocument/2006/relationships/image" Target="../media/image2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5.png"/><Relationship Id="rId5" Type="http://schemas.openxmlformats.org/officeDocument/2006/relationships/image" Target="../media/image244.png"/><Relationship Id="rId4" Type="http://schemas.openxmlformats.org/officeDocument/2006/relationships/image" Target="../media/image77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7.png"/><Relationship Id="rId1" Type="http://schemas.openxmlformats.org/officeDocument/2006/relationships/slideLayout" Target="../slideLayouts/slideLayout3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24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0.png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png"/><Relationship Id="rId3" Type="http://schemas.openxmlformats.org/officeDocument/2006/relationships/image" Target="../media/image251.png"/><Relationship Id="rId7" Type="http://schemas.openxmlformats.org/officeDocument/2006/relationships/image" Target="../media/image25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3.png"/><Relationship Id="rId5" Type="http://schemas.openxmlformats.org/officeDocument/2006/relationships/image" Target="../media/image252.png"/><Relationship Id="rId4" Type="http://schemas.openxmlformats.org/officeDocument/2006/relationships/image" Target="../media/image133.png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7.png"/><Relationship Id="rId4" Type="http://schemas.openxmlformats.org/officeDocument/2006/relationships/image" Target="../media/image226.png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26.png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7" Type="http://schemas.openxmlformats.org/officeDocument/2006/relationships/image" Target="../media/image2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26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6.png"/><Relationship Id="rId7" Type="http://schemas.openxmlformats.org/officeDocument/2006/relationships/image" Target="../media/image25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5" Type="http://schemas.openxmlformats.org/officeDocument/2006/relationships/image" Target="../media/image257.png"/><Relationship Id="rId4" Type="http://schemas.openxmlformats.org/officeDocument/2006/relationships/image" Target="../media/image226.png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256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0" Type="http://schemas.openxmlformats.org/officeDocument/2006/relationships/image" Target="../media/image262.png"/><Relationship Id="rId4" Type="http://schemas.openxmlformats.org/officeDocument/2006/relationships/image" Target="../media/image226.png"/><Relationship Id="rId9" Type="http://schemas.openxmlformats.org/officeDocument/2006/relationships/image" Target="../media/image261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265.png"/><Relationship Id="rId3" Type="http://schemas.openxmlformats.org/officeDocument/2006/relationships/image" Target="../media/image256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0" Type="http://schemas.openxmlformats.org/officeDocument/2006/relationships/image" Target="../media/image262.png"/><Relationship Id="rId4" Type="http://schemas.openxmlformats.org/officeDocument/2006/relationships/image" Target="../media/image226.png"/><Relationship Id="rId9" Type="http://schemas.openxmlformats.org/officeDocument/2006/relationships/image" Target="../media/image261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6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3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9.png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9.png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9.png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8.png"/><Relationship Id="rId2" Type="http://schemas.openxmlformats.org/officeDocument/2006/relationships/image" Target="../media/image26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9.png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3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2.png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1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4" Type="http://schemas.openxmlformats.org/officeDocument/2006/relationships/image" Target="../media/image272.png"/></Relationships>
</file>

<file path=ppt/slides/_rels/slide1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271.png"/><Relationship Id="rId7" Type="http://schemas.openxmlformats.org/officeDocument/2006/relationships/image" Target="../media/image5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4.png"/><Relationship Id="rId5" Type="http://schemas.openxmlformats.org/officeDocument/2006/relationships/image" Target="../media/image273.png"/><Relationship Id="rId10" Type="http://schemas.openxmlformats.org/officeDocument/2006/relationships/image" Target="../media/image275.png"/><Relationship Id="rId4" Type="http://schemas.openxmlformats.org/officeDocument/2006/relationships/image" Target="../media/image272.png"/><Relationship Id="rId9" Type="http://schemas.openxmlformats.org/officeDocument/2006/relationships/image" Target="../media/image133.png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7.png"/><Relationship Id="rId2" Type="http://schemas.openxmlformats.org/officeDocument/2006/relationships/image" Target="../media/image2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8.png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1.png"/><Relationship Id="rId4" Type="http://schemas.openxmlformats.org/officeDocument/2006/relationships/image" Target="../media/image280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3.png"/><Relationship Id="rId13" Type="http://schemas.openxmlformats.org/officeDocument/2006/relationships/image" Target="../media/image287.png"/><Relationship Id="rId3" Type="http://schemas.openxmlformats.org/officeDocument/2006/relationships/image" Target="../media/image279.png"/><Relationship Id="rId7" Type="http://schemas.openxmlformats.org/officeDocument/2006/relationships/image" Target="../media/image282.png"/><Relationship Id="rId12" Type="http://schemas.openxmlformats.org/officeDocument/2006/relationships/image" Target="../media/image172.png"/><Relationship Id="rId17" Type="http://schemas.openxmlformats.org/officeDocument/2006/relationships/image" Target="../media/image291.png"/><Relationship Id="rId2" Type="http://schemas.openxmlformats.org/officeDocument/2006/relationships/image" Target="../media/image21.png"/><Relationship Id="rId16" Type="http://schemas.openxmlformats.org/officeDocument/2006/relationships/image" Target="../media/image29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11" Type="http://schemas.openxmlformats.org/officeDocument/2006/relationships/image" Target="../media/image286.png"/><Relationship Id="rId5" Type="http://schemas.openxmlformats.org/officeDocument/2006/relationships/image" Target="../media/image281.png"/><Relationship Id="rId15" Type="http://schemas.openxmlformats.org/officeDocument/2006/relationships/image" Target="../media/image289.png"/><Relationship Id="rId10" Type="http://schemas.openxmlformats.org/officeDocument/2006/relationships/image" Target="../media/image285.png"/><Relationship Id="rId4" Type="http://schemas.openxmlformats.org/officeDocument/2006/relationships/image" Target="../media/image280.png"/><Relationship Id="rId9" Type="http://schemas.openxmlformats.org/officeDocument/2006/relationships/image" Target="../media/image284.png"/><Relationship Id="rId14" Type="http://schemas.openxmlformats.org/officeDocument/2006/relationships/image" Target="../media/image288.png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3.png"/><Relationship Id="rId2" Type="http://schemas.openxmlformats.org/officeDocument/2006/relationships/image" Target="../media/image29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4.png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8.png"/><Relationship Id="rId5" Type="http://schemas.openxmlformats.org/officeDocument/2006/relationships/image" Target="../media/image297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png"/><Relationship Id="rId3" Type="http://schemas.openxmlformats.org/officeDocument/2006/relationships/image" Target="../media/image295.png"/><Relationship Id="rId7" Type="http://schemas.openxmlformats.org/officeDocument/2006/relationships/image" Target="../media/image299.png"/><Relationship Id="rId12" Type="http://schemas.openxmlformats.org/officeDocument/2006/relationships/image" Target="../media/image30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8.png"/><Relationship Id="rId11" Type="http://schemas.openxmlformats.org/officeDocument/2006/relationships/image" Target="../media/image303.png"/><Relationship Id="rId5" Type="http://schemas.openxmlformats.org/officeDocument/2006/relationships/image" Target="../media/image297.png"/><Relationship Id="rId10" Type="http://schemas.openxmlformats.org/officeDocument/2006/relationships/image" Target="../media/image302.png"/><Relationship Id="rId4" Type="http://schemas.openxmlformats.org/officeDocument/2006/relationships/image" Target="../media/image296.png"/><Relationship Id="rId9" Type="http://schemas.openxmlformats.org/officeDocument/2006/relationships/image" Target="../media/image301.png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7.png"/><Relationship Id="rId4" Type="http://schemas.openxmlformats.org/officeDocument/2006/relationships/image" Target="../media/image306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3" Type="http://schemas.openxmlformats.org/officeDocument/2006/relationships/image" Target="../media/image305.png"/><Relationship Id="rId7" Type="http://schemas.openxmlformats.org/officeDocument/2006/relationships/image" Target="../media/image30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07.png"/><Relationship Id="rId4" Type="http://schemas.openxmlformats.org/officeDocument/2006/relationships/image" Target="../media/image306.png"/><Relationship Id="rId9" Type="http://schemas.openxmlformats.org/officeDocument/2006/relationships/image" Target="../media/image310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9.png"/><Relationship Id="rId13" Type="http://schemas.openxmlformats.org/officeDocument/2006/relationships/image" Target="../media/image314.png"/><Relationship Id="rId3" Type="http://schemas.openxmlformats.org/officeDocument/2006/relationships/image" Target="../media/image305.png"/><Relationship Id="rId7" Type="http://schemas.openxmlformats.org/officeDocument/2006/relationships/image" Target="../media/image308.png"/><Relationship Id="rId12" Type="http://schemas.openxmlformats.org/officeDocument/2006/relationships/image" Target="../media/image31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12.png"/><Relationship Id="rId5" Type="http://schemas.openxmlformats.org/officeDocument/2006/relationships/image" Target="../media/image307.png"/><Relationship Id="rId10" Type="http://schemas.openxmlformats.org/officeDocument/2006/relationships/image" Target="../media/image311.png"/><Relationship Id="rId4" Type="http://schemas.openxmlformats.org/officeDocument/2006/relationships/image" Target="../media/image306.png"/><Relationship Id="rId9" Type="http://schemas.openxmlformats.org/officeDocument/2006/relationships/image" Target="../media/image310.png"/><Relationship Id="rId14" Type="http://schemas.openxmlformats.org/officeDocument/2006/relationships/image" Target="../media/image315.png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8.png"/><Relationship Id="rId4" Type="http://schemas.openxmlformats.org/officeDocument/2006/relationships/image" Target="../media/image317.png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316.png"/><Relationship Id="rId7" Type="http://schemas.openxmlformats.org/officeDocument/2006/relationships/image" Target="../media/image319.png"/><Relationship Id="rId12" Type="http://schemas.openxmlformats.org/officeDocument/2006/relationships/image" Target="../media/image3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323.png"/><Relationship Id="rId5" Type="http://schemas.openxmlformats.org/officeDocument/2006/relationships/image" Target="../media/image318.png"/><Relationship Id="rId10" Type="http://schemas.openxmlformats.org/officeDocument/2006/relationships/image" Target="../media/image322.png"/><Relationship Id="rId4" Type="http://schemas.openxmlformats.org/officeDocument/2006/relationships/image" Target="../media/image317.png"/><Relationship Id="rId9" Type="http://schemas.openxmlformats.org/officeDocument/2006/relationships/image" Target="../media/image321.png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5.image"/><Relationship Id="rId1" Type="http://schemas.openxmlformats.org/officeDocument/2006/relationships/slideLayout" Target="../slideLayouts/slideLayout3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.image"/><Relationship Id="rId2" Type="http://schemas.openxmlformats.org/officeDocument/2006/relationships/image" Target="../media/image325.image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9.png"/><Relationship Id="rId2" Type="http://schemas.openxmlformats.org/officeDocument/2006/relationships/image" Target="../media/image328.png"/><Relationship Id="rId1" Type="http://schemas.openxmlformats.org/officeDocument/2006/relationships/slideLayout" Target="../slideLayouts/slideLayout3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3" Type="http://schemas.openxmlformats.org/officeDocument/2006/relationships/image" Target="../media/image331.png"/><Relationship Id="rId7" Type="http://schemas.openxmlformats.org/officeDocument/2006/relationships/image" Target="../media/image3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11" Type="http://schemas.openxmlformats.org/officeDocument/2006/relationships/image" Target="../media/image338.png"/><Relationship Id="rId5" Type="http://schemas.openxmlformats.org/officeDocument/2006/relationships/image" Target="../media/image333.png"/><Relationship Id="rId10" Type="http://schemas.openxmlformats.org/officeDocument/2006/relationships/image" Target="../media/image288.png"/><Relationship Id="rId4" Type="http://schemas.openxmlformats.org/officeDocument/2006/relationships/image" Target="../media/image332.png"/><Relationship Id="rId9" Type="http://schemas.openxmlformats.org/officeDocument/2006/relationships/image" Target="../media/image337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6.png"/><Relationship Id="rId3" Type="http://schemas.openxmlformats.org/officeDocument/2006/relationships/image" Target="../media/image331.png"/><Relationship Id="rId7" Type="http://schemas.openxmlformats.org/officeDocument/2006/relationships/image" Target="../media/image33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4.png"/><Relationship Id="rId11" Type="http://schemas.openxmlformats.org/officeDocument/2006/relationships/image" Target="../media/image338.png"/><Relationship Id="rId5" Type="http://schemas.openxmlformats.org/officeDocument/2006/relationships/image" Target="../media/image333.png"/><Relationship Id="rId10" Type="http://schemas.openxmlformats.org/officeDocument/2006/relationships/image" Target="../media/image288.png"/><Relationship Id="rId4" Type="http://schemas.openxmlformats.org/officeDocument/2006/relationships/image" Target="../media/image332.png"/><Relationship Id="rId9" Type="http://schemas.openxmlformats.org/officeDocument/2006/relationships/image" Target="../media/image337.png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1.png"/><Relationship Id="rId4" Type="http://schemas.openxmlformats.org/officeDocument/2006/relationships/image" Target="../media/image340.png"/></Relationships>
</file>

<file path=ppt/slides/_rels/slide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9.png"/><Relationship Id="rId7" Type="http://schemas.openxmlformats.org/officeDocument/2006/relationships/image" Target="../media/image3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4" Type="http://schemas.openxmlformats.org/officeDocument/2006/relationships/image" Target="../media/image340.png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4.png"/><Relationship Id="rId3" Type="http://schemas.openxmlformats.org/officeDocument/2006/relationships/image" Target="../media/image339.png"/><Relationship Id="rId7" Type="http://schemas.openxmlformats.org/officeDocument/2006/relationships/image" Target="../media/image34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2.png"/><Relationship Id="rId5" Type="http://schemas.openxmlformats.org/officeDocument/2006/relationships/image" Target="../media/image341.png"/><Relationship Id="rId10" Type="http://schemas.openxmlformats.org/officeDocument/2006/relationships/image" Target="../media/image346.png"/><Relationship Id="rId4" Type="http://schemas.openxmlformats.org/officeDocument/2006/relationships/image" Target="../media/image340.png"/><Relationship Id="rId9" Type="http://schemas.openxmlformats.org/officeDocument/2006/relationships/image" Target="../media/image345.png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7.png"/><Relationship Id="rId1" Type="http://schemas.openxmlformats.org/officeDocument/2006/relationships/slideLayout" Target="../slideLayouts/slideLayout3.xml"/></Relationships>
</file>

<file path=ppt/slides/_rels/slide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4" Type="http://schemas.openxmlformats.org/officeDocument/2006/relationships/image" Target="../media/image60.png"/></Relationships>
</file>

<file path=ppt/slides/_rels/slide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8.png"/><Relationship Id="rId7" Type="http://schemas.openxmlformats.org/officeDocument/2006/relationships/image" Target="../media/image3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9.png"/><Relationship Id="rId4" Type="http://schemas.openxmlformats.org/officeDocument/2006/relationships/image" Target="../media/image60.png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3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2.png"/><Relationship Id="rId2" Type="http://schemas.openxmlformats.org/officeDocument/2006/relationships/image" Target="../media/image351.pn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4.png"/><Relationship Id="rId2" Type="http://schemas.openxmlformats.org/officeDocument/2006/relationships/image" Target="../media/image353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7" Type="http://schemas.openxmlformats.org/officeDocument/2006/relationships/image" Target="../media/image35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4" Type="http://schemas.openxmlformats.org/officeDocument/2006/relationships/image" Target="../media/image133.png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7" Type="http://schemas.openxmlformats.org/officeDocument/2006/relationships/image" Target="../media/image35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4" Type="http://schemas.openxmlformats.org/officeDocument/2006/relationships/image" Target="../media/image133.png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7" Type="http://schemas.openxmlformats.org/officeDocument/2006/relationships/image" Target="../media/image35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4" Type="http://schemas.openxmlformats.org/officeDocument/2006/relationships/image" Target="../media/image133.png"/></Relationships>
</file>

<file path=ppt/slides/_rels/slide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1.png"/><Relationship Id="rId7" Type="http://schemas.openxmlformats.org/officeDocument/2006/relationships/image" Target="../media/image35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6.png"/><Relationship Id="rId5" Type="http://schemas.openxmlformats.org/officeDocument/2006/relationships/image" Target="../media/image355.png"/><Relationship Id="rId4" Type="http://schemas.openxmlformats.org/officeDocument/2006/relationships/image" Target="../media/image133.png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4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9.png"/><Relationship Id="rId2" Type="http://schemas.openxmlformats.org/officeDocument/2006/relationships/image" Target="../media/image3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0.png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3" Type="http://schemas.openxmlformats.org/officeDocument/2006/relationships/image" Target="../media/image361.png"/><Relationship Id="rId7" Type="http://schemas.openxmlformats.org/officeDocument/2006/relationships/image" Target="../media/image36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4.png"/><Relationship Id="rId5" Type="http://schemas.openxmlformats.org/officeDocument/2006/relationships/image" Target="../media/image363.png"/><Relationship Id="rId4" Type="http://schemas.openxmlformats.org/officeDocument/2006/relationships/image" Target="../media/image362.png"/><Relationship Id="rId9" Type="http://schemas.openxmlformats.org/officeDocument/2006/relationships/image" Target="../media/image367.png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13" Type="http://schemas.openxmlformats.org/officeDocument/2006/relationships/image" Target="../media/image191.png"/><Relationship Id="rId3" Type="http://schemas.openxmlformats.org/officeDocument/2006/relationships/image" Target="../media/image361.png"/><Relationship Id="rId7" Type="http://schemas.openxmlformats.org/officeDocument/2006/relationships/image" Target="../media/image365.png"/><Relationship Id="rId12" Type="http://schemas.openxmlformats.org/officeDocument/2006/relationships/image" Target="../media/image3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4.png"/><Relationship Id="rId11" Type="http://schemas.openxmlformats.org/officeDocument/2006/relationships/image" Target="../media/image199.png"/><Relationship Id="rId5" Type="http://schemas.openxmlformats.org/officeDocument/2006/relationships/image" Target="../media/image363.png"/><Relationship Id="rId10" Type="http://schemas.openxmlformats.org/officeDocument/2006/relationships/image" Target="../media/image368.png"/><Relationship Id="rId4" Type="http://schemas.openxmlformats.org/officeDocument/2006/relationships/image" Target="../media/image362.png"/><Relationship Id="rId9" Type="http://schemas.openxmlformats.org/officeDocument/2006/relationships/image" Target="../media/image367.png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6.png"/><Relationship Id="rId13" Type="http://schemas.openxmlformats.org/officeDocument/2006/relationships/image" Target="../media/image191.png"/><Relationship Id="rId3" Type="http://schemas.openxmlformats.org/officeDocument/2006/relationships/image" Target="../media/image361.png"/><Relationship Id="rId7" Type="http://schemas.openxmlformats.org/officeDocument/2006/relationships/image" Target="../media/image365.png"/><Relationship Id="rId12" Type="http://schemas.openxmlformats.org/officeDocument/2006/relationships/image" Target="../media/image36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4.png"/><Relationship Id="rId11" Type="http://schemas.openxmlformats.org/officeDocument/2006/relationships/image" Target="../media/image199.png"/><Relationship Id="rId5" Type="http://schemas.openxmlformats.org/officeDocument/2006/relationships/image" Target="../media/image363.png"/><Relationship Id="rId10" Type="http://schemas.openxmlformats.org/officeDocument/2006/relationships/image" Target="../media/image368.png"/><Relationship Id="rId4" Type="http://schemas.openxmlformats.org/officeDocument/2006/relationships/image" Target="../media/image362.png"/><Relationship Id="rId9" Type="http://schemas.openxmlformats.org/officeDocument/2006/relationships/image" Target="../media/image367.png"/><Relationship Id="rId14" Type="http://schemas.openxmlformats.org/officeDocument/2006/relationships/image" Target="../media/image370.png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371.png"/><Relationship Id="rId7" Type="http://schemas.openxmlformats.org/officeDocument/2006/relationships/image" Target="../media/image37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4.png"/><Relationship Id="rId5" Type="http://schemas.openxmlformats.org/officeDocument/2006/relationships/image" Target="../media/image373.png"/><Relationship Id="rId4" Type="http://schemas.openxmlformats.org/officeDocument/2006/relationships/image" Target="../media/image372.png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380.png"/><Relationship Id="rId3" Type="http://schemas.openxmlformats.org/officeDocument/2006/relationships/image" Target="../media/image371.png"/><Relationship Id="rId7" Type="http://schemas.openxmlformats.org/officeDocument/2006/relationships/image" Target="../media/image375.png"/><Relationship Id="rId12" Type="http://schemas.openxmlformats.org/officeDocument/2006/relationships/image" Target="../media/image37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4.png"/><Relationship Id="rId11" Type="http://schemas.openxmlformats.org/officeDocument/2006/relationships/image" Target="../media/image378.png"/><Relationship Id="rId5" Type="http://schemas.openxmlformats.org/officeDocument/2006/relationships/image" Target="../media/image373.png"/><Relationship Id="rId10" Type="http://schemas.openxmlformats.org/officeDocument/2006/relationships/image" Target="../media/image377.png"/><Relationship Id="rId4" Type="http://schemas.openxmlformats.org/officeDocument/2006/relationships/image" Target="../media/image372.png"/><Relationship Id="rId9" Type="http://schemas.openxmlformats.org/officeDocument/2006/relationships/image" Target="../media/image376.png"/><Relationship Id="rId14" Type="http://schemas.openxmlformats.org/officeDocument/2006/relationships/image" Target="../media/image381.png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2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2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6.png"/><Relationship Id="rId1" Type="http://schemas.openxmlformats.org/officeDocument/2006/relationships/slideLayout" Target="../slideLayouts/slideLayout8.xml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7.png"/><Relationship Id="rId1" Type="http://schemas.openxmlformats.org/officeDocument/2006/relationships/slideLayout" Target="../slideLayouts/slideLayout8.xml"/></Relationships>
</file>

<file path=ppt/slides/_rels/slide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8.png"/><Relationship Id="rId1" Type="http://schemas.openxmlformats.org/officeDocument/2006/relationships/slideLayout" Target="../slideLayouts/slideLayout8.xml"/></Relationships>
</file>

<file path=ppt/slides/_rels/slide2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1951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63942"/>
            <a:ext cx="4483735" cy="347345"/>
            <a:chOff x="87743" y="963942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09433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96733"/>
              <a:ext cx="4381753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70089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63942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1"/>
                  </a:lnTo>
                  <a:lnTo>
                    <a:pt x="4381754" y="296291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1008138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954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827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700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327124" y="968311"/>
            <a:ext cx="19538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lang="en-US" sz="14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 dirty="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Books</a:t>
            </a:r>
            <a:r>
              <a:rPr spc="5" dirty="0"/>
              <a:t> </a:t>
            </a:r>
            <a:r>
              <a:rPr dirty="0"/>
              <a:t>and</a:t>
            </a:r>
            <a:r>
              <a:rPr spc="5" dirty="0"/>
              <a:t> </a:t>
            </a:r>
            <a:r>
              <a:rPr spc="-10" dirty="0"/>
              <a:t>Materials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32523"/>
            <a:ext cx="4483735" cy="1183640"/>
            <a:chOff x="87743" y="832523"/>
            <a:chExt cx="4483735" cy="1183640"/>
          </a:xfrm>
        </p:grpSpPr>
        <p:sp>
          <p:nvSpPr>
            <p:cNvPr id="4" name="object 4"/>
            <p:cNvSpPr/>
            <p:nvPr/>
          </p:nvSpPr>
          <p:spPr>
            <a:xfrm>
              <a:off x="87743" y="83252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0554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144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017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76770"/>
              <a:ext cx="50800" cy="10377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49858"/>
              <a:ext cx="4432935" cy="915669"/>
            </a:xfrm>
            <a:custGeom>
              <a:avLst/>
              <a:gdLst/>
              <a:ahLst/>
              <a:cxnLst/>
              <a:rect l="l" t="t" r="r" b="b"/>
              <a:pathLst>
                <a:path w="4432935" h="915669">
                  <a:moveTo>
                    <a:pt x="4432554" y="0"/>
                  </a:moveTo>
                  <a:lnTo>
                    <a:pt x="0" y="0"/>
                  </a:lnTo>
                  <a:lnTo>
                    <a:pt x="0" y="864616"/>
                  </a:lnTo>
                  <a:lnTo>
                    <a:pt x="4008" y="884340"/>
                  </a:lnTo>
                  <a:lnTo>
                    <a:pt x="14922" y="900493"/>
                  </a:lnTo>
                  <a:lnTo>
                    <a:pt x="31075" y="911407"/>
                  </a:lnTo>
                  <a:lnTo>
                    <a:pt x="50800" y="915416"/>
                  </a:lnTo>
                  <a:lnTo>
                    <a:pt x="4381754" y="915416"/>
                  </a:lnTo>
                  <a:lnTo>
                    <a:pt x="4401478" y="911407"/>
                  </a:lnTo>
                  <a:lnTo>
                    <a:pt x="4417631" y="900493"/>
                  </a:lnTo>
                  <a:lnTo>
                    <a:pt x="4428545" y="884340"/>
                  </a:lnTo>
                  <a:lnTo>
                    <a:pt x="4432554" y="86461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14857"/>
              <a:ext cx="0" cy="1019175"/>
            </a:xfrm>
            <a:custGeom>
              <a:avLst/>
              <a:gdLst/>
              <a:ahLst/>
              <a:cxnLst/>
              <a:rect l="l" t="t" r="r" b="b"/>
              <a:pathLst>
                <a:path h="1019175">
                  <a:moveTo>
                    <a:pt x="0" y="101866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021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894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7675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955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53743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2117191"/>
            <a:ext cx="4483735" cy="656590"/>
            <a:chOff x="87743" y="2117191"/>
            <a:chExt cx="4483735" cy="656590"/>
          </a:xfrm>
        </p:grpSpPr>
        <p:sp>
          <p:nvSpPr>
            <p:cNvPr id="17" name="object 17"/>
            <p:cNvSpPr/>
            <p:nvPr/>
          </p:nvSpPr>
          <p:spPr>
            <a:xfrm>
              <a:off x="87743" y="2117191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280856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672067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659367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2161438"/>
              <a:ext cx="50800" cy="51062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32510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4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4"/>
                  </a:lnTo>
                  <a:lnTo>
                    <a:pt x="4381754" y="397764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199500"/>
              <a:ext cx="0" cy="492125"/>
            </a:xfrm>
            <a:custGeom>
              <a:avLst/>
              <a:gdLst/>
              <a:ahLst/>
              <a:cxnLst/>
              <a:rect l="l" t="t" r="r" b="b"/>
              <a:pathLst>
                <a:path h="492125">
                  <a:moveTo>
                    <a:pt x="0" y="49161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868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741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6143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374874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584907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757888"/>
            <a:ext cx="4206875" cy="193230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Reference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Books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Daniel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Jurafsky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James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H.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Martin.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2009.</a:t>
            </a:r>
            <a:r>
              <a:rPr sz="950" spc="130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Speech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 </a:t>
            </a:r>
            <a:r>
              <a:rPr sz="950" dirty="0">
                <a:latin typeface="Trebuchet MS"/>
                <a:cs typeface="Trebuchet MS"/>
              </a:rPr>
              <a:t>Processing:</a:t>
            </a:r>
            <a:r>
              <a:rPr sz="950" spc="229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Introduction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Natural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Language</a:t>
            </a:r>
            <a:r>
              <a:rPr sz="950" i="1" spc="1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Processing,</a:t>
            </a:r>
            <a:r>
              <a:rPr sz="950" i="1" spc="130" dirty="0">
                <a:latin typeface="Trebuchet MS"/>
                <a:cs typeface="Trebuchet MS"/>
              </a:rPr>
              <a:t> </a:t>
            </a:r>
            <a:r>
              <a:rPr sz="950" i="1" spc="40" dirty="0">
                <a:latin typeface="Trebuchet MS"/>
                <a:cs typeface="Trebuchet MS"/>
              </a:rPr>
              <a:t>Speech </a:t>
            </a:r>
            <a:r>
              <a:rPr sz="950" i="1" dirty="0">
                <a:latin typeface="Trebuchet MS"/>
                <a:cs typeface="Trebuchet MS"/>
              </a:rPr>
              <a:t>Recognition,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and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Computational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Linguistics</a:t>
            </a:r>
            <a:r>
              <a:rPr sz="950" dirty="0">
                <a:latin typeface="Trebuchet MS"/>
                <a:cs typeface="Trebuchet MS"/>
              </a:rPr>
              <a:t>.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edition.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Prentice-Hall.</a:t>
            </a:r>
            <a:endParaRPr sz="950">
              <a:latin typeface="Trebuchet MS"/>
              <a:cs typeface="Trebuchet MS"/>
            </a:endParaRPr>
          </a:p>
          <a:p>
            <a:pPr marL="289560" marR="19748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Christopher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D.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Manning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Hinrich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Schütze.</a:t>
            </a:r>
            <a:r>
              <a:rPr sz="950" spc="1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1999.</a:t>
            </a:r>
            <a:r>
              <a:rPr sz="950" spc="15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Foundations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of </a:t>
            </a:r>
            <a:r>
              <a:rPr sz="950" i="1" spc="-20" dirty="0">
                <a:latin typeface="Trebuchet MS"/>
                <a:cs typeface="Trebuchet MS"/>
              </a:rPr>
              <a:t>Statistical</a:t>
            </a:r>
            <a:r>
              <a:rPr sz="950" i="1" spc="1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Natural</a:t>
            </a:r>
            <a:r>
              <a:rPr sz="950" i="1" spc="1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Language</a:t>
            </a:r>
            <a:r>
              <a:rPr sz="950" i="1" spc="1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Processing</a:t>
            </a:r>
            <a:r>
              <a:rPr sz="950" dirty="0">
                <a:latin typeface="Trebuchet MS"/>
                <a:cs typeface="Trebuchet MS"/>
              </a:rPr>
              <a:t>.</a:t>
            </a:r>
            <a:r>
              <a:rPr sz="950" spc="215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MIT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Press.</a:t>
            </a:r>
            <a:endParaRPr sz="950">
              <a:latin typeface="Trebuchet MS"/>
              <a:cs typeface="Trebuchet MS"/>
            </a:endParaRPr>
          </a:p>
          <a:p>
            <a:pPr marL="289560" marR="2855595" indent="-277495">
              <a:lnSpc>
                <a:spcPct val="135800"/>
              </a:lnSpc>
              <a:spcBef>
                <a:spcPts val="104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Lecture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Material </a:t>
            </a:r>
            <a:r>
              <a:rPr sz="950" dirty="0">
                <a:latin typeface="Trebuchet MS"/>
                <a:cs typeface="Trebuchet MS"/>
              </a:rPr>
              <a:t>Lecture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Slides </a:t>
            </a:r>
            <a:r>
              <a:rPr sz="950" dirty="0">
                <a:latin typeface="Trebuchet MS"/>
                <a:cs typeface="Trebuchet MS"/>
              </a:rPr>
              <a:t>IPython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Notebooks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spc="-10" dirty="0"/>
              <a:t>study</a:t>
            </a:r>
            <a:r>
              <a:rPr spc="-55" dirty="0"/>
              <a:t>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89012"/>
            <a:ext cx="4483735" cy="800100"/>
            <a:chOff x="87743" y="1289012"/>
            <a:chExt cx="4483735" cy="800100"/>
          </a:xfrm>
        </p:grpSpPr>
        <p:sp>
          <p:nvSpPr>
            <p:cNvPr id="4" name="object 4"/>
            <p:cNvSpPr/>
            <p:nvPr/>
          </p:nvSpPr>
          <p:spPr>
            <a:xfrm>
              <a:off x="87743" y="128901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6202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8734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7464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33246"/>
              <a:ext cx="50800" cy="654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06271"/>
              <a:ext cx="4432935" cy="532130"/>
            </a:xfrm>
            <a:custGeom>
              <a:avLst/>
              <a:gdLst/>
              <a:ahLst/>
              <a:cxnLst/>
              <a:rect l="l" t="t" r="r" b="b"/>
              <a:pathLst>
                <a:path w="4432935" h="532130">
                  <a:moveTo>
                    <a:pt x="4432554" y="0"/>
                  </a:moveTo>
                  <a:lnTo>
                    <a:pt x="0" y="0"/>
                  </a:lnTo>
                  <a:lnTo>
                    <a:pt x="0" y="481076"/>
                  </a:lnTo>
                  <a:lnTo>
                    <a:pt x="4008" y="500800"/>
                  </a:lnTo>
                  <a:lnTo>
                    <a:pt x="14922" y="516953"/>
                  </a:lnTo>
                  <a:lnTo>
                    <a:pt x="31075" y="527867"/>
                  </a:lnTo>
                  <a:lnTo>
                    <a:pt x="50800" y="531876"/>
                  </a:lnTo>
                  <a:lnTo>
                    <a:pt x="4381754" y="531876"/>
                  </a:lnTo>
                  <a:lnTo>
                    <a:pt x="4401478" y="527867"/>
                  </a:lnTo>
                  <a:lnTo>
                    <a:pt x="4417631" y="516953"/>
                  </a:lnTo>
                  <a:lnTo>
                    <a:pt x="4428545" y="500800"/>
                  </a:lnTo>
                  <a:lnTo>
                    <a:pt x="4432554" y="48107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71397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586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459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332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1214294"/>
            <a:ext cx="4025900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60" dirty="0">
                <a:solidFill>
                  <a:srgbClr val="3232B2"/>
                </a:solidFill>
                <a:latin typeface="Cambria"/>
                <a:cs typeface="Cambria"/>
              </a:rPr>
              <a:t>Text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largest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repository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human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knowledge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8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news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articles,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web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pages,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scientific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articles,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patents,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emails,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government </a:t>
            </a:r>
            <a:r>
              <a:rPr sz="950" dirty="0">
                <a:latin typeface="Trebuchet MS"/>
                <a:cs typeface="Trebuchet MS"/>
              </a:rPr>
              <a:t>documents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....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95250" y="3352165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889531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spc="-10" dirty="0"/>
              <a:t>study</a:t>
            </a:r>
            <a:r>
              <a:rPr spc="-55" dirty="0"/>
              <a:t>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89012"/>
            <a:ext cx="4483735" cy="800100"/>
            <a:chOff x="87743" y="1289012"/>
            <a:chExt cx="4483735" cy="800100"/>
          </a:xfrm>
        </p:grpSpPr>
        <p:sp>
          <p:nvSpPr>
            <p:cNvPr id="4" name="object 4"/>
            <p:cNvSpPr/>
            <p:nvPr/>
          </p:nvSpPr>
          <p:spPr>
            <a:xfrm>
              <a:off x="87743" y="128901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6202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8734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7464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33246"/>
              <a:ext cx="50800" cy="654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06271"/>
              <a:ext cx="4432935" cy="532130"/>
            </a:xfrm>
            <a:custGeom>
              <a:avLst/>
              <a:gdLst/>
              <a:ahLst/>
              <a:cxnLst/>
              <a:rect l="l" t="t" r="r" b="b"/>
              <a:pathLst>
                <a:path w="4432935" h="532130">
                  <a:moveTo>
                    <a:pt x="4432554" y="0"/>
                  </a:moveTo>
                  <a:lnTo>
                    <a:pt x="0" y="0"/>
                  </a:lnTo>
                  <a:lnTo>
                    <a:pt x="0" y="481076"/>
                  </a:lnTo>
                  <a:lnTo>
                    <a:pt x="4008" y="500800"/>
                  </a:lnTo>
                  <a:lnTo>
                    <a:pt x="14922" y="516953"/>
                  </a:lnTo>
                  <a:lnTo>
                    <a:pt x="31075" y="527867"/>
                  </a:lnTo>
                  <a:lnTo>
                    <a:pt x="50800" y="531876"/>
                  </a:lnTo>
                  <a:lnTo>
                    <a:pt x="4381754" y="531876"/>
                  </a:lnTo>
                  <a:lnTo>
                    <a:pt x="4401478" y="527867"/>
                  </a:lnTo>
                  <a:lnTo>
                    <a:pt x="4417631" y="516953"/>
                  </a:lnTo>
                  <a:lnTo>
                    <a:pt x="4428545" y="500800"/>
                  </a:lnTo>
                  <a:lnTo>
                    <a:pt x="4432554" y="48107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71397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586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459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3323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55431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spc="-60" dirty="0">
                <a:solidFill>
                  <a:srgbClr val="3232B2"/>
                </a:solidFill>
                <a:latin typeface="Cambria"/>
                <a:cs typeface="Cambria"/>
              </a:rPr>
              <a:t>Text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largest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repository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human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knowledge</a:t>
            </a:r>
            <a:endParaRPr sz="1100">
              <a:latin typeface="Cambria"/>
              <a:cs typeface="Cambria"/>
            </a:endParaRPr>
          </a:p>
          <a:p>
            <a:pPr marL="50165" marR="5080">
              <a:lnSpc>
                <a:spcPct val="118800"/>
              </a:lnSpc>
              <a:spcBef>
                <a:spcPts val="210"/>
              </a:spcBef>
            </a:pPr>
            <a:r>
              <a:rPr dirty="0"/>
              <a:t>news</a:t>
            </a:r>
            <a:r>
              <a:rPr spc="30" dirty="0"/>
              <a:t> </a:t>
            </a:r>
            <a:r>
              <a:rPr spc="-20" dirty="0"/>
              <a:t>articles,</a:t>
            </a:r>
            <a:r>
              <a:rPr spc="35" dirty="0"/>
              <a:t> </a:t>
            </a:r>
            <a:r>
              <a:rPr dirty="0"/>
              <a:t>web</a:t>
            </a:r>
            <a:r>
              <a:rPr spc="35" dirty="0"/>
              <a:t> </a:t>
            </a:r>
            <a:r>
              <a:rPr dirty="0"/>
              <a:t>pages,</a:t>
            </a:r>
            <a:r>
              <a:rPr spc="35" dirty="0"/>
              <a:t> </a:t>
            </a:r>
            <a:r>
              <a:rPr spc="-20" dirty="0"/>
              <a:t>scientific</a:t>
            </a:r>
            <a:r>
              <a:rPr spc="35" dirty="0"/>
              <a:t> </a:t>
            </a:r>
            <a:r>
              <a:rPr spc="-20" dirty="0"/>
              <a:t>articles,</a:t>
            </a:r>
            <a:r>
              <a:rPr spc="30" dirty="0"/>
              <a:t> </a:t>
            </a:r>
            <a:r>
              <a:rPr spc="-10" dirty="0"/>
              <a:t>patents,</a:t>
            </a:r>
            <a:r>
              <a:rPr spc="35" dirty="0"/>
              <a:t> </a:t>
            </a:r>
            <a:r>
              <a:rPr dirty="0"/>
              <a:t>emails,</a:t>
            </a:r>
            <a:r>
              <a:rPr spc="35" dirty="0"/>
              <a:t> </a:t>
            </a:r>
            <a:r>
              <a:rPr spc="-10" dirty="0"/>
              <a:t>government </a:t>
            </a:r>
            <a:r>
              <a:rPr dirty="0"/>
              <a:t>documents</a:t>
            </a:r>
            <a:r>
              <a:rPr spc="120" dirty="0"/>
              <a:t> </a:t>
            </a:r>
            <a:r>
              <a:rPr spc="-20" dirty="0"/>
              <a:t>....</a:t>
            </a:r>
          </a:p>
          <a:p>
            <a:pPr marL="50165">
              <a:lnSpc>
                <a:spcPct val="100000"/>
              </a:lnSpc>
              <a:spcBef>
                <a:spcPts val="215"/>
              </a:spcBef>
            </a:pPr>
            <a:r>
              <a:rPr spc="-20" dirty="0"/>
              <a:t>Tweets,</a:t>
            </a:r>
            <a:r>
              <a:rPr spc="80" dirty="0"/>
              <a:t> </a:t>
            </a:r>
            <a:r>
              <a:rPr dirty="0"/>
              <a:t>Facebook</a:t>
            </a:r>
            <a:r>
              <a:rPr spc="80" dirty="0"/>
              <a:t> </a:t>
            </a:r>
            <a:r>
              <a:rPr dirty="0"/>
              <a:t>posts,</a:t>
            </a:r>
            <a:r>
              <a:rPr spc="80" dirty="0"/>
              <a:t> </a:t>
            </a:r>
            <a:r>
              <a:rPr dirty="0"/>
              <a:t>comments,</a:t>
            </a:r>
            <a:r>
              <a:rPr spc="85" dirty="0"/>
              <a:t> </a:t>
            </a:r>
            <a:r>
              <a:rPr dirty="0"/>
              <a:t>Quora</a:t>
            </a:r>
            <a:r>
              <a:rPr spc="80" dirty="0"/>
              <a:t> </a:t>
            </a:r>
            <a:r>
              <a:rPr spc="-25" dirty="0"/>
              <a:t>...</a:t>
            </a: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889531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-60" dirty="0"/>
              <a:t> </a:t>
            </a:r>
            <a:r>
              <a:rPr spc="-10" dirty="0"/>
              <a:t>study</a:t>
            </a:r>
            <a:r>
              <a:rPr spc="-55" dirty="0"/>
              <a:t> </a:t>
            </a:r>
            <a:r>
              <a:rPr spc="55" dirty="0"/>
              <a:t>NLP?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330" y="417233"/>
            <a:ext cx="329374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sz="1050" baseline="31746" dirty="0">
                <a:latin typeface="Trebuchet MS"/>
                <a:cs typeface="Trebuchet MS"/>
              </a:rPr>
              <a:t>1</a:t>
            </a:r>
            <a:r>
              <a:rPr sz="1050" spc="150" baseline="31746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understand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majority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0" dirty="0">
                <a:latin typeface="Trebuchet MS"/>
                <a:cs typeface="Trebuchet MS"/>
              </a:rPr>
              <a:t> world’s data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8544" y="684174"/>
            <a:ext cx="3401695" cy="2484755"/>
            <a:chOff x="138544" y="684174"/>
            <a:chExt cx="3401695" cy="24847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9388" y="684174"/>
              <a:ext cx="2440304" cy="244030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8544" y="3166338"/>
              <a:ext cx="1828800" cy="0"/>
            </a:xfrm>
            <a:custGeom>
              <a:avLst/>
              <a:gdLst/>
              <a:ahLst/>
              <a:cxnLst/>
              <a:rect l="l" t="t" r="r" b="b"/>
              <a:pathLst>
                <a:path w="1828800">
                  <a:moveTo>
                    <a:pt x="0" y="0"/>
                  </a:moveTo>
                  <a:lnTo>
                    <a:pt x="182880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4276" y="3184702"/>
            <a:ext cx="156083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baseline="32407" dirty="0">
                <a:latin typeface="Trebuchet MS"/>
                <a:cs typeface="Trebuchet MS"/>
              </a:rPr>
              <a:t>1</a:t>
            </a:r>
            <a:r>
              <a:rPr sz="800" dirty="0">
                <a:latin typeface="Trebuchet MS"/>
                <a:cs typeface="Trebuchet MS"/>
              </a:rPr>
              <a:t>Source:</a:t>
            </a:r>
            <a:r>
              <a:rPr sz="800" spc="95" dirty="0">
                <a:latin typeface="Trebuchet MS"/>
                <a:cs typeface="Trebuchet MS"/>
              </a:rPr>
              <a:t> </a:t>
            </a:r>
            <a:r>
              <a:rPr sz="800" spc="-25" dirty="0">
                <a:latin typeface="Trebuchet MS"/>
                <a:cs typeface="Trebuchet MS"/>
              </a:rPr>
              <a:t>Internet</a:t>
            </a:r>
            <a:r>
              <a:rPr sz="800" spc="30" dirty="0">
                <a:latin typeface="Trebuchet MS"/>
                <a:cs typeface="Trebuchet MS"/>
              </a:rPr>
              <a:t> </a:t>
            </a:r>
            <a:r>
              <a:rPr sz="800" spc="-20" dirty="0">
                <a:latin typeface="Trebuchet MS"/>
                <a:cs typeface="Trebuchet MS"/>
              </a:rPr>
              <a:t>world</a:t>
            </a:r>
            <a:r>
              <a:rPr sz="800" spc="25" dirty="0">
                <a:latin typeface="Trebuchet MS"/>
                <a:cs typeface="Trebuchet MS"/>
              </a:rPr>
              <a:t> </a:t>
            </a:r>
            <a:r>
              <a:rPr sz="800" spc="-10" dirty="0">
                <a:latin typeface="Trebuchet MS"/>
                <a:cs typeface="Trebuchet MS"/>
              </a:rPr>
              <a:t>statistics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8" name="object 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9" name="object 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hidden="1"/>
          <p:cNvSpPr txBox="1"/>
          <p:nvPr/>
        </p:nvSpPr>
        <p:spPr>
          <a:xfrm>
            <a:off x="1889531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048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889518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0483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134478"/>
            <a:ext cx="4483735" cy="457834"/>
            <a:chOff x="87743" y="1134478"/>
            <a:chExt cx="4483735" cy="457834"/>
          </a:xfrm>
        </p:grpSpPr>
        <p:sp>
          <p:nvSpPr>
            <p:cNvPr id="5" name="object 5"/>
            <p:cNvSpPr/>
            <p:nvPr/>
          </p:nvSpPr>
          <p:spPr>
            <a:xfrm>
              <a:off x="87743" y="113447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7490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015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77454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8712"/>
              <a:ext cx="50800" cy="3114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351724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16850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41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914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78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5729" y="1059858"/>
            <a:ext cx="2204085" cy="4470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Fundamental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Scientific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Goal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i="1" dirty="0">
                <a:latin typeface="Trebuchet MS"/>
                <a:cs typeface="Trebuchet MS"/>
              </a:rPr>
              <a:t>Deep</a:t>
            </a:r>
            <a:r>
              <a:rPr sz="950" i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understanding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broad</a:t>
            </a:r>
            <a:r>
              <a:rPr sz="950" i="1" spc="1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1889518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What</a:t>
            </a:r>
            <a:r>
              <a:rPr spc="2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4478"/>
            <a:ext cx="4483735" cy="457834"/>
            <a:chOff x="87743" y="1134478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113447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749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015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7745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8712"/>
              <a:ext cx="50800" cy="3114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51724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6850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41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914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8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92884"/>
            <a:ext cx="4483735" cy="628015"/>
            <a:chOff x="87743" y="1692884"/>
            <a:chExt cx="4483735" cy="628015"/>
          </a:xfrm>
        </p:grpSpPr>
        <p:sp>
          <p:nvSpPr>
            <p:cNvPr id="15" name="object 15"/>
            <p:cNvSpPr/>
            <p:nvPr/>
          </p:nvSpPr>
          <p:spPr>
            <a:xfrm>
              <a:off x="87743" y="169288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865896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219147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206447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37118"/>
              <a:ext cx="50800" cy="4820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10156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1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1"/>
                  </a:lnTo>
                  <a:lnTo>
                    <a:pt x="4381754" y="359791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75282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625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498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371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059858"/>
            <a:ext cx="3978275" cy="11772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Fundamental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Scientific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Goal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i="1" dirty="0">
                <a:latin typeface="Trebuchet MS"/>
                <a:cs typeface="Trebuchet MS"/>
              </a:rPr>
              <a:t>Deep</a:t>
            </a:r>
            <a:r>
              <a:rPr sz="950" i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understanding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broad</a:t>
            </a:r>
            <a:r>
              <a:rPr sz="950" i="1" spc="1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Engineering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Goal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8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Design,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implement,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process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for </a:t>
            </a:r>
            <a:r>
              <a:rPr sz="950" spc="-20" dirty="0">
                <a:latin typeface="Trebuchet MS"/>
                <a:cs typeface="Trebuchet MS"/>
              </a:rPr>
              <a:t>practical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applications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889518" y="3339672"/>
            <a:ext cx="8293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Introduction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to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6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Course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7332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393343" y="3339672"/>
            <a:ext cx="1606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19518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63942"/>
            <a:ext cx="4483735" cy="347345"/>
            <a:chOff x="87743" y="963942"/>
            <a:chExt cx="4483735" cy="3473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09433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196733"/>
              <a:ext cx="4381753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70089"/>
              <a:ext cx="50800" cy="2393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63942"/>
              <a:ext cx="4432935" cy="296545"/>
            </a:xfrm>
            <a:custGeom>
              <a:avLst/>
              <a:gdLst/>
              <a:ahLst/>
              <a:cxnLst/>
              <a:rect l="l" t="t" r="r" b="b"/>
              <a:pathLst>
                <a:path w="4432935" h="296544">
                  <a:moveTo>
                    <a:pt x="4432554" y="0"/>
                  </a:moveTo>
                  <a:lnTo>
                    <a:pt x="0" y="0"/>
                  </a:lnTo>
                  <a:lnTo>
                    <a:pt x="0" y="245491"/>
                  </a:lnTo>
                  <a:lnTo>
                    <a:pt x="4008" y="265215"/>
                  </a:lnTo>
                  <a:lnTo>
                    <a:pt x="14922" y="281368"/>
                  </a:lnTo>
                  <a:lnTo>
                    <a:pt x="31075" y="292282"/>
                  </a:lnTo>
                  <a:lnTo>
                    <a:pt x="50800" y="296291"/>
                  </a:lnTo>
                  <a:lnTo>
                    <a:pt x="4381754" y="296291"/>
                  </a:lnTo>
                  <a:lnTo>
                    <a:pt x="4401478" y="292282"/>
                  </a:lnTo>
                  <a:lnTo>
                    <a:pt x="4417631" y="281368"/>
                  </a:lnTo>
                  <a:lnTo>
                    <a:pt x="4428545" y="265215"/>
                  </a:lnTo>
                  <a:lnTo>
                    <a:pt x="4432554" y="2454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1008138"/>
              <a:ext cx="0" cy="220345"/>
            </a:xfrm>
            <a:custGeom>
              <a:avLst/>
              <a:gdLst/>
              <a:ahLst/>
              <a:cxnLst/>
              <a:rect l="l" t="t" r="r" b="b"/>
              <a:pathLst>
                <a:path h="220344">
                  <a:moveTo>
                    <a:pt x="0" y="22034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954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827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700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18221" y="968311"/>
            <a:ext cx="1771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 do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we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 hidden="1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 dirty="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What</a:t>
            </a:r>
            <a:r>
              <a:rPr spc="2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4478"/>
            <a:ext cx="4483735" cy="457834"/>
            <a:chOff x="87743" y="1134478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1134478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749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015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7745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8712"/>
              <a:ext cx="50800" cy="31144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51724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6850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4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41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914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8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92884"/>
            <a:ext cx="4483735" cy="628015"/>
            <a:chOff x="87743" y="1692884"/>
            <a:chExt cx="4483735" cy="628015"/>
          </a:xfrm>
        </p:grpSpPr>
        <p:sp>
          <p:nvSpPr>
            <p:cNvPr id="15" name="object 15"/>
            <p:cNvSpPr/>
            <p:nvPr/>
          </p:nvSpPr>
          <p:spPr>
            <a:xfrm>
              <a:off x="87743" y="169288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865896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219147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206447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737118"/>
              <a:ext cx="50800" cy="48202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10156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1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1"/>
                  </a:lnTo>
                  <a:lnTo>
                    <a:pt x="4381754" y="359791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75282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4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625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498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3711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059858"/>
            <a:ext cx="3978275" cy="11772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Fundamental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Scientific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Goal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i="1" dirty="0">
                <a:latin typeface="Trebuchet MS"/>
                <a:cs typeface="Trebuchet MS"/>
              </a:rPr>
              <a:t>Deep</a:t>
            </a:r>
            <a:r>
              <a:rPr sz="950" i="1" spc="8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understanding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broad</a:t>
            </a:r>
            <a:r>
              <a:rPr sz="950" i="1" spc="1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Engineering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Goal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8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Design,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implement,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test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systems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process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for </a:t>
            </a:r>
            <a:r>
              <a:rPr sz="950" spc="-20" dirty="0">
                <a:latin typeface="Trebuchet MS"/>
                <a:cs typeface="Trebuchet MS"/>
              </a:rPr>
              <a:t>practical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applications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4027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very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ambitious:</a:t>
            </a:r>
            <a:r>
              <a:rPr sz="1400" i="1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Good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quality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translation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728" y="929919"/>
            <a:ext cx="4327290" cy="1595754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40271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very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ambitious:</a:t>
            </a:r>
            <a:r>
              <a:rPr sz="1400" i="1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Good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quality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translation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7134" y="1005967"/>
            <a:ext cx="4023360" cy="147447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Well,</a:t>
            </a:r>
            <a:r>
              <a:rPr spc="-30" dirty="0"/>
              <a:t> </a:t>
            </a:r>
            <a:r>
              <a:rPr dirty="0"/>
              <a:t>even</a:t>
            </a:r>
            <a:r>
              <a:rPr spc="-25" dirty="0"/>
              <a:t> </a:t>
            </a:r>
            <a:r>
              <a:rPr spc="-20" dirty="0"/>
              <a:t>humans</a:t>
            </a:r>
            <a:r>
              <a:rPr spc="-2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spc="-10" dirty="0"/>
              <a:t>made</a:t>
            </a:r>
            <a:r>
              <a:rPr spc="-25" dirty="0"/>
              <a:t> </a:t>
            </a:r>
            <a:r>
              <a:rPr spc="-10" dirty="0"/>
              <a:t>blunders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68781"/>
            <a:ext cx="4483735" cy="629920"/>
            <a:chOff x="87743" y="106878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10687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4180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654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3842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13015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8602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4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5115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384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257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130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994160"/>
            <a:ext cx="4276090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Pepsi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Chinese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blunder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“Come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alive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Pepsi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Generation”,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translated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Chinese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meant, </a:t>
            </a:r>
            <a:r>
              <a:rPr sz="950" dirty="0">
                <a:latin typeface="Trebuchet MS"/>
                <a:cs typeface="Trebuchet MS"/>
              </a:rPr>
              <a:t>“Pepsi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brings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relatives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back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dead.”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55381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Well,</a:t>
            </a:r>
            <a:r>
              <a:rPr spc="-30" dirty="0"/>
              <a:t> </a:t>
            </a:r>
            <a:r>
              <a:rPr dirty="0"/>
              <a:t>even</a:t>
            </a:r>
            <a:r>
              <a:rPr spc="-25" dirty="0"/>
              <a:t> </a:t>
            </a:r>
            <a:r>
              <a:rPr spc="-20" dirty="0"/>
              <a:t>humans</a:t>
            </a:r>
            <a:r>
              <a:rPr spc="-25" dirty="0"/>
              <a:t> </a:t>
            </a:r>
            <a:r>
              <a:rPr dirty="0"/>
              <a:t>have</a:t>
            </a:r>
            <a:r>
              <a:rPr spc="-30" dirty="0"/>
              <a:t> </a:t>
            </a:r>
            <a:r>
              <a:rPr spc="-10" dirty="0"/>
              <a:t>made</a:t>
            </a:r>
            <a:r>
              <a:rPr spc="-25" dirty="0"/>
              <a:t> </a:t>
            </a:r>
            <a:r>
              <a:rPr spc="-10" dirty="0"/>
              <a:t>blunders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68781"/>
            <a:ext cx="4483735" cy="629920"/>
            <a:chOff x="87743" y="106878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106878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4180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654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3842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13015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8602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4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5115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384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257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1301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99272"/>
            <a:ext cx="4483735" cy="620395"/>
            <a:chOff x="87743" y="1799272"/>
            <a:chExt cx="4483735" cy="620395"/>
          </a:xfrm>
        </p:grpSpPr>
        <p:sp>
          <p:nvSpPr>
            <p:cNvPr id="15" name="object 15"/>
            <p:cNvSpPr/>
            <p:nvPr/>
          </p:nvSpPr>
          <p:spPr>
            <a:xfrm>
              <a:off x="87743" y="179927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76275"/>
                  </a:lnTo>
                  <a:lnTo>
                    <a:pt x="4432554" y="176275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962937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317673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304973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843506"/>
              <a:ext cx="50800" cy="47416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2007158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4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81555"/>
              <a:ext cx="0" cy="455295"/>
            </a:xfrm>
            <a:custGeom>
              <a:avLst/>
              <a:gdLst/>
              <a:ahLst/>
              <a:cxnLst/>
              <a:rect l="l" t="t" r="r" b="b"/>
              <a:pathLst>
                <a:path h="455294">
                  <a:moveTo>
                    <a:pt x="0" y="45516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688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561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4349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994160"/>
            <a:ext cx="4315460" cy="13398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Pepsi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Chinese</a:t>
            </a:r>
            <a:r>
              <a:rPr sz="1100" i="1" spc="1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blunder</a:t>
            </a:r>
            <a:endParaRPr sz="1100">
              <a:latin typeface="Cambria"/>
              <a:cs typeface="Cambria"/>
            </a:endParaRPr>
          </a:p>
          <a:p>
            <a:pPr marL="12700" marR="4445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“Come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alive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Pepsi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Generation”,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translated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Chinese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meant, </a:t>
            </a:r>
            <a:r>
              <a:rPr sz="950" dirty="0">
                <a:latin typeface="Trebuchet MS"/>
                <a:cs typeface="Trebuchet MS"/>
              </a:rPr>
              <a:t>“Pepsi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brings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relatives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back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dead.”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70" dirty="0">
                <a:solidFill>
                  <a:srgbClr val="3232B2"/>
                </a:solidFill>
                <a:latin typeface="Cambria"/>
                <a:cs typeface="Cambria"/>
              </a:rPr>
              <a:t>KFC’s</a:t>
            </a:r>
            <a:r>
              <a:rPr sz="1100" i="1" spc="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Chinese</a:t>
            </a:r>
            <a:r>
              <a:rPr sz="1100" i="1" spc="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blunder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135"/>
              </a:spcBef>
            </a:pPr>
            <a:r>
              <a:rPr sz="950" spc="50" dirty="0">
                <a:latin typeface="Trebuchet MS"/>
                <a:cs typeface="Trebuchet MS"/>
              </a:rPr>
              <a:t>KFC’s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slogan,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“Finger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lickin’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good”,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when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translated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Chinese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“We’ll </a:t>
            </a:r>
            <a:r>
              <a:rPr sz="950" dirty="0">
                <a:latin typeface="Trebuchet MS"/>
                <a:cs typeface="Trebuchet MS"/>
              </a:rPr>
              <a:t>eat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fingers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off.”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56081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55381" y="3354121"/>
            <a:ext cx="198755" cy="87306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5595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Well,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even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humans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...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455099"/>
            <a:ext cx="2165459" cy="27515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74658" y="480737"/>
            <a:ext cx="2078832" cy="2725962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95859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very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ambitious:</a:t>
            </a:r>
            <a:r>
              <a:rPr sz="1400" i="1" spc="1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Open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Domain</a:t>
            </a:r>
            <a:r>
              <a:rPr sz="1400" i="1" spc="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Chatbots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620" y="488950"/>
            <a:ext cx="3167062" cy="270510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4410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10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Practical:</a:t>
            </a:r>
            <a:r>
              <a:rPr sz="1400" i="1" spc="2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Auto</a:t>
            </a:r>
            <a:r>
              <a:rPr sz="1400" i="1" spc="10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Completion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991108"/>
            <a:ext cx="4383404" cy="132588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2931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Practical:</a:t>
            </a:r>
            <a:r>
              <a:rPr sz="1400" i="1" spc="1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Search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Engines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34" y="1103282"/>
            <a:ext cx="4468470" cy="891533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84682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Practical:</a:t>
            </a:r>
            <a:r>
              <a:rPr sz="1400" i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Information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Extraction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3220" y="848106"/>
            <a:ext cx="4007612" cy="1781556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40620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Practical:</a:t>
            </a:r>
            <a:r>
              <a:rPr sz="1400" i="1" spc="1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Domain-specific</a:t>
            </a:r>
            <a:r>
              <a:rPr sz="1400" i="1" spc="9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Chatbots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95147"/>
            <a:ext cx="4608195" cy="3061335"/>
            <a:chOff x="0" y="395147"/>
            <a:chExt cx="4608195" cy="30613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1894" y="395147"/>
              <a:ext cx="3764279" cy="306085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And</a:t>
            </a:r>
            <a:r>
              <a:rPr spc="85" dirty="0"/>
              <a:t> </a:t>
            </a:r>
            <a:r>
              <a:rPr dirty="0"/>
              <a:t>Goals</a:t>
            </a:r>
            <a:r>
              <a:rPr spc="90" dirty="0"/>
              <a:t> </a:t>
            </a:r>
            <a:r>
              <a:rPr dirty="0"/>
              <a:t>can</a:t>
            </a:r>
            <a:r>
              <a:rPr spc="90" dirty="0"/>
              <a:t> </a:t>
            </a:r>
            <a:r>
              <a:rPr dirty="0"/>
              <a:t>be</a:t>
            </a:r>
            <a:r>
              <a:rPr spc="90" dirty="0"/>
              <a:t> </a:t>
            </a:r>
            <a:r>
              <a:rPr dirty="0"/>
              <a:t>Practical:</a:t>
            </a:r>
            <a:r>
              <a:rPr spc="180" dirty="0"/>
              <a:t> </a:t>
            </a:r>
            <a:r>
              <a:rPr dirty="0"/>
              <a:t>Domain-specific</a:t>
            </a:r>
            <a:r>
              <a:rPr spc="90" dirty="0"/>
              <a:t> </a:t>
            </a:r>
            <a:r>
              <a:rPr spc="-10" dirty="0"/>
              <a:t>Chatbots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0192" y="2694368"/>
            <a:ext cx="7620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50" dirty="0">
                <a:latin typeface="Trebuchet MS"/>
                <a:cs typeface="Trebuchet MS"/>
              </a:rPr>
              <a:t>1</a:t>
            </a:r>
            <a:endParaRPr sz="7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1055" y="679297"/>
            <a:ext cx="3652520" cy="209804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38544" y="3163036"/>
            <a:ext cx="1828800" cy="0"/>
          </a:xfrm>
          <a:custGeom>
            <a:avLst/>
            <a:gdLst/>
            <a:ahLst/>
            <a:cxnLst/>
            <a:rect l="l" t="t" r="r" b="b"/>
            <a:pathLst>
              <a:path w="1828800">
                <a:moveTo>
                  <a:pt x="0" y="0"/>
                </a:moveTo>
                <a:lnTo>
                  <a:pt x="182880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34276" y="3181400"/>
            <a:ext cx="441071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900" spc="-60" baseline="27777" dirty="0">
                <a:latin typeface="Trebuchet MS"/>
                <a:cs typeface="Trebuchet MS"/>
              </a:rPr>
              <a:t>1</a:t>
            </a:r>
            <a:r>
              <a:rPr sz="800" spc="-40" dirty="0">
                <a:latin typeface="Trebuchet MS"/>
                <a:cs typeface="Trebuchet MS"/>
                <a:hlinkClick r:id="rId3"/>
              </a:rPr>
              <a:t>http://www.news.gatech.edu/2016/05/09/ar</a:t>
            </a:r>
            <a:r>
              <a:rPr sz="800" spc="-40" dirty="0">
                <a:latin typeface="Trebuchet MS"/>
                <a:cs typeface="Trebuchet MS"/>
              </a:rPr>
              <a:t>tificial-</a:t>
            </a:r>
            <a:r>
              <a:rPr sz="800" spc="-30" dirty="0">
                <a:latin typeface="Trebuchet MS"/>
                <a:cs typeface="Trebuchet MS"/>
              </a:rPr>
              <a:t>intelligence-course-</a:t>
            </a:r>
            <a:r>
              <a:rPr sz="800" spc="-10" dirty="0">
                <a:latin typeface="Trebuchet MS"/>
                <a:cs typeface="Trebuchet MS"/>
              </a:rPr>
              <a:t>creates-</a:t>
            </a:r>
            <a:r>
              <a:rPr sz="800" dirty="0">
                <a:latin typeface="Trebuchet MS"/>
                <a:cs typeface="Trebuchet MS"/>
              </a:rPr>
              <a:t>ai-teaching-</a:t>
            </a:r>
            <a:r>
              <a:rPr sz="800" spc="-10" dirty="0">
                <a:latin typeface="Trebuchet MS"/>
                <a:cs typeface="Trebuchet MS"/>
              </a:rPr>
              <a:t>assist</a:t>
            </a:r>
            <a:endParaRPr sz="800">
              <a:latin typeface="Trebuchet MS"/>
              <a:cs typeface="Trebuchet MS"/>
            </a:endParaRPr>
          </a:p>
        </p:txBody>
      </p:sp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5458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can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be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Practical:</a:t>
            </a:r>
            <a:r>
              <a:rPr sz="1400" i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Sentiment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Analysis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533" y="1185248"/>
            <a:ext cx="3873015" cy="1022222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9315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Goals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030910"/>
            <a:ext cx="4483735" cy="887094"/>
            <a:chOff x="87743" y="1030910"/>
            <a:chExt cx="4483735" cy="887094"/>
          </a:xfrm>
        </p:grpSpPr>
        <p:sp>
          <p:nvSpPr>
            <p:cNvPr id="5" name="object 5"/>
            <p:cNvSpPr/>
            <p:nvPr/>
          </p:nvSpPr>
          <p:spPr>
            <a:xfrm>
              <a:off x="87743" y="1030910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816074"/>
              <a:ext cx="101600" cy="101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8033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081468"/>
              <a:ext cx="50800" cy="7346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75283"/>
              <a:ext cx="4432935" cy="791845"/>
            </a:xfrm>
            <a:custGeom>
              <a:avLst/>
              <a:gdLst/>
              <a:ahLst/>
              <a:cxnLst/>
              <a:rect l="l" t="t" r="r" b="b"/>
              <a:pathLst>
                <a:path w="4432935" h="791844">
                  <a:moveTo>
                    <a:pt x="4432554" y="0"/>
                  </a:moveTo>
                  <a:lnTo>
                    <a:pt x="0" y="0"/>
                  </a:lnTo>
                  <a:lnTo>
                    <a:pt x="0" y="740790"/>
                  </a:lnTo>
                  <a:lnTo>
                    <a:pt x="4008" y="760515"/>
                  </a:lnTo>
                  <a:lnTo>
                    <a:pt x="14922" y="776668"/>
                  </a:lnTo>
                  <a:lnTo>
                    <a:pt x="31075" y="787582"/>
                  </a:lnTo>
                  <a:lnTo>
                    <a:pt x="50800" y="791590"/>
                  </a:lnTo>
                  <a:lnTo>
                    <a:pt x="4381754" y="791590"/>
                  </a:lnTo>
                  <a:lnTo>
                    <a:pt x="4401478" y="787582"/>
                  </a:lnTo>
                  <a:lnTo>
                    <a:pt x="4417631" y="776668"/>
                  </a:lnTo>
                  <a:lnTo>
                    <a:pt x="4428545" y="760515"/>
                  </a:lnTo>
                  <a:lnTo>
                    <a:pt x="4432554" y="7407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1960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4">
                  <a:moveTo>
                    <a:pt x="0" y="7155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068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941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814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125067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3510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45133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55165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402932" y="994531"/>
            <a:ext cx="2296160" cy="8686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spc="65" dirty="0">
                <a:latin typeface="Trebuchet MS"/>
                <a:cs typeface="Trebuchet MS"/>
              </a:rPr>
              <a:t>Spam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detection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Translation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services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Web </a:t>
            </a:r>
            <a:r>
              <a:rPr sz="950" spc="-45" dirty="0">
                <a:latin typeface="Trebuchet MS"/>
                <a:cs typeface="Trebuchet MS"/>
              </a:rPr>
              <a:t>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Summarization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 hidden="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 hidden="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 hidden="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4317420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80" dirty="0"/>
              <a:t> </a:t>
            </a:r>
            <a:r>
              <a:rPr spc="-10" dirty="0"/>
              <a:t>Goals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30910"/>
            <a:ext cx="4483735" cy="887094"/>
            <a:chOff x="87743" y="1030910"/>
            <a:chExt cx="4483735" cy="887094"/>
          </a:xfrm>
        </p:grpSpPr>
        <p:sp>
          <p:nvSpPr>
            <p:cNvPr id="4" name="object 4"/>
            <p:cNvSpPr/>
            <p:nvPr/>
          </p:nvSpPr>
          <p:spPr>
            <a:xfrm>
              <a:off x="87743" y="1030910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816074"/>
              <a:ext cx="101600" cy="1015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803374"/>
              <a:ext cx="4381753" cy="1143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1081468"/>
              <a:ext cx="50800" cy="7346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43" y="1075283"/>
              <a:ext cx="4432935" cy="791845"/>
            </a:xfrm>
            <a:custGeom>
              <a:avLst/>
              <a:gdLst/>
              <a:ahLst/>
              <a:cxnLst/>
              <a:rect l="l" t="t" r="r" b="b"/>
              <a:pathLst>
                <a:path w="4432935" h="791844">
                  <a:moveTo>
                    <a:pt x="4432554" y="0"/>
                  </a:moveTo>
                  <a:lnTo>
                    <a:pt x="0" y="0"/>
                  </a:lnTo>
                  <a:lnTo>
                    <a:pt x="0" y="740790"/>
                  </a:lnTo>
                  <a:lnTo>
                    <a:pt x="4008" y="760515"/>
                  </a:lnTo>
                  <a:lnTo>
                    <a:pt x="14922" y="776668"/>
                  </a:lnTo>
                  <a:lnTo>
                    <a:pt x="31075" y="787582"/>
                  </a:lnTo>
                  <a:lnTo>
                    <a:pt x="50800" y="791590"/>
                  </a:lnTo>
                  <a:lnTo>
                    <a:pt x="4381754" y="791590"/>
                  </a:lnTo>
                  <a:lnTo>
                    <a:pt x="4401478" y="787582"/>
                  </a:lnTo>
                  <a:lnTo>
                    <a:pt x="4417631" y="776668"/>
                  </a:lnTo>
                  <a:lnTo>
                    <a:pt x="4428545" y="760515"/>
                  </a:lnTo>
                  <a:lnTo>
                    <a:pt x="4432554" y="7407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1119606"/>
              <a:ext cx="0" cy="715645"/>
            </a:xfrm>
            <a:custGeom>
              <a:avLst/>
              <a:gdLst/>
              <a:ahLst/>
              <a:cxnLst/>
              <a:rect l="l" t="t" r="r" b="b"/>
              <a:pathLst>
                <a:path h="715644">
                  <a:moveTo>
                    <a:pt x="0" y="7155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068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941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8146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1597" y="1125067"/>
              <a:ext cx="64757" cy="6475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3510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4513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5516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018804"/>
            <a:ext cx="4483735" cy="457834"/>
            <a:chOff x="87743" y="2018804"/>
            <a:chExt cx="4483735" cy="457834"/>
          </a:xfrm>
        </p:grpSpPr>
        <p:sp>
          <p:nvSpPr>
            <p:cNvPr id="18" name="object 18"/>
            <p:cNvSpPr/>
            <p:nvPr/>
          </p:nvSpPr>
          <p:spPr>
            <a:xfrm>
              <a:off x="87743" y="201880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91817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374481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361781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63038"/>
              <a:ext cx="50800" cy="31144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36051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29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29"/>
                  </a:lnTo>
                  <a:lnTo>
                    <a:pt x="4381754" y="189229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2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01177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884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757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630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5729" y="994531"/>
            <a:ext cx="2855595" cy="139636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sz="950" spc="65" dirty="0">
                <a:latin typeface="Trebuchet MS"/>
                <a:cs typeface="Trebuchet MS"/>
              </a:rPr>
              <a:t>Spam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detection</a:t>
            </a:r>
            <a:endParaRPr sz="950">
              <a:latin typeface="Trebuchet MS"/>
              <a:cs typeface="Trebuchet MS"/>
            </a:endParaRPr>
          </a:p>
          <a:p>
            <a:pPr marL="289560" marR="28702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Translation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services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Web </a:t>
            </a:r>
            <a:r>
              <a:rPr sz="950" spc="-45" dirty="0">
                <a:latin typeface="Trebuchet MS"/>
                <a:cs typeface="Trebuchet MS"/>
              </a:rPr>
              <a:t>Text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Summarization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65"/>
              </a:spcBef>
            </a:pP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spc="-18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.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Natural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Language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FF0000"/>
                </a:solidFill>
                <a:latin typeface="Cambria"/>
                <a:cs typeface="Cambria"/>
              </a:rPr>
              <a:t>Technology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not</a:t>
            </a:r>
            <a:r>
              <a:rPr sz="1100" i="1" spc="-1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yet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 perfect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But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still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good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enough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several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useful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applications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1927479" y="3339672"/>
            <a:ext cx="75311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What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we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do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NLP?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522853" y="3339672"/>
            <a:ext cx="6496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Module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5419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3440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47877"/>
            <a:ext cx="4483735" cy="382270"/>
            <a:chOff x="87743" y="947877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28420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15720"/>
              <a:ext cx="4381753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3998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47877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92073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793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66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39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618996" y="952246"/>
            <a:ext cx="1370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370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130909"/>
            <a:ext cx="4483735" cy="1195705"/>
            <a:chOff x="87743" y="1130909"/>
            <a:chExt cx="4483735" cy="1195705"/>
          </a:xfrm>
        </p:grpSpPr>
        <p:sp>
          <p:nvSpPr>
            <p:cNvPr id="5" name="object 5"/>
            <p:cNvSpPr/>
            <p:nvPr/>
          </p:nvSpPr>
          <p:spPr>
            <a:xfrm>
              <a:off x="87743" y="113090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3921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24493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11793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5143"/>
              <a:ext cx="50800" cy="10493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348193"/>
              <a:ext cx="4432935" cy="927100"/>
            </a:xfrm>
            <a:custGeom>
              <a:avLst/>
              <a:gdLst/>
              <a:ahLst/>
              <a:cxnLst/>
              <a:rect l="l" t="t" r="r" b="b"/>
              <a:pathLst>
                <a:path w="4432935" h="927100">
                  <a:moveTo>
                    <a:pt x="4432554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008" y="896024"/>
                  </a:lnTo>
                  <a:lnTo>
                    <a:pt x="14922" y="912177"/>
                  </a:lnTo>
                  <a:lnTo>
                    <a:pt x="31075" y="923091"/>
                  </a:lnTo>
                  <a:lnTo>
                    <a:pt x="50800" y="927100"/>
                  </a:lnTo>
                  <a:lnTo>
                    <a:pt x="4381754" y="927100"/>
                  </a:lnTo>
                  <a:lnTo>
                    <a:pt x="4401478" y="923091"/>
                  </a:lnTo>
                  <a:lnTo>
                    <a:pt x="4417631" y="912177"/>
                  </a:lnTo>
                  <a:lnTo>
                    <a:pt x="4428545" y="896024"/>
                  </a:lnTo>
                  <a:lnTo>
                    <a:pt x="4432554" y="87630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13192"/>
              <a:ext cx="0" cy="1030605"/>
            </a:xfrm>
            <a:custGeom>
              <a:avLst/>
              <a:gdLst/>
              <a:ahLst/>
              <a:cxnLst/>
              <a:rect l="l" t="t" r="r" b="b"/>
              <a:pathLst>
                <a:path h="1030605">
                  <a:moveTo>
                    <a:pt x="0" y="1030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05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878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751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792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056262"/>
            <a:ext cx="1543050" cy="4470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Ambiguity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i="1" spc="-3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Will’s</a:t>
            </a:r>
            <a:r>
              <a:rPr sz="950" i="1" spc="-10" dirty="0">
                <a:latin typeface="Trebuchet MS"/>
                <a:cs typeface="Trebuchet MS"/>
              </a:rPr>
              <a:t> will?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 hidden="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 hidden="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0909"/>
            <a:ext cx="4483735" cy="1195705"/>
            <a:chOff x="87743" y="1130909"/>
            <a:chExt cx="4483735" cy="1195705"/>
          </a:xfrm>
        </p:grpSpPr>
        <p:sp>
          <p:nvSpPr>
            <p:cNvPr id="4" name="object 4"/>
            <p:cNvSpPr/>
            <p:nvPr/>
          </p:nvSpPr>
          <p:spPr>
            <a:xfrm>
              <a:off x="87743" y="113090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392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2449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1179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5143"/>
              <a:ext cx="50800" cy="10493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8193"/>
              <a:ext cx="4432935" cy="927100"/>
            </a:xfrm>
            <a:custGeom>
              <a:avLst/>
              <a:gdLst/>
              <a:ahLst/>
              <a:cxnLst/>
              <a:rect l="l" t="t" r="r" b="b"/>
              <a:pathLst>
                <a:path w="4432935" h="927100">
                  <a:moveTo>
                    <a:pt x="4432554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008" y="896024"/>
                  </a:lnTo>
                  <a:lnTo>
                    <a:pt x="14922" y="912177"/>
                  </a:lnTo>
                  <a:lnTo>
                    <a:pt x="31075" y="923091"/>
                  </a:lnTo>
                  <a:lnTo>
                    <a:pt x="50800" y="927100"/>
                  </a:lnTo>
                  <a:lnTo>
                    <a:pt x="4381754" y="927100"/>
                  </a:lnTo>
                  <a:lnTo>
                    <a:pt x="4401478" y="923091"/>
                  </a:lnTo>
                  <a:lnTo>
                    <a:pt x="4417631" y="912177"/>
                  </a:lnTo>
                  <a:lnTo>
                    <a:pt x="4428545" y="896024"/>
                  </a:lnTo>
                  <a:lnTo>
                    <a:pt x="4432554" y="87630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3192"/>
              <a:ext cx="0" cy="1030605"/>
            </a:xfrm>
            <a:custGeom>
              <a:avLst/>
              <a:gdLst/>
              <a:ahLst/>
              <a:cxnLst/>
              <a:rect l="l" t="t" r="r" b="b"/>
              <a:pathLst>
                <a:path h="1030605">
                  <a:moveTo>
                    <a:pt x="0" y="1030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05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78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51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7927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7959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056262"/>
            <a:ext cx="2967355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Ambiguity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i="1" spc="-3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will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Will’s</a:t>
            </a:r>
            <a:r>
              <a:rPr sz="950" i="1" spc="-10" dirty="0">
                <a:latin typeface="Trebuchet MS"/>
                <a:cs typeface="Trebuchet MS"/>
              </a:rPr>
              <a:t> will?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i="1" spc="75" dirty="0">
                <a:latin typeface="Trebuchet MS"/>
                <a:cs typeface="Trebuchet MS"/>
              </a:rPr>
              <a:t>Rose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rose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to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put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rose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roes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on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her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rows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roses.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0909"/>
            <a:ext cx="4483735" cy="1195705"/>
            <a:chOff x="87743" y="1130909"/>
            <a:chExt cx="4483735" cy="1195705"/>
          </a:xfrm>
        </p:grpSpPr>
        <p:sp>
          <p:nvSpPr>
            <p:cNvPr id="4" name="object 4"/>
            <p:cNvSpPr/>
            <p:nvPr/>
          </p:nvSpPr>
          <p:spPr>
            <a:xfrm>
              <a:off x="87743" y="113090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392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2449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1179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5143"/>
              <a:ext cx="50800" cy="10493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8193"/>
              <a:ext cx="4432935" cy="927100"/>
            </a:xfrm>
            <a:custGeom>
              <a:avLst/>
              <a:gdLst/>
              <a:ahLst/>
              <a:cxnLst/>
              <a:rect l="l" t="t" r="r" b="b"/>
              <a:pathLst>
                <a:path w="4432935" h="927100">
                  <a:moveTo>
                    <a:pt x="4432554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008" y="896024"/>
                  </a:lnTo>
                  <a:lnTo>
                    <a:pt x="14922" y="912177"/>
                  </a:lnTo>
                  <a:lnTo>
                    <a:pt x="31075" y="923091"/>
                  </a:lnTo>
                  <a:lnTo>
                    <a:pt x="50800" y="927100"/>
                  </a:lnTo>
                  <a:lnTo>
                    <a:pt x="4381754" y="927100"/>
                  </a:lnTo>
                  <a:lnTo>
                    <a:pt x="4401478" y="923091"/>
                  </a:lnTo>
                  <a:lnTo>
                    <a:pt x="4417631" y="912177"/>
                  </a:lnTo>
                  <a:lnTo>
                    <a:pt x="4428545" y="896024"/>
                  </a:lnTo>
                  <a:lnTo>
                    <a:pt x="4432554" y="87630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3192"/>
              <a:ext cx="0" cy="1030605"/>
            </a:xfrm>
            <a:custGeom>
              <a:avLst/>
              <a:gdLst/>
              <a:ahLst/>
              <a:cxnLst/>
              <a:rect l="l" t="t" r="r" b="b"/>
              <a:pathLst>
                <a:path h="1030605">
                  <a:moveTo>
                    <a:pt x="0" y="1030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05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78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51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7927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7959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817992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7399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Ambiguity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i="1" spc="-3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6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Will’s</a:t>
            </a:r>
            <a:r>
              <a:rPr i="1" spc="-10" dirty="0">
                <a:latin typeface="Trebuchet MS"/>
                <a:cs typeface="Trebuchet MS"/>
              </a:rPr>
              <a:t> will?</a:t>
            </a:r>
          </a:p>
          <a:p>
            <a:pPr marL="327025">
              <a:lnSpc>
                <a:spcPct val="100000"/>
              </a:lnSpc>
              <a:spcBef>
                <a:spcPts val="509"/>
              </a:spcBef>
            </a:pPr>
            <a:r>
              <a:rPr i="1" spc="75" dirty="0">
                <a:latin typeface="Trebuchet MS"/>
                <a:cs typeface="Trebuchet MS"/>
              </a:rPr>
              <a:t>Rose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rose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50" dirty="0">
                <a:latin typeface="Trebuchet MS"/>
                <a:cs typeface="Trebuchet MS"/>
              </a:rPr>
              <a:t>to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put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rose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roes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on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her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rows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of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10" dirty="0">
                <a:latin typeface="Trebuchet MS"/>
                <a:cs typeface="Trebuchet MS"/>
              </a:rPr>
              <a:t>roses.</a:t>
            </a:r>
          </a:p>
          <a:p>
            <a:pPr marL="327025">
              <a:lnSpc>
                <a:spcPct val="100000"/>
              </a:lnSpc>
              <a:spcBef>
                <a:spcPts val="515"/>
              </a:spcBef>
            </a:pP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25" dirty="0">
                <a:latin typeface="Trebuchet MS"/>
                <a:cs typeface="Trebuchet MS"/>
              </a:rPr>
              <a:t>buffalo.</a:t>
            </a: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30909"/>
            <a:ext cx="4483735" cy="1195705"/>
            <a:chOff x="87743" y="1130909"/>
            <a:chExt cx="4483735" cy="1195705"/>
          </a:xfrm>
        </p:grpSpPr>
        <p:sp>
          <p:nvSpPr>
            <p:cNvPr id="4" name="object 4"/>
            <p:cNvSpPr/>
            <p:nvPr/>
          </p:nvSpPr>
          <p:spPr>
            <a:xfrm>
              <a:off x="87743" y="113090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392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22449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21179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5143"/>
              <a:ext cx="50800" cy="10493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8193"/>
              <a:ext cx="4432935" cy="927100"/>
            </a:xfrm>
            <a:custGeom>
              <a:avLst/>
              <a:gdLst/>
              <a:ahLst/>
              <a:cxnLst/>
              <a:rect l="l" t="t" r="r" b="b"/>
              <a:pathLst>
                <a:path w="4432935" h="927100">
                  <a:moveTo>
                    <a:pt x="4432554" y="0"/>
                  </a:moveTo>
                  <a:lnTo>
                    <a:pt x="0" y="0"/>
                  </a:lnTo>
                  <a:lnTo>
                    <a:pt x="0" y="876300"/>
                  </a:lnTo>
                  <a:lnTo>
                    <a:pt x="4008" y="896024"/>
                  </a:lnTo>
                  <a:lnTo>
                    <a:pt x="14922" y="912177"/>
                  </a:lnTo>
                  <a:lnTo>
                    <a:pt x="31075" y="923091"/>
                  </a:lnTo>
                  <a:lnTo>
                    <a:pt x="50800" y="927100"/>
                  </a:lnTo>
                  <a:lnTo>
                    <a:pt x="4381754" y="927100"/>
                  </a:lnTo>
                  <a:lnTo>
                    <a:pt x="4401478" y="923091"/>
                  </a:lnTo>
                  <a:lnTo>
                    <a:pt x="4417631" y="912177"/>
                  </a:lnTo>
                  <a:lnTo>
                    <a:pt x="4428545" y="896024"/>
                  </a:lnTo>
                  <a:lnTo>
                    <a:pt x="4432554" y="87630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3192"/>
              <a:ext cx="0" cy="1030605"/>
            </a:xfrm>
            <a:custGeom>
              <a:avLst/>
              <a:gdLst/>
              <a:ahLst/>
              <a:cxnLst/>
              <a:rect l="l" t="t" r="r" b="b"/>
              <a:pathLst>
                <a:path h="1030605">
                  <a:moveTo>
                    <a:pt x="0" y="103035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005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78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512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7927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7959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817992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97399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Ambiguity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i="1" spc="-3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65" dirty="0">
                <a:latin typeface="Trebuchet MS"/>
                <a:cs typeface="Trebuchet MS"/>
              </a:rPr>
              <a:t>will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Will’s</a:t>
            </a:r>
            <a:r>
              <a:rPr i="1" spc="-10" dirty="0">
                <a:latin typeface="Trebuchet MS"/>
                <a:cs typeface="Trebuchet MS"/>
              </a:rPr>
              <a:t> will?</a:t>
            </a:r>
          </a:p>
          <a:p>
            <a:pPr marL="327025">
              <a:lnSpc>
                <a:spcPct val="100000"/>
              </a:lnSpc>
              <a:spcBef>
                <a:spcPts val="509"/>
              </a:spcBef>
            </a:pPr>
            <a:r>
              <a:rPr i="1" spc="75" dirty="0">
                <a:latin typeface="Trebuchet MS"/>
                <a:cs typeface="Trebuchet MS"/>
              </a:rPr>
              <a:t>Rose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rose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50" dirty="0">
                <a:latin typeface="Trebuchet MS"/>
                <a:cs typeface="Trebuchet MS"/>
              </a:rPr>
              <a:t>to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put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rose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roes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on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her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rows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35" dirty="0">
                <a:latin typeface="Trebuchet MS"/>
                <a:cs typeface="Trebuchet MS"/>
              </a:rPr>
              <a:t>of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i="1" spc="-10" dirty="0">
                <a:latin typeface="Trebuchet MS"/>
                <a:cs typeface="Trebuchet MS"/>
              </a:rPr>
              <a:t>roses.</a:t>
            </a:r>
          </a:p>
          <a:p>
            <a:pPr marL="327025">
              <a:lnSpc>
                <a:spcPct val="100000"/>
              </a:lnSpc>
              <a:spcBef>
                <a:spcPts val="515"/>
              </a:spcBef>
            </a:pP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i="1" spc="-4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20" dirty="0">
                <a:latin typeface="Trebuchet MS"/>
                <a:cs typeface="Trebuchet MS"/>
              </a:rPr>
              <a:t>Buffalo</a:t>
            </a:r>
            <a:r>
              <a:rPr i="1" spc="-5" dirty="0">
                <a:latin typeface="Trebuchet MS"/>
                <a:cs typeface="Trebuchet MS"/>
              </a:rPr>
              <a:t> </a:t>
            </a:r>
            <a:r>
              <a:rPr i="1" spc="-10" dirty="0">
                <a:latin typeface="Trebuchet MS"/>
                <a:cs typeface="Trebuchet MS"/>
              </a:rPr>
              <a:t>buffalo.</a:t>
            </a:r>
          </a:p>
          <a:p>
            <a:pPr marL="327025" marR="5080">
              <a:lnSpc>
                <a:spcPts val="1350"/>
              </a:lnSpc>
              <a:spcBef>
                <a:spcPts val="85"/>
              </a:spcBef>
            </a:pPr>
            <a:r>
              <a:rPr sz="1100" i="1" dirty="0">
                <a:latin typeface="Arial"/>
                <a:cs typeface="Arial"/>
              </a:rPr>
              <a:t>→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dirty="0"/>
              <a:t>Buffaloes</a:t>
            </a:r>
            <a:r>
              <a:rPr spc="-10" dirty="0"/>
              <a:t> from </a:t>
            </a:r>
            <a:r>
              <a:rPr spc="-20" dirty="0"/>
              <a:t>Buffalo,</a:t>
            </a:r>
            <a:r>
              <a:rPr spc="-10" dirty="0"/>
              <a:t> </a:t>
            </a:r>
            <a:r>
              <a:rPr dirty="0"/>
              <a:t>NY,</a:t>
            </a:r>
            <a:r>
              <a:rPr spc="-10" dirty="0"/>
              <a:t> </a:t>
            </a:r>
            <a:r>
              <a:rPr dirty="0"/>
              <a:t>whom</a:t>
            </a:r>
            <a:r>
              <a:rPr spc="-10" dirty="0"/>
              <a:t> </a:t>
            </a:r>
            <a:r>
              <a:rPr dirty="0"/>
              <a:t>buffaloes</a:t>
            </a:r>
            <a:r>
              <a:rPr spc="-10" dirty="0"/>
              <a:t> from </a:t>
            </a:r>
            <a:r>
              <a:rPr dirty="0"/>
              <a:t>Buffalo</a:t>
            </a:r>
            <a:r>
              <a:rPr spc="-10" dirty="0"/>
              <a:t> </a:t>
            </a:r>
            <a:r>
              <a:rPr spc="-50" dirty="0"/>
              <a:t>bully,</a:t>
            </a:r>
            <a:r>
              <a:rPr spc="-10" dirty="0"/>
              <a:t> bully </a:t>
            </a:r>
            <a:r>
              <a:rPr dirty="0"/>
              <a:t>buffaloes</a:t>
            </a:r>
            <a:r>
              <a:rPr spc="-45" dirty="0"/>
              <a:t> </a:t>
            </a:r>
            <a:r>
              <a:rPr spc="-10" dirty="0"/>
              <a:t>from</a:t>
            </a:r>
            <a:r>
              <a:rPr spc="-45" dirty="0"/>
              <a:t> </a:t>
            </a:r>
            <a:r>
              <a:rPr spc="-10" dirty="0"/>
              <a:t>Buffalo.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94651"/>
            <a:ext cx="4483735" cy="875030"/>
            <a:chOff x="87743" y="894651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946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676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6753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5483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8885"/>
              <a:ext cx="50800" cy="7286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11910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7036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642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515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88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588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68844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78876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87743" y="1870265"/>
            <a:ext cx="4432935" cy="186055"/>
          </a:xfrm>
          <a:custGeom>
            <a:avLst/>
            <a:gdLst/>
            <a:ahLst/>
            <a:cxnLst/>
            <a:rect l="l" t="t" r="r" b="b"/>
            <a:pathLst>
              <a:path w="4432935" h="186055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799"/>
                </a:lnTo>
                <a:lnTo>
                  <a:pt x="0" y="185673"/>
                </a:lnTo>
                <a:lnTo>
                  <a:pt x="4432554" y="185673"/>
                </a:lnTo>
                <a:lnTo>
                  <a:pt x="4432554" y="50799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25729" y="823193"/>
            <a:ext cx="3215005" cy="121983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ambiguity:</a:t>
            </a:r>
            <a:r>
              <a:rPr sz="1100" i="1" spc="6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Structural</a:t>
            </a:r>
            <a:endParaRPr sz="1100">
              <a:latin typeface="Cambria"/>
              <a:cs typeface="Cambria"/>
            </a:endParaRPr>
          </a:p>
          <a:p>
            <a:pPr marL="289560" marR="631190">
              <a:lnSpc>
                <a:spcPts val="1650"/>
              </a:lnSpc>
              <a:spcBef>
                <a:spcPts val="30"/>
              </a:spcBef>
            </a:pPr>
            <a:r>
              <a:rPr sz="950" i="1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man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saw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boy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with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binoculars. </a:t>
            </a:r>
            <a:r>
              <a:rPr sz="950" i="1" dirty="0">
                <a:latin typeface="Trebuchet MS"/>
                <a:cs typeface="Trebuchet MS"/>
              </a:rPr>
              <a:t>Flying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planes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can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be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dangerous.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950" i="1" dirty="0">
                <a:latin typeface="Trebuchet MS"/>
                <a:cs typeface="Trebuchet MS"/>
              </a:rPr>
              <a:t>Hole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found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in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room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wall;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police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looking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into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imprecision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vagueness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743" y="1914489"/>
            <a:ext cx="4483735" cy="766445"/>
            <a:chOff x="87743" y="1914489"/>
            <a:chExt cx="4483735" cy="766445"/>
          </a:xfrm>
        </p:grpSpPr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043277"/>
              <a:ext cx="4432554" cy="506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78874"/>
              <a:ext cx="101600" cy="1016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66174"/>
              <a:ext cx="4381753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914499"/>
              <a:ext cx="50800" cy="66437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7743" y="2087511"/>
              <a:ext cx="4432935" cy="542290"/>
            </a:xfrm>
            <a:custGeom>
              <a:avLst/>
              <a:gdLst/>
              <a:ahLst/>
              <a:cxnLst/>
              <a:rect l="l" t="t" r="r" b="b"/>
              <a:pathLst>
                <a:path w="4432935" h="542289">
                  <a:moveTo>
                    <a:pt x="4432554" y="0"/>
                  </a:moveTo>
                  <a:lnTo>
                    <a:pt x="0" y="0"/>
                  </a:lnTo>
                  <a:lnTo>
                    <a:pt x="0" y="491363"/>
                  </a:lnTo>
                  <a:lnTo>
                    <a:pt x="4008" y="511087"/>
                  </a:lnTo>
                  <a:lnTo>
                    <a:pt x="14922" y="527240"/>
                  </a:lnTo>
                  <a:lnTo>
                    <a:pt x="31075" y="538154"/>
                  </a:lnTo>
                  <a:lnTo>
                    <a:pt x="50800" y="542163"/>
                  </a:lnTo>
                  <a:lnTo>
                    <a:pt x="4381754" y="542163"/>
                  </a:lnTo>
                  <a:lnTo>
                    <a:pt x="4401478" y="538154"/>
                  </a:lnTo>
                  <a:lnTo>
                    <a:pt x="4417631" y="527240"/>
                  </a:lnTo>
                  <a:lnTo>
                    <a:pt x="4428545" y="511087"/>
                  </a:lnTo>
                  <a:lnTo>
                    <a:pt x="4432554" y="4913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52637"/>
              <a:ext cx="0" cy="645795"/>
            </a:xfrm>
            <a:custGeom>
              <a:avLst/>
              <a:gdLst/>
              <a:ahLst/>
              <a:cxnLst/>
              <a:rect l="l" t="t" r="r" b="b"/>
              <a:pathLst>
                <a:path h="645794">
                  <a:moveTo>
                    <a:pt x="0" y="6452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398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9271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19144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94651"/>
            <a:ext cx="4483735" cy="875030"/>
            <a:chOff x="87743" y="894651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946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676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6753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5483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8885"/>
              <a:ext cx="50800" cy="7286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11910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7036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642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515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88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588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68844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78876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870265"/>
            <a:ext cx="4483735" cy="810260"/>
            <a:chOff x="87743" y="1870265"/>
            <a:chExt cx="4483735" cy="810260"/>
          </a:xfrm>
        </p:grpSpPr>
        <p:sp>
          <p:nvSpPr>
            <p:cNvPr id="18" name="object 18"/>
            <p:cNvSpPr/>
            <p:nvPr/>
          </p:nvSpPr>
          <p:spPr>
            <a:xfrm>
              <a:off x="87743" y="187026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043277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78874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66174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914499"/>
              <a:ext cx="50800" cy="6643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87511"/>
              <a:ext cx="4432935" cy="542290"/>
            </a:xfrm>
            <a:custGeom>
              <a:avLst/>
              <a:gdLst/>
              <a:ahLst/>
              <a:cxnLst/>
              <a:rect l="l" t="t" r="r" b="b"/>
              <a:pathLst>
                <a:path w="4432935" h="542289">
                  <a:moveTo>
                    <a:pt x="4432554" y="0"/>
                  </a:moveTo>
                  <a:lnTo>
                    <a:pt x="0" y="0"/>
                  </a:lnTo>
                  <a:lnTo>
                    <a:pt x="0" y="491363"/>
                  </a:lnTo>
                  <a:lnTo>
                    <a:pt x="4008" y="511087"/>
                  </a:lnTo>
                  <a:lnTo>
                    <a:pt x="14922" y="527240"/>
                  </a:lnTo>
                  <a:lnTo>
                    <a:pt x="31075" y="538154"/>
                  </a:lnTo>
                  <a:lnTo>
                    <a:pt x="50800" y="542163"/>
                  </a:lnTo>
                  <a:lnTo>
                    <a:pt x="4381754" y="542163"/>
                  </a:lnTo>
                  <a:lnTo>
                    <a:pt x="4401478" y="538154"/>
                  </a:lnTo>
                  <a:lnTo>
                    <a:pt x="4417631" y="527240"/>
                  </a:lnTo>
                  <a:lnTo>
                    <a:pt x="4428545" y="511087"/>
                  </a:lnTo>
                  <a:lnTo>
                    <a:pt x="4432554" y="4913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52637"/>
              <a:ext cx="0" cy="645795"/>
            </a:xfrm>
            <a:custGeom>
              <a:avLst/>
              <a:gdLst/>
              <a:ahLst/>
              <a:cxnLst/>
              <a:rect l="l" t="t" r="r" b="b"/>
              <a:pathLst>
                <a:path h="645794">
                  <a:moveTo>
                    <a:pt x="0" y="6452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398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271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9144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34425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823193"/>
            <a:ext cx="3215005" cy="141668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ambiguity:</a:t>
            </a:r>
            <a:r>
              <a:rPr sz="1100" i="1" spc="6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Structural</a:t>
            </a:r>
            <a:endParaRPr sz="1100">
              <a:latin typeface="Cambria"/>
              <a:cs typeface="Cambria"/>
            </a:endParaRPr>
          </a:p>
          <a:p>
            <a:pPr marL="289560" marR="631190">
              <a:lnSpc>
                <a:spcPts val="1650"/>
              </a:lnSpc>
              <a:spcBef>
                <a:spcPts val="30"/>
              </a:spcBef>
            </a:pPr>
            <a:r>
              <a:rPr sz="950" i="1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man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saw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boy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with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binoculars. </a:t>
            </a:r>
            <a:r>
              <a:rPr sz="950" i="1" dirty="0">
                <a:latin typeface="Trebuchet MS"/>
                <a:cs typeface="Trebuchet MS"/>
              </a:rPr>
              <a:t>Flying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planes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can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be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dangerous.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950" i="1" dirty="0">
                <a:latin typeface="Trebuchet MS"/>
                <a:cs typeface="Trebuchet MS"/>
              </a:rPr>
              <a:t>Hole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found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in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room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wall;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police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looking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into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imprecision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vagueness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i="1" spc="-65" dirty="0">
                <a:latin typeface="Trebuchet MS"/>
                <a:cs typeface="Trebuchet MS"/>
              </a:rPr>
              <a:t>It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is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very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warm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here.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0" name="object 3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1" name="object 3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94651"/>
            <a:ext cx="4483735" cy="875030"/>
            <a:chOff x="87743" y="894651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9465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676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6753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5483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8885"/>
              <a:ext cx="50800" cy="7286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11910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7036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642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515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888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58811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68844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78876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870265"/>
            <a:ext cx="4483735" cy="810260"/>
            <a:chOff x="87743" y="1870265"/>
            <a:chExt cx="4483735" cy="810260"/>
          </a:xfrm>
        </p:grpSpPr>
        <p:sp>
          <p:nvSpPr>
            <p:cNvPr id="18" name="object 18"/>
            <p:cNvSpPr/>
            <p:nvPr/>
          </p:nvSpPr>
          <p:spPr>
            <a:xfrm>
              <a:off x="87743" y="187026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043277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78874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66174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914499"/>
              <a:ext cx="50800" cy="66437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87511"/>
              <a:ext cx="4432935" cy="542290"/>
            </a:xfrm>
            <a:custGeom>
              <a:avLst/>
              <a:gdLst/>
              <a:ahLst/>
              <a:cxnLst/>
              <a:rect l="l" t="t" r="r" b="b"/>
              <a:pathLst>
                <a:path w="4432935" h="542289">
                  <a:moveTo>
                    <a:pt x="4432554" y="0"/>
                  </a:moveTo>
                  <a:lnTo>
                    <a:pt x="0" y="0"/>
                  </a:lnTo>
                  <a:lnTo>
                    <a:pt x="0" y="491363"/>
                  </a:lnTo>
                  <a:lnTo>
                    <a:pt x="4008" y="511087"/>
                  </a:lnTo>
                  <a:lnTo>
                    <a:pt x="14922" y="527240"/>
                  </a:lnTo>
                  <a:lnTo>
                    <a:pt x="31075" y="538154"/>
                  </a:lnTo>
                  <a:lnTo>
                    <a:pt x="50800" y="542163"/>
                  </a:lnTo>
                  <a:lnTo>
                    <a:pt x="4381754" y="542163"/>
                  </a:lnTo>
                  <a:lnTo>
                    <a:pt x="4401478" y="538154"/>
                  </a:lnTo>
                  <a:lnTo>
                    <a:pt x="4417631" y="527240"/>
                  </a:lnTo>
                  <a:lnTo>
                    <a:pt x="4428545" y="511087"/>
                  </a:lnTo>
                  <a:lnTo>
                    <a:pt x="4432554" y="4913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52637"/>
              <a:ext cx="0" cy="645795"/>
            </a:xfrm>
            <a:custGeom>
              <a:avLst/>
              <a:gdLst/>
              <a:ahLst/>
              <a:cxnLst/>
              <a:rect l="l" t="t" r="r" b="b"/>
              <a:pathLst>
                <a:path h="645794">
                  <a:moveTo>
                    <a:pt x="0" y="6452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398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271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91448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34425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344458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823193"/>
            <a:ext cx="3215005" cy="17983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ambiguity:</a:t>
            </a:r>
            <a:r>
              <a:rPr sz="1100" i="1" spc="6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Structural</a:t>
            </a:r>
            <a:endParaRPr sz="1100">
              <a:latin typeface="Cambria"/>
              <a:cs typeface="Cambria"/>
            </a:endParaRPr>
          </a:p>
          <a:p>
            <a:pPr marL="289560" marR="631190">
              <a:lnSpc>
                <a:spcPts val="1650"/>
              </a:lnSpc>
              <a:spcBef>
                <a:spcPts val="30"/>
              </a:spcBef>
            </a:pPr>
            <a:r>
              <a:rPr sz="950" i="1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man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saw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boy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with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binoculars. </a:t>
            </a:r>
            <a:r>
              <a:rPr sz="950" i="1" dirty="0">
                <a:latin typeface="Trebuchet MS"/>
                <a:cs typeface="Trebuchet MS"/>
              </a:rPr>
              <a:t>Flying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planes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can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be</a:t>
            </a:r>
            <a:r>
              <a:rPr sz="950" i="1" spc="7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dangerous.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950" i="1" dirty="0">
                <a:latin typeface="Trebuchet MS"/>
                <a:cs typeface="Trebuchet MS"/>
              </a:rPr>
              <a:t>Hole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found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in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room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wall;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police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are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looking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into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it.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Language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imprecision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vagueness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i="1" spc="-65" dirty="0">
                <a:latin typeface="Trebuchet MS"/>
                <a:cs typeface="Trebuchet MS"/>
              </a:rPr>
              <a:t>It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is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very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warm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here.</a:t>
            </a:r>
            <a:endParaRPr sz="950">
              <a:latin typeface="Trebuchet MS"/>
              <a:cs typeface="Trebuchet MS"/>
            </a:endParaRPr>
          </a:p>
          <a:p>
            <a:pPr marL="289560" marR="489584">
              <a:lnSpc>
                <a:spcPct val="118900"/>
              </a:lnSpc>
              <a:spcBef>
                <a:spcPts val="300"/>
              </a:spcBef>
            </a:pPr>
            <a:r>
              <a:rPr sz="950" i="1" dirty="0">
                <a:latin typeface="Trebuchet MS"/>
                <a:cs typeface="Trebuchet MS"/>
              </a:rPr>
              <a:t>Q:</a:t>
            </a:r>
            <a:r>
              <a:rPr sz="950" i="1" spc="-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Did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your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mother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call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your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aunt</a:t>
            </a:r>
            <a:r>
              <a:rPr sz="950" i="1" spc="-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last</a:t>
            </a:r>
            <a:r>
              <a:rPr sz="950" i="1" spc="-2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night? </a:t>
            </a:r>
            <a:r>
              <a:rPr sz="950" i="1" dirty="0">
                <a:latin typeface="Trebuchet MS"/>
                <a:cs typeface="Trebuchet MS"/>
              </a:rPr>
              <a:t>A: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30" dirty="0">
                <a:latin typeface="Trebuchet MS"/>
                <a:cs typeface="Trebuchet MS"/>
              </a:rPr>
              <a:t>I’m</a:t>
            </a:r>
            <a:r>
              <a:rPr sz="950" i="1" dirty="0">
                <a:latin typeface="Trebuchet MS"/>
                <a:cs typeface="Trebuchet MS"/>
              </a:rPr>
              <a:t> sure </a:t>
            </a:r>
            <a:r>
              <a:rPr sz="950" i="1" spc="50" dirty="0">
                <a:latin typeface="Trebuchet MS"/>
                <a:cs typeface="Trebuchet MS"/>
              </a:rPr>
              <a:t>she</a:t>
            </a:r>
            <a:r>
              <a:rPr sz="950" i="1" dirty="0">
                <a:latin typeface="Trebuchet MS"/>
                <a:cs typeface="Trebuchet MS"/>
              </a:rPr>
              <a:t> must </a:t>
            </a:r>
            <a:r>
              <a:rPr sz="950" i="1" spc="-20" dirty="0">
                <a:latin typeface="Trebuchet MS"/>
                <a:cs typeface="Trebuchet MS"/>
              </a:rPr>
              <a:t>have.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1" name="object 3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2" name="object 3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9621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But</a:t>
            </a:r>
            <a:r>
              <a:rPr sz="1400" i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that’s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the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fun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part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817" y="1333020"/>
            <a:ext cx="3010535" cy="481330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sz="1300" dirty="0">
                <a:latin typeface="Trebuchet MS"/>
                <a:cs typeface="Trebuchet MS"/>
              </a:rPr>
              <a:t>Why</a:t>
            </a:r>
            <a:r>
              <a:rPr sz="1300" spc="-2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is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the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teacher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wearing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60" dirty="0">
                <a:latin typeface="Trebuchet MS"/>
                <a:cs typeface="Trebuchet MS"/>
              </a:rPr>
              <a:t>sun-</a:t>
            </a:r>
            <a:r>
              <a:rPr sz="1300" spc="45" dirty="0">
                <a:latin typeface="Trebuchet MS"/>
                <a:cs typeface="Trebuchet MS"/>
              </a:rPr>
              <a:t>glasses?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229"/>
              </a:spcBef>
            </a:pPr>
            <a:r>
              <a:rPr sz="1300" spc="-25" dirty="0">
                <a:latin typeface="Trebuchet MS"/>
                <a:cs typeface="Trebuchet MS"/>
              </a:rPr>
              <a:t>...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But</a:t>
            </a:r>
            <a:r>
              <a:rPr spc="-40" dirty="0"/>
              <a:t> </a:t>
            </a:r>
            <a:r>
              <a:rPr dirty="0"/>
              <a:t>that’s</a:t>
            </a:r>
            <a:r>
              <a:rPr spc="-3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fun</a:t>
            </a:r>
            <a:r>
              <a:rPr spc="-35" dirty="0"/>
              <a:t> </a:t>
            </a:r>
            <a:r>
              <a:rPr spc="-10" dirty="0"/>
              <a:t>part</a:t>
            </a:r>
            <a:r>
              <a:rPr spc="-35" dirty="0"/>
              <a:t> </a:t>
            </a:r>
            <a:r>
              <a:rPr dirty="0"/>
              <a:t>of</a:t>
            </a:r>
            <a:r>
              <a:rPr spc="-35" dirty="0"/>
              <a:t> </a:t>
            </a:r>
            <a:r>
              <a:rPr spc="-25" dirty="0"/>
              <a:t>it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98817" y="1333020"/>
            <a:ext cx="3010535" cy="653415"/>
          </a:xfrm>
          <a:prstGeom prst="rect">
            <a:avLst/>
          </a:prstGeom>
        </p:spPr>
        <p:txBody>
          <a:bodyPr vert="horz" wrap="square" lIns="0" tIns="42544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4"/>
              </a:spcBef>
            </a:pPr>
            <a:r>
              <a:rPr sz="1300" dirty="0">
                <a:latin typeface="Trebuchet MS"/>
                <a:cs typeface="Trebuchet MS"/>
              </a:rPr>
              <a:t>Why</a:t>
            </a:r>
            <a:r>
              <a:rPr sz="1300" spc="-25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is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the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25" dirty="0">
                <a:latin typeface="Trebuchet MS"/>
                <a:cs typeface="Trebuchet MS"/>
              </a:rPr>
              <a:t>teacher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-10" dirty="0">
                <a:latin typeface="Trebuchet MS"/>
                <a:cs typeface="Trebuchet MS"/>
              </a:rPr>
              <a:t>wearing</a:t>
            </a:r>
            <a:r>
              <a:rPr sz="1300" spc="-20" dirty="0">
                <a:latin typeface="Trebuchet MS"/>
                <a:cs typeface="Trebuchet MS"/>
              </a:rPr>
              <a:t> </a:t>
            </a:r>
            <a:r>
              <a:rPr sz="1300" spc="60" dirty="0">
                <a:latin typeface="Trebuchet MS"/>
                <a:cs typeface="Trebuchet MS"/>
              </a:rPr>
              <a:t>sun-</a:t>
            </a:r>
            <a:r>
              <a:rPr sz="1300" spc="45" dirty="0">
                <a:latin typeface="Trebuchet MS"/>
                <a:cs typeface="Trebuchet MS"/>
              </a:rPr>
              <a:t>glasses?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ts val="1455"/>
              </a:lnSpc>
              <a:spcBef>
                <a:spcPts val="229"/>
              </a:spcBef>
            </a:pPr>
            <a:r>
              <a:rPr sz="1300" spc="-25" dirty="0">
                <a:latin typeface="Trebuchet MS"/>
                <a:cs typeface="Trebuchet MS"/>
              </a:rPr>
              <a:t>...</a:t>
            </a:r>
            <a:endParaRPr sz="1300">
              <a:latin typeface="Trebuchet MS"/>
              <a:cs typeface="Trebuchet MS"/>
            </a:endParaRPr>
          </a:p>
          <a:p>
            <a:pPr algn="ctr">
              <a:lnSpc>
                <a:spcPts val="1455"/>
              </a:lnSpc>
            </a:pPr>
            <a:r>
              <a:rPr sz="1300" dirty="0">
                <a:latin typeface="Trebuchet MS"/>
                <a:cs typeface="Trebuchet MS"/>
              </a:rPr>
              <a:t>Because</a:t>
            </a:r>
            <a:r>
              <a:rPr sz="1300" spc="60" dirty="0">
                <a:latin typeface="Trebuchet MS"/>
                <a:cs typeface="Trebuchet MS"/>
              </a:rPr>
              <a:t> </a:t>
            </a:r>
            <a:r>
              <a:rPr sz="1300" spc="-50" dirty="0">
                <a:latin typeface="Trebuchet MS"/>
                <a:cs typeface="Trebuchet MS"/>
              </a:rPr>
              <a:t>the</a:t>
            </a:r>
            <a:r>
              <a:rPr sz="1300" spc="6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class</a:t>
            </a:r>
            <a:r>
              <a:rPr sz="1300" spc="60" dirty="0">
                <a:latin typeface="Trebuchet MS"/>
                <a:cs typeface="Trebuchet MS"/>
              </a:rPr>
              <a:t> </a:t>
            </a:r>
            <a:r>
              <a:rPr sz="1300" dirty="0">
                <a:latin typeface="Trebuchet MS"/>
                <a:cs typeface="Trebuchet MS"/>
              </a:rPr>
              <a:t>is</a:t>
            </a:r>
            <a:r>
              <a:rPr sz="1300" spc="60" dirty="0">
                <a:latin typeface="Trebuchet MS"/>
                <a:cs typeface="Trebuchet MS"/>
              </a:rPr>
              <a:t> </a:t>
            </a:r>
            <a:r>
              <a:rPr sz="1300" spc="65" dirty="0">
                <a:latin typeface="Trebuchet MS"/>
                <a:cs typeface="Trebuchet MS"/>
              </a:rPr>
              <a:t>so</a:t>
            </a:r>
            <a:r>
              <a:rPr sz="1300" spc="60" dirty="0">
                <a:latin typeface="Trebuchet MS"/>
                <a:cs typeface="Trebuchet MS"/>
              </a:rPr>
              <a:t> </a:t>
            </a:r>
            <a:r>
              <a:rPr sz="1300" b="1" spc="-10" dirty="0">
                <a:latin typeface="Trebuchet MS"/>
                <a:cs typeface="Trebuchet MS"/>
              </a:rPr>
              <a:t>bright</a:t>
            </a:r>
            <a:r>
              <a:rPr sz="1300" spc="-10" dirty="0">
                <a:latin typeface="Trebuchet MS"/>
                <a:cs typeface="Trebuchet MS"/>
              </a:rPr>
              <a:t>.</a:t>
            </a:r>
            <a:endParaRPr sz="130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71854"/>
            <a:ext cx="4483735" cy="843280"/>
            <a:chOff x="87743" y="1271854"/>
            <a:chExt cx="4483735" cy="843280"/>
          </a:xfrm>
        </p:grpSpPr>
        <p:sp>
          <p:nvSpPr>
            <p:cNvPr id="4" name="object 4"/>
            <p:cNvSpPr/>
            <p:nvPr/>
          </p:nvSpPr>
          <p:spPr>
            <a:xfrm>
              <a:off x="87743" y="1271854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3551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1306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036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16088"/>
              <a:ext cx="50800" cy="69697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79791"/>
              <a:ext cx="4432935" cy="584200"/>
            </a:xfrm>
            <a:custGeom>
              <a:avLst/>
              <a:gdLst/>
              <a:ahLst/>
              <a:cxnLst/>
              <a:rect l="l" t="t" r="r" b="b"/>
              <a:pathLst>
                <a:path w="4432935" h="584200">
                  <a:moveTo>
                    <a:pt x="4432554" y="0"/>
                  </a:moveTo>
                  <a:lnTo>
                    <a:pt x="0" y="0"/>
                  </a:lnTo>
                  <a:lnTo>
                    <a:pt x="0" y="533272"/>
                  </a:lnTo>
                  <a:lnTo>
                    <a:pt x="4008" y="552997"/>
                  </a:lnTo>
                  <a:lnTo>
                    <a:pt x="14922" y="569150"/>
                  </a:lnTo>
                  <a:lnTo>
                    <a:pt x="31075" y="580064"/>
                  </a:lnTo>
                  <a:lnTo>
                    <a:pt x="50800" y="584072"/>
                  </a:lnTo>
                  <a:lnTo>
                    <a:pt x="4381754" y="584072"/>
                  </a:lnTo>
                  <a:lnTo>
                    <a:pt x="4401478" y="580064"/>
                  </a:lnTo>
                  <a:lnTo>
                    <a:pt x="4417631" y="569150"/>
                  </a:lnTo>
                  <a:lnTo>
                    <a:pt x="4428545" y="552997"/>
                  </a:lnTo>
                  <a:lnTo>
                    <a:pt x="4432554" y="5332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54188"/>
              <a:ext cx="0" cy="678180"/>
            </a:xfrm>
            <a:custGeom>
              <a:avLst/>
              <a:gdLst/>
              <a:ahLst/>
              <a:cxnLst/>
              <a:rect l="l" t="t" r="r" b="b"/>
              <a:pathLst>
                <a:path h="678180">
                  <a:moveTo>
                    <a:pt x="0" y="67792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414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287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1608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529537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3957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49602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1207620"/>
            <a:ext cx="2382520" cy="84709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News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Headlines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dirty="0">
                <a:latin typeface="Trebuchet MS"/>
                <a:cs typeface="Trebuchet MS"/>
              </a:rPr>
              <a:t>Hospitals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Sued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7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Foot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Doctors</a:t>
            </a:r>
            <a:endParaRPr sz="950">
              <a:latin typeface="Trebuchet MS"/>
              <a:cs typeface="Trebuchet MS"/>
            </a:endParaRPr>
          </a:p>
          <a:p>
            <a:pPr marL="289560" marR="42672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Stolen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Painting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Found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Tree </a:t>
            </a:r>
            <a:r>
              <a:rPr sz="950" dirty="0">
                <a:latin typeface="Trebuchet MS"/>
                <a:cs typeface="Trebuchet MS"/>
              </a:rPr>
              <a:t>Teacher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Strikes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Idle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Kids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8528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Ambiguity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pervasive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85139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77532" y="973058"/>
            <a:ext cx="2377440" cy="39243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59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least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5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sentence:</a:t>
            </a:r>
            <a:endParaRPr sz="95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40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I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made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her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duck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pervasive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8513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05940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459"/>
              </a:spcBef>
            </a:pPr>
            <a:r>
              <a:rPr dirty="0"/>
              <a:t>Find</a:t>
            </a:r>
            <a:r>
              <a:rPr spc="15" dirty="0"/>
              <a:t> </a:t>
            </a:r>
            <a:r>
              <a:rPr spc="-10" dirty="0"/>
              <a:t>at</a:t>
            </a:r>
            <a:r>
              <a:rPr spc="20" dirty="0"/>
              <a:t> </a:t>
            </a:r>
            <a:r>
              <a:rPr dirty="0"/>
              <a:t>least</a:t>
            </a:r>
            <a:r>
              <a:rPr spc="20" dirty="0"/>
              <a:t> </a:t>
            </a:r>
            <a:r>
              <a:rPr dirty="0"/>
              <a:t>5</a:t>
            </a:r>
            <a:r>
              <a:rPr spc="20" dirty="0"/>
              <a:t> </a:t>
            </a:r>
            <a:r>
              <a:rPr dirty="0"/>
              <a:t>meanings</a:t>
            </a:r>
            <a:r>
              <a:rPr spc="15" dirty="0"/>
              <a:t> </a:t>
            </a:r>
            <a:r>
              <a:rPr dirty="0"/>
              <a:t>of</a:t>
            </a:r>
            <a:r>
              <a:rPr spc="20" dirty="0"/>
              <a:t> </a:t>
            </a:r>
            <a:r>
              <a:rPr dirty="0"/>
              <a:t>this</a:t>
            </a:r>
            <a:r>
              <a:rPr spc="20" dirty="0"/>
              <a:t> </a:t>
            </a:r>
            <a:r>
              <a:rPr spc="-10" dirty="0"/>
              <a:t>sentence: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40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/>
              <a:t>I</a:t>
            </a:r>
            <a:r>
              <a:rPr sz="900" spc="-30" dirty="0"/>
              <a:t> </a:t>
            </a:r>
            <a:r>
              <a:rPr sz="900" dirty="0"/>
              <a:t>made</a:t>
            </a:r>
            <a:r>
              <a:rPr sz="900" spc="-25" dirty="0"/>
              <a:t> </a:t>
            </a:r>
            <a:r>
              <a:rPr sz="900" dirty="0"/>
              <a:t>her</a:t>
            </a:r>
            <a:r>
              <a:rPr sz="900" spc="-30" dirty="0"/>
              <a:t> </a:t>
            </a:r>
            <a:r>
              <a:rPr sz="900" spc="-20" dirty="0"/>
              <a:t>duck</a:t>
            </a:r>
            <a:endParaRPr sz="900">
              <a:latin typeface="Arial MT"/>
              <a:cs typeface="Arial MT"/>
            </a:endParaRPr>
          </a:p>
          <a:p>
            <a:pPr marL="327660">
              <a:lnSpc>
                <a:spcPct val="100000"/>
              </a:lnSpc>
              <a:spcBef>
                <a:spcPts val="525"/>
              </a:spcBef>
            </a:pPr>
            <a:r>
              <a:rPr dirty="0"/>
              <a:t>I</a:t>
            </a:r>
            <a:r>
              <a:rPr spc="20" dirty="0"/>
              <a:t> </a:t>
            </a:r>
            <a:r>
              <a:rPr dirty="0"/>
              <a:t>cooked</a:t>
            </a:r>
            <a:r>
              <a:rPr spc="25" dirty="0"/>
              <a:t> </a:t>
            </a:r>
            <a:r>
              <a:rPr dirty="0"/>
              <a:t>duck</a:t>
            </a:r>
            <a:r>
              <a:rPr spc="20" dirty="0"/>
              <a:t> </a:t>
            </a:r>
            <a:r>
              <a:rPr spc="-40" dirty="0"/>
              <a:t>for</a:t>
            </a:r>
            <a:r>
              <a:rPr spc="25" dirty="0"/>
              <a:t> </a:t>
            </a:r>
            <a:r>
              <a:rPr spc="-25" dirty="0"/>
              <a:t>her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35" dirty="0"/>
              <a:t> </a:t>
            </a:r>
            <a:r>
              <a:rPr dirty="0"/>
              <a:t>cooked</a:t>
            </a:r>
            <a:r>
              <a:rPr spc="35" dirty="0"/>
              <a:t> </a:t>
            </a:r>
            <a:r>
              <a:rPr dirty="0"/>
              <a:t>duck</a:t>
            </a:r>
            <a:r>
              <a:rPr spc="35" dirty="0"/>
              <a:t> </a:t>
            </a:r>
            <a:r>
              <a:rPr dirty="0"/>
              <a:t>belonging</a:t>
            </a:r>
            <a:r>
              <a:rPr spc="35" dirty="0"/>
              <a:t> </a:t>
            </a:r>
            <a:r>
              <a:rPr spc="-20" dirty="0"/>
              <a:t>to</a:t>
            </a:r>
            <a:r>
              <a:rPr spc="35" dirty="0"/>
              <a:t> </a:t>
            </a:r>
            <a:r>
              <a:rPr spc="-25" dirty="0"/>
              <a:t>her</a:t>
            </a:r>
          </a:p>
          <a:p>
            <a:pPr marL="327660">
              <a:lnSpc>
                <a:spcPct val="100000"/>
              </a:lnSpc>
              <a:spcBef>
                <a:spcPts val="509"/>
              </a:spcBef>
            </a:pPr>
            <a:r>
              <a:rPr dirty="0"/>
              <a:t>I</a:t>
            </a:r>
            <a:r>
              <a:rPr spc="-30" dirty="0"/>
              <a:t> </a:t>
            </a:r>
            <a:r>
              <a:rPr dirty="0"/>
              <a:t>created</a:t>
            </a:r>
            <a:r>
              <a:rPr spc="-25" dirty="0"/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35" dirty="0"/>
              <a:t>(artificial)</a:t>
            </a:r>
            <a:r>
              <a:rPr spc="-25" dirty="0"/>
              <a:t> </a:t>
            </a:r>
            <a:r>
              <a:rPr dirty="0"/>
              <a:t>duck,</a:t>
            </a:r>
            <a:r>
              <a:rPr spc="-30" dirty="0"/>
              <a:t> </a:t>
            </a:r>
            <a:r>
              <a:rPr spc="50" dirty="0"/>
              <a:t>she</a:t>
            </a:r>
            <a:r>
              <a:rPr spc="-25" dirty="0"/>
              <a:t> </a:t>
            </a:r>
            <a:r>
              <a:rPr spc="-20" dirty="0"/>
              <a:t>owns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5" dirty="0"/>
              <a:t> </a:t>
            </a:r>
            <a:r>
              <a:rPr dirty="0"/>
              <a:t>caused</a:t>
            </a:r>
            <a:r>
              <a:rPr spc="10" dirty="0"/>
              <a:t> </a:t>
            </a:r>
            <a:r>
              <a:rPr dirty="0"/>
              <a:t>her</a:t>
            </a:r>
            <a:r>
              <a:rPr spc="10" dirty="0"/>
              <a:t> </a:t>
            </a:r>
            <a:r>
              <a:rPr spc="-20" dirty="0"/>
              <a:t>to</a:t>
            </a:r>
            <a:r>
              <a:rPr spc="10" dirty="0"/>
              <a:t> </a:t>
            </a:r>
            <a:r>
              <a:rPr dirty="0"/>
              <a:t>quickly</a:t>
            </a:r>
            <a:r>
              <a:rPr spc="10" dirty="0"/>
              <a:t> </a:t>
            </a:r>
            <a:r>
              <a:rPr spc="-10" dirty="0"/>
              <a:t>lower</a:t>
            </a:r>
            <a:r>
              <a:rPr spc="10" dirty="0"/>
              <a:t> </a:t>
            </a:r>
            <a:r>
              <a:rPr dirty="0"/>
              <a:t>her</a:t>
            </a:r>
            <a:r>
              <a:rPr spc="10" dirty="0"/>
              <a:t> </a:t>
            </a:r>
            <a:r>
              <a:rPr dirty="0"/>
              <a:t>head</a:t>
            </a:r>
            <a:r>
              <a:rPr spc="10" dirty="0"/>
              <a:t> </a:t>
            </a:r>
            <a:r>
              <a:rPr dirty="0"/>
              <a:t>or</a:t>
            </a:r>
            <a:r>
              <a:rPr spc="10" dirty="0"/>
              <a:t> </a:t>
            </a:r>
            <a:r>
              <a:rPr spc="-20" dirty="0"/>
              <a:t>body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20" dirty="0"/>
              <a:t> </a:t>
            </a:r>
            <a:r>
              <a:rPr dirty="0"/>
              <a:t>waved</a:t>
            </a:r>
            <a:r>
              <a:rPr spc="20" dirty="0"/>
              <a:t> </a:t>
            </a:r>
            <a:r>
              <a:rPr dirty="0"/>
              <a:t>my</a:t>
            </a:r>
            <a:r>
              <a:rPr spc="20" dirty="0"/>
              <a:t> </a:t>
            </a:r>
            <a:r>
              <a:rPr dirty="0"/>
              <a:t>magic</a:t>
            </a:r>
            <a:r>
              <a:rPr spc="25" dirty="0"/>
              <a:t> </a:t>
            </a:r>
            <a:r>
              <a:rPr dirty="0"/>
              <a:t>wand</a:t>
            </a:r>
            <a:r>
              <a:rPr spc="20" dirty="0"/>
              <a:t> </a:t>
            </a:r>
            <a:r>
              <a:rPr dirty="0"/>
              <a:t>and</a:t>
            </a:r>
            <a:r>
              <a:rPr spc="20" dirty="0"/>
              <a:t> </a:t>
            </a:r>
            <a:r>
              <a:rPr spc="-10" dirty="0"/>
              <a:t>turned</a:t>
            </a:r>
            <a:r>
              <a:rPr spc="25" dirty="0"/>
              <a:t> </a:t>
            </a:r>
            <a:r>
              <a:rPr dirty="0"/>
              <a:t>her</a:t>
            </a:r>
            <a:r>
              <a:rPr spc="20" dirty="0"/>
              <a:t> </a:t>
            </a:r>
            <a:r>
              <a:rPr spc="-25" dirty="0"/>
              <a:t>into</a:t>
            </a:r>
            <a:r>
              <a:rPr spc="20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spc="-20" dirty="0"/>
              <a:t>duck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72311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82343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892376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102408"/>
            <a:ext cx="64757" cy="6475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2312441"/>
            <a:ext cx="64757" cy="64757"/>
          </a:xfrm>
          <a:prstGeom prst="rect">
            <a:avLst/>
          </a:prstGeom>
        </p:spPr>
      </p:pic>
      <p:grpSp>
        <p:nvGrpSpPr>
          <p:cNvPr id="10" name="object 1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1" name="object 1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pervasive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29817"/>
            <a:ext cx="4483735" cy="666115"/>
            <a:chOff x="87743" y="1129817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112981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282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9402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8132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4051"/>
              <a:ext cx="50800" cy="51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706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2189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94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7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40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683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686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055170"/>
            <a:ext cx="3723004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Syntactic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Category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-20" dirty="0">
                <a:latin typeface="Trebuchet MS"/>
                <a:cs typeface="Trebuchet MS"/>
              </a:rPr>
              <a:t>‘Duck’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verb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-60" dirty="0">
                <a:latin typeface="Trebuchet MS"/>
                <a:cs typeface="Trebuchet MS"/>
              </a:rPr>
              <a:t>‘her’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possessive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(‘of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her’)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dative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(‘for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her’)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pronoun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pervasive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29817"/>
            <a:ext cx="4483735" cy="666115"/>
            <a:chOff x="87743" y="1129817"/>
            <a:chExt cx="4483735" cy="666115"/>
          </a:xfrm>
        </p:grpSpPr>
        <p:sp>
          <p:nvSpPr>
            <p:cNvPr id="4" name="object 4"/>
            <p:cNvSpPr/>
            <p:nvPr/>
          </p:nvSpPr>
          <p:spPr>
            <a:xfrm>
              <a:off x="87743" y="112981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0282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9402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8132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74051"/>
              <a:ext cx="50800" cy="51997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7063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3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3"/>
                  </a:lnTo>
                  <a:lnTo>
                    <a:pt x="4381754" y="397763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12189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94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67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7403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683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606867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896757"/>
            <a:ext cx="4483735" cy="431165"/>
            <a:chOff x="87743" y="1896757"/>
            <a:chExt cx="4483735" cy="431165"/>
          </a:xfrm>
        </p:grpSpPr>
        <p:sp>
          <p:nvSpPr>
            <p:cNvPr id="17" name="object 17"/>
            <p:cNvSpPr/>
            <p:nvPr/>
          </p:nvSpPr>
          <p:spPr>
            <a:xfrm>
              <a:off x="87743" y="189675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69782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226132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213432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1940992"/>
              <a:ext cx="50800" cy="28514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14118"/>
              <a:ext cx="4432935" cy="163195"/>
            </a:xfrm>
            <a:custGeom>
              <a:avLst/>
              <a:gdLst/>
              <a:ahLst/>
              <a:cxnLst/>
              <a:rect l="l" t="t" r="r" b="b"/>
              <a:pathLst>
                <a:path w="4432935" h="163194">
                  <a:moveTo>
                    <a:pt x="4432554" y="0"/>
                  </a:moveTo>
                  <a:lnTo>
                    <a:pt x="0" y="0"/>
                  </a:lnTo>
                  <a:lnTo>
                    <a:pt x="0" y="112013"/>
                  </a:lnTo>
                  <a:lnTo>
                    <a:pt x="4008" y="131738"/>
                  </a:lnTo>
                  <a:lnTo>
                    <a:pt x="14922" y="147891"/>
                  </a:lnTo>
                  <a:lnTo>
                    <a:pt x="31075" y="158805"/>
                  </a:lnTo>
                  <a:lnTo>
                    <a:pt x="50800" y="162813"/>
                  </a:lnTo>
                  <a:lnTo>
                    <a:pt x="4381754" y="162813"/>
                  </a:lnTo>
                  <a:lnTo>
                    <a:pt x="4401478" y="158805"/>
                  </a:lnTo>
                  <a:lnTo>
                    <a:pt x="4417631" y="147891"/>
                  </a:lnTo>
                  <a:lnTo>
                    <a:pt x="4428545" y="131738"/>
                  </a:lnTo>
                  <a:lnTo>
                    <a:pt x="4432554" y="11201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979117"/>
              <a:ext cx="0" cy="266065"/>
            </a:xfrm>
            <a:custGeom>
              <a:avLst/>
              <a:gdLst/>
              <a:ahLst/>
              <a:cxnLst/>
              <a:rect l="l" t="t" r="r" b="b"/>
              <a:pathLst>
                <a:path h="266064">
                  <a:moveTo>
                    <a:pt x="0" y="26606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663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536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409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63788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25729" y="1055170"/>
            <a:ext cx="3723004" cy="121412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Syntactic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Category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-20" dirty="0">
                <a:latin typeface="Trebuchet MS"/>
                <a:cs typeface="Trebuchet MS"/>
              </a:rPr>
              <a:t>‘Duck’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verb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-60" dirty="0">
                <a:latin typeface="Trebuchet MS"/>
                <a:cs typeface="Trebuchet MS"/>
              </a:rPr>
              <a:t>‘her’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possessive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(‘of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her’)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dative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(‘for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her’)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pronoun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Meaning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-25" dirty="0">
                <a:latin typeface="Trebuchet MS"/>
                <a:cs typeface="Trebuchet MS"/>
              </a:rPr>
              <a:t>‘make’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‘create’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‘cook’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pervasive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87552"/>
            <a:ext cx="4483735" cy="1073785"/>
            <a:chOff x="87743" y="887552"/>
            <a:chExt cx="4483735" cy="1073785"/>
          </a:xfrm>
        </p:grpSpPr>
        <p:sp>
          <p:nvSpPr>
            <p:cNvPr id="4" name="object 4"/>
            <p:cNvSpPr/>
            <p:nvPr/>
          </p:nvSpPr>
          <p:spPr>
            <a:xfrm>
              <a:off x="87743" y="88755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121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5961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4691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1786"/>
              <a:ext cx="50800" cy="9278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5451"/>
              <a:ext cx="4432935" cy="815340"/>
            </a:xfrm>
            <a:custGeom>
              <a:avLst/>
              <a:gdLst/>
              <a:ahLst/>
              <a:cxnLst/>
              <a:rect l="l" t="t" r="r" b="b"/>
              <a:pathLst>
                <a:path w="4432935" h="815339">
                  <a:moveTo>
                    <a:pt x="4432554" y="0"/>
                  </a:moveTo>
                  <a:lnTo>
                    <a:pt x="0" y="0"/>
                  </a:lnTo>
                  <a:lnTo>
                    <a:pt x="0" y="764159"/>
                  </a:lnTo>
                  <a:lnTo>
                    <a:pt x="4008" y="783883"/>
                  </a:lnTo>
                  <a:lnTo>
                    <a:pt x="14922" y="800036"/>
                  </a:lnTo>
                  <a:lnTo>
                    <a:pt x="31075" y="810950"/>
                  </a:lnTo>
                  <a:lnTo>
                    <a:pt x="50800" y="814959"/>
                  </a:lnTo>
                  <a:lnTo>
                    <a:pt x="4381754" y="814959"/>
                  </a:lnTo>
                  <a:lnTo>
                    <a:pt x="4401478" y="810950"/>
                  </a:lnTo>
                  <a:lnTo>
                    <a:pt x="4417631" y="800036"/>
                  </a:lnTo>
                  <a:lnTo>
                    <a:pt x="4428545" y="783883"/>
                  </a:lnTo>
                  <a:lnTo>
                    <a:pt x="4432554" y="76415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9848"/>
              <a:ext cx="0" cy="909319"/>
            </a:xfrm>
            <a:custGeom>
              <a:avLst/>
              <a:gdLst/>
              <a:ahLst/>
              <a:cxnLst/>
              <a:rect l="l" t="t" r="r" b="b"/>
              <a:pathLst>
                <a:path h="909319">
                  <a:moveTo>
                    <a:pt x="0" y="9088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71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444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17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5238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6241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72450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54282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Grammar</a:t>
            </a:r>
            <a:endParaRPr sz="1100">
              <a:latin typeface="Cambria"/>
              <a:cs typeface="Cambria"/>
            </a:endParaRPr>
          </a:p>
          <a:p>
            <a:pPr marL="50165">
              <a:lnSpc>
                <a:spcPct val="100000"/>
              </a:lnSpc>
              <a:spcBef>
                <a:spcPts val="325"/>
              </a:spcBef>
            </a:pPr>
            <a:r>
              <a:rPr dirty="0"/>
              <a:t>make</a:t>
            </a:r>
            <a:r>
              <a:rPr spc="70" dirty="0"/>
              <a:t> </a:t>
            </a:r>
            <a:r>
              <a:rPr dirty="0"/>
              <a:t>can</a:t>
            </a:r>
            <a:r>
              <a:rPr spc="70" dirty="0"/>
              <a:t> </a:t>
            </a:r>
            <a:r>
              <a:rPr spc="-25" dirty="0"/>
              <a:t>be</a:t>
            </a:r>
          </a:p>
          <a:p>
            <a:pPr marL="327025">
              <a:lnSpc>
                <a:spcPct val="100000"/>
              </a:lnSpc>
              <a:spcBef>
                <a:spcPts val="515"/>
              </a:spcBef>
            </a:pPr>
            <a:r>
              <a:rPr b="1" dirty="0">
                <a:latin typeface="Trebuchet MS"/>
                <a:cs typeface="Trebuchet MS"/>
              </a:rPr>
              <a:t>Transitive:</a:t>
            </a:r>
            <a:r>
              <a:rPr b="1" spc="75" dirty="0">
                <a:latin typeface="Trebuchet MS"/>
                <a:cs typeface="Trebuchet MS"/>
              </a:rPr>
              <a:t> </a:t>
            </a:r>
            <a:r>
              <a:rPr dirty="0"/>
              <a:t>(verb</a:t>
            </a:r>
            <a:r>
              <a:rPr spc="10" dirty="0"/>
              <a:t> </a:t>
            </a:r>
            <a:r>
              <a:rPr spc="-40" dirty="0"/>
              <a:t>with</a:t>
            </a:r>
            <a:r>
              <a:rPr spc="15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dirty="0"/>
              <a:t>noun</a:t>
            </a:r>
            <a:r>
              <a:rPr spc="15" dirty="0"/>
              <a:t> </a:t>
            </a:r>
            <a:r>
              <a:rPr spc="-25" dirty="0"/>
              <a:t>direct</a:t>
            </a:r>
            <a:r>
              <a:rPr spc="15" dirty="0"/>
              <a:t> </a:t>
            </a:r>
            <a:r>
              <a:rPr spc="-10" dirty="0"/>
              <a:t>object)</a:t>
            </a:r>
          </a:p>
          <a:p>
            <a:pPr marL="327025">
              <a:lnSpc>
                <a:spcPct val="100000"/>
              </a:lnSpc>
              <a:spcBef>
                <a:spcPts val="515"/>
              </a:spcBef>
            </a:pPr>
            <a:r>
              <a:rPr b="1" dirty="0">
                <a:latin typeface="Trebuchet MS"/>
                <a:cs typeface="Trebuchet MS"/>
              </a:rPr>
              <a:t>Ditransitive:</a:t>
            </a:r>
            <a:r>
              <a:rPr b="1" spc="110" dirty="0">
                <a:latin typeface="Trebuchet MS"/>
                <a:cs typeface="Trebuchet MS"/>
              </a:rPr>
              <a:t> </a:t>
            </a:r>
            <a:r>
              <a:rPr dirty="0"/>
              <a:t>(verb</a:t>
            </a:r>
            <a:r>
              <a:rPr spc="40" dirty="0"/>
              <a:t> </a:t>
            </a:r>
            <a:r>
              <a:rPr spc="55" dirty="0"/>
              <a:t>has</a:t>
            </a:r>
            <a:r>
              <a:rPr spc="35" dirty="0"/>
              <a:t> </a:t>
            </a:r>
            <a:r>
              <a:rPr dirty="0"/>
              <a:t>2</a:t>
            </a:r>
            <a:r>
              <a:rPr spc="40" dirty="0"/>
              <a:t> </a:t>
            </a:r>
            <a:r>
              <a:rPr dirty="0"/>
              <a:t>noun</a:t>
            </a:r>
            <a:r>
              <a:rPr spc="35" dirty="0"/>
              <a:t> </a:t>
            </a:r>
            <a:r>
              <a:rPr spc="-10" dirty="0"/>
              <a:t>objects)</a:t>
            </a:r>
          </a:p>
          <a:p>
            <a:pPr marL="327025">
              <a:lnSpc>
                <a:spcPct val="100000"/>
              </a:lnSpc>
              <a:spcBef>
                <a:spcPts val="509"/>
              </a:spcBef>
            </a:pPr>
            <a:r>
              <a:rPr b="1" dirty="0">
                <a:latin typeface="Trebuchet MS"/>
                <a:cs typeface="Trebuchet MS"/>
              </a:rPr>
              <a:t>Action-transitive:</a:t>
            </a:r>
            <a:r>
              <a:rPr b="1" spc="90" dirty="0">
                <a:latin typeface="Trebuchet MS"/>
                <a:cs typeface="Trebuchet MS"/>
              </a:rPr>
              <a:t> </a:t>
            </a:r>
            <a:r>
              <a:rPr dirty="0"/>
              <a:t>(verb</a:t>
            </a:r>
            <a:r>
              <a:rPr spc="15" dirty="0"/>
              <a:t> </a:t>
            </a:r>
            <a:r>
              <a:rPr spc="55" dirty="0"/>
              <a:t>has</a:t>
            </a:r>
            <a:r>
              <a:rPr spc="2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25" dirty="0"/>
              <a:t>direct</a:t>
            </a:r>
            <a:r>
              <a:rPr spc="20" dirty="0"/>
              <a:t> </a:t>
            </a:r>
            <a:r>
              <a:rPr spc="-20" dirty="0"/>
              <a:t>object</a:t>
            </a:r>
            <a:r>
              <a:rPr spc="20" dirty="0"/>
              <a:t> </a:t>
            </a:r>
            <a:r>
              <a:rPr spc="70" dirty="0"/>
              <a:t>+</a:t>
            </a:r>
            <a:r>
              <a:rPr spc="15" dirty="0"/>
              <a:t> </a:t>
            </a:r>
            <a:r>
              <a:rPr spc="-10" dirty="0"/>
              <a:t>verb)</a:t>
            </a: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pervasive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87552"/>
            <a:ext cx="4483735" cy="1073785"/>
            <a:chOff x="87743" y="887552"/>
            <a:chExt cx="4483735" cy="1073785"/>
          </a:xfrm>
        </p:grpSpPr>
        <p:sp>
          <p:nvSpPr>
            <p:cNvPr id="4" name="object 4"/>
            <p:cNvSpPr/>
            <p:nvPr/>
          </p:nvSpPr>
          <p:spPr>
            <a:xfrm>
              <a:off x="87743" y="88755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1217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5961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4691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1786"/>
              <a:ext cx="50800" cy="92782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5451"/>
              <a:ext cx="4432935" cy="815340"/>
            </a:xfrm>
            <a:custGeom>
              <a:avLst/>
              <a:gdLst/>
              <a:ahLst/>
              <a:cxnLst/>
              <a:rect l="l" t="t" r="r" b="b"/>
              <a:pathLst>
                <a:path w="4432935" h="815339">
                  <a:moveTo>
                    <a:pt x="4432554" y="0"/>
                  </a:moveTo>
                  <a:lnTo>
                    <a:pt x="0" y="0"/>
                  </a:lnTo>
                  <a:lnTo>
                    <a:pt x="0" y="764159"/>
                  </a:lnTo>
                  <a:lnTo>
                    <a:pt x="4008" y="783883"/>
                  </a:lnTo>
                  <a:lnTo>
                    <a:pt x="14922" y="800036"/>
                  </a:lnTo>
                  <a:lnTo>
                    <a:pt x="31075" y="810950"/>
                  </a:lnTo>
                  <a:lnTo>
                    <a:pt x="50800" y="814959"/>
                  </a:lnTo>
                  <a:lnTo>
                    <a:pt x="4381754" y="814959"/>
                  </a:lnTo>
                  <a:lnTo>
                    <a:pt x="4401478" y="810950"/>
                  </a:lnTo>
                  <a:lnTo>
                    <a:pt x="4417631" y="800036"/>
                  </a:lnTo>
                  <a:lnTo>
                    <a:pt x="4428545" y="783883"/>
                  </a:lnTo>
                  <a:lnTo>
                    <a:pt x="4432554" y="76415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9848"/>
              <a:ext cx="0" cy="909319"/>
            </a:xfrm>
            <a:custGeom>
              <a:avLst/>
              <a:gdLst/>
              <a:ahLst/>
              <a:cxnLst/>
              <a:rect l="l" t="t" r="r" b="b"/>
              <a:pathLst>
                <a:path h="909319">
                  <a:moveTo>
                    <a:pt x="0" y="9088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71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444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177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5238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62417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72450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062340"/>
            <a:ext cx="4483735" cy="629285"/>
            <a:chOff x="87743" y="2062340"/>
            <a:chExt cx="4483735" cy="629285"/>
          </a:xfrm>
        </p:grpSpPr>
        <p:sp>
          <p:nvSpPr>
            <p:cNvPr id="18" name="object 18"/>
            <p:cNvSpPr/>
            <p:nvPr/>
          </p:nvSpPr>
          <p:spPr>
            <a:xfrm>
              <a:off x="87743" y="206234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76275"/>
                  </a:lnTo>
                  <a:lnTo>
                    <a:pt x="4432554" y="176275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226005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89530"/>
              <a:ext cx="101600" cy="10159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76830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106574"/>
              <a:ext cx="50800" cy="4829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70252"/>
              <a:ext cx="4432935" cy="370205"/>
            </a:xfrm>
            <a:custGeom>
              <a:avLst/>
              <a:gdLst/>
              <a:ahLst/>
              <a:cxnLst/>
              <a:rect l="l" t="t" r="r" b="b"/>
              <a:pathLst>
                <a:path w="4432935" h="370205">
                  <a:moveTo>
                    <a:pt x="4432554" y="0"/>
                  </a:moveTo>
                  <a:lnTo>
                    <a:pt x="0" y="0"/>
                  </a:lnTo>
                  <a:lnTo>
                    <a:pt x="0" y="319278"/>
                  </a:lnTo>
                  <a:lnTo>
                    <a:pt x="4008" y="339002"/>
                  </a:lnTo>
                  <a:lnTo>
                    <a:pt x="14922" y="355155"/>
                  </a:lnTo>
                  <a:lnTo>
                    <a:pt x="31075" y="366069"/>
                  </a:lnTo>
                  <a:lnTo>
                    <a:pt x="50800" y="370078"/>
                  </a:lnTo>
                  <a:lnTo>
                    <a:pt x="4381754" y="370078"/>
                  </a:lnTo>
                  <a:lnTo>
                    <a:pt x="4401478" y="366069"/>
                  </a:lnTo>
                  <a:lnTo>
                    <a:pt x="4417631" y="355155"/>
                  </a:lnTo>
                  <a:lnTo>
                    <a:pt x="4428545" y="339002"/>
                  </a:lnTo>
                  <a:lnTo>
                    <a:pt x="4432554" y="31927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44649"/>
              <a:ext cx="0" cy="464184"/>
            </a:xfrm>
            <a:custGeom>
              <a:avLst/>
              <a:gdLst/>
              <a:ahLst/>
              <a:cxnLst/>
              <a:rect l="l" t="t" r="r" b="b"/>
              <a:pathLst>
                <a:path h="464185">
                  <a:moveTo>
                    <a:pt x="0" y="463931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31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192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065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317153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527185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826480"/>
            <a:ext cx="3121660" cy="180593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Grammar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dirty="0">
                <a:latin typeface="Trebuchet MS"/>
                <a:cs typeface="Trebuchet MS"/>
              </a:rPr>
              <a:t>make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Transitive:</a:t>
            </a:r>
            <a:r>
              <a:rPr sz="950" b="1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(verb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direct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object)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b="1" dirty="0">
                <a:latin typeface="Trebuchet MS"/>
                <a:cs typeface="Trebuchet MS"/>
              </a:rPr>
              <a:t>Ditransitive:</a:t>
            </a:r>
            <a:r>
              <a:rPr sz="950" b="1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(verb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objects)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b="1" dirty="0">
                <a:latin typeface="Trebuchet MS"/>
                <a:cs typeface="Trebuchet MS"/>
              </a:rPr>
              <a:t>Action-transitive:</a:t>
            </a:r>
            <a:r>
              <a:rPr sz="950" b="1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(verb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direct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object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+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verb)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Phonetics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950" spc="-30" dirty="0">
                <a:latin typeface="Trebuchet MS"/>
                <a:cs typeface="Trebuchet MS"/>
              </a:rPr>
              <a:t>I’m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eight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duck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spc="-30" dirty="0">
                <a:latin typeface="Trebuchet MS"/>
                <a:cs typeface="Trebuchet MS"/>
              </a:rPr>
              <a:t>I’m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aid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duck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1" name="object 3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2" name="object 3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96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Ambiguity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Explosive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84097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13993"/>
            <a:ext cx="24117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Explosive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8409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53587"/>
            <a:ext cx="2980055" cy="4457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hill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5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394129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Explosive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8409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53587"/>
            <a:ext cx="3536950" cy="6559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2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hill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5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I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saw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hill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Texas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telescope.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b="1" dirty="0">
                <a:latin typeface="Trebuchet MS"/>
                <a:cs typeface="Trebuchet MS"/>
              </a:rPr>
              <a:t>14</a:t>
            </a:r>
            <a:r>
              <a:rPr sz="950" b="1" spc="-5" dirty="0">
                <a:latin typeface="Trebuchet MS"/>
                <a:cs typeface="Trebuchet MS"/>
              </a:rPr>
              <a:t> </a:t>
            </a:r>
            <a:r>
              <a:rPr sz="950" b="1" spc="40" dirty="0">
                <a:latin typeface="Trebuchet MS"/>
                <a:cs typeface="Trebuchet MS"/>
              </a:rPr>
              <a:t>parses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39412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04162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Explosive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8409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4884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0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2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45" dirty="0"/>
              <a:t>hill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5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45" dirty="0"/>
              <a:t>hill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Texas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14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09"/>
              </a:spcBef>
            </a:pPr>
            <a:r>
              <a:rPr dirty="0"/>
              <a:t>I</a:t>
            </a:r>
            <a:r>
              <a:rPr spc="-5" dirty="0"/>
              <a:t> </a:t>
            </a:r>
            <a:r>
              <a:rPr dirty="0"/>
              <a:t>saw the man</a:t>
            </a:r>
            <a:r>
              <a:rPr spc="-5" dirty="0"/>
              <a:t> </a:t>
            </a:r>
            <a:r>
              <a:rPr dirty="0"/>
              <a:t>on the </a:t>
            </a:r>
            <a:r>
              <a:rPr spc="-45" dirty="0"/>
              <a:t>hill</a:t>
            </a:r>
            <a:r>
              <a:rPr dirty="0"/>
              <a:t> in</a:t>
            </a:r>
            <a:r>
              <a:rPr spc="-5" dirty="0"/>
              <a:t> </a:t>
            </a:r>
            <a:r>
              <a:rPr dirty="0"/>
              <a:t>Texas </a:t>
            </a:r>
            <a:r>
              <a:rPr spc="-40" dirty="0"/>
              <a:t>with</a:t>
            </a:r>
            <a:r>
              <a:rPr dirty="0"/>
              <a:t> the</a:t>
            </a:r>
            <a:r>
              <a:rPr spc="-5" dirty="0"/>
              <a:t> </a:t>
            </a:r>
            <a:r>
              <a:rPr dirty="0"/>
              <a:t>telescope </a:t>
            </a:r>
            <a:r>
              <a:rPr spc="-10" dirty="0"/>
              <a:t>at</a:t>
            </a:r>
            <a:r>
              <a:rPr dirty="0"/>
              <a:t> noon.</a:t>
            </a:r>
            <a:r>
              <a:rPr spc="65" dirty="0"/>
              <a:t> </a:t>
            </a:r>
            <a:r>
              <a:rPr b="1" dirty="0">
                <a:latin typeface="Trebuchet MS"/>
                <a:cs typeface="Trebuchet MS"/>
              </a:rPr>
              <a:t>42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39412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04162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814195"/>
            <a:ext cx="64757" cy="64757"/>
          </a:xfrm>
          <a:prstGeom prst="rect">
            <a:avLst/>
          </a:prstGeom>
        </p:spPr>
      </p:pic>
      <p:grpSp>
        <p:nvGrpSpPr>
          <p:cNvPr id="8" name="object 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9" name="object 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023745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Ambiguity</a:t>
            </a:r>
            <a:r>
              <a:rPr spc="20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Explosive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8409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4884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0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2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spc="-45" dirty="0"/>
              <a:t>hill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5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-10" dirty="0"/>
              <a:t> </a:t>
            </a:r>
            <a:r>
              <a:rPr dirty="0"/>
              <a:t>saw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man</a:t>
            </a:r>
            <a:r>
              <a:rPr spc="-5" dirty="0"/>
              <a:t> </a:t>
            </a:r>
            <a:r>
              <a:rPr dirty="0"/>
              <a:t>on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spc="-45" dirty="0"/>
              <a:t>hill</a:t>
            </a:r>
            <a:r>
              <a:rPr spc="-5" dirty="0"/>
              <a:t> </a:t>
            </a:r>
            <a:r>
              <a:rPr dirty="0"/>
              <a:t>in</a:t>
            </a:r>
            <a:r>
              <a:rPr spc="-5" dirty="0"/>
              <a:t> </a:t>
            </a:r>
            <a:r>
              <a:rPr dirty="0"/>
              <a:t>Texas</a:t>
            </a:r>
            <a:r>
              <a:rPr spc="-5" dirty="0"/>
              <a:t> </a:t>
            </a:r>
            <a:r>
              <a:rPr spc="-40" dirty="0"/>
              <a:t>with</a:t>
            </a:r>
            <a:r>
              <a:rPr spc="-5" dirty="0"/>
              <a:t> </a:t>
            </a:r>
            <a:r>
              <a:rPr dirty="0"/>
              <a:t>the</a:t>
            </a:r>
            <a:r>
              <a:rPr spc="-5" dirty="0"/>
              <a:t> </a:t>
            </a:r>
            <a:r>
              <a:rPr dirty="0"/>
              <a:t>telescope.</a:t>
            </a:r>
            <a:r>
              <a:rPr spc="60" dirty="0"/>
              <a:t> </a:t>
            </a:r>
            <a:r>
              <a:rPr b="1" dirty="0">
                <a:latin typeface="Trebuchet MS"/>
                <a:cs typeface="Trebuchet MS"/>
              </a:rPr>
              <a:t>14</a:t>
            </a:r>
            <a:r>
              <a:rPr b="1" spc="-5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09"/>
              </a:spcBef>
            </a:pPr>
            <a:r>
              <a:rPr dirty="0"/>
              <a:t>I</a:t>
            </a:r>
            <a:r>
              <a:rPr spc="-5" dirty="0"/>
              <a:t> </a:t>
            </a:r>
            <a:r>
              <a:rPr dirty="0"/>
              <a:t>saw the man</a:t>
            </a:r>
            <a:r>
              <a:rPr spc="-5" dirty="0"/>
              <a:t> </a:t>
            </a:r>
            <a:r>
              <a:rPr dirty="0"/>
              <a:t>on the </a:t>
            </a:r>
            <a:r>
              <a:rPr spc="-45" dirty="0"/>
              <a:t>hill</a:t>
            </a:r>
            <a:r>
              <a:rPr dirty="0"/>
              <a:t> in</a:t>
            </a:r>
            <a:r>
              <a:rPr spc="-5" dirty="0"/>
              <a:t> </a:t>
            </a:r>
            <a:r>
              <a:rPr dirty="0"/>
              <a:t>Texas </a:t>
            </a:r>
            <a:r>
              <a:rPr spc="-40" dirty="0"/>
              <a:t>with</a:t>
            </a:r>
            <a:r>
              <a:rPr dirty="0"/>
              <a:t> the</a:t>
            </a:r>
            <a:r>
              <a:rPr spc="-5" dirty="0"/>
              <a:t> </a:t>
            </a:r>
            <a:r>
              <a:rPr dirty="0"/>
              <a:t>telescope </a:t>
            </a:r>
            <a:r>
              <a:rPr spc="-10" dirty="0"/>
              <a:t>at</a:t>
            </a:r>
            <a:r>
              <a:rPr dirty="0"/>
              <a:t> noon.</a:t>
            </a:r>
            <a:r>
              <a:rPr spc="65" dirty="0"/>
              <a:t> </a:t>
            </a:r>
            <a:r>
              <a:rPr b="1" dirty="0">
                <a:latin typeface="Trebuchet MS"/>
                <a:cs typeface="Trebuchet MS"/>
              </a:rPr>
              <a:t>42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I</a:t>
            </a:r>
            <a:r>
              <a:rPr spc="5" dirty="0"/>
              <a:t> </a:t>
            </a:r>
            <a:r>
              <a:rPr dirty="0"/>
              <a:t>saw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man</a:t>
            </a:r>
            <a:r>
              <a:rPr spc="10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spc="-45" dirty="0"/>
              <a:t>hill</a:t>
            </a:r>
            <a:r>
              <a:rPr spc="10" dirty="0"/>
              <a:t> </a:t>
            </a:r>
            <a:r>
              <a:rPr dirty="0"/>
              <a:t>in</a:t>
            </a:r>
            <a:r>
              <a:rPr spc="10" dirty="0"/>
              <a:t> </a:t>
            </a:r>
            <a:r>
              <a:rPr dirty="0"/>
              <a:t>Texas</a:t>
            </a:r>
            <a:r>
              <a:rPr spc="10" dirty="0"/>
              <a:t> </a:t>
            </a:r>
            <a:r>
              <a:rPr spc="-40" dirty="0"/>
              <a:t>with</a:t>
            </a:r>
            <a:r>
              <a:rPr spc="10" dirty="0"/>
              <a:t> </a:t>
            </a:r>
            <a:r>
              <a:rPr dirty="0"/>
              <a:t>the</a:t>
            </a:r>
            <a:r>
              <a:rPr spc="10" dirty="0"/>
              <a:t> </a:t>
            </a:r>
            <a:r>
              <a:rPr dirty="0"/>
              <a:t>telescope</a:t>
            </a:r>
            <a:r>
              <a:rPr spc="10" dirty="0"/>
              <a:t> </a:t>
            </a:r>
            <a:r>
              <a:rPr spc="-10" dirty="0"/>
              <a:t>at</a:t>
            </a:r>
            <a:r>
              <a:rPr spc="10" dirty="0"/>
              <a:t> </a:t>
            </a:r>
            <a:r>
              <a:rPr dirty="0"/>
              <a:t>noon</a:t>
            </a:r>
            <a:r>
              <a:rPr spc="10" dirty="0"/>
              <a:t> </a:t>
            </a:r>
            <a:r>
              <a:rPr dirty="0"/>
              <a:t>on</a:t>
            </a:r>
            <a:r>
              <a:rPr spc="10" dirty="0"/>
              <a:t> </a:t>
            </a:r>
            <a:r>
              <a:rPr spc="-10" dirty="0"/>
              <a:t>Monday.</a:t>
            </a:r>
          </a:p>
          <a:p>
            <a:pPr marL="327660">
              <a:lnSpc>
                <a:spcPct val="100000"/>
              </a:lnSpc>
              <a:spcBef>
                <a:spcPts val="215"/>
              </a:spcBef>
            </a:pPr>
            <a:r>
              <a:rPr b="1" dirty="0">
                <a:latin typeface="Trebuchet MS"/>
                <a:cs typeface="Trebuchet MS"/>
              </a:rPr>
              <a:t>132</a:t>
            </a:r>
            <a:r>
              <a:rPr b="1" spc="-70" dirty="0">
                <a:latin typeface="Trebuchet MS"/>
                <a:cs typeface="Trebuchet MS"/>
              </a:rPr>
              <a:t> </a:t>
            </a:r>
            <a:r>
              <a:rPr b="1" spc="40" dirty="0">
                <a:latin typeface="Trebuchet MS"/>
                <a:cs typeface="Trebuchet MS"/>
              </a:rPr>
              <a:t>parses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39412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04162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814195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2024227"/>
            <a:ext cx="64757" cy="64757"/>
          </a:xfrm>
          <a:prstGeom prst="rect">
            <a:avLst/>
          </a:prstGeom>
        </p:spPr>
      </p:pic>
      <p:grpSp>
        <p:nvGrpSpPr>
          <p:cNvPr id="9" name="object 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0" name="object 1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 is</a:t>
            </a:r>
            <a:r>
              <a:rPr spc="5" dirty="0"/>
              <a:t> </a:t>
            </a:r>
            <a:r>
              <a:rPr spc="-10" dirty="0"/>
              <a:t>Language</a:t>
            </a:r>
            <a:r>
              <a:rPr spc="5" dirty="0"/>
              <a:t> </a:t>
            </a:r>
            <a:r>
              <a:rPr spc="-10" dirty="0"/>
              <a:t>Ambiguous?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66490"/>
            <a:ext cx="3822700" cy="36957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goal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production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comprehension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is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i="1" spc="-45" dirty="0">
                <a:latin typeface="Trebuchet MS"/>
                <a:cs typeface="Trebuchet MS"/>
              </a:rPr>
              <a:t>efficient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communication.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 is</a:t>
            </a:r>
            <a:r>
              <a:rPr spc="5" dirty="0"/>
              <a:t> </a:t>
            </a:r>
            <a:r>
              <a:rPr spc="-10" dirty="0"/>
              <a:t>Language</a:t>
            </a:r>
            <a:r>
              <a:rPr spc="5" dirty="0"/>
              <a:t> </a:t>
            </a:r>
            <a:r>
              <a:rPr spc="-10" dirty="0"/>
              <a:t>Ambiguous?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9687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05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dirty="0"/>
              <a:t>goal</a:t>
            </a:r>
            <a:r>
              <a:rPr spc="40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production</a:t>
            </a:r>
            <a:r>
              <a:rPr spc="3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comprehension</a:t>
            </a:r>
            <a:r>
              <a:rPr spc="3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10" dirty="0"/>
              <a:t>natural</a:t>
            </a:r>
            <a:r>
              <a:rPr spc="35" dirty="0"/>
              <a:t> </a:t>
            </a:r>
            <a:r>
              <a:rPr dirty="0"/>
              <a:t>language</a:t>
            </a:r>
            <a:r>
              <a:rPr spc="40" dirty="0"/>
              <a:t> </a:t>
            </a:r>
            <a:r>
              <a:rPr spc="-25" dirty="0"/>
              <a:t>is</a:t>
            </a:r>
          </a:p>
          <a:p>
            <a:pPr marL="327660">
              <a:lnSpc>
                <a:spcPct val="100000"/>
              </a:lnSpc>
              <a:spcBef>
                <a:spcPts val="215"/>
              </a:spcBef>
            </a:pPr>
            <a:r>
              <a:rPr i="1" spc="-45" dirty="0">
                <a:latin typeface="Trebuchet MS"/>
                <a:cs typeface="Trebuchet MS"/>
              </a:rPr>
              <a:t>efficient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spc="-10" dirty="0"/>
              <a:t>communication.</a:t>
            </a:r>
          </a:p>
          <a:p>
            <a:pPr marL="327660">
              <a:lnSpc>
                <a:spcPct val="100000"/>
              </a:lnSpc>
              <a:spcBef>
                <a:spcPts val="355"/>
              </a:spcBef>
            </a:pPr>
            <a:r>
              <a:rPr dirty="0"/>
              <a:t>Allowing</a:t>
            </a:r>
            <a:r>
              <a:rPr spc="15" dirty="0"/>
              <a:t> </a:t>
            </a:r>
            <a:r>
              <a:rPr dirty="0"/>
              <a:t>resolvable</a:t>
            </a:r>
            <a:r>
              <a:rPr spc="20" dirty="0"/>
              <a:t> </a:t>
            </a:r>
            <a:r>
              <a:rPr spc="-10" dirty="0"/>
              <a:t>ambiguity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9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permits</a:t>
            </a:r>
            <a:r>
              <a:rPr sz="900" spc="-15" dirty="0"/>
              <a:t> </a:t>
            </a:r>
            <a:r>
              <a:rPr sz="900" spc="-10" dirty="0"/>
              <a:t>shorter</a:t>
            </a:r>
            <a:r>
              <a:rPr sz="900" spc="-20" dirty="0"/>
              <a:t> </a:t>
            </a:r>
            <a:r>
              <a:rPr sz="900" spc="-25" dirty="0"/>
              <a:t>linguistic</a:t>
            </a:r>
            <a:r>
              <a:rPr sz="900" spc="-20" dirty="0"/>
              <a:t> </a:t>
            </a:r>
            <a:r>
              <a:rPr sz="900" spc="-10" dirty="0"/>
              <a:t>expressions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 is</a:t>
            </a:r>
            <a:r>
              <a:rPr spc="5" dirty="0"/>
              <a:t> </a:t>
            </a:r>
            <a:r>
              <a:rPr spc="-10" dirty="0"/>
              <a:t>Language</a:t>
            </a:r>
            <a:r>
              <a:rPr spc="5" dirty="0"/>
              <a:t> </a:t>
            </a:r>
            <a:r>
              <a:rPr spc="-10" dirty="0"/>
              <a:t>Ambiguous?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9687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05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dirty="0"/>
              <a:t>goal</a:t>
            </a:r>
            <a:r>
              <a:rPr spc="40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production</a:t>
            </a:r>
            <a:r>
              <a:rPr spc="3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comprehension</a:t>
            </a:r>
            <a:r>
              <a:rPr spc="3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10" dirty="0"/>
              <a:t>natural</a:t>
            </a:r>
            <a:r>
              <a:rPr spc="35" dirty="0"/>
              <a:t> </a:t>
            </a:r>
            <a:r>
              <a:rPr dirty="0"/>
              <a:t>language</a:t>
            </a:r>
            <a:r>
              <a:rPr spc="40" dirty="0"/>
              <a:t> </a:t>
            </a:r>
            <a:r>
              <a:rPr spc="-25" dirty="0"/>
              <a:t>is</a:t>
            </a:r>
          </a:p>
          <a:p>
            <a:pPr marL="327660">
              <a:lnSpc>
                <a:spcPct val="100000"/>
              </a:lnSpc>
              <a:spcBef>
                <a:spcPts val="215"/>
              </a:spcBef>
            </a:pPr>
            <a:r>
              <a:rPr i="1" spc="-45" dirty="0">
                <a:latin typeface="Trebuchet MS"/>
                <a:cs typeface="Trebuchet MS"/>
              </a:rPr>
              <a:t>efficient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spc="-10" dirty="0"/>
              <a:t>communication.</a:t>
            </a:r>
          </a:p>
          <a:p>
            <a:pPr marL="327660">
              <a:lnSpc>
                <a:spcPct val="100000"/>
              </a:lnSpc>
              <a:spcBef>
                <a:spcPts val="355"/>
              </a:spcBef>
            </a:pPr>
            <a:r>
              <a:rPr dirty="0"/>
              <a:t>Allowing</a:t>
            </a:r>
            <a:r>
              <a:rPr spc="15" dirty="0"/>
              <a:t> </a:t>
            </a:r>
            <a:r>
              <a:rPr dirty="0"/>
              <a:t>resolvable</a:t>
            </a:r>
            <a:r>
              <a:rPr spc="20" dirty="0"/>
              <a:t> </a:t>
            </a:r>
            <a:r>
              <a:rPr spc="-10" dirty="0"/>
              <a:t>ambiguity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9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permits</a:t>
            </a:r>
            <a:r>
              <a:rPr sz="900" spc="-15" dirty="0"/>
              <a:t> </a:t>
            </a:r>
            <a:r>
              <a:rPr sz="900" spc="-10" dirty="0"/>
              <a:t>shorter</a:t>
            </a:r>
            <a:r>
              <a:rPr sz="900" spc="-20" dirty="0"/>
              <a:t> </a:t>
            </a:r>
            <a:r>
              <a:rPr sz="900" spc="-25" dirty="0"/>
              <a:t>linguistic</a:t>
            </a:r>
            <a:r>
              <a:rPr sz="900" spc="-20" dirty="0"/>
              <a:t> </a:t>
            </a:r>
            <a:r>
              <a:rPr sz="900" spc="-10" dirty="0"/>
              <a:t>expressions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07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/>
              <a:t>avoids</a:t>
            </a:r>
            <a:r>
              <a:rPr sz="900" spc="-10" dirty="0"/>
              <a:t> </a:t>
            </a:r>
            <a:r>
              <a:rPr sz="900" dirty="0"/>
              <a:t>language</a:t>
            </a:r>
            <a:r>
              <a:rPr sz="900" spc="-10" dirty="0"/>
              <a:t> </a:t>
            </a:r>
            <a:r>
              <a:rPr sz="900" dirty="0"/>
              <a:t>being</a:t>
            </a:r>
            <a:r>
              <a:rPr sz="900" spc="-5" dirty="0"/>
              <a:t> </a:t>
            </a:r>
            <a:r>
              <a:rPr sz="900" spc="-20" dirty="0"/>
              <a:t>overly</a:t>
            </a:r>
            <a:r>
              <a:rPr sz="900" spc="-10" dirty="0"/>
              <a:t> complex</a:t>
            </a:r>
            <a:endParaRPr sz="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 is</a:t>
            </a:r>
            <a:r>
              <a:rPr spc="5" dirty="0"/>
              <a:t> </a:t>
            </a:r>
            <a:r>
              <a:rPr spc="-10" dirty="0"/>
              <a:t>Language</a:t>
            </a:r>
            <a:r>
              <a:rPr spc="5" dirty="0"/>
              <a:t> </a:t>
            </a:r>
            <a:r>
              <a:rPr spc="-10" dirty="0"/>
              <a:t>Ambiguous?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79687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05"/>
              </a:spcBef>
            </a:pPr>
            <a:r>
              <a:rPr dirty="0"/>
              <a:t>The</a:t>
            </a:r>
            <a:r>
              <a:rPr spc="35" dirty="0"/>
              <a:t> </a:t>
            </a:r>
            <a:r>
              <a:rPr dirty="0"/>
              <a:t>goal</a:t>
            </a:r>
            <a:r>
              <a:rPr spc="40" dirty="0"/>
              <a:t> </a:t>
            </a:r>
            <a:r>
              <a:rPr dirty="0"/>
              <a:t>in</a:t>
            </a:r>
            <a:r>
              <a:rPr spc="35" dirty="0"/>
              <a:t> </a:t>
            </a:r>
            <a:r>
              <a:rPr dirty="0"/>
              <a:t>the</a:t>
            </a:r>
            <a:r>
              <a:rPr spc="40" dirty="0"/>
              <a:t> </a:t>
            </a:r>
            <a:r>
              <a:rPr dirty="0"/>
              <a:t>production</a:t>
            </a:r>
            <a:r>
              <a:rPr spc="35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dirty="0"/>
              <a:t>comprehension</a:t>
            </a:r>
            <a:r>
              <a:rPr spc="35" dirty="0"/>
              <a:t> </a:t>
            </a:r>
            <a:r>
              <a:rPr dirty="0"/>
              <a:t>of</a:t>
            </a:r>
            <a:r>
              <a:rPr spc="40" dirty="0"/>
              <a:t> </a:t>
            </a:r>
            <a:r>
              <a:rPr spc="-10" dirty="0"/>
              <a:t>natural</a:t>
            </a:r>
            <a:r>
              <a:rPr spc="35" dirty="0"/>
              <a:t> </a:t>
            </a:r>
            <a:r>
              <a:rPr dirty="0"/>
              <a:t>language</a:t>
            </a:r>
            <a:r>
              <a:rPr spc="40" dirty="0"/>
              <a:t> </a:t>
            </a:r>
            <a:r>
              <a:rPr spc="-25" dirty="0"/>
              <a:t>is</a:t>
            </a:r>
          </a:p>
          <a:p>
            <a:pPr marL="327660">
              <a:lnSpc>
                <a:spcPct val="100000"/>
              </a:lnSpc>
              <a:spcBef>
                <a:spcPts val="215"/>
              </a:spcBef>
            </a:pPr>
            <a:r>
              <a:rPr i="1" spc="-45" dirty="0">
                <a:latin typeface="Trebuchet MS"/>
                <a:cs typeface="Trebuchet MS"/>
              </a:rPr>
              <a:t>efficient</a:t>
            </a:r>
            <a:r>
              <a:rPr i="1" spc="15" dirty="0">
                <a:latin typeface="Trebuchet MS"/>
                <a:cs typeface="Trebuchet MS"/>
              </a:rPr>
              <a:t> </a:t>
            </a:r>
            <a:r>
              <a:rPr spc="-10" dirty="0"/>
              <a:t>communication.</a:t>
            </a:r>
          </a:p>
          <a:p>
            <a:pPr marL="327660">
              <a:lnSpc>
                <a:spcPct val="100000"/>
              </a:lnSpc>
              <a:spcBef>
                <a:spcPts val="355"/>
              </a:spcBef>
            </a:pPr>
            <a:r>
              <a:rPr dirty="0"/>
              <a:t>Allowing</a:t>
            </a:r>
            <a:r>
              <a:rPr spc="15" dirty="0"/>
              <a:t> </a:t>
            </a:r>
            <a:r>
              <a:rPr dirty="0"/>
              <a:t>resolvable</a:t>
            </a:r>
            <a:r>
              <a:rPr spc="20" dirty="0"/>
              <a:t> </a:t>
            </a:r>
            <a:r>
              <a:rPr spc="-10" dirty="0"/>
              <a:t>ambiguity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9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permits</a:t>
            </a:r>
            <a:r>
              <a:rPr sz="900" spc="-15" dirty="0"/>
              <a:t> </a:t>
            </a:r>
            <a:r>
              <a:rPr sz="900" spc="-10" dirty="0"/>
              <a:t>shorter</a:t>
            </a:r>
            <a:r>
              <a:rPr sz="900" spc="-20" dirty="0"/>
              <a:t> </a:t>
            </a:r>
            <a:r>
              <a:rPr sz="900" spc="-25" dirty="0"/>
              <a:t>linguistic</a:t>
            </a:r>
            <a:r>
              <a:rPr sz="900" spc="-20" dirty="0"/>
              <a:t> </a:t>
            </a:r>
            <a:r>
              <a:rPr sz="900" spc="-10" dirty="0"/>
              <a:t>expressions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07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/>
              <a:t>avoids</a:t>
            </a:r>
            <a:r>
              <a:rPr sz="900" spc="-10" dirty="0"/>
              <a:t> </a:t>
            </a:r>
            <a:r>
              <a:rPr sz="900" dirty="0"/>
              <a:t>language</a:t>
            </a:r>
            <a:r>
              <a:rPr sz="900" spc="-10" dirty="0"/>
              <a:t> </a:t>
            </a:r>
            <a:r>
              <a:rPr sz="900" dirty="0"/>
              <a:t>being</a:t>
            </a:r>
            <a:r>
              <a:rPr sz="900" spc="-5" dirty="0"/>
              <a:t> </a:t>
            </a:r>
            <a:r>
              <a:rPr sz="900" spc="-20" dirty="0"/>
              <a:t>overly</a:t>
            </a:r>
            <a:r>
              <a:rPr sz="900" spc="-10" dirty="0"/>
              <a:t> complex</a:t>
            </a:r>
            <a:endParaRPr sz="900">
              <a:latin typeface="Arial MT"/>
              <a:cs typeface="Arial MT"/>
            </a:endParaRPr>
          </a:p>
          <a:p>
            <a:pPr marL="327660" marR="30480">
              <a:lnSpc>
                <a:spcPct val="118900"/>
              </a:lnSpc>
              <a:spcBef>
                <a:spcPts val="310"/>
              </a:spcBef>
            </a:pPr>
            <a:r>
              <a:rPr dirty="0"/>
              <a:t>Language</a:t>
            </a:r>
            <a:r>
              <a:rPr spc="40" dirty="0"/>
              <a:t> </a:t>
            </a:r>
            <a:r>
              <a:rPr dirty="0"/>
              <a:t>relies</a:t>
            </a:r>
            <a:r>
              <a:rPr spc="40" dirty="0"/>
              <a:t> </a:t>
            </a:r>
            <a:r>
              <a:rPr dirty="0"/>
              <a:t>on</a:t>
            </a:r>
            <a:r>
              <a:rPr spc="40" dirty="0"/>
              <a:t> </a:t>
            </a:r>
            <a:r>
              <a:rPr dirty="0"/>
              <a:t>people’s</a:t>
            </a:r>
            <a:r>
              <a:rPr spc="40" dirty="0"/>
              <a:t> </a:t>
            </a:r>
            <a:r>
              <a:rPr spc="-25" dirty="0"/>
              <a:t>ability</a:t>
            </a:r>
            <a:r>
              <a:rPr spc="40" dirty="0"/>
              <a:t> </a:t>
            </a:r>
            <a:r>
              <a:rPr spc="-20" dirty="0"/>
              <a:t>to</a:t>
            </a:r>
            <a:r>
              <a:rPr spc="40" dirty="0"/>
              <a:t> </a:t>
            </a:r>
            <a:r>
              <a:rPr spc="50" dirty="0"/>
              <a:t>use</a:t>
            </a:r>
            <a:r>
              <a:rPr spc="45" dirty="0"/>
              <a:t> </a:t>
            </a:r>
            <a:r>
              <a:rPr spc="-30" dirty="0"/>
              <a:t>their</a:t>
            </a:r>
            <a:r>
              <a:rPr spc="40" dirty="0"/>
              <a:t> </a:t>
            </a:r>
            <a:r>
              <a:rPr dirty="0"/>
              <a:t>knowledge</a:t>
            </a:r>
            <a:r>
              <a:rPr spc="40" dirty="0"/>
              <a:t> </a:t>
            </a:r>
            <a:r>
              <a:rPr dirty="0"/>
              <a:t>and</a:t>
            </a:r>
            <a:r>
              <a:rPr spc="40" dirty="0"/>
              <a:t> </a:t>
            </a:r>
            <a:r>
              <a:rPr spc="-10" dirty="0"/>
              <a:t>inference abilities</a:t>
            </a:r>
            <a:r>
              <a:rPr spc="-20" dirty="0"/>
              <a:t> to </a:t>
            </a:r>
            <a:r>
              <a:rPr dirty="0"/>
              <a:t>properly</a:t>
            </a:r>
            <a:r>
              <a:rPr spc="-20" dirty="0"/>
              <a:t> </a:t>
            </a:r>
            <a:r>
              <a:rPr dirty="0"/>
              <a:t>resolve</a:t>
            </a:r>
            <a:r>
              <a:rPr spc="-15" dirty="0"/>
              <a:t> </a:t>
            </a:r>
            <a:r>
              <a:rPr spc="-10" dirty="0"/>
              <a:t>ambiguities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59889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Natural</a:t>
            </a:r>
            <a:r>
              <a:rPr spc="25" dirty="0"/>
              <a:t> </a:t>
            </a:r>
            <a:r>
              <a:rPr spc="-10" dirty="0"/>
              <a:t>Languages</a:t>
            </a:r>
            <a:r>
              <a:rPr spc="25" dirty="0"/>
              <a:t> </a:t>
            </a:r>
            <a:r>
              <a:rPr dirty="0"/>
              <a:t>vs.</a:t>
            </a:r>
            <a:r>
              <a:rPr spc="10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10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66490"/>
            <a:ext cx="3656329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Ambiguity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primary</a:t>
            </a:r>
            <a:r>
              <a:rPr sz="950" spc="-10" dirty="0">
                <a:latin typeface="Trebuchet MS"/>
                <a:cs typeface="Trebuchet MS"/>
              </a:rPr>
              <a:t> difference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computer languages.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Natural</a:t>
            </a:r>
            <a:r>
              <a:rPr spc="25" dirty="0"/>
              <a:t> </a:t>
            </a:r>
            <a:r>
              <a:rPr spc="-10" dirty="0"/>
              <a:t>Languages</a:t>
            </a:r>
            <a:r>
              <a:rPr spc="25" dirty="0"/>
              <a:t> </a:t>
            </a:r>
            <a:r>
              <a:rPr dirty="0"/>
              <a:t>vs.</a:t>
            </a:r>
            <a:r>
              <a:rPr spc="10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10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066490"/>
            <a:ext cx="3656329" cy="5594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Ambiguity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primary</a:t>
            </a:r>
            <a:r>
              <a:rPr sz="950" spc="-10" dirty="0">
                <a:latin typeface="Trebuchet MS"/>
                <a:cs typeface="Trebuchet MS"/>
              </a:rPr>
              <a:t> difference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computer languages.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rebuchet MS"/>
                <a:cs typeface="Trebuchet MS"/>
              </a:rPr>
              <a:t>Formal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programming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designed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Natural</a:t>
            </a:r>
            <a:r>
              <a:rPr spc="25" dirty="0"/>
              <a:t> </a:t>
            </a:r>
            <a:r>
              <a:rPr spc="-10" dirty="0"/>
              <a:t>Languages</a:t>
            </a:r>
            <a:r>
              <a:rPr spc="25" dirty="0"/>
              <a:t> </a:t>
            </a:r>
            <a:r>
              <a:rPr dirty="0"/>
              <a:t>vs.</a:t>
            </a:r>
            <a:r>
              <a:rPr spc="10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10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66490"/>
            <a:ext cx="3707129" cy="8864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Ambiguity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primary</a:t>
            </a:r>
            <a:r>
              <a:rPr sz="950" spc="-10" dirty="0">
                <a:latin typeface="Trebuchet MS"/>
                <a:cs typeface="Trebuchet MS"/>
              </a:rPr>
              <a:t> difference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computer languages.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rebuchet MS"/>
                <a:cs typeface="Trebuchet MS"/>
              </a:rPr>
              <a:t>Formal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programming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designed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  <a:p>
            <a:pPr marL="314960" marR="43180" indent="-137160">
              <a:lnSpc>
                <a:spcPct val="110700"/>
              </a:lnSpc>
              <a:spcBef>
                <a:spcPts val="190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15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Formal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programming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languages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can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be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defined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by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grammar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40" dirty="0">
                <a:latin typeface="Trebuchet MS"/>
                <a:cs typeface="Trebuchet MS"/>
              </a:rPr>
              <a:t>that </a:t>
            </a:r>
            <a:r>
              <a:rPr sz="900" i="1" dirty="0">
                <a:latin typeface="Trebuchet MS"/>
                <a:cs typeface="Trebuchet MS"/>
              </a:rPr>
              <a:t>produces</a:t>
            </a:r>
            <a:r>
              <a:rPr sz="900" i="1" spc="-10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unique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parse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80" dirty="0">
                <a:latin typeface="Trebuchet MS"/>
                <a:cs typeface="Trebuchet MS"/>
              </a:rPr>
              <a:t>for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each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sentence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in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the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language.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Natural</a:t>
            </a:r>
            <a:r>
              <a:rPr spc="25" dirty="0"/>
              <a:t> </a:t>
            </a:r>
            <a:r>
              <a:rPr spc="-10" dirty="0"/>
              <a:t>Languages</a:t>
            </a:r>
            <a:r>
              <a:rPr spc="25" dirty="0"/>
              <a:t> </a:t>
            </a:r>
            <a:r>
              <a:rPr dirty="0"/>
              <a:t>vs.</a:t>
            </a:r>
            <a:r>
              <a:rPr spc="10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10" dirty="0"/>
              <a:t>Languages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159027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066490"/>
            <a:ext cx="3912235" cy="1270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235585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Ambiguity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primary</a:t>
            </a:r>
            <a:r>
              <a:rPr sz="950" spc="-10" dirty="0">
                <a:latin typeface="Trebuchet MS"/>
                <a:cs typeface="Trebuchet MS"/>
              </a:rPr>
              <a:t> difference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natural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0" dirty="0">
                <a:latin typeface="Trebuchet MS"/>
                <a:cs typeface="Trebuchet MS"/>
              </a:rPr>
              <a:t> computer languages.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rebuchet MS"/>
                <a:cs typeface="Trebuchet MS"/>
              </a:rPr>
              <a:t>Formal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programming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designed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  <a:p>
            <a:pPr marL="314960" marR="248285" indent="-137160">
              <a:lnSpc>
                <a:spcPct val="110700"/>
              </a:lnSpc>
              <a:spcBef>
                <a:spcPts val="190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15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Formal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programming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languages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can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be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defined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by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20" dirty="0">
                <a:latin typeface="Trebuchet MS"/>
                <a:cs typeface="Trebuchet MS"/>
              </a:rPr>
              <a:t>grammar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40" dirty="0">
                <a:latin typeface="Trebuchet MS"/>
                <a:cs typeface="Trebuchet MS"/>
              </a:rPr>
              <a:t>that </a:t>
            </a:r>
            <a:r>
              <a:rPr sz="900" i="1" dirty="0">
                <a:latin typeface="Trebuchet MS"/>
                <a:cs typeface="Trebuchet MS"/>
              </a:rPr>
              <a:t>produces</a:t>
            </a:r>
            <a:r>
              <a:rPr sz="900" i="1" spc="-10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a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unique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parse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80" dirty="0">
                <a:latin typeface="Trebuchet MS"/>
                <a:cs typeface="Trebuchet MS"/>
              </a:rPr>
              <a:t>for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each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sentence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in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45" dirty="0">
                <a:latin typeface="Trebuchet MS"/>
                <a:cs typeface="Trebuchet MS"/>
              </a:rPr>
              <a:t>the</a:t>
            </a:r>
            <a:r>
              <a:rPr sz="900" i="1" spc="-5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language.</a:t>
            </a:r>
            <a:endParaRPr sz="900">
              <a:latin typeface="Trebuchet MS"/>
              <a:cs typeface="Trebuchet MS"/>
            </a:endParaRPr>
          </a:p>
          <a:p>
            <a:pPr marL="38100" marR="30480">
              <a:lnSpc>
                <a:spcPct val="118900"/>
              </a:lnSpc>
              <a:spcBef>
                <a:spcPts val="309"/>
              </a:spcBef>
            </a:pPr>
            <a:r>
              <a:rPr sz="950" dirty="0">
                <a:latin typeface="Trebuchet MS"/>
                <a:cs typeface="Trebuchet MS"/>
              </a:rPr>
              <a:t>Programming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languages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designed</a:t>
            </a:r>
            <a:r>
              <a:rPr sz="950" spc="12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efficient</a:t>
            </a:r>
            <a:r>
              <a:rPr sz="950" spc="1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(deterministic) parsing.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20901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59889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992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else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0258" y="699655"/>
            <a:ext cx="1587500" cy="221615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11146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992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else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D0DCB-3D35-4EC2-96E6-009E06E5F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sz="2495" b="1" dirty="0">
                <a:solidFill>
                  <a:srgbClr val="FF0000"/>
                </a:solidFill>
              </a:rPr>
              <a:t>Why is NLP hard? </a:t>
            </a:r>
          </a:p>
        </p:txBody>
      </p:sp>
      <p:pic>
        <p:nvPicPr>
          <p:cNvPr id="1026" name="Picture 2" descr="Emoji | Definition, Examples, History ...">
            <a:extLst>
              <a:ext uri="{FF2B5EF4-FFF2-40B4-BE49-F238E27FC236}">
                <a16:creationId xmlns:a16="http://schemas.microsoft.com/office/drawing/2014/main" id="{E887BE4F-609C-4CE7-A923-631A8594238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646" y="1208601"/>
            <a:ext cx="990451" cy="6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moji Meanings Decoded - Emojis You're ...">
            <a:extLst>
              <a:ext uri="{FF2B5EF4-FFF2-40B4-BE49-F238E27FC236}">
                <a16:creationId xmlns:a16="http://schemas.microsoft.com/office/drawing/2014/main" id="{CB35D13D-5F08-4BD9-B81E-EC6B249F1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793" y="1152843"/>
            <a:ext cx="855717" cy="770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orensic linguists explore how emojis ...">
            <a:extLst>
              <a:ext uri="{FF2B5EF4-FFF2-40B4-BE49-F238E27FC236}">
                <a16:creationId xmlns:a16="http://schemas.microsoft.com/office/drawing/2014/main" id="{078837CB-8B98-4278-8ADB-E9D9762F4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944" y="2170116"/>
            <a:ext cx="972443" cy="673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igher Emotional Intelligence ...">
            <a:extLst>
              <a:ext uri="{FF2B5EF4-FFF2-40B4-BE49-F238E27FC236}">
                <a16:creationId xmlns:a16="http://schemas.microsoft.com/office/drawing/2014/main" id="{D00020BA-B92A-47BC-BE0F-9F4124CBC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3426" y="2170116"/>
            <a:ext cx="990451" cy="65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Emoji World Smileys &amp; Emoji - App on ...">
            <a:extLst>
              <a:ext uri="{FF2B5EF4-FFF2-40B4-BE49-F238E27FC236}">
                <a16:creationId xmlns:a16="http://schemas.microsoft.com/office/drawing/2014/main" id="{F3913F07-3624-4843-B6A8-17C6B1CDAC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886" y="1113089"/>
            <a:ext cx="810369" cy="810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37076E3-65BA-4B2D-8F95-FDE921DF382A}"/>
              </a:ext>
            </a:extLst>
          </p:cNvPr>
          <p:cNvSpPr txBox="1"/>
          <p:nvPr/>
        </p:nvSpPr>
        <p:spPr>
          <a:xfrm>
            <a:off x="2629115" y="2360012"/>
            <a:ext cx="1834300" cy="511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61" b="1" dirty="0"/>
              <a:t>…………….Target is?????</a:t>
            </a:r>
            <a:endParaRPr lang="en-IN" sz="1361" b="1" dirty="0"/>
          </a:p>
        </p:txBody>
      </p:sp>
    </p:spTree>
    <p:extLst>
      <p:ext uri="{BB962C8B-B14F-4D97-AF65-F5344CB8AC3E}">
        <p14:creationId xmlns:p14="http://schemas.microsoft.com/office/powerpoint/2010/main" val="220271543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else</a:t>
            </a:r>
            <a:r>
              <a:rPr spc="40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55" dirty="0"/>
              <a:t>NLP</a:t>
            </a:r>
            <a:r>
              <a:rPr spc="40" dirty="0"/>
              <a:t> </a:t>
            </a:r>
            <a:r>
              <a:rPr spc="-2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68311"/>
            <a:ext cx="4483735" cy="629920"/>
            <a:chOff x="87743" y="96831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9683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413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607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8337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2558"/>
              <a:ext cx="50800" cy="4835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8555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5068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379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25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12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893691"/>
            <a:ext cx="4265930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Non-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standard</a:t>
            </a:r>
            <a:r>
              <a:rPr sz="1100" i="1" spc="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English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Great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job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@justinbieber!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SOO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14" dirty="0">
                <a:latin typeface="Trebuchet MS"/>
                <a:cs typeface="Trebuchet MS"/>
              </a:rPr>
              <a:t>PROUD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youve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accomplished!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U </a:t>
            </a:r>
            <a:r>
              <a:rPr sz="950" dirty="0">
                <a:latin typeface="Trebuchet MS"/>
                <a:cs typeface="Trebuchet MS"/>
              </a:rPr>
              <a:t>taught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#neversaynever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yourself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never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either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else</a:t>
            </a:r>
            <a:r>
              <a:rPr spc="40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55" dirty="0"/>
              <a:t>NLP</a:t>
            </a:r>
            <a:r>
              <a:rPr spc="40" dirty="0"/>
              <a:t> </a:t>
            </a:r>
            <a:r>
              <a:rPr spc="-2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68311"/>
            <a:ext cx="4483735" cy="629920"/>
            <a:chOff x="87743" y="96831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9683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413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607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8337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2558"/>
              <a:ext cx="50800" cy="4835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8555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5068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379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25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12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98803"/>
            <a:ext cx="4483735" cy="871219"/>
            <a:chOff x="87743" y="1698803"/>
            <a:chExt cx="4483735" cy="871219"/>
          </a:xfrm>
        </p:grpSpPr>
        <p:sp>
          <p:nvSpPr>
            <p:cNvPr id="15" name="object 15"/>
            <p:cNvSpPr/>
            <p:nvPr/>
          </p:nvSpPr>
          <p:spPr>
            <a:xfrm>
              <a:off x="87743" y="169880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71815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46837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455672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743037"/>
              <a:ext cx="50800" cy="72533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16049"/>
              <a:ext cx="4432935" cy="603250"/>
            </a:xfrm>
            <a:custGeom>
              <a:avLst/>
              <a:gdLst/>
              <a:ahLst/>
              <a:cxnLst/>
              <a:rect l="l" t="t" r="r" b="b"/>
              <a:pathLst>
                <a:path w="4432935" h="603250">
                  <a:moveTo>
                    <a:pt x="4432554" y="0"/>
                  </a:moveTo>
                  <a:lnTo>
                    <a:pt x="0" y="0"/>
                  </a:lnTo>
                  <a:lnTo>
                    <a:pt x="0" y="552322"/>
                  </a:lnTo>
                  <a:lnTo>
                    <a:pt x="4008" y="572047"/>
                  </a:lnTo>
                  <a:lnTo>
                    <a:pt x="14922" y="588200"/>
                  </a:lnTo>
                  <a:lnTo>
                    <a:pt x="31075" y="599114"/>
                  </a:lnTo>
                  <a:lnTo>
                    <a:pt x="50800" y="603122"/>
                  </a:lnTo>
                  <a:lnTo>
                    <a:pt x="4381754" y="603122"/>
                  </a:lnTo>
                  <a:lnTo>
                    <a:pt x="4401478" y="599114"/>
                  </a:lnTo>
                  <a:lnTo>
                    <a:pt x="4417631" y="588200"/>
                  </a:lnTo>
                  <a:lnTo>
                    <a:pt x="4428545" y="572047"/>
                  </a:lnTo>
                  <a:lnTo>
                    <a:pt x="4432554" y="5523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81175"/>
              <a:ext cx="0" cy="706755"/>
            </a:xfrm>
            <a:custGeom>
              <a:avLst/>
              <a:gdLst/>
              <a:ahLst/>
              <a:cxnLst/>
              <a:rect l="l" t="t" r="r" b="b"/>
              <a:pathLst>
                <a:path h="706755">
                  <a:moveTo>
                    <a:pt x="0" y="7062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68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557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3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893691"/>
            <a:ext cx="4265930" cy="117475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Non-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standard</a:t>
            </a:r>
            <a:r>
              <a:rPr sz="1100" i="1" spc="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English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Great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job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@justinbieber!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SOO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14" dirty="0">
                <a:latin typeface="Trebuchet MS"/>
                <a:cs typeface="Trebuchet MS"/>
              </a:rPr>
              <a:t>PROUD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youve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accomplished!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U </a:t>
            </a:r>
            <a:r>
              <a:rPr sz="950" dirty="0">
                <a:latin typeface="Trebuchet MS"/>
                <a:cs typeface="Trebuchet MS"/>
              </a:rPr>
              <a:t>taught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#neversaynever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yourself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never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either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Segmentation</a:t>
            </a:r>
            <a:r>
              <a:rPr sz="1100" i="1" spc="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Issues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New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York-New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Railroad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else</a:t>
            </a:r>
            <a:r>
              <a:rPr spc="40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55" dirty="0"/>
              <a:t>NLP</a:t>
            </a:r>
            <a:r>
              <a:rPr spc="40" dirty="0"/>
              <a:t> </a:t>
            </a:r>
            <a:r>
              <a:rPr spc="-2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68311"/>
            <a:ext cx="4483735" cy="629920"/>
            <a:chOff x="87743" y="96831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9683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413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607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8337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2558"/>
              <a:ext cx="50800" cy="4835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8555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5068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379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25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12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98803"/>
            <a:ext cx="4483735" cy="871219"/>
            <a:chOff x="87743" y="1698803"/>
            <a:chExt cx="4483735" cy="871219"/>
          </a:xfrm>
        </p:grpSpPr>
        <p:sp>
          <p:nvSpPr>
            <p:cNvPr id="15" name="object 15"/>
            <p:cNvSpPr/>
            <p:nvPr/>
          </p:nvSpPr>
          <p:spPr>
            <a:xfrm>
              <a:off x="87743" y="169880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71815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46837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455672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743037"/>
              <a:ext cx="50800" cy="72533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16049"/>
              <a:ext cx="4432935" cy="603250"/>
            </a:xfrm>
            <a:custGeom>
              <a:avLst/>
              <a:gdLst/>
              <a:ahLst/>
              <a:cxnLst/>
              <a:rect l="l" t="t" r="r" b="b"/>
              <a:pathLst>
                <a:path w="4432935" h="603250">
                  <a:moveTo>
                    <a:pt x="4432554" y="0"/>
                  </a:moveTo>
                  <a:lnTo>
                    <a:pt x="0" y="0"/>
                  </a:lnTo>
                  <a:lnTo>
                    <a:pt x="0" y="552322"/>
                  </a:lnTo>
                  <a:lnTo>
                    <a:pt x="4008" y="572047"/>
                  </a:lnTo>
                  <a:lnTo>
                    <a:pt x="14922" y="588200"/>
                  </a:lnTo>
                  <a:lnTo>
                    <a:pt x="31075" y="599114"/>
                  </a:lnTo>
                  <a:lnTo>
                    <a:pt x="50800" y="603122"/>
                  </a:lnTo>
                  <a:lnTo>
                    <a:pt x="4381754" y="603122"/>
                  </a:lnTo>
                  <a:lnTo>
                    <a:pt x="4401478" y="599114"/>
                  </a:lnTo>
                  <a:lnTo>
                    <a:pt x="4417631" y="588200"/>
                  </a:lnTo>
                  <a:lnTo>
                    <a:pt x="4428545" y="572047"/>
                  </a:lnTo>
                  <a:lnTo>
                    <a:pt x="4432554" y="5523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81175"/>
              <a:ext cx="0" cy="706755"/>
            </a:xfrm>
            <a:custGeom>
              <a:avLst/>
              <a:gdLst/>
              <a:ahLst/>
              <a:cxnLst/>
              <a:rect l="l" t="t" r="r" b="b"/>
              <a:pathLst>
                <a:path h="706755">
                  <a:moveTo>
                    <a:pt x="0" y="7062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68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557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3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893691"/>
            <a:ext cx="4265930" cy="13874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Non-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standard</a:t>
            </a:r>
            <a:r>
              <a:rPr sz="1100" i="1" spc="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English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Great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job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@justinbieber!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SOO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14" dirty="0">
                <a:latin typeface="Trebuchet MS"/>
                <a:cs typeface="Trebuchet MS"/>
              </a:rPr>
              <a:t>PROUD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youve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accomplished!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U </a:t>
            </a:r>
            <a:r>
              <a:rPr sz="950" dirty="0">
                <a:latin typeface="Trebuchet MS"/>
                <a:cs typeface="Trebuchet MS"/>
              </a:rPr>
              <a:t>taught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#neversaynever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yourself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never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either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Segmentation</a:t>
            </a:r>
            <a:r>
              <a:rPr sz="1100" i="1" spc="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Issues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New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York-New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Railroad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2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[New]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[York-</a:t>
            </a:r>
            <a:r>
              <a:rPr sz="950" dirty="0">
                <a:latin typeface="Trebuchet MS"/>
                <a:cs typeface="Trebuchet MS"/>
              </a:rPr>
              <a:t>New]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[Haven]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[Railroad]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else</a:t>
            </a:r>
            <a:r>
              <a:rPr spc="40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55" dirty="0"/>
              <a:t>NLP</a:t>
            </a:r>
            <a:r>
              <a:rPr spc="40" dirty="0"/>
              <a:t> </a:t>
            </a:r>
            <a:r>
              <a:rPr spc="-2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68311"/>
            <a:ext cx="4483735" cy="629920"/>
            <a:chOff x="87743" y="968311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96831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4133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96073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8337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2558"/>
              <a:ext cx="50800" cy="48351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85557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50683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379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252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1254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98803"/>
            <a:ext cx="4483735" cy="871219"/>
            <a:chOff x="87743" y="1698803"/>
            <a:chExt cx="4483735" cy="871219"/>
          </a:xfrm>
        </p:grpSpPr>
        <p:sp>
          <p:nvSpPr>
            <p:cNvPr id="15" name="object 15"/>
            <p:cNvSpPr/>
            <p:nvPr/>
          </p:nvSpPr>
          <p:spPr>
            <a:xfrm>
              <a:off x="87743" y="169880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871815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46837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455672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743037"/>
              <a:ext cx="50800" cy="72533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16049"/>
              <a:ext cx="4432935" cy="603250"/>
            </a:xfrm>
            <a:custGeom>
              <a:avLst/>
              <a:gdLst/>
              <a:ahLst/>
              <a:cxnLst/>
              <a:rect l="l" t="t" r="r" b="b"/>
              <a:pathLst>
                <a:path w="4432935" h="603250">
                  <a:moveTo>
                    <a:pt x="4432554" y="0"/>
                  </a:moveTo>
                  <a:lnTo>
                    <a:pt x="0" y="0"/>
                  </a:lnTo>
                  <a:lnTo>
                    <a:pt x="0" y="552322"/>
                  </a:lnTo>
                  <a:lnTo>
                    <a:pt x="4008" y="572047"/>
                  </a:lnTo>
                  <a:lnTo>
                    <a:pt x="14922" y="588200"/>
                  </a:lnTo>
                  <a:lnTo>
                    <a:pt x="31075" y="599114"/>
                  </a:lnTo>
                  <a:lnTo>
                    <a:pt x="50800" y="603122"/>
                  </a:lnTo>
                  <a:lnTo>
                    <a:pt x="4381754" y="603122"/>
                  </a:lnTo>
                  <a:lnTo>
                    <a:pt x="4401478" y="599114"/>
                  </a:lnTo>
                  <a:lnTo>
                    <a:pt x="4417631" y="588200"/>
                  </a:lnTo>
                  <a:lnTo>
                    <a:pt x="4428545" y="572047"/>
                  </a:lnTo>
                  <a:lnTo>
                    <a:pt x="4432554" y="55232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81175"/>
              <a:ext cx="0" cy="706755"/>
            </a:xfrm>
            <a:custGeom>
              <a:avLst/>
              <a:gdLst/>
              <a:ahLst/>
              <a:cxnLst/>
              <a:rect l="l" t="t" r="r" b="b"/>
              <a:pathLst>
                <a:path h="706755">
                  <a:moveTo>
                    <a:pt x="0" y="70624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684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7557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74302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893691"/>
            <a:ext cx="4265930" cy="15970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Non-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standard</a:t>
            </a:r>
            <a:r>
              <a:rPr sz="1100" i="1" spc="4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English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Great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job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@justinbieber!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Were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SOO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114" dirty="0">
                <a:latin typeface="Trebuchet MS"/>
                <a:cs typeface="Trebuchet MS"/>
              </a:rPr>
              <a:t>PROUD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youve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accomplished!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U </a:t>
            </a:r>
            <a:r>
              <a:rPr sz="950" dirty="0">
                <a:latin typeface="Trebuchet MS"/>
                <a:cs typeface="Trebuchet MS"/>
              </a:rPr>
              <a:t>taught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us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#neversaynever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&amp;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yourself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never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give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either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Segmentation</a:t>
            </a:r>
            <a:r>
              <a:rPr sz="1100" i="1" spc="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Issues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New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York-New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Railroad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36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24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[New]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[York-</a:t>
            </a:r>
            <a:r>
              <a:rPr sz="950" dirty="0">
                <a:latin typeface="Trebuchet MS"/>
                <a:cs typeface="Trebuchet MS"/>
              </a:rPr>
              <a:t>New]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[Haven]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[Railroad]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33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254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[New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York]-</a:t>
            </a:r>
            <a:r>
              <a:rPr sz="950" dirty="0">
                <a:latin typeface="Trebuchet MS"/>
                <a:cs typeface="Trebuchet MS"/>
              </a:rPr>
              <a:t>[New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Haven]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[Railroad]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6992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else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871537"/>
            <a:ext cx="4483735" cy="865505"/>
            <a:chOff x="87743" y="871537"/>
            <a:chExt cx="4483735" cy="865505"/>
          </a:xfrm>
        </p:grpSpPr>
        <p:sp>
          <p:nvSpPr>
            <p:cNvPr id="5" name="object 5"/>
            <p:cNvSpPr/>
            <p:nvPr/>
          </p:nvSpPr>
          <p:spPr>
            <a:xfrm>
              <a:off x="87743" y="871537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5202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35074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22374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15771"/>
              <a:ext cx="50800" cy="71930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79449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3846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h="700405">
                  <a:moveTo>
                    <a:pt x="0" y="7002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41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84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9157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26350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383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46415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729" y="810599"/>
            <a:ext cx="1442720" cy="84074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Idioms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25"/>
              </a:spcBef>
            </a:pPr>
            <a:r>
              <a:rPr sz="950" dirty="0">
                <a:latin typeface="Trebuchet MS"/>
                <a:cs typeface="Trebuchet MS"/>
              </a:rPr>
              <a:t>dark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horse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Ball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</a:t>
            </a:r>
            <a:r>
              <a:rPr sz="950" spc="-10" dirty="0">
                <a:latin typeface="Trebuchet MS"/>
                <a:cs typeface="Trebuchet MS"/>
              </a:rPr>
              <a:t> court </a:t>
            </a:r>
            <a:r>
              <a:rPr sz="950" dirty="0">
                <a:latin typeface="Trebuchet MS"/>
                <a:cs typeface="Trebuchet MS"/>
              </a:rPr>
              <a:t>Burn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midnight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oil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9" name="object 1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35" dirty="0"/>
              <a:t> </a:t>
            </a:r>
            <a:r>
              <a:rPr dirty="0"/>
              <a:t>else</a:t>
            </a:r>
            <a:r>
              <a:rPr spc="40" dirty="0"/>
              <a:t> </a:t>
            </a:r>
            <a:r>
              <a:rPr dirty="0"/>
              <a:t>is</a:t>
            </a:r>
            <a:r>
              <a:rPr spc="40" dirty="0"/>
              <a:t> </a:t>
            </a:r>
            <a:r>
              <a:rPr spc="55" dirty="0"/>
              <a:t>NLP</a:t>
            </a:r>
            <a:r>
              <a:rPr spc="40" dirty="0"/>
              <a:t> </a:t>
            </a:r>
            <a:r>
              <a:rPr spc="-2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1537"/>
            <a:ext cx="4483735" cy="865505"/>
            <a:chOff x="87743" y="871537"/>
            <a:chExt cx="4483735" cy="865505"/>
          </a:xfrm>
        </p:grpSpPr>
        <p:sp>
          <p:nvSpPr>
            <p:cNvPr id="4" name="object 4"/>
            <p:cNvSpPr/>
            <p:nvPr/>
          </p:nvSpPr>
          <p:spPr>
            <a:xfrm>
              <a:off x="87743" y="871537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520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350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223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15771"/>
              <a:ext cx="50800" cy="71930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79449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53846"/>
              <a:ext cx="0" cy="700405"/>
            </a:xfrm>
            <a:custGeom>
              <a:avLst/>
              <a:gdLst/>
              <a:ahLst/>
              <a:cxnLst/>
              <a:rect l="l" t="t" r="r" b="b"/>
              <a:pathLst>
                <a:path h="700405">
                  <a:moveTo>
                    <a:pt x="0" y="70027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11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84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1577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2635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38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46415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837791"/>
            <a:ext cx="4483735" cy="877569"/>
            <a:chOff x="87743" y="1837791"/>
            <a:chExt cx="4483735" cy="877569"/>
          </a:xfrm>
        </p:grpSpPr>
        <p:sp>
          <p:nvSpPr>
            <p:cNvPr id="18" name="object 18"/>
            <p:cNvSpPr/>
            <p:nvPr/>
          </p:nvSpPr>
          <p:spPr>
            <a:xfrm>
              <a:off x="87743" y="183779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10816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613545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600845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882026"/>
              <a:ext cx="50800" cy="73151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55127"/>
              <a:ext cx="4432935" cy="609600"/>
            </a:xfrm>
            <a:custGeom>
              <a:avLst/>
              <a:gdLst/>
              <a:ahLst/>
              <a:cxnLst/>
              <a:rect l="l" t="t" r="r" b="b"/>
              <a:pathLst>
                <a:path w="4432935" h="609600">
                  <a:moveTo>
                    <a:pt x="4432554" y="0"/>
                  </a:moveTo>
                  <a:lnTo>
                    <a:pt x="0" y="0"/>
                  </a:lnTo>
                  <a:lnTo>
                    <a:pt x="0" y="558419"/>
                  </a:lnTo>
                  <a:lnTo>
                    <a:pt x="4008" y="578143"/>
                  </a:lnTo>
                  <a:lnTo>
                    <a:pt x="14922" y="594296"/>
                  </a:lnTo>
                  <a:lnTo>
                    <a:pt x="31075" y="605210"/>
                  </a:lnTo>
                  <a:lnTo>
                    <a:pt x="50800" y="609219"/>
                  </a:lnTo>
                  <a:lnTo>
                    <a:pt x="4381754" y="609219"/>
                  </a:lnTo>
                  <a:lnTo>
                    <a:pt x="4401478" y="605210"/>
                  </a:lnTo>
                  <a:lnTo>
                    <a:pt x="4417631" y="594296"/>
                  </a:lnTo>
                  <a:lnTo>
                    <a:pt x="4428545" y="578143"/>
                  </a:lnTo>
                  <a:lnTo>
                    <a:pt x="4432554" y="55841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20125"/>
              <a:ext cx="0" cy="712470"/>
            </a:xfrm>
            <a:custGeom>
              <a:avLst/>
              <a:gdLst/>
              <a:ahLst/>
              <a:cxnLst/>
              <a:rect l="l" t="t" r="r" b="b"/>
              <a:pathLst>
                <a:path h="712469">
                  <a:moveTo>
                    <a:pt x="0" y="71246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074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947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882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104822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314854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524887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810599"/>
            <a:ext cx="1703070" cy="18192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Idioms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25"/>
              </a:spcBef>
            </a:pPr>
            <a:r>
              <a:rPr sz="950" dirty="0">
                <a:latin typeface="Trebuchet MS"/>
                <a:cs typeface="Trebuchet MS"/>
              </a:rPr>
              <a:t>dark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horse</a:t>
            </a:r>
            <a:endParaRPr sz="950">
              <a:latin typeface="Trebuchet MS"/>
              <a:cs typeface="Trebuchet MS"/>
            </a:endParaRPr>
          </a:p>
          <a:p>
            <a:pPr marL="289560" marR="265430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Ball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your</a:t>
            </a:r>
            <a:r>
              <a:rPr sz="950" spc="-10" dirty="0">
                <a:latin typeface="Trebuchet MS"/>
                <a:cs typeface="Trebuchet MS"/>
              </a:rPr>
              <a:t> court </a:t>
            </a:r>
            <a:r>
              <a:rPr sz="950" dirty="0">
                <a:latin typeface="Trebuchet MS"/>
                <a:cs typeface="Trebuchet MS"/>
              </a:rPr>
              <a:t>Burn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midnight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oil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neologisms</a:t>
            </a:r>
            <a:endParaRPr sz="1100">
              <a:latin typeface="Cambria"/>
              <a:cs typeface="Cambria"/>
            </a:endParaRPr>
          </a:p>
          <a:p>
            <a:pPr marL="289560" marR="952500">
              <a:lnSpc>
                <a:spcPts val="1650"/>
              </a:lnSpc>
              <a:spcBef>
                <a:spcPts val="55"/>
              </a:spcBef>
            </a:pPr>
            <a:r>
              <a:rPr sz="950" spc="-20" dirty="0">
                <a:latin typeface="Trebuchet MS"/>
                <a:cs typeface="Trebuchet MS"/>
              </a:rPr>
              <a:t>unfriend </a:t>
            </a:r>
            <a:r>
              <a:rPr sz="950" spc="-10" dirty="0">
                <a:latin typeface="Trebuchet MS"/>
                <a:cs typeface="Trebuchet MS"/>
              </a:rPr>
              <a:t>retweet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75"/>
              </a:spcBef>
            </a:pPr>
            <a:r>
              <a:rPr sz="950" spc="-10" dirty="0">
                <a:latin typeface="Trebuchet MS"/>
                <a:cs typeface="Trebuchet MS"/>
              </a:rPr>
              <a:t>Google/Skype/photoshop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3703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1046353"/>
            <a:ext cx="4483735" cy="664845"/>
            <a:chOff x="87743" y="1046353"/>
            <a:chExt cx="4483735" cy="664845"/>
          </a:xfrm>
        </p:grpSpPr>
        <p:sp>
          <p:nvSpPr>
            <p:cNvPr id="5" name="object 5"/>
            <p:cNvSpPr/>
            <p:nvPr/>
          </p:nvSpPr>
          <p:spPr>
            <a:xfrm>
              <a:off x="87743" y="104635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19365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09191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96491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90587"/>
              <a:ext cx="50800" cy="51860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263624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7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7"/>
                  </a:lnTo>
                  <a:lnTo>
                    <a:pt x="4381754" y="396367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28623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15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03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090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10513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20545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974895"/>
            <a:ext cx="1242060" cy="65087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289560" marR="5080" indent="-277495" algn="just">
              <a:lnSpc>
                <a:spcPct val="137700"/>
              </a:lnSpc>
              <a:spcBef>
                <a:spcPts val="5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New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Senses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word </a:t>
            </a:r>
            <a:r>
              <a:rPr sz="950" spc="-10" dirty="0">
                <a:latin typeface="Trebuchet MS"/>
                <a:cs typeface="Trebuchet MS"/>
              </a:rPr>
              <a:t>That’s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sick</a:t>
            </a:r>
            <a:r>
              <a:rPr sz="950" i="1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dude! Giants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 hidden="1"/>
          <p:cNvGrpSpPr/>
          <p:nvPr/>
        </p:nvGrpSpPr>
        <p:grpSpPr>
          <a:xfrm>
            <a:off x="59055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46353"/>
            <a:ext cx="4483735" cy="664845"/>
            <a:chOff x="87743" y="1046353"/>
            <a:chExt cx="4483735" cy="664845"/>
          </a:xfrm>
        </p:grpSpPr>
        <p:sp>
          <p:nvSpPr>
            <p:cNvPr id="4" name="object 4"/>
            <p:cNvSpPr/>
            <p:nvPr/>
          </p:nvSpPr>
          <p:spPr>
            <a:xfrm>
              <a:off x="87743" y="104635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1936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0919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9649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90587"/>
              <a:ext cx="50800" cy="5186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63624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7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7"/>
                  </a:lnTo>
                  <a:lnTo>
                    <a:pt x="4381754" y="396367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28623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15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03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90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1051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2054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974895"/>
            <a:ext cx="3348990" cy="65087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New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Senses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word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latin typeface="Trebuchet MS"/>
                <a:cs typeface="Trebuchet MS"/>
              </a:rPr>
              <a:t>That’s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sick</a:t>
            </a:r>
            <a:r>
              <a:rPr sz="950" i="1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dude!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Giants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...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multinationals,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conglomerates,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manufacturers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Why</a:t>
            </a:r>
            <a:r>
              <a:rPr spc="25" dirty="0"/>
              <a:t> </a:t>
            </a:r>
            <a:r>
              <a:rPr dirty="0"/>
              <a:t>is</a:t>
            </a:r>
            <a:r>
              <a:rPr spc="30" dirty="0"/>
              <a:t> </a:t>
            </a:r>
            <a:r>
              <a:rPr spc="55" dirty="0"/>
              <a:t>NLP</a:t>
            </a:r>
            <a:r>
              <a:rPr spc="30" dirty="0"/>
              <a:t> </a:t>
            </a:r>
            <a:r>
              <a:rPr spc="-10" dirty="0"/>
              <a:t>hard?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46353"/>
            <a:ext cx="4483735" cy="664845"/>
            <a:chOff x="87743" y="1046353"/>
            <a:chExt cx="4483735" cy="664845"/>
          </a:xfrm>
        </p:grpSpPr>
        <p:sp>
          <p:nvSpPr>
            <p:cNvPr id="4" name="object 4"/>
            <p:cNvSpPr/>
            <p:nvPr/>
          </p:nvSpPr>
          <p:spPr>
            <a:xfrm>
              <a:off x="87743" y="104635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1936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0919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9649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90587"/>
              <a:ext cx="50800" cy="51860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63624"/>
              <a:ext cx="4432935" cy="396875"/>
            </a:xfrm>
            <a:custGeom>
              <a:avLst/>
              <a:gdLst/>
              <a:ahLst/>
              <a:cxnLst/>
              <a:rect l="l" t="t" r="r" b="b"/>
              <a:pathLst>
                <a:path w="4432935" h="396875">
                  <a:moveTo>
                    <a:pt x="4432554" y="0"/>
                  </a:moveTo>
                  <a:lnTo>
                    <a:pt x="0" y="0"/>
                  </a:lnTo>
                  <a:lnTo>
                    <a:pt x="0" y="345567"/>
                  </a:lnTo>
                  <a:lnTo>
                    <a:pt x="4008" y="365291"/>
                  </a:lnTo>
                  <a:lnTo>
                    <a:pt x="14922" y="381444"/>
                  </a:lnTo>
                  <a:lnTo>
                    <a:pt x="31075" y="392358"/>
                  </a:lnTo>
                  <a:lnTo>
                    <a:pt x="50800" y="396367"/>
                  </a:lnTo>
                  <a:lnTo>
                    <a:pt x="4381754" y="396367"/>
                  </a:lnTo>
                  <a:lnTo>
                    <a:pt x="4401478" y="392358"/>
                  </a:lnTo>
                  <a:lnTo>
                    <a:pt x="4417631" y="381444"/>
                  </a:lnTo>
                  <a:lnTo>
                    <a:pt x="4428545" y="365291"/>
                  </a:lnTo>
                  <a:lnTo>
                    <a:pt x="4432554" y="345567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28623"/>
              <a:ext cx="0" cy="499745"/>
            </a:xfrm>
            <a:custGeom>
              <a:avLst/>
              <a:gdLst/>
              <a:ahLst/>
              <a:cxnLst/>
              <a:rect l="l" t="t" r="r" b="b"/>
              <a:pathLst>
                <a:path h="499744">
                  <a:moveTo>
                    <a:pt x="0" y="49961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15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032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905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1051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20545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811921"/>
            <a:ext cx="4483735" cy="641350"/>
            <a:chOff x="87743" y="1811921"/>
            <a:chExt cx="4483735" cy="641350"/>
          </a:xfrm>
        </p:grpSpPr>
        <p:sp>
          <p:nvSpPr>
            <p:cNvPr id="17" name="object 17"/>
            <p:cNvSpPr/>
            <p:nvPr/>
          </p:nvSpPr>
          <p:spPr>
            <a:xfrm>
              <a:off x="87743" y="181192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984946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351328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338628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1856156"/>
              <a:ext cx="50800" cy="49517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029256"/>
              <a:ext cx="4432935" cy="373380"/>
            </a:xfrm>
            <a:custGeom>
              <a:avLst/>
              <a:gdLst/>
              <a:ahLst/>
              <a:cxnLst/>
              <a:rect l="l" t="t" r="r" b="b"/>
              <a:pathLst>
                <a:path w="4432935" h="373380">
                  <a:moveTo>
                    <a:pt x="4432554" y="0"/>
                  </a:moveTo>
                  <a:lnTo>
                    <a:pt x="0" y="0"/>
                  </a:lnTo>
                  <a:lnTo>
                    <a:pt x="0" y="322071"/>
                  </a:lnTo>
                  <a:lnTo>
                    <a:pt x="4008" y="341796"/>
                  </a:lnTo>
                  <a:lnTo>
                    <a:pt x="14922" y="357949"/>
                  </a:lnTo>
                  <a:lnTo>
                    <a:pt x="31075" y="368863"/>
                  </a:lnTo>
                  <a:lnTo>
                    <a:pt x="50800" y="372871"/>
                  </a:lnTo>
                  <a:lnTo>
                    <a:pt x="4381754" y="372871"/>
                  </a:lnTo>
                  <a:lnTo>
                    <a:pt x="4401478" y="368863"/>
                  </a:lnTo>
                  <a:lnTo>
                    <a:pt x="4417631" y="357949"/>
                  </a:lnTo>
                  <a:lnTo>
                    <a:pt x="4428545" y="341796"/>
                  </a:lnTo>
                  <a:lnTo>
                    <a:pt x="4432554" y="32207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94255"/>
              <a:ext cx="0" cy="476250"/>
            </a:xfrm>
            <a:custGeom>
              <a:avLst/>
              <a:gdLst/>
              <a:ahLst/>
              <a:cxnLst/>
              <a:rect l="l" t="t" r="r" b="b"/>
              <a:pathLst>
                <a:path h="476250">
                  <a:moveTo>
                    <a:pt x="0" y="4761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815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8688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561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078952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288984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25729" y="974895"/>
            <a:ext cx="3348990" cy="14192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New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Senses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word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spc="-10" dirty="0">
                <a:latin typeface="Trebuchet MS"/>
                <a:cs typeface="Trebuchet MS"/>
              </a:rPr>
              <a:t>That’s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sick</a:t>
            </a:r>
            <a:r>
              <a:rPr sz="950" i="1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dude!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Giants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...</a:t>
            </a:r>
            <a:r>
              <a:rPr sz="950" spc="8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multinationals,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conglomerates,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manufacturers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Tricky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Entity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Names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i="1" spc="70" dirty="0">
                <a:latin typeface="Trebuchet MS"/>
                <a:cs typeface="Trebuchet MS"/>
              </a:rPr>
              <a:t>A</a:t>
            </a:r>
            <a:r>
              <a:rPr sz="950" i="1" spc="3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Bug’s</a:t>
            </a:r>
            <a:r>
              <a:rPr sz="950" i="1" spc="3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Life</a:t>
            </a:r>
            <a:r>
              <a:rPr sz="950" i="1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playing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...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i="1" dirty="0">
                <a:latin typeface="Trebuchet MS"/>
                <a:cs typeface="Trebuchet MS"/>
              </a:rPr>
              <a:t>Let</a:t>
            </a:r>
            <a:r>
              <a:rPr sz="950" i="1" spc="10" dirty="0">
                <a:latin typeface="Trebuchet MS"/>
                <a:cs typeface="Trebuchet MS"/>
              </a:rPr>
              <a:t> </a:t>
            </a:r>
            <a:r>
              <a:rPr sz="950" i="1" spc="-65" dirty="0">
                <a:latin typeface="Trebuchet MS"/>
                <a:cs typeface="Trebuchet MS"/>
              </a:rPr>
              <a:t>It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70" dirty="0">
                <a:latin typeface="Trebuchet MS"/>
                <a:cs typeface="Trebuchet MS"/>
              </a:rPr>
              <a:t>Be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recorded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...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0" name="object 3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1" name="object 3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What</a:t>
            </a:r>
            <a:r>
              <a:rPr dirty="0"/>
              <a:t> we do in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0229"/>
            <a:ext cx="4483735" cy="875030"/>
            <a:chOff x="87743" y="820229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2022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324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310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040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463"/>
              <a:ext cx="50800" cy="7286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475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2601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98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71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44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438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442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04454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748771"/>
            <a:ext cx="2492375" cy="8610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Tools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Required</a:t>
            </a:r>
            <a:endParaRPr sz="1100">
              <a:latin typeface="Cambria"/>
              <a:cs typeface="Cambria"/>
            </a:endParaRPr>
          </a:p>
          <a:p>
            <a:pPr marL="289560" marR="684530">
              <a:lnSpc>
                <a:spcPts val="1650"/>
              </a:lnSpc>
              <a:spcBef>
                <a:spcPts val="30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world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8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combine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resources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What</a:t>
            </a:r>
            <a:r>
              <a:rPr dirty="0"/>
              <a:t> we do in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0229"/>
            <a:ext cx="4483735" cy="875030"/>
            <a:chOff x="87743" y="820229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2022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324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310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040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463"/>
              <a:ext cx="50800" cy="7286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475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2601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98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71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44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438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442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0445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795830"/>
            <a:ext cx="4483735" cy="996315"/>
            <a:chOff x="87743" y="1795830"/>
            <a:chExt cx="4483735" cy="996315"/>
          </a:xfrm>
        </p:grpSpPr>
        <p:sp>
          <p:nvSpPr>
            <p:cNvPr id="18" name="object 18"/>
            <p:cNvSpPr/>
            <p:nvPr/>
          </p:nvSpPr>
          <p:spPr>
            <a:xfrm>
              <a:off x="87743" y="179583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1968855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690520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77820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840065"/>
              <a:ext cx="50800" cy="8504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13102"/>
              <a:ext cx="4432935" cy="728345"/>
            </a:xfrm>
            <a:custGeom>
              <a:avLst/>
              <a:gdLst/>
              <a:ahLst/>
              <a:cxnLst/>
              <a:rect l="l" t="t" r="r" b="b"/>
              <a:pathLst>
                <a:path w="4432935" h="728344">
                  <a:moveTo>
                    <a:pt x="4432554" y="0"/>
                  </a:moveTo>
                  <a:lnTo>
                    <a:pt x="0" y="0"/>
                  </a:lnTo>
                  <a:lnTo>
                    <a:pt x="0" y="677418"/>
                  </a:lnTo>
                  <a:lnTo>
                    <a:pt x="4008" y="697142"/>
                  </a:lnTo>
                  <a:lnTo>
                    <a:pt x="14922" y="713295"/>
                  </a:lnTo>
                  <a:lnTo>
                    <a:pt x="31075" y="724209"/>
                  </a:lnTo>
                  <a:lnTo>
                    <a:pt x="50800" y="728218"/>
                  </a:lnTo>
                  <a:lnTo>
                    <a:pt x="4381754" y="728218"/>
                  </a:lnTo>
                  <a:lnTo>
                    <a:pt x="4401478" y="724209"/>
                  </a:lnTo>
                  <a:lnTo>
                    <a:pt x="4417631" y="713295"/>
                  </a:lnTo>
                  <a:lnTo>
                    <a:pt x="4428545" y="697142"/>
                  </a:lnTo>
                  <a:lnTo>
                    <a:pt x="4432554" y="67741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78228"/>
              <a:ext cx="0" cy="831850"/>
            </a:xfrm>
            <a:custGeom>
              <a:avLst/>
              <a:gdLst/>
              <a:ahLst/>
              <a:cxnLst/>
              <a:rect l="l" t="t" r="r" b="b"/>
              <a:pathLst>
                <a:path h="831850">
                  <a:moveTo>
                    <a:pt x="0" y="8313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8654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527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8400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62861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113029" y="748771"/>
            <a:ext cx="2832100" cy="159702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Tools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Required</a:t>
            </a:r>
            <a:endParaRPr sz="1100">
              <a:latin typeface="Cambria"/>
              <a:cs typeface="Cambria"/>
            </a:endParaRPr>
          </a:p>
          <a:p>
            <a:pPr marL="302260" marR="1012190">
              <a:lnSpc>
                <a:spcPts val="1650"/>
              </a:lnSpc>
              <a:spcBef>
                <a:spcPts val="30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world</a:t>
            </a:r>
            <a:endParaRPr sz="95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38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combine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resources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 it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generally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done?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20"/>
              </a:spcBef>
            </a:pPr>
            <a:r>
              <a:rPr sz="950" dirty="0">
                <a:latin typeface="Trebuchet MS"/>
                <a:cs typeface="Trebuchet MS"/>
              </a:rPr>
              <a:t>Probabilistic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models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built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data</a:t>
            </a:r>
            <a:endParaRPr sz="950">
              <a:latin typeface="Trebuchet MS"/>
              <a:cs typeface="Trebuchet MS"/>
            </a:endParaRPr>
          </a:p>
          <a:p>
            <a:pPr marL="442595">
              <a:lnSpc>
                <a:spcPct val="100000"/>
              </a:lnSpc>
              <a:spcBef>
                <a:spcPts val="20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85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1000" i="1" spc="-30" dirty="0">
                <a:latin typeface="Cambria"/>
                <a:cs typeface="Cambria"/>
              </a:rPr>
              <a:t>P</a:t>
            </a:r>
            <a:r>
              <a:rPr sz="900" spc="-30" dirty="0">
                <a:latin typeface="Trebuchet MS"/>
                <a:cs typeface="Trebuchet MS"/>
              </a:rPr>
              <a:t>(“maison”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“house”)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0000FF"/>
                </a:solidFill>
                <a:latin typeface="Trebuchet MS"/>
                <a:cs typeface="Trebuchet MS"/>
              </a:rPr>
              <a:t>high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0" name="object 3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1" name="object 3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What</a:t>
            </a:r>
            <a:r>
              <a:rPr dirty="0"/>
              <a:t> we do in </a:t>
            </a:r>
            <a:r>
              <a:rPr spc="55" dirty="0"/>
              <a:t>NLP?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0229"/>
            <a:ext cx="4483735" cy="875030"/>
            <a:chOff x="87743" y="820229"/>
            <a:chExt cx="4483735" cy="875030"/>
          </a:xfrm>
        </p:grpSpPr>
        <p:sp>
          <p:nvSpPr>
            <p:cNvPr id="4" name="object 4"/>
            <p:cNvSpPr/>
            <p:nvPr/>
          </p:nvSpPr>
          <p:spPr>
            <a:xfrm>
              <a:off x="87743" y="82022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324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9310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8040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4463"/>
              <a:ext cx="50800" cy="72863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37475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5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5"/>
                  </a:lnTo>
                  <a:lnTo>
                    <a:pt x="4381754" y="606425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2601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898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771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44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8438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29442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0445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795830"/>
            <a:ext cx="4483735" cy="996315"/>
            <a:chOff x="87743" y="1795830"/>
            <a:chExt cx="4483735" cy="996315"/>
          </a:xfrm>
        </p:grpSpPr>
        <p:sp>
          <p:nvSpPr>
            <p:cNvPr id="18" name="object 18"/>
            <p:cNvSpPr/>
            <p:nvPr/>
          </p:nvSpPr>
          <p:spPr>
            <a:xfrm>
              <a:off x="87743" y="179583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1968855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690520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77820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840065"/>
              <a:ext cx="50800" cy="85045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13102"/>
              <a:ext cx="4432935" cy="728345"/>
            </a:xfrm>
            <a:custGeom>
              <a:avLst/>
              <a:gdLst/>
              <a:ahLst/>
              <a:cxnLst/>
              <a:rect l="l" t="t" r="r" b="b"/>
              <a:pathLst>
                <a:path w="4432935" h="728344">
                  <a:moveTo>
                    <a:pt x="4432554" y="0"/>
                  </a:moveTo>
                  <a:lnTo>
                    <a:pt x="0" y="0"/>
                  </a:lnTo>
                  <a:lnTo>
                    <a:pt x="0" y="677418"/>
                  </a:lnTo>
                  <a:lnTo>
                    <a:pt x="4008" y="697142"/>
                  </a:lnTo>
                  <a:lnTo>
                    <a:pt x="14922" y="713295"/>
                  </a:lnTo>
                  <a:lnTo>
                    <a:pt x="31075" y="724209"/>
                  </a:lnTo>
                  <a:lnTo>
                    <a:pt x="50800" y="728218"/>
                  </a:lnTo>
                  <a:lnTo>
                    <a:pt x="4381754" y="728218"/>
                  </a:lnTo>
                  <a:lnTo>
                    <a:pt x="4401478" y="724209"/>
                  </a:lnTo>
                  <a:lnTo>
                    <a:pt x="4417631" y="713295"/>
                  </a:lnTo>
                  <a:lnTo>
                    <a:pt x="4428545" y="697142"/>
                  </a:lnTo>
                  <a:lnTo>
                    <a:pt x="4432554" y="67741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78228"/>
              <a:ext cx="0" cy="831850"/>
            </a:xfrm>
            <a:custGeom>
              <a:avLst/>
              <a:gdLst/>
              <a:ahLst/>
              <a:cxnLst/>
              <a:rect l="l" t="t" r="r" b="b"/>
              <a:pathLst>
                <a:path h="831850">
                  <a:moveTo>
                    <a:pt x="0" y="8313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8654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527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84006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062861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601861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13029" y="748771"/>
            <a:ext cx="2952750" cy="1958339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500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Tools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Required</a:t>
            </a:r>
            <a:endParaRPr sz="1100">
              <a:latin typeface="Cambria"/>
              <a:cs typeface="Cambria"/>
            </a:endParaRPr>
          </a:p>
          <a:p>
            <a:pPr marL="302260" marR="1132840">
              <a:lnSpc>
                <a:spcPts val="1650"/>
              </a:lnSpc>
              <a:spcBef>
                <a:spcPts val="30"/>
              </a:spcBef>
            </a:pP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language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about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world</a:t>
            </a:r>
            <a:endParaRPr sz="95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38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way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combine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knowledge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resources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254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How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 it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generally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done?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420"/>
              </a:spcBef>
            </a:pPr>
            <a:r>
              <a:rPr sz="950" dirty="0">
                <a:latin typeface="Trebuchet MS"/>
                <a:cs typeface="Trebuchet MS"/>
              </a:rPr>
              <a:t>Probabilistic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models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built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language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data</a:t>
            </a:r>
            <a:endParaRPr sz="950">
              <a:latin typeface="Trebuchet MS"/>
              <a:cs typeface="Trebuchet MS"/>
            </a:endParaRPr>
          </a:p>
          <a:p>
            <a:pPr marL="442595">
              <a:lnSpc>
                <a:spcPct val="100000"/>
              </a:lnSpc>
              <a:spcBef>
                <a:spcPts val="20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85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1000" i="1" spc="-30" dirty="0">
                <a:latin typeface="Cambria"/>
                <a:cs typeface="Cambria"/>
              </a:rPr>
              <a:t>P</a:t>
            </a:r>
            <a:r>
              <a:rPr sz="900" spc="-30" dirty="0">
                <a:latin typeface="Trebuchet MS"/>
                <a:cs typeface="Trebuchet MS"/>
              </a:rPr>
              <a:t>(“maison”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-20" dirty="0">
                <a:latin typeface="Arial"/>
                <a:cs typeface="Arial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“house”)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is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solidFill>
                  <a:srgbClr val="0000FF"/>
                </a:solidFill>
                <a:latin typeface="Trebuchet MS"/>
                <a:cs typeface="Trebuchet MS"/>
              </a:rPr>
              <a:t>high</a:t>
            </a:r>
            <a:endParaRPr sz="900">
              <a:latin typeface="Trebuchet MS"/>
              <a:cs typeface="Trebuchet MS"/>
            </a:endParaRPr>
          </a:p>
          <a:p>
            <a:pPr marL="442595">
              <a:lnSpc>
                <a:spcPct val="100000"/>
              </a:lnSpc>
              <a:spcBef>
                <a:spcPts val="100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63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P(I saw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 van) &gt;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P(eyes awe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an)</a:t>
            </a:r>
            <a:endParaRPr sz="90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520"/>
              </a:spcBef>
            </a:pPr>
            <a:r>
              <a:rPr sz="950" dirty="0">
                <a:latin typeface="Trebuchet MS"/>
                <a:cs typeface="Trebuchet MS"/>
              </a:rPr>
              <a:t>Extracting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rough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dirty="0">
                <a:latin typeface="Trebuchet MS"/>
                <a:cs typeface="Trebuchet MS"/>
              </a:rPr>
              <a:t> features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does </a:t>
            </a:r>
            <a:r>
              <a:rPr sz="950" spc="-10" dirty="0">
                <a:latin typeface="Trebuchet MS"/>
                <a:cs typeface="Trebuchet MS"/>
              </a:rPr>
              <a:t>half</a:t>
            </a:r>
            <a:r>
              <a:rPr sz="950" dirty="0">
                <a:latin typeface="Trebuchet MS"/>
                <a:cs typeface="Trebuchet MS"/>
              </a:rPr>
              <a:t> 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job.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1" name="object 3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2" name="object 3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 hidden="1"/>
          <p:cNvSpPr txBox="1"/>
          <p:nvPr/>
        </p:nvSpPr>
        <p:spPr>
          <a:xfrm>
            <a:off x="2011133" y="3339672"/>
            <a:ext cx="58610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Why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is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NLP</a:t>
            </a:r>
            <a:r>
              <a:rPr sz="6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hard?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ECFAFCE-D91C-4629-A63D-93E9BEB03DD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47650" y="865187"/>
            <a:ext cx="4191000" cy="492443"/>
          </a:xfrm>
        </p:spPr>
        <p:txBody>
          <a:bodyPr/>
          <a:lstStyle/>
          <a:p>
            <a:r>
              <a:rPr lang="en-US" sz="1600" b="1" dirty="0">
                <a:solidFill>
                  <a:srgbClr val="7030A0"/>
                </a:solidFill>
              </a:rPr>
              <a:t>Regular Expressions </a:t>
            </a:r>
          </a:p>
          <a:p>
            <a:r>
              <a:rPr lang="en-US" sz="1600" b="1" dirty="0">
                <a:solidFill>
                  <a:srgbClr val="7030A0"/>
                </a:solidFill>
              </a:rPr>
              <a:t>Refer to class notes discussed problems-</a:t>
            </a:r>
            <a:endParaRPr lang="en-IN" sz="16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986523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8E32E67-7EC0-4F6B-90C2-90C7FF281C6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0" y="434975"/>
            <a:ext cx="4800600" cy="738664"/>
          </a:xfrm>
        </p:spPr>
        <p:txBody>
          <a:bodyPr/>
          <a:lstStyle/>
          <a:p>
            <a:r>
              <a:rPr lang="en-US" sz="2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Classical NLP Vs Modern NLP</a:t>
            </a:r>
            <a:endParaRPr lang="en-IN" sz="2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B26A9F9-D331-4007-9E2E-ACBEAA31E30A}"/>
              </a:ext>
            </a:extLst>
          </p:cNvPr>
          <p:cNvSpPr txBox="1">
            <a:spLocks/>
          </p:cNvSpPr>
          <p:nvPr/>
        </p:nvSpPr>
        <p:spPr>
          <a:xfrm>
            <a:off x="691515" y="1961092"/>
            <a:ext cx="3227070" cy="146194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A Conceptual Comparison</a:t>
            </a:r>
          </a:p>
        </p:txBody>
      </p:sp>
    </p:spTree>
    <p:extLst>
      <p:ext uri="{BB962C8B-B14F-4D97-AF65-F5344CB8AC3E}">
        <p14:creationId xmlns:p14="http://schemas.microsoft.com/office/powerpoint/2010/main" val="123279200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438582"/>
          </a:xfrm>
        </p:spPr>
        <p:txBody>
          <a:bodyPr/>
          <a:lstStyle/>
          <a:p>
            <a:r>
              <a:rPr dirty="0"/>
              <a:t>Natural Language Processing (NLP) has evolved significantly over time. Classical NLP relied on rule-based and statistical models, whereas modern NLP leverages deep learning and transformer-based architectures.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Approach &amp;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315745"/>
          </a:xfrm>
        </p:spPr>
        <p:txBody>
          <a:bodyPr/>
          <a:lstStyle/>
          <a:p>
            <a:r>
              <a:t>Classical NLP:</a:t>
            </a:r>
          </a:p>
          <a:p>
            <a:r>
              <a:t>- Rule-based and Statistical models</a:t>
            </a:r>
          </a:p>
          <a:p>
            <a:r>
              <a:t>- Handcrafted linguistic rules</a:t>
            </a:r>
          </a:p>
          <a:p>
            <a:r>
              <a:t>- Methods: HMM, CRF, SVM, Naïve Bayes</a:t>
            </a:r>
          </a:p>
          <a:p>
            <a:endParaRPr/>
          </a:p>
          <a:p>
            <a:r>
              <a:t>Modern NLP:</a:t>
            </a:r>
          </a:p>
          <a:p>
            <a:r>
              <a:t>- Deep learning-based approaches</a:t>
            </a:r>
          </a:p>
          <a:p>
            <a:r>
              <a:t>- Self-learning neural networks</a:t>
            </a:r>
          </a:p>
          <a:p>
            <a:r>
              <a:t>- Methods: Transformers (BERT, GPT), RNNs, CNNs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Feature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023357"/>
          </a:xfrm>
        </p:spPr>
        <p:txBody>
          <a:bodyPr/>
          <a:lstStyle/>
          <a:p>
            <a:r>
              <a:t>Classical NLP:</a:t>
            </a:r>
          </a:p>
          <a:p>
            <a:r>
              <a:t>- Handcrafted features (TF-IDF, N-grams, POS tagging)</a:t>
            </a:r>
          </a:p>
          <a:p>
            <a:r>
              <a:t>- Requires domain expertise</a:t>
            </a:r>
          </a:p>
          <a:p>
            <a:endParaRPr/>
          </a:p>
          <a:p>
            <a:r>
              <a:t>Modern NLP:</a:t>
            </a:r>
          </a:p>
          <a:p>
            <a:r>
              <a:t>- Automatic feature learning using deep networks</a:t>
            </a:r>
          </a:p>
          <a:p>
            <a:r>
              <a:t>- Word embeddings (Word2Vec, GloVe, BERT embeddings)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Scalability &amp; Data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023357"/>
          </a:xfrm>
        </p:spPr>
        <p:txBody>
          <a:bodyPr/>
          <a:lstStyle/>
          <a:p>
            <a:r>
              <a:t>Classical NLP:</a:t>
            </a:r>
          </a:p>
          <a:p>
            <a:r>
              <a:t>- Works well with small datasets</a:t>
            </a:r>
          </a:p>
          <a:p>
            <a:r>
              <a:t>- Performance limited by manual feature engineering</a:t>
            </a:r>
          </a:p>
          <a:p>
            <a:endParaRPr/>
          </a:p>
          <a:p>
            <a:r>
              <a:t>Modern NLP:</a:t>
            </a:r>
          </a:p>
          <a:p>
            <a:r>
              <a:t>- Requires large datasets for pre-training</a:t>
            </a:r>
          </a:p>
          <a:p>
            <a:r>
              <a:t>- Pre-trained models can be fine-tuned with minimal data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Interpretability &amp; Explainability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023357"/>
          </a:xfrm>
        </p:spPr>
        <p:txBody>
          <a:bodyPr/>
          <a:lstStyle/>
          <a:p>
            <a:r>
              <a:t>Classical NLP:</a:t>
            </a:r>
          </a:p>
          <a:p>
            <a:r>
              <a:t>- More interpretable due to rule-based structures</a:t>
            </a:r>
          </a:p>
          <a:p>
            <a:r>
              <a:t>- Features like TF-IDF and N-grams are understandable</a:t>
            </a:r>
          </a:p>
          <a:p>
            <a:endParaRPr/>
          </a:p>
          <a:p>
            <a:r>
              <a:t>Modern NLP:</a:t>
            </a:r>
          </a:p>
          <a:p>
            <a:r>
              <a:t>- Black-box nature due to deep learning models</a:t>
            </a:r>
          </a:p>
          <a:p>
            <a:r>
              <a:t>- Explainability tools (SHAP, attention visualization)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Generalization &amp; Adaptability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023357"/>
          </a:xfrm>
        </p:spPr>
        <p:txBody>
          <a:bodyPr/>
          <a:lstStyle/>
          <a:p>
            <a:r>
              <a:t>Classical NLP:</a:t>
            </a:r>
          </a:p>
          <a:p>
            <a:r>
              <a:t>- Task-specific models</a:t>
            </a:r>
          </a:p>
          <a:p>
            <a:r>
              <a:t>- Poor generalization across different domains</a:t>
            </a:r>
          </a:p>
          <a:p>
            <a:endParaRPr/>
          </a:p>
          <a:p>
            <a:r>
              <a:t>Modern NLP:</a:t>
            </a:r>
          </a:p>
          <a:p>
            <a:r>
              <a:t>- Pre-trained models generalize well</a:t>
            </a:r>
          </a:p>
          <a:p>
            <a:r>
              <a:t>- Few-shot and zero-shot learning capabilities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Applications &amp; Evolution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1023357"/>
          </a:xfrm>
        </p:spPr>
        <p:txBody>
          <a:bodyPr/>
          <a:lstStyle/>
          <a:p>
            <a:r>
              <a:t>Classical NLP:</a:t>
            </a:r>
          </a:p>
          <a:p>
            <a:r>
              <a:t>- Machine Translation: Rule-based, Statistical MT</a:t>
            </a:r>
          </a:p>
          <a:p>
            <a:r>
              <a:t>- Sentiment Analysis: Naïve Bayes, SVM with TF-IDF</a:t>
            </a:r>
          </a:p>
          <a:p>
            <a:endParaRPr/>
          </a:p>
          <a:p>
            <a:r>
              <a:t>Modern NLP:</a:t>
            </a:r>
          </a:p>
          <a:p>
            <a:r>
              <a:t>- Machine Translation: Transformer-based (Google Translate)</a:t>
            </a:r>
          </a:p>
          <a:p>
            <a:r>
              <a:t>- Sentiment Analysis: BERT-based models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 descr="What-is-Recurrent-Neural-Network">
            <a:extLst>
              <a:ext uri="{FF2B5EF4-FFF2-40B4-BE49-F238E27FC236}">
                <a16:creationId xmlns:a16="http://schemas.microsoft.com/office/drawing/2014/main" id="{8DEB661A-6088-470A-ABA8-C3831BC12B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2650" y="15779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FA725-9DDD-4F71-842A-2B4872EBF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7850"/>
            <a:ext cx="46101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1289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" y="60502"/>
            <a:ext cx="4062095" cy="215444"/>
          </a:xfrm>
        </p:spPr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30" y="525537"/>
            <a:ext cx="4394834" cy="438582"/>
          </a:xfrm>
        </p:spPr>
        <p:txBody>
          <a:bodyPr/>
          <a:lstStyle/>
          <a:p>
            <a:r>
              <a:t>Classical NLP relied on rule-based and statistical methods, requiring extensive manual effort. Modern NLP leverages deep learning, particularly transformers, for improved generalization and scalability.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393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48372"/>
            <a:ext cx="4483735" cy="382270"/>
            <a:chOff x="87743" y="948372"/>
            <a:chExt cx="4483735" cy="3822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28915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16215"/>
              <a:ext cx="4381753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4494"/>
              <a:ext cx="50800" cy="2744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48372"/>
              <a:ext cx="4432935" cy="331470"/>
            </a:xfrm>
            <a:custGeom>
              <a:avLst/>
              <a:gdLst/>
              <a:ahLst/>
              <a:cxnLst/>
              <a:rect l="l" t="t" r="r" b="b"/>
              <a:pathLst>
                <a:path w="4432935" h="331469">
                  <a:moveTo>
                    <a:pt x="4432554" y="0"/>
                  </a:moveTo>
                  <a:lnTo>
                    <a:pt x="0" y="0"/>
                  </a:lnTo>
                  <a:lnTo>
                    <a:pt x="0" y="280543"/>
                  </a:lnTo>
                  <a:lnTo>
                    <a:pt x="4008" y="300267"/>
                  </a:lnTo>
                  <a:lnTo>
                    <a:pt x="14922" y="316420"/>
                  </a:lnTo>
                  <a:lnTo>
                    <a:pt x="31075" y="327334"/>
                  </a:lnTo>
                  <a:lnTo>
                    <a:pt x="50800" y="331343"/>
                  </a:lnTo>
                  <a:lnTo>
                    <a:pt x="4381754" y="331343"/>
                  </a:lnTo>
                  <a:lnTo>
                    <a:pt x="4401478" y="327334"/>
                  </a:lnTo>
                  <a:lnTo>
                    <a:pt x="4417631" y="316420"/>
                  </a:lnTo>
                  <a:lnTo>
                    <a:pt x="4428545" y="300267"/>
                  </a:lnTo>
                  <a:lnTo>
                    <a:pt x="4432554" y="28054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92568"/>
              <a:ext cx="0" cy="255904"/>
            </a:xfrm>
            <a:custGeom>
              <a:avLst/>
              <a:gdLst/>
              <a:ahLst/>
              <a:cxnLst/>
              <a:rect l="l" t="t" r="r" b="b"/>
              <a:pathLst>
                <a:path h="255905">
                  <a:moveTo>
                    <a:pt x="0" y="2553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798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71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449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711744" y="952715"/>
            <a:ext cx="11849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5552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</a:t>
            </a:r>
            <a:r>
              <a:rPr spc="45" dirty="0"/>
              <a:t> </a:t>
            </a:r>
            <a:r>
              <a:rPr spc="-45" dirty="0"/>
              <a:t>Words</a:t>
            </a:r>
            <a:r>
              <a:rPr spc="50" dirty="0"/>
              <a:t> </a:t>
            </a:r>
            <a:r>
              <a:rPr dirty="0"/>
              <a:t>vs.</a:t>
            </a:r>
            <a:r>
              <a:rPr spc="135" dirty="0"/>
              <a:t> </a:t>
            </a:r>
            <a:r>
              <a:rPr dirty="0"/>
              <a:t>Content</a:t>
            </a:r>
            <a:r>
              <a:rPr spc="50" dirty="0"/>
              <a:t> </a:t>
            </a:r>
            <a:r>
              <a:rPr spc="-35" dirty="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690430"/>
            <a:ext cx="4265930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Function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little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serve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elements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sentences.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5552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</a:t>
            </a:r>
            <a:r>
              <a:rPr spc="45" dirty="0"/>
              <a:t> </a:t>
            </a:r>
            <a:r>
              <a:rPr spc="-45" dirty="0"/>
              <a:t>Words</a:t>
            </a:r>
            <a:r>
              <a:rPr spc="50" dirty="0"/>
              <a:t> </a:t>
            </a:r>
            <a:r>
              <a:rPr dirty="0"/>
              <a:t>vs.</a:t>
            </a:r>
            <a:r>
              <a:rPr spc="135" dirty="0"/>
              <a:t> </a:t>
            </a:r>
            <a:r>
              <a:rPr dirty="0"/>
              <a:t>Content</a:t>
            </a:r>
            <a:r>
              <a:rPr spc="50" dirty="0"/>
              <a:t> </a:t>
            </a:r>
            <a:r>
              <a:rPr spc="-35" dirty="0"/>
              <a:t>Words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25042"/>
            <a:ext cx="4483735" cy="1011555"/>
            <a:chOff x="87743" y="1125042"/>
            <a:chExt cx="4483735" cy="1011555"/>
          </a:xfrm>
        </p:grpSpPr>
        <p:sp>
          <p:nvSpPr>
            <p:cNvPr id="4" name="object 4"/>
            <p:cNvSpPr/>
            <p:nvPr/>
          </p:nvSpPr>
          <p:spPr>
            <a:xfrm>
              <a:off x="87743" y="112504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9805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34908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22208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9276"/>
              <a:ext cx="50800" cy="865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2377"/>
              <a:ext cx="4432935" cy="743585"/>
            </a:xfrm>
            <a:custGeom>
              <a:avLst/>
              <a:gdLst/>
              <a:ahLst/>
              <a:cxnLst/>
              <a:rect l="l" t="t" r="r" b="b"/>
              <a:pathLst>
                <a:path w="4432935" h="743585">
                  <a:moveTo>
                    <a:pt x="4432554" y="0"/>
                  </a:moveTo>
                  <a:lnTo>
                    <a:pt x="0" y="0"/>
                  </a:lnTo>
                  <a:lnTo>
                    <a:pt x="0" y="692531"/>
                  </a:lnTo>
                  <a:lnTo>
                    <a:pt x="4008" y="712255"/>
                  </a:lnTo>
                  <a:lnTo>
                    <a:pt x="14922" y="728408"/>
                  </a:lnTo>
                  <a:lnTo>
                    <a:pt x="31075" y="739322"/>
                  </a:lnTo>
                  <a:lnTo>
                    <a:pt x="50800" y="743331"/>
                  </a:lnTo>
                  <a:lnTo>
                    <a:pt x="4381754" y="743331"/>
                  </a:lnTo>
                  <a:lnTo>
                    <a:pt x="4401478" y="739322"/>
                  </a:lnTo>
                  <a:lnTo>
                    <a:pt x="4417631" y="728408"/>
                  </a:lnTo>
                  <a:lnTo>
                    <a:pt x="4428545" y="712255"/>
                  </a:lnTo>
                  <a:lnTo>
                    <a:pt x="4432554" y="69253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07376"/>
              <a:ext cx="0" cy="847090"/>
            </a:xfrm>
            <a:custGeom>
              <a:avLst/>
              <a:gdLst/>
              <a:ahLst/>
              <a:cxnLst/>
              <a:rect l="l" t="t" r="r" b="b"/>
              <a:pathLst>
                <a:path h="847089">
                  <a:moveTo>
                    <a:pt x="0" y="8465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46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19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92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20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4177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6322" rIns="0" bIns="0" rtlCol="0">
            <a:spAutoFit/>
          </a:bodyPr>
          <a:lstStyle/>
          <a:p>
            <a:pPr marL="50165" marR="5080">
              <a:lnSpc>
                <a:spcPct val="118900"/>
              </a:lnSpc>
              <a:spcBef>
                <a:spcPts val="90"/>
              </a:spcBef>
            </a:pPr>
            <a:r>
              <a:rPr dirty="0"/>
              <a:t>Function</a:t>
            </a:r>
            <a:r>
              <a:rPr spc="25" dirty="0"/>
              <a:t> </a:t>
            </a:r>
            <a:r>
              <a:rPr dirty="0"/>
              <a:t>words</a:t>
            </a:r>
            <a:r>
              <a:rPr spc="30" dirty="0"/>
              <a:t> </a:t>
            </a:r>
            <a:r>
              <a:rPr dirty="0"/>
              <a:t>have</a:t>
            </a:r>
            <a:r>
              <a:rPr spc="30" dirty="0"/>
              <a:t> </a:t>
            </a:r>
            <a:r>
              <a:rPr spc="-65" dirty="0"/>
              <a:t>little</a:t>
            </a:r>
            <a:r>
              <a:rPr spc="30" dirty="0"/>
              <a:t> </a:t>
            </a:r>
            <a:r>
              <a:rPr spc="-10" dirty="0"/>
              <a:t>lexical</a:t>
            </a:r>
            <a:r>
              <a:rPr spc="30" dirty="0"/>
              <a:t> </a:t>
            </a:r>
            <a:r>
              <a:rPr dirty="0"/>
              <a:t>meaning</a:t>
            </a:r>
            <a:r>
              <a:rPr spc="30" dirty="0"/>
              <a:t> </a:t>
            </a:r>
            <a:r>
              <a:rPr spc="-20" dirty="0"/>
              <a:t>but</a:t>
            </a:r>
            <a:r>
              <a:rPr spc="30" dirty="0"/>
              <a:t> </a:t>
            </a:r>
            <a:r>
              <a:rPr dirty="0"/>
              <a:t>serve</a:t>
            </a:r>
            <a:r>
              <a:rPr spc="30" dirty="0"/>
              <a:t> </a:t>
            </a:r>
            <a:r>
              <a:rPr spc="70" dirty="0"/>
              <a:t>as</a:t>
            </a:r>
            <a:r>
              <a:rPr spc="30" dirty="0"/>
              <a:t> </a:t>
            </a:r>
            <a:r>
              <a:rPr spc="-10" dirty="0"/>
              <a:t>important</a:t>
            </a:r>
            <a:r>
              <a:rPr spc="25" dirty="0"/>
              <a:t> </a:t>
            </a:r>
            <a:r>
              <a:rPr dirty="0"/>
              <a:t>elements</a:t>
            </a:r>
            <a:r>
              <a:rPr spc="30" dirty="0"/>
              <a:t> </a:t>
            </a:r>
            <a:r>
              <a:rPr spc="-25" dirty="0"/>
              <a:t>to </a:t>
            </a:r>
            <a:r>
              <a:rPr dirty="0"/>
              <a:t>the</a:t>
            </a:r>
            <a:r>
              <a:rPr spc="-70" dirty="0"/>
              <a:t> </a:t>
            </a:r>
            <a:r>
              <a:rPr spc="-10" dirty="0"/>
              <a:t>structure</a:t>
            </a:r>
            <a:r>
              <a:rPr spc="-6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spc="-10" dirty="0"/>
              <a:t>sentences.</a:t>
            </a:r>
          </a:p>
          <a:p>
            <a:pPr marL="50165">
              <a:lnSpc>
                <a:spcPct val="100000"/>
              </a:lnSpc>
              <a:spcBef>
                <a:spcPts val="56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i="1" spc="-25" dirty="0">
                <a:latin typeface="Trebuchet MS"/>
                <a:cs typeface="Trebuchet MS"/>
              </a:rPr>
              <a:t>winfy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prunkilmonger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spc="-10" dirty="0"/>
              <a:t>from </a:t>
            </a:r>
            <a:r>
              <a:rPr dirty="0"/>
              <a:t>the</a:t>
            </a:r>
            <a:r>
              <a:rPr spc="-15" dirty="0"/>
              <a:t> </a:t>
            </a:r>
            <a:r>
              <a:rPr i="1" dirty="0">
                <a:latin typeface="Trebuchet MS"/>
                <a:cs typeface="Trebuchet MS"/>
              </a:rPr>
              <a:t>glidgement</a:t>
            </a:r>
            <a:r>
              <a:rPr i="1" spc="-1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mominkled</a:t>
            </a:r>
            <a:r>
              <a:rPr i="1" spc="-10" dirty="0">
                <a:latin typeface="Trebuchet MS"/>
                <a:cs typeface="Trebuchet MS"/>
              </a:rPr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i="1" spc="-10" dirty="0">
                <a:latin typeface="Trebuchet MS"/>
                <a:cs typeface="Trebuchet MS"/>
              </a:rPr>
              <a:t>brangified</a:t>
            </a:r>
          </a:p>
          <a:p>
            <a:pPr marL="327025">
              <a:lnSpc>
                <a:spcPct val="100000"/>
              </a:lnSpc>
              <a:spcBef>
                <a:spcPts val="215"/>
              </a:spcBef>
            </a:pPr>
            <a:r>
              <a:rPr spc="-10" dirty="0"/>
              <a:t>all</a:t>
            </a:r>
            <a:r>
              <a:rPr spc="35" dirty="0"/>
              <a:t> </a:t>
            </a:r>
            <a:r>
              <a:rPr dirty="0"/>
              <a:t>his</a:t>
            </a:r>
            <a:r>
              <a:rPr spc="40" dirty="0"/>
              <a:t> </a:t>
            </a:r>
            <a:r>
              <a:rPr i="1" dirty="0">
                <a:latin typeface="Trebuchet MS"/>
                <a:cs typeface="Trebuchet MS"/>
              </a:rPr>
              <a:t>levensers</a:t>
            </a:r>
            <a:r>
              <a:rPr i="1" spc="35" dirty="0">
                <a:latin typeface="Trebuchet MS"/>
                <a:cs typeface="Trebuchet MS"/>
              </a:rPr>
              <a:t> </a:t>
            </a:r>
            <a:r>
              <a:rPr i="1" spc="-10" dirty="0">
                <a:latin typeface="Trebuchet MS"/>
                <a:cs typeface="Trebuchet MS"/>
              </a:rPr>
              <a:t>vederously</a:t>
            </a:r>
            <a:r>
              <a:rPr spc="-10" dirty="0"/>
              <a:t>.</a:t>
            </a:r>
          </a:p>
          <a:p>
            <a:pPr marL="327025">
              <a:lnSpc>
                <a:spcPct val="100000"/>
              </a:lnSpc>
              <a:spcBef>
                <a:spcPts val="509"/>
              </a:spcBef>
            </a:pPr>
            <a:r>
              <a:rPr i="1" dirty="0">
                <a:latin typeface="Trebuchet MS"/>
                <a:cs typeface="Trebuchet MS"/>
              </a:rPr>
              <a:t>Glop</a:t>
            </a:r>
            <a:r>
              <a:rPr i="1" spc="65" dirty="0">
                <a:latin typeface="Trebuchet MS"/>
                <a:cs typeface="Trebuchet MS"/>
              </a:rPr>
              <a:t> </a:t>
            </a:r>
            <a:r>
              <a:rPr dirty="0"/>
              <a:t>angry</a:t>
            </a:r>
            <a:r>
              <a:rPr spc="65" dirty="0"/>
              <a:t> </a:t>
            </a:r>
            <a:r>
              <a:rPr spc="-10" dirty="0"/>
              <a:t>investigator</a:t>
            </a:r>
            <a:r>
              <a:rPr spc="65" dirty="0"/>
              <a:t> </a:t>
            </a:r>
            <a:r>
              <a:rPr i="1" spc="-10" dirty="0">
                <a:latin typeface="Trebuchet MS"/>
                <a:cs typeface="Trebuchet MS"/>
              </a:rPr>
              <a:t>larm</a:t>
            </a:r>
            <a:r>
              <a:rPr i="1" spc="6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blonk</a:t>
            </a:r>
            <a:r>
              <a:rPr i="1" spc="70" dirty="0">
                <a:latin typeface="Trebuchet MS"/>
                <a:cs typeface="Trebuchet MS"/>
              </a:rPr>
              <a:t> </a:t>
            </a:r>
            <a:r>
              <a:rPr dirty="0"/>
              <a:t>government</a:t>
            </a:r>
            <a:r>
              <a:rPr spc="65" dirty="0"/>
              <a:t> </a:t>
            </a:r>
            <a:r>
              <a:rPr dirty="0"/>
              <a:t>harassed</a:t>
            </a:r>
            <a:r>
              <a:rPr spc="65" dirty="0"/>
              <a:t> </a:t>
            </a:r>
            <a:r>
              <a:rPr i="1" spc="-10" dirty="0">
                <a:latin typeface="Trebuchet MS"/>
                <a:cs typeface="Trebuchet MS"/>
              </a:rPr>
              <a:t>gerfritz</a:t>
            </a:r>
          </a:p>
          <a:p>
            <a:pPr marL="327025">
              <a:lnSpc>
                <a:spcPct val="100000"/>
              </a:lnSpc>
              <a:spcBef>
                <a:spcPts val="215"/>
              </a:spcBef>
            </a:pPr>
            <a:r>
              <a:rPr spc="-20" dirty="0"/>
              <a:t>infuriated</a:t>
            </a:r>
            <a:r>
              <a:rPr dirty="0"/>
              <a:t> </a:t>
            </a:r>
            <a:r>
              <a:rPr i="1" dirty="0">
                <a:latin typeface="Trebuchet MS"/>
                <a:cs typeface="Trebuchet MS"/>
              </a:rPr>
              <a:t>sutbor</a:t>
            </a:r>
            <a:r>
              <a:rPr i="1" spc="5" dirty="0">
                <a:latin typeface="Trebuchet MS"/>
                <a:cs typeface="Trebuchet MS"/>
              </a:rPr>
              <a:t> </a:t>
            </a:r>
            <a:r>
              <a:rPr i="1" dirty="0">
                <a:latin typeface="Trebuchet MS"/>
                <a:cs typeface="Trebuchet MS"/>
              </a:rPr>
              <a:t>pumrog </a:t>
            </a:r>
            <a:r>
              <a:rPr dirty="0"/>
              <a:t>listeners</a:t>
            </a:r>
            <a:r>
              <a:rPr spc="5" dirty="0"/>
              <a:t> </a:t>
            </a:r>
            <a:r>
              <a:rPr spc="-10" dirty="0"/>
              <a:t>thoroughly.</a:t>
            </a: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5552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Function</a:t>
            </a:r>
            <a:r>
              <a:rPr spc="45" dirty="0"/>
              <a:t> </a:t>
            </a:r>
            <a:r>
              <a:rPr spc="-45" dirty="0"/>
              <a:t>Words</a:t>
            </a:r>
            <a:r>
              <a:rPr spc="50" dirty="0"/>
              <a:t> </a:t>
            </a:r>
            <a:r>
              <a:rPr dirty="0"/>
              <a:t>vs.</a:t>
            </a:r>
            <a:r>
              <a:rPr spc="135" dirty="0"/>
              <a:t> </a:t>
            </a:r>
            <a:r>
              <a:rPr dirty="0"/>
              <a:t>Content</a:t>
            </a:r>
            <a:r>
              <a:rPr spc="50" dirty="0"/>
              <a:t> </a:t>
            </a:r>
            <a:r>
              <a:rPr spc="-35" dirty="0"/>
              <a:t>Words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125042"/>
            <a:ext cx="4483735" cy="1011555"/>
            <a:chOff x="87743" y="1125042"/>
            <a:chExt cx="4483735" cy="1011555"/>
          </a:xfrm>
        </p:grpSpPr>
        <p:sp>
          <p:nvSpPr>
            <p:cNvPr id="4" name="object 4"/>
            <p:cNvSpPr/>
            <p:nvPr/>
          </p:nvSpPr>
          <p:spPr>
            <a:xfrm>
              <a:off x="87743" y="112504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9805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34908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22208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69276"/>
              <a:ext cx="50800" cy="86563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342377"/>
              <a:ext cx="4432935" cy="743585"/>
            </a:xfrm>
            <a:custGeom>
              <a:avLst/>
              <a:gdLst/>
              <a:ahLst/>
              <a:cxnLst/>
              <a:rect l="l" t="t" r="r" b="b"/>
              <a:pathLst>
                <a:path w="4432935" h="743585">
                  <a:moveTo>
                    <a:pt x="4432554" y="0"/>
                  </a:moveTo>
                  <a:lnTo>
                    <a:pt x="0" y="0"/>
                  </a:lnTo>
                  <a:lnTo>
                    <a:pt x="0" y="692531"/>
                  </a:lnTo>
                  <a:lnTo>
                    <a:pt x="4008" y="712255"/>
                  </a:lnTo>
                  <a:lnTo>
                    <a:pt x="14922" y="728408"/>
                  </a:lnTo>
                  <a:lnTo>
                    <a:pt x="31075" y="739322"/>
                  </a:lnTo>
                  <a:lnTo>
                    <a:pt x="50800" y="743331"/>
                  </a:lnTo>
                  <a:lnTo>
                    <a:pt x="4381754" y="743331"/>
                  </a:lnTo>
                  <a:lnTo>
                    <a:pt x="4401478" y="739322"/>
                  </a:lnTo>
                  <a:lnTo>
                    <a:pt x="4417631" y="728408"/>
                  </a:lnTo>
                  <a:lnTo>
                    <a:pt x="4428545" y="712255"/>
                  </a:lnTo>
                  <a:lnTo>
                    <a:pt x="4432554" y="69253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07376"/>
              <a:ext cx="0" cy="847090"/>
            </a:xfrm>
            <a:custGeom>
              <a:avLst/>
              <a:gdLst/>
              <a:ahLst/>
              <a:cxnLst/>
              <a:rect l="l" t="t" r="r" b="b"/>
              <a:pathLst>
                <a:path h="847089">
                  <a:moveTo>
                    <a:pt x="0" y="8465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946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819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692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920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4177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2237625"/>
            <a:ext cx="4483735" cy="615950"/>
            <a:chOff x="87743" y="2237625"/>
            <a:chExt cx="4483735" cy="615950"/>
          </a:xfrm>
        </p:grpSpPr>
        <p:sp>
          <p:nvSpPr>
            <p:cNvPr id="17" name="object 17"/>
            <p:cNvSpPr/>
            <p:nvPr/>
          </p:nvSpPr>
          <p:spPr>
            <a:xfrm>
              <a:off x="87743" y="2237625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401290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751670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738970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281872"/>
              <a:ext cx="50800" cy="46979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445601"/>
              <a:ext cx="4432935" cy="356870"/>
            </a:xfrm>
            <a:custGeom>
              <a:avLst/>
              <a:gdLst/>
              <a:ahLst/>
              <a:cxnLst/>
              <a:rect l="l" t="t" r="r" b="b"/>
              <a:pathLst>
                <a:path w="4432935" h="356869">
                  <a:moveTo>
                    <a:pt x="4432554" y="0"/>
                  </a:moveTo>
                  <a:lnTo>
                    <a:pt x="0" y="0"/>
                  </a:lnTo>
                  <a:lnTo>
                    <a:pt x="0" y="306069"/>
                  </a:lnTo>
                  <a:lnTo>
                    <a:pt x="4008" y="325794"/>
                  </a:lnTo>
                  <a:lnTo>
                    <a:pt x="14922" y="341947"/>
                  </a:lnTo>
                  <a:lnTo>
                    <a:pt x="31075" y="352861"/>
                  </a:lnTo>
                  <a:lnTo>
                    <a:pt x="50800" y="356869"/>
                  </a:lnTo>
                  <a:lnTo>
                    <a:pt x="4381754" y="356869"/>
                  </a:lnTo>
                  <a:lnTo>
                    <a:pt x="4401478" y="352861"/>
                  </a:lnTo>
                  <a:lnTo>
                    <a:pt x="4417631" y="341947"/>
                  </a:lnTo>
                  <a:lnTo>
                    <a:pt x="4428545" y="325794"/>
                  </a:lnTo>
                  <a:lnTo>
                    <a:pt x="4432554" y="30606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319998"/>
              <a:ext cx="0" cy="450850"/>
            </a:xfrm>
            <a:custGeom>
              <a:avLst/>
              <a:gdLst/>
              <a:ahLst/>
              <a:cxnLst/>
              <a:rect l="l" t="t" r="r" b="b"/>
              <a:pathLst>
                <a:path h="450850">
                  <a:moveTo>
                    <a:pt x="0" y="45072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72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945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818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729" y="690430"/>
            <a:ext cx="4265930" cy="2079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Function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little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lexical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but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serve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elements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to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-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sentences.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Example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winfy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prunkilmonger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glidgement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mominkled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brangified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levensers</a:t>
            </a:r>
            <a:r>
              <a:rPr sz="950" i="1" spc="3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vederously</a:t>
            </a:r>
            <a:r>
              <a:rPr sz="950" spc="-1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i="1" dirty="0">
                <a:latin typeface="Trebuchet MS"/>
                <a:cs typeface="Trebuchet MS"/>
              </a:rPr>
              <a:t>Glop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angry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investigator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larm</a:t>
            </a:r>
            <a:r>
              <a:rPr sz="950" i="1" spc="6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blonk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government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harassed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gerfritz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215"/>
              </a:spcBef>
            </a:pPr>
            <a:r>
              <a:rPr sz="950" spc="-20" dirty="0">
                <a:latin typeface="Trebuchet MS"/>
                <a:cs typeface="Trebuchet MS"/>
              </a:rPr>
              <a:t>infuriated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sutbor</a:t>
            </a:r>
            <a:r>
              <a:rPr sz="950" i="1" spc="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pumrog </a:t>
            </a:r>
            <a:r>
              <a:rPr sz="950" dirty="0">
                <a:latin typeface="Trebuchet MS"/>
                <a:cs typeface="Trebuchet MS"/>
              </a:rPr>
              <a:t>listeners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thoroughly.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Function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0" dirty="0">
                <a:solidFill>
                  <a:srgbClr val="3232B2"/>
                </a:solidFill>
                <a:latin typeface="Cambria"/>
                <a:cs typeface="Cambria"/>
              </a:rPr>
              <a:t>words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closed-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class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words</a:t>
            </a:r>
            <a:endParaRPr sz="1100">
              <a:latin typeface="Cambria"/>
              <a:cs typeface="Cambria"/>
            </a:endParaRPr>
          </a:p>
          <a:p>
            <a:pPr marL="12700" marR="149225">
              <a:lnSpc>
                <a:spcPct val="118900"/>
              </a:lnSpc>
              <a:spcBef>
                <a:spcPts val="115"/>
              </a:spcBef>
            </a:pPr>
            <a:r>
              <a:rPr sz="950" dirty="0">
                <a:latin typeface="Trebuchet MS"/>
                <a:cs typeface="Trebuchet MS"/>
              </a:rPr>
              <a:t>prepositions,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pronouns,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auxiliary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verbs,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conjunctions, </a:t>
            </a:r>
            <a:r>
              <a:rPr sz="950" dirty="0">
                <a:latin typeface="Trebuchet MS"/>
                <a:cs typeface="Trebuchet MS"/>
              </a:rPr>
              <a:t>grammatical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articles, </a:t>
            </a:r>
            <a:r>
              <a:rPr sz="950" dirty="0">
                <a:latin typeface="Trebuchet MS"/>
                <a:cs typeface="Trebuchet MS"/>
              </a:rPr>
              <a:t>particles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133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Most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Common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Tom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Sawyer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32" y="826795"/>
            <a:ext cx="2106777" cy="1859889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Most</a:t>
            </a:r>
            <a:r>
              <a:rPr spc="20" dirty="0"/>
              <a:t> </a:t>
            </a:r>
            <a:r>
              <a:rPr dirty="0"/>
              <a:t>Common</a:t>
            </a:r>
            <a:r>
              <a:rPr spc="25" dirty="0"/>
              <a:t> </a:t>
            </a:r>
            <a:r>
              <a:rPr spc="-45" dirty="0"/>
              <a:t>Words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50" dirty="0"/>
              <a:t>Tom</a:t>
            </a:r>
            <a:r>
              <a:rPr spc="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32" y="678040"/>
            <a:ext cx="2106777" cy="18598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29" y="2740400"/>
            <a:ext cx="3738879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list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dominated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65" dirty="0">
                <a:latin typeface="Trebuchet MS"/>
                <a:cs typeface="Trebuchet MS"/>
              </a:rPr>
              <a:t>little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English,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 </a:t>
            </a:r>
            <a:r>
              <a:rPr sz="950" dirty="0">
                <a:latin typeface="Trebuchet MS"/>
                <a:cs typeface="Trebuchet MS"/>
              </a:rPr>
              <a:t>grammatical</a:t>
            </a:r>
            <a:r>
              <a:rPr sz="950" spc="-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roles.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Most</a:t>
            </a:r>
            <a:r>
              <a:rPr spc="20" dirty="0"/>
              <a:t> </a:t>
            </a:r>
            <a:r>
              <a:rPr dirty="0"/>
              <a:t>Common</a:t>
            </a:r>
            <a:r>
              <a:rPr spc="25" dirty="0"/>
              <a:t> </a:t>
            </a:r>
            <a:r>
              <a:rPr spc="-45" dirty="0"/>
              <a:t>Words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50" dirty="0"/>
              <a:t>Tom</a:t>
            </a:r>
            <a:r>
              <a:rPr spc="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32" y="678637"/>
            <a:ext cx="2106777" cy="18598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29" y="2763443"/>
            <a:ext cx="384746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These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referred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function</a:t>
            </a:r>
            <a:r>
              <a:rPr sz="950" i="1" spc="3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words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determiners,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25729" y="2941376"/>
            <a:ext cx="1941195" cy="18034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950" dirty="0">
                <a:latin typeface="Trebuchet MS"/>
                <a:cs typeface="Trebuchet MS"/>
              </a:rPr>
              <a:t>prepositions,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complementizers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Most</a:t>
            </a:r>
            <a:r>
              <a:rPr spc="20" dirty="0"/>
              <a:t> </a:t>
            </a:r>
            <a:r>
              <a:rPr dirty="0"/>
              <a:t>Common</a:t>
            </a:r>
            <a:r>
              <a:rPr spc="25" dirty="0"/>
              <a:t> </a:t>
            </a:r>
            <a:r>
              <a:rPr spc="-45" dirty="0"/>
              <a:t>Words</a:t>
            </a:r>
            <a:r>
              <a:rPr spc="25" dirty="0"/>
              <a:t> </a:t>
            </a:r>
            <a:r>
              <a:rPr dirty="0"/>
              <a:t>in</a:t>
            </a:r>
            <a:r>
              <a:rPr spc="25" dirty="0"/>
              <a:t> </a:t>
            </a:r>
            <a:r>
              <a:rPr spc="-50" dirty="0"/>
              <a:t>Tom</a:t>
            </a:r>
            <a:r>
              <a:rPr spc="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32" y="688556"/>
            <a:ext cx="2106777" cy="18598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5729" y="2750929"/>
            <a:ext cx="406336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really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exceptional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Tom</a:t>
            </a:r>
            <a:r>
              <a:rPr sz="950" spc="-20" dirty="0">
                <a:latin typeface="Trebuchet MS"/>
                <a:cs typeface="Trebuchet MS"/>
              </a:rPr>
              <a:t>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whose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reflects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text </a:t>
            </a:r>
            <a:r>
              <a:rPr sz="950" spc="-10" dirty="0">
                <a:latin typeface="Trebuchet MS"/>
                <a:cs typeface="Trebuchet MS"/>
              </a:rPr>
              <a:t>chosen.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7133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Most</a:t>
            </a:r>
            <a:r>
              <a:rPr sz="1400" i="1" spc="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Common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Tom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Sawyer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5532" y="747471"/>
            <a:ext cx="2106777" cy="185988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729" y="2832278"/>
            <a:ext cx="21723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many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text?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163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Type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vs.</a:t>
            </a:r>
            <a:r>
              <a:rPr sz="140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Tokens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913396"/>
            <a:ext cx="4483735" cy="628015"/>
            <a:chOff x="87743" y="913396"/>
            <a:chExt cx="4483735" cy="628015"/>
          </a:xfrm>
        </p:grpSpPr>
        <p:sp>
          <p:nvSpPr>
            <p:cNvPr id="4" name="object 4"/>
            <p:cNvSpPr/>
            <p:nvPr/>
          </p:nvSpPr>
          <p:spPr>
            <a:xfrm>
              <a:off x="87743" y="913396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42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39659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26959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7630"/>
              <a:ext cx="50800" cy="4820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0668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1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1"/>
                  </a:lnTo>
                  <a:lnTo>
                    <a:pt x="4381754" y="359791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95794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5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830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70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57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838990"/>
            <a:ext cx="4356735" cy="61849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40" dirty="0">
                <a:solidFill>
                  <a:srgbClr val="007F00"/>
                </a:solidFill>
                <a:latin typeface="Cambria"/>
                <a:cs typeface="Cambria"/>
              </a:rPr>
              <a:t>Type-</a:t>
            </a:r>
            <a:r>
              <a:rPr sz="1100" i="1" spc="-60" dirty="0">
                <a:solidFill>
                  <a:srgbClr val="007F00"/>
                </a:solidFill>
                <a:latin typeface="Cambria"/>
                <a:cs typeface="Cambria"/>
              </a:rPr>
              <a:t>Token</a:t>
            </a:r>
            <a:r>
              <a:rPr sz="1100" i="1" spc="8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distinction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4"/>
              </a:spcBef>
            </a:pPr>
            <a:r>
              <a:rPr sz="950" spc="-20" dirty="0">
                <a:latin typeface="Trebuchet MS"/>
                <a:cs typeface="Trebuchet MS"/>
              </a:rPr>
              <a:t>Type-</a:t>
            </a:r>
            <a:r>
              <a:rPr sz="950" dirty="0">
                <a:latin typeface="Trebuchet MS"/>
                <a:cs typeface="Trebuchet MS"/>
              </a:rPr>
              <a:t>token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distinction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distinction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that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separates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concept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objects </a:t>
            </a:r>
            <a:r>
              <a:rPr sz="950" dirty="0">
                <a:latin typeface="Trebuchet MS"/>
                <a:cs typeface="Trebuchet MS"/>
              </a:rPr>
              <a:t>which are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particular</a:t>
            </a:r>
            <a:r>
              <a:rPr sz="950" dirty="0">
                <a:latin typeface="Trebuchet MS"/>
                <a:cs typeface="Trebuchet MS"/>
              </a:rPr>
              <a:t> instances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concept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1633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Type</a:t>
            </a:r>
            <a:r>
              <a:rPr spc="50" dirty="0"/>
              <a:t> </a:t>
            </a:r>
            <a:r>
              <a:rPr dirty="0"/>
              <a:t>vs.</a:t>
            </a:r>
            <a:r>
              <a:rPr spc="135" dirty="0"/>
              <a:t> </a:t>
            </a:r>
            <a:r>
              <a:rPr spc="-30" dirty="0"/>
              <a:t>Tokens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13396"/>
            <a:ext cx="4483735" cy="628015"/>
            <a:chOff x="87743" y="913396"/>
            <a:chExt cx="4483735" cy="628015"/>
          </a:xfrm>
        </p:grpSpPr>
        <p:sp>
          <p:nvSpPr>
            <p:cNvPr id="4" name="object 4"/>
            <p:cNvSpPr/>
            <p:nvPr/>
          </p:nvSpPr>
          <p:spPr>
            <a:xfrm>
              <a:off x="87743" y="913396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8642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39659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26959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57630"/>
              <a:ext cx="50800" cy="48202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30668"/>
              <a:ext cx="4432935" cy="360045"/>
            </a:xfrm>
            <a:custGeom>
              <a:avLst/>
              <a:gdLst/>
              <a:ahLst/>
              <a:cxnLst/>
              <a:rect l="l" t="t" r="r" b="b"/>
              <a:pathLst>
                <a:path w="4432935" h="360044">
                  <a:moveTo>
                    <a:pt x="4432554" y="0"/>
                  </a:moveTo>
                  <a:lnTo>
                    <a:pt x="0" y="0"/>
                  </a:lnTo>
                  <a:lnTo>
                    <a:pt x="0" y="308991"/>
                  </a:lnTo>
                  <a:lnTo>
                    <a:pt x="4008" y="328715"/>
                  </a:lnTo>
                  <a:lnTo>
                    <a:pt x="14922" y="344868"/>
                  </a:lnTo>
                  <a:lnTo>
                    <a:pt x="31075" y="355782"/>
                  </a:lnTo>
                  <a:lnTo>
                    <a:pt x="50800" y="359791"/>
                  </a:lnTo>
                  <a:lnTo>
                    <a:pt x="4381754" y="359791"/>
                  </a:lnTo>
                  <a:lnTo>
                    <a:pt x="4401478" y="355782"/>
                  </a:lnTo>
                  <a:lnTo>
                    <a:pt x="4417631" y="344868"/>
                  </a:lnTo>
                  <a:lnTo>
                    <a:pt x="4428545" y="328715"/>
                  </a:lnTo>
                  <a:lnTo>
                    <a:pt x="4432554" y="30899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95794"/>
              <a:ext cx="0" cy="462915"/>
            </a:xfrm>
            <a:custGeom>
              <a:avLst/>
              <a:gdLst/>
              <a:ahLst/>
              <a:cxnLst/>
              <a:rect l="l" t="t" r="r" b="b"/>
              <a:pathLst>
                <a:path h="462915">
                  <a:moveTo>
                    <a:pt x="0" y="46291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830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703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5762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42389"/>
            <a:ext cx="4483735" cy="1010285"/>
            <a:chOff x="87743" y="1642389"/>
            <a:chExt cx="4483735" cy="1010285"/>
          </a:xfrm>
        </p:grpSpPr>
        <p:sp>
          <p:nvSpPr>
            <p:cNvPr id="15" name="object 15"/>
            <p:cNvSpPr/>
            <p:nvPr/>
          </p:nvSpPr>
          <p:spPr>
            <a:xfrm>
              <a:off x="87743" y="16423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815401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550756"/>
              <a:ext cx="101600" cy="10159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538057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686623"/>
              <a:ext cx="50800" cy="86413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859623"/>
              <a:ext cx="4432935" cy="742315"/>
            </a:xfrm>
            <a:custGeom>
              <a:avLst/>
              <a:gdLst/>
              <a:ahLst/>
              <a:cxnLst/>
              <a:rect l="l" t="t" r="r" b="b"/>
              <a:pathLst>
                <a:path w="4432935" h="742314">
                  <a:moveTo>
                    <a:pt x="4432554" y="0"/>
                  </a:moveTo>
                  <a:lnTo>
                    <a:pt x="0" y="0"/>
                  </a:lnTo>
                  <a:lnTo>
                    <a:pt x="0" y="691133"/>
                  </a:lnTo>
                  <a:lnTo>
                    <a:pt x="4008" y="710858"/>
                  </a:lnTo>
                  <a:lnTo>
                    <a:pt x="14922" y="727011"/>
                  </a:lnTo>
                  <a:lnTo>
                    <a:pt x="31075" y="737925"/>
                  </a:lnTo>
                  <a:lnTo>
                    <a:pt x="50800" y="741933"/>
                  </a:lnTo>
                  <a:lnTo>
                    <a:pt x="4381754" y="741933"/>
                  </a:lnTo>
                  <a:lnTo>
                    <a:pt x="4401478" y="737925"/>
                  </a:lnTo>
                  <a:lnTo>
                    <a:pt x="4417631" y="727011"/>
                  </a:lnTo>
                  <a:lnTo>
                    <a:pt x="4428545" y="710858"/>
                  </a:lnTo>
                  <a:lnTo>
                    <a:pt x="4432554" y="69113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24749"/>
              <a:ext cx="0" cy="845185"/>
            </a:xfrm>
            <a:custGeom>
              <a:avLst/>
              <a:gdLst/>
              <a:ahLst/>
              <a:cxnLst/>
              <a:rect l="l" t="t" r="r" b="b"/>
              <a:pathLst>
                <a:path h="845185">
                  <a:moveTo>
                    <a:pt x="0" y="8450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7120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6993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866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09419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291524"/>
              <a:ext cx="64757" cy="64757"/>
            </a:xfrm>
            <a:prstGeom prst="rect">
              <a:avLst/>
            </a:prstGeom>
          </p:spPr>
        </p:pic>
      </p:grpSp>
      <p:sp>
        <p:nvSpPr>
          <p:cNvPr id="27" name="object 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80128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spc="-40" dirty="0">
                <a:solidFill>
                  <a:srgbClr val="007F00"/>
                </a:solidFill>
                <a:latin typeface="Cambria"/>
                <a:cs typeface="Cambria"/>
              </a:rPr>
              <a:t>Type-</a:t>
            </a:r>
            <a:r>
              <a:rPr sz="1100" i="1" spc="-60" dirty="0">
                <a:solidFill>
                  <a:srgbClr val="007F00"/>
                </a:solidFill>
                <a:latin typeface="Cambria"/>
                <a:cs typeface="Cambria"/>
              </a:rPr>
              <a:t>Token</a:t>
            </a:r>
            <a:r>
              <a:rPr sz="1100" i="1" spc="8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distinction</a:t>
            </a:r>
            <a:endParaRPr sz="1100">
              <a:latin typeface="Cambria"/>
              <a:cs typeface="Cambria"/>
            </a:endParaRPr>
          </a:p>
          <a:p>
            <a:pPr marL="50165" marR="5080">
              <a:lnSpc>
                <a:spcPct val="118900"/>
              </a:lnSpc>
              <a:spcBef>
                <a:spcPts val="204"/>
              </a:spcBef>
            </a:pPr>
            <a:r>
              <a:rPr spc="-20" dirty="0"/>
              <a:t>Type-</a:t>
            </a:r>
            <a:r>
              <a:rPr dirty="0"/>
              <a:t>token</a:t>
            </a:r>
            <a:r>
              <a:rPr spc="15" dirty="0"/>
              <a:t> </a:t>
            </a:r>
            <a:r>
              <a:rPr spc="-20" dirty="0"/>
              <a:t>distinction</a:t>
            </a:r>
            <a:r>
              <a:rPr spc="20" dirty="0"/>
              <a:t> </a:t>
            </a:r>
            <a:r>
              <a:rPr dirty="0"/>
              <a:t>is</a:t>
            </a:r>
            <a:r>
              <a:rPr spc="20" dirty="0"/>
              <a:t> </a:t>
            </a:r>
            <a:r>
              <a:rPr dirty="0"/>
              <a:t>a</a:t>
            </a:r>
            <a:r>
              <a:rPr spc="15" dirty="0"/>
              <a:t> </a:t>
            </a:r>
            <a:r>
              <a:rPr spc="-20" dirty="0"/>
              <a:t>distinction</a:t>
            </a:r>
            <a:r>
              <a:rPr spc="20" dirty="0"/>
              <a:t> </a:t>
            </a:r>
            <a:r>
              <a:rPr spc="-40" dirty="0"/>
              <a:t>that</a:t>
            </a:r>
            <a:r>
              <a:rPr spc="20" dirty="0"/>
              <a:t> </a:t>
            </a:r>
            <a:r>
              <a:rPr dirty="0"/>
              <a:t>separates</a:t>
            </a:r>
            <a:r>
              <a:rPr spc="15" dirty="0"/>
              <a:t> </a:t>
            </a:r>
            <a:r>
              <a:rPr dirty="0"/>
              <a:t>a</a:t>
            </a:r>
            <a:r>
              <a:rPr spc="20" dirty="0"/>
              <a:t> </a:t>
            </a:r>
            <a:r>
              <a:rPr dirty="0"/>
              <a:t>concept</a:t>
            </a:r>
            <a:r>
              <a:rPr spc="20" dirty="0"/>
              <a:t> </a:t>
            </a:r>
            <a:r>
              <a:rPr spc="-10" dirty="0"/>
              <a:t>from</a:t>
            </a:r>
            <a:r>
              <a:rPr spc="1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10" dirty="0"/>
              <a:t>objects </a:t>
            </a:r>
            <a:r>
              <a:rPr dirty="0"/>
              <a:t>which are</a:t>
            </a:r>
            <a:r>
              <a:rPr spc="5" dirty="0"/>
              <a:t> </a:t>
            </a:r>
            <a:r>
              <a:rPr spc="-20" dirty="0"/>
              <a:t>particular</a:t>
            </a:r>
            <a:r>
              <a:rPr dirty="0"/>
              <a:t> instances</a:t>
            </a:r>
            <a:r>
              <a:rPr spc="5" dirty="0"/>
              <a:t> </a:t>
            </a:r>
            <a:r>
              <a:rPr dirty="0"/>
              <a:t>of the</a:t>
            </a:r>
            <a:r>
              <a:rPr spc="5" dirty="0"/>
              <a:t> </a:t>
            </a:r>
            <a:r>
              <a:rPr spc="-10" dirty="0"/>
              <a:t>concept</a:t>
            </a:r>
          </a:p>
          <a:p>
            <a:pPr marL="37465">
              <a:lnSpc>
                <a:spcPct val="100000"/>
              </a:lnSpc>
              <a:spcBef>
                <a:spcPts val="400"/>
              </a:spcBef>
            </a:pPr>
            <a:endParaRPr spc="-10" dirty="0"/>
          </a:p>
          <a:p>
            <a:pPr marL="50165">
              <a:lnSpc>
                <a:spcPct val="100000"/>
              </a:lnSpc>
            </a:pPr>
            <a:r>
              <a:rPr sz="1100" i="1" spc="-65" dirty="0">
                <a:solidFill>
                  <a:srgbClr val="3232B2"/>
                </a:solidFill>
                <a:latin typeface="Cambria"/>
                <a:cs typeface="Cambria"/>
              </a:rPr>
              <a:t>Type/Token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Ratio</a:t>
            </a:r>
            <a:endParaRPr sz="1100">
              <a:latin typeface="Cambria"/>
              <a:cs typeface="Cambria"/>
            </a:endParaRPr>
          </a:p>
          <a:p>
            <a:pPr marL="327025" marR="46990">
              <a:lnSpc>
                <a:spcPct val="118900"/>
              </a:lnSpc>
              <a:spcBef>
                <a:spcPts val="209"/>
              </a:spcBef>
            </a:pPr>
            <a:r>
              <a:rPr dirty="0"/>
              <a:t>The</a:t>
            </a:r>
            <a:r>
              <a:rPr spc="-5" dirty="0"/>
              <a:t> </a:t>
            </a:r>
            <a:r>
              <a:rPr spc="-30" dirty="0"/>
              <a:t>type/token</a:t>
            </a:r>
            <a:r>
              <a:rPr dirty="0"/>
              <a:t> </a:t>
            </a:r>
            <a:r>
              <a:rPr spc="-25" dirty="0"/>
              <a:t>ratio</a:t>
            </a:r>
            <a:r>
              <a:rPr dirty="0"/>
              <a:t> (TTR) is the </a:t>
            </a:r>
            <a:r>
              <a:rPr spc="-25" dirty="0"/>
              <a:t>ratio</a:t>
            </a:r>
            <a:r>
              <a:rPr dirty="0"/>
              <a:t> of the</a:t>
            </a:r>
            <a:r>
              <a:rPr spc="-5" dirty="0"/>
              <a:t> </a:t>
            </a:r>
            <a:r>
              <a:rPr dirty="0"/>
              <a:t>number of </a:t>
            </a:r>
            <a:r>
              <a:rPr spc="-35" dirty="0"/>
              <a:t>different</a:t>
            </a:r>
            <a:r>
              <a:rPr dirty="0"/>
              <a:t> </a:t>
            </a:r>
            <a:r>
              <a:rPr spc="-10" dirty="0"/>
              <a:t>words </a:t>
            </a:r>
            <a:r>
              <a:rPr dirty="0"/>
              <a:t>(types)</a:t>
            </a:r>
            <a:r>
              <a:rPr spc="-5" dirty="0"/>
              <a:t> </a:t>
            </a:r>
            <a:r>
              <a:rPr spc="-20" dirty="0"/>
              <a:t>to</a:t>
            </a:r>
            <a:r>
              <a:rPr dirty="0"/>
              <a:t> the</a:t>
            </a:r>
            <a:r>
              <a:rPr spc="-5" dirty="0"/>
              <a:t> </a:t>
            </a:r>
            <a:r>
              <a:rPr dirty="0"/>
              <a:t>number of</a:t>
            </a:r>
            <a:r>
              <a:rPr spc="-5" dirty="0"/>
              <a:t> </a:t>
            </a:r>
            <a:r>
              <a:rPr dirty="0"/>
              <a:t>running words</a:t>
            </a:r>
            <a:r>
              <a:rPr spc="-5" dirty="0"/>
              <a:t> </a:t>
            </a:r>
            <a:r>
              <a:rPr dirty="0"/>
              <a:t>(tokens) in</a:t>
            </a:r>
            <a:r>
              <a:rPr spc="-5" dirty="0"/>
              <a:t> </a:t>
            </a:r>
            <a:r>
              <a:rPr dirty="0"/>
              <a:t>a given</a:t>
            </a:r>
            <a:r>
              <a:rPr spc="-5" dirty="0"/>
              <a:t> </a:t>
            </a:r>
            <a:r>
              <a:rPr spc="-50" dirty="0"/>
              <a:t>text</a:t>
            </a:r>
            <a:r>
              <a:rPr dirty="0"/>
              <a:t> or</a:t>
            </a:r>
            <a:r>
              <a:rPr spc="-5" dirty="0"/>
              <a:t> </a:t>
            </a:r>
            <a:r>
              <a:rPr spc="-10" dirty="0"/>
              <a:t>corpus.</a:t>
            </a:r>
          </a:p>
          <a:p>
            <a:pPr marL="327025" marR="50800">
              <a:lnSpc>
                <a:spcPct val="118900"/>
              </a:lnSpc>
              <a:spcBef>
                <a:spcPts val="295"/>
              </a:spcBef>
            </a:pPr>
            <a:r>
              <a:rPr dirty="0"/>
              <a:t>This</a:t>
            </a:r>
            <a:r>
              <a:rPr spc="25" dirty="0"/>
              <a:t> </a:t>
            </a:r>
            <a:r>
              <a:rPr dirty="0"/>
              <a:t>index</a:t>
            </a:r>
            <a:r>
              <a:rPr spc="25" dirty="0"/>
              <a:t> </a:t>
            </a:r>
            <a:r>
              <a:rPr dirty="0"/>
              <a:t>indicates</a:t>
            </a:r>
            <a:r>
              <a:rPr spc="25" dirty="0"/>
              <a:t> </a:t>
            </a:r>
            <a:r>
              <a:rPr dirty="0"/>
              <a:t>how</a:t>
            </a:r>
            <a:r>
              <a:rPr spc="25" dirty="0"/>
              <a:t> </a:t>
            </a:r>
            <a:r>
              <a:rPr spc="-30" dirty="0"/>
              <a:t>often,</a:t>
            </a:r>
            <a:r>
              <a:rPr spc="30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dirty="0"/>
              <a:t>average,</a:t>
            </a:r>
            <a:r>
              <a:rPr spc="25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new</a:t>
            </a:r>
            <a:r>
              <a:rPr spc="30" dirty="0"/>
              <a:t> </a:t>
            </a:r>
            <a:r>
              <a:rPr spc="-25" dirty="0"/>
              <a:t>‘word</a:t>
            </a:r>
            <a:r>
              <a:rPr spc="25" dirty="0"/>
              <a:t> </a:t>
            </a:r>
            <a:r>
              <a:rPr spc="-50" dirty="0"/>
              <a:t>form’</a:t>
            </a:r>
            <a:r>
              <a:rPr spc="25" dirty="0"/>
              <a:t> </a:t>
            </a:r>
            <a:r>
              <a:rPr dirty="0"/>
              <a:t>appears</a:t>
            </a:r>
            <a:r>
              <a:rPr spc="25" dirty="0"/>
              <a:t> </a:t>
            </a:r>
            <a:r>
              <a:rPr spc="-25" dirty="0"/>
              <a:t>in </a:t>
            </a:r>
            <a:r>
              <a:rPr dirty="0"/>
              <a:t>the</a:t>
            </a:r>
            <a:r>
              <a:rPr spc="-55" dirty="0"/>
              <a:t> </a:t>
            </a:r>
            <a:r>
              <a:rPr spc="-50" dirty="0"/>
              <a:t>text</a:t>
            </a:r>
            <a:r>
              <a:rPr spc="-2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spc="-10" dirty="0"/>
              <a:t>corpus.</a:t>
            </a:r>
          </a:p>
        </p:txBody>
      </p:sp>
      <p:grpSp>
        <p:nvGrpSpPr>
          <p:cNvPr id="28" name="object 2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8700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Comparison</a:t>
            </a:r>
            <a:r>
              <a:rPr spc="90" dirty="0"/>
              <a:t> </a:t>
            </a:r>
            <a:r>
              <a:rPr dirty="0"/>
              <a:t>Across</a:t>
            </a:r>
            <a:r>
              <a:rPr spc="90" dirty="0"/>
              <a:t> </a:t>
            </a:r>
            <a:r>
              <a:rPr spc="-30" dirty="0"/>
              <a:t>Texts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89101"/>
            <a:ext cx="4483735" cy="849630"/>
            <a:chOff x="87743" y="889101"/>
            <a:chExt cx="4483735" cy="849630"/>
          </a:xfrm>
        </p:grpSpPr>
        <p:sp>
          <p:nvSpPr>
            <p:cNvPr id="4" name="object 4"/>
            <p:cNvSpPr/>
            <p:nvPr/>
          </p:nvSpPr>
          <p:spPr>
            <a:xfrm>
              <a:off x="87743" y="88910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6211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36788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24088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33336"/>
              <a:ext cx="50800" cy="70345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06436"/>
              <a:ext cx="4432935" cy="581660"/>
            </a:xfrm>
            <a:custGeom>
              <a:avLst/>
              <a:gdLst/>
              <a:ahLst/>
              <a:cxnLst/>
              <a:rect l="l" t="t" r="r" b="b"/>
              <a:pathLst>
                <a:path w="4432935" h="581660">
                  <a:moveTo>
                    <a:pt x="4432554" y="0"/>
                  </a:moveTo>
                  <a:lnTo>
                    <a:pt x="0" y="0"/>
                  </a:lnTo>
                  <a:lnTo>
                    <a:pt x="0" y="530351"/>
                  </a:lnTo>
                  <a:lnTo>
                    <a:pt x="4008" y="550076"/>
                  </a:lnTo>
                  <a:lnTo>
                    <a:pt x="14922" y="566229"/>
                  </a:lnTo>
                  <a:lnTo>
                    <a:pt x="31075" y="577143"/>
                  </a:lnTo>
                  <a:lnTo>
                    <a:pt x="50800" y="581151"/>
                  </a:lnTo>
                  <a:lnTo>
                    <a:pt x="4381754" y="581151"/>
                  </a:lnTo>
                  <a:lnTo>
                    <a:pt x="4401478" y="577143"/>
                  </a:lnTo>
                  <a:lnTo>
                    <a:pt x="4417631" y="566229"/>
                  </a:lnTo>
                  <a:lnTo>
                    <a:pt x="4428545" y="550076"/>
                  </a:lnTo>
                  <a:lnTo>
                    <a:pt x="4432554" y="53035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71435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h="684530">
                  <a:moveTo>
                    <a:pt x="0" y="6844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87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460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332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5324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63281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7331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839519"/>
            <a:ext cx="4483735" cy="849630"/>
            <a:chOff x="87743" y="1839519"/>
            <a:chExt cx="4483735" cy="849630"/>
          </a:xfrm>
        </p:grpSpPr>
        <p:sp>
          <p:nvSpPr>
            <p:cNvPr id="18" name="object 18"/>
            <p:cNvSpPr/>
            <p:nvPr/>
          </p:nvSpPr>
          <p:spPr>
            <a:xfrm>
              <a:off x="87743" y="183951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012531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587206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574506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1883753"/>
              <a:ext cx="50800" cy="70345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56854"/>
              <a:ext cx="4432935" cy="581660"/>
            </a:xfrm>
            <a:custGeom>
              <a:avLst/>
              <a:gdLst/>
              <a:ahLst/>
              <a:cxnLst/>
              <a:rect l="l" t="t" r="r" b="b"/>
              <a:pathLst>
                <a:path w="4432935" h="581660">
                  <a:moveTo>
                    <a:pt x="4432554" y="0"/>
                  </a:moveTo>
                  <a:lnTo>
                    <a:pt x="0" y="0"/>
                  </a:lnTo>
                  <a:lnTo>
                    <a:pt x="0" y="530352"/>
                  </a:lnTo>
                  <a:lnTo>
                    <a:pt x="4008" y="550076"/>
                  </a:lnTo>
                  <a:lnTo>
                    <a:pt x="14922" y="566229"/>
                  </a:lnTo>
                  <a:lnTo>
                    <a:pt x="31075" y="577143"/>
                  </a:lnTo>
                  <a:lnTo>
                    <a:pt x="50800" y="581152"/>
                  </a:lnTo>
                  <a:lnTo>
                    <a:pt x="4381754" y="581152"/>
                  </a:lnTo>
                  <a:lnTo>
                    <a:pt x="4401478" y="577143"/>
                  </a:lnTo>
                  <a:lnTo>
                    <a:pt x="4417631" y="566229"/>
                  </a:lnTo>
                  <a:lnTo>
                    <a:pt x="4428545" y="550076"/>
                  </a:lnTo>
                  <a:lnTo>
                    <a:pt x="4432554" y="5303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21853"/>
              <a:ext cx="0" cy="684530"/>
            </a:xfrm>
            <a:custGeom>
              <a:avLst/>
              <a:gdLst/>
              <a:ahLst/>
              <a:cxnLst/>
              <a:rect l="l" t="t" r="r" b="b"/>
              <a:pathLst>
                <a:path h="684530">
                  <a:moveTo>
                    <a:pt x="0" y="68440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091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964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88374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103679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313711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1597" y="2523744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817643"/>
            <a:ext cx="1597025" cy="181165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Mark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Twain’s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80" dirty="0">
                <a:solidFill>
                  <a:srgbClr val="3232B2"/>
                </a:solidFill>
                <a:latin typeface="Cambria"/>
                <a:cs typeface="Cambria"/>
              </a:rPr>
              <a:t>Tom</a:t>
            </a:r>
            <a:r>
              <a:rPr sz="1100" i="1" spc="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Sawyer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71,370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tokens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8,018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types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80" dirty="0">
                <a:latin typeface="Trebuchet MS"/>
                <a:cs typeface="Trebuchet MS"/>
              </a:rPr>
              <a:t>TTR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0.112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Complete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Shakespeare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work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00"/>
              </a:spcBef>
            </a:pPr>
            <a:r>
              <a:rPr sz="950" dirty="0">
                <a:latin typeface="Trebuchet MS"/>
                <a:cs typeface="Trebuchet MS"/>
              </a:rPr>
              <a:t>884,647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tokens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29,066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types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80" dirty="0">
                <a:latin typeface="Trebuchet MS"/>
                <a:cs typeface="Trebuchet MS"/>
              </a:rPr>
              <a:t>TTR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=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0.032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3011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Empirical</a:t>
            </a:r>
            <a:r>
              <a:rPr spc="25" dirty="0"/>
              <a:t> </a:t>
            </a:r>
            <a:r>
              <a:rPr dirty="0"/>
              <a:t>Observations</a:t>
            </a:r>
            <a:r>
              <a:rPr spc="25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spc="-10" dirty="0"/>
              <a:t>Various</a:t>
            </a:r>
            <a:r>
              <a:rPr spc="25" dirty="0"/>
              <a:t> </a:t>
            </a:r>
            <a:r>
              <a:rPr spc="-20" dirty="0"/>
              <a:t>Texts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23074"/>
            <a:ext cx="4432935" cy="186055"/>
          </a:xfrm>
          <a:custGeom>
            <a:avLst/>
            <a:gdLst/>
            <a:ahLst/>
            <a:cxnLst/>
            <a:rect l="l" t="t" r="r" b="b"/>
            <a:pathLst>
              <a:path w="4432935" h="186055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5674"/>
                </a:lnTo>
                <a:lnTo>
                  <a:pt x="4432554" y="185674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729" y="803872"/>
            <a:ext cx="31261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Comparing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Conversation,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academic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prose,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news,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fiction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867302"/>
            <a:ext cx="4483735" cy="1005205"/>
            <a:chOff x="87743" y="867302"/>
            <a:chExt cx="4483735" cy="100520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6099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00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00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7321"/>
              <a:ext cx="50800" cy="90357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40396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05395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92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80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867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3011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Observations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on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Various</a:t>
            </a:r>
            <a:r>
              <a:rPr sz="1400" i="1" spc="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Texts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823074"/>
            <a:ext cx="4483735" cy="1049655"/>
            <a:chOff x="87743" y="823074"/>
            <a:chExt cx="4483735" cy="1049655"/>
          </a:xfrm>
        </p:grpSpPr>
        <p:sp>
          <p:nvSpPr>
            <p:cNvPr id="4" name="object 4"/>
            <p:cNvSpPr/>
            <p:nvPr/>
          </p:nvSpPr>
          <p:spPr>
            <a:xfrm>
              <a:off x="87743" y="82307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609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0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0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7321"/>
              <a:ext cx="50800" cy="903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40396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5395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92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80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7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0104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748454"/>
            <a:ext cx="3912870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Comparing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Conversation,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academic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prose,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news,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fiction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ct val="118900"/>
              </a:lnSpc>
              <a:spcBef>
                <a:spcPts val="209"/>
              </a:spcBef>
            </a:pPr>
            <a:r>
              <a:rPr sz="950" spc="80" dirty="0">
                <a:latin typeface="Trebuchet MS"/>
                <a:cs typeface="Trebuchet MS"/>
              </a:rPr>
              <a:t>TTR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value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(tendency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conversation.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-57150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133850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3011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Empirical</a:t>
            </a:r>
            <a:r>
              <a:rPr spc="25" dirty="0"/>
              <a:t> </a:t>
            </a:r>
            <a:r>
              <a:rPr dirty="0"/>
              <a:t>Observations</a:t>
            </a:r>
            <a:r>
              <a:rPr spc="25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spc="-10" dirty="0"/>
              <a:t>Various</a:t>
            </a:r>
            <a:r>
              <a:rPr spc="25" dirty="0"/>
              <a:t> </a:t>
            </a:r>
            <a:r>
              <a:rPr spc="-20" dirty="0"/>
              <a:t>Texts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3074"/>
            <a:ext cx="4483735" cy="1049655"/>
            <a:chOff x="87743" y="823074"/>
            <a:chExt cx="4483735" cy="1049655"/>
          </a:xfrm>
        </p:grpSpPr>
        <p:sp>
          <p:nvSpPr>
            <p:cNvPr id="4" name="object 4"/>
            <p:cNvSpPr/>
            <p:nvPr/>
          </p:nvSpPr>
          <p:spPr>
            <a:xfrm>
              <a:off x="87743" y="82307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609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0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0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7321"/>
              <a:ext cx="50800" cy="903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40396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5395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92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80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7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010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2209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9591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Comparing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Conversation,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academic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prose,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news,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fiction</a:t>
            </a:r>
            <a:endParaRPr sz="1100">
              <a:latin typeface="Cambria"/>
              <a:cs typeface="Cambria"/>
            </a:endParaRPr>
          </a:p>
          <a:p>
            <a:pPr marL="327025" marR="346710">
              <a:lnSpc>
                <a:spcPct val="118900"/>
              </a:lnSpc>
              <a:spcBef>
                <a:spcPts val="209"/>
              </a:spcBef>
            </a:pPr>
            <a:r>
              <a:rPr spc="80" dirty="0"/>
              <a:t>TTR</a:t>
            </a:r>
            <a:r>
              <a:rPr spc="20" dirty="0"/>
              <a:t> </a:t>
            </a:r>
            <a:r>
              <a:rPr dirty="0"/>
              <a:t>scores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lowest</a:t>
            </a:r>
            <a:r>
              <a:rPr spc="25" dirty="0"/>
              <a:t> </a:t>
            </a:r>
            <a:r>
              <a:rPr dirty="0"/>
              <a:t>value</a:t>
            </a:r>
            <a:r>
              <a:rPr spc="25" dirty="0"/>
              <a:t> </a:t>
            </a:r>
            <a:r>
              <a:rPr dirty="0"/>
              <a:t>(tendency</a:t>
            </a:r>
            <a:r>
              <a:rPr spc="20" dirty="0"/>
              <a:t> </a:t>
            </a:r>
            <a:r>
              <a:rPr spc="-20" dirty="0"/>
              <a:t>to</a:t>
            </a:r>
            <a:r>
              <a:rPr spc="25" dirty="0"/>
              <a:t> </a:t>
            </a:r>
            <a:r>
              <a:rPr spc="50" dirty="0"/>
              <a:t>use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same</a:t>
            </a:r>
            <a:r>
              <a:rPr spc="25" dirty="0"/>
              <a:t> </a:t>
            </a:r>
            <a:r>
              <a:rPr dirty="0"/>
              <a:t>words)</a:t>
            </a:r>
            <a:r>
              <a:rPr spc="20" dirty="0"/>
              <a:t> </a:t>
            </a:r>
            <a:r>
              <a:rPr spc="-25" dirty="0"/>
              <a:t>in </a:t>
            </a:r>
            <a:r>
              <a:rPr spc="-10" dirty="0"/>
              <a:t>conversation.</a:t>
            </a:r>
          </a:p>
          <a:p>
            <a:pPr marL="327025">
              <a:lnSpc>
                <a:spcPct val="100000"/>
              </a:lnSpc>
              <a:spcBef>
                <a:spcPts val="509"/>
              </a:spcBef>
            </a:pPr>
            <a:r>
              <a:rPr spc="80" dirty="0"/>
              <a:t>TTR</a:t>
            </a:r>
            <a:r>
              <a:rPr spc="15" dirty="0"/>
              <a:t> </a:t>
            </a:r>
            <a:r>
              <a:rPr dirty="0"/>
              <a:t>scores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highest</a:t>
            </a:r>
            <a:r>
              <a:rPr spc="20" dirty="0"/>
              <a:t> </a:t>
            </a:r>
            <a:r>
              <a:rPr dirty="0"/>
              <a:t>value</a:t>
            </a:r>
            <a:r>
              <a:rPr spc="15" dirty="0"/>
              <a:t> </a:t>
            </a:r>
            <a:r>
              <a:rPr dirty="0"/>
              <a:t>(tendency</a:t>
            </a:r>
            <a:r>
              <a:rPr spc="20" dirty="0"/>
              <a:t> </a:t>
            </a:r>
            <a:r>
              <a:rPr spc="-20" dirty="0"/>
              <a:t>to</a:t>
            </a:r>
            <a:r>
              <a:rPr spc="15" dirty="0"/>
              <a:t> </a:t>
            </a:r>
            <a:r>
              <a:rPr spc="50" dirty="0"/>
              <a:t>use</a:t>
            </a:r>
            <a:r>
              <a:rPr spc="20" dirty="0"/>
              <a:t> </a:t>
            </a:r>
            <a:r>
              <a:rPr spc="-35" dirty="0"/>
              <a:t>different</a:t>
            </a:r>
            <a:r>
              <a:rPr spc="15" dirty="0"/>
              <a:t> </a:t>
            </a:r>
            <a:r>
              <a:rPr dirty="0"/>
              <a:t>words)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news.</a:t>
            </a: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3011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Empirical</a:t>
            </a:r>
            <a:r>
              <a:rPr spc="25" dirty="0"/>
              <a:t> </a:t>
            </a:r>
            <a:r>
              <a:rPr dirty="0"/>
              <a:t>Observations</a:t>
            </a:r>
            <a:r>
              <a:rPr spc="25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spc="-10" dirty="0"/>
              <a:t>Various</a:t>
            </a:r>
            <a:r>
              <a:rPr spc="25" dirty="0"/>
              <a:t> </a:t>
            </a:r>
            <a:r>
              <a:rPr spc="-20" dirty="0"/>
              <a:t>Texts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3074"/>
            <a:ext cx="4483735" cy="1049655"/>
            <a:chOff x="87743" y="823074"/>
            <a:chExt cx="4483735" cy="1049655"/>
          </a:xfrm>
        </p:grpSpPr>
        <p:sp>
          <p:nvSpPr>
            <p:cNvPr id="4" name="object 4"/>
            <p:cNvSpPr/>
            <p:nvPr/>
          </p:nvSpPr>
          <p:spPr>
            <a:xfrm>
              <a:off x="87743" y="82307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609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0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0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7321"/>
              <a:ext cx="50800" cy="903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40396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5395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92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80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7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010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2209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2242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89591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Comparing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Conversation,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academic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prose,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news,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fiction</a:t>
            </a:r>
            <a:endParaRPr sz="1100">
              <a:latin typeface="Cambria"/>
              <a:cs typeface="Cambria"/>
            </a:endParaRPr>
          </a:p>
          <a:p>
            <a:pPr marL="327025" marR="346710">
              <a:lnSpc>
                <a:spcPct val="118900"/>
              </a:lnSpc>
              <a:spcBef>
                <a:spcPts val="209"/>
              </a:spcBef>
            </a:pPr>
            <a:r>
              <a:rPr spc="80" dirty="0"/>
              <a:t>TTR</a:t>
            </a:r>
            <a:r>
              <a:rPr spc="20" dirty="0"/>
              <a:t> </a:t>
            </a:r>
            <a:r>
              <a:rPr dirty="0"/>
              <a:t>scores</a:t>
            </a:r>
            <a:r>
              <a:rPr spc="25" dirty="0"/>
              <a:t>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lowest</a:t>
            </a:r>
            <a:r>
              <a:rPr spc="25" dirty="0"/>
              <a:t> </a:t>
            </a:r>
            <a:r>
              <a:rPr dirty="0"/>
              <a:t>value</a:t>
            </a:r>
            <a:r>
              <a:rPr spc="25" dirty="0"/>
              <a:t> </a:t>
            </a:r>
            <a:r>
              <a:rPr dirty="0"/>
              <a:t>(tendency</a:t>
            </a:r>
            <a:r>
              <a:rPr spc="20" dirty="0"/>
              <a:t> </a:t>
            </a:r>
            <a:r>
              <a:rPr spc="-20" dirty="0"/>
              <a:t>to</a:t>
            </a:r>
            <a:r>
              <a:rPr spc="25" dirty="0"/>
              <a:t> </a:t>
            </a:r>
            <a:r>
              <a:rPr spc="50" dirty="0"/>
              <a:t>use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same</a:t>
            </a:r>
            <a:r>
              <a:rPr spc="25" dirty="0"/>
              <a:t> </a:t>
            </a:r>
            <a:r>
              <a:rPr dirty="0"/>
              <a:t>words)</a:t>
            </a:r>
            <a:r>
              <a:rPr spc="20" dirty="0"/>
              <a:t> </a:t>
            </a:r>
            <a:r>
              <a:rPr spc="-25" dirty="0"/>
              <a:t>in </a:t>
            </a:r>
            <a:r>
              <a:rPr spc="-10" dirty="0"/>
              <a:t>conversation.</a:t>
            </a:r>
          </a:p>
          <a:p>
            <a:pPr marL="327025" marR="5080">
              <a:lnSpc>
                <a:spcPct val="145000"/>
              </a:lnSpc>
            </a:pPr>
            <a:r>
              <a:rPr spc="80" dirty="0"/>
              <a:t>TTR</a:t>
            </a:r>
            <a:r>
              <a:rPr spc="15" dirty="0"/>
              <a:t> </a:t>
            </a:r>
            <a:r>
              <a:rPr dirty="0"/>
              <a:t>scores</a:t>
            </a:r>
            <a:r>
              <a:rPr spc="20" dirty="0"/>
              <a:t> </a:t>
            </a:r>
            <a:r>
              <a:rPr dirty="0"/>
              <a:t>the</a:t>
            </a:r>
            <a:r>
              <a:rPr spc="15" dirty="0"/>
              <a:t> </a:t>
            </a:r>
            <a:r>
              <a:rPr dirty="0"/>
              <a:t>highest</a:t>
            </a:r>
            <a:r>
              <a:rPr spc="20" dirty="0"/>
              <a:t> </a:t>
            </a:r>
            <a:r>
              <a:rPr dirty="0"/>
              <a:t>value</a:t>
            </a:r>
            <a:r>
              <a:rPr spc="15" dirty="0"/>
              <a:t> </a:t>
            </a:r>
            <a:r>
              <a:rPr dirty="0"/>
              <a:t>(tendency</a:t>
            </a:r>
            <a:r>
              <a:rPr spc="20" dirty="0"/>
              <a:t> </a:t>
            </a:r>
            <a:r>
              <a:rPr spc="-20" dirty="0"/>
              <a:t>to</a:t>
            </a:r>
            <a:r>
              <a:rPr spc="15" dirty="0"/>
              <a:t> </a:t>
            </a:r>
            <a:r>
              <a:rPr spc="50" dirty="0"/>
              <a:t>use</a:t>
            </a:r>
            <a:r>
              <a:rPr spc="20" dirty="0"/>
              <a:t> </a:t>
            </a:r>
            <a:r>
              <a:rPr spc="-35" dirty="0"/>
              <a:t>different</a:t>
            </a:r>
            <a:r>
              <a:rPr spc="15" dirty="0"/>
              <a:t> </a:t>
            </a:r>
            <a:r>
              <a:rPr dirty="0"/>
              <a:t>words)</a:t>
            </a:r>
            <a:r>
              <a:rPr spc="20" dirty="0"/>
              <a:t> </a:t>
            </a:r>
            <a:r>
              <a:rPr dirty="0"/>
              <a:t>in</a:t>
            </a:r>
            <a:r>
              <a:rPr spc="15" dirty="0"/>
              <a:t> </a:t>
            </a:r>
            <a:r>
              <a:rPr spc="-10" dirty="0"/>
              <a:t>news. </a:t>
            </a:r>
            <a:r>
              <a:rPr dirty="0"/>
              <a:t>Academic</a:t>
            </a:r>
            <a:r>
              <a:rPr spc="40" dirty="0"/>
              <a:t> </a:t>
            </a:r>
            <a:r>
              <a:rPr dirty="0"/>
              <a:t>prose</a:t>
            </a:r>
            <a:r>
              <a:rPr spc="45" dirty="0"/>
              <a:t> </a:t>
            </a:r>
            <a:r>
              <a:rPr spc="-25" dirty="0"/>
              <a:t>writing</a:t>
            </a:r>
            <a:r>
              <a:rPr spc="45" dirty="0"/>
              <a:t> </a:t>
            </a:r>
            <a:r>
              <a:rPr spc="55" dirty="0"/>
              <a:t>has</a:t>
            </a:r>
            <a:r>
              <a:rPr spc="45" dirty="0"/>
              <a:t> </a:t>
            </a:r>
            <a:r>
              <a:rPr dirty="0"/>
              <a:t>the</a:t>
            </a:r>
            <a:r>
              <a:rPr spc="45" dirty="0"/>
              <a:t> </a:t>
            </a:r>
            <a:r>
              <a:rPr dirty="0"/>
              <a:t>second</a:t>
            </a:r>
            <a:r>
              <a:rPr spc="45" dirty="0"/>
              <a:t> </a:t>
            </a:r>
            <a:r>
              <a:rPr dirty="0"/>
              <a:t>lowest</a:t>
            </a:r>
            <a:r>
              <a:rPr spc="40" dirty="0"/>
              <a:t> </a:t>
            </a:r>
            <a:r>
              <a:rPr spc="-20" dirty="0"/>
              <a:t>TTR.</a:t>
            </a: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301180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Empirical</a:t>
            </a:r>
            <a:r>
              <a:rPr spc="25" dirty="0"/>
              <a:t> </a:t>
            </a:r>
            <a:r>
              <a:rPr dirty="0"/>
              <a:t>Observations</a:t>
            </a:r>
            <a:r>
              <a:rPr spc="25" dirty="0"/>
              <a:t> </a:t>
            </a:r>
            <a:r>
              <a:rPr dirty="0"/>
              <a:t>on</a:t>
            </a:r>
            <a:r>
              <a:rPr spc="25" dirty="0"/>
              <a:t> </a:t>
            </a:r>
            <a:r>
              <a:rPr spc="-10" dirty="0"/>
              <a:t>Various</a:t>
            </a:r>
            <a:r>
              <a:rPr spc="25" dirty="0"/>
              <a:t> </a:t>
            </a:r>
            <a:r>
              <a:rPr spc="-20" dirty="0"/>
              <a:t>Texts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23074"/>
            <a:ext cx="4483735" cy="1049655"/>
            <a:chOff x="87743" y="823074"/>
            <a:chExt cx="4483735" cy="1049655"/>
          </a:xfrm>
        </p:grpSpPr>
        <p:sp>
          <p:nvSpPr>
            <p:cNvPr id="4" name="object 4"/>
            <p:cNvSpPr/>
            <p:nvPr/>
          </p:nvSpPr>
          <p:spPr>
            <a:xfrm>
              <a:off x="87743" y="82307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9609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7090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5820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67321"/>
              <a:ext cx="50800" cy="90357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40396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05395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927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800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6730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090104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72209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682242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973630"/>
            <a:ext cx="4483735" cy="814705"/>
            <a:chOff x="87743" y="1973630"/>
            <a:chExt cx="4483735" cy="814705"/>
          </a:xfrm>
        </p:grpSpPr>
        <p:sp>
          <p:nvSpPr>
            <p:cNvPr id="18" name="object 18"/>
            <p:cNvSpPr/>
            <p:nvPr/>
          </p:nvSpPr>
          <p:spPr>
            <a:xfrm>
              <a:off x="87743" y="197363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7744" y="2146643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686228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73528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17865"/>
              <a:ext cx="50800" cy="668362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190928"/>
              <a:ext cx="4432935" cy="546100"/>
            </a:xfrm>
            <a:custGeom>
              <a:avLst/>
              <a:gdLst/>
              <a:ahLst/>
              <a:cxnLst/>
              <a:rect l="l" t="t" r="r" b="b"/>
              <a:pathLst>
                <a:path w="4432935" h="546100">
                  <a:moveTo>
                    <a:pt x="4432554" y="0"/>
                  </a:moveTo>
                  <a:lnTo>
                    <a:pt x="0" y="0"/>
                  </a:lnTo>
                  <a:lnTo>
                    <a:pt x="0" y="495299"/>
                  </a:lnTo>
                  <a:lnTo>
                    <a:pt x="4008" y="515024"/>
                  </a:lnTo>
                  <a:lnTo>
                    <a:pt x="14922" y="531177"/>
                  </a:lnTo>
                  <a:lnTo>
                    <a:pt x="31075" y="542091"/>
                  </a:lnTo>
                  <a:lnTo>
                    <a:pt x="50800" y="546099"/>
                  </a:lnTo>
                  <a:lnTo>
                    <a:pt x="4381754" y="546099"/>
                  </a:lnTo>
                  <a:lnTo>
                    <a:pt x="4401478" y="542091"/>
                  </a:lnTo>
                  <a:lnTo>
                    <a:pt x="4417631" y="531177"/>
                  </a:lnTo>
                  <a:lnTo>
                    <a:pt x="4428545" y="515024"/>
                  </a:lnTo>
                  <a:lnTo>
                    <a:pt x="4432554" y="4952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55927"/>
              <a:ext cx="0" cy="649605"/>
            </a:xfrm>
            <a:custGeom>
              <a:avLst/>
              <a:gdLst/>
              <a:ahLst/>
              <a:cxnLst/>
              <a:rect l="l" t="t" r="r" b="b"/>
              <a:pathLst>
                <a:path h="649605">
                  <a:moveTo>
                    <a:pt x="0" y="6493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432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305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0178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240661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450693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748454"/>
            <a:ext cx="4254500" cy="197929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Comparing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Conversation,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academic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prose,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news,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fiction</a:t>
            </a:r>
            <a:endParaRPr sz="1100">
              <a:latin typeface="Cambria"/>
              <a:cs typeface="Cambria"/>
            </a:endParaRPr>
          </a:p>
          <a:p>
            <a:pPr marL="289560" marR="346710">
              <a:lnSpc>
                <a:spcPct val="118900"/>
              </a:lnSpc>
              <a:spcBef>
                <a:spcPts val="209"/>
              </a:spcBef>
            </a:pPr>
            <a:r>
              <a:rPr sz="950" spc="80" dirty="0">
                <a:latin typeface="Trebuchet MS"/>
                <a:cs typeface="Trebuchet MS"/>
              </a:rPr>
              <a:t>TTR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value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(tendency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 </a:t>
            </a:r>
            <a:r>
              <a:rPr sz="950" spc="-10" dirty="0">
                <a:latin typeface="Trebuchet MS"/>
                <a:cs typeface="Trebuchet MS"/>
              </a:rPr>
              <a:t>conversation.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45000"/>
              </a:lnSpc>
            </a:pPr>
            <a:r>
              <a:rPr sz="950" spc="80" dirty="0">
                <a:latin typeface="Trebuchet MS"/>
                <a:cs typeface="Trebuchet MS"/>
              </a:rPr>
              <a:t>TTR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scores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highest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value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(tendency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news. </a:t>
            </a:r>
            <a:r>
              <a:rPr sz="950" dirty="0">
                <a:latin typeface="Trebuchet MS"/>
                <a:cs typeface="Trebuchet MS"/>
              </a:rPr>
              <a:t>Academic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prose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writing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has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second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lowest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TTR.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Not</a:t>
            </a:r>
            <a:r>
              <a:rPr sz="1100" i="1" spc="-2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valid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35" dirty="0">
                <a:solidFill>
                  <a:srgbClr val="FF0000"/>
                </a:solidFill>
                <a:latin typeface="Cambria"/>
                <a:cs typeface="Cambria"/>
              </a:rPr>
              <a:t>measure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‘text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complexity’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by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FF0000"/>
                </a:solidFill>
                <a:latin typeface="Cambria"/>
                <a:cs typeface="Cambria"/>
              </a:rPr>
              <a:t>itself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The value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varies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dirty="0">
                <a:latin typeface="Trebuchet MS"/>
                <a:cs typeface="Trebuchet MS"/>
              </a:rPr>
              <a:t> 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text.</a:t>
            </a:r>
            <a:endParaRPr sz="950">
              <a:latin typeface="Trebuchet MS"/>
              <a:cs typeface="Trebuchet MS"/>
            </a:endParaRPr>
          </a:p>
          <a:p>
            <a:pPr marL="289560" marR="224154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valid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measure,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running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average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computed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consecutive </a:t>
            </a:r>
            <a:r>
              <a:rPr sz="950" dirty="0">
                <a:latin typeface="Trebuchet MS"/>
                <a:cs typeface="Trebuchet MS"/>
              </a:rPr>
              <a:t>1000-word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chunks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text.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1" name="object 3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2" name="object 3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20" dirty="0"/>
              <a:t> </a:t>
            </a:r>
            <a:r>
              <a:rPr dirty="0"/>
              <a:t>Distribution</a:t>
            </a:r>
            <a:r>
              <a:rPr spc="-50" dirty="0"/>
              <a:t> </a:t>
            </a:r>
            <a:r>
              <a:rPr spc="-20" dirty="0"/>
              <a:t>from</a:t>
            </a:r>
            <a:r>
              <a:rPr spc="-30" dirty="0"/>
              <a:t> </a:t>
            </a:r>
            <a:r>
              <a:rPr spc="-50" dirty="0"/>
              <a:t>Tom</a:t>
            </a:r>
            <a:r>
              <a:rPr spc="-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646" y="690905"/>
            <a:ext cx="1538935" cy="22765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5059" y="676148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556395" y="590141"/>
            <a:ext cx="1582420" cy="7207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8000"/>
              </a:lnSpc>
              <a:spcBef>
                <a:spcPts val="110"/>
              </a:spcBef>
            </a:pPr>
            <a:r>
              <a:rPr sz="900" spc="50" dirty="0">
                <a:latin typeface="Trebuchet MS"/>
                <a:cs typeface="Trebuchet MS"/>
              </a:rPr>
              <a:t>TTR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=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0.11 </a:t>
            </a:r>
            <a:r>
              <a:rPr sz="1000" spc="-10" dirty="0">
                <a:latin typeface="SimSun-ExtB"/>
                <a:cs typeface="SimSun-ExtB"/>
              </a:rPr>
              <a:t>⇒</a:t>
            </a:r>
            <a:r>
              <a:rPr sz="1000" spc="-229" dirty="0">
                <a:latin typeface="SimSun-ExtB"/>
                <a:cs typeface="SimSun-ExtB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occur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on </a:t>
            </a:r>
            <a:r>
              <a:rPr sz="900" dirty="0">
                <a:latin typeface="Trebuchet MS"/>
                <a:cs typeface="Trebuchet MS"/>
              </a:rPr>
              <a:t>average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9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times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each.</a:t>
            </a:r>
            <a:endParaRPr sz="900">
              <a:latin typeface="Trebuchet MS"/>
              <a:cs typeface="Trebuchet MS"/>
            </a:endParaRPr>
          </a:p>
          <a:p>
            <a:pPr marL="12700" marR="41275">
              <a:lnSpc>
                <a:spcPct val="110700"/>
              </a:lnSpc>
              <a:spcBef>
                <a:spcPts val="595"/>
              </a:spcBef>
            </a:pPr>
            <a:r>
              <a:rPr sz="900" dirty="0">
                <a:latin typeface="Trebuchet MS"/>
                <a:cs typeface="Trebuchet MS"/>
              </a:rPr>
              <a:t>But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have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very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uneven distribution.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5059" y="1055725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20" dirty="0"/>
              <a:t> </a:t>
            </a:r>
            <a:r>
              <a:rPr dirty="0"/>
              <a:t>Distribution</a:t>
            </a:r>
            <a:r>
              <a:rPr spc="-50" dirty="0"/>
              <a:t> </a:t>
            </a:r>
            <a:r>
              <a:rPr spc="-20" dirty="0"/>
              <a:t>from</a:t>
            </a:r>
            <a:r>
              <a:rPr spc="-30" dirty="0"/>
              <a:t> </a:t>
            </a:r>
            <a:r>
              <a:rPr spc="-50" dirty="0"/>
              <a:t>Tom</a:t>
            </a:r>
            <a:r>
              <a:rPr spc="-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646" y="690905"/>
            <a:ext cx="1538935" cy="22765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5059" y="676148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5059" y="1055725"/>
            <a:ext cx="64757" cy="647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41205" y="1453337"/>
            <a:ext cx="2132965" cy="997585"/>
            <a:chOff x="2241205" y="1453337"/>
            <a:chExt cx="2132965" cy="997585"/>
          </a:xfrm>
        </p:grpSpPr>
        <p:sp>
          <p:nvSpPr>
            <p:cNvPr id="7" name="object 7"/>
            <p:cNvSpPr/>
            <p:nvPr/>
          </p:nvSpPr>
          <p:spPr>
            <a:xfrm>
              <a:off x="2241205" y="1453337"/>
              <a:ext cx="2082164" cy="168275"/>
            </a:xfrm>
            <a:custGeom>
              <a:avLst/>
              <a:gdLst/>
              <a:ahLst/>
              <a:cxnLst/>
              <a:rect l="l" t="t" r="r" b="b"/>
              <a:pathLst>
                <a:path w="2082164" h="168275">
                  <a:moveTo>
                    <a:pt x="203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8148"/>
                  </a:lnTo>
                  <a:lnTo>
                    <a:pt x="2081657" y="168148"/>
                  </a:lnTo>
                  <a:lnTo>
                    <a:pt x="2081657" y="50800"/>
                  </a:lnTo>
                  <a:lnTo>
                    <a:pt x="2077648" y="31075"/>
                  </a:lnTo>
                  <a:lnTo>
                    <a:pt x="2066734" y="14922"/>
                  </a:lnTo>
                  <a:lnTo>
                    <a:pt x="2050581" y="4008"/>
                  </a:lnTo>
                  <a:lnTo>
                    <a:pt x="2030857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1207" y="1497571"/>
              <a:ext cx="2132456" cy="1618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2007" y="2349157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2807" y="2336457"/>
              <a:ext cx="2030856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2864" y="1548422"/>
              <a:ext cx="50800" cy="8007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41205" y="1653197"/>
              <a:ext cx="2082164" cy="746760"/>
            </a:xfrm>
            <a:custGeom>
              <a:avLst/>
              <a:gdLst/>
              <a:ahLst/>
              <a:cxnLst/>
              <a:rect l="l" t="t" r="r" b="b"/>
              <a:pathLst>
                <a:path w="2082164" h="746760">
                  <a:moveTo>
                    <a:pt x="2081657" y="0"/>
                  </a:moveTo>
                  <a:lnTo>
                    <a:pt x="0" y="0"/>
                  </a:lnTo>
                  <a:lnTo>
                    <a:pt x="0" y="695960"/>
                  </a:lnTo>
                  <a:lnTo>
                    <a:pt x="4008" y="715684"/>
                  </a:lnTo>
                  <a:lnTo>
                    <a:pt x="14922" y="731837"/>
                  </a:lnTo>
                  <a:lnTo>
                    <a:pt x="31075" y="742751"/>
                  </a:lnTo>
                  <a:lnTo>
                    <a:pt x="50800" y="746760"/>
                  </a:lnTo>
                  <a:lnTo>
                    <a:pt x="2030857" y="746760"/>
                  </a:lnTo>
                  <a:lnTo>
                    <a:pt x="2050581" y="742751"/>
                  </a:lnTo>
                  <a:lnTo>
                    <a:pt x="2066734" y="731837"/>
                  </a:lnTo>
                  <a:lnTo>
                    <a:pt x="2077648" y="715684"/>
                  </a:lnTo>
                  <a:lnTo>
                    <a:pt x="2081657" y="695960"/>
                  </a:lnTo>
                  <a:lnTo>
                    <a:pt x="2081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22832" y="1535722"/>
              <a:ext cx="0" cy="832485"/>
            </a:xfrm>
            <a:custGeom>
              <a:avLst/>
              <a:gdLst/>
              <a:ahLst/>
              <a:cxnLst/>
              <a:rect l="l" t="t" r="r" b="b"/>
              <a:pathLst>
                <a:path h="832485">
                  <a:moveTo>
                    <a:pt x="0" y="832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22832" y="1522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22832" y="1510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2832" y="1497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5059" y="1732864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35059" y="2112441"/>
              <a:ext cx="64757" cy="64757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79307" y="590141"/>
            <a:ext cx="2005330" cy="177736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9560" marR="151130">
              <a:lnSpc>
                <a:spcPct val="108000"/>
              </a:lnSpc>
              <a:spcBef>
                <a:spcPts val="110"/>
              </a:spcBef>
            </a:pPr>
            <a:r>
              <a:rPr sz="900" spc="50" dirty="0">
                <a:latin typeface="Trebuchet MS"/>
                <a:cs typeface="Trebuchet MS"/>
              </a:rPr>
              <a:t>TTR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=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0.11 </a:t>
            </a:r>
            <a:r>
              <a:rPr sz="1000" spc="-10" dirty="0">
                <a:latin typeface="SimSun-ExtB"/>
                <a:cs typeface="SimSun-ExtB"/>
              </a:rPr>
              <a:t>⇒</a:t>
            </a:r>
            <a:r>
              <a:rPr sz="1000" spc="-229" dirty="0">
                <a:latin typeface="SimSun-ExtB"/>
                <a:cs typeface="SimSun-ExtB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occur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on </a:t>
            </a:r>
            <a:r>
              <a:rPr sz="900" dirty="0">
                <a:latin typeface="Trebuchet MS"/>
                <a:cs typeface="Trebuchet MS"/>
              </a:rPr>
              <a:t>average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9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times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each.</a:t>
            </a:r>
            <a:endParaRPr sz="900">
              <a:latin typeface="Trebuchet MS"/>
              <a:cs typeface="Trebuchet MS"/>
            </a:endParaRPr>
          </a:p>
          <a:p>
            <a:pPr marL="289560" marR="187960">
              <a:lnSpc>
                <a:spcPct val="110700"/>
              </a:lnSpc>
              <a:spcBef>
                <a:spcPts val="595"/>
              </a:spcBef>
            </a:pPr>
            <a:r>
              <a:rPr sz="900" dirty="0">
                <a:latin typeface="Trebuchet MS"/>
                <a:cs typeface="Trebuchet MS"/>
              </a:rPr>
              <a:t>But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have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very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uneven distribution.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i="1" dirty="0">
                <a:solidFill>
                  <a:srgbClr val="3232B2"/>
                </a:solidFill>
                <a:latin typeface="Cambria"/>
                <a:cs typeface="Cambria"/>
              </a:rPr>
              <a:t>Most</a:t>
            </a:r>
            <a:r>
              <a:rPr sz="1000" i="1" spc="-30" dirty="0">
                <a:solidFill>
                  <a:srgbClr val="3232B2"/>
                </a:solidFill>
                <a:latin typeface="Cambria"/>
                <a:cs typeface="Cambria"/>
              </a:rPr>
              <a:t> words</a:t>
            </a:r>
            <a:r>
              <a:rPr sz="10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0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rare</a:t>
            </a:r>
            <a:endParaRPr sz="1000">
              <a:latin typeface="Cambria"/>
              <a:cs typeface="Cambria"/>
            </a:endParaRPr>
          </a:p>
          <a:p>
            <a:pPr marL="289560" marR="151765">
              <a:lnSpc>
                <a:spcPct val="110700"/>
              </a:lnSpc>
              <a:spcBef>
                <a:spcPts val="540"/>
              </a:spcBef>
            </a:pPr>
            <a:r>
              <a:rPr sz="900" dirty="0">
                <a:latin typeface="Trebuchet MS"/>
                <a:cs typeface="Trebuchet MS"/>
              </a:rPr>
              <a:t>3993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(50%)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types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appear only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once</a:t>
            </a:r>
            <a:endParaRPr sz="90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latin typeface="Trebuchet MS"/>
                <a:cs typeface="Trebuchet MS"/>
              </a:rPr>
              <a:t>They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are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called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happax</a:t>
            </a:r>
            <a:r>
              <a:rPr sz="900" i="1" spc="-3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legomena</a:t>
            </a:r>
            <a:endParaRPr sz="90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Trebuchet MS"/>
                <a:cs typeface="Trebuchet MS"/>
              </a:rPr>
              <a:t>(Greek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‘read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only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once’)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20" name="object 2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1" name="object 2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20" dirty="0"/>
              <a:t> </a:t>
            </a:r>
            <a:r>
              <a:rPr dirty="0"/>
              <a:t>Distribution</a:t>
            </a:r>
            <a:r>
              <a:rPr spc="-50" dirty="0"/>
              <a:t> </a:t>
            </a:r>
            <a:r>
              <a:rPr spc="-20" dirty="0"/>
              <a:t>from</a:t>
            </a:r>
            <a:r>
              <a:rPr spc="-30" dirty="0"/>
              <a:t> </a:t>
            </a:r>
            <a:r>
              <a:rPr spc="-50" dirty="0"/>
              <a:t>Tom</a:t>
            </a:r>
            <a:r>
              <a:rPr spc="-25" dirty="0"/>
              <a:t> </a:t>
            </a:r>
            <a:r>
              <a:rPr spc="-10" dirty="0"/>
              <a:t>Sawyer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646" y="690905"/>
            <a:ext cx="1538935" cy="22765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35059" y="676148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35059" y="1055725"/>
            <a:ext cx="64757" cy="6475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241205" y="1453337"/>
            <a:ext cx="2132965" cy="997585"/>
            <a:chOff x="2241205" y="1453337"/>
            <a:chExt cx="2132965" cy="997585"/>
          </a:xfrm>
        </p:grpSpPr>
        <p:sp>
          <p:nvSpPr>
            <p:cNvPr id="7" name="object 7"/>
            <p:cNvSpPr/>
            <p:nvPr/>
          </p:nvSpPr>
          <p:spPr>
            <a:xfrm>
              <a:off x="2241205" y="1453337"/>
              <a:ext cx="2082164" cy="168275"/>
            </a:xfrm>
            <a:custGeom>
              <a:avLst/>
              <a:gdLst/>
              <a:ahLst/>
              <a:cxnLst/>
              <a:rect l="l" t="t" r="r" b="b"/>
              <a:pathLst>
                <a:path w="2082164" h="168275">
                  <a:moveTo>
                    <a:pt x="203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68148"/>
                  </a:lnTo>
                  <a:lnTo>
                    <a:pt x="2081657" y="168148"/>
                  </a:lnTo>
                  <a:lnTo>
                    <a:pt x="2081657" y="50800"/>
                  </a:lnTo>
                  <a:lnTo>
                    <a:pt x="2077648" y="31075"/>
                  </a:lnTo>
                  <a:lnTo>
                    <a:pt x="2066734" y="14922"/>
                  </a:lnTo>
                  <a:lnTo>
                    <a:pt x="2050581" y="4008"/>
                  </a:lnTo>
                  <a:lnTo>
                    <a:pt x="2030857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41207" y="1497571"/>
              <a:ext cx="2132456" cy="16188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92007" y="2349157"/>
              <a:ext cx="101600" cy="1016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42807" y="2336457"/>
              <a:ext cx="2030856" cy="11430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322864" y="1548422"/>
              <a:ext cx="50800" cy="80073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241205" y="1653197"/>
              <a:ext cx="2082164" cy="746760"/>
            </a:xfrm>
            <a:custGeom>
              <a:avLst/>
              <a:gdLst/>
              <a:ahLst/>
              <a:cxnLst/>
              <a:rect l="l" t="t" r="r" b="b"/>
              <a:pathLst>
                <a:path w="2082164" h="746760">
                  <a:moveTo>
                    <a:pt x="2081657" y="0"/>
                  </a:moveTo>
                  <a:lnTo>
                    <a:pt x="0" y="0"/>
                  </a:lnTo>
                  <a:lnTo>
                    <a:pt x="0" y="695960"/>
                  </a:lnTo>
                  <a:lnTo>
                    <a:pt x="4008" y="715684"/>
                  </a:lnTo>
                  <a:lnTo>
                    <a:pt x="14922" y="731837"/>
                  </a:lnTo>
                  <a:lnTo>
                    <a:pt x="31075" y="742751"/>
                  </a:lnTo>
                  <a:lnTo>
                    <a:pt x="50800" y="746760"/>
                  </a:lnTo>
                  <a:lnTo>
                    <a:pt x="2030857" y="746760"/>
                  </a:lnTo>
                  <a:lnTo>
                    <a:pt x="2050581" y="742751"/>
                  </a:lnTo>
                  <a:lnTo>
                    <a:pt x="2066734" y="731837"/>
                  </a:lnTo>
                  <a:lnTo>
                    <a:pt x="2077648" y="715684"/>
                  </a:lnTo>
                  <a:lnTo>
                    <a:pt x="2081657" y="695960"/>
                  </a:lnTo>
                  <a:lnTo>
                    <a:pt x="2081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22832" y="1535722"/>
              <a:ext cx="0" cy="832485"/>
            </a:xfrm>
            <a:custGeom>
              <a:avLst/>
              <a:gdLst/>
              <a:ahLst/>
              <a:cxnLst/>
              <a:rect l="l" t="t" r="r" b="b"/>
              <a:pathLst>
                <a:path h="832485">
                  <a:moveTo>
                    <a:pt x="0" y="83248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22832" y="1522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322832" y="15102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22832" y="14975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35059" y="1732864"/>
              <a:ext cx="64757" cy="64757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35059" y="2112441"/>
              <a:ext cx="64757" cy="6475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241205" y="2551874"/>
            <a:ext cx="2132965" cy="602615"/>
            <a:chOff x="2241205" y="2551874"/>
            <a:chExt cx="2132965" cy="602615"/>
          </a:xfrm>
        </p:grpSpPr>
        <p:sp>
          <p:nvSpPr>
            <p:cNvPr id="20" name="object 20"/>
            <p:cNvSpPr/>
            <p:nvPr/>
          </p:nvSpPr>
          <p:spPr>
            <a:xfrm>
              <a:off x="2241205" y="2551874"/>
              <a:ext cx="2082164" cy="175260"/>
            </a:xfrm>
            <a:custGeom>
              <a:avLst/>
              <a:gdLst/>
              <a:ahLst/>
              <a:cxnLst/>
              <a:rect l="l" t="t" r="r" b="b"/>
              <a:pathLst>
                <a:path w="2082164" h="175260">
                  <a:moveTo>
                    <a:pt x="2030857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5006"/>
                  </a:lnTo>
                  <a:lnTo>
                    <a:pt x="2081657" y="175006"/>
                  </a:lnTo>
                  <a:lnTo>
                    <a:pt x="2081657" y="50800"/>
                  </a:lnTo>
                  <a:lnTo>
                    <a:pt x="2077648" y="31075"/>
                  </a:lnTo>
                  <a:lnTo>
                    <a:pt x="2066734" y="14922"/>
                  </a:lnTo>
                  <a:lnTo>
                    <a:pt x="2050581" y="4008"/>
                  </a:lnTo>
                  <a:lnTo>
                    <a:pt x="2030857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241207" y="2714294"/>
              <a:ext cx="2081657" cy="5060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92007" y="3052356"/>
              <a:ext cx="101600" cy="1016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342807" y="3039656"/>
              <a:ext cx="2030856" cy="114300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322864" y="2596121"/>
              <a:ext cx="50800" cy="45623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241205" y="2758605"/>
              <a:ext cx="2082164" cy="344805"/>
            </a:xfrm>
            <a:custGeom>
              <a:avLst/>
              <a:gdLst/>
              <a:ahLst/>
              <a:cxnLst/>
              <a:rect l="l" t="t" r="r" b="b"/>
              <a:pathLst>
                <a:path w="2082164" h="344805">
                  <a:moveTo>
                    <a:pt x="2081657" y="0"/>
                  </a:moveTo>
                  <a:lnTo>
                    <a:pt x="0" y="0"/>
                  </a:lnTo>
                  <a:lnTo>
                    <a:pt x="0" y="293751"/>
                  </a:lnTo>
                  <a:lnTo>
                    <a:pt x="4008" y="313475"/>
                  </a:lnTo>
                  <a:lnTo>
                    <a:pt x="14922" y="329628"/>
                  </a:lnTo>
                  <a:lnTo>
                    <a:pt x="31075" y="340542"/>
                  </a:lnTo>
                  <a:lnTo>
                    <a:pt x="50800" y="344551"/>
                  </a:lnTo>
                  <a:lnTo>
                    <a:pt x="2030857" y="344551"/>
                  </a:lnTo>
                  <a:lnTo>
                    <a:pt x="2050581" y="340542"/>
                  </a:lnTo>
                  <a:lnTo>
                    <a:pt x="2066734" y="329628"/>
                  </a:lnTo>
                  <a:lnTo>
                    <a:pt x="2077648" y="313475"/>
                  </a:lnTo>
                  <a:lnTo>
                    <a:pt x="2081657" y="293751"/>
                  </a:lnTo>
                  <a:lnTo>
                    <a:pt x="2081657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322832" y="2634272"/>
              <a:ext cx="0" cy="437515"/>
            </a:xfrm>
            <a:custGeom>
              <a:avLst/>
              <a:gdLst/>
              <a:ahLst/>
              <a:cxnLst/>
              <a:rect l="l" t="t" r="r" b="b"/>
              <a:pathLst>
                <a:path h="437514">
                  <a:moveTo>
                    <a:pt x="0" y="43713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322832" y="26215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322832" y="26088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22832" y="259611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435059" y="2838297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279307" y="590141"/>
            <a:ext cx="2005330" cy="25031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89560" marR="151130">
              <a:lnSpc>
                <a:spcPct val="108000"/>
              </a:lnSpc>
              <a:spcBef>
                <a:spcPts val="110"/>
              </a:spcBef>
            </a:pPr>
            <a:r>
              <a:rPr sz="900" spc="50" dirty="0">
                <a:latin typeface="Trebuchet MS"/>
                <a:cs typeface="Trebuchet MS"/>
              </a:rPr>
              <a:t>TTR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=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0.11 </a:t>
            </a:r>
            <a:r>
              <a:rPr sz="1000" spc="-10" dirty="0">
                <a:latin typeface="SimSun-ExtB"/>
                <a:cs typeface="SimSun-ExtB"/>
              </a:rPr>
              <a:t>⇒</a:t>
            </a:r>
            <a:r>
              <a:rPr sz="1000" spc="-229" dirty="0">
                <a:latin typeface="SimSun-ExtB"/>
                <a:cs typeface="SimSun-ExtB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occur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on </a:t>
            </a:r>
            <a:r>
              <a:rPr sz="900" dirty="0">
                <a:latin typeface="Trebuchet MS"/>
                <a:cs typeface="Trebuchet MS"/>
              </a:rPr>
              <a:t>average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9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times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each.</a:t>
            </a:r>
            <a:endParaRPr sz="900">
              <a:latin typeface="Trebuchet MS"/>
              <a:cs typeface="Trebuchet MS"/>
            </a:endParaRPr>
          </a:p>
          <a:p>
            <a:pPr marL="289560" marR="187960">
              <a:lnSpc>
                <a:spcPct val="110700"/>
              </a:lnSpc>
              <a:spcBef>
                <a:spcPts val="595"/>
              </a:spcBef>
            </a:pPr>
            <a:r>
              <a:rPr sz="900" dirty="0">
                <a:latin typeface="Trebuchet MS"/>
                <a:cs typeface="Trebuchet MS"/>
              </a:rPr>
              <a:t>But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have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very</a:t>
            </a:r>
            <a:r>
              <a:rPr sz="900" spc="-3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uneven distribution.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i="1" dirty="0">
                <a:solidFill>
                  <a:srgbClr val="3232B2"/>
                </a:solidFill>
                <a:latin typeface="Cambria"/>
                <a:cs typeface="Cambria"/>
              </a:rPr>
              <a:t>Most</a:t>
            </a:r>
            <a:r>
              <a:rPr sz="1000" i="1" spc="-30" dirty="0">
                <a:solidFill>
                  <a:srgbClr val="3232B2"/>
                </a:solidFill>
                <a:latin typeface="Cambria"/>
                <a:cs typeface="Cambria"/>
              </a:rPr>
              <a:t> words</a:t>
            </a:r>
            <a:r>
              <a:rPr sz="10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are</a:t>
            </a:r>
            <a:r>
              <a:rPr sz="10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rare</a:t>
            </a:r>
            <a:endParaRPr sz="1000">
              <a:latin typeface="Cambria"/>
              <a:cs typeface="Cambria"/>
            </a:endParaRPr>
          </a:p>
          <a:p>
            <a:pPr marL="289560" marR="151765">
              <a:lnSpc>
                <a:spcPct val="110700"/>
              </a:lnSpc>
              <a:spcBef>
                <a:spcPts val="540"/>
              </a:spcBef>
            </a:pPr>
            <a:r>
              <a:rPr sz="900" dirty="0">
                <a:latin typeface="Trebuchet MS"/>
                <a:cs typeface="Trebuchet MS"/>
              </a:rPr>
              <a:t>3993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(50%)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word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types</a:t>
            </a:r>
            <a:r>
              <a:rPr sz="900" spc="4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appear only</a:t>
            </a:r>
            <a:r>
              <a:rPr sz="900" spc="-4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once</a:t>
            </a:r>
            <a:endParaRPr sz="90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710"/>
              </a:spcBef>
            </a:pPr>
            <a:r>
              <a:rPr sz="900" dirty="0">
                <a:latin typeface="Trebuchet MS"/>
                <a:cs typeface="Trebuchet MS"/>
              </a:rPr>
              <a:t>They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are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called</a:t>
            </a:r>
            <a:r>
              <a:rPr sz="900" spc="-30" dirty="0">
                <a:latin typeface="Trebuchet MS"/>
                <a:cs typeface="Trebuchet MS"/>
              </a:rPr>
              <a:t> </a:t>
            </a:r>
            <a:r>
              <a:rPr sz="900" i="1" dirty="0">
                <a:latin typeface="Trebuchet MS"/>
                <a:cs typeface="Trebuchet MS"/>
              </a:rPr>
              <a:t>happax</a:t>
            </a:r>
            <a:r>
              <a:rPr sz="900" i="1" spc="-3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legomena</a:t>
            </a:r>
            <a:endParaRPr sz="90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114"/>
              </a:spcBef>
            </a:pPr>
            <a:r>
              <a:rPr sz="900" dirty="0">
                <a:latin typeface="Trebuchet MS"/>
                <a:cs typeface="Trebuchet MS"/>
              </a:rPr>
              <a:t>(Greek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‘read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only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once’)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84"/>
              </a:spcBef>
            </a:pP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But</a:t>
            </a:r>
            <a:r>
              <a:rPr sz="10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35" dirty="0">
                <a:solidFill>
                  <a:srgbClr val="3232B2"/>
                </a:solidFill>
                <a:latin typeface="Cambria"/>
                <a:cs typeface="Cambria"/>
              </a:rPr>
              <a:t>common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30" dirty="0">
                <a:solidFill>
                  <a:srgbClr val="3232B2"/>
                </a:solidFill>
                <a:latin typeface="Cambria"/>
                <a:cs typeface="Cambria"/>
              </a:rPr>
              <a:t>words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 are </a:t>
            </a:r>
            <a:r>
              <a:rPr sz="1000" i="1" spc="-10" dirty="0">
                <a:solidFill>
                  <a:srgbClr val="3232B2"/>
                </a:solidFill>
                <a:latin typeface="Cambria"/>
                <a:cs typeface="Cambria"/>
              </a:rPr>
              <a:t>very</a:t>
            </a:r>
            <a:r>
              <a:rPr sz="10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000" i="1" spc="-10" dirty="0">
                <a:solidFill>
                  <a:srgbClr val="3232B2"/>
                </a:solidFill>
                <a:latin typeface="Cambria"/>
                <a:cs typeface="Cambria"/>
              </a:rPr>
              <a:t>common</a:t>
            </a:r>
            <a:endParaRPr sz="1000">
              <a:latin typeface="Cambria"/>
              <a:cs typeface="Cambria"/>
            </a:endParaRPr>
          </a:p>
          <a:p>
            <a:pPr marL="289560" marR="60325">
              <a:lnSpc>
                <a:spcPct val="110700"/>
              </a:lnSpc>
              <a:spcBef>
                <a:spcPts val="595"/>
              </a:spcBef>
            </a:pPr>
            <a:r>
              <a:rPr sz="900" dirty="0">
                <a:latin typeface="Trebuchet MS"/>
                <a:cs typeface="Trebuchet MS"/>
              </a:rPr>
              <a:t>100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words</a:t>
            </a:r>
            <a:r>
              <a:rPr sz="900" spc="-10" dirty="0">
                <a:latin typeface="Trebuchet MS"/>
                <a:cs typeface="Trebuchet MS"/>
              </a:rPr>
              <a:t> account </a:t>
            </a:r>
            <a:r>
              <a:rPr sz="900" spc="-60" dirty="0">
                <a:latin typeface="Trebuchet MS"/>
                <a:cs typeface="Trebuchet MS"/>
              </a:rPr>
              <a:t>for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95" dirty="0">
                <a:latin typeface="Trebuchet MS"/>
                <a:cs typeface="Trebuchet MS"/>
              </a:rPr>
              <a:t>51%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1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all </a:t>
            </a:r>
            <a:r>
              <a:rPr sz="900" dirty="0">
                <a:latin typeface="Trebuchet MS"/>
                <a:cs typeface="Trebuchet MS"/>
              </a:rPr>
              <a:t>tokens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all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text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32" name="object 3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64330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512808"/>
            <a:ext cx="3163570" cy="44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Count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frequency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a large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 </a:t>
            </a:r>
            <a:r>
              <a:rPr sz="950" dirty="0">
                <a:latin typeface="Trebuchet MS"/>
                <a:cs typeface="Trebuchet MS"/>
              </a:rPr>
              <a:t>List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 order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frequency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853338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643305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853338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125563"/>
            <a:ext cx="4483735" cy="2051685"/>
            <a:chOff x="87743" y="1125563"/>
            <a:chExt cx="4483735" cy="2051685"/>
          </a:xfrm>
        </p:grpSpPr>
        <p:sp>
          <p:nvSpPr>
            <p:cNvPr id="6" name="object 6"/>
            <p:cNvSpPr/>
            <p:nvPr/>
          </p:nvSpPr>
          <p:spPr>
            <a:xfrm>
              <a:off x="87743" y="112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298575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307503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3062338"/>
              <a:ext cx="4381753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169797"/>
              <a:ext cx="50800" cy="19052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342885"/>
              <a:ext cx="4432935" cy="1783080"/>
            </a:xfrm>
            <a:custGeom>
              <a:avLst/>
              <a:gdLst/>
              <a:ahLst/>
              <a:cxnLst/>
              <a:rect l="l" t="t" r="r" b="b"/>
              <a:pathLst>
                <a:path w="4432935" h="1783080">
                  <a:moveTo>
                    <a:pt x="4432554" y="0"/>
                  </a:moveTo>
                  <a:lnTo>
                    <a:pt x="0" y="0"/>
                  </a:lnTo>
                  <a:lnTo>
                    <a:pt x="0" y="1732152"/>
                  </a:lnTo>
                  <a:lnTo>
                    <a:pt x="4008" y="1751877"/>
                  </a:lnTo>
                  <a:lnTo>
                    <a:pt x="14922" y="1768030"/>
                  </a:lnTo>
                  <a:lnTo>
                    <a:pt x="31075" y="1778944"/>
                  </a:lnTo>
                  <a:lnTo>
                    <a:pt x="50800" y="1782952"/>
                  </a:lnTo>
                  <a:lnTo>
                    <a:pt x="4381754" y="1782952"/>
                  </a:lnTo>
                  <a:lnTo>
                    <a:pt x="4401478" y="1778944"/>
                  </a:lnTo>
                  <a:lnTo>
                    <a:pt x="4417631" y="1768030"/>
                  </a:lnTo>
                  <a:lnTo>
                    <a:pt x="4428545" y="1751877"/>
                  </a:lnTo>
                  <a:lnTo>
                    <a:pt x="4432554" y="17321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7884"/>
              <a:ext cx="0" cy="1886585"/>
            </a:xfrm>
            <a:custGeom>
              <a:avLst/>
              <a:gdLst/>
              <a:ahLst/>
              <a:cxnLst/>
              <a:rect l="l" t="t" r="r" b="b"/>
              <a:pathLst>
                <a:path h="1886585">
                  <a:moveTo>
                    <a:pt x="0" y="18862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951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824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1697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729" y="512808"/>
            <a:ext cx="4191635" cy="1162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9560" marR="755650">
              <a:lnSpc>
                <a:spcPct val="145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Count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frequency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a large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 </a:t>
            </a:r>
            <a:r>
              <a:rPr sz="950" dirty="0">
                <a:latin typeface="Trebuchet MS"/>
                <a:cs typeface="Trebuchet MS"/>
              </a:rPr>
              <a:t>List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 order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frequency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Zipf’s</a:t>
            </a:r>
            <a:r>
              <a:rPr sz="1100" i="1" spc="18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  <a:spcBef>
                <a:spcPts val="259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relationship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0" dirty="0">
                <a:latin typeface="Trebuchet MS"/>
                <a:cs typeface="Trebuchet MS"/>
              </a:rPr>
              <a:t> (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position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list </a:t>
            </a:r>
            <a:r>
              <a:rPr sz="950" spc="-10" dirty="0">
                <a:latin typeface="Trebuchet MS"/>
                <a:cs typeface="Trebuchet MS"/>
              </a:rPr>
              <a:t>(its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r</a:t>
            </a:r>
            <a:r>
              <a:rPr sz="950" spc="-25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643305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853338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125563"/>
            <a:ext cx="4483735" cy="2051685"/>
            <a:chOff x="87743" y="1125563"/>
            <a:chExt cx="4483735" cy="2051685"/>
          </a:xfrm>
        </p:grpSpPr>
        <p:sp>
          <p:nvSpPr>
            <p:cNvPr id="6" name="object 6"/>
            <p:cNvSpPr/>
            <p:nvPr/>
          </p:nvSpPr>
          <p:spPr>
            <a:xfrm>
              <a:off x="87743" y="112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298575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307503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3062338"/>
              <a:ext cx="4381753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169797"/>
              <a:ext cx="50800" cy="19052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342885"/>
              <a:ext cx="4432935" cy="1783080"/>
            </a:xfrm>
            <a:custGeom>
              <a:avLst/>
              <a:gdLst/>
              <a:ahLst/>
              <a:cxnLst/>
              <a:rect l="l" t="t" r="r" b="b"/>
              <a:pathLst>
                <a:path w="4432935" h="1783080">
                  <a:moveTo>
                    <a:pt x="4432554" y="0"/>
                  </a:moveTo>
                  <a:lnTo>
                    <a:pt x="0" y="0"/>
                  </a:lnTo>
                  <a:lnTo>
                    <a:pt x="0" y="1732152"/>
                  </a:lnTo>
                  <a:lnTo>
                    <a:pt x="4008" y="1751877"/>
                  </a:lnTo>
                  <a:lnTo>
                    <a:pt x="14922" y="1768030"/>
                  </a:lnTo>
                  <a:lnTo>
                    <a:pt x="31075" y="1778944"/>
                  </a:lnTo>
                  <a:lnTo>
                    <a:pt x="50800" y="1782952"/>
                  </a:lnTo>
                  <a:lnTo>
                    <a:pt x="4381754" y="1782952"/>
                  </a:lnTo>
                  <a:lnTo>
                    <a:pt x="4401478" y="1778944"/>
                  </a:lnTo>
                  <a:lnTo>
                    <a:pt x="4417631" y="1768030"/>
                  </a:lnTo>
                  <a:lnTo>
                    <a:pt x="4428545" y="1751877"/>
                  </a:lnTo>
                  <a:lnTo>
                    <a:pt x="4432554" y="17321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7884"/>
              <a:ext cx="0" cy="1886585"/>
            </a:xfrm>
            <a:custGeom>
              <a:avLst/>
              <a:gdLst/>
              <a:ahLst/>
              <a:cxnLst/>
              <a:rect l="l" t="t" r="r" b="b"/>
              <a:pathLst>
                <a:path h="1886585">
                  <a:moveTo>
                    <a:pt x="0" y="18862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951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824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1697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729" y="512808"/>
            <a:ext cx="4191635" cy="1162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9560" marR="755650">
              <a:lnSpc>
                <a:spcPct val="145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Count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frequency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a large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 </a:t>
            </a:r>
            <a:r>
              <a:rPr sz="950" dirty="0">
                <a:latin typeface="Trebuchet MS"/>
                <a:cs typeface="Trebuchet MS"/>
              </a:rPr>
              <a:t>List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 order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frequency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Zipf’s</a:t>
            </a:r>
            <a:r>
              <a:rPr sz="1100" i="1" spc="18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  <a:spcBef>
                <a:spcPts val="259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relationship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0" dirty="0">
                <a:latin typeface="Trebuchet MS"/>
                <a:cs typeface="Trebuchet MS"/>
              </a:rPr>
              <a:t> (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position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list </a:t>
            </a:r>
            <a:r>
              <a:rPr sz="950" spc="-10" dirty="0">
                <a:latin typeface="Trebuchet MS"/>
                <a:cs typeface="Trebuchet MS"/>
              </a:rPr>
              <a:t>(its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r</a:t>
            </a:r>
            <a:r>
              <a:rPr sz="950" spc="-25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6536" y="185538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2309" y="1950415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9" name="object 1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643305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853338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125563"/>
            <a:ext cx="4483735" cy="2051685"/>
            <a:chOff x="87743" y="1125563"/>
            <a:chExt cx="4483735" cy="2051685"/>
          </a:xfrm>
        </p:grpSpPr>
        <p:sp>
          <p:nvSpPr>
            <p:cNvPr id="6" name="object 6"/>
            <p:cNvSpPr/>
            <p:nvPr/>
          </p:nvSpPr>
          <p:spPr>
            <a:xfrm>
              <a:off x="87743" y="112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298575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307503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3062338"/>
              <a:ext cx="4381753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169797"/>
              <a:ext cx="50800" cy="19052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342885"/>
              <a:ext cx="4432935" cy="1783080"/>
            </a:xfrm>
            <a:custGeom>
              <a:avLst/>
              <a:gdLst/>
              <a:ahLst/>
              <a:cxnLst/>
              <a:rect l="l" t="t" r="r" b="b"/>
              <a:pathLst>
                <a:path w="4432935" h="1783080">
                  <a:moveTo>
                    <a:pt x="4432554" y="0"/>
                  </a:moveTo>
                  <a:lnTo>
                    <a:pt x="0" y="0"/>
                  </a:lnTo>
                  <a:lnTo>
                    <a:pt x="0" y="1732152"/>
                  </a:lnTo>
                  <a:lnTo>
                    <a:pt x="4008" y="1751877"/>
                  </a:lnTo>
                  <a:lnTo>
                    <a:pt x="14922" y="1768030"/>
                  </a:lnTo>
                  <a:lnTo>
                    <a:pt x="31075" y="1778944"/>
                  </a:lnTo>
                  <a:lnTo>
                    <a:pt x="50800" y="1782952"/>
                  </a:lnTo>
                  <a:lnTo>
                    <a:pt x="4381754" y="1782952"/>
                  </a:lnTo>
                  <a:lnTo>
                    <a:pt x="4401478" y="1778944"/>
                  </a:lnTo>
                  <a:lnTo>
                    <a:pt x="4417631" y="1768030"/>
                  </a:lnTo>
                  <a:lnTo>
                    <a:pt x="4428545" y="1751877"/>
                  </a:lnTo>
                  <a:lnTo>
                    <a:pt x="4432554" y="17321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7884"/>
              <a:ext cx="0" cy="1886585"/>
            </a:xfrm>
            <a:custGeom>
              <a:avLst/>
              <a:gdLst/>
              <a:ahLst/>
              <a:cxnLst/>
              <a:rect l="l" t="t" r="r" b="b"/>
              <a:pathLst>
                <a:path h="1886585">
                  <a:moveTo>
                    <a:pt x="0" y="18862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951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824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1697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729" y="512808"/>
            <a:ext cx="4191635" cy="1162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9560" marR="755650">
              <a:lnSpc>
                <a:spcPct val="145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Count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frequency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a large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 </a:t>
            </a:r>
            <a:r>
              <a:rPr sz="950" dirty="0">
                <a:latin typeface="Trebuchet MS"/>
                <a:cs typeface="Trebuchet MS"/>
              </a:rPr>
              <a:t>List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 order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frequency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Zipf’s</a:t>
            </a:r>
            <a:r>
              <a:rPr sz="1100" i="1" spc="18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  <a:spcBef>
                <a:spcPts val="259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relationship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0" dirty="0">
                <a:latin typeface="Trebuchet MS"/>
                <a:cs typeface="Trebuchet MS"/>
              </a:rPr>
              <a:t> (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position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list </a:t>
            </a:r>
            <a:r>
              <a:rPr sz="950" spc="-10" dirty="0">
                <a:latin typeface="Trebuchet MS"/>
                <a:cs typeface="Trebuchet MS"/>
              </a:rPr>
              <a:t>(its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r</a:t>
            </a:r>
            <a:r>
              <a:rPr sz="950" spc="-25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6536" y="185538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2309" y="1950415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729" y="2148014"/>
            <a:ext cx="2382520" cy="48958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50" dirty="0">
                <a:latin typeface="Trebuchet MS"/>
                <a:cs typeface="Trebuchet MS"/>
              </a:rPr>
              <a:t>or,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constant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that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rebuchet MS"/>
              <a:cs typeface="Trebuchet MS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Cambria"/>
                <a:cs typeface="Cambria"/>
              </a:rPr>
              <a:t>k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20" name="object 2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1" name="object 2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643305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853338"/>
            <a:ext cx="64757" cy="64757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7743" y="1125563"/>
            <a:ext cx="4483735" cy="2051685"/>
            <a:chOff x="87743" y="1125563"/>
            <a:chExt cx="4483735" cy="2051685"/>
          </a:xfrm>
        </p:grpSpPr>
        <p:sp>
          <p:nvSpPr>
            <p:cNvPr id="6" name="object 6"/>
            <p:cNvSpPr/>
            <p:nvPr/>
          </p:nvSpPr>
          <p:spPr>
            <a:xfrm>
              <a:off x="87743" y="112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744" y="1298575"/>
              <a:ext cx="4432554" cy="5060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8544" y="3075038"/>
              <a:ext cx="101600" cy="1016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344" y="3062338"/>
              <a:ext cx="4381753" cy="1143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0298" y="1169797"/>
              <a:ext cx="50800" cy="1905241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7743" y="1342885"/>
              <a:ext cx="4432935" cy="1783080"/>
            </a:xfrm>
            <a:custGeom>
              <a:avLst/>
              <a:gdLst/>
              <a:ahLst/>
              <a:cxnLst/>
              <a:rect l="l" t="t" r="r" b="b"/>
              <a:pathLst>
                <a:path w="4432935" h="1783080">
                  <a:moveTo>
                    <a:pt x="4432554" y="0"/>
                  </a:moveTo>
                  <a:lnTo>
                    <a:pt x="0" y="0"/>
                  </a:lnTo>
                  <a:lnTo>
                    <a:pt x="0" y="1732152"/>
                  </a:lnTo>
                  <a:lnTo>
                    <a:pt x="4008" y="1751877"/>
                  </a:lnTo>
                  <a:lnTo>
                    <a:pt x="14922" y="1768030"/>
                  </a:lnTo>
                  <a:lnTo>
                    <a:pt x="31075" y="1778944"/>
                  </a:lnTo>
                  <a:lnTo>
                    <a:pt x="50800" y="1782952"/>
                  </a:lnTo>
                  <a:lnTo>
                    <a:pt x="4381754" y="1782952"/>
                  </a:lnTo>
                  <a:lnTo>
                    <a:pt x="4401478" y="1778944"/>
                  </a:lnTo>
                  <a:lnTo>
                    <a:pt x="4417631" y="1768030"/>
                  </a:lnTo>
                  <a:lnTo>
                    <a:pt x="4428545" y="1751877"/>
                  </a:lnTo>
                  <a:lnTo>
                    <a:pt x="4432554" y="173215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07884"/>
              <a:ext cx="0" cy="1886585"/>
            </a:xfrm>
            <a:custGeom>
              <a:avLst/>
              <a:gdLst/>
              <a:ahLst/>
              <a:cxnLst/>
              <a:rect l="l" t="t" r="r" b="b"/>
              <a:pathLst>
                <a:path h="1886585">
                  <a:moveTo>
                    <a:pt x="0" y="188620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951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1824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116976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25729" y="512808"/>
            <a:ext cx="4191635" cy="11620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89560" marR="755650">
              <a:lnSpc>
                <a:spcPct val="145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Count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 frequency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each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 a large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 </a:t>
            </a:r>
            <a:r>
              <a:rPr sz="950" dirty="0">
                <a:latin typeface="Trebuchet MS"/>
                <a:cs typeface="Trebuchet MS"/>
              </a:rPr>
              <a:t>List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 types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decreasing order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frequency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Zipf’s</a:t>
            </a:r>
            <a:r>
              <a:rPr sz="1100" i="1" spc="18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00"/>
              </a:lnSpc>
              <a:spcBef>
                <a:spcPts val="259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relationship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0" dirty="0">
                <a:latin typeface="Trebuchet MS"/>
                <a:cs typeface="Trebuchet MS"/>
              </a:rPr>
              <a:t> (</a:t>
            </a: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its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position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list </a:t>
            </a:r>
            <a:r>
              <a:rPr sz="950" spc="-10" dirty="0">
                <a:latin typeface="Trebuchet MS"/>
                <a:cs typeface="Trebuchet MS"/>
              </a:rPr>
              <a:t>(its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r</a:t>
            </a:r>
            <a:r>
              <a:rPr sz="950" spc="-25" dirty="0">
                <a:latin typeface="Trebuchet MS"/>
                <a:cs typeface="Trebuchet MS"/>
              </a:rPr>
              <a:t>).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06536" y="185538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f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650" u="sng" spc="-75" baseline="37878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1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72309" y="1950415"/>
            <a:ext cx="7937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729" y="2148014"/>
            <a:ext cx="4168140" cy="97281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-50" dirty="0">
                <a:latin typeface="Trebuchet MS"/>
                <a:cs typeface="Trebuchet MS"/>
              </a:rPr>
              <a:t>or,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there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constant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such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that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950">
              <a:latin typeface="Trebuchet MS"/>
              <a:cs typeface="Trebuchet MS"/>
            </a:endParaRPr>
          </a:p>
          <a:p>
            <a:pPr marL="186055" algn="ctr">
              <a:lnSpc>
                <a:spcPct val="100000"/>
              </a:lnSpc>
              <a:spcBef>
                <a:spcPts val="5"/>
              </a:spcBef>
            </a:pPr>
            <a:r>
              <a:rPr sz="1100" i="1" spc="-30" dirty="0">
                <a:latin typeface="Cambria"/>
                <a:cs typeface="Cambria"/>
              </a:rPr>
              <a:t>f</a:t>
            </a:r>
            <a:r>
              <a:rPr sz="1100" i="1" spc="-85" dirty="0">
                <a:latin typeface="Cambria"/>
                <a:cs typeface="Cambria"/>
              </a:rPr>
              <a:t> </a:t>
            </a:r>
            <a:r>
              <a:rPr sz="1100" i="1" dirty="0">
                <a:latin typeface="Arial"/>
                <a:cs typeface="Arial"/>
              </a:rPr>
              <a:t>.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5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-90" dirty="0">
                <a:latin typeface="Trebuchet MS"/>
                <a:cs typeface="Trebuchet MS"/>
              </a:rPr>
              <a:t> </a:t>
            </a:r>
            <a:r>
              <a:rPr sz="1100" i="1" spc="-60" dirty="0">
                <a:latin typeface="Cambria"/>
                <a:cs typeface="Cambria"/>
              </a:rPr>
              <a:t>k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02699"/>
              </a:lnSpc>
              <a:spcBef>
                <a:spcPts val="1095"/>
              </a:spcBef>
            </a:pPr>
            <a:r>
              <a:rPr sz="950" spc="-35" dirty="0">
                <a:latin typeface="Trebuchet MS"/>
                <a:cs typeface="Trebuchet MS"/>
              </a:rPr>
              <a:t>i.e.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spc="-60" dirty="0">
                <a:latin typeface="Cambria"/>
                <a:cs typeface="Cambria"/>
              </a:rPr>
              <a:t>50</a:t>
            </a:r>
            <a:r>
              <a:rPr sz="950" spc="-60" dirty="0">
                <a:latin typeface="Trebuchet MS"/>
                <a:cs typeface="Trebuchet MS"/>
              </a:rPr>
              <a:t>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3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times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Cambria"/>
                <a:cs typeface="Cambria"/>
              </a:rPr>
              <a:t>150</a:t>
            </a:r>
            <a:r>
              <a:rPr sz="950" spc="-65" dirty="0">
                <a:latin typeface="Trebuchet MS"/>
                <a:cs typeface="Trebuchet MS"/>
              </a:rPr>
              <a:t>th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common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0" name="object 2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1" name="object 2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349070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59102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029" y="1027039"/>
            <a:ext cx="2961005" cy="640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59"/>
              </a:spcBef>
            </a:pPr>
            <a:r>
              <a:rPr sz="950" spc="-25" dirty="0">
                <a:latin typeface="Trebuchet MS"/>
                <a:cs typeface="Trebuchet MS"/>
              </a:rPr>
              <a:t>Let</a:t>
            </a:r>
            <a:endParaRPr sz="95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365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200" i="1" baseline="-10416" dirty="0">
                <a:latin typeface="Cambria"/>
                <a:cs typeface="Cambria"/>
              </a:rPr>
              <a:t>r</a:t>
            </a:r>
            <a:r>
              <a:rPr sz="1200" i="1" spc="20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Cambria"/>
                <a:cs typeface="Cambria"/>
              </a:rPr>
              <a:t>N</a:t>
            </a:r>
            <a:r>
              <a:rPr sz="1100" i="1" spc="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total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occurrences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349070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59102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029" y="1027039"/>
            <a:ext cx="2961005" cy="640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59"/>
              </a:spcBef>
            </a:pPr>
            <a:r>
              <a:rPr sz="950" spc="-25" dirty="0">
                <a:latin typeface="Trebuchet MS"/>
                <a:cs typeface="Trebuchet MS"/>
              </a:rPr>
              <a:t>Let</a:t>
            </a:r>
            <a:endParaRPr sz="95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365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200" i="1" baseline="-10416" dirty="0">
                <a:latin typeface="Cambria"/>
                <a:cs typeface="Cambria"/>
              </a:rPr>
              <a:t>r</a:t>
            </a:r>
            <a:r>
              <a:rPr sz="1200" i="1" spc="20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Cambria"/>
                <a:cs typeface="Cambria"/>
              </a:rPr>
              <a:t>N</a:t>
            </a:r>
            <a:r>
              <a:rPr sz="1100" i="1" spc="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total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occurrences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4783" y="1831759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7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14867" y="1715147"/>
            <a:ext cx="763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200" i="1" baseline="-10416" dirty="0">
                <a:latin typeface="Cambria"/>
                <a:cs typeface="Cambria"/>
              </a:rPr>
              <a:t>r</a:t>
            </a:r>
            <a:r>
              <a:rPr sz="1200" i="1" spc="172" baseline="-10416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180" dirty="0">
                <a:latin typeface="Trebuchet MS"/>
                <a:cs typeface="Trebuchet MS"/>
              </a:rPr>
              <a:t> </a:t>
            </a:r>
            <a:r>
              <a:rPr sz="1650" i="1" baseline="37878" dirty="0">
                <a:latin typeface="Cambria"/>
                <a:cs typeface="Cambria"/>
              </a:rPr>
              <a:t>f</a:t>
            </a:r>
            <a:r>
              <a:rPr sz="1650" i="1" spc="600" baseline="37878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15" dirty="0">
                <a:latin typeface="Trebuchet MS"/>
                <a:cs typeface="Trebuchet MS"/>
              </a:rPr>
              <a:t> </a:t>
            </a:r>
            <a:r>
              <a:rPr sz="1650" i="1" spc="-75" baseline="37878" dirty="0">
                <a:latin typeface="Cambria"/>
                <a:cs typeface="Cambria"/>
              </a:rPr>
              <a:t>A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5201" y="1831759"/>
            <a:ext cx="85090" cy="0"/>
          </a:xfrm>
          <a:custGeom>
            <a:avLst/>
            <a:gdLst/>
            <a:ahLst/>
            <a:cxnLst/>
            <a:rect l="l" t="t" r="r" b="b"/>
            <a:pathLst>
              <a:path w="85089">
                <a:moveTo>
                  <a:pt x="0" y="0"/>
                </a:moveTo>
                <a:lnTo>
                  <a:pt x="84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42083" y="1810194"/>
            <a:ext cx="3937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6390" algn="l"/>
              </a:tabLst>
            </a:pPr>
            <a:r>
              <a:rPr sz="1100" i="1" spc="-50" dirty="0">
                <a:latin typeface="Cambria"/>
                <a:cs typeface="Cambria"/>
              </a:rPr>
              <a:t>N</a:t>
            </a:r>
            <a:r>
              <a:rPr sz="1100" i="1" dirty="0">
                <a:latin typeface="Cambria"/>
                <a:cs typeface="Cambria"/>
              </a:rPr>
              <a:t>	</a:t>
            </a: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0" name="object 1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1" name="object 1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50" dirty="0"/>
              <a:t> </a:t>
            </a:r>
            <a:r>
              <a:rPr spc="-25" dirty="0"/>
              <a:t>Law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349070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559102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3029" y="1027039"/>
            <a:ext cx="2961005" cy="64008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59"/>
              </a:spcBef>
            </a:pPr>
            <a:r>
              <a:rPr sz="950" spc="-25" dirty="0">
                <a:latin typeface="Trebuchet MS"/>
                <a:cs typeface="Trebuchet MS"/>
              </a:rPr>
              <a:t>Let</a:t>
            </a:r>
            <a:endParaRPr sz="950">
              <a:latin typeface="Trebuchet MS"/>
              <a:cs typeface="Trebuchet MS"/>
            </a:endParaRPr>
          </a:p>
          <a:p>
            <a:pPr marL="302260">
              <a:lnSpc>
                <a:spcPct val="100000"/>
              </a:lnSpc>
              <a:spcBef>
                <a:spcPts val="365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200" i="1" baseline="-10416" dirty="0">
                <a:latin typeface="Cambria"/>
                <a:cs typeface="Cambria"/>
              </a:rPr>
              <a:t>r</a:t>
            </a:r>
            <a:r>
              <a:rPr sz="1200" i="1" spc="202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probability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rank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  <a:p>
            <a:pPr marL="302260">
              <a:lnSpc>
                <a:spcPct val="100000"/>
              </a:lnSpc>
              <a:spcBef>
                <a:spcPts val="334"/>
              </a:spcBef>
            </a:pPr>
            <a:r>
              <a:rPr sz="1100" i="1" dirty="0">
                <a:latin typeface="Cambria"/>
                <a:cs typeface="Cambria"/>
              </a:rPr>
              <a:t>N</a:t>
            </a:r>
            <a:r>
              <a:rPr sz="1100" i="1" spc="8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denote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total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occurrences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54783" y="1831759"/>
            <a:ext cx="100965" cy="0"/>
          </a:xfrm>
          <a:custGeom>
            <a:avLst/>
            <a:gdLst/>
            <a:ahLst/>
            <a:cxnLst/>
            <a:rect l="l" t="t" r="r" b="b"/>
            <a:pathLst>
              <a:path w="100964">
                <a:moveTo>
                  <a:pt x="0" y="0"/>
                </a:moveTo>
                <a:lnTo>
                  <a:pt x="10071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914867" y="1715147"/>
            <a:ext cx="763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Cambria"/>
                <a:cs typeface="Cambria"/>
              </a:rPr>
              <a:t>p</a:t>
            </a:r>
            <a:r>
              <a:rPr sz="1200" i="1" baseline="-10416" dirty="0">
                <a:latin typeface="Cambria"/>
                <a:cs typeface="Cambria"/>
              </a:rPr>
              <a:t>r</a:t>
            </a:r>
            <a:r>
              <a:rPr sz="1200" i="1" spc="172" baseline="-10416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180" dirty="0">
                <a:latin typeface="Trebuchet MS"/>
                <a:cs typeface="Trebuchet MS"/>
              </a:rPr>
              <a:t> </a:t>
            </a:r>
            <a:r>
              <a:rPr sz="1650" i="1" baseline="37878" dirty="0">
                <a:latin typeface="Cambria"/>
                <a:cs typeface="Cambria"/>
              </a:rPr>
              <a:t>f</a:t>
            </a:r>
            <a:r>
              <a:rPr sz="1650" i="1" spc="600" baseline="37878" dirty="0">
                <a:latin typeface="Cambria"/>
                <a:cs typeface="Cambria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15" dirty="0">
                <a:latin typeface="Trebuchet MS"/>
                <a:cs typeface="Trebuchet MS"/>
              </a:rPr>
              <a:t> </a:t>
            </a:r>
            <a:r>
              <a:rPr sz="1650" i="1" spc="-75" baseline="37878" dirty="0">
                <a:latin typeface="Cambria"/>
                <a:cs typeface="Cambria"/>
              </a:rPr>
              <a:t>A</a:t>
            </a:r>
            <a:endParaRPr sz="1650" baseline="37878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55201" y="1831759"/>
            <a:ext cx="85090" cy="0"/>
          </a:xfrm>
          <a:custGeom>
            <a:avLst/>
            <a:gdLst/>
            <a:ahLst/>
            <a:cxnLst/>
            <a:rect l="l" t="t" r="r" b="b"/>
            <a:pathLst>
              <a:path w="85089">
                <a:moveTo>
                  <a:pt x="0" y="0"/>
                </a:moveTo>
                <a:lnTo>
                  <a:pt x="84582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242083" y="1810194"/>
            <a:ext cx="39370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26390" algn="l"/>
              </a:tabLst>
            </a:pPr>
            <a:r>
              <a:rPr sz="1100" i="1" spc="-50" dirty="0">
                <a:latin typeface="Cambria"/>
                <a:cs typeface="Cambria"/>
              </a:rPr>
              <a:t>N</a:t>
            </a:r>
            <a:r>
              <a:rPr sz="1100" i="1" dirty="0">
                <a:latin typeface="Cambria"/>
                <a:cs typeface="Cambria"/>
              </a:rPr>
              <a:t>	</a:t>
            </a:r>
            <a:r>
              <a:rPr sz="1100" i="1" spc="-50" dirty="0">
                <a:latin typeface="Cambria"/>
                <a:cs typeface="Cambria"/>
              </a:rPr>
              <a:t>r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5729" y="2141537"/>
            <a:ext cx="26022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value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A</a:t>
            </a:r>
            <a:r>
              <a:rPr sz="1100" i="1" spc="4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 found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5" dirty="0">
                <a:latin typeface="Cambria"/>
                <a:cs typeface="Cambria"/>
              </a:rPr>
              <a:t>0</a:t>
            </a:r>
            <a:r>
              <a:rPr sz="1100" i="1" spc="-35" dirty="0">
                <a:latin typeface="Arial"/>
                <a:cs typeface="Arial"/>
              </a:rPr>
              <a:t>.</a:t>
            </a:r>
            <a:r>
              <a:rPr sz="1100" spc="-35" dirty="0">
                <a:latin typeface="Cambria"/>
                <a:cs typeface="Cambria"/>
              </a:rPr>
              <a:t>1</a:t>
            </a:r>
            <a:r>
              <a:rPr sz="1100" spc="40" dirty="0">
                <a:latin typeface="Cambria"/>
                <a:cs typeface="Cambria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1" name="object 1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2" name="object 1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7" name="object 17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8" name="object 18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9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9159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Empirical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Evaluation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0" dirty="0">
                <a:solidFill>
                  <a:srgbClr val="FFFFFF"/>
                </a:solidFill>
                <a:latin typeface="Cambria"/>
                <a:cs typeface="Cambria"/>
              </a:rPr>
              <a:t>from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Tom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Sawyer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349" y="765060"/>
            <a:ext cx="3750944" cy="2060574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65" dirty="0"/>
              <a:t> </a:t>
            </a:r>
            <a:r>
              <a:rPr dirty="0"/>
              <a:t>Other</a:t>
            </a:r>
            <a:r>
              <a:rPr spc="65" dirty="0"/>
              <a:t> </a:t>
            </a:r>
            <a:r>
              <a:rPr spc="-20" dirty="0"/>
              <a:t>Laws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65327"/>
            <a:ext cx="4483735" cy="1383665"/>
            <a:chOff x="87743" y="665327"/>
            <a:chExt cx="4483735" cy="1383665"/>
          </a:xfrm>
        </p:grpSpPr>
        <p:sp>
          <p:nvSpPr>
            <p:cNvPr id="4" name="object 4"/>
            <p:cNvSpPr/>
            <p:nvPr/>
          </p:nvSpPr>
          <p:spPr>
            <a:xfrm>
              <a:off x="87743" y="66532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3833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4726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3456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09561"/>
              <a:ext cx="50800" cy="1237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82624"/>
              <a:ext cx="4432935" cy="1115695"/>
            </a:xfrm>
            <a:custGeom>
              <a:avLst/>
              <a:gdLst/>
              <a:ahLst/>
              <a:cxnLst/>
              <a:rect l="l" t="t" r="r" b="b"/>
              <a:pathLst>
                <a:path w="4432935" h="1115695">
                  <a:moveTo>
                    <a:pt x="4432554" y="0"/>
                  </a:moveTo>
                  <a:lnTo>
                    <a:pt x="0" y="0"/>
                  </a:lnTo>
                  <a:lnTo>
                    <a:pt x="0" y="1064641"/>
                  </a:lnTo>
                  <a:lnTo>
                    <a:pt x="4008" y="1084365"/>
                  </a:lnTo>
                  <a:lnTo>
                    <a:pt x="14922" y="1100518"/>
                  </a:lnTo>
                  <a:lnTo>
                    <a:pt x="31075" y="1111432"/>
                  </a:lnTo>
                  <a:lnTo>
                    <a:pt x="50800" y="1115441"/>
                  </a:lnTo>
                  <a:lnTo>
                    <a:pt x="4381754" y="1115441"/>
                  </a:lnTo>
                  <a:lnTo>
                    <a:pt x="4401478" y="1111432"/>
                  </a:lnTo>
                  <a:lnTo>
                    <a:pt x="4417631" y="1100518"/>
                  </a:lnTo>
                  <a:lnTo>
                    <a:pt x="4428545" y="1084365"/>
                  </a:lnTo>
                  <a:lnTo>
                    <a:pt x="4432554" y="106464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47623"/>
              <a:ext cx="0" cy="1219200"/>
            </a:xfrm>
            <a:custGeom>
              <a:avLst/>
              <a:gdLst/>
              <a:ahLst/>
              <a:cxnLst/>
              <a:rect l="l" t="t" r="r" b="b"/>
              <a:pathLst>
                <a:path h="1219200">
                  <a:moveTo>
                    <a:pt x="0" y="12186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34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22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095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4099" y="1184681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630" y="610080"/>
            <a:ext cx="3101975" cy="7416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Correlation: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Number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frequency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m</a:t>
            </a:r>
            <a:r>
              <a:rPr sz="1100" i="1" spc="6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obeys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law: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Trebuchet MS"/>
              <a:cs typeface="Trebuchet MS"/>
            </a:endParaRPr>
          </a:p>
          <a:p>
            <a:pPr marL="1986914">
              <a:lnSpc>
                <a:spcPct val="100000"/>
              </a:lnSpc>
            </a:pPr>
            <a:r>
              <a:rPr sz="1100" i="1" spc="-95" dirty="0">
                <a:latin typeface="Cambria"/>
                <a:cs typeface="Cambria"/>
              </a:rPr>
              <a:t>m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650" spc="307" baseline="47979" dirty="0">
                <a:latin typeface="Arial MT"/>
                <a:cs typeface="Arial MT"/>
              </a:rPr>
              <a:t>√</a:t>
            </a:r>
            <a:r>
              <a:rPr sz="1100" i="1" spc="204" dirty="0">
                <a:latin typeface="Cambria"/>
                <a:cs typeface="Cambria"/>
              </a:rPr>
              <a:t>f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65" dirty="0"/>
              <a:t> </a:t>
            </a:r>
            <a:r>
              <a:rPr dirty="0"/>
              <a:t>Other</a:t>
            </a:r>
            <a:r>
              <a:rPr spc="65" dirty="0"/>
              <a:t> </a:t>
            </a:r>
            <a:r>
              <a:rPr spc="-20" dirty="0"/>
              <a:t>Laws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65327"/>
            <a:ext cx="4483735" cy="1383665"/>
            <a:chOff x="87743" y="665327"/>
            <a:chExt cx="4483735" cy="1383665"/>
          </a:xfrm>
        </p:grpSpPr>
        <p:sp>
          <p:nvSpPr>
            <p:cNvPr id="4" name="object 4"/>
            <p:cNvSpPr/>
            <p:nvPr/>
          </p:nvSpPr>
          <p:spPr>
            <a:xfrm>
              <a:off x="87743" y="66532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3833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4726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3456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09561"/>
              <a:ext cx="50800" cy="1237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82624"/>
              <a:ext cx="4432935" cy="1115695"/>
            </a:xfrm>
            <a:custGeom>
              <a:avLst/>
              <a:gdLst/>
              <a:ahLst/>
              <a:cxnLst/>
              <a:rect l="l" t="t" r="r" b="b"/>
              <a:pathLst>
                <a:path w="4432935" h="1115695">
                  <a:moveTo>
                    <a:pt x="4432554" y="0"/>
                  </a:moveTo>
                  <a:lnTo>
                    <a:pt x="0" y="0"/>
                  </a:lnTo>
                  <a:lnTo>
                    <a:pt x="0" y="1064641"/>
                  </a:lnTo>
                  <a:lnTo>
                    <a:pt x="4008" y="1084365"/>
                  </a:lnTo>
                  <a:lnTo>
                    <a:pt x="14922" y="1100518"/>
                  </a:lnTo>
                  <a:lnTo>
                    <a:pt x="31075" y="1111432"/>
                  </a:lnTo>
                  <a:lnTo>
                    <a:pt x="50800" y="1115441"/>
                  </a:lnTo>
                  <a:lnTo>
                    <a:pt x="4381754" y="1115441"/>
                  </a:lnTo>
                  <a:lnTo>
                    <a:pt x="4401478" y="1111432"/>
                  </a:lnTo>
                  <a:lnTo>
                    <a:pt x="4417631" y="1100518"/>
                  </a:lnTo>
                  <a:lnTo>
                    <a:pt x="4428545" y="1084365"/>
                  </a:lnTo>
                  <a:lnTo>
                    <a:pt x="4432554" y="106464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47623"/>
              <a:ext cx="0" cy="1219200"/>
            </a:xfrm>
            <a:custGeom>
              <a:avLst/>
              <a:gdLst/>
              <a:ahLst/>
              <a:cxnLst/>
              <a:rect l="l" t="t" r="r" b="b"/>
              <a:pathLst>
                <a:path h="1219200">
                  <a:moveTo>
                    <a:pt x="0" y="12186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34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22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095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4099" y="1184681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630" y="610080"/>
            <a:ext cx="3101975" cy="7416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Correlation: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Number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frequency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m</a:t>
            </a:r>
            <a:r>
              <a:rPr sz="1100" i="1" spc="6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obeys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law: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Trebuchet MS"/>
              <a:cs typeface="Trebuchet MS"/>
            </a:endParaRPr>
          </a:p>
          <a:p>
            <a:pPr marL="1986914">
              <a:lnSpc>
                <a:spcPct val="100000"/>
              </a:lnSpc>
            </a:pPr>
            <a:r>
              <a:rPr sz="1100" i="1" spc="-95" dirty="0">
                <a:latin typeface="Cambria"/>
                <a:cs typeface="Cambria"/>
              </a:rPr>
              <a:t>m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650" spc="307" baseline="47979" dirty="0">
                <a:latin typeface="Arial MT"/>
                <a:cs typeface="Arial MT"/>
              </a:rPr>
              <a:t>√</a:t>
            </a:r>
            <a:r>
              <a:rPr sz="1100" i="1" spc="204" dirty="0">
                <a:latin typeface="Cambria"/>
                <a:cs typeface="Cambria"/>
              </a:rPr>
              <a:t>f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729" y="1484757"/>
            <a:ext cx="10528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Given the First </a:t>
            </a:r>
            <a:r>
              <a:rPr sz="950" spc="-25" dirty="0">
                <a:latin typeface="Trebuchet MS"/>
                <a:cs typeface="Trebuchet MS"/>
              </a:rPr>
              <a:t>law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6850" y="15800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47950" y="1787677"/>
            <a:ext cx="172720" cy="33020"/>
            <a:chOff x="2347950" y="1787677"/>
            <a:chExt cx="172720" cy="33020"/>
          </a:xfrm>
        </p:grpSpPr>
        <p:sp>
          <p:nvSpPr>
            <p:cNvPr id="19" name="object 19"/>
            <p:cNvSpPr/>
            <p:nvPr/>
          </p:nvSpPr>
          <p:spPr>
            <a:xfrm>
              <a:off x="2347950" y="1790446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19">
                  <a:moveTo>
                    <a:pt x="0" y="0"/>
                  </a:moveTo>
                  <a:lnTo>
                    <a:pt x="17246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63355" y="1817929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0" y="0"/>
                  </a:moveTo>
                  <a:lnTo>
                    <a:pt x="57023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34285" y="1673834"/>
            <a:ext cx="5213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95" dirty="0">
                <a:latin typeface="Cambria"/>
                <a:cs typeface="Cambria"/>
              </a:rPr>
              <a:t>m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650" i="1" spc="165" baseline="2525" dirty="0">
                <a:latin typeface="Times New Roman"/>
                <a:cs typeface="Times New Roman"/>
              </a:rPr>
              <a:t>√</a:t>
            </a:r>
            <a:r>
              <a:rPr sz="1650" i="1" spc="165" baseline="-37878" dirty="0">
                <a:latin typeface="Cambria"/>
                <a:cs typeface="Cambria"/>
              </a:rPr>
              <a:t>r</a:t>
            </a:r>
            <a:endParaRPr sz="1650" baseline="-37878">
              <a:latin typeface="Cambria"/>
              <a:cs typeface="Cambria"/>
            </a:endParaRPr>
          </a:p>
        </p:txBody>
      </p:sp>
      <p:grpSp>
        <p:nvGrpSpPr>
          <p:cNvPr id="22" name="object 2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3" name="object 2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8" name="object 28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9" name="object 29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65" dirty="0"/>
              <a:t> </a:t>
            </a:r>
            <a:r>
              <a:rPr dirty="0"/>
              <a:t>Other</a:t>
            </a:r>
            <a:r>
              <a:rPr spc="65" dirty="0"/>
              <a:t> </a:t>
            </a:r>
            <a:r>
              <a:rPr spc="-20" dirty="0"/>
              <a:t>Laws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665327"/>
            <a:ext cx="4483735" cy="1383665"/>
            <a:chOff x="87743" y="665327"/>
            <a:chExt cx="4483735" cy="1383665"/>
          </a:xfrm>
        </p:grpSpPr>
        <p:sp>
          <p:nvSpPr>
            <p:cNvPr id="4" name="object 4"/>
            <p:cNvSpPr/>
            <p:nvPr/>
          </p:nvSpPr>
          <p:spPr>
            <a:xfrm>
              <a:off x="87743" y="665327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38339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4726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3456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09561"/>
              <a:ext cx="50800" cy="123770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882624"/>
              <a:ext cx="4432935" cy="1115695"/>
            </a:xfrm>
            <a:custGeom>
              <a:avLst/>
              <a:gdLst/>
              <a:ahLst/>
              <a:cxnLst/>
              <a:rect l="l" t="t" r="r" b="b"/>
              <a:pathLst>
                <a:path w="4432935" h="1115695">
                  <a:moveTo>
                    <a:pt x="4432554" y="0"/>
                  </a:moveTo>
                  <a:lnTo>
                    <a:pt x="0" y="0"/>
                  </a:lnTo>
                  <a:lnTo>
                    <a:pt x="0" y="1064641"/>
                  </a:lnTo>
                  <a:lnTo>
                    <a:pt x="4008" y="1084365"/>
                  </a:lnTo>
                  <a:lnTo>
                    <a:pt x="14922" y="1100518"/>
                  </a:lnTo>
                  <a:lnTo>
                    <a:pt x="31075" y="1111432"/>
                  </a:lnTo>
                  <a:lnTo>
                    <a:pt x="50800" y="1115441"/>
                  </a:lnTo>
                  <a:lnTo>
                    <a:pt x="4381754" y="1115441"/>
                  </a:lnTo>
                  <a:lnTo>
                    <a:pt x="4401478" y="1111432"/>
                  </a:lnTo>
                  <a:lnTo>
                    <a:pt x="4417631" y="1100518"/>
                  </a:lnTo>
                  <a:lnTo>
                    <a:pt x="4428545" y="1084365"/>
                  </a:lnTo>
                  <a:lnTo>
                    <a:pt x="4432554" y="1064641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747623"/>
              <a:ext cx="0" cy="1219200"/>
            </a:xfrm>
            <a:custGeom>
              <a:avLst/>
              <a:gdLst/>
              <a:ahLst/>
              <a:cxnLst/>
              <a:rect l="l" t="t" r="r" b="b"/>
              <a:pathLst>
                <a:path h="1219200">
                  <a:moveTo>
                    <a:pt x="0" y="12186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349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222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0954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474099" y="1184681"/>
              <a:ext cx="59055" cy="0"/>
            </a:xfrm>
            <a:custGeom>
              <a:avLst/>
              <a:gdLst/>
              <a:ahLst/>
              <a:cxnLst/>
              <a:rect l="l" t="t" r="r" b="b"/>
              <a:pathLst>
                <a:path w="59055">
                  <a:moveTo>
                    <a:pt x="0" y="0"/>
                  </a:moveTo>
                  <a:lnTo>
                    <a:pt x="58674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7630" y="610080"/>
            <a:ext cx="3101975" cy="7416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Correlation: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Number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meanings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frequency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27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m</a:t>
            </a:r>
            <a:r>
              <a:rPr sz="1100" i="1" spc="6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obeys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law: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950">
              <a:latin typeface="Trebuchet MS"/>
              <a:cs typeface="Trebuchet MS"/>
            </a:endParaRPr>
          </a:p>
          <a:p>
            <a:pPr marL="1986914">
              <a:lnSpc>
                <a:spcPct val="100000"/>
              </a:lnSpc>
            </a:pPr>
            <a:r>
              <a:rPr sz="1100" i="1" spc="-95" dirty="0">
                <a:latin typeface="Cambria"/>
                <a:cs typeface="Cambria"/>
              </a:rPr>
              <a:t>m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650" spc="307" baseline="47979" dirty="0">
                <a:latin typeface="Arial MT"/>
                <a:cs typeface="Arial MT"/>
              </a:rPr>
              <a:t>√</a:t>
            </a:r>
            <a:r>
              <a:rPr sz="1100" i="1" spc="204" dirty="0">
                <a:latin typeface="Cambria"/>
                <a:cs typeface="Cambria"/>
              </a:rPr>
              <a:t>f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729" y="1484757"/>
            <a:ext cx="105283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Given the First </a:t>
            </a:r>
            <a:r>
              <a:rPr sz="950" spc="-25" dirty="0">
                <a:latin typeface="Trebuchet MS"/>
                <a:cs typeface="Trebuchet MS"/>
              </a:rPr>
              <a:t>law</a:t>
            </a:r>
            <a:endParaRPr sz="9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386850" y="1580095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Cambria"/>
                <a:cs typeface="Cambria"/>
              </a:rPr>
              <a:t>1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47950" y="1787677"/>
            <a:ext cx="172720" cy="33020"/>
            <a:chOff x="2347950" y="1787677"/>
            <a:chExt cx="172720" cy="33020"/>
          </a:xfrm>
        </p:grpSpPr>
        <p:sp>
          <p:nvSpPr>
            <p:cNvPr id="19" name="object 19"/>
            <p:cNvSpPr/>
            <p:nvPr/>
          </p:nvSpPr>
          <p:spPr>
            <a:xfrm>
              <a:off x="2347950" y="1790446"/>
              <a:ext cx="172720" cy="0"/>
            </a:xfrm>
            <a:custGeom>
              <a:avLst/>
              <a:gdLst/>
              <a:ahLst/>
              <a:cxnLst/>
              <a:rect l="l" t="t" r="r" b="b"/>
              <a:pathLst>
                <a:path w="172719">
                  <a:moveTo>
                    <a:pt x="0" y="0"/>
                  </a:moveTo>
                  <a:lnTo>
                    <a:pt x="172466" y="0"/>
                  </a:lnTo>
                </a:path>
              </a:pathLst>
            </a:custGeom>
            <a:ln w="553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63355" y="1817929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>
                  <a:moveTo>
                    <a:pt x="0" y="0"/>
                  </a:moveTo>
                  <a:lnTo>
                    <a:pt x="57023" y="0"/>
                  </a:lnTo>
                </a:path>
              </a:pathLst>
            </a:custGeom>
            <a:ln w="53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034285" y="1673834"/>
            <a:ext cx="52133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95" dirty="0">
                <a:latin typeface="Cambria"/>
                <a:cs typeface="Cambria"/>
              </a:rPr>
              <a:t>m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270" dirty="0">
                <a:latin typeface="Lucida Sans Unicode"/>
                <a:cs typeface="Lucida Sans Unicode"/>
              </a:rPr>
              <a:t>∝</a:t>
            </a:r>
            <a:r>
              <a:rPr sz="1100" spc="15" dirty="0">
                <a:latin typeface="Lucida Sans Unicode"/>
                <a:cs typeface="Lucida Sans Unicode"/>
              </a:rPr>
              <a:t> </a:t>
            </a:r>
            <a:r>
              <a:rPr sz="1650" i="1" spc="165" baseline="2525" dirty="0">
                <a:latin typeface="Times New Roman"/>
                <a:cs typeface="Times New Roman"/>
              </a:rPr>
              <a:t>√</a:t>
            </a:r>
            <a:r>
              <a:rPr sz="1650" i="1" spc="165" baseline="-37878" dirty="0">
                <a:latin typeface="Cambria"/>
                <a:cs typeface="Cambria"/>
              </a:rPr>
              <a:t>r</a:t>
            </a:r>
            <a:endParaRPr sz="1650" baseline="-37878">
              <a:latin typeface="Cambria"/>
              <a:cs typeface="Cambri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743" y="2149995"/>
            <a:ext cx="4483735" cy="875030"/>
            <a:chOff x="87743" y="2149995"/>
            <a:chExt cx="4483735" cy="875030"/>
          </a:xfrm>
        </p:grpSpPr>
        <p:sp>
          <p:nvSpPr>
            <p:cNvPr id="23" name="object 23"/>
            <p:cNvSpPr/>
            <p:nvPr/>
          </p:nvSpPr>
          <p:spPr>
            <a:xfrm>
              <a:off x="87743" y="214999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2323007"/>
              <a:ext cx="4432554" cy="5060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922866"/>
              <a:ext cx="101600" cy="10160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910166"/>
              <a:ext cx="4381753" cy="11430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2194229"/>
              <a:ext cx="50800" cy="72863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7743" y="2367241"/>
              <a:ext cx="4432935" cy="606425"/>
            </a:xfrm>
            <a:custGeom>
              <a:avLst/>
              <a:gdLst/>
              <a:ahLst/>
              <a:cxnLst/>
              <a:rect l="l" t="t" r="r" b="b"/>
              <a:pathLst>
                <a:path w="4432935" h="606425">
                  <a:moveTo>
                    <a:pt x="4432554" y="0"/>
                  </a:moveTo>
                  <a:lnTo>
                    <a:pt x="0" y="0"/>
                  </a:lnTo>
                  <a:lnTo>
                    <a:pt x="0" y="555624"/>
                  </a:lnTo>
                  <a:lnTo>
                    <a:pt x="4008" y="575349"/>
                  </a:lnTo>
                  <a:lnTo>
                    <a:pt x="14922" y="591502"/>
                  </a:lnTo>
                  <a:lnTo>
                    <a:pt x="31075" y="602416"/>
                  </a:lnTo>
                  <a:lnTo>
                    <a:pt x="50800" y="606424"/>
                  </a:lnTo>
                  <a:lnTo>
                    <a:pt x="4381754" y="606424"/>
                  </a:lnTo>
                  <a:lnTo>
                    <a:pt x="4401478" y="602416"/>
                  </a:lnTo>
                  <a:lnTo>
                    <a:pt x="4417631" y="591502"/>
                  </a:lnTo>
                  <a:lnTo>
                    <a:pt x="4428545" y="575349"/>
                  </a:lnTo>
                  <a:lnTo>
                    <a:pt x="4432554" y="55562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20309" y="2232367"/>
              <a:ext cx="0" cy="709930"/>
            </a:xfrm>
            <a:custGeom>
              <a:avLst/>
              <a:gdLst/>
              <a:ahLst/>
              <a:cxnLst/>
              <a:rect l="l" t="t" r="r" b="b"/>
              <a:pathLst>
                <a:path h="709930">
                  <a:moveTo>
                    <a:pt x="0" y="70954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20309" y="22196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520309" y="22069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19421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2414143"/>
              <a:ext cx="64757" cy="6475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624175"/>
              <a:ext cx="64757" cy="6475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834208"/>
              <a:ext cx="64757" cy="64757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25729" y="2097618"/>
            <a:ext cx="2413635" cy="84455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Empirical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Support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250"/>
              </a:spcBef>
            </a:pPr>
            <a:r>
              <a:rPr sz="950" spc="55" dirty="0">
                <a:latin typeface="Trebuchet MS"/>
                <a:cs typeface="Trebuchet MS"/>
              </a:rPr>
              <a:t>Rank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≈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10000,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average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2.1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</a:pPr>
            <a:r>
              <a:rPr sz="950" spc="55" dirty="0">
                <a:latin typeface="Trebuchet MS"/>
                <a:cs typeface="Trebuchet MS"/>
              </a:rPr>
              <a:t>Rank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≈</a:t>
            </a:r>
            <a:r>
              <a:rPr sz="1100" i="1" spc="5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5000,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average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3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</a:pPr>
            <a:r>
              <a:rPr sz="950" spc="55" dirty="0">
                <a:latin typeface="Trebuchet MS"/>
                <a:cs typeface="Trebuchet MS"/>
              </a:rPr>
              <a:t>Rank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≈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2000,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average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4.6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meanings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7" name="object 3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8" name="object 3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3" name="object 4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4" name="object 4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55" dirty="0"/>
              <a:t>Zipf’s</a:t>
            </a:r>
            <a:r>
              <a:rPr spc="65" dirty="0"/>
              <a:t> </a:t>
            </a:r>
            <a:r>
              <a:rPr dirty="0"/>
              <a:t>Other</a:t>
            </a:r>
            <a:r>
              <a:rPr spc="65" dirty="0"/>
              <a:t> </a:t>
            </a:r>
            <a:r>
              <a:rPr spc="-20" dirty="0"/>
              <a:t>Laws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426070"/>
            <a:ext cx="4483735" cy="457834"/>
            <a:chOff x="87743" y="1426070"/>
            <a:chExt cx="4483735" cy="457834"/>
          </a:xfrm>
        </p:grpSpPr>
        <p:sp>
          <p:nvSpPr>
            <p:cNvPr id="4" name="object 4"/>
            <p:cNvSpPr/>
            <p:nvPr/>
          </p:nvSpPr>
          <p:spPr>
            <a:xfrm>
              <a:off x="87743" y="142607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59908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8174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69046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470304"/>
              <a:ext cx="50800" cy="31144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643316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508442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4956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4829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47029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1351423"/>
            <a:ext cx="3070860" cy="4470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Correlation: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7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length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and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word</a:t>
            </a:r>
            <a:r>
              <a:rPr sz="1100" i="1" spc="-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frequency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frequency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inversely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proportional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length.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Impact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55" dirty="0"/>
              <a:t>Zipf’s</a:t>
            </a:r>
            <a:r>
              <a:rPr spc="10" dirty="0"/>
              <a:t> </a:t>
            </a:r>
            <a:r>
              <a:rPr spc="-25" dirty="0"/>
              <a:t>Law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75563"/>
            <a:ext cx="4483735" cy="603250"/>
            <a:chOff x="87743" y="1075563"/>
            <a:chExt cx="4483735" cy="603250"/>
          </a:xfrm>
        </p:grpSpPr>
        <p:sp>
          <p:nvSpPr>
            <p:cNvPr id="4" name="object 4"/>
            <p:cNvSpPr/>
            <p:nvPr/>
          </p:nvSpPr>
          <p:spPr>
            <a:xfrm>
              <a:off x="87743" y="107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4858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7702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64322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19810"/>
              <a:ext cx="50800" cy="4572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2923"/>
              <a:ext cx="4432935" cy="335280"/>
            </a:xfrm>
            <a:custGeom>
              <a:avLst/>
              <a:gdLst/>
              <a:ahLst/>
              <a:cxnLst/>
              <a:rect l="l" t="t" r="r" b="b"/>
              <a:pathLst>
                <a:path w="4432935" h="335280">
                  <a:moveTo>
                    <a:pt x="4432554" y="0"/>
                  </a:moveTo>
                  <a:lnTo>
                    <a:pt x="0" y="0"/>
                  </a:lnTo>
                  <a:lnTo>
                    <a:pt x="0" y="284099"/>
                  </a:lnTo>
                  <a:lnTo>
                    <a:pt x="4008" y="303823"/>
                  </a:lnTo>
                  <a:lnTo>
                    <a:pt x="14922" y="319976"/>
                  </a:lnTo>
                  <a:lnTo>
                    <a:pt x="31075" y="330890"/>
                  </a:lnTo>
                  <a:lnTo>
                    <a:pt x="50800" y="334899"/>
                  </a:lnTo>
                  <a:lnTo>
                    <a:pt x="4381754" y="334899"/>
                  </a:lnTo>
                  <a:lnTo>
                    <a:pt x="4401478" y="330890"/>
                  </a:lnTo>
                  <a:lnTo>
                    <a:pt x="4417631" y="319976"/>
                  </a:lnTo>
                  <a:lnTo>
                    <a:pt x="4428545" y="303823"/>
                  </a:lnTo>
                  <a:lnTo>
                    <a:pt x="4432554" y="2840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57922"/>
              <a:ext cx="0" cy="438150"/>
            </a:xfrm>
            <a:custGeom>
              <a:avLst/>
              <a:gdLst/>
              <a:ahLst/>
              <a:cxnLst/>
              <a:rect l="l" t="t" r="r" b="b"/>
              <a:pathLst>
                <a:path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452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325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198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1000928"/>
            <a:ext cx="4145279" cy="6191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Good</a:t>
            </a:r>
            <a:r>
              <a:rPr sz="1100" i="1" spc="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part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Stopwords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account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fraction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text,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eliminating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greatly </a:t>
            </a:r>
            <a:r>
              <a:rPr sz="950" dirty="0">
                <a:latin typeface="Trebuchet MS"/>
                <a:cs typeface="Trebuchet MS"/>
              </a:rPr>
              <a:t>reduces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tokens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text.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Impact</a:t>
            </a:r>
            <a:r>
              <a:rPr spc="10" dirty="0"/>
              <a:t> </a:t>
            </a:r>
            <a:r>
              <a:rPr dirty="0"/>
              <a:t>of</a:t>
            </a:r>
            <a:r>
              <a:rPr spc="10" dirty="0"/>
              <a:t> </a:t>
            </a:r>
            <a:r>
              <a:rPr spc="55" dirty="0"/>
              <a:t>Zipf’s</a:t>
            </a:r>
            <a:r>
              <a:rPr spc="10" dirty="0"/>
              <a:t> </a:t>
            </a:r>
            <a:r>
              <a:rPr spc="-25" dirty="0"/>
              <a:t>Law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75563"/>
            <a:ext cx="4483735" cy="603250"/>
            <a:chOff x="87743" y="1075563"/>
            <a:chExt cx="4483735" cy="603250"/>
          </a:xfrm>
        </p:grpSpPr>
        <p:sp>
          <p:nvSpPr>
            <p:cNvPr id="4" name="object 4"/>
            <p:cNvSpPr/>
            <p:nvPr/>
          </p:nvSpPr>
          <p:spPr>
            <a:xfrm>
              <a:off x="87743" y="107556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248588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77022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64322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119810"/>
              <a:ext cx="50800" cy="45721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92923"/>
              <a:ext cx="4432935" cy="335280"/>
            </a:xfrm>
            <a:custGeom>
              <a:avLst/>
              <a:gdLst/>
              <a:ahLst/>
              <a:cxnLst/>
              <a:rect l="l" t="t" r="r" b="b"/>
              <a:pathLst>
                <a:path w="4432935" h="335280">
                  <a:moveTo>
                    <a:pt x="4432554" y="0"/>
                  </a:moveTo>
                  <a:lnTo>
                    <a:pt x="0" y="0"/>
                  </a:lnTo>
                  <a:lnTo>
                    <a:pt x="0" y="284099"/>
                  </a:lnTo>
                  <a:lnTo>
                    <a:pt x="4008" y="303823"/>
                  </a:lnTo>
                  <a:lnTo>
                    <a:pt x="14922" y="319976"/>
                  </a:lnTo>
                  <a:lnTo>
                    <a:pt x="31075" y="330890"/>
                  </a:lnTo>
                  <a:lnTo>
                    <a:pt x="50800" y="334899"/>
                  </a:lnTo>
                  <a:lnTo>
                    <a:pt x="4381754" y="334899"/>
                  </a:lnTo>
                  <a:lnTo>
                    <a:pt x="4401478" y="330890"/>
                  </a:lnTo>
                  <a:lnTo>
                    <a:pt x="4417631" y="319976"/>
                  </a:lnTo>
                  <a:lnTo>
                    <a:pt x="4428545" y="303823"/>
                  </a:lnTo>
                  <a:lnTo>
                    <a:pt x="4432554" y="2840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57922"/>
              <a:ext cx="0" cy="438150"/>
            </a:xfrm>
            <a:custGeom>
              <a:avLst/>
              <a:gdLst/>
              <a:ahLst/>
              <a:cxnLst/>
              <a:rect l="l" t="t" r="r" b="b"/>
              <a:pathLst>
                <a:path h="438150">
                  <a:moveTo>
                    <a:pt x="0" y="4381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1452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1325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11980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79740"/>
            <a:ext cx="4483735" cy="629920"/>
            <a:chOff x="87743" y="1779740"/>
            <a:chExt cx="4483735" cy="629920"/>
          </a:xfrm>
        </p:grpSpPr>
        <p:sp>
          <p:nvSpPr>
            <p:cNvPr id="15" name="object 15"/>
            <p:cNvSpPr/>
            <p:nvPr/>
          </p:nvSpPr>
          <p:spPr>
            <a:xfrm>
              <a:off x="87743" y="177974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952764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307501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294801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823974"/>
              <a:ext cx="50800" cy="48352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996986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4">
                  <a:moveTo>
                    <a:pt x="4432554" y="0"/>
                  </a:moveTo>
                  <a:lnTo>
                    <a:pt x="0" y="0"/>
                  </a:lnTo>
                  <a:lnTo>
                    <a:pt x="0" y="310515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5"/>
                  </a:lnTo>
                  <a:lnTo>
                    <a:pt x="4381754" y="361315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62112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493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366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82397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1000928"/>
            <a:ext cx="4145279" cy="1323340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Good</a:t>
            </a:r>
            <a:r>
              <a:rPr sz="1100" i="1" spc="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part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18900"/>
              </a:lnSpc>
              <a:spcBef>
                <a:spcPts val="209"/>
              </a:spcBef>
            </a:pPr>
            <a:r>
              <a:rPr sz="950" dirty="0">
                <a:latin typeface="Trebuchet MS"/>
                <a:cs typeface="Trebuchet MS"/>
              </a:rPr>
              <a:t>Stopwords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account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fraction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text,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thus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eliminating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them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greatly </a:t>
            </a:r>
            <a:r>
              <a:rPr sz="950" dirty="0">
                <a:latin typeface="Trebuchet MS"/>
                <a:cs typeface="Trebuchet MS"/>
              </a:rPr>
              <a:t>reduces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tokens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text.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The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Bad</a:t>
            </a:r>
            <a:r>
              <a:rPr sz="1100" i="1" spc="-4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part</a:t>
            </a:r>
            <a:endParaRPr sz="1100">
              <a:latin typeface="Cambria"/>
              <a:cs typeface="Cambria"/>
            </a:endParaRPr>
          </a:p>
          <a:p>
            <a:pPr marL="12700" marR="363855">
              <a:lnSpc>
                <a:spcPct val="118900"/>
              </a:lnSpc>
              <a:spcBef>
                <a:spcPts val="210"/>
              </a:spcBef>
            </a:pP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extremely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rare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thus,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gathering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sufficient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data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for </a:t>
            </a:r>
            <a:r>
              <a:rPr sz="950" dirty="0">
                <a:latin typeface="Trebuchet MS"/>
                <a:cs typeface="Trebuchet MS"/>
              </a:rPr>
              <a:t>meaningful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statistical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analysis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difficult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most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Vocabulary</a:t>
            </a:r>
            <a:r>
              <a:rPr spc="-55" dirty="0"/>
              <a:t> </a:t>
            </a:r>
            <a:r>
              <a:rPr spc="-10" dirty="0"/>
              <a:t>Growth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765855"/>
            <a:ext cx="4173220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does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(number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unique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grow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corpus?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Vocabulary</a:t>
            </a:r>
            <a:r>
              <a:rPr spc="-55" dirty="0"/>
              <a:t> </a:t>
            </a:r>
            <a:r>
              <a:rPr spc="-10" dirty="0"/>
              <a:t>Growth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25270"/>
            <a:ext cx="4483735" cy="1515110"/>
            <a:chOff x="87743" y="1225270"/>
            <a:chExt cx="4483735" cy="1515110"/>
          </a:xfrm>
        </p:grpSpPr>
        <p:sp>
          <p:nvSpPr>
            <p:cNvPr id="4" name="object 4"/>
            <p:cNvSpPr/>
            <p:nvPr/>
          </p:nvSpPr>
          <p:spPr>
            <a:xfrm>
              <a:off x="87743" y="122527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9829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38539"/>
              <a:ext cx="101600" cy="101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25839"/>
              <a:ext cx="4381753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69517"/>
              <a:ext cx="50800" cy="13690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42580"/>
              <a:ext cx="4432935" cy="1247140"/>
            </a:xfrm>
            <a:custGeom>
              <a:avLst/>
              <a:gdLst/>
              <a:ahLst/>
              <a:cxnLst/>
              <a:rect l="l" t="t" r="r" b="b"/>
              <a:pathLst>
                <a:path w="4432935" h="1247139">
                  <a:moveTo>
                    <a:pt x="4432554" y="0"/>
                  </a:moveTo>
                  <a:lnTo>
                    <a:pt x="0" y="0"/>
                  </a:lnTo>
                  <a:lnTo>
                    <a:pt x="0" y="1195959"/>
                  </a:lnTo>
                  <a:lnTo>
                    <a:pt x="4008" y="1215683"/>
                  </a:lnTo>
                  <a:lnTo>
                    <a:pt x="14922" y="1231836"/>
                  </a:lnTo>
                  <a:lnTo>
                    <a:pt x="31075" y="1242750"/>
                  </a:lnTo>
                  <a:lnTo>
                    <a:pt x="50800" y="1246759"/>
                  </a:lnTo>
                  <a:lnTo>
                    <a:pt x="4381754" y="1246759"/>
                  </a:lnTo>
                  <a:lnTo>
                    <a:pt x="4401478" y="1242750"/>
                  </a:lnTo>
                  <a:lnTo>
                    <a:pt x="4417631" y="1231836"/>
                  </a:lnTo>
                  <a:lnTo>
                    <a:pt x="4428545" y="1215683"/>
                  </a:lnTo>
                  <a:lnTo>
                    <a:pt x="4432554" y="119595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07579"/>
              <a:ext cx="0" cy="1350010"/>
            </a:xfrm>
            <a:custGeom>
              <a:avLst/>
              <a:gdLst/>
              <a:ahLst/>
              <a:cxnLst/>
              <a:rect l="l" t="t" r="r" b="b"/>
              <a:pathLst>
                <a:path h="1350010">
                  <a:moveTo>
                    <a:pt x="0" y="13500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94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82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269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765855"/>
            <a:ext cx="4173220" cy="845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does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(number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unique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grow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corpus?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Heaps’</a:t>
            </a:r>
            <a:r>
              <a:rPr sz="1100" i="1" spc="1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dirty="0">
                <a:latin typeface="Cambria"/>
                <a:cs typeface="Cambria"/>
              </a:rPr>
              <a:t>V</a:t>
            </a: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N</a:t>
            </a:r>
            <a:r>
              <a:rPr sz="1100" i="1" spc="12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tokens.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Vocabulary</a:t>
            </a:r>
            <a:r>
              <a:rPr spc="-55" dirty="0"/>
              <a:t> </a:t>
            </a:r>
            <a:r>
              <a:rPr spc="-10" dirty="0"/>
              <a:t>Growth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25270"/>
            <a:ext cx="4483735" cy="1515110"/>
            <a:chOff x="87743" y="1225270"/>
            <a:chExt cx="4483735" cy="1515110"/>
          </a:xfrm>
        </p:grpSpPr>
        <p:sp>
          <p:nvSpPr>
            <p:cNvPr id="4" name="object 4"/>
            <p:cNvSpPr/>
            <p:nvPr/>
          </p:nvSpPr>
          <p:spPr>
            <a:xfrm>
              <a:off x="87743" y="122527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9829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638539"/>
              <a:ext cx="101600" cy="10159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625839"/>
              <a:ext cx="4381753" cy="114299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69517"/>
              <a:ext cx="50800" cy="1369021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42580"/>
              <a:ext cx="4432935" cy="1247140"/>
            </a:xfrm>
            <a:custGeom>
              <a:avLst/>
              <a:gdLst/>
              <a:ahLst/>
              <a:cxnLst/>
              <a:rect l="l" t="t" r="r" b="b"/>
              <a:pathLst>
                <a:path w="4432935" h="1247139">
                  <a:moveTo>
                    <a:pt x="4432554" y="0"/>
                  </a:moveTo>
                  <a:lnTo>
                    <a:pt x="0" y="0"/>
                  </a:lnTo>
                  <a:lnTo>
                    <a:pt x="0" y="1195959"/>
                  </a:lnTo>
                  <a:lnTo>
                    <a:pt x="4008" y="1215683"/>
                  </a:lnTo>
                  <a:lnTo>
                    <a:pt x="14922" y="1231836"/>
                  </a:lnTo>
                  <a:lnTo>
                    <a:pt x="31075" y="1242750"/>
                  </a:lnTo>
                  <a:lnTo>
                    <a:pt x="50800" y="1246759"/>
                  </a:lnTo>
                  <a:lnTo>
                    <a:pt x="4381754" y="1246759"/>
                  </a:lnTo>
                  <a:lnTo>
                    <a:pt x="4401478" y="1242750"/>
                  </a:lnTo>
                  <a:lnTo>
                    <a:pt x="4417631" y="1231836"/>
                  </a:lnTo>
                  <a:lnTo>
                    <a:pt x="4428545" y="1215683"/>
                  </a:lnTo>
                  <a:lnTo>
                    <a:pt x="4432554" y="119595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07579"/>
              <a:ext cx="0" cy="1350010"/>
            </a:xfrm>
            <a:custGeom>
              <a:avLst/>
              <a:gdLst/>
              <a:ahLst/>
              <a:cxnLst/>
              <a:rect l="l" t="t" r="r" b="b"/>
              <a:pathLst>
                <a:path h="1350010">
                  <a:moveTo>
                    <a:pt x="0" y="135001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948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821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26949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233634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2546375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87630" y="765855"/>
            <a:ext cx="4224020" cy="18884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 marR="177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does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overall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(number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unique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words)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grow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40" dirty="0">
                <a:latin typeface="Trebuchet MS"/>
                <a:cs typeface="Trebuchet MS"/>
              </a:rPr>
              <a:t>corpus?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75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Heaps’</a:t>
            </a:r>
            <a:r>
              <a:rPr sz="1100" i="1" spc="1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Law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365"/>
              </a:spcBef>
            </a:pPr>
            <a:r>
              <a:rPr sz="950" dirty="0">
                <a:latin typeface="Trebuchet MS"/>
                <a:cs typeface="Trebuchet MS"/>
              </a:rPr>
              <a:t>Let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dirty="0">
                <a:latin typeface="Cambria"/>
                <a:cs typeface="Cambria"/>
              </a:rPr>
              <a:t>V</a:t>
            </a: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size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N</a:t>
            </a:r>
            <a:r>
              <a:rPr sz="1100" i="1" spc="12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number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tokens.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Trebuchet MS"/>
              <a:cs typeface="Trebuchet MS"/>
            </a:endParaRPr>
          </a:p>
          <a:p>
            <a:pPr marL="202565" algn="ctr">
              <a:lnSpc>
                <a:spcPct val="100000"/>
              </a:lnSpc>
            </a:pP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dirty="0">
                <a:latin typeface="Cambria"/>
                <a:cs typeface="Cambria"/>
              </a:rPr>
              <a:t>V</a:t>
            </a:r>
            <a:r>
              <a:rPr sz="1100" i="1" dirty="0">
                <a:latin typeface="Times New Roman"/>
                <a:cs typeface="Times New Roman"/>
              </a:rPr>
              <a:t>|</a:t>
            </a:r>
            <a:r>
              <a:rPr sz="1100" i="1" spc="15" dirty="0">
                <a:latin typeface="Times New Roman"/>
                <a:cs typeface="Times New Roman"/>
              </a:rPr>
              <a:t> </a:t>
            </a:r>
            <a:r>
              <a:rPr sz="1100" spc="270" dirty="0">
                <a:latin typeface="Trebuchet MS"/>
                <a:cs typeface="Trebuchet MS"/>
              </a:rPr>
              <a:t>=</a:t>
            </a:r>
            <a:r>
              <a:rPr sz="1100" spc="-35" dirty="0">
                <a:latin typeface="Trebuchet MS"/>
                <a:cs typeface="Trebuchet MS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KN</a:t>
            </a:r>
            <a:r>
              <a:rPr sz="1200" spc="-37" baseline="31250" dirty="0">
                <a:latin typeface="Lucida Sans Unicode"/>
                <a:cs typeface="Lucida Sans Unicode"/>
              </a:rPr>
              <a:t>β</a:t>
            </a:r>
            <a:endParaRPr sz="1200" baseline="31250">
              <a:latin typeface="Lucida Sans Unicode"/>
              <a:cs typeface="Lucida Sans Unicode"/>
            </a:endParaRPr>
          </a:p>
          <a:p>
            <a:pPr marL="50800">
              <a:lnSpc>
                <a:spcPct val="100000"/>
              </a:lnSpc>
              <a:spcBef>
                <a:spcPts val="1280"/>
              </a:spcBef>
            </a:pPr>
            <a:r>
              <a:rPr sz="950" spc="-10" dirty="0">
                <a:latin typeface="Trebuchet MS"/>
                <a:cs typeface="Trebuchet MS"/>
              </a:rPr>
              <a:t>Typically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65"/>
              </a:spcBef>
            </a:pPr>
            <a:r>
              <a:rPr sz="950" spc="100" dirty="0">
                <a:latin typeface="Trebuchet MS"/>
                <a:cs typeface="Trebuchet MS"/>
              </a:rPr>
              <a:t>K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≈</a:t>
            </a:r>
            <a:r>
              <a:rPr sz="1100" i="1" spc="4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10-</a:t>
            </a:r>
            <a:r>
              <a:rPr sz="950" spc="-25" dirty="0">
                <a:latin typeface="Trebuchet MS"/>
                <a:cs typeface="Trebuchet MS"/>
              </a:rPr>
              <a:t>100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35"/>
              </a:spcBef>
            </a:pPr>
            <a:r>
              <a:rPr sz="1100" spc="-75" dirty="0">
                <a:latin typeface="Lucida Sans Unicode"/>
                <a:cs typeface="Lucida Sans Unicode"/>
              </a:rPr>
              <a:t>β</a:t>
            </a:r>
            <a:r>
              <a:rPr sz="1100" spc="-50" dirty="0">
                <a:latin typeface="Lucida Sans Unicode"/>
                <a:cs typeface="Lucida Sans Unicode"/>
              </a:rPr>
              <a:t> </a:t>
            </a:r>
            <a:r>
              <a:rPr sz="1100" i="1" spc="245" dirty="0">
                <a:latin typeface="Times New Roman"/>
                <a:cs typeface="Times New Roman"/>
              </a:rPr>
              <a:t>≈</a:t>
            </a:r>
            <a:r>
              <a:rPr sz="1100" i="1" spc="25" dirty="0">
                <a:latin typeface="Times New Roman"/>
                <a:cs typeface="Times New Roman"/>
              </a:rPr>
              <a:t> </a:t>
            </a:r>
            <a:r>
              <a:rPr sz="950" dirty="0">
                <a:latin typeface="Trebuchet MS"/>
                <a:cs typeface="Trebuchet MS"/>
              </a:rPr>
              <a:t>0.4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-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0.6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(roughly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square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root)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4707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Heaps’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Law:</a:t>
            </a:r>
            <a:r>
              <a:rPr sz="1400" i="1" spc="26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1400" i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Evidence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738276"/>
            <a:ext cx="3941978" cy="2043683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2049779" y="3339672"/>
            <a:ext cx="50863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Empirical</a:t>
            </a:r>
            <a:r>
              <a:rPr sz="600" i="1" spc="-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Laws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15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743" y="906195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423"/>
                </a:lnTo>
                <a:lnTo>
                  <a:pt x="4432554" y="82423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7743" y="950658"/>
            <a:ext cx="4483735" cy="375920"/>
            <a:chOff x="87743" y="950658"/>
            <a:chExt cx="4483735" cy="3759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544" y="1224978"/>
              <a:ext cx="101600" cy="1016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9344" y="1212278"/>
              <a:ext cx="4381753" cy="1143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20298" y="956754"/>
              <a:ext cx="50800" cy="26822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87743" y="950658"/>
              <a:ext cx="4432935" cy="325120"/>
            </a:xfrm>
            <a:custGeom>
              <a:avLst/>
              <a:gdLst/>
              <a:ahLst/>
              <a:cxnLst/>
              <a:rect l="l" t="t" r="r" b="b"/>
              <a:pathLst>
                <a:path w="4432935" h="325119">
                  <a:moveTo>
                    <a:pt x="4432554" y="0"/>
                  </a:moveTo>
                  <a:lnTo>
                    <a:pt x="0" y="0"/>
                  </a:lnTo>
                  <a:lnTo>
                    <a:pt x="0" y="274319"/>
                  </a:lnTo>
                  <a:lnTo>
                    <a:pt x="4008" y="294044"/>
                  </a:lnTo>
                  <a:lnTo>
                    <a:pt x="14922" y="310197"/>
                  </a:lnTo>
                  <a:lnTo>
                    <a:pt x="31075" y="321111"/>
                  </a:lnTo>
                  <a:lnTo>
                    <a:pt x="50800" y="325119"/>
                  </a:lnTo>
                  <a:lnTo>
                    <a:pt x="4381754" y="325119"/>
                  </a:lnTo>
                  <a:lnTo>
                    <a:pt x="4401478" y="321111"/>
                  </a:lnTo>
                  <a:lnTo>
                    <a:pt x="4417631" y="310197"/>
                  </a:lnTo>
                  <a:lnTo>
                    <a:pt x="4428545" y="294044"/>
                  </a:lnTo>
                  <a:lnTo>
                    <a:pt x="4432554" y="27431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20309" y="994854"/>
              <a:ext cx="0" cy="249554"/>
            </a:xfrm>
            <a:custGeom>
              <a:avLst/>
              <a:gdLst/>
              <a:ahLst/>
              <a:cxnLst/>
              <a:rect l="l" t="t" r="r" b="b"/>
              <a:pathLst>
                <a:path h="249555">
                  <a:moveTo>
                    <a:pt x="0" y="24917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20309" y="982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94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56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424686" y="948779"/>
            <a:ext cx="1758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14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1400" i="1" spc="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14" name="object 1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5" name="object 1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0" name="object 2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Text</a:t>
            </a:r>
            <a:r>
              <a:rPr spc="20" dirty="0"/>
              <a:t> </a:t>
            </a:r>
            <a:r>
              <a:rPr dirty="0"/>
              <a:t>processing:</a:t>
            </a:r>
            <a:r>
              <a:rPr spc="105" dirty="0"/>
              <a:t> </a:t>
            </a:r>
            <a:r>
              <a:rPr spc="-25" dirty="0"/>
              <a:t>tokenization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06766"/>
            <a:ext cx="4483735" cy="448309"/>
            <a:chOff x="87743" y="1206766"/>
            <a:chExt cx="4483735" cy="448309"/>
          </a:xfrm>
        </p:grpSpPr>
        <p:sp>
          <p:nvSpPr>
            <p:cNvPr id="4" name="object 4"/>
            <p:cNvSpPr/>
            <p:nvPr/>
          </p:nvSpPr>
          <p:spPr>
            <a:xfrm>
              <a:off x="87743" y="1206766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37043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55309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54039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51000"/>
              <a:ext cx="50800" cy="30209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14665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289062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09">
                  <a:moveTo>
                    <a:pt x="0" y="2830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763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636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25099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755825"/>
            <a:ext cx="4483735" cy="456565"/>
            <a:chOff x="87743" y="1755825"/>
            <a:chExt cx="4483735" cy="456565"/>
          </a:xfrm>
        </p:grpSpPr>
        <p:sp>
          <p:nvSpPr>
            <p:cNvPr id="15" name="object 15"/>
            <p:cNvSpPr/>
            <p:nvPr/>
          </p:nvSpPr>
          <p:spPr>
            <a:xfrm>
              <a:off x="87743" y="1755825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8544" y="2110701"/>
              <a:ext cx="101600" cy="1016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9344" y="2098001"/>
              <a:ext cx="4381753" cy="1143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520298" y="1806384"/>
              <a:ext cx="50800" cy="30431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7743" y="1800186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4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20309" y="1844509"/>
              <a:ext cx="0" cy="285750"/>
            </a:xfrm>
            <a:custGeom>
              <a:avLst/>
              <a:gdLst/>
              <a:ahLst/>
              <a:cxnLst/>
              <a:rect l="l" t="t" r="r" b="b"/>
              <a:pathLst>
                <a:path h="285750">
                  <a:moveTo>
                    <a:pt x="0" y="28524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8317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8190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699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80637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25729" y="1142761"/>
            <a:ext cx="4170679" cy="98425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What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Tokenization?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950" spc="-10" dirty="0">
                <a:latin typeface="Trebuchet MS"/>
                <a:cs typeface="Trebuchet MS"/>
              </a:rPr>
              <a:t>Tokenization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segmenting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characters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75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41275">
              <a:lnSpc>
                <a:spcPct val="118900"/>
              </a:lnSpc>
              <a:spcBef>
                <a:spcPts val="5"/>
              </a:spcBef>
            </a:pPr>
            <a:r>
              <a:rPr sz="950" dirty="0">
                <a:latin typeface="Trebuchet MS"/>
                <a:cs typeface="Trebuchet MS"/>
              </a:rPr>
              <a:t>Depending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application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hand,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you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might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perform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sentence </a:t>
            </a:r>
            <a:r>
              <a:rPr sz="950" i="1" dirty="0">
                <a:latin typeface="Trebuchet MS"/>
                <a:cs typeface="Trebuchet MS"/>
              </a:rPr>
              <a:t>segmentation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well.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5" name="object 2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6" name="object 2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1" name="object 3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79741"/>
            <a:ext cx="4432935" cy="186055"/>
          </a:xfrm>
          <a:custGeom>
            <a:avLst/>
            <a:gdLst/>
            <a:ahLst/>
            <a:cxnLst/>
            <a:rect l="l" t="t" r="r" b="b"/>
            <a:pathLst>
              <a:path w="4432935" h="186055">
                <a:moveTo>
                  <a:pt x="4381754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5674"/>
                </a:lnTo>
                <a:lnTo>
                  <a:pt x="4432554" y="185674"/>
                </a:lnTo>
                <a:lnTo>
                  <a:pt x="4432554" y="50800"/>
                </a:lnTo>
                <a:lnTo>
                  <a:pt x="4428545" y="31075"/>
                </a:lnTo>
                <a:lnTo>
                  <a:pt x="4417631" y="14922"/>
                </a:lnTo>
                <a:lnTo>
                  <a:pt x="4401478" y="4008"/>
                </a:lnTo>
                <a:lnTo>
                  <a:pt x="438175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5729" y="525537"/>
            <a:ext cx="3405504" cy="52705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problem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deciding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end.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7743" y="923977"/>
            <a:ext cx="4483735" cy="928369"/>
            <a:chOff x="87743" y="923977"/>
            <a:chExt cx="4483735" cy="928369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9741"/>
            <a:ext cx="4483735" cy="972819"/>
            <a:chOff x="87743" y="879741"/>
            <a:chExt cx="4483735" cy="972819"/>
          </a:xfrm>
        </p:grpSpPr>
        <p:sp>
          <p:nvSpPr>
            <p:cNvPr id="4" name="object 4"/>
            <p:cNvSpPr/>
            <p:nvPr/>
          </p:nvSpPr>
          <p:spPr>
            <a:xfrm>
              <a:off x="87743" y="87974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46772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525537"/>
            <a:ext cx="3405504" cy="72644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problem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deciding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end.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While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5" dirty="0">
                <a:latin typeface="Trebuchet MS"/>
                <a:cs typeface="Trebuchet MS"/>
              </a:rPr>
              <a:t>‘!’,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‘?’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9741"/>
            <a:ext cx="4483735" cy="972819"/>
            <a:chOff x="87743" y="879741"/>
            <a:chExt cx="4483735" cy="972819"/>
          </a:xfrm>
        </p:grpSpPr>
        <p:sp>
          <p:nvSpPr>
            <p:cNvPr id="4" name="object 4"/>
            <p:cNvSpPr/>
            <p:nvPr/>
          </p:nvSpPr>
          <p:spPr>
            <a:xfrm>
              <a:off x="87743" y="87974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467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561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819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dirty="0"/>
              <a:t>problem</a:t>
            </a:r>
            <a:r>
              <a:rPr spc="3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deciding</a:t>
            </a:r>
            <a:r>
              <a:rPr spc="35" dirty="0"/>
              <a:t> </a:t>
            </a:r>
            <a:r>
              <a:rPr dirty="0"/>
              <a:t>where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sentences</a:t>
            </a:r>
            <a:r>
              <a:rPr spc="35" dirty="0"/>
              <a:t> </a:t>
            </a:r>
            <a:r>
              <a:rPr dirty="0"/>
              <a:t>begin</a:t>
            </a:r>
            <a:r>
              <a:rPr spc="35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20" dirty="0"/>
              <a:t>end.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While</a:t>
            </a:r>
            <a:r>
              <a:rPr spc="-30" dirty="0"/>
              <a:t> </a:t>
            </a:r>
            <a:r>
              <a:rPr spc="-105" dirty="0"/>
              <a:t>‘!’,</a:t>
            </a:r>
            <a:r>
              <a:rPr spc="-15" dirty="0"/>
              <a:t> </a:t>
            </a:r>
            <a:r>
              <a:rPr dirty="0"/>
              <a:t>‘?’</a:t>
            </a:r>
            <a:r>
              <a:rPr spc="4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spc="-10" dirty="0"/>
              <a:t>quite</a:t>
            </a:r>
            <a:r>
              <a:rPr spc="-25" dirty="0"/>
              <a:t> </a:t>
            </a:r>
            <a:r>
              <a:rPr spc="-10" dirty="0"/>
              <a:t>unambiguous</a:t>
            </a:r>
          </a:p>
          <a:p>
            <a:pPr marL="327025">
              <a:lnSpc>
                <a:spcPct val="100000"/>
              </a:lnSpc>
              <a:spcBef>
                <a:spcPts val="355"/>
              </a:spcBef>
            </a:pPr>
            <a:r>
              <a:rPr dirty="0"/>
              <a:t>Period</a:t>
            </a:r>
            <a:r>
              <a:rPr spc="50" dirty="0"/>
              <a:t> </a:t>
            </a:r>
            <a:r>
              <a:rPr spc="-185" dirty="0"/>
              <a:t>“.”</a:t>
            </a:r>
            <a:r>
              <a:rPr spc="135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spc="-10" dirty="0"/>
              <a:t>quite</a:t>
            </a:r>
            <a:r>
              <a:rPr spc="55" dirty="0"/>
              <a:t> </a:t>
            </a:r>
            <a:r>
              <a:rPr dirty="0"/>
              <a:t>ambiguous</a:t>
            </a:r>
            <a:r>
              <a:rPr spc="5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dirty="0"/>
              <a:t>used</a:t>
            </a:r>
            <a:r>
              <a:rPr spc="55" dirty="0"/>
              <a:t> </a:t>
            </a:r>
            <a:r>
              <a:rPr spc="-10" dirty="0"/>
              <a:t>additionally</a:t>
            </a:r>
            <a:r>
              <a:rPr spc="55" dirty="0"/>
              <a:t> </a:t>
            </a:r>
            <a:r>
              <a:rPr spc="-25" dirty="0"/>
              <a:t>for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7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/>
              <a:t>Abbreviations</a:t>
            </a:r>
            <a:r>
              <a:rPr sz="900" spc="-20" dirty="0"/>
              <a:t> </a:t>
            </a:r>
            <a:r>
              <a:rPr sz="900" spc="-45" dirty="0"/>
              <a:t>(Dr.,</a:t>
            </a:r>
            <a:r>
              <a:rPr sz="900" spc="-15" dirty="0"/>
              <a:t> </a:t>
            </a:r>
            <a:r>
              <a:rPr sz="900" spc="-45" dirty="0"/>
              <a:t>Mr.,</a:t>
            </a:r>
            <a:r>
              <a:rPr sz="900" spc="-20" dirty="0"/>
              <a:t> </a:t>
            </a:r>
            <a:r>
              <a:rPr sz="900" spc="-10" dirty="0"/>
              <a:t>m.p.h.)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9741"/>
            <a:ext cx="4483735" cy="972819"/>
            <a:chOff x="87743" y="879741"/>
            <a:chExt cx="4483735" cy="972819"/>
          </a:xfrm>
        </p:grpSpPr>
        <p:sp>
          <p:nvSpPr>
            <p:cNvPr id="4" name="object 4"/>
            <p:cNvSpPr/>
            <p:nvPr/>
          </p:nvSpPr>
          <p:spPr>
            <a:xfrm>
              <a:off x="87743" y="87974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467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561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819"/>
              </a:spcBef>
            </a:pPr>
            <a:r>
              <a:rPr dirty="0"/>
              <a:t>The</a:t>
            </a:r>
            <a:r>
              <a:rPr spc="30" dirty="0"/>
              <a:t> </a:t>
            </a:r>
            <a:r>
              <a:rPr dirty="0"/>
              <a:t>problem</a:t>
            </a:r>
            <a:r>
              <a:rPr spc="35" dirty="0"/>
              <a:t> </a:t>
            </a:r>
            <a:r>
              <a:rPr dirty="0"/>
              <a:t>of</a:t>
            </a:r>
            <a:r>
              <a:rPr spc="35" dirty="0"/>
              <a:t> </a:t>
            </a:r>
            <a:r>
              <a:rPr dirty="0"/>
              <a:t>deciding</a:t>
            </a:r>
            <a:r>
              <a:rPr spc="35" dirty="0"/>
              <a:t> </a:t>
            </a:r>
            <a:r>
              <a:rPr dirty="0"/>
              <a:t>where</a:t>
            </a:r>
            <a:r>
              <a:rPr spc="35" dirty="0"/>
              <a:t> </a:t>
            </a:r>
            <a:r>
              <a:rPr dirty="0"/>
              <a:t>the</a:t>
            </a:r>
            <a:r>
              <a:rPr spc="35" dirty="0"/>
              <a:t> </a:t>
            </a:r>
            <a:r>
              <a:rPr dirty="0"/>
              <a:t>sentences</a:t>
            </a:r>
            <a:r>
              <a:rPr spc="35" dirty="0"/>
              <a:t> </a:t>
            </a:r>
            <a:r>
              <a:rPr dirty="0"/>
              <a:t>begin</a:t>
            </a:r>
            <a:r>
              <a:rPr spc="35" dirty="0"/>
              <a:t> </a:t>
            </a:r>
            <a:r>
              <a:rPr dirty="0"/>
              <a:t>and</a:t>
            </a:r>
            <a:r>
              <a:rPr spc="35" dirty="0"/>
              <a:t> </a:t>
            </a:r>
            <a:r>
              <a:rPr spc="-20" dirty="0"/>
              <a:t>end.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While</a:t>
            </a:r>
            <a:r>
              <a:rPr spc="-30" dirty="0"/>
              <a:t> </a:t>
            </a:r>
            <a:r>
              <a:rPr spc="-105" dirty="0"/>
              <a:t>‘!’,</a:t>
            </a:r>
            <a:r>
              <a:rPr spc="-15" dirty="0"/>
              <a:t> </a:t>
            </a:r>
            <a:r>
              <a:rPr dirty="0"/>
              <a:t>‘?’</a:t>
            </a:r>
            <a:r>
              <a:rPr spc="40" dirty="0"/>
              <a:t> </a:t>
            </a:r>
            <a:r>
              <a:rPr dirty="0"/>
              <a:t>are</a:t>
            </a:r>
            <a:r>
              <a:rPr spc="-20" dirty="0"/>
              <a:t> </a:t>
            </a:r>
            <a:r>
              <a:rPr spc="-10" dirty="0"/>
              <a:t>quite</a:t>
            </a:r>
            <a:r>
              <a:rPr spc="-25" dirty="0"/>
              <a:t> </a:t>
            </a:r>
            <a:r>
              <a:rPr spc="-10" dirty="0"/>
              <a:t>unambiguous</a:t>
            </a:r>
          </a:p>
          <a:p>
            <a:pPr marL="327025">
              <a:lnSpc>
                <a:spcPct val="100000"/>
              </a:lnSpc>
              <a:spcBef>
                <a:spcPts val="355"/>
              </a:spcBef>
            </a:pPr>
            <a:r>
              <a:rPr dirty="0"/>
              <a:t>Period</a:t>
            </a:r>
            <a:r>
              <a:rPr spc="50" dirty="0"/>
              <a:t> </a:t>
            </a:r>
            <a:r>
              <a:rPr spc="-185" dirty="0"/>
              <a:t>“.”</a:t>
            </a:r>
            <a:r>
              <a:rPr spc="135" dirty="0"/>
              <a:t> </a:t>
            </a:r>
            <a:r>
              <a:rPr dirty="0"/>
              <a:t>is</a:t>
            </a:r>
            <a:r>
              <a:rPr spc="55" dirty="0"/>
              <a:t> </a:t>
            </a:r>
            <a:r>
              <a:rPr spc="-10" dirty="0"/>
              <a:t>quite</a:t>
            </a:r>
            <a:r>
              <a:rPr spc="55" dirty="0"/>
              <a:t> </a:t>
            </a:r>
            <a:r>
              <a:rPr dirty="0"/>
              <a:t>ambiguous</a:t>
            </a:r>
            <a:r>
              <a:rPr spc="50" dirty="0"/>
              <a:t> </a:t>
            </a:r>
            <a:r>
              <a:rPr dirty="0"/>
              <a:t>and</a:t>
            </a:r>
            <a:r>
              <a:rPr spc="55" dirty="0"/>
              <a:t> </a:t>
            </a:r>
            <a:r>
              <a:rPr dirty="0"/>
              <a:t>can</a:t>
            </a:r>
            <a:r>
              <a:rPr spc="55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dirty="0"/>
              <a:t>used</a:t>
            </a:r>
            <a:r>
              <a:rPr spc="55" dirty="0"/>
              <a:t> </a:t>
            </a:r>
            <a:r>
              <a:rPr spc="-10" dirty="0"/>
              <a:t>additionally</a:t>
            </a:r>
            <a:r>
              <a:rPr spc="55" dirty="0"/>
              <a:t> </a:t>
            </a:r>
            <a:r>
              <a:rPr spc="-25" dirty="0"/>
              <a:t>for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7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/>
              <a:t>Abbreviations</a:t>
            </a:r>
            <a:r>
              <a:rPr sz="900" spc="-20" dirty="0"/>
              <a:t> </a:t>
            </a:r>
            <a:r>
              <a:rPr sz="900" spc="-45" dirty="0"/>
              <a:t>(Dr.,</a:t>
            </a:r>
            <a:r>
              <a:rPr sz="900" spc="-15" dirty="0"/>
              <a:t> </a:t>
            </a:r>
            <a:r>
              <a:rPr sz="900" spc="-45" dirty="0"/>
              <a:t>Mr.,</a:t>
            </a:r>
            <a:r>
              <a:rPr sz="900" spc="-20" dirty="0"/>
              <a:t> </a:t>
            </a:r>
            <a:r>
              <a:rPr sz="900" spc="-10" dirty="0"/>
              <a:t>m.p.h.)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72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dirty="0"/>
              <a:t>Numbers</a:t>
            </a:r>
            <a:r>
              <a:rPr sz="900" spc="30" dirty="0"/>
              <a:t> </a:t>
            </a:r>
            <a:r>
              <a:rPr sz="900" dirty="0"/>
              <a:t>(2.4%,</a:t>
            </a:r>
            <a:r>
              <a:rPr sz="900" spc="35" dirty="0"/>
              <a:t> </a:t>
            </a:r>
            <a:r>
              <a:rPr sz="900" spc="-20" dirty="0"/>
              <a:t>4.3)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9741"/>
            <a:ext cx="4483735" cy="972819"/>
            <a:chOff x="87743" y="879741"/>
            <a:chExt cx="4483735" cy="972819"/>
          </a:xfrm>
        </p:grpSpPr>
        <p:sp>
          <p:nvSpPr>
            <p:cNvPr id="4" name="object 4"/>
            <p:cNvSpPr/>
            <p:nvPr/>
          </p:nvSpPr>
          <p:spPr>
            <a:xfrm>
              <a:off x="87743" y="87974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467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561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53133"/>
            <a:ext cx="4483735" cy="1049655"/>
            <a:chOff x="87743" y="1953133"/>
            <a:chExt cx="4483735" cy="1049655"/>
          </a:xfrm>
        </p:grpSpPr>
        <p:sp>
          <p:nvSpPr>
            <p:cNvPr id="17" name="object 17"/>
            <p:cNvSpPr/>
            <p:nvPr/>
          </p:nvSpPr>
          <p:spPr>
            <a:xfrm>
              <a:off x="87743" y="19531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126158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90095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888259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997379"/>
              <a:ext cx="50800" cy="9035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70455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35454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227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10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97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430195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87630" y="525537"/>
            <a:ext cx="3774440" cy="200977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problem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deciding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end.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While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5" dirty="0">
                <a:latin typeface="Trebuchet MS"/>
                <a:cs typeface="Trebuchet MS"/>
              </a:rPr>
              <a:t>‘!’,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‘?’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rebuchet MS"/>
                <a:cs typeface="Trebuchet MS"/>
              </a:rPr>
              <a:t>Period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85" dirty="0">
                <a:latin typeface="Trebuchet MS"/>
                <a:cs typeface="Trebuchet MS"/>
              </a:rPr>
              <a:t>“.”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quite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additionally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for</a:t>
            </a:r>
            <a:endParaRPr sz="950">
              <a:latin typeface="Trebuchet MS"/>
              <a:cs typeface="Trebuchet MS"/>
            </a:endParaRPr>
          </a:p>
          <a:p>
            <a:pPr marL="467995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7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Abbreviations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(Dr.,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Mr.,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m.p.h.)</a:t>
            </a:r>
            <a:endParaRPr sz="900">
              <a:latin typeface="Trebuchet MS"/>
              <a:cs typeface="Trebuchet MS"/>
            </a:endParaRPr>
          </a:p>
          <a:p>
            <a:pPr marL="467995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72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Numbers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(2.4%,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4.3)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Approach:</a:t>
            </a:r>
            <a:r>
              <a:rPr sz="1100" i="1" spc="4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build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007F00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binary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classifier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“.”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Decides</a:t>
            </a:r>
            <a:r>
              <a:rPr sz="950" spc="3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EndOfSentence/NotEndOfSentence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-55" dirty="0"/>
              <a:t> </a:t>
            </a:r>
            <a:r>
              <a:rPr spc="-30" dirty="0"/>
              <a:t>Segmentation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79741"/>
            <a:ext cx="4483735" cy="972819"/>
            <a:chOff x="87743" y="879741"/>
            <a:chExt cx="4483735" cy="972819"/>
          </a:xfrm>
        </p:grpSpPr>
        <p:sp>
          <p:nvSpPr>
            <p:cNvPr id="4" name="object 4"/>
            <p:cNvSpPr/>
            <p:nvPr/>
          </p:nvSpPr>
          <p:spPr>
            <a:xfrm>
              <a:off x="87743" y="879741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5276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75041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73771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23988"/>
              <a:ext cx="50800" cy="8264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9700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414"/>
                  </a:lnTo>
                  <a:lnTo>
                    <a:pt x="4008" y="673139"/>
                  </a:lnTo>
                  <a:lnTo>
                    <a:pt x="14922" y="689292"/>
                  </a:lnTo>
                  <a:lnTo>
                    <a:pt x="31075" y="700206"/>
                  </a:lnTo>
                  <a:lnTo>
                    <a:pt x="50800" y="704214"/>
                  </a:lnTo>
                  <a:lnTo>
                    <a:pt x="4381754" y="704214"/>
                  </a:lnTo>
                  <a:lnTo>
                    <a:pt x="4401478" y="700206"/>
                  </a:lnTo>
                  <a:lnTo>
                    <a:pt x="4417631" y="689292"/>
                  </a:lnTo>
                  <a:lnTo>
                    <a:pt x="4428545" y="673139"/>
                  </a:lnTo>
                  <a:lnTo>
                    <a:pt x="4432554" y="6534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62126"/>
              <a:ext cx="0" cy="807720"/>
            </a:xfrm>
            <a:custGeom>
              <a:avLst/>
              <a:gdLst/>
              <a:ahLst/>
              <a:cxnLst/>
              <a:rect l="l" t="t" r="r" b="b"/>
              <a:pathLst>
                <a:path h="807719">
                  <a:moveTo>
                    <a:pt x="0" y="8073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493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366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2397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46772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36561"/>
              <a:ext cx="64757" cy="64757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87743" y="1953133"/>
            <a:ext cx="4483735" cy="1049655"/>
            <a:chOff x="87743" y="1953133"/>
            <a:chExt cx="4483735" cy="1049655"/>
          </a:xfrm>
        </p:grpSpPr>
        <p:sp>
          <p:nvSpPr>
            <p:cNvPr id="17" name="object 17"/>
            <p:cNvSpPr/>
            <p:nvPr/>
          </p:nvSpPr>
          <p:spPr>
            <a:xfrm>
              <a:off x="87743" y="195313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185673"/>
                  </a:lnTo>
                  <a:lnTo>
                    <a:pt x="4432554" y="185673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744" y="2126158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900959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888259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997379"/>
              <a:ext cx="50800" cy="90357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170455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035454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0227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0100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997361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430195"/>
              <a:ext cx="64757" cy="6475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640228"/>
              <a:ext cx="64757" cy="64757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87630" y="525537"/>
            <a:ext cx="4245610" cy="239204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problem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deciding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where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end.</a:t>
            </a:r>
            <a:endParaRPr sz="95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Challenges</a:t>
            </a:r>
            <a:r>
              <a:rPr sz="1100" i="1" spc="-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Involved</a:t>
            </a:r>
            <a:endParaRPr sz="1100">
              <a:latin typeface="Cambria"/>
              <a:cs typeface="Cambria"/>
            </a:endParaRPr>
          </a:p>
          <a:p>
            <a:pPr marL="32766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While</a:t>
            </a:r>
            <a:r>
              <a:rPr sz="950" spc="-30" dirty="0">
                <a:latin typeface="Trebuchet MS"/>
                <a:cs typeface="Trebuchet MS"/>
              </a:rPr>
              <a:t> </a:t>
            </a:r>
            <a:r>
              <a:rPr sz="950" spc="-105" dirty="0">
                <a:latin typeface="Trebuchet MS"/>
                <a:cs typeface="Trebuchet MS"/>
              </a:rPr>
              <a:t>‘!’,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‘?’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quite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unambiguous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355"/>
              </a:spcBef>
            </a:pPr>
            <a:r>
              <a:rPr sz="950" dirty="0">
                <a:latin typeface="Trebuchet MS"/>
                <a:cs typeface="Trebuchet MS"/>
              </a:rPr>
              <a:t>Period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85" dirty="0">
                <a:latin typeface="Trebuchet MS"/>
                <a:cs typeface="Trebuchet MS"/>
              </a:rPr>
              <a:t>“.”</a:t>
            </a:r>
            <a:r>
              <a:rPr sz="950" spc="1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quite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ambiguous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additionally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for</a:t>
            </a:r>
            <a:endParaRPr sz="950">
              <a:latin typeface="Trebuchet MS"/>
              <a:cs typeface="Trebuchet MS"/>
            </a:endParaRPr>
          </a:p>
          <a:p>
            <a:pPr marL="467995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7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Abbreviations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(Dr.,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Mr.,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m.p.h.)</a:t>
            </a:r>
            <a:endParaRPr sz="900">
              <a:latin typeface="Trebuchet MS"/>
              <a:cs typeface="Trebuchet MS"/>
            </a:endParaRPr>
          </a:p>
          <a:p>
            <a:pPr marL="467995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72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Numbers</a:t>
            </a:r>
            <a:r>
              <a:rPr sz="900" spc="3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(2.4%,</a:t>
            </a:r>
            <a:r>
              <a:rPr sz="900" spc="35" dirty="0">
                <a:latin typeface="Trebuchet MS"/>
                <a:cs typeface="Trebuchet MS"/>
              </a:rPr>
              <a:t> </a:t>
            </a:r>
            <a:r>
              <a:rPr sz="900" spc="-20" dirty="0">
                <a:latin typeface="Trebuchet MS"/>
                <a:cs typeface="Trebuchet MS"/>
              </a:rPr>
              <a:t>4.3)</a:t>
            </a:r>
            <a:endParaRPr sz="9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0"/>
              </a:spcBef>
            </a:pPr>
            <a:endParaRPr sz="900">
              <a:latin typeface="Trebuchet MS"/>
              <a:cs typeface="Trebuchet MS"/>
            </a:endParaRPr>
          </a:p>
          <a:p>
            <a:pPr marL="50800">
              <a:lnSpc>
                <a:spcPct val="100000"/>
              </a:lnSpc>
            </a:pP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Approach:</a:t>
            </a:r>
            <a:r>
              <a:rPr sz="1100" i="1" spc="4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build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007F00"/>
                </a:solidFill>
                <a:latin typeface="Cambria"/>
                <a:cs typeface="Cambria"/>
              </a:rPr>
              <a:t>a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binary</a:t>
            </a:r>
            <a:r>
              <a:rPr sz="1100" i="1" spc="-15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classifier</a:t>
            </a:r>
            <a:endParaRPr sz="1100">
              <a:latin typeface="Cambria"/>
              <a:cs typeface="Cambria"/>
            </a:endParaRPr>
          </a:p>
          <a:p>
            <a:pPr marL="50800">
              <a:lnSpc>
                <a:spcPct val="100000"/>
              </a:lnSpc>
              <a:spcBef>
                <a:spcPts val="420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“.”</a:t>
            </a:r>
            <a:endParaRPr sz="950">
              <a:latin typeface="Trebuchet MS"/>
              <a:cs typeface="Trebuchet MS"/>
            </a:endParaRP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Decides</a:t>
            </a:r>
            <a:r>
              <a:rPr sz="950" spc="3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EndOfSentence/NotEndOfSentence</a:t>
            </a:r>
            <a:endParaRPr sz="950">
              <a:latin typeface="Trebuchet MS"/>
              <a:cs typeface="Trebuchet MS"/>
            </a:endParaRPr>
          </a:p>
          <a:p>
            <a:pPr marL="327660" marR="1778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Classifiers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be:</a:t>
            </a:r>
            <a:r>
              <a:rPr sz="950" spc="1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hand-</a:t>
            </a:r>
            <a:r>
              <a:rPr sz="950" spc="-30" dirty="0">
                <a:latin typeface="Trebuchet MS"/>
                <a:cs typeface="Trebuchet MS"/>
              </a:rPr>
              <a:t>written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rules,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expressions,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machine learning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0" name="object 3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1" name="object 3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35" dirty="0"/>
              <a:t> </a:t>
            </a:r>
            <a:r>
              <a:rPr spc="-20" dirty="0"/>
              <a:t>Segmentation:</a:t>
            </a:r>
            <a:r>
              <a:rPr spc="125" dirty="0"/>
              <a:t> </a:t>
            </a:r>
            <a:r>
              <a:rPr dirty="0"/>
              <a:t>Decision</a:t>
            </a:r>
            <a:r>
              <a:rPr spc="35" dirty="0"/>
              <a:t> </a:t>
            </a:r>
            <a:r>
              <a:rPr spc="-20" dirty="0"/>
              <a:t>Tree</a:t>
            </a:r>
            <a:r>
              <a:rPr spc="4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575246"/>
            <a:ext cx="3163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Tree: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end-of-sentence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(E-</a:t>
            </a:r>
            <a:r>
              <a:rPr sz="950" spc="75" dirty="0">
                <a:latin typeface="Trebuchet MS"/>
                <a:cs typeface="Trebuchet MS"/>
              </a:rPr>
              <a:t>O-</a:t>
            </a:r>
            <a:r>
              <a:rPr sz="950" spc="35" dirty="0">
                <a:latin typeface="Trebuchet MS"/>
                <a:cs typeface="Trebuchet MS"/>
              </a:rPr>
              <a:t>S)?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Sentence</a:t>
            </a:r>
            <a:r>
              <a:rPr spc="35" dirty="0"/>
              <a:t> </a:t>
            </a:r>
            <a:r>
              <a:rPr spc="-20" dirty="0"/>
              <a:t>Segmentation:</a:t>
            </a:r>
            <a:r>
              <a:rPr spc="125" dirty="0"/>
              <a:t> </a:t>
            </a:r>
            <a:r>
              <a:rPr dirty="0"/>
              <a:t>Decision</a:t>
            </a:r>
            <a:r>
              <a:rPr spc="35" dirty="0"/>
              <a:t> </a:t>
            </a:r>
            <a:r>
              <a:rPr spc="-20" dirty="0"/>
              <a:t>Tree</a:t>
            </a:r>
            <a:r>
              <a:rPr spc="40" dirty="0"/>
              <a:t> </a:t>
            </a:r>
            <a:r>
              <a:rPr spc="-10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575246"/>
            <a:ext cx="316357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Tree: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55" dirty="0">
                <a:latin typeface="Trebuchet MS"/>
                <a:cs typeface="Trebuchet MS"/>
              </a:rPr>
              <a:t>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end-of-sentence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60" dirty="0">
                <a:latin typeface="Trebuchet MS"/>
                <a:cs typeface="Trebuchet MS"/>
              </a:rPr>
              <a:t>(E-</a:t>
            </a:r>
            <a:r>
              <a:rPr sz="950" spc="75" dirty="0">
                <a:latin typeface="Trebuchet MS"/>
                <a:cs typeface="Trebuchet MS"/>
              </a:rPr>
              <a:t>O-</a:t>
            </a:r>
            <a:r>
              <a:rPr sz="950" spc="35" dirty="0">
                <a:latin typeface="Trebuchet MS"/>
                <a:cs typeface="Trebuchet MS"/>
              </a:rPr>
              <a:t>S)?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39405" y="945451"/>
            <a:ext cx="2266950" cy="1862455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Important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Features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Important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Features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66825"/>
            <a:ext cx="27717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60" dirty="0">
                <a:latin typeface="Trebuchet MS"/>
                <a:cs typeface="Trebuchet MS"/>
              </a:rPr>
              <a:t>“.”: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Number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40" dirty="0"/>
              <a:t> </a:t>
            </a:r>
            <a:r>
              <a:rPr spc="-35" dirty="0"/>
              <a:t>Important</a:t>
            </a:r>
            <a:r>
              <a:rPr spc="4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106418"/>
            <a:ext cx="2799715" cy="445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100"/>
              </a:lnSpc>
              <a:spcBef>
                <a:spcPts val="9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60" dirty="0">
                <a:latin typeface="Trebuchet MS"/>
                <a:cs typeface="Trebuchet MS"/>
              </a:rPr>
              <a:t>“.”: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Number </a:t>
            </a: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after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60" dirty="0">
                <a:latin typeface="Trebuchet MS"/>
                <a:cs typeface="Trebuchet MS"/>
              </a:rPr>
              <a:t>“.”: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Number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46949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40" dirty="0"/>
              <a:t> </a:t>
            </a:r>
            <a:r>
              <a:rPr spc="-35" dirty="0"/>
              <a:t>Important</a:t>
            </a:r>
            <a:r>
              <a:rPr spc="4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1106418"/>
            <a:ext cx="2799715" cy="63563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138100"/>
              </a:lnSpc>
              <a:spcBef>
                <a:spcPts val="17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after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Features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4694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36738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Important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Features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106418"/>
            <a:ext cx="2850515" cy="81026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 marR="30480" algn="just">
              <a:lnSpc>
                <a:spcPct val="138100"/>
              </a:lnSpc>
              <a:spcBef>
                <a:spcPts val="17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after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Features</a:t>
            </a:r>
            <a:endParaRPr sz="950">
              <a:latin typeface="Trebuchet MS"/>
              <a:cs typeface="Trebuchet MS"/>
            </a:endParaRPr>
          </a:p>
          <a:p>
            <a:pPr marL="177800" algn="just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Length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“.”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4694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36738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Important</a:t>
            </a:r>
            <a:r>
              <a:rPr sz="1400" i="1" spc="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Features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106418"/>
            <a:ext cx="2955925" cy="962660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 marR="135255" algn="just">
              <a:lnSpc>
                <a:spcPct val="138100"/>
              </a:lnSpc>
              <a:spcBef>
                <a:spcPts val="17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after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Features</a:t>
            </a:r>
            <a:endParaRPr sz="950">
              <a:latin typeface="Trebuchet MS"/>
              <a:cs typeface="Trebuchet MS"/>
            </a:endParaRPr>
          </a:p>
          <a:p>
            <a:pPr marL="177800" algn="just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Length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“.”</a:t>
            </a:r>
            <a:endParaRPr sz="900">
              <a:latin typeface="Trebuchet MS"/>
              <a:cs typeface="Trebuchet MS"/>
            </a:endParaRPr>
          </a:p>
          <a:p>
            <a:pPr marL="177800" algn="just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2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Probability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(word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185" dirty="0">
                <a:latin typeface="Trebuchet MS"/>
                <a:cs typeface="Trebuchet MS"/>
              </a:rPr>
              <a:t>“.”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occurs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end-of-sentence)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4694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36738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189801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40" dirty="0"/>
              <a:t> </a:t>
            </a:r>
            <a:r>
              <a:rPr spc="-35" dirty="0"/>
              <a:t>Important</a:t>
            </a:r>
            <a:r>
              <a:rPr spc="45" dirty="0"/>
              <a:t> </a:t>
            </a:r>
            <a:r>
              <a:rPr spc="-10" dirty="0"/>
              <a:t>Features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3692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106418"/>
            <a:ext cx="3284854" cy="1114425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38100" marR="464820" algn="just">
              <a:lnSpc>
                <a:spcPct val="138100"/>
              </a:lnSpc>
              <a:spcBef>
                <a:spcPts val="170"/>
              </a:spcBef>
            </a:pP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spc="75" dirty="0">
                <a:latin typeface="Trebuchet MS"/>
                <a:cs typeface="Trebuchet MS"/>
              </a:rPr>
              <a:t>Case</a:t>
            </a:r>
            <a:r>
              <a:rPr sz="950" spc="-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after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170" dirty="0">
                <a:latin typeface="Trebuchet MS"/>
                <a:cs typeface="Trebuchet MS"/>
              </a:rPr>
              <a:t>“.”: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Upper,</a:t>
            </a:r>
            <a:r>
              <a:rPr sz="950" spc="-10" dirty="0">
                <a:latin typeface="Trebuchet MS"/>
                <a:cs typeface="Trebuchet MS"/>
              </a:rPr>
              <a:t> Lower, </a:t>
            </a:r>
            <a:r>
              <a:rPr sz="950" dirty="0">
                <a:latin typeface="Trebuchet MS"/>
                <a:cs typeface="Trebuchet MS"/>
              </a:rPr>
              <a:t>Cap,</a:t>
            </a:r>
            <a:r>
              <a:rPr sz="950" spc="-10" dirty="0">
                <a:latin typeface="Trebuchet MS"/>
                <a:cs typeface="Trebuchet MS"/>
              </a:rPr>
              <a:t> Number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Features</a:t>
            </a:r>
            <a:endParaRPr sz="95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Length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of</a:t>
            </a:r>
            <a:r>
              <a:rPr sz="900" spc="-20" dirty="0">
                <a:latin typeface="Trebuchet MS"/>
                <a:cs typeface="Trebuchet MS"/>
              </a:rPr>
              <a:t> word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“.”</a:t>
            </a:r>
            <a:endParaRPr sz="90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2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Probability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(word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55" dirty="0">
                <a:latin typeface="Trebuchet MS"/>
                <a:cs typeface="Trebuchet MS"/>
              </a:rPr>
              <a:t>with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185" dirty="0">
                <a:latin typeface="Trebuchet MS"/>
                <a:cs typeface="Trebuchet MS"/>
              </a:rPr>
              <a:t>“.”</a:t>
            </a:r>
            <a:r>
              <a:rPr sz="900" spc="6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occurs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50" dirty="0">
                <a:latin typeface="Trebuchet MS"/>
                <a:cs typeface="Trebuchet MS"/>
              </a:rPr>
              <a:t>at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end-of-sentence)</a:t>
            </a:r>
            <a:endParaRPr sz="90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2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Probability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(word</a:t>
            </a:r>
            <a:r>
              <a:rPr sz="900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after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85" dirty="0">
                <a:latin typeface="Trebuchet MS"/>
                <a:cs typeface="Trebuchet MS"/>
              </a:rPr>
              <a:t>“.”</a:t>
            </a:r>
            <a:r>
              <a:rPr sz="900" spc="6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occurs </a:t>
            </a:r>
            <a:r>
              <a:rPr sz="900" spc="-50" dirty="0">
                <a:latin typeface="Trebuchet MS"/>
                <a:cs typeface="Trebuchet MS"/>
              </a:rPr>
              <a:t>at</a:t>
            </a:r>
            <a:r>
              <a:rPr sz="900" spc="-5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beginning-of-sentence)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46949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636738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Implementing</a:t>
            </a:r>
            <a:r>
              <a:rPr sz="1400" i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Trees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Implementing</a:t>
            </a:r>
            <a:r>
              <a:rPr sz="1400" i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Trees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688264"/>
            <a:ext cx="165862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Just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if-then-</a:t>
            </a:r>
            <a:r>
              <a:rPr sz="950" dirty="0">
                <a:latin typeface="Trebuchet MS"/>
                <a:cs typeface="Trebuchet MS"/>
              </a:rPr>
              <a:t>else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statement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Implementing</a:t>
            </a:r>
            <a:r>
              <a:rPr sz="1400" i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Trees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27857"/>
            <a:ext cx="2244725" cy="44577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Just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if-then-</a:t>
            </a:r>
            <a:r>
              <a:rPr sz="950" dirty="0">
                <a:latin typeface="Trebuchet MS"/>
                <a:cs typeface="Trebuchet MS"/>
              </a:rPr>
              <a:t>else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statement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spc="10" dirty="0">
                <a:latin typeface="Trebuchet MS"/>
                <a:cs typeface="Trebuchet MS"/>
              </a:rPr>
              <a:t>Choosing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968387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Implementing</a:t>
            </a:r>
            <a:r>
              <a:rPr sz="1400" i="1" spc="1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Decision</a:t>
            </a:r>
            <a:r>
              <a:rPr sz="1400" i="1" spc="1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Trees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02932" y="627857"/>
            <a:ext cx="2728595" cy="65595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Just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if-then-</a:t>
            </a:r>
            <a:r>
              <a:rPr sz="950" dirty="0">
                <a:latin typeface="Trebuchet MS"/>
                <a:cs typeface="Trebuchet MS"/>
              </a:rPr>
              <a:t>else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statement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spc="10" dirty="0">
                <a:latin typeface="Trebuchet MS"/>
                <a:cs typeface="Trebuchet MS"/>
              </a:rPr>
              <a:t>Choosing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features,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thresholds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picked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96838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78420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Implementing</a:t>
            </a:r>
            <a:r>
              <a:rPr spc="130" dirty="0"/>
              <a:t> </a:t>
            </a:r>
            <a:r>
              <a:rPr dirty="0"/>
              <a:t>Decision</a:t>
            </a:r>
            <a:r>
              <a:rPr spc="135" dirty="0"/>
              <a:t> </a:t>
            </a:r>
            <a:r>
              <a:rPr spc="-10" dirty="0"/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154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05"/>
              </a:spcBef>
            </a:pPr>
            <a:r>
              <a:rPr dirty="0"/>
              <a:t>Just</a:t>
            </a:r>
            <a:r>
              <a:rPr spc="10" dirty="0"/>
              <a:t> </a:t>
            </a:r>
            <a:r>
              <a:rPr dirty="0"/>
              <a:t>an</a:t>
            </a:r>
            <a:r>
              <a:rPr spc="10" dirty="0"/>
              <a:t> </a:t>
            </a:r>
            <a:r>
              <a:rPr spc="-10" dirty="0"/>
              <a:t>if-then-</a:t>
            </a:r>
            <a:r>
              <a:rPr dirty="0"/>
              <a:t>else</a:t>
            </a:r>
            <a:r>
              <a:rPr spc="10" dirty="0"/>
              <a:t> </a:t>
            </a:r>
            <a:r>
              <a:rPr spc="-10" dirty="0"/>
              <a:t>statement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pc="10" dirty="0"/>
              <a:t>Choosing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features</a:t>
            </a:r>
            <a:r>
              <a:rPr spc="20" dirty="0"/>
              <a:t> </a:t>
            </a:r>
            <a:r>
              <a:rPr spc="10" dirty="0"/>
              <a:t>is</a:t>
            </a:r>
            <a:r>
              <a:rPr spc="20" dirty="0"/>
              <a:t> </a:t>
            </a:r>
            <a:r>
              <a:rPr spc="10" dirty="0"/>
              <a:t>more</a:t>
            </a:r>
            <a:r>
              <a:rPr spc="25" dirty="0"/>
              <a:t> </a:t>
            </a:r>
            <a:r>
              <a:rPr spc="-10" dirty="0"/>
              <a:t>important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For</a:t>
            </a:r>
            <a:r>
              <a:rPr spc="15" dirty="0"/>
              <a:t> </a:t>
            </a:r>
            <a:r>
              <a:rPr dirty="0"/>
              <a:t>numeric</a:t>
            </a:r>
            <a:r>
              <a:rPr spc="15" dirty="0"/>
              <a:t> </a:t>
            </a:r>
            <a:r>
              <a:rPr spc="-20" dirty="0"/>
              <a:t>features,</a:t>
            </a:r>
            <a:r>
              <a:rPr spc="15" dirty="0"/>
              <a:t> </a:t>
            </a:r>
            <a:r>
              <a:rPr dirty="0"/>
              <a:t>thresholds</a:t>
            </a:r>
            <a:r>
              <a:rPr spc="1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spc="-20" dirty="0"/>
              <a:t>to</a:t>
            </a:r>
            <a:r>
              <a:rPr spc="15" dirty="0"/>
              <a:t> </a:t>
            </a:r>
            <a:r>
              <a:rPr dirty="0"/>
              <a:t>be</a:t>
            </a:r>
            <a:r>
              <a:rPr spc="15" dirty="0"/>
              <a:t> </a:t>
            </a:r>
            <a:r>
              <a:rPr spc="-10" dirty="0"/>
              <a:t>picked</a:t>
            </a:r>
          </a:p>
          <a:p>
            <a:pPr marL="327660" marR="5080">
              <a:lnSpc>
                <a:spcPct val="118900"/>
              </a:lnSpc>
              <a:spcBef>
                <a:spcPts val="295"/>
              </a:spcBef>
            </a:pPr>
            <a:r>
              <a:rPr dirty="0"/>
              <a:t>With</a:t>
            </a:r>
            <a:r>
              <a:rPr spc="-5" dirty="0"/>
              <a:t> </a:t>
            </a:r>
            <a:r>
              <a:rPr dirty="0"/>
              <a:t>increasing</a:t>
            </a:r>
            <a:r>
              <a:rPr spc="-5" dirty="0"/>
              <a:t> </a:t>
            </a:r>
            <a:r>
              <a:rPr dirty="0"/>
              <a:t>features</a:t>
            </a:r>
            <a:r>
              <a:rPr spc="-5" dirty="0"/>
              <a:t> </a:t>
            </a:r>
            <a:r>
              <a:rPr dirty="0"/>
              <a:t>including numerical</a:t>
            </a:r>
            <a:r>
              <a:rPr spc="-5" dirty="0"/>
              <a:t> </a:t>
            </a:r>
            <a:r>
              <a:rPr dirty="0"/>
              <a:t>ones,</a:t>
            </a:r>
            <a:r>
              <a:rPr spc="-5" dirty="0"/>
              <a:t> </a:t>
            </a:r>
            <a:r>
              <a:rPr spc="-45" dirty="0"/>
              <a:t>difficult</a:t>
            </a:r>
            <a:r>
              <a:rPr dirty="0"/>
              <a:t> </a:t>
            </a:r>
            <a:r>
              <a:rPr spc="-20" dirty="0"/>
              <a:t>to</a:t>
            </a:r>
            <a:r>
              <a:rPr spc="-5" dirty="0"/>
              <a:t> </a:t>
            </a:r>
            <a:r>
              <a:rPr dirty="0"/>
              <a:t>set</a:t>
            </a:r>
            <a:r>
              <a:rPr spc="-5" dirty="0"/>
              <a:t> </a:t>
            </a:r>
            <a:r>
              <a:rPr dirty="0"/>
              <a:t>up</a:t>
            </a:r>
            <a:r>
              <a:rPr spc="-5" dirty="0"/>
              <a:t> </a:t>
            </a:r>
            <a:r>
              <a:rPr spc="-25" dirty="0"/>
              <a:t>the </a:t>
            </a:r>
            <a:r>
              <a:rPr spc="-10" dirty="0"/>
              <a:t>structure</a:t>
            </a:r>
            <a:r>
              <a:rPr spc="-25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spc="-20" dirty="0"/>
              <a:t>hand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96838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7842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388453"/>
            <a:ext cx="64757" cy="64757"/>
          </a:xfrm>
          <a:prstGeom prst="rect">
            <a:avLst/>
          </a:prstGeom>
        </p:spPr>
      </p:pic>
      <p:grpSp>
        <p:nvGrpSpPr>
          <p:cNvPr id="8" name="object 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9" name="object 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Implementing</a:t>
            </a:r>
            <a:r>
              <a:rPr spc="130" dirty="0"/>
              <a:t> </a:t>
            </a:r>
            <a:r>
              <a:rPr dirty="0"/>
              <a:t>Decision</a:t>
            </a:r>
            <a:r>
              <a:rPr spc="135" dirty="0"/>
              <a:t> </a:t>
            </a:r>
            <a:r>
              <a:rPr spc="-10" dirty="0"/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79154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605"/>
              </a:spcBef>
            </a:pPr>
            <a:r>
              <a:rPr dirty="0"/>
              <a:t>Just</a:t>
            </a:r>
            <a:r>
              <a:rPr spc="10" dirty="0"/>
              <a:t> </a:t>
            </a:r>
            <a:r>
              <a:rPr dirty="0"/>
              <a:t>an</a:t>
            </a:r>
            <a:r>
              <a:rPr spc="10" dirty="0"/>
              <a:t> </a:t>
            </a:r>
            <a:r>
              <a:rPr spc="-10" dirty="0"/>
              <a:t>if-then-</a:t>
            </a:r>
            <a:r>
              <a:rPr dirty="0"/>
              <a:t>else</a:t>
            </a:r>
            <a:r>
              <a:rPr spc="10" dirty="0"/>
              <a:t> </a:t>
            </a:r>
            <a:r>
              <a:rPr spc="-10" dirty="0"/>
              <a:t>statement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spc="10" dirty="0"/>
              <a:t>Choosing </a:t>
            </a:r>
            <a:r>
              <a:rPr dirty="0"/>
              <a:t>the</a:t>
            </a:r>
            <a:r>
              <a:rPr spc="20" dirty="0"/>
              <a:t> </a:t>
            </a:r>
            <a:r>
              <a:rPr dirty="0"/>
              <a:t>features</a:t>
            </a:r>
            <a:r>
              <a:rPr spc="20" dirty="0"/>
              <a:t> </a:t>
            </a:r>
            <a:r>
              <a:rPr spc="10" dirty="0"/>
              <a:t>is</a:t>
            </a:r>
            <a:r>
              <a:rPr spc="20" dirty="0"/>
              <a:t> </a:t>
            </a:r>
            <a:r>
              <a:rPr spc="10" dirty="0"/>
              <a:t>more</a:t>
            </a:r>
            <a:r>
              <a:rPr spc="25" dirty="0"/>
              <a:t> </a:t>
            </a:r>
            <a:r>
              <a:rPr spc="-10" dirty="0"/>
              <a:t>important</a:t>
            </a:r>
          </a:p>
          <a:p>
            <a:pPr marL="327660">
              <a:lnSpc>
                <a:spcPct val="100000"/>
              </a:lnSpc>
              <a:spcBef>
                <a:spcPts val="515"/>
              </a:spcBef>
            </a:pPr>
            <a:r>
              <a:rPr dirty="0"/>
              <a:t>For</a:t>
            </a:r>
            <a:r>
              <a:rPr spc="15" dirty="0"/>
              <a:t> </a:t>
            </a:r>
            <a:r>
              <a:rPr dirty="0"/>
              <a:t>numeric</a:t>
            </a:r>
            <a:r>
              <a:rPr spc="15" dirty="0"/>
              <a:t> </a:t>
            </a:r>
            <a:r>
              <a:rPr spc="-20" dirty="0"/>
              <a:t>features,</a:t>
            </a:r>
            <a:r>
              <a:rPr spc="15" dirty="0"/>
              <a:t> </a:t>
            </a:r>
            <a:r>
              <a:rPr dirty="0"/>
              <a:t>thresholds</a:t>
            </a:r>
            <a:r>
              <a:rPr spc="15" dirty="0"/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spc="-20" dirty="0"/>
              <a:t>to</a:t>
            </a:r>
            <a:r>
              <a:rPr spc="15" dirty="0"/>
              <a:t> </a:t>
            </a:r>
            <a:r>
              <a:rPr dirty="0"/>
              <a:t>be</a:t>
            </a:r>
            <a:r>
              <a:rPr spc="15" dirty="0"/>
              <a:t> </a:t>
            </a:r>
            <a:r>
              <a:rPr spc="-10" dirty="0"/>
              <a:t>picked</a:t>
            </a:r>
          </a:p>
          <a:p>
            <a:pPr marL="327660" marR="5080">
              <a:lnSpc>
                <a:spcPct val="118900"/>
              </a:lnSpc>
              <a:spcBef>
                <a:spcPts val="295"/>
              </a:spcBef>
            </a:pPr>
            <a:r>
              <a:rPr dirty="0"/>
              <a:t>With</a:t>
            </a:r>
            <a:r>
              <a:rPr spc="-5" dirty="0"/>
              <a:t> </a:t>
            </a:r>
            <a:r>
              <a:rPr dirty="0"/>
              <a:t>increasing</a:t>
            </a:r>
            <a:r>
              <a:rPr spc="-5" dirty="0"/>
              <a:t> </a:t>
            </a:r>
            <a:r>
              <a:rPr dirty="0"/>
              <a:t>features</a:t>
            </a:r>
            <a:r>
              <a:rPr spc="-5" dirty="0"/>
              <a:t> </a:t>
            </a:r>
            <a:r>
              <a:rPr dirty="0"/>
              <a:t>including numerical</a:t>
            </a:r>
            <a:r>
              <a:rPr spc="-5" dirty="0"/>
              <a:t> </a:t>
            </a:r>
            <a:r>
              <a:rPr dirty="0"/>
              <a:t>ones,</a:t>
            </a:r>
            <a:r>
              <a:rPr spc="-5" dirty="0"/>
              <a:t> </a:t>
            </a:r>
            <a:r>
              <a:rPr spc="-45" dirty="0"/>
              <a:t>difficult</a:t>
            </a:r>
            <a:r>
              <a:rPr dirty="0"/>
              <a:t> </a:t>
            </a:r>
            <a:r>
              <a:rPr spc="-20" dirty="0"/>
              <a:t>to</a:t>
            </a:r>
            <a:r>
              <a:rPr spc="-5" dirty="0"/>
              <a:t> </a:t>
            </a:r>
            <a:r>
              <a:rPr dirty="0"/>
              <a:t>set</a:t>
            </a:r>
            <a:r>
              <a:rPr spc="-5" dirty="0"/>
              <a:t> </a:t>
            </a:r>
            <a:r>
              <a:rPr dirty="0"/>
              <a:t>up</a:t>
            </a:r>
            <a:r>
              <a:rPr spc="-5" dirty="0"/>
              <a:t> </a:t>
            </a:r>
            <a:r>
              <a:rPr spc="-25" dirty="0"/>
              <a:t>the </a:t>
            </a:r>
            <a:r>
              <a:rPr spc="-10" dirty="0"/>
              <a:t>structure</a:t>
            </a:r>
            <a:r>
              <a:rPr spc="-25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spc="-20" dirty="0"/>
              <a:t>hand</a:t>
            </a:r>
          </a:p>
          <a:p>
            <a:pPr marL="327660" marR="87630">
              <a:lnSpc>
                <a:spcPct val="118900"/>
              </a:lnSpc>
              <a:spcBef>
                <a:spcPts val="300"/>
              </a:spcBef>
            </a:pPr>
            <a:r>
              <a:rPr dirty="0"/>
              <a:t>Decision</a:t>
            </a:r>
            <a:r>
              <a:rPr spc="45" dirty="0"/>
              <a:t> </a:t>
            </a:r>
            <a:r>
              <a:rPr spc="-10" dirty="0"/>
              <a:t>Tree</a:t>
            </a:r>
            <a:r>
              <a:rPr spc="50" dirty="0"/>
              <a:t> </a:t>
            </a:r>
            <a:r>
              <a:rPr spc="-10" dirty="0"/>
              <a:t>structure</a:t>
            </a:r>
            <a:r>
              <a:rPr spc="50" dirty="0"/>
              <a:t> </a:t>
            </a:r>
            <a:r>
              <a:rPr dirty="0"/>
              <a:t>can</a:t>
            </a:r>
            <a:r>
              <a:rPr spc="45" dirty="0"/>
              <a:t> </a:t>
            </a:r>
            <a:r>
              <a:rPr dirty="0"/>
              <a:t>be</a:t>
            </a:r>
            <a:r>
              <a:rPr spc="50" dirty="0"/>
              <a:t> </a:t>
            </a:r>
            <a:r>
              <a:rPr dirty="0"/>
              <a:t>learned</a:t>
            </a:r>
            <a:r>
              <a:rPr spc="50" dirty="0"/>
              <a:t> </a:t>
            </a:r>
            <a:r>
              <a:rPr dirty="0"/>
              <a:t>using</a:t>
            </a:r>
            <a:r>
              <a:rPr spc="45" dirty="0"/>
              <a:t> </a:t>
            </a:r>
            <a:r>
              <a:rPr dirty="0"/>
              <a:t>machine</a:t>
            </a:r>
            <a:r>
              <a:rPr spc="50" dirty="0"/>
              <a:t> </a:t>
            </a:r>
            <a:r>
              <a:rPr dirty="0"/>
              <a:t>learning</a:t>
            </a:r>
            <a:r>
              <a:rPr spc="50" dirty="0"/>
              <a:t> </a:t>
            </a:r>
            <a:r>
              <a:rPr dirty="0"/>
              <a:t>over</a:t>
            </a:r>
            <a:r>
              <a:rPr spc="45" dirty="0"/>
              <a:t> </a:t>
            </a:r>
            <a:r>
              <a:rPr spc="-50" dirty="0"/>
              <a:t>a </a:t>
            </a:r>
            <a:r>
              <a:rPr spc="-20" dirty="0"/>
              <a:t>training</a:t>
            </a:r>
            <a:r>
              <a:rPr dirty="0"/>
              <a:t> </a:t>
            </a:r>
            <a:r>
              <a:rPr spc="-10" dirty="0"/>
              <a:t>corpus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968387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78420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388453"/>
            <a:ext cx="64757" cy="64757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770570"/>
            <a:ext cx="64757" cy="64757"/>
          </a:xfrm>
          <a:prstGeom prst="rect">
            <a:avLst/>
          </a:prstGeom>
        </p:spPr>
      </p:pic>
      <p:grpSp>
        <p:nvGrpSpPr>
          <p:cNvPr id="9" name="object 9" hidden="1"/>
          <p:cNvGrpSpPr/>
          <p:nvPr/>
        </p:nvGrpSpPr>
        <p:grpSpPr>
          <a:xfrm>
            <a:off x="135255" y="3347161"/>
            <a:ext cx="4608195" cy="109220"/>
            <a:chOff x="0" y="3347161"/>
            <a:chExt cx="4608195" cy="109220"/>
          </a:xfrm>
        </p:grpSpPr>
        <p:sp>
          <p:nvSpPr>
            <p:cNvPr id="10" name="object 1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5" name="object 15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6" name="object 16" hidden="1"/>
          <p:cNvSpPr txBox="1"/>
          <p:nvPr/>
        </p:nvSpPr>
        <p:spPr>
          <a:xfrm>
            <a:off x="4392295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154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Implementing</a:t>
            </a:r>
            <a:r>
              <a:rPr spc="130" dirty="0"/>
              <a:t> </a:t>
            </a:r>
            <a:r>
              <a:rPr dirty="0"/>
              <a:t>Decision</a:t>
            </a:r>
            <a:r>
              <a:rPr spc="135" dirty="0"/>
              <a:t> </a:t>
            </a:r>
            <a:r>
              <a:rPr spc="-10" dirty="0"/>
              <a:t>Trees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758355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968387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178420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597" y="1388453"/>
            <a:ext cx="64757" cy="6475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770570"/>
            <a:ext cx="64757" cy="6475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87743" y="2214854"/>
            <a:ext cx="4483735" cy="789305"/>
            <a:chOff x="87743" y="2214854"/>
            <a:chExt cx="4483735" cy="789305"/>
          </a:xfrm>
        </p:grpSpPr>
        <p:sp>
          <p:nvSpPr>
            <p:cNvPr id="9" name="object 9"/>
            <p:cNvSpPr/>
            <p:nvPr/>
          </p:nvSpPr>
          <p:spPr>
            <a:xfrm>
              <a:off x="87743" y="2214854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7744" y="2378519"/>
              <a:ext cx="4432554" cy="5060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902470"/>
              <a:ext cx="101600" cy="10160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889770"/>
              <a:ext cx="4381753" cy="11430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2259088"/>
              <a:ext cx="50800" cy="64338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87743" y="2422791"/>
              <a:ext cx="4432935" cy="530860"/>
            </a:xfrm>
            <a:custGeom>
              <a:avLst/>
              <a:gdLst/>
              <a:ahLst/>
              <a:cxnLst/>
              <a:rect l="l" t="t" r="r" b="b"/>
              <a:pathLst>
                <a:path w="4432935" h="530860">
                  <a:moveTo>
                    <a:pt x="4432554" y="0"/>
                  </a:moveTo>
                  <a:lnTo>
                    <a:pt x="0" y="0"/>
                  </a:lnTo>
                  <a:lnTo>
                    <a:pt x="0" y="479678"/>
                  </a:lnTo>
                  <a:lnTo>
                    <a:pt x="4008" y="499403"/>
                  </a:lnTo>
                  <a:lnTo>
                    <a:pt x="14922" y="515556"/>
                  </a:lnTo>
                  <a:lnTo>
                    <a:pt x="31075" y="526470"/>
                  </a:lnTo>
                  <a:lnTo>
                    <a:pt x="50800" y="530478"/>
                  </a:lnTo>
                  <a:lnTo>
                    <a:pt x="4381754" y="530478"/>
                  </a:lnTo>
                  <a:lnTo>
                    <a:pt x="4401478" y="526470"/>
                  </a:lnTo>
                  <a:lnTo>
                    <a:pt x="4417631" y="515556"/>
                  </a:lnTo>
                  <a:lnTo>
                    <a:pt x="4428545" y="499403"/>
                  </a:lnTo>
                  <a:lnTo>
                    <a:pt x="4432554" y="47967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520309" y="2297188"/>
              <a:ext cx="0" cy="624840"/>
            </a:xfrm>
            <a:custGeom>
              <a:avLst/>
              <a:gdLst/>
              <a:ahLst/>
              <a:cxnLst/>
              <a:rect l="l" t="t" r="r" b="b"/>
              <a:pathLst>
                <a:path h="624839">
                  <a:moveTo>
                    <a:pt x="0" y="62433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520309" y="22844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20309" y="22717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520309" y="22590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25729" y="627857"/>
            <a:ext cx="4220210" cy="22910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89560">
              <a:lnSpc>
                <a:spcPct val="100000"/>
              </a:lnSpc>
              <a:spcBef>
                <a:spcPts val="605"/>
              </a:spcBef>
            </a:pPr>
            <a:r>
              <a:rPr sz="950" dirty="0">
                <a:latin typeface="Trebuchet MS"/>
                <a:cs typeface="Trebuchet MS"/>
              </a:rPr>
              <a:t>Just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if-then-</a:t>
            </a:r>
            <a:r>
              <a:rPr sz="950" dirty="0">
                <a:latin typeface="Trebuchet MS"/>
                <a:cs typeface="Trebuchet MS"/>
              </a:rPr>
              <a:t>else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statement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spc="10" dirty="0">
                <a:latin typeface="Trebuchet MS"/>
                <a:cs typeface="Trebuchet MS"/>
              </a:rPr>
              <a:t>Choosing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more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important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numeric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features,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thresholds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picked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increasing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features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including numerical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ones,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difficult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up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the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hand</a:t>
            </a:r>
            <a:endParaRPr sz="950">
              <a:latin typeface="Trebuchet MS"/>
              <a:cs typeface="Trebuchet MS"/>
            </a:endParaRPr>
          </a:p>
          <a:p>
            <a:pPr marL="289560" marR="87630">
              <a:lnSpc>
                <a:spcPct val="118900"/>
              </a:lnSpc>
              <a:spcBef>
                <a:spcPts val="300"/>
              </a:spcBef>
            </a:pP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Tree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learned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machine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learning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a </a:t>
            </a:r>
            <a:r>
              <a:rPr sz="950" spc="-20" dirty="0">
                <a:latin typeface="Trebuchet MS"/>
                <a:cs typeface="Trebuchet MS"/>
              </a:rPr>
              <a:t>training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corpus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FF0000"/>
                </a:solidFill>
                <a:latin typeface="Cambria"/>
                <a:cs typeface="Cambria"/>
              </a:rPr>
              <a:t>Basic</a:t>
            </a:r>
            <a:r>
              <a:rPr sz="1100" i="1" spc="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FF0000"/>
                </a:solidFill>
                <a:latin typeface="Cambria"/>
                <a:cs typeface="Cambria"/>
              </a:rPr>
              <a:t>Idea</a:t>
            </a:r>
            <a:endParaRPr sz="1100">
              <a:latin typeface="Cambria"/>
              <a:cs typeface="Cambria"/>
            </a:endParaRPr>
          </a:p>
          <a:p>
            <a:pPr marL="12700" marR="34925">
              <a:lnSpc>
                <a:spcPct val="118900"/>
              </a:lnSpc>
              <a:spcBef>
                <a:spcPts val="110"/>
              </a:spcBef>
            </a:pPr>
            <a:r>
              <a:rPr sz="950" dirty="0">
                <a:latin typeface="Trebuchet MS"/>
                <a:cs typeface="Trebuchet MS"/>
              </a:rPr>
              <a:t>Usually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works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top-down,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choosing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variable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each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step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splits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set</a:t>
            </a:r>
            <a:r>
              <a:rPr sz="950" spc="-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items.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dirty="0">
                <a:latin typeface="Trebuchet MS"/>
                <a:cs typeface="Trebuchet MS"/>
              </a:rPr>
              <a:t>Popular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algorithms: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ID3,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C4.5,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80" dirty="0">
                <a:latin typeface="Trebuchet MS"/>
                <a:cs typeface="Trebuchet MS"/>
              </a:rPr>
              <a:t>CART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0" name="object 20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1" name="object 2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7" name="object 27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6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2636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Other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Classifiers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80" dirty="0"/>
              <a:t> </a:t>
            </a:r>
            <a:r>
              <a:rPr spc="-10" dirty="0"/>
              <a:t>Classifiers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1154945"/>
            <a:ext cx="4317365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questions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thought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features,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 </a:t>
            </a:r>
            <a:r>
              <a:rPr sz="950" spc="-10" dirty="0">
                <a:latin typeface="Trebuchet MS"/>
                <a:cs typeface="Trebuchet MS"/>
              </a:rPr>
              <a:t>exploited</a:t>
            </a:r>
            <a:r>
              <a:rPr sz="950" dirty="0">
                <a:latin typeface="Trebuchet MS"/>
                <a:cs typeface="Trebuchet MS"/>
              </a:rPr>
              <a:t> by any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classifier: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Other</a:t>
            </a:r>
            <a:r>
              <a:rPr spc="80" dirty="0"/>
              <a:t> </a:t>
            </a:r>
            <a:r>
              <a:rPr spc="-10" dirty="0"/>
              <a:t>Classifiers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629600"/>
            <a:ext cx="64757" cy="6475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839633"/>
            <a:ext cx="64757" cy="6475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2049665"/>
            <a:ext cx="64757" cy="6475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25729" y="1154945"/>
            <a:ext cx="4317365" cy="1000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questions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decision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tree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thought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features,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could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 </a:t>
            </a:r>
            <a:r>
              <a:rPr sz="950" spc="-10" dirty="0">
                <a:latin typeface="Trebuchet MS"/>
                <a:cs typeface="Trebuchet MS"/>
              </a:rPr>
              <a:t>exploited</a:t>
            </a:r>
            <a:r>
              <a:rPr sz="950" dirty="0">
                <a:latin typeface="Trebuchet MS"/>
                <a:cs typeface="Trebuchet MS"/>
              </a:rPr>
              <a:t> by any </a:t>
            </a:r>
            <a:r>
              <a:rPr sz="950" spc="-10" dirty="0">
                <a:latin typeface="Trebuchet MS"/>
                <a:cs typeface="Trebuchet MS"/>
              </a:rPr>
              <a:t>other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classifier:</a:t>
            </a:r>
            <a:endParaRPr sz="950">
              <a:latin typeface="Trebuchet MS"/>
              <a:cs typeface="Trebuchet MS"/>
            </a:endParaRPr>
          </a:p>
          <a:p>
            <a:pPr marL="289560" marR="2624455">
              <a:lnSpc>
                <a:spcPct val="145100"/>
              </a:lnSpc>
            </a:pPr>
            <a:r>
              <a:rPr sz="950" dirty="0">
                <a:latin typeface="Trebuchet MS"/>
                <a:cs typeface="Trebuchet MS"/>
              </a:rPr>
              <a:t>Support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Vector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Machines </a:t>
            </a:r>
            <a:r>
              <a:rPr sz="950" dirty="0">
                <a:latin typeface="Trebuchet MS"/>
                <a:cs typeface="Trebuchet MS"/>
              </a:rPr>
              <a:t>Logistic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regression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Neural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Networks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7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35" dirty="0"/>
              <a:t>Tokenization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3788"/>
            <a:ext cx="4483735" cy="448309"/>
            <a:chOff x="87743" y="743788"/>
            <a:chExt cx="4483735" cy="448309"/>
          </a:xfrm>
        </p:grpSpPr>
        <p:sp>
          <p:nvSpPr>
            <p:cNvPr id="4" name="object 4"/>
            <p:cNvSpPr/>
            <p:nvPr/>
          </p:nvSpPr>
          <p:spPr>
            <a:xfrm>
              <a:off x="87743" y="743788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0745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09011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07741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8022"/>
              <a:ext cx="50800" cy="3020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51687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26084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09">
                  <a:moveTo>
                    <a:pt x="0" y="2830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134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007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880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679541"/>
            <a:ext cx="4170679" cy="42735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What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Tokenization?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spc="-10" dirty="0">
                <a:latin typeface="Trebuchet MS"/>
                <a:cs typeface="Trebuchet MS"/>
              </a:rPr>
              <a:t>Tokenization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segmenting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characters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35" dirty="0"/>
              <a:t>Tokenization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43788"/>
            <a:ext cx="4483735" cy="448309"/>
            <a:chOff x="87743" y="743788"/>
            <a:chExt cx="4483735" cy="448309"/>
          </a:xfrm>
        </p:grpSpPr>
        <p:sp>
          <p:nvSpPr>
            <p:cNvPr id="4" name="object 4"/>
            <p:cNvSpPr/>
            <p:nvPr/>
          </p:nvSpPr>
          <p:spPr>
            <a:xfrm>
              <a:off x="87743" y="743788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07453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090117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077417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88022"/>
              <a:ext cx="50800" cy="30209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51687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26084"/>
              <a:ext cx="0" cy="283210"/>
            </a:xfrm>
            <a:custGeom>
              <a:avLst/>
              <a:gdLst/>
              <a:ahLst/>
              <a:cxnLst/>
              <a:rect l="l" t="t" r="r" b="b"/>
              <a:pathLst>
                <a:path h="283209">
                  <a:moveTo>
                    <a:pt x="0" y="2830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134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007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8801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91157"/>
            <a:ext cx="4483735" cy="648970"/>
            <a:chOff x="87743" y="1491157"/>
            <a:chExt cx="4483735" cy="648970"/>
          </a:xfrm>
        </p:grpSpPr>
        <p:sp>
          <p:nvSpPr>
            <p:cNvPr id="15" name="object 15"/>
            <p:cNvSpPr/>
            <p:nvPr/>
          </p:nvSpPr>
          <p:spPr>
            <a:xfrm>
              <a:off x="87743" y="1491157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654823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038235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025535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535392"/>
              <a:ext cx="50800" cy="50284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99145"/>
              <a:ext cx="4432935" cy="389890"/>
            </a:xfrm>
            <a:custGeom>
              <a:avLst/>
              <a:gdLst/>
              <a:ahLst/>
              <a:cxnLst/>
              <a:rect l="l" t="t" r="r" b="b"/>
              <a:pathLst>
                <a:path w="4432935" h="389889">
                  <a:moveTo>
                    <a:pt x="4432554" y="0"/>
                  </a:moveTo>
                  <a:lnTo>
                    <a:pt x="0" y="0"/>
                  </a:lnTo>
                  <a:lnTo>
                    <a:pt x="0" y="339090"/>
                  </a:lnTo>
                  <a:lnTo>
                    <a:pt x="4008" y="358814"/>
                  </a:lnTo>
                  <a:lnTo>
                    <a:pt x="14922" y="374967"/>
                  </a:lnTo>
                  <a:lnTo>
                    <a:pt x="31075" y="385881"/>
                  </a:lnTo>
                  <a:lnTo>
                    <a:pt x="50800" y="389890"/>
                  </a:lnTo>
                  <a:lnTo>
                    <a:pt x="4381754" y="389890"/>
                  </a:lnTo>
                  <a:lnTo>
                    <a:pt x="4401478" y="385881"/>
                  </a:lnTo>
                  <a:lnTo>
                    <a:pt x="4417631" y="374967"/>
                  </a:lnTo>
                  <a:lnTo>
                    <a:pt x="4428545" y="358814"/>
                  </a:lnTo>
                  <a:lnTo>
                    <a:pt x="4432554" y="33909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73542"/>
              <a:ext cx="0" cy="483870"/>
            </a:xfrm>
            <a:custGeom>
              <a:avLst/>
              <a:gdLst/>
              <a:ahLst/>
              <a:cxnLst/>
              <a:rect l="l" t="t" r="r" b="b"/>
              <a:pathLst>
                <a:path h="483869">
                  <a:moveTo>
                    <a:pt x="0" y="48374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607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480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3539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748840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1958873"/>
              <a:ext cx="64757" cy="64757"/>
            </a:xfrm>
            <a:prstGeom prst="rect">
              <a:avLst/>
            </a:prstGeom>
          </p:spPr>
        </p:pic>
      </p:grpSp>
      <p:grpSp>
        <p:nvGrpSpPr>
          <p:cNvPr id="27" name="object 27"/>
          <p:cNvGrpSpPr/>
          <p:nvPr/>
        </p:nvGrpSpPr>
        <p:grpSpPr>
          <a:xfrm>
            <a:off x="87743" y="2240965"/>
            <a:ext cx="4483735" cy="666115"/>
            <a:chOff x="87743" y="2240965"/>
            <a:chExt cx="4483735" cy="666115"/>
          </a:xfrm>
        </p:grpSpPr>
        <p:sp>
          <p:nvSpPr>
            <p:cNvPr id="28" name="object 28"/>
            <p:cNvSpPr/>
            <p:nvPr/>
          </p:nvSpPr>
          <p:spPr>
            <a:xfrm>
              <a:off x="87743" y="224096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CCE5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744" y="2413977"/>
              <a:ext cx="4432554" cy="5060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8544" y="2805175"/>
              <a:ext cx="101600" cy="1016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9344" y="2792476"/>
              <a:ext cx="4381753" cy="11430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20298" y="2285200"/>
              <a:ext cx="50800" cy="51997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7743" y="2458212"/>
              <a:ext cx="4432935" cy="398145"/>
            </a:xfrm>
            <a:custGeom>
              <a:avLst/>
              <a:gdLst/>
              <a:ahLst/>
              <a:cxnLst/>
              <a:rect l="l" t="t" r="r" b="b"/>
              <a:pathLst>
                <a:path w="4432935" h="398144">
                  <a:moveTo>
                    <a:pt x="4432554" y="0"/>
                  </a:moveTo>
                  <a:lnTo>
                    <a:pt x="0" y="0"/>
                  </a:lnTo>
                  <a:lnTo>
                    <a:pt x="0" y="346964"/>
                  </a:lnTo>
                  <a:lnTo>
                    <a:pt x="4008" y="366688"/>
                  </a:lnTo>
                  <a:lnTo>
                    <a:pt x="14922" y="382841"/>
                  </a:lnTo>
                  <a:lnTo>
                    <a:pt x="31075" y="393755"/>
                  </a:lnTo>
                  <a:lnTo>
                    <a:pt x="50800" y="397764"/>
                  </a:lnTo>
                  <a:lnTo>
                    <a:pt x="4381754" y="397764"/>
                  </a:lnTo>
                  <a:lnTo>
                    <a:pt x="4401478" y="393755"/>
                  </a:lnTo>
                  <a:lnTo>
                    <a:pt x="4417631" y="382841"/>
                  </a:lnTo>
                  <a:lnTo>
                    <a:pt x="4428545" y="366688"/>
                  </a:lnTo>
                  <a:lnTo>
                    <a:pt x="4432554" y="34696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5F2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323338"/>
              <a:ext cx="0" cy="501015"/>
            </a:xfrm>
            <a:custGeom>
              <a:avLst/>
              <a:gdLst/>
              <a:ahLst/>
              <a:cxnLst/>
              <a:rect l="l" t="t" r="r" b="b"/>
              <a:pathLst>
                <a:path h="501014">
                  <a:moveTo>
                    <a:pt x="0" y="50088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23105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20309" y="22978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20309" y="228518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81597" y="2507983"/>
              <a:ext cx="64757" cy="647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1597" y="2718016"/>
              <a:ext cx="64757" cy="64757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125729" y="679541"/>
            <a:ext cx="4170679" cy="214376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What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</a:t>
            </a:r>
            <a:r>
              <a:rPr sz="1100" i="1" spc="1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Tokenization?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950" spc="-10" dirty="0">
                <a:latin typeface="Trebuchet MS"/>
                <a:cs typeface="Trebuchet MS"/>
              </a:rPr>
              <a:t>Tokenization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process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segmenting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characters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950" i="1" dirty="0">
                <a:latin typeface="Trebuchet MS"/>
                <a:cs typeface="Trebuchet MS"/>
              </a:rPr>
              <a:t>I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have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can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opener;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but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I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can’t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open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these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cans.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i="1" spc="-75" dirty="0">
                <a:solidFill>
                  <a:srgbClr val="007F00"/>
                </a:solidFill>
                <a:latin typeface="Cambria"/>
                <a:cs typeface="Cambria"/>
              </a:rPr>
              <a:t>Word</a:t>
            </a:r>
            <a:r>
              <a:rPr sz="1100" i="1" spc="2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007F00"/>
                </a:solidFill>
                <a:latin typeface="Cambria"/>
                <a:cs typeface="Cambria"/>
              </a:rPr>
              <a:t>Token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350"/>
              </a:spcBef>
            </a:pPr>
            <a:r>
              <a:rPr sz="950" spc="50" dirty="0">
                <a:latin typeface="Trebuchet MS"/>
                <a:cs typeface="Trebuchet MS"/>
              </a:rPr>
              <a:t>An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occurrence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 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11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tokens.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75" dirty="0">
                <a:solidFill>
                  <a:srgbClr val="007F00"/>
                </a:solidFill>
                <a:latin typeface="Cambria"/>
                <a:cs typeface="Cambria"/>
              </a:rPr>
              <a:t>Word</a:t>
            </a:r>
            <a:r>
              <a:rPr sz="1100" i="1" spc="20" dirty="0">
                <a:solidFill>
                  <a:srgbClr val="007F00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007F00"/>
                </a:solidFill>
                <a:latin typeface="Cambria"/>
                <a:cs typeface="Cambria"/>
              </a:rPr>
              <a:t>Type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425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different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realization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word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above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10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types.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1" name="object 4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42" name="object 4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7" name="object 47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8" name="object 48" hidden="1"/>
          <p:cNvSpPr txBox="1"/>
          <p:nvPr/>
        </p:nvSpPr>
        <p:spPr>
          <a:xfrm>
            <a:off x="4355383" y="3339672"/>
            <a:ext cx="19875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8</a:t>
            </a:r>
            <a:r>
              <a:rPr sz="6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17754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Tokenization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practice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430261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1299979"/>
            <a:ext cx="1413510" cy="6553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5000"/>
              </a:lnSpc>
              <a:spcBef>
                <a:spcPts val="90"/>
              </a:spcBef>
            </a:pPr>
            <a:r>
              <a:rPr sz="950" i="0" spc="50" dirty="0">
                <a:solidFill>
                  <a:srgbClr val="000000"/>
                </a:solidFill>
                <a:latin typeface="Trebuchet MS"/>
                <a:cs typeface="Trebuchet MS"/>
              </a:rPr>
              <a:t>NLTK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Toolkit</a:t>
            </a:r>
            <a:r>
              <a:rPr sz="950" i="0" spc="-1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(Python)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Stanford</a:t>
            </a:r>
            <a:r>
              <a:rPr sz="950" i="0" spc="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CoreNLP</a:t>
            </a:r>
            <a:r>
              <a:rPr sz="950" i="0" spc="1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(Java)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Unix</a:t>
            </a:r>
            <a:r>
              <a:rPr sz="950" i="0" spc="60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40" dirty="0">
                <a:solidFill>
                  <a:srgbClr val="000000"/>
                </a:solidFill>
                <a:latin typeface="Trebuchet MS"/>
                <a:cs typeface="Trebuchet MS"/>
              </a:rPr>
              <a:t>Commands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640294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597" y="1850326"/>
            <a:ext cx="64757" cy="64757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63536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hidden="1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hidden="1"/>
          <p:cNvSpPr txBox="1"/>
          <p:nvPr/>
        </p:nvSpPr>
        <p:spPr>
          <a:xfrm>
            <a:off x="95250" y="60502"/>
            <a:ext cx="1375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Tokenization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 hidden="1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 hidden="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 hidden="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35" dirty="0"/>
              <a:t>Tokenization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4750"/>
            <a:ext cx="4483735" cy="1076960"/>
            <a:chOff x="87743" y="1024750"/>
            <a:chExt cx="4483735" cy="1076960"/>
          </a:xfrm>
        </p:grpSpPr>
        <p:sp>
          <p:nvSpPr>
            <p:cNvPr id="4" name="object 4"/>
            <p:cNvSpPr/>
            <p:nvPr/>
          </p:nvSpPr>
          <p:spPr>
            <a:xfrm>
              <a:off x="87743" y="102475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884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9969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8699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8984"/>
              <a:ext cx="50800" cy="9307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32738"/>
              <a:ext cx="4432935" cy="817880"/>
            </a:xfrm>
            <a:custGeom>
              <a:avLst/>
              <a:gdLst/>
              <a:ahLst/>
              <a:cxnLst/>
              <a:rect l="l" t="t" r="r" b="b"/>
              <a:pathLst>
                <a:path w="4432935" h="817880">
                  <a:moveTo>
                    <a:pt x="4432554" y="0"/>
                  </a:moveTo>
                  <a:lnTo>
                    <a:pt x="0" y="0"/>
                  </a:lnTo>
                  <a:lnTo>
                    <a:pt x="0" y="766953"/>
                  </a:lnTo>
                  <a:lnTo>
                    <a:pt x="4008" y="786677"/>
                  </a:lnTo>
                  <a:lnTo>
                    <a:pt x="14922" y="802830"/>
                  </a:lnTo>
                  <a:lnTo>
                    <a:pt x="31075" y="813744"/>
                  </a:lnTo>
                  <a:lnTo>
                    <a:pt x="50800" y="817753"/>
                  </a:lnTo>
                  <a:lnTo>
                    <a:pt x="4381754" y="817753"/>
                  </a:lnTo>
                  <a:lnTo>
                    <a:pt x="4401478" y="813744"/>
                  </a:lnTo>
                  <a:lnTo>
                    <a:pt x="4417631" y="802830"/>
                  </a:lnTo>
                  <a:lnTo>
                    <a:pt x="4428545" y="786677"/>
                  </a:lnTo>
                  <a:lnTo>
                    <a:pt x="4432554" y="76695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07135"/>
              <a:ext cx="0" cy="911860"/>
            </a:xfrm>
            <a:custGeom>
              <a:avLst/>
              <a:gdLst/>
              <a:ahLst/>
              <a:cxnLst/>
              <a:rect l="l" t="t" r="r" b="b"/>
              <a:pathLst>
                <a:path h="911860">
                  <a:moveTo>
                    <a:pt x="0" y="911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943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816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689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243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9246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0249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912531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729" y="978875"/>
            <a:ext cx="3300729" cy="104140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Issues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in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Tokenization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sz="950" dirty="0">
                <a:latin typeface="Trebuchet MS"/>
                <a:cs typeface="Trebuchet MS"/>
              </a:rPr>
              <a:t>Finland’s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Finland’s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 marR="5080">
              <a:lnSpc>
                <a:spcPct val="125299"/>
              </a:lnSpc>
            </a:pPr>
            <a:r>
              <a:rPr sz="950" spc="-30" dirty="0">
                <a:latin typeface="Trebuchet MS"/>
                <a:cs typeface="Trebuchet MS"/>
              </a:rPr>
              <a:t>What’re,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I’m,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shouldn’t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0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are,</a:t>
            </a:r>
            <a:r>
              <a:rPr sz="950" dirty="0">
                <a:latin typeface="Trebuchet MS"/>
                <a:cs typeface="Trebuchet MS"/>
              </a:rPr>
              <a:t> I am,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 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? </a:t>
            </a:r>
            <a:r>
              <a:rPr sz="950" spc="80" dirty="0">
                <a:latin typeface="Trebuchet MS"/>
                <a:cs typeface="Trebuchet MS"/>
              </a:rPr>
              <a:t>San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Francisco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4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token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950" spc="-20" dirty="0">
                <a:latin typeface="Trebuchet MS"/>
                <a:cs typeface="Trebuchet MS"/>
              </a:rPr>
              <a:t>m.p.h.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165" dirty="0">
                <a:latin typeface="Trebuchet MS"/>
                <a:cs typeface="Trebuchet MS"/>
              </a:rPr>
              <a:t>??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9" name="object 1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-5" dirty="0"/>
              <a:t> </a:t>
            </a:r>
            <a:r>
              <a:rPr spc="-35" dirty="0"/>
              <a:t>Tokenization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024750"/>
            <a:ext cx="4483735" cy="1076960"/>
            <a:chOff x="87743" y="1024750"/>
            <a:chExt cx="4483735" cy="1076960"/>
          </a:xfrm>
        </p:grpSpPr>
        <p:sp>
          <p:nvSpPr>
            <p:cNvPr id="4" name="object 4"/>
            <p:cNvSpPr/>
            <p:nvPr/>
          </p:nvSpPr>
          <p:spPr>
            <a:xfrm>
              <a:off x="87743" y="1024750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88415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99969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98699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68984"/>
              <a:ext cx="50800" cy="930706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232738"/>
              <a:ext cx="4432935" cy="817880"/>
            </a:xfrm>
            <a:custGeom>
              <a:avLst/>
              <a:gdLst/>
              <a:ahLst/>
              <a:cxnLst/>
              <a:rect l="l" t="t" r="r" b="b"/>
              <a:pathLst>
                <a:path w="4432935" h="817880">
                  <a:moveTo>
                    <a:pt x="4432554" y="0"/>
                  </a:moveTo>
                  <a:lnTo>
                    <a:pt x="0" y="0"/>
                  </a:lnTo>
                  <a:lnTo>
                    <a:pt x="0" y="766953"/>
                  </a:lnTo>
                  <a:lnTo>
                    <a:pt x="4008" y="786677"/>
                  </a:lnTo>
                  <a:lnTo>
                    <a:pt x="14922" y="802830"/>
                  </a:lnTo>
                  <a:lnTo>
                    <a:pt x="31075" y="813744"/>
                  </a:lnTo>
                  <a:lnTo>
                    <a:pt x="50800" y="817753"/>
                  </a:lnTo>
                  <a:lnTo>
                    <a:pt x="4381754" y="817753"/>
                  </a:lnTo>
                  <a:lnTo>
                    <a:pt x="4401478" y="813744"/>
                  </a:lnTo>
                  <a:lnTo>
                    <a:pt x="4417631" y="802830"/>
                  </a:lnTo>
                  <a:lnTo>
                    <a:pt x="4428545" y="786677"/>
                  </a:lnTo>
                  <a:lnTo>
                    <a:pt x="4432554" y="76695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107135"/>
              <a:ext cx="0" cy="911860"/>
            </a:xfrm>
            <a:custGeom>
              <a:avLst/>
              <a:gdLst/>
              <a:ahLst/>
              <a:cxnLst/>
              <a:rect l="l" t="t" r="r" b="b"/>
              <a:pathLst>
                <a:path h="911860">
                  <a:moveTo>
                    <a:pt x="0" y="91160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943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816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68984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282433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492466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702498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912531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202408"/>
            <a:ext cx="4483735" cy="283210"/>
            <a:chOff x="87743" y="2202408"/>
            <a:chExt cx="4483735" cy="283210"/>
          </a:xfrm>
        </p:grpSpPr>
        <p:sp>
          <p:nvSpPr>
            <p:cNvPr id="19" name="object 19"/>
            <p:cNvSpPr/>
            <p:nvPr/>
          </p:nvSpPr>
          <p:spPr>
            <a:xfrm>
              <a:off x="87743" y="2202408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423"/>
                  </a:lnTo>
                  <a:lnTo>
                    <a:pt x="4432554" y="82423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383726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371026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52980"/>
              <a:ext cx="50800" cy="13074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246820"/>
              <a:ext cx="4432935" cy="187960"/>
            </a:xfrm>
            <a:custGeom>
              <a:avLst/>
              <a:gdLst/>
              <a:ahLst/>
              <a:cxnLst/>
              <a:rect l="l" t="t" r="r" b="b"/>
              <a:pathLst>
                <a:path w="4432935" h="187960">
                  <a:moveTo>
                    <a:pt x="4432554" y="0"/>
                  </a:moveTo>
                  <a:lnTo>
                    <a:pt x="0" y="0"/>
                  </a:lnTo>
                  <a:lnTo>
                    <a:pt x="0" y="136906"/>
                  </a:lnTo>
                  <a:lnTo>
                    <a:pt x="4008" y="156630"/>
                  </a:lnTo>
                  <a:lnTo>
                    <a:pt x="14922" y="172783"/>
                  </a:lnTo>
                  <a:lnTo>
                    <a:pt x="31075" y="183697"/>
                  </a:lnTo>
                  <a:lnTo>
                    <a:pt x="50800" y="187706"/>
                  </a:lnTo>
                  <a:lnTo>
                    <a:pt x="4381754" y="187706"/>
                  </a:lnTo>
                  <a:lnTo>
                    <a:pt x="4401478" y="183697"/>
                  </a:lnTo>
                  <a:lnTo>
                    <a:pt x="4417631" y="172783"/>
                  </a:lnTo>
                  <a:lnTo>
                    <a:pt x="4428545" y="156630"/>
                  </a:lnTo>
                  <a:lnTo>
                    <a:pt x="4432554" y="13690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291143"/>
              <a:ext cx="0" cy="111760"/>
            </a:xfrm>
            <a:custGeom>
              <a:avLst/>
              <a:gdLst/>
              <a:ahLst/>
              <a:cxnLst/>
              <a:rect l="l" t="t" r="r" b="b"/>
              <a:pathLst>
                <a:path h="111760">
                  <a:moveTo>
                    <a:pt x="0" y="11163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783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656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252975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25729" y="978875"/>
            <a:ext cx="4291965" cy="1423035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Issues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in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Tokenization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200"/>
              </a:spcBef>
            </a:pPr>
            <a:r>
              <a:rPr sz="950" dirty="0">
                <a:latin typeface="Trebuchet MS"/>
                <a:cs typeface="Trebuchet MS"/>
              </a:rPr>
              <a:t>Finland’s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Finland’s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?</a:t>
            </a:r>
            <a:endParaRPr sz="950">
              <a:latin typeface="Trebuchet MS"/>
              <a:cs typeface="Trebuchet MS"/>
            </a:endParaRPr>
          </a:p>
          <a:p>
            <a:pPr marL="289560" marR="995680">
              <a:lnSpc>
                <a:spcPct val="125299"/>
              </a:lnSpc>
            </a:pPr>
            <a:r>
              <a:rPr sz="950" spc="-30" dirty="0">
                <a:latin typeface="Trebuchet MS"/>
                <a:cs typeface="Trebuchet MS"/>
              </a:rPr>
              <a:t>What’re,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I’m,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shouldn’t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0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What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are,</a:t>
            </a:r>
            <a:r>
              <a:rPr sz="950" dirty="0">
                <a:latin typeface="Trebuchet MS"/>
                <a:cs typeface="Trebuchet MS"/>
              </a:rPr>
              <a:t> I am,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 not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140" dirty="0">
                <a:latin typeface="Trebuchet MS"/>
                <a:cs typeface="Trebuchet MS"/>
              </a:rPr>
              <a:t>? </a:t>
            </a:r>
            <a:r>
              <a:rPr sz="950" spc="80" dirty="0">
                <a:latin typeface="Trebuchet MS"/>
                <a:cs typeface="Trebuchet MS"/>
              </a:rPr>
              <a:t>San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Francisco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4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token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two?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</a:pPr>
            <a:r>
              <a:rPr sz="950" spc="-20" dirty="0">
                <a:latin typeface="Trebuchet MS"/>
                <a:cs typeface="Trebuchet MS"/>
              </a:rPr>
              <a:t>m.p.h.</a:t>
            </a:r>
            <a:r>
              <a:rPr sz="950" spc="-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165" dirty="0">
                <a:latin typeface="Trebuchet MS"/>
                <a:cs typeface="Trebuchet MS"/>
              </a:rPr>
              <a:t>??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dirty="0">
                <a:latin typeface="Trebuchet MS"/>
                <a:cs typeface="Trebuchet MS"/>
              </a:rPr>
              <a:t>For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retrieval,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spc="50" dirty="0">
                <a:latin typeface="Trebuchet MS"/>
                <a:cs typeface="Trebuchet MS"/>
              </a:rPr>
              <a:t>use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convention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3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documents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queries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701164" cy="5740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Handling</a:t>
            </a:r>
            <a:r>
              <a:rPr sz="14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Hyphenation</a:t>
            </a:r>
            <a:endParaRPr sz="1400">
              <a:latin typeface="Cambria"/>
              <a:cs typeface="Cambria"/>
            </a:endParaRPr>
          </a:p>
          <a:p>
            <a:pPr marL="43180">
              <a:lnSpc>
                <a:spcPct val="100000"/>
              </a:lnSpc>
              <a:spcBef>
                <a:spcPts val="1455"/>
              </a:spcBef>
            </a:pPr>
            <a:r>
              <a:rPr sz="950" spc="10" dirty="0">
                <a:latin typeface="Trebuchet MS"/>
                <a:cs typeface="Trebuchet MS"/>
              </a:rPr>
              <a:t>Hyphens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can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Handling</a:t>
            </a:r>
            <a:r>
              <a:rPr spc="50" dirty="0"/>
              <a:t> </a:t>
            </a:r>
            <a:r>
              <a:rPr spc="-10" dirty="0"/>
              <a:t>Hyphenation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24420"/>
            <a:ext cx="4483735" cy="800100"/>
            <a:chOff x="87743" y="724420"/>
            <a:chExt cx="4483735" cy="800100"/>
          </a:xfrm>
        </p:grpSpPr>
        <p:sp>
          <p:nvSpPr>
            <p:cNvPr id="4" name="object 4"/>
            <p:cNvSpPr/>
            <p:nvPr/>
          </p:nvSpPr>
          <p:spPr>
            <a:xfrm>
              <a:off x="87743" y="72442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9743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2275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1005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68655"/>
              <a:ext cx="50800" cy="654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41679"/>
              <a:ext cx="4432935" cy="532130"/>
            </a:xfrm>
            <a:custGeom>
              <a:avLst/>
              <a:gdLst/>
              <a:ahLst/>
              <a:cxnLst/>
              <a:rect l="l" t="t" r="r" b="b"/>
              <a:pathLst>
                <a:path w="4432935" h="532130">
                  <a:moveTo>
                    <a:pt x="4432554" y="0"/>
                  </a:moveTo>
                  <a:lnTo>
                    <a:pt x="0" y="0"/>
                  </a:lnTo>
                  <a:lnTo>
                    <a:pt x="0" y="481075"/>
                  </a:lnTo>
                  <a:lnTo>
                    <a:pt x="4008" y="500800"/>
                  </a:lnTo>
                  <a:lnTo>
                    <a:pt x="14922" y="516953"/>
                  </a:lnTo>
                  <a:lnTo>
                    <a:pt x="31075" y="527867"/>
                  </a:lnTo>
                  <a:lnTo>
                    <a:pt x="50800" y="531876"/>
                  </a:lnTo>
                  <a:lnTo>
                    <a:pt x="4381754" y="531876"/>
                  </a:lnTo>
                  <a:lnTo>
                    <a:pt x="4401478" y="527867"/>
                  </a:lnTo>
                  <a:lnTo>
                    <a:pt x="4417631" y="516953"/>
                  </a:lnTo>
                  <a:lnTo>
                    <a:pt x="4428545" y="500800"/>
                  </a:lnTo>
                  <a:lnTo>
                    <a:pt x="4432554" y="48107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06805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94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81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68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5729" y="373051"/>
            <a:ext cx="4120515" cy="106807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950" spc="10" dirty="0">
                <a:latin typeface="Trebuchet MS"/>
                <a:cs typeface="Trebuchet MS"/>
              </a:rPr>
              <a:t>Hyphens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can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End-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of-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Line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Hyphen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60" dirty="0">
                <a:latin typeface="Trebuchet MS"/>
                <a:cs typeface="Trebuchet MS"/>
              </a:rPr>
              <a:t>Used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splitting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whole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spc="-10" dirty="0">
                <a:latin typeface="Trebuchet MS"/>
                <a:cs typeface="Trebuchet MS"/>
              </a:rPr>
              <a:t> justification.</a:t>
            </a: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900"/>
              </a:lnSpc>
            </a:pPr>
            <a:r>
              <a:rPr sz="950" i="1" dirty="0">
                <a:latin typeface="Trebuchet MS"/>
                <a:cs typeface="Trebuchet MS"/>
              </a:rPr>
              <a:t>This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paper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describes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MIMIC,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adaptive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mixed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initia-</a:t>
            </a:r>
            <a:r>
              <a:rPr sz="950" i="1" spc="-30" dirty="0">
                <a:latin typeface="Trebuchet MS"/>
                <a:cs typeface="Trebuchet MS"/>
              </a:rPr>
              <a:t>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spoken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dialogue </a:t>
            </a:r>
            <a:r>
              <a:rPr sz="950" i="1" dirty="0">
                <a:latin typeface="Trebuchet MS"/>
                <a:cs typeface="Trebuchet MS"/>
              </a:rPr>
              <a:t>system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provides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movie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show-</a:t>
            </a:r>
            <a:r>
              <a:rPr sz="950" i="1" spc="-25" dirty="0">
                <a:latin typeface="Trebuchet MS"/>
                <a:cs typeface="Trebuchet MS"/>
              </a:rPr>
              <a:t>time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information.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Handling</a:t>
            </a:r>
            <a:r>
              <a:rPr spc="50" dirty="0"/>
              <a:t> </a:t>
            </a:r>
            <a:r>
              <a:rPr spc="-10" dirty="0"/>
              <a:t>Hyphenation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24420"/>
            <a:ext cx="4483735" cy="800100"/>
            <a:chOff x="87743" y="724420"/>
            <a:chExt cx="4483735" cy="800100"/>
          </a:xfrm>
        </p:grpSpPr>
        <p:sp>
          <p:nvSpPr>
            <p:cNvPr id="4" name="object 4"/>
            <p:cNvSpPr/>
            <p:nvPr/>
          </p:nvSpPr>
          <p:spPr>
            <a:xfrm>
              <a:off x="87743" y="72442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9743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2275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1005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68655"/>
              <a:ext cx="50800" cy="654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41679"/>
              <a:ext cx="4432935" cy="532130"/>
            </a:xfrm>
            <a:custGeom>
              <a:avLst/>
              <a:gdLst/>
              <a:ahLst/>
              <a:cxnLst/>
              <a:rect l="l" t="t" r="r" b="b"/>
              <a:pathLst>
                <a:path w="4432935" h="532130">
                  <a:moveTo>
                    <a:pt x="4432554" y="0"/>
                  </a:moveTo>
                  <a:lnTo>
                    <a:pt x="0" y="0"/>
                  </a:lnTo>
                  <a:lnTo>
                    <a:pt x="0" y="481075"/>
                  </a:lnTo>
                  <a:lnTo>
                    <a:pt x="4008" y="500800"/>
                  </a:lnTo>
                  <a:lnTo>
                    <a:pt x="14922" y="516953"/>
                  </a:lnTo>
                  <a:lnTo>
                    <a:pt x="31075" y="527867"/>
                  </a:lnTo>
                  <a:lnTo>
                    <a:pt x="50800" y="531876"/>
                  </a:lnTo>
                  <a:lnTo>
                    <a:pt x="4381754" y="531876"/>
                  </a:lnTo>
                  <a:lnTo>
                    <a:pt x="4401478" y="527867"/>
                  </a:lnTo>
                  <a:lnTo>
                    <a:pt x="4417631" y="516953"/>
                  </a:lnTo>
                  <a:lnTo>
                    <a:pt x="4428545" y="500800"/>
                  </a:lnTo>
                  <a:lnTo>
                    <a:pt x="4432554" y="48107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06805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94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81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68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25473"/>
            <a:ext cx="4483735" cy="457834"/>
            <a:chOff x="87743" y="1625473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62547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798497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98116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968462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669720"/>
              <a:ext cx="50800" cy="31144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842732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07858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6951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6824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697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5729" y="373051"/>
            <a:ext cx="4323080" cy="162496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950" spc="10" dirty="0">
                <a:latin typeface="Trebuchet MS"/>
                <a:cs typeface="Trebuchet MS"/>
              </a:rPr>
              <a:t>Hyphens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can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End-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of-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Line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Hyphen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60" dirty="0">
                <a:latin typeface="Trebuchet MS"/>
                <a:cs typeface="Trebuchet MS"/>
              </a:rPr>
              <a:t>Used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splitting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whole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spc="-10" dirty="0">
                <a:latin typeface="Trebuchet MS"/>
                <a:cs typeface="Trebuchet MS"/>
              </a:rPr>
              <a:t> justification.</a:t>
            </a:r>
            <a:endParaRPr sz="950">
              <a:latin typeface="Trebuchet MS"/>
              <a:cs typeface="Trebuchet MS"/>
            </a:endParaRPr>
          </a:p>
          <a:p>
            <a:pPr marL="12700" marR="207010">
              <a:lnSpc>
                <a:spcPct val="118900"/>
              </a:lnSpc>
            </a:pPr>
            <a:r>
              <a:rPr sz="950" i="1" dirty="0">
                <a:latin typeface="Trebuchet MS"/>
                <a:cs typeface="Trebuchet MS"/>
              </a:rPr>
              <a:t>This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paper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describes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MIMIC,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adaptive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mixed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initia-</a:t>
            </a:r>
            <a:r>
              <a:rPr sz="950" i="1" spc="-30" dirty="0">
                <a:latin typeface="Trebuchet MS"/>
                <a:cs typeface="Trebuchet MS"/>
              </a:rPr>
              <a:t>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spoken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dialogue </a:t>
            </a:r>
            <a:r>
              <a:rPr sz="950" i="1" dirty="0">
                <a:latin typeface="Trebuchet MS"/>
                <a:cs typeface="Trebuchet MS"/>
              </a:rPr>
              <a:t>system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provides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movie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show-</a:t>
            </a:r>
            <a:r>
              <a:rPr sz="950" i="1" spc="-25" dirty="0">
                <a:latin typeface="Trebuchet MS"/>
                <a:cs typeface="Trebuchet MS"/>
              </a:rPr>
              <a:t>time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information.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Hyphen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Certain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prefixes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offen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written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hyphenated,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e.g.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meta-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multi-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6" name="object 2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7" name="object 2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2" name="object 3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3" name="object 3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Handling</a:t>
            </a:r>
            <a:r>
              <a:rPr spc="50" dirty="0"/>
              <a:t> </a:t>
            </a:r>
            <a:r>
              <a:rPr spc="-10" dirty="0"/>
              <a:t>Hyphenation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24420"/>
            <a:ext cx="4483735" cy="800100"/>
            <a:chOff x="87743" y="724420"/>
            <a:chExt cx="4483735" cy="800100"/>
          </a:xfrm>
        </p:grpSpPr>
        <p:sp>
          <p:nvSpPr>
            <p:cNvPr id="4" name="object 4"/>
            <p:cNvSpPr/>
            <p:nvPr/>
          </p:nvSpPr>
          <p:spPr>
            <a:xfrm>
              <a:off x="87743" y="72442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89743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422755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410055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768655"/>
              <a:ext cx="50800" cy="6541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41679"/>
              <a:ext cx="4432935" cy="532130"/>
            </a:xfrm>
            <a:custGeom>
              <a:avLst/>
              <a:gdLst/>
              <a:ahLst/>
              <a:cxnLst/>
              <a:rect l="l" t="t" r="r" b="b"/>
              <a:pathLst>
                <a:path w="4432935" h="532130">
                  <a:moveTo>
                    <a:pt x="4432554" y="0"/>
                  </a:moveTo>
                  <a:lnTo>
                    <a:pt x="0" y="0"/>
                  </a:lnTo>
                  <a:lnTo>
                    <a:pt x="0" y="481075"/>
                  </a:lnTo>
                  <a:lnTo>
                    <a:pt x="4008" y="500800"/>
                  </a:lnTo>
                  <a:lnTo>
                    <a:pt x="14922" y="516953"/>
                  </a:lnTo>
                  <a:lnTo>
                    <a:pt x="31075" y="527867"/>
                  </a:lnTo>
                  <a:lnTo>
                    <a:pt x="50800" y="531876"/>
                  </a:lnTo>
                  <a:lnTo>
                    <a:pt x="4381754" y="531876"/>
                  </a:lnTo>
                  <a:lnTo>
                    <a:pt x="4401478" y="527867"/>
                  </a:lnTo>
                  <a:lnTo>
                    <a:pt x="4417631" y="516953"/>
                  </a:lnTo>
                  <a:lnTo>
                    <a:pt x="4428545" y="500800"/>
                  </a:lnTo>
                  <a:lnTo>
                    <a:pt x="4432554" y="481075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06805"/>
              <a:ext cx="0" cy="635000"/>
            </a:xfrm>
            <a:custGeom>
              <a:avLst/>
              <a:gdLst/>
              <a:ahLst/>
              <a:cxnLst/>
              <a:rect l="l" t="t" r="r" b="b"/>
              <a:pathLst>
                <a:path h="635000">
                  <a:moveTo>
                    <a:pt x="0" y="635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794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781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768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625473"/>
            <a:ext cx="4483735" cy="457834"/>
            <a:chOff x="87743" y="1625473"/>
            <a:chExt cx="4483735" cy="457834"/>
          </a:xfrm>
        </p:grpSpPr>
        <p:sp>
          <p:nvSpPr>
            <p:cNvPr id="15" name="object 15"/>
            <p:cNvSpPr/>
            <p:nvPr/>
          </p:nvSpPr>
          <p:spPr>
            <a:xfrm>
              <a:off x="87743" y="1625473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798497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1981162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1968462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669720"/>
              <a:ext cx="50800" cy="31144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842732"/>
              <a:ext cx="4432935" cy="189230"/>
            </a:xfrm>
            <a:custGeom>
              <a:avLst/>
              <a:gdLst/>
              <a:ahLst/>
              <a:cxnLst/>
              <a:rect l="l" t="t" r="r" b="b"/>
              <a:pathLst>
                <a:path w="4432935" h="189230">
                  <a:moveTo>
                    <a:pt x="4432554" y="0"/>
                  </a:moveTo>
                  <a:lnTo>
                    <a:pt x="0" y="0"/>
                  </a:lnTo>
                  <a:lnTo>
                    <a:pt x="0" y="138430"/>
                  </a:lnTo>
                  <a:lnTo>
                    <a:pt x="4008" y="158154"/>
                  </a:lnTo>
                  <a:lnTo>
                    <a:pt x="14922" y="174307"/>
                  </a:lnTo>
                  <a:lnTo>
                    <a:pt x="31075" y="185221"/>
                  </a:lnTo>
                  <a:lnTo>
                    <a:pt x="50800" y="189230"/>
                  </a:lnTo>
                  <a:lnTo>
                    <a:pt x="4381754" y="189230"/>
                  </a:lnTo>
                  <a:lnTo>
                    <a:pt x="4401478" y="185221"/>
                  </a:lnTo>
                  <a:lnTo>
                    <a:pt x="4417631" y="174307"/>
                  </a:lnTo>
                  <a:lnTo>
                    <a:pt x="4428545" y="158154"/>
                  </a:lnTo>
                  <a:lnTo>
                    <a:pt x="4432554" y="13843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707858"/>
              <a:ext cx="0" cy="292735"/>
            </a:xfrm>
            <a:custGeom>
              <a:avLst/>
              <a:gdLst/>
              <a:ahLst/>
              <a:cxnLst/>
              <a:rect l="l" t="t" r="r" b="b"/>
              <a:pathLst>
                <a:path h="292735">
                  <a:moveTo>
                    <a:pt x="0" y="29235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6951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6824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66970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87743" y="2183892"/>
            <a:ext cx="4483735" cy="1049655"/>
            <a:chOff x="87743" y="2183892"/>
            <a:chExt cx="4483735" cy="1049655"/>
          </a:xfrm>
        </p:grpSpPr>
        <p:sp>
          <p:nvSpPr>
            <p:cNvPr id="26" name="object 26"/>
            <p:cNvSpPr/>
            <p:nvPr/>
          </p:nvSpPr>
          <p:spPr>
            <a:xfrm>
              <a:off x="87743" y="218389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2356904"/>
              <a:ext cx="4432554" cy="5060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3131718"/>
              <a:ext cx="101600" cy="101600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3119018"/>
              <a:ext cx="4381753" cy="11430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228126"/>
              <a:ext cx="50800" cy="90359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7743" y="2401214"/>
              <a:ext cx="4432935" cy="781685"/>
            </a:xfrm>
            <a:custGeom>
              <a:avLst/>
              <a:gdLst/>
              <a:ahLst/>
              <a:cxnLst/>
              <a:rect l="l" t="t" r="r" b="b"/>
              <a:pathLst>
                <a:path w="4432935" h="781685">
                  <a:moveTo>
                    <a:pt x="4432554" y="0"/>
                  </a:moveTo>
                  <a:lnTo>
                    <a:pt x="0" y="0"/>
                  </a:lnTo>
                  <a:lnTo>
                    <a:pt x="0" y="730504"/>
                  </a:lnTo>
                  <a:lnTo>
                    <a:pt x="4008" y="750228"/>
                  </a:lnTo>
                  <a:lnTo>
                    <a:pt x="14922" y="766381"/>
                  </a:lnTo>
                  <a:lnTo>
                    <a:pt x="31075" y="777295"/>
                  </a:lnTo>
                  <a:lnTo>
                    <a:pt x="50800" y="781304"/>
                  </a:lnTo>
                  <a:lnTo>
                    <a:pt x="4381754" y="781304"/>
                  </a:lnTo>
                  <a:lnTo>
                    <a:pt x="4401478" y="777295"/>
                  </a:lnTo>
                  <a:lnTo>
                    <a:pt x="4417631" y="766381"/>
                  </a:lnTo>
                  <a:lnTo>
                    <a:pt x="4428545" y="750228"/>
                  </a:lnTo>
                  <a:lnTo>
                    <a:pt x="4432554" y="73050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20309" y="2266213"/>
              <a:ext cx="0" cy="884555"/>
            </a:xfrm>
            <a:custGeom>
              <a:avLst/>
              <a:gdLst/>
              <a:ahLst/>
              <a:cxnLst/>
              <a:rect l="l" t="t" r="r" b="b"/>
              <a:pathLst>
                <a:path h="884555">
                  <a:moveTo>
                    <a:pt x="0" y="88455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520309" y="2253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20309" y="22408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20309" y="22281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660954"/>
              <a:ext cx="64757" cy="64757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870987"/>
              <a:ext cx="64757" cy="64757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25729" y="373051"/>
            <a:ext cx="4323080" cy="2774950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950" spc="10" dirty="0">
                <a:latin typeface="Trebuchet MS"/>
                <a:cs typeface="Trebuchet MS"/>
              </a:rPr>
              <a:t>Hyphens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can</a:t>
            </a:r>
            <a:r>
              <a:rPr sz="950" spc="114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be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End-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of-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Line</a:t>
            </a:r>
            <a:r>
              <a:rPr sz="1100" i="1" spc="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Hyphen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spc="60" dirty="0">
                <a:latin typeface="Trebuchet MS"/>
                <a:cs typeface="Trebuchet MS"/>
              </a:rPr>
              <a:t>Used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splitting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whole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into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spc="-10" dirty="0">
                <a:latin typeface="Trebuchet MS"/>
                <a:cs typeface="Trebuchet MS"/>
              </a:rPr>
              <a:t> justification.</a:t>
            </a:r>
            <a:endParaRPr sz="950">
              <a:latin typeface="Trebuchet MS"/>
              <a:cs typeface="Trebuchet MS"/>
            </a:endParaRPr>
          </a:p>
          <a:p>
            <a:pPr marL="12700" marR="207010">
              <a:lnSpc>
                <a:spcPct val="118900"/>
              </a:lnSpc>
            </a:pPr>
            <a:r>
              <a:rPr sz="950" i="1" dirty="0">
                <a:latin typeface="Trebuchet MS"/>
                <a:cs typeface="Trebuchet MS"/>
              </a:rPr>
              <a:t>This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paper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describes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MIMIC,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adaptive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mixed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initia-</a:t>
            </a:r>
            <a:r>
              <a:rPr sz="950" i="1" spc="-30" dirty="0">
                <a:latin typeface="Trebuchet MS"/>
                <a:cs typeface="Trebuchet MS"/>
              </a:rPr>
              <a:t>tive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spoken</a:t>
            </a:r>
            <a:r>
              <a:rPr sz="950" i="1" spc="80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dialogue </a:t>
            </a:r>
            <a:r>
              <a:rPr sz="950" i="1" dirty="0">
                <a:latin typeface="Trebuchet MS"/>
                <a:cs typeface="Trebuchet MS"/>
              </a:rPr>
              <a:t>system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55" dirty="0">
                <a:latin typeface="Trebuchet MS"/>
                <a:cs typeface="Trebuchet MS"/>
              </a:rPr>
              <a:t>that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provides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movie</a:t>
            </a:r>
            <a:r>
              <a:rPr sz="950" i="1" spc="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show-</a:t>
            </a:r>
            <a:r>
              <a:rPr sz="950" i="1" spc="-25" dirty="0">
                <a:latin typeface="Trebuchet MS"/>
                <a:cs typeface="Trebuchet MS"/>
              </a:rPr>
              <a:t>time</a:t>
            </a:r>
            <a:r>
              <a:rPr sz="950" i="1" spc="4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information.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9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Lexical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Hyphen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Certain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prefixes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offen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written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hyphenated,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e.g.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co-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pre-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meta-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multi-</a:t>
            </a:r>
            <a:r>
              <a:rPr sz="950" dirty="0">
                <a:latin typeface="Trebuchet MS"/>
                <a:cs typeface="Trebuchet MS"/>
              </a:rPr>
              <a:t>,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Sententially</a:t>
            </a:r>
            <a:r>
              <a:rPr sz="1100" i="1" spc="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Determined</a:t>
            </a:r>
            <a:r>
              <a:rPr sz="1100" i="1" spc="3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Hyphenation</a:t>
            </a:r>
            <a:endParaRPr sz="1100">
              <a:latin typeface="Cambria"/>
              <a:cs typeface="Cambria"/>
            </a:endParaRPr>
          </a:p>
          <a:p>
            <a:pPr marL="289560" marR="280035" indent="-277495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Mainly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prevent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incorrect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parsing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phrase.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spc="65" dirty="0">
                <a:latin typeface="Trebuchet MS"/>
                <a:cs typeface="Trebuchet MS"/>
              </a:rPr>
              <a:t>Some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possible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usages: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modified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‘ed’-</a:t>
            </a:r>
            <a:r>
              <a:rPr sz="950" spc="-10" dirty="0">
                <a:latin typeface="Trebuchet MS"/>
                <a:cs typeface="Trebuchet MS"/>
              </a:rPr>
              <a:t>verb:</a:t>
            </a:r>
            <a:r>
              <a:rPr sz="950" spc="15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case-based,</a:t>
            </a:r>
            <a:r>
              <a:rPr sz="950" i="1" spc="7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hand-</a:t>
            </a:r>
            <a:r>
              <a:rPr sz="950" i="1" spc="-10" dirty="0">
                <a:latin typeface="Trebuchet MS"/>
                <a:cs typeface="Trebuchet MS"/>
              </a:rPr>
              <a:t>delivered</a:t>
            </a:r>
            <a:endParaRPr sz="950">
              <a:latin typeface="Trebuchet MS"/>
              <a:cs typeface="Trebuchet MS"/>
            </a:endParaRPr>
          </a:p>
          <a:p>
            <a:pPr marL="289560" marR="56515">
              <a:lnSpc>
                <a:spcPct val="118900"/>
              </a:lnSpc>
              <a:spcBef>
                <a:spcPts val="160"/>
              </a:spcBef>
            </a:pPr>
            <a:r>
              <a:rPr sz="950" dirty="0">
                <a:latin typeface="Trebuchet MS"/>
                <a:cs typeface="Trebuchet MS"/>
              </a:rPr>
              <a:t>Entire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expression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70" dirty="0">
                <a:latin typeface="Trebuchet MS"/>
                <a:cs typeface="Trebuchet MS"/>
              </a:rPr>
              <a:t>as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modifier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noun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group: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i="1" spc="-45" dirty="0">
                <a:latin typeface="Trebuchet MS"/>
                <a:cs typeface="Trebuchet MS"/>
              </a:rPr>
              <a:t>three-</a:t>
            </a:r>
            <a:r>
              <a:rPr sz="950" i="1" spc="-40" dirty="0">
                <a:latin typeface="Trebuchet MS"/>
                <a:cs typeface="Trebuchet MS"/>
              </a:rPr>
              <a:t>to-</a:t>
            </a:r>
            <a:r>
              <a:rPr sz="950" i="1" spc="-25" dirty="0">
                <a:latin typeface="Trebuchet MS"/>
                <a:cs typeface="Trebuchet MS"/>
              </a:rPr>
              <a:t>five-</a:t>
            </a:r>
            <a:r>
              <a:rPr sz="950" i="1" dirty="0">
                <a:latin typeface="Trebuchet MS"/>
                <a:cs typeface="Trebuchet MS"/>
              </a:rPr>
              <a:t>year</a:t>
            </a:r>
            <a:r>
              <a:rPr sz="950" i="1" spc="2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direct marketing </a:t>
            </a:r>
            <a:r>
              <a:rPr sz="950" i="1" spc="-20" dirty="0">
                <a:latin typeface="Trebuchet MS"/>
                <a:cs typeface="Trebuchet MS"/>
              </a:rPr>
              <a:t>plan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9" name="object 3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40" name="object 4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 hidden="1"/>
          <p:cNvSpPr txBox="1"/>
          <p:nvPr/>
        </p:nvSpPr>
        <p:spPr>
          <a:xfrm>
            <a:off x="1930171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5" name="object 4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46" name="object 46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4391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Language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Specific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Issues:</a:t>
            </a:r>
            <a:r>
              <a:rPr sz="1400" i="1" spc="1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French</a:t>
            </a:r>
            <a:r>
              <a:rPr sz="14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German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7743" y="971512"/>
            <a:ext cx="4483735" cy="419100"/>
            <a:chOff x="87743" y="971512"/>
            <a:chExt cx="4483735" cy="419100"/>
          </a:xfrm>
        </p:grpSpPr>
        <p:sp>
          <p:nvSpPr>
            <p:cNvPr id="5" name="object 5"/>
            <p:cNvSpPr/>
            <p:nvPr/>
          </p:nvSpPr>
          <p:spPr>
            <a:xfrm>
              <a:off x="87743" y="97151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35176"/>
              <a:ext cx="4432554" cy="50609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8796"/>
              <a:ext cx="101600" cy="1016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6096"/>
              <a:ext cx="4381753" cy="114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5746"/>
              <a:ext cx="50800" cy="27305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87743" y="1179449"/>
              <a:ext cx="4432935" cy="160655"/>
            </a:xfrm>
            <a:custGeom>
              <a:avLst/>
              <a:gdLst/>
              <a:ahLst/>
              <a:cxnLst/>
              <a:rect l="l" t="t" r="r" b="b"/>
              <a:pathLst>
                <a:path w="4432935" h="160655">
                  <a:moveTo>
                    <a:pt x="4432554" y="0"/>
                  </a:moveTo>
                  <a:lnTo>
                    <a:pt x="0" y="0"/>
                  </a:lnTo>
                  <a:lnTo>
                    <a:pt x="0" y="109346"/>
                  </a:lnTo>
                  <a:lnTo>
                    <a:pt x="4008" y="129071"/>
                  </a:lnTo>
                  <a:lnTo>
                    <a:pt x="14922" y="145224"/>
                  </a:lnTo>
                  <a:lnTo>
                    <a:pt x="31075" y="156138"/>
                  </a:lnTo>
                  <a:lnTo>
                    <a:pt x="50800" y="160146"/>
                  </a:lnTo>
                  <a:lnTo>
                    <a:pt x="4381754" y="160146"/>
                  </a:lnTo>
                  <a:lnTo>
                    <a:pt x="4401478" y="156138"/>
                  </a:lnTo>
                  <a:lnTo>
                    <a:pt x="4417631" y="145224"/>
                  </a:lnTo>
                  <a:lnTo>
                    <a:pt x="4428545" y="129071"/>
                  </a:lnTo>
                  <a:lnTo>
                    <a:pt x="4432554" y="1093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53846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254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411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284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20309" y="10157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5729" y="910439"/>
            <a:ext cx="2523490" cy="42100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French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b="1" dirty="0">
                <a:latin typeface="Trebuchet MS"/>
                <a:cs typeface="Trebuchet MS"/>
              </a:rPr>
              <a:t>l’ensemble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match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</a:t>
            </a:r>
            <a:r>
              <a:rPr sz="950" spc="-10" dirty="0">
                <a:latin typeface="Trebuchet MS"/>
                <a:cs typeface="Trebuchet MS"/>
              </a:rPr>
              <a:t> ensemble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59055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 hidden="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Language</a:t>
            </a:r>
            <a:r>
              <a:rPr spc="30" dirty="0"/>
              <a:t> </a:t>
            </a:r>
            <a:r>
              <a:rPr dirty="0"/>
              <a:t>Specific</a:t>
            </a:r>
            <a:r>
              <a:rPr spc="35" dirty="0"/>
              <a:t> </a:t>
            </a:r>
            <a:r>
              <a:rPr dirty="0"/>
              <a:t>Issues:</a:t>
            </a:r>
            <a:r>
              <a:rPr spc="110" dirty="0"/>
              <a:t> </a:t>
            </a:r>
            <a:r>
              <a:rPr dirty="0"/>
              <a:t>French</a:t>
            </a:r>
            <a:r>
              <a:rPr spc="35" dirty="0"/>
              <a:t> </a:t>
            </a:r>
            <a:r>
              <a:rPr dirty="0"/>
              <a:t>and</a:t>
            </a:r>
            <a:r>
              <a:rPr spc="30" dirty="0"/>
              <a:t> </a:t>
            </a:r>
            <a:r>
              <a:rPr spc="-10" dirty="0"/>
              <a:t>German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971512"/>
            <a:ext cx="4483735" cy="419100"/>
            <a:chOff x="87743" y="971512"/>
            <a:chExt cx="4483735" cy="419100"/>
          </a:xfrm>
        </p:grpSpPr>
        <p:sp>
          <p:nvSpPr>
            <p:cNvPr id="4" name="object 4"/>
            <p:cNvSpPr/>
            <p:nvPr/>
          </p:nvSpPr>
          <p:spPr>
            <a:xfrm>
              <a:off x="87743" y="971512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135176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28879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76096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015746"/>
              <a:ext cx="50800" cy="27305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179449"/>
              <a:ext cx="4432935" cy="160655"/>
            </a:xfrm>
            <a:custGeom>
              <a:avLst/>
              <a:gdLst/>
              <a:ahLst/>
              <a:cxnLst/>
              <a:rect l="l" t="t" r="r" b="b"/>
              <a:pathLst>
                <a:path w="4432935" h="160655">
                  <a:moveTo>
                    <a:pt x="4432554" y="0"/>
                  </a:moveTo>
                  <a:lnTo>
                    <a:pt x="0" y="0"/>
                  </a:lnTo>
                  <a:lnTo>
                    <a:pt x="0" y="109346"/>
                  </a:lnTo>
                  <a:lnTo>
                    <a:pt x="4008" y="129071"/>
                  </a:lnTo>
                  <a:lnTo>
                    <a:pt x="14922" y="145224"/>
                  </a:lnTo>
                  <a:lnTo>
                    <a:pt x="31075" y="156138"/>
                  </a:lnTo>
                  <a:lnTo>
                    <a:pt x="50800" y="160146"/>
                  </a:lnTo>
                  <a:lnTo>
                    <a:pt x="4381754" y="160146"/>
                  </a:lnTo>
                  <a:lnTo>
                    <a:pt x="4401478" y="156138"/>
                  </a:lnTo>
                  <a:lnTo>
                    <a:pt x="4417631" y="145224"/>
                  </a:lnTo>
                  <a:lnTo>
                    <a:pt x="4428545" y="129071"/>
                  </a:lnTo>
                  <a:lnTo>
                    <a:pt x="4432554" y="109346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053846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h="254000">
                  <a:moveTo>
                    <a:pt x="0" y="2540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0411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0284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015752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87743" y="1491513"/>
            <a:ext cx="4483735" cy="1073785"/>
            <a:chOff x="87743" y="1491513"/>
            <a:chExt cx="4483735" cy="1073785"/>
          </a:xfrm>
        </p:grpSpPr>
        <p:sp>
          <p:nvSpPr>
            <p:cNvPr id="15" name="object 15"/>
            <p:cNvSpPr/>
            <p:nvPr/>
          </p:nvSpPr>
          <p:spPr>
            <a:xfrm>
              <a:off x="87743" y="1491513"/>
              <a:ext cx="4432935" cy="176530"/>
            </a:xfrm>
            <a:custGeom>
              <a:avLst/>
              <a:gdLst/>
              <a:ahLst/>
              <a:cxnLst/>
              <a:rect l="l" t="t" r="r" b="b"/>
              <a:pathLst>
                <a:path w="4432935" h="17653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76276"/>
                  </a:lnTo>
                  <a:lnTo>
                    <a:pt x="4432554" y="176276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7744" y="1655178"/>
              <a:ext cx="4432554" cy="5060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8544" y="2463584"/>
              <a:ext cx="101600" cy="1016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9344" y="2450884"/>
              <a:ext cx="4381753" cy="114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0298" y="1535760"/>
              <a:ext cx="50800" cy="927823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7743" y="1699425"/>
              <a:ext cx="4432935" cy="815340"/>
            </a:xfrm>
            <a:custGeom>
              <a:avLst/>
              <a:gdLst/>
              <a:ahLst/>
              <a:cxnLst/>
              <a:rect l="l" t="t" r="r" b="b"/>
              <a:pathLst>
                <a:path w="4432935" h="815339">
                  <a:moveTo>
                    <a:pt x="4432554" y="0"/>
                  </a:moveTo>
                  <a:lnTo>
                    <a:pt x="0" y="0"/>
                  </a:lnTo>
                  <a:lnTo>
                    <a:pt x="0" y="764159"/>
                  </a:lnTo>
                  <a:lnTo>
                    <a:pt x="4008" y="783883"/>
                  </a:lnTo>
                  <a:lnTo>
                    <a:pt x="14922" y="800036"/>
                  </a:lnTo>
                  <a:lnTo>
                    <a:pt x="31075" y="810950"/>
                  </a:lnTo>
                  <a:lnTo>
                    <a:pt x="50800" y="814959"/>
                  </a:lnTo>
                  <a:lnTo>
                    <a:pt x="4381754" y="814959"/>
                  </a:lnTo>
                  <a:lnTo>
                    <a:pt x="4401478" y="810950"/>
                  </a:lnTo>
                  <a:lnTo>
                    <a:pt x="4417631" y="800036"/>
                  </a:lnTo>
                  <a:lnTo>
                    <a:pt x="4428545" y="783883"/>
                  </a:lnTo>
                  <a:lnTo>
                    <a:pt x="4432554" y="76415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20309" y="1573822"/>
              <a:ext cx="0" cy="909319"/>
            </a:xfrm>
            <a:custGeom>
              <a:avLst/>
              <a:gdLst/>
              <a:ahLst/>
              <a:cxnLst/>
              <a:rect l="l" t="t" r="r" b="b"/>
              <a:pathLst>
                <a:path h="909319">
                  <a:moveTo>
                    <a:pt x="0" y="90881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520309" y="15611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15484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53574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1597" y="1956358"/>
              <a:ext cx="64757" cy="6475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1597" y="2166391"/>
              <a:ext cx="64757" cy="6475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376424"/>
              <a:ext cx="64757" cy="6475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125729" y="910439"/>
            <a:ext cx="3595370" cy="15716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French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b="1" dirty="0">
                <a:latin typeface="Trebuchet MS"/>
                <a:cs typeface="Trebuchet MS"/>
              </a:rPr>
              <a:t>l’ensemble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want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match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</a:t>
            </a:r>
            <a:r>
              <a:rPr sz="950" spc="-10" dirty="0">
                <a:latin typeface="Trebuchet MS"/>
                <a:cs typeface="Trebuchet MS"/>
              </a:rPr>
              <a:t> ensemble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04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German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spc="10" dirty="0">
                <a:latin typeface="Trebuchet MS"/>
                <a:cs typeface="Trebuchet MS"/>
              </a:rPr>
              <a:t>Noun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coumpounds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0" dirty="0">
                <a:latin typeface="Trebuchet MS"/>
                <a:cs typeface="Trebuchet MS"/>
              </a:rPr>
              <a:t>are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not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segmented</a:t>
            </a:r>
            <a:endParaRPr sz="950">
              <a:latin typeface="Trebuchet MS"/>
              <a:cs typeface="Trebuchet MS"/>
            </a:endParaRPr>
          </a:p>
          <a:p>
            <a:pPr marL="289560" marR="748030">
              <a:lnSpc>
                <a:spcPct val="145100"/>
              </a:lnSpc>
            </a:pPr>
            <a:r>
              <a:rPr sz="950" spc="-10" dirty="0">
                <a:latin typeface="Trebuchet MS"/>
                <a:cs typeface="Trebuchet MS"/>
              </a:rPr>
              <a:t>Lebensversicherungsgesellschaftsangestellter</a:t>
            </a:r>
            <a:r>
              <a:rPr sz="950" spc="500" dirty="0">
                <a:latin typeface="Trebuchet MS"/>
                <a:cs typeface="Trebuchet MS"/>
              </a:rPr>
              <a:t> </a:t>
            </a:r>
            <a:r>
              <a:rPr sz="950" spc="-70" dirty="0">
                <a:latin typeface="Trebuchet MS"/>
                <a:cs typeface="Trebuchet MS"/>
              </a:rPr>
              <a:t>‘life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insurance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company</a:t>
            </a:r>
            <a:r>
              <a:rPr sz="950" spc="9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employee’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Compound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splitter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required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German</a:t>
            </a:r>
            <a:r>
              <a:rPr sz="950" spc="7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8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retrieval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9" name="object 2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0" name="object 3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6" name="object 36" hidden="1"/>
          <p:cNvSpPr txBox="1"/>
          <p:nvPr/>
        </p:nvSpPr>
        <p:spPr>
          <a:xfrm>
            <a:off x="4354196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12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Language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Specific</a:t>
            </a:r>
            <a:r>
              <a:rPr sz="1400" i="1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Issues:</a:t>
            </a:r>
            <a:r>
              <a:rPr sz="1400" i="1" spc="1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Chinese</a:t>
            </a:r>
            <a:r>
              <a:rPr sz="1400" i="1" spc="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and</a:t>
            </a:r>
            <a:r>
              <a:rPr sz="1400" i="1" spc="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Japanese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29" y="762901"/>
            <a:ext cx="14230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60" dirty="0">
                <a:latin typeface="Trebuchet MS"/>
                <a:cs typeface="Trebuchet MS"/>
              </a:rPr>
              <a:t>No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space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73" y="1103846"/>
            <a:ext cx="3637279" cy="574039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Language</a:t>
            </a:r>
            <a:r>
              <a:rPr spc="80" dirty="0"/>
              <a:t> </a:t>
            </a:r>
            <a:r>
              <a:rPr dirty="0"/>
              <a:t>Specific</a:t>
            </a:r>
            <a:r>
              <a:rPr spc="85" dirty="0"/>
              <a:t> </a:t>
            </a:r>
            <a:r>
              <a:rPr dirty="0"/>
              <a:t>Issues:</a:t>
            </a:r>
            <a:r>
              <a:rPr spc="175" dirty="0"/>
              <a:t> </a:t>
            </a:r>
            <a:r>
              <a:rPr dirty="0"/>
              <a:t>Chinese</a:t>
            </a:r>
            <a:r>
              <a:rPr spc="80" dirty="0"/>
              <a:t> </a:t>
            </a:r>
            <a:r>
              <a:rPr dirty="0"/>
              <a:t>and</a:t>
            </a:r>
            <a:r>
              <a:rPr spc="85" dirty="0"/>
              <a:t> </a:t>
            </a:r>
            <a:r>
              <a:rPr spc="-10" dirty="0"/>
              <a:t>Japanese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762901"/>
            <a:ext cx="142303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spc="60" dirty="0">
                <a:latin typeface="Trebuchet MS"/>
                <a:cs typeface="Trebuchet MS"/>
              </a:rPr>
              <a:t>No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space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between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words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773" y="1103846"/>
            <a:ext cx="3637279" cy="57403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729" y="1846770"/>
            <a:ext cx="3879850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b="1" dirty="0">
                <a:latin typeface="Trebuchet MS"/>
                <a:cs typeface="Trebuchet MS"/>
              </a:rPr>
              <a:t>Japanese:</a:t>
            </a:r>
            <a:r>
              <a:rPr sz="950" b="1" spc="13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further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complications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multiple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alphabets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intermingled.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863" y="2172716"/>
            <a:ext cx="3486150" cy="464819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Language</a:t>
            </a:r>
            <a:r>
              <a:rPr spc="75" dirty="0"/>
              <a:t> </a:t>
            </a:r>
            <a:r>
              <a:rPr dirty="0"/>
              <a:t>Specific</a:t>
            </a:r>
            <a:r>
              <a:rPr spc="75" dirty="0"/>
              <a:t> </a:t>
            </a:r>
            <a:r>
              <a:rPr dirty="0"/>
              <a:t>Issues:</a:t>
            </a:r>
            <a:r>
              <a:rPr spc="170" dirty="0"/>
              <a:t> </a:t>
            </a:r>
            <a:r>
              <a:rPr spc="-10" dirty="0"/>
              <a:t>Sanskrit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058" y="1000493"/>
            <a:ext cx="3517900" cy="228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330" y="1393159"/>
            <a:ext cx="4289425" cy="713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18900"/>
              </a:lnSpc>
              <a:spcBef>
                <a:spcPts val="90"/>
              </a:spcBef>
            </a:pPr>
            <a:r>
              <a:rPr sz="950" i="1" dirty="0">
                <a:latin typeface="Trebuchet MS"/>
                <a:cs typeface="Trebuchet MS"/>
              </a:rPr>
              <a:t>sat</a:t>
            </a:r>
            <a:r>
              <a:rPr sz="950" i="1" spc="-20" dirty="0">
                <a:latin typeface="Trebuchet MS"/>
                <a:cs typeface="Trebuchet MS"/>
              </a:rPr>
              <a:t>y</a:t>
            </a:r>
            <a:r>
              <a:rPr sz="950" i="1" dirty="0">
                <a:latin typeface="Trebuchet MS"/>
                <a:cs typeface="Trebuchet MS"/>
              </a:rPr>
              <a:t>a</a:t>
            </a:r>
            <a:r>
              <a:rPr sz="950" i="1" spc="-585" dirty="0">
                <a:latin typeface="Trebuchet MS"/>
                <a:cs typeface="Trebuchet MS"/>
              </a:rPr>
              <a:t>m</a:t>
            </a:r>
            <a:r>
              <a:rPr sz="1425" i="1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tp</a:t>
            </a:r>
            <a:r>
              <a:rPr sz="950" i="1" spc="-25" dirty="0">
                <a:latin typeface="Trebuchet MS"/>
                <a:cs typeface="Trebuchet MS"/>
              </a:rPr>
              <a:t>r</a:t>
            </a:r>
            <a:r>
              <a:rPr sz="950" i="1" spc="-35" dirty="0">
                <a:latin typeface="Trebuchet MS"/>
                <a:cs typeface="Trebuchet MS"/>
              </a:rPr>
              <a:t>i</a:t>
            </a:r>
            <a:r>
              <a:rPr sz="950" i="1" spc="-60" dirty="0">
                <a:latin typeface="Trebuchet MS"/>
                <a:cs typeface="Trebuchet MS"/>
              </a:rPr>
              <a:t>y</a:t>
            </a:r>
            <a:r>
              <a:rPr sz="950" i="1" spc="-35" dirty="0">
                <a:latin typeface="Trebuchet MS"/>
                <a:cs typeface="Trebuchet MS"/>
              </a:rPr>
              <a:t>a</a:t>
            </a:r>
            <a:r>
              <a:rPr sz="950" i="1" spc="-620" dirty="0">
                <a:latin typeface="Trebuchet MS"/>
                <a:cs typeface="Trebuchet MS"/>
              </a:rPr>
              <a:t>m</a:t>
            </a:r>
            <a:r>
              <a:rPr sz="1425" i="1" spc="-52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90" dirty="0">
                <a:latin typeface="Trebuchet MS"/>
                <a:cs typeface="Trebuchet MS"/>
              </a:rPr>
              <a:t>nnabru¯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5" dirty="0">
                <a:latin typeface="Trebuchet MS"/>
                <a:cs typeface="Trebuchet MS"/>
              </a:rPr>
              <a:t>tsat</a:t>
            </a:r>
            <a:r>
              <a:rPr sz="950" i="1" spc="-30" dirty="0">
                <a:latin typeface="Trebuchet MS"/>
                <a:cs typeface="Trebuchet MS"/>
              </a:rPr>
              <a:t>y</a:t>
            </a:r>
            <a:r>
              <a:rPr sz="950" i="1" spc="-5" dirty="0">
                <a:latin typeface="Trebuchet MS"/>
                <a:cs typeface="Trebuchet MS"/>
              </a:rPr>
              <a:t>amap</a:t>
            </a:r>
            <a:r>
              <a:rPr sz="950" i="1" spc="5" dirty="0">
                <a:latin typeface="Trebuchet MS"/>
                <a:cs typeface="Trebuchet MS"/>
              </a:rPr>
              <a:t>r</a:t>
            </a:r>
            <a:r>
              <a:rPr sz="950" i="1" spc="-5" dirty="0">
                <a:latin typeface="Trebuchet MS"/>
                <a:cs typeface="Trebuchet MS"/>
              </a:rPr>
              <a:t>i</a:t>
            </a:r>
            <a:r>
              <a:rPr sz="950" i="1" spc="-30" dirty="0">
                <a:latin typeface="Trebuchet MS"/>
                <a:cs typeface="Trebuchet MS"/>
              </a:rPr>
              <a:t>y</a:t>
            </a:r>
            <a:r>
              <a:rPr sz="950" i="1" spc="-5" dirty="0">
                <a:latin typeface="Trebuchet MS"/>
                <a:cs typeface="Trebuchet MS"/>
              </a:rPr>
              <a:t>a</a:t>
            </a:r>
            <a:r>
              <a:rPr sz="950" i="1" spc="-590" dirty="0">
                <a:latin typeface="Trebuchet MS"/>
                <a:cs typeface="Trebuchet MS"/>
              </a:rPr>
              <a:t>m</a:t>
            </a:r>
            <a:r>
              <a:rPr sz="1425" i="1" spc="-7" baseline="-14619" dirty="0">
                <a:latin typeface="Trebuchet MS"/>
                <a:cs typeface="Trebuchet MS"/>
              </a:rPr>
              <a:t>.</a:t>
            </a:r>
            <a:r>
              <a:rPr sz="1425" i="1" spc="127" baseline="-14619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p</a:t>
            </a:r>
            <a:r>
              <a:rPr sz="950" i="1" spc="-10" dirty="0">
                <a:latin typeface="Trebuchet MS"/>
                <a:cs typeface="Trebuchet MS"/>
              </a:rPr>
              <a:t>r</a:t>
            </a:r>
            <a:r>
              <a:rPr sz="950" i="1" spc="-20" dirty="0">
                <a:latin typeface="Trebuchet MS"/>
                <a:cs typeface="Trebuchet MS"/>
              </a:rPr>
              <a:t>i</a:t>
            </a:r>
            <a:r>
              <a:rPr sz="950" i="1" spc="-45" dirty="0">
                <a:latin typeface="Trebuchet MS"/>
                <a:cs typeface="Trebuchet MS"/>
              </a:rPr>
              <a:t>y</a:t>
            </a:r>
            <a:r>
              <a:rPr sz="950" i="1" spc="-20" dirty="0">
                <a:latin typeface="Trebuchet MS"/>
                <a:cs typeface="Trebuchet MS"/>
              </a:rPr>
              <a:t>a</a:t>
            </a:r>
            <a:r>
              <a:rPr sz="950" i="1" spc="-605" dirty="0">
                <a:latin typeface="Trebuchet MS"/>
                <a:cs typeface="Trebuchet MS"/>
              </a:rPr>
              <a:t>m</a:t>
            </a:r>
            <a:r>
              <a:rPr sz="1425" i="1" spc="-30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cana¯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120" dirty="0">
                <a:latin typeface="Trebuchet MS"/>
                <a:cs typeface="Trebuchet MS"/>
              </a:rPr>
              <a:t>n</a:t>
            </a:r>
            <a:r>
              <a:rPr sz="1425" i="1" spc="-179" baseline="-14619" dirty="0">
                <a:latin typeface="Trebuchet MS"/>
                <a:cs typeface="Trebuchet MS"/>
              </a:rPr>
              <a:t>.</a:t>
            </a:r>
            <a:r>
              <a:rPr sz="950" i="1" spc="-120" dirty="0">
                <a:latin typeface="Trebuchet MS"/>
                <a:cs typeface="Trebuchet MS"/>
              </a:rPr>
              <a:t>rtambru¯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d- </a:t>
            </a:r>
            <a:r>
              <a:rPr sz="950" i="1" spc="-135" dirty="0">
                <a:latin typeface="Trebuchet MS"/>
                <a:cs typeface="Trebuchet MS"/>
              </a:rPr>
              <a:t>es</a:t>
            </a:r>
            <a:r>
              <a:rPr sz="1425" i="1" spc="-202" baseline="-14619" dirty="0">
                <a:latin typeface="Trebuchet MS"/>
                <a:cs typeface="Trebuchet MS"/>
              </a:rPr>
              <a:t>.</a:t>
            </a:r>
            <a:r>
              <a:rPr sz="1425" i="1" spc="-135" baseline="-14619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adharmah</a:t>
            </a:r>
            <a:r>
              <a:rPr sz="1425" i="1" spc="-75" baseline="-14619" dirty="0">
                <a:latin typeface="Trebuchet MS"/>
                <a:cs typeface="Trebuchet MS"/>
              </a:rPr>
              <a:t>.</a:t>
            </a:r>
            <a:r>
              <a:rPr sz="1425" i="1" spc="-82" baseline="-14619" dirty="0">
                <a:latin typeface="Trebuchet MS"/>
                <a:cs typeface="Trebuchet MS"/>
              </a:rPr>
              <a:t> </a:t>
            </a:r>
            <a:r>
              <a:rPr sz="950" i="1" spc="-85" dirty="0">
                <a:latin typeface="Trebuchet MS"/>
                <a:cs typeface="Trebuchet MS"/>
              </a:rPr>
              <a:t>sana¯</a:t>
            </a:r>
            <a:r>
              <a:rPr sz="950" i="1" spc="-15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tanah</a:t>
            </a:r>
            <a:r>
              <a:rPr sz="1425" i="1" spc="-150" baseline="-14619" dirty="0">
                <a:latin typeface="Trebuchet MS"/>
                <a:cs typeface="Trebuchet MS"/>
              </a:rPr>
              <a:t>.</a:t>
            </a:r>
            <a:r>
              <a:rPr sz="1425" i="1" spc="-82" baseline="-14619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38100" marR="53340">
              <a:lnSpc>
                <a:spcPct val="118900"/>
              </a:lnSpc>
            </a:pPr>
            <a:r>
              <a:rPr sz="950" dirty="0">
                <a:latin typeface="Trebuchet MS"/>
                <a:cs typeface="Trebuchet MS"/>
              </a:rPr>
              <a:t>“One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tell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truth,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words;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neither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tell </a:t>
            </a:r>
            <a:r>
              <a:rPr sz="950" dirty="0">
                <a:latin typeface="Trebuchet MS"/>
                <a:cs typeface="Trebuchet MS"/>
              </a:rPr>
              <a:t>harsh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truths,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flattering</a:t>
            </a:r>
            <a:r>
              <a:rPr sz="950" spc="-10" dirty="0">
                <a:latin typeface="Trebuchet MS"/>
                <a:cs typeface="Trebuchet MS"/>
              </a:rPr>
              <a:t> lies;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rule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all times.”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Language</a:t>
            </a:r>
            <a:r>
              <a:rPr spc="75" dirty="0"/>
              <a:t> </a:t>
            </a:r>
            <a:r>
              <a:rPr dirty="0"/>
              <a:t>Specific</a:t>
            </a:r>
            <a:r>
              <a:rPr spc="75" dirty="0"/>
              <a:t> </a:t>
            </a:r>
            <a:r>
              <a:rPr dirty="0"/>
              <a:t>Issues:</a:t>
            </a:r>
            <a:r>
              <a:rPr spc="170" dirty="0"/>
              <a:t> </a:t>
            </a:r>
            <a:r>
              <a:rPr spc="-10" dirty="0"/>
              <a:t>Sanskrit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058" y="1000493"/>
            <a:ext cx="3517900" cy="2286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330" y="1393159"/>
            <a:ext cx="4289425" cy="12299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18900"/>
              </a:lnSpc>
              <a:spcBef>
                <a:spcPts val="90"/>
              </a:spcBef>
            </a:pPr>
            <a:r>
              <a:rPr sz="950" i="1" dirty="0">
                <a:latin typeface="Trebuchet MS"/>
                <a:cs typeface="Trebuchet MS"/>
              </a:rPr>
              <a:t>sat</a:t>
            </a:r>
            <a:r>
              <a:rPr sz="950" i="1" spc="-20" dirty="0">
                <a:latin typeface="Trebuchet MS"/>
                <a:cs typeface="Trebuchet MS"/>
              </a:rPr>
              <a:t>y</a:t>
            </a:r>
            <a:r>
              <a:rPr sz="950" i="1" dirty="0">
                <a:latin typeface="Trebuchet MS"/>
                <a:cs typeface="Trebuchet MS"/>
              </a:rPr>
              <a:t>a</a:t>
            </a:r>
            <a:r>
              <a:rPr sz="950" i="1" spc="-585" dirty="0">
                <a:latin typeface="Trebuchet MS"/>
                <a:cs typeface="Trebuchet MS"/>
              </a:rPr>
              <a:t>m</a:t>
            </a:r>
            <a:r>
              <a:rPr sz="1425" i="1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tp</a:t>
            </a:r>
            <a:r>
              <a:rPr sz="950" i="1" spc="-25" dirty="0">
                <a:latin typeface="Trebuchet MS"/>
                <a:cs typeface="Trebuchet MS"/>
              </a:rPr>
              <a:t>r</a:t>
            </a:r>
            <a:r>
              <a:rPr sz="950" i="1" spc="-35" dirty="0">
                <a:latin typeface="Trebuchet MS"/>
                <a:cs typeface="Trebuchet MS"/>
              </a:rPr>
              <a:t>i</a:t>
            </a:r>
            <a:r>
              <a:rPr sz="950" i="1" spc="-60" dirty="0">
                <a:latin typeface="Trebuchet MS"/>
                <a:cs typeface="Trebuchet MS"/>
              </a:rPr>
              <a:t>y</a:t>
            </a:r>
            <a:r>
              <a:rPr sz="950" i="1" spc="-35" dirty="0">
                <a:latin typeface="Trebuchet MS"/>
                <a:cs typeface="Trebuchet MS"/>
              </a:rPr>
              <a:t>a</a:t>
            </a:r>
            <a:r>
              <a:rPr sz="950" i="1" spc="-620" dirty="0">
                <a:latin typeface="Trebuchet MS"/>
                <a:cs typeface="Trebuchet MS"/>
              </a:rPr>
              <a:t>m</a:t>
            </a:r>
            <a:r>
              <a:rPr sz="1425" i="1" spc="-52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90" dirty="0">
                <a:latin typeface="Trebuchet MS"/>
                <a:cs typeface="Trebuchet MS"/>
              </a:rPr>
              <a:t>nnabru¯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5" dirty="0">
                <a:latin typeface="Trebuchet MS"/>
                <a:cs typeface="Trebuchet MS"/>
              </a:rPr>
              <a:t>tsat</a:t>
            </a:r>
            <a:r>
              <a:rPr sz="950" i="1" spc="-30" dirty="0">
                <a:latin typeface="Trebuchet MS"/>
                <a:cs typeface="Trebuchet MS"/>
              </a:rPr>
              <a:t>y</a:t>
            </a:r>
            <a:r>
              <a:rPr sz="950" i="1" spc="-5" dirty="0">
                <a:latin typeface="Trebuchet MS"/>
                <a:cs typeface="Trebuchet MS"/>
              </a:rPr>
              <a:t>amap</a:t>
            </a:r>
            <a:r>
              <a:rPr sz="950" i="1" spc="5" dirty="0">
                <a:latin typeface="Trebuchet MS"/>
                <a:cs typeface="Trebuchet MS"/>
              </a:rPr>
              <a:t>r</a:t>
            </a:r>
            <a:r>
              <a:rPr sz="950" i="1" spc="-5" dirty="0">
                <a:latin typeface="Trebuchet MS"/>
                <a:cs typeface="Trebuchet MS"/>
              </a:rPr>
              <a:t>i</a:t>
            </a:r>
            <a:r>
              <a:rPr sz="950" i="1" spc="-30" dirty="0">
                <a:latin typeface="Trebuchet MS"/>
                <a:cs typeface="Trebuchet MS"/>
              </a:rPr>
              <a:t>y</a:t>
            </a:r>
            <a:r>
              <a:rPr sz="950" i="1" spc="-5" dirty="0">
                <a:latin typeface="Trebuchet MS"/>
                <a:cs typeface="Trebuchet MS"/>
              </a:rPr>
              <a:t>a</a:t>
            </a:r>
            <a:r>
              <a:rPr sz="950" i="1" spc="-590" dirty="0">
                <a:latin typeface="Trebuchet MS"/>
                <a:cs typeface="Trebuchet MS"/>
              </a:rPr>
              <a:t>m</a:t>
            </a:r>
            <a:r>
              <a:rPr sz="1425" i="1" spc="-7" baseline="-14619" dirty="0">
                <a:latin typeface="Trebuchet MS"/>
                <a:cs typeface="Trebuchet MS"/>
              </a:rPr>
              <a:t>.</a:t>
            </a:r>
            <a:r>
              <a:rPr sz="1425" i="1" spc="127" baseline="-14619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p</a:t>
            </a:r>
            <a:r>
              <a:rPr sz="950" i="1" spc="-10" dirty="0">
                <a:latin typeface="Trebuchet MS"/>
                <a:cs typeface="Trebuchet MS"/>
              </a:rPr>
              <a:t>r</a:t>
            </a:r>
            <a:r>
              <a:rPr sz="950" i="1" spc="-20" dirty="0">
                <a:latin typeface="Trebuchet MS"/>
                <a:cs typeface="Trebuchet MS"/>
              </a:rPr>
              <a:t>i</a:t>
            </a:r>
            <a:r>
              <a:rPr sz="950" i="1" spc="-45" dirty="0">
                <a:latin typeface="Trebuchet MS"/>
                <a:cs typeface="Trebuchet MS"/>
              </a:rPr>
              <a:t>y</a:t>
            </a:r>
            <a:r>
              <a:rPr sz="950" i="1" spc="-20" dirty="0">
                <a:latin typeface="Trebuchet MS"/>
                <a:cs typeface="Trebuchet MS"/>
              </a:rPr>
              <a:t>a</a:t>
            </a:r>
            <a:r>
              <a:rPr sz="950" i="1" spc="-605" dirty="0">
                <a:latin typeface="Trebuchet MS"/>
                <a:cs typeface="Trebuchet MS"/>
              </a:rPr>
              <a:t>m</a:t>
            </a:r>
            <a:r>
              <a:rPr sz="1425" i="1" spc="-30" baseline="-14619" dirty="0">
                <a:latin typeface="Trebuchet MS"/>
                <a:cs typeface="Trebuchet MS"/>
              </a:rPr>
              <a:t>.</a:t>
            </a:r>
            <a:r>
              <a:rPr sz="1425" i="1" spc="135" baseline="-14619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cana¯</a:t>
            </a:r>
            <a:r>
              <a:rPr sz="950" i="1" spc="-160" dirty="0">
                <a:latin typeface="Trebuchet MS"/>
                <a:cs typeface="Trebuchet MS"/>
              </a:rPr>
              <a:t> </a:t>
            </a:r>
            <a:r>
              <a:rPr sz="950" i="1" spc="-120" dirty="0">
                <a:latin typeface="Trebuchet MS"/>
                <a:cs typeface="Trebuchet MS"/>
              </a:rPr>
              <a:t>n</a:t>
            </a:r>
            <a:r>
              <a:rPr sz="1425" i="1" spc="-179" baseline="-14619" dirty="0">
                <a:latin typeface="Trebuchet MS"/>
                <a:cs typeface="Trebuchet MS"/>
              </a:rPr>
              <a:t>.</a:t>
            </a:r>
            <a:r>
              <a:rPr sz="950" i="1" spc="-120" dirty="0">
                <a:latin typeface="Trebuchet MS"/>
                <a:cs typeface="Trebuchet MS"/>
              </a:rPr>
              <a:t>rtambru¯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25" dirty="0">
                <a:latin typeface="Trebuchet MS"/>
                <a:cs typeface="Trebuchet MS"/>
              </a:rPr>
              <a:t>d- </a:t>
            </a:r>
            <a:r>
              <a:rPr sz="950" i="1" spc="-135" dirty="0">
                <a:latin typeface="Trebuchet MS"/>
                <a:cs typeface="Trebuchet MS"/>
              </a:rPr>
              <a:t>es</a:t>
            </a:r>
            <a:r>
              <a:rPr sz="1425" i="1" spc="-202" baseline="-14619" dirty="0">
                <a:latin typeface="Trebuchet MS"/>
                <a:cs typeface="Trebuchet MS"/>
              </a:rPr>
              <a:t>.</a:t>
            </a:r>
            <a:r>
              <a:rPr sz="1425" i="1" spc="-135" baseline="-14619" dirty="0">
                <a:latin typeface="Trebuchet MS"/>
                <a:cs typeface="Trebuchet MS"/>
              </a:rPr>
              <a:t> </a:t>
            </a:r>
            <a:r>
              <a:rPr sz="950" i="1" spc="-50" dirty="0">
                <a:latin typeface="Trebuchet MS"/>
                <a:cs typeface="Trebuchet MS"/>
              </a:rPr>
              <a:t>adharmah</a:t>
            </a:r>
            <a:r>
              <a:rPr sz="1425" i="1" spc="-75" baseline="-14619" dirty="0">
                <a:latin typeface="Trebuchet MS"/>
                <a:cs typeface="Trebuchet MS"/>
              </a:rPr>
              <a:t>.</a:t>
            </a:r>
            <a:r>
              <a:rPr sz="1425" i="1" spc="-82" baseline="-14619" dirty="0">
                <a:latin typeface="Trebuchet MS"/>
                <a:cs typeface="Trebuchet MS"/>
              </a:rPr>
              <a:t> </a:t>
            </a:r>
            <a:r>
              <a:rPr sz="950" i="1" spc="-85" dirty="0">
                <a:latin typeface="Trebuchet MS"/>
                <a:cs typeface="Trebuchet MS"/>
              </a:rPr>
              <a:t>sana¯</a:t>
            </a:r>
            <a:r>
              <a:rPr sz="950" i="1" spc="-155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tanah</a:t>
            </a:r>
            <a:r>
              <a:rPr sz="1425" i="1" spc="-150" baseline="-14619" dirty="0">
                <a:latin typeface="Trebuchet MS"/>
                <a:cs typeface="Trebuchet MS"/>
              </a:rPr>
              <a:t>.</a:t>
            </a:r>
            <a:r>
              <a:rPr sz="1425" i="1" spc="-82" baseline="-14619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 marL="38100" marR="53340">
              <a:lnSpc>
                <a:spcPct val="118900"/>
              </a:lnSpc>
            </a:pPr>
            <a:r>
              <a:rPr sz="950" dirty="0">
                <a:latin typeface="Trebuchet MS"/>
                <a:cs typeface="Trebuchet MS"/>
              </a:rPr>
              <a:t>“One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tell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5" dirty="0">
                <a:latin typeface="Trebuchet MS"/>
                <a:cs typeface="Trebuchet MS"/>
              </a:rPr>
              <a:t>truth,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words;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one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neither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tell </a:t>
            </a:r>
            <a:r>
              <a:rPr sz="950" dirty="0">
                <a:latin typeface="Trebuchet MS"/>
                <a:cs typeface="Trebuchet MS"/>
              </a:rPr>
              <a:t>harsh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truths,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nor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flattering</a:t>
            </a:r>
            <a:r>
              <a:rPr sz="950" spc="-10" dirty="0">
                <a:latin typeface="Trebuchet MS"/>
                <a:cs typeface="Trebuchet MS"/>
              </a:rPr>
              <a:t> lies; </a:t>
            </a:r>
            <a:r>
              <a:rPr sz="950" dirty="0">
                <a:latin typeface="Trebuchet MS"/>
                <a:cs typeface="Trebuchet MS"/>
              </a:rPr>
              <a:t>this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rule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for</a:t>
            </a:r>
            <a:r>
              <a:rPr sz="950" spc="-10" dirty="0">
                <a:latin typeface="Trebuchet MS"/>
                <a:cs typeface="Trebuchet MS"/>
              </a:rPr>
              <a:t> all times.”</a:t>
            </a:r>
            <a:endParaRPr sz="950"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950" b="1" spc="10" dirty="0">
                <a:latin typeface="Trebuchet MS"/>
                <a:cs typeface="Trebuchet MS"/>
              </a:rPr>
              <a:t>Segmented</a:t>
            </a:r>
            <a:r>
              <a:rPr sz="950" b="1" spc="235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Text:</a:t>
            </a:r>
            <a:endParaRPr sz="950">
              <a:latin typeface="Trebuchet MS"/>
              <a:cs typeface="Trebuchet MS"/>
            </a:endParaRPr>
          </a:p>
          <a:p>
            <a:pPr marL="38100" marR="36830">
              <a:lnSpc>
                <a:spcPct val="118900"/>
              </a:lnSpc>
            </a:pPr>
            <a:r>
              <a:rPr sz="950" i="1" dirty="0">
                <a:latin typeface="Trebuchet MS"/>
                <a:cs typeface="Trebuchet MS"/>
              </a:rPr>
              <a:t>satyam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70" dirty="0">
                <a:latin typeface="Trebuchet MS"/>
                <a:cs typeface="Trebuchet MS"/>
              </a:rPr>
              <a:t> </a:t>
            </a:r>
            <a:r>
              <a:rPr sz="950" i="1" spc="-135" dirty="0">
                <a:latin typeface="Trebuchet MS"/>
                <a:cs typeface="Trebuchet MS"/>
              </a:rPr>
              <a:t>t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priyam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35" dirty="0">
                <a:latin typeface="Trebuchet MS"/>
                <a:cs typeface="Trebuchet MS"/>
              </a:rPr>
              <a:t>t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na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spc="-170" dirty="0">
                <a:latin typeface="Trebuchet MS"/>
                <a:cs typeface="Trebuchet MS"/>
              </a:rPr>
              <a:t>bru¯ </a:t>
            </a:r>
            <a:r>
              <a:rPr sz="950" i="1" spc="-185" dirty="0">
                <a:latin typeface="Trebuchet MS"/>
                <a:cs typeface="Trebuchet MS"/>
              </a:rPr>
              <a:t>ya¯</a:t>
            </a:r>
            <a:r>
              <a:rPr sz="950" i="1" spc="-165" dirty="0">
                <a:latin typeface="Trebuchet MS"/>
                <a:cs typeface="Trebuchet MS"/>
              </a:rPr>
              <a:t> </a:t>
            </a:r>
            <a:r>
              <a:rPr sz="950" i="1" spc="-135" dirty="0">
                <a:latin typeface="Trebuchet MS"/>
                <a:cs typeface="Trebuchet MS"/>
              </a:rPr>
              <a:t>t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satyam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apriyam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priyam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ca</a:t>
            </a:r>
            <a:r>
              <a:rPr sz="950" i="1" spc="2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na</a:t>
            </a:r>
            <a:r>
              <a:rPr sz="950" i="1" spc="15" dirty="0">
                <a:latin typeface="Trebuchet MS"/>
                <a:cs typeface="Trebuchet MS"/>
              </a:rPr>
              <a:t> </a:t>
            </a:r>
            <a:r>
              <a:rPr sz="950" i="1" spc="-40" dirty="0">
                <a:latin typeface="Trebuchet MS"/>
                <a:cs typeface="Trebuchet MS"/>
              </a:rPr>
              <a:t>an</a:t>
            </a:r>
            <a:r>
              <a:rPr sz="1425" i="1" spc="-60" baseline="-14619" dirty="0">
                <a:latin typeface="Trebuchet MS"/>
                <a:cs typeface="Trebuchet MS"/>
              </a:rPr>
              <a:t>.</a:t>
            </a:r>
            <a:r>
              <a:rPr sz="950" i="1" spc="-40" dirty="0">
                <a:latin typeface="Trebuchet MS"/>
                <a:cs typeface="Trebuchet MS"/>
              </a:rPr>
              <a:t>rtam </a:t>
            </a:r>
            <a:r>
              <a:rPr sz="950" i="1" spc="-170" dirty="0">
                <a:latin typeface="Trebuchet MS"/>
                <a:cs typeface="Trebuchet MS"/>
              </a:rPr>
              <a:t>bru¯</a:t>
            </a:r>
            <a:r>
              <a:rPr sz="950" i="1" spc="-180" dirty="0">
                <a:latin typeface="Trebuchet MS"/>
                <a:cs typeface="Trebuchet MS"/>
              </a:rPr>
              <a:t> </a:t>
            </a:r>
            <a:r>
              <a:rPr sz="950" i="1" spc="-190" dirty="0">
                <a:latin typeface="Trebuchet MS"/>
                <a:cs typeface="Trebuchet MS"/>
              </a:rPr>
              <a:t>ya¯</a:t>
            </a:r>
            <a:r>
              <a:rPr sz="950" i="1" spc="-180" dirty="0">
                <a:latin typeface="Trebuchet MS"/>
                <a:cs typeface="Trebuchet MS"/>
              </a:rPr>
              <a:t> </a:t>
            </a:r>
            <a:r>
              <a:rPr sz="950" i="1" spc="-135" dirty="0">
                <a:latin typeface="Trebuchet MS"/>
                <a:cs typeface="Trebuchet MS"/>
              </a:rPr>
              <a:t>t</a:t>
            </a:r>
            <a:r>
              <a:rPr sz="950" i="1" spc="-15" dirty="0">
                <a:latin typeface="Trebuchet MS"/>
                <a:cs typeface="Trebuchet MS"/>
              </a:rPr>
              <a:t> </a:t>
            </a:r>
            <a:r>
              <a:rPr sz="950" i="1" spc="-135" dirty="0">
                <a:latin typeface="Trebuchet MS"/>
                <a:cs typeface="Trebuchet MS"/>
              </a:rPr>
              <a:t>es</a:t>
            </a:r>
            <a:r>
              <a:rPr sz="1425" i="1" spc="-202" baseline="-14619" dirty="0">
                <a:latin typeface="Trebuchet MS"/>
                <a:cs typeface="Trebuchet MS"/>
              </a:rPr>
              <a:t>.</a:t>
            </a:r>
            <a:r>
              <a:rPr sz="1425" i="1" spc="-187" baseline="-14619" dirty="0">
                <a:latin typeface="Trebuchet MS"/>
                <a:cs typeface="Trebuchet MS"/>
              </a:rPr>
              <a:t> </a:t>
            </a:r>
            <a:r>
              <a:rPr sz="950" i="1" spc="-125" dirty="0">
                <a:latin typeface="Trebuchet MS"/>
                <a:cs typeface="Trebuchet MS"/>
              </a:rPr>
              <a:t>ah</a:t>
            </a:r>
            <a:r>
              <a:rPr sz="1425" i="1" spc="-187" baseline="-14619" dirty="0">
                <a:latin typeface="Trebuchet MS"/>
                <a:cs typeface="Trebuchet MS"/>
              </a:rPr>
              <a:t>.</a:t>
            </a:r>
            <a:r>
              <a:rPr sz="1425" i="1" spc="217" baseline="-14619" dirty="0">
                <a:latin typeface="Trebuchet MS"/>
                <a:cs typeface="Trebuchet MS"/>
              </a:rPr>
              <a:t> </a:t>
            </a:r>
            <a:r>
              <a:rPr sz="950" i="1" spc="-45" dirty="0">
                <a:latin typeface="Trebuchet MS"/>
                <a:cs typeface="Trebuchet MS"/>
              </a:rPr>
              <a:t>dharmah</a:t>
            </a:r>
            <a:r>
              <a:rPr sz="1425" i="1" spc="-67" baseline="-14619" dirty="0">
                <a:latin typeface="Trebuchet MS"/>
                <a:cs typeface="Trebuchet MS"/>
              </a:rPr>
              <a:t>.</a:t>
            </a:r>
            <a:r>
              <a:rPr sz="1425" i="1" spc="254" baseline="-14619" dirty="0">
                <a:latin typeface="Trebuchet MS"/>
                <a:cs typeface="Trebuchet MS"/>
              </a:rPr>
              <a:t> </a:t>
            </a:r>
            <a:r>
              <a:rPr sz="950" i="1" spc="-85" dirty="0">
                <a:latin typeface="Trebuchet MS"/>
                <a:cs typeface="Trebuchet MS"/>
              </a:rPr>
              <a:t>sana¯</a:t>
            </a:r>
            <a:r>
              <a:rPr sz="950" i="1" spc="-180" dirty="0">
                <a:latin typeface="Trebuchet MS"/>
                <a:cs typeface="Trebuchet MS"/>
              </a:rPr>
              <a:t> </a:t>
            </a:r>
            <a:r>
              <a:rPr sz="950" i="1" spc="-100" dirty="0">
                <a:latin typeface="Trebuchet MS"/>
                <a:cs typeface="Trebuchet MS"/>
              </a:rPr>
              <a:t>tanah</a:t>
            </a:r>
            <a:r>
              <a:rPr sz="1425" i="1" spc="-150" baseline="-14619" dirty="0">
                <a:latin typeface="Trebuchet MS"/>
                <a:cs typeface="Trebuchet MS"/>
              </a:rPr>
              <a:t>. </a:t>
            </a:r>
            <a:r>
              <a:rPr sz="950" spc="-5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10985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Longest</a:t>
            </a: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45" dirty="0">
                <a:solidFill>
                  <a:srgbClr val="FFFFFF"/>
                </a:solidFill>
                <a:latin typeface="Cambria"/>
                <a:cs typeface="Cambria"/>
              </a:rPr>
              <a:t>Words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1563" y="761898"/>
            <a:ext cx="1395730" cy="203136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98674" y="735228"/>
            <a:ext cx="1395729" cy="2053589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Longest</a:t>
            </a:r>
            <a:r>
              <a:rPr spc="-50" dirty="0"/>
              <a:t> </a:t>
            </a:r>
            <a:r>
              <a:rPr spc="-45" dirty="0"/>
              <a:t>Words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962667"/>
            <a:ext cx="4105910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Compound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composed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431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letters,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80" dirty="0">
                <a:latin typeface="Trebuchet MS"/>
                <a:cs typeface="Trebuchet MS"/>
              </a:rPr>
              <a:t>Varada¯</a:t>
            </a:r>
            <a:r>
              <a:rPr sz="950" spc="-155" dirty="0">
                <a:latin typeface="Trebuchet MS"/>
                <a:cs typeface="Trebuchet MS"/>
              </a:rPr>
              <a:t> </a:t>
            </a:r>
            <a:r>
              <a:rPr sz="950" spc="-90" dirty="0">
                <a:latin typeface="Trebuchet MS"/>
                <a:cs typeface="Trebuchet MS"/>
              </a:rPr>
              <a:t>mbika¯</a:t>
            </a:r>
            <a:r>
              <a:rPr sz="950" spc="17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P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20" dirty="0">
                <a:latin typeface="Trebuchet MS"/>
                <a:cs typeface="Trebuchet MS"/>
              </a:rPr>
              <a:t>r</a:t>
            </a:r>
            <a:r>
              <a:rPr sz="950" spc="10" dirty="0">
                <a:latin typeface="Trebuchet MS"/>
                <a:cs typeface="Trebuchet MS"/>
              </a:rPr>
              <a:t>i</a:t>
            </a:r>
            <a:r>
              <a:rPr sz="950" spc="-420" dirty="0">
                <a:latin typeface="Trebuchet MS"/>
                <a:cs typeface="Trebuchet MS"/>
              </a:rPr>
              <a:t>n</a:t>
            </a:r>
            <a:r>
              <a:rPr sz="950" spc="114" dirty="0">
                <a:latin typeface="Trebuchet MS"/>
                <a:cs typeface="Trebuchet MS"/>
              </a:rPr>
              <a:t>˙</a:t>
            </a:r>
            <a:r>
              <a:rPr sz="950" spc="-20" dirty="0">
                <a:latin typeface="Trebuchet MS"/>
                <a:cs typeface="Trebuchet MS"/>
              </a:rPr>
              <a:t>a</a:t>
            </a:r>
            <a:r>
              <a:rPr sz="950" spc="-10" dirty="0">
                <a:latin typeface="Trebuchet MS"/>
                <a:cs typeface="Trebuchet MS"/>
              </a:rPr>
              <a:t>y</a:t>
            </a:r>
            <a:r>
              <a:rPr sz="950" spc="10" dirty="0">
                <a:latin typeface="Trebuchet MS"/>
                <a:cs typeface="Trebuchet MS"/>
              </a:rPr>
              <a:t>a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950" spc="-45" dirty="0">
                <a:latin typeface="Trebuchet MS"/>
                <a:cs typeface="Trebuchet MS"/>
              </a:rPr>
              <a:t>Campu¯</a:t>
            </a:r>
            <a:r>
              <a:rPr sz="950" spc="9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75" dirty="0">
                <a:latin typeface="Trebuchet MS"/>
                <a:cs typeface="Trebuchet MS"/>
              </a:rPr>
              <a:t>Tirumala¯</a:t>
            </a:r>
            <a:r>
              <a:rPr sz="950" spc="-18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mba</a:t>
            </a:r>
            <a:endParaRPr sz="95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919" y="1377937"/>
            <a:ext cx="3546475" cy="102870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304546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35" dirty="0">
                <a:solidFill>
                  <a:srgbClr val="FFFFFF"/>
                </a:solidFill>
                <a:latin typeface="Cambria"/>
                <a:cs typeface="Cambria"/>
              </a:rPr>
              <a:t>Tokenization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Chinese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or</a:t>
            </a:r>
            <a:r>
              <a:rPr sz="1400" i="1" spc="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Sanskrit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5729" y="598881"/>
            <a:ext cx="1920875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called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</a:t>
            </a:r>
            <a:r>
              <a:rPr sz="950" b="1" dirty="0">
                <a:latin typeface="Trebuchet MS"/>
                <a:cs typeface="Trebuchet MS"/>
              </a:rPr>
              <a:t>Word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Segmentation</a:t>
            </a:r>
            <a:r>
              <a:rPr sz="950" spc="-10" dirty="0">
                <a:latin typeface="Trebuchet MS"/>
                <a:cs typeface="Trebuchet MS"/>
              </a:rPr>
              <a:t>’.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55" dirty="0"/>
              <a:t> </a:t>
            </a:r>
            <a:r>
              <a:rPr spc="-35" dirty="0"/>
              <a:t>Tokenization</a:t>
            </a:r>
            <a:r>
              <a:rPr spc="6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Chinese</a:t>
            </a:r>
            <a:r>
              <a:rPr spc="65" dirty="0"/>
              <a:t> </a:t>
            </a:r>
            <a:r>
              <a:rPr dirty="0"/>
              <a:t>or</a:t>
            </a:r>
            <a:r>
              <a:rPr spc="65" dirty="0"/>
              <a:t> </a:t>
            </a:r>
            <a:r>
              <a:rPr spc="-10" dirty="0"/>
              <a:t>Sanskrit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5289"/>
            <a:ext cx="4483735" cy="1259205"/>
            <a:chOff x="87743" y="865289"/>
            <a:chExt cx="4483735" cy="1259205"/>
          </a:xfrm>
        </p:grpSpPr>
        <p:sp>
          <p:nvSpPr>
            <p:cNvPr id="4" name="object 4"/>
            <p:cNvSpPr/>
            <p:nvPr/>
          </p:nvSpPr>
          <p:spPr>
            <a:xfrm>
              <a:off x="87743" y="86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830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238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9686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9523"/>
              <a:ext cx="50800" cy="11128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2586"/>
              <a:ext cx="4432935" cy="990600"/>
            </a:xfrm>
            <a:custGeom>
              <a:avLst/>
              <a:gdLst/>
              <a:ahLst/>
              <a:cxnLst/>
              <a:rect l="l" t="t" r="r" b="b"/>
              <a:pathLst>
                <a:path w="4432935" h="990600">
                  <a:moveTo>
                    <a:pt x="4432554" y="0"/>
                  </a:moveTo>
                  <a:lnTo>
                    <a:pt x="0" y="0"/>
                  </a:lnTo>
                  <a:lnTo>
                    <a:pt x="0" y="939799"/>
                  </a:lnTo>
                  <a:lnTo>
                    <a:pt x="4008" y="959524"/>
                  </a:lnTo>
                  <a:lnTo>
                    <a:pt x="14922" y="975677"/>
                  </a:lnTo>
                  <a:lnTo>
                    <a:pt x="31075" y="986591"/>
                  </a:lnTo>
                  <a:lnTo>
                    <a:pt x="50800" y="990599"/>
                  </a:lnTo>
                  <a:lnTo>
                    <a:pt x="4381754" y="990599"/>
                  </a:lnTo>
                  <a:lnTo>
                    <a:pt x="4401478" y="986591"/>
                  </a:lnTo>
                  <a:lnTo>
                    <a:pt x="4417631" y="975677"/>
                  </a:lnTo>
                  <a:lnTo>
                    <a:pt x="4428545" y="959524"/>
                  </a:lnTo>
                  <a:lnTo>
                    <a:pt x="4432554" y="9397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7585"/>
              <a:ext cx="0" cy="1094105"/>
            </a:xfrm>
            <a:custGeom>
              <a:avLst/>
              <a:gdLst/>
              <a:ahLst/>
              <a:cxnLst/>
              <a:rect l="l" t="t" r="r" b="b"/>
              <a:pathLst>
                <a:path h="1094105">
                  <a:moveTo>
                    <a:pt x="0" y="1093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4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22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95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159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162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33740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5116"/>
            <a:ext cx="4483735" cy="799465"/>
            <a:chOff x="87743" y="2225116"/>
            <a:chExt cx="4483735" cy="799465"/>
          </a:xfrm>
        </p:grpSpPr>
        <p:sp>
          <p:nvSpPr>
            <p:cNvPr id="18" name="object 18"/>
            <p:cNvSpPr/>
            <p:nvPr/>
          </p:nvSpPr>
          <p:spPr>
            <a:xfrm>
              <a:off x="87743" y="222511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82422"/>
                  </a:lnTo>
                  <a:lnTo>
                    <a:pt x="4432554" y="82422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922651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909951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275675"/>
              <a:ext cx="50800" cy="6469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26949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160"/>
                  </a:lnTo>
                  <a:lnTo>
                    <a:pt x="4008" y="672885"/>
                  </a:lnTo>
                  <a:lnTo>
                    <a:pt x="14922" y="689038"/>
                  </a:lnTo>
                  <a:lnTo>
                    <a:pt x="31075" y="699952"/>
                  </a:lnTo>
                  <a:lnTo>
                    <a:pt x="50800" y="703960"/>
                  </a:lnTo>
                  <a:lnTo>
                    <a:pt x="4381754" y="703960"/>
                  </a:lnTo>
                  <a:lnTo>
                    <a:pt x="4401478" y="699952"/>
                  </a:lnTo>
                  <a:lnTo>
                    <a:pt x="4417631" y="689038"/>
                  </a:lnTo>
                  <a:lnTo>
                    <a:pt x="4428545" y="672885"/>
                  </a:lnTo>
                  <a:lnTo>
                    <a:pt x="4432554" y="6531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313813"/>
              <a:ext cx="0" cy="628015"/>
            </a:xfrm>
            <a:custGeom>
              <a:avLst/>
              <a:gdLst/>
              <a:ahLst/>
              <a:cxnLst/>
              <a:rect l="l" t="t" r="r" b="b"/>
              <a:pathLst>
                <a:path h="628014">
                  <a:moveTo>
                    <a:pt x="0" y="6278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10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883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756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729" y="511072"/>
            <a:ext cx="4101465" cy="2085339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called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</a:t>
            </a:r>
            <a:r>
              <a:rPr sz="950" b="1" dirty="0">
                <a:latin typeface="Trebuchet MS"/>
                <a:cs typeface="Trebuchet MS"/>
              </a:rPr>
              <a:t>Word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Segmentation</a:t>
            </a:r>
            <a:r>
              <a:rPr sz="950" spc="-10" dirty="0">
                <a:latin typeface="Trebuchet MS"/>
                <a:cs typeface="Trebuchet MS"/>
              </a:rPr>
              <a:t>’.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Greedy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Algorithm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for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Chinese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b="1" spc="10" dirty="0">
                <a:latin typeface="Trebuchet MS"/>
                <a:cs typeface="Trebuchet MS"/>
              </a:rPr>
              <a:t>Maximum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Matching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(Greedy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Algorithm)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Start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pointer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beginning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string</a:t>
            </a:r>
            <a:endParaRPr sz="950">
              <a:latin typeface="Trebuchet MS"/>
              <a:cs typeface="Trebuchet MS"/>
            </a:endParaRPr>
          </a:p>
          <a:p>
            <a:pPr marL="289560" marR="5143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largest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dictionary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matches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string</a:t>
            </a:r>
            <a:r>
              <a:rPr sz="950" spc="-10" dirty="0">
                <a:latin typeface="Trebuchet MS"/>
                <a:cs typeface="Trebuchet MS"/>
              </a:rPr>
              <a:t> starting </a:t>
            </a:r>
            <a:r>
              <a:rPr sz="950" spc="-25" dirty="0">
                <a:latin typeface="Trebuchet MS"/>
                <a:cs typeface="Trebuchet MS"/>
              </a:rPr>
              <a:t>at </a:t>
            </a:r>
            <a:r>
              <a:rPr sz="950" spc="-10" dirty="0">
                <a:latin typeface="Trebuchet MS"/>
                <a:cs typeface="Trebuchet MS"/>
              </a:rPr>
              <a:t>pointer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Move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pointer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string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</a:pPr>
            <a:r>
              <a:rPr sz="950" i="1" dirty="0">
                <a:latin typeface="Trebuchet MS"/>
                <a:cs typeface="Trebuchet MS"/>
              </a:rPr>
              <a:t>Think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cases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when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segmentation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would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be</a:t>
            </a:r>
            <a:r>
              <a:rPr sz="950" i="1" spc="-10" dirty="0">
                <a:latin typeface="Trebuchet MS"/>
                <a:cs typeface="Trebuchet MS"/>
              </a:rPr>
              <a:t> required </a:t>
            </a:r>
            <a:r>
              <a:rPr sz="950" i="1" spc="-70" dirty="0">
                <a:latin typeface="Trebuchet MS"/>
                <a:cs typeface="Trebuchet MS"/>
              </a:rPr>
              <a:t>for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English Text.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Word</a:t>
            </a:r>
            <a:r>
              <a:rPr spc="55" dirty="0"/>
              <a:t> </a:t>
            </a:r>
            <a:r>
              <a:rPr spc="-35" dirty="0"/>
              <a:t>Tokenization</a:t>
            </a:r>
            <a:r>
              <a:rPr spc="65" dirty="0"/>
              <a:t> </a:t>
            </a:r>
            <a:r>
              <a:rPr dirty="0"/>
              <a:t>in</a:t>
            </a:r>
            <a:r>
              <a:rPr spc="65" dirty="0"/>
              <a:t> </a:t>
            </a:r>
            <a:r>
              <a:rPr dirty="0"/>
              <a:t>Chinese</a:t>
            </a:r>
            <a:r>
              <a:rPr spc="65" dirty="0"/>
              <a:t> </a:t>
            </a:r>
            <a:r>
              <a:rPr dirty="0"/>
              <a:t>or</a:t>
            </a:r>
            <a:r>
              <a:rPr spc="65" dirty="0"/>
              <a:t> </a:t>
            </a:r>
            <a:r>
              <a:rPr spc="-10" dirty="0"/>
              <a:t>Sanskrit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5289"/>
            <a:ext cx="4483735" cy="1259205"/>
            <a:chOff x="87743" y="865289"/>
            <a:chExt cx="4483735" cy="1259205"/>
          </a:xfrm>
        </p:grpSpPr>
        <p:sp>
          <p:nvSpPr>
            <p:cNvPr id="4" name="object 4"/>
            <p:cNvSpPr/>
            <p:nvPr/>
          </p:nvSpPr>
          <p:spPr>
            <a:xfrm>
              <a:off x="87743" y="86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8301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22386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09686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9523"/>
              <a:ext cx="50800" cy="111286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2586"/>
              <a:ext cx="4432935" cy="990600"/>
            </a:xfrm>
            <a:custGeom>
              <a:avLst/>
              <a:gdLst/>
              <a:ahLst/>
              <a:cxnLst/>
              <a:rect l="l" t="t" r="r" b="b"/>
              <a:pathLst>
                <a:path w="4432935" h="990600">
                  <a:moveTo>
                    <a:pt x="4432554" y="0"/>
                  </a:moveTo>
                  <a:lnTo>
                    <a:pt x="0" y="0"/>
                  </a:lnTo>
                  <a:lnTo>
                    <a:pt x="0" y="939799"/>
                  </a:lnTo>
                  <a:lnTo>
                    <a:pt x="4008" y="959524"/>
                  </a:lnTo>
                  <a:lnTo>
                    <a:pt x="14922" y="975677"/>
                  </a:lnTo>
                  <a:lnTo>
                    <a:pt x="31075" y="986591"/>
                  </a:lnTo>
                  <a:lnTo>
                    <a:pt x="50800" y="990599"/>
                  </a:lnTo>
                  <a:lnTo>
                    <a:pt x="4381754" y="990599"/>
                  </a:lnTo>
                  <a:lnTo>
                    <a:pt x="4401478" y="986591"/>
                  </a:lnTo>
                  <a:lnTo>
                    <a:pt x="4417631" y="975677"/>
                  </a:lnTo>
                  <a:lnTo>
                    <a:pt x="4428545" y="959524"/>
                  </a:lnTo>
                  <a:lnTo>
                    <a:pt x="4432554" y="939799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7585"/>
              <a:ext cx="0" cy="1094105"/>
            </a:xfrm>
            <a:custGeom>
              <a:avLst/>
              <a:gdLst/>
              <a:ahLst/>
              <a:cxnLst/>
              <a:rect l="l" t="t" r="r" b="b"/>
              <a:pathLst>
                <a:path h="1094105">
                  <a:moveTo>
                    <a:pt x="0" y="109385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49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22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9500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34159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55162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933740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2225116"/>
            <a:ext cx="4483735" cy="799465"/>
            <a:chOff x="87743" y="2225116"/>
            <a:chExt cx="4483735" cy="799465"/>
          </a:xfrm>
        </p:grpSpPr>
        <p:sp>
          <p:nvSpPr>
            <p:cNvPr id="18" name="object 18"/>
            <p:cNvSpPr/>
            <p:nvPr/>
          </p:nvSpPr>
          <p:spPr>
            <a:xfrm>
              <a:off x="87743" y="2225116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799"/>
                  </a:lnTo>
                  <a:lnTo>
                    <a:pt x="0" y="82422"/>
                  </a:lnTo>
                  <a:lnTo>
                    <a:pt x="4432554" y="82422"/>
                  </a:lnTo>
                  <a:lnTo>
                    <a:pt x="4432554" y="50799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922651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909951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2275675"/>
              <a:ext cx="50800" cy="64697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26949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4">
                  <a:moveTo>
                    <a:pt x="4432554" y="0"/>
                  </a:moveTo>
                  <a:lnTo>
                    <a:pt x="0" y="0"/>
                  </a:lnTo>
                  <a:lnTo>
                    <a:pt x="0" y="653160"/>
                  </a:lnTo>
                  <a:lnTo>
                    <a:pt x="4008" y="672885"/>
                  </a:lnTo>
                  <a:lnTo>
                    <a:pt x="14922" y="689038"/>
                  </a:lnTo>
                  <a:lnTo>
                    <a:pt x="31075" y="699952"/>
                  </a:lnTo>
                  <a:lnTo>
                    <a:pt x="50800" y="703960"/>
                  </a:lnTo>
                  <a:lnTo>
                    <a:pt x="4381754" y="703960"/>
                  </a:lnTo>
                  <a:lnTo>
                    <a:pt x="4401478" y="699952"/>
                  </a:lnTo>
                  <a:lnTo>
                    <a:pt x="4417631" y="689038"/>
                  </a:lnTo>
                  <a:lnTo>
                    <a:pt x="4428545" y="672885"/>
                  </a:lnTo>
                  <a:lnTo>
                    <a:pt x="4432554" y="65316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FF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313813"/>
              <a:ext cx="0" cy="628015"/>
            </a:xfrm>
            <a:custGeom>
              <a:avLst/>
              <a:gdLst/>
              <a:ahLst/>
              <a:cxnLst/>
              <a:rect l="l" t="t" r="r" b="b"/>
              <a:pathLst>
                <a:path h="628014">
                  <a:moveTo>
                    <a:pt x="0" y="62788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3010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2883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275668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25729" y="511072"/>
            <a:ext cx="4101465" cy="2429510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950" dirty="0">
                <a:latin typeface="Trebuchet MS"/>
                <a:cs typeface="Trebuchet MS"/>
              </a:rPr>
              <a:t>Also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called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‘</a:t>
            </a:r>
            <a:r>
              <a:rPr sz="950" b="1" dirty="0">
                <a:latin typeface="Trebuchet MS"/>
                <a:cs typeface="Trebuchet MS"/>
              </a:rPr>
              <a:t>Word</a:t>
            </a:r>
            <a:r>
              <a:rPr sz="950" b="1" spc="2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Segmentation</a:t>
            </a:r>
            <a:r>
              <a:rPr sz="950" spc="-10" dirty="0">
                <a:latin typeface="Trebuchet MS"/>
                <a:cs typeface="Trebuchet MS"/>
              </a:rPr>
              <a:t>’.</a:t>
            </a: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Greedy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Algorithm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for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Chinese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950" b="1" spc="10" dirty="0">
                <a:latin typeface="Trebuchet MS"/>
                <a:cs typeface="Trebuchet MS"/>
              </a:rPr>
              <a:t>Maximum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Matching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10" dirty="0">
                <a:latin typeface="Trebuchet MS"/>
                <a:cs typeface="Trebuchet MS"/>
              </a:rPr>
              <a:t>(Greedy</a:t>
            </a:r>
            <a:r>
              <a:rPr sz="950" b="1" spc="15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Algorithm)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Start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pointer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beginning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string</a:t>
            </a:r>
            <a:endParaRPr sz="950">
              <a:latin typeface="Trebuchet MS"/>
              <a:cs typeface="Trebuchet MS"/>
            </a:endParaRPr>
          </a:p>
          <a:p>
            <a:pPr marL="289560" marR="51435">
              <a:lnSpc>
                <a:spcPct val="118900"/>
              </a:lnSpc>
              <a:spcBef>
                <a:spcPts val="295"/>
              </a:spcBef>
            </a:pPr>
            <a:r>
              <a:rPr sz="950" dirty="0">
                <a:latin typeface="Trebuchet MS"/>
                <a:cs typeface="Trebuchet MS"/>
              </a:rPr>
              <a:t>Find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largest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dictionary </a:t>
            </a:r>
            <a:r>
              <a:rPr sz="950" spc="-30" dirty="0">
                <a:latin typeface="Trebuchet MS"/>
                <a:cs typeface="Trebuchet MS"/>
              </a:rPr>
              <a:t>that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matches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string</a:t>
            </a:r>
            <a:r>
              <a:rPr sz="950" spc="-10" dirty="0">
                <a:latin typeface="Trebuchet MS"/>
                <a:cs typeface="Trebuchet MS"/>
              </a:rPr>
              <a:t> starting </a:t>
            </a:r>
            <a:r>
              <a:rPr sz="950" spc="-25" dirty="0">
                <a:latin typeface="Trebuchet MS"/>
                <a:cs typeface="Trebuchet MS"/>
              </a:rPr>
              <a:t>at </a:t>
            </a:r>
            <a:r>
              <a:rPr sz="950" spc="-10" dirty="0">
                <a:latin typeface="Trebuchet MS"/>
                <a:cs typeface="Trebuchet MS"/>
              </a:rPr>
              <a:t>pointer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15"/>
              </a:spcBef>
            </a:pPr>
            <a:r>
              <a:rPr sz="950" dirty="0">
                <a:latin typeface="Trebuchet MS"/>
                <a:cs typeface="Trebuchet MS"/>
              </a:rPr>
              <a:t>Move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pointer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-10" dirty="0">
                <a:latin typeface="Trebuchet MS"/>
                <a:cs typeface="Trebuchet MS"/>
              </a:rPr>
              <a:t> string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80"/>
              </a:spcBef>
            </a:pPr>
            <a:endParaRPr sz="950">
              <a:latin typeface="Trebuchet MS"/>
              <a:cs typeface="Trebuchet MS"/>
            </a:endParaRPr>
          </a:p>
          <a:p>
            <a:pPr marL="12700" marR="5080">
              <a:lnSpc>
                <a:spcPct val="118800"/>
              </a:lnSpc>
            </a:pPr>
            <a:r>
              <a:rPr sz="950" i="1" dirty="0">
                <a:latin typeface="Trebuchet MS"/>
                <a:cs typeface="Trebuchet MS"/>
              </a:rPr>
              <a:t>Think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35" dirty="0">
                <a:latin typeface="Trebuchet MS"/>
                <a:cs typeface="Trebuchet MS"/>
              </a:rPr>
              <a:t>of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-20" dirty="0">
                <a:latin typeface="Trebuchet MS"/>
                <a:cs typeface="Trebuchet MS"/>
              </a:rPr>
              <a:t>the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spc="65" dirty="0">
                <a:latin typeface="Trebuchet MS"/>
                <a:cs typeface="Trebuchet MS"/>
              </a:rPr>
              <a:t>cases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when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segmentation</a:t>
            </a:r>
            <a:r>
              <a:rPr sz="950" i="1" spc="-10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would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be</a:t>
            </a:r>
            <a:r>
              <a:rPr sz="950" i="1" spc="-10" dirty="0">
                <a:latin typeface="Trebuchet MS"/>
                <a:cs typeface="Trebuchet MS"/>
              </a:rPr>
              <a:t> required </a:t>
            </a:r>
            <a:r>
              <a:rPr sz="950" i="1" spc="-70" dirty="0">
                <a:latin typeface="Trebuchet MS"/>
                <a:cs typeface="Trebuchet MS"/>
              </a:rPr>
              <a:t>for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i="1" spc="-10" dirty="0">
                <a:latin typeface="Trebuchet MS"/>
                <a:cs typeface="Trebuchet MS"/>
              </a:rPr>
              <a:t>English Text.</a:t>
            </a:r>
            <a:endParaRPr sz="950">
              <a:latin typeface="Trebuchet MS"/>
              <a:cs typeface="Trebuchet MS"/>
            </a:endParaRPr>
          </a:p>
          <a:p>
            <a:pPr marL="12700" marR="161290">
              <a:lnSpc>
                <a:spcPct val="118900"/>
              </a:lnSpc>
            </a:pPr>
            <a:r>
              <a:rPr sz="950" dirty="0">
                <a:latin typeface="Trebuchet MS"/>
                <a:cs typeface="Trebuchet MS"/>
              </a:rPr>
              <a:t>Finding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constituent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compound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hashtags:</a:t>
            </a:r>
            <a:r>
              <a:rPr sz="950" spc="14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#ThankYouSachin, </a:t>
            </a:r>
            <a:r>
              <a:rPr sz="950" spc="10" dirty="0">
                <a:latin typeface="Trebuchet MS"/>
                <a:cs typeface="Trebuchet MS"/>
              </a:rPr>
              <a:t>#musicmonday</a:t>
            </a:r>
            <a:r>
              <a:rPr sz="950" spc="1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etc.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9"/>
                  </a:lnTo>
                  <a:lnTo>
                    <a:pt x="1535938" y="108839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17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22504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50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1400" i="1" spc="-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Segmentation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 for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Sanskrit</a:t>
            </a:r>
            <a:endParaRPr sz="1400">
              <a:latin typeface="Cambria"/>
              <a:cs typeface="Cambri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7743" y="779310"/>
            <a:ext cx="4483735" cy="629920"/>
            <a:chOff x="87743" y="779310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77931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5232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07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37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23544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96556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61682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48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36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235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7630" y="724062"/>
            <a:ext cx="4422140" cy="60261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General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assumption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behind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design</a:t>
            </a:r>
            <a:endParaRPr sz="1100">
              <a:latin typeface="Cambria"/>
              <a:cs typeface="Cambria"/>
            </a:endParaRPr>
          </a:p>
          <a:p>
            <a:pPr marL="50800" marR="43180">
              <a:lnSpc>
                <a:spcPct val="102600"/>
              </a:lnSpc>
              <a:spcBef>
                <a:spcPts val="235"/>
              </a:spcBef>
            </a:pP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Classical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Sanskrit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generated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110" dirty="0">
                <a:latin typeface="Cambria"/>
                <a:cs typeface="Cambria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Kleene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closure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spc="-215" dirty="0">
                <a:latin typeface="Cambria"/>
                <a:cs typeface="Cambria"/>
              </a:rPr>
              <a:t>W</a:t>
            </a:r>
            <a:r>
              <a:rPr sz="1200" spc="-322" baseline="27777" dirty="0">
                <a:latin typeface="SimSun-ExtB"/>
                <a:cs typeface="SimSun-ExtB"/>
              </a:rPr>
              <a:t>∗</a:t>
            </a:r>
            <a:r>
              <a:rPr sz="1200" spc="-97" baseline="27777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 set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words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40" dirty="0">
                <a:latin typeface="Trebuchet MS"/>
                <a:cs typeface="Trebuchet MS"/>
              </a:rPr>
              <a:t>finite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alphabet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25" dirty="0">
                <a:latin typeface="Trebuchet MS"/>
                <a:cs typeface="Trebuchet MS"/>
              </a:rPr>
              <a:t>Σ</a:t>
            </a:r>
            <a:r>
              <a:rPr sz="950" spc="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5" name="object 1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6" name="object 1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1" name="object 2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2504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Text</a:t>
            </a:r>
            <a:r>
              <a:rPr spc="-5" dirty="0"/>
              <a:t> </a:t>
            </a:r>
            <a:r>
              <a:rPr spc="-25" dirty="0"/>
              <a:t>Segmentation</a:t>
            </a:r>
            <a:r>
              <a:rPr dirty="0"/>
              <a:t> for </a:t>
            </a:r>
            <a:r>
              <a:rPr spc="-10" dirty="0"/>
              <a:t>Sanskrit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79310"/>
            <a:ext cx="4483735" cy="629920"/>
            <a:chOff x="87743" y="779310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77931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5232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07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37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23544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96556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61682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48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36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235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589227"/>
            <a:ext cx="64757" cy="6475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1799259"/>
            <a:ext cx="64757" cy="64757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74930" y="724062"/>
            <a:ext cx="4447540" cy="118300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General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assumption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behind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design</a:t>
            </a:r>
            <a:endParaRPr sz="1100">
              <a:latin typeface="Cambria"/>
              <a:cs typeface="Cambria"/>
            </a:endParaRPr>
          </a:p>
          <a:p>
            <a:pPr marL="63500" marR="55880">
              <a:lnSpc>
                <a:spcPct val="102600"/>
              </a:lnSpc>
              <a:spcBef>
                <a:spcPts val="235"/>
              </a:spcBef>
            </a:pP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Classical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Sanskrit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generated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110" dirty="0">
                <a:latin typeface="Cambria"/>
                <a:cs typeface="Cambria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Kleene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closure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spc="-215" dirty="0">
                <a:latin typeface="Cambria"/>
                <a:cs typeface="Cambria"/>
              </a:rPr>
              <a:t>W</a:t>
            </a:r>
            <a:r>
              <a:rPr sz="1200" spc="-322" baseline="27777" dirty="0">
                <a:latin typeface="SimSun-ExtB"/>
                <a:cs typeface="SimSun-ExtB"/>
              </a:rPr>
              <a:t>∗</a:t>
            </a:r>
            <a:r>
              <a:rPr sz="1200" spc="-97" baseline="27777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 set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words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40" dirty="0">
                <a:latin typeface="Trebuchet MS"/>
                <a:cs typeface="Trebuchet MS"/>
              </a:rPr>
              <a:t>finite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alphabet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25" dirty="0">
                <a:latin typeface="Trebuchet MS"/>
                <a:cs typeface="Trebuchet MS"/>
              </a:rPr>
              <a:t>Σ</a:t>
            </a:r>
            <a:r>
              <a:rPr sz="950" spc="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950">
              <a:latin typeface="Trebuchet MS"/>
              <a:cs typeface="Trebuchet MS"/>
            </a:endParaRPr>
          </a:p>
          <a:p>
            <a:pPr marL="340360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Cambria"/>
                <a:cs typeface="Cambria"/>
              </a:rPr>
              <a:t>W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(inflected)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i="1" dirty="0">
                <a:latin typeface="Trebuchet MS"/>
                <a:cs typeface="Trebuchet MS"/>
              </a:rPr>
              <a:t>padas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and</a:t>
            </a:r>
            <a:endParaRPr sz="950">
              <a:latin typeface="Trebuchet MS"/>
              <a:cs typeface="Trebuchet MS"/>
            </a:endParaRPr>
          </a:p>
          <a:p>
            <a:pPr marL="34036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latin typeface="Cambria"/>
                <a:cs typeface="Cambria"/>
              </a:rPr>
              <a:t>R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sandhi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250" y="60502"/>
            <a:ext cx="22504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Text</a:t>
            </a:r>
            <a:r>
              <a:rPr spc="-5" dirty="0"/>
              <a:t> </a:t>
            </a:r>
            <a:r>
              <a:rPr spc="-25" dirty="0"/>
              <a:t>Segmentation</a:t>
            </a:r>
            <a:r>
              <a:rPr dirty="0"/>
              <a:t> for </a:t>
            </a:r>
            <a:r>
              <a:rPr spc="-10" dirty="0"/>
              <a:t>Sanskrit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779310"/>
            <a:ext cx="4483735" cy="629920"/>
            <a:chOff x="87743" y="779310"/>
            <a:chExt cx="4483735" cy="629920"/>
          </a:xfrm>
        </p:grpSpPr>
        <p:sp>
          <p:nvSpPr>
            <p:cNvPr id="4" name="object 4"/>
            <p:cNvSpPr/>
            <p:nvPr/>
          </p:nvSpPr>
          <p:spPr>
            <a:xfrm>
              <a:off x="87743" y="77931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95232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307071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294371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823544"/>
              <a:ext cx="50800" cy="483527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996556"/>
              <a:ext cx="4432935" cy="361315"/>
            </a:xfrm>
            <a:custGeom>
              <a:avLst/>
              <a:gdLst/>
              <a:ahLst/>
              <a:cxnLst/>
              <a:rect l="l" t="t" r="r" b="b"/>
              <a:pathLst>
                <a:path w="4432935" h="361315">
                  <a:moveTo>
                    <a:pt x="4432554" y="0"/>
                  </a:moveTo>
                  <a:lnTo>
                    <a:pt x="0" y="0"/>
                  </a:lnTo>
                  <a:lnTo>
                    <a:pt x="0" y="310514"/>
                  </a:lnTo>
                  <a:lnTo>
                    <a:pt x="4008" y="330239"/>
                  </a:lnTo>
                  <a:lnTo>
                    <a:pt x="14922" y="346392"/>
                  </a:lnTo>
                  <a:lnTo>
                    <a:pt x="31075" y="357306"/>
                  </a:lnTo>
                  <a:lnTo>
                    <a:pt x="50800" y="361314"/>
                  </a:lnTo>
                  <a:lnTo>
                    <a:pt x="4381754" y="361314"/>
                  </a:lnTo>
                  <a:lnTo>
                    <a:pt x="4401478" y="357306"/>
                  </a:lnTo>
                  <a:lnTo>
                    <a:pt x="4417631" y="346392"/>
                  </a:lnTo>
                  <a:lnTo>
                    <a:pt x="4428545" y="330239"/>
                  </a:lnTo>
                  <a:lnTo>
                    <a:pt x="4432554" y="3105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861682"/>
              <a:ext cx="0" cy="464820"/>
            </a:xfrm>
            <a:custGeom>
              <a:avLst/>
              <a:gdLst/>
              <a:ahLst/>
              <a:cxnLst/>
              <a:rect l="l" t="t" r="r" b="b"/>
              <a:pathLst>
                <a:path h="464819">
                  <a:moveTo>
                    <a:pt x="0" y="464438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8489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8362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82354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597" y="1589227"/>
            <a:ext cx="64757" cy="64757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597" y="1799259"/>
            <a:ext cx="64757" cy="64757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87743" y="2045170"/>
            <a:ext cx="4483735" cy="808355"/>
            <a:chOff x="87743" y="2045170"/>
            <a:chExt cx="4483735" cy="808355"/>
          </a:xfrm>
        </p:grpSpPr>
        <p:sp>
          <p:nvSpPr>
            <p:cNvPr id="17" name="object 17"/>
            <p:cNvSpPr/>
            <p:nvPr/>
          </p:nvSpPr>
          <p:spPr>
            <a:xfrm>
              <a:off x="87743" y="204517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218182"/>
              <a:ext cx="4432554" cy="5060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4" y="2751886"/>
              <a:ext cx="101600" cy="1016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9344" y="2739186"/>
              <a:ext cx="4381753" cy="1143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0298" y="2089404"/>
              <a:ext cx="50800" cy="66248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87743" y="2262428"/>
              <a:ext cx="4432935" cy="540385"/>
            </a:xfrm>
            <a:custGeom>
              <a:avLst/>
              <a:gdLst/>
              <a:ahLst/>
              <a:cxnLst/>
              <a:rect l="l" t="t" r="r" b="b"/>
              <a:pathLst>
                <a:path w="4432935" h="540385">
                  <a:moveTo>
                    <a:pt x="4432554" y="0"/>
                  </a:moveTo>
                  <a:lnTo>
                    <a:pt x="0" y="0"/>
                  </a:lnTo>
                  <a:lnTo>
                    <a:pt x="0" y="489458"/>
                  </a:lnTo>
                  <a:lnTo>
                    <a:pt x="4008" y="509182"/>
                  </a:lnTo>
                  <a:lnTo>
                    <a:pt x="14922" y="525335"/>
                  </a:lnTo>
                  <a:lnTo>
                    <a:pt x="31075" y="536249"/>
                  </a:lnTo>
                  <a:lnTo>
                    <a:pt x="50800" y="540258"/>
                  </a:lnTo>
                  <a:lnTo>
                    <a:pt x="4381754" y="540258"/>
                  </a:lnTo>
                  <a:lnTo>
                    <a:pt x="4401478" y="536249"/>
                  </a:lnTo>
                  <a:lnTo>
                    <a:pt x="4417631" y="525335"/>
                  </a:lnTo>
                  <a:lnTo>
                    <a:pt x="4428545" y="509182"/>
                  </a:lnTo>
                  <a:lnTo>
                    <a:pt x="4432554" y="489458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520309" y="2127554"/>
              <a:ext cx="0" cy="643890"/>
            </a:xfrm>
            <a:custGeom>
              <a:avLst/>
              <a:gdLst/>
              <a:ahLst/>
              <a:cxnLst/>
              <a:rect l="l" t="t" r="r" b="b"/>
              <a:pathLst>
                <a:path h="643889">
                  <a:moveTo>
                    <a:pt x="0" y="64338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21147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020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08938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530" y="724062"/>
            <a:ext cx="4498340" cy="204025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375"/>
              </a:spcBef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General </a:t>
            </a: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assumption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behind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the</a:t>
            </a:r>
            <a:r>
              <a:rPr sz="1100" i="1" spc="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design</a:t>
            </a:r>
            <a:endParaRPr sz="1100">
              <a:latin typeface="Cambria"/>
              <a:cs typeface="Cambria"/>
            </a:endParaRPr>
          </a:p>
          <a:p>
            <a:pPr marL="88900" marR="81280">
              <a:lnSpc>
                <a:spcPct val="102600"/>
              </a:lnSpc>
              <a:spcBef>
                <a:spcPts val="235"/>
              </a:spcBef>
            </a:pPr>
            <a:r>
              <a:rPr sz="950" dirty="0">
                <a:latin typeface="Trebuchet MS"/>
                <a:cs typeface="Trebuchet MS"/>
              </a:rPr>
              <a:t>Sentences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Classical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Sanskrit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may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generated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7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110" dirty="0">
                <a:latin typeface="Cambria"/>
                <a:cs typeface="Cambria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of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Kleene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closure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spc="-215" dirty="0">
                <a:latin typeface="Cambria"/>
                <a:cs typeface="Cambria"/>
              </a:rPr>
              <a:t>W</a:t>
            </a:r>
            <a:r>
              <a:rPr sz="1200" spc="-322" baseline="27777" dirty="0">
                <a:latin typeface="SimSun-ExtB"/>
                <a:cs typeface="SimSun-ExtB"/>
              </a:rPr>
              <a:t>∗</a:t>
            </a:r>
            <a:r>
              <a:rPr sz="1200" spc="-97" baseline="27777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regular set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125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i="1" dirty="0">
                <a:latin typeface="Trebuchet MS"/>
                <a:cs typeface="Trebuchet MS"/>
              </a:rPr>
              <a:t>words</a:t>
            </a:r>
            <a:r>
              <a:rPr sz="950" i="1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over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</a:t>
            </a:r>
            <a:r>
              <a:rPr sz="950" spc="-40" dirty="0">
                <a:latin typeface="Trebuchet MS"/>
                <a:cs typeface="Trebuchet MS"/>
              </a:rPr>
              <a:t>finite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alphabet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25" dirty="0">
                <a:latin typeface="Trebuchet MS"/>
                <a:cs typeface="Trebuchet MS"/>
              </a:rPr>
              <a:t>Σ</a:t>
            </a:r>
            <a:r>
              <a:rPr sz="950" spc="25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950">
              <a:latin typeface="Trebuchet MS"/>
              <a:cs typeface="Trebuchet MS"/>
            </a:endParaRPr>
          </a:p>
          <a:p>
            <a:pPr marL="365760">
              <a:lnSpc>
                <a:spcPct val="100000"/>
              </a:lnSpc>
              <a:spcBef>
                <a:spcPts val="5"/>
              </a:spcBef>
            </a:pPr>
            <a:r>
              <a:rPr sz="1100" i="1" dirty="0">
                <a:latin typeface="Cambria"/>
                <a:cs typeface="Cambria"/>
              </a:rPr>
              <a:t>W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vocabulary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(inflected)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</a:t>
            </a:r>
            <a:r>
              <a:rPr sz="950" i="1" dirty="0">
                <a:latin typeface="Trebuchet MS"/>
                <a:cs typeface="Trebuchet MS"/>
              </a:rPr>
              <a:t>padas</a:t>
            </a:r>
            <a:r>
              <a:rPr sz="950" dirty="0">
                <a:latin typeface="Trebuchet MS"/>
                <a:cs typeface="Trebuchet MS"/>
              </a:rPr>
              <a:t>)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and</a:t>
            </a:r>
            <a:endParaRPr sz="950">
              <a:latin typeface="Trebuchet MS"/>
              <a:cs typeface="Trebuchet MS"/>
            </a:endParaRPr>
          </a:p>
          <a:p>
            <a:pPr marL="365760">
              <a:lnSpc>
                <a:spcPct val="100000"/>
              </a:lnSpc>
              <a:spcBef>
                <a:spcPts val="330"/>
              </a:spcBef>
            </a:pPr>
            <a:r>
              <a:rPr sz="1100" i="1" dirty="0">
                <a:latin typeface="Cambria"/>
                <a:cs typeface="Cambria"/>
              </a:rPr>
              <a:t>R</a:t>
            </a:r>
            <a:r>
              <a:rPr sz="950" dirty="0">
                <a:latin typeface="Trebuchet MS"/>
                <a:cs typeface="Trebuchet MS"/>
              </a:rPr>
              <a:t>: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sandhi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950">
              <a:latin typeface="Trebuchet MS"/>
              <a:cs typeface="Trebuchet MS"/>
            </a:endParaRPr>
          </a:p>
          <a:p>
            <a:pPr marL="88900">
              <a:lnSpc>
                <a:spcPct val="100000"/>
              </a:lnSpc>
            </a:pP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Analysis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of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dirty="0">
                <a:solidFill>
                  <a:srgbClr val="3232B2"/>
                </a:solidFill>
                <a:latin typeface="Cambria"/>
                <a:cs typeface="Cambria"/>
              </a:rPr>
              <a:t>a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sentence</a:t>
            </a:r>
            <a:endParaRPr sz="1100">
              <a:latin typeface="Cambria"/>
              <a:cs typeface="Cambria"/>
            </a:endParaRPr>
          </a:p>
          <a:p>
            <a:pPr marL="88900" marR="160655">
              <a:lnSpc>
                <a:spcPct val="102600"/>
              </a:lnSpc>
              <a:spcBef>
                <a:spcPts val="240"/>
              </a:spcBef>
            </a:pPr>
            <a:r>
              <a:rPr sz="950" spc="9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candidate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sentence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is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analyzed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by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inverting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relation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1100" i="1" dirty="0">
                <a:latin typeface="Cambria"/>
                <a:cs typeface="Cambria"/>
              </a:rPr>
              <a:t>R</a:t>
            </a:r>
            <a:r>
              <a:rPr sz="1100" i="1" spc="60" dirty="0">
                <a:latin typeface="Cambria"/>
                <a:cs typeface="Cambria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produce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finite </a:t>
            </a:r>
            <a:r>
              <a:rPr sz="950" dirty="0">
                <a:latin typeface="Trebuchet MS"/>
                <a:cs typeface="Trebuchet MS"/>
              </a:rPr>
              <a:t>sequence </a:t>
            </a:r>
            <a:r>
              <a:rPr sz="1100" i="1" spc="-30" dirty="0">
                <a:latin typeface="Cambria"/>
                <a:cs typeface="Cambria"/>
              </a:rPr>
              <a:t>w</a:t>
            </a:r>
            <a:r>
              <a:rPr sz="1200" spc="-44" baseline="-10416" dirty="0">
                <a:latin typeface="Cambria"/>
                <a:cs typeface="Cambria"/>
              </a:rPr>
              <a:t>1</a:t>
            </a:r>
            <a:r>
              <a:rPr sz="1100" i="1" spc="-30" dirty="0">
                <a:latin typeface="Arial"/>
                <a:cs typeface="Arial"/>
              </a:rPr>
              <a:t>,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baseline="-10416" dirty="0">
                <a:latin typeface="Cambria"/>
                <a:cs typeface="Cambria"/>
              </a:rPr>
              <a:t>2</a:t>
            </a:r>
            <a:r>
              <a:rPr sz="1100" i="1" dirty="0">
                <a:latin typeface="Arial"/>
                <a:cs typeface="Arial"/>
              </a:rPr>
              <a:t>,...</a:t>
            </a:r>
            <a:r>
              <a:rPr sz="1100" i="1" dirty="0">
                <a:latin typeface="Cambria"/>
                <a:cs typeface="Cambria"/>
              </a:rPr>
              <a:t>w</a:t>
            </a:r>
            <a:r>
              <a:rPr sz="1200" i="1" baseline="-10416" dirty="0">
                <a:latin typeface="Cambria"/>
                <a:cs typeface="Cambria"/>
              </a:rPr>
              <a:t>n</a:t>
            </a:r>
            <a:r>
              <a:rPr sz="1200" i="1" spc="247" baseline="-10416" dirty="0">
                <a:latin typeface="Cambria"/>
                <a:cs typeface="Cambria"/>
              </a:rPr>
              <a:t> </a:t>
            </a:r>
            <a:r>
              <a:rPr sz="950" dirty="0">
                <a:latin typeface="Trebuchet MS"/>
                <a:cs typeface="Trebuchet MS"/>
              </a:rPr>
              <a:t>of word </a:t>
            </a:r>
            <a:r>
              <a:rPr sz="950" spc="-10" dirty="0">
                <a:latin typeface="Trebuchet MS"/>
                <a:cs typeface="Trebuchet MS"/>
              </a:rPr>
              <a:t>forms,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together</a:t>
            </a:r>
            <a:r>
              <a:rPr sz="95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with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 proof </a:t>
            </a:r>
            <a:r>
              <a:rPr sz="950" spc="-20" dirty="0">
                <a:latin typeface="Trebuchet MS"/>
                <a:cs typeface="Trebuchet MS"/>
              </a:rPr>
              <a:t>that</a:t>
            </a:r>
            <a:endParaRPr sz="950">
              <a:latin typeface="Trebuchet MS"/>
              <a:cs typeface="Trebuchet MS"/>
            </a:endParaRPr>
          </a:p>
          <a:p>
            <a:pPr marL="88900">
              <a:lnSpc>
                <a:spcPct val="100000"/>
              </a:lnSpc>
              <a:spcBef>
                <a:spcPts val="35"/>
              </a:spcBef>
            </a:pPr>
            <a:r>
              <a:rPr sz="1100" i="1" spc="-80" dirty="0">
                <a:latin typeface="Cambria"/>
                <a:cs typeface="Cambria"/>
              </a:rPr>
              <a:t>w</a:t>
            </a:r>
            <a:r>
              <a:rPr sz="1100" i="1" dirty="0">
                <a:latin typeface="Cambria"/>
                <a:cs typeface="Cambria"/>
              </a:rPr>
              <a:t> </a:t>
            </a:r>
            <a:r>
              <a:rPr sz="1100" spc="-375" dirty="0">
                <a:latin typeface="SimSun-ExtB"/>
                <a:cs typeface="SimSun-ExtB"/>
              </a:rPr>
              <a:t>∈</a:t>
            </a:r>
            <a:r>
              <a:rPr sz="1100" spc="-310" dirty="0">
                <a:latin typeface="SimSun-ExtB"/>
                <a:cs typeface="SimSun-ExtB"/>
              </a:rPr>
              <a:t> </a:t>
            </a:r>
            <a:r>
              <a:rPr sz="1100" i="1" spc="-10" dirty="0">
                <a:latin typeface="Cambria"/>
                <a:cs typeface="Cambria"/>
              </a:rPr>
              <a:t>R</a:t>
            </a:r>
            <a:r>
              <a:rPr sz="1100" spc="-10" dirty="0">
                <a:latin typeface="Trebuchet MS"/>
                <a:cs typeface="Trebuchet MS"/>
              </a:rPr>
              <a:t>(</a:t>
            </a:r>
            <a:r>
              <a:rPr sz="1100" i="1" spc="-10" dirty="0">
                <a:latin typeface="Cambria"/>
                <a:cs typeface="Cambria"/>
              </a:rPr>
              <a:t>w</a:t>
            </a:r>
            <a:r>
              <a:rPr sz="1200" spc="-15" baseline="-10416" dirty="0">
                <a:latin typeface="Cambria"/>
                <a:cs typeface="Cambria"/>
              </a:rPr>
              <a:t>1</a:t>
            </a:r>
            <a:r>
              <a:rPr sz="1200" spc="30" baseline="-10416" dirty="0">
                <a:latin typeface="Cambria"/>
                <a:cs typeface="Cambria"/>
              </a:rPr>
              <a:t> </a:t>
            </a:r>
            <a:r>
              <a:rPr sz="1100" spc="-805" dirty="0">
                <a:latin typeface="SimSun-ExtB"/>
                <a:cs typeface="SimSun-ExtB"/>
              </a:rPr>
              <a:t>·</a:t>
            </a:r>
            <a:r>
              <a:rPr sz="1100" spc="-400" dirty="0">
                <a:latin typeface="SimSun-ExtB"/>
                <a:cs typeface="SimSun-ExtB"/>
              </a:rPr>
              <a:t> </a:t>
            </a:r>
            <a:r>
              <a:rPr sz="1100" i="1" spc="-25" dirty="0">
                <a:latin typeface="Cambria"/>
                <a:cs typeface="Cambria"/>
              </a:rPr>
              <a:t>w</a:t>
            </a:r>
            <a:r>
              <a:rPr sz="1200" spc="-37" baseline="-10416" dirty="0">
                <a:latin typeface="Cambria"/>
                <a:cs typeface="Cambria"/>
              </a:rPr>
              <a:t>2</a:t>
            </a:r>
            <a:r>
              <a:rPr sz="1100" i="1" spc="-25" dirty="0">
                <a:latin typeface="Arial"/>
                <a:cs typeface="Arial"/>
              </a:rPr>
              <a:t>...</a:t>
            </a:r>
            <a:r>
              <a:rPr sz="1100" i="1" spc="-155" dirty="0">
                <a:latin typeface="Arial"/>
                <a:cs typeface="Arial"/>
              </a:rPr>
              <a:t> </a:t>
            </a:r>
            <a:r>
              <a:rPr sz="1100" spc="-805" dirty="0">
                <a:latin typeface="SimSun-ExtB"/>
                <a:cs typeface="SimSun-ExtB"/>
              </a:rPr>
              <a:t>·</a:t>
            </a:r>
            <a:r>
              <a:rPr sz="1100" spc="-400" dirty="0">
                <a:latin typeface="SimSun-ExtB"/>
                <a:cs typeface="SimSun-ExtB"/>
              </a:rPr>
              <a:t> </a:t>
            </a:r>
            <a:r>
              <a:rPr sz="1100" i="1" spc="-20" dirty="0">
                <a:latin typeface="Cambria"/>
                <a:cs typeface="Cambria"/>
              </a:rPr>
              <a:t>w</a:t>
            </a:r>
            <a:r>
              <a:rPr sz="1200" i="1" spc="-30" baseline="-10416" dirty="0">
                <a:latin typeface="Cambria"/>
                <a:cs typeface="Cambria"/>
              </a:rPr>
              <a:t>n</a:t>
            </a:r>
            <a:r>
              <a:rPr sz="1100" spc="-20" dirty="0">
                <a:latin typeface="Trebuchet MS"/>
                <a:cs typeface="Trebuchet MS"/>
              </a:rPr>
              <a:t>)</a:t>
            </a:r>
            <a:r>
              <a:rPr sz="950" spc="-20" dirty="0">
                <a:latin typeface="Trebuchet MS"/>
                <a:cs typeface="Trebuchet MS"/>
              </a:rPr>
              <a:t>.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28" name="object 2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9" name="object 2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4" name="object 3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5" name="object 3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18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22675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60" dirty="0">
                <a:solidFill>
                  <a:srgbClr val="FFFFFF"/>
                </a:solidFill>
                <a:latin typeface="Cambria"/>
                <a:cs typeface="Cambria"/>
              </a:rPr>
              <a:t>Word</a:t>
            </a:r>
            <a:r>
              <a:rPr sz="1400" i="1" spc="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25" dirty="0">
                <a:solidFill>
                  <a:srgbClr val="FFFFFF"/>
                </a:solidFill>
                <a:latin typeface="Cambria"/>
                <a:cs typeface="Cambria"/>
              </a:rPr>
              <a:t>Segmentation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in</a:t>
            </a:r>
            <a:r>
              <a:rPr sz="14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Sanskrit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544" y="702322"/>
            <a:ext cx="4175759" cy="2133600"/>
          </a:xfrm>
          <a:prstGeom prst="rect">
            <a:avLst/>
          </a:prstGeom>
        </p:spPr>
      </p:pic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Normalization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28280"/>
            <a:ext cx="4483735" cy="951865"/>
            <a:chOff x="87743" y="1228280"/>
            <a:chExt cx="4483735" cy="951865"/>
          </a:xfrm>
        </p:grpSpPr>
        <p:sp>
          <p:nvSpPr>
            <p:cNvPr id="4" name="object 4"/>
            <p:cNvSpPr/>
            <p:nvPr/>
          </p:nvSpPr>
          <p:spPr>
            <a:xfrm>
              <a:off x="87743" y="122828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0129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7844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6574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72514"/>
              <a:ext cx="50800" cy="8059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45603"/>
              <a:ext cx="4432935" cy="683895"/>
            </a:xfrm>
            <a:custGeom>
              <a:avLst/>
              <a:gdLst/>
              <a:ahLst/>
              <a:cxnLst/>
              <a:rect l="l" t="t" r="r" b="b"/>
              <a:pathLst>
                <a:path w="4432935" h="683894">
                  <a:moveTo>
                    <a:pt x="4432554" y="0"/>
                  </a:moveTo>
                  <a:lnTo>
                    <a:pt x="0" y="0"/>
                  </a:lnTo>
                  <a:lnTo>
                    <a:pt x="0" y="632840"/>
                  </a:lnTo>
                  <a:lnTo>
                    <a:pt x="4008" y="652565"/>
                  </a:lnTo>
                  <a:lnTo>
                    <a:pt x="14922" y="668718"/>
                  </a:lnTo>
                  <a:lnTo>
                    <a:pt x="31075" y="679632"/>
                  </a:lnTo>
                  <a:lnTo>
                    <a:pt x="50800" y="683640"/>
                  </a:lnTo>
                  <a:lnTo>
                    <a:pt x="4381754" y="683640"/>
                  </a:lnTo>
                  <a:lnTo>
                    <a:pt x="4401478" y="679632"/>
                  </a:lnTo>
                  <a:lnTo>
                    <a:pt x="4417631" y="668718"/>
                  </a:lnTo>
                  <a:lnTo>
                    <a:pt x="4428545" y="652565"/>
                  </a:lnTo>
                  <a:lnTo>
                    <a:pt x="4432554" y="63284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10602"/>
              <a:ext cx="0" cy="787400"/>
            </a:xfrm>
            <a:custGeom>
              <a:avLst/>
              <a:gdLst/>
              <a:ahLst/>
              <a:cxnLst/>
              <a:rect l="l" t="t" r="r" b="b"/>
              <a:pathLst>
                <a:path h="787400">
                  <a:moveTo>
                    <a:pt x="0" y="7868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979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852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2725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705330"/>
              <a:ext cx="64757" cy="64757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25729" y="1153633"/>
            <a:ext cx="3105150" cy="65722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Why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“normalize”?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Indexed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query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must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U.S.A.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25" dirty="0">
                <a:latin typeface="Trebuchet MS"/>
                <a:cs typeface="Trebuchet MS"/>
              </a:rPr>
              <a:t>USA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matched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6" name="object 1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7" name="object 1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2" name="object 2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Normalization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228280"/>
            <a:ext cx="4483735" cy="951865"/>
            <a:chOff x="87743" y="1228280"/>
            <a:chExt cx="4483735" cy="951865"/>
          </a:xfrm>
        </p:grpSpPr>
        <p:sp>
          <p:nvSpPr>
            <p:cNvPr id="4" name="object 4"/>
            <p:cNvSpPr/>
            <p:nvPr/>
          </p:nvSpPr>
          <p:spPr>
            <a:xfrm>
              <a:off x="87743" y="1228280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01292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07844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065743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272514"/>
              <a:ext cx="50800" cy="80592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445603"/>
              <a:ext cx="4432935" cy="683895"/>
            </a:xfrm>
            <a:custGeom>
              <a:avLst/>
              <a:gdLst/>
              <a:ahLst/>
              <a:cxnLst/>
              <a:rect l="l" t="t" r="r" b="b"/>
              <a:pathLst>
                <a:path w="4432935" h="683894">
                  <a:moveTo>
                    <a:pt x="4432554" y="0"/>
                  </a:moveTo>
                  <a:lnTo>
                    <a:pt x="0" y="0"/>
                  </a:lnTo>
                  <a:lnTo>
                    <a:pt x="0" y="632840"/>
                  </a:lnTo>
                  <a:lnTo>
                    <a:pt x="4008" y="652565"/>
                  </a:lnTo>
                  <a:lnTo>
                    <a:pt x="14922" y="668718"/>
                  </a:lnTo>
                  <a:lnTo>
                    <a:pt x="31075" y="679632"/>
                  </a:lnTo>
                  <a:lnTo>
                    <a:pt x="50800" y="683640"/>
                  </a:lnTo>
                  <a:lnTo>
                    <a:pt x="4381754" y="683640"/>
                  </a:lnTo>
                  <a:lnTo>
                    <a:pt x="4401478" y="679632"/>
                  </a:lnTo>
                  <a:lnTo>
                    <a:pt x="4417631" y="668718"/>
                  </a:lnTo>
                  <a:lnTo>
                    <a:pt x="4428545" y="652565"/>
                  </a:lnTo>
                  <a:lnTo>
                    <a:pt x="4432554" y="632840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310602"/>
              <a:ext cx="0" cy="787400"/>
            </a:xfrm>
            <a:custGeom>
              <a:avLst/>
              <a:gdLst/>
              <a:ahLst/>
              <a:cxnLst/>
              <a:rect l="l" t="t" r="r" b="b"/>
              <a:pathLst>
                <a:path h="787400">
                  <a:moveTo>
                    <a:pt x="0" y="786892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2979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2852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272503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70533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991283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5729" y="1153633"/>
            <a:ext cx="3105150" cy="942975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100" i="1" spc="-35" dirty="0">
                <a:solidFill>
                  <a:srgbClr val="3232B2"/>
                </a:solidFill>
                <a:latin typeface="Cambria"/>
                <a:cs typeface="Cambria"/>
              </a:rPr>
              <a:t>Why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to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“normalize”?</a:t>
            </a: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425"/>
              </a:spcBef>
            </a:pPr>
            <a:r>
              <a:rPr sz="950" dirty="0">
                <a:latin typeface="Trebuchet MS"/>
                <a:cs typeface="Trebuchet MS"/>
              </a:rPr>
              <a:t>Indexed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50" dirty="0">
                <a:latin typeface="Trebuchet MS"/>
                <a:cs typeface="Trebuchet MS"/>
              </a:rPr>
              <a:t>text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query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must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have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same</a:t>
            </a:r>
            <a:r>
              <a:rPr sz="950" spc="4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form.</a:t>
            </a: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  <a:spcBef>
                <a:spcPts val="509"/>
              </a:spcBef>
            </a:pPr>
            <a:r>
              <a:rPr sz="950" dirty="0">
                <a:latin typeface="Trebuchet MS"/>
                <a:cs typeface="Trebuchet MS"/>
              </a:rPr>
              <a:t>U.S.A.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and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125" dirty="0">
                <a:latin typeface="Trebuchet MS"/>
                <a:cs typeface="Trebuchet MS"/>
              </a:rPr>
              <a:t>USA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should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be</a:t>
            </a:r>
            <a:r>
              <a:rPr sz="950" spc="5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matched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>
              <a:latin typeface="Trebuchet MS"/>
              <a:cs typeface="Trebuchet MS"/>
            </a:endParaRPr>
          </a:p>
          <a:p>
            <a:pPr marL="289560">
              <a:lnSpc>
                <a:spcPct val="100000"/>
              </a:lnSpc>
            </a:pPr>
            <a:r>
              <a:rPr sz="950" spc="55" dirty="0">
                <a:latin typeface="Trebuchet MS"/>
                <a:cs typeface="Trebuchet MS"/>
              </a:rPr>
              <a:t>We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5" dirty="0">
                <a:latin typeface="Trebuchet MS"/>
                <a:cs typeface="Trebuchet MS"/>
              </a:rPr>
              <a:t>implicitly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define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equivalence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classes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5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terms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20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37"/>
            <a:ext cx="4608195" cy="351790"/>
          </a:xfrm>
          <a:custGeom>
            <a:avLst/>
            <a:gdLst/>
            <a:ahLst/>
            <a:cxnLst/>
            <a:rect l="l" t="t" r="r" b="b"/>
            <a:pathLst>
              <a:path w="4608195" h="351790">
                <a:moveTo>
                  <a:pt x="4607941" y="0"/>
                </a:moveTo>
                <a:lnTo>
                  <a:pt x="0" y="0"/>
                </a:lnTo>
                <a:lnTo>
                  <a:pt x="0" y="351408"/>
                </a:lnTo>
                <a:lnTo>
                  <a:pt x="4607941" y="351408"/>
                </a:lnTo>
                <a:lnTo>
                  <a:pt x="4607941" y="0"/>
                </a:lnTo>
                <a:close/>
              </a:path>
            </a:pathLst>
          </a:custGeom>
          <a:solidFill>
            <a:srgbClr val="3232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250" y="60502"/>
            <a:ext cx="9937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solidFill>
                  <a:srgbClr val="FFFFFF"/>
                </a:solidFill>
                <a:latin typeface="Cambria"/>
                <a:cs typeface="Cambria"/>
              </a:rPr>
              <a:t>Case</a:t>
            </a:r>
            <a:r>
              <a:rPr sz="1400" i="1" spc="2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400" i="1" spc="-10" dirty="0">
                <a:solidFill>
                  <a:srgbClr val="FFFFFF"/>
                </a:solidFill>
                <a:latin typeface="Cambria"/>
                <a:cs typeface="Cambria"/>
              </a:rPr>
              <a:t>Folding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60754"/>
            <a:ext cx="64757" cy="6475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2932" y="1190650"/>
            <a:ext cx="1755139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dirty="0">
                <a:latin typeface="Trebuchet MS"/>
                <a:cs typeface="Trebuchet MS"/>
              </a:rPr>
              <a:t>Reduce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letters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case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Case</a:t>
            </a:r>
            <a:r>
              <a:rPr spc="235" dirty="0"/>
              <a:t> </a:t>
            </a:r>
            <a:r>
              <a:rPr spc="-10" dirty="0"/>
              <a:t>Folding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60754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150488"/>
            <a:ext cx="3916045" cy="732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1748789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Reduce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letters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case </a:t>
            </a:r>
            <a:r>
              <a:rPr sz="950" dirty="0">
                <a:latin typeface="Trebuchet MS"/>
                <a:cs typeface="Trebuchet MS"/>
              </a:rPr>
              <a:t>Possible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exceptions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(Task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dependent):</a:t>
            </a:r>
            <a:endParaRPr sz="950">
              <a:latin typeface="Trebuchet MS"/>
              <a:cs typeface="Trebuchet MS"/>
            </a:endParaRPr>
          </a:p>
          <a:p>
            <a:pPr marL="314960" marR="30480" indent="-137160">
              <a:lnSpc>
                <a:spcPct val="110800"/>
              </a:lnSpc>
              <a:spcBef>
                <a:spcPts val="190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Upper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case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mid </a:t>
            </a:r>
            <a:r>
              <a:rPr sz="900" spc="-10" dirty="0">
                <a:latin typeface="Trebuchet MS"/>
                <a:cs typeface="Trebuchet MS"/>
              </a:rPr>
              <a:t>sentence,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may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point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named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entities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General Motors)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50543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Case</a:t>
            </a:r>
            <a:r>
              <a:rPr spc="235" dirty="0"/>
              <a:t> </a:t>
            </a:r>
            <a:r>
              <a:rPr spc="-10" dirty="0"/>
              <a:t>Folding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260754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1150488"/>
            <a:ext cx="3964304" cy="10356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179705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Reduce</a:t>
            </a:r>
            <a:r>
              <a:rPr sz="950" spc="1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all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letters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lower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case </a:t>
            </a:r>
            <a:r>
              <a:rPr sz="950" dirty="0">
                <a:latin typeface="Trebuchet MS"/>
                <a:cs typeface="Trebuchet MS"/>
              </a:rPr>
              <a:t>Possible</a:t>
            </a:r>
            <a:r>
              <a:rPr sz="950" spc="10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exceptions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(Task</a:t>
            </a:r>
            <a:r>
              <a:rPr sz="950" spc="105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dependent):</a:t>
            </a:r>
            <a:endParaRPr sz="950">
              <a:latin typeface="Trebuchet MS"/>
              <a:cs typeface="Trebuchet MS"/>
            </a:endParaRPr>
          </a:p>
          <a:p>
            <a:pPr marL="314960" marR="78105" indent="-137160">
              <a:lnSpc>
                <a:spcPct val="110800"/>
              </a:lnSpc>
              <a:spcBef>
                <a:spcPts val="190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Upper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case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in</a:t>
            </a:r>
            <a:r>
              <a:rPr sz="900" spc="-20" dirty="0">
                <a:latin typeface="Trebuchet MS"/>
                <a:cs typeface="Trebuchet MS"/>
              </a:rPr>
              <a:t> mid </a:t>
            </a:r>
            <a:r>
              <a:rPr sz="900" spc="-10" dirty="0">
                <a:latin typeface="Trebuchet MS"/>
                <a:cs typeface="Trebuchet MS"/>
              </a:rPr>
              <a:t>sentence,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may</a:t>
            </a:r>
            <a:r>
              <a:rPr sz="900" spc="-2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point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named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entities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(e.g.</a:t>
            </a:r>
            <a:r>
              <a:rPr sz="900" spc="4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General Motors)</a:t>
            </a:r>
            <a:endParaRPr sz="90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52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For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MT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and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35" dirty="0">
                <a:latin typeface="Trebuchet MS"/>
                <a:cs typeface="Trebuchet MS"/>
              </a:rPr>
              <a:t>inforamtion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45" dirty="0">
                <a:latin typeface="Trebuchet MS"/>
                <a:cs typeface="Trebuchet MS"/>
              </a:rPr>
              <a:t>extraction,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some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cases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might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be</a:t>
            </a:r>
            <a:r>
              <a:rPr sz="900" spc="5" dirty="0">
                <a:latin typeface="Trebuchet MS"/>
                <a:cs typeface="Trebuchet MS"/>
              </a:rPr>
              <a:t> </a:t>
            </a:r>
            <a:r>
              <a:rPr sz="900" spc="-30" dirty="0">
                <a:latin typeface="Trebuchet MS"/>
                <a:cs typeface="Trebuchet MS"/>
              </a:rPr>
              <a:t>helpful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60" dirty="0">
                <a:latin typeface="Trebuchet MS"/>
                <a:cs typeface="Trebuchet MS"/>
              </a:rPr>
              <a:t>(</a:t>
            </a:r>
            <a:r>
              <a:rPr sz="900" i="1" spc="60" dirty="0">
                <a:latin typeface="Trebuchet MS"/>
                <a:cs typeface="Trebuchet MS"/>
              </a:rPr>
              <a:t>US</a:t>
            </a:r>
            <a:r>
              <a:rPr sz="900" i="1" spc="55" dirty="0">
                <a:latin typeface="Trebuchet MS"/>
                <a:cs typeface="Trebuchet MS"/>
              </a:rPr>
              <a:t> </a:t>
            </a:r>
            <a:r>
              <a:rPr sz="900" spc="-25" dirty="0">
                <a:latin typeface="Trebuchet MS"/>
                <a:cs typeface="Trebuchet MS"/>
              </a:rPr>
              <a:t>vs.</a:t>
            </a:r>
            <a:endParaRPr sz="900">
              <a:latin typeface="Trebuchet MS"/>
              <a:cs typeface="Trebuchet MS"/>
            </a:endParaRPr>
          </a:p>
          <a:p>
            <a:pPr marL="314960">
              <a:lnSpc>
                <a:spcPct val="100000"/>
              </a:lnSpc>
              <a:spcBef>
                <a:spcPts val="114"/>
              </a:spcBef>
            </a:pPr>
            <a:r>
              <a:rPr sz="900" i="1" spc="-25" dirty="0">
                <a:latin typeface="Trebuchet MS"/>
                <a:cs typeface="Trebuchet MS"/>
              </a:rPr>
              <a:t>us</a:t>
            </a:r>
            <a:r>
              <a:rPr sz="900" spc="-25" dirty="0">
                <a:latin typeface="Trebuchet MS"/>
                <a:cs typeface="Trebuchet MS"/>
              </a:rPr>
              <a:t>)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450543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21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Lemmatization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361059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82029" rIns="0" bIns="0" rtlCol="0">
            <a:spAutoFit/>
          </a:bodyPr>
          <a:lstStyle/>
          <a:p>
            <a:pPr marL="327660">
              <a:lnSpc>
                <a:spcPct val="100000"/>
              </a:lnSpc>
              <a:spcBef>
                <a:spcPts val="330"/>
              </a:spcBef>
            </a:pPr>
            <a:r>
              <a:rPr dirty="0"/>
              <a:t>Reduce</a:t>
            </a:r>
            <a:r>
              <a:rPr spc="40" dirty="0"/>
              <a:t> </a:t>
            </a:r>
            <a:r>
              <a:rPr spc="-10" dirty="0"/>
              <a:t>inflections</a:t>
            </a:r>
            <a:r>
              <a:rPr spc="40" dirty="0"/>
              <a:t> </a:t>
            </a:r>
            <a:r>
              <a:rPr dirty="0"/>
              <a:t>or</a:t>
            </a:r>
            <a:r>
              <a:rPr spc="40" dirty="0"/>
              <a:t> </a:t>
            </a:r>
            <a:r>
              <a:rPr spc="-10" dirty="0"/>
              <a:t>variant</a:t>
            </a:r>
            <a:r>
              <a:rPr spc="40" dirty="0"/>
              <a:t> </a:t>
            </a:r>
            <a:r>
              <a:rPr dirty="0"/>
              <a:t>forms</a:t>
            </a:r>
            <a:r>
              <a:rPr spc="45" dirty="0"/>
              <a:t> </a:t>
            </a:r>
            <a:r>
              <a:rPr spc="-20" dirty="0"/>
              <a:t>to</a:t>
            </a:r>
            <a:r>
              <a:rPr spc="40" dirty="0"/>
              <a:t> </a:t>
            </a:r>
            <a:r>
              <a:rPr dirty="0"/>
              <a:t>base</a:t>
            </a:r>
            <a:r>
              <a:rPr spc="40" dirty="0"/>
              <a:t> </a:t>
            </a:r>
            <a:r>
              <a:rPr spc="-20" dirty="0"/>
              <a:t>form:</a:t>
            </a:r>
          </a:p>
          <a:p>
            <a:pPr marL="467359">
              <a:lnSpc>
                <a:spcPts val="1200"/>
              </a:lnSpc>
              <a:spcBef>
                <a:spcPts val="20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55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10" dirty="0"/>
              <a:t>am,</a:t>
            </a:r>
            <a:r>
              <a:rPr sz="900" spc="-25" dirty="0"/>
              <a:t> </a:t>
            </a:r>
            <a:r>
              <a:rPr sz="900" spc="-35" dirty="0"/>
              <a:t>are,</a:t>
            </a:r>
            <a:r>
              <a:rPr sz="900" spc="-20" dirty="0"/>
              <a:t> </a:t>
            </a:r>
            <a:r>
              <a:rPr sz="900" dirty="0"/>
              <a:t>is</a:t>
            </a:r>
            <a:r>
              <a:rPr sz="900" spc="-25" dirty="0"/>
              <a:t> </a:t>
            </a:r>
            <a:r>
              <a:rPr sz="1000" spc="-10" dirty="0">
                <a:latin typeface="SimSun-ExtB"/>
                <a:cs typeface="SimSun-ExtB"/>
              </a:rPr>
              <a:t>→</a:t>
            </a:r>
            <a:r>
              <a:rPr sz="1000" spc="-250" dirty="0">
                <a:latin typeface="SimSun-ExtB"/>
                <a:cs typeface="SimSun-ExtB"/>
              </a:rPr>
              <a:t> </a:t>
            </a:r>
            <a:r>
              <a:rPr sz="900" spc="-25" dirty="0"/>
              <a:t>be</a:t>
            </a:r>
            <a:endParaRPr sz="900">
              <a:latin typeface="SimSun-ExtB"/>
              <a:cs typeface="SimSun-ExtB"/>
            </a:endParaRPr>
          </a:p>
          <a:p>
            <a:pPr marL="467359">
              <a:lnSpc>
                <a:spcPts val="1200"/>
              </a:lnSpc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47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spc="-45" dirty="0"/>
              <a:t>car,</a:t>
            </a:r>
            <a:r>
              <a:rPr sz="900" spc="-25" dirty="0"/>
              <a:t> </a:t>
            </a:r>
            <a:r>
              <a:rPr sz="900" spc="-10" dirty="0"/>
              <a:t>cars,</a:t>
            </a:r>
            <a:r>
              <a:rPr sz="900" spc="-25" dirty="0"/>
              <a:t> </a:t>
            </a:r>
            <a:r>
              <a:rPr sz="900" spc="-35" dirty="0"/>
              <a:t>car’s,</a:t>
            </a:r>
            <a:r>
              <a:rPr sz="900" spc="-30" dirty="0"/>
              <a:t> </a:t>
            </a:r>
            <a:r>
              <a:rPr sz="900" spc="-10" dirty="0"/>
              <a:t>cars’</a:t>
            </a:r>
            <a:r>
              <a:rPr sz="900" spc="-30" dirty="0"/>
              <a:t> </a:t>
            </a:r>
            <a:r>
              <a:rPr sz="1000" spc="-10" dirty="0">
                <a:latin typeface="SimSun-ExtB"/>
                <a:cs typeface="SimSun-ExtB"/>
              </a:rPr>
              <a:t>→</a:t>
            </a:r>
            <a:r>
              <a:rPr sz="1000" spc="-250" dirty="0">
                <a:latin typeface="SimSun-ExtB"/>
                <a:cs typeface="SimSun-ExtB"/>
              </a:rPr>
              <a:t> </a:t>
            </a:r>
            <a:r>
              <a:rPr sz="900" spc="-25" dirty="0"/>
              <a:t>car</a:t>
            </a:r>
            <a:endParaRPr sz="900">
              <a:latin typeface="SimSun-ExtB"/>
              <a:cs typeface="SimSun-ExtB"/>
            </a:endParaRPr>
          </a:p>
          <a:p>
            <a:pPr marL="327660">
              <a:lnSpc>
                <a:spcPct val="100000"/>
              </a:lnSpc>
              <a:spcBef>
                <a:spcPts val="505"/>
              </a:spcBef>
            </a:pPr>
            <a:r>
              <a:rPr dirty="0"/>
              <a:t>Have</a:t>
            </a:r>
            <a:r>
              <a:rPr spc="5" dirty="0"/>
              <a:t> </a:t>
            </a:r>
            <a:r>
              <a:rPr spc="-20" dirty="0"/>
              <a:t>to</a:t>
            </a:r>
            <a:r>
              <a:rPr spc="5" dirty="0"/>
              <a:t> </a:t>
            </a:r>
            <a:r>
              <a:rPr spc="-20" dirty="0"/>
              <a:t>find</a:t>
            </a:r>
            <a:r>
              <a:rPr spc="5" dirty="0"/>
              <a:t> </a:t>
            </a:r>
            <a:r>
              <a:rPr dirty="0"/>
              <a:t>the</a:t>
            </a:r>
            <a:r>
              <a:rPr spc="5" dirty="0"/>
              <a:t> </a:t>
            </a:r>
            <a:r>
              <a:rPr spc="-20" dirty="0"/>
              <a:t>correct</a:t>
            </a:r>
            <a:r>
              <a:rPr spc="5" dirty="0"/>
              <a:t> </a:t>
            </a:r>
            <a:r>
              <a:rPr spc="-10" dirty="0"/>
              <a:t>dictionary</a:t>
            </a:r>
            <a:r>
              <a:rPr spc="5" dirty="0"/>
              <a:t> </a:t>
            </a:r>
            <a:r>
              <a:rPr dirty="0"/>
              <a:t>headword</a:t>
            </a:r>
            <a:r>
              <a:rPr spc="10" dirty="0"/>
              <a:t> </a:t>
            </a:r>
            <a:r>
              <a:rPr spc="-20" dirty="0"/>
              <a:t>form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900059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Morphology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729" y="860826"/>
            <a:ext cx="4100829" cy="3695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89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Morphology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studies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the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internal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structure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words,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how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words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are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40" dirty="0">
                <a:latin typeface="Trebuchet MS"/>
                <a:cs typeface="Trebuchet MS"/>
              </a:rPr>
              <a:t>built</a:t>
            </a:r>
            <a:r>
              <a:rPr sz="950" spc="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up </a:t>
            </a:r>
            <a:r>
              <a:rPr sz="950" spc="-10" dirty="0">
                <a:latin typeface="Trebuchet MS"/>
                <a:cs typeface="Trebuchet MS"/>
              </a:rPr>
              <a:t>from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smaller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meaningful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units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called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b="1" spc="-10" dirty="0">
                <a:latin typeface="Trebuchet MS"/>
                <a:cs typeface="Trebuchet MS"/>
              </a:rPr>
              <a:t>morphemes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5" name="object 5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0" name="object 10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Morphology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321752"/>
            <a:ext cx="4483735" cy="1276350"/>
            <a:chOff x="87743" y="1321752"/>
            <a:chExt cx="4483735" cy="1276350"/>
          </a:xfrm>
        </p:grpSpPr>
        <p:sp>
          <p:nvSpPr>
            <p:cNvPr id="4" name="object 4"/>
            <p:cNvSpPr/>
            <p:nvPr/>
          </p:nvSpPr>
          <p:spPr>
            <a:xfrm>
              <a:off x="87743" y="132175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9476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9607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8337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65986"/>
              <a:ext cx="50800" cy="11300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38998"/>
              <a:ext cx="4432935" cy="1008380"/>
            </a:xfrm>
            <a:custGeom>
              <a:avLst/>
              <a:gdLst/>
              <a:ahLst/>
              <a:cxnLst/>
              <a:rect l="l" t="t" r="r" b="b"/>
              <a:pathLst>
                <a:path w="4432935" h="1008380">
                  <a:moveTo>
                    <a:pt x="4432554" y="0"/>
                  </a:moveTo>
                  <a:lnTo>
                    <a:pt x="0" y="0"/>
                  </a:lnTo>
                  <a:lnTo>
                    <a:pt x="0" y="957072"/>
                  </a:lnTo>
                  <a:lnTo>
                    <a:pt x="4008" y="976796"/>
                  </a:lnTo>
                  <a:lnTo>
                    <a:pt x="14922" y="992949"/>
                  </a:lnTo>
                  <a:lnTo>
                    <a:pt x="31075" y="1003863"/>
                  </a:lnTo>
                  <a:lnTo>
                    <a:pt x="50800" y="1007872"/>
                  </a:lnTo>
                  <a:lnTo>
                    <a:pt x="4381754" y="1007872"/>
                  </a:lnTo>
                  <a:lnTo>
                    <a:pt x="4401478" y="1003863"/>
                  </a:lnTo>
                  <a:lnTo>
                    <a:pt x="4417631" y="992949"/>
                  </a:lnTo>
                  <a:lnTo>
                    <a:pt x="4428545" y="976796"/>
                  </a:lnTo>
                  <a:lnTo>
                    <a:pt x="4432554" y="9570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404124"/>
              <a:ext cx="0" cy="1111250"/>
            </a:xfrm>
            <a:custGeom>
              <a:avLst/>
              <a:gdLst/>
              <a:ahLst/>
              <a:cxnLst/>
              <a:rect l="l" t="t" r="r" b="b"/>
              <a:pathLst>
                <a:path h="1111250">
                  <a:moveTo>
                    <a:pt x="0" y="11109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91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78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65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58877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855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6718" rIns="0" bIns="0" rtlCol="0">
            <a:spAutoFit/>
          </a:bodyPr>
          <a:lstStyle/>
          <a:p>
            <a:pPr marL="50165" marR="205740">
              <a:lnSpc>
                <a:spcPct val="118900"/>
              </a:lnSpc>
              <a:spcBef>
                <a:spcPts val="90"/>
              </a:spcBef>
            </a:pPr>
            <a:r>
              <a:rPr dirty="0"/>
              <a:t>Morphology</a:t>
            </a:r>
            <a:r>
              <a:rPr spc="20" dirty="0"/>
              <a:t> </a:t>
            </a:r>
            <a:r>
              <a:rPr dirty="0"/>
              <a:t>studies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internal</a:t>
            </a:r>
            <a:r>
              <a:rPr spc="20" dirty="0"/>
              <a:t> </a:t>
            </a:r>
            <a:r>
              <a:rPr spc="-10" dirty="0"/>
              <a:t>structure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words,</a:t>
            </a:r>
            <a:r>
              <a:rPr spc="20" dirty="0"/>
              <a:t> </a:t>
            </a:r>
            <a:r>
              <a:rPr dirty="0"/>
              <a:t>how</a:t>
            </a:r>
            <a:r>
              <a:rPr spc="20" dirty="0"/>
              <a:t> </a:t>
            </a:r>
            <a:r>
              <a:rPr dirty="0"/>
              <a:t>words</a:t>
            </a:r>
            <a:r>
              <a:rPr spc="25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spc="-40" dirty="0"/>
              <a:t>built</a:t>
            </a:r>
            <a:r>
              <a:rPr spc="20" dirty="0"/>
              <a:t> </a:t>
            </a:r>
            <a:r>
              <a:rPr spc="-25" dirty="0"/>
              <a:t>up </a:t>
            </a:r>
            <a:r>
              <a:rPr spc="-10" dirty="0"/>
              <a:t>from</a:t>
            </a:r>
            <a:r>
              <a:rPr spc="-15" dirty="0"/>
              <a:t> </a:t>
            </a:r>
            <a:r>
              <a:rPr dirty="0"/>
              <a:t>smaller</a:t>
            </a:r>
            <a:r>
              <a:rPr spc="-10" dirty="0"/>
              <a:t> </a:t>
            </a:r>
            <a:r>
              <a:rPr dirty="0"/>
              <a:t>meaningful</a:t>
            </a:r>
            <a:r>
              <a:rPr spc="-10" dirty="0"/>
              <a:t> </a:t>
            </a:r>
            <a:r>
              <a:rPr dirty="0"/>
              <a:t>units</a:t>
            </a:r>
            <a:r>
              <a:rPr spc="-15" dirty="0"/>
              <a:t> </a:t>
            </a:r>
            <a:r>
              <a:rPr dirty="0"/>
              <a:t>called</a:t>
            </a:r>
            <a:r>
              <a:rPr spc="-10" dirty="0"/>
              <a:t> </a:t>
            </a:r>
            <a:r>
              <a:rPr b="1" spc="-10" dirty="0">
                <a:latin typeface="Trebuchet MS"/>
                <a:cs typeface="Trebuchet MS"/>
              </a:rPr>
              <a:t>morphemes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Morphemes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divided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into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categories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Stems:</a:t>
            </a:r>
            <a:r>
              <a:rPr spc="16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core</a:t>
            </a:r>
            <a:r>
              <a:rPr spc="80" dirty="0"/>
              <a:t> </a:t>
            </a:r>
            <a:r>
              <a:rPr dirty="0"/>
              <a:t>meaning</a:t>
            </a:r>
            <a:r>
              <a:rPr spc="80" dirty="0"/>
              <a:t> </a:t>
            </a:r>
            <a:r>
              <a:rPr dirty="0"/>
              <a:t>bearing</a:t>
            </a:r>
            <a:r>
              <a:rPr spc="80" dirty="0"/>
              <a:t> </a:t>
            </a:r>
            <a:r>
              <a:rPr spc="-10" dirty="0"/>
              <a:t>units</a:t>
            </a:r>
          </a:p>
          <a:p>
            <a:pPr marL="327025" marR="5080">
              <a:lnSpc>
                <a:spcPct val="104900"/>
              </a:lnSpc>
              <a:spcBef>
                <a:spcPts val="300"/>
              </a:spcBef>
            </a:pPr>
            <a:r>
              <a:rPr dirty="0"/>
              <a:t>Affixes:</a:t>
            </a:r>
            <a:r>
              <a:rPr spc="130" dirty="0"/>
              <a:t> </a:t>
            </a:r>
            <a:r>
              <a:rPr dirty="0"/>
              <a:t>Bits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pieces</a:t>
            </a:r>
            <a:r>
              <a:rPr spc="50" dirty="0"/>
              <a:t> </a:t>
            </a:r>
            <a:r>
              <a:rPr dirty="0"/>
              <a:t>adhering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stems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change</a:t>
            </a:r>
            <a:r>
              <a:rPr spc="50" dirty="0"/>
              <a:t> </a:t>
            </a:r>
            <a:r>
              <a:rPr spc="-30" dirty="0"/>
              <a:t>their</a:t>
            </a:r>
            <a:r>
              <a:rPr spc="50" dirty="0"/>
              <a:t> </a:t>
            </a:r>
            <a:r>
              <a:rPr dirty="0"/>
              <a:t>meanings</a:t>
            </a:r>
            <a:r>
              <a:rPr spc="50" dirty="0"/>
              <a:t> </a:t>
            </a:r>
            <a:r>
              <a:rPr spc="-25" dirty="0"/>
              <a:t>and </a:t>
            </a:r>
            <a:r>
              <a:rPr dirty="0"/>
              <a:t>grammatical</a:t>
            </a:r>
            <a:r>
              <a:rPr spc="-65" dirty="0"/>
              <a:t> </a:t>
            </a:r>
            <a:r>
              <a:rPr spc="-10" dirty="0"/>
              <a:t>functions</a:t>
            </a: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Morphology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321752"/>
            <a:ext cx="4483735" cy="1276350"/>
            <a:chOff x="87743" y="1321752"/>
            <a:chExt cx="4483735" cy="1276350"/>
          </a:xfrm>
        </p:grpSpPr>
        <p:sp>
          <p:nvSpPr>
            <p:cNvPr id="4" name="object 4"/>
            <p:cNvSpPr/>
            <p:nvPr/>
          </p:nvSpPr>
          <p:spPr>
            <a:xfrm>
              <a:off x="87743" y="132175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9476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9607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8337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65986"/>
              <a:ext cx="50800" cy="11300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38998"/>
              <a:ext cx="4432935" cy="1008380"/>
            </a:xfrm>
            <a:custGeom>
              <a:avLst/>
              <a:gdLst/>
              <a:ahLst/>
              <a:cxnLst/>
              <a:rect l="l" t="t" r="r" b="b"/>
              <a:pathLst>
                <a:path w="4432935" h="1008380">
                  <a:moveTo>
                    <a:pt x="4432554" y="0"/>
                  </a:moveTo>
                  <a:lnTo>
                    <a:pt x="0" y="0"/>
                  </a:lnTo>
                  <a:lnTo>
                    <a:pt x="0" y="957072"/>
                  </a:lnTo>
                  <a:lnTo>
                    <a:pt x="4008" y="976796"/>
                  </a:lnTo>
                  <a:lnTo>
                    <a:pt x="14922" y="992949"/>
                  </a:lnTo>
                  <a:lnTo>
                    <a:pt x="31075" y="1003863"/>
                  </a:lnTo>
                  <a:lnTo>
                    <a:pt x="50800" y="1007872"/>
                  </a:lnTo>
                  <a:lnTo>
                    <a:pt x="4381754" y="1007872"/>
                  </a:lnTo>
                  <a:lnTo>
                    <a:pt x="4401478" y="1003863"/>
                  </a:lnTo>
                  <a:lnTo>
                    <a:pt x="4417631" y="992949"/>
                  </a:lnTo>
                  <a:lnTo>
                    <a:pt x="4428545" y="976796"/>
                  </a:lnTo>
                  <a:lnTo>
                    <a:pt x="4432554" y="9570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404124"/>
              <a:ext cx="0" cy="1111250"/>
            </a:xfrm>
            <a:custGeom>
              <a:avLst/>
              <a:gdLst/>
              <a:ahLst/>
              <a:cxnLst/>
              <a:rect l="l" t="t" r="r" b="b"/>
              <a:pathLst>
                <a:path h="1111250">
                  <a:moveTo>
                    <a:pt x="0" y="11109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91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78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65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58877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855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6718" rIns="0" bIns="0" rtlCol="0">
            <a:spAutoFit/>
          </a:bodyPr>
          <a:lstStyle/>
          <a:p>
            <a:pPr marL="50165" marR="243840">
              <a:lnSpc>
                <a:spcPct val="118900"/>
              </a:lnSpc>
              <a:spcBef>
                <a:spcPts val="90"/>
              </a:spcBef>
            </a:pPr>
            <a:r>
              <a:rPr dirty="0"/>
              <a:t>Morphology</a:t>
            </a:r>
            <a:r>
              <a:rPr spc="20" dirty="0"/>
              <a:t> </a:t>
            </a:r>
            <a:r>
              <a:rPr dirty="0"/>
              <a:t>studies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internal</a:t>
            </a:r>
            <a:r>
              <a:rPr spc="20" dirty="0"/>
              <a:t> </a:t>
            </a:r>
            <a:r>
              <a:rPr spc="-10" dirty="0"/>
              <a:t>structure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words,</a:t>
            </a:r>
            <a:r>
              <a:rPr spc="20" dirty="0"/>
              <a:t> </a:t>
            </a:r>
            <a:r>
              <a:rPr dirty="0"/>
              <a:t>how</a:t>
            </a:r>
            <a:r>
              <a:rPr spc="20" dirty="0"/>
              <a:t> </a:t>
            </a:r>
            <a:r>
              <a:rPr dirty="0"/>
              <a:t>words</a:t>
            </a:r>
            <a:r>
              <a:rPr spc="25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spc="-40" dirty="0"/>
              <a:t>built</a:t>
            </a:r>
            <a:r>
              <a:rPr spc="20" dirty="0"/>
              <a:t> </a:t>
            </a:r>
            <a:r>
              <a:rPr spc="-25" dirty="0"/>
              <a:t>up </a:t>
            </a:r>
            <a:r>
              <a:rPr spc="-10" dirty="0"/>
              <a:t>from</a:t>
            </a:r>
            <a:r>
              <a:rPr spc="-15" dirty="0"/>
              <a:t> </a:t>
            </a:r>
            <a:r>
              <a:rPr dirty="0"/>
              <a:t>smaller</a:t>
            </a:r>
            <a:r>
              <a:rPr spc="-10" dirty="0"/>
              <a:t> </a:t>
            </a:r>
            <a:r>
              <a:rPr dirty="0"/>
              <a:t>meaningful</a:t>
            </a:r>
            <a:r>
              <a:rPr spc="-10" dirty="0"/>
              <a:t> </a:t>
            </a:r>
            <a:r>
              <a:rPr dirty="0"/>
              <a:t>units</a:t>
            </a:r>
            <a:r>
              <a:rPr spc="-15" dirty="0"/>
              <a:t> </a:t>
            </a:r>
            <a:r>
              <a:rPr dirty="0"/>
              <a:t>called</a:t>
            </a:r>
            <a:r>
              <a:rPr spc="-10" dirty="0"/>
              <a:t> </a:t>
            </a:r>
            <a:r>
              <a:rPr b="1" spc="-10" dirty="0">
                <a:latin typeface="Trebuchet MS"/>
                <a:cs typeface="Trebuchet MS"/>
              </a:rPr>
              <a:t>morphemes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Morphemes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divided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into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categories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Stems:</a:t>
            </a:r>
            <a:r>
              <a:rPr spc="16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core</a:t>
            </a:r>
            <a:r>
              <a:rPr spc="80" dirty="0"/>
              <a:t> </a:t>
            </a:r>
            <a:r>
              <a:rPr dirty="0"/>
              <a:t>meaning</a:t>
            </a:r>
            <a:r>
              <a:rPr spc="80" dirty="0"/>
              <a:t> </a:t>
            </a:r>
            <a:r>
              <a:rPr dirty="0"/>
              <a:t>bearing</a:t>
            </a:r>
            <a:r>
              <a:rPr spc="80" dirty="0"/>
              <a:t> </a:t>
            </a:r>
            <a:r>
              <a:rPr spc="-10" dirty="0"/>
              <a:t>units</a:t>
            </a:r>
          </a:p>
          <a:p>
            <a:pPr marL="327025" marR="43180">
              <a:lnSpc>
                <a:spcPct val="104900"/>
              </a:lnSpc>
              <a:spcBef>
                <a:spcPts val="300"/>
              </a:spcBef>
            </a:pPr>
            <a:r>
              <a:rPr dirty="0"/>
              <a:t>Affixes:</a:t>
            </a:r>
            <a:r>
              <a:rPr spc="130" dirty="0"/>
              <a:t> </a:t>
            </a:r>
            <a:r>
              <a:rPr dirty="0"/>
              <a:t>Bits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pieces</a:t>
            </a:r>
            <a:r>
              <a:rPr spc="50" dirty="0"/>
              <a:t> </a:t>
            </a:r>
            <a:r>
              <a:rPr dirty="0"/>
              <a:t>adhering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stems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change</a:t>
            </a:r>
            <a:r>
              <a:rPr spc="50" dirty="0"/>
              <a:t> </a:t>
            </a:r>
            <a:r>
              <a:rPr spc="-30" dirty="0"/>
              <a:t>their</a:t>
            </a:r>
            <a:r>
              <a:rPr spc="50" dirty="0"/>
              <a:t> </a:t>
            </a:r>
            <a:r>
              <a:rPr dirty="0"/>
              <a:t>meanings</a:t>
            </a:r>
            <a:r>
              <a:rPr spc="50" dirty="0"/>
              <a:t> </a:t>
            </a:r>
            <a:r>
              <a:rPr spc="-25" dirty="0"/>
              <a:t>and </a:t>
            </a:r>
            <a:r>
              <a:rPr dirty="0"/>
              <a:t>grammatical</a:t>
            </a:r>
            <a:r>
              <a:rPr spc="-65" dirty="0"/>
              <a:t> </a:t>
            </a:r>
            <a:r>
              <a:rPr spc="-10" dirty="0"/>
              <a:t>functions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40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Prefix:</a:t>
            </a:r>
            <a:r>
              <a:rPr sz="900" spc="35" dirty="0"/>
              <a:t> </a:t>
            </a:r>
            <a:r>
              <a:rPr sz="900" spc="-30" dirty="0"/>
              <a:t>un-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50" dirty="0"/>
              <a:t>anti-</a:t>
            </a:r>
            <a:r>
              <a:rPr sz="900" dirty="0"/>
              <a:t>,</a:t>
            </a:r>
            <a:r>
              <a:rPr sz="900" spc="-30" dirty="0"/>
              <a:t> </a:t>
            </a:r>
            <a:r>
              <a:rPr sz="900" spc="-40" dirty="0"/>
              <a:t>etc</a:t>
            </a:r>
            <a:r>
              <a:rPr sz="900" spc="-25" dirty="0"/>
              <a:t> </a:t>
            </a:r>
            <a:r>
              <a:rPr sz="900" spc="-30" dirty="0"/>
              <a:t>(a-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60" dirty="0"/>
              <a:t>ati-</a:t>
            </a:r>
            <a:r>
              <a:rPr sz="900" spc="-50" dirty="0"/>
              <a:t>,</a:t>
            </a:r>
            <a:r>
              <a:rPr sz="900" spc="-25" dirty="0"/>
              <a:t> </a:t>
            </a:r>
            <a:r>
              <a:rPr sz="900" spc="-20" dirty="0"/>
              <a:t>pra-</a:t>
            </a:r>
            <a:r>
              <a:rPr sz="900" spc="-30" dirty="0"/>
              <a:t> </a:t>
            </a:r>
            <a:r>
              <a:rPr sz="900" spc="-10" dirty="0"/>
              <a:t>etc.)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Morphology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321752"/>
            <a:ext cx="4483735" cy="1276350"/>
            <a:chOff x="87743" y="1321752"/>
            <a:chExt cx="4483735" cy="1276350"/>
          </a:xfrm>
        </p:grpSpPr>
        <p:sp>
          <p:nvSpPr>
            <p:cNvPr id="4" name="object 4"/>
            <p:cNvSpPr/>
            <p:nvPr/>
          </p:nvSpPr>
          <p:spPr>
            <a:xfrm>
              <a:off x="87743" y="132175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9476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9607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8337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65986"/>
              <a:ext cx="50800" cy="11300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38998"/>
              <a:ext cx="4432935" cy="1008380"/>
            </a:xfrm>
            <a:custGeom>
              <a:avLst/>
              <a:gdLst/>
              <a:ahLst/>
              <a:cxnLst/>
              <a:rect l="l" t="t" r="r" b="b"/>
              <a:pathLst>
                <a:path w="4432935" h="1008380">
                  <a:moveTo>
                    <a:pt x="4432554" y="0"/>
                  </a:moveTo>
                  <a:lnTo>
                    <a:pt x="0" y="0"/>
                  </a:lnTo>
                  <a:lnTo>
                    <a:pt x="0" y="957072"/>
                  </a:lnTo>
                  <a:lnTo>
                    <a:pt x="4008" y="976796"/>
                  </a:lnTo>
                  <a:lnTo>
                    <a:pt x="14922" y="992949"/>
                  </a:lnTo>
                  <a:lnTo>
                    <a:pt x="31075" y="1003863"/>
                  </a:lnTo>
                  <a:lnTo>
                    <a:pt x="50800" y="1007872"/>
                  </a:lnTo>
                  <a:lnTo>
                    <a:pt x="4381754" y="1007872"/>
                  </a:lnTo>
                  <a:lnTo>
                    <a:pt x="4401478" y="1003863"/>
                  </a:lnTo>
                  <a:lnTo>
                    <a:pt x="4417631" y="992949"/>
                  </a:lnTo>
                  <a:lnTo>
                    <a:pt x="4428545" y="976796"/>
                  </a:lnTo>
                  <a:lnTo>
                    <a:pt x="4432554" y="9570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404124"/>
              <a:ext cx="0" cy="1111250"/>
            </a:xfrm>
            <a:custGeom>
              <a:avLst/>
              <a:gdLst/>
              <a:ahLst/>
              <a:cxnLst/>
              <a:rect l="l" t="t" r="r" b="b"/>
              <a:pathLst>
                <a:path h="1111250">
                  <a:moveTo>
                    <a:pt x="0" y="11109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91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78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65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58877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855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6718" rIns="0" bIns="0" rtlCol="0">
            <a:spAutoFit/>
          </a:bodyPr>
          <a:lstStyle/>
          <a:p>
            <a:pPr marL="50165" marR="243840">
              <a:lnSpc>
                <a:spcPct val="118900"/>
              </a:lnSpc>
              <a:spcBef>
                <a:spcPts val="90"/>
              </a:spcBef>
            </a:pPr>
            <a:r>
              <a:rPr dirty="0"/>
              <a:t>Morphology</a:t>
            </a:r>
            <a:r>
              <a:rPr spc="20" dirty="0"/>
              <a:t> </a:t>
            </a:r>
            <a:r>
              <a:rPr dirty="0"/>
              <a:t>studies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internal</a:t>
            </a:r>
            <a:r>
              <a:rPr spc="20" dirty="0"/>
              <a:t> </a:t>
            </a:r>
            <a:r>
              <a:rPr spc="-10" dirty="0"/>
              <a:t>structure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words,</a:t>
            </a:r>
            <a:r>
              <a:rPr spc="20" dirty="0"/>
              <a:t> </a:t>
            </a:r>
            <a:r>
              <a:rPr dirty="0"/>
              <a:t>how</a:t>
            </a:r>
            <a:r>
              <a:rPr spc="20" dirty="0"/>
              <a:t> </a:t>
            </a:r>
            <a:r>
              <a:rPr dirty="0"/>
              <a:t>words</a:t>
            </a:r>
            <a:r>
              <a:rPr spc="25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spc="-40" dirty="0"/>
              <a:t>built</a:t>
            </a:r>
            <a:r>
              <a:rPr spc="20" dirty="0"/>
              <a:t> </a:t>
            </a:r>
            <a:r>
              <a:rPr spc="-25" dirty="0"/>
              <a:t>up </a:t>
            </a:r>
            <a:r>
              <a:rPr spc="-10" dirty="0"/>
              <a:t>from</a:t>
            </a:r>
            <a:r>
              <a:rPr spc="-15" dirty="0"/>
              <a:t> </a:t>
            </a:r>
            <a:r>
              <a:rPr dirty="0"/>
              <a:t>smaller</a:t>
            </a:r>
            <a:r>
              <a:rPr spc="-10" dirty="0"/>
              <a:t> </a:t>
            </a:r>
            <a:r>
              <a:rPr dirty="0"/>
              <a:t>meaningful</a:t>
            </a:r>
            <a:r>
              <a:rPr spc="-10" dirty="0"/>
              <a:t> </a:t>
            </a:r>
            <a:r>
              <a:rPr dirty="0"/>
              <a:t>units</a:t>
            </a:r>
            <a:r>
              <a:rPr spc="-15" dirty="0"/>
              <a:t> </a:t>
            </a:r>
            <a:r>
              <a:rPr dirty="0"/>
              <a:t>called</a:t>
            </a:r>
            <a:r>
              <a:rPr spc="-10" dirty="0"/>
              <a:t> </a:t>
            </a:r>
            <a:r>
              <a:rPr b="1" spc="-10" dirty="0">
                <a:latin typeface="Trebuchet MS"/>
                <a:cs typeface="Trebuchet MS"/>
              </a:rPr>
              <a:t>morphemes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Morphemes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divided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into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categories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Stems:</a:t>
            </a:r>
            <a:r>
              <a:rPr spc="16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core</a:t>
            </a:r>
            <a:r>
              <a:rPr spc="80" dirty="0"/>
              <a:t> </a:t>
            </a:r>
            <a:r>
              <a:rPr dirty="0"/>
              <a:t>meaning</a:t>
            </a:r>
            <a:r>
              <a:rPr spc="80" dirty="0"/>
              <a:t> </a:t>
            </a:r>
            <a:r>
              <a:rPr dirty="0"/>
              <a:t>bearing</a:t>
            </a:r>
            <a:r>
              <a:rPr spc="80" dirty="0"/>
              <a:t> </a:t>
            </a:r>
            <a:r>
              <a:rPr spc="-10" dirty="0"/>
              <a:t>units</a:t>
            </a:r>
          </a:p>
          <a:p>
            <a:pPr marL="327025" marR="43180">
              <a:lnSpc>
                <a:spcPct val="104900"/>
              </a:lnSpc>
              <a:spcBef>
                <a:spcPts val="300"/>
              </a:spcBef>
            </a:pPr>
            <a:r>
              <a:rPr dirty="0"/>
              <a:t>Affixes:</a:t>
            </a:r>
            <a:r>
              <a:rPr spc="130" dirty="0"/>
              <a:t> </a:t>
            </a:r>
            <a:r>
              <a:rPr dirty="0"/>
              <a:t>Bits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pieces</a:t>
            </a:r>
            <a:r>
              <a:rPr spc="50" dirty="0"/>
              <a:t> </a:t>
            </a:r>
            <a:r>
              <a:rPr dirty="0"/>
              <a:t>adhering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stems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change</a:t>
            </a:r>
            <a:r>
              <a:rPr spc="50" dirty="0"/>
              <a:t> </a:t>
            </a:r>
            <a:r>
              <a:rPr spc="-30" dirty="0"/>
              <a:t>their</a:t>
            </a:r>
            <a:r>
              <a:rPr spc="50" dirty="0"/>
              <a:t> </a:t>
            </a:r>
            <a:r>
              <a:rPr dirty="0"/>
              <a:t>meanings</a:t>
            </a:r>
            <a:r>
              <a:rPr spc="50" dirty="0"/>
              <a:t> </a:t>
            </a:r>
            <a:r>
              <a:rPr spc="-25" dirty="0"/>
              <a:t>and </a:t>
            </a:r>
            <a:r>
              <a:rPr dirty="0"/>
              <a:t>grammatical</a:t>
            </a:r>
            <a:r>
              <a:rPr spc="-65" dirty="0"/>
              <a:t> </a:t>
            </a:r>
            <a:r>
              <a:rPr spc="-10" dirty="0"/>
              <a:t>functions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40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Prefix:</a:t>
            </a:r>
            <a:r>
              <a:rPr sz="900" spc="35" dirty="0"/>
              <a:t> </a:t>
            </a:r>
            <a:r>
              <a:rPr sz="900" spc="-30" dirty="0"/>
              <a:t>un-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50" dirty="0"/>
              <a:t>anti-</a:t>
            </a:r>
            <a:r>
              <a:rPr sz="900" dirty="0"/>
              <a:t>,</a:t>
            </a:r>
            <a:r>
              <a:rPr sz="900" spc="-30" dirty="0"/>
              <a:t> </a:t>
            </a:r>
            <a:r>
              <a:rPr sz="900" spc="-40" dirty="0"/>
              <a:t>etc</a:t>
            </a:r>
            <a:r>
              <a:rPr sz="900" spc="-25" dirty="0"/>
              <a:t> </a:t>
            </a:r>
            <a:r>
              <a:rPr sz="900" spc="-30" dirty="0"/>
              <a:t>(a-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60" dirty="0"/>
              <a:t>ati-</a:t>
            </a:r>
            <a:r>
              <a:rPr sz="900" spc="-50" dirty="0"/>
              <a:t>,</a:t>
            </a:r>
            <a:r>
              <a:rPr sz="900" spc="-25" dirty="0"/>
              <a:t> </a:t>
            </a:r>
            <a:r>
              <a:rPr sz="900" spc="-20" dirty="0"/>
              <a:t>pra-</a:t>
            </a:r>
            <a:r>
              <a:rPr sz="900" spc="-30" dirty="0"/>
              <a:t> </a:t>
            </a:r>
            <a:r>
              <a:rPr sz="900" spc="-10" dirty="0"/>
              <a:t>etc.)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4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/>
              <a:t>Suffix:</a:t>
            </a:r>
            <a:r>
              <a:rPr sz="900" spc="30" dirty="0"/>
              <a:t> </a:t>
            </a:r>
            <a:r>
              <a:rPr sz="900" spc="-55" dirty="0"/>
              <a:t>-</a:t>
            </a:r>
            <a:r>
              <a:rPr sz="900" spc="-90" dirty="0"/>
              <a:t>ity,</a:t>
            </a:r>
            <a:r>
              <a:rPr sz="900" spc="-25" dirty="0"/>
              <a:t> </a:t>
            </a:r>
            <a:r>
              <a:rPr sz="900" spc="-35" dirty="0"/>
              <a:t>-ation,</a:t>
            </a:r>
            <a:r>
              <a:rPr sz="900" spc="-25" dirty="0"/>
              <a:t> </a:t>
            </a:r>
            <a:r>
              <a:rPr sz="900" spc="-40" dirty="0"/>
              <a:t>etc</a:t>
            </a:r>
            <a:r>
              <a:rPr sz="900" spc="-25" dirty="0"/>
              <a:t> </a:t>
            </a:r>
            <a:r>
              <a:rPr sz="900" spc="-35" dirty="0"/>
              <a:t>(-taa,</a:t>
            </a:r>
            <a:r>
              <a:rPr sz="900" spc="-25" dirty="0"/>
              <a:t> </a:t>
            </a:r>
            <a:r>
              <a:rPr sz="900" spc="-20" dirty="0"/>
              <a:t>-</a:t>
            </a:r>
            <a:r>
              <a:rPr sz="900" spc="-45" dirty="0"/>
              <a:t>ke,</a:t>
            </a:r>
            <a:r>
              <a:rPr sz="900" spc="-25" dirty="0"/>
              <a:t> </a:t>
            </a:r>
            <a:r>
              <a:rPr sz="900" spc="-10" dirty="0"/>
              <a:t>-</a:t>
            </a:r>
            <a:r>
              <a:rPr sz="900" dirty="0"/>
              <a:t>ka</a:t>
            </a:r>
            <a:r>
              <a:rPr sz="900" spc="-30" dirty="0"/>
              <a:t> </a:t>
            </a:r>
            <a:r>
              <a:rPr sz="900" spc="-10" dirty="0"/>
              <a:t>etc.)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Morphology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1321752"/>
            <a:ext cx="4483735" cy="1276350"/>
            <a:chOff x="87743" y="1321752"/>
            <a:chExt cx="4483735" cy="1276350"/>
          </a:xfrm>
        </p:grpSpPr>
        <p:sp>
          <p:nvSpPr>
            <p:cNvPr id="4" name="object 4"/>
            <p:cNvSpPr/>
            <p:nvPr/>
          </p:nvSpPr>
          <p:spPr>
            <a:xfrm>
              <a:off x="87743" y="1321752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49476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2496070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2483370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1365986"/>
              <a:ext cx="50800" cy="113008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538998"/>
              <a:ext cx="4432935" cy="1008380"/>
            </a:xfrm>
            <a:custGeom>
              <a:avLst/>
              <a:gdLst/>
              <a:ahLst/>
              <a:cxnLst/>
              <a:rect l="l" t="t" r="r" b="b"/>
              <a:pathLst>
                <a:path w="4432935" h="1008380">
                  <a:moveTo>
                    <a:pt x="4432554" y="0"/>
                  </a:moveTo>
                  <a:lnTo>
                    <a:pt x="0" y="0"/>
                  </a:lnTo>
                  <a:lnTo>
                    <a:pt x="0" y="957072"/>
                  </a:lnTo>
                  <a:lnTo>
                    <a:pt x="4008" y="976796"/>
                  </a:lnTo>
                  <a:lnTo>
                    <a:pt x="14922" y="992949"/>
                  </a:lnTo>
                  <a:lnTo>
                    <a:pt x="31075" y="1003863"/>
                  </a:lnTo>
                  <a:lnTo>
                    <a:pt x="50800" y="1007872"/>
                  </a:lnTo>
                  <a:lnTo>
                    <a:pt x="4381754" y="1007872"/>
                  </a:lnTo>
                  <a:lnTo>
                    <a:pt x="4401478" y="1003863"/>
                  </a:lnTo>
                  <a:lnTo>
                    <a:pt x="4417631" y="992949"/>
                  </a:lnTo>
                  <a:lnTo>
                    <a:pt x="4428545" y="976796"/>
                  </a:lnTo>
                  <a:lnTo>
                    <a:pt x="4432554" y="9570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1404124"/>
              <a:ext cx="0" cy="1111250"/>
            </a:xfrm>
            <a:custGeom>
              <a:avLst/>
              <a:gdLst/>
              <a:ahLst/>
              <a:cxnLst/>
              <a:rect l="l" t="t" r="r" b="b"/>
              <a:pathLst>
                <a:path h="1111250">
                  <a:moveTo>
                    <a:pt x="0" y="11109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13913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13786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136596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588770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778558"/>
              <a:ext cx="64757" cy="64757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46718" rIns="0" bIns="0" rtlCol="0">
            <a:spAutoFit/>
          </a:bodyPr>
          <a:lstStyle/>
          <a:p>
            <a:pPr marL="50165" marR="243840">
              <a:lnSpc>
                <a:spcPct val="118900"/>
              </a:lnSpc>
              <a:spcBef>
                <a:spcPts val="90"/>
              </a:spcBef>
            </a:pPr>
            <a:r>
              <a:rPr dirty="0"/>
              <a:t>Morphology</a:t>
            </a:r>
            <a:r>
              <a:rPr spc="20" dirty="0"/>
              <a:t> </a:t>
            </a:r>
            <a:r>
              <a:rPr dirty="0"/>
              <a:t>studies</a:t>
            </a:r>
            <a:r>
              <a:rPr spc="20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spc="-20" dirty="0"/>
              <a:t>internal</a:t>
            </a:r>
            <a:r>
              <a:rPr spc="20" dirty="0"/>
              <a:t> </a:t>
            </a:r>
            <a:r>
              <a:rPr spc="-10" dirty="0"/>
              <a:t>structure</a:t>
            </a:r>
            <a:r>
              <a:rPr spc="20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words,</a:t>
            </a:r>
            <a:r>
              <a:rPr spc="20" dirty="0"/>
              <a:t> </a:t>
            </a:r>
            <a:r>
              <a:rPr dirty="0"/>
              <a:t>how</a:t>
            </a:r>
            <a:r>
              <a:rPr spc="20" dirty="0"/>
              <a:t> </a:t>
            </a:r>
            <a:r>
              <a:rPr dirty="0"/>
              <a:t>words</a:t>
            </a:r>
            <a:r>
              <a:rPr spc="25" dirty="0"/>
              <a:t> </a:t>
            </a:r>
            <a:r>
              <a:rPr dirty="0"/>
              <a:t>are</a:t>
            </a:r>
            <a:r>
              <a:rPr spc="20" dirty="0"/>
              <a:t> </a:t>
            </a:r>
            <a:r>
              <a:rPr spc="-40" dirty="0"/>
              <a:t>built</a:t>
            </a:r>
            <a:r>
              <a:rPr spc="20" dirty="0"/>
              <a:t> </a:t>
            </a:r>
            <a:r>
              <a:rPr spc="-25" dirty="0"/>
              <a:t>up </a:t>
            </a:r>
            <a:r>
              <a:rPr spc="-10" dirty="0"/>
              <a:t>from</a:t>
            </a:r>
            <a:r>
              <a:rPr spc="-15" dirty="0"/>
              <a:t> </a:t>
            </a:r>
            <a:r>
              <a:rPr dirty="0"/>
              <a:t>smaller</a:t>
            </a:r>
            <a:r>
              <a:rPr spc="-10" dirty="0"/>
              <a:t> </a:t>
            </a:r>
            <a:r>
              <a:rPr dirty="0"/>
              <a:t>meaningful</a:t>
            </a:r>
            <a:r>
              <a:rPr spc="-10" dirty="0"/>
              <a:t> </a:t>
            </a:r>
            <a:r>
              <a:rPr dirty="0"/>
              <a:t>units</a:t>
            </a:r>
            <a:r>
              <a:rPr spc="-15" dirty="0"/>
              <a:t> </a:t>
            </a:r>
            <a:r>
              <a:rPr dirty="0"/>
              <a:t>called</a:t>
            </a:r>
            <a:r>
              <a:rPr spc="-10" dirty="0"/>
              <a:t> </a:t>
            </a:r>
            <a:r>
              <a:rPr b="1" spc="-10" dirty="0">
                <a:latin typeface="Trebuchet MS"/>
                <a:cs typeface="Trebuchet MS"/>
              </a:rPr>
              <a:t>morphemes</a:t>
            </a:r>
          </a:p>
          <a:p>
            <a:pPr marL="50165">
              <a:lnSpc>
                <a:spcPct val="100000"/>
              </a:lnSpc>
              <a:spcBef>
                <a:spcPts val="765"/>
              </a:spcBef>
            </a:pP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Morphemes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are 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divided</a:t>
            </a:r>
            <a:r>
              <a:rPr sz="1100" i="1" spc="-20" dirty="0">
                <a:solidFill>
                  <a:srgbClr val="3232B2"/>
                </a:solidFill>
                <a:latin typeface="Cambria"/>
                <a:cs typeface="Cambria"/>
              </a:rPr>
              <a:t> into </a:t>
            </a:r>
            <a:r>
              <a:rPr sz="1100" i="1" spc="-45" dirty="0">
                <a:solidFill>
                  <a:srgbClr val="3232B2"/>
                </a:solidFill>
                <a:latin typeface="Cambria"/>
                <a:cs typeface="Cambria"/>
              </a:rPr>
              <a:t>two</a:t>
            </a: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 categories</a:t>
            </a:r>
            <a:endParaRPr sz="1100">
              <a:latin typeface="Cambria"/>
              <a:cs typeface="Cambria"/>
            </a:endParaRPr>
          </a:p>
          <a:p>
            <a:pPr marL="327025">
              <a:lnSpc>
                <a:spcPct val="100000"/>
              </a:lnSpc>
              <a:spcBef>
                <a:spcPts val="425"/>
              </a:spcBef>
            </a:pPr>
            <a:r>
              <a:rPr dirty="0"/>
              <a:t>Stems:</a:t>
            </a:r>
            <a:r>
              <a:rPr spc="165" dirty="0"/>
              <a:t> </a:t>
            </a:r>
            <a:r>
              <a:rPr dirty="0"/>
              <a:t>The</a:t>
            </a:r>
            <a:r>
              <a:rPr spc="85" dirty="0"/>
              <a:t> </a:t>
            </a:r>
            <a:r>
              <a:rPr dirty="0"/>
              <a:t>core</a:t>
            </a:r>
            <a:r>
              <a:rPr spc="80" dirty="0"/>
              <a:t> </a:t>
            </a:r>
            <a:r>
              <a:rPr dirty="0"/>
              <a:t>meaning</a:t>
            </a:r>
            <a:r>
              <a:rPr spc="80" dirty="0"/>
              <a:t> </a:t>
            </a:r>
            <a:r>
              <a:rPr dirty="0"/>
              <a:t>bearing</a:t>
            </a:r>
            <a:r>
              <a:rPr spc="80" dirty="0"/>
              <a:t> </a:t>
            </a:r>
            <a:r>
              <a:rPr spc="-10" dirty="0"/>
              <a:t>units</a:t>
            </a:r>
          </a:p>
          <a:p>
            <a:pPr marL="327025" marR="43180">
              <a:lnSpc>
                <a:spcPct val="104900"/>
              </a:lnSpc>
              <a:spcBef>
                <a:spcPts val="300"/>
              </a:spcBef>
            </a:pPr>
            <a:r>
              <a:rPr dirty="0"/>
              <a:t>Affixes:</a:t>
            </a:r>
            <a:r>
              <a:rPr spc="130" dirty="0"/>
              <a:t> </a:t>
            </a:r>
            <a:r>
              <a:rPr dirty="0"/>
              <a:t>Bits</a:t>
            </a:r>
            <a:r>
              <a:rPr spc="50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dirty="0"/>
              <a:t>pieces</a:t>
            </a:r>
            <a:r>
              <a:rPr spc="50" dirty="0"/>
              <a:t> </a:t>
            </a:r>
            <a:r>
              <a:rPr dirty="0"/>
              <a:t>adhering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stems</a:t>
            </a:r>
            <a:r>
              <a:rPr spc="50" dirty="0"/>
              <a:t> </a:t>
            </a:r>
            <a:r>
              <a:rPr spc="-20" dirty="0"/>
              <a:t>to</a:t>
            </a:r>
            <a:r>
              <a:rPr spc="50" dirty="0"/>
              <a:t> </a:t>
            </a:r>
            <a:r>
              <a:rPr dirty="0"/>
              <a:t>change</a:t>
            </a:r>
            <a:r>
              <a:rPr spc="50" dirty="0"/>
              <a:t> </a:t>
            </a:r>
            <a:r>
              <a:rPr spc="-30" dirty="0"/>
              <a:t>their</a:t>
            </a:r>
            <a:r>
              <a:rPr spc="50" dirty="0"/>
              <a:t> </a:t>
            </a:r>
            <a:r>
              <a:rPr dirty="0"/>
              <a:t>meanings</a:t>
            </a:r>
            <a:r>
              <a:rPr spc="50" dirty="0"/>
              <a:t> </a:t>
            </a:r>
            <a:r>
              <a:rPr spc="-25" dirty="0"/>
              <a:t>and </a:t>
            </a:r>
            <a:r>
              <a:rPr dirty="0"/>
              <a:t>grammatical</a:t>
            </a:r>
            <a:r>
              <a:rPr spc="-65" dirty="0"/>
              <a:t> </a:t>
            </a:r>
            <a:r>
              <a:rPr spc="-10" dirty="0"/>
              <a:t>functions</a:t>
            </a:r>
          </a:p>
          <a:p>
            <a:pPr marL="467359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40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20" dirty="0"/>
              <a:t>Prefix:</a:t>
            </a:r>
            <a:r>
              <a:rPr sz="900" spc="35" dirty="0"/>
              <a:t> </a:t>
            </a:r>
            <a:r>
              <a:rPr sz="900" spc="-30" dirty="0"/>
              <a:t>un-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50" dirty="0"/>
              <a:t>anti-</a:t>
            </a:r>
            <a:r>
              <a:rPr sz="900" dirty="0"/>
              <a:t>,</a:t>
            </a:r>
            <a:r>
              <a:rPr sz="900" spc="-30" dirty="0"/>
              <a:t> </a:t>
            </a:r>
            <a:r>
              <a:rPr sz="900" spc="-40" dirty="0"/>
              <a:t>etc</a:t>
            </a:r>
            <a:r>
              <a:rPr sz="900" spc="-25" dirty="0"/>
              <a:t> </a:t>
            </a:r>
            <a:r>
              <a:rPr sz="900" spc="-30" dirty="0"/>
              <a:t>(a-</a:t>
            </a:r>
            <a:r>
              <a:rPr sz="900" dirty="0"/>
              <a:t>,</a:t>
            </a:r>
            <a:r>
              <a:rPr sz="900" spc="-25" dirty="0"/>
              <a:t> </a:t>
            </a:r>
            <a:r>
              <a:rPr sz="900" spc="-60" dirty="0"/>
              <a:t>ati-</a:t>
            </a:r>
            <a:r>
              <a:rPr sz="900" spc="-50" dirty="0"/>
              <a:t>,</a:t>
            </a:r>
            <a:r>
              <a:rPr sz="900" spc="-25" dirty="0"/>
              <a:t> </a:t>
            </a:r>
            <a:r>
              <a:rPr sz="900" spc="-20" dirty="0"/>
              <a:t>pra-</a:t>
            </a:r>
            <a:r>
              <a:rPr sz="900" spc="-30" dirty="0"/>
              <a:t> </a:t>
            </a:r>
            <a:r>
              <a:rPr sz="900" spc="-10" dirty="0"/>
              <a:t>etc.)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47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10" dirty="0"/>
              <a:t>Suffix:</a:t>
            </a:r>
            <a:r>
              <a:rPr sz="900" spc="30" dirty="0"/>
              <a:t> </a:t>
            </a:r>
            <a:r>
              <a:rPr sz="900" spc="-55" dirty="0"/>
              <a:t>-</a:t>
            </a:r>
            <a:r>
              <a:rPr sz="900" spc="-90" dirty="0"/>
              <a:t>ity,</a:t>
            </a:r>
            <a:r>
              <a:rPr sz="900" spc="-25" dirty="0"/>
              <a:t> </a:t>
            </a:r>
            <a:r>
              <a:rPr sz="900" spc="-35" dirty="0"/>
              <a:t>-ation,</a:t>
            </a:r>
            <a:r>
              <a:rPr sz="900" spc="-25" dirty="0"/>
              <a:t> </a:t>
            </a:r>
            <a:r>
              <a:rPr sz="900" spc="-40" dirty="0"/>
              <a:t>etc</a:t>
            </a:r>
            <a:r>
              <a:rPr sz="900" spc="-25" dirty="0"/>
              <a:t> </a:t>
            </a:r>
            <a:r>
              <a:rPr sz="900" spc="-35" dirty="0"/>
              <a:t>(-taa,</a:t>
            </a:r>
            <a:r>
              <a:rPr sz="900" spc="-25" dirty="0"/>
              <a:t> </a:t>
            </a:r>
            <a:r>
              <a:rPr sz="900" spc="-20" dirty="0"/>
              <a:t>-</a:t>
            </a:r>
            <a:r>
              <a:rPr sz="900" spc="-45" dirty="0"/>
              <a:t>ke,</a:t>
            </a:r>
            <a:r>
              <a:rPr sz="900" spc="-25" dirty="0"/>
              <a:t> </a:t>
            </a:r>
            <a:r>
              <a:rPr sz="900" spc="-10" dirty="0"/>
              <a:t>-</a:t>
            </a:r>
            <a:r>
              <a:rPr sz="900" dirty="0"/>
              <a:t>ka</a:t>
            </a:r>
            <a:r>
              <a:rPr sz="900" spc="-30" dirty="0"/>
              <a:t> </a:t>
            </a:r>
            <a:r>
              <a:rPr sz="900" spc="-10" dirty="0"/>
              <a:t>etc.)</a:t>
            </a:r>
            <a:endParaRPr sz="900">
              <a:latin typeface="Arial MT"/>
              <a:cs typeface="Arial MT"/>
            </a:endParaRPr>
          </a:p>
          <a:p>
            <a:pPr marL="467359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D6D6EF"/>
                </a:solidFill>
                <a:latin typeface="Arial MT"/>
                <a:cs typeface="Arial MT"/>
              </a:rPr>
              <a:t>)</a:t>
            </a:r>
            <a:r>
              <a:rPr sz="900" spc="562" baseline="13888" dirty="0">
                <a:solidFill>
                  <a:srgbClr val="D6D6EF"/>
                </a:solidFill>
                <a:latin typeface="Arial MT"/>
                <a:cs typeface="Arial MT"/>
              </a:rPr>
              <a:t> </a:t>
            </a:r>
            <a:r>
              <a:rPr sz="900" spc="-30" dirty="0"/>
              <a:t>Infix:</a:t>
            </a:r>
            <a:r>
              <a:rPr sz="900" spc="35" dirty="0"/>
              <a:t> </a:t>
            </a:r>
            <a:r>
              <a:rPr sz="900" spc="-90" dirty="0"/>
              <a:t>‘</a:t>
            </a:r>
            <a:r>
              <a:rPr sz="900" i="1" spc="-90" dirty="0">
                <a:latin typeface="Trebuchet MS"/>
                <a:cs typeface="Trebuchet MS"/>
              </a:rPr>
              <a:t>n</a:t>
            </a:r>
            <a:r>
              <a:rPr sz="900" spc="-90" dirty="0"/>
              <a:t>’</a:t>
            </a:r>
            <a:r>
              <a:rPr sz="900" spc="-20" dirty="0"/>
              <a:t> </a:t>
            </a:r>
            <a:r>
              <a:rPr sz="900" spc="-10" dirty="0"/>
              <a:t>in</a:t>
            </a:r>
            <a:r>
              <a:rPr sz="900" spc="-25" dirty="0"/>
              <a:t> </a:t>
            </a:r>
            <a:r>
              <a:rPr sz="900" spc="-60" dirty="0"/>
              <a:t>‘</a:t>
            </a:r>
            <a:r>
              <a:rPr sz="900" i="1" spc="-60" dirty="0">
                <a:latin typeface="Trebuchet MS"/>
                <a:cs typeface="Trebuchet MS"/>
              </a:rPr>
              <a:t>vindati</a:t>
            </a:r>
            <a:r>
              <a:rPr sz="900" spc="-60" dirty="0"/>
              <a:t>’</a:t>
            </a:r>
            <a:r>
              <a:rPr sz="900" spc="-20" dirty="0"/>
              <a:t> </a:t>
            </a:r>
            <a:r>
              <a:rPr sz="900" dirty="0"/>
              <a:t>(he</a:t>
            </a:r>
            <a:r>
              <a:rPr sz="900" spc="-25" dirty="0"/>
              <a:t> </a:t>
            </a:r>
            <a:r>
              <a:rPr sz="900" spc="-10" dirty="0"/>
              <a:t>knows),</a:t>
            </a:r>
            <a:r>
              <a:rPr sz="900" spc="-20" dirty="0"/>
              <a:t> </a:t>
            </a:r>
            <a:r>
              <a:rPr sz="900" spc="50" dirty="0"/>
              <a:t>as</a:t>
            </a:r>
            <a:r>
              <a:rPr sz="900" spc="-25" dirty="0"/>
              <a:t> </a:t>
            </a:r>
            <a:r>
              <a:rPr sz="900" spc="-20" dirty="0"/>
              <a:t>contrasted </a:t>
            </a:r>
            <a:r>
              <a:rPr sz="900" spc="-55" dirty="0"/>
              <a:t>with</a:t>
            </a:r>
            <a:r>
              <a:rPr sz="900" spc="-20" dirty="0"/>
              <a:t> </a:t>
            </a:r>
            <a:r>
              <a:rPr sz="900" i="1" spc="-20" dirty="0">
                <a:latin typeface="Trebuchet MS"/>
                <a:cs typeface="Trebuchet MS"/>
              </a:rPr>
              <a:t>vid</a:t>
            </a:r>
            <a:r>
              <a:rPr sz="900" i="1" spc="-25" dirty="0">
                <a:latin typeface="Trebuchet MS"/>
                <a:cs typeface="Trebuchet MS"/>
              </a:rPr>
              <a:t> </a:t>
            </a:r>
            <a:r>
              <a:rPr sz="900" spc="-45" dirty="0"/>
              <a:t>(to</a:t>
            </a:r>
            <a:r>
              <a:rPr sz="900" spc="-20" dirty="0"/>
              <a:t> </a:t>
            </a:r>
            <a:r>
              <a:rPr sz="900" spc="-10" dirty="0"/>
              <a:t>know).</a:t>
            </a:r>
            <a:endParaRPr sz="900">
              <a:latin typeface="Trebuchet MS"/>
              <a:cs typeface="Trebuchet MS"/>
            </a:endParaRPr>
          </a:p>
        </p:txBody>
      </p:sp>
      <p:grpSp>
        <p:nvGrpSpPr>
          <p:cNvPr id="17" name="object 1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8" name="object 1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3" name="object 2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23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250" y="60502"/>
            <a:ext cx="74422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30" dirty="0">
                <a:solidFill>
                  <a:srgbClr val="FFFFFF"/>
                </a:solidFill>
                <a:latin typeface="Cambria"/>
                <a:cs typeface="Cambria"/>
              </a:rPr>
              <a:t>Stemming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66254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02932" y="996150"/>
            <a:ext cx="3278504" cy="1752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Reducing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terms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to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30" dirty="0">
                <a:solidFill>
                  <a:srgbClr val="000000"/>
                </a:solidFill>
                <a:latin typeface="Trebuchet MS"/>
                <a:cs typeface="Trebuchet MS"/>
              </a:rPr>
              <a:t>their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stems,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used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dirty="0">
                <a:solidFill>
                  <a:srgbClr val="000000"/>
                </a:solidFill>
                <a:latin typeface="Trebuchet MS"/>
                <a:cs typeface="Trebuchet MS"/>
              </a:rPr>
              <a:t>in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20" dirty="0">
                <a:solidFill>
                  <a:srgbClr val="000000"/>
                </a:solidFill>
                <a:latin typeface="Trebuchet MS"/>
                <a:cs typeface="Trebuchet MS"/>
              </a:rPr>
              <a:t>information</a:t>
            </a:r>
            <a:r>
              <a:rPr sz="950" i="0" spc="45" dirty="0">
                <a:solidFill>
                  <a:srgbClr val="000000"/>
                </a:solidFill>
                <a:latin typeface="Trebuchet MS"/>
                <a:cs typeface="Trebuchet MS"/>
              </a:rPr>
              <a:t> </a:t>
            </a:r>
            <a:r>
              <a:rPr sz="950" i="0" spc="-10" dirty="0">
                <a:solidFill>
                  <a:srgbClr val="000000"/>
                </a:solidFill>
                <a:latin typeface="Trebuchet MS"/>
                <a:cs typeface="Trebuchet MS"/>
              </a:rPr>
              <a:t>retrieval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5" name="object 5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6" name="object 6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1" name="object 11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Stemming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66254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55987"/>
            <a:ext cx="3329304" cy="5803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Reducing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stems,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retrieval </a:t>
            </a:r>
            <a:r>
              <a:rPr sz="950" dirty="0">
                <a:latin typeface="Trebuchet MS"/>
                <a:cs typeface="Trebuchet MS"/>
              </a:rPr>
              <a:t>Crude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chopping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affixes</a:t>
            </a:r>
            <a:endParaRPr sz="95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60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language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dependent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6042"/>
            <a:ext cx="64757" cy="64757"/>
          </a:xfrm>
          <a:prstGeom prst="rect">
            <a:avLst/>
          </a:prstGeom>
        </p:spPr>
      </p:pic>
      <p:grpSp>
        <p:nvGrpSpPr>
          <p:cNvPr id="6" name="object 6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7" name="object 7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2" name="object 12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95250" y="60502"/>
            <a:ext cx="35941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Stemming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597" y="1066254"/>
            <a:ext cx="64757" cy="647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7532" y="955987"/>
            <a:ext cx="3329304" cy="7321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31100"/>
              </a:lnSpc>
              <a:spcBef>
                <a:spcPts val="90"/>
              </a:spcBef>
            </a:pPr>
            <a:r>
              <a:rPr sz="950" dirty="0">
                <a:latin typeface="Trebuchet MS"/>
                <a:cs typeface="Trebuchet MS"/>
              </a:rPr>
              <a:t>Reducing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terms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to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30" dirty="0">
                <a:latin typeface="Trebuchet MS"/>
                <a:cs typeface="Trebuchet MS"/>
              </a:rPr>
              <a:t>their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stems,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used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in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information</a:t>
            </a:r>
            <a:r>
              <a:rPr sz="950" spc="45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retrieval </a:t>
            </a:r>
            <a:r>
              <a:rPr sz="950" dirty="0">
                <a:latin typeface="Trebuchet MS"/>
                <a:cs typeface="Trebuchet MS"/>
              </a:rPr>
              <a:t>Crude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chopping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of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affixes</a:t>
            </a:r>
            <a:endParaRPr sz="95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305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660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dirty="0">
                <a:latin typeface="Trebuchet MS"/>
                <a:cs typeface="Trebuchet MS"/>
              </a:rPr>
              <a:t>language</a:t>
            </a:r>
            <a:r>
              <a:rPr sz="900" spc="10" dirty="0">
                <a:latin typeface="Trebuchet MS"/>
                <a:cs typeface="Trebuchet MS"/>
              </a:rPr>
              <a:t> </a:t>
            </a:r>
            <a:r>
              <a:rPr sz="900" spc="-10" dirty="0">
                <a:latin typeface="Trebuchet MS"/>
                <a:cs typeface="Trebuchet MS"/>
              </a:rPr>
              <a:t>dependent</a:t>
            </a:r>
            <a:endParaRPr sz="900">
              <a:latin typeface="Trebuchet MS"/>
              <a:cs typeface="Trebuchet MS"/>
            </a:endParaRPr>
          </a:p>
          <a:p>
            <a:pPr marL="177800">
              <a:lnSpc>
                <a:spcPct val="100000"/>
              </a:lnSpc>
              <a:spcBef>
                <a:spcPts val="114"/>
              </a:spcBef>
            </a:pPr>
            <a:r>
              <a:rPr sz="900" spc="494" baseline="13888" dirty="0">
                <a:solidFill>
                  <a:srgbClr val="3232B2"/>
                </a:solidFill>
                <a:latin typeface="Arial MT"/>
                <a:cs typeface="Arial MT"/>
              </a:rPr>
              <a:t>)</a:t>
            </a:r>
            <a:r>
              <a:rPr sz="900" spc="577" baseline="13888" dirty="0">
                <a:solidFill>
                  <a:srgbClr val="3232B2"/>
                </a:solidFill>
                <a:latin typeface="Arial MT"/>
                <a:cs typeface="Arial MT"/>
              </a:rPr>
              <a:t> </a:t>
            </a:r>
            <a:r>
              <a:rPr sz="900" i="1" spc="-25" dirty="0">
                <a:latin typeface="Trebuchet MS"/>
                <a:cs typeface="Trebuchet MS"/>
              </a:rPr>
              <a:t>automate(s),</a:t>
            </a:r>
            <a:r>
              <a:rPr sz="900" i="1" spc="-20" dirty="0">
                <a:latin typeface="Trebuchet MS"/>
                <a:cs typeface="Trebuchet MS"/>
              </a:rPr>
              <a:t> </a:t>
            </a:r>
            <a:r>
              <a:rPr sz="900" i="1" spc="-35" dirty="0">
                <a:latin typeface="Trebuchet MS"/>
                <a:cs typeface="Trebuchet MS"/>
              </a:rPr>
              <a:t>automatic,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i="1" spc="-30" dirty="0">
                <a:latin typeface="Trebuchet MS"/>
                <a:cs typeface="Trebuchet MS"/>
              </a:rPr>
              <a:t>automation</a:t>
            </a:r>
            <a:r>
              <a:rPr sz="900" i="1" spc="-15" dirty="0">
                <a:latin typeface="Trebuchet MS"/>
                <a:cs typeface="Trebuchet MS"/>
              </a:rPr>
              <a:t> </a:t>
            </a:r>
            <a:r>
              <a:rPr sz="900" spc="-40" dirty="0">
                <a:latin typeface="Trebuchet MS"/>
                <a:cs typeface="Trebuchet MS"/>
              </a:rPr>
              <a:t>all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dirty="0">
                <a:latin typeface="Trebuchet MS"/>
                <a:cs typeface="Trebuchet MS"/>
              </a:rPr>
              <a:t>reduced</a:t>
            </a:r>
            <a:r>
              <a:rPr sz="900" spc="-15" dirty="0">
                <a:latin typeface="Trebuchet MS"/>
                <a:cs typeface="Trebuchet MS"/>
              </a:rPr>
              <a:t> </a:t>
            </a:r>
            <a:r>
              <a:rPr sz="900" spc="-65" dirty="0">
                <a:latin typeface="Trebuchet MS"/>
                <a:cs typeface="Trebuchet MS"/>
              </a:rPr>
              <a:t>to</a:t>
            </a:r>
            <a:r>
              <a:rPr sz="900" spc="-20" dirty="0">
                <a:latin typeface="Trebuchet MS"/>
                <a:cs typeface="Trebuchet MS"/>
              </a:rPr>
              <a:t> </a:t>
            </a:r>
            <a:r>
              <a:rPr sz="900" i="1" spc="-10" dirty="0">
                <a:latin typeface="Trebuchet MS"/>
                <a:cs typeface="Trebuchet MS"/>
              </a:rPr>
              <a:t>automat</a:t>
            </a:r>
            <a:endParaRPr sz="9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597" y="1256042"/>
            <a:ext cx="64757" cy="6475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224" y="1837233"/>
            <a:ext cx="3585210" cy="605789"/>
          </a:xfrm>
          <a:prstGeom prst="rect">
            <a:avLst/>
          </a:prstGeom>
        </p:spPr>
      </p:pic>
      <p:grpSp>
        <p:nvGrpSpPr>
          <p:cNvPr id="7" name="object 7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8" name="object 8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3" name="object 13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14" name="object 14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24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Porter’s</a:t>
            </a:r>
            <a:r>
              <a:rPr spc="40" dirty="0"/>
              <a:t> </a:t>
            </a:r>
            <a:r>
              <a:rPr spc="-2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3295"/>
            <a:ext cx="4483735" cy="1090930"/>
            <a:chOff x="87743" y="863295"/>
            <a:chExt cx="4483735" cy="1090930"/>
          </a:xfrm>
        </p:grpSpPr>
        <p:sp>
          <p:nvSpPr>
            <p:cNvPr id="4" name="object 4"/>
            <p:cNvSpPr/>
            <p:nvPr/>
          </p:nvSpPr>
          <p:spPr>
            <a:xfrm>
              <a:off x="87743" y="86329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63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525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398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7529"/>
              <a:ext cx="50800" cy="9450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0541"/>
              <a:ext cx="4432935" cy="822960"/>
            </a:xfrm>
            <a:custGeom>
              <a:avLst/>
              <a:gdLst/>
              <a:ahLst/>
              <a:cxnLst/>
              <a:rect l="l" t="t" r="r" b="b"/>
              <a:pathLst>
                <a:path w="4432935" h="822960">
                  <a:moveTo>
                    <a:pt x="4432554" y="0"/>
                  </a:moveTo>
                  <a:lnTo>
                    <a:pt x="0" y="0"/>
                  </a:lnTo>
                  <a:lnTo>
                    <a:pt x="0" y="772033"/>
                  </a:lnTo>
                  <a:lnTo>
                    <a:pt x="4008" y="791757"/>
                  </a:lnTo>
                  <a:lnTo>
                    <a:pt x="14922" y="807910"/>
                  </a:lnTo>
                  <a:lnTo>
                    <a:pt x="31075" y="818824"/>
                  </a:lnTo>
                  <a:lnTo>
                    <a:pt x="50800" y="822833"/>
                  </a:lnTo>
                  <a:lnTo>
                    <a:pt x="4381754" y="822833"/>
                  </a:lnTo>
                  <a:lnTo>
                    <a:pt x="4401478" y="818824"/>
                  </a:lnTo>
                  <a:lnTo>
                    <a:pt x="4417631" y="807910"/>
                  </a:lnTo>
                  <a:lnTo>
                    <a:pt x="4428545" y="791757"/>
                  </a:lnTo>
                  <a:lnTo>
                    <a:pt x="4432554" y="77203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5667"/>
              <a:ext cx="0" cy="926465"/>
            </a:xfrm>
            <a:custGeom>
              <a:avLst/>
              <a:gdLst/>
              <a:ahLst/>
              <a:cxnLst/>
              <a:rect l="l" t="t" r="r" b="b"/>
              <a:pathLst>
                <a:path h="926464">
                  <a:moveTo>
                    <a:pt x="0" y="9259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2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0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7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3032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40358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5039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760423"/>
              <a:ext cx="64757" cy="6475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25729" y="808047"/>
            <a:ext cx="2083435" cy="106045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1a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50"/>
              </a:spcBef>
            </a:pPr>
            <a:r>
              <a:rPr sz="950" spc="80" dirty="0">
                <a:latin typeface="Trebuchet MS"/>
                <a:cs typeface="Trebuchet MS"/>
              </a:rPr>
              <a:t>sses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(caresses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dirty="0">
                <a:latin typeface="Trebuchet MS"/>
                <a:cs typeface="Trebuchet MS"/>
              </a:rPr>
              <a:t>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(ponies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poni)</a:t>
            </a:r>
            <a:endParaRPr sz="950">
              <a:latin typeface="Trebuchet MS"/>
              <a:cs typeface="Trebuchet MS"/>
            </a:endParaRPr>
          </a:p>
          <a:p>
            <a:pPr marL="289560" marR="267970">
              <a:lnSpc>
                <a:spcPts val="1650"/>
              </a:lnSpc>
            </a:pP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spc="100" dirty="0">
                <a:latin typeface="Trebuchet MS"/>
                <a:cs typeface="Trebuchet MS"/>
              </a:rPr>
              <a:t>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(cats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cat)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9" name="object 19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20" name="object 20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 hidden="1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 hidden="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6" name="object 26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Porter’s</a:t>
            </a:r>
            <a:r>
              <a:rPr spc="40" dirty="0"/>
              <a:t> </a:t>
            </a:r>
            <a:r>
              <a:rPr spc="-2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3295"/>
            <a:ext cx="4483735" cy="1090930"/>
            <a:chOff x="87743" y="863295"/>
            <a:chExt cx="4483735" cy="1090930"/>
          </a:xfrm>
        </p:grpSpPr>
        <p:sp>
          <p:nvSpPr>
            <p:cNvPr id="4" name="object 4"/>
            <p:cNvSpPr/>
            <p:nvPr/>
          </p:nvSpPr>
          <p:spPr>
            <a:xfrm>
              <a:off x="87743" y="86329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63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525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398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7529"/>
              <a:ext cx="50800" cy="9450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0541"/>
              <a:ext cx="4432935" cy="822960"/>
            </a:xfrm>
            <a:custGeom>
              <a:avLst/>
              <a:gdLst/>
              <a:ahLst/>
              <a:cxnLst/>
              <a:rect l="l" t="t" r="r" b="b"/>
              <a:pathLst>
                <a:path w="4432935" h="822960">
                  <a:moveTo>
                    <a:pt x="4432554" y="0"/>
                  </a:moveTo>
                  <a:lnTo>
                    <a:pt x="0" y="0"/>
                  </a:lnTo>
                  <a:lnTo>
                    <a:pt x="0" y="772033"/>
                  </a:lnTo>
                  <a:lnTo>
                    <a:pt x="4008" y="791757"/>
                  </a:lnTo>
                  <a:lnTo>
                    <a:pt x="14922" y="807910"/>
                  </a:lnTo>
                  <a:lnTo>
                    <a:pt x="31075" y="818824"/>
                  </a:lnTo>
                  <a:lnTo>
                    <a:pt x="50800" y="822833"/>
                  </a:lnTo>
                  <a:lnTo>
                    <a:pt x="4381754" y="822833"/>
                  </a:lnTo>
                  <a:lnTo>
                    <a:pt x="4401478" y="818824"/>
                  </a:lnTo>
                  <a:lnTo>
                    <a:pt x="4417631" y="807910"/>
                  </a:lnTo>
                  <a:lnTo>
                    <a:pt x="4428545" y="791757"/>
                  </a:lnTo>
                  <a:lnTo>
                    <a:pt x="4432554" y="77203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5667"/>
              <a:ext cx="0" cy="926465"/>
            </a:xfrm>
            <a:custGeom>
              <a:avLst/>
              <a:gdLst/>
              <a:ahLst/>
              <a:cxnLst/>
              <a:rect l="l" t="t" r="r" b="b"/>
              <a:pathLst>
                <a:path h="926464">
                  <a:moveTo>
                    <a:pt x="0" y="9259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2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0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7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3032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40358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5039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760423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055304"/>
            <a:ext cx="4483735" cy="672465"/>
            <a:chOff x="87743" y="2055304"/>
            <a:chExt cx="4483735" cy="672465"/>
          </a:xfrm>
        </p:grpSpPr>
        <p:sp>
          <p:nvSpPr>
            <p:cNvPr id="19" name="object 19"/>
            <p:cNvSpPr/>
            <p:nvPr/>
          </p:nvSpPr>
          <p:spPr>
            <a:xfrm>
              <a:off x="87743" y="205530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228316"/>
              <a:ext cx="4432554" cy="506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625903"/>
              <a:ext cx="101600" cy="101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13203"/>
              <a:ext cx="4381753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99538"/>
              <a:ext cx="50800" cy="52636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7743" y="2272589"/>
              <a:ext cx="4432935" cy="404495"/>
            </a:xfrm>
            <a:custGeom>
              <a:avLst/>
              <a:gdLst/>
              <a:ahLst/>
              <a:cxnLst/>
              <a:rect l="l" t="t" r="r" b="b"/>
              <a:pathLst>
                <a:path w="4432935" h="404494">
                  <a:moveTo>
                    <a:pt x="4432554" y="0"/>
                  </a:moveTo>
                  <a:lnTo>
                    <a:pt x="0" y="0"/>
                  </a:lnTo>
                  <a:lnTo>
                    <a:pt x="0" y="353314"/>
                  </a:lnTo>
                  <a:lnTo>
                    <a:pt x="4008" y="373038"/>
                  </a:lnTo>
                  <a:lnTo>
                    <a:pt x="14922" y="389191"/>
                  </a:lnTo>
                  <a:lnTo>
                    <a:pt x="31075" y="400105"/>
                  </a:lnTo>
                  <a:lnTo>
                    <a:pt x="50800" y="404114"/>
                  </a:lnTo>
                  <a:lnTo>
                    <a:pt x="4381754" y="404114"/>
                  </a:lnTo>
                  <a:lnTo>
                    <a:pt x="4401478" y="400105"/>
                  </a:lnTo>
                  <a:lnTo>
                    <a:pt x="4417631" y="389191"/>
                  </a:lnTo>
                  <a:lnTo>
                    <a:pt x="4428545" y="373038"/>
                  </a:lnTo>
                  <a:lnTo>
                    <a:pt x="4432554" y="3533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37588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h="507364">
                  <a:moveTo>
                    <a:pt x="0" y="5073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249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122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20995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323719"/>
              <a:ext cx="64757" cy="64757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25729" y="808047"/>
            <a:ext cx="2407920" cy="162369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1a</a:t>
            </a:r>
            <a:endParaRPr sz="1100">
              <a:latin typeface="Cambria"/>
              <a:cs typeface="Cambria"/>
            </a:endParaRPr>
          </a:p>
          <a:p>
            <a:pPr marL="289560" marR="329565">
              <a:lnSpc>
                <a:spcPts val="1650"/>
              </a:lnSpc>
              <a:spcBef>
                <a:spcPts val="50"/>
              </a:spcBef>
            </a:pPr>
            <a:r>
              <a:rPr sz="950" spc="80" dirty="0">
                <a:latin typeface="Trebuchet MS"/>
                <a:cs typeface="Trebuchet MS"/>
              </a:rPr>
              <a:t>sses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(caresses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dirty="0">
                <a:latin typeface="Trebuchet MS"/>
                <a:cs typeface="Trebuchet MS"/>
              </a:rPr>
              <a:t>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(ponies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poni)</a:t>
            </a:r>
            <a:endParaRPr sz="950">
              <a:latin typeface="Trebuchet MS"/>
              <a:cs typeface="Trebuchet MS"/>
            </a:endParaRPr>
          </a:p>
          <a:p>
            <a:pPr marL="289560" marR="592455">
              <a:lnSpc>
                <a:spcPts val="1650"/>
              </a:lnSpc>
              <a:spcBef>
                <a:spcPts val="10"/>
              </a:spcBef>
            </a:pP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spc="100" dirty="0">
                <a:latin typeface="Trebuchet MS"/>
                <a:cs typeface="Trebuchet MS"/>
              </a:rPr>
              <a:t>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(cats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cat)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1b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285"/>
              </a:spcBef>
            </a:pPr>
            <a:r>
              <a:rPr sz="950" dirty="0">
                <a:latin typeface="Trebuchet MS"/>
                <a:cs typeface="Trebuchet MS"/>
              </a:rPr>
              <a:t>(*v*)ing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(walking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walk,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king </a:t>
            </a:r>
            <a:r>
              <a:rPr sz="1100" spc="-50" dirty="0">
                <a:latin typeface="SimSun-ExtB"/>
                <a:cs typeface="SimSun-ExtB"/>
              </a:rPr>
              <a:t>→</a:t>
            </a:r>
            <a:endParaRPr sz="1100">
              <a:latin typeface="SimSun-ExtB"/>
              <a:cs typeface="SimSun-ExtB"/>
            </a:endParaRPr>
          </a:p>
        </p:txBody>
      </p:sp>
      <p:grpSp>
        <p:nvGrpSpPr>
          <p:cNvPr id="31" name="object 31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2" name="object 32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 hidden="1"/>
          <p:cNvSpPr txBox="1"/>
          <p:nvPr/>
        </p:nvSpPr>
        <p:spPr>
          <a:xfrm>
            <a:off x="2166620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7" name="object 37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Porter’s</a:t>
            </a:r>
            <a:r>
              <a:rPr spc="40" dirty="0"/>
              <a:t> </a:t>
            </a:r>
            <a:r>
              <a:rPr spc="-2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3295"/>
            <a:ext cx="4483735" cy="1090930"/>
            <a:chOff x="87743" y="863295"/>
            <a:chExt cx="4483735" cy="1090930"/>
          </a:xfrm>
        </p:grpSpPr>
        <p:sp>
          <p:nvSpPr>
            <p:cNvPr id="4" name="object 4"/>
            <p:cNvSpPr/>
            <p:nvPr/>
          </p:nvSpPr>
          <p:spPr>
            <a:xfrm>
              <a:off x="87743" y="863295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6320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85257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83987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7529"/>
              <a:ext cx="50800" cy="94504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0541"/>
              <a:ext cx="4432935" cy="822960"/>
            </a:xfrm>
            <a:custGeom>
              <a:avLst/>
              <a:gdLst/>
              <a:ahLst/>
              <a:cxnLst/>
              <a:rect l="l" t="t" r="r" b="b"/>
              <a:pathLst>
                <a:path w="4432935" h="822960">
                  <a:moveTo>
                    <a:pt x="4432554" y="0"/>
                  </a:moveTo>
                  <a:lnTo>
                    <a:pt x="0" y="0"/>
                  </a:lnTo>
                  <a:lnTo>
                    <a:pt x="0" y="772033"/>
                  </a:lnTo>
                  <a:lnTo>
                    <a:pt x="4008" y="791757"/>
                  </a:lnTo>
                  <a:lnTo>
                    <a:pt x="14922" y="807910"/>
                  </a:lnTo>
                  <a:lnTo>
                    <a:pt x="31075" y="818824"/>
                  </a:lnTo>
                  <a:lnTo>
                    <a:pt x="50800" y="822833"/>
                  </a:lnTo>
                  <a:lnTo>
                    <a:pt x="4381754" y="822833"/>
                  </a:lnTo>
                  <a:lnTo>
                    <a:pt x="4401478" y="818824"/>
                  </a:lnTo>
                  <a:lnTo>
                    <a:pt x="4417631" y="807910"/>
                  </a:lnTo>
                  <a:lnTo>
                    <a:pt x="4428545" y="791757"/>
                  </a:lnTo>
                  <a:lnTo>
                    <a:pt x="4432554" y="772033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5667"/>
              <a:ext cx="0" cy="926465"/>
            </a:xfrm>
            <a:custGeom>
              <a:avLst/>
              <a:gdLst/>
              <a:ahLst/>
              <a:cxnLst/>
              <a:rect l="l" t="t" r="r" b="b"/>
              <a:pathLst>
                <a:path h="926464">
                  <a:moveTo>
                    <a:pt x="0" y="925957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2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0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7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30325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40358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50390"/>
              <a:ext cx="64757" cy="6475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1597" y="1760423"/>
              <a:ext cx="64757" cy="64757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87743" y="2055304"/>
            <a:ext cx="4483735" cy="672465"/>
            <a:chOff x="87743" y="2055304"/>
            <a:chExt cx="4483735" cy="672465"/>
          </a:xfrm>
        </p:grpSpPr>
        <p:sp>
          <p:nvSpPr>
            <p:cNvPr id="19" name="object 19"/>
            <p:cNvSpPr/>
            <p:nvPr/>
          </p:nvSpPr>
          <p:spPr>
            <a:xfrm>
              <a:off x="87743" y="205530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228316"/>
              <a:ext cx="4432554" cy="5060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38544" y="2625903"/>
              <a:ext cx="101600" cy="10159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89344" y="2613203"/>
              <a:ext cx="4381753" cy="11430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520298" y="2099538"/>
              <a:ext cx="50800" cy="526364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7743" y="2272589"/>
              <a:ext cx="4432935" cy="404495"/>
            </a:xfrm>
            <a:custGeom>
              <a:avLst/>
              <a:gdLst/>
              <a:ahLst/>
              <a:cxnLst/>
              <a:rect l="l" t="t" r="r" b="b"/>
              <a:pathLst>
                <a:path w="4432935" h="404494">
                  <a:moveTo>
                    <a:pt x="4432554" y="0"/>
                  </a:moveTo>
                  <a:lnTo>
                    <a:pt x="0" y="0"/>
                  </a:lnTo>
                  <a:lnTo>
                    <a:pt x="0" y="353314"/>
                  </a:lnTo>
                  <a:lnTo>
                    <a:pt x="4008" y="373038"/>
                  </a:lnTo>
                  <a:lnTo>
                    <a:pt x="14922" y="389191"/>
                  </a:lnTo>
                  <a:lnTo>
                    <a:pt x="31075" y="400105"/>
                  </a:lnTo>
                  <a:lnTo>
                    <a:pt x="50800" y="404114"/>
                  </a:lnTo>
                  <a:lnTo>
                    <a:pt x="4381754" y="404114"/>
                  </a:lnTo>
                  <a:lnTo>
                    <a:pt x="4401478" y="400105"/>
                  </a:lnTo>
                  <a:lnTo>
                    <a:pt x="4417631" y="389191"/>
                  </a:lnTo>
                  <a:lnTo>
                    <a:pt x="4428545" y="373038"/>
                  </a:lnTo>
                  <a:lnTo>
                    <a:pt x="4432554" y="35331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2137588"/>
              <a:ext cx="0" cy="507365"/>
            </a:xfrm>
            <a:custGeom>
              <a:avLst/>
              <a:gdLst/>
              <a:ahLst/>
              <a:cxnLst/>
              <a:rect l="l" t="t" r="r" b="b"/>
              <a:pathLst>
                <a:path h="507364">
                  <a:moveTo>
                    <a:pt x="0" y="50736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21249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21122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520309" y="209952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323719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533751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808047"/>
            <a:ext cx="2713355" cy="18338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1a</a:t>
            </a:r>
            <a:endParaRPr sz="1100">
              <a:latin typeface="Cambria"/>
              <a:cs typeface="Cambria"/>
            </a:endParaRPr>
          </a:p>
          <a:p>
            <a:pPr marL="289560" marR="634365">
              <a:lnSpc>
                <a:spcPts val="1650"/>
              </a:lnSpc>
              <a:spcBef>
                <a:spcPts val="50"/>
              </a:spcBef>
            </a:pPr>
            <a:r>
              <a:rPr sz="950" spc="80" dirty="0">
                <a:latin typeface="Trebuchet MS"/>
                <a:cs typeface="Trebuchet MS"/>
              </a:rPr>
              <a:t>sses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6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(caresses</a:t>
            </a:r>
            <a:r>
              <a:rPr sz="950" spc="6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0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dirty="0">
                <a:latin typeface="Trebuchet MS"/>
                <a:cs typeface="Trebuchet MS"/>
              </a:rPr>
              <a:t>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60" dirty="0">
                <a:latin typeface="Trebuchet MS"/>
                <a:cs typeface="Trebuchet MS"/>
              </a:rPr>
              <a:t>i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(ponies</a:t>
            </a:r>
            <a:r>
              <a:rPr sz="950" spc="2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poni)</a:t>
            </a:r>
            <a:endParaRPr sz="950">
              <a:latin typeface="Trebuchet MS"/>
              <a:cs typeface="Trebuchet MS"/>
            </a:endParaRPr>
          </a:p>
          <a:p>
            <a:pPr marL="289560" marR="897890">
              <a:lnSpc>
                <a:spcPts val="1650"/>
              </a:lnSpc>
              <a:spcBef>
                <a:spcPts val="10"/>
              </a:spcBef>
            </a:pP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100" dirty="0">
                <a:latin typeface="Trebuchet MS"/>
                <a:cs typeface="Trebuchet MS"/>
              </a:rPr>
              <a:t>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(caress</a:t>
            </a:r>
            <a:r>
              <a:rPr sz="950" spc="3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29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caress) </a:t>
            </a:r>
            <a:r>
              <a:rPr sz="950" spc="100" dirty="0">
                <a:latin typeface="Trebuchet MS"/>
                <a:cs typeface="Trebuchet MS"/>
              </a:rPr>
              <a:t>s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(cats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cat)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25" dirty="0">
                <a:solidFill>
                  <a:srgbClr val="3232B2"/>
                </a:solidFill>
                <a:latin typeface="Cambria"/>
                <a:cs typeface="Cambria"/>
              </a:rPr>
              <a:t>1b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55"/>
              </a:spcBef>
            </a:pPr>
            <a:r>
              <a:rPr sz="950" dirty="0">
                <a:latin typeface="Trebuchet MS"/>
                <a:cs typeface="Trebuchet MS"/>
              </a:rPr>
              <a:t>(*v*)ing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5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(walking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walk,</a:t>
            </a:r>
            <a:r>
              <a:rPr sz="950" spc="-5" dirty="0">
                <a:latin typeface="Trebuchet MS"/>
                <a:cs typeface="Trebuchet MS"/>
              </a:rPr>
              <a:t> </a:t>
            </a:r>
            <a:r>
              <a:rPr sz="950" dirty="0">
                <a:latin typeface="Trebuchet MS"/>
                <a:cs typeface="Trebuchet MS"/>
              </a:rPr>
              <a:t>king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6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king) </a:t>
            </a:r>
            <a:r>
              <a:rPr sz="950" dirty="0">
                <a:latin typeface="Trebuchet MS"/>
                <a:cs typeface="Trebuchet MS"/>
              </a:rPr>
              <a:t>(*v*)ed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(played</a:t>
            </a:r>
            <a:r>
              <a:rPr sz="950" spc="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5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play)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25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Porter’s</a:t>
            </a:r>
            <a:r>
              <a:rPr spc="40" dirty="0"/>
              <a:t> </a:t>
            </a:r>
            <a:r>
              <a:rPr spc="-2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5289"/>
            <a:ext cx="4483735" cy="876300"/>
            <a:chOff x="87743" y="865289"/>
            <a:chExt cx="4483735" cy="876300"/>
          </a:xfrm>
        </p:grpSpPr>
        <p:sp>
          <p:nvSpPr>
            <p:cNvPr id="4" name="object 4"/>
            <p:cNvSpPr/>
            <p:nvPr/>
          </p:nvSpPr>
          <p:spPr>
            <a:xfrm>
              <a:off x="87743" y="86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831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3954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2684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9536"/>
              <a:ext cx="50800" cy="7300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2649"/>
              <a:ext cx="4432935" cy="607695"/>
            </a:xfrm>
            <a:custGeom>
              <a:avLst/>
              <a:gdLst/>
              <a:ahLst/>
              <a:cxnLst/>
              <a:rect l="l" t="t" r="r" b="b"/>
              <a:pathLst>
                <a:path w="4432935" h="607694">
                  <a:moveTo>
                    <a:pt x="4432554" y="0"/>
                  </a:moveTo>
                  <a:lnTo>
                    <a:pt x="0" y="0"/>
                  </a:lnTo>
                  <a:lnTo>
                    <a:pt x="0" y="556894"/>
                  </a:lnTo>
                  <a:lnTo>
                    <a:pt x="4008" y="576619"/>
                  </a:lnTo>
                  <a:lnTo>
                    <a:pt x="14922" y="592772"/>
                  </a:lnTo>
                  <a:lnTo>
                    <a:pt x="31075" y="603686"/>
                  </a:lnTo>
                  <a:lnTo>
                    <a:pt x="50800" y="607694"/>
                  </a:lnTo>
                  <a:lnTo>
                    <a:pt x="4381754" y="607694"/>
                  </a:lnTo>
                  <a:lnTo>
                    <a:pt x="4401478" y="603686"/>
                  </a:lnTo>
                  <a:lnTo>
                    <a:pt x="4417631" y="592772"/>
                  </a:lnTo>
                  <a:lnTo>
                    <a:pt x="4428545" y="576619"/>
                  </a:lnTo>
                  <a:lnTo>
                    <a:pt x="4432554" y="55689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7648"/>
              <a:ext cx="0" cy="711200"/>
            </a:xfrm>
            <a:custGeom>
              <a:avLst/>
              <a:gdLst/>
              <a:ahLst/>
              <a:cxnLst/>
              <a:rect l="l" t="t" r="r" b="b"/>
              <a:pathLst>
                <a:path h="711200">
                  <a:moveTo>
                    <a:pt x="0" y="7109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4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2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9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3231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4235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52384"/>
              <a:ext cx="64757" cy="64757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25729" y="810067"/>
            <a:ext cx="2194560" cy="8502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45"/>
              </a:spcBef>
            </a:pPr>
            <a:r>
              <a:rPr sz="950" spc="-10" dirty="0">
                <a:latin typeface="Trebuchet MS"/>
                <a:cs typeface="Trebuchet MS"/>
              </a:rPr>
              <a:t>ational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(relational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relate) </a:t>
            </a:r>
            <a:r>
              <a:rPr sz="950" dirty="0">
                <a:latin typeface="Trebuchet MS"/>
                <a:cs typeface="Trebuchet MS"/>
              </a:rPr>
              <a:t>izer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ize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(digitizer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8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digitize) </a:t>
            </a:r>
            <a:r>
              <a:rPr sz="950" spc="-20" dirty="0">
                <a:latin typeface="Trebuchet MS"/>
                <a:cs typeface="Trebuchet MS"/>
              </a:rPr>
              <a:t>ator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(operator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operate)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18" name="object 18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19" name="object 19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4" name="object 24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25" name="object 25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Porter’s</a:t>
            </a:r>
            <a:r>
              <a:rPr spc="40" dirty="0"/>
              <a:t> </a:t>
            </a:r>
            <a:r>
              <a:rPr spc="-2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7743" y="865289"/>
            <a:ext cx="4483735" cy="876300"/>
            <a:chOff x="87743" y="865289"/>
            <a:chExt cx="4483735" cy="876300"/>
          </a:xfrm>
        </p:grpSpPr>
        <p:sp>
          <p:nvSpPr>
            <p:cNvPr id="4" name="object 4"/>
            <p:cNvSpPr/>
            <p:nvPr/>
          </p:nvSpPr>
          <p:spPr>
            <a:xfrm>
              <a:off x="87743" y="865289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1038314"/>
              <a:ext cx="4432554" cy="5060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544" y="1639544"/>
              <a:ext cx="101600" cy="1016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9344" y="1626844"/>
              <a:ext cx="4381753" cy="1143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20298" y="909536"/>
              <a:ext cx="50800" cy="73000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7743" y="1082649"/>
              <a:ext cx="4432935" cy="607695"/>
            </a:xfrm>
            <a:custGeom>
              <a:avLst/>
              <a:gdLst/>
              <a:ahLst/>
              <a:cxnLst/>
              <a:rect l="l" t="t" r="r" b="b"/>
              <a:pathLst>
                <a:path w="4432935" h="607694">
                  <a:moveTo>
                    <a:pt x="4432554" y="0"/>
                  </a:moveTo>
                  <a:lnTo>
                    <a:pt x="0" y="0"/>
                  </a:lnTo>
                  <a:lnTo>
                    <a:pt x="0" y="556894"/>
                  </a:lnTo>
                  <a:lnTo>
                    <a:pt x="4008" y="576619"/>
                  </a:lnTo>
                  <a:lnTo>
                    <a:pt x="14922" y="592772"/>
                  </a:lnTo>
                  <a:lnTo>
                    <a:pt x="31075" y="603686"/>
                  </a:lnTo>
                  <a:lnTo>
                    <a:pt x="50800" y="607694"/>
                  </a:lnTo>
                  <a:lnTo>
                    <a:pt x="4381754" y="607694"/>
                  </a:lnTo>
                  <a:lnTo>
                    <a:pt x="4401478" y="603686"/>
                  </a:lnTo>
                  <a:lnTo>
                    <a:pt x="4417631" y="592772"/>
                  </a:lnTo>
                  <a:lnTo>
                    <a:pt x="4428545" y="576619"/>
                  </a:lnTo>
                  <a:lnTo>
                    <a:pt x="4432554" y="556894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20309" y="947648"/>
              <a:ext cx="0" cy="711200"/>
            </a:xfrm>
            <a:custGeom>
              <a:avLst/>
              <a:gdLst/>
              <a:ahLst/>
              <a:cxnLst/>
              <a:rect l="l" t="t" r="r" b="b"/>
              <a:pathLst>
                <a:path h="711200">
                  <a:moveTo>
                    <a:pt x="0" y="710945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520309" y="9349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20309" y="9222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20309" y="909519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1597" y="1132319"/>
              <a:ext cx="64757" cy="64757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1597" y="1342352"/>
              <a:ext cx="64757" cy="6475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1597" y="1552384"/>
              <a:ext cx="64757" cy="64757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87743" y="1842274"/>
            <a:ext cx="4483735" cy="882650"/>
            <a:chOff x="87743" y="1842274"/>
            <a:chExt cx="4483735" cy="882650"/>
          </a:xfrm>
        </p:grpSpPr>
        <p:sp>
          <p:nvSpPr>
            <p:cNvPr id="18" name="object 18"/>
            <p:cNvSpPr/>
            <p:nvPr/>
          </p:nvSpPr>
          <p:spPr>
            <a:xfrm>
              <a:off x="87743" y="1842274"/>
              <a:ext cx="4432935" cy="186055"/>
            </a:xfrm>
            <a:custGeom>
              <a:avLst/>
              <a:gdLst/>
              <a:ahLst/>
              <a:cxnLst/>
              <a:rect l="l" t="t" r="r" b="b"/>
              <a:pathLst>
                <a:path w="4432935" h="186055">
                  <a:moveTo>
                    <a:pt x="4381754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5674"/>
                  </a:lnTo>
                  <a:lnTo>
                    <a:pt x="4432554" y="185674"/>
                  </a:lnTo>
                  <a:lnTo>
                    <a:pt x="4432554" y="50800"/>
                  </a:lnTo>
                  <a:lnTo>
                    <a:pt x="4428545" y="31075"/>
                  </a:lnTo>
                  <a:lnTo>
                    <a:pt x="4417631" y="14922"/>
                  </a:lnTo>
                  <a:lnTo>
                    <a:pt x="4401478" y="4008"/>
                  </a:lnTo>
                  <a:lnTo>
                    <a:pt x="4381754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744" y="2015286"/>
              <a:ext cx="4432554" cy="5060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8544" y="2622918"/>
              <a:ext cx="101600" cy="1016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9344" y="2610218"/>
              <a:ext cx="4381753" cy="11430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20298" y="1886508"/>
              <a:ext cx="50800" cy="7364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7743" y="2059546"/>
              <a:ext cx="4432935" cy="614680"/>
            </a:xfrm>
            <a:custGeom>
              <a:avLst/>
              <a:gdLst/>
              <a:ahLst/>
              <a:cxnLst/>
              <a:rect l="l" t="t" r="r" b="b"/>
              <a:pathLst>
                <a:path w="4432935" h="614680">
                  <a:moveTo>
                    <a:pt x="4432554" y="0"/>
                  </a:moveTo>
                  <a:lnTo>
                    <a:pt x="0" y="0"/>
                  </a:lnTo>
                  <a:lnTo>
                    <a:pt x="0" y="563372"/>
                  </a:lnTo>
                  <a:lnTo>
                    <a:pt x="4008" y="583096"/>
                  </a:lnTo>
                  <a:lnTo>
                    <a:pt x="14922" y="599249"/>
                  </a:lnTo>
                  <a:lnTo>
                    <a:pt x="31075" y="610163"/>
                  </a:lnTo>
                  <a:lnTo>
                    <a:pt x="50800" y="614172"/>
                  </a:lnTo>
                  <a:lnTo>
                    <a:pt x="4381754" y="614172"/>
                  </a:lnTo>
                  <a:lnTo>
                    <a:pt x="4401478" y="610163"/>
                  </a:lnTo>
                  <a:lnTo>
                    <a:pt x="4417631" y="599249"/>
                  </a:lnTo>
                  <a:lnTo>
                    <a:pt x="4428545" y="583096"/>
                  </a:lnTo>
                  <a:lnTo>
                    <a:pt x="4432554" y="563372"/>
                  </a:lnTo>
                  <a:lnTo>
                    <a:pt x="4432554" y="0"/>
                  </a:lnTo>
                  <a:close/>
                </a:path>
              </a:pathLst>
            </a:custGeom>
            <a:solidFill>
              <a:srgbClr val="EAEA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520309" y="1924672"/>
              <a:ext cx="0" cy="717550"/>
            </a:xfrm>
            <a:custGeom>
              <a:avLst/>
              <a:gdLst/>
              <a:ahLst/>
              <a:cxnLst/>
              <a:rect l="l" t="t" r="r" b="b"/>
              <a:pathLst>
                <a:path h="717550">
                  <a:moveTo>
                    <a:pt x="0" y="717296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520309" y="19119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20309" y="18992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520309" y="1886506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1597" y="2110689"/>
              <a:ext cx="64757" cy="647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81597" y="2320722"/>
              <a:ext cx="64757" cy="64757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597" y="2530754"/>
              <a:ext cx="64757" cy="6475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125729" y="810067"/>
            <a:ext cx="2194560" cy="182880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  <a:p>
            <a:pPr marL="289560" marR="5080">
              <a:lnSpc>
                <a:spcPts val="1650"/>
              </a:lnSpc>
              <a:spcBef>
                <a:spcPts val="50"/>
              </a:spcBef>
            </a:pPr>
            <a:r>
              <a:rPr sz="950" spc="-10" dirty="0">
                <a:latin typeface="Trebuchet MS"/>
                <a:cs typeface="Trebuchet MS"/>
              </a:rPr>
              <a:t>ational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(relational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relate) </a:t>
            </a:r>
            <a:r>
              <a:rPr sz="950" dirty="0">
                <a:latin typeface="Trebuchet MS"/>
                <a:cs typeface="Trebuchet MS"/>
              </a:rPr>
              <a:t>izer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ize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25" dirty="0">
                <a:latin typeface="Trebuchet MS"/>
                <a:cs typeface="Trebuchet MS"/>
              </a:rPr>
              <a:t>(digitizer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80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digitize) </a:t>
            </a:r>
            <a:r>
              <a:rPr sz="950" spc="-20" dirty="0">
                <a:latin typeface="Trebuchet MS"/>
                <a:cs typeface="Trebuchet MS"/>
              </a:rPr>
              <a:t>ator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(operator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operate)</a:t>
            </a:r>
            <a:endParaRPr sz="9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65"/>
              </a:spcBef>
            </a:pPr>
            <a:endParaRPr sz="9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i="1" spc="-10" dirty="0">
                <a:solidFill>
                  <a:srgbClr val="3232B2"/>
                </a:solidFill>
                <a:latin typeface="Cambria"/>
                <a:cs typeface="Cambria"/>
              </a:rPr>
              <a:t>Step</a:t>
            </a:r>
            <a:r>
              <a:rPr sz="1100" i="1" spc="-30" dirty="0">
                <a:solidFill>
                  <a:srgbClr val="3232B2"/>
                </a:solidFill>
                <a:latin typeface="Cambria"/>
                <a:cs typeface="Cambria"/>
              </a:rPr>
              <a:t> </a:t>
            </a:r>
            <a:r>
              <a:rPr sz="1100" i="1" spc="-50" dirty="0">
                <a:solidFill>
                  <a:srgbClr val="3232B2"/>
                </a:solidFill>
                <a:latin typeface="Cambria"/>
                <a:cs typeface="Cambria"/>
              </a:rPr>
              <a:t>3</a:t>
            </a:r>
            <a:endParaRPr sz="1100">
              <a:latin typeface="Cambria"/>
              <a:cs typeface="Cambria"/>
            </a:endParaRPr>
          </a:p>
          <a:p>
            <a:pPr marL="289560">
              <a:lnSpc>
                <a:spcPct val="100000"/>
              </a:lnSpc>
              <a:spcBef>
                <a:spcPts val="280"/>
              </a:spcBef>
            </a:pPr>
            <a:r>
              <a:rPr sz="950" dirty="0">
                <a:latin typeface="Trebuchet MS"/>
                <a:cs typeface="Trebuchet MS"/>
              </a:rPr>
              <a:t>al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(revival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reviv)</a:t>
            </a:r>
            <a:endParaRPr sz="950">
              <a:latin typeface="Trebuchet MS"/>
              <a:cs typeface="Trebuchet MS"/>
            </a:endParaRPr>
          </a:p>
          <a:p>
            <a:pPr marL="289560" marR="159385">
              <a:lnSpc>
                <a:spcPct val="125299"/>
              </a:lnSpc>
            </a:pPr>
            <a:r>
              <a:rPr sz="950" dirty="0">
                <a:latin typeface="Trebuchet MS"/>
                <a:cs typeface="Trebuchet MS"/>
              </a:rPr>
              <a:t>able</a:t>
            </a:r>
            <a:r>
              <a:rPr sz="950" spc="-3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80" dirty="0">
                <a:latin typeface="Lucida Sans Unicode"/>
                <a:cs typeface="Lucida Sans Unicode"/>
              </a:rPr>
              <a:t> </a:t>
            </a:r>
            <a:r>
              <a:rPr sz="950" dirty="0">
                <a:latin typeface="Trebuchet MS"/>
                <a:cs typeface="Trebuchet MS"/>
              </a:rPr>
              <a:t>(adjustable</a:t>
            </a:r>
            <a:r>
              <a:rPr sz="950" spc="-2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adjust) </a:t>
            </a:r>
            <a:r>
              <a:rPr sz="950" dirty="0">
                <a:latin typeface="Trebuchet MS"/>
                <a:cs typeface="Trebuchet MS"/>
              </a:rPr>
              <a:t>ate</a:t>
            </a:r>
            <a:r>
              <a:rPr sz="950" spc="-15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0" dirty="0">
                <a:latin typeface="SimSun-ExtB"/>
                <a:cs typeface="SimSun-ExtB"/>
              </a:rPr>
              <a:t> </a:t>
            </a:r>
            <a:r>
              <a:rPr sz="1100" spc="-290" dirty="0">
                <a:latin typeface="Lucida Sans Unicode"/>
                <a:cs typeface="Lucida Sans Unicode"/>
              </a:rPr>
              <a:t>φ</a:t>
            </a:r>
            <a:r>
              <a:rPr sz="1100" spc="-75" dirty="0">
                <a:latin typeface="Lucida Sans Unicode"/>
                <a:cs typeface="Lucida Sans Unicode"/>
              </a:rPr>
              <a:t> </a:t>
            </a:r>
            <a:r>
              <a:rPr sz="950" spc="-20" dirty="0">
                <a:latin typeface="Trebuchet MS"/>
                <a:cs typeface="Trebuchet MS"/>
              </a:rPr>
              <a:t>(activate</a:t>
            </a:r>
            <a:r>
              <a:rPr sz="950" spc="-10" dirty="0">
                <a:latin typeface="Trebuchet MS"/>
                <a:cs typeface="Trebuchet MS"/>
              </a:rPr>
              <a:t> </a:t>
            </a:r>
            <a:r>
              <a:rPr sz="1100" spc="-30" dirty="0">
                <a:latin typeface="SimSun-ExtB"/>
                <a:cs typeface="SimSun-ExtB"/>
              </a:rPr>
              <a:t>→</a:t>
            </a:r>
            <a:r>
              <a:rPr sz="1100" spc="-275" dirty="0">
                <a:latin typeface="SimSun-ExtB"/>
                <a:cs typeface="SimSun-ExtB"/>
              </a:rPr>
              <a:t> </a:t>
            </a:r>
            <a:r>
              <a:rPr sz="950" spc="-10" dirty="0">
                <a:latin typeface="Trebuchet MS"/>
                <a:cs typeface="Trebuchet MS"/>
              </a:rPr>
              <a:t>activ)</a:t>
            </a:r>
            <a:endParaRPr sz="950">
              <a:latin typeface="Trebuchet MS"/>
              <a:cs typeface="Trebuchet MS"/>
            </a:endParaRPr>
          </a:p>
        </p:txBody>
      </p:sp>
      <p:grpSp>
        <p:nvGrpSpPr>
          <p:cNvPr id="32" name="object 32" hidden="1"/>
          <p:cNvGrpSpPr/>
          <p:nvPr/>
        </p:nvGrpSpPr>
        <p:grpSpPr>
          <a:xfrm>
            <a:off x="0" y="3347161"/>
            <a:ext cx="4608195" cy="109220"/>
            <a:chOff x="0" y="3347161"/>
            <a:chExt cx="4608195" cy="109220"/>
          </a:xfrm>
        </p:grpSpPr>
        <p:sp>
          <p:nvSpPr>
            <p:cNvPr id="33" name="object 33"/>
            <p:cNvSpPr/>
            <p:nvPr/>
          </p:nvSpPr>
          <p:spPr>
            <a:xfrm>
              <a:off x="0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5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535976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71952" y="3347161"/>
              <a:ext cx="1536065" cy="109220"/>
            </a:xfrm>
            <a:custGeom>
              <a:avLst/>
              <a:gdLst/>
              <a:ahLst/>
              <a:cxnLst/>
              <a:rect l="l" t="t" r="r" b="b"/>
              <a:pathLst>
                <a:path w="1536064" h="109220">
                  <a:moveTo>
                    <a:pt x="1535938" y="0"/>
                  </a:moveTo>
                  <a:lnTo>
                    <a:pt x="0" y="0"/>
                  </a:lnTo>
                  <a:lnTo>
                    <a:pt x="0" y="108838"/>
                  </a:lnTo>
                  <a:lnTo>
                    <a:pt x="1535938" y="108838"/>
                  </a:lnTo>
                  <a:lnTo>
                    <a:pt x="1535938" y="0"/>
                  </a:lnTo>
                  <a:close/>
                </a:path>
              </a:pathLst>
            </a:custGeom>
            <a:solidFill>
              <a:srgbClr val="3232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 hidden="1"/>
          <p:cNvSpPr txBox="1"/>
          <p:nvPr/>
        </p:nvSpPr>
        <p:spPr>
          <a:xfrm>
            <a:off x="1930184" y="3339672"/>
            <a:ext cx="748030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Text</a:t>
            </a:r>
            <a:r>
              <a:rPr sz="600" i="1" spc="1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Processing:</a:t>
            </a:r>
            <a:r>
              <a:rPr sz="600" i="1" spc="5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0" dirty="0">
                <a:solidFill>
                  <a:srgbClr val="FFFFFF"/>
                </a:solidFill>
                <a:latin typeface="Cambria"/>
                <a:cs typeface="Cambria"/>
              </a:rPr>
              <a:t>Basics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8" name="object 38" hidden="1"/>
          <p:cNvSpPr txBox="1"/>
          <p:nvPr/>
        </p:nvSpPr>
        <p:spPr>
          <a:xfrm>
            <a:off x="3597402" y="3339672"/>
            <a:ext cx="574675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spc="-45" dirty="0">
                <a:solidFill>
                  <a:srgbClr val="FFFFFF"/>
                </a:solidFill>
                <a:latin typeface="Cambria"/>
                <a:cs typeface="Cambria"/>
              </a:rPr>
              <a:t>Week</a:t>
            </a:r>
            <a:r>
              <a:rPr sz="600" i="1" spc="3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sz="600" i="1" spc="7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Lecture</a:t>
            </a:r>
            <a:r>
              <a:rPr sz="600" i="1" spc="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50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600">
              <a:latin typeface="Cambria"/>
              <a:cs typeface="Cambria"/>
            </a:endParaRPr>
          </a:p>
        </p:txBody>
      </p:sp>
      <p:sp>
        <p:nvSpPr>
          <p:cNvPr id="39" name="object 39" hidden="1"/>
          <p:cNvSpPr txBox="1"/>
          <p:nvPr/>
        </p:nvSpPr>
        <p:spPr>
          <a:xfrm>
            <a:off x="4317422" y="3339672"/>
            <a:ext cx="236854" cy="116205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600" i="1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r>
              <a:rPr sz="600" i="1" spc="-2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110" dirty="0">
                <a:solidFill>
                  <a:srgbClr val="FFFFFF"/>
                </a:solidFill>
                <a:latin typeface="Cambria"/>
                <a:cs typeface="Cambria"/>
              </a:rPr>
              <a:t>/</a:t>
            </a:r>
            <a:r>
              <a:rPr sz="600" i="1" spc="1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600" i="1" spc="-25" dirty="0">
                <a:solidFill>
                  <a:srgbClr val="FFFFFF"/>
                </a:solidFill>
                <a:latin typeface="Cambria"/>
                <a:cs typeface="Cambria"/>
              </a:rPr>
              <a:t>26</a:t>
            </a:r>
            <a:endParaRPr sz="600">
              <a:latin typeface="Cambria"/>
              <a:cs typeface="Cambria"/>
            </a:endParaRPr>
          </a:p>
        </p:txBody>
      </p:sp>
    </p:spTree>
  </p:cSld>
  <p:clrMapOvr>
    <a:masterClrMapping/>
  </p:clrMapOvr>
  <p:transition>
    <p:cut/>
  </p:transition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9759E-0B1F-43F3-BDB0-F964BD582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B7D6B-CC5E-4CE2-883B-CEDC2E488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5813195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233468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613" dirty="0"/>
              <a:t>How similar are two strings?</a:t>
            </a:r>
            <a:endParaRPr lang="en-US" dirty="0"/>
          </a:p>
        </p:txBody>
      </p:sp>
      <p:sp>
        <p:nvSpPr>
          <p:cNvPr id="4608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5252" y="681910"/>
            <a:ext cx="1959292" cy="1728787"/>
          </a:xfrm>
        </p:spPr>
        <p:txBody>
          <a:bodyPr/>
          <a:lstStyle/>
          <a:p>
            <a:r>
              <a:rPr lang="en-US" dirty="0"/>
              <a:t>Spell correction</a:t>
            </a:r>
          </a:p>
          <a:p>
            <a:pPr lvl="1"/>
            <a:r>
              <a:rPr lang="en-US" dirty="0"/>
              <a:t>The user typed “</a:t>
            </a:r>
            <a:r>
              <a:rPr lang="en-US" dirty="0" err="1"/>
              <a:t>graffe</a:t>
            </a:r>
            <a:r>
              <a:rPr lang="en-US" dirty="0"/>
              <a:t>”</a:t>
            </a:r>
          </a:p>
          <a:p>
            <a:pPr marL="457200" lvl="1" indent="0">
              <a:buNone/>
            </a:pPr>
            <a:r>
              <a:rPr lang="en-US" dirty="0"/>
              <a:t>Which is closest? </a:t>
            </a:r>
          </a:p>
          <a:p>
            <a:pPr lvl="2">
              <a:lnSpc>
                <a:spcPct val="80000"/>
              </a:lnSpc>
            </a:pPr>
            <a:r>
              <a:rPr lang="en-US" dirty="0" err="1"/>
              <a:t>graf</a:t>
            </a:r>
            <a:endParaRPr lang="en-US" dirty="0"/>
          </a:p>
          <a:p>
            <a:pPr lvl="2">
              <a:lnSpc>
                <a:spcPct val="80000"/>
              </a:lnSpc>
            </a:pPr>
            <a:r>
              <a:rPr lang="en-US" dirty="0"/>
              <a:t>graft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grail</a:t>
            </a:r>
          </a:p>
          <a:p>
            <a:pPr lvl="2">
              <a:lnSpc>
                <a:spcPct val="80000"/>
              </a:lnSpc>
            </a:pPr>
            <a:r>
              <a:rPr lang="en-US" dirty="0"/>
              <a:t>giraffe</a:t>
            </a:r>
          </a:p>
          <a:p>
            <a:endParaRPr lang="en-US" sz="1008" dirty="0"/>
          </a:p>
          <a:p>
            <a:endParaRPr lang="en-US" sz="1008" dirty="0"/>
          </a:p>
          <a:p>
            <a:endParaRPr lang="en-US" sz="1008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1844040" y="681910"/>
            <a:ext cx="2650807" cy="1383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121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1008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1008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dirty="0"/>
              <a:t>Computational Biology</a:t>
            </a:r>
          </a:p>
          <a:p>
            <a:pPr lvl="1"/>
            <a:r>
              <a:rPr lang="en-US" dirty="0"/>
              <a:t>Align two sequences of nucleotides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Resulting alignment: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92087" y="2141775"/>
            <a:ext cx="4302760" cy="345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1210">
                <a:solidFill>
                  <a:schemeClr val="tx1"/>
                </a:solidFill>
                <a:latin typeface="+mn-lt"/>
                <a:ea typeface="ＭＳ Ｐゴシック" pitchFamily="-65" charset="-128"/>
                <a:cs typeface="ＭＳ Ｐゴシック" pitchFamily="-65" charset="-128"/>
              </a:defRPr>
            </a:lvl1pPr>
            <a:lvl2pPr marL="685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 sz="1008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2pPr>
            <a:lvl3pPr marL="1028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 sz="1008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3pPr>
            <a:lvl4pPr marL="1371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4pPr>
            <a:lvl5pPr marL="17145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charset="0"/>
              <a:buChar char="•"/>
              <a:defRPr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5pPr>
            <a:lvl6pPr marL="21717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6pPr>
            <a:lvl7pPr marL="26289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7pPr>
            <a:lvl8pPr marL="30861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8pPr>
            <a:lvl9pPr marL="35433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Times" pitchFamily="-65" charset="0"/>
              <a:buChar char="•"/>
              <a:defRPr sz="705">
                <a:solidFill>
                  <a:schemeClr val="tx1"/>
                </a:solidFill>
                <a:latin typeface="+mn-lt"/>
                <a:ea typeface="ＭＳ Ｐゴシック" pitchFamily="-65" charset="-128"/>
              </a:defRPr>
            </a:lvl9pPr>
          </a:lstStyle>
          <a:p>
            <a:r>
              <a:rPr lang="en-US" sz="1008" dirty="0"/>
              <a:t>Also for Machine Translation, Information Extraction, Speech Recognition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2266632" y="1142920"/>
            <a:ext cx="2189262" cy="294824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2189058" y="1669630"/>
            <a:ext cx="2421041" cy="356892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806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806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</p:spTree>
    <p:extLst>
      <p:ext uri="{BB962C8B-B14F-4D97-AF65-F5344CB8AC3E}">
        <p14:creationId xmlns:p14="http://schemas.microsoft.com/office/powerpoint/2010/main" val="407746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Edit Distance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/>
              <a:t>The minimum edit distance between two strings</a:t>
            </a:r>
          </a:p>
          <a:p>
            <a:r>
              <a:rPr lang="en-US"/>
              <a:t>Is the minimum number of editing operations</a:t>
            </a:r>
          </a:p>
          <a:p>
            <a:pPr lvl="1"/>
            <a:r>
              <a:rPr lang="en-US"/>
              <a:t>Insertion</a:t>
            </a:r>
          </a:p>
          <a:p>
            <a:pPr lvl="1"/>
            <a:r>
              <a:rPr lang="en-US"/>
              <a:t>Deletion</a:t>
            </a:r>
          </a:p>
          <a:p>
            <a:pPr lvl="1"/>
            <a:r>
              <a:rPr lang="en-US"/>
              <a:t>Substitution</a:t>
            </a:r>
          </a:p>
          <a:p>
            <a:r>
              <a:rPr lang="en-US"/>
              <a:t>Needed to transform one into the other</a:t>
            </a:r>
          </a:p>
        </p:txBody>
      </p:sp>
    </p:spTree>
    <p:extLst>
      <p:ext uri="{BB962C8B-B14F-4D97-AF65-F5344CB8AC3E}">
        <p14:creationId xmlns:p14="http://schemas.microsoft.com/office/powerpoint/2010/main" val="2853433963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strings and their </a:t>
            </a:r>
            <a:r>
              <a:rPr lang="en-US" b="1" dirty="0"/>
              <a:t>alignment</a:t>
            </a:r>
            <a:r>
              <a:rPr lang="en-US" dirty="0"/>
              <a:t>:</a:t>
            </a:r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8350" y="1027668"/>
            <a:ext cx="2670016" cy="111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9830345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Distance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4175" y="1642348"/>
            <a:ext cx="3995420" cy="950833"/>
          </a:xfrm>
        </p:spPr>
        <p:txBody>
          <a:bodyPr/>
          <a:lstStyle/>
          <a:p>
            <a:r>
              <a:rPr lang="en-US" dirty="0"/>
              <a:t>If each operation has cost of 1</a:t>
            </a:r>
          </a:p>
          <a:p>
            <a:pPr lvl="1"/>
            <a:r>
              <a:rPr lang="en-US" dirty="0"/>
              <a:t>Distance between these is 5</a:t>
            </a:r>
          </a:p>
          <a:p>
            <a:r>
              <a:rPr lang="en-US" dirty="0"/>
              <a:t>If substitutions cost 2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Distance between them is 8</a:t>
            </a:r>
          </a:p>
        </p:txBody>
      </p:sp>
      <p:pic>
        <p:nvPicPr>
          <p:cNvPr id="5" name="Picture 4" descr="align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2020" y="605075"/>
            <a:ext cx="1837637" cy="1027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3909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Alignment in Computational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670" y="681910"/>
            <a:ext cx="4302760" cy="1911270"/>
          </a:xfrm>
        </p:spPr>
        <p:txBody>
          <a:bodyPr/>
          <a:lstStyle/>
          <a:p>
            <a:r>
              <a:rPr lang="en-US" dirty="0"/>
              <a:t>Given a sequence of bases</a:t>
            </a:r>
          </a:p>
          <a:p>
            <a:endParaRPr lang="en-US" dirty="0"/>
          </a:p>
          <a:p>
            <a:pPr marL="0" indent="0">
              <a:lnSpc>
                <a:spcPct val="140000"/>
              </a:lnSpc>
              <a:buNone/>
            </a:pPr>
            <a:endParaRPr lang="en-US" dirty="0"/>
          </a:p>
          <a:p>
            <a:r>
              <a:rPr lang="en-US" dirty="0"/>
              <a:t>An alignment: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Given two sequences, align each letter to a letter or gap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499427" y="1680765"/>
            <a:ext cx="3538452" cy="41896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CT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CA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C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---</a:t>
            </a:r>
          </a:p>
          <a:p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AG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CTATCAC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GACC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G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--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GG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T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CGA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TT</a:t>
            </a:r>
            <a:r>
              <a:rPr lang="en-US" sz="1210" b="1" dirty="0">
                <a:solidFill>
                  <a:srgbClr val="000066"/>
                </a:solidFill>
                <a:latin typeface="Courier New" charset="0"/>
              </a:rPr>
              <a:t>TGCCC</a:t>
            </a:r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GAC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806767" y="989250"/>
            <a:ext cx="3072864" cy="41896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AGGCTATCACCTGACCTCCAGGCCGATGCCC</a:t>
            </a:r>
          </a:p>
          <a:p>
            <a:r>
              <a:rPr lang="en-US" sz="1210" dirty="0">
                <a:solidFill>
                  <a:srgbClr val="006699"/>
                </a:solidFill>
                <a:latin typeface="Courier New" charset="0"/>
              </a:rPr>
              <a:t>TAGCTATCACGACCGCGGTCGATTTGCCCGAC</a:t>
            </a:r>
          </a:p>
        </p:txBody>
      </p:sp>
    </p:spTree>
    <p:extLst>
      <p:ext uri="{BB962C8B-B14F-4D97-AF65-F5344CB8AC3E}">
        <p14:creationId xmlns:p14="http://schemas.microsoft.com/office/powerpoint/2010/main" val="916105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515" y="28813"/>
            <a:ext cx="3764915" cy="374570"/>
          </a:xfrm>
        </p:spPr>
        <p:txBody>
          <a:bodyPr/>
          <a:lstStyle/>
          <a:p>
            <a:r>
              <a:rPr lang="en-US" dirty="0"/>
              <a:t>Other uses of Edit Distance in NLP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76835" y="758745"/>
            <a:ext cx="4533265" cy="1728787"/>
          </a:xfrm>
        </p:spPr>
        <p:txBody>
          <a:bodyPr/>
          <a:lstStyle/>
          <a:p>
            <a:r>
              <a:rPr lang="en-US" dirty="0"/>
              <a:t>Evaluating Machine Translation and speech recognition</a:t>
            </a:r>
          </a:p>
          <a:p>
            <a:pPr>
              <a:buNone/>
            </a:pPr>
            <a:r>
              <a:rPr lang="en-US" sz="907" b="1" dirty="0">
                <a:latin typeface="Courier"/>
                <a:cs typeface="Courier"/>
              </a:rPr>
              <a:t>R </a:t>
            </a:r>
            <a:r>
              <a:rPr lang="en-US" sz="907" dirty="0">
                <a:latin typeface="Courier"/>
                <a:cs typeface="Courier"/>
              </a:rPr>
              <a:t>Spokesman confirms    senior government adviser was shot</a:t>
            </a:r>
          </a:p>
          <a:p>
            <a:pPr>
              <a:buNone/>
            </a:pPr>
            <a:r>
              <a:rPr lang="en-US" sz="907" b="1" dirty="0">
                <a:latin typeface="Courier"/>
                <a:cs typeface="Courier"/>
              </a:rPr>
              <a:t>H </a:t>
            </a:r>
            <a:r>
              <a:rPr lang="en-US" sz="907" dirty="0">
                <a:latin typeface="Courier"/>
                <a:cs typeface="Courier"/>
              </a:rPr>
              <a:t>Spokesman said    the senior            adviser was shot dead</a:t>
            </a:r>
          </a:p>
          <a:p>
            <a:pPr>
              <a:buNone/>
            </a:pPr>
            <a:r>
              <a:rPr lang="en-US" sz="907" dirty="0">
                <a:latin typeface="Courier"/>
                <a:cs typeface="Courier"/>
              </a:rPr>
              <a:t>              S      I              D                        I</a:t>
            </a:r>
          </a:p>
          <a:p>
            <a:r>
              <a:rPr lang="en-US" dirty="0"/>
              <a:t>Named Entity Extraction and Entity </a:t>
            </a:r>
            <a:r>
              <a:rPr lang="en-US" dirty="0" err="1"/>
              <a:t>Coreference</a:t>
            </a:r>
            <a:endParaRPr lang="en-US" dirty="0"/>
          </a:p>
          <a:p>
            <a:pPr lvl="1"/>
            <a:r>
              <a:rPr lang="en-US" dirty="0">
                <a:solidFill>
                  <a:srgbClr val="FF0000"/>
                </a:solidFill>
              </a:rPr>
              <a:t>IBM Inc</a:t>
            </a:r>
            <a:r>
              <a:rPr lang="en-US" dirty="0"/>
              <a:t>. announced today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IBM </a:t>
            </a:r>
            <a:r>
              <a:rPr lang="en-US" dirty="0"/>
              <a:t>profits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Stanford President John Hennessy </a:t>
            </a:r>
            <a:r>
              <a:rPr lang="en-US" dirty="0"/>
              <a:t>announced yesterday</a:t>
            </a:r>
          </a:p>
          <a:p>
            <a:pPr lvl="1"/>
            <a:r>
              <a:rPr lang="en-US" dirty="0"/>
              <a:t>for </a:t>
            </a:r>
            <a:r>
              <a:rPr lang="en-US" dirty="0">
                <a:solidFill>
                  <a:srgbClr val="FF0000"/>
                </a:solidFill>
              </a:rPr>
              <a:t>Stanford University President John Hennessy</a:t>
            </a:r>
          </a:p>
          <a:p>
            <a:pPr lvl="1"/>
            <a:endParaRPr lang="en-US" dirty="0"/>
          </a:p>
          <a:p>
            <a:pPr>
              <a:buNone/>
            </a:pPr>
            <a:endParaRPr lang="en-US" sz="907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981574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find the Min Edit Distance?</a:t>
            </a:r>
            <a:endParaRPr lang="en-US" dirty="0"/>
          </a:p>
        </p:txBody>
      </p:sp>
      <p:sp>
        <p:nvSpPr>
          <p:cNvPr id="2970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Searching for a path (sequence of edits) from the start string to the final string:</a:t>
            </a:r>
          </a:p>
          <a:p>
            <a:pPr lvl="1"/>
            <a:r>
              <a:rPr lang="en-US" b="1" dirty="0"/>
              <a:t>Initial state</a:t>
            </a:r>
            <a:r>
              <a:rPr lang="en-US" dirty="0"/>
              <a:t>: the word we’re transforming</a:t>
            </a:r>
          </a:p>
          <a:p>
            <a:pPr lvl="1"/>
            <a:r>
              <a:rPr lang="en-US" b="1" dirty="0"/>
              <a:t>Operators</a:t>
            </a:r>
            <a:r>
              <a:rPr lang="en-US" dirty="0"/>
              <a:t>: insert, delete, substitute</a:t>
            </a:r>
          </a:p>
          <a:p>
            <a:pPr lvl="1"/>
            <a:r>
              <a:rPr lang="en-US" b="1" dirty="0"/>
              <a:t>Goal state</a:t>
            </a:r>
            <a:r>
              <a:rPr lang="en-US" dirty="0"/>
              <a:t>:  the word we’re trying to get to</a:t>
            </a:r>
          </a:p>
          <a:p>
            <a:pPr lvl="1"/>
            <a:r>
              <a:rPr lang="en-US" b="1" dirty="0"/>
              <a:t>Path cost</a:t>
            </a:r>
            <a:r>
              <a:rPr lang="en-US" dirty="0"/>
              <a:t>: what we want to minimize: the number of edits</a:t>
            </a:r>
          </a:p>
          <a:p>
            <a:endParaRPr lang="en-US" dirty="0"/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A3CF9962-03DC-2041-84E0-503C14DE85DC}" type="slidenum">
              <a:rPr lang="en-US"/>
              <a:pPr/>
              <a:t>199</a:t>
            </a:fld>
            <a:endParaRPr lang="en-US" dirty="0"/>
          </a:p>
        </p:txBody>
      </p:sp>
      <p:pic>
        <p:nvPicPr>
          <p:cNvPr id="7" name="Picture 3" descr="inten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350" y="1834435"/>
            <a:ext cx="2882011" cy="690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0415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Minimum Edit as Search</a:t>
            </a:r>
            <a:endParaRPr lang="en-US" dirty="0"/>
          </a:p>
        </p:txBody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But the space of all edit sequences is huge!</a:t>
            </a:r>
          </a:p>
          <a:p>
            <a:pPr lvl="1"/>
            <a:r>
              <a:rPr lang="en-US"/>
              <a:t>We can’t afford to navigate naïvely</a:t>
            </a:r>
          </a:p>
          <a:p>
            <a:pPr lvl="1"/>
            <a:r>
              <a:rPr lang="en-US"/>
              <a:t>Lots of distinct paths wind up at the same state.</a:t>
            </a:r>
          </a:p>
          <a:p>
            <a:pPr lvl="2"/>
            <a:r>
              <a:rPr lang="en-US"/>
              <a:t>We don’t have to keep track of all of them</a:t>
            </a:r>
          </a:p>
          <a:p>
            <a:pPr lvl="2"/>
            <a:r>
              <a:rPr lang="en-US"/>
              <a:t>Just the shortest path to each of those revisted states.</a:t>
            </a:r>
          </a:p>
          <a:p>
            <a:endParaRPr lang="en-US" dirty="0"/>
          </a:p>
        </p:txBody>
      </p:sp>
      <p:sp>
        <p:nvSpPr>
          <p:cNvPr id="337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2pPr>
            <a:lvl3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3pPr>
            <a:lvl4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4pPr>
            <a:lvl5pPr eaLnBrk="0" hangingPunct="0"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806">
                <a:solidFill>
                  <a:srgbClr val="009900"/>
                </a:solidFill>
                <a:latin typeface="Tahoma" charset="0"/>
                <a:ea typeface="ＭＳ Ｐゴシック" charset="0"/>
              </a:defRPr>
            </a:lvl9pPr>
          </a:lstStyle>
          <a:p>
            <a:fld id="{C4191803-DA13-374C-8019-583792433837}" type="slidenum">
              <a:rPr lang="en-US"/>
              <a:pPr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63628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</a:t>
            </a:r>
          </a:p>
        </p:txBody>
      </p:sp>
      <p:sp>
        <p:nvSpPr>
          <p:cNvPr id="80899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411" dirty="0"/>
              <a:t>For two strings</a:t>
            </a:r>
          </a:p>
          <a:p>
            <a:pPr lvl="1"/>
            <a:r>
              <a:rPr lang="en-US" sz="1210" dirty="0"/>
              <a:t>X of length </a:t>
            </a:r>
            <a:r>
              <a:rPr lang="en-US" sz="1210" i="1" dirty="0"/>
              <a:t>n</a:t>
            </a:r>
            <a:r>
              <a:rPr lang="en-US" sz="1210" dirty="0"/>
              <a:t> </a:t>
            </a:r>
          </a:p>
          <a:p>
            <a:pPr lvl="1"/>
            <a:r>
              <a:rPr lang="en-US" sz="1210" dirty="0"/>
              <a:t>Y of length </a:t>
            </a:r>
            <a:r>
              <a:rPr lang="en-US" sz="1210" i="1" dirty="0"/>
              <a:t>m</a:t>
            </a:r>
            <a:endParaRPr lang="en-US" sz="1210" i="1" baseline="-25000" dirty="0"/>
          </a:p>
          <a:p>
            <a:r>
              <a:rPr lang="en-US" sz="1411" dirty="0"/>
              <a:t>We define D(</a:t>
            </a:r>
            <a:r>
              <a:rPr lang="en-US" sz="1411" i="1" dirty="0" err="1"/>
              <a:t>i,j</a:t>
            </a:r>
            <a:r>
              <a:rPr lang="en-US" sz="1411" dirty="0"/>
              <a:t>)</a:t>
            </a:r>
          </a:p>
          <a:p>
            <a:pPr lvl="1"/>
            <a:r>
              <a:rPr lang="en-US" sz="1210" dirty="0"/>
              <a:t>the edit distance between X[1..</a:t>
            </a:r>
            <a:r>
              <a:rPr lang="en-US" sz="1210" i="1" dirty="0"/>
              <a:t>i</a:t>
            </a:r>
            <a:r>
              <a:rPr lang="en-US" sz="1210" dirty="0"/>
              <a:t>] and Y[1..</a:t>
            </a:r>
            <a:r>
              <a:rPr lang="en-US" sz="1210" i="1" dirty="0"/>
              <a:t>j</a:t>
            </a:r>
            <a:r>
              <a:rPr lang="en-US" sz="1210" dirty="0"/>
              <a:t>] </a:t>
            </a:r>
          </a:p>
          <a:p>
            <a:pPr lvl="2"/>
            <a:r>
              <a:rPr lang="en-US" sz="1109" dirty="0"/>
              <a:t>i.e., the first </a:t>
            </a:r>
            <a:r>
              <a:rPr lang="en-US" sz="1109" i="1" dirty="0" err="1"/>
              <a:t>i</a:t>
            </a:r>
            <a:r>
              <a:rPr lang="en-US" sz="1109" dirty="0"/>
              <a:t> characters of X and the first </a:t>
            </a:r>
            <a:r>
              <a:rPr lang="en-US" sz="1109" i="1" dirty="0"/>
              <a:t>j</a:t>
            </a:r>
            <a:r>
              <a:rPr lang="en-US" sz="1109" dirty="0"/>
              <a:t> characters of Y</a:t>
            </a:r>
          </a:p>
          <a:p>
            <a:pPr lvl="1"/>
            <a:r>
              <a:rPr lang="en-US" sz="1210" dirty="0"/>
              <a:t>The edit distance between X and Y is thus D(</a:t>
            </a:r>
            <a:r>
              <a:rPr lang="en-US" sz="1210" i="1" dirty="0" err="1"/>
              <a:t>n,m</a:t>
            </a:r>
            <a:r>
              <a:rPr lang="en-US" sz="121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5667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Definition of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8284072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506945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Programming for</a:t>
            </a:r>
            <a:br>
              <a:rPr lang="en-US" dirty="0"/>
            </a:br>
            <a:r>
              <a:rPr lang="en-US" dirty="0"/>
              <a:t>Minimum Edit Distance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Dynamic programming</a:t>
            </a:r>
            <a:r>
              <a:rPr lang="en-US" dirty="0"/>
              <a:t>: A tabular computation of D(</a:t>
            </a:r>
            <a:r>
              <a:rPr lang="en-US" i="1" dirty="0" err="1"/>
              <a:t>n,m</a:t>
            </a:r>
            <a:r>
              <a:rPr lang="en-US" dirty="0"/>
              <a:t>)</a:t>
            </a:r>
            <a:endParaRPr lang="en-US" b="1" dirty="0"/>
          </a:p>
          <a:p>
            <a:r>
              <a:rPr lang="en-US" dirty="0"/>
              <a:t>Solving problems by combining solutions to </a:t>
            </a:r>
            <a:r>
              <a:rPr lang="en-US" dirty="0" err="1"/>
              <a:t>subproblems</a:t>
            </a:r>
            <a:r>
              <a:rPr lang="en-US" dirty="0"/>
              <a:t>.</a:t>
            </a:r>
          </a:p>
          <a:p>
            <a:r>
              <a:rPr lang="en-US" dirty="0"/>
              <a:t>Bottom-up</a:t>
            </a:r>
          </a:p>
          <a:p>
            <a:pPr lvl="1"/>
            <a:r>
              <a:rPr lang="en-US" dirty="0"/>
              <a:t>We compute D(</a:t>
            </a:r>
            <a:r>
              <a:rPr lang="en-US" dirty="0" err="1"/>
              <a:t>i,j</a:t>
            </a:r>
            <a:r>
              <a:rPr lang="en-US" dirty="0"/>
              <a:t>) for small </a:t>
            </a:r>
            <a:r>
              <a:rPr lang="en-US" i="1" dirty="0" err="1"/>
              <a:t>i,j</a:t>
            </a:r>
            <a:r>
              <a:rPr lang="en-US" i="1" dirty="0"/>
              <a:t> </a:t>
            </a:r>
          </a:p>
          <a:p>
            <a:pPr lvl="1"/>
            <a:r>
              <a:rPr lang="en-US" dirty="0"/>
              <a:t>And compute larger D(</a:t>
            </a:r>
            <a:r>
              <a:rPr lang="en-US" dirty="0" err="1"/>
              <a:t>i,j</a:t>
            </a:r>
            <a:r>
              <a:rPr lang="en-US" dirty="0"/>
              <a:t>) based on previously computed smaller values</a:t>
            </a:r>
          </a:p>
          <a:p>
            <a:pPr lvl="1"/>
            <a:r>
              <a:rPr lang="en-US" dirty="0"/>
              <a:t>i.e., compute D(</a:t>
            </a:r>
            <a:r>
              <a:rPr lang="en-US" i="1" dirty="0" err="1"/>
              <a:t>i,j</a:t>
            </a:r>
            <a:r>
              <a:rPr lang="en-US" dirty="0"/>
              <a:t>) for all </a:t>
            </a:r>
            <a:r>
              <a:rPr lang="en-US" i="1" dirty="0" err="1"/>
              <a:t>i</a:t>
            </a:r>
            <a:r>
              <a:rPr lang="en-US" dirty="0"/>
              <a:t> (0 &lt; </a:t>
            </a:r>
            <a:r>
              <a:rPr lang="en-US" i="1" dirty="0" err="1"/>
              <a:t>i</a:t>
            </a:r>
            <a:r>
              <a:rPr lang="en-US" dirty="0"/>
              <a:t> &lt; n)  and</a:t>
            </a:r>
            <a:r>
              <a:rPr lang="en-US" i="1" dirty="0"/>
              <a:t> j </a:t>
            </a:r>
            <a:r>
              <a:rPr lang="en-US" dirty="0"/>
              <a:t>(0 &lt; j &lt; m)</a:t>
            </a:r>
          </a:p>
          <a:p>
            <a:endParaRPr lang="en-US" dirty="0"/>
          </a:p>
          <a:p>
            <a:endParaRPr lang="en-US" baseline="-25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72300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Min Edit Distance (</a:t>
            </a:r>
            <a:r>
              <a:rPr lang="en-US" dirty="0" err="1"/>
              <a:t>Levenshtein</a:t>
            </a:r>
            <a:r>
              <a:rPr lang="en-US" dirty="0"/>
              <a:t>)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76835" y="605075"/>
            <a:ext cx="4418012" cy="1988105"/>
          </a:xfrm>
        </p:spPr>
        <p:txBody>
          <a:bodyPr/>
          <a:lstStyle/>
          <a:p>
            <a:r>
              <a:rPr lang="en-US" sz="1008" dirty="0"/>
              <a:t>Initialization</a:t>
            </a:r>
          </a:p>
          <a:p>
            <a:pPr marL="457200" lvl="1" indent="0">
              <a:buNone/>
            </a:pPr>
            <a:r>
              <a:rPr lang="en-US" sz="907" dirty="0">
                <a:latin typeface="Courier"/>
                <a:cs typeface="Courier"/>
              </a:rPr>
              <a:t>D(i,0) = </a:t>
            </a:r>
            <a:r>
              <a:rPr lang="en-US" sz="907" dirty="0" err="1">
                <a:latin typeface="Courier"/>
                <a:cs typeface="Courier"/>
              </a:rPr>
              <a:t>i</a:t>
            </a:r>
            <a:endParaRPr lang="en-US" sz="907" dirty="0">
              <a:latin typeface="Courier"/>
              <a:cs typeface="Courier"/>
            </a:endParaRPr>
          </a:p>
          <a:p>
            <a:pPr marL="457200" lvl="1" indent="0" algn="just">
              <a:buNone/>
            </a:pPr>
            <a:r>
              <a:rPr lang="en-US" sz="907" dirty="0">
                <a:latin typeface="Courier"/>
                <a:cs typeface="Courier"/>
              </a:rPr>
              <a:t>D(0,j) = j</a:t>
            </a:r>
            <a:endParaRPr lang="en-US" sz="907" i="1" dirty="0"/>
          </a:p>
          <a:p>
            <a:pPr algn="just"/>
            <a:r>
              <a:rPr lang="en-US" sz="1008" dirty="0"/>
              <a:t>Recurrence Relation</a:t>
            </a:r>
            <a:r>
              <a:rPr lang="en-US" sz="1008" i="1" dirty="0"/>
              <a:t>:</a:t>
            </a:r>
          </a:p>
          <a:p>
            <a:pPr marL="457200" lvl="1" indent="0">
              <a:lnSpc>
                <a:spcPct val="80000"/>
              </a:lnSpc>
              <a:buClr>
                <a:srgbClr val="000066"/>
              </a:buClr>
              <a:buNone/>
            </a:pPr>
            <a:r>
              <a:rPr lang="en-US" sz="907" dirty="0">
                <a:latin typeface="Courier"/>
                <a:cs typeface="Courier"/>
              </a:rPr>
              <a:t>For each  </a:t>
            </a:r>
            <a:r>
              <a:rPr lang="en-US" sz="907" dirty="0" err="1">
                <a:latin typeface="Courier"/>
                <a:cs typeface="Courier"/>
              </a:rPr>
              <a:t>i</a:t>
            </a:r>
            <a:r>
              <a:rPr lang="en-US" sz="907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907" dirty="0">
                <a:latin typeface="Courier"/>
                <a:cs typeface="Courier"/>
              </a:rPr>
              <a:t>	  For each  j = 1…N</a:t>
            </a:r>
            <a:endParaRPr lang="en-US" sz="1008" i="1" dirty="0"/>
          </a:p>
          <a:p>
            <a:pPr lvl="1" algn="just">
              <a:buFont typeface="Wingdings" charset="2"/>
              <a:buNone/>
            </a:pPr>
            <a:r>
              <a:rPr lang="en-US" sz="907" i="1" dirty="0">
                <a:latin typeface="Courier"/>
                <a:cs typeface="Courier"/>
              </a:rPr>
              <a:t>                       </a:t>
            </a:r>
            <a:r>
              <a:rPr lang="en-US" sz="907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907" dirty="0">
                <a:latin typeface="Courier"/>
                <a:cs typeface="Courier"/>
              </a:rPr>
              <a:t>          D(</a:t>
            </a:r>
            <a:r>
              <a:rPr lang="en-US" sz="907" dirty="0" err="1">
                <a:latin typeface="Courier"/>
                <a:cs typeface="Courier"/>
              </a:rPr>
              <a:t>i,j</a:t>
            </a:r>
            <a:r>
              <a:rPr lang="en-US" sz="907" dirty="0">
                <a:latin typeface="Courier"/>
                <a:cs typeface="Courier"/>
              </a:rPr>
              <a:t>)= min  D(i,j-1) + 1</a:t>
            </a:r>
          </a:p>
          <a:p>
            <a:pPr lvl="1" algn="just">
              <a:buFont typeface="Wingdings" charset="2"/>
              <a:buNone/>
            </a:pPr>
            <a:r>
              <a:rPr lang="en-US" sz="907" dirty="0">
                <a:latin typeface="Courier"/>
                <a:cs typeface="Courier"/>
              </a:rPr>
              <a:t>                       D(i-1,j-1) +   2; if X(</a:t>
            </a:r>
            <a:r>
              <a:rPr lang="en-US" sz="907" dirty="0" err="1">
                <a:latin typeface="Courier"/>
                <a:cs typeface="Courier"/>
              </a:rPr>
              <a:t>i</a:t>
            </a:r>
            <a:r>
              <a:rPr lang="en-US" sz="907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907" dirty="0">
                <a:latin typeface="Courier"/>
                <a:cs typeface="Courier"/>
              </a:rPr>
              <a:t>                                      0; if X(</a:t>
            </a:r>
            <a:r>
              <a:rPr lang="en-US" sz="907" dirty="0" err="1">
                <a:latin typeface="Courier"/>
                <a:cs typeface="Courier"/>
              </a:rPr>
              <a:t>i</a:t>
            </a:r>
            <a:r>
              <a:rPr lang="en-US" sz="907" dirty="0">
                <a:latin typeface="Courier"/>
                <a:cs typeface="Courier"/>
              </a:rPr>
              <a:t>) = Y(j)</a:t>
            </a:r>
          </a:p>
          <a:p>
            <a:pPr algn="just">
              <a:lnSpc>
                <a:spcPct val="70000"/>
              </a:lnSpc>
            </a:pPr>
            <a:r>
              <a:rPr lang="en-US" sz="1008" dirty="0"/>
              <a:t>Termination</a:t>
            </a:r>
            <a:r>
              <a:rPr lang="en-US" sz="1008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sz="907" dirty="0">
                <a:latin typeface="Courier"/>
                <a:cs typeface="Courier"/>
              </a:rPr>
              <a:t>D(N,M) is distance </a:t>
            </a:r>
          </a:p>
          <a:p>
            <a:pPr lvl="1" algn="just">
              <a:buFont typeface="Wingdings" charset="2"/>
              <a:buNone/>
            </a:pPr>
            <a:endParaRPr lang="en-US" sz="1411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1805622" y="1603930"/>
            <a:ext cx="115252" cy="499427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3150235" y="1911270"/>
            <a:ext cx="38417" cy="336153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>
              <a:solidFill>
                <a:srgbClr val="000066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9567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537845" y="621883"/>
          <a:ext cx="3495985" cy="2051387"/>
        </p:xfrm>
        <a:graphic>
          <a:graphicData uri="http://schemas.openxmlformats.org/drawingml/2006/table">
            <a:tbl>
              <a:tblPr/>
              <a:tblGrid>
                <a:gridCol w="31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97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Edit Distance Table</a:t>
            </a:r>
          </a:p>
        </p:txBody>
      </p:sp>
    </p:spTree>
    <p:extLst>
      <p:ext uri="{BB962C8B-B14F-4D97-AF65-F5344CB8AC3E}">
        <p14:creationId xmlns:p14="http://schemas.microsoft.com/office/powerpoint/2010/main" val="137603730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9954" name="Group 2"/>
          <p:cNvGraphicFramePr>
            <a:graphicFrameLocks noGrp="1"/>
          </p:cNvGraphicFramePr>
          <p:nvPr/>
        </p:nvGraphicFramePr>
        <p:xfrm>
          <a:off x="499427" y="518636"/>
          <a:ext cx="3495985" cy="2281897"/>
        </p:xfrm>
        <a:graphic>
          <a:graphicData uri="http://schemas.openxmlformats.org/drawingml/2006/table">
            <a:tbl>
              <a:tblPr/>
              <a:tblGrid>
                <a:gridCol w="31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97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287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907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907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6164" name="Line 149"/>
          <p:cNvSpPr>
            <a:spLocks noChangeShapeType="1"/>
          </p:cNvSpPr>
          <p:nvPr/>
        </p:nvSpPr>
        <p:spPr bwMode="auto">
          <a:xfrm flipH="1">
            <a:off x="1267777" y="1555908"/>
            <a:ext cx="230505" cy="489823"/>
          </a:xfrm>
          <a:prstGeom prst="line">
            <a:avLst/>
          </a:prstGeom>
          <a:noFill/>
          <a:ln w="50800">
            <a:solidFill>
              <a:srgbClr val="A50021"/>
            </a:solidFill>
            <a:round/>
            <a:headEnd/>
            <a:tailEnd type="triangle" w="med" len="med"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67777" y="835580"/>
            <a:ext cx="2158802" cy="6378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2"/>
          <p:cNvSpPr txBox="1">
            <a:spLocks/>
          </p:cNvSpPr>
          <p:nvPr/>
        </p:nvSpPr>
        <p:spPr>
          <a:xfrm>
            <a:off x="691515" y="192087"/>
            <a:ext cx="3764915" cy="37457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613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918028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537845" y="621883"/>
          <a:ext cx="3495985" cy="2051387"/>
        </p:xfrm>
        <a:graphic>
          <a:graphicData uri="http://schemas.openxmlformats.org/drawingml/2006/table">
            <a:tbl>
              <a:tblPr/>
              <a:tblGrid>
                <a:gridCol w="31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97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691515" y="144065"/>
            <a:ext cx="3764915" cy="37457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7710" y="13207"/>
            <a:ext cx="1898771" cy="5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0662530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002" name="Group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1024933"/>
              </p:ext>
            </p:extLst>
          </p:nvPr>
        </p:nvGraphicFramePr>
        <p:xfrm>
          <a:off x="614680" y="681910"/>
          <a:ext cx="3495985" cy="2021459"/>
        </p:xfrm>
        <a:graphic>
          <a:graphicData uri="http://schemas.openxmlformats.org/drawingml/2006/table">
            <a:tbl>
              <a:tblPr/>
              <a:tblGrid>
                <a:gridCol w="31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1891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3670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Title 2"/>
          <p:cNvSpPr txBox="1">
            <a:spLocks/>
          </p:cNvSpPr>
          <p:nvPr/>
        </p:nvSpPr>
        <p:spPr>
          <a:xfrm>
            <a:off x="691515" y="192087"/>
            <a:ext cx="3764915" cy="374570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1613" b="1">
                <a:solidFill>
                  <a:schemeClr val="tx1"/>
                </a:solidFill>
                <a:latin typeface="+mj-lt"/>
                <a:ea typeface="ＭＳ Ｐゴシック" pitchFamily="-65" charset="-128"/>
                <a:cs typeface="ＭＳ Ｐゴシック" pitchFamily="-65" charset="-128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  <a:ea typeface="ＭＳ Ｐゴシック" pitchFamily="-65" charset="-128"/>
                <a:cs typeface="ＭＳ Ｐゴシック" pitchFamily="-65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1815">
                <a:solidFill>
                  <a:schemeClr val="tx1"/>
                </a:solidFill>
                <a:latin typeface="Lucida Sans" pitchFamily="-65" charset="0"/>
              </a:defRPr>
            </a:lvl9pPr>
          </a:lstStyle>
          <a:p>
            <a:r>
              <a:rPr lang="en-US"/>
              <a:t>The Edit Distance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436032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Computing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2677381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 err="1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313107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alignments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Edit distance isn’t sufficient</a:t>
            </a:r>
          </a:p>
          <a:p>
            <a:pPr lvl="1"/>
            <a:r>
              <a:rPr lang="en-US" dirty="0"/>
              <a:t>We often need to </a:t>
            </a:r>
            <a:r>
              <a:rPr lang="en-US" b="1" dirty="0"/>
              <a:t>align</a:t>
            </a:r>
            <a:r>
              <a:rPr lang="en-US" dirty="0"/>
              <a:t> each character of the two strings to each other</a:t>
            </a:r>
          </a:p>
          <a:p>
            <a:r>
              <a:rPr lang="en-US" dirty="0"/>
              <a:t>We do this by keeping a “</a:t>
            </a:r>
            <a:r>
              <a:rPr lang="en-US" dirty="0" err="1"/>
              <a:t>backtrace</a:t>
            </a:r>
            <a:r>
              <a:rPr lang="en-US" dirty="0"/>
              <a:t>”</a:t>
            </a:r>
          </a:p>
          <a:p>
            <a:r>
              <a:rPr lang="en-US" dirty="0"/>
              <a:t>Every time we enter a cell, remember where we came from</a:t>
            </a:r>
          </a:p>
          <a:p>
            <a:r>
              <a:rPr lang="en-US" dirty="0"/>
              <a:t>When we reach the end, </a:t>
            </a:r>
          </a:p>
          <a:p>
            <a:pPr lvl="1"/>
            <a:r>
              <a:rPr lang="en-US" dirty="0"/>
              <a:t>Trace back the path from the upper right corner to read off the alignment</a:t>
            </a:r>
          </a:p>
        </p:txBody>
      </p:sp>
    </p:spTree>
    <p:extLst>
      <p:ext uri="{BB962C8B-B14F-4D97-AF65-F5344CB8AC3E}">
        <p14:creationId xmlns:p14="http://schemas.microsoft.com/office/powerpoint/2010/main" val="61804406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7906" name="Group 2"/>
          <p:cNvGraphicFramePr>
            <a:graphicFrameLocks noGrp="1"/>
          </p:cNvGraphicFramePr>
          <p:nvPr/>
        </p:nvGraphicFramePr>
        <p:xfrm>
          <a:off x="537845" y="621883"/>
          <a:ext cx="3495985" cy="2051387"/>
        </p:xfrm>
        <a:graphic>
          <a:graphicData uri="http://schemas.openxmlformats.org/drawingml/2006/table">
            <a:tbl>
              <a:tblPr/>
              <a:tblGrid>
                <a:gridCol w="317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18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1774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1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697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1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0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1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2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3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4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5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6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7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8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9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828"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endParaRPr kumimoji="0" lang="en-US" sz="756" b="0" i="0" u="none" strike="noStrike" cap="none" normalizeH="0" baseline="0">
                        <a:ln>
                          <a:noFill/>
                        </a:ln>
                        <a:solidFill>
                          <a:srgbClr val="5400A8"/>
                        </a:solidFill>
                        <a:effectLst/>
                        <a:latin typeface="Tahoma" charset="0"/>
                        <a:ea typeface="ＭＳ Ｐゴシック" charset="-128"/>
                        <a:cs typeface="ＭＳ Ｐゴシック" charset="-128"/>
                      </a:endParaRP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#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X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E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C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U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T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I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O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6101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 typeface="Wingdings" charset="2"/>
                        <a:buNone/>
                        <a:tabLst/>
                      </a:pPr>
                      <a:r>
                        <a:rPr kumimoji="0" lang="en-US" sz="756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5400A8"/>
                          </a:solidFill>
                          <a:effectLst/>
                          <a:latin typeface="Tahoma" charset="0"/>
                          <a:ea typeface="ＭＳ Ｐゴシック" charset="-128"/>
                          <a:cs typeface="ＭＳ Ｐゴシック" charset="-128"/>
                        </a:rPr>
                        <a:t>N</a:t>
                      </a:r>
                    </a:p>
                  </a:txBody>
                  <a:tcPr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4116" name="Title 2"/>
          <p:cNvSpPr>
            <a:spLocks noGrp="1"/>
          </p:cNvSpPr>
          <p:nvPr>
            <p:ph type="title"/>
          </p:nvPr>
        </p:nvSpPr>
        <p:spPr>
          <a:xfrm>
            <a:off x="691515" y="144065"/>
            <a:ext cx="3764915" cy="374570"/>
          </a:xfrm>
        </p:spPr>
        <p:txBody>
          <a:bodyPr/>
          <a:lstStyle/>
          <a:p>
            <a:r>
              <a:rPr lang="en-US" dirty="0"/>
              <a:t>Edit Distance</a:t>
            </a:r>
          </a:p>
        </p:txBody>
      </p:sp>
      <p:pic>
        <p:nvPicPr>
          <p:cNvPr id="5" name="Picture 5" descr="rec2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97710" y="13207"/>
            <a:ext cx="1898771" cy="56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51942273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MinEdit with Backtrace</a:t>
            </a:r>
          </a:p>
        </p:txBody>
      </p:sp>
      <p:pic>
        <p:nvPicPr>
          <p:cNvPr id="7" name="Picture 5" descr="minedit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505" y="720328"/>
            <a:ext cx="4149090" cy="1655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81132249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>
          <a:xfrm>
            <a:off x="691515" y="0"/>
            <a:ext cx="3880167" cy="374570"/>
          </a:xfrm>
        </p:spPr>
        <p:txBody>
          <a:bodyPr/>
          <a:lstStyle/>
          <a:p>
            <a:r>
              <a:rPr lang="en-US" dirty="0"/>
              <a:t>Adding </a:t>
            </a:r>
            <a:r>
              <a:rPr lang="en-US" dirty="0" err="1"/>
              <a:t>Backtrace</a:t>
            </a:r>
            <a:r>
              <a:rPr lang="en-US" dirty="0"/>
              <a:t> to Minimum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76835" y="605075"/>
            <a:ext cx="4418012" cy="1988105"/>
          </a:xfrm>
        </p:spPr>
        <p:txBody>
          <a:bodyPr/>
          <a:lstStyle/>
          <a:p>
            <a:r>
              <a:rPr lang="en-US" sz="907" dirty="0"/>
              <a:t>Base conditions:                                                        Termination:</a:t>
            </a:r>
          </a:p>
          <a:p>
            <a:pPr marL="457200" lvl="1" indent="0">
              <a:buNone/>
            </a:pPr>
            <a:r>
              <a:rPr lang="en-US" sz="806" dirty="0">
                <a:latin typeface="Courier"/>
                <a:cs typeface="Courier"/>
              </a:rPr>
              <a:t>D(i,0) = </a:t>
            </a:r>
            <a:r>
              <a:rPr lang="en-US" sz="806" dirty="0" err="1">
                <a:latin typeface="Courier"/>
                <a:cs typeface="Courier"/>
              </a:rPr>
              <a:t>i</a:t>
            </a:r>
            <a:r>
              <a:rPr lang="en-US" sz="806" dirty="0">
                <a:latin typeface="Courier"/>
                <a:cs typeface="Courier"/>
              </a:rPr>
              <a:t>         D(0,j) = j         D(N,M) is distance </a:t>
            </a:r>
            <a:endParaRPr lang="en-US" sz="907" i="1" dirty="0"/>
          </a:p>
          <a:p>
            <a:pPr algn="just"/>
            <a:r>
              <a:rPr lang="en-US" sz="907" dirty="0"/>
              <a:t>Recurrence Relation</a:t>
            </a:r>
            <a:r>
              <a:rPr lang="en-US" sz="907" i="1" dirty="0"/>
              <a:t>:</a:t>
            </a:r>
            <a:endParaRPr lang="en-US" sz="806" i="1" dirty="0"/>
          </a:p>
          <a:p>
            <a:pPr marL="457200" lvl="1" indent="0">
              <a:buClr>
                <a:srgbClr val="000066"/>
              </a:buClr>
              <a:buNone/>
            </a:pPr>
            <a:r>
              <a:rPr lang="en-US" sz="806" dirty="0">
                <a:latin typeface="Courier"/>
                <a:cs typeface="Courier"/>
              </a:rPr>
              <a:t>For each  </a:t>
            </a:r>
            <a:r>
              <a:rPr lang="en-US" sz="806" dirty="0" err="1">
                <a:latin typeface="Courier"/>
                <a:cs typeface="Courier"/>
              </a:rPr>
              <a:t>i</a:t>
            </a:r>
            <a:r>
              <a:rPr lang="en-US" sz="806" dirty="0">
                <a:latin typeface="Courier"/>
                <a:cs typeface="Courier"/>
              </a:rPr>
              <a:t> = 1…M</a:t>
            </a:r>
          </a:p>
          <a:p>
            <a:pPr marL="990600" lvl="1" indent="-533400">
              <a:lnSpc>
                <a:spcPct val="80000"/>
              </a:lnSpc>
              <a:buClr>
                <a:srgbClr val="000066"/>
              </a:buClr>
              <a:buFontTx/>
              <a:buNone/>
            </a:pPr>
            <a:r>
              <a:rPr lang="en-US" sz="806" dirty="0">
                <a:latin typeface="Courier"/>
                <a:cs typeface="Courier"/>
              </a:rPr>
              <a:t>	 For each  j = 1…N</a:t>
            </a:r>
            <a:endParaRPr lang="en-US" sz="907" i="1" dirty="0"/>
          </a:p>
          <a:p>
            <a:pPr lvl="1" algn="just">
              <a:lnSpc>
                <a:spcPct val="130000"/>
              </a:lnSpc>
              <a:buFont typeface="Wingdings" charset="2"/>
              <a:buNone/>
            </a:pPr>
            <a:r>
              <a:rPr lang="en-US" sz="806" i="1" dirty="0">
                <a:latin typeface="Courier"/>
                <a:cs typeface="Courier"/>
              </a:rPr>
              <a:t>                      </a:t>
            </a:r>
            <a:r>
              <a:rPr lang="en-US" sz="806" dirty="0">
                <a:latin typeface="Courier"/>
                <a:cs typeface="Courier"/>
              </a:rPr>
              <a:t>D(i-1,j) + 1</a:t>
            </a:r>
          </a:p>
          <a:p>
            <a:pPr marL="457200" lvl="1" indent="0" algn="just">
              <a:buNone/>
            </a:pPr>
            <a:r>
              <a:rPr lang="en-US" sz="806" dirty="0">
                <a:latin typeface="Courier"/>
                <a:cs typeface="Courier"/>
              </a:rPr>
              <a:t>         D(</a:t>
            </a:r>
            <a:r>
              <a:rPr lang="en-US" sz="806" dirty="0" err="1">
                <a:latin typeface="Courier"/>
                <a:cs typeface="Courier"/>
              </a:rPr>
              <a:t>i,j</a:t>
            </a:r>
            <a:r>
              <a:rPr lang="en-US" sz="806" dirty="0">
                <a:latin typeface="Courier"/>
                <a:cs typeface="Courier"/>
              </a:rPr>
              <a:t>)= min  D(i,j-1) + 1</a:t>
            </a:r>
          </a:p>
          <a:p>
            <a:pPr lvl="1" algn="just">
              <a:buFont typeface="Wingdings" charset="2"/>
              <a:buNone/>
            </a:pPr>
            <a:r>
              <a:rPr lang="en-US" sz="806" dirty="0">
                <a:latin typeface="Courier"/>
                <a:cs typeface="Courier"/>
              </a:rPr>
              <a:t>                      D(i-1,j-1) +  2; if X(</a:t>
            </a:r>
            <a:r>
              <a:rPr lang="en-US" sz="806" dirty="0" err="1">
                <a:latin typeface="Courier"/>
                <a:cs typeface="Courier"/>
              </a:rPr>
              <a:t>i</a:t>
            </a:r>
            <a:r>
              <a:rPr lang="en-US" sz="806" dirty="0">
                <a:latin typeface="Courier"/>
                <a:cs typeface="Courier"/>
              </a:rPr>
              <a:t>) ≠ Y(j)   </a:t>
            </a:r>
          </a:p>
          <a:p>
            <a:pPr lvl="1" algn="just">
              <a:buFont typeface="Wingdings" charset="2"/>
              <a:buNone/>
            </a:pPr>
            <a:r>
              <a:rPr lang="en-US" sz="806" dirty="0">
                <a:latin typeface="Courier"/>
                <a:cs typeface="Courier"/>
              </a:rPr>
              <a:t>                                    0; if X(</a:t>
            </a:r>
            <a:r>
              <a:rPr lang="en-US" sz="806" dirty="0" err="1">
                <a:latin typeface="Courier"/>
                <a:cs typeface="Courier"/>
              </a:rPr>
              <a:t>i</a:t>
            </a:r>
            <a:r>
              <a:rPr lang="en-US" sz="806" dirty="0">
                <a:latin typeface="Courier"/>
                <a:cs typeface="Courier"/>
              </a:rPr>
              <a:t>) = Y(j)</a:t>
            </a:r>
          </a:p>
          <a:p>
            <a:pPr lvl="1" algn="just">
              <a:buFont typeface="Wingdings" charset="2"/>
              <a:buNone/>
            </a:pPr>
            <a:r>
              <a:rPr lang="en-US" sz="806" dirty="0">
                <a:latin typeface="Courier"/>
                <a:cs typeface="Courier"/>
              </a:rPr>
              <a:t>                     LEFT</a:t>
            </a:r>
          </a:p>
          <a:p>
            <a:pPr lvl="1" algn="just">
              <a:buFont typeface="Wingdings" charset="2"/>
              <a:buNone/>
            </a:pPr>
            <a:r>
              <a:rPr lang="en-US" sz="806" dirty="0">
                <a:latin typeface="Courier"/>
                <a:cs typeface="Courier"/>
              </a:rPr>
              <a:t>         </a:t>
            </a:r>
            <a:r>
              <a:rPr lang="en-US" sz="806" dirty="0" err="1">
                <a:latin typeface="Courier"/>
                <a:cs typeface="Courier"/>
              </a:rPr>
              <a:t>ptr</a:t>
            </a:r>
            <a:r>
              <a:rPr lang="en-US" sz="806" dirty="0">
                <a:latin typeface="Courier"/>
                <a:cs typeface="Courier"/>
              </a:rPr>
              <a:t>(</a:t>
            </a:r>
            <a:r>
              <a:rPr lang="en-US" sz="806" dirty="0" err="1">
                <a:latin typeface="Courier"/>
                <a:cs typeface="Courier"/>
              </a:rPr>
              <a:t>i,j</a:t>
            </a:r>
            <a:r>
              <a:rPr lang="en-US" sz="806" dirty="0">
                <a:latin typeface="Courier"/>
                <a:cs typeface="Courier"/>
              </a:rPr>
              <a:t>)=   DOWN</a:t>
            </a:r>
          </a:p>
          <a:p>
            <a:pPr lvl="1" algn="just">
              <a:buFont typeface="Wingdings" charset="2"/>
              <a:buNone/>
            </a:pPr>
            <a:r>
              <a:rPr lang="en-US" sz="806" dirty="0">
                <a:latin typeface="Courier"/>
                <a:cs typeface="Courier"/>
              </a:rPr>
              <a:t>                     DIAG</a:t>
            </a:r>
          </a:p>
          <a:p>
            <a:pPr lvl="1" algn="just">
              <a:buFont typeface="Wingdings" charset="2"/>
              <a:buNone/>
            </a:pPr>
            <a:endParaRPr lang="en-US" sz="806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1613535" y="1373425"/>
            <a:ext cx="115252" cy="499427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 dirty="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10" name="AutoShape 5"/>
          <p:cNvSpPr>
            <a:spLocks/>
          </p:cNvSpPr>
          <p:nvPr/>
        </p:nvSpPr>
        <p:spPr bwMode="auto">
          <a:xfrm>
            <a:off x="2689225" y="1690370"/>
            <a:ext cx="38417" cy="336153"/>
          </a:xfrm>
          <a:prstGeom prst="leftBrace">
            <a:avLst>
              <a:gd name="adj1" fmla="val 37495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6" name="AutoShape 5"/>
          <p:cNvSpPr>
            <a:spLocks/>
          </p:cNvSpPr>
          <p:nvPr/>
        </p:nvSpPr>
        <p:spPr bwMode="auto">
          <a:xfrm>
            <a:off x="1536700" y="1949688"/>
            <a:ext cx="115252" cy="499427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>
              <a:solidFill>
                <a:srgbClr val="000066"/>
              </a:solidFill>
              <a:latin typeface="Times New Roman" charset="0"/>
            </a:endParaRPr>
          </a:p>
        </p:txBody>
      </p:sp>
      <p:sp>
        <p:nvSpPr>
          <p:cNvPr id="7" name="TextBox 15"/>
          <p:cNvSpPr txBox="1">
            <a:spLocks noChangeArrowheads="1"/>
          </p:cNvSpPr>
          <p:nvPr/>
        </p:nvSpPr>
        <p:spPr bwMode="auto">
          <a:xfrm>
            <a:off x="1997710" y="1988105"/>
            <a:ext cx="419146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8" name="TextBox 16"/>
          <p:cNvSpPr txBox="1">
            <a:spLocks noChangeArrowheads="1"/>
          </p:cNvSpPr>
          <p:nvPr/>
        </p:nvSpPr>
        <p:spPr bwMode="auto">
          <a:xfrm>
            <a:off x="1997710" y="2141775"/>
            <a:ext cx="397224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1" name="TextBox 17"/>
          <p:cNvSpPr txBox="1">
            <a:spLocks noChangeArrowheads="1"/>
          </p:cNvSpPr>
          <p:nvPr/>
        </p:nvSpPr>
        <p:spPr bwMode="auto">
          <a:xfrm>
            <a:off x="1997710" y="2295445"/>
            <a:ext cx="537845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substitution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2769505" y="1565513"/>
            <a:ext cx="419146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insertion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2766060" y="1408131"/>
            <a:ext cx="397224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deletion</a:t>
            </a:r>
          </a:p>
        </p:txBody>
      </p:sp>
      <p:sp>
        <p:nvSpPr>
          <p:cNvPr id="14" name="TextBox 17"/>
          <p:cNvSpPr txBox="1">
            <a:spLocks noChangeArrowheads="1"/>
          </p:cNvSpPr>
          <p:nvPr/>
        </p:nvSpPr>
        <p:spPr bwMode="auto">
          <a:xfrm>
            <a:off x="3726497" y="1715471"/>
            <a:ext cx="537845" cy="118964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>
              <a:lnSpc>
                <a:spcPct val="60000"/>
              </a:lnSpc>
            </a:pPr>
            <a:r>
              <a:rPr lang="en-US" sz="705" dirty="0">
                <a:latin typeface="Calibri"/>
                <a:cs typeface="Calibri"/>
              </a:rPr>
              <a:t>substitution</a:t>
            </a:r>
          </a:p>
        </p:txBody>
      </p:sp>
    </p:spTree>
    <p:extLst>
      <p:ext uri="{BB962C8B-B14F-4D97-AF65-F5344CB8AC3E}">
        <p14:creationId xmlns:p14="http://schemas.microsoft.com/office/powerpoint/2010/main" val="2522550953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883602" y="0"/>
            <a:ext cx="3918585" cy="432196"/>
          </a:xfrm>
        </p:spPr>
        <p:txBody>
          <a:bodyPr/>
          <a:lstStyle/>
          <a:p>
            <a:r>
              <a:rPr lang="en-US" dirty="0"/>
              <a:t>The Distance Matrix</a:t>
            </a:r>
          </a:p>
        </p:txBody>
      </p:sp>
      <p:sp>
        <p:nvSpPr>
          <p:cNvPr id="120921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5252" y="2420302"/>
            <a:ext cx="1651952" cy="172878"/>
          </a:xfrm>
          <a:noFill/>
        </p:spPr>
        <p:txBody>
          <a:bodyPr/>
          <a:lstStyle/>
          <a:p>
            <a:r>
              <a:rPr lang="en-US" dirty="0"/>
              <a:t>Slide adapted from </a:t>
            </a:r>
            <a:r>
              <a:rPr lang="en-US" dirty="0" err="1"/>
              <a:t>Serafim</a:t>
            </a:r>
            <a:r>
              <a:rPr lang="en-US" dirty="0"/>
              <a:t> </a:t>
            </a:r>
            <a:r>
              <a:rPr lang="en-US" dirty="0" err="1"/>
              <a:t>Batzoglou</a:t>
            </a:r>
            <a:endParaRPr lang="en-US" dirty="0"/>
          </a:p>
        </p:txBody>
      </p:sp>
      <p:sp>
        <p:nvSpPr>
          <p:cNvPr id="120835" name="Rectangle 3"/>
          <p:cNvSpPr>
            <a:spLocks noChangeArrowheads="1"/>
          </p:cNvSpPr>
          <p:nvPr/>
        </p:nvSpPr>
        <p:spPr bwMode="auto">
          <a:xfrm>
            <a:off x="619482" y="728732"/>
            <a:ext cx="1920875" cy="1411843"/>
          </a:xfrm>
          <a:prstGeom prst="rect">
            <a:avLst/>
          </a:prstGeom>
          <a:noFill/>
          <a:ln w="19050">
            <a:solidFill>
              <a:schemeClr val="bg2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6" name="Line 4"/>
          <p:cNvSpPr>
            <a:spLocks noChangeShapeType="1"/>
          </p:cNvSpPr>
          <p:nvPr/>
        </p:nvSpPr>
        <p:spPr bwMode="auto">
          <a:xfrm>
            <a:off x="619482" y="209675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7" name="Line 5"/>
          <p:cNvSpPr>
            <a:spLocks noChangeShapeType="1"/>
          </p:cNvSpPr>
          <p:nvPr/>
        </p:nvSpPr>
        <p:spPr bwMode="auto">
          <a:xfrm>
            <a:off x="621883" y="2059538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8" name="Line 6"/>
          <p:cNvSpPr>
            <a:spLocks noChangeShapeType="1"/>
          </p:cNvSpPr>
          <p:nvPr/>
        </p:nvSpPr>
        <p:spPr bwMode="auto">
          <a:xfrm>
            <a:off x="621883" y="2025322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39" name="Line 7"/>
          <p:cNvSpPr>
            <a:spLocks noChangeShapeType="1"/>
          </p:cNvSpPr>
          <p:nvPr/>
        </p:nvSpPr>
        <p:spPr bwMode="auto">
          <a:xfrm>
            <a:off x="619482" y="199110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0" name="Line 8"/>
          <p:cNvSpPr>
            <a:spLocks noChangeShapeType="1"/>
          </p:cNvSpPr>
          <p:nvPr/>
        </p:nvSpPr>
        <p:spPr bwMode="auto">
          <a:xfrm>
            <a:off x="621883" y="1958692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1" name="Line 9"/>
          <p:cNvSpPr>
            <a:spLocks noChangeShapeType="1"/>
          </p:cNvSpPr>
          <p:nvPr/>
        </p:nvSpPr>
        <p:spPr bwMode="auto">
          <a:xfrm>
            <a:off x="619482" y="192147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2" name="Line 10"/>
          <p:cNvSpPr>
            <a:spLocks noChangeShapeType="1"/>
          </p:cNvSpPr>
          <p:nvPr/>
        </p:nvSpPr>
        <p:spPr bwMode="auto">
          <a:xfrm>
            <a:off x="614680" y="1887259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3" name="Line 11"/>
          <p:cNvSpPr>
            <a:spLocks noChangeShapeType="1"/>
          </p:cNvSpPr>
          <p:nvPr/>
        </p:nvSpPr>
        <p:spPr bwMode="auto">
          <a:xfrm>
            <a:off x="621883" y="1853044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4" name="Line 12"/>
          <p:cNvSpPr>
            <a:spLocks noChangeShapeType="1"/>
          </p:cNvSpPr>
          <p:nvPr/>
        </p:nvSpPr>
        <p:spPr bwMode="auto">
          <a:xfrm>
            <a:off x="621883" y="181582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5" name="Line 13"/>
          <p:cNvSpPr>
            <a:spLocks noChangeShapeType="1"/>
          </p:cNvSpPr>
          <p:nvPr/>
        </p:nvSpPr>
        <p:spPr bwMode="auto">
          <a:xfrm>
            <a:off x="619482" y="1778610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6" name="Line 14"/>
          <p:cNvSpPr>
            <a:spLocks noChangeShapeType="1"/>
          </p:cNvSpPr>
          <p:nvPr/>
        </p:nvSpPr>
        <p:spPr bwMode="auto">
          <a:xfrm>
            <a:off x="619482" y="1744394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7" name="Line 15"/>
          <p:cNvSpPr>
            <a:spLocks noChangeShapeType="1"/>
          </p:cNvSpPr>
          <p:nvPr/>
        </p:nvSpPr>
        <p:spPr bwMode="auto">
          <a:xfrm>
            <a:off x="621883" y="1710179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8" name="Line 16"/>
          <p:cNvSpPr>
            <a:spLocks noChangeShapeType="1"/>
          </p:cNvSpPr>
          <p:nvPr/>
        </p:nvSpPr>
        <p:spPr bwMode="auto">
          <a:xfrm>
            <a:off x="615480" y="1677764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49" name="Line 17"/>
          <p:cNvSpPr>
            <a:spLocks noChangeShapeType="1"/>
          </p:cNvSpPr>
          <p:nvPr/>
        </p:nvSpPr>
        <p:spPr bwMode="auto">
          <a:xfrm>
            <a:off x="621883" y="164054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0" name="Line 18"/>
          <p:cNvSpPr>
            <a:spLocks noChangeShapeType="1"/>
          </p:cNvSpPr>
          <p:nvPr/>
        </p:nvSpPr>
        <p:spPr bwMode="auto">
          <a:xfrm>
            <a:off x="617081" y="1606331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1" name="Line 19"/>
          <p:cNvSpPr>
            <a:spLocks noChangeShapeType="1"/>
          </p:cNvSpPr>
          <p:nvPr/>
        </p:nvSpPr>
        <p:spPr bwMode="auto">
          <a:xfrm>
            <a:off x="624284" y="1572116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2" name="Line 20"/>
          <p:cNvSpPr>
            <a:spLocks noChangeShapeType="1"/>
          </p:cNvSpPr>
          <p:nvPr/>
        </p:nvSpPr>
        <p:spPr bwMode="auto">
          <a:xfrm>
            <a:off x="621883" y="1533098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3" name="Line 21"/>
          <p:cNvSpPr>
            <a:spLocks noChangeShapeType="1"/>
          </p:cNvSpPr>
          <p:nvPr/>
        </p:nvSpPr>
        <p:spPr bwMode="auto">
          <a:xfrm>
            <a:off x="624284" y="1495881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4" name="Line 22"/>
          <p:cNvSpPr>
            <a:spLocks noChangeShapeType="1"/>
          </p:cNvSpPr>
          <p:nvPr/>
        </p:nvSpPr>
        <p:spPr bwMode="auto">
          <a:xfrm>
            <a:off x="624284" y="146166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5" name="Line 23"/>
          <p:cNvSpPr>
            <a:spLocks noChangeShapeType="1"/>
          </p:cNvSpPr>
          <p:nvPr/>
        </p:nvSpPr>
        <p:spPr bwMode="auto">
          <a:xfrm>
            <a:off x="621883" y="1427450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6" name="Line 24"/>
          <p:cNvSpPr>
            <a:spLocks noChangeShapeType="1"/>
          </p:cNvSpPr>
          <p:nvPr/>
        </p:nvSpPr>
        <p:spPr bwMode="auto">
          <a:xfrm>
            <a:off x="624284" y="139503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7" name="Line 25"/>
          <p:cNvSpPr>
            <a:spLocks noChangeShapeType="1"/>
          </p:cNvSpPr>
          <p:nvPr/>
        </p:nvSpPr>
        <p:spPr bwMode="auto">
          <a:xfrm>
            <a:off x="621883" y="1357818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8" name="Line 26"/>
          <p:cNvSpPr>
            <a:spLocks noChangeShapeType="1"/>
          </p:cNvSpPr>
          <p:nvPr/>
        </p:nvSpPr>
        <p:spPr bwMode="auto">
          <a:xfrm>
            <a:off x="617081" y="1323603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59" name="Line 27"/>
          <p:cNvSpPr>
            <a:spLocks noChangeShapeType="1"/>
          </p:cNvSpPr>
          <p:nvPr/>
        </p:nvSpPr>
        <p:spPr bwMode="auto">
          <a:xfrm>
            <a:off x="619482" y="128938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0" name="Line 28"/>
          <p:cNvSpPr>
            <a:spLocks noChangeShapeType="1"/>
          </p:cNvSpPr>
          <p:nvPr/>
        </p:nvSpPr>
        <p:spPr bwMode="auto">
          <a:xfrm>
            <a:off x="615480" y="1255772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1" name="Line 29"/>
          <p:cNvSpPr>
            <a:spLocks noChangeShapeType="1"/>
          </p:cNvSpPr>
          <p:nvPr/>
        </p:nvSpPr>
        <p:spPr bwMode="auto">
          <a:xfrm>
            <a:off x="621883" y="1214953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2" name="Line 30"/>
          <p:cNvSpPr>
            <a:spLocks noChangeShapeType="1"/>
          </p:cNvSpPr>
          <p:nvPr/>
        </p:nvSpPr>
        <p:spPr bwMode="auto">
          <a:xfrm>
            <a:off x="621883" y="1180738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3" name="Line 31"/>
          <p:cNvSpPr>
            <a:spLocks noChangeShapeType="1"/>
          </p:cNvSpPr>
          <p:nvPr/>
        </p:nvSpPr>
        <p:spPr bwMode="auto">
          <a:xfrm>
            <a:off x="624284" y="1146522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4" name="Line 32"/>
          <p:cNvSpPr>
            <a:spLocks noChangeShapeType="1"/>
          </p:cNvSpPr>
          <p:nvPr/>
        </p:nvSpPr>
        <p:spPr bwMode="auto">
          <a:xfrm>
            <a:off x="617881" y="111410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5" name="Line 33"/>
          <p:cNvSpPr>
            <a:spLocks noChangeShapeType="1"/>
          </p:cNvSpPr>
          <p:nvPr/>
        </p:nvSpPr>
        <p:spPr bwMode="auto">
          <a:xfrm>
            <a:off x="620282" y="1076890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6" name="Line 34"/>
          <p:cNvSpPr>
            <a:spLocks noChangeShapeType="1"/>
          </p:cNvSpPr>
          <p:nvPr/>
        </p:nvSpPr>
        <p:spPr bwMode="auto">
          <a:xfrm>
            <a:off x="619482" y="104267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7" name="Line 35"/>
          <p:cNvSpPr>
            <a:spLocks noChangeShapeType="1"/>
          </p:cNvSpPr>
          <p:nvPr/>
        </p:nvSpPr>
        <p:spPr bwMode="auto">
          <a:xfrm>
            <a:off x="621883" y="1008459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8" name="Line 36"/>
          <p:cNvSpPr>
            <a:spLocks noChangeShapeType="1"/>
          </p:cNvSpPr>
          <p:nvPr/>
        </p:nvSpPr>
        <p:spPr bwMode="auto">
          <a:xfrm>
            <a:off x="619482" y="979046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69" name="Line 37"/>
          <p:cNvSpPr>
            <a:spLocks noChangeShapeType="1"/>
          </p:cNvSpPr>
          <p:nvPr/>
        </p:nvSpPr>
        <p:spPr bwMode="auto">
          <a:xfrm>
            <a:off x="619482" y="944830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0" name="Line 38"/>
          <p:cNvSpPr>
            <a:spLocks noChangeShapeType="1"/>
          </p:cNvSpPr>
          <p:nvPr/>
        </p:nvSpPr>
        <p:spPr bwMode="auto">
          <a:xfrm>
            <a:off x="621883" y="910615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1" name="Line 39"/>
          <p:cNvSpPr>
            <a:spLocks noChangeShapeType="1"/>
          </p:cNvSpPr>
          <p:nvPr/>
        </p:nvSpPr>
        <p:spPr bwMode="auto">
          <a:xfrm>
            <a:off x="615480" y="878200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2" name="Line 40"/>
          <p:cNvSpPr>
            <a:spLocks noChangeShapeType="1"/>
          </p:cNvSpPr>
          <p:nvPr/>
        </p:nvSpPr>
        <p:spPr bwMode="auto">
          <a:xfrm>
            <a:off x="621883" y="840983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3" name="Line 41"/>
          <p:cNvSpPr>
            <a:spLocks noChangeShapeType="1"/>
          </p:cNvSpPr>
          <p:nvPr/>
        </p:nvSpPr>
        <p:spPr bwMode="auto">
          <a:xfrm>
            <a:off x="617081" y="806767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4" name="Line 42"/>
          <p:cNvSpPr>
            <a:spLocks noChangeShapeType="1"/>
          </p:cNvSpPr>
          <p:nvPr/>
        </p:nvSpPr>
        <p:spPr bwMode="auto">
          <a:xfrm>
            <a:off x="624284" y="772552"/>
            <a:ext cx="1920875" cy="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5" name="Line 43"/>
          <p:cNvSpPr>
            <a:spLocks noChangeShapeType="1"/>
          </p:cNvSpPr>
          <p:nvPr/>
        </p:nvSpPr>
        <p:spPr bwMode="auto">
          <a:xfrm flipV="1">
            <a:off x="670705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6" name="Line 44"/>
          <p:cNvSpPr>
            <a:spLocks noChangeShapeType="1"/>
          </p:cNvSpPr>
          <p:nvPr/>
        </p:nvSpPr>
        <p:spPr bwMode="auto">
          <a:xfrm flipV="1">
            <a:off x="719528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7" name="Line 45"/>
          <p:cNvSpPr>
            <a:spLocks noChangeShapeType="1"/>
          </p:cNvSpPr>
          <p:nvPr/>
        </p:nvSpPr>
        <p:spPr bwMode="auto">
          <a:xfrm flipV="1">
            <a:off x="770751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8" name="Line 46"/>
          <p:cNvSpPr>
            <a:spLocks noChangeShapeType="1"/>
          </p:cNvSpPr>
          <p:nvPr/>
        </p:nvSpPr>
        <p:spPr bwMode="auto">
          <a:xfrm flipV="1">
            <a:off x="815571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79" name="Line 47"/>
          <p:cNvSpPr>
            <a:spLocks noChangeShapeType="1"/>
          </p:cNvSpPr>
          <p:nvPr/>
        </p:nvSpPr>
        <p:spPr bwMode="auto">
          <a:xfrm flipV="1">
            <a:off x="859591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0" name="Line 48"/>
          <p:cNvSpPr>
            <a:spLocks noChangeShapeType="1"/>
          </p:cNvSpPr>
          <p:nvPr/>
        </p:nvSpPr>
        <p:spPr bwMode="auto">
          <a:xfrm flipV="1">
            <a:off x="908414" y="734134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1" name="Line 49"/>
          <p:cNvSpPr>
            <a:spLocks noChangeShapeType="1"/>
          </p:cNvSpPr>
          <p:nvPr/>
        </p:nvSpPr>
        <p:spPr bwMode="auto">
          <a:xfrm flipV="1">
            <a:off x="959637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2" name="Line 50"/>
          <p:cNvSpPr>
            <a:spLocks noChangeShapeType="1"/>
          </p:cNvSpPr>
          <p:nvPr/>
        </p:nvSpPr>
        <p:spPr bwMode="auto">
          <a:xfrm flipV="1">
            <a:off x="1004457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3" name="Line 51"/>
          <p:cNvSpPr>
            <a:spLocks noChangeShapeType="1"/>
          </p:cNvSpPr>
          <p:nvPr/>
        </p:nvSpPr>
        <p:spPr bwMode="auto">
          <a:xfrm flipV="1">
            <a:off x="1050078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4" name="Line 52"/>
          <p:cNvSpPr>
            <a:spLocks noChangeShapeType="1"/>
          </p:cNvSpPr>
          <p:nvPr/>
        </p:nvSpPr>
        <p:spPr bwMode="auto">
          <a:xfrm flipV="1">
            <a:off x="1098900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5" name="Line 53"/>
          <p:cNvSpPr>
            <a:spLocks noChangeShapeType="1"/>
          </p:cNvSpPr>
          <p:nvPr/>
        </p:nvSpPr>
        <p:spPr bwMode="auto">
          <a:xfrm flipV="1">
            <a:off x="1150124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6" name="Line 54"/>
          <p:cNvSpPr>
            <a:spLocks noChangeShapeType="1"/>
          </p:cNvSpPr>
          <p:nvPr/>
        </p:nvSpPr>
        <p:spPr bwMode="auto">
          <a:xfrm flipV="1">
            <a:off x="1194944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7" name="Line 55"/>
          <p:cNvSpPr>
            <a:spLocks noChangeShapeType="1"/>
          </p:cNvSpPr>
          <p:nvPr/>
        </p:nvSpPr>
        <p:spPr bwMode="auto">
          <a:xfrm flipV="1">
            <a:off x="1238964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8" name="Line 56"/>
          <p:cNvSpPr>
            <a:spLocks noChangeShapeType="1"/>
          </p:cNvSpPr>
          <p:nvPr/>
        </p:nvSpPr>
        <p:spPr bwMode="auto">
          <a:xfrm flipV="1">
            <a:off x="1287786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89" name="Line 57"/>
          <p:cNvSpPr>
            <a:spLocks noChangeShapeType="1"/>
          </p:cNvSpPr>
          <p:nvPr/>
        </p:nvSpPr>
        <p:spPr bwMode="auto">
          <a:xfrm flipV="1">
            <a:off x="1339010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0" name="Line 58"/>
          <p:cNvSpPr>
            <a:spLocks noChangeShapeType="1"/>
          </p:cNvSpPr>
          <p:nvPr/>
        </p:nvSpPr>
        <p:spPr bwMode="auto">
          <a:xfrm flipV="1">
            <a:off x="1383830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1" name="Line 59"/>
          <p:cNvSpPr>
            <a:spLocks noChangeShapeType="1"/>
          </p:cNvSpPr>
          <p:nvPr/>
        </p:nvSpPr>
        <p:spPr bwMode="auto">
          <a:xfrm flipV="1">
            <a:off x="1436654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2" name="Line 60"/>
          <p:cNvSpPr>
            <a:spLocks noChangeShapeType="1"/>
          </p:cNvSpPr>
          <p:nvPr/>
        </p:nvSpPr>
        <p:spPr bwMode="auto">
          <a:xfrm flipV="1">
            <a:off x="1485476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3" name="Line 61"/>
          <p:cNvSpPr>
            <a:spLocks noChangeShapeType="1"/>
          </p:cNvSpPr>
          <p:nvPr/>
        </p:nvSpPr>
        <p:spPr bwMode="auto">
          <a:xfrm flipV="1">
            <a:off x="1536700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4" name="Line 62"/>
          <p:cNvSpPr>
            <a:spLocks noChangeShapeType="1"/>
          </p:cNvSpPr>
          <p:nvPr/>
        </p:nvSpPr>
        <p:spPr bwMode="auto">
          <a:xfrm flipV="1">
            <a:off x="1581520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5" name="Line 63"/>
          <p:cNvSpPr>
            <a:spLocks noChangeShapeType="1"/>
          </p:cNvSpPr>
          <p:nvPr/>
        </p:nvSpPr>
        <p:spPr bwMode="auto">
          <a:xfrm flipV="1">
            <a:off x="1625540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6" name="Line 64"/>
          <p:cNvSpPr>
            <a:spLocks noChangeShapeType="1"/>
          </p:cNvSpPr>
          <p:nvPr/>
        </p:nvSpPr>
        <p:spPr bwMode="auto">
          <a:xfrm flipV="1">
            <a:off x="1674362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7" name="Line 65"/>
          <p:cNvSpPr>
            <a:spLocks noChangeShapeType="1"/>
          </p:cNvSpPr>
          <p:nvPr/>
        </p:nvSpPr>
        <p:spPr bwMode="auto">
          <a:xfrm flipV="1">
            <a:off x="1725586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8" name="Line 66"/>
          <p:cNvSpPr>
            <a:spLocks noChangeShapeType="1"/>
          </p:cNvSpPr>
          <p:nvPr/>
        </p:nvSpPr>
        <p:spPr bwMode="auto">
          <a:xfrm flipV="1">
            <a:off x="1770406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899" name="Line 67"/>
          <p:cNvSpPr>
            <a:spLocks noChangeShapeType="1"/>
          </p:cNvSpPr>
          <p:nvPr/>
        </p:nvSpPr>
        <p:spPr bwMode="auto">
          <a:xfrm flipV="1">
            <a:off x="1816027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0" name="Line 68"/>
          <p:cNvSpPr>
            <a:spLocks noChangeShapeType="1"/>
          </p:cNvSpPr>
          <p:nvPr/>
        </p:nvSpPr>
        <p:spPr bwMode="auto">
          <a:xfrm flipV="1">
            <a:off x="1864849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1" name="Line 69"/>
          <p:cNvSpPr>
            <a:spLocks noChangeShapeType="1"/>
          </p:cNvSpPr>
          <p:nvPr/>
        </p:nvSpPr>
        <p:spPr bwMode="auto">
          <a:xfrm flipV="1">
            <a:off x="1916072" y="725130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2" name="Line 70"/>
          <p:cNvSpPr>
            <a:spLocks noChangeShapeType="1"/>
          </p:cNvSpPr>
          <p:nvPr/>
        </p:nvSpPr>
        <p:spPr bwMode="auto">
          <a:xfrm flipV="1">
            <a:off x="1960893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3" name="Line 71"/>
          <p:cNvSpPr>
            <a:spLocks noChangeShapeType="1"/>
          </p:cNvSpPr>
          <p:nvPr/>
        </p:nvSpPr>
        <p:spPr bwMode="auto">
          <a:xfrm flipV="1">
            <a:off x="2004913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4" name="Line 72"/>
          <p:cNvSpPr>
            <a:spLocks noChangeShapeType="1"/>
          </p:cNvSpPr>
          <p:nvPr/>
        </p:nvSpPr>
        <p:spPr bwMode="auto">
          <a:xfrm flipV="1">
            <a:off x="2053735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5" name="Line 73"/>
          <p:cNvSpPr>
            <a:spLocks noChangeShapeType="1"/>
          </p:cNvSpPr>
          <p:nvPr/>
        </p:nvSpPr>
        <p:spPr bwMode="auto">
          <a:xfrm flipV="1">
            <a:off x="2104958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6" name="Line 74"/>
          <p:cNvSpPr>
            <a:spLocks noChangeShapeType="1"/>
          </p:cNvSpPr>
          <p:nvPr/>
        </p:nvSpPr>
        <p:spPr bwMode="auto">
          <a:xfrm flipV="1">
            <a:off x="2149779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7" name="Line 75"/>
          <p:cNvSpPr>
            <a:spLocks noChangeShapeType="1"/>
          </p:cNvSpPr>
          <p:nvPr/>
        </p:nvSpPr>
        <p:spPr bwMode="auto">
          <a:xfrm flipV="1">
            <a:off x="2197801" y="726931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8" name="Line 76"/>
          <p:cNvSpPr>
            <a:spLocks noChangeShapeType="1"/>
          </p:cNvSpPr>
          <p:nvPr/>
        </p:nvSpPr>
        <p:spPr bwMode="auto">
          <a:xfrm flipV="1">
            <a:off x="2242621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09" name="Line 77"/>
          <p:cNvSpPr>
            <a:spLocks noChangeShapeType="1"/>
          </p:cNvSpPr>
          <p:nvPr/>
        </p:nvSpPr>
        <p:spPr bwMode="auto">
          <a:xfrm flipV="1">
            <a:off x="2286641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0" name="Line 78"/>
          <p:cNvSpPr>
            <a:spLocks noChangeShapeType="1"/>
          </p:cNvSpPr>
          <p:nvPr/>
        </p:nvSpPr>
        <p:spPr bwMode="auto">
          <a:xfrm flipV="1">
            <a:off x="2335463" y="732333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1" name="Line 79"/>
          <p:cNvSpPr>
            <a:spLocks noChangeShapeType="1"/>
          </p:cNvSpPr>
          <p:nvPr/>
        </p:nvSpPr>
        <p:spPr bwMode="auto">
          <a:xfrm flipV="1">
            <a:off x="2386687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2" name="Line 80"/>
          <p:cNvSpPr>
            <a:spLocks noChangeShapeType="1"/>
          </p:cNvSpPr>
          <p:nvPr/>
        </p:nvSpPr>
        <p:spPr bwMode="auto">
          <a:xfrm flipV="1">
            <a:off x="2431507" y="730533"/>
            <a:ext cx="0" cy="1407640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3" name="Line 81"/>
          <p:cNvSpPr>
            <a:spLocks noChangeShapeType="1"/>
          </p:cNvSpPr>
          <p:nvPr/>
        </p:nvSpPr>
        <p:spPr bwMode="auto">
          <a:xfrm flipV="1">
            <a:off x="2485132" y="728732"/>
            <a:ext cx="0" cy="1407641"/>
          </a:xfrm>
          <a:prstGeom prst="line">
            <a:avLst/>
          </a:prstGeom>
          <a:noFill/>
          <a:ln w="9525">
            <a:solidFill>
              <a:schemeClr val="bg2">
                <a:lumMod val="75000"/>
              </a:schemeClr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4354" name="Freeform 82"/>
          <p:cNvSpPr>
            <a:spLocks/>
          </p:cNvSpPr>
          <p:nvPr/>
        </p:nvSpPr>
        <p:spPr bwMode="auto">
          <a:xfrm flipH="1" flipV="1">
            <a:off x="614680" y="720328"/>
            <a:ext cx="1920875" cy="1421447"/>
          </a:xfrm>
          <a:custGeom>
            <a:avLst/>
            <a:gdLst>
              <a:gd name="T0" fmla="*/ 0 w 2333"/>
              <a:gd name="T1" fmla="*/ 2147483647 h 2275"/>
              <a:gd name="T2" fmla="*/ 2147483647 w 2333"/>
              <a:gd name="T3" fmla="*/ 2147483647 h 2275"/>
              <a:gd name="T4" fmla="*/ 2147483647 w 2333"/>
              <a:gd name="T5" fmla="*/ 2147483647 h 2275"/>
              <a:gd name="T6" fmla="*/ 2147483647 w 2333"/>
              <a:gd name="T7" fmla="*/ 2147483647 h 2275"/>
              <a:gd name="T8" fmla="*/ 2147483647 w 2333"/>
              <a:gd name="T9" fmla="*/ 2147483647 h 2275"/>
              <a:gd name="T10" fmla="*/ 2147483647 w 2333"/>
              <a:gd name="T11" fmla="*/ 2147483647 h 2275"/>
              <a:gd name="T12" fmla="*/ 2147483647 w 2333"/>
              <a:gd name="T13" fmla="*/ 2147483647 h 2275"/>
              <a:gd name="T14" fmla="*/ 2147483647 w 2333"/>
              <a:gd name="T15" fmla="*/ 2147483647 h 2275"/>
              <a:gd name="T16" fmla="*/ 2147483647 w 2333"/>
              <a:gd name="T17" fmla="*/ 2147483647 h 2275"/>
              <a:gd name="T18" fmla="*/ 2147483647 w 2333"/>
              <a:gd name="T19" fmla="*/ 2147483647 h 2275"/>
              <a:gd name="T20" fmla="*/ 2147483647 w 2333"/>
              <a:gd name="T21" fmla="*/ 2147483647 h 2275"/>
              <a:gd name="T22" fmla="*/ 2147483647 w 2333"/>
              <a:gd name="T23" fmla="*/ 2147483647 h 2275"/>
              <a:gd name="T24" fmla="*/ 2147483647 w 2333"/>
              <a:gd name="T25" fmla="*/ 2147483647 h 2275"/>
              <a:gd name="T26" fmla="*/ 2147483647 w 2333"/>
              <a:gd name="T27" fmla="*/ 2147483647 h 2275"/>
              <a:gd name="T28" fmla="*/ 2147483647 w 2333"/>
              <a:gd name="T29" fmla="*/ 2147483647 h 2275"/>
              <a:gd name="T30" fmla="*/ 2147483647 w 2333"/>
              <a:gd name="T31" fmla="*/ 2147483647 h 2275"/>
              <a:gd name="T32" fmla="*/ 2147483647 w 2333"/>
              <a:gd name="T33" fmla="*/ 2147483647 h 2275"/>
              <a:gd name="T34" fmla="*/ 2147483647 w 2333"/>
              <a:gd name="T35" fmla="*/ 2147483647 h 2275"/>
              <a:gd name="T36" fmla="*/ 2147483647 w 2333"/>
              <a:gd name="T37" fmla="*/ 2147483647 h 2275"/>
              <a:gd name="T38" fmla="*/ 2147483647 w 2333"/>
              <a:gd name="T39" fmla="*/ 0 h 2275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2333"/>
              <a:gd name="T61" fmla="*/ 0 h 2275"/>
              <a:gd name="T62" fmla="*/ 2333 w 2333"/>
              <a:gd name="T63" fmla="*/ 2275 h 2275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2333" h="2275">
                <a:moveTo>
                  <a:pt x="0" y="2275"/>
                </a:moveTo>
                <a:lnTo>
                  <a:pt x="52" y="2211"/>
                </a:lnTo>
                <a:lnTo>
                  <a:pt x="116" y="2153"/>
                </a:lnTo>
                <a:lnTo>
                  <a:pt x="122" y="2089"/>
                </a:lnTo>
                <a:lnTo>
                  <a:pt x="180" y="2042"/>
                </a:lnTo>
                <a:lnTo>
                  <a:pt x="425" y="1803"/>
                </a:lnTo>
                <a:lnTo>
                  <a:pt x="588" y="1803"/>
                </a:lnTo>
                <a:lnTo>
                  <a:pt x="774" y="1629"/>
                </a:lnTo>
                <a:lnTo>
                  <a:pt x="774" y="1571"/>
                </a:lnTo>
                <a:lnTo>
                  <a:pt x="1076" y="1274"/>
                </a:lnTo>
                <a:lnTo>
                  <a:pt x="1076" y="1210"/>
                </a:lnTo>
                <a:lnTo>
                  <a:pt x="1489" y="809"/>
                </a:lnTo>
                <a:lnTo>
                  <a:pt x="1792" y="809"/>
                </a:lnTo>
                <a:lnTo>
                  <a:pt x="1966" y="640"/>
                </a:lnTo>
                <a:lnTo>
                  <a:pt x="1966" y="570"/>
                </a:lnTo>
                <a:lnTo>
                  <a:pt x="2077" y="454"/>
                </a:lnTo>
                <a:lnTo>
                  <a:pt x="2077" y="355"/>
                </a:lnTo>
                <a:lnTo>
                  <a:pt x="2263" y="180"/>
                </a:lnTo>
                <a:lnTo>
                  <a:pt x="2263" y="75"/>
                </a:lnTo>
                <a:lnTo>
                  <a:pt x="2333" y="0"/>
                </a:lnTo>
              </a:path>
            </a:pathLst>
          </a:custGeom>
          <a:noFill/>
          <a:ln w="38100">
            <a:solidFill>
              <a:srgbClr val="000066"/>
            </a:solidFill>
            <a:round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0915" name="Text Box 83"/>
          <p:cNvSpPr txBox="1">
            <a:spLocks noChangeArrowheads="1"/>
          </p:cNvSpPr>
          <p:nvPr/>
        </p:nvSpPr>
        <p:spPr bwMode="auto">
          <a:xfrm>
            <a:off x="576262" y="2141775"/>
            <a:ext cx="2001650" cy="2017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008" dirty="0">
                <a:latin typeface="Arial Unicode MS" charset="0"/>
              </a:rPr>
              <a:t>y</a:t>
            </a:r>
            <a:r>
              <a:rPr lang="en-US" sz="1008" baseline="-25000" dirty="0">
                <a:latin typeface="Arial Unicode MS" charset="0"/>
              </a:rPr>
              <a:t>0</a:t>
            </a:r>
            <a:r>
              <a:rPr lang="en-US" sz="1008" dirty="0">
                <a:latin typeface="Arial Unicode MS" charset="0"/>
              </a:rPr>
              <a:t> ………………………………  </a:t>
            </a:r>
            <a:r>
              <a:rPr lang="en-US" sz="1008" dirty="0" err="1">
                <a:latin typeface="Arial Unicode MS" charset="0"/>
              </a:rPr>
              <a:t>y</a:t>
            </a:r>
            <a:r>
              <a:rPr lang="en-US" sz="1008" baseline="-25000" dirty="0" err="1">
                <a:latin typeface="Arial Unicode MS" charset="0"/>
              </a:rPr>
              <a:t>M</a:t>
            </a:r>
            <a:endParaRPr lang="en-US" sz="1008" dirty="0">
              <a:latin typeface="Arial Unicode MS" charset="0"/>
            </a:endParaRPr>
          </a:p>
        </p:txBody>
      </p:sp>
      <p:sp>
        <p:nvSpPr>
          <p:cNvPr id="120916" name="Text Box 84"/>
          <p:cNvSpPr txBox="1">
            <a:spLocks noChangeArrowheads="1"/>
          </p:cNvSpPr>
          <p:nvPr/>
        </p:nvSpPr>
        <p:spPr bwMode="auto">
          <a:xfrm rot="5400000" flipH="1" flipV="1">
            <a:off x="-311502" y="1330190"/>
            <a:ext cx="1498283" cy="20172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08" dirty="0">
                <a:latin typeface="Arial Unicode MS" charset="0"/>
              </a:rPr>
              <a:t>x</a:t>
            </a:r>
            <a:r>
              <a:rPr lang="en-US" sz="1008" baseline="-25000" dirty="0">
                <a:latin typeface="Arial Unicode MS" charset="0"/>
              </a:rPr>
              <a:t>0</a:t>
            </a:r>
            <a:r>
              <a:rPr lang="en-US" sz="1008" dirty="0">
                <a:latin typeface="Arial Unicode MS" charset="0"/>
              </a:rPr>
              <a:t> ……………………  </a:t>
            </a:r>
            <a:r>
              <a:rPr lang="en-US" sz="1008" dirty="0" err="1">
                <a:latin typeface="Arial Unicode MS" charset="0"/>
              </a:rPr>
              <a:t>x</a:t>
            </a:r>
            <a:r>
              <a:rPr lang="en-US" sz="1008" baseline="-25000" dirty="0" err="1">
                <a:latin typeface="Arial Unicode MS" charset="0"/>
              </a:rPr>
              <a:t>N</a:t>
            </a:r>
            <a:endParaRPr lang="en-US" sz="1008" dirty="0">
              <a:latin typeface="Arial Unicode MS" charset="0"/>
            </a:endParaRPr>
          </a:p>
        </p:txBody>
      </p:sp>
      <p:sp>
        <p:nvSpPr>
          <p:cNvPr id="54357" name="Text Box 85"/>
          <p:cNvSpPr txBox="1">
            <a:spLocks noChangeArrowheads="1"/>
          </p:cNvSpPr>
          <p:nvPr/>
        </p:nvSpPr>
        <p:spPr bwMode="auto">
          <a:xfrm>
            <a:off x="2727642" y="758745"/>
            <a:ext cx="1690370" cy="13189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1008" dirty="0">
                <a:solidFill>
                  <a:srgbClr val="000066"/>
                </a:solidFill>
                <a:latin typeface="Calibri"/>
                <a:cs typeface="Calibri"/>
              </a:rPr>
              <a:t>Every non-decreasing path </a:t>
            </a:r>
          </a:p>
          <a:p>
            <a:endParaRPr lang="en-US" sz="1008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1008" dirty="0">
                <a:solidFill>
                  <a:srgbClr val="000066"/>
                </a:solidFill>
                <a:latin typeface="Calibri"/>
                <a:cs typeface="Calibri"/>
              </a:rPr>
              <a:t>from (0,0) to (M, N) </a:t>
            </a:r>
          </a:p>
          <a:p>
            <a:endParaRPr lang="en-US" sz="1008" dirty="0">
              <a:solidFill>
                <a:srgbClr val="000066"/>
              </a:solidFill>
              <a:latin typeface="Calibri"/>
              <a:cs typeface="Calibri"/>
            </a:endParaRPr>
          </a:p>
          <a:p>
            <a:r>
              <a:rPr lang="en-US" sz="1008" dirty="0">
                <a:solidFill>
                  <a:srgbClr val="000066"/>
                </a:solidFill>
                <a:latin typeface="Calibri"/>
                <a:cs typeface="Calibri"/>
              </a:rPr>
              <a:t>corresponds to </a:t>
            </a:r>
          </a:p>
          <a:p>
            <a:r>
              <a:rPr lang="en-US" sz="1008" dirty="0">
                <a:solidFill>
                  <a:srgbClr val="000066"/>
                </a:solidFill>
                <a:latin typeface="Calibri"/>
                <a:cs typeface="Calibri"/>
              </a:rPr>
              <a:t>an alignment </a:t>
            </a:r>
          </a:p>
          <a:p>
            <a:r>
              <a:rPr lang="en-US" sz="1008" dirty="0">
                <a:solidFill>
                  <a:srgbClr val="000066"/>
                </a:solidFill>
                <a:latin typeface="Calibri"/>
                <a:cs typeface="Calibri"/>
              </a:rPr>
              <a:t>of the two sequences</a:t>
            </a:r>
          </a:p>
          <a:p>
            <a:endParaRPr lang="en-US" sz="1210" dirty="0">
              <a:solidFill>
                <a:srgbClr val="000066"/>
              </a:solidFill>
              <a:latin typeface="Calibri"/>
              <a:cs typeface="Calibri"/>
            </a:endParaRPr>
          </a:p>
        </p:txBody>
      </p:sp>
      <p:sp>
        <p:nvSpPr>
          <p:cNvPr id="54360" name="Text Box 88"/>
          <p:cNvSpPr txBox="1">
            <a:spLocks noChangeArrowheads="1"/>
          </p:cNvSpPr>
          <p:nvPr/>
        </p:nvSpPr>
        <p:spPr bwMode="auto">
          <a:xfrm>
            <a:off x="2650807" y="2064940"/>
            <a:ext cx="1918848" cy="325858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sz="907" dirty="0">
                <a:solidFill>
                  <a:srgbClr val="A4001D"/>
                </a:solidFill>
                <a:latin typeface="Arial Unicode MS" charset="0"/>
              </a:rPr>
              <a:t>An optimal alignment is composed of optimal </a:t>
            </a:r>
            <a:r>
              <a:rPr lang="en-US" sz="907" dirty="0" err="1">
                <a:solidFill>
                  <a:srgbClr val="A4001D"/>
                </a:solidFill>
                <a:latin typeface="Arial Unicode MS" charset="0"/>
              </a:rPr>
              <a:t>subalignments</a:t>
            </a:r>
            <a:endParaRPr lang="en-US" sz="907" dirty="0">
              <a:solidFill>
                <a:srgbClr val="A4001D"/>
              </a:solidFill>
              <a:latin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97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54" grpId="0" animBg="1"/>
      <p:bldP spid="54357" grpId="0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 of </a:t>
            </a:r>
            <a:r>
              <a:rPr lang="en-US" dirty="0" err="1"/>
              <a:t>Backtrace</a:t>
            </a:r>
            <a:endParaRPr lang="en-US" dirty="0"/>
          </a:p>
        </p:txBody>
      </p:sp>
      <p:sp>
        <p:nvSpPr>
          <p:cNvPr id="75780" name="Content Placeholder 7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Two strings and their </a:t>
            </a:r>
            <a:r>
              <a:rPr lang="en-US" b="1" dirty="0"/>
              <a:t>alignment</a:t>
            </a:r>
            <a:r>
              <a:rPr lang="en-US" dirty="0"/>
              <a:t>:</a:t>
            </a:r>
          </a:p>
        </p:txBody>
      </p:sp>
      <p:pic>
        <p:nvPicPr>
          <p:cNvPr id="5" name="Picture 6" descr="align1.tiff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8855" y="1123850"/>
            <a:ext cx="2439511" cy="1017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06913649"/>
      </p:ext>
    </p:extLst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Performance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sz="1613" dirty="0"/>
              <a:t>Time:</a:t>
            </a:r>
          </a:p>
          <a:p>
            <a:pPr lvl="1">
              <a:buFont typeface="Wingdings" charset="2"/>
              <a:buNone/>
            </a:pPr>
            <a:r>
              <a:rPr lang="en-US" sz="1411" dirty="0"/>
              <a:t>				O(nm)</a:t>
            </a:r>
            <a:endParaRPr lang="en-US" sz="1613" dirty="0"/>
          </a:p>
          <a:p>
            <a:r>
              <a:rPr lang="en-US" sz="1613" dirty="0"/>
              <a:t>Space:</a:t>
            </a:r>
          </a:p>
          <a:p>
            <a:pPr lvl="1">
              <a:buFont typeface="Wingdings" charset="2"/>
              <a:buNone/>
            </a:pPr>
            <a:r>
              <a:rPr lang="en-US" sz="1411" dirty="0"/>
              <a:t>				O(nm)</a:t>
            </a:r>
          </a:p>
          <a:p>
            <a:r>
              <a:rPr lang="en-US" sz="1613" dirty="0" err="1"/>
              <a:t>Backtrace</a:t>
            </a:r>
            <a:endParaRPr lang="en-US" sz="1613" dirty="0"/>
          </a:p>
          <a:p>
            <a:pPr lvl="1">
              <a:buFont typeface="Wingdings" charset="2"/>
              <a:buNone/>
            </a:pPr>
            <a:r>
              <a:rPr lang="en-US" sz="1411" dirty="0"/>
              <a:t>				O(</a:t>
            </a:r>
            <a:r>
              <a:rPr lang="en-US" sz="1411" dirty="0" err="1"/>
              <a:t>n+m</a:t>
            </a:r>
            <a:r>
              <a:rPr lang="en-US" sz="1411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7202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 err="1">
                <a:solidFill>
                  <a:srgbClr val="A50021"/>
                </a:solidFill>
                <a:latin typeface="Calibri" charset="0"/>
              </a:rPr>
              <a:t>Backtrace</a:t>
            </a: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 for Computing Alignments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3191"/>
      </p:ext>
    </p:extLst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Weighted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011672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Weighted Edit Distance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Why would we add weights to the computation?</a:t>
            </a:r>
          </a:p>
          <a:p>
            <a:pPr lvl="1"/>
            <a:r>
              <a:rPr lang="en-US" dirty="0"/>
              <a:t>Spell Correction: some letters are more likely to be mistyped than others</a:t>
            </a:r>
          </a:p>
          <a:p>
            <a:pPr lvl="1"/>
            <a:r>
              <a:rPr lang="en-US" dirty="0"/>
              <a:t>Biology: certain kinds of deletions or insertions are more likely than others</a:t>
            </a:r>
          </a:p>
        </p:txBody>
      </p:sp>
    </p:spTree>
    <p:extLst>
      <p:ext uri="{BB962C8B-B14F-4D97-AF65-F5344CB8AC3E}">
        <p14:creationId xmlns:p14="http://schemas.microsoft.com/office/powerpoint/2010/main" val="989158157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>
          <a:xfrm>
            <a:off x="691515" y="38417"/>
            <a:ext cx="3764915" cy="374570"/>
          </a:xfrm>
        </p:spPr>
        <p:txBody>
          <a:bodyPr/>
          <a:lstStyle/>
          <a:p>
            <a:r>
              <a:rPr lang="en-US" dirty="0"/>
              <a:t>Confusion matrix for spelling errors</a:t>
            </a:r>
          </a:p>
        </p:txBody>
      </p:sp>
      <p:pic>
        <p:nvPicPr>
          <p:cNvPr id="6" name="Picture 5" descr="kern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7416" y="489823"/>
            <a:ext cx="3362412" cy="2036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81894879"/>
      </p:ext>
    </p:extLst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 descr="qwerty2.tif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3742" y="813670"/>
            <a:ext cx="3912182" cy="1520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3688659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Weighted Min Edit Distance</a:t>
            </a:r>
          </a:p>
        </p:txBody>
      </p:sp>
      <p:sp>
        <p:nvSpPr>
          <p:cNvPr id="81923" name="Content Placeholder 2"/>
          <p:cNvSpPr>
            <a:spLocks noGrp="1"/>
          </p:cNvSpPr>
          <p:nvPr>
            <p:ph sz="quarter" idx="1"/>
          </p:nvPr>
        </p:nvSpPr>
        <p:spPr>
          <a:xfrm>
            <a:off x="76835" y="643493"/>
            <a:ext cx="4418012" cy="1988105"/>
          </a:xfrm>
        </p:spPr>
        <p:txBody>
          <a:bodyPr/>
          <a:lstStyle/>
          <a:p>
            <a:r>
              <a:rPr lang="en-US" dirty="0"/>
              <a:t>Initialization: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D(0,0) = 0</a:t>
            </a:r>
          </a:p>
          <a:p>
            <a:pPr marL="457200" lvl="1" indent="0">
              <a:buNone/>
            </a:pPr>
            <a:r>
              <a:rPr lang="en-US" dirty="0">
                <a:latin typeface="Courier"/>
                <a:cs typeface="Courier"/>
              </a:rPr>
              <a:t>D(i,0) = D(i-1,0) + del[x(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)];    1 &lt; 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 ≤ N</a:t>
            </a:r>
          </a:p>
          <a:p>
            <a:pPr marL="457200" lvl="1" indent="0" algn="just">
              <a:buNone/>
            </a:pPr>
            <a:r>
              <a:rPr lang="en-US" dirty="0">
                <a:latin typeface="Courier"/>
                <a:cs typeface="Courier"/>
              </a:rPr>
              <a:t>D(0,j) = D(0,j-1) + ins[y(j)];    1 &lt; j ≤ M</a:t>
            </a:r>
            <a:endParaRPr lang="en-US" i="1" dirty="0"/>
          </a:p>
          <a:p>
            <a:pPr algn="just"/>
            <a:r>
              <a:rPr lang="en-US" dirty="0"/>
              <a:t>Recurrence Relation</a:t>
            </a:r>
            <a:r>
              <a:rPr lang="en-US" i="1" dirty="0"/>
              <a:t>:</a:t>
            </a:r>
          </a:p>
          <a:p>
            <a:pPr marL="457200" lvl="1" indent="0">
              <a:buNone/>
            </a:pPr>
            <a:r>
              <a:rPr lang="en-US" i="1" dirty="0">
                <a:latin typeface="Courier"/>
                <a:cs typeface="Courier"/>
              </a:rPr>
              <a:t>             </a:t>
            </a:r>
            <a:r>
              <a:rPr lang="en-US" dirty="0">
                <a:latin typeface="Courier"/>
                <a:cs typeface="Courier"/>
              </a:rPr>
              <a:t>D(i-1,j)   + del[x(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)]</a:t>
            </a:r>
          </a:p>
          <a:p>
            <a:pPr marL="457200" lvl="1" indent="0" algn="just">
              <a:buNone/>
            </a:pPr>
            <a:r>
              <a:rPr lang="en-US" dirty="0">
                <a:latin typeface="Courier"/>
                <a:cs typeface="Courier"/>
              </a:rPr>
              <a:t>D(</a:t>
            </a:r>
            <a:r>
              <a:rPr lang="en-US" dirty="0" err="1">
                <a:latin typeface="Courier"/>
                <a:cs typeface="Courier"/>
              </a:rPr>
              <a:t>i,j</a:t>
            </a:r>
            <a:r>
              <a:rPr lang="en-US" dirty="0">
                <a:latin typeface="Courier"/>
                <a:cs typeface="Courier"/>
              </a:rPr>
              <a:t>)= min  D(i,j-1)   + ins[y(j)]</a:t>
            </a:r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             D(i-1,j-1) + sub[x(</a:t>
            </a:r>
            <a:r>
              <a:rPr lang="en-US" dirty="0" err="1">
                <a:latin typeface="Courier"/>
                <a:cs typeface="Courier"/>
              </a:rPr>
              <a:t>i</a:t>
            </a:r>
            <a:r>
              <a:rPr lang="en-US" dirty="0">
                <a:latin typeface="Courier"/>
                <a:cs typeface="Courier"/>
              </a:rPr>
              <a:t>),y(j)]</a:t>
            </a:r>
          </a:p>
          <a:p>
            <a:pPr algn="just"/>
            <a:r>
              <a:rPr lang="en-US" dirty="0"/>
              <a:t>Termination</a:t>
            </a:r>
            <a:r>
              <a:rPr lang="en-US" i="1" dirty="0"/>
              <a:t>:</a:t>
            </a:r>
          </a:p>
          <a:p>
            <a:pPr lvl="1" algn="just">
              <a:buFont typeface="Wingdings" charset="2"/>
              <a:buNone/>
            </a:pPr>
            <a:r>
              <a:rPr lang="en-US" dirty="0">
                <a:latin typeface="Courier"/>
                <a:cs typeface="Courier"/>
              </a:rPr>
              <a:t>D(N,M) is distance </a:t>
            </a:r>
          </a:p>
          <a:p>
            <a:pPr lvl="1" algn="just">
              <a:buFont typeface="Wingdings" charset="2"/>
              <a:buNone/>
            </a:pPr>
            <a:endParaRPr lang="en-US" dirty="0">
              <a:latin typeface="Courier"/>
              <a:cs typeface="Courier"/>
            </a:endParaRPr>
          </a:p>
        </p:txBody>
      </p:sp>
      <p:sp>
        <p:nvSpPr>
          <p:cNvPr id="9" name="AutoShape 5"/>
          <p:cNvSpPr>
            <a:spLocks/>
          </p:cNvSpPr>
          <p:nvPr/>
        </p:nvSpPr>
        <p:spPr bwMode="auto">
          <a:xfrm>
            <a:off x="1229360" y="1680765"/>
            <a:ext cx="115252" cy="499427"/>
          </a:xfrm>
          <a:prstGeom prst="leftBrace">
            <a:avLst>
              <a:gd name="adj1" fmla="val 37516"/>
              <a:gd name="adj2" fmla="val 50000"/>
            </a:avLst>
          </a:prstGeom>
          <a:noFill/>
          <a:ln w="25400">
            <a:solidFill>
              <a:srgbClr val="000066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1210">
              <a:solidFill>
                <a:srgbClr val="000066"/>
              </a:solidFill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9315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</a:rPr>
              <a:t>Where did the name, dynamic programming, come from? </a:t>
            </a:r>
            <a:endParaRPr lang="en-US" dirty="0"/>
          </a:p>
        </p:txBody>
      </p:sp>
      <p:sp>
        <p:nvSpPr>
          <p:cNvPr id="107827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43493"/>
            <a:ext cx="4494847" cy="1786413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806" dirty="0">
                <a:latin typeface="Arial" charset="0"/>
              </a:rPr>
              <a:t>…</a:t>
            </a:r>
            <a:r>
              <a:rPr lang="en-US" sz="907" dirty="0">
                <a:latin typeface="Arial" charset="0"/>
              </a:rPr>
              <a:t>The 1950s were not good years for mathematical research. [the] Secretary of Defense …had a pathological fear and hatred of the word, research…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907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907" dirty="0">
                <a:latin typeface="Arial" charset="0"/>
              </a:rPr>
              <a:t> I decided therefore to use the word, “</a:t>
            </a:r>
            <a:r>
              <a:rPr lang="en-US" sz="907" b="1" dirty="0">
                <a:latin typeface="Arial" charset="0"/>
              </a:rPr>
              <a:t>programming</a:t>
            </a:r>
            <a:r>
              <a:rPr lang="en-US" sz="907" dirty="0">
                <a:latin typeface="Arial" charset="0"/>
              </a:rPr>
              <a:t>”.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907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907" dirty="0">
                <a:latin typeface="Arial" charset="0"/>
              </a:rPr>
              <a:t> I wanted to get across the idea that this was dynamic, this was multistage… I thought, let’s … take a word that has an absolutely precise meaning, namely </a:t>
            </a:r>
            <a:r>
              <a:rPr lang="en-US" sz="907" b="1" dirty="0">
                <a:latin typeface="Arial" charset="0"/>
              </a:rPr>
              <a:t>dynamic</a:t>
            </a:r>
            <a:r>
              <a:rPr lang="en-US" sz="907" dirty="0">
                <a:latin typeface="Arial" charset="0"/>
              </a:rPr>
              <a:t>… it’s impossible to use the word, </a:t>
            </a:r>
            <a:r>
              <a:rPr lang="en-US" sz="907" b="1" dirty="0">
                <a:latin typeface="Arial" charset="0"/>
              </a:rPr>
              <a:t>dynamic</a:t>
            </a:r>
            <a:r>
              <a:rPr lang="en-US" sz="907" dirty="0">
                <a:latin typeface="Arial" charset="0"/>
              </a:rPr>
              <a:t>, in a pejorative sense. Try thinking of some combination that will possibly give it a pejorative meaning. It’s impossible. 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907" dirty="0">
              <a:latin typeface="Arial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907" dirty="0">
                <a:latin typeface="Arial" charset="0"/>
              </a:rPr>
              <a:t>Thus, I thought dynamic programming was a good name. It was something not even a Congressman could object to.”</a:t>
            </a:r>
            <a:r>
              <a:rPr lang="en-US" sz="806" dirty="0">
                <a:latin typeface="Arial" charset="0"/>
              </a:rPr>
              <a:t>  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endParaRPr lang="en-US" sz="705" dirty="0">
              <a:latin typeface="Arial" charset="0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charset="2"/>
              <a:buNone/>
            </a:pPr>
            <a:r>
              <a:rPr lang="en-US" sz="806" b="1" dirty="0">
                <a:solidFill>
                  <a:srgbClr val="404040"/>
                </a:solidFill>
                <a:latin typeface="Arial" charset="0"/>
              </a:rPr>
              <a:t>		</a:t>
            </a:r>
            <a:r>
              <a:rPr lang="en-US" sz="806" dirty="0">
                <a:solidFill>
                  <a:srgbClr val="404040"/>
                </a:solidFill>
                <a:latin typeface="Arial" charset="0"/>
              </a:rPr>
              <a:t>Richard Bellman, “Eye of the Hurricane: an autobiography” 1984.</a:t>
            </a:r>
            <a:endParaRPr lang="en-US" sz="453" dirty="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45288"/>
      </p:ext>
    </p:extLst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59292" y="257517"/>
            <a:ext cx="2420302" cy="654898"/>
          </a:xfrm>
        </p:spPr>
        <p:txBody>
          <a:bodyPr/>
          <a:lstStyle/>
          <a:p>
            <a:r>
              <a:rPr lang="en-US" sz="2218" dirty="0"/>
              <a:t>Minimum Edit Distance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189797" y="1152525"/>
            <a:ext cx="2151380" cy="864393"/>
          </a:xfrm>
        </p:spPr>
        <p:txBody>
          <a:bodyPr/>
          <a:lstStyle/>
          <a:p>
            <a:pPr eaLnBrk="1" hangingPunct="1"/>
            <a:endParaRPr lang="en-US" dirty="0">
              <a:solidFill>
                <a:srgbClr val="A50021"/>
              </a:solidFill>
              <a:latin typeface="Calibri" charset="0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1613" dirty="0">
                <a:solidFill>
                  <a:srgbClr val="A50021"/>
                </a:solidFill>
                <a:latin typeface="Calibri" charset="0"/>
              </a:rPr>
              <a:t>Weighted Minimum Edit Distance</a:t>
            </a:r>
            <a:endParaRPr lang="en-US" sz="1613" dirty="0">
              <a:latin typeface="Calibri" charset="0"/>
            </a:endParaRPr>
          </a:p>
          <a:p>
            <a:pPr eaLnBrk="1" hangingPunct="1"/>
            <a:endParaRPr lang="en-U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8767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LP-jurafsky">
  <a:themeElements>
    <a:clrScheme name="NLP Class">
      <a:dk1>
        <a:sysClr val="windowText" lastClr="000000"/>
      </a:dk1>
      <a:lt1>
        <a:sysClr val="window" lastClr="FFFFFF"/>
      </a:lt1>
      <a:dk2>
        <a:srgbClr val="605435"/>
      </a:dk2>
      <a:lt2>
        <a:srgbClr val="E7D19A"/>
      </a:lt2>
      <a:accent1>
        <a:srgbClr val="A4001D"/>
      </a:accent1>
      <a:accent2>
        <a:srgbClr val="2584BB"/>
      </a:accent2>
      <a:accent3>
        <a:srgbClr val="BB57BE"/>
      </a:accent3>
      <a:accent4>
        <a:srgbClr val="177245"/>
      </a:accent4>
      <a:accent5>
        <a:srgbClr val="35ACA2"/>
      </a:accent5>
      <a:accent6>
        <a:srgbClr val="FF8700"/>
      </a:accent6>
      <a:hlink>
        <a:srgbClr val="EF8E1C"/>
      </a:hlink>
      <a:folHlink>
        <a:srgbClr val="FEC60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2">
            <a:lumMod val="40000"/>
            <a:lumOff val="60000"/>
          </a:schemeClr>
        </a:solidFill>
        <a:ln w="9525" cap="flat" cmpd="sng" algn="ctr">
          <a:noFill/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21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spDef>
    <a:lnDef>
      <a:spPr bwMode="auto">
        <a:xfrm>
          <a:off x="0" y="0"/>
          <a:ext cx="0" cy="0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rgbClr val="A50021"/>
            </a:gs>
            <a:gs pos="100000">
              <a:schemeClr val="tx1"/>
            </a:gs>
          </a:gsLst>
          <a:lin ang="0" scaled="1"/>
        </a:gra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1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Lucida Sans" pitchFamily="-65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907" dirty="0">
            <a:latin typeface="+mn-lt"/>
          </a:defRPr>
        </a:defPPr>
      </a:lstStyle>
    </a:txDef>
  </a:objectDefaults>
  <a:extraClrSchemeLst>
    <a:extraClrScheme>
      <a:clrScheme name="nlp-lucida-schem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lp-lucida-schem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lp-lucida-scheme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51</TotalTime>
  <Words>10133</Words>
  <Application>Microsoft Office PowerPoint</Application>
  <PresentationFormat>Custom</PresentationFormat>
  <Paragraphs>1873</Paragraphs>
  <Slides>226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226</vt:i4>
      </vt:variant>
    </vt:vector>
  </HeadingPairs>
  <TitlesOfParts>
    <vt:vector size="243" baseType="lpstr">
      <vt:lpstr>SimSun-ExtB</vt:lpstr>
      <vt:lpstr>Arial</vt:lpstr>
      <vt:lpstr>Arial MT</vt:lpstr>
      <vt:lpstr>Arial Unicode MS</vt:lpstr>
      <vt:lpstr>Calibri</vt:lpstr>
      <vt:lpstr>Cambria</vt:lpstr>
      <vt:lpstr>Courier</vt:lpstr>
      <vt:lpstr>Courier New</vt:lpstr>
      <vt:lpstr>Lucida Sans</vt:lpstr>
      <vt:lpstr>Lucida Sans Unicode</vt:lpstr>
      <vt:lpstr>Tahoma</vt:lpstr>
      <vt:lpstr>Times</vt:lpstr>
      <vt:lpstr>Times New Roman</vt:lpstr>
      <vt:lpstr>Trebuchet MS</vt:lpstr>
      <vt:lpstr>Wingdings</vt:lpstr>
      <vt:lpstr>Office Theme</vt:lpstr>
      <vt:lpstr>NLP-jurafsky</vt:lpstr>
      <vt:lpstr>PowerPoint Presentation</vt:lpstr>
      <vt:lpstr>Books and Materials</vt:lpstr>
      <vt:lpstr>Why study NLP?</vt:lpstr>
      <vt:lpstr>Why study NLP?</vt:lpstr>
      <vt:lpstr>Why study NLP?</vt:lpstr>
      <vt:lpstr>PowerPoint Presentation</vt:lpstr>
      <vt:lpstr>PowerPoint Presentation</vt:lpstr>
      <vt:lpstr>What is NLP?</vt:lpstr>
      <vt:lpstr>PowerPoint Presentation</vt:lpstr>
      <vt:lpstr>What is NLP?</vt:lpstr>
      <vt:lpstr>PowerPoint Presentation</vt:lpstr>
      <vt:lpstr>PowerPoint Presentation</vt:lpstr>
      <vt:lpstr>Well, even humans have made blunders</vt:lpstr>
      <vt:lpstr>Well, even humans have made blunders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And Goals can be Practical: Domain-specific Chatbots</vt:lpstr>
      <vt:lpstr>PowerPoint Presentation</vt:lpstr>
      <vt:lpstr>PowerPoint Presentation</vt:lpstr>
      <vt:lpstr>Other Goals</vt:lpstr>
      <vt:lpstr>PowerPoint Presentation</vt:lpstr>
      <vt:lpstr>PowerPoint Presentation</vt:lpstr>
      <vt:lpstr>Why is NLP hard?</vt:lpstr>
      <vt:lpstr>Why is NLP hard?</vt:lpstr>
      <vt:lpstr>Why is NLP hard?</vt:lpstr>
      <vt:lpstr>Why is NLP hard?</vt:lpstr>
      <vt:lpstr>Why is NLP hard?</vt:lpstr>
      <vt:lpstr>Why is NLP hard?</vt:lpstr>
      <vt:lpstr>PowerPoint Presentation</vt:lpstr>
      <vt:lpstr>But that’s the fun part of it</vt:lpstr>
      <vt:lpstr>Ambiguities</vt:lpstr>
      <vt:lpstr>PowerPoint Presentation</vt:lpstr>
      <vt:lpstr>Ambiguity is pervasive</vt:lpstr>
      <vt:lpstr>Ambiguity is pervasive</vt:lpstr>
      <vt:lpstr>Ambiguity is pervasive</vt:lpstr>
      <vt:lpstr>Ambiguity is pervasive</vt:lpstr>
      <vt:lpstr>Ambiguity is pervasive</vt:lpstr>
      <vt:lpstr>PowerPoint Presentation</vt:lpstr>
      <vt:lpstr>Ambiguity is Explosive</vt:lpstr>
      <vt:lpstr>Ambiguity is Explosive</vt:lpstr>
      <vt:lpstr>Ambiguity is Explosive</vt:lpstr>
      <vt:lpstr>Ambiguity is Explosive</vt:lpstr>
      <vt:lpstr>Why is Language Ambiguous?</vt:lpstr>
      <vt:lpstr>Why is Language Ambiguous?</vt:lpstr>
      <vt:lpstr>Why is Language Ambiguous?</vt:lpstr>
      <vt:lpstr>Why is Language Ambiguous?</vt:lpstr>
      <vt:lpstr>Natural Languages vs. Computer Languages</vt:lpstr>
      <vt:lpstr>Natural Languages vs. Computer Languages</vt:lpstr>
      <vt:lpstr>Natural Languages vs. Computer Languages</vt:lpstr>
      <vt:lpstr>Natural Languages vs. Computer Languages</vt:lpstr>
      <vt:lpstr>PowerPoint Presentation</vt:lpstr>
      <vt:lpstr>PowerPoint Presentation</vt:lpstr>
      <vt:lpstr>Why is NLP hard? </vt:lpstr>
      <vt:lpstr>Why else is NLP hard?</vt:lpstr>
      <vt:lpstr>Why else is NLP hard?</vt:lpstr>
      <vt:lpstr>Why else is NLP hard?</vt:lpstr>
      <vt:lpstr>Why else is NLP hard?</vt:lpstr>
      <vt:lpstr>PowerPoint Presentation</vt:lpstr>
      <vt:lpstr>Why else is NLP hard?</vt:lpstr>
      <vt:lpstr>PowerPoint Presentation</vt:lpstr>
      <vt:lpstr>Why is NLP hard?</vt:lpstr>
      <vt:lpstr>Why is NLP hard?</vt:lpstr>
      <vt:lpstr>What we do in NLP?</vt:lpstr>
      <vt:lpstr>What we do in NLP?</vt:lpstr>
      <vt:lpstr>What we do in NLP?</vt:lpstr>
      <vt:lpstr>PowerPoint Presentation</vt:lpstr>
      <vt:lpstr>PowerPoint Presentation</vt:lpstr>
      <vt:lpstr>Introduction</vt:lpstr>
      <vt:lpstr>Approach &amp; Techniques</vt:lpstr>
      <vt:lpstr>Feature Representation</vt:lpstr>
      <vt:lpstr>Scalability &amp; Data Requirements</vt:lpstr>
      <vt:lpstr>Interpretability &amp; Explainability</vt:lpstr>
      <vt:lpstr>Generalization &amp; Adaptability</vt:lpstr>
      <vt:lpstr>Applications &amp; Evolution</vt:lpstr>
      <vt:lpstr>PowerPoint Presentation</vt:lpstr>
      <vt:lpstr>Conclusion</vt:lpstr>
      <vt:lpstr>PowerPoint Presentation</vt:lpstr>
      <vt:lpstr>Function Words vs. Content Words</vt:lpstr>
      <vt:lpstr>Function Words vs. Content Words</vt:lpstr>
      <vt:lpstr>Function Words vs. Content Words</vt:lpstr>
      <vt:lpstr>PowerPoint Presentation</vt:lpstr>
      <vt:lpstr>Most Common Words in Tom Sawyer</vt:lpstr>
      <vt:lpstr>Most Common Words in Tom Sawyer</vt:lpstr>
      <vt:lpstr>Most Common Words in Tom Sawyer</vt:lpstr>
      <vt:lpstr>PowerPoint Presentation</vt:lpstr>
      <vt:lpstr>PowerPoint Presentation</vt:lpstr>
      <vt:lpstr>Type vs. Tokens</vt:lpstr>
      <vt:lpstr>Comparison Across Texts</vt:lpstr>
      <vt:lpstr>Empirical Observations on Various Texts</vt:lpstr>
      <vt:lpstr>PowerPoint Presentation</vt:lpstr>
      <vt:lpstr>Empirical Observations on Various Texts</vt:lpstr>
      <vt:lpstr>Empirical Observations on Various Texts</vt:lpstr>
      <vt:lpstr>Empirical Observations on Various Texts</vt:lpstr>
      <vt:lpstr>Word Distribution from Tom Sawyer</vt:lpstr>
      <vt:lpstr>Word Distribution from Tom Sawyer</vt:lpstr>
      <vt:lpstr>Word Distribution from Tom Sawyer</vt:lpstr>
      <vt:lpstr>Zipf’s Law</vt:lpstr>
      <vt:lpstr>Zipf’s Law</vt:lpstr>
      <vt:lpstr>Zipf’s Law</vt:lpstr>
      <vt:lpstr>Zipf’s Law</vt:lpstr>
      <vt:lpstr>Zipf’s Law</vt:lpstr>
      <vt:lpstr>Zipf’s Law</vt:lpstr>
      <vt:lpstr>Zipf’s Law</vt:lpstr>
      <vt:lpstr>Zipf’s Law</vt:lpstr>
      <vt:lpstr>PowerPoint Presentation</vt:lpstr>
      <vt:lpstr>Zipf’s Other Laws</vt:lpstr>
      <vt:lpstr>Zipf’s Other Laws</vt:lpstr>
      <vt:lpstr>Zipf’s Other Laws</vt:lpstr>
      <vt:lpstr>Zipf’s Other Laws</vt:lpstr>
      <vt:lpstr>Impact of Zipf’s Law</vt:lpstr>
      <vt:lpstr>Impact of Zipf’s Law</vt:lpstr>
      <vt:lpstr>Vocabulary Growth</vt:lpstr>
      <vt:lpstr>Vocabulary Growth</vt:lpstr>
      <vt:lpstr>Vocabulary Growth</vt:lpstr>
      <vt:lpstr>PowerPoint Presentation</vt:lpstr>
      <vt:lpstr>PowerPoint Presentation</vt:lpstr>
      <vt:lpstr>Text processing: tokenization</vt:lpstr>
      <vt:lpstr>Sentence Segmentation</vt:lpstr>
      <vt:lpstr>Sentence Segmentation</vt:lpstr>
      <vt:lpstr>Sentence Segmentation</vt:lpstr>
      <vt:lpstr>Sentence Segmentation</vt:lpstr>
      <vt:lpstr>Sentence Segmentation</vt:lpstr>
      <vt:lpstr>Sentence Segmentation</vt:lpstr>
      <vt:lpstr>Sentence Segmentation: Decision Tree Example</vt:lpstr>
      <vt:lpstr>Sentence Segmentation: Decision Tree Example</vt:lpstr>
      <vt:lpstr>PowerPoint Presentation</vt:lpstr>
      <vt:lpstr>PowerPoint Presentation</vt:lpstr>
      <vt:lpstr>Other Important Features</vt:lpstr>
      <vt:lpstr>Other Important Features</vt:lpstr>
      <vt:lpstr>PowerPoint Presentation</vt:lpstr>
      <vt:lpstr>PowerPoint Presentation</vt:lpstr>
      <vt:lpstr>Other Important Features</vt:lpstr>
      <vt:lpstr>PowerPoint Presentation</vt:lpstr>
      <vt:lpstr>PowerPoint Presentation</vt:lpstr>
      <vt:lpstr>PowerPoint Presentation</vt:lpstr>
      <vt:lpstr>PowerPoint Presentation</vt:lpstr>
      <vt:lpstr>Implementing Decision Trees</vt:lpstr>
      <vt:lpstr>Implementing Decision Trees</vt:lpstr>
      <vt:lpstr>Implementing Decision Trees</vt:lpstr>
      <vt:lpstr>PowerPoint Presentation</vt:lpstr>
      <vt:lpstr>Other Classifiers</vt:lpstr>
      <vt:lpstr>Other Classifiers</vt:lpstr>
      <vt:lpstr>Word Tokenization</vt:lpstr>
      <vt:lpstr>Word Tokenization</vt:lpstr>
      <vt:lpstr>NLTK Toolkit (Python) Stanford CoreNLP (Java) Unix Commands</vt:lpstr>
      <vt:lpstr>PowerPoint Presentation</vt:lpstr>
      <vt:lpstr>Word Tokenization</vt:lpstr>
      <vt:lpstr>Word Tokenization</vt:lpstr>
      <vt:lpstr>PowerPoint Presentation</vt:lpstr>
      <vt:lpstr>Handling Hyphenation</vt:lpstr>
      <vt:lpstr>Handling Hyphenation</vt:lpstr>
      <vt:lpstr>Handling Hyphenation</vt:lpstr>
      <vt:lpstr>PowerPoint Presentation</vt:lpstr>
      <vt:lpstr>Language Specific Issues: French and German</vt:lpstr>
      <vt:lpstr>PowerPoint Presentation</vt:lpstr>
      <vt:lpstr>Language Specific Issues: Chinese and Japanese</vt:lpstr>
      <vt:lpstr>Language Specific Issues: Sanskrit</vt:lpstr>
      <vt:lpstr>Language Specific Issues: Sanskrit</vt:lpstr>
      <vt:lpstr>PowerPoint Presentation</vt:lpstr>
      <vt:lpstr>Longest Words</vt:lpstr>
      <vt:lpstr>PowerPoint Presentation</vt:lpstr>
      <vt:lpstr>Word Tokenization in Chinese or Sanskrit</vt:lpstr>
      <vt:lpstr>Word Tokenization in Chinese or Sanskrit</vt:lpstr>
      <vt:lpstr>PowerPoint Presentation</vt:lpstr>
      <vt:lpstr>Text Segmentation for Sanskrit</vt:lpstr>
      <vt:lpstr>Text Segmentation for Sanskrit</vt:lpstr>
      <vt:lpstr>PowerPoint Presentation</vt:lpstr>
      <vt:lpstr>Normalization</vt:lpstr>
      <vt:lpstr>Normalization</vt:lpstr>
      <vt:lpstr>PowerPoint Presentation</vt:lpstr>
      <vt:lpstr>Case Folding</vt:lpstr>
      <vt:lpstr>Case Folding</vt:lpstr>
      <vt:lpstr>Lemmatization</vt:lpstr>
      <vt:lpstr>Morphology</vt:lpstr>
      <vt:lpstr>Morphology</vt:lpstr>
      <vt:lpstr>Morphology</vt:lpstr>
      <vt:lpstr>Morphology</vt:lpstr>
      <vt:lpstr>Morphology</vt:lpstr>
      <vt:lpstr>Reducing terms to their stems, used in information retrieval</vt:lpstr>
      <vt:lpstr>Stemming</vt:lpstr>
      <vt:lpstr>Stemming</vt:lpstr>
      <vt:lpstr>Porter’s algorithm</vt:lpstr>
      <vt:lpstr>Porter’s algorithm</vt:lpstr>
      <vt:lpstr>Porter’s algorithm</vt:lpstr>
      <vt:lpstr>Porter’s algorithm</vt:lpstr>
      <vt:lpstr>Porter’s algorithm</vt:lpstr>
      <vt:lpstr>PowerPoint Presentation</vt:lpstr>
      <vt:lpstr>Minimum Edit Distance</vt:lpstr>
      <vt:lpstr>How similar are two strings?</vt:lpstr>
      <vt:lpstr>Edit Distance</vt:lpstr>
      <vt:lpstr>Minimum Edit Distance</vt:lpstr>
      <vt:lpstr>Minimum Edit Distance</vt:lpstr>
      <vt:lpstr>Alignment in Computational Biology</vt:lpstr>
      <vt:lpstr>Other uses of Edit Distance in NLP</vt:lpstr>
      <vt:lpstr>How to find the Min Edit Distance?</vt:lpstr>
      <vt:lpstr>Minimum Edit as Search</vt:lpstr>
      <vt:lpstr>Defining Min Edit Distance</vt:lpstr>
      <vt:lpstr>Minimum Edit Distance</vt:lpstr>
      <vt:lpstr>Minimum Edit Distance</vt:lpstr>
      <vt:lpstr>Dynamic Programming for Minimum Edit Distance</vt:lpstr>
      <vt:lpstr>Defining Min Edit Distance (Levenshtein)</vt:lpstr>
      <vt:lpstr>The Edit Distance Table</vt:lpstr>
      <vt:lpstr>PowerPoint Presentation</vt:lpstr>
      <vt:lpstr>Edit Distance</vt:lpstr>
      <vt:lpstr>PowerPoint Presentation</vt:lpstr>
      <vt:lpstr>Minimum Edit Distance</vt:lpstr>
      <vt:lpstr>Minimum Edit Distance</vt:lpstr>
      <vt:lpstr>Computing alignments</vt:lpstr>
      <vt:lpstr>Edit Distance</vt:lpstr>
      <vt:lpstr>MinEdit with Backtrace</vt:lpstr>
      <vt:lpstr>Adding Backtrace to Minimum Edit Distance</vt:lpstr>
      <vt:lpstr>The Distance Matrix</vt:lpstr>
      <vt:lpstr>Result of Backtrace</vt:lpstr>
      <vt:lpstr>Performance</vt:lpstr>
      <vt:lpstr>Minimum Edit Distance</vt:lpstr>
      <vt:lpstr>Minimum Edit Distance</vt:lpstr>
      <vt:lpstr>Weighted Edit Distance</vt:lpstr>
      <vt:lpstr>Confusion matrix for spelling errors</vt:lpstr>
      <vt:lpstr>PowerPoint Presentation</vt:lpstr>
      <vt:lpstr>Weighted Min Edit Distance</vt:lpstr>
      <vt:lpstr>Where did the name, dynamic programming, come from? </vt:lpstr>
      <vt:lpstr>Minimum Edit Distance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Karnam Akhil</dc:creator>
  <cp:lastModifiedBy>KARNAM AKHIL 20071D5806</cp:lastModifiedBy>
  <cp:revision>24</cp:revision>
  <dcterms:created xsi:type="dcterms:W3CDTF">2025-03-08T02:23:30Z</dcterms:created>
  <dcterms:modified xsi:type="dcterms:W3CDTF">2025-03-08T03:24:02Z</dcterms:modified>
</cp:coreProperties>
</file>