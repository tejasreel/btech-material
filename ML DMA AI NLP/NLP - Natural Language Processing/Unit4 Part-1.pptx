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  <p:sldId id="363" r:id="rId109"/>
    <p:sldId id="364" r:id="rId110"/>
    <p:sldId id="365" r:id="rId111"/>
    <p:sldId id="366" r:id="rId112"/>
    <p:sldId id="367" r:id="rId113"/>
    <p:sldId id="368" r:id="rId114"/>
    <p:sldId id="369" r:id="rId115"/>
    <p:sldId id="370" r:id="rId116"/>
    <p:sldId id="371" r:id="rId117"/>
    <p:sldId id="372" r:id="rId118"/>
    <p:sldId id="373" r:id="rId119"/>
    <p:sldId id="374" r:id="rId120"/>
    <p:sldId id="375" r:id="rId121"/>
    <p:sldId id="376" r:id="rId122"/>
    <p:sldId id="377" r:id="rId123"/>
    <p:sldId id="378" r:id="rId124"/>
    <p:sldId id="379" r:id="rId125"/>
    <p:sldId id="380" r:id="rId126"/>
    <p:sldId id="381" r:id="rId127"/>
    <p:sldId id="382" r:id="rId128"/>
    <p:sldId id="383" r:id="rId129"/>
    <p:sldId id="384" r:id="rId130"/>
    <p:sldId id="385" r:id="rId131"/>
    <p:sldId id="386" r:id="rId132"/>
    <p:sldId id="387" r:id="rId133"/>
    <p:sldId id="388" r:id="rId134"/>
    <p:sldId id="389" r:id="rId135"/>
    <p:sldId id="390" r:id="rId136"/>
    <p:sldId id="391" r:id="rId137"/>
    <p:sldId id="392" r:id="rId138"/>
  </p:sldIdLst>
  <p:sldSz cx="4610100" cy="3460750"/>
  <p:notesSz cx="9388475" cy="7102475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44" d="100"/>
          <a:sy n="144" d="100"/>
        </p:scale>
        <p:origin x="1670" y="8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28" Type="http://schemas.openxmlformats.org/officeDocument/2006/relationships/slide" Target="slides/slide127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134" Type="http://schemas.openxmlformats.org/officeDocument/2006/relationships/slide" Target="slides/slide133.xml"/><Relationship Id="rId139" Type="http://schemas.openxmlformats.org/officeDocument/2006/relationships/notesMaster" Target="notesMasters/notesMaster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slide" Target="slides/slide123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4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35" Type="http://schemas.openxmlformats.org/officeDocument/2006/relationships/slide" Target="slides/slide134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141" Type="http://schemas.openxmlformats.org/officeDocument/2006/relationships/viewProps" Target="view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slide" Target="slides/slide135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theme" Target="theme/theme1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6" Type="http://schemas.openxmlformats.org/officeDocument/2006/relationships/slide" Target="slides/slide1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4067046" cy="355125"/>
          </a:xfrm>
          <a:prstGeom prst="rect">
            <a:avLst/>
          </a:prstGeom>
        </p:spPr>
        <p:txBody>
          <a:bodyPr vert="horz" lIns="186830" tIns="93415" rIns="186830" bIns="93415" rtlCol="0"/>
          <a:lstStyle>
            <a:lvl1pPr algn="l">
              <a:defRPr sz="25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318198" y="0"/>
            <a:ext cx="4067046" cy="355125"/>
          </a:xfrm>
          <a:prstGeom prst="rect">
            <a:avLst/>
          </a:prstGeom>
        </p:spPr>
        <p:txBody>
          <a:bodyPr vert="horz" lIns="186830" tIns="93415" rIns="186830" bIns="93415" rtlCol="0"/>
          <a:lstStyle>
            <a:lvl1pPr algn="r">
              <a:defRPr sz="2500"/>
            </a:lvl1pPr>
          </a:lstStyle>
          <a:p>
            <a:fld id="{900B0619-9CF1-4658-AD1B-CE4BC5DD36B0}" type="datetimeFigureOut">
              <a:rPr lang="en-IN" smtClean="0"/>
              <a:t>30-05-2025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98800" y="889000"/>
            <a:ext cx="3190875" cy="239553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186830" tIns="93415" rIns="186830" bIns="93415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37555" y="3417660"/>
            <a:ext cx="7513366" cy="2798635"/>
          </a:xfrm>
          <a:prstGeom prst="rect">
            <a:avLst/>
          </a:prstGeom>
        </p:spPr>
        <p:txBody>
          <a:bodyPr vert="horz" lIns="186830" tIns="93415" rIns="186830" bIns="93415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6747353"/>
            <a:ext cx="4067046" cy="355123"/>
          </a:xfrm>
          <a:prstGeom prst="rect">
            <a:avLst/>
          </a:prstGeom>
        </p:spPr>
        <p:txBody>
          <a:bodyPr vert="horz" lIns="186830" tIns="93415" rIns="186830" bIns="93415" rtlCol="0" anchor="b"/>
          <a:lstStyle>
            <a:lvl1pPr algn="l">
              <a:defRPr sz="25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318198" y="6747353"/>
            <a:ext cx="4067046" cy="355123"/>
          </a:xfrm>
          <a:prstGeom prst="rect">
            <a:avLst/>
          </a:prstGeom>
        </p:spPr>
        <p:txBody>
          <a:bodyPr vert="horz" lIns="186830" tIns="93415" rIns="186830" bIns="93415" rtlCol="0" anchor="b"/>
          <a:lstStyle>
            <a:lvl1pPr algn="r">
              <a:defRPr sz="2500"/>
            </a:lvl1pPr>
          </a:lstStyle>
          <a:p>
            <a:fld id="{E1E3F4A5-CC14-4F6C-BD90-636324DF6B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62979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5250" y="60502"/>
            <a:ext cx="2722880" cy="2444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1">
                <a:solidFill>
                  <a:schemeClr val="bg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691515" y="1938020"/>
            <a:ext cx="3227070" cy="8651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1">
                <a:solidFill>
                  <a:srgbClr val="3232B2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1">
                <a:solidFill>
                  <a:schemeClr val="bg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100" b="0" i="1">
                <a:solidFill>
                  <a:srgbClr val="3232B2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1">
                <a:solidFill>
                  <a:schemeClr val="bg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230505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2374201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1">
                <a:solidFill>
                  <a:schemeClr val="bg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3095409" y="3262401"/>
            <a:ext cx="43180" cy="30480"/>
          </a:xfrm>
          <a:custGeom>
            <a:avLst/>
            <a:gdLst/>
            <a:ahLst/>
            <a:cxnLst/>
            <a:rect l="l" t="t" r="r" b="b"/>
            <a:pathLst>
              <a:path w="43180" h="30479">
                <a:moveTo>
                  <a:pt x="0" y="30353"/>
                </a:moveTo>
                <a:lnTo>
                  <a:pt x="43052" y="30353"/>
                </a:lnTo>
                <a:lnTo>
                  <a:pt x="43052" y="0"/>
                </a:lnTo>
                <a:lnTo>
                  <a:pt x="0" y="0"/>
                </a:lnTo>
                <a:lnTo>
                  <a:pt x="0" y="30353"/>
                </a:lnTo>
                <a:close/>
              </a:path>
            </a:pathLst>
          </a:custGeom>
          <a:ln w="5054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3015780" y="3258464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25400" y="0"/>
                </a:moveTo>
                <a:lnTo>
                  <a:pt x="0" y="19049"/>
                </a:lnTo>
                <a:lnTo>
                  <a:pt x="25400" y="38099"/>
                </a:lnTo>
                <a:lnTo>
                  <a:pt x="2540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3193580" y="3258464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0" y="0"/>
                </a:moveTo>
                <a:lnTo>
                  <a:pt x="0" y="38099"/>
                </a:lnTo>
                <a:lnTo>
                  <a:pt x="25400" y="19049"/>
                </a:lnTo>
                <a:lnTo>
                  <a:pt x="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3344608" y="3252114"/>
            <a:ext cx="64135" cy="50800"/>
          </a:xfrm>
          <a:custGeom>
            <a:avLst/>
            <a:gdLst/>
            <a:ahLst/>
            <a:cxnLst/>
            <a:rect l="l" t="t" r="r" b="b"/>
            <a:pathLst>
              <a:path w="64135" h="50800">
                <a:moveTo>
                  <a:pt x="0" y="50799"/>
                </a:moveTo>
                <a:lnTo>
                  <a:pt x="43052" y="50799"/>
                </a:lnTo>
                <a:lnTo>
                  <a:pt x="43052" y="20446"/>
                </a:lnTo>
                <a:lnTo>
                  <a:pt x="0" y="20446"/>
                </a:lnTo>
                <a:lnTo>
                  <a:pt x="0" y="50799"/>
                </a:lnTo>
                <a:close/>
              </a:path>
              <a:path w="64135" h="50800">
                <a:moveTo>
                  <a:pt x="10540" y="20319"/>
                </a:moveTo>
                <a:lnTo>
                  <a:pt x="10540" y="10159"/>
                </a:lnTo>
                <a:lnTo>
                  <a:pt x="53720" y="10159"/>
                </a:lnTo>
                <a:lnTo>
                  <a:pt x="53720" y="40639"/>
                </a:lnTo>
                <a:lnTo>
                  <a:pt x="43560" y="40639"/>
                </a:lnTo>
              </a:path>
              <a:path w="64135" h="50800">
                <a:moveTo>
                  <a:pt x="20700" y="10159"/>
                </a:moveTo>
                <a:lnTo>
                  <a:pt x="20700" y="0"/>
                </a:lnTo>
                <a:lnTo>
                  <a:pt x="63880" y="0"/>
                </a:lnTo>
                <a:lnTo>
                  <a:pt x="63880" y="30479"/>
                </a:lnTo>
                <a:lnTo>
                  <a:pt x="53720" y="30479"/>
                </a:lnTo>
              </a:path>
            </a:pathLst>
          </a:custGeom>
          <a:ln w="5054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3281489" y="3258464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49"/>
                </a:lnTo>
                <a:lnTo>
                  <a:pt x="25400" y="38099"/>
                </a:lnTo>
                <a:lnTo>
                  <a:pt x="25400" y="0"/>
                </a:lnTo>
                <a:close/>
              </a:path>
              <a:path w="203200" h="38100">
                <a:moveTo>
                  <a:pt x="177800" y="0"/>
                </a:moveTo>
                <a:lnTo>
                  <a:pt x="177800" y="38099"/>
                </a:lnTo>
                <a:lnTo>
                  <a:pt x="203200" y="19049"/>
                </a:lnTo>
                <a:lnTo>
                  <a:pt x="17780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3636111" y="3264814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7594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3547211" y="3258464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49"/>
                </a:lnTo>
                <a:lnTo>
                  <a:pt x="25400" y="38099"/>
                </a:lnTo>
                <a:lnTo>
                  <a:pt x="25400" y="0"/>
                </a:lnTo>
                <a:close/>
              </a:path>
              <a:path w="203200" h="38100">
                <a:moveTo>
                  <a:pt x="177800" y="0"/>
                </a:moveTo>
                <a:lnTo>
                  <a:pt x="177800" y="38099"/>
                </a:lnTo>
                <a:lnTo>
                  <a:pt x="203200" y="19049"/>
                </a:lnTo>
                <a:lnTo>
                  <a:pt x="17780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g object 23"/>
          <p:cNvSpPr/>
          <p:nvPr/>
        </p:nvSpPr>
        <p:spPr>
          <a:xfrm>
            <a:off x="3623411" y="3252113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25400"/>
                </a:moveTo>
                <a:lnTo>
                  <a:pt x="50800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0" y="50800"/>
                </a:lnTo>
              </a:path>
            </a:pathLst>
          </a:custGeom>
          <a:ln w="7594">
            <a:solidFill>
              <a:srgbClr val="D6D6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g object 24"/>
          <p:cNvSpPr/>
          <p:nvPr/>
        </p:nvSpPr>
        <p:spPr>
          <a:xfrm>
            <a:off x="3889121" y="3252113"/>
            <a:ext cx="50800" cy="25400"/>
          </a:xfrm>
          <a:custGeom>
            <a:avLst/>
            <a:gdLst/>
            <a:ahLst/>
            <a:cxnLst/>
            <a:rect l="l" t="t" r="r" b="b"/>
            <a:pathLst>
              <a:path w="50800" h="25400">
                <a:moveTo>
                  <a:pt x="0" y="0"/>
                </a:moveTo>
                <a:lnTo>
                  <a:pt x="38100" y="0"/>
                </a:lnTo>
              </a:path>
              <a:path w="50800" h="25400">
                <a:moveTo>
                  <a:pt x="12700" y="12700"/>
                </a:moveTo>
                <a:lnTo>
                  <a:pt x="50800" y="12700"/>
                </a:lnTo>
              </a:path>
              <a:path w="50800" h="25400">
                <a:moveTo>
                  <a:pt x="12700" y="25400"/>
                </a:moveTo>
                <a:lnTo>
                  <a:pt x="50800" y="25400"/>
                </a:lnTo>
              </a:path>
            </a:pathLst>
          </a:custGeom>
          <a:ln w="7594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bg object 25"/>
          <p:cNvSpPr/>
          <p:nvPr/>
        </p:nvSpPr>
        <p:spPr>
          <a:xfrm>
            <a:off x="3812921" y="3258464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49"/>
                </a:lnTo>
                <a:lnTo>
                  <a:pt x="25400" y="38099"/>
                </a:lnTo>
                <a:lnTo>
                  <a:pt x="25400" y="0"/>
                </a:lnTo>
                <a:close/>
              </a:path>
              <a:path w="203200" h="38100">
                <a:moveTo>
                  <a:pt x="177800" y="0"/>
                </a:moveTo>
                <a:lnTo>
                  <a:pt x="177800" y="38099"/>
                </a:lnTo>
                <a:lnTo>
                  <a:pt x="203200" y="19049"/>
                </a:lnTo>
                <a:lnTo>
                  <a:pt x="17780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bg object 26"/>
          <p:cNvSpPr/>
          <p:nvPr/>
        </p:nvSpPr>
        <p:spPr>
          <a:xfrm>
            <a:off x="3889121" y="3290214"/>
            <a:ext cx="50800" cy="12700"/>
          </a:xfrm>
          <a:custGeom>
            <a:avLst/>
            <a:gdLst/>
            <a:ahLst/>
            <a:cxnLst/>
            <a:rect l="l" t="t" r="r" b="b"/>
            <a:pathLst>
              <a:path w="50800" h="12700">
                <a:moveTo>
                  <a:pt x="0" y="0"/>
                </a:moveTo>
                <a:lnTo>
                  <a:pt x="38100" y="0"/>
                </a:lnTo>
              </a:path>
              <a:path w="50800" h="12700">
                <a:moveTo>
                  <a:pt x="12700" y="12699"/>
                </a:moveTo>
                <a:lnTo>
                  <a:pt x="50800" y="12699"/>
                </a:lnTo>
              </a:path>
            </a:pathLst>
          </a:custGeom>
          <a:ln w="7594">
            <a:solidFill>
              <a:srgbClr val="D6D6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bg object 27"/>
          <p:cNvSpPr/>
          <p:nvPr/>
        </p:nvSpPr>
        <p:spPr>
          <a:xfrm>
            <a:off x="4154830" y="3252113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12700"/>
                </a:moveTo>
                <a:lnTo>
                  <a:pt x="50800" y="12700"/>
                </a:lnTo>
              </a:path>
              <a:path w="50800" h="50800">
                <a:moveTo>
                  <a:pt x="12700" y="25400"/>
                </a:moveTo>
                <a:lnTo>
                  <a:pt x="50800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0" y="50800"/>
                </a:lnTo>
              </a:path>
            </a:pathLst>
          </a:custGeom>
          <a:ln w="7594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bg object 28"/>
          <p:cNvSpPr/>
          <p:nvPr/>
        </p:nvSpPr>
        <p:spPr>
          <a:xfrm>
            <a:off x="4451032" y="3282594"/>
            <a:ext cx="20320" cy="20320"/>
          </a:xfrm>
          <a:custGeom>
            <a:avLst/>
            <a:gdLst/>
            <a:ahLst/>
            <a:cxnLst/>
            <a:rect l="l" t="t" r="r" b="b"/>
            <a:pathLst>
              <a:path w="20320" h="20320">
                <a:moveTo>
                  <a:pt x="0" y="0"/>
                </a:moveTo>
                <a:lnTo>
                  <a:pt x="20320" y="20319"/>
                </a:lnTo>
              </a:path>
            </a:pathLst>
          </a:custGeom>
          <a:ln w="7594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bg object 29"/>
          <p:cNvSpPr/>
          <p:nvPr/>
        </p:nvSpPr>
        <p:spPr>
          <a:xfrm>
            <a:off x="4423981" y="3256042"/>
            <a:ext cx="30480" cy="30480"/>
          </a:xfrm>
          <a:custGeom>
            <a:avLst/>
            <a:gdLst/>
            <a:ahLst/>
            <a:cxnLst/>
            <a:rect l="l" t="t" r="r" b="b"/>
            <a:pathLst>
              <a:path w="30479" h="30479">
                <a:moveTo>
                  <a:pt x="30352" y="15240"/>
                </a:moveTo>
                <a:lnTo>
                  <a:pt x="30352" y="6858"/>
                </a:lnTo>
                <a:lnTo>
                  <a:pt x="23621" y="0"/>
                </a:lnTo>
                <a:lnTo>
                  <a:pt x="15112" y="0"/>
                </a:lnTo>
                <a:lnTo>
                  <a:pt x="6730" y="0"/>
                </a:lnTo>
                <a:lnTo>
                  <a:pt x="0" y="6858"/>
                </a:lnTo>
                <a:lnTo>
                  <a:pt x="0" y="15240"/>
                </a:lnTo>
                <a:lnTo>
                  <a:pt x="0" y="23622"/>
                </a:lnTo>
                <a:lnTo>
                  <a:pt x="6730" y="30480"/>
                </a:lnTo>
                <a:lnTo>
                  <a:pt x="15112" y="30480"/>
                </a:lnTo>
                <a:lnTo>
                  <a:pt x="23621" y="30480"/>
                </a:lnTo>
                <a:lnTo>
                  <a:pt x="30352" y="23622"/>
                </a:lnTo>
                <a:lnTo>
                  <a:pt x="30352" y="15240"/>
                </a:lnTo>
                <a:close/>
              </a:path>
            </a:pathLst>
          </a:custGeom>
          <a:ln w="5054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bg object 30"/>
          <p:cNvSpPr/>
          <p:nvPr/>
        </p:nvSpPr>
        <p:spPr>
          <a:xfrm>
            <a:off x="4329112" y="3252114"/>
            <a:ext cx="233679" cy="50800"/>
          </a:xfrm>
          <a:custGeom>
            <a:avLst/>
            <a:gdLst/>
            <a:ahLst/>
            <a:cxnLst/>
            <a:rect l="l" t="t" r="r" b="b"/>
            <a:pathLst>
              <a:path w="233679" h="50800">
                <a:moveTo>
                  <a:pt x="40639" y="50799"/>
                </a:moveTo>
                <a:lnTo>
                  <a:pt x="50395" y="48795"/>
                </a:lnTo>
                <a:lnTo>
                  <a:pt x="58483" y="43338"/>
                </a:lnTo>
                <a:lnTo>
                  <a:pt x="64000" y="35262"/>
                </a:lnTo>
                <a:lnTo>
                  <a:pt x="66039" y="25399"/>
                </a:lnTo>
                <a:lnTo>
                  <a:pt x="64035" y="15537"/>
                </a:lnTo>
                <a:lnTo>
                  <a:pt x="58578" y="7461"/>
                </a:lnTo>
                <a:lnTo>
                  <a:pt x="50502" y="2004"/>
                </a:lnTo>
                <a:lnTo>
                  <a:pt x="40639" y="0"/>
                </a:lnTo>
                <a:lnTo>
                  <a:pt x="30777" y="2004"/>
                </a:lnTo>
                <a:lnTo>
                  <a:pt x="22701" y="7461"/>
                </a:lnTo>
                <a:lnTo>
                  <a:pt x="17244" y="15537"/>
                </a:lnTo>
                <a:lnTo>
                  <a:pt x="15239" y="25399"/>
                </a:lnTo>
              </a:path>
              <a:path w="233679" h="50800">
                <a:moveTo>
                  <a:pt x="30479" y="17779"/>
                </a:moveTo>
                <a:lnTo>
                  <a:pt x="15239" y="30479"/>
                </a:lnTo>
                <a:lnTo>
                  <a:pt x="0" y="17779"/>
                </a:lnTo>
              </a:path>
              <a:path w="233679" h="50800">
                <a:moveTo>
                  <a:pt x="193039" y="50799"/>
                </a:moveTo>
                <a:lnTo>
                  <a:pt x="183177" y="48795"/>
                </a:lnTo>
                <a:lnTo>
                  <a:pt x="175101" y="43338"/>
                </a:lnTo>
                <a:lnTo>
                  <a:pt x="169644" y="35262"/>
                </a:lnTo>
                <a:lnTo>
                  <a:pt x="167639" y="25399"/>
                </a:lnTo>
                <a:lnTo>
                  <a:pt x="169644" y="15537"/>
                </a:lnTo>
                <a:lnTo>
                  <a:pt x="175101" y="7461"/>
                </a:lnTo>
                <a:lnTo>
                  <a:pt x="183177" y="2004"/>
                </a:lnTo>
                <a:lnTo>
                  <a:pt x="193039" y="0"/>
                </a:lnTo>
                <a:lnTo>
                  <a:pt x="202902" y="2004"/>
                </a:lnTo>
                <a:lnTo>
                  <a:pt x="210978" y="7461"/>
                </a:lnTo>
                <a:lnTo>
                  <a:pt x="216435" y="15537"/>
                </a:lnTo>
                <a:lnTo>
                  <a:pt x="218439" y="25399"/>
                </a:lnTo>
              </a:path>
              <a:path w="233679" h="50800">
                <a:moveTo>
                  <a:pt x="233679" y="17779"/>
                </a:moveTo>
                <a:lnTo>
                  <a:pt x="218439" y="30479"/>
                </a:lnTo>
                <a:lnTo>
                  <a:pt x="203199" y="17779"/>
                </a:lnTo>
              </a:path>
            </a:pathLst>
          </a:custGeom>
          <a:ln w="5054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3095409" y="3262401"/>
            <a:ext cx="43180" cy="30480"/>
          </a:xfrm>
          <a:custGeom>
            <a:avLst/>
            <a:gdLst/>
            <a:ahLst/>
            <a:cxnLst/>
            <a:rect l="l" t="t" r="r" b="b"/>
            <a:pathLst>
              <a:path w="43180" h="30479">
                <a:moveTo>
                  <a:pt x="0" y="30353"/>
                </a:moveTo>
                <a:lnTo>
                  <a:pt x="43052" y="30353"/>
                </a:lnTo>
                <a:lnTo>
                  <a:pt x="43052" y="0"/>
                </a:lnTo>
                <a:lnTo>
                  <a:pt x="0" y="0"/>
                </a:lnTo>
                <a:lnTo>
                  <a:pt x="0" y="30353"/>
                </a:lnTo>
                <a:close/>
              </a:path>
            </a:pathLst>
          </a:custGeom>
          <a:ln w="5054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3015780" y="3258464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25400" y="0"/>
                </a:moveTo>
                <a:lnTo>
                  <a:pt x="0" y="19049"/>
                </a:lnTo>
                <a:lnTo>
                  <a:pt x="25400" y="38099"/>
                </a:lnTo>
                <a:lnTo>
                  <a:pt x="2540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3193580" y="3258464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0" y="0"/>
                </a:moveTo>
                <a:lnTo>
                  <a:pt x="0" y="38099"/>
                </a:lnTo>
                <a:lnTo>
                  <a:pt x="25400" y="19049"/>
                </a:lnTo>
                <a:lnTo>
                  <a:pt x="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3344608" y="3252114"/>
            <a:ext cx="64135" cy="50800"/>
          </a:xfrm>
          <a:custGeom>
            <a:avLst/>
            <a:gdLst/>
            <a:ahLst/>
            <a:cxnLst/>
            <a:rect l="l" t="t" r="r" b="b"/>
            <a:pathLst>
              <a:path w="64135" h="50800">
                <a:moveTo>
                  <a:pt x="0" y="50799"/>
                </a:moveTo>
                <a:lnTo>
                  <a:pt x="43052" y="50799"/>
                </a:lnTo>
                <a:lnTo>
                  <a:pt x="43052" y="20446"/>
                </a:lnTo>
                <a:lnTo>
                  <a:pt x="0" y="20446"/>
                </a:lnTo>
                <a:lnTo>
                  <a:pt x="0" y="50799"/>
                </a:lnTo>
                <a:close/>
              </a:path>
              <a:path w="64135" h="50800">
                <a:moveTo>
                  <a:pt x="10540" y="20319"/>
                </a:moveTo>
                <a:lnTo>
                  <a:pt x="10540" y="10159"/>
                </a:lnTo>
                <a:lnTo>
                  <a:pt x="53720" y="10159"/>
                </a:lnTo>
                <a:lnTo>
                  <a:pt x="53720" y="40639"/>
                </a:lnTo>
                <a:lnTo>
                  <a:pt x="43560" y="40639"/>
                </a:lnTo>
              </a:path>
              <a:path w="64135" h="50800">
                <a:moveTo>
                  <a:pt x="20700" y="10159"/>
                </a:moveTo>
                <a:lnTo>
                  <a:pt x="20700" y="0"/>
                </a:lnTo>
                <a:lnTo>
                  <a:pt x="63880" y="0"/>
                </a:lnTo>
                <a:lnTo>
                  <a:pt x="63880" y="30479"/>
                </a:lnTo>
                <a:lnTo>
                  <a:pt x="53720" y="30479"/>
                </a:lnTo>
              </a:path>
            </a:pathLst>
          </a:custGeom>
          <a:ln w="5054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3281489" y="3258464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49"/>
                </a:lnTo>
                <a:lnTo>
                  <a:pt x="25400" y="38099"/>
                </a:lnTo>
                <a:lnTo>
                  <a:pt x="25400" y="0"/>
                </a:lnTo>
                <a:close/>
              </a:path>
              <a:path w="203200" h="38100">
                <a:moveTo>
                  <a:pt x="177800" y="0"/>
                </a:moveTo>
                <a:lnTo>
                  <a:pt x="177800" y="38099"/>
                </a:lnTo>
                <a:lnTo>
                  <a:pt x="203200" y="19049"/>
                </a:lnTo>
                <a:lnTo>
                  <a:pt x="17780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3636111" y="3264814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7594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3547211" y="3258464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49"/>
                </a:lnTo>
                <a:lnTo>
                  <a:pt x="25400" y="38099"/>
                </a:lnTo>
                <a:lnTo>
                  <a:pt x="25400" y="0"/>
                </a:lnTo>
                <a:close/>
              </a:path>
              <a:path w="203200" h="38100">
                <a:moveTo>
                  <a:pt x="177800" y="0"/>
                </a:moveTo>
                <a:lnTo>
                  <a:pt x="177800" y="38099"/>
                </a:lnTo>
                <a:lnTo>
                  <a:pt x="203200" y="19049"/>
                </a:lnTo>
                <a:lnTo>
                  <a:pt x="17780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g object 23"/>
          <p:cNvSpPr/>
          <p:nvPr/>
        </p:nvSpPr>
        <p:spPr>
          <a:xfrm>
            <a:off x="3623411" y="3252113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25400"/>
                </a:moveTo>
                <a:lnTo>
                  <a:pt x="50800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0" y="50800"/>
                </a:lnTo>
              </a:path>
            </a:pathLst>
          </a:custGeom>
          <a:ln w="7594">
            <a:solidFill>
              <a:srgbClr val="D6D6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g object 24"/>
          <p:cNvSpPr/>
          <p:nvPr/>
        </p:nvSpPr>
        <p:spPr>
          <a:xfrm>
            <a:off x="3889121" y="3252113"/>
            <a:ext cx="50800" cy="25400"/>
          </a:xfrm>
          <a:custGeom>
            <a:avLst/>
            <a:gdLst/>
            <a:ahLst/>
            <a:cxnLst/>
            <a:rect l="l" t="t" r="r" b="b"/>
            <a:pathLst>
              <a:path w="50800" h="25400">
                <a:moveTo>
                  <a:pt x="0" y="0"/>
                </a:moveTo>
                <a:lnTo>
                  <a:pt x="38100" y="0"/>
                </a:lnTo>
              </a:path>
              <a:path w="50800" h="25400">
                <a:moveTo>
                  <a:pt x="12700" y="12700"/>
                </a:moveTo>
                <a:lnTo>
                  <a:pt x="50800" y="12700"/>
                </a:lnTo>
              </a:path>
              <a:path w="50800" h="25400">
                <a:moveTo>
                  <a:pt x="12700" y="25400"/>
                </a:moveTo>
                <a:lnTo>
                  <a:pt x="50800" y="25400"/>
                </a:lnTo>
              </a:path>
            </a:pathLst>
          </a:custGeom>
          <a:ln w="7594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bg object 25"/>
          <p:cNvSpPr/>
          <p:nvPr/>
        </p:nvSpPr>
        <p:spPr>
          <a:xfrm>
            <a:off x="3812921" y="3258464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49"/>
                </a:lnTo>
                <a:lnTo>
                  <a:pt x="25400" y="38099"/>
                </a:lnTo>
                <a:lnTo>
                  <a:pt x="25400" y="0"/>
                </a:lnTo>
                <a:close/>
              </a:path>
              <a:path w="203200" h="38100">
                <a:moveTo>
                  <a:pt x="177800" y="0"/>
                </a:moveTo>
                <a:lnTo>
                  <a:pt x="177800" y="38099"/>
                </a:lnTo>
                <a:lnTo>
                  <a:pt x="203200" y="19049"/>
                </a:lnTo>
                <a:lnTo>
                  <a:pt x="17780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bg object 26"/>
          <p:cNvSpPr/>
          <p:nvPr/>
        </p:nvSpPr>
        <p:spPr>
          <a:xfrm>
            <a:off x="3889121" y="3290214"/>
            <a:ext cx="50800" cy="12700"/>
          </a:xfrm>
          <a:custGeom>
            <a:avLst/>
            <a:gdLst/>
            <a:ahLst/>
            <a:cxnLst/>
            <a:rect l="l" t="t" r="r" b="b"/>
            <a:pathLst>
              <a:path w="50800" h="12700">
                <a:moveTo>
                  <a:pt x="0" y="0"/>
                </a:moveTo>
                <a:lnTo>
                  <a:pt x="38100" y="0"/>
                </a:lnTo>
              </a:path>
              <a:path w="50800" h="12700">
                <a:moveTo>
                  <a:pt x="12700" y="12699"/>
                </a:moveTo>
                <a:lnTo>
                  <a:pt x="50800" y="12699"/>
                </a:lnTo>
              </a:path>
            </a:pathLst>
          </a:custGeom>
          <a:ln w="7594">
            <a:solidFill>
              <a:srgbClr val="D6D6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bg object 27"/>
          <p:cNvSpPr/>
          <p:nvPr/>
        </p:nvSpPr>
        <p:spPr>
          <a:xfrm>
            <a:off x="4154830" y="3252113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12700"/>
                </a:moveTo>
                <a:lnTo>
                  <a:pt x="50800" y="12700"/>
                </a:lnTo>
              </a:path>
              <a:path w="50800" h="50800">
                <a:moveTo>
                  <a:pt x="12700" y="25400"/>
                </a:moveTo>
                <a:lnTo>
                  <a:pt x="50800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0" y="50800"/>
                </a:lnTo>
              </a:path>
            </a:pathLst>
          </a:custGeom>
          <a:ln w="7594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bg object 28"/>
          <p:cNvSpPr/>
          <p:nvPr/>
        </p:nvSpPr>
        <p:spPr>
          <a:xfrm>
            <a:off x="4451032" y="3282594"/>
            <a:ext cx="20320" cy="20320"/>
          </a:xfrm>
          <a:custGeom>
            <a:avLst/>
            <a:gdLst/>
            <a:ahLst/>
            <a:cxnLst/>
            <a:rect l="l" t="t" r="r" b="b"/>
            <a:pathLst>
              <a:path w="20320" h="20320">
                <a:moveTo>
                  <a:pt x="0" y="0"/>
                </a:moveTo>
                <a:lnTo>
                  <a:pt x="20320" y="20319"/>
                </a:lnTo>
              </a:path>
            </a:pathLst>
          </a:custGeom>
          <a:ln w="7594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bg object 29"/>
          <p:cNvSpPr/>
          <p:nvPr/>
        </p:nvSpPr>
        <p:spPr>
          <a:xfrm>
            <a:off x="4423981" y="3256042"/>
            <a:ext cx="30480" cy="30480"/>
          </a:xfrm>
          <a:custGeom>
            <a:avLst/>
            <a:gdLst/>
            <a:ahLst/>
            <a:cxnLst/>
            <a:rect l="l" t="t" r="r" b="b"/>
            <a:pathLst>
              <a:path w="30479" h="30479">
                <a:moveTo>
                  <a:pt x="30352" y="15240"/>
                </a:moveTo>
                <a:lnTo>
                  <a:pt x="30352" y="6858"/>
                </a:lnTo>
                <a:lnTo>
                  <a:pt x="23621" y="0"/>
                </a:lnTo>
                <a:lnTo>
                  <a:pt x="15112" y="0"/>
                </a:lnTo>
                <a:lnTo>
                  <a:pt x="6730" y="0"/>
                </a:lnTo>
                <a:lnTo>
                  <a:pt x="0" y="6858"/>
                </a:lnTo>
                <a:lnTo>
                  <a:pt x="0" y="15240"/>
                </a:lnTo>
                <a:lnTo>
                  <a:pt x="0" y="23622"/>
                </a:lnTo>
                <a:lnTo>
                  <a:pt x="6730" y="30480"/>
                </a:lnTo>
                <a:lnTo>
                  <a:pt x="15112" y="30480"/>
                </a:lnTo>
                <a:lnTo>
                  <a:pt x="23621" y="30480"/>
                </a:lnTo>
                <a:lnTo>
                  <a:pt x="30352" y="23622"/>
                </a:lnTo>
                <a:lnTo>
                  <a:pt x="30352" y="15240"/>
                </a:lnTo>
                <a:close/>
              </a:path>
            </a:pathLst>
          </a:custGeom>
          <a:ln w="5054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bg object 30"/>
          <p:cNvSpPr/>
          <p:nvPr/>
        </p:nvSpPr>
        <p:spPr>
          <a:xfrm>
            <a:off x="4329112" y="3252114"/>
            <a:ext cx="233679" cy="50800"/>
          </a:xfrm>
          <a:custGeom>
            <a:avLst/>
            <a:gdLst/>
            <a:ahLst/>
            <a:cxnLst/>
            <a:rect l="l" t="t" r="r" b="b"/>
            <a:pathLst>
              <a:path w="233679" h="50800">
                <a:moveTo>
                  <a:pt x="40639" y="50799"/>
                </a:moveTo>
                <a:lnTo>
                  <a:pt x="50395" y="48795"/>
                </a:lnTo>
                <a:lnTo>
                  <a:pt x="58483" y="43338"/>
                </a:lnTo>
                <a:lnTo>
                  <a:pt x="64000" y="35262"/>
                </a:lnTo>
                <a:lnTo>
                  <a:pt x="66039" y="25399"/>
                </a:lnTo>
                <a:lnTo>
                  <a:pt x="64035" y="15537"/>
                </a:lnTo>
                <a:lnTo>
                  <a:pt x="58578" y="7461"/>
                </a:lnTo>
                <a:lnTo>
                  <a:pt x="50502" y="2004"/>
                </a:lnTo>
                <a:lnTo>
                  <a:pt x="40639" y="0"/>
                </a:lnTo>
                <a:lnTo>
                  <a:pt x="30777" y="2004"/>
                </a:lnTo>
                <a:lnTo>
                  <a:pt x="22701" y="7461"/>
                </a:lnTo>
                <a:lnTo>
                  <a:pt x="17244" y="15537"/>
                </a:lnTo>
                <a:lnTo>
                  <a:pt x="15239" y="25399"/>
                </a:lnTo>
              </a:path>
              <a:path w="233679" h="50800">
                <a:moveTo>
                  <a:pt x="30479" y="17779"/>
                </a:moveTo>
                <a:lnTo>
                  <a:pt x="15239" y="30479"/>
                </a:lnTo>
                <a:lnTo>
                  <a:pt x="0" y="17779"/>
                </a:lnTo>
              </a:path>
              <a:path w="233679" h="50800">
                <a:moveTo>
                  <a:pt x="193039" y="50799"/>
                </a:moveTo>
                <a:lnTo>
                  <a:pt x="183177" y="48795"/>
                </a:lnTo>
                <a:lnTo>
                  <a:pt x="175101" y="43338"/>
                </a:lnTo>
                <a:lnTo>
                  <a:pt x="169644" y="35262"/>
                </a:lnTo>
                <a:lnTo>
                  <a:pt x="167639" y="25399"/>
                </a:lnTo>
                <a:lnTo>
                  <a:pt x="169644" y="15537"/>
                </a:lnTo>
                <a:lnTo>
                  <a:pt x="175101" y="7461"/>
                </a:lnTo>
                <a:lnTo>
                  <a:pt x="183177" y="2004"/>
                </a:lnTo>
                <a:lnTo>
                  <a:pt x="193039" y="0"/>
                </a:lnTo>
                <a:lnTo>
                  <a:pt x="202902" y="2004"/>
                </a:lnTo>
                <a:lnTo>
                  <a:pt x="210978" y="7461"/>
                </a:lnTo>
                <a:lnTo>
                  <a:pt x="216435" y="15537"/>
                </a:lnTo>
                <a:lnTo>
                  <a:pt x="218439" y="25399"/>
                </a:lnTo>
              </a:path>
              <a:path w="233679" h="50800">
                <a:moveTo>
                  <a:pt x="233679" y="17779"/>
                </a:moveTo>
                <a:lnTo>
                  <a:pt x="218439" y="30479"/>
                </a:lnTo>
                <a:lnTo>
                  <a:pt x="203199" y="17779"/>
                </a:lnTo>
              </a:path>
            </a:pathLst>
          </a:custGeom>
          <a:ln w="5054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bg object 31"/>
          <p:cNvSpPr/>
          <p:nvPr/>
        </p:nvSpPr>
        <p:spPr>
          <a:xfrm>
            <a:off x="0" y="-38"/>
            <a:ext cx="4608195" cy="351790"/>
          </a:xfrm>
          <a:custGeom>
            <a:avLst/>
            <a:gdLst/>
            <a:ahLst/>
            <a:cxnLst/>
            <a:rect l="l" t="t" r="r" b="b"/>
            <a:pathLst>
              <a:path w="4608195" h="351790">
                <a:moveTo>
                  <a:pt x="4607941" y="0"/>
                </a:moveTo>
                <a:lnTo>
                  <a:pt x="0" y="0"/>
                </a:lnTo>
                <a:lnTo>
                  <a:pt x="0" y="351409"/>
                </a:lnTo>
                <a:lnTo>
                  <a:pt x="4607941" y="351409"/>
                </a:lnTo>
                <a:lnTo>
                  <a:pt x="4607941" y="0"/>
                </a:lnTo>
                <a:close/>
              </a:path>
            </a:pathLst>
          </a:custGeom>
          <a:solidFill>
            <a:srgbClr val="3232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5250" y="60502"/>
            <a:ext cx="3334385" cy="2444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1">
                <a:solidFill>
                  <a:schemeClr val="bg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7630" y="568103"/>
            <a:ext cx="4340225" cy="2409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1">
                <a:solidFill>
                  <a:srgbClr val="3232B2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Relationship Id="rId5" Type="http://schemas.openxmlformats.org/officeDocument/2006/relationships/slide" Target="slide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slide" Target="slide1.xml"/><Relationship Id="rId5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5.png"/><Relationship Id="rId7" Type="http://schemas.openxmlformats.org/officeDocument/2006/relationships/image" Target="../media/image8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2.png"/><Relationship Id="rId9" Type="http://schemas.openxmlformats.org/officeDocument/2006/relationships/slide" Target="slide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3" Type="http://schemas.openxmlformats.org/officeDocument/2006/relationships/image" Target="../media/image5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2.png"/><Relationship Id="rId9" Type="http://schemas.openxmlformats.org/officeDocument/2006/relationships/image" Target="../media/image10.png"/><Relationship Id="rId14" Type="http://schemas.openxmlformats.org/officeDocument/2006/relationships/slide" Target="slide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10" Type="http://schemas.openxmlformats.org/officeDocument/2006/relationships/slide" Target="slide1.xml"/><Relationship Id="rId4" Type="http://schemas.openxmlformats.org/officeDocument/2006/relationships/image" Target="../media/image17.png"/><Relationship Id="rId9" Type="http://schemas.openxmlformats.org/officeDocument/2006/relationships/image" Target="../media/image2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26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12" Type="http://schemas.openxmlformats.org/officeDocument/2006/relationships/image" Target="../media/image25.png"/><Relationship Id="rId2" Type="http://schemas.openxmlformats.org/officeDocument/2006/relationships/image" Target="../media/image4.png"/><Relationship Id="rId16" Type="http://schemas.openxmlformats.org/officeDocument/2006/relationships/slide" Target="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11" Type="http://schemas.openxmlformats.org/officeDocument/2006/relationships/image" Target="../media/image24.png"/><Relationship Id="rId5" Type="http://schemas.openxmlformats.org/officeDocument/2006/relationships/image" Target="../media/image18.png"/><Relationship Id="rId15" Type="http://schemas.openxmlformats.org/officeDocument/2006/relationships/image" Target="../media/image28.png"/><Relationship Id="rId10" Type="http://schemas.openxmlformats.org/officeDocument/2006/relationships/image" Target="../media/image23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Relationship Id="rId14" Type="http://schemas.openxmlformats.org/officeDocument/2006/relationships/image" Target="../media/image27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Relationship Id="rId9" Type="http://schemas.openxmlformats.org/officeDocument/2006/relationships/slide" Target="slide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image" Target="../media/image36.png"/><Relationship Id="rId7" Type="http://schemas.openxmlformats.org/officeDocument/2006/relationships/image" Target="../media/image40.png"/><Relationship Id="rId12" Type="http://schemas.openxmlformats.org/officeDocument/2006/relationships/slide" Target="slide1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png"/><Relationship Id="rId11" Type="http://schemas.openxmlformats.org/officeDocument/2006/relationships/image" Target="../media/image44.png"/><Relationship Id="rId5" Type="http://schemas.openxmlformats.org/officeDocument/2006/relationships/image" Target="../media/image38.png"/><Relationship Id="rId10" Type="http://schemas.openxmlformats.org/officeDocument/2006/relationships/image" Target="../media/image43.png"/><Relationship Id="rId4" Type="http://schemas.openxmlformats.org/officeDocument/2006/relationships/image" Target="../media/image37.png"/><Relationship Id="rId9" Type="http://schemas.openxmlformats.org/officeDocument/2006/relationships/image" Target="../media/image42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13" Type="http://schemas.openxmlformats.org/officeDocument/2006/relationships/image" Target="../media/image46.png"/><Relationship Id="rId18" Type="http://schemas.openxmlformats.org/officeDocument/2006/relationships/slide" Target="slide1.xml"/><Relationship Id="rId3" Type="http://schemas.openxmlformats.org/officeDocument/2006/relationships/image" Target="../media/image36.png"/><Relationship Id="rId7" Type="http://schemas.openxmlformats.org/officeDocument/2006/relationships/image" Target="../media/image40.png"/><Relationship Id="rId12" Type="http://schemas.openxmlformats.org/officeDocument/2006/relationships/image" Target="../media/image45.png"/><Relationship Id="rId17" Type="http://schemas.openxmlformats.org/officeDocument/2006/relationships/image" Target="../media/image50.png"/><Relationship Id="rId2" Type="http://schemas.openxmlformats.org/officeDocument/2006/relationships/image" Target="../media/image4.png"/><Relationship Id="rId16" Type="http://schemas.openxmlformats.org/officeDocument/2006/relationships/image" Target="../media/image4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png"/><Relationship Id="rId11" Type="http://schemas.openxmlformats.org/officeDocument/2006/relationships/image" Target="../media/image44.png"/><Relationship Id="rId5" Type="http://schemas.openxmlformats.org/officeDocument/2006/relationships/image" Target="../media/image38.png"/><Relationship Id="rId15" Type="http://schemas.openxmlformats.org/officeDocument/2006/relationships/image" Target="../media/image48.png"/><Relationship Id="rId10" Type="http://schemas.openxmlformats.org/officeDocument/2006/relationships/image" Target="../media/image43.png"/><Relationship Id="rId4" Type="http://schemas.openxmlformats.org/officeDocument/2006/relationships/image" Target="../media/image37.png"/><Relationship Id="rId9" Type="http://schemas.openxmlformats.org/officeDocument/2006/relationships/image" Target="../media/image42.png"/><Relationship Id="rId14" Type="http://schemas.openxmlformats.org/officeDocument/2006/relationships/image" Target="../media/image4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png"/><Relationship Id="rId3" Type="http://schemas.openxmlformats.org/officeDocument/2006/relationships/image" Target="../media/image52.png"/><Relationship Id="rId7" Type="http://schemas.openxmlformats.org/officeDocument/2006/relationships/image" Target="../media/image56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5.png"/><Relationship Id="rId5" Type="http://schemas.openxmlformats.org/officeDocument/2006/relationships/image" Target="../media/image54.png"/><Relationship Id="rId4" Type="http://schemas.openxmlformats.org/officeDocument/2006/relationships/image" Target="../media/image53.png"/><Relationship Id="rId9" Type="http://schemas.openxmlformats.org/officeDocument/2006/relationships/slide" Target="slide1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png"/><Relationship Id="rId13" Type="http://schemas.openxmlformats.org/officeDocument/2006/relationships/slide" Target="slide1.xml"/><Relationship Id="rId3" Type="http://schemas.openxmlformats.org/officeDocument/2006/relationships/image" Target="../media/image52.png"/><Relationship Id="rId7" Type="http://schemas.openxmlformats.org/officeDocument/2006/relationships/image" Target="../media/image56.png"/><Relationship Id="rId12" Type="http://schemas.openxmlformats.org/officeDocument/2006/relationships/image" Target="../media/image60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5.png"/><Relationship Id="rId11" Type="http://schemas.openxmlformats.org/officeDocument/2006/relationships/image" Target="../media/image59.png"/><Relationship Id="rId5" Type="http://schemas.openxmlformats.org/officeDocument/2006/relationships/image" Target="../media/image54.png"/><Relationship Id="rId10" Type="http://schemas.openxmlformats.org/officeDocument/2006/relationships/image" Target="../media/image58.png"/><Relationship Id="rId4" Type="http://schemas.openxmlformats.org/officeDocument/2006/relationships/image" Target="../media/image53.png"/><Relationship Id="rId9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slide" Target="slide1.xml"/><Relationship Id="rId3" Type="http://schemas.openxmlformats.org/officeDocument/2006/relationships/image" Target="../media/image7.png"/><Relationship Id="rId7" Type="http://schemas.openxmlformats.org/officeDocument/2006/relationships/image" Target="../media/image63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2.png"/><Relationship Id="rId5" Type="http://schemas.openxmlformats.org/officeDocument/2006/relationships/image" Target="../media/image61.png"/><Relationship Id="rId4" Type="http://schemas.openxmlformats.org/officeDocument/2006/relationships/image" Target="../media/image8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png"/><Relationship Id="rId13" Type="http://schemas.openxmlformats.org/officeDocument/2006/relationships/image" Target="../media/image69.png"/><Relationship Id="rId18" Type="http://schemas.openxmlformats.org/officeDocument/2006/relationships/image" Target="../media/image74.png"/><Relationship Id="rId3" Type="http://schemas.openxmlformats.org/officeDocument/2006/relationships/image" Target="../media/image7.png"/><Relationship Id="rId7" Type="http://schemas.openxmlformats.org/officeDocument/2006/relationships/image" Target="../media/image63.png"/><Relationship Id="rId12" Type="http://schemas.openxmlformats.org/officeDocument/2006/relationships/image" Target="../media/image68.png"/><Relationship Id="rId17" Type="http://schemas.openxmlformats.org/officeDocument/2006/relationships/image" Target="../media/image73.png"/><Relationship Id="rId2" Type="http://schemas.openxmlformats.org/officeDocument/2006/relationships/image" Target="../media/image51.png"/><Relationship Id="rId16" Type="http://schemas.openxmlformats.org/officeDocument/2006/relationships/image" Target="../media/image72.png"/><Relationship Id="rId20" Type="http://schemas.openxmlformats.org/officeDocument/2006/relationships/slide" Target="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2.png"/><Relationship Id="rId11" Type="http://schemas.openxmlformats.org/officeDocument/2006/relationships/image" Target="../media/image67.png"/><Relationship Id="rId5" Type="http://schemas.openxmlformats.org/officeDocument/2006/relationships/image" Target="../media/image61.png"/><Relationship Id="rId15" Type="http://schemas.openxmlformats.org/officeDocument/2006/relationships/image" Target="../media/image71.png"/><Relationship Id="rId10" Type="http://schemas.openxmlformats.org/officeDocument/2006/relationships/image" Target="../media/image66.png"/><Relationship Id="rId19" Type="http://schemas.openxmlformats.org/officeDocument/2006/relationships/image" Target="../media/image75.png"/><Relationship Id="rId4" Type="http://schemas.openxmlformats.org/officeDocument/2006/relationships/image" Target="../media/image8.png"/><Relationship Id="rId9" Type="http://schemas.openxmlformats.org/officeDocument/2006/relationships/image" Target="../media/image65.png"/><Relationship Id="rId14" Type="http://schemas.openxmlformats.org/officeDocument/2006/relationships/image" Target="../media/image7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1.xml"/><Relationship Id="rId6" Type="http://schemas.openxmlformats.org/officeDocument/2006/relationships/slide" Target="slide1.xml"/><Relationship Id="rId5" Type="http://schemas.openxmlformats.org/officeDocument/2006/relationships/image" Target="../media/image78.png"/><Relationship Id="rId4" Type="http://schemas.openxmlformats.org/officeDocument/2006/relationships/image" Target="../media/image77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0.png"/><Relationship Id="rId13" Type="http://schemas.openxmlformats.org/officeDocument/2006/relationships/slide" Target="slide1.xml"/><Relationship Id="rId3" Type="http://schemas.openxmlformats.org/officeDocument/2006/relationships/image" Target="../media/image76.png"/><Relationship Id="rId7" Type="http://schemas.openxmlformats.org/officeDocument/2006/relationships/image" Target="../media/image79.png"/><Relationship Id="rId12" Type="http://schemas.openxmlformats.org/officeDocument/2006/relationships/image" Target="../media/image84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png"/><Relationship Id="rId11" Type="http://schemas.openxmlformats.org/officeDocument/2006/relationships/image" Target="../media/image83.png"/><Relationship Id="rId5" Type="http://schemas.openxmlformats.org/officeDocument/2006/relationships/image" Target="../media/image78.png"/><Relationship Id="rId10" Type="http://schemas.openxmlformats.org/officeDocument/2006/relationships/image" Target="../media/image82.png"/><Relationship Id="rId4" Type="http://schemas.openxmlformats.org/officeDocument/2006/relationships/image" Target="../media/image77.png"/><Relationship Id="rId9" Type="http://schemas.openxmlformats.org/officeDocument/2006/relationships/image" Target="../media/image81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slide" Target="slide1.xml"/><Relationship Id="rId3" Type="http://schemas.openxmlformats.org/officeDocument/2006/relationships/image" Target="../media/image85.png"/><Relationship Id="rId7" Type="http://schemas.openxmlformats.org/officeDocument/2006/relationships/image" Target="../media/image8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8.png"/><Relationship Id="rId5" Type="http://schemas.openxmlformats.org/officeDocument/2006/relationships/image" Target="../media/image87.png"/><Relationship Id="rId4" Type="http://schemas.openxmlformats.org/officeDocument/2006/relationships/image" Target="../media/image86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slide" Target="slide1.xml"/><Relationship Id="rId3" Type="http://schemas.openxmlformats.org/officeDocument/2006/relationships/image" Target="../media/image85.png"/><Relationship Id="rId7" Type="http://schemas.openxmlformats.org/officeDocument/2006/relationships/image" Target="../media/image8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8.png"/><Relationship Id="rId5" Type="http://schemas.openxmlformats.org/officeDocument/2006/relationships/image" Target="../media/image87.png"/><Relationship Id="rId4" Type="http://schemas.openxmlformats.org/officeDocument/2006/relationships/image" Target="../media/image86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openxmlformats.org/officeDocument/2006/relationships/image" Target="../media/image85.png"/><Relationship Id="rId7" Type="http://schemas.openxmlformats.org/officeDocument/2006/relationships/image" Target="../media/image89.png"/><Relationship Id="rId12" Type="http://schemas.openxmlformats.org/officeDocument/2006/relationships/slide" Target="slide1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8.png"/><Relationship Id="rId11" Type="http://schemas.openxmlformats.org/officeDocument/2006/relationships/image" Target="../media/image92.png"/><Relationship Id="rId5" Type="http://schemas.openxmlformats.org/officeDocument/2006/relationships/image" Target="../media/image87.png"/><Relationship Id="rId10" Type="http://schemas.openxmlformats.org/officeDocument/2006/relationships/image" Target="../media/image91.png"/><Relationship Id="rId4" Type="http://schemas.openxmlformats.org/officeDocument/2006/relationships/image" Target="../media/image86.png"/><Relationship Id="rId9" Type="http://schemas.openxmlformats.org/officeDocument/2006/relationships/image" Target="../media/image90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8.png"/><Relationship Id="rId13" Type="http://schemas.openxmlformats.org/officeDocument/2006/relationships/image" Target="../media/image86.png"/><Relationship Id="rId3" Type="http://schemas.openxmlformats.org/officeDocument/2006/relationships/image" Target="../media/image93.png"/><Relationship Id="rId7" Type="http://schemas.openxmlformats.org/officeDocument/2006/relationships/image" Target="../media/image97.png"/><Relationship Id="rId12" Type="http://schemas.openxmlformats.org/officeDocument/2006/relationships/image" Target="../media/image85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6.png"/><Relationship Id="rId11" Type="http://schemas.openxmlformats.org/officeDocument/2006/relationships/image" Target="../media/image101.png"/><Relationship Id="rId5" Type="http://schemas.openxmlformats.org/officeDocument/2006/relationships/image" Target="../media/image95.png"/><Relationship Id="rId15" Type="http://schemas.openxmlformats.org/officeDocument/2006/relationships/slide" Target="slide1.xml"/><Relationship Id="rId10" Type="http://schemas.openxmlformats.org/officeDocument/2006/relationships/image" Target="../media/image100.png"/><Relationship Id="rId4" Type="http://schemas.openxmlformats.org/officeDocument/2006/relationships/image" Target="../media/image94.png"/><Relationship Id="rId9" Type="http://schemas.openxmlformats.org/officeDocument/2006/relationships/image" Target="../media/image99.png"/><Relationship Id="rId14" Type="http://schemas.openxmlformats.org/officeDocument/2006/relationships/image" Target="../media/image102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slide" Target="slide1.xml"/><Relationship Id="rId3" Type="http://schemas.openxmlformats.org/officeDocument/2006/relationships/image" Target="../media/image103.png"/><Relationship Id="rId7" Type="http://schemas.openxmlformats.org/officeDocument/2006/relationships/image" Target="../media/image107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6.png"/><Relationship Id="rId5" Type="http://schemas.openxmlformats.org/officeDocument/2006/relationships/image" Target="../media/image105.png"/><Relationship Id="rId4" Type="http://schemas.openxmlformats.org/officeDocument/2006/relationships/image" Target="../media/image104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openxmlformats.org/officeDocument/2006/relationships/image" Target="../media/image112.png"/><Relationship Id="rId3" Type="http://schemas.openxmlformats.org/officeDocument/2006/relationships/image" Target="../media/image103.png"/><Relationship Id="rId7" Type="http://schemas.openxmlformats.org/officeDocument/2006/relationships/image" Target="../media/image107.png"/><Relationship Id="rId12" Type="http://schemas.openxmlformats.org/officeDocument/2006/relationships/image" Target="../media/image111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6.png"/><Relationship Id="rId11" Type="http://schemas.openxmlformats.org/officeDocument/2006/relationships/image" Target="../media/image110.png"/><Relationship Id="rId5" Type="http://schemas.openxmlformats.org/officeDocument/2006/relationships/image" Target="../media/image105.png"/><Relationship Id="rId10" Type="http://schemas.openxmlformats.org/officeDocument/2006/relationships/image" Target="../media/image109.png"/><Relationship Id="rId4" Type="http://schemas.openxmlformats.org/officeDocument/2006/relationships/image" Target="../media/image104.png"/><Relationship Id="rId9" Type="http://schemas.openxmlformats.org/officeDocument/2006/relationships/image" Target="../media/image108.png"/><Relationship Id="rId14" Type="http://schemas.openxmlformats.org/officeDocument/2006/relationships/slide" Target="slide1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openxmlformats.org/officeDocument/2006/relationships/image" Target="../media/image112.png"/><Relationship Id="rId18" Type="http://schemas.openxmlformats.org/officeDocument/2006/relationships/image" Target="../media/image116.png"/><Relationship Id="rId3" Type="http://schemas.openxmlformats.org/officeDocument/2006/relationships/image" Target="../media/image103.png"/><Relationship Id="rId7" Type="http://schemas.openxmlformats.org/officeDocument/2006/relationships/image" Target="../media/image107.png"/><Relationship Id="rId12" Type="http://schemas.openxmlformats.org/officeDocument/2006/relationships/image" Target="../media/image111.png"/><Relationship Id="rId17" Type="http://schemas.openxmlformats.org/officeDocument/2006/relationships/image" Target="../media/image115.png"/><Relationship Id="rId2" Type="http://schemas.openxmlformats.org/officeDocument/2006/relationships/image" Target="../media/image51.png"/><Relationship Id="rId16" Type="http://schemas.openxmlformats.org/officeDocument/2006/relationships/image" Target="../media/image114.png"/><Relationship Id="rId20" Type="http://schemas.openxmlformats.org/officeDocument/2006/relationships/slide" Target="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6.png"/><Relationship Id="rId11" Type="http://schemas.openxmlformats.org/officeDocument/2006/relationships/image" Target="../media/image110.png"/><Relationship Id="rId5" Type="http://schemas.openxmlformats.org/officeDocument/2006/relationships/image" Target="../media/image105.png"/><Relationship Id="rId15" Type="http://schemas.openxmlformats.org/officeDocument/2006/relationships/image" Target="../media/image113.png"/><Relationship Id="rId10" Type="http://schemas.openxmlformats.org/officeDocument/2006/relationships/image" Target="../media/image109.png"/><Relationship Id="rId19" Type="http://schemas.openxmlformats.org/officeDocument/2006/relationships/image" Target="../media/image117.png"/><Relationship Id="rId4" Type="http://schemas.openxmlformats.org/officeDocument/2006/relationships/image" Target="../media/image104.png"/><Relationship Id="rId9" Type="http://schemas.openxmlformats.org/officeDocument/2006/relationships/image" Target="../media/image108.png"/><Relationship Id="rId14" Type="http://schemas.openxmlformats.org/officeDocument/2006/relationships/image" Target="../media/image45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slide" Target="slide1.xml"/><Relationship Id="rId3" Type="http://schemas.openxmlformats.org/officeDocument/2006/relationships/image" Target="../media/image118.png"/><Relationship Id="rId7" Type="http://schemas.openxmlformats.org/officeDocument/2006/relationships/image" Target="../media/image12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1.png"/><Relationship Id="rId5" Type="http://schemas.openxmlformats.org/officeDocument/2006/relationships/image" Target="../media/image120.png"/><Relationship Id="rId4" Type="http://schemas.openxmlformats.org/officeDocument/2006/relationships/image" Target="../media/image119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3.png"/><Relationship Id="rId13" Type="http://schemas.openxmlformats.org/officeDocument/2006/relationships/slide" Target="slide1.xml"/><Relationship Id="rId3" Type="http://schemas.openxmlformats.org/officeDocument/2006/relationships/image" Target="../media/image118.png"/><Relationship Id="rId7" Type="http://schemas.openxmlformats.org/officeDocument/2006/relationships/image" Target="../media/image122.png"/><Relationship Id="rId12" Type="http://schemas.openxmlformats.org/officeDocument/2006/relationships/image" Target="../media/image12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1.png"/><Relationship Id="rId11" Type="http://schemas.openxmlformats.org/officeDocument/2006/relationships/image" Target="../media/image126.png"/><Relationship Id="rId5" Type="http://schemas.openxmlformats.org/officeDocument/2006/relationships/image" Target="../media/image120.png"/><Relationship Id="rId10" Type="http://schemas.openxmlformats.org/officeDocument/2006/relationships/image" Target="../media/image125.png"/><Relationship Id="rId4" Type="http://schemas.openxmlformats.org/officeDocument/2006/relationships/image" Target="../media/image119.png"/><Relationship Id="rId9" Type="http://schemas.openxmlformats.org/officeDocument/2006/relationships/image" Target="../media/image124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9.png"/><Relationship Id="rId2" Type="http://schemas.openxmlformats.org/officeDocument/2006/relationships/image" Target="../media/image128.png"/><Relationship Id="rId1" Type="http://schemas.openxmlformats.org/officeDocument/2006/relationships/slideLayout" Target="../slideLayouts/slideLayout2.xml"/><Relationship Id="rId4" Type="http://schemas.openxmlformats.org/officeDocument/2006/relationships/slide" Target="slide1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3.png"/><Relationship Id="rId3" Type="http://schemas.openxmlformats.org/officeDocument/2006/relationships/image" Target="../media/image129.png"/><Relationship Id="rId7" Type="http://schemas.openxmlformats.org/officeDocument/2006/relationships/image" Target="../media/image132.png"/><Relationship Id="rId2" Type="http://schemas.openxmlformats.org/officeDocument/2006/relationships/image" Target="../media/image1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1.png"/><Relationship Id="rId5" Type="http://schemas.openxmlformats.org/officeDocument/2006/relationships/image" Target="../media/image130.png"/><Relationship Id="rId10" Type="http://schemas.openxmlformats.org/officeDocument/2006/relationships/slide" Target="slide1.xml"/><Relationship Id="rId4" Type="http://schemas.openxmlformats.org/officeDocument/2006/relationships/image" Target="../media/image4.png"/><Relationship Id="rId9" Type="http://schemas.openxmlformats.org/officeDocument/2006/relationships/image" Target="../media/image134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9.png"/><Relationship Id="rId3" Type="http://schemas.openxmlformats.org/officeDocument/2006/relationships/image" Target="../media/image135.png"/><Relationship Id="rId7" Type="http://schemas.openxmlformats.org/officeDocument/2006/relationships/image" Target="../media/image138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7.png"/><Relationship Id="rId5" Type="http://schemas.openxmlformats.org/officeDocument/2006/relationships/image" Target="../media/image136.png"/><Relationship Id="rId4" Type="http://schemas.openxmlformats.org/officeDocument/2006/relationships/image" Target="../media/image8.png"/><Relationship Id="rId9" Type="http://schemas.openxmlformats.org/officeDocument/2006/relationships/slide" Target="slide1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9.png"/><Relationship Id="rId13" Type="http://schemas.openxmlformats.org/officeDocument/2006/relationships/image" Target="../media/image141.png"/><Relationship Id="rId3" Type="http://schemas.openxmlformats.org/officeDocument/2006/relationships/image" Target="../media/image135.png"/><Relationship Id="rId7" Type="http://schemas.openxmlformats.org/officeDocument/2006/relationships/image" Target="../media/image138.png"/><Relationship Id="rId12" Type="http://schemas.openxmlformats.org/officeDocument/2006/relationships/image" Target="../media/image140.png"/><Relationship Id="rId2" Type="http://schemas.openxmlformats.org/officeDocument/2006/relationships/image" Target="../media/image51.png"/><Relationship Id="rId16" Type="http://schemas.openxmlformats.org/officeDocument/2006/relationships/slide" Target="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7.png"/><Relationship Id="rId11" Type="http://schemas.openxmlformats.org/officeDocument/2006/relationships/image" Target="../media/image2.png"/><Relationship Id="rId5" Type="http://schemas.openxmlformats.org/officeDocument/2006/relationships/image" Target="../media/image136.png"/><Relationship Id="rId15" Type="http://schemas.openxmlformats.org/officeDocument/2006/relationships/image" Target="../media/image143.png"/><Relationship Id="rId10" Type="http://schemas.openxmlformats.org/officeDocument/2006/relationships/image" Target="../media/image1.png"/><Relationship Id="rId4" Type="http://schemas.openxmlformats.org/officeDocument/2006/relationships/image" Target="../media/image8.png"/><Relationship Id="rId9" Type="http://schemas.openxmlformats.org/officeDocument/2006/relationships/image" Target="../media/image4.png"/><Relationship Id="rId14" Type="http://schemas.openxmlformats.org/officeDocument/2006/relationships/image" Target="../media/image142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7.png"/><Relationship Id="rId3" Type="http://schemas.openxmlformats.org/officeDocument/2006/relationships/image" Target="../media/image144.png"/><Relationship Id="rId7" Type="http://schemas.openxmlformats.org/officeDocument/2006/relationships/image" Target="../media/image59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8.png"/><Relationship Id="rId5" Type="http://schemas.openxmlformats.org/officeDocument/2006/relationships/image" Target="../media/image146.png"/><Relationship Id="rId4" Type="http://schemas.openxmlformats.org/officeDocument/2006/relationships/image" Target="../media/image145.png"/><Relationship Id="rId9" Type="http://schemas.openxmlformats.org/officeDocument/2006/relationships/slide" Target="slide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8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slide" Target="slide1.xml"/><Relationship Id="rId5" Type="http://schemas.openxmlformats.org/officeDocument/2006/relationships/image" Target="../media/image150.png"/><Relationship Id="rId4" Type="http://schemas.openxmlformats.org/officeDocument/2006/relationships/image" Target="../media/image149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Relationship Id="rId5" Type="http://schemas.openxmlformats.org/officeDocument/2006/relationships/slide" Target="slide75.xml"/><Relationship Id="rId4" Type="http://schemas.openxmlformats.org/officeDocument/2006/relationships/image" Target="../media/image3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2.png"/><Relationship Id="rId2" Type="http://schemas.openxmlformats.org/officeDocument/2006/relationships/image" Target="../media/image151.png"/><Relationship Id="rId1" Type="http://schemas.openxmlformats.org/officeDocument/2006/relationships/slideLayout" Target="../slideLayouts/slideLayout2.xml"/><Relationship Id="rId5" Type="http://schemas.openxmlformats.org/officeDocument/2006/relationships/slide" Target="slide75.xml"/><Relationship Id="rId4" Type="http://schemas.openxmlformats.org/officeDocument/2006/relationships/image" Target="../media/image153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5.png"/><Relationship Id="rId7" Type="http://schemas.openxmlformats.org/officeDocument/2006/relationships/slide" Target="slide75.xml"/><Relationship Id="rId2" Type="http://schemas.openxmlformats.org/officeDocument/2006/relationships/image" Target="../media/image15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8.png"/><Relationship Id="rId5" Type="http://schemas.openxmlformats.org/officeDocument/2006/relationships/image" Target="../media/image157.png"/><Relationship Id="rId4" Type="http://schemas.openxmlformats.org/officeDocument/2006/relationships/image" Target="../media/image156.jp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slide" Target="slide75.xml"/><Relationship Id="rId2" Type="http://schemas.openxmlformats.org/officeDocument/2006/relationships/image" Target="../media/image159.jpg"/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slide" Target="slide75.xml"/><Relationship Id="rId2" Type="http://schemas.openxmlformats.org/officeDocument/2006/relationships/image" Target="../media/image160.jpg"/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2.jpg"/><Relationship Id="rId2" Type="http://schemas.openxmlformats.org/officeDocument/2006/relationships/image" Target="../media/image161.jpg"/><Relationship Id="rId1" Type="http://schemas.openxmlformats.org/officeDocument/2006/relationships/slideLayout" Target="../slideLayouts/slideLayout5.xml"/><Relationship Id="rId4" Type="http://schemas.openxmlformats.org/officeDocument/2006/relationships/slide" Target="slide75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4.png"/><Relationship Id="rId2" Type="http://schemas.openxmlformats.org/officeDocument/2006/relationships/image" Target="../media/image163.png"/><Relationship Id="rId1" Type="http://schemas.openxmlformats.org/officeDocument/2006/relationships/slideLayout" Target="../slideLayouts/slideLayout5.xml"/><Relationship Id="rId4" Type="http://schemas.openxmlformats.org/officeDocument/2006/relationships/slide" Target="slide75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slide" Target="slide34.xml"/><Relationship Id="rId2" Type="http://schemas.openxmlformats.org/officeDocument/2006/relationships/image" Target="../media/image165.png"/><Relationship Id="rId1" Type="http://schemas.openxmlformats.org/officeDocument/2006/relationships/slideLayout" Target="../slideLayouts/slideLayout5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6.png"/><Relationship Id="rId2" Type="http://schemas.openxmlformats.org/officeDocument/2006/relationships/image" Target="../media/image165.png"/><Relationship Id="rId1" Type="http://schemas.openxmlformats.org/officeDocument/2006/relationships/slideLayout" Target="../slideLayouts/slideLayout2.xml"/><Relationship Id="rId4" Type="http://schemas.openxmlformats.org/officeDocument/2006/relationships/slide" Target="slide34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6.png"/><Relationship Id="rId2" Type="http://schemas.openxmlformats.org/officeDocument/2006/relationships/image" Target="../media/image165.png"/><Relationship Id="rId1" Type="http://schemas.openxmlformats.org/officeDocument/2006/relationships/slideLayout" Target="../slideLayouts/slideLayout2.xml"/><Relationship Id="rId5" Type="http://schemas.openxmlformats.org/officeDocument/2006/relationships/slide" Target="slide34.xml"/><Relationship Id="rId4" Type="http://schemas.openxmlformats.org/officeDocument/2006/relationships/image" Target="../media/image167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6.png"/><Relationship Id="rId2" Type="http://schemas.openxmlformats.org/officeDocument/2006/relationships/image" Target="../media/image165.png"/><Relationship Id="rId1" Type="http://schemas.openxmlformats.org/officeDocument/2006/relationships/slideLayout" Target="../slideLayouts/slideLayout2.xml"/><Relationship Id="rId6" Type="http://schemas.openxmlformats.org/officeDocument/2006/relationships/slide" Target="slide34.xml"/><Relationship Id="rId5" Type="http://schemas.openxmlformats.org/officeDocument/2006/relationships/image" Target="../media/image168.png"/><Relationship Id="rId4" Type="http://schemas.openxmlformats.org/officeDocument/2006/relationships/image" Target="../media/image167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6.png"/><Relationship Id="rId7" Type="http://schemas.openxmlformats.org/officeDocument/2006/relationships/slide" Target="slide34.xml"/><Relationship Id="rId2" Type="http://schemas.openxmlformats.org/officeDocument/2006/relationships/image" Target="../media/image16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9.png"/><Relationship Id="rId5" Type="http://schemas.openxmlformats.org/officeDocument/2006/relationships/image" Target="../media/image168.png"/><Relationship Id="rId4" Type="http://schemas.openxmlformats.org/officeDocument/2006/relationships/image" Target="../media/image167.png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3" Type="http://schemas.openxmlformats.org/officeDocument/2006/relationships/image" Target="../media/image170.png"/><Relationship Id="rId7" Type="http://schemas.openxmlformats.org/officeDocument/2006/relationships/image" Target="../media/image173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172.png"/><Relationship Id="rId10" Type="http://schemas.openxmlformats.org/officeDocument/2006/relationships/slide" Target="slide34.xml"/><Relationship Id="rId4" Type="http://schemas.openxmlformats.org/officeDocument/2006/relationships/image" Target="../media/image171.png"/><Relationship Id="rId9" Type="http://schemas.openxmlformats.org/officeDocument/2006/relationships/image" Target="../media/image174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slide" Target="slide34.xml"/><Relationship Id="rId2" Type="http://schemas.openxmlformats.org/officeDocument/2006/relationships/image" Target="../media/image175.png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6.png"/><Relationship Id="rId2" Type="http://schemas.openxmlformats.org/officeDocument/2006/relationships/image" Target="../media/image175.png"/><Relationship Id="rId1" Type="http://schemas.openxmlformats.org/officeDocument/2006/relationships/slideLayout" Target="../slideLayouts/slideLayout2.xml"/><Relationship Id="rId4" Type="http://schemas.openxmlformats.org/officeDocument/2006/relationships/slide" Target="slide34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6.png"/><Relationship Id="rId2" Type="http://schemas.openxmlformats.org/officeDocument/2006/relationships/image" Target="../media/image175.png"/><Relationship Id="rId1" Type="http://schemas.openxmlformats.org/officeDocument/2006/relationships/slideLayout" Target="../slideLayouts/slideLayout2.xml"/><Relationship Id="rId5" Type="http://schemas.openxmlformats.org/officeDocument/2006/relationships/slide" Target="slide34.xml"/><Relationship Id="rId4" Type="http://schemas.openxmlformats.org/officeDocument/2006/relationships/image" Target="../media/image177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7" Type="http://schemas.openxmlformats.org/officeDocument/2006/relationships/slide" Target="slide34.xml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79.png"/><Relationship Id="rId5" Type="http://schemas.openxmlformats.org/officeDocument/2006/relationships/image" Target="../media/image178.png"/><Relationship Id="rId4" Type="http://schemas.openxmlformats.org/officeDocument/2006/relationships/image" Target="../media/image56.png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slide" Target="slide34.xml"/><Relationship Id="rId3" Type="http://schemas.openxmlformats.org/officeDocument/2006/relationships/image" Target="../media/image55.png"/><Relationship Id="rId7" Type="http://schemas.openxmlformats.org/officeDocument/2006/relationships/image" Target="../media/image180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9.png"/><Relationship Id="rId5" Type="http://schemas.openxmlformats.org/officeDocument/2006/relationships/image" Target="../media/image178.png"/><Relationship Id="rId4" Type="http://schemas.openxmlformats.org/officeDocument/2006/relationships/image" Target="../media/image56.png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1.png"/><Relationship Id="rId3" Type="http://schemas.openxmlformats.org/officeDocument/2006/relationships/image" Target="../media/image55.png"/><Relationship Id="rId7" Type="http://schemas.openxmlformats.org/officeDocument/2006/relationships/image" Target="../media/image180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9.png"/><Relationship Id="rId5" Type="http://schemas.openxmlformats.org/officeDocument/2006/relationships/image" Target="../media/image178.png"/><Relationship Id="rId4" Type="http://schemas.openxmlformats.org/officeDocument/2006/relationships/image" Target="../media/image56.png"/><Relationship Id="rId9" Type="http://schemas.openxmlformats.org/officeDocument/2006/relationships/slide" Target="slide34.xml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1.png"/><Relationship Id="rId3" Type="http://schemas.openxmlformats.org/officeDocument/2006/relationships/image" Target="../media/image55.png"/><Relationship Id="rId7" Type="http://schemas.openxmlformats.org/officeDocument/2006/relationships/image" Target="../media/image180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9.png"/><Relationship Id="rId5" Type="http://schemas.openxmlformats.org/officeDocument/2006/relationships/image" Target="../media/image178.png"/><Relationship Id="rId10" Type="http://schemas.openxmlformats.org/officeDocument/2006/relationships/slide" Target="slide34.xml"/><Relationship Id="rId4" Type="http://schemas.openxmlformats.org/officeDocument/2006/relationships/image" Target="../media/image56.png"/><Relationship Id="rId9" Type="http://schemas.openxmlformats.org/officeDocument/2006/relationships/image" Target="../media/image182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slide" Target="slide34.xml"/><Relationship Id="rId2" Type="http://schemas.openxmlformats.org/officeDocument/2006/relationships/image" Target="../media/image183.jpg"/><Relationship Id="rId1" Type="http://schemas.openxmlformats.org/officeDocument/2006/relationships/slideLayout" Target="../slideLayouts/slideLayout5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4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1.xml"/><Relationship Id="rId6" Type="http://schemas.openxmlformats.org/officeDocument/2006/relationships/slide" Target="slide34.xml"/><Relationship Id="rId5" Type="http://schemas.openxmlformats.org/officeDocument/2006/relationships/image" Target="../media/image186.png"/><Relationship Id="rId4" Type="http://schemas.openxmlformats.org/officeDocument/2006/relationships/image" Target="../media/image185.png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4.png"/><Relationship Id="rId3" Type="http://schemas.openxmlformats.org/officeDocument/2006/relationships/image" Target="../media/image184.png"/><Relationship Id="rId7" Type="http://schemas.openxmlformats.org/officeDocument/2006/relationships/image" Target="../media/image187.png"/><Relationship Id="rId12" Type="http://schemas.openxmlformats.org/officeDocument/2006/relationships/slide" Target="slide34.xml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4.png"/><Relationship Id="rId11" Type="http://schemas.openxmlformats.org/officeDocument/2006/relationships/image" Target="../media/image190.png"/><Relationship Id="rId5" Type="http://schemas.openxmlformats.org/officeDocument/2006/relationships/image" Target="../media/image186.png"/><Relationship Id="rId10" Type="http://schemas.openxmlformats.org/officeDocument/2006/relationships/image" Target="../media/image189.png"/><Relationship Id="rId4" Type="http://schemas.openxmlformats.org/officeDocument/2006/relationships/image" Target="../media/image185.png"/><Relationship Id="rId9" Type="http://schemas.openxmlformats.org/officeDocument/2006/relationships/image" Target="../media/image188.png"/></Relationships>
</file>

<file path=ppt/slides/_rels/slide5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4.png"/><Relationship Id="rId13" Type="http://schemas.openxmlformats.org/officeDocument/2006/relationships/slide" Target="slide34.xml"/><Relationship Id="rId3" Type="http://schemas.openxmlformats.org/officeDocument/2006/relationships/image" Target="../media/image184.png"/><Relationship Id="rId7" Type="http://schemas.openxmlformats.org/officeDocument/2006/relationships/image" Target="../media/image187.png"/><Relationship Id="rId12" Type="http://schemas.openxmlformats.org/officeDocument/2006/relationships/image" Target="../media/image191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4.png"/><Relationship Id="rId11" Type="http://schemas.openxmlformats.org/officeDocument/2006/relationships/image" Target="../media/image190.png"/><Relationship Id="rId5" Type="http://schemas.openxmlformats.org/officeDocument/2006/relationships/image" Target="../media/image186.png"/><Relationship Id="rId10" Type="http://schemas.openxmlformats.org/officeDocument/2006/relationships/image" Target="../media/image189.png"/><Relationship Id="rId4" Type="http://schemas.openxmlformats.org/officeDocument/2006/relationships/image" Target="../media/image185.png"/><Relationship Id="rId9" Type="http://schemas.openxmlformats.org/officeDocument/2006/relationships/image" Target="../media/image188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2.png"/><Relationship Id="rId7" Type="http://schemas.openxmlformats.org/officeDocument/2006/relationships/slide" Target="slide34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5.png"/><Relationship Id="rId5" Type="http://schemas.openxmlformats.org/officeDocument/2006/relationships/image" Target="../media/image194.png"/><Relationship Id="rId4" Type="http://schemas.openxmlformats.org/officeDocument/2006/relationships/image" Target="../media/image193.png"/></Relationships>
</file>

<file path=ppt/slides/_rels/slide5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7.png"/><Relationship Id="rId3" Type="http://schemas.openxmlformats.org/officeDocument/2006/relationships/image" Target="../media/image192.png"/><Relationship Id="rId7" Type="http://schemas.openxmlformats.org/officeDocument/2006/relationships/image" Target="../media/image19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5.png"/><Relationship Id="rId5" Type="http://schemas.openxmlformats.org/officeDocument/2006/relationships/image" Target="../media/image194.png"/><Relationship Id="rId4" Type="http://schemas.openxmlformats.org/officeDocument/2006/relationships/image" Target="../media/image193.png"/><Relationship Id="rId9" Type="http://schemas.openxmlformats.org/officeDocument/2006/relationships/slide" Target="slide34.xml"/></Relationships>
</file>

<file path=ppt/slides/_rels/slide6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7.png"/><Relationship Id="rId13" Type="http://schemas.openxmlformats.org/officeDocument/2006/relationships/image" Target="../media/image201.png"/><Relationship Id="rId3" Type="http://schemas.openxmlformats.org/officeDocument/2006/relationships/image" Target="../media/image192.png"/><Relationship Id="rId7" Type="http://schemas.openxmlformats.org/officeDocument/2006/relationships/image" Target="../media/image196.png"/><Relationship Id="rId12" Type="http://schemas.openxmlformats.org/officeDocument/2006/relationships/image" Target="../media/image200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5.png"/><Relationship Id="rId11" Type="http://schemas.openxmlformats.org/officeDocument/2006/relationships/image" Target="../media/image199.png"/><Relationship Id="rId5" Type="http://schemas.openxmlformats.org/officeDocument/2006/relationships/image" Target="../media/image194.png"/><Relationship Id="rId15" Type="http://schemas.openxmlformats.org/officeDocument/2006/relationships/slide" Target="slide34.xml"/><Relationship Id="rId10" Type="http://schemas.openxmlformats.org/officeDocument/2006/relationships/image" Target="../media/image198.png"/><Relationship Id="rId4" Type="http://schemas.openxmlformats.org/officeDocument/2006/relationships/image" Target="../media/image193.png"/><Relationship Id="rId9" Type="http://schemas.openxmlformats.org/officeDocument/2006/relationships/image" Target="../media/image45.png"/><Relationship Id="rId14" Type="http://schemas.openxmlformats.org/officeDocument/2006/relationships/image" Target="../media/image202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slide" Target="slide34.xml"/><Relationship Id="rId2" Type="http://schemas.openxmlformats.org/officeDocument/2006/relationships/image" Target="../media/image203.png"/><Relationship Id="rId1" Type="http://schemas.openxmlformats.org/officeDocument/2006/relationships/slideLayout" Target="../slideLayouts/slideLayout5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slide" Target="slide34.xml"/><Relationship Id="rId2" Type="http://schemas.openxmlformats.org/officeDocument/2006/relationships/image" Target="../media/image204.png"/><Relationship Id="rId1" Type="http://schemas.openxmlformats.org/officeDocument/2006/relationships/slideLayout" Target="../slideLayouts/slideLayout5.xml"/></Relationships>
</file>

<file path=ppt/slides/_rels/slide6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0.png"/><Relationship Id="rId3" Type="http://schemas.openxmlformats.org/officeDocument/2006/relationships/image" Target="../media/image205.png"/><Relationship Id="rId7" Type="http://schemas.openxmlformats.org/officeDocument/2006/relationships/image" Target="../media/image20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8.png"/><Relationship Id="rId5" Type="http://schemas.openxmlformats.org/officeDocument/2006/relationships/image" Target="../media/image207.png"/><Relationship Id="rId4" Type="http://schemas.openxmlformats.org/officeDocument/2006/relationships/image" Target="../media/image206.png"/><Relationship Id="rId9" Type="http://schemas.openxmlformats.org/officeDocument/2006/relationships/slide" Target="slide34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slide" Target="slide34.xml"/><Relationship Id="rId2" Type="http://schemas.openxmlformats.org/officeDocument/2006/relationships/image" Target="../media/image211.png"/><Relationship Id="rId1" Type="http://schemas.openxmlformats.org/officeDocument/2006/relationships/slideLayout" Target="../slideLayouts/slideLayout5.xml"/></Relationships>
</file>

<file path=ppt/slides/_rels/slide6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7.png"/><Relationship Id="rId3" Type="http://schemas.openxmlformats.org/officeDocument/2006/relationships/image" Target="../media/image212.png"/><Relationship Id="rId7" Type="http://schemas.openxmlformats.org/officeDocument/2006/relationships/image" Target="../media/image216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5.png"/><Relationship Id="rId5" Type="http://schemas.openxmlformats.org/officeDocument/2006/relationships/image" Target="../media/image214.png"/><Relationship Id="rId4" Type="http://schemas.openxmlformats.org/officeDocument/2006/relationships/image" Target="../media/image213.png"/><Relationship Id="rId9" Type="http://schemas.openxmlformats.org/officeDocument/2006/relationships/slide" Target="slide34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slide" Target="slide34.xml"/><Relationship Id="rId2" Type="http://schemas.openxmlformats.org/officeDocument/2006/relationships/image" Target="../media/image218.jpg"/><Relationship Id="rId1" Type="http://schemas.openxmlformats.org/officeDocument/2006/relationships/slideLayout" Target="../slideLayouts/slideLayout5.xml"/></Relationships>
</file>

<file path=ppt/slides/_rels/slide6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3.png"/><Relationship Id="rId13" Type="http://schemas.openxmlformats.org/officeDocument/2006/relationships/slide" Target="slide34.xml"/><Relationship Id="rId3" Type="http://schemas.openxmlformats.org/officeDocument/2006/relationships/image" Target="../media/image219.png"/><Relationship Id="rId7" Type="http://schemas.openxmlformats.org/officeDocument/2006/relationships/image" Target="../media/image222.png"/><Relationship Id="rId12" Type="http://schemas.openxmlformats.org/officeDocument/2006/relationships/image" Target="../media/image227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6.png"/><Relationship Id="rId11" Type="http://schemas.openxmlformats.org/officeDocument/2006/relationships/image" Target="../media/image226.png"/><Relationship Id="rId5" Type="http://schemas.openxmlformats.org/officeDocument/2006/relationships/image" Target="../media/image221.png"/><Relationship Id="rId10" Type="http://schemas.openxmlformats.org/officeDocument/2006/relationships/image" Target="../media/image225.png"/><Relationship Id="rId4" Type="http://schemas.openxmlformats.org/officeDocument/2006/relationships/image" Target="../media/image220.png"/><Relationship Id="rId9" Type="http://schemas.openxmlformats.org/officeDocument/2006/relationships/image" Target="../media/image224.pn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slide" Target="slide34.xml"/><Relationship Id="rId2" Type="http://schemas.openxmlformats.org/officeDocument/2006/relationships/image" Target="../media/image228.jpg"/><Relationship Id="rId1" Type="http://schemas.openxmlformats.org/officeDocument/2006/relationships/slideLayout" Target="../slideLayouts/slideLayout5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9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6" Type="http://schemas.openxmlformats.org/officeDocument/2006/relationships/slide" Target="slide34.xml"/><Relationship Id="rId5" Type="http://schemas.openxmlformats.org/officeDocument/2006/relationships/image" Target="../media/image231.png"/><Relationship Id="rId4" Type="http://schemas.openxmlformats.org/officeDocument/2006/relationships/image" Target="../media/image230.png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slide" Target="slide34.xml"/><Relationship Id="rId2" Type="http://schemas.openxmlformats.org/officeDocument/2006/relationships/image" Target="../media/image232.jpg"/><Relationship Id="rId1" Type="http://schemas.openxmlformats.org/officeDocument/2006/relationships/slideLayout" Target="../slideLayouts/slideLayout5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png"/><Relationship Id="rId2" Type="http://schemas.openxmlformats.org/officeDocument/2006/relationships/image" Target="../media/image233.png"/><Relationship Id="rId1" Type="http://schemas.openxmlformats.org/officeDocument/2006/relationships/slideLayout" Target="../slideLayouts/slideLayout2.xml"/><Relationship Id="rId6" Type="http://schemas.openxmlformats.org/officeDocument/2006/relationships/slide" Target="slide34.xml"/><Relationship Id="rId5" Type="http://schemas.openxmlformats.org/officeDocument/2006/relationships/image" Target="../media/image235.png"/><Relationship Id="rId4" Type="http://schemas.openxmlformats.org/officeDocument/2006/relationships/image" Target="../media/image234.png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png"/><Relationship Id="rId7" Type="http://schemas.openxmlformats.org/officeDocument/2006/relationships/slide" Target="slide34.xml"/><Relationship Id="rId2" Type="http://schemas.openxmlformats.org/officeDocument/2006/relationships/image" Target="../media/image23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6.png"/><Relationship Id="rId5" Type="http://schemas.openxmlformats.org/officeDocument/2006/relationships/image" Target="../media/image235.png"/><Relationship Id="rId4" Type="http://schemas.openxmlformats.org/officeDocument/2006/relationships/image" Target="../media/image234.png"/></Relationships>
</file>

<file path=ppt/slides/_rels/slide73.xml.rels><?xml version="1.0" encoding="UTF-8" standalone="yes"?>
<Relationships xmlns="http://schemas.openxmlformats.org/package/2006/relationships"><Relationship Id="rId8" Type="http://schemas.openxmlformats.org/officeDocument/2006/relationships/slide" Target="slide34.xml"/><Relationship Id="rId3" Type="http://schemas.openxmlformats.org/officeDocument/2006/relationships/image" Target="../media/image94.png"/><Relationship Id="rId7" Type="http://schemas.openxmlformats.org/officeDocument/2006/relationships/image" Target="../media/image237.png"/><Relationship Id="rId2" Type="http://schemas.openxmlformats.org/officeDocument/2006/relationships/image" Target="../media/image23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6.png"/><Relationship Id="rId5" Type="http://schemas.openxmlformats.org/officeDocument/2006/relationships/image" Target="../media/image235.png"/><Relationship Id="rId4" Type="http://schemas.openxmlformats.org/officeDocument/2006/relationships/image" Target="../media/image234.png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slide" Target="slide34.xml"/><Relationship Id="rId1" Type="http://schemas.openxmlformats.org/officeDocument/2006/relationships/slideLayout" Target="../slideLayouts/slideLayout4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slide" Target="slide34.xml"/><Relationship Id="rId2" Type="http://schemas.openxmlformats.org/officeDocument/2006/relationships/image" Target="../media/image238.jpg"/><Relationship Id="rId1" Type="http://schemas.openxmlformats.org/officeDocument/2006/relationships/slideLayout" Target="../slideLayouts/slideLayout5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0.png"/><Relationship Id="rId2" Type="http://schemas.openxmlformats.org/officeDocument/2006/relationships/image" Target="../media/image239.png"/><Relationship Id="rId1" Type="http://schemas.openxmlformats.org/officeDocument/2006/relationships/slideLayout" Target="../slideLayouts/slideLayout5.xml"/><Relationship Id="rId5" Type="http://schemas.openxmlformats.org/officeDocument/2006/relationships/slide" Target="slide107.xml"/><Relationship Id="rId4" Type="http://schemas.openxmlformats.org/officeDocument/2006/relationships/image" Target="../media/image241.png"/></Relationships>
</file>

<file path=ppt/slides/_rels/slide7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6.png"/><Relationship Id="rId3" Type="http://schemas.openxmlformats.org/officeDocument/2006/relationships/image" Target="../media/image242.png"/><Relationship Id="rId7" Type="http://schemas.openxmlformats.org/officeDocument/2006/relationships/image" Target="../media/image24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7.png"/><Relationship Id="rId5" Type="http://schemas.openxmlformats.org/officeDocument/2006/relationships/image" Target="../media/image244.png"/><Relationship Id="rId4" Type="http://schemas.openxmlformats.org/officeDocument/2006/relationships/image" Target="../media/image243.png"/><Relationship Id="rId9" Type="http://schemas.openxmlformats.org/officeDocument/2006/relationships/slide" Target="slide76.xml"/></Relationships>
</file>

<file path=ppt/slides/_rels/slide7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6.png"/><Relationship Id="rId13" Type="http://schemas.openxmlformats.org/officeDocument/2006/relationships/image" Target="../media/image250.png"/><Relationship Id="rId3" Type="http://schemas.openxmlformats.org/officeDocument/2006/relationships/image" Target="../media/image242.png"/><Relationship Id="rId7" Type="http://schemas.openxmlformats.org/officeDocument/2006/relationships/image" Target="../media/image245.png"/><Relationship Id="rId12" Type="http://schemas.openxmlformats.org/officeDocument/2006/relationships/image" Target="../media/image24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7.png"/><Relationship Id="rId11" Type="http://schemas.openxmlformats.org/officeDocument/2006/relationships/image" Target="../media/image248.png"/><Relationship Id="rId5" Type="http://schemas.openxmlformats.org/officeDocument/2006/relationships/image" Target="../media/image244.png"/><Relationship Id="rId10" Type="http://schemas.openxmlformats.org/officeDocument/2006/relationships/image" Target="../media/image247.png"/><Relationship Id="rId4" Type="http://schemas.openxmlformats.org/officeDocument/2006/relationships/image" Target="../media/image243.png"/><Relationship Id="rId9" Type="http://schemas.openxmlformats.org/officeDocument/2006/relationships/image" Target="../media/image70.png"/><Relationship Id="rId14" Type="http://schemas.openxmlformats.org/officeDocument/2006/relationships/slide" Target="slide76.xml"/></Relationships>
</file>

<file path=ppt/slides/_rels/slide7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6.png"/><Relationship Id="rId13" Type="http://schemas.openxmlformats.org/officeDocument/2006/relationships/image" Target="../media/image250.png"/><Relationship Id="rId3" Type="http://schemas.openxmlformats.org/officeDocument/2006/relationships/image" Target="../media/image242.png"/><Relationship Id="rId7" Type="http://schemas.openxmlformats.org/officeDocument/2006/relationships/image" Target="../media/image245.png"/><Relationship Id="rId12" Type="http://schemas.openxmlformats.org/officeDocument/2006/relationships/image" Target="../media/image24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7.png"/><Relationship Id="rId11" Type="http://schemas.openxmlformats.org/officeDocument/2006/relationships/image" Target="../media/image248.png"/><Relationship Id="rId5" Type="http://schemas.openxmlformats.org/officeDocument/2006/relationships/image" Target="../media/image244.png"/><Relationship Id="rId15" Type="http://schemas.openxmlformats.org/officeDocument/2006/relationships/slide" Target="slide76.xml"/><Relationship Id="rId10" Type="http://schemas.openxmlformats.org/officeDocument/2006/relationships/image" Target="../media/image247.png"/><Relationship Id="rId4" Type="http://schemas.openxmlformats.org/officeDocument/2006/relationships/image" Target="../media/image243.png"/><Relationship Id="rId9" Type="http://schemas.openxmlformats.org/officeDocument/2006/relationships/image" Target="../media/image70.png"/><Relationship Id="rId14" Type="http://schemas.openxmlformats.org/officeDocument/2006/relationships/image" Target="../media/image74.png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2.png"/><Relationship Id="rId2" Type="http://schemas.openxmlformats.org/officeDocument/2006/relationships/image" Target="../media/image251.png"/><Relationship Id="rId1" Type="http://schemas.openxmlformats.org/officeDocument/2006/relationships/slideLayout" Target="../slideLayouts/slideLayout2.xml"/><Relationship Id="rId5" Type="http://schemas.openxmlformats.org/officeDocument/2006/relationships/slide" Target="slide76.xml"/><Relationship Id="rId4" Type="http://schemas.openxmlformats.org/officeDocument/2006/relationships/image" Target="../media/image253.png"/></Relationships>
</file>

<file path=ppt/slides/_rels/slide8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9.png"/><Relationship Id="rId3" Type="http://schemas.openxmlformats.org/officeDocument/2006/relationships/image" Target="../media/image254.png"/><Relationship Id="rId7" Type="http://schemas.openxmlformats.org/officeDocument/2006/relationships/image" Target="../media/image258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7.png"/><Relationship Id="rId11" Type="http://schemas.openxmlformats.org/officeDocument/2006/relationships/slide" Target="slide76.xml"/><Relationship Id="rId5" Type="http://schemas.openxmlformats.org/officeDocument/2006/relationships/image" Target="../media/image256.png"/><Relationship Id="rId10" Type="http://schemas.openxmlformats.org/officeDocument/2006/relationships/image" Target="../media/image261.png"/><Relationship Id="rId4" Type="http://schemas.openxmlformats.org/officeDocument/2006/relationships/image" Target="../media/image255.png"/><Relationship Id="rId9" Type="http://schemas.openxmlformats.org/officeDocument/2006/relationships/image" Target="../media/image260.png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slide" Target="slide76.xml"/><Relationship Id="rId1" Type="http://schemas.openxmlformats.org/officeDocument/2006/relationships/slideLayout" Target="../slideLayouts/slideLayout4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slide" Target="slide76.xml"/><Relationship Id="rId1" Type="http://schemas.openxmlformats.org/officeDocument/2006/relationships/slideLayout" Target="../slideLayouts/slideLayout1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slide" Target="slide76.xml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slide" Target="slide76.xml"/><Relationship Id="rId2" Type="http://schemas.openxmlformats.org/officeDocument/2006/relationships/image" Target="../media/image262.jpg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slide" Target="slide76.xml"/><Relationship Id="rId2" Type="http://schemas.openxmlformats.org/officeDocument/2006/relationships/image" Target="../media/image263.png"/><Relationship Id="rId1" Type="http://schemas.openxmlformats.org/officeDocument/2006/relationships/slideLayout" Target="../slideLayouts/slideLayout5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4.png"/><Relationship Id="rId2" Type="http://schemas.openxmlformats.org/officeDocument/2006/relationships/image" Target="../media/image263.png"/><Relationship Id="rId1" Type="http://schemas.openxmlformats.org/officeDocument/2006/relationships/slideLayout" Target="../slideLayouts/slideLayout1.xml"/><Relationship Id="rId4" Type="http://schemas.openxmlformats.org/officeDocument/2006/relationships/slide" Target="slide76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4.png"/><Relationship Id="rId2" Type="http://schemas.openxmlformats.org/officeDocument/2006/relationships/image" Target="../media/image263.png"/><Relationship Id="rId1" Type="http://schemas.openxmlformats.org/officeDocument/2006/relationships/slideLayout" Target="../slideLayouts/slideLayout2.xml"/><Relationship Id="rId5" Type="http://schemas.openxmlformats.org/officeDocument/2006/relationships/slide" Target="slide76.xml"/><Relationship Id="rId4" Type="http://schemas.openxmlformats.org/officeDocument/2006/relationships/image" Target="../media/image265.png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4.png"/><Relationship Id="rId2" Type="http://schemas.openxmlformats.org/officeDocument/2006/relationships/image" Target="../media/image263.png"/><Relationship Id="rId1" Type="http://schemas.openxmlformats.org/officeDocument/2006/relationships/slideLayout" Target="../slideLayouts/slideLayout2.xml"/><Relationship Id="rId5" Type="http://schemas.openxmlformats.org/officeDocument/2006/relationships/slide" Target="slide76.xml"/><Relationship Id="rId4" Type="http://schemas.openxmlformats.org/officeDocument/2006/relationships/image" Target="../media/image265.png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4.png"/><Relationship Id="rId2" Type="http://schemas.openxmlformats.org/officeDocument/2006/relationships/image" Target="../media/image263.png"/><Relationship Id="rId1" Type="http://schemas.openxmlformats.org/officeDocument/2006/relationships/slideLayout" Target="../slideLayouts/slideLayout2.xml"/><Relationship Id="rId5" Type="http://schemas.openxmlformats.org/officeDocument/2006/relationships/slide" Target="slide76.xml"/><Relationship Id="rId4" Type="http://schemas.openxmlformats.org/officeDocument/2006/relationships/image" Target="../media/image265.png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4.png"/><Relationship Id="rId2" Type="http://schemas.openxmlformats.org/officeDocument/2006/relationships/image" Target="../media/image263.png"/><Relationship Id="rId1" Type="http://schemas.openxmlformats.org/officeDocument/2006/relationships/slideLayout" Target="../slideLayouts/slideLayout2.xml"/><Relationship Id="rId5" Type="http://schemas.openxmlformats.org/officeDocument/2006/relationships/slide" Target="slide76.xml"/><Relationship Id="rId4" Type="http://schemas.openxmlformats.org/officeDocument/2006/relationships/image" Target="../media/image265.png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4.png"/><Relationship Id="rId2" Type="http://schemas.openxmlformats.org/officeDocument/2006/relationships/image" Target="../media/image263.png"/><Relationship Id="rId1" Type="http://schemas.openxmlformats.org/officeDocument/2006/relationships/slideLayout" Target="../slideLayouts/slideLayout2.xml"/><Relationship Id="rId6" Type="http://schemas.openxmlformats.org/officeDocument/2006/relationships/slide" Target="slide76.xml"/><Relationship Id="rId5" Type="http://schemas.openxmlformats.org/officeDocument/2006/relationships/image" Target="../media/image266.jpg"/><Relationship Id="rId4" Type="http://schemas.openxmlformats.org/officeDocument/2006/relationships/image" Target="../media/image265.png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slide" Target="slide76.xml"/><Relationship Id="rId2" Type="http://schemas.openxmlformats.org/officeDocument/2006/relationships/image" Target="../media/image267.jpg"/><Relationship Id="rId1" Type="http://schemas.openxmlformats.org/officeDocument/2006/relationships/slideLayout" Target="../slideLayouts/slideLayout5.xml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slide" Target="slide76.xml"/><Relationship Id="rId2" Type="http://schemas.openxmlformats.org/officeDocument/2006/relationships/image" Target="../media/image268.jpg"/><Relationship Id="rId1" Type="http://schemas.openxmlformats.org/officeDocument/2006/relationships/slideLayout" Target="../slideLayouts/slideLayout5.xml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slide" Target="slide76.xml"/><Relationship Id="rId2" Type="http://schemas.openxmlformats.org/officeDocument/2006/relationships/image" Target="../media/image269.jpg"/><Relationship Id="rId1" Type="http://schemas.openxmlformats.org/officeDocument/2006/relationships/slideLayout" Target="../slideLayouts/slideLayout5.xml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slide" Target="slide76.xml"/><Relationship Id="rId2" Type="http://schemas.openxmlformats.org/officeDocument/2006/relationships/image" Target="../media/image270.jpg"/><Relationship Id="rId1" Type="http://schemas.openxmlformats.org/officeDocument/2006/relationships/slideLayout" Target="../slideLayouts/slideLayout5.xml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slide" Target="slide76.xml"/><Relationship Id="rId2" Type="http://schemas.openxmlformats.org/officeDocument/2006/relationships/image" Target="../media/image271.png"/><Relationship Id="rId1" Type="http://schemas.openxmlformats.org/officeDocument/2006/relationships/slideLayout" Target="../slideLayouts/slideLayout1.xml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271.png"/><Relationship Id="rId1" Type="http://schemas.openxmlformats.org/officeDocument/2006/relationships/slideLayout" Target="../slideLayouts/slideLayout2.xml"/><Relationship Id="rId4" Type="http://schemas.openxmlformats.org/officeDocument/2006/relationships/slide" Target="slide76.xml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271.png"/><Relationship Id="rId1" Type="http://schemas.openxmlformats.org/officeDocument/2006/relationships/slideLayout" Target="../slideLayouts/slideLayout2.xml"/><Relationship Id="rId5" Type="http://schemas.openxmlformats.org/officeDocument/2006/relationships/slide" Target="slide76.xml"/><Relationship Id="rId4" Type="http://schemas.openxmlformats.org/officeDocument/2006/relationships/image" Target="../media/image272.png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slide" Target="slide76.xml"/><Relationship Id="rId2" Type="http://schemas.openxmlformats.org/officeDocument/2006/relationships/image" Target="../media/image273.png"/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4.png"/><Relationship Id="rId2" Type="http://schemas.openxmlformats.org/officeDocument/2006/relationships/image" Target="../media/image273.png"/><Relationship Id="rId1" Type="http://schemas.openxmlformats.org/officeDocument/2006/relationships/slideLayout" Target="../slideLayouts/slideLayout2.xml"/><Relationship Id="rId4" Type="http://schemas.openxmlformats.org/officeDocument/2006/relationships/slide" Target="slide76.xml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5.png"/><Relationship Id="rId2" Type="http://schemas.openxmlformats.org/officeDocument/2006/relationships/image" Target="../media/image168.png"/><Relationship Id="rId1" Type="http://schemas.openxmlformats.org/officeDocument/2006/relationships/slideLayout" Target="../slideLayouts/slideLayout2.xml"/><Relationship Id="rId5" Type="http://schemas.openxmlformats.org/officeDocument/2006/relationships/slide" Target="slide76.xml"/><Relationship Id="rId4" Type="http://schemas.openxmlformats.org/officeDocument/2006/relationships/image" Target="../media/image276.png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5.png"/><Relationship Id="rId7" Type="http://schemas.openxmlformats.org/officeDocument/2006/relationships/slide" Target="slide76.xml"/><Relationship Id="rId2" Type="http://schemas.openxmlformats.org/officeDocument/2006/relationships/image" Target="../media/image16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8.png"/><Relationship Id="rId5" Type="http://schemas.openxmlformats.org/officeDocument/2006/relationships/image" Target="../media/image277.png"/><Relationship Id="rId4" Type="http://schemas.openxmlformats.org/officeDocument/2006/relationships/image" Target="../media/image276.png"/></Relationships>
</file>

<file path=ppt/slides/_rels/slide104.xml.rels><?xml version="1.0" encoding="UTF-8" standalone="yes"?>
<Relationships xmlns="http://schemas.openxmlformats.org/package/2006/relationships"><Relationship Id="rId8" Type="http://schemas.openxmlformats.org/officeDocument/2006/relationships/slide" Target="slide76.xml"/><Relationship Id="rId3" Type="http://schemas.openxmlformats.org/officeDocument/2006/relationships/image" Target="../media/image275.png"/><Relationship Id="rId7" Type="http://schemas.openxmlformats.org/officeDocument/2006/relationships/image" Target="../media/image279.png"/><Relationship Id="rId2" Type="http://schemas.openxmlformats.org/officeDocument/2006/relationships/image" Target="../media/image16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8.png"/><Relationship Id="rId5" Type="http://schemas.openxmlformats.org/officeDocument/2006/relationships/image" Target="../media/image277.png"/><Relationship Id="rId4" Type="http://schemas.openxmlformats.org/officeDocument/2006/relationships/image" Target="../media/image276.png"/></Relationships>
</file>

<file path=ppt/slides/_rels/slide105.xml.rels><?xml version="1.0" encoding="UTF-8" standalone="yes"?>
<Relationships xmlns="http://schemas.openxmlformats.org/package/2006/relationships"><Relationship Id="rId3" Type="http://schemas.openxmlformats.org/officeDocument/2006/relationships/slide" Target="slide76.xml"/><Relationship Id="rId2" Type="http://schemas.openxmlformats.org/officeDocument/2006/relationships/image" Target="../media/image280.jpg"/><Relationship Id="rId1" Type="http://schemas.openxmlformats.org/officeDocument/2006/relationships/slideLayout" Target="../slideLayouts/slideLayout5.xml"/></Relationships>
</file>

<file path=ppt/slides/_rels/slide106.xml.rels><?xml version="1.0" encoding="UTF-8" standalone="yes"?>
<Relationships xmlns="http://schemas.openxmlformats.org/package/2006/relationships"><Relationship Id="rId3" Type="http://schemas.openxmlformats.org/officeDocument/2006/relationships/slide" Target="slide76.xml"/><Relationship Id="rId2" Type="http://schemas.openxmlformats.org/officeDocument/2006/relationships/image" Target="../media/image280.jpg"/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3" Type="http://schemas.openxmlformats.org/officeDocument/2006/relationships/slide" Target="slide76.xml"/><Relationship Id="rId2" Type="http://schemas.openxmlformats.org/officeDocument/2006/relationships/image" Target="../media/image281.jpg"/><Relationship Id="rId1" Type="http://schemas.openxmlformats.org/officeDocument/2006/relationships/slideLayout" Target="../slideLayouts/slideLayout4.xml"/></Relationships>
</file>

<file path=ppt/slides/_rels/slide10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0.png"/><Relationship Id="rId2" Type="http://schemas.openxmlformats.org/officeDocument/2006/relationships/image" Target="../media/image239.png"/><Relationship Id="rId1" Type="http://schemas.openxmlformats.org/officeDocument/2006/relationships/slideLayout" Target="../slideLayouts/slideLayout5.xml"/><Relationship Id="rId5" Type="http://schemas.openxmlformats.org/officeDocument/2006/relationships/slide" Target="slide130.xml"/><Relationship Id="rId4" Type="http://schemas.openxmlformats.org/officeDocument/2006/relationships/image" Target="../media/image241.png"/></Relationships>
</file>

<file path=ppt/slides/_rels/slide10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2.png"/><Relationship Id="rId2" Type="http://schemas.openxmlformats.org/officeDocument/2006/relationships/image" Target="../media/image168.png"/><Relationship Id="rId1" Type="http://schemas.openxmlformats.org/officeDocument/2006/relationships/slideLayout" Target="../slideLayouts/slideLayout2.xml"/><Relationship Id="rId4" Type="http://schemas.openxmlformats.org/officeDocument/2006/relationships/slide" Target="slide108.xml"/></Relationships>
</file>

<file path=ppt/slides/_rels/slide1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2.png"/><Relationship Id="rId2" Type="http://schemas.openxmlformats.org/officeDocument/2006/relationships/image" Target="../media/image168.png"/><Relationship Id="rId1" Type="http://schemas.openxmlformats.org/officeDocument/2006/relationships/slideLayout" Target="../slideLayouts/slideLayout2.xml"/><Relationship Id="rId5" Type="http://schemas.openxmlformats.org/officeDocument/2006/relationships/slide" Target="slide108.xml"/><Relationship Id="rId4" Type="http://schemas.openxmlformats.org/officeDocument/2006/relationships/image" Target="../media/image283.png"/></Relationships>
</file>

<file path=ppt/slides/_rels/slide1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4.png"/><Relationship Id="rId7" Type="http://schemas.openxmlformats.org/officeDocument/2006/relationships/slide" Target="slide108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6.png"/><Relationship Id="rId5" Type="http://schemas.openxmlformats.org/officeDocument/2006/relationships/image" Target="../media/image285.png"/><Relationship Id="rId4" Type="http://schemas.openxmlformats.org/officeDocument/2006/relationships/image" Target="../media/image199.png"/></Relationships>
</file>

<file path=ppt/slides/_rels/slide1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8.png"/><Relationship Id="rId3" Type="http://schemas.openxmlformats.org/officeDocument/2006/relationships/image" Target="../media/image284.png"/><Relationship Id="rId7" Type="http://schemas.openxmlformats.org/officeDocument/2006/relationships/image" Target="../media/image28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6.png"/><Relationship Id="rId11" Type="http://schemas.openxmlformats.org/officeDocument/2006/relationships/slide" Target="slide108.xml"/><Relationship Id="rId5" Type="http://schemas.openxmlformats.org/officeDocument/2006/relationships/image" Target="../media/image285.png"/><Relationship Id="rId10" Type="http://schemas.openxmlformats.org/officeDocument/2006/relationships/image" Target="../media/image290.png"/><Relationship Id="rId4" Type="http://schemas.openxmlformats.org/officeDocument/2006/relationships/image" Target="../media/image199.png"/><Relationship Id="rId9" Type="http://schemas.openxmlformats.org/officeDocument/2006/relationships/image" Target="../media/image289.png"/></Relationships>
</file>

<file path=ppt/slides/_rels/slide1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2.png"/><Relationship Id="rId3" Type="http://schemas.openxmlformats.org/officeDocument/2006/relationships/image" Target="../media/image212.png"/><Relationship Id="rId7" Type="http://schemas.openxmlformats.org/officeDocument/2006/relationships/image" Target="../media/image286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8.png"/><Relationship Id="rId5" Type="http://schemas.openxmlformats.org/officeDocument/2006/relationships/image" Target="../media/image291.png"/><Relationship Id="rId10" Type="http://schemas.openxmlformats.org/officeDocument/2006/relationships/slide" Target="slide108.xml"/><Relationship Id="rId4" Type="http://schemas.openxmlformats.org/officeDocument/2006/relationships/image" Target="../media/image213.png"/><Relationship Id="rId9" Type="http://schemas.openxmlformats.org/officeDocument/2006/relationships/image" Target="../media/image293.png"/></Relationships>
</file>

<file path=ppt/slides/_rels/slide114.xml.rels><?xml version="1.0" encoding="UTF-8" standalone="yes"?>
<Relationships xmlns="http://schemas.openxmlformats.org/package/2006/relationships"><Relationship Id="rId3" Type="http://schemas.openxmlformats.org/officeDocument/2006/relationships/slide" Target="slide108.xml"/><Relationship Id="rId2" Type="http://schemas.openxmlformats.org/officeDocument/2006/relationships/image" Target="../media/image294.jpg"/><Relationship Id="rId1" Type="http://schemas.openxmlformats.org/officeDocument/2006/relationships/slideLayout" Target="../slideLayouts/slideLayout5.xml"/></Relationships>
</file>

<file path=ppt/slides/_rels/slide115.xml.rels><?xml version="1.0" encoding="UTF-8" standalone="yes"?>
<Relationships xmlns="http://schemas.openxmlformats.org/package/2006/relationships"><Relationship Id="rId3" Type="http://schemas.openxmlformats.org/officeDocument/2006/relationships/slide" Target="slide108.xml"/><Relationship Id="rId2" Type="http://schemas.openxmlformats.org/officeDocument/2006/relationships/image" Target="../media/image295.jpg"/><Relationship Id="rId1" Type="http://schemas.openxmlformats.org/officeDocument/2006/relationships/slideLayout" Target="../slideLayouts/slideLayout5.xml"/></Relationships>
</file>

<file path=ppt/slides/_rels/slide116.xml.rels><?xml version="1.0" encoding="UTF-8" standalone="yes"?>
<Relationships xmlns="http://schemas.openxmlformats.org/package/2006/relationships"><Relationship Id="rId3" Type="http://schemas.openxmlformats.org/officeDocument/2006/relationships/slide" Target="slide108.xml"/><Relationship Id="rId2" Type="http://schemas.openxmlformats.org/officeDocument/2006/relationships/image" Target="../media/image296.jpg"/><Relationship Id="rId1" Type="http://schemas.openxmlformats.org/officeDocument/2006/relationships/slideLayout" Target="../slideLayouts/slideLayout5.xml"/></Relationships>
</file>

<file path=ppt/slides/_rels/slide117.xml.rels><?xml version="1.0" encoding="UTF-8" standalone="yes"?>
<Relationships xmlns="http://schemas.openxmlformats.org/package/2006/relationships"><Relationship Id="rId3" Type="http://schemas.openxmlformats.org/officeDocument/2006/relationships/slide" Target="slide108.xml"/><Relationship Id="rId2" Type="http://schemas.openxmlformats.org/officeDocument/2006/relationships/image" Target="../media/image297.jpg"/><Relationship Id="rId1" Type="http://schemas.openxmlformats.org/officeDocument/2006/relationships/slideLayout" Target="../slideLayouts/slideLayout5.xml"/></Relationships>
</file>

<file path=ppt/slides/_rels/slide1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13" Type="http://schemas.openxmlformats.org/officeDocument/2006/relationships/image" Target="../media/image303.png"/><Relationship Id="rId3" Type="http://schemas.openxmlformats.org/officeDocument/2006/relationships/image" Target="../media/image184.png"/><Relationship Id="rId7" Type="http://schemas.openxmlformats.org/officeDocument/2006/relationships/image" Target="../media/image196.png"/><Relationship Id="rId12" Type="http://schemas.openxmlformats.org/officeDocument/2006/relationships/image" Target="../media/image30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3.png"/><Relationship Id="rId11" Type="http://schemas.openxmlformats.org/officeDocument/2006/relationships/image" Target="../media/image301.png"/><Relationship Id="rId5" Type="http://schemas.openxmlformats.org/officeDocument/2006/relationships/image" Target="../media/image298.png"/><Relationship Id="rId10" Type="http://schemas.openxmlformats.org/officeDocument/2006/relationships/image" Target="../media/image300.png"/><Relationship Id="rId4" Type="http://schemas.openxmlformats.org/officeDocument/2006/relationships/image" Target="../media/image185.png"/><Relationship Id="rId9" Type="http://schemas.openxmlformats.org/officeDocument/2006/relationships/image" Target="../media/image299.png"/><Relationship Id="rId14" Type="http://schemas.openxmlformats.org/officeDocument/2006/relationships/slide" Target="slide108.xml"/></Relationships>
</file>

<file path=ppt/slides/_rels/slide119.xml.rels><?xml version="1.0" encoding="UTF-8" standalone="yes"?>
<Relationships xmlns="http://schemas.openxmlformats.org/package/2006/relationships"><Relationship Id="rId8" Type="http://schemas.openxmlformats.org/officeDocument/2006/relationships/slide" Target="slide108.xml"/><Relationship Id="rId3" Type="http://schemas.openxmlformats.org/officeDocument/2006/relationships/image" Target="../media/image304.png"/><Relationship Id="rId7" Type="http://schemas.openxmlformats.org/officeDocument/2006/relationships/image" Target="../media/image308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7.png"/><Relationship Id="rId5" Type="http://schemas.openxmlformats.org/officeDocument/2006/relationships/image" Target="../media/image306.png"/><Relationship Id="rId4" Type="http://schemas.openxmlformats.org/officeDocument/2006/relationships/image" Target="../media/image305.png"/></Relationships>
</file>

<file path=ppt/slides/_rels/slide1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9.png"/><Relationship Id="rId3" Type="http://schemas.openxmlformats.org/officeDocument/2006/relationships/image" Target="../media/image304.png"/><Relationship Id="rId7" Type="http://schemas.openxmlformats.org/officeDocument/2006/relationships/image" Target="../media/image308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7.png"/><Relationship Id="rId5" Type="http://schemas.openxmlformats.org/officeDocument/2006/relationships/image" Target="../media/image306.png"/><Relationship Id="rId4" Type="http://schemas.openxmlformats.org/officeDocument/2006/relationships/image" Target="../media/image305.png"/><Relationship Id="rId9" Type="http://schemas.openxmlformats.org/officeDocument/2006/relationships/slide" Target="slide108.xml"/></Relationships>
</file>

<file path=ppt/slides/_rels/slide1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5.png"/><Relationship Id="rId3" Type="http://schemas.openxmlformats.org/officeDocument/2006/relationships/image" Target="../media/image310.png"/><Relationship Id="rId7" Type="http://schemas.openxmlformats.org/officeDocument/2006/relationships/image" Target="../media/image314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3.png"/><Relationship Id="rId5" Type="http://schemas.openxmlformats.org/officeDocument/2006/relationships/image" Target="../media/image312.png"/><Relationship Id="rId4" Type="http://schemas.openxmlformats.org/officeDocument/2006/relationships/image" Target="../media/image311.png"/><Relationship Id="rId9" Type="http://schemas.openxmlformats.org/officeDocument/2006/relationships/slide" Target="slide108.xml"/></Relationships>
</file>

<file path=ppt/slides/_rels/slide1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5.png"/><Relationship Id="rId3" Type="http://schemas.openxmlformats.org/officeDocument/2006/relationships/image" Target="../media/image310.png"/><Relationship Id="rId7" Type="http://schemas.openxmlformats.org/officeDocument/2006/relationships/image" Target="../media/image314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3.png"/><Relationship Id="rId5" Type="http://schemas.openxmlformats.org/officeDocument/2006/relationships/image" Target="../media/image312.png"/><Relationship Id="rId10" Type="http://schemas.openxmlformats.org/officeDocument/2006/relationships/slide" Target="slide108.xml"/><Relationship Id="rId4" Type="http://schemas.openxmlformats.org/officeDocument/2006/relationships/image" Target="../media/image311.png"/><Relationship Id="rId9" Type="http://schemas.openxmlformats.org/officeDocument/2006/relationships/image" Target="../media/image316.png"/></Relationships>
</file>

<file path=ppt/slides/_rels/slide1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5.png"/><Relationship Id="rId3" Type="http://schemas.openxmlformats.org/officeDocument/2006/relationships/image" Target="../media/image310.png"/><Relationship Id="rId7" Type="http://schemas.openxmlformats.org/officeDocument/2006/relationships/image" Target="../media/image314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3.png"/><Relationship Id="rId5" Type="http://schemas.openxmlformats.org/officeDocument/2006/relationships/image" Target="../media/image312.png"/><Relationship Id="rId10" Type="http://schemas.openxmlformats.org/officeDocument/2006/relationships/slide" Target="slide108.xml"/><Relationship Id="rId4" Type="http://schemas.openxmlformats.org/officeDocument/2006/relationships/image" Target="../media/image311.png"/><Relationship Id="rId9" Type="http://schemas.openxmlformats.org/officeDocument/2006/relationships/image" Target="../media/image316.png"/></Relationships>
</file>

<file path=ppt/slides/_rels/slide1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5.png"/><Relationship Id="rId3" Type="http://schemas.openxmlformats.org/officeDocument/2006/relationships/image" Target="../media/image310.png"/><Relationship Id="rId7" Type="http://schemas.openxmlformats.org/officeDocument/2006/relationships/image" Target="../media/image314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3.png"/><Relationship Id="rId11" Type="http://schemas.openxmlformats.org/officeDocument/2006/relationships/slide" Target="slide108.xml"/><Relationship Id="rId5" Type="http://schemas.openxmlformats.org/officeDocument/2006/relationships/image" Target="../media/image312.png"/><Relationship Id="rId10" Type="http://schemas.openxmlformats.org/officeDocument/2006/relationships/image" Target="../media/image317.png"/><Relationship Id="rId4" Type="http://schemas.openxmlformats.org/officeDocument/2006/relationships/image" Target="../media/image311.png"/><Relationship Id="rId9" Type="http://schemas.openxmlformats.org/officeDocument/2006/relationships/image" Target="../media/image316.png"/></Relationships>
</file>

<file path=ppt/slides/_rels/slide1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5.png"/><Relationship Id="rId3" Type="http://schemas.openxmlformats.org/officeDocument/2006/relationships/image" Target="../media/image310.png"/><Relationship Id="rId7" Type="http://schemas.openxmlformats.org/officeDocument/2006/relationships/image" Target="../media/image314.png"/><Relationship Id="rId12" Type="http://schemas.openxmlformats.org/officeDocument/2006/relationships/slide" Target="slide108.xml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3.png"/><Relationship Id="rId11" Type="http://schemas.openxmlformats.org/officeDocument/2006/relationships/image" Target="../media/image318.png"/><Relationship Id="rId5" Type="http://schemas.openxmlformats.org/officeDocument/2006/relationships/image" Target="../media/image312.png"/><Relationship Id="rId10" Type="http://schemas.openxmlformats.org/officeDocument/2006/relationships/image" Target="../media/image317.png"/><Relationship Id="rId4" Type="http://schemas.openxmlformats.org/officeDocument/2006/relationships/image" Target="../media/image311.png"/><Relationship Id="rId9" Type="http://schemas.openxmlformats.org/officeDocument/2006/relationships/image" Target="../media/image316.png"/></Relationships>
</file>

<file path=ppt/slides/_rels/slide126.xml.rels><?xml version="1.0" encoding="UTF-8" standalone="yes"?>
<Relationships xmlns="http://schemas.openxmlformats.org/package/2006/relationships"><Relationship Id="rId3" Type="http://schemas.openxmlformats.org/officeDocument/2006/relationships/slide" Target="slide108.xml"/><Relationship Id="rId2" Type="http://schemas.openxmlformats.org/officeDocument/2006/relationships/image" Target="../media/image319.jpg"/><Relationship Id="rId1" Type="http://schemas.openxmlformats.org/officeDocument/2006/relationships/slideLayout" Target="../slideLayouts/slideLayout5.xml"/></Relationships>
</file>

<file path=ppt/slides/_rels/slide1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1.png"/><Relationship Id="rId2" Type="http://schemas.openxmlformats.org/officeDocument/2006/relationships/image" Target="../media/image320.png"/><Relationship Id="rId1" Type="http://schemas.openxmlformats.org/officeDocument/2006/relationships/slideLayout" Target="../slideLayouts/slideLayout1.xml"/><Relationship Id="rId4" Type="http://schemas.openxmlformats.org/officeDocument/2006/relationships/slide" Target="slide108.xml"/></Relationships>
</file>

<file path=ppt/slides/_rels/slide128.xml.rels><?xml version="1.0" encoding="UTF-8" standalone="yes"?>
<Relationships xmlns="http://schemas.openxmlformats.org/package/2006/relationships"><Relationship Id="rId8" Type="http://schemas.openxmlformats.org/officeDocument/2006/relationships/slide" Target="slide108.xml"/><Relationship Id="rId3" Type="http://schemas.openxmlformats.org/officeDocument/2006/relationships/image" Target="../media/image321.png"/><Relationship Id="rId7" Type="http://schemas.openxmlformats.org/officeDocument/2006/relationships/image" Target="../media/image324.png"/><Relationship Id="rId2" Type="http://schemas.openxmlformats.org/officeDocument/2006/relationships/image" Target="../media/image3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3.png"/><Relationship Id="rId5" Type="http://schemas.openxmlformats.org/officeDocument/2006/relationships/image" Target="../media/image322.png"/><Relationship Id="rId4" Type="http://schemas.openxmlformats.org/officeDocument/2006/relationships/image" Target="../media/image4.png"/></Relationships>
</file>

<file path=ppt/slides/_rels/slide1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6.png"/><Relationship Id="rId2" Type="http://schemas.openxmlformats.org/officeDocument/2006/relationships/image" Target="../media/image325.png"/><Relationship Id="rId1" Type="http://schemas.openxmlformats.org/officeDocument/2006/relationships/slideLayout" Target="../slideLayouts/slideLayout1.xml"/><Relationship Id="rId4" Type="http://schemas.openxmlformats.org/officeDocument/2006/relationships/slide" Target="slide108.xml"/></Relationships>
</file>

<file path=ppt/slides/_rels/slide1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6.png"/><Relationship Id="rId7" Type="http://schemas.openxmlformats.org/officeDocument/2006/relationships/slide" Target="slide108.xml"/><Relationship Id="rId2" Type="http://schemas.openxmlformats.org/officeDocument/2006/relationships/image" Target="../media/image3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8.png"/><Relationship Id="rId5" Type="http://schemas.openxmlformats.org/officeDocument/2006/relationships/image" Target="../media/image327.png"/><Relationship Id="rId4" Type="http://schemas.openxmlformats.org/officeDocument/2006/relationships/image" Target="../media/image168.png"/></Relationships>
</file>

<file path=ppt/slides/_rels/slide1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Relationship Id="rId5" Type="http://schemas.openxmlformats.org/officeDocument/2006/relationships/slide" Target="slide137.xml"/><Relationship Id="rId4" Type="http://schemas.openxmlformats.org/officeDocument/2006/relationships/image" Target="../media/image3.png"/></Relationships>
</file>

<file path=ppt/slides/_rels/slide1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0.png"/><Relationship Id="rId2" Type="http://schemas.openxmlformats.org/officeDocument/2006/relationships/image" Target="../media/image329.png"/><Relationship Id="rId1" Type="http://schemas.openxmlformats.org/officeDocument/2006/relationships/slideLayout" Target="../slideLayouts/slideLayout5.xml"/><Relationship Id="rId6" Type="http://schemas.openxmlformats.org/officeDocument/2006/relationships/slide" Target="slide131.xml"/><Relationship Id="rId5" Type="http://schemas.openxmlformats.org/officeDocument/2006/relationships/hyperlink" Target="http://www.merriam-webster.com/" TargetMode="External"/><Relationship Id="rId4" Type="http://schemas.openxmlformats.org/officeDocument/2006/relationships/image" Target="../media/image331.png"/></Relationships>
</file>

<file path=ppt/slides/_rels/slide133.xml.rels><?xml version="1.0" encoding="UTF-8" standalone="yes"?>
<Relationships xmlns="http://schemas.openxmlformats.org/package/2006/relationships"><Relationship Id="rId8" Type="http://schemas.openxmlformats.org/officeDocument/2006/relationships/hyperlink" Target="http://www.merriam-webster.com/" TargetMode="External"/><Relationship Id="rId3" Type="http://schemas.openxmlformats.org/officeDocument/2006/relationships/image" Target="../media/image330.png"/><Relationship Id="rId7" Type="http://schemas.openxmlformats.org/officeDocument/2006/relationships/image" Target="../media/image334.jpg"/><Relationship Id="rId2" Type="http://schemas.openxmlformats.org/officeDocument/2006/relationships/image" Target="../media/image329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33.png"/><Relationship Id="rId5" Type="http://schemas.openxmlformats.org/officeDocument/2006/relationships/image" Target="../media/image332.png"/><Relationship Id="rId4" Type="http://schemas.openxmlformats.org/officeDocument/2006/relationships/image" Target="../media/image331.png"/><Relationship Id="rId9" Type="http://schemas.openxmlformats.org/officeDocument/2006/relationships/slide" Target="slide131.xml"/></Relationships>
</file>

<file path=ppt/slides/_rels/slide134.xml.rels><?xml version="1.0" encoding="UTF-8" standalone="yes"?>
<Relationships xmlns="http://schemas.openxmlformats.org/package/2006/relationships"><Relationship Id="rId3" Type="http://schemas.openxmlformats.org/officeDocument/2006/relationships/slide" Target="slide131.xml"/><Relationship Id="rId2" Type="http://schemas.openxmlformats.org/officeDocument/2006/relationships/image" Target="../media/image335.png"/><Relationship Id="rId1" Type="http://schemas.openxmlformats.org/officeDocument/2006/relationships/slideLayout" Target="../slideLayouts/slideLayout4.xml"/></Relationships>
</file>

<file path=ppt/slides/_rels/slide1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6.png"/><Relationship Id="rId2" Type="http://schemas.openxmlformats.org/officeDocument/2006/relationships/image" Target="../media/image335.png"/><Relationship Id="rId1" Type="http://schemas.openxmlformats.org/officeDocument/2006/relationships/slideLayout" Target="../slideLayouts/slideLayout2.xml"/><Relationship Id="rId4" Type="http://schemas.openxmlformats.org/officeDocument/2006/relationships/slide" Target="slide131.xml"/></Relationships>
</file>

<file path=ppt/slides/_rels/slide136.xml.rels><?xml version="1.0" encoding="UTF-8" standalone="yes"?>
<Relationships xmlns="http://schemas.openxmlformats.org/package/2006/relationships"><Relationship Id="rId3" Type="http://schemas.openxmlformats.org/officeDocument/2006/relationships/slide" Target="slide131.xml"/><Relationship Id="rId2" Type="http://schemas.openxmlformats.org/officeDocument/2006/relationships/image" Target="../media/image337.png"/><Relationship Id="rId1" Type="http://schemas.openxmlformats.org/officeDocument/2006/relationships/slideLayout" Target="../slideLayouts/slideLayout5.xml"/></Relationships>
</file>

<file path=ppt/slides/_rels/slide137.xml.rels><?xml version="1.0" encoding="UTF-8" standalone="yes"?>
<Relationships xmlns="http://schemas.openxmlformats.org/package/2006/relationships"><Relationship Id="rId3" Type="http://schemas.openxmlformats.org/officeDocument/2006/relationships/slide" Target="slide131.xml"/><Relationship Id="rId2" Type="http://schemas.openxmlformats.org/officeDocument/2006/relationships/image" Target="../media/image338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7743" y="908939"/>
            <a:ext cx="4432935" cy="82550"/>
          </a:xfrm>
          <a:custGeom>
            <a:avLst/>
            <a:gdLst/>
            <a:ahLst/>
            <a:cxnLst/>
            <a:rect l="l" t="t" r="r" b="b"/>
            <a:pathLst>
              <a:path w="4432935" h="82550">
                <a:moveTo>
                  <a:pt x="4381754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82423"/>
                </a:lnTo>
                <a:lnTo>
                  <a:pt x="4432554" y="82423"/>
                </a:lnTo>
                <a:lnTo>
                  <a:pt x="4432554" y="50800"/>
                </a:lnTo>
                <a:lnTo>
                  <a:pt x="4428545" y="31075"/>
                </a:lnTo>
                <a:lnTo>
                  <a:pt x="4417631" y="14922"/>
                </a:lnTo>
                <a:lnTo>
                  <a:pt x="4401478" y="4008"/>
                </a:lnTo>
                <a:lnTo>
                  <a:pt x="4381754" y="0"/>
                </a:lnTo>
                <a:close/>
              </a:path>
            </a:pathLst>
          </a:custGeom>
          <a:solidFill>
            <a:srgbClr val="3232B2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87743" y="953363"/>
            <a:ext cx="4483735" cy="347345"/>
            <a:chOff x="87743" y="953363"/>
            <a:chExt cx="4483735" cy="34734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8544" y="1198854"/>
              <a:ext cx="101599" cy="1016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9344" y="1186154"/>
              <a:ext cx="4381754" cy="11430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520298" y="959510"/>
              <a:ext cx="50800" cy="239344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87743" y="953363"/>
              <a:ext cx="4432935" cy="296545"/>
            </a:xfrm>
            <a:custGeom>
              <a:avLst/>
              <a:gdLst/>
              <a:ahLst/>
              <a:cxnLst/>
              <a:rect l="l" t="t" r="r" b="b"/>
              <a:pathLst>
                <a:path w="4432935" h="296544">
                  <a:moveTo>
                    <a:pt x="4432554" y="0"/>
                  </a:moveTo>
                  <a:lnTo>
                    <a:pt x="0" y="0"/>
                  </a:lnTo>
                  <a:lnTo>
                    <a:pt x="0" y="245490"/>
                  </a:lnTo>
                  <a:lnTo>
                    <a:pt x="4008" y="265215"/>
                  </a:lnTo>
                  <a:lnTo>
                    <a:pt x="14922" y="281368"/>
                  </a:lnTo>
                  <a:lnTo>
                    <a:pt x="31075" y="292282"/>
                  </a:lnTo>
                  <a:lnTo>
                    <a:pt x="50800" y="296290"/>
                  </a:lnTo>
                  <a:lnTo>
                    <a:pt x="4381754" y="296290"/>
                  </a:lnTo>
                  <a:lnTo>
                    <a:pt x="4401478" y="292282"/>
                  </a:lnTo>
                  <a:lnTo>
                    <a:pt x="4417631" y="281368"/>
                  </a:lnTo>
                  <a:lnTo>
                    <a:pt x="4428545" y="265215"/>
                  </a:lnTo>
                  <a:lnTo>
                    <a:pt x="4432554" y="245490"/>
                  </a:lnTo>
                  <a:lnTo>
                    <a:pt x="4432554" y="0"/>
                  </a:lnTo>
                  <a:close/>
                </a:path>
              </a:pathLst>
            </a:custGeom>
            <a:solidFill>
              <a:srgbClr val="3232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520310" y="997559"/>
              <a:ext cx="0" cy="220345"/>
            </a:xfrm>
            <a:custGeom>
              <a:avLst/>
              <a:gdLst/>
              <a:ahLst/>
              <a:cxnLst/>
              <a:rect l="l" t="t" r="r" b="b"/>
              <a:pathLst>
                <a:path h="220344">
                  <a:moveTo>
                    <a:pt x="0" y="220344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520310" y="984910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520310" y="972210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520310" y="959510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1632762" y="957732"/>
            <a:ext cx="134302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i="1" dirty="0">
                <a:solidFill>
                  <a:srgbClr val="FFFFFF"/>
                </a:solidFill>
                <a:latin typeface="Cambria"/>
                <a:cs typeface="Cambria"/>
              </a:rPr>
              <a:t>Lexical</a:t>
            </a:r>
            <a:r>
              <a:rPr sz="1400" i="1" spc="12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spc="-10" dirty="0">
                <a:solidFill>
                  <a:srgbClr val="FFFFFF"/>
                </a:solidFill>
                <a:latin typeface="Cambria"/>
                <a:cs typeface="Cambria"/>
              </a:rPr>
              <a:t>Semantics</a:t>
            </a:r>
            <a:endParaRPr sz="1400">
              <a:latin typeface="Cambria"/>
              <a:cs typeface="Cambria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0" y="3347161"/>
            <a:ext cx="4608195" cy="109220"/>
            <a:chOff x="0" y="3347161"/>
            <a:chExt cx="4608195" cy="109220"/>
          </a:xfrm>
        </p:grpSpPr>
        <p:sp>
          <p:nvSpPr>
            <p:cNvPr id="15" name="object 15"/>
            <p:cNvSpPr/>
            <p:nvPr/>
          </p:nvSpPr>
          <p:spPr>
            <a:xfrm>
              <a:off x="0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5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535976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071952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3232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2016760" y="3339672"/>
            <a:ext cx="57467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5" action="ppaction://hlinksldjump"/>
              </a:rPr>
              <a:t>Lexical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  <a:hlinkClick r:id="rId5" action="ppaction://hlinksldjump"/>
              </a:rPr>
              <a:t>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  <a:hlinkClick r:id="rId5" action="ppaction://hlinksldjump"/>
              </a:rPr>
              <a:t>Semantics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sldNum" sz="quarter" idx="4294967295"/>
          </p:nvPr>
        </p:nvSpPr>
        <p:spPr>
          <a:xfrm>
            <a:off x="4292024" y="3339672"/>
            <a:ext cx="262254" cy="116204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75565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dirty="0"/>
              <a:t>1</a:t>
            </a:fld>
            <a:r>
              <a:rPr spc="-5" dirty="0"/>
              <a:t> </a:t>
            </a:r>
            <a:r>
              <a:rPr spc="-110" dirty="0"/>
              <a:t>/</a:t>
            </a:r>
            <a:r>
              <a:rPr spc="15" dirty="0"/>
              <a:t> </a:t>
            </a:r>
            <a:r>
              <a:rPr spc="-25" dirty="0"/>
              <a:t>18</a:t>
            </a:r>
          </a:p>
        </p:txBody>
      </p:sp>
    </p:spTree>
  </p:cSld>
  <p:clrMapOvr>
    <a:masterClrMapping/>
  </p:clrMapOvr>
  <p:transition>
    <p:cut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Lexical</a:t>
            </a:r>
            <a:r>
              <a:rPr spc="125" dirty="0"/>
              <a:t> </a:t>
            </a:r>
            <a:r>
              <a:rPr spc="-10" dirty="0"/>
              <a:t>Semantics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7743" y="551472"/>
            <a:ext cx="4483735" cy="774700"/>
            <a:chOff x="87743" y="551472"/>
            <a:chExt cx="4483735" cy="774700"/>
          </a:xfrm>
        </p:grpSpPr>
        <p:sp>
          <p:nvSpPr>
            <p:cNvPr id="4" name="object 4"/>
            <p:cNvSpPr/>
            <p:nvPr/>
          </p:nvSpPr>
          <p:spPr>
            <a:xfrm>
              <a:off x="87743" y="551472"/>
              <a:ext cx="4432935" cy="186055"/>
            </a:xfrm>
            <a:custGeom>
              <a:avLst/>
              <a:gdLst/>
              <a:ahLst/>
              <a:cxnLst/>
              <a:rect l="l" t="t" r="r" b="b"/>
              <a:pathLst>
                <a:path w="4432935" h="186054">
                  <a:moveTo>
                    <a:pt x="4381754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5674"/>
                  </a:lnTo>
                  <a:lnTo>
                    <a:pt x="4432554" y="185674"/>
                  </a:lnTo>
                  <a:lnTo>
                    <a:pt x="4432554" y="50800"/>
                  </a:lnTo>
                  <a:lnTo>
                    <a:pt x="4428545" y="31075"/>
                  </a:lnTo>
                  <a:lnTo>
                    <a:pt x="4417631" y="14922"/>
                  </a:lnTo>
                  <a:lnTo>
                    <a:pt x="4401478" y="4008"/>
                  </a:lnTo>
                  <a:lnTo>
                    <a:pt x="4381754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744" y="724496"/>
              <a:ext cx="4432554" cy="5060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8544" y="1224254"/>
              <a:ext cx="101599" cy="1016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9344" y="1211554"/>
              <a:ext cx="4381754" cy="1143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20298" y="595718"/>
              <a:ext cx="50800" cy="628535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87743" y="768832"/>
              <a:ext cx="4432935" cy="506730"/>
            </a:xfrm>
            <a:custGeom>
              <a:avLst/>
              <a:gdLst/>
              <a:ahLst/>
              <a:cxnLst/>
              <a:rect l="l" t="t" r="r" b="b"/>
              <a:pathLst>
                <a:path w="4432935" h="506730">
                  <a:moveTo>
                    <a:pt x="4432554" y="0"/>
                  </a:moveTo>
                  <a:lnTo>
                    <a:pt x="0" y="0"/>
                  </a:lnTo>
                  <a:lnTo>
                    <a:pt x="0" y="455422"/>
                  </a:lnTo>
                  <a:lnTo>
                    <a:pt x="4008" y="475146"/>
                  </a:lnTo>
                  <a:lnTo>
                    <a:pt x="14922" y="491299"/>
                  </a:lnTo>
                  <a:lnTo>
                    <a:pt x="31075" y="502213"/>
                  </a:lnTo>
                  <a:lnTo>
                    <a:pt x="50800" y="506222"/>
                  </a:lnTo>
                  <a:lnTo>
                    <a:pt x="4381754" y="506222"/>
                  </a:lnTo>
                  <a:lnTo>
                    <a:pt x="4401478" y="502213"/>
                  </a:lnTo>
                  <a:lnTo>
                    <a:pt x="4417631" y="491299"/>
                  </a:lnTo>
                  <a:lnTo>
                    <a:pt x="4428545" y="475146"/>
                  </a:lnTo>
                  <a:lnTo>
                    <a:pt x="4432554" y="455422"/>
                  </a:lnTo>
                  <a:lnTo>
                    <a:pt x="4432554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520310" y="633831"/>
              <a:ext cx="0" cy="609600"/>
            </a:xfrm>
            <a:custGeom>
              <a:avLst/>
              <a:gdLst/>
              <a:ahLst/>
              <a:cxnLst/>
              <a:rect l="l" t="t" r="r" b="b"/>
              <a:pathLst>
                <a:path h="609600">
                  <a:moveTo>
                    <a:pt x="0" y="609473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520310" y="621106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520310" y="608406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520310" y="595706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125729" y="477831"/>
            <a:ext cx="4342765" cy="789305"/>
          </a:xfrm>
          <a:prstGeom prst="rect">
            <a:avLst/>
          </a:prstGeom>
        </p:spPr>
        <p:txBody>
          <a:bodyPr vert="horz" wrap="square" lIns="0" tIns="660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20"/>
              </a:spcBef>
            </a:pPr>
            <a:r>
              <a:rPr sz="1100" i="1" spc="-10" dirty="0">
                <a:solidFill>
                  <a:srgbClr val="3232B2"/>
                </a:solidFill>
                <a:latin typeface="Cambria"/>
                <a:cs typeface="Cambria"/>
              </a:rPr>
              <a:t>Definition</a:t>
            </a:r>
            <a:endParaRPr sz="1100">
              <a:latin typeface="Cambria"/>
              <a:cs typeface="Cambria"/>
            </a:endParaRPr>
          </a:p>
          <a:p>
            <a:pPr marL="12700" marR="5080">
              <a:lnSpc>
                <a:spcPct val="118900"/>
              </a:lnSpc>
              <a:spcBef>
                <a:spcPts val="200"/>
              </a:spcBef>
            </a:pPr>
            <a:r>
              <a:rPr sz="950" b="1" dirty="0">
                <a:latin typeface="Trebuchet MS"/>
                <a:cs typeface="Trebuchet MS"/>
              </a:rPr>
              <a:t>Lexical</a:t>
            </a:r>
            <a:r>
              <a:rPr sz="950" b="1" spc="95" dirty="0">
                <a:latin typeface="Trebuchet MS"/>
                <a:cs typeface="Trebuchet MS"/>
              </a:rPr>
              <a:t> </a:t>
            </a:r>
            <a:r>
              <a:rPr sz="950" b="1" dirty="0">
                <a:latin typeface="Trebuchet MS"/>
                <a:cs typeface="Trebuchet MS"/>
              </a:rPr>
              <a:t>semantics</a:t>
            </a:r>
            <a:r>
              <a:rPr sz="950" b="1" spc="10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is</a:t>
            </a:r>
            <a:r>
              <a:rPr sz="950" spc="10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concerned</a:t>
            </a:r>
            <a:r>
              <a:rPr sz="950" spc="100" dirty="0">
                <a:latin typeface="Trebuchet MS"/>
                <a:cs typeface="Trebuchet MS"/>
              </a:rPr>
              <a:t> </a:t>
            </a:r>
            <a:r>
              <a:rPr sz="950" spc="-40" dirty="0">
                <a:latin typeface="Trebuchet MS"/>
                <a:cs typeface="Trebuchet MS"/>
              </a:rPr>
              <a:t>with</a:t>
            </a:r>
            <a:r>
              <a:rPr sz="950" spc="10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10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systematic</a:t>
            </a:r>
            <a:r>
              <a:rPr sz="950" spc="10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meaning</a:t>
            </a:r>
            <a:r>
              <a:rPr sz="950" spc="10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related </a:t>
            </a:r>
            <a:r>
              <a:rPr sz="950" dirty="0">
                <a:latin typeface="Trebuchet MS"/>
                <a:cs typeface="Trebuchet MS"/>
              </a:rPr>
              <a:t>connections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among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lexical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items,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and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internal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meaning-related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structure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spc="-25" dirty="0">
                <a:latin typeface="Trebuchet MS"/>
                <a:cs typeface="Trebuchet MS"/>
              </a:rPr>
              <a:t>of </a:t>
            </a:r>
            <a:r>
              <a:rPr sz="950" spc="-10" dirty="0">
                <a:latin typeface="Trebuchet MS"/>
                <a:cs typeface="Trebuchet MS"/>
              </a:rPr>
              <a:t>individual</a:t>
            </a:r>
            <a:r>
              <a:rPr sz="950" spc="-2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lexical</a:t>
            </a:r>
            <a:r>
              <a:rPr sz="950" spc="-2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items.</a:t>
            </a:r>
            <a:endParaRPr sz="950">
              <a:latin typeface="Trebuchet MS"/>
              <a:cs typeface="Trebuchet MS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0" y="3347161"/>
            <a:ext cx="4608195" cy="109220"/>
            <a:chOff x="0" y="3347161"/>
            <a:chExt cx="4608195" cy="109220"/>
          </a:xfrm>
        </p:grpSpPr>
        <p:sp>
          <p:nvSpPr>
            <p:cNvPr id="16" name="object 16"/>
            <p:cNvSpPr/>
            <p:nvPr/>
          </p:nvSpPr>
          <p:spPr>
            <a:xfrm>
              <a:off x="0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5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535976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071952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3232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2016760" y="3339672"/>
            <a:ext cx="57467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6" action="ppaction://hlinksldjump"/>
              </a:rPr>
              <a:t>Lexical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  <a:hlinkClick r:id="rId6" action="ppaction://hlinksldjump"/>
              </a:rPr>
              <a:t>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  <a:hlinkClick r:id="rId6" action="ppaction://hlinksldjump"/>
              </a:rPr>
              <a:t>Semantics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355385" y="3339672"/>
            <a:ext cx="19875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2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10" dirty="0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</a:rPr>
              <a:t>18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BC8DCFE5-B3C2-4305-B051-ACB04AF88C45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4292024" y="3339672"/>
            <a:ext cx="262254" cy="116204"/>
          </a:xfrm>
          <a:prstGeom prst="rect">
            <a:avLst/>
          </a:prstGeom>
        </p:spPr>
        <p:txBody>
          <a:bodyPr/>
          <a:lstStyle/>
          <a:p>
            <a:pPr marL="75565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lang="en-IN" smtClean="0"/>
              <a:t>2</a:t>
            </a:fld>
            <a:r>
              <a:rPr lang="en-IN" spc="-5" dirty="0"/>
              <a:t> </a:t>
            </a:r>
            <a:r>
              <a:rPr lang="en-IN" spc="-110" dirty="0"/>
              <a:t>/</a:t>
            </a:r>
            <a:r>
              <a:rPr lang="en-IN" spc="15" dirty="0"/>
              <a:t> </a:t>
            </a:r>
            <a:r>
              <a:rPr lang="en-IN" spc="-25" dirty="0"/>
              <a:t>18</a:t>
            </a:r>
          </a:p>
        </p:txBody>
      </p:sp>
    </p:spTree>
  </p:cSld>
  <p:clrMapOvr>
    <a:masterClrMapping/>
  </p:clrMapOvr>
  <p:transition>
    <p:cut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Lexical</a:t>
            </a:r>
            <a:r>
              <a:rPr spc="125" dirty="0"/>
              <a:t> </a:t>
            </a:r>
            <a:r>
              <a:rPr spc="-10" dirty="0"/>
              <a:t>Semantics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7743" y="551472"/>
            <a:ext cx="4483735" cy="774700"/>
            <a:chOff x="87743" y="551472"/>
            <a:chExt cx="4483735" cy="774700"/>
          </a:xfrm>
        </p:grpSpPr>
        <p:sp>
          <p:nvSpPr>
            <p:cNvPr id="4" name="object 4"/>
            <p:cNvSpPr/>
            <p:nvPr/>
          </p:nvSpPr>
          <p:spPr>
            <a:xfrm>
              <a:off x="87743" y="551472"/>
              <a:ext cx="4432935" cy="186055"/>
            </a:xfrm>
            <a:custGeom>
              <a:avLst/>
              <a:gdLst/>
              <a:ahLst/>
              <a:cxnLst/>
              <a:rect l="l" t="t" r="r" b="b"/>
              <a:pathLst>
                <a:path w="4432935" h="186054">
                  <a:moveTo>
                    <a:pt x="4381754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5674"/>
                  </a:lnTo>
                  <a:lnTo>
                    <a:pt x="4432554" y="185674"/>
                  </a:lnTo>
                  <a:lnTo>
                    <a:pt x="4432554" y="50800"/>
                  </a:lnTo>
                  <a:lnTo>
                    <a:pt x="4428545" y="31075"/>
                  </a:lnTo>
                  <a:lnTo>
                    <a:pt x="4417631" y="14922"/>
                  </a:lnTo>
                  <a:lnTo>
                    <a:pt x="4401478" y="4008"/>
                  </a:lnTo>
                  <a:lnTo>
                    <a:pt x="4381754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744" y="724496"/>
              <a:ext cx="4432554" cy="5060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8544" y="1224254"/>
              <a:ext cx="101599" cy="1016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9344" y="1211554"/>
              <a:ext cx="4381754" cy="1143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20298" y="595718"/>
              <a:ext cx="50800" cy="628535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87743" y="768832"/>
              <a:ext cx="4432935" cy="506730"/>
            </a:xfrm>
            <a:custGeom>
              <a:avLst/>
              <a:gdLst/>
              <a:ahLst/>
              <a:cxnLst/>
              <a:rect l="l" t="t" r="r" b="b"/>
              <a:pathLst>
                <a:path w="4432935" h="506730">
                  <a:moveTo>
                    <a:pt x="4432554" y="0"/>
                  </a:moveTo>
                  <a:lnTo>
                    <a:pt x="0" y="0"/>
                  </a:lnTo>
                  <a:lnTo>
                    <a:pt x="0" y="455422"/>
                  </a:lnTo>
                  <a:lnTo>
                    <a:pt x="4008" y="475146"/>
                  </a:lnTo>
                  <a:lnTo>
                    <a:pt x="14922" y="491299"/>
                  </a:lnTo>
                  <a:lnTo>
                    <a:pt x="31075" y="502213"/>
                  </a:lnTo>
                  <a:lnTo>
                    <a:pt x="50800" y="506222"/>
                  </a:lnTo>
                  <a:lnTo>
                    <a:pt x="4381754" y="506222"/>
                  </a:lnTo>
                  <a:lnTo>
                    <a:pt x="4401478" y="502213"/>
                  </a:lnTo>
                  <a:lnTo>
                    <a:pt x="4417631" y="491299"/>
                  </a:lnTo>
                  <a:lnTo>
                    <a:pt x="4428545" y="475146"/>
                  </a:lnTo>
                  <a:lnTo>
                    <a:pt x="4432554" y="455422"/>
                  </a:lnTo>
                  <a:lnTo>
                    <a:pt x="4432554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520310" y="633831"/>
              <a:ext cx="0" cy="609600"/>
            </a:xfrm>
            <a:custGeom>
              <a:avLst/>
              <a:gdLst/>
              <a:ahLst/>
              <a:cxnLst/>
              <a:rect l="l" t="t" r="r" b="b"/>
              <a:pathLst>
                <a:path h="609600">
                  <a:moveTo>
                    <a:pt x="0" y="609473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520310" y="621106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520310" y="608406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520310" y="595706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4" name="object 14"/>
          <p:cNvGrpSpPr/>
          <p:nvPr/>
        </p:nvGrpSpPr>
        <p:grpSpPr>
          <a:xfrm>
            <a:off x="87743" y="1426984"/>
            <a:ext cx="4483735" cy="455295"/>
            <a:chOff x="87743" y="1426984"/>
            <a:chExt cx="4483735" cy="455295"/>
          </a:xfrm>
        </p:grpSpPr>
        <p:sp>
          <p:nvSpPr>
            <p:cNvPr id="15" name="object 15"/>
            <p:cNvSpPr/>
            <p:nvPr/>
          </p:nvSpPr>
          <p:spPr>
            <a:xfrm>
              <a:off x="87743" y="1426984"/>
              <a:ext cx="4432935" cy="82550"/>
            </a:xfrm>
            <a:custGeom>
              <a:avLst/>
              <a:gdLst/>
              <a:ahLst/>
              <a:cxnLst/>
              <a:rect l="l" t="t" r="r" b="b"/>
              <a:pathLst>
                <a:path w="4432935" h="82550">
                  <a:moveTo>
                    <a:pt x="4381754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82423"/>
                  </a:lnTo>
                  <a:lnTo>
                    <a:pt x="4432554" y="82423"/>
                  </a:lnTo>
                  <a:lnTo>
                    <a:pt x="4432554" y="50800"/>
                  </a:lnTo>
                  <a:lnTo>
                    <a:pt x="4428545" y="31075"/>
                  </a:lnTo>
                  <a:lnTo>
                    <a:pt x="4417631" y="14922"/>
                  </a:lnTo>
                  <a:lnTo>
                    <a:pt x="4401478" y="4008"/>
                  </a:lnTo>
                  <a:lnTo>
                    <a:pt x="4381754" y="0"/>
                  </a:lnTo>
                  <a:close/>
                </a:path>
              </a:pathLst>
            </a:custGeom>
            <a:solidFill>
              <a:srgbClr val="E5F2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38544" y="1780362"/>
              <a:ext cx="101599" cy="101600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89344" y="1767662"/>
              <a:ext cx="4381754" cy="114300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520298" y="1477543"/>
              <a:ext cx="50800" cy="302818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87743" y="1471371"/>
              <a:ext cx="4432935" cy="360045"/>
            </a:xfrm>
            <a:custGeom>
              <a:avLst/>
              <a:gdLst/>
              <a:ahLst/>
              <a:cxnLst/>
              <a:rect l="l" t="t" r="r" b="b"/>
              <a:pathLst>
                <a:path w="4432935" h="360044">
                  <a:moveTo>
                    <a:pt x="4432554" y="0"/>
                  </a:moveTo>
                  <a:lnTo>
                    <a:pt x="0" y="0"/>
                  </a:lnTo>
                  <a:lnTo>
                    <a:pt x="0" y="308990"/>
                  </a:lnTo>
                  <a:lnTo>
                    <a:pt x="4008" y="328715"/>
                  </a:lnTo>
                  <a:lnTo>
                    <a:pt x="14922" y="344868"/>
                  </a:lnTo>
                  <a:lnTo>
                    <a:pt x="31075" y="355782"/>
                  </a:lnTo>
                  <a:lnTo>
                    <a:pt x="50800" y="359790"/>
                  </a:lnTo>
                  <a:lnTo>
                    <a:pt x="4381754" y="359790"/>
                  </a:lnTo>
                  <a:lnTo>
                    <a:pt x="4401478" y="355782"/>
                  </a:lnTo>
                  <a:lnTo>
                    <a:pt x="4417631" y="344868"/>
                  </a:lnTo>
                  <a:lnTo>
                    <a:pt x="4428545" y="328715"/>
                  </a:lnTo>
                  <a:lnTo>
                    <a:pt x="4432554" y="308990"/>
                  </a:lnTo>
                  <a:lnTo>
                    <a:pt x="4432554" y="0"/>
                  </a:lnTo>
                  <a:close/>
                </a:path>
              </a:pathLst>
            </a:custGeom>
            <a:solidFill>
              <a:srgbClr val="E5F2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4520310" y="1515694"/>
              <a:ext cx="0" cy="283845"/>
            </a:xfrm>
            <a:custGeom>
              <a:avLst/>
              <a:gdLst/>
              <a:ahLst/>
              <a:cxnLst/>
              <a:rect l="l" t="t" r="r" b="b"/>
              <a:pathLst>
                <a:path h="283844">
                  <a:moveTo>
                    <a:pt x="0" y="283718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4520310" y="1502930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4520310" y="1490230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4520310" y="1477530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125729" y="477831"/>
            <a:ext cx="4342765" cy="1320800"/>
          </a:xfrm>
          <a:prstGeom prst="rect">
            <a:avLst/>
          </a:prstGeom>
        </p:spPr>
        <p:txBody>
          <a:bodyPr vert="horz" wrap="square" lIns="0" tIns="660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20"/>
              </a:spcBef>
            </a:pPr>
            <a:r>
              <a:rPr sz="1100" i="1" spc="-10" dirty="0">
                <a:solidFill>
                  <a:srgbClr val="3232B2"/>
                </a:solidFill>
                <a:latin typeface="Cambria"/>
                <a:cs typeface="Cambria"/>
              </a:rPr>
              <a:t>Definition</a:t>
            </a:r>
            <a:endParaRPr sz="1100">
              <a:latin typeface="Cambria"/>
              <a:cs typeface="Cambria"/>
            </a:endParaRPr>
          </a:p>
          <a:p>
            <a:pPr marL="12700" marR="5080">
              <a:lnSpc>
                <a:spcPct val="118900"/>
              </a:lnSpc>
              <a:spcBef>
                <a:spcPts val="200"/>
              </a:spcBef>
            </a:pPr>
            <a:r>
              <a:rPr sz="950" b="1" dirty="0">
                <a:latin typeface="Trebuchet MS"/>
                <a:cs typeface="Trebuchet MS"/>
              </a:rPr>
              <a:t>Lexical</a:t>
            </a:r>
            <a:r>
              <a:rPr sz="950" b="1" spc="95" dirty="0">
                <a:latin typeface="Trebuchet MS"/>
                <a:cs typeface="Trebuchet MS"/>
              </a:rPr>
              <a:t> </a:t>
            </a:r>
            <a:r>
              <a:rPr sz="950" b="1" dirty="0">
                <a:latin typeface="Trebuchet MS"/>
                <a:cs typeface="Trebuchet MS"/>
              </a:rPr>
              <a:t>semantics</a:t>
            </a:r>
            <a:r>
              <a:rPr sz="950" b="1" spc="10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is</a:t>
            </a:r>
            <a:r>
              <a:rPr sz="950" spc="10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concerned</a:t>
            </a:r>
            <a:r>
              <a:rPr sz="950" spc="100" dirty="0">
                <a:latin typeface="Trebuchet MS"/>
                <a:cs typeface="Trebuchet MS"/>
              </a:rPr>
              <a:t> </a:t>
            </a:r>
            <a:r>
              <a:rPr sz="950" spc="-40" dirty="0">
                <a:latin typeface="Trebuchet MS"/>
                <a:cs typeface="Trebuchet MS"/>
              </a:rPr>
              <a:t>with</a:t>
            </a:r>
            <a:r>
              <a:rPr sz="950" spc="10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10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systematic</a:t>
            </a:r>
            <a:r>
              <a:rPr sz="950" spc="10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meaning</a:t>
            </a:r>
            <a:r>
              <a:rPr sz="950" spc="10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related </a:t>
            </a:r>
            <a:r>
              <a:rPr sz="950" dirty="0">
                <a:latin typeface="Trebuchet MS"/>
                <a:cs typeface="Trebuchet MS"/>
              </a:rPr>
              <a:t>connections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among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lexical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items,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and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internal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meaning-related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structure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spc="-25" dirty="0">
                <a:latin typeface="Trebuchet MS"/>
                <a:cs typeface="Trebuchet MS"/>
              </a:rPr>
              <a:t>of </a:t>
            </a:r>
            <a:r>
              <a:rPr sz="950" spc="-10" dirty="0">
                <a:latin typeface="Trebuchet MS"/>
                <a:cs typeface="Trebuchet MS"/>
              </a:rPr>
              <a:t>individual</a:t>
            </a:r>
            <a:r>
              <a:rPr sz="950" spc="-2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lexical</a:t>
            </a:r>
            <a:r>
              <a:rPr sz="950" spc="-2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items.</a:t>
            </a:r>
            <a:endParaRPr sz="9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585"/>
              </a:spcBef>
            </a:pPr>
            <a:endParaRPr sz="9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950" dirty="0">
                <a:latin typeface="Trebuchet MS"/>
                <a:cs typeface="Trebuchet MS"/>
              </a:rPr>
              <a:t>To</a:t>
            </a:r>
            <a:r>
              <a:rPr sz="950" spc="-15" dirty="0">
                <a:latin typeface="Trebuchet MS"/>
                <a:cs typeface="Trebuchet MS"/>
              </a:rPr>
              <a:t> </a:t>
            </a:r>
            <a:r>
              <a:rPr sz="950" spc="-25" dirty="0">
                <a:latin typeface="Trebuchet MS"/>
                <a:cs typeface="Trebuchet MS"/>
              </a:rPr>
              <a:t>identify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-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semantics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of</a:t>
            </a:r>
            <a:r>
              <a:rPr sz="950" spc="-10" dirty="0">
                <a:latin typeface="Trebuchet MS"/>
                <a:cs typeface="Trebuchet MS"/>
              </a:rPr>
              <a:t> lexical</a:t>
            </a:r>
            <a:r>
              <a:rPr sz="950" spc="-1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items, </a:t>
            </a:r>
            <a:r>
              <a:rPr sz="950" dirty="0">
                <a:latin typeface="Trebuchet MS"/>
                <a:cs typeface="Trebuchet MS"/>
              </a:rPr>
              <a:t>we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need</a:t>
            </a:r>
            <a:r>
              <a:rPr sz="950" spc="-15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to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focus</a:t>
            </a:r>
            <a:r>
              <a:rPr sz="950" spc="-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on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notion</a:t>
            </a:r>
            <a:r>
              <a:rPr sz="950" spc="-15" dirty="0">
                <a:latin typeface="Trebuchet MS"/>
                <a:cs typeface="Trebuchet MS"/>
              </a:rPr>
              <a:t> </a:t>
            </a:r>
            <a:r>
              <a:rPr sz="950" spc="-25" dirty="0">
                <a:latin typeface="Trebuchet MS"/>
                <a:cs typeface="Trebuchet MS"/>
              </a:rPr>
              <a:t>of</a:t>
            </a:r>
            <a:endParaRPr sz="9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215"/>
              </a:spcBef>
            </a:pPr>
            <a:r>
              <a:rPr sz="950" b="1" spc="-10" dirty="0">
                <a:latin typeface="Trebuchet MS"/>
                <a:cs typeface="Trebuchet MS"/>
              </a:rPr>
              <a:t>lexeme</a:t>
            </a:r>
            <a:r>
              <a:rPr sz="950" spc="-10" dirty="0">
                <a:latin typeface="Trebuchet MS"/>
                <a:cs typeface="Trebuchet MS"/>
              </a:rPr>
              <a:t>,</a:t>
            </a:r>
            <a:r>
              <a:rPr sz="950" spc="-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an</a:t>
            </a:r>
            <a:r>
              <a:rPr sz="950" spc="-2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individual</a:t>
            </a:r>
            <a:r>
              <a:rPr sz="950" spc="-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entry</a:t>
            </a:r>
            <a:r>
              <a:rPr sz="950" spc="-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in</a:t>
            </a:r>
            <a:r>
              <a:rPr sz="950" spc="-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-2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lexicon.</a:t>
            </a:r>
            <a:endParaRPr sz="950">
              <a:latin typeface="Trebuchet MS"/>
              <a:cs typeface="Trebuchet MS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0" y="3347161"/>
            <a:ext cx="4608195" cy="109220"/>
            <a:chOff x="0" y="3347161"/>
            <a:chExt cx="4608195" cy="109220"/>
          </a:xfrm>
        </p:grpSpPr>
        <p:sp>
          <p:nvSpPr>
            <p:cNvPr id="26" name="object 26"/>
            <p:cNvSpPr/>
            <p:nvPr/>
          </p:nvSpPr>
          <p:spPr>
            <a:xfrm>
              <a:off x="0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5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535976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3071952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3232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2016760" y="3339672"/>
            <a:ext cx="57467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9" action="ppaction://hlinksldjump"/>
              </a:rPr>
              <a:t>Lexical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  <a:hlinkClick r:id="rId9" action="ppaction://hlinksldjump"/>
              </a:rPr>
              <a:t>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  <a:hlinkClick r:id="rId9" action="ppaction://hlinksldjump"/>
              </a:rPr>
              <a:t>Semantics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4355385" y="3339672"/>
            <a:ext cx="19875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2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10" dirty="0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</a:rPr>
              <a:t>18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33" name="Slide Number Placeholder 32">
            <a:extLst>
              <a:ext uri="{FF2B5EF4-FFF2-40B4-BE49-F238E27FC236}">
                <a16:creationId xmlns:a16="http://schemas.microsoft.com/office/drawing/2014/main" id="{C0D8AE5F-DCBD-4D54-8DBF-27149F716A43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4292024" y="3339672"/>
            <a:ext cx="262254" cy="116204"/>
          </a:xfrm>
          <a:prstGeom prst="rect">
            <a:avLst/>
          </a:prstGeom>
        </p:spPr>
        <p:txBody>
          <a:bodyPr/>
          <a:lstStyle/>
          <a:p>
            <a:pPr marL="75565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lang="en-IN" smtClean="0"/>
              <a:t>3</a:t>
            </a:fld>
            <a:r>
              <a:rPr lang="en-IN" spc="-5"/>
              <a:t> </a:t>
            </a:r>
            <a:r>
              <a:rPr lang="en-IN" spc="-110"/>
              <a:t>/</a:t>
            </a:r>
            <a:r>
              <a:rPr lang="en-IN" spc="15"/>
              <a:t> </a:t>
            </a:r>
            <a:r>
              <a:rPr lang="en-IN" spc="-25"/>
              <a:t>18</a:t>
            </a:r>
            <a:endParaRPr lang="en-IN" spc="-25" dirty="0"/>
          </a:p>
        </p:txBody>
      </p:sp>
    </p:spTree>
  </p:cSld>
  <p:clrMapOvr>
    <a:masterClrMapping/>
  </p:clrMapOvr>
  <p:transition>
    <p:cut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Lexical</a:t>
            </a:r>
            <a:r>
              <a:rPr spc="125" dirty="0"/>
              <a:t> </a:t>
            </a:r>
            <a:r>
              <a:rPr spc="-10" dirty="0"/>
              <a:t>Semantics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7743" y="551472"/>
            <a:ext cx="4483735" cy="774700"/>
            <a:chOff x="87743" y="551472"/>
            <a:chExt cx="4483735" cy="774700"/>
          </a:xfrm>
        </p:grpSpPr>
        <p:sp>
          <p:nvSpPr>
            <p:cNvPr id="4" name="object 4"/>
            <p:cNvSpPr/>
            <p:nvPr/>
          </p:nvSpPr>
          <p:spPr>
            <a:xfrm>
              <a:off x="87743" y="551472"/>
              <a:ext cx="4432935" cy="186055"/>
            </a:xfrm>
            <a:custGeom>
              <a:avLst/>
              <a:gdLst/>
              <a:ahLst/>
              <a:cxnLst/>
              <a:rect l="l" t="t" r="r" b="b"/>
              <a:pathLst>
                <a:path w="4432935" h="186054">
                  <a:moveTo>
                    <a:pt x="4381754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5674"/>
                  </a:lnTo>
                  <a:lnTo>
                    <a:pt x="4432554" y="185674"/>
                  </a:lnTo>
                  <a:lnTo>
                    <a:pt x="4432554" y="50800"/>
                  </a:lnTo>
                  <a:lnTo>
                    <a:pt x="4428545" y="31075"/>
                  </a:lnTo>
                  <a:lnTo>
                    <a:pt x="4417631" y="14922"/>
                  </a:lnTo>
                  <a:lnTo>
                    <a:pt x="4401478" y="4008"/>
                  </a:lnTo>
                  <a:lnTo>
                    <a:pt x="4381754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744" y="724496"/>
              <a:ext cx="4432554" cy="5060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8544" y="1224254"/>
              <a:ext cx="101599" cy="1016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9344" y="1211554"/>
              <a:ext cx="4381754" cy="1143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20298" y="595718"/>
              <a:ext cx="50800" cy="628535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87743" y="768832"/>
              <a:ext cx="4432935" cy="506730"/>
            </a:xfrm>
            <a:custGeom>
              <a:avLst/>
              <a:gdLst/>
              <a:ahLst/>
              <a:cxnLst/>
              <a:rect l="l" t="t" r="r" b="b"/>
              <a:pathLst>
                <a:path w="4432935" h="506730">
                  <a:moveTo>
                    <a:pt x="4432554" y="0"/>
                  </a:moveTo>
                  <a:lnTo>
                    <a:pt x="0" y="0"/>
                  </a:lnTo>
                  <a:lnTo>
                    <a:pt x="0" y="455422"/>
                  </a:lnTo>
                  <a:lnTo>
                    <a:pt x="4008" y="475146"/>
                  </a:lnTo>
                  <a:lnTo>
                    <a:pt x="14922" y="491299"/>
                  </a:lnTo>
                  <a:lnTo>
                    <a:pt x="31075" y="502213"/>
                  </a:lnTo>
                  <a:lnTo>
                    <a:pt x="50800" y="506222"/>
                  </a:lnTo>
                  <a:lnTo>
                    <a:pt x="4381754" y="506222"/>
                  </a:lnTo>
                  <a:lnTo>
                    <a:pt x="4401478" y="502213"/>
                  </a:lnTo>
                  <a:lnTo>
                    <a:pt x="4417631" y="491299"/>
                  </a:lnTo>
                  <a:lnTo>
                    <a:pt x="4428545" y="475146"/>
                  </a:lnTo>
                  <a:lnTo>
                    <a:pt x="4432554" y="455422"/>
                  </a:lnTo>
                  <a:lnTo>
                    <a:pt x="4432554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520310" y="633831"/>
              <a:ext cx="0" cy="609600"/>
            </a:xfrm>
            <a:custGeom>
              <a:avLst/>
              <a:gdLst/>
              <a:ahLst/>
              <a:cxnLst/>
              <a:rect l="l" t="t" r="r" b="b"/>
              <a:pathLst>
                <a:path h="609600">
                  <a:moveTo>
                    <a:pt x="0" y="609473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520310" y="621106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520310" y="608406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520310" y="595706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4" name="object 14"/>
          <p:cNvGrpSpPr/>
          <p:nvPr/>
        </p:nvGrpSpPr>
        <p:grpSpPr>
          <a:xfrm>
            <a:off x="87743" y="1426984"/>
            <a:ext cx="4483735" cy="455295"/>
            <a:chOff x="87743" y="1426984"/>
            <a:chExt cx="4483735" cy="455295"/>
          </a:xfrm>
        </p:grpSpPr>
        <p:sp>
          <p:nvSpPr>
            <p:cNvPr id="15" name="object 15"/>
            <p:cNvSpPr/>
            <p:nvPr/>
          </p:nvSpPr>
          <p:spPr>
            <a:xfrm>
              <a:off x="87743" y="1426984"/>
              <a:ext cx="4432935" cy="82550"/>
            </a:xfrm>
            <a:custGeom>
              <a:avLst/>
              <a:gdLst/>
              <a:ahLst/>
              <a:cxnLst/>
              <a:rect l="l" t="t" r="r" b="b"/>
              <a:pathLst>
                <a:path w="4432935" h="82550">
                  <a:moveTo>
                    <a:pt x="4381754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82423"/>
                  </a:lnTo>
                  <a:lnTo>
                    <a:pt x="4432554" y="82423"/>
                  </a:lnTo>
                  <a:lnTo>
                    <a:pt x="4432554" y="50800"/>
                  </a:lnTo>
                  <a:lnTo>
                    <a:pt x="4428545" y="31075"/>
                  </a:lnTo>
                  <a:lnTo>
                    <a:pt x="4417631" y="14922"/>
                  </a:lnTo>
                  <a:lnTo>
                    <a:pt x="4401478" y="4008"/>
                  </a:lnTo>
                  <a:lnTo>
                    <a:pt x="4381754" y="0"/>
                  </a:lnTo>
                  <a:close/>
                </a:path>
              </a:pathLst>
            </a:custGeom>
            <a:solidFill>
              <a:srgbClr val="E5F2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38544" y="1780362"/>
              <a:ext cx="101599" cy="101600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89344" y="1767662"/>
              <a:ext cx="4381754" cy="114300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520298" y="1477543"/>
              <a:ext cx="50800" cy="302818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87743" y="1471371"/>
              <a:ext cx="4432935" cy="360045"/>
            </a:xfrm>
            <a:custGeom>
              <a:avLst/>
              <a:gdLst/>
              <a:ahLst/>
              <a:cxnLst/>
              <a:rect l="l" t="t" r="r" b="b"/>
              <a:pathLst>
                <a:path w="4432935" h="360044">
                  <a:moveTo>
                    <a:pt x="4432554" y="0"/>
                  </a:moveTo>
                  <a:lnTo>
                    <a:pt x="0" y="0"/>
                  </a:lnTo>
                  <a:lnTo>
                    <a:pt x="0" y="308990"/>
                  </a:lnTo>
                  <a:lnTo>
                    <a:pt x="4008" y="328715"/>
                  </a:lnTo>
                  <a:lnTo>
                    <a:pt x="14922" y="344868"/>
                  </a:lnTo>
                  <a:lnTo>
                    <a:pt x="31075" y="355782"/>
                  </a:lnTo>
                  <a:lnTo>
                    <a:pt x="50800" y="359790"/>
                  </a:lnTo>
                  <a:lnTo>
                    <a:pt x="4381754" y="359790"/>
                  </a:lnTo>
                  <a:lnTo>
                    <a:pt x="4401478" y="355782"/>
                  </a:lnTo>
                  <a:lnTo>
                    <a:pt x="4417631" y="344868"/>
                  </a:lnTo>
                  <a:lnTo>
                    <a:pt x="4428545" y="328715"/>
                  </a:lnTo>
                  <a:lnTo>
                    <a:pt x="4432554" y="308990"/>
                  </a:lnTo>
                  <a:lnTo>
                    <a:pt x="4432554" y="0"/>
                  </a:lnTo>
                  <a:close/>
                </a:path>
              </a:pathLst>
            </a:custGeom>
            <a:solidFill>
              <a:srgbClr val="E5F2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4520310" y="1515694"/>
              <a:ext cx="0" cy="283845"/>
            </a:xfrm>
            <a:custGeom>
              <a:avLst/>
              <a:gdLst/>
              <a:ahLst/>
              <a:cxnLst/>
              <a:rect l="l" t="t" r="r" b="b"/>
              <a:pathLst>
                <a:path h="283844">
                  <a:moveTo>
                    <a:pt x="0" y="283718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4520310" y="1502930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4520310" y="1490230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4520310" y="1477530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4" name="object 24"/>
          <p:cNvGrpSpPr/>
          <p:nvPr/>
        </p:nvGrpSpPr>
        <p:grpSpPr>
          <a:xfrm>
            <a:off x="87743" y="1983092"/>
            <a:ext cx="4483735" cy="1212215"/>
            <a:chOff x="87743" y="1983092"/>
            <a:chExt cx="4483735" cy="1212215"/>
          </a:xfrm>
        </p:grpSpPr>
        <p:sp>
          <p:nvSpPr>
            <p:cNvPr id="25" name="object 25"/>
            <p:cNvSpPr/>
            <p:nvPr/>
          </p:nvSpPr>
          <p:spPr>
            <a:xfrm>
              <a:off x="87743" y="1983092"/>
              <a:ext cx="4432935" cy="176530"/>
            </a:xfrm>
            <a:custGeom>
              <a:avLst/>
              <a:gdLst/>
              <a:ahLst/>
              <a:cxnLst/>
              <a:rect l="l" t="t" r="r" b="b"/>
              <a:pathLst>
                <a:path w="4432935" h="176530">
                  <a:moveTo>
                    <a:pt x="4381754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76276"/>
                  </a:lnTo>
                  <a:lnTo>
                    <a:pt x="4432554" y="176276"/>
                  </a:lnTo>
                  <a:lnTo>
                    <a:pt x="4432554" y="50800"/>
                  </a:lnTo>
                  <a:lnTo>
                    <a:pt x="4428545" y="31075"/>
                  </a:lnTo>
                  <a:lnTo>
                    <a:pt x="4417631" y="14922"/>
                  </a:lnTo>
                  <a:lnTo>
                    <a:pt x="4401478" y="4008"/>
                  </a:lnTo>
                  <a:lnTo>
                    <a:pt x="4381754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" name="object 2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744" y="2146757"/>
              <a:ext cx="4432554" cy="50609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38544" y="3093643"/>
              <a:ext cx="101599" cy="101600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89344" y="3080943"/>
              <a:ext cx="4381754" cy="114300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520298" y="2027326"/>
              <a:ext cx="50800" cy="1066317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87743" y="2191054"/>
              <a:ext cx="4432935" cy="953769"/>
            </a:xfrm>
            <a:custGeom>
              <a:avLst/>
              <a:gdLst/>
              <a:ahLst/>
              <a:cxnLst/>
              <a:rect l="l" t="t" r="r" b="b"/>
              <a:pathLst>
                <a:path w="4432935" h="953769">
                  <a:moveTo>
                    <a:pt x="4432554" y="0"/>
                  </a:moveTo>
                  <a:lnTo>
                    <a:pt x="0" y="0"/>
                  </a:lnTo>
                  <a:lnTo>
                    <a:pt x="0" y="902588"/>
                  </a:lnTo>
                  <a:lnTo>
                    <a:pt x="4008" y="922313"/>
                  </a:lnTo>
                  <a:lnTo>
                    <a:pt x="14922" y="938466"/>
                  </a:lnTo>
                  <a:lnTo>
                    <a:pt x="31075" y="949380"/>
                  </a:lnTo>
                  <a:lnTo>
                    <a:pt x="50800" y="953388"/>
                  </a:lnTo>
                  <a:lnTo>
                    <a:pt x="4381754" y="953388"/>
                  </a:lnTo>
                  <a:lnTo>
                    <a:pt x="4401478" y="949380"/>
                  </a:lnTo>
                  <a:lnTo>
                    <a:pt x="4417631" y="938466"/>
                  </a:lnTo>
                  <a:lnTo>
                    <a:pt x="4428545" y="922313"/>
                  </a:lnTo>
                  <a:lnTo>
                    <a:pt x="4432554" y="902588"/>
                  </a:lnTo>
                  <a:lnTo>
                    <a:pt x="4432554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4520309" y="2065451"/>
              <a:ext cx="0" cy="1047750"/>
            </a:xfrm>
            <a:custGeom>
              <a:avLst/>
              <a:gdLst/>
              <a:ahLst/>
              <a:cxnLst/>
              <a:rect l="l" t="t" r="r" b="b"/>
              <a:pathLst>
                <a:path h="1047750">
                  <a:moveTo>
                    <a:pt x="0" y="1047241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4520309" y="2052721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4520309" y="2040021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4520309" y="2027321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5" name="object 35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81597" y="2622880"/>
              <a:ext cx="64757" cy="64757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281597" y="3004985"/>
              <a:ext cx="64757" cy="64757"/>
            </a:xfrm>
            <a:prstGeom prst="rect">
              <a:avLst/>
            </a:prstGeom>
          </p:spPr>
        </p:pic>
      </p:grpSp>
      <p:sp>
        <p:nvSpPr>
          <p:cNvPr id="37" name="object 37"/>
          <p:cNvSpPr txBox="1"/>
          <p:nvPr/>
        </p:nvSpPr>
        <p:spPr>
          <a:xfrm>
            <a:off x="125729" y="477831"/>
            <a:ext cx="4342765" cy="2632075"/>
          </a:xfrm>
          <a:prstGeom prst="rect">
            <a:avLst/>
          </a:prstGeom>
        </p:spPr>
        <p:txBody>
          <a:bodyPr vert="horz" wrap="square" lIns="0" tIns="660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20"/>
              </a:spcBef>
            </a:pPr>
            <a:r>
              <a:rPr sz="1100" i="1" spc="-10" dirty="0">
                <a:solidFill>
                  <a:srgbClr val="3232B2"/>
                </a:solidFill>
                <a:latin typeface="Cambria"/>
                <a:cs typeface="Cambria"/>
              </a:rPr>
              <a:t>Definition</a:t>
            </a:r>
            <a:endParaRPr sz="1100">
              <a:latin typeface="Cambria"/>
              <a:cs typeface="Cambria"/>
            </a:endParaRPr>
          </a:p>
          <a:p>
            <a:pPr marL="12700" marR="5080">
              <a:lnSpc>
                <a:spcPct val="118900"/>
              </a:lnSpc>
              <a:spcBef>
                <a:spcPts val="200"/>
              </a:spcBef>
            </a:pPr>
            <a:r>
              <a:rPr sz="950" b="1" dirty="0">
                <a:latin typeface="Trebuchet MS"/>
                <a:cs typeface="Trebuchet MS"/>
              </a:rPr>
              <a:t>Lexical</a:t>
            </a:r>
            <a:r>
              <a:rPr sz="950" b="1" spc="95" dirty="0">
                <a:latin typeface="Trebuchet MS"/>
                <a:cs typeface="Trebuchet MS"/>
              </a:rPr>
              <a:t> </a:t>
            </a:r>
            <a:r>
              <a:rPr sz="950" b="1" dirty="0">
                <a:latin typeface="Trebuchet MS"/>
                <a:cs typeface="Trebuchet MS"/>
              </a:rPr>
              <a:t>semantics</a:t>
            </a:r>
            <a:r>
              <a:rPr sz="950" b="1" spc="10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is</a:t>
            </a:r>
            <a:r>
              <a:rPr sz="950" spc="10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concerned</a:t>
            </a:r>
            <a:r>
              <a:rPr sz="950" spc="100" dirty="0">
                <a:latin typeface="Trebuchet MS"/>
                <a:cs typeface="Trebuchet MS"/>
              </a:rPr>
              <a:t> </a:t>
            </a:r>
            <a:r>
              <a:rPr sz="950" spc="-40" dirty="0">
                <a:latin typeface="Trebuchet MS"/>
                <a:cs typeface="Trebuchet MS"/>
              </a:rPr>
              <a:t>with</a:t>
            </a:r>
            <a:r>
              <a:rPr sz="950" spc="10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10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systematic</a:t>
            </a:r>
            <a:r>
              <a:rPr sz="950" spc="10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meaning</a:t>
            </a:r>
            <a:r>
              <a:rPr sz="950" spc="10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related </a:t>
            </a:r>
            <a:r>
              <a:rPr sz="950" dirty="0">
                <a:latin typeface="Trebuchet MS"/>
                <a:cs typeface="Trebuchet MS"/>
              </a:rPr>
              <a:t>connections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among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lexical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items,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and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internal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meaning-related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structure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spc="-25" dirty="0">
                <a:latin typeface="Trebuchet MS"/>
                <a:cs typeface="Trebuchet MS"/>
              </a:rPr>
              <a:t>of </a:t>
            </a:r>
            <a:r>
              <a:rPr sz="950" spc="-10" dirty="0">
                <a:latin typeface="Trebuchet MS"/>
                <a:cs typeface="Trebuchet MS"/>
              </a:rPr>
              <a:t>individual</a:t>
            </a:r>
            <a:r>
              <a:rPr sz="950" spc="-2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lexical</a:t>
            </a:r>
            <a:r>
              <a:rPr sz="950" spc="-2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items.</a:t>
            </a:r>
            <a:endParaRPr sz="9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585"/>
              </a:spcBef>
            </a:pPr>
            <a:endParaRPr sz="9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950" dirty="0">
                <a:latin typeface="Trebuchet MS"/>
                <a:cs typeface="Trebuchet MS"/>
              </a:rPr>
              <a:t>To</a:t>
            </a:r>
            <a:r>
              <a:rPr sz="950" spc="-15" dirty="0">
                <a:latin typeface="Trebuchet MS"/>
                <a:cs typeface="Trebuchet MS"/>
              </a:rPr>
              <a:t> </a:t>
            </a:r>
            <a:r>
              <a:rPr sz="950" spc="-25" dirty="0">
                <a:latin typeface="Trebuchet MS"/>
                <a:cs typeface="Trebuchet MS"/>
              </a:rPr>
              <a:t>identify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-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semantics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of</a:t>
            </a:r>
            <a:r>
              <a:rPr sz="950" spc="-10" dirty="0">
                <a:latin typeface="Trebuchet MS"/>
                <a:cs typeface="Trebuchet MS"/>
              </a:rPr>
              <a:t> lexical</a:t>
            </a:r>
            <a:r>
              <a:rPr sz="950" spc="-1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items, </a:t>
            </a:r>
            <a:r>
              <a:rPr sz="950" dirty="0">
                <a:latin typeface="Trebuchet MS"/>
                <a:cs typeface="Trebuchet MS"/>
              </a:rPr>
              <a:t>we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need</a:t>
            </a:r>
            <a:r>
              <a:rPr sz="950" spc="-15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to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focus</a:t>
            </a:r>
            <a:r>
              <a:rPr sz="950" spc="-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on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notion</a:t>
            </a:r>
            <a:r>
              <a:rPr sz="950" spc="-15" dirty="0">
                <a:latin typeface="Trebuchet MS"/>
                <a:cs typeface="Trebuchet MS"/>
              </a:rPr>
              <a:t> </a:t>
            </a:r>
            <a:r>
              <a:rPr sz="950" spc="-25" dirty="0">
                <a:latin typeface="Trebuchet MS"/>
                <a:cs typeface="Trebuchet MS"/>
              </a:rPr>
              <a:t>of</a:t>
            </a:r>
            <a:endParaRPr sz="9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215"/>
              </a:spcBef>
            </a:pPr>
            <a:r>
              <a:rPr sz="950" b="1" spc="-10" dirty="0">
                <a:latin typeface="Trebuchet MS"/>
                <a:cs typeface="Trebuchet MS"/>
              </a:rPr>
              <a:t>lexeme</a:t>
            </a:r>
            <a:r>
              <a:rPr sz="950" spc="-10" dirty="0">
                <a:latin typeface="Trebuchet MS"/>
                <a:cs typeface="Trebuchet MS"/>
              </a:rPr>
              <a:t>,</a:t>
            </a:r>
            <a:r>
              <a:rPr sz="950" spc="-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an</a:t>
            </a:r>
            <a:r>
              <a:rPr sz="950" spc="-2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individual</a:t>
            </a:r>
            <a:r>
              <a:rPr sz="950" spc="-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entry</a:t>
            </a:r>
            <a:r>
              <a:rPr sz="950" spc="-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in</a:t>
            </a:r>
            <a:r>
              <a:rPr sz="950" spc="-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-2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lexicon.</a:t>
            </a:r>
            <a:endParaRPr sz="9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sz="9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100" i="1" spc="-50" dirty="0">
                <a:solidFill>
                  <a:srgbClr val="3232B2"/>
                </a:solidFill>
                <a:latin typeface="Cambria"/>
                <a:cs typeface="Cambria"/>
              </a:rPr>
              <a:t>What</a:t>
            </a:r>
            <a:r>
              <a:rPr sz="1100" i="1" spc="5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100" i="1" dirty="0">
                <a:solidFill>
                  <a:srgbClr val="3232B2"/>
                </a:solidFill>
                <a:latin typeface="Cambria"/>
                <a:cs typeface="Cambria"/>
              </a:rPr>
              <a:t>is</a:t>
            </a:r>
            <a:r>
              <a:rPr sz="1100" i="1" spc="10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100" i="1" dirty="0">
                <a:solidFill>
                  <a:srgbClr val="3232B2"/>
                </a:solidFill>
                <a:latin typeface="Cambria"/>
                <a:cs typeface="Cambria"/>
              </a:rPr>
              <a:t>a</a:t>
            </a:r>
            <a:r>
              <a:rPr sz="1100" i="1" spc="10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100" i="1" spc="-10" dirty="0">
                <a:solidFill>
                  <a:srgbClr val="3232B2"/>
                </a:solidFill>
                <a:latin typeface="Cambria"/>
                <a:cs typeface="Cambria"/>
              </a:rPr>
              <a:t>lexeme?</a:t>
            </a:r>
            <a:endParaRPr sz="1100">
              <a:latin typeface="Cambria"/>
              <a:cs typeface="Cambria"/>
            </a:endParaRPr>
          </a:p>
          <a:p>
            <a:pPr marL="12700" marR="247015">
              <a:lnSpc>
                <a:spcPct val="118900"/>
              </a:lnSpc>
              <a:spcBef>
                <a:spcPts val="135"/>
              </a:spcBef>
            </a:pPr>
            <a:r>
              <a:rPr sz="950" b="1" dirty="0">
                <a:latin typeface="Trebuchet MS"/>
                <a:cs typeface="Trebuchet MS"/>
              </a:rPr>
              <a:t>Lexeme</a:t>
            </a:r>
            <a:r>
              <a:rPr sz="950" b="1" spc="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should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be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thought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of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spc="70" dirty="0">
                <a:latin typeface="Trebuchet MS"/>
                <a:cs typeface="Trebuchet MS"/>
              </a:rPr>
              <a:t>as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pairing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of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particular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orthographic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spc="-25" dirty="0">
                <a:latin typeface="Trebuchet MS"/>
                <a:cs typeface="Trebuchet MS"/>
              </a:rPr>
              <a:t>and </a:t>
            </a:r>
            <a:r>
              <a:rPr sz="950" dirty="0">
                <a:latin typeface="Trebuchet MS"/>
                <a:cs typeface="Trebuchet MS"/>
              </a:rPr>
              <a:t>phonological</a:t>
            </a:r>
            <a:r>
              <a:rPr sz="950" spc="4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form</a:t>
            </a:r>
            <a:r>
              <a:rPr sz="950" spc="45" dirty="0">
                <a:latin typeface="Trebuchet MS"/>
                <a:cs typeface="Trebuchet MS"/>
              </a:rPr>
              <a:t> </a:t>
            </a:r>
            <a:r>
              <a:rPr sz="950" spc="-40" dirty="0">
                <a:latin typeface="Trebuchet MS"/>
                <a:cs typeface="Trebuchet MS"/>
              </a:rPr>
              <a:t>with</a:t>
            </a:r>
            <a:r>
              <a:rPr sz="950" spc="4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some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sort</a:t>
            </a:r>
            <a:r>
              <a:rPr sz="950" spc="4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of</a:t>
            </a:r>
            <a:r>
              <a:rPr sz="950" spc="4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symbolic</a:t>
            </a:r>
            <a:r>
              <a:rPr sz="950" spc="4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meaning</a:t>
            </a:r>
            <a:r>
              <a:rPr sz="950" spc="4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representation.</a:t>
            </a:r>
            <a:endParaRPr sz="950">
              <a:latin typeface="Trebuchet MS"/>
              <a:cs typeface="Trebuchet MS"/>
            </a:endParaRPr>
          </a:p>
          <a:p>
            <a:pPr marL="289560" marR="158115">
              <a:lnSpc>
                <a:spcPct val="118800"/>
              </a:lnSpc>
              <a:spcBef>
                <a:spcPts val="300"/>
              </a:spcBef>
            </a:pPr>
            <a:r>
              <a:rPr sz="950" dirty="0">
                <a:latin typeface="Trebuchet MS"/>
                <a:cs typeface="Trebuchet MS"/>
              </a:rPr>
              <a:t>Orthographic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950" spc="-30" dirty="0">
                <a:latin typeface="Trebuchet MS"/>
                <a:cs typeface="Trebuchet MS"/>
              </a:rPr>
              <a:t>form,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and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phonological</a:t>
            </a:r>
            <a:r>
              <a:rPr sz="950" spc="-10" dirty="0">
                <a:latin typeface="Trebuchet MS"/>
                <a:cs typeface="Trebuchet MS"/>
              </a:rPr>
              <a:t> form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spc="-25" dirty="0">
                <a:latin typeface="Trebuchet MS"/>
                <a:cs typeface="Trebuchet MS"/>
              </a:rPr>
              <a:t>refer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to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appropriate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form </a:t>
            </a:r>
            <a:r>
              <a:rPr sz="950" dirty="0">
                <a:latin typeface="Trebuchet MS"/>
                <a:cs typeface="Trebuchet MS"/>
              </a:rPr>
              <a:t>part</a:t>
            </a:r>
            <a:r>
              <a:rPr sz="950" spc="-4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of</a:t>
            </a:r>
            <a:r>
              <a:rPr sz="950" spc="-3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</a:t>
            </a:r>
            <a:r>
              <a:rPr sz="950" spc="-3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lexeme</a:t>
            </a:r>
            <a:endParaRPr sz="950">
              <a:latin typeface="Trebuchet MS"/>
              <a:cs typeface="Trebuchet MS"/>
            </a:endParaRPr>
          </a:p>
          <a:p>
            <a:pPr marL="289560">
              <a:lnSpc>
                <a:spcPct val="100000"/>
              </a:lnSpc>
              <a:spcBef>
                <a:spcPts val="509"/>
              </a:spcBef>
            </a:pPr>
            <a:r>
              <a:rPr sz="950" spc="70" dirty="0">
                <a:latin typeface="Trebuchet MS"/>
                <a:cs typeface="Trebuchet MS"/>
              </a:rPr>
              <a:t>Sense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refers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to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lexeme’s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meaning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counterpart.</a:t>
            </a:r>
            <a:endParaRPr sz="950">
              <a:latin typeface="Trebuchet MS"/>
              <a:cs typeface="Trebuchet MS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0" y="3347161"/>
            <a:ext cx="4608195" cy="109220"/>
            <a:chOff x="0" y="3347161"/>
            <a:chExt cx="4608195" cy="109220"/>
          </a:xfrm>
        </p:grpSpPr>
        <p:sp>
          <p:nvSpPr>
            <p:cNvPr id="39" name="object 39"/>
            <p:cNvSpPr/>
            <p:nvPr/>
          </p:nvSpPr>
          <p:spPr>
            <a:xfrm>
              <a:off x="0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5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1535976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3071952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3232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3" name="object 43"/>
          <p:cNvSpPr txBox="1"/>
          <p:nvPr/>
        </p:nvSpPr>
        <p:spPr>
          <a:xfrm>
            <a:off x="2016760" y="3339672"/>
            <a:ext cx="57467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14" action="ppaction://hlinksldjump"/>
              </a:rPr>
              <a:t>Lexical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  <a:hlinkClick r:id="rId14" action="ppaction://hlinksldjump"/>
              </a:rPr>
              <a:t>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  <a:hlinkClick r:id="rId14" action="ppaction://hlinksldjump"/>
              </a:rPr>
              <a:t>Semantics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4355385" y="3339672"/>
            <a:ext cx="19875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2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10" dirty="0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</a:rPr>
              <a:t>18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46" name="Slide Number Placeholder 45">
            <a:extLst>
              <a:ext uri="{FF2B5EF4-FFF2-40B4-BE49-F238E27FC236}">
                <a16:creationId xmlns:a16="http://schemas.microsoft.com/office/drawing/2014/main" id="{5F49AA15-4CD4-4BA7-A2D0-DD18DC1572FA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4292024" y="3339672"/>
            <a:ext cx="262254" cy="116204"/>
          </a:xfrm>
          <a:prstGeom prst="rect">
            <a:avLst/>
          </a:prstGeom>
        </p:spPr>
        <p:txBody>
          <a:bodyPr/>
          <a:lstStyle/>
          <a:p>
            <a:pPr marL="75565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lang="en-IN" smtClean="0"/>
              <a:t>4</a:t>
            </a:fld>
            <a:r>
              <a:rPr lang="en-IN" spc="-5"/>
              <a:t> </a:t>
            </a:r>
            <a:r>
              <a:rPr lang="en-IN" spc="-110"/>
              <a:t>/</a:t>
            </a:r>
            <a:r>
              <a:rPr lang="en-IN" spc="15"/>
              <a:t> </a:t>
            </a:r>
            <a:r>
              <a:rPr lang="en-IN" spc="-25"/>
              <a:t>18</a:t>
            </a:r>
            <a:endParaRPr lang="en-IN" spc="-25" dirty="0"/>
          </a:p>
        </p:txBody>
      </p:sp>
    </p:spTree>
  </p:cSld>
  <p:clrMapOvr>
    <a:masterClrMapping/>
  </p:clrMapOvr>
  <p:transition>
    <p:cut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38"/>
            <a:ext cx="4608195" cy="351790"/>
          </a:xfrm>
          <a:custGeom>
            <a:avLst/>
            <a:gdLst/>
            <a:ahLst/>
            <a:cxnLst/>
            <a:rect l="l" t="t" r="r" b="b"/>
            <a:pathLst>
              <a:path w="4608195" h="351790">
                <a:moveTo>
                  <a:pt x="4607941" y="0"/>
                </a:moveTo>
                <a:lnTo>
                  <a:pt x="0" y="0"/>
                </a:lnTo>
                <a:lnTo>
                  <a:pt x="0" y="351409"/>
                </a:lnTo>
                <a:lnTo>
                  <a:pt x="4607941" y="351409"/>
                </a:lnTo>
                <a:lnTo>
                  <a:pt x="4607941" y="0"/>
                </a:lnTo>
                <a:close/>
              </a:path>
            </a:pathLst>
          </a:custGeom>
          <a:solidFill>
            <a:srgbClr val="3232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5250" y="60502"/>
            <a:ext cx="66294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i="1" spc="-10" dirty="0">
                <a:solidFill>
                  <a:srgbClr val="FFFFFF"/>
                </a:solidFill>
                <a:latin typeface="Cambria"/>
                <a:cs typeface="Cambria"/>
              </a:rPr>
              <a:t>Example</a:t>
            </a:r>
            <a:endParaRPr sz="1400">
              <a:latin typeface="Cambria"/>
              <a:cs typeface="Cambri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7113" y="652386"/>
            <a:ext cx="4038600" cy="2250440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0" y="3347161"/>
            <a:ext cx="4608195" cy="109220"/>
            <a:chOff x="0" y="3347161"/>
            <a:chExt cx="4608195" cy="109220"/>
          </a:xfrm>
        </p:grpSpPr>
        <p:sp>
          <p:nvSpPr>
            <p:cNvPr id="6" name="object 6"/>
            <p:cNvSpPr/>
            <p:nvPr/>
          </p:nvSpPr>
          <p:spPr>
            <a:xfrm>
              <a:off x="0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5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535976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071952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3232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2016760" y="3339672"/>
            <a:ext cx="57467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Lexical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Semantics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4294967295"/>
          </p:nvPr>
        </p:nvSpPr>
        <p:spPr>
          <a:xfrm>
            <a:off x="4292024" y="3339672"/>
            <a:ext cx="262254" cy="116204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75565">
              <a:lnSpc>
                <a:spcPct val="100000"/>
              </a:lnSpc>
              <a:spcBef>
                <a:spcPts val="50"/>
              </a:spcBef>
            </a:pPr>
            <a:r>
              <a:rPr dirty="0"/>
              <a:t>3</a:t>
            </a:r>
            <a:r>
              <a:rPr spc="-5" dirty="0"/>
              <a:t> </a:t>
            </a:r>
            <a:r>
              <a:rPr spc="-110" dirty="0"/>
              <a:t>/</a:t>
            </a:r>
            <a:r>
              <a:rPr spc="15" dirty="0"/>
              <a:t> </a:t>
            </a:r>
            <a:r>
              <a:rPr spc="-25" dirty="0"/>
              <a:t>18</a:t>
            </a:r>
          </a:p>
        </p:txBody>
      </p:sp>
    </p:spTree>
  </p:cSld>
  <p:clrMapOvr>
    <a:masterClrMapping/>
  </p:clrMapOvr>
  <p:transition>
    <p:cut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Example:</a:t>
            </a:r>
            <a:r>
              <a:rPr spc="105" dirty="0"/>
              <a:t> </a:t>
            </a:r>
            <a:r>
              <a:rPr spc="-20" dirty="0"/>
              <a:t>meaning</a:t>
            </a:r>
            <a:r>
              <a:rPr spc="30" dirty="0"/>
              <a:t> </a:t>
            </a:r>
            <a:r>
              <a:rPr spc="-10" dirty="0"/>
              <a:t>related</a:t>
            </a:r>
            <a:r>
              <a:rPr spc="30" dirty="0"/>
              <a:t> </a:t>
            </a:r>
            <a:r>
              <a:rPr spc="-10" dirty="0"/>
              <a:t>facts?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7743" y="587590"/>
            <a:ext cx="4483735" cy="1405255"/>
            <a:chOff x="87743" y="587590"/>
            <a:chExt cx="4483735" cy="1405255"/>
          </a:xfrm>
        </p:grpSpPr>
        <p:sp>
          <p:nvSpPr>
            <p:cNvPr id="4" name="object 4"/>
            <p:cNvSpPr/>
            <p:nvPr/>
          </p:nvSpPr>
          <p:spPr>
            <a:xfrm>
              <a:off x="87743" y="587590"/>
              <a:ext cx="4432935" cy="186055"/>
            </a:xfrm>
            <a:custGeom>
              <a:avLst/>
              <a:gdLst/>
              <a:ahLst/>
              <a:cxnLst/>
              <a:rect l="l" t="t" r="r" b="b"/>
              <a:pathLst>
                <a:path w="4432935" h="186054">
                  <a:moveTo>
                    <a:pt x="4381754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5674"/>
                  </a:lnTo>
                  <a:lnTo>
                    <a:pt x="4432554" y="185674"/>
                  </a:lnTo>
                  <a:lnTo>
                    <a:pt x="4432554" y="50800"/>
                  </a:lnTo>
                  <a:lnTo>
                    <a:pt x="4428545" y="31075"/>
                  </a:lnTo>
                  <a:lnTo>
                    <a:pt x="4417631" y="14922"/>
                  </a:lnTo>
                  <a:lnTo>
                    <a:pt x="4401478" y="4008"/>
                  </a:lnTo>
                  <a:lnTo>
                    <a:pt x="4381754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744" y="760615"/>
              <a:ext cx="4432554" cy="5060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8544" y="1891207"/>
              <a:ext cx="101599" cy="1016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9344" y="1878507"/>
              <a:ext cx="4381754" cy="1143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20298" y="631825"/>
              <a:ext cx="50800" cy="1259382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87743" y="804849"/>
              <a:ext cx="4432935" cy="1137285"/>
            </a:xfrm>
            <a:custGeom>
              <a:avLst/>
              <a:gdLst/>
              <a:ahLst/>
              <a:cxnLst/>
              <a:rect l="l" t="t" r="r" b="b"/>
              <a:pathLst>
                <a:path w="4432935" h="1137285">
                  <a:moveTo>
                    <a:pt x="4432554" y="0"/>
                  </a:moveTo>
                  <a:lnTo>
                    <a:pt x="0" y="0"/>
                  </a:lnTo>
                  <a:lnTo>
                    <a:pt x="0" y="1086358"/>
                  </a:lnTo>
                  <a:lnTo>
                    <a:pt x="4008" y="1106082"/>
                  </a:lnTo>
                  <a:lnTo>
                    <a:pt x="14922" y="1122235"/>
                  </a:lnTo>
                  <a:lnTo>
                    <a:pt x="31075" y="1133149"/>
                  </a:lnTo>
                  <a:lnTo>
                    <a:pt x="50800" y="1137158"/>
                  </a:lnTo>
                  <a:lnTo>
                    <a:pt x="4381754" y="1137158"/>
                  </a:lnTo>
                  <a:lnTo>
                    <a:pt x="4401478" y="1133149"/>
                  </a:lnTo>
                  <a:lnTo>
                    <a:pt x="4417631" y="1122235"/>
                  </a:lnTo>
                  <a:lnTo>
                    <a:pt x="4428545" y="1106082"/>
                  </a:lnTo>
                  <a:lnTo>
                    <a:pt x="4432554" y="1086358"/>
                  </a:lnTo>
                  <a:lnTo>
                    <a:pt x="4432554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520309" y="669975"/>
              <a:ext cx="0" cy="1240790"/>
            </a:xfrm>
            <a:custGeom>
              <a:avLst/>
              <a:gdLst/>
              <a:ahLst/>
              <a:cxnLst/>
              <a:rect l="l" t="t" r="r" b="b"/>
              <a:pathLst>
                <a:path h="1240789">
                  <a:moveTo>
                    <a:pt x="0" y="1240282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520309" y="657207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520309" y="644507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520309" y="631807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81597" y="854621"/>
              <a:ext cx="64757" cy="64757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81597" y="1236726"/>
              <a:ext cx="64757" cy="64757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81597" y="1446758"/>
              <a:ext cx="64757" cy="64757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81597" y="1656791"/>
              <a:ext cx="64757" cy="64757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125729" y="512943"/>
            <a:ext cx="4314190" cy="1421130"/>
          </a:xfrm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sz="1100" i="1" spc="-20" dirty="0">
                <a:solidFill>
                  <a:srgbClr val="3232B2"/>
                </a:solidFill>
                <a:latin typeface="Cambria"/>
                <a:cs typeface="Cambria"/>
              </a:rPr>
              <a:t>Definitions</a:t>
            </a:r>
            <a:r>
              <a:rPr sz="1100" i="1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100" i="1" spc="-50" dirty="0">
                <a:solidFill>
                  <a:srgbClr val="3232B2"/>
                </a:solidFill>
                <a:latin typeface="Cambria"/>
                <a:cs typeface="Cambria"/>
              </a:rPr>
              <a:t>from</a:t>
            </a:r>
            <a:r>
              <a:rPr sz="1100" i="1" spc="5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100" i="1" spc="-30" dirty="0">
                <a:solidFill>
                  <a:srgbClr val="3232B2"/>
                </a:solidFill>
                <a:latin typeface="Cambria"/>
                <a:cs typeface="Cambria"/>
              </a:rPr>
              <a:t>the</a:t>
            </a:r>
            <a:r>
              <a:rPr sz="1100" i="1" spc="5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100" i="1" spc="-20" dirty="0">
                <a:solidFill>
                  <a:srgbClr val="3232B2"/>
                </a:solidFill>
                <a:latin typeface="Cambria"/>
                <a:cs typeface="Cambria"/>
              </a:rPr>
              <a:t>American</a:t>
            </a:r>
            <a:r>
              <a:rPr sz="1100" i="1" spc="5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100" i="1" spc="-20" dirty="0">
                <a:solidFill>
                  <a:srgbClr val="3232B2"/>
                </a:solidFill>
                <a:latin typeface="Cambria"/>
                <a:cs typeface="Cambria"/>
              </a:rPr>
              <a:t>Heritage</a:t>
            </a:r>
            <a:r>
              <a:rPr sz="1100" i="1" spc="5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100" i="1" spc="-10" dirty="0">
                <a:solidFill>
                  <a:srgbClr val="3232B2"/>
                </a:solidFill>
                <a:latin typeface="Cambria"/>
                <a:cs typeface="Cambria"/>
              </a:rPr>
              <a:t>Dictionary</a:t>
            </a:r>
            <a:r>
              <a:rPr sz="1100" i="1" spc="5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100" i="1" dirty="0">
                <a:solidFill>
                  <a:srgbClr val="3232B2"/>
                </a:solidFill>
                <a:latin typeface="Cambria"/>
                <a:cs typeface="Cambria"/>
              </a:rPr>
              <a:t>(Morris, </a:t>
            </a:r>
            <a:r>
              <a:rPr sz="1100" i="1" spc="-10" dirty="0">
                <a:solidFill>
                  <a:srgbClr val="3232B2"/>
                </a:solidFill>
                <a:latin typeface="Cambria"/>
                <a:cs typeface="Cambria"/>
              </a:rPr>
              <a:t>1985)</a:t>
            </a:r>
            <a:endParaRPr sz="1100">
              <a:latin typeface="Cambria"/>
              <a:cs typeface="Cambria"/>
            </a:endParaRPr>
          </a:p>
          <a:p>
            <a:pPr marL="289560" marR="5080">
              <a:lnSpc>
                <a:spcPct val="118900"/>
              </a:lnSpc>
              <a:spcBef>
                <a:spcPts val="209"/>
              </a:spcBef>
            </a:pPr>
            <a:r>
              <a:rPr sz="950" b="1" dirty="0">
                <a:latin typeface="Trebuchet MS"/>
                <a:cs typeface="Trebuchet MS"/>
              </a:rPr>
              <a:t>right</a:t>
            </a:r>
            <a:r>
              <a:rPr sz="950" b="1" spc="-5" dirty="0">
                <a:latin typeface="Trebuchet MS"/>
                <a:cs typeface="Trebuchet MS"/>
              </a:rPr>
              <a:t> </a:t>
            </a:r>
            <a:r>
              <a:rPr sz="950" i="1" spc="-20" dirty="0">
                <a:latin typeface="Trebuchet MS"/>
                <a:cs typeface="Trebuchet MS"/>
              </a:rPr>
              <a:t>adj.</a:t>
            </a:r>
            <a:r>
              <a:rPr sz="950" i="1" spc="6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located near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 </a:t>
            </a:r>
            <a:r>
              <a:rPr sz="950" spc="-20" dirty="0">
                <a:latin typeface="Trebuchet MS"/>
                <a:cs typeface="Trebuchet MS"/>
              </a:rPr>
              <a:t>right</a:t>
            </a:r>
            <a:r>
              <a:rPr sz="950" dirty="0">
                <a:latin typeface="Trebuchet MS"/>
                <a:cs typeface="Trebuchet MS"/>
              </a:rPr>
              <a:t> hand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esp.</a:t>
            </a:r>
            <a:r>
              <a:rPr sz="950" spc="6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being on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 </a:t>
            </a:r>
            <a:r>
              <a:rPr sz="950" spc="-20" dirty="0">
                <a:latin typeface="Trebuchet MS"/>
                <a:cs typeface="Trebuchet MS"/>
              </a:rPr>
              <a:t>right</a:t>
            </a:r>
            <a:r>
              <a:rPr sz="950" dirty="0">
                <a:latin typeface="Trebuchet MS"/>
                <a:cs typeface="Trebuchet MS"/>
              </a:rPr>
              <a:t> when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facing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same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direction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spc="70" dirty="0">
                <a:latin typeface="Trebuchet MS"/>
                <a:cs typeface="Trebuchet MS"/>
              </a:rPr>
              <a:t>as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observer</a:t>
            </a:r>
            <a:endParaRPr sz="950">
              <a:latin typeface="Trebuchet MS"/>
              <a:cs typeface="Trebuchet MS"/>
            </a:endParaRPr>
          </a:p>
          <a:p>
            <a:pPr marL="289560">
              <a:lnSpc>
                <a:spcPct val="100000"/>
              </a:lnSpc>
              <a:spcBef>
                <a:spcPts val="509"/>
              </a:spcBef>
            </a:pPr>
            <a:r>
              <a:rPr sz="950" b="1" spc="-10" dirty="0">
                <a:latin typeface="Trebuchet MS"/>
                <a:cs typeface="Trebuchet MS"/>
              </a:rPr>
              <a:t>left</a:t>
            </a:r>
            <a:r>
              <a:rPr sz="950" b="1" spc="-30" dirty="0">
                <a:latin typeface="Trebuchet MS"/>
                <a:cs typeface="Trebuchet MS"/>
              </a:rPr>
              <a:t> </a:t>
            </a:r>
            <a:r>
              <a:rPr sz="950" i="1" spc="-20" dirty="0">
                <a:latin typeface="Trebuchet MS"/>
                <a:cs typeface="Trebuchet MS"/>
              </a:rPr>
              <a:t>adj.</a:t>
            </a:r>
            <a:r>
              <a:rPr sz="950" i="1" spc="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located</a:t>
            </a:r>
            <a:r>
              <a:rPr sz="950" spc="-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near</a:t>
            </a:r>
            <a:r>
              <a:rPr sz="950" spc="-30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to</a:t>
            </a:r>
            <a:r>
              <a:rPr sz="950" spc="-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this</a:t>
            </a:r>
            <a:r>
              <a:rPr sz="950" spc="-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side</a:t>
            </a:r>
            <a:r>
              <a:rPr sz="950" spc="-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of</a:t>
            </a:r>
            <a:r>
              <a:rPr sz="950" spc="-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-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body</a:t>
            </a:r>
            <a:r>
              <a:rPr sz="950" spc="-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than</a:t>
            </a:r>
            <a:r>
              <a:rPr sz="950" spc="-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-3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right</a:t>
            </a:r>
            <a:endParaRPr sz="950">
              <a:latin typeface="Trebuchet MS"/>
              <a:cs typeface="Trebuchet MS"/>
            </a:endParaRPr>
          </a:p>
          <a:p>
            <a:pPr marL="289560">
              <a:lnSpc>
                <a:spcPct val="100000"/>
              </a:lnSpc>
              <a:spcBef>
                <a:spcPts val="515"/>
              </a:spcBef>
            </a:pPr>
            <a:r>
              <a:rPr sz="950" b="1" dirty="0">
                <a:latin typeface="Trebuchet MS"/>
                <a:cs typeface="Trebuchet MS"/>
              </a:rPr>
              <a:t>red</a:t>
            </a:r>
            <a:r>
              <a:rPr sz="950" b="1" spc="-35" dirty="0">
                <a:latin typeface="Trebuchet MS"/>
                <a:cs typeface="Trebuchet MS"/>
              </a:rPr>
              <a:t> </a:t>
            </a:r>
            <a:r>
              <a:rPr sz="950" i="1" dirty="0">
                <a:latin typeface="Trebuchet MS"/>
                <a:cs typeface="Trebuchet MS"/>
              </a:rPr>
              <a:t>n.</a:t>
            </a:r>
            <a:r>
              <a:rPr sz="950" i="1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-3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color</a:t>
            </a:r>
            <a:r>
              <a:rPr sz="950" spc="-3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of</a:t>
            </a:r>
            <a:r>
              <a:rPr sz="950" spc="-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blood</a:t>
            </a:r>
            <a:r>
              <a:rPr sz="950" spc="-3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or</a:t>
            </a:r>
            <a:r>
              <a:rPr sz="950" spc="-3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</a:t>
            </a:r>
            <a:r>
              <a:rPr sz="950" spc="-35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ruby</a:t>
            </a:r>
            <a:endParaRPr sz="950">
              <a:latin typeface="Trebuchet MS"/>
              <a:cs typeface="Trebuchet MS"/>
            </a:endParaRPr>
          </a:p>
          <a:p>
            <a:pPr marL="289560" marR="119380">
              <a:lnSpc>
                <a:spcPct val="118900"/>
              </a:lnSpc>
              <a:spcBef>
                <a:spcPts val="300"/>
              </a:spcBef>
            </a:pPr>
            <a:r>
              <a:rPr sz="950" b="1" dirty="0">
                <a:latin typeface="Trebuchet MS"/>
                <a:cs typeface="Trebuchet MS"/>
              </a:rPr>
              <a:t>blood</a:t>
            </a:r>
            <a:r>
              <a:rPr sz="950" b="1" spc="-10" dirty="0">
                <a:latin typeface="Trebuchet MS"/>
                <a:cs typeface="Trebuchet MS"/>
              </a:rPr>
              <a:t> </a:t>
            </a:r>
            <a:r>
              <a:rPr sz="950" i="1" dirty="0">
                <a:latin typeface="Trebuchet MS"/>
                <a:cs typeface="Trebuchet MS"/>
              </a:rPr>
              <a:t>n.</a:t>
            </a:r>
            <a:r>
              <a:rPr sz="950" i="1" spc="6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red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liquid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spc="-30" dirty="0">
                <a:latin typeface="Trebuchet MS"/>
                <a:cs typeface="Trebuchet MS"/>
              </a:rPr>
              <a:t>that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circulates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in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heart,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arteries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and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veins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spc="-25" dirty="0">
                <a:latin typeface="Trebuchet MS"/>
                <a:cs typeface="Trebuchet MS"/>
              </a:rPr>
              <a:t>of </a:t>
            </a:r>
            <a:r>
              <a:rPr sz="950" spc="-10" dirty="0">
                <a:latin typeface="Trebuchet MS"/>
                <a:cs typeface="Trebuchet MS"/>
              </a:rPr>
              <a:t>animals</a:t>
            </a:r>
            <a:endParaRPr sz="950">
              <a:latin typeface="Trebuchet MS"/>
              <a:cs typeface="Trebuchet MS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0" y="3347161"/>
            <a:ext cx="4608195" cy="109220"/>
            <a:chOff x="0" y="3347161"/>
            <a:chExt cx="4608195" cy="109220"/>
          </a:xfrm>
        </p:grpSpPr>
        <p:sp>
          <p:nvSpPr>
            <p:cNvPr id="20" name="object 20"/>
            <p:cNvSpPr/>
            <p:nvPr/>
          </p:nvSpPr>
          <p:spPr>
            <a:xfrm>
              <a:off x="0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5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535976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3071952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3232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2016760" y="3339672"/>
            <a:ext cx="57467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10" action="ppaction://hlinksldjump"/>
              </a:rPr>
              <a:t>Lexical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  <a:hlinkClick r:id="rId10" action="ppaction://hlinksldjump"/>
              </a:rPr>
              <a:t>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  <a:hlinkClick r:id="rId10" action="ppaction://hlinksldjump"/>
              </a:rPr>
              <a:t>Semantics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355385" y="3339672"/>
            <a:ext cx="19875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4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10" dirty="0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</a:rPr>
              <a:t>18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27" name="Slide Number Placeholder 26">
            <a:extLst>
              <a:ext uri="{FF2B5EF4-FFF2-40B4-BE49-F238E27FC236}">
                <a16:creationId xmlns:a16="http://schemas.microsoft.com/office/drawing/2014/main" id="{C464A88D-A6B9-42D9-8F21-9C3B63CD2646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4292024" y="3339672"/>
            <a:ext cx="262254" cy="116204"/>
          </a:xfrm>
          <a:prstGeom prst="rect">
            <a:avLst/>
          </a:prstGeom>
        </p:spPr>
        <p:txBody>
          <a:bodyPr/>
          <a:lstStyle/>
          <a:p>
            <a:pPr marL="75565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lang="en-IN" smtClean="0"/>
              <a:t>6</a:t>
            </a:fld>
            <a:r>
              <a:rPr lang="en-IN" spc="-5"/>
              <a:t> </a:t>
            </a:r>
            <a:r>
              <a:rPr lang="en-IN" spc="-110"/>
              <a:t>/</a:t>
            </a:r>
            <a:r>
              <a:rPr lang="en-IN" spc="15"/>
              <a:t> </a:t>
            </a:r>
            <a:r>
              <a:rPr lang="en-IN" spc="-25"/>
              <a:t>18</a:t>
            </a:r>
            <a:endParaRPr lang="en-IN" spc="-25" dirty="0"/>
          </a:p>
        </p:txBody>
      </p:sp>
    </p:spTree>
  </p:cSld>
  <p:clrMapOvr>
    <a:masterClrMapping/>
  </p:clrMapOvr>
  <p:transition>
    <p:cut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Example:</a:t>
            </a:r>
            <a:r>
              <a:rPr spc="105" dirty="0"/>
              <a:t> </a:t>
            </a:r>
            <a:r>
              <a:rPr spc="-20" dirty="0"/>
              <a:t>meaning</a:t>
            </a:r>
            <a:r>
              <a:rPr spc="30" dirty="0"/>
              <a:t> </a:t>
            </a:r>
            <a:r>
              <a:rPr spc="-10" dirty="0"/>
              <a:t>related</a:t>
            </a:r>
            <a:r>
              <a:rPr spc="30" dirty="0"/>
              <a:t> </a:t>
            </a:r>
            <a:r>
              <a:rPr spc="-10" dirty="0"/>
              <a:t>facts?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7743" y="587590"/>
            <a:ext cx="4483735" cy="1405255"/>
            <a:chOff x="87743" y="587590"/>
            <a:chExt cx="4483735" cy="1405255"/>
          </a:xfrm>
        </p:grpSpPr>
        <p:sp>
          <p:nvSpPr>
            <p:cNvPr id="4" name="object 4"/>
            <p:cNvSpPr/>
            <p:nvPr/>
          </p:nvSpPr>
          <p:spPr>
            <a:xfrm>
              <a:off x="87743" y="587590"/>
              <a:ext cx="4432935" cy="186055"/>
            </a:xfrm>
            <a:custGeom>
              <a:avLst/>
              <a:gdLst/>
              <a:ahLst/>
              <a:cxnLst/>
              <a:rect l="l" t="t" r="r" b="b"/>
              <a:pathLst>
                <a:path w="4432935" h="186054">
                  <a:moveTo>
                    <a:pt x="4381754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5674"/>
                  </a:lnTo>
                  <a:lnTo>
                    <a:pt x="4432554" y="185674"/>
                  </a:lnTo>
                  <a:lnTo>
                    <a:pt x="4432554" y="50800"/>
                  </a:lnTo>
                  <a:lnTo>
                    <a:pt x="4428545" y="31075"/>
                  </a:lnTo>
                  <a:lnTo>
                    <a:pt x="4417631" y="14922"/>
                  </a:lnTo>
                  <a:lnTo>
                    <a:pt x="4401478" y="4008"/>
                  </a:lnTo>
                  <a:lnTo>
                    <a:pt x="4381754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744" y="760615"/>
              <a:ext cx="4432554" cy="5060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8544" y="1891207"/>
              <a:ext cx="101599" cy="1016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9344" y="1878507"/>
              <a:ext cx="4381754" cy="1143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20298" y="631825"/>
              <a:ext cx="50800" cy="1259382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87743" y="804849"/>
              <a:ext cx="4432935" cy="1137285"/>
            </a:xfrm>
            <a:custGeom>
              <a:avLst/>
              <a:gdLst/>
              <a:ahLst/>
              <a:cxnLst/>
              <a:rect l="l" t="t" r="r" b="b"/>
              <a:pathLst>
                <a:path w="4432935" h="1137285">
                  <a:moveTo>
                    <a:pt x="4432554" y="0"/>
                  </a:moveTo>
                  <a:lnTo>
                    <a:pt x="0" y="0"/>
                  </a:lnTo>
                  <a:lnTo>
                    <a:pt x="0" y="1086358"/>
                  </a:lnTo>
                  <a:lnTo>
                    <a:pt x="4008" y="1106082"/>
                  </a:lnTo>
                  <a:lnTo>
                    <a:pt x="14922" y="1122235"/>
                  </a:lnTo>
                  <a:lnTo>
                    <a:pt x="31075" y="1133149"/>
                  </a:lnTo>
                  <a:lnTo>
                    <a:pt x="50800" y="1137158"/>
                  </a:lnTo>
                  <a:lnTo>
                    <a:pt x="4381754" y="1137158"/>
                  </a:lnTo>
                  <a:lnTo>
                    <a:pt x="4401478" y="1133149"/>
                  </a:lnTo>
                  <a:lnTo>
                    <a:pt x="4417631" y="1122235"/>
                  </a:lnTo>
                  <a:lnTo>
                    <a:pt x="4428545" y="1106082"/>
                  </a:lnTo>
                  <a:lnTo>
                    <a:pt x="4432554" y="1086358"/>
                  </a:lnTo>
                  <a:lnTo>
                    <a:pt x="4432554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520309" y="669975"/>
              <a:ext cx="0" cy="1240790"/>
            </a:xfrm>
            <a:custGeom>
              <a:avLst/>
              <a:gdLst/>
              <a:ahLst/>
              <a:cxnLst/>
              <a:rect l="l" t="t" r="r" b="b"/>
              <a:pathLst>
                <a:path h="1240789">
                  <a:moveTo>
                    <a:pt x="0" y="1240282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520309" y="657207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520309" y="644507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520309" y="631807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81597" y="854621"/>
              <a:ext cx="64757" cy="64757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81597" y="1236726"/>
              <a:ext cx="64757" cy="64757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81597" y="1446758"/>
              <a:ext cx="64757" cy="64757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81597" y="1656791"/>
              <a:ext cx="64757" cy="64757"/>
            </a:xfrm>
            <a:prstGeom prst="rect">
              <a:avLst/>
            </a:prstGeom>
          </p:spPr>
        </p:pic>
      </p:grpSp>
      <p:grpSp>
        <p:nvGrpSpPr>
          <p:cNvPr id="18" name="object 18"/>
          <p:cNvGrpSpPr/>
          <p:nvPr/>
        </p:nvGrpSpPr>
        <p:grpSpPr>
          <a:xfrm>
            <a:off x="87743" y="2093938"/>
            <a:ext cx="4483735" cy="1047750"/>
            <a:chOff x="87743" y="2093938"/>
            <a:chExt cx="4483735" cy="1047750"/>
          </a:xfrm>
        </p:grpSpPr>
        <p:sp>
          <p:nvSpPr>
            <p:cNvPr id="19" name="object 19"/>
            <p:cNvSpPr/>
            <p:nvPr/>
          </p:nvSpPr>
          <p:spPr>
            <a:xfrm>
              <a:off x="87743" y="2093938"/>
              <a:ext cx="4432935" cy="82550"/>
            </a:xfrm>
            <a:custGeom>
              <a:avLst/>
              <a:gdLst/>
              <a:ahLst/>
              <a:cxnLst/>
              <a:rect l="l" t="t" r="r" b="b"/>
              <a:pathLst>
                <a:path w="4432935" h="82550">
                  <a:moveTo>
                    <a:pt x="4381754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82423"/>
                  </a:lnTo>
                  <a:lnTo>
                    <a:pt x="4432554" y="82423"/>
                  </a:lnTo>
                  <a:lnTo>
                    <a:pt x="4432554" y="50800"/>
                  </a:lnTo>
                  <a:lnTo>
                    <a:pt x="4428545" y="31075"/>
                  </a:lnTo>
                  <a:lnTo>
                    <a:pt x="4417631" y="14922"/>
                  </a:lnTo>
                  <a:lnTo>
                    <a:pt x="4401478" y="4008"/>
                  </a:lnTo>
                  <a:lnTo>
                    <a:pt x="4381754" y="0"/>
                  </a:lnTo>
                  <a:close/>
                </a:path>
              </a:pathLst>
            </a:custGeom>
            <a:solidFill>
              <a:srgbClr val="FFE5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38544" y="3039465"/>
              <a:ext cx="101600" cy="101600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89344" y="3026765"/>
              <a:ext cx="4381754" cy="114300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520298" y="2144496"/>
              <a:ext cx="50800" cy="894969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87743" y="2138400"/>
              <a:ext cx="4432935" cy="951865"/>
            </a:xfrm>
            <a:custGeom>
              <a:avLst/>
              <a:gdLst/>
              <a:ahLst/>
              <a:cxnLst/>
              <a:rect l="l" t="t" r="r" b="b"/>
              <a:pathLst>
                <a:path w="4432935" h="951864">
                  <a:moveTo>
                    <a:pt x="4432554" y="0"/>
                  </a:moveTo>
                  <a:lnTo>
                    <a:pt x="0" y="0"/>
                  </a:lnTo>
                  <a:lnTo>
                    <a:pt x="0" y="901064"/>
                  </a:lnTo>
                  <a:lnTo>
                    <a:pt x="4008" y="920789"/>
                  </a:lnTo>
                  <a:lnTo>
                    <a:pt x="14922" y="936942"/>
                  </a:lnTo>
                  <a:lnTo>
                    <a:pt x="31075" y="947856"/>
                  </a:lnTo>
                  <a:lnTo>
                    <a:pt x="50800" y="951864"/>
                  </a:lnTo>
                  <a:lnTo>
                    <a:pt x="4381754" y="951864"/>
                  </a:lnTo>
                  <a:lnTo>
                    <a:pt x="4401478" y="947856"/>
                  </a:lnTo>
                  <a:lnTo>
                    <a:pt x="4417631" y="936942"/>
                  </a:lnTo>
                  <a:lnTo>
                    <a:pt x="4428545" y="920789"/>
                  </a:lnTo>
                  <a:lnTo>
                    <a:pt x="4432554" y="901064"/>
                  </a:lnTo>
                  <a:lnTo>
                    <a:pt x="4432554" y="0"/>
                  </a:lnTo>
                  <a:close/>
                </a:path>
              </a:pathLst>
            </a:custGeom>
            <a:solidFill>
              <a:srgbClr val="FFE5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520309" y="2182596"/>
              <a:ext cx="0" cy="876300"/>
            </a:xfrm>
            <a:custGeom>
              <a:avLst/>
              <a:gdLst/>
              <a:ahLst/>
              <a:cxnLst/>
              <a:rect l="l" t="t" r="r" b="b"/>
              <a:pathLst>
                <a:path h="876300">
                  <a:moveTo>
                    <a:pt x="0" y="87591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4520309" y="2169890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4520309" y="2157190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4520309" y="2144490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" name="object 28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281597" y="2188095"/>
              <a:ext cx="64757" cy="64757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281597" y="2398128"/>
              <a:ext cx="64757" cy="64757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281597" y="2780233"/>
              <a:ext cx="64757" cy="64757"/>
            </a:xfrm>
            <a:prstGeom prst="rect">
              <a:avLst/>
            </a:prstGeom>
          </p:spPr>
        </p:pic>
      </p:grpSp>
      <p:sp>
        <p:nvSpPr>
          <p:cNvPr id="31" name="object 31"/>
          <p:cNvSpPr txBox="1"/>
          <p:nvPr/>
        </p:nvSpPr>
        <p:spPr>
          <a:xfrm>
            <a:off x="125729" y="512943"/>
            <a:ext cx="4334510" cy="2544445"/>
          </a:xfrm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sz="1100" i="1" spc="-20" dirty="0">
                <a:solidFill>
                  <a:srgbClr val="3232B2"/>
                </a:solidFill>
                <a:latin typeface="Cambria"/>
                <a:cs typeface="Cambria"/>
              </a:rPr>
              <a:t>Definitions</a:t>
            </a:r>
            <a:r>
              <a:rPr sz="1100" i="1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100" i="1" spc="-50" dirty="0">
                <a:solidFill>
                  <a:srgbClr val="3232B2"/>
                </a:solidFill>
                <a:latin typeface="Cambria"/>
                <a:cs typeface="Cambria"/>
              </a:rPr>
              <a:t>from</a:t>
            </a:r>
            <a:r>
              <a:rPr sz="1100" i="1" spc="5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100" i="1" spc="-30" dirty="0">
                <a:solidFill>
                  <a:srgbClr val="3232B2"/>
                </a:solidFill>
                <a:latin typeface="Cambria"/>
                <a:cs typeface="Cambria"/>
              </a:rPr>
              <a:t>the</a:t>
            </a:r>
            <a:r>
              <a:rPr sz="1100" i="1" spc="5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100" i="1" spc="-20" dirty="0">
                <a:solidFill>
                  <a:srgbClr val="3232B2"/>
                </a:solidFill>
                <a:latin typeface="Cambria"/>
                <a:cs typeface="Cambria"/>
              </a:rPr>
              <a:t>American</a:t>
            </a:r>
            <a:r>
              <a:rPr sz="1100" i="1" spc="5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100" i="1" spc="-20" dirty="0">
                <a:solidFill>
                  <a:srgbClr val="3232B2"/>
                </a:solidFill>
                <a:latin typeface="Cambria"/>
                <a:cs typeface="Cambria"/>
              </a:rPr>
              <a:t>Heritage</a:t>
            </a:r>
            <a:r>
              <a:rPr sz="1100" i="1" spc="5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100" i="1" spc="-10" dirty="0">
                <a:solidFill>
                  <a:srgbClr val="3232B2"/>
                </a:solidFill>
                <a:latin typeface="Cambria"/>
                <a:cs typeface="Cambria"/>
              </a:rPr>
              <a:t>Dictionary</a:t>
            </a:r>
            <a:r>
              <a:rPr sz="1100" i="1" spc="5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100" i="1" dirty="0">
                <a:solidFill>
                  <a:srgbClr val="3232B2"/>
                </a:solidFill>
                <a:latin typeface="Cambria"/>
                <a:cs typeface="Cambria"/>
              </a:rPr>
              <a:t>(Morris, </a:t>
            </a:r>
            <a:r>
              <a:rPr sz="1100" i="1" spc="-10" dirty="0">
                <a:solidFill>
                  <a:srgbClr val="3232B2"/>
                </a:solidFill>
                <a:latin typeface="Cambria"/>
                <a:cs typeface="Cambria"/>
              </a:rPr>
              <a:t>1985)</a:t>
            </a:r>
            <a:endParaRPr sz="1100">
              <a:latin typeface="Cambria"/>
              <a:cs typeface="Cambria"/>
            </a:endParaRPr>
          </a:p>
          <a:p>
            <a:pPr marL="289560" marR="25400">
              <a:lnSpc>
                <a:spcPct val="118900"/>
              </a:lnSpc>
              <a:spcBef>
                <a:spcPts val="209"/>
              </a:spcBef>
            </a:pPr>
            <a:r>
              <a:rPr sz="950" b="1" dirty="0">
                <a:latin typeface="Trebuchet MS"/>
                <a:cs typeface="Trebuchet MS"/>
              </a:rPr>
              <a:t>right</a:t>
            </a:r>
            <a:r>
              <a:rPr sz="950" b="1" spc="-5" dirty="0">
                <a:latin typeface="Trebuchet MS"/>
                <a:cs typeface="Trebuchet MS"/>
              </a:rPr>
              <a:t> </a:t>
            </a:r>
            <a:r>
              <a:rPr sz="950" i="1" spc="-20" dirty="0">
                <a:latin typeface="Trebuchet MS"/>
                <a:cs typeface="Trebuchet MS"/>
              </a:rPr>
              <a:t>adj.</a:t>
            </a:r>
            <a:r>
              <a:rPr sz="950" i="1" spc="6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located near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 </a:t>
            </a:r>
            <a:r>
              <a:rPr sz="950" spc="-20" dirty="0">
                <a:latin typeface="Trebuchet MS"/>
                <a:cs typeface="Trebuchet MS"/>
              </a:rPr>
              <a:t>right</a:t>
            </a:r>
            <a:r>
              <a:rPr sz="950" dirty="0">
                <a:latin typeface="Trebuchet MS"/>
                <a:cs typeface="Trebuchet MS"/>
              </a:rPr>
              <a:t> hand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esp.</a:t>
            </a:r>
            <a:r>
              <a:rPr sz="950" spc="6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being on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 </a:t>
            </a:r>
            <a:r>
              <a:rPr sz="950" spc="-20" dirty="0">
                <a:latin typeface="Trebuchet MS"/>
                <a:cs typeface="Trebuchet MS"/>
              </a:rPr>
              <a:t>right</a:t>
            </a:r>
            <a:r>
              <a:rPr sz="950" dirty="0">
                <a:latin typeface="Trebuchet MS"/>
                <a:cs typeface="Trebuchet MS"/>
              </a:rPr>
              <a:t> when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facing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same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direction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spc="70" dirty="0">
                <a:latin typeface="Trebuchet MS"/>
                <a:cs typeface="Trebuchet MS"/>
              </a:rPr>
              <a:t>as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observer</a:t>
            </a:r>
            <a:endParaRPr sz="950">
              <a:latin typeface="Trebuchet MS"/>
              <a:cs typeface="Trebuchet MS"/>
            </a:endParaRPr>
          </a:p>
          <a:p>
            <a:pPr marL="289560">
              <a:lnSpc>
                <a:spcPct val="100000"/>
              </a:lnSpc>
              <a:spcBef>
                <a:spcPts val="509"/>
              </a:spcBef>
            </a:pPr>
            <a:r>
              <a:rPr sz="950" b="1" spc="-10" dirty="0">
                <a:latin typeface="Trebuchet MS"/>
                <a:cs typeface="Trebuchet MS"/>
              </a:rPr>
              <a:t>left</a:t>
            </a:r>
            <a:r>
              <a:rPr sz="950" b="1" spc="-30" dirty="0">
                <a:latin typeface="Trebuchet MS"/>
                <a:cs typeface="Trebuchet MS"/>
              </a:rPr>
              <a:t> </a:t>
            </a:r>
            <a:r>
              <a:rPr sz="950" i="1" spc="-20" dirty="0">
                <a:latin typeface="Trebuchet MS"/>
                <a:cs typeface="Trebuchet MS"/>
              </a:rPr>
              <a:t>adj.</a:t>
            </a:r>
            <a:r>
              <a:rPr sz="950" i="1" spc="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located</a:t>
            </a:r>
            <a:r>
              <a:rPr sz="950" spc="-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near</a:t>
            </a:r>
            <a:r>
              <a:rPr sz="950" spc="-30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to</a:t>
            </a:r>
            <a:r>
              <a:rPr sz="950" spc="-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this</a:t>
            </a:r>
            <a:r>
              <a:rPr sz="950" spc="-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side</a:t>
            </a:r>
            <a:r>
              <a:rPr sz="950" spc="-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of</a:t>
            </a:r>
            <a:r>
              <a:rPr sz="950" spc="-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-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body</a:t>
            </a:r>
            <a:r>
              <a:rPr sz="950" spc="-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than</a:t>
            </a:r>
            <a:r>
              <a:rPr sz="950" spc="-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-3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right</a:t>
            </a:r>
            <a:endParaRPr sz="950">
              <a:latin typeface="Trebuchet MS"/>
              <a:cs typeface="Trebuchet MS"/>
            </a:endParaRPr>
          </a:p>
          <a:p>
            <a:pPr marL="289560">
              <a:lnSpc>
                <a:spcPct val="100000"/>
              </a:lnSpc>
              <a:spcBef>
                <a:spcPts val="515"/>
              </a:spcBef>
            </a:pPr>
            <a:r>
              <a:rPr sz="950" b="1" dirty="0">
                <a:latin typeface="Trebuchet MS"/>
                <a:cs typeface="Trebuchet MS"/>
              </a:rPr>
              <a:t>red</a:t>
            </a:r>
            <a:r>
              <a:rPr sz="950" b="1" spc="-35" dirty="0">
                <a:latin typeface="Trebuchet MS"/>
                <a:cs typeface="Trebuchet MS"/>
              </a:rPr>
              <a:t> </a:t>
            </a:r>
            <a:r>
              <a:rPr sz="950" i="1" dirty="0">
                <a:latin typeface="Trebuchet MS"/>
                <a:cs typeface="Trebuchet MS"/>
              </a:rPr>
              <a:t>n.</a:t>
            </a:r>
            <a:r>
              <a:rPr sz="950" i="1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-3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color</a:t>
            </a:r>
            <a:r>
              <a:rPr sz="950" spc="-3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of</a:t>
            </a:r>
            <a:r>
              <a:rPr sz="950" spc="-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blood</a:t>
            </a:r>
            <a:r>
              <a:rPr sz="950" spc="-3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or</a:t>
            </a:r>
            <a:r>
              <a:rPr sz="950" spc="-3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</a:t>
            </a:r>
            <a:r>
              <a:rPr sz="950" spc="-35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ruby</a:t>
            </a:r>
            <a:endParaRPr sz="950">
              <a:latin typeface="Trebuchet MS"/>
              <a:cs typeface="Trebuchet MS"/>
            </a:endParaRPr>
          </a:p>
          <a:p>
            <a:pPr marL="289560" marR="140335">
              <a:lnSpc>
                <a:spcPct val="118900"/>
              </a:lnSpc>
              <a:spcBef>
                <a:spcPts val="300"/>
              </a:spcBef>
            </a:pPr>
            <a:r>
              <a:rPr sz="950" b="1" dirty="0">
                <a:latin typeface="Trebuchet MS"/>
                <a:cs typeface="Trebuchet MS"/>
              </a:rPr>
              <a:t>blood</a:t>
            </a:r>
            <a:r>
              <a:rPr sz="950" b="1" spc="-10" dirty="0">
                <a:latin typeface="Trebuchet MS"/>
                <a:cs typeface="Trebuchet MS"/>
              </a:rPr>
              <a:t> </a:t>
            </a:r>
            <a:r>
              <a:rPr sz="950" i="1" dirty="0">
                <a:latin typeface="Trebuchet MS"/>
                <a:cs typeface="Trebuchet MS"/>
              </a:rPr>
              <a:t>n.</a:t>
            </a:r>
            <a:r>
              <a:rPr sz="950" i="1" spc="6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red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liquid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spc="-30" dirty="0">
                <a:latin typeface="Trebuchet MS"/>
                <a:cs typeface="Trebuchet MS"/>
              </a:rPr>
              <a:t>that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circulates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in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heart,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arteries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and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veins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spc="-25" dirty="0">
                <a:latin typeface="Trebuchet MS"/>
                <a:cs typeface="Trebuchet MS"/>
              </a:rPr>
              <a:t>of </a:t>
            </a:r>
            <a:r>
              <a:rPr sz="950" spc="-10" dirty="0">
                <a:latin typeface="Trebuchet MS"/>
                <a:cs typeface="Trebuchet MS"/>
              </a:rPr>
              <a:t>animals</a:t>
            </a:r>
            <a:endParaRPr sz="9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585"/>
              </a:spcBef>
            </a:pPr>
            <a:endParaRPr sz="950">
              <a:latin typeface="Trebuchet MS"/>
              <a:cs typeface="Trebuchet MS"/>
            </a:endParaRPr>
          </a:p>
          <a:p>
            <a:pPr marL="289560">
              <a:lnSpc>
                <a:spcPct val="100000"/>
              </a:lnSpc>
            </a:pP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entries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are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description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of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lexemes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in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terms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of</a:t>
            </a:r>
            <a:r>
              <a:rPr sz="950" spc="-10" dirty="0">
                <a:latin typeface="Trebuchet MS"/>
                <a:cs typeface="Trebuchet MS"/>
              </a:rPr>
              <a:t> other lexemes</a:t>
            </a:r>
            <a:endParaRPr sz="950">
              <a:latin typeface="Trebuchet MS"/>
              <a:cs typeface="Trebuchet MS"/>
            </a:endParaRPr>
          </a:p>
          <a:p>
            <a:pPr marL="289560" marR="5080">
              <a:lnSpc>
                <a:spcPct val="118900"/>
              </a:lnSpc>
              <a:spcBef>
                <a:spcPts val="300"/>
              </a:spcBef>
            </a:pPr>
            <a:r>
              <a:rPr sz="950" dirty="0">
                <a:latin typeface="Trebuchet MS"/>
                <a:cs typeface="Trebuchet MS"/>
              </a:rPr>
              <a:t>Definitions make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spc="-85" dirty="0">
                <a:latin typeface="Trebuchet MS"/>
                <a:cs typeface="Trebuchet MS"/>
              </a:rPr>
              <a:t>it</a:t>
            </a:r>
            <a:r>
              <a:rPr sz="950" dirty="0">
                <a:latin typeface="Trebuchet MS"/>
                <a:cs typeface="Trebuchet MS"/>
              </a:rPr>
              <a:t> clear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spc="-30" dirty="0">
                <a:latin typeface="Trebuchet MS"/>
                <a:cs typeface="Trebuchet MS"/>
              </a:rPr>
              <a:t>that</a:t>
            </a:r>
            <a:r>
              <a:rPr sz="950" dirty="0">
                <a:latin typeface="Trebuchet MS"/>
                <a:cs typeface="Trebuchet MS"/>
              </a:rPr>
              <a:t> </a:t>
            </a:r>
            <a:r>
              <a:rPr sz="950" i="1" spc="-35" dirty="0">
                <a:latin typeface="Trebuchet MS"/>
                <a:cs typeface="Trebuchet MS"/>
              </a:rPr>
              <a:t>right</a:t>
            </a:r>
            <a:r>
              <a:rPr sz="950" i="1" spc="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and </a:t>
            </a:r>
            <a:r>
              <a:rPr sz="950" i="1" spc="-85" dirty="0">
                <a:latin typeface="Trebuchet MS"/>
                <a:cs typeface="Trebuchet MS"/>
              </a:rPr>
              <a:t>left</a:t>
            </a:r>
            <a:r>
              <a:rPr sz="950" i="1" spc="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are </a:t>
            </a:r>
            <a:r>
              <a:rPr sz="950" spc="-10" dirty="0">
                <a:latin typeface="Trebuchet MS"/>
                <a:cs typeface="Trebuchet MS"/>
              </a:rPr>
              <a:t>similar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kind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of lexemes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that </a:t>
            </a:r>
            <a:r>
              <a:rPr sz="950" dirty="0">
                <a:latin typeface="Trebuchet MS"/>
                <a:cs typeface="Trebuchet MS"/>
              </a:rPr>
              <a:t>stand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in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some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kind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of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spc="-25" dirty="0">
                <a:latin typeface="Trebuchet MS"/>
                <a:cs typeface="Trebuchet MS"/>
              </a:rPr>
              <a:t>alternation,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or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opposition,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to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one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another</a:t>
            </a:r>
            <a:endParaRPr sz="950">
              <a:latin typeface="Trebuchet MS"/>
              <a:cs typeface="Trebuchet MS"/>
            </a:endParaRPr>
          </a:p>
          <a:p>
            <a:pPr marL="289560">
              <a:lnSpc>
                <a:spcPct val="100000"/>
              </a:lnSpc>
              <a:spcBef>
                <a:spcPts val="509"/>
              </a:spcBef>
            </a:pPr>
            <a:r>
              <a:rPr sz="950" spc="55" dirty="0">
                <a:latin typeface="Trebuchet MS"/>
                <a:cs typeface="Trebuchet MS"/>
              </a:rPr>
              <a:t>We</a:t>
            </a:r>
            <a:r>
              <a:rPr sz="950" dirty="0">
                <a:latin typeface="Trebuchet MS"/>
                <a:cs typeface="Trebuchet MS"/>
              </a:rPr>
              <a:t> can glean </a:t>
            </a:r>
            <a:r>
              <a:rPr sz="950" spc="-30" dirty="0">
                <a:latin typeface="Trebuchet MS"/>
                <a:cs typeface="Trebuchet MS"/>
              </a:rPr>
              <a:t>that</a:t>
            </a:r>
            <a:r>
              <a:rPr sz="950" dirty="0">
                <a:latin typeface="Trebuchet MS"/>
                <a:cs typeface="Trebuchet MS"/>
              </a:rPr>
              <a:t> </a:t>
            </a:r>
            <a:r>
              <a:rPr sz="950" i="1" dirty="0">
                <a:latin typeface="Trebuchet MS"/>
                <a:cs typeface="Trebuchet MS"/>
              </a:rPr>
              <a:t>red</a:t>
            </a:r>
            <a:r>
              <a:rPr sz="950" i="1" spc="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is a </a:t>
            </a:r>
            <a:r>
              <a:rPr sz="950" spc="-25" dirty="0">
                <a:latin typeface="Trebuchet MS"/>
                <a:cs typeface="Trebuchet MS"/>
              </a:rPr>
              <a:t>color,</a:t>
            </a:r>
            <a:r>
              <a:rPr sz="950" dirty="0">
                <a:latin typeface="Trebuchet MS"/>
                <a:cs typeface="Trebuchet MS"/>
              </a:rPr>
              <a:t> </a:t>
            </a:r>
            <a:r>
              <a:rPr sz="950" spc="-85" dirty="0">
                <a:latin typeface="Trebuchet MS"/>
                <a:cs typeface="Trebuchet MS"/>
              </a:rPr>
              <a:t>it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can be applied </a:t>
            </a:r>
            <a:r>
              <a:rPr sz="950" spc="-20" dirty="0">
                <a:latin typeface="Trebuchet MS"/>
                <a:cs typeface="Trebuchet MS"/>
              </a:rPr>
              <a:t>to</a:t>
            </a:r>
            <a:r>
              <a:rPr sz="950" dirty="0">
                <a:latin typeface="Trebuchet MS"/>
                <a:cs typeface="Trebuchet MS"/>
              </a:rPr>
              <a:t> both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i="1" dirty="0">
                <a:latin typeface="Trebuchet MS"/>
                <a:cs typeface="Trebuchet MS"/>
              </a:rPr>
              <a:t>blood </a:t>
            </a:r>
            <a:r>
              <a:rPr sz="950" spc="-25" dirty="0">
                <a:latin typeface="Trebuchet MS"/>
                <a:cs typeface="Trebuchet MS"/>
              </a:rPr>
              <a:t>and</a:t>
            </a:r>
            <a:endParaRPr sz="950">
              <a:latin typeface="Trebuchet MS"/>
              <a:cs typeface="Trebuchet MS"/>
            </a:endParaRPr>
          </a:p>
          <a:p>
            <a:pPr marL="289560">
              <a:lnSpc>
                <a:spcPct val="100000"/>
              </a:lnSpc>
              <a:spcBef>
                <a:spcPts val="215"/>
              </a:spcBef>
            </a:pPr>
            <a:r>
              <a:rPr sz="950" i="1" spc="-10" dirty="0">
                <a:latin typeface="Trebuchet MS"/>
                <a:cs typeface="Trebuchet MS"/>
              </a:rPr>
              <a:t>rubies</a:t>
            </a:r>
            <a:r>
              <a:rPr sz="950" spc="-10" dirty="0">
                <a:latin typeface="Trebuchet MS"/>
                <a:cs typeface="Trebuchet MS"/>
              </a:rPr>
              <a:t>,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and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spc="-30" dirty="0">
                <a:latin typeface="Trebuchet MS"/>
                <a:cs typeface="Trebuchet MS"/>
              </a:rPr>
              <a:t>that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i="1" dirty="0">
                <a:latin typeface="Trebuchet MS"/>
                <a:cs typeface="Trebuchet MS"/>
              </a:rPr>
              <a:t>blood</a:t>
            </a:r>
            <a:r>
              <a:rPr sz="950" i="1" spc="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is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liquid.</a:t>
            </a:r>
            <a:endParaRPr sz="950">
              <a:latin typeface="Trebuchet MS"/>
              <a:cs typeface="Trebuchet MS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0" y="3347161"/>
            <a:ext cx="4608195" cy="109220"/>
            <a:chOff x="0" y="3347161"/>
            <a:chExt cx="4608195" cy="109220"/>
          </a:xfrm>
        </p:grpSpPr>
        <p:sp>
          <p:nvSpPr>
            <p:cNvPr id="33" name="object 33"/>
            <p:cNvSpPr/>
            <p:nvPr/>
          </p:nvSpPr>
          <p:spPr>
            <a:xfrm>
              <a:off x="0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5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535976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3071952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3232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" name="object 37"/>
          <p:cNvSpPr txBox="1"/>
          <p:nvPr/>
        </p:nvSpPr>
        <p:spPr>
          <a:xfrm>
            <a:off x="2016760" y="3339672"/>
            <a:ext cx="57467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16" action="ppaction://hlinksldjump"/>
              </a:rPr>
              <a:t>Lexical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  <a:hlinkClick r:id="rId16" action="ppaction://hlinksldjump"/>
              </a:rPr>
              <a:t>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  <a:hlinkClick r:id="rId16" action="ppaction://hlinksldjump"/>
              </a:rPr>
              <a:t>Semantics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4355385" y="3339672"/>
            <a:ext cx="19875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4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10" dirty="0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</a:rPr>
              <a:t>18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40" name="Slide Number Placeholder 39">
            <a:extLst>
              <a:ext uri="{FF2B5EF4-FFF2-40B4-BE49-F238E27FC236}">
                <a16:creationId xmlns:a16="http://schemas.microsoft.com/office/drawing/2014/main" id="{2C3BF2D0-ADA7-4D30-8A85-105F7945B749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4292024" y="3339672"/>
            <a:ext cx="262254" cy="116204"/>
          </a:xfrm>
          <a:prstGeom prst="rect">
            <a:avLst/>
          </a:prstGeom>
        </p:spPr>
        <p:txBody>
          <a:bodyPr/>
          <a:lstStyle/>
          <a:p>
            <a:pPr marL="75565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lang="en-IN" smtClean="0"/>
              <a:t>7</a:t>
            </a:fld>
            <a:r>
              <a:rPr lang="en-IN" spc="-5"/>
              <a:t> </a:t>
            </a:r>
            <a:r>
              <a:rPr lang="en-IN" spc="-110"/>
              <a:t>/</a:t>
            </a:r>
            <a:r>
              <a:rPr lang="en-IN" spc="15"/>
              <a:t> </a:t>
            </a:r>
            <a:r>
              <a:rPr lang="en-IN" spc="-25"/>
              <a:t>18</a:t>
            </a:r>
            <a:endParaRPr lang="en-IN" spc="-25" dirty="0"/>
          </a:p>
        </p:txBody>
      </p:sp>
    </p:spTree>
  </p:cSld>
  <p:clrMapOvr>
    <a:masterClrMapping/>
  </p:clrMapOvr>
  <p:transition>
    <p:cut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250" y="60502"/>
            <a:ext cx="251396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Relations</a:t>
            </a:r>
            <a:r>
              <a:rPr spc="-25" dirty="0"/>
              <a:t> </a:t>
            </a:r>
            <a:r>
              <a:rPr spc="-20" dirty="0"/>
              <a:t>between </a:t>
            </a:r>
            <a:r>
              <a:rPr spc="-10" dirty="0"/>
              <a:t>word</a:t>
            </a:r>
            <a:r>
              <a:rPr spc="-25" dirty="0"/>
              <a:t> </a:t>
            </a:r>
            <a:r>
              <a:rPr spc="-10" dirty="0"/>
              <a:t>meanings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597" y="1084732"/>
            <a:ext cx="64757" cy="64757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02932" y="954222"/>
            <a:ext cx="655320" cy="149606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45100"/>
              </a:lnSpc>
              <a:spcBef>
                <a:spcPts val="90"/>
              </a:spcBef>
            </a:pPr>
            <a:r>
              <a:rPr sz="950" spc="-10" dirty="0">
                <a:latin typeface="Trebuchet MS"/>
                <a:cs typeface="Trebuchet MS"/>
              </a:rPr>
              <a:t>Homonymy Polysemy Synonymy Antonymy Hypernymy Hyponymy Meronymy</a:t>
            </a:r>
            <a:endParaRPr sz="950">
              <a:latin typeface="Trebuchet MS"/>
              <a:cs typeface="Trebuchet MS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597" y="1294765"/>
            <a:ext cx="64757" cy="64757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597" y="1504797"/>
            <a:ext cx="64757" cy="64757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1597" y="1714830"/>
            <a:ext cx="64757" cy="64757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81597" y="1924862"/>
            <a:ext cx="64757" cy="64757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81597" y="2134895"/>
            <a:ext cx="64757" cy="64757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81597" y="2344928"/>
            <a:ext cx="64757" cy="64757"/>
          </a:xfrm>
          <a:prstGeom prst="rect">
            <a:avLst/>
          </a:prstGeom>
        </p:spPr>
      </p:pic>
      <p:grpSp>
        <p:nvGrpSpPr>
          <p:cNvPr id="11" name="object 11"/>
          <p:cNvGrpSpPr/>
          <p:nvPr/>
        </p:nvGrpSpPr>
        <p:grpSpPr>
          <a:xfrm>
            <a:off x="0" y="3347161"/>
            <a:ext cx="4608195" cy="109220"/>
            <a:chOff x="0" y="3347161"/>
            <a:chExt cx="4608195" cy="109220"/>
          </a:xfrm>
        </p:grpSpPr>
        <p:sp>
          <p:nvSpPr>
            <p:cNvPr id="12" name="object 12"/>
            <p:cNvSpPr/>
            <p:nvPr/>
          </p:nvSpPr>
          <p:spPr>
            <a:xfrm>
              <a:off x="0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5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535976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071952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3232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2016760" y="3339672"/>
            <a:ext cx="57467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9" action="ppaction://hlinksldjump"/>
              </a:rPr>
              <a:t>Lexical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  <a:hlinkClick r:id="rId9" action="ppaction://hlinksldjump"/>
              </a:rPr>
              <a:t>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  <a:hlinkClick r:id="rId9" action="ppaction://hlinksldjump"/>
              </a:rPr>
              <a:t>Semantics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4294967295"/>
          </p:nvPr>
        </p:nvSpPr>
        <p:spPr>
          <a:xfrm>
            <a:off x="4292024" y="3339672"/>
            <a:ext cx="262254" cy="116204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75565">
              <a:lnSpc>
                <a:spcPct val="100000"/>
              </a:lnSpc>
              <a:spcBef>
                <a:spcPts val="50"/>
              </a:spcBef>
            </a:pPr>
            <a:r>
              <a:rPr dirty="0"/>
              <a:t>5</a:t>
            </a:r>
            <a:r>
              <a:rPr spc="-5" dirty="0"/>
              <a:t> </a:t>
            </a:r>
            <a:r>
              <a:rPr spc="-110" dirty="0"/>
              <a:t>/</a:t>
            </a:r>
            <a:r>
              <a:rPr spc="15" dirty="0"/>
              <a:t> </a:t>
            </a:r>
            <a:r>
              <a:rPr spc="-25" dirty="0"/>
              <a:t>18</a:t>
            </a:r>
          </a:p>
        </p:txBody>
      </p:sp>
    </p:spTree>
  </p:cSld>
  <p:clrMapOvr>
    <a:masterClrMapping/>
  </p:clrMapOvr>
  <p:transition>
    <p:cut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5250" y="60502"/>
            <a:ext cx="855344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i="1" spc="-10" dirty="0">
                <a:solidFill>
                  <a:srgbClr val="FFFFFF"/>
                </a:solidFill>
                <a:latin typeface="Cambria"/>
                <a:cs typeface="Cambria"/>
              </a:rPr>
              <a:t>Homonymy</a:t>
            </a:r>
            <a:endParaRPr sz="1400">
              <a:latin typeface="Cambria"/>
              <a:cs typeface="Cambria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87743" y="458508"/>
            <a:ext cx="4483735" cy="629920"/>
            <a:chOff x="87743" y="458508"/>
            <a:chExt cx="4483735" cy="629920"/>
          </a:xfrm>
        </p:grpSpPr>
        <p:sp>
          <p:nvSpPr>
            <p:cNvPr id="4" name="object 4"/>
            <p:cNvSpPr/>
            <p:nvPr/>
          </p:nvSpPr>
          <p:spPr>
            <a:xfrm>
              <a:off x="87743" y="458508"/>
              <a:ext cx="4432935" cy="186055"/>
            </a:xfrm>
            <a:custGeom>
              <a:avLst/>
              <a:gdLst/>
              <a:ahLst/>
              <a:cxnLst/>
              <a:rect l="l" t="t" r="r" b="b"/>
              <a:pathLst>
                <a:path w="4432935" h="186054">
                  <a:moveTo>
                    <a:pt x="4381754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5674"/>
                  </a:lnTo>
                  <a:lnTo>
                    <a:pt x="4432554" y="185674"/>
                  </a:lnTo>
                  <a:lnTo>
                    <a:pt x="4432554" y="50800"/>
                  </a:lnTo>
                  <a:lnTo>
                    <a:pt x="4428545" y="31075"/>
                  </a:lnTo>
                  <a:lnTo>
                    <a:pt x="4417631" y="14922"/>
                  </a:lnTo>
                  <a:lnTo>
                    <a:pt x="4401478" y="4008"/>
                  </a:lnTo>
                  <a:lnTo>
                    <a:pt x="4381754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744" y="631533"/>
              <a:ext cx="4432554" cy="5060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8544" y="986269"/>
              <a:ext cx="101599" cy="1016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9344" y="973569"/>
              <a:ext cx="4381754" cy="1143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20298" y="502742"/>
              <a:ext cx="50800" cy="483527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87743" y="675754"/>
              <a:ext cx="4432935" cy="361315"/>
            </a:xfrm>
            <a:custGeom>
              <a:avLst/>
              <a:gdLst/>
              <a:ahLst/>
              <a:cxnLst/>
              <a:rect l="l" t="t" r="r" b="b"/>
              <a:pathLst>
                <a:path w="4432935" h="361315">
                  <a:moveTo>
                    <a:pt x="4432554" y="0"/>
                  </a:moveTo>
                  <a:lnTo>
                    <a:pt x="0" y="0"/>
                  </a:lnTo>
                  <a:lnTo>
                    <a:pt x="0" y="310514"/>
                  </a:lnTo>
                  <a:lnTo>
                    <a:pt x="4008" y="330239"/>
                  </a:lnTo>
                  <a:lnTo>
                    <a:pt x="14922" y="346392"/>
                  </a:lnTo>
                  <a:lnTo>
                    <a:pt x="31075" y="357306"/>
                  </a:lnTo>
                  <a:lnTo>
                    <a:pt x="50800" y="361314"/>
                  </a:lnTo>
                  <a:lnTo>
                    <a:pt x="4381754" y="361314"/>
                  </a:lnTo>
                  <a:lnTo>
                    <a:pt x="4401478" y="357306"/>
                  </a:lnTo>
                  <a:lnTo>
                    <a:pt x="4417631" y="346392"/>
                  </a:lnTo>
                  <a:lnTo>
                    <a:pt x="4428545" y="330239"/>
                  </a:lnTo>
                  <a:lnTo>
                    <a:pt x="4432554" y="310514"/>
                  </a:lnTo>
                  <a:lnTo>
                    <a:pt x="4432554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520310" y="540880"/>
              <a:ext cx="0" cy="464820"/>
            </a:xfrm>
            <a:custGeom>
              <a:avLst/>
              <a:gdLst/>
              <a:ahLst/>
              <a:cxnLst/>
              <a:rect l="l" t="t" r="r" b="b"/>
              <a:pathLst>
                <a:path h="464819">
                  <a:moveTo>
                    <a:pt x="0" y="464438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520310" y="528142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520310" y="515442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520310" y="502742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125729" y="383887"/>
            <a:ext cx="4176395" cy="619125"/>
          </a:xfrm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sz="1100" i="1" spc="-10" dirty="0">
                <a:solidFill>
                  <a:srgbClr val="3232B2"/>
                </a:solidFill>
                <a:latin typeface="Cambria"/>
                <a:cs typeface="Cambria"/>
              </a:rPr>
              <a:t>Definition</a:t>
            </a:r>
            <a:endParaRPr sz="1100">
              <a:latin typeface="Cambria"/>
              <a:cs typeface="Cambria"/>
            </a:endParaRPr>
          </a:p>
          <a:p>
            <a:pPr marL="12700" marR="5080">
              <a:lnSpc>
                <a:spcPct val="118900"/>
              </a:lnSpc>
              <a:spcBef>
                <a:spcPts val="209"/>
              </a:spcBef>
            </a:pPr>
            <a:r>
              <a:rPr sz="950" b="1" dirty="0">
                <a:latin typeface="Trebuchet MS"/>
                <a:cs typeface="Trebuchet MS"/>
              </a:rPr>
              <a:t>Homonymy</a:t>
            </a:r>
            <a:r>
              <a:rPr sz="950" b="1" spc="4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is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defined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spc="70" dirty="0">
                <a:latin typeface="Trebuchet MS"/>
                <a:cs typeface="Trebuchet MS"/>
              </a:rPr>
              <a:t>as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relation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spc="-30" dirty="0">
                <a:latin typeface="Trebuchet MS"/>
                <a:cs typeface="Trebuchet MS"/>
              </a:rPr>
              <a:t>that</a:t>
            </a:r>
            <a:r>
              <a:rPr sz="950" spc="4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holds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between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words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spc="-30" dirty="0">
                <a:latin typeface="Trebuchet MS"/>
                <a:cs typeface="Trebuchet MS"/>
              </a:rPr>
              <a:t>that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have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spc="-25" dirty="0">
                <a:latin typeface="Trebuchet MS"/>
                <a:cs typeface="Trebuchet MS"/>
              </a:rPr>
              <a:t>the </a:t>
            </a:r>
            <a:r>
              <a:rPr sz="950" dirty="0">
                <a:latin typeface="Trebuchet MS"/>
                <a:cs typeface="Trebuchet MS"/>
              </a:rPr>
              <a:t>same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form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spc="-40" dirty="0">
                <a:latin typeface="Trebuchet MS"/>
                <a:cs typeface="Trebuchet MS"/>
              </a:rPr>
              <a:t>with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unrelated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meanings.</a:t>
            </a:r>
            <a:endParaRPr sz="950">
              <a:latin typeface="Trebuchet MS"/>
              <a:cs typeface="Trebuchet MS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646170" y="3339672"/>
            <a:ext cx="56388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8,</a:t>
            </a:r>
            <a:r>
              <a:rPr sz="600" i="1" spc="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1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355385" y="3339672"/>
            <a:ext cx="19875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6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10" dirty="0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</a:rPr>
              <a:t>18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47DBB054-02AB-4A20-99B0-28378CF988A0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4292024" y="3339672"/>
            <a:ext cx="262254" cy="116204"/>
          </a:xfrm>
          <a:prstGeom prst="rect">
            <a:avLst/>
          </a:prstGeom>
        </p:spPr>
        <p:txBody>
          <a:bodyPr/>
          <a:lstStyle/>
          <a:p>
            <a:pPr marL="75565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lang="en-IN" smtClean="0"/>
              <a:t>9</a:t>
            </a:fld>
            <a:r>
              <a:rPr lang="en-IN" spc="-5"/>
              <a:t> </a:t>
            </a:r>
            <a:r>
              <a:rPr lang="en-IN" spc="-110"/>
              <a:t>/</a:t>
            </a:r>
            <a:r>
              <a:rPr lang="en-IN" spc="15"/>
              <a:t> </a:t>
            </a:r>
            <a:r>
              <a:rPr lang="en-IN" spc="-25"/>
              <a:t>18</a:t>
            </a:r>
            <a:endParaRPr lang="en-IN" spc="-25" dirty="0"/>
          </a:p>
        </p:txBody>
      </p:sp>
    </p:spTree>
  </p:cSld>
  <p:clrMapOvr>
    <a:masterClrMapping/>
  </p:clrMapOvr>
  <p:transition>
    <p:cut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250" y="60502"/>
            <a:ext cx="855344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Homonymy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7743" y="458508"/>
            <a:ext cx="4483735" cy="629920"/>
            <a:chOff x="87743" y="458508"/>
            <a:chExt cx="4483735" cy="629920"/>
          </a:xfrm>
        </p:grpSpPr>
        <p:sp>
          <p:nvSpPr>
            <p:cNvPr id="4" name="object 4"/>
            <p:cNvSpPr/>
            <p:nvPr/>
          </p:nvSpPr>
          <p:spPr>
            <a:xfrm>
              <a:off x="87743" y="458508"/>
              <a:ext cx="4432935" cy="186055"/>
            </a:xfrm>
            <a:custGeom>
              <a:avLst/>
              <a:gdLst/>
              <a:ahLst/>
              <a:cxnLst/>
              <a:rect l="l" t="t" r="r" b="b"/>
              <a:pathLst>
                <a:path w="4432935" h="186054">
                  <a:moveTo>
                    <a:pt x="4381754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5674"/>
                  </a:lnTo>
                  <a:lnTo>
                    <a:pt x="4432554" y="185674"/>
                  </a:lnTo>
                  <a:lnTo>
                    <a:pt x="4432554" y="50800"/>
                  </a:lnTo>
                  <a:lnTo>
                    <a:pt x="4428545" y="31075"/>
                  </a:lnTo>
                  <a:lnTo>
                    <a:pt x="4417631" y="14922"/>
                  </a:lnTo>
                  <a:lnTo>
                    <a:pt x="4401478" y="4008"/>
                  </a:lnTo>
                  <a:lnTo>
                    <a:pt x="4381754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744" y="631533"/>
              <a:ext cx="4432554" cy="5060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8544" y="986269"/>
              <a:ext cx="101599" cy="1016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9344" y="973569"/>
              <a:ext cx="4381754" cy="1143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20298" y="502742"/>
              <a:ext cx="50800" cy="483527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87743" y="675754"/>
              <a:ext cx="4432935" cy="361315"/>
            </a:xfrm>
            <a:custGeom>
              <a:avLst/>
              <a:gdLst/>
              <a:ahLst/>
              <a:cxnLst/>
              <a:rect l="l" t="t" r="r" b="b"/>
              <a:pathLst>
                <a:path w="4432935" h="361315">
                  <a:moveTo>
                    <a:pt x="4432554" y="0"/>
                  </a:moveTo>
                  <a:lnTo>
                    <a:pt x="0" y="0"/>
                  </a:lnTo>
                  <a:lnTo>
                    <a:pt x="0" y="310514"/>
                  </a:lnTo>
                  <a:lnTo>
                    <a:pt x="4008" y="330239"/>
                  </a:lnTo>
                  <a:lnTo>
                    <a:pt x="14922" y="346392"/>
                  </a:lnTo>
                  <a:lnTo>
                    <a:pt x="31075" y="357306"/>
                  </a:lnTo>
                  <a:lnTo>
                    <a:pt x="50800" y="361314"/>
                  </a:lnTo>
                  <a:lnTo>
                    <a:pt x="4381754" y="361314"/>
                  </a:lnTo>
                  <a:lnTo>
                    <a:pt x="4401478" y="357306"/>
                  </a:lnTo>
                  <a:lnTo>
                    <a:pt x="4417631" y="346392"/>
                  </a:lnTo>
                  <a:lnTo>
                    <a:pt x="4428545" y="330239"/>
                  </a:lnTo>
                  <a:lnTo>
                    <a:pt x="4432554" y="310514"/>
                  </a:lnTo>
                  <a:lnTo>
                    <a:pt x="4432554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520310" y="540880"/>
              <a:ext cx="0" cy="464820"/>
            </a:xfrm>
            <a:custGeom>
              <a:avLst/>
              <a:gdLst/>
              <a:ahLst/>
              <a:cxnLst/>
              <a:rect l="l" t="t" r="r" b="b"/>
              <a:pathLst>
                <a:path h="464819">
                  <a:moveTo>
                    <a:pt x="0" y="464438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520310" y="528142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520310" y="515442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520310" y="502742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4" name="object 14"/>
          <p:cNvGrpSpPr/>
          <p:nvPr/>
        </p:nvGrpSpPr>
        <p:grpSpPr>
          <a:xfrm>
            <a:off x="87743" y="1151039"/>
            <a:ext cx="4483735" cy="666115"/>
            <a:chOff x="87743" y="1151039"/>
            <a:chExt cx="4483735" cy="666115"/>
          </a:xfrm>
        </p:grpSpPr>
        <p:sp>
          <p:nvSpPr>
            <p:cNvPr id="15" name="object 15"/>
            <p:cNvSpPr/>
            <p:nvPr/>
          </p:nvSpPr>
          <p:spPr>
            <a:xfrm>
              <a:off x="87743" y="1151039"/>
              <a:ext cx="4432935" cy="186055"/>
            </a:xfrm>
            <a:custGeom>
              <a:avLst/>
              <a:gdLst/>
              <a:ahLst/>
              <a:cxnLst/>
              <a:rect l="l" t="t" r="r" b="b"/>
              <a:pathLst>
                <a:path w="4432935" h="186055">
                  <a:moveTo>
                    <a:pt x="4381754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5674"/>
                  </a:lnTo>
                  <a:lnTo>
                    <a:pt x="4432554" y="185674"/>
                  </a:lnTo>
                  <a:lnTo>
                    <a:pt x="4432554" y="50800"/>
                  </a:lnTo>
                  <a:lnTo>
                    <a:pt x="4428545" y="31075"/>
                  </a:lnTo>
                  <a:lnTo>
                    <a:pt x="4417631" y="14922"/>
                  </a:lnTo>
                  <a:lnTo>
                    <a:pt x="4401478" y="4008"/>
                  </a:lnTo>
                  <a:lnTo>
                    <a:pt x="4381754" y="0"/>
                  </a:lnTo>
                  <a:close/>
                </a:path>
              </a:pathLst>
            </a:custGeom>
            <a:solidFill>
              <a:srgbClr val="CCE5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7744" y="1324051"/>
              <a:ext cx="4432554" cy="50609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38544" y="1715262"/>
              <a:ext cx="101599" cy="101600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89344" y="1702562"/>
              <a:ext cx="4381754" cy="114300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520298" y="1195273"/>
              <a:ext cx="50800" cy="519988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87743" y="1368298"/>
              <a:ext cx="4432935" cy="398145"/>
            </a:xfrm>
            <a:custGeom>
              <a:avLst/>
              <a:gdLst/>
              <a:ahLst/>
              <a:cxnLst/>
              <a:rect l="l" t="t" r="r" b="b"/>
              <a:pathLst>
                <a:path w="4432935" h="398144">
                  <a:moveTo>
                    <a:pt x="4432554" y="0"/>
                  </a:moveTo>
                  <a:lnTo>
                    <a:pt x="0" y="0"/>
                  </a:lnTo>
                  <a:lnTo>
                    <a:pt x="0" y="346963"/>
                  </a:lnTo>
                  <a:lnTo>
                    <a:pt x="4008" y="366688"/>
                  </a:lnTo>
                  <a:lnTo>
                    <a:pt x="14922" y="382841"/>
                  </a:lnTo>
                  <a:lnTo>
                    <a:pt x="31075" y="393755"/>
                  </a:lnTo>
                  <a:lnTo>
                    <a:pt x="50800" y="397763"/>
                  </a:lnTo>
                  <a:lnTo>
                    <a:pt x="4381754" y="397763"/>
                  </a:lnTo>
                  <a:lnTo>
                    <a:pt x="4401478" y="393755"/>
                  </a:lnTo>
                  <a:lnTo>
                    <a:pt x="4417631" y="382841"/>
                  </a:lnTo>
                  <a:lnTo>
                    <a:pt x="4428545" y="366688"/>
                  </a:lnTo>
                  <a:lnTo>
                    <a:pt x="4432554" y="346963"/>
                  </a:lnTo>
                  <a:lnTo>
                    <a:pt x="4432554" y="0"/>
                  </a:lnTo>
                  <a:close/>
                </a:path>
              </a:pathLst>
            </a:custGeom>
            <a:solidFill>
              <a:srgbClr val="E5F2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4520310" y="1233424"/>
              <a:ext cx="0" cy="501015"/>
            </a:xfrm>
            <a:custGeom>
              <a:avLst/>
              <a:gdLst/>
              <a:ahLst/>
              <a:cxnLst/>
              <a:rect l="l" t="t" r="r" b="b"/>
              <a:pathLst>
                <a:path h="501014">
                  <a:moveTo>
                    <a:pt x="0" y="500888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4520310" y="1220673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4520310" y="1207973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520310" y="1195273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81597" y="1418069"/>
              <a:ext cx="64757" cy="64757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81597" y="1628102"/>
              <a:ext cx="64757" cy="64757"/>
            </a:xfrm>
            <a:prstGeom prst="rect">
              <a:avLst/>
            </a:prstGeom>
          </p:spPr>
        </p:pic>
      </p:grpSp>
      <p:sp>
        <p:nvSpPr>
          <p:cNvPr id="27" name="object 27"/>
          <p:cNvSpPr txBox="1"/>
          <p:nvPr/>
        </p:nvSpPr>
        <p:spPr>
          <a:xfrm>
            <a:off x="125729" y="383887"/>
            <a:ext cx="4176395" cy="1349375"/>
          </a:xfrm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sz="1100" i="1" spc="-10" dirty="0">
                <a:solidFill>
                  <a:srgbClr val="3232B2"/>
                </a:solidFill>
                <a:latin typeface="Cambria"/>
                <a:cs typeface="Cambria"/>
              </a:rPr>
              <a:t>Definition</a:t>
            </a:r>
            <a:endParaRPr sz="1100">
              <a:latin typeface="Cambria"/>
              <a:cs typeface="Cambria"/>
            </a:endParaRPr>
          </a:p>
          <a:p>
            <a:pPr marL="12700" marR="5080">
              <a:lnSpc>
                <a:spcPct val="118900"/>
              </a:lnSpc>
              <a:spcBef>
                <a:spcPts val="209"/>
              </a:spcBef>
            </a:pPr>
            <a:r>
              <a:rPr sz="950" b="1" dirty="0">
                <a:latin typeface="Trebuchet MS"/>
                <a:cs typeface="Trebuchet MS"/>
              </a:rPr>
              <a:t>Homonymy</a:t>
            </a:r>
            <a:r>
              <a:rPr sz="950" b="1" spc="4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is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defined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spc="70" dirty="0">
                <a:latin typeface="Trebuchet MS"/>
                <a:cs typeface="Trebuchet MS"/>
              </a:rPr>
              <a:t>as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relation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spc="-30" dirty="0">
                <a:latin typeface="Trebuchet MS"/>
                <a:cs typeface="Trebuchet MS"/>
              </a:rPr>
              <a:t>that</a:t>
            </a:r>
            <a:r>
              <a:rPr sz="950" spc="4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holds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between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words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spc="-30" dirty="0">
                <a:latin typeface="Trebuchet MS"/>
                <a:cs typeface="Trebuchet MS"/>
              </a:rPr>
              <a:t>that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have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spc="-25" dirty="0">
                <a:latin typeface="Trebuchet MS"/>
                <a:cs typeface="Trebuchet MS"/>
              </a:rPr>
              <a:t>the </a:t>
            </a:r>
            <a:r>
              <a:rPr sz="950" dirty="0">
                <a:latin typeface="Trebuchet MS"/>
                <a:cs typeface="Trebuchet MS"/>
              </a:rPr>
              <a:t>same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form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spc="-40" dirty="0">
                <a:latin typeface="Trebuchet MS"/>
                <a:cs typeface="Trebuchet MS"/>
              </a:rPr>
              <a:t>with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unrelated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meanings.</a:t>
            </a:r>
            <a:endParaRPr sz="9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10"/>
              </a:spcBef>
            </a:pPr>
            <a:endParaRPr sz="9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100" i="1" spc="-10" dirty="0">
                <a:solidFill>
                  <a:srgbClr val="007F00"/>
                </a:solidFill>
                <a:latin typeface="Cambria"/>
                <a:cs typeface="Cambria"/>
              </a:rPr>
              <a:t>Examples</a:t>
            </a:r>
            <a:endParaRPr sz="1100">
              <a:latin typeface="Cambria"/>
              <a:cs typeface="Cambria"/>
            </a:endParaRPr>
          </a:p>
          <a:p>
            <a:pPr marL="289560" marR="718185">
              <a:lnSpc>
                <a:spcPts val="1650"/>
              </a:lnSpc>
              <a:spcBef>
                <a:spcPts val="25"/>
              </a:spcBef>
            </a:pPr>
            <a:r>
              <a:rPr sz="950" dirty="0">
                <a:latin typeface="Trebuchet MS"/>
                <a:cs typeface="Trebuchet MS"/>
              </a:rPr>
              <a:t>Bat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(wooden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spc="-25" dirty="0">
                <a:latin typeface="Trebuchet MS"/>
                <a:cs typeface="Trebuchet MS"/>
              </a:rPr>
              <a:t>stick-</a:t>
            </a:r>
            <a:r>
              <a:rPr sz="950" dirty="0">
                <a:latin typeface="Trebuchet MS"/>
                <a:cs typeface="Trebuchet MS"/>
              </a:rPr>
              <a:t>like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thing)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spc="60" dirty="0">
                <a:latin typeface="Trebuchet MS"/>
                <a:cs typeface="Trebuchet MS"/>
              </a:rPr>
              <a:t>vs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Bat</a:t>
            </a:r>
            <a:r>
              <a:rPr sz="950" spc="2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(flying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mammal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thing) </a:t>
            </a:r>
            <a:r>
              <a:rPr sz="950" dirty="0">
                <a:latin typeface="Trebuchet MS"/>
                <a:cs typeface="Trebuchet MS"/>
              </a:rPr>
              <a:t>Bank</a:t>
            </a:r>
            <a:r>
              <a:rPr sz="950" spc="70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(financial</a:t>
            </a:r>
            <a:r>
              <a:rPr sz="950" spc="75" dirty="0">
                <a:latin typeface="Trebuchet MS"/>
                <a:cs typeface="Trebuchet MS"/>
              </a:rPr>
              <a:t> </a:t>
            </a:r>
            <a:r>
              <a:rPr sz="950" spc="-30" dirty="0">
                <a:latin typeface="Trebuchet MS"/>
                <a:cs typeface="Trebuchet MS"/>
              </a:rPr>
              <a:t>institution)</a:t>
            </a:r>
            <a:r>
              <a:rPr sz="950" spc="70" dirty="0">
                <a:latin typeface="Trebuchet MS"/>
                <a:cs typeface="Trebuchet MS"/>
              </a:rPr>
              <a:t> </a:t>
            </a:r>
            <a:r>
              <a:rPr sz="950" spc="60" dirty="0">
                <a:latin typeface="Trebuchet MS"/>
                <a:cs typeface="Trebuchet MS"/>
              </a:rPr>
              <a:t>vs</a:t>
            </a:r>
            <a:r>
              <a:rPr sz="950" spc="7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Bank</a:t>
            </a:r>
            <a:r>
              <a:rPr sz="950" spc="7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(riverside)</a:t>
            </a:r>
            <a:endParaRPr sz="950">
              <a:latin typeface="Trebuchet MS"/>
              <a:cs typeface="Trebuchet MS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0" y="3347161"/>
            <a:ext cx="4608195" cy="109220"/>
            <a:chOff x="0" y="3347161"/>
            <a:chExt cx="4608195" cy="109220"/>
          </a:xfrm>
        </p:grpSpPr>
        <p:sp>
          <p:nvSpPr>
            <p:cNvPr id="29" name="object 29"/>
            <p:cNvSpPr/>
            <p:nvPr/>
          </p:nvSpPr>
          <p:spPr>
            <a:xfrm>
              <a:off x="0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5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1535976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3071952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3232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2016760" y="3339672"/>
            <a:ext cx="57467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12" action="ppaction://hlinksldjump"/>
              </a:rPr>
              <a:t>Lexical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  <a:hlinkClick r:id="rId12" action="ppaction://hlinksldjump"/>
              </a:rPr>
              <a:t>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  <a:hlinkClick r:id="rId12" action="ppaction://hlinksldjump"/>
              </a:rPr>
              <a:t>Semantics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4355385" y="3339672"/>
            <a:ext cx="198755" cy="9874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10" dirty="0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</a:rPr>
              <a:t>18</a:t>
            </a:r>
            <a:endParaRPr sz="600" dirty="0">
              <a:latin typeface="Cambria"/>
              <a:cs typeface="Cambria"/>
            </a:endParaRPr>
          </a:p>
        </p:txBody>
      </p:sp>
      <p:sp>
        <p:nvSpPr>
          <p:cNvPr id="36" name="Slide Number Placeholder 35">
            <a:extLst>
              <a:ext uri="{FF2B5EF4-FFF2-40B4-BE49-F238E27FC236}">
                <a16:creationId xmlns:a16="http://schemas.microsoft.com/office/drawing/2014/main" id="{8161A368-F3DA-4FAB-89C3-5BB557191E0F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4292024" y="2876334"/>
            <a:ext cx="262254" cy="579542"/>
          </a:xfrm>
          <a:prstGeom prst="rect">
            <a:avLst/>
          </a:prstGeom>
        </p:spPr>
        <p:txBody>
          <a:bodyPr/>
          <a:lstStyle/>
          <a:p>
            <a:pPr marL="75565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lang="en-IN" smtClean="0"/>
              <a:t>10</a:t>
            </a:fld>
            <a:r>
              <a:rPr lang="en-IN" spc="-5" dirty="0"/>
              <a:t> </a:t>
            </a:r>
            <a:r>
              <a:rPr lang="en-IN" spc="-110" dirty="0"/>
              <a:t>/</a:t>
            </a:r>
            <a:r>
              <a:rPr lang="en-IN" spc="15" dirty="0"/>
              <a:t> </a:t>
            </a:r>
            <a:r>
              <a:rPr lang="en-IN" spc="-25" dirty="0"/>
              <a:t>18</a:t>
            </a:r>
          </a:p>
        </p:txBody>
      </p:sp>
    </p:spTree>
  </p:cSld>
  <p:clrMapOvr>
    <a:masterClrMapping/>
  </p:clrMapOvr>
  <p:transition>
    <p:cut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250" y="60502"/>
            <a:ext cx="855344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Homonymy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7743" y="458508"/>
            <a:ext cx="4483735" cy="629920"/>
            <a:chOff x="87743" y="458508"/>
            <a:chExt cx="4483735" cy="629920"/>
          </a:xfrm>
        </p:grpSpPr>
        <p:sp>
          <p:nvSpPr>
            <p:cNvPr id="4" name="object 4"/>
            <p:cNvSpPr/>
            <p:nvPr/>
          </p:nvSpPr>
          <p:spPr>
            <a:xfrm>
              <a:off x="87743" y="458508"/>
              <a:ext cx="4432935" cy="186055"/>
            </a:xfrm>
            <a:custGeom>
              <a:avLst/>
              <a:gdLst/>
              <a:ahLst/>
              <a:cxnLst/>
              <a:rect l="l" t="t" r="r" b="b"/>
              <a:pathLst>
                <a:path w="4432935" h="186054">
                  <a:moveTo>
                    <a:pt x="4381754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5674"/>
                  </a:lnTo>
                  <a:lnTo>
                    <a:pt x="4432554" y="185674"/>
                  </a:lnTo>
                  <a:lnTo>
                    <a:pt x="4432554" y="50800"/>
                  </a:lnTo>
                  <a:lnTo>
                    <a:pt x="4428545" y="31075"/>
                  </a:lnTo>
                  <a:lnTo>
                    <a:pt x="4417631" y="14922"/>
                  </a:lnTo>
                  <a:lnTo>
                    <a:pt x="4401478" y="4008"/>
                  </a:lnTo>
                  <a:lnTo>
                    <a:pt x="4381754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744" y="631533"/>
              <a:ext cx="4432554" cy="5060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8544" y="986269"/>
              <a:ext cx="101599" cy="1016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9344" y="973569"/>
              <a:ext cx="4381754" cy="1143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20298" y="502742"/>
              <a:ext cx="50800" cy="483527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87743" y="675754"/>
              <a:ext cx="4432935" cy="361315"/>
            </a:xfrm>
            <a:custGeom>
              <a:avLst/>
              <a:gdLst/>
              <a:ahLst/>
              <a:cxnLst/>
              <a:rect l="l" t="t" r="r" b="b"/>
              <a:pathLst>
                <a:path w="4432935" h="361315">
                  <a:moveTo>
                    <a:pt x="4432554" y="0"/>
                  </a:moveTo>
                  <a:lnTo>
                    <a:pt x="0" y="0"/>
                  </a:lnTo>
                  <a:lnTo>
                    <a:pt x="0" y="310514"/>
                  </a:lnTo>
                  <a:lnTo>
                    <a:pt x="4008" y="330239"/>
                  </a:lnTo>
                  <a:lnTo>
                    <a:pt x="14922" y="346392"/>
                  </a:lnTo>
                  <a:lnTo>
                    <a:pt x="31075" y="357306"/>
                  </a:lnTo>
                  <a:lnTo>
                    <a:pt x="50800" y="361314"/>
                  </a:lnTo>
                  <a:lnTo>
                    <a:pt x="4381754" y="361314"/>
                  </a:lnTo>
                  <a:lnTo>
                    <a:pt x="4401478" y="357306"/>
                  </a:lnTo>
                  <a:lnTo>
                    <a:pt x="4417631" y="346392"/>
                  </a:lnTo>
                  <a:lnTo>
                    <a:pt x="4428545" y="330239"/>
                  </a:lnTo>
                  <a:lnTo>
                    <a:pt x="4432554" y="310514"/>
                  </a:lnTo>
                  <a:lnTo>
                    <a:pt x="4432554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520310" y="540880"/>
              <a:ext cx="0" cy="464820"/>
            </a:xfrm>
            <a:custGeom>
              <a:avLst/>
              <a:gdLst/>
              <a:ahLst/>
              <a:cxnLst/>
              <a:rect l="l" t="t" r="r" b="b"/>
              <a:pathLst>
                <a:path h="464819">
                  <a:moveTo>
                    <a:pt x="0" y="464438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520310" y="528142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520310" y="515442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520310" y="502742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4" name="object 14"/>
          <p:cNvGrpSpPr/>
          <p:nvPr/>
        </p:nvGrpSpPr>
        <p:grpSpPr>
          <a:xfrm>
            <a:off x="87743" y="1151039"/>
            <a:ext cx="4483735" cy="666115"/>
            <a:chOff x="87743" y="1151039"/>
            <a:chExt cx="4483735" cy="666115"/>
          </a:xfrm>
        </p:grpSpPr>
        <p:sp>
          <p:nvSpPr>
            <p:cNvPr id="15" name="object 15"/>
            <p:cNvSpPr/>
            <p:nvPr/>
          </p:nvSpPr>
          <p:spPr>
            <a:xfrm>
              <a:off x="87743" y="1151039"/>
              <a:ext cx="4432935" cy="186055"/>
            </a:xfrm>
            <a:custGeom>
              <a:avLst/>
              <a:gdLst/>
              <a:ahLst/>
              <a:cxnLst/>
              <a:rect l="l" t="t" r="r" b="b"/>
              <a:pathLst>
                <a:path w="4432935" h="186055">
                  <a:moveTo>
                    <a:pt x="4381754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5674"/>
                  </a:lnTo>
                  <a:lnTo>
                    <a:pt x="4432554" y="185674"/>
                  </a:lnTo>
                  <a:lnTo>
                    <a:pt x="4432554" y="50800"/>
                  </a:lnTo>
                  <a:lnTo>
                    <a:pt x="4428545" y="31075"/>
                  </a:lnTo>
                  <a:lnTo>
                    <a:pt x="4417631" y="14922"/>
                  </a:lnTo>
                  <a:lnTo>
                    <a:pt x="4401478" y="4008"/>
                  </a:lnTo>
                  <a:lnTo>
                    <a:pt x="4381754" y="0"/>
                  </a:lnTo>
                  <a:close/>
                </a:path>
              </a:pathLst>
            </a:custGeom>
            <a:solidFill>
              <a:srgbClr val="CCE5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7744" y="1324051"/>
              <a:ext cx="4432554" cy="50609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38544" y="1715262"/>
              <a:ext cx="101599" cy="101600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89344" y="1702562"/>
              <a:ext cx="4381754" cy="114300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520298" y="1195273"/>
              <a:ext cx="50800" cy="519988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87743" y="1368298"/>
              <a:ext cx="4432935" cy="398145"/>
            </a:xfrm>
            <a:custGeom>
              <a:avLst/>
              <a:gdLst/>
              <a:ahLst/>
              <a:cxnLst/>
              <a:rect l="l" t="t" r="r" b="b"/>
              <a:pathLst>
                <a:path w="4432935" h="398144">
                  <a:moveTo>
                    <a:pt x="4432554" y="0"/>
                  </a:moveTo>
                  <a:lnTo>
                    <a:pt x="0" y="0"/>
                  </a:lnTo>
                  <a:lnTo>
                    <a:pt x="0" y="346963"/>
                  </a:lnTo>
                  <a:lnTo>
                    <a:pt x="4008" y="366688"/>
                  </a:lnTo>
                  <a:lnTo>
                    <a:pt x="14922" y="382841"/>
                  </a:lnTo>
                  <a:lnTo>
                    <a:pt x="31075" y="393755"/>
                  </a:lnTo>
                  <a:lnTo>
                    <a:pt x="50800" y="397763"/>
                  </a:lnTo>
                  <a:lnTo>
                    <a:pt x="4381754" y="397763"/>
                  </a:lnTo>
                  <a:lnTo>
                    <a:pt x="4401478" y="393755"/>
                  </a:lnTo>
                  <a:lnTo>
                    <a:pt x="4417631" y="382841"/>
                  </a:lnTo>
                  <a:lnTo>
                    <a:pt x="4428545" y="366688"/>
                  </a:lnTo>
                  <a:lnTo>
                    <a:pt x="4432554" y="346963"/>
                  </a:lnTo>
                  <a:lnTo>
                    <a:pt x="4432554" y="0"/>
                  </a:lnTo>
                  <a:close/>
                </a:path>
              </a:pathLst>
            </a:custGeom>
            <a:solidFill>
              <a:srgbClr val="E5F2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4520310" y="1233424"/>
              <a:ext cx="0" cy="501015"/>
            </a:xfrm>
            <a:custGeom>
              <a:avLst/>
              <a:gdLst/>
              <a:ahLst/>
              <a:cxnLst/>
              <a:rect l="l" t="t" r="r" b="b"/>
              <a:pathLst>
                <a:path h="501014">
                  <a:moveTo>
                    <a:pt x="0" y="500888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4520310" y="1220673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4520310" y="1207973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520310" y="1195273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81597" y="1418069"/>
              <a:ext cx="64757" cy="64757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81597" y="1628102"/>
              <a:ext cx="64757" cy="64757"/>
            </a:xfrm>
            <a:prstGeom prst="rect">
              <a:avLst/>
            </a:prstGeom>
          </p:spPr>
        </p:pic>
      </p:grpSp>
      <p:grpSp>
        <p:nvGrpSpPr>
          <p:cNvPr id="27" name="object 27"/>
          <p:cNvGrpSpPr/>
          <p:nvPr/>
        </p:nvGrpSpPr>
        <p:grpSpPr>
          <a:xfrm>
            <a:off x="87743" y="1880031"/>
            <a:ext cx="4483735" cy="1431925"/>
            <a:chOff x="87743" y="1880031"/>
            <a:chExt cx="4483735" cy="1431925"/>
          </a:xfrm>
        </p:grpSpPr>
        <p:sp>
          <p:nvSpPr>
            <p:cNvPr id="28" name="object 28"/>
            <p:cNvSpPr/>
            <p:nvPr/>
          </p:nvSpPr>
          <p:spPr>
            <a:xfrm>
              <a:off x="87743" y="1880031"/>
              <a:ext cx="4432935" cy="186055"/>
            </a:xfrm>
            <a:custGeom>
              <a:avLst/>
              <a:gdLst/>
              <a:ahLst/>
              <a:cxnLst/>
              <a:rect l="l" t="t" r="r" b="b"/>
              <a:pathLst>
                <a:path w="4432935" h="186055">
                  <a:moveTo>
                    <a:pt x="4381754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799"/>
                  </a:lnTo>
                  <a:lnTo>
                    <a:pt x="0" y="185673"/>
                  </a:lnTo>
                  <a:lnTo>
                    <a:pt x="4432554" y="185673"/>
                  </a:lnTo>
                  <a:lnTo>
                    <a:pt x="4432554" y="50799"/>
                  </a:lnTo>
                  <a:lnTo>
                    <a:pt x="4428545" y="31075"/>
                  </a:lnTo>
                  <a:lnTo>
                    <a:pt x="4417631" y="14922"/>
                  </a:lnTo>
                  <a:lnTo>
                    <a:pt x="4401478" y="4008"/>
                  </a:lnTo>
                  <a:lnTo>
                    <a:pt x="4381754" y="0"/>
                  </a:lnTo>
                  <a:close/>
                </a:path>
              </a:pathLst>
            </a:custGeom>
            <a:solidFill>
              <a:srgbClr val="FF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87744" y="2053043"/>
              <a:ext cx="4432554" cy="50609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38544" y="3209963"/>
              <a:ext cx="101599" cy="101599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89344" y="3197263"/>
              <a:ext cx="4381754" cy="114300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4520298" y="1924266"/>
              <a:ext cx="50800" cy="1285697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87743" y="2097316"/>
              <a:ext cx="4432935" cy="1163955"/>
            </a:xfrm>
            <a:custGeom>
              <a:avLst/>
              <a:gdLst/>
              <a:ahLst/>
              <a:cxnLst/>
              <a:rect l="l" t="t" r="r" b="b"/>
              <a:pathLst>
                <a:path w="4432935" h="1163954">
                  <a:moveTo>
                    <a:pt x="4432554" y="0"/>
                  </a:moveTo>
                  <a:lnTo>
                    <a:pt x="0" y="0"/>
                  </a:lnTo>
                  <a:lnTo>
                    <a:pt x="0" y="1112647"/>
                  </a:lnTo>
                  <a:lnTo>
                    <a:pt x="4008" y="1132371"/>
                  </a:lnTo>
                  <a:lnTo>
                    <a:pt x="14922" y="1148524"/>
                  </a:lnTo>
                  <a:lnTo>
                    <a:pt x="31075" y="1159438"/>
                  </a:lnTo>
                  <a:lnTo>
                    <a:pt x="50800" y="1163447"/>
                  </a:lnTo>
                  <a:lnTo>
                    <a:pt x="4381754" y="1163447"/>
                  </a:lnTo>
                  <a:lnTo>
                    <a:pt x="4401478" y="1159438"/>
                  </a:lnTo>
                  <a:lnTo>
                    <a:pt x="4417631" y="1148524"/>
                  </a:lnTo>
                  <a:lnTo>
                    <a:pt x="4428545" y="1132371"/>
                  </a:lnTo>
                  <a:lnTo>
                    <a:pt x="4432554" y="1112647"/>
                  </a:lnTo>
                  <a:lnTo>
                    <a:pt x="4432554" y="0"/>
                  </a:lnTo>
                  <a:close/>
                </a:path>
              </a:pathLst>
            </a:custGeom>
            <a:solidFill>
              <a:srgbClr val="FFE5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4520309" y="1962315"/>
              <a:ext cx="0" cy="1266825"/>
            </a:xfrm>
            <a:custGeom>
              <a:avLst/>
              <a:gdLst/>
              <a:ahLst/>
              <a:cxnLst/>
              <a:rect l="l" t="t" r="r" b="b"/>
              <a:pathLst>
                <a:path h="1266825">
                  <a:moveTo>
                    <a:pt x="0" y="1266698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4520309" y="1949652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4520309" y="1936952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4520309" y="1924253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8" name="object 38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281597" y="2529167"/>
              <a:ext cx="64757" cy="64757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281597" y="2739199"/>
              <a:ext cx="64757" cy="64757"/>
            </a:xfrm>
            <a:prstGeom prst="rect">
              <a:avLst/>
            </a:prstGeom>
          </p:spPr>
        </p:pic>
      </p:grpSp>
      <p:sp>
        <p:nvSpPr>
          <p:cNvPr id="40" name="object 40"/>
          <p:cNvSpPr txBox="1"/>
          <p:nvPr/>
        </p:nvSpPr>
        <p:spPr>
          <a:xfrm>
            <a:off x="125729" y="383887"/>
            <a:ext cx="4199255" cy="2842895"/>
          </a:xfrm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sz="1100" i="1" spc="-10" dirty="0">
                <a:solidFill>
                  <a:srgbClr val="3232B2"/>
                </a:solidFill>
                <a:latin typeface="Cambria"/>
                <a:cs typeface="Cambria"/>
              </a:rPr>
              <a:t>Definition</a:t>
            </a:r>
            <a:endParaRPr sz="1100">
              <a:latin typeface="Cambria"/>
              <a:cs typeface="Cambria"/>
            </a:endParaRPr>
          </a:p>
          <a:p>
            <a:pPr marL="12700" marR="27940">
              <a:lnSpc>
                <a:spcPct val="118900"/>
              </a:lnSpc>
              <a:spcBef>
                <a:spcPts val="209"/>
              </a:spcBef>
            </a:pPr>
            <a:r>
              <a:rPr sz="950" b="1" dirty="0">
                <a:latin typeface="Trebuchet MS"/>
                <a:cs typeface="Trebuchet MS"/>
              </a:rPr>
              <a:t>Homonymy</a:t>
            </a:r>
            <a:r>
              <a:rPr sz="950" b="1" spc="4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is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defined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spc="70" dirty="0">
                <a:latin typeface="Trebuchet MS"/>
                <a:cs typeface="Trebuchet MS"/>
              </a:rPr>
              <a:t>as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relation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spc="-30" dirty="0">
                <a:latin typeface="Trebuchet MS"/>
                <a:cs typeface="Trebuchet MS"/>
              </a:rPr>
              <a:t>that</a:t>
            </a:r>
            <a:r>
              <a:rPr sz="950" spc="4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holds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between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words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spc="-30" dirty="0">
                <a:latin typeface="Trebuchet MS"/>
                <a:cs typeface="Trebuchet MS"/>
              </a:rPr>
              <a:t>that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have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spc="-25" dirty="0">
                <a:latin typeface="Trebuchet MS"/>
                <a:cs typeface="Trebuchet MS"/>
              </a:rPr>
              <a:t>the </a:t>
            </a:r>
            <a:r>
              <a:rPr sz="950" dirty="0">
                <a:latin typeface="Trebuchet MS"/>
                <a:cs typeface="Trebuchet MS"/>
              </a:rPr>
              <a:t>same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form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spc="-40" dirty="0">
                <a:latin typeface="Trebuchet MS"/>
                <a:cs typeface="Trebuchet MS"/>
              </a:rPr>
              <a:t>with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unrelated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meanings.</a:t>
            </a:r>
            <a:endParaRPr sz="9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10"/>
              </a:spcBef>
            </a:pPr>
            <a:endParaRPr sz="9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100" i="1" spc="-10" dirty="0">
                <a:solidFill>
                  <a:srgbClr val="007F00"/>
                </a:solidFill>
                <a:latin typeface="Cambria"/>
                <a:cs typeface="Cambria"/>
              </a:rPr>
              <a:t>Examples</a:t>
            </a:r>
            <a:endParaRPr sz="1100">
              <a:latin typeface="Cambria"/>
              <a:cs typeface="Cambria"/>
            </a:endParaRPr>
          </a:p>
          <a:p>
            <a:pPr marL="289560" marR="741045">
              <a:lnSpc>
                <a:spcPts val="1650"/>
              </a:lnSpc>
              <a:spcBef>
                <a:spcPts val="55"/>
              </a:spcBef>
            </a:pPr>
            <a:r>
              <a:rPr sz="950" dirty="0">
                <a:latin typeface="Trebuchet MS"/>
                <a:cs typeface="Trebuchet MS"/>
              </a:rPr>
              <a:t>Bat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(wooden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spc="-25" dirty="0">
                <a:latin typeface="Trebuchet MS"/>
                <a:cs typeface="Trebuchet MS"/>
              </a:rPr>
              <a:t>stick-</a:t>
            </a:r>
            <a:r>
              <a:rPr sz="950" dirty="0">
                <a:latin typeface="Trebuchet MS"/>
                <a:cs typeface="Trebuchet MS"/>
              </a:rPr>
              <a:t>like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thing)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spc="60" dirty="0">
                <a:latin typeface="Trebuchet MS"/>
                <a:cs typeface="Trebuchet MS"/>
              </a:rPr>
              <a:t>vs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Bat</a:t>
            </a:r>
            <a:r>
              <a:rPr sz="950" spc="2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(flying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mammal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thing) </a:t>
            </a:r>
            <a:r>
              <a:rPr sz="950" dirty="0">
                <a:latin typeface="Trebuchet MS"/>
                <a:cs typeface="Trebuchet MS"/>
              </a:rPr>
              <a:t>Bank</a:t>
            </a:r>
            <a:r>
              <a:rPr sz="950" spc="70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(financial</a:t>
            </a:r>
            <a:r>
              <a:rPr sz="950" spc="75" dirty="0">
                <a:latin typeface="Trebuchet MS"/>
                <a:cs typeface="Trebuchet MS"/>
              </a:rPr>
              <a:t> </a:t>
            </a:r>
            <a:r>
              <a:rPr sz="950" spc="-30" dirty="0">
                <a:latin typeface="Trebuchet MS"/>
                <a:cs typeface="Trebuchet MS"/>
              </a:rPr>
              <a:t>institution)</a:t>
            </a:r>
            <a:r>
              <a:rPr sz="950" spc="70" dirty="0">
                <a:latin typeface="Trebuchet MS"/>
                <a:cs typeface="Trebuchet MS"/>
              </a:rPr>
              <a:t> </a:t>
            </a:r>
            <a:r>
              <a:rPr sz="950" spc="60" dirty="0">
                <a:latin typeface="Trebuchet MS"/>
                <a:cs typeface="Trebuchet MS"/>
              </a:rPr>
              <a:t>vs</a:t>
            </a:r>
            <a:r>
              <a:rPr sz="950" spc="7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Bank</a:t>
            </a:r>
            <a:r>
              <a:rPr sz="950" spc="7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(riverside)</a:t>
            </a:r>
            <a:endParaRPr sz="9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065"/>
              </a:spcBef>
            </a:pPr>
            <a:r>
              <a:rPr sz="1100" i="1" spc="-35" dirty="0">
                <a:solidFill>
                  <a:srgbClr val="FF0000"/>
                </a:solidFill>
                <a:latin typeface="Cambria"/>
                <a:cs typeface="Cambria"/>
              </a:rPr>
              <a:t>homophones</a:t>
            </a:r>
            <a:r>
              <a:rPr sz="1100" i="1" spc="-10" dirty="0">
                <a:solidFill>
                  <a:srgbClr val="FF0000"/>
                </a:solidFill>
                <a:latin typeface="Cambria"/>
                <a:cs typeface="Cambria"/>
              </a:rPr>
              <a:t> and</a:t>
            </a:r>
            <a:r>
              <a:rPr sz="1100" i="1" spc="-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100" i="1" spc="-10" dirty="0">
                <a:solidFill>
                  <a:srgbClr val="FF0000"/>
                </a:solidFill>
                <a:latin typeface="Cambria"/>
                <a:cs typeface="Cambria"/>
              </a:rPr>
              <a:t>homographs</a:t>
            </a:r>
            <a:endParaRPr sz="1100">
              <a:latin typeface="Cambria"/>
              <a:cs typeface="Cambria"/>
            </a:endParaRPr>
          </a:p>
          <a:p>
            <a:pPr marL="12700" marR="334010">
              <a:lnSpc>
                <a:spcPct val="118900"/>
              </a:lnSpc>
              <a:spcBef>
                <a:spcPts val="209"/>
              </a:spcBef>
            </a:pPr>
            <a:r>
              <a:rPr sz="950" b="1" spc="50" dirty="0">
                <a:latin typeface="Trebuchet MS"/>
                <a:cs typeface="Trebuchet MS"/>
              </a:rPr>
              <a:t>homophones</a:t>
            </a:r>
            <a:r>
              <a:rPr sz="950" b="1" spc="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are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words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spc="-40" dirty="0">
                <a:latin typeface="Trebuchet MS"/>
                <a:cs typeface="Trebuchet MS"/>
              </a:rPr>
              <a:t>with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same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pronunciation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but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spc="-30" dirty="0">
                <a:latin typeface="Trebuchet MS"/>
                <a:cs typeface="Trebuchet MS"/>
              </a:rPr>
              <a:t>different </a:t>
            </a:r>
            <a:r>
              <a:rPr sz="950" spc="-10" dirty="0">
                <a:latin typeface="Trebuchet MS"/>
                <a:cs typeface="Trebuchet MS"/>
              </a:rPr>
              <a:t>spellings.</a:t>
            </a:r>
            <a:endParaRPr sz="950">
              <a:latin typeface="Trebuchet MS"/>
              <a:cs typeface="Trebuchet MS"/>
            </a:endParaRPr>
          </a:p>
          <a:p>
            <a:pPr marL="289560" marR="3069590">
              <a:lnSpc>
                <a:spcPct val="145100"/>
              </a:lnSpc>
            </a:pPr>
            <a:r>
              <a:rPr sz="950" spc="-30" dirty="0">
                <a:latin typeface="Trebuchet MS"/>
                <a:cs typeface="Trebuchet MS"/>
              </a:rPr>
              <a:t>write</a:t>
            </a:r>
            <a:r>
              <a:rPr sz="950" spc="-25" dirty="0">
                <a:latin typeface="Trebuchet MS"/>
                <a:cs typeface="Trebuchet MS"/>
              </a:rPr>
              <a:t> </a:t>
            </a:r>
            <a:r>
              <a:rPr sz="950" spc="60" dirty="0">
                <a:latin typeface="Trebuchet MS"/>
                <a:cs typeface="Trebuchet MS"/>
              </a:rPr>
              <a:t>vs</a:t>
            </a:r>
            <a:r>
              <a:rPr sz="950" spc="-2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right </a:t>
            </a:r>
            <a:r>
              <a:rPr sz="950" dirty="0">
                <a:latin typeface="Trebuchet MS"/>
                <a:cs typeface="Trebuchet MS"/>
              </a:rPr>
              <a:t>piece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spc="60" dirty="0">
                <a:latin typeface="Trebuchet MS"/>
                <a:cs typeface="Trebuchet MS"/>
              </a:rPr>
              <a:t>vs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peace</a:t>
            </a:r>
            <a:endParaRPr sz="950">
              <a:latin typeface="Trebuchet MS"/>
              <a:cs typeface="Trebuchet MS"/>
            </a:endParaRPr>
          </a:p>
          <a:p>
            <a:pPr marL="12700" marR="5080">
              <a:lnSpc>
                <a:spcPct val="118800"/>
              </a:lnSpc>
              <a:spcBef>
                <a:spcPts val="295"/>
              </a:spcBef>
            </a:pPr>
            <a:r>
              <a:rPr sz="950" b="1" spc="55" dirty="0">
                <a:latin typeface="Trebuchet MS"/>
                <a:cs typeface="Trebuchet MS"/>
              </a:rPr>
              <a:t>homographs</a:t>
            </a:r>
            <a:r>
              <a:rPr sz="950" b="1" spc="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are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lexemes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spc="-40" dirty="0">
                <a:latin typeface="Trebuchet MS"/>
                <a:cs typeface="Trebuchet MS"/>
              </a:rPr>
              <a:t>with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same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orthographic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form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but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spc="-30" dirty="0">
                <a:latin typeface="Trebuchet MS"/>
                <a:cs typeface="Trebuchet MS"/>
              </a:rPr>
              <a:t>different </a:t>
            </a:r>
            <a:r>
              <a:rPr sz="950" dirty="0">
                <a:latin typeface="Trebuchet MS"/>
                <a:cs typeface="Trebuchet MS"/>
              </a:rPr>
              <a:t>meaning.</a:t>
            </a:r>
            <a:r>
              <a:rPr sz="950" spc="1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Ex:</a:t>
            </a:r>
            <a:r>
              <a:rPr sz="950" spc="130" dirty="0">
                <a:latin typeface="Trebuchet MS"/>
                <a:cs typeface="Trebuchet MS"/>
              </a:rPr>
              <a:t> </a:t>
            </a:r>
            <a:r>
              <a:rPr sz="950" spc="45" dirty="0">
                <a:latin typeface="Trebuchet MS"/>
                <a:cs typeface="Trebuchet MS"/>
              </a:rPr>
              <a:t>bass</a:t>
            </a:r>
            <a:endParaRPr sz="950">
              <a:latin typeface="Trebuchet MS"/>
              <a:cs typeface="Trebuchet MS"/>
            </a:endParaRPr>
          </a:p>
        </p:txBody>
      </p:sp>
      <p:grpSp>
        <p:nvGrpSpPr>
          <p:cNvPr id="41" name="object 41"/>
          <p:cNvGrpSpPr/>
          <p:nvPr/>
        </p:nvGrpSpPr>
        <p:grpSpPr>
          <a:xfrm>
            <a:off x="0" y="3347161"/>
            <a:ext cx="4608195" cy="109220"/>
            <a:chOff x="0" y="3347161"/>
            <a:chExt cx="4608195" cy="109220"/>
          </a:xfrm>
        </p:grpSpPr>
        <p:sp>
          <p:nvSpPr>
            <p:cNvPr id="42" name="object 42"/>
            <p:cNvSpPr/>
            <p:nvPr/>
          </p:nvSpPr>
          <p:spPr>
            <a:xfrm>
              <a:off x="0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5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1535976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3071952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3232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6" name="object 46"/>
          <p:cNvSpPr txBox="1"/>
          <p:nvPr/>
        </p:nvSpPr>
        <p:spPr>
          <a:xfrm>
            <a:off x="2016760" y="3339672"/>
            <a:ext cx="57467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18" action="ppaction://hlinksldjump"/>
              </a:rPr>
              <a:t>Lexical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  <a:hlinkClick r:id="rId18" action="ppaction://hlinksldjump"/>
              </a:rPr>
              <a:t>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  <a:hlinkClick r:id="rId18" action="ppaction://hlinksldjump"/>
              </a:rPr>
              <a:t>Semantics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4355385" y="3339672"/>
            <a:ext cx="19875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6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10" dirty="0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</a:rPr>
              <a:t>18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49" name="Slide Number Placeholder 48">
            <a:extLst>
              <a:ext uri="{FF2B5EF4-FFF2-40B4-BE49-F238E27FC236}">
                <a16:creationId xmlns:a16="http://schemas.microsoft.com/office/drawing/2014/main" id="{7753A6E5-45EC-4A0C-9D55-5F89DA8ABBAA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4292024" y="3339672"/>
            <a:ext cx="262254" cy="116204"/>
          </a:xfrm>
          <a:prstGeom prst="rect">
            <a:avLst/>
          </a:prstGeom>
        </p:spPr>
        <p:txBody>
          <a:bodyPr/>
          <a:lstStyle/>
          <a:p>
            <a:pPr marL="75565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lang="en-IN" smtClean="0"/>
              <a:t>11</a:t>
            </a:fld>
            <a:r>
              <a:rPr lang="en-IN" spc="-5"/>
              <a:t> </a:t>
            </a:r>
            <a:r>
              <a:rPr lang="en-IN" spc="-110"/>
              <a:t>/</a:t>
            </a:r>
            <a:r>
              <a:rPr lang="en-IN" spc="15"/>
              <a:t> </a:t>
            </a:r>
            <a:r>
              <a:rPr lang="en-IN" spc="-25"/>
              <a:t>18</a:t>
            </a:r>
            <a:endParaRPr lang="en-IN" spc="-25" dirty="0"/>
          </a:p>
        </p:txBody>
      </p:sp>
    </p:spTree>
  </p:cSld>
  <p:clrMapOvr>
    <a:masterClrMapping/>
  </p:clrMapOvr>
  <p:transition>
    <p:cut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Problems</a:t>
            </a:r>
            <a:r>
              <a:rPr spc="30" dirty="0"/>
              <a:t> </a:t>
            </a:r>
            <a:r>
              <a:rPr dirty="0"/>
              <a:t>for</a:t>
            </a:r>
            <a:r>
              <a:rPr spc="35" dirty="0"/>
              <a:t> </a:t>
            </a:r>
            <a:r>
              <a:rPr spc="55" dirty="0"/>
              <a:t>NLP</a:t>
            </a:r>
            <a:r>
              <a:rPr spc="30" dirty="0"/>
              <a:t> </a:t>
            </a:r>
            <a:r>
              <a:rPr spc="-10" dirty="0"/>
              <a:t>applications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7743" y="913955"/>
            <a:ext cx="4483735" cy="457834"/>
            <a:chOff x="87743" y="913955"/>
            <a:chExt cx="4483735" cy="457834"/>
          </a:xfrm>
        </p:grpSpPr>
        <p:sp>
          <p:nvSpPr>
            <p:cNvPr id="4" name="object 4"/>
            <p:cNvSpPr/>
            <p:nvPr/>
          </p:nvSpPr>
          <p:spPr>
            <a:xfrm>
              <a:off x="87743" y="913955"/>
              <a:ext cx="4432935" cy="186055"/>
            </a:xfrm>
            <a:custGeom>
              <a:avLst/>
              <a:gdLst/>
              <a:ahLst/>
              <a:cxnLst/>
              <a:rect l="l" t="t" r="r" b="b"/>
              <a:pathLst>
                <a:path w="4432935" h="186055">
                  <a:moveTo>
                    <a:pt x="4381754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5674"/>
                  </a:lnTo>
                  <a:lnTo>
                    <a:pt x="4432554" y="185674"/>
                  </a:lnTo>
                  <a:lnTo>
                    <a:pt x="4432554" y="50800"/>
                  </a:lnTo>
                  <a:lnTo>
                    <a:pt x="4428545" y="31075"/>
                  </a:lnTo>
                  <a:lnTo>
                    <a:pt x="4417631" y="14922"/>
                  </a:lnTo>
                  <a:lnTo>
                    <a:pt x="4401478" y="4008"/>
                  </a:lnTo>
                  <a:lnTo>
                    <a:pt x="4381754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744" y="1086967"/>
              <a:ext cx="4432554" cy="5060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8544" y="1269631"/>
              <a:ext cx="101599" cy="1016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9344" y="1256931"/>
              <a:ext cx="4381754" cy="1143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20298" y="958189"/>
              <a:ext cx="50800" cy="311442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87743" y="1131201"/>
              <a:ext cx="4432935" cy="189230"/>
            </a:xfrm>
            <a:custGeom>
              <a:avLst/>
              <a:gdLst/>
              <a:ahLst/>
              <a:cxnLst/>
              <a:rect l="l" t="t" r="r" b="b"/>
              <a:pathLst>
                <a:path w="4432935" h="189230">
                  <a:moveTo>
                    <a:pt x="4432554" y="0"/>
                  </a:moveTo>
                  <a:lnTo>
                    <a:pt x="0" y="0"/>
                  </a:lnTo>
                  <a:lnTo>
                    <a:pt x="0" y="138430"/>
                  </a:lnTo>
                  <a:lnTo>
                    <a:pt x="4008" y="158154"/>
                  </a:lnTo>
                  <a:lnTo>
                    <a:pt x="14922" y="174307"/>
                  </a:lnTo>
                  <a:lnTo>
                    <a:pt x="31075" y="185221"/>
                  </a:lnTo>
                  <a:lnTo>
                    <a:pt x="50800" y="189230"/>
                  </a:lnTo>
                  <a:lnTo>
                    <a:pt x="4381754" y="189230"/>
                  </a:lnTo>
                  <a:lnTo>
                    <a:pt x="4401478" y="185221"/>
                  </a:lnTo>
                  <a:lnTo>
                    <a:pt x="4417631" y="174307"/>
                  </a:lnTo>
                  <a:lnTo>
                    <a:pt x="4428545" y="158154"/>
                  </a:lnTo>
                  <a:lnTo>
                    <a:pt x="4432554" y="138430"/>
                  </a:lnTo>
                  <a:lnTo>
                    <a:pt x="4432554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520310" y="996327"/>
              <a:ext cx="0" cy="292735"/>
            </a:xfrm>
            <a:custGeom>
              <a:avLst/>
              <a:gdLst/>
              <a:ahLst/>
              <a:cxnLst/>
              <a:rect l="l" t="t" r="r" b="b"/>
              <a:pathLst>
                <a:path h="292734">
                  <a:moveTo>
                    <a:pt x="0" y="292354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520310" y="983576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520310" y="970876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520310" y="958176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125729" y="839308"/>
            <a:ext cx="3070225" cy="447040"/>
          </a:xfrm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sz="1100" i="1" spc="-50" dirty="0">
                <a:solidFill>
                  <a:srgbClr val="3232B2"/>
                </a:solidFill>
                <a:latin typeface="Cambria"/>
                <a:cs typeface="Cambria"/>
              </a:rPr>
              <a:t>Text-</a:t>
            </a:r>
            <a:r>
              <a:rPr sz="1100" i="1" spc="-25" dirty="0">
                <a:solidFill>
                  <a:srgbClr val="3232B2"/>
                </a:solidFill>
                <a:latin typeface="Cambria"/>
                <a:cs typeface="Cambria"/>
              </a:rPr>
              <a:t>to-</a:t>
            </a:r>
            <a:r>
              <a:rPr sz="1100" i="1" spc="-10" dirty="0">
                <a:solidFill>
                  <a:srgbClr val="3232B2"/>
                </a:solidFill>
                <a:latin typeface="Cambria"/>
                <a:cs typeface="Cambria"/>
              </a:rPr>
              <a:t>Speech</a:t>
            </a:r>
            <a:endParaRPr sz="11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425"/>
              </a:spcBef>
            </a:pPr>
            <a:r>
              <a:rPr sz="950" spc="70" dirty="0">
                <a:latin typeface="Trebuchet MS"/>
                <a:cs typeface="Trebuchet MS"/>
              </a:rPr>
              <a:t>Same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orthographic </a:t>
            </a:r>
            <a:r>
              <a:rPr sz="950" spc="-10" dirty="0">
                <a:latin typeface="Trebuchet MS"/>
                <a:cs typeface="Trebuchet MS"/>
              </a:rPr>
              <a:t>form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but</a:t>
            </a:r>
            <a:r>
              <a:rPr sz="950" dirty="0">
                <a:latin typeface="Trebuchet MS"/>
                <a:cs typeface="Trebuchet MS"/>
              </a:rPr>
              <a:t> </a:t>
            </a:r>
            <a:r>
              <a:rPr sz="950" spc="-35" dirty="0">
                <a:latin typeface="Trebuchet MS"/>
                <a:cs typeface="Trebuchet MS"/>
              </a:rPr>
              <a:t>different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phonological </a:t>
            </a:r>
            <a:r>
              <a:rPr sz="950" spc="-20" dirty="0">
                <a:latin typeface="Trebuchet MS"/>
                <a:cs typeface="Trebuchet MS"/>
              </a:rPr>
              <a:t>form</a:t>
            </a:r>
            <a:endParaRPr sz="950">
              <a:latin typeface="Trebuchet MS"/>
              <a:cs typeface="Trebuchet MS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646170" y="3339672"/>
            <a:ext cx="56388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8,</a:t>
            </a:r>
            <a:r>
              <a:rPr sz="600" i="1" spc="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1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355385" y="3339672"/>
            <a:ext cx="19875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7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10" dirty="0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</a:rPr>
              <a:t>18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2D19A831-91C5-4CBC-A554-6FEAD5E3E840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4292024" y="3339672"/>
            <a:ext cx="262254" cy="116204"/>
          </a:xfrm>
          <a:prstGeom prst="rect">
            <a:avLst/>
          </a:prstGeom>
        </p:spPr>
        <p:txBody>
          <a:bodyPr/>
          <a:lstStyle/>
          <a:p>
            <a:pPr marL="75565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lang="en-IN" smtClean="0"/>
              <a:t>12</a:t>
            </a:fld>
            <a:r>
              <a:rPr lang="en-IN" spc="-5"/>
              <a:t> </a:t>
            </a:r>
            <a:r>
              <a:rPr lang="en-IN" spc="-110"/>
              <a:t>/</a:t>
            </a:r>
            <a:r>
              <a:rPr lang="en-IN" spc="15"/>
              <a:t> </a:t>
            </a:r>
            <a:r>
              <a:rPr lang="en-IN" spc="-25"/>
              <a:t>18</a:t>
            </a:r>
            <a:endParaRPr lang="en-IN" spc="-25" dirty="0"/>
          </a:p>
        </p:txBody>
      </p:sp>
    </p:spTree>
  </p:cSld>
  <p:clrMapOvr>
    <a:masterClrMapping/>
  </p:clrMapOvr>
  <p:transition>
    <p:cut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Problems</a:t>
            </a:r>
            <a:r>
              <a:rPr spc="30" dirty="0"/>
              <a:t> </a:t>
            </a:r>
            <a:r>
              <a:rPr dirty="0"/>
              <a:t>for</a:t>
            </a:r>
            <a:r>
              <a:rPr spc="35" dirty="0"/>
              <a:t> </a:t>
            </a:r>
            <a:r>
              <a:rPr spc="55" dirty="0"/>
              <a:t>NLP</a:t>
            </a:r>
            <a:r>
              <a:rPr spc="30" dirty="0"/>
              <a:t> </a:t>
            </a:r>
            <a:r>
              <a:rPr spc="-10" dirty="0"/>
              <a:t>applications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7743" y="913955"/>
            <a:ext cx="4483735" cy="457834"/>
            <a:chOff x="87743" y="913955"/>
            <a:chExt cx="4483735" cy="457834"/>
          </a:xfrm>
        </p:grpSpPr>
        <p:sp>
          <p:nvSpPr>
            <p:cNvPr id="4" name="object 4"/>
            <p:cNvSpPr/>
            <p:nvPr/>
          </p:nvSpPr>
          <p:spPr>
            <a:xfrm>
              <a:off x="87743" y="913955"/>
              <a:ext cx="4432935" cy="186055"/>
            </a:xfrm>
            <a:custGeom>
              <a:avLst/>
              <a:gdLst/>
              <a:ahLst/>
              <a:cxnLst/>
              <a:rect l="l" t="t" r="r" b="b"/>
              <a:pathLst>
                <a:path w="4432935" h="186055">
                  <a:moveTo>
                    <a:pt x="4381754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5674"/>
                  </a:lnTo>
                  <a:lnTo>
                    <a:pt x="4432554" y="185674"/>
                  </a:lnTo>
                  <a:lnTo>
                    <a:pt x="4432554" y="50800"/>
                  </a:lnTo>
                  <a:lnTo>
                    <a:pt x="4428545" y="31075"/>
                  </a:lnTo>
                  <a:lnTo>
                    <a:pt x="4417631" y="14922"/>
                  </a:lnTo>
                  <a:lnTo>
                    <a:pt x="4401478" y="4008"/>
                  </a:lnTo>
                  <a:lnTo>
                    <a:pt x="4381754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744" y="1086967"/>
              <a:ext cx="4432554" cy="5060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8544" y="1269631"/>
              <a:ext cx="101599" cy="1016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9344" y="1256931"/>
              <a:ext cx="4381754" cy="1143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20298" y="958189"/>
              <a:ext cx="50800" cy="311442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87743" y="1131201"/>
              <a:ext cx="4432935" cy="189230"/>
            </a:xfrm>
            <a:custGeom>
              <a:avLst/>
              <a:gdLst/>
              <a:ahLst/>
              <a:cxnLst/>
              <a:rect l="l" t="t" r="r" b="b"/>
              <a:pathLst>
                <a:path w="4432935" h="189230">
                  <a:moveTo>
                    <a:pt x="4432554" y="0"/>
                  </a:moveTo>
                  <a:lnTo>
                    <a:pt x="0" y="0"/>
                  </a:lnTo>
                  <a:lnTo>
                    <a:pt x="0" y="138430"/>
                  </a:lnTo>
                  <a:lnTo>
                    <a:pt x="4008" y="158154"/>
                  </a:lnTo>
                  <a:lnTo>
                    <a:pt x="14922" y="174307"/>
                  </a:lnTo>
                  <a:lnTo>
                    <a:pt x="31075" y="185221"/>
                  </a:lnTo>
                  <a:lnTo>
                    <a:pt x="50800" y="189230"/>
                  </a:lnTo>
                  <a:lnTo>
                    <a:pt x="4381754" y="189230"/>
                  </a:lnTo>
                  <a:lnTo>
                    <a:pt x="4401478" y="185221"/>
                  </a:lnTo>
                  <a:lnTo>
                    <a:pt x="4417631" y="174307"/>
                  </a:lnTo>
                  <a:lnTo>
                    <a:pt x="4428545" y="158154"/>
                  </a:lnTo>
                  <a:lnTo>
                    <a:pt x="4432554" y="138430"/>
                  </a:lnTo>
                  <a:lnTo>
                    <a:pt x="4432554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520310" y="996327"/>
              <a:ext cx="0" cy="292735"/>
            </a:xfrm>
            <a:custGeom>
              <a:avLst/>
              <a:gdLst/>
              <a:ahLst/>
              <a:cxnLst/>
              <a:rect l="l" t="t" r="r" b="b"/>
              <a:pathLst>
                <a:path h="292734">
                  <a:moveTo>
                    <a:pt x="0" y="292354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520310" y="983576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520310" y="970876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520310" y="958176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4" name="object 14"/>
          <p:cNvGrpSpPr/>
          <p:nvPr/>
        </p:nvGrpSpPr>
        <p:grpSpPr>
          <a:xfrm>
            <a:off x="87743" y="1472361"/>
            <a:ext cx="4483735" cy="457834"/>
            <a:chOff x="87743" y="1472361"/>
            <a:chExt cx="4483735" cy="457834"/>
          </a:xfrm>
        </p:grpSpPr>
        <p:sp>
          <p:nvSpPr>
            <p:cNvPr id="15" name="object 15"/>
            <p:cNvSpPr/>
            <p:nvPr/>
          </p:nvSpPr>
          <p:spPr>
            <a:xfrm>
              <a:off x="87743" y="1472361"/>
              <a:ext cx="4432935" cy="186055"/>
            </a:xfrm>
            <a:custGeom>
              <a:avLst/>
              <a:gdLst/>
              <a:ahLst/>
              <a:cxnLst/>
              <a:rect l="l" t="t" r="r" b="b"/>
              <a:pathLst>
                <a:path w="4432935" h="186055">
                  <a:moveTo>
                    <a:pt x="4381754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5674"/>
                  </a:lnTo>
                  <a:lnTo>
                    <a:pt x="4432554" y="185674"/>
                  </a:lnTo>
                  <a:lnTo>
                    <a:pt x="4432554" y="50800"/>
                  </a:lnTo>
                  <a:lnTo>
                    <a:pt x="4428545" y="31075"/>
                  </a:lnTo>
                  <a:lnTo>
                    <a:pt x="4417631" y="14922"/>
                  </a:lnTo>
                  <a:lnTo>
                    <a:pt x="4401478" y="4008"/>
                  </a:lnTo>
                  <a:lnTo>
                    <a:pt x="4381754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744" y="1645373"/>
              <a:ext cx="4432554" cy="50609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38544" y="1828050"/>
              <a:ext cx="101599" cy="101600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89344" y="1815350"/>
              <a:ext cx="4381754" cy="114300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520298" y="1516595"/>
              <a:ext cx="50800" cy="311454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87743" y="1689620"/>
              <a:ext cx="4432935" cy="189230"/>
            </a:xfrm>
            <a:custGeom>
              <a:avLst/>
              <a:gdLst/>
              <a:ahLst/>
              <a:cxnLst/>
              <a:rect l="l" t="t" r="r" b="b"/>
              <a:pathLst>
                <a:path w="4432935" h="189230">
                  <a:moveTo>
                    <a:pt x="4432554" y="0"/>
                  </a:moveTo>
                  <a:lnTo>
                    <a:pt x="0" y="0"/>
                  </a:lnTo>
                  <a:lnTo>
                    <a:pt x="0" y="138430"/>
                  </a:lnTo>
                  <a:lnTo>
                    <a:pt x="4008" y="158154"/>
                  </a:lnTo>
                  <a:lnTo>
                    <a:pt x="14922" y="174307"/>
                  </a:lnTo>
                  <a:lnTo>
                    <a:pt x="31075" y="185221"/>
                  </a:lnTo>
                  <a:lnTo>
                    <a:pt x="50800" y="189230"/>
                  </a:lnTo>
                  <a:lnTo>
                    <a:pt x="4381754" y="189230"/>
                  </a:lnTo>
                  <a:lnTo>
                    <a:pt x="4401478" y="185221"/>
                  </a:lnTo>
                  <a:lnTo>
                    <a:pt x="4417631" y="174307"/>
                  </a:lnTo>
                  <a:lnTo>
                    <a:pt x="4428545" y="158154"/>
                  </a:lnTo>
                  <a:lnTo>
                    <a:pt x="4432554" y="138430"/>
                  </a:lnTo>
                  <a:lnTo>
                    <a:pt x="4432554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4520310" y="1554746"/>
              <a:ext cx="0" cy="292735"/>
            </a:xfrm>
            <a:custGeom>
              <a:avLst/>
              <a:gdLst/>
              <a:ahLst/>
              <a:cxnLst/>
              <a:rect l="l" t="t" r="r" b="b"/>
              <a:pathLst>
                <a:path h="292735">
                  <a:moveTo>
                    <a:pt x="0" y="292354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4520310" y="1541995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4520310" y="1529295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520310" y="1516595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125729" y="839308"/>
            <a:ext cx="3070225" cy="1005205"/>
          </a:xfrm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sz="1100" i="1" spc="-50" dirty="0">
                <a:solidFill>
                  <a:srgbClr val="3232B2"/>
                </a:solidFill>
                <a:latin typeface="Cambria"/>
                <a:cs typeface="Cambria"/>
              </a:rPr>
              <a:t>Text-</a:t>
            </a:r>
            <a:r>
              <a:rPr sz="1100" i="1" spc="-25" dirty="0">
                <a:solidFill>
                  <a:srgbClr val="3232B2"/>
                </a:solidFill>
                <a:latin typeface="Cambria"/>
                <a:cs typeface="Cambria"/>
              </a:rPr>
              <a:t>to-</a:t>
            </a:r>
            <a:r>
              <a:rPr sz="1100" i="1" spc="-10" dirty="0">
                <a:solidFill>
                  <a:srgbClr val="3232B2"/>
                </a:solidFill>
                <a:latin typeface="Cambria"/>
                <a:cs typeface="Cambria"/>
              </a:rPr>
              <a:t>Speech</a:t>
            </a:r>
            <a:endParaRPr sz="11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425"/>
              </a:spcBef>
            </a:pPr>
            <a:r>
              <a:rPr sz="950" spc="70" dirty="0">
                <a:latin typeface="Trebuchet MS"/>
                <a:cs typeface="Trebuchet MS"/>
              </a:rPr>
              <a:t>Same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orthographic </a:t>
            </a:r>
            <a:r>
              <a:rPr sz="950" spc="-10" dirty="0">
                <a:latin typeface="Trebuchet MS"/>
                <a:cs typeface="Trebuchet MS"/>
              </a:rPr>
              <a:t>form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but</a:t>
            </a:r>
            <a:r>
              <a:rPr sz="950" dirty="0">
                <a:latin typeface="Trebuchet MS"/>
                <a:cs typeface="Trebuchet MS"/>
              </a:rPr>
              <a:t> </a:t>
            </a:r>
            <a:r>
              <a:rPr sz="950" spc="-35" dirty="0">
                <a:latin typeface="Trebuchet MS"/>
                <a:cs typeface="Trebuchet MS"/>
              </a:rPr>
              <a:t>different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phonological </a:t>
            </a:r>
            <a:r>
              <a:rPr sz="950" spc="-20" dirty="0">
                <a:latin typeface="Trebuchet MS"/>
                <a:cs typeface="Trebuchet MS"/>
              </a:rPr>
              <a:t>form</a:t>
            </a:r>
            <a:endParaRPr sz="9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409"/>
              </a:spcBef>
            </a:pPr>
            <a:endParaRPr sz="9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100" i="1" spc="-35" dirty="0">
                <a:solidFill>
                  <a:srgbClr val="3232B2"/>
                </a:solidFill>
                <a:latin typeface="Cambria"/>
                <a:cs typeface="Cambria"/>
              </a:rPr>
              <a:t>Information</a:t>
            </a:r>
            <a:r>
              <a:rPr sz="1100" i="1" spc="25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100" i="1" spc="-10" dirty="0">
                <a:solidFill>
                  <a:srgbClr val="3232B2"/>
                </a:solidFill>
                <a:latin typeface="Cambria"/>
                <a:cs typeface="Cambria"/>
              </a:rPr>
              <a:t>Retrieval</a:t>
            </a:r>
            <a:endParaRPr sz="11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420"/>
              </a:spcBef>
            </a:pPr>
            <a:r>
              <a:rPr sz="950" spc="-25" dirty="0">
                <a:latin typeface="Trebuchet MS"/>
                <a:cs typeface="Trebuchet MS"/>
              </a:rPr>
              <a:t>Different</a:t>
            </a:r>
            <a:r>
              <a:rPr sz="950" spc="5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meaning</a:t>
            </a:r>
            <a:r>
              <a:rPr sz="950" spc="55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but</a:t>
            </a:r>
            <a:r>
              <a:rPr sz="950" spc="5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same</a:t>
            </a:r>
            <a:r>
              <a:rPr sz="950" spc="5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orthographic</a:t>
            </a:r>
            <a:r>
              <a:rPr sz="950" spc="55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form</a:t>
            </a:r>
            <a:endParaRPr sz="950">
              <a:latin typeface="Trebuchet MS"/>
              <a:cs typeface="Trebuchet MS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2016760" y="3339672"/>
            <a:ext cx="57467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9" action="ppaction://hlinksldjump"/>
              </a:rPr>
              <a:t>Lexical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  <a:hlinkClick r:id="rId9" action="ppaction://hlinksldjump"/>
              </a:rPr>
              <a:t>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  <a:hlinkClick r:id="rId9" action="ppaction://hlinksldjump"/>
              </a:rPr>
              <a:t>Semantics</a:t>
            </a:r>
            <a:endParaRPr sz="600" dirty="0">
              <a:latin typeface="Cambria"/>
              <a:cs typeface="Cambria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3646170" y="3339672"/>
            <a:ext cx="56388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8,</a:t>
            </a:r>
            <a:r>
              <a:rPr sz="600" i="1" spc="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1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4355385" y="3339672"/>
            <a:ext cx="19875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7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10" dirty="0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</a:rPr>
              <a:t>18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34" name="Slide Number Placeholder 33">
            <a:extLst>
              <a:ext uri="{FF2B5EF4-FFF2-40B4-BE49-F238E27FC236}">
                <a16:creationId xmlns:a16="http://schemas.microsoft.com/office/drawing/2014/main" id="{6DABC8F3-D7AB-40AC-930C-3C524AEFEA0E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4292024" y="3339672"/>
            <a:ext cx="262254" cy="116204"/>
          </a:xfrm>
          <a:prstGeom prst="rect">
            <a:avLst/>
          </a:prstGeom>
        </p:spPr>
        <p:txBody>
          <a:bodyPr/>
          <a:lstStyle/>
          <a:p>
            <a:pPr marL="75565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lang="en-IN" smtClean="0"/>
              <a:t>13</a:t>
            </a:fld>
            <a:r>
              <a:rPr lang="en-IN" spc="-5"/>
              <a:t> </a:t>
            </a:r>
            <a:r>
              <a:rPr lang="en-IN" spc="-110"/>
              <a:t>/</a:t>
            </a:r>
            <a:r>
              <a:rPr lang="en-IN" spc="15"/>
              <a:t> </a:t>
            </a:r>
            <a:r>
              <a:rPr lang="en-IN" spc="-25"/>
              <a:t>18</a:t>
            </a:r>
            <a:endParaRPr lang="en-IN" spc="-25" dirty="0"/>
          </a:p>
        </p:txBody>
      </p:sp>
    </p:spTree>
  </p:cSld>
  <p:clrMapOvr>
    <a:masterClrMapping/>
  </p:clrMapOvr>
  <p:transition>
    <p:cut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Problems</a:t>
            </a:r>
            <a:r>
              <a:rPr spc="30" dirty="0"/>
              <a:t> </a:t>
            </a:r>
            <a:r>
              <a:rPr dirty="0"/>
              <a:t>for</a:t>
            </a:r>
            <a:r>
              <a:rPr spc="35" dirty="0"/>
              <a:t> </a:t>
            </a:r>
            <a:r>
              <a:rPr spc="55" dirty="0"/>
              <a:t>NLP</a:t>
            </a:r>
            <a:r>
              <a:rPr spc="30" dirty="0"/>
              <a:t> </a:t>
            </a:r>
            <a:r>
              <a:rPr spc="-10" dirty="0"/>
              <a:t>applications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7743" y="913955"/>
            <a:ext cx="4483735" cy="457834"/>
            <a:chOff x="87743" y="913955"/>
            <a:chExt cx="4483735" cy="457834"/>
          </a:xfrm>
        </p:grpSpPr>
        <p:sp>
          <p:nvSpPr>
            <p:cNvPr id="4" name="object 4"/>
            <p:cNvSpPr/>
            <p:nvPr/>
          </p:nvSpPr>
          <p:spPr>
            <a:xfrm>
              <a:off x="87743" y="913955"/>
              <a:ext cx="4432935" cy="186055"/>
            </a:xfrm>
            <a:custGeom>
              <a:avLst/>
              <a:gdLst/>
              <a:ahLst/>
              <a:cxnLst/>
              <a:rect l="l" t="t" r="r" b="b"/>
              <a:pathLst>
                <a:path w="4432935" h="186055">
                  <a:moveTo>
                    <a:pt x="4381754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5674"/>
                  </a:lnTo>
                  <a:lnTo>
                    <a:pt x="4432554" y="185674"/>
                  </a:lnTo>
                  <a:lnTo>
                    <a:pt x="4432554" y="50800"/>
                  </a:lnTo>
                  <a:lnTo>
                    <a:pt x="4428545" y="31075"/>
                  </a:lnTo>
                  <a:lnTo>
                    <a:pt x="4417631" y="14922"/>
                  </a:lnTo>
                  <a:lnTo>
                    <a:pt x="4401478" y="4008"/>
                  </a:lnTo>
                  <a:lnTo>
                    <a:pt x="4381754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744" y="1086967"/>
              <a:ext cx="4432554" cy="5060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8544" y="1269631"/>
              <a:ext cx="101599" cy="1016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9344" y="1256931"/>
              <a:ext cx="4381754" cy="1143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20298" y="958189"/>
              <a:ext cx="50800" cy="311442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87743" y="1131201"/>
              <a:ext cx="4432935" cy="189230"/>
            </a:xfrm>
            <a:custGeom>
              <a:avLst/>
              <a:gdLst/>
              <a:ahLst/>
              <a:cxnLst/>
              <a:rect l="l" t="t" r="r" b="b"/>
              <a:pathLst>
                <a:path w="4432935" h="189230">
                  <a:moveTo>
                    <a:pt x="4432554" y="0"/>
                  </a:moveTo>
                  <a:lnTo>
                    <a:pt x="0" y="0"/>
                  </a:lnTo>
                  <a:lnTo>
                    <a:pt x="0" y="138430"/>
                  </a:lnTo>
                  <a:lnTo>
                    <a:pt x="4008" y="158154"/>
                  </a:lnTo>
                  <a:lnTo>
                    <a:pt x="14922" y="174307"/>
                  </a:lnTo>
                  <a:lnTo>
                    <a:pt x="31075" y="185221"/>
                  </a:lnTo>
                  <a:lnTo>
                    <a:pt x="50800" y="189230"/>
                  </a:lnTo>
                  <a:lnTo>
                    <a:pt x="4381754" y="189230"/>
                  </a:lnTo>
                  <a:lnTo>
                    <a:pt x="4401478" y="185221"/>
                  </a:lnTo>
                  <a:lnTo>
                    <a:pt x="4417631" y="174307"/>
                  </a:lnTo>
                  <a:lnTo>
                    <a:pt x="4428545" y="158154"/>
                  </a:lnTo>
                  <a:lnTo>
                    <a:pt x="4432554" y="138430"/>
                  </a:lnTo>
                  <a:lnTo>
                    <a:pt x="4432554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520310" y="996327"/>
              <a:ext cx="0" cy="292735"/>
            </a:xfrm>
            <a:custGeom>
              <a:avLst/>
              <a:gdLst/>
              <a:ahLst/>
              <a:cxnLst/>
              <a:rect l="l" t="t" r="r" b="b"/>
              <a:pathLst>
                <a:path h="292734">
                  <a:moveTo>
                    <a:pt x="0" y="292354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520310" y="983576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520310" y="970876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520310" y="958176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4" name="object 14"/>
          <p:cNvGrpSpPr/>
          <p:nvPr/>
        </p:nvGrpSpPr>
        <p:grpSpPr>
          <a:xfrm>
            <a:off x="87743" y="1472361"/>
            <a:ext cx="4483735" cy="457834"/>
            <a:chOff x="87743" y="1472361"/>
            <a:chExt cx="4483735" cy="457834"/>
          </a:xfrm>
        </p:grpSpPr>
        <p:sp>
          <p:nvSpPr>
            <p:cNvPr id="15" name="object 15"/>
            <p:cNvSpPr/>
            <p:nvPr/>
          </p:nvSpPr>
          <p:spPr>
            <a:xfrm>
              <a:off x="87743" y="1472361"/>
              <a:ext cx="4432935" cy="186055"/>
            </a:xfrm>
            <a:custGeom>
              <a:avLst/>
              <a:gdLst/>
              <a:ahLst/>
              <a:cxnLst/>
              <a:rect l="l" t="t" r="r" b="b"/>
              <a:pathLst>
                <a:path w="4432935" h="186055">
                  <a:moveTo>
                    <a:pt x="4381754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5674"/>
                  </a:lnTo>
                  <a:lnTo>
                    <a:pt x="4432554" y="185674"/>
                  </a:lnTo>
                  <a:lnTo>
                    <a:pt x="4432554" y="50800"/>
                  </a:lnTo>
                  <a:lnTo>
                    <a:pt x="4428545" y="31075"/>
                  </a:lnTo>
                  <a:lnTo>
                    <a:pt x="4417631" y="14922"/>
                  </a:lnTo>
                  <a:lnTo>
                    <a:pt x="4401478" y="4008"/>
                  </a:lnTo>
                  <a:lnTo>
                    <a:pt x="4381754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744" y="1645373"/>
              <a:ext cx="4432554" cy="50609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38544" y="1828050"/>
              <a:ext cx="101599" cy="101600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89344" y="1815350"/>
              <a:ext cx="4381754" cy="114300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520298" y="1516595"/>
              <a:ext cx="50800" cy="311454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87743" y="1689620"/>
              <a:ext cx="4432935" cy="189230"/>
            </a:xfrm>
            <a:custGeom>
              <a:avLst/>
              <a:gdLst/>
              <a:ahLst/>
              <a:cxnLst/>
              <a:rect l="l" t="t" r="r" b="b"/>
              <a:pathLst>
                <a:path w="4432935" h="189230">
                  <a:moveTo>
                    <a:pt x="4432554" y="0"/>
                  </a:moveTo>
                  <a:lnTo>
                    <a:pt x="0" y="0"/>
                  </a:lnTo>
                  <a:lnTo>
                    <a:pt x="0" y="138430"/>
                  </a:lnTo>
                  <a:lnTo>
                    <a:pt x="4008" y="158154"/>
                  </a:lnTo>
                  <a:lnTo>
                    <a:pt x="14922" y="174307"/>
                  </a:lnTo>
                  <a:lnTo>
                    <a:pt x="31075" y="185221"/>
                  </a:lnTo>
                  <a:lnTo>
                    <a:pt x="50800" y="189230"/>
                  </a:lnTo>
                  <a:lnTo>
                    <a:pt x="4381754" y="189230"/>
                  </a:lnTo>
                  <a:lnTo>
                    <a:pt x="4401478" y="185221"/>
                  </a:lnTo>
                  <a:lnTo>
                    <a:pt x="4417631" y="174307"/>
                  </a:lnTo>
                  <a:lnTo>
                    <a:pt x="4428545" y="158154"/>
                  </a:lnTo>
                  <a:lnTo>
                    <a:pt x="4432554" y="138430"/>
                  </a:lnTo>
                  <a:lnTo>
                    <a:pt x="4432554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4520310" y="1554746"/>
              <a:ext cx="0" cy="292735"/>
            </a:xfrm>
            <a:custGeom>
              <a:avLst/>
              <a:gdLst/>
              <a:ahLst/>
              <a:cxnLst/>
              <a:rect l="l" t="t" r="r" b="b"/>
              <a:pathLst>
                <a:path h="292735">
                  <a:moveTo>
                    <a:pt x="0" y="292354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4520310" y="1541995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4520310" y="1529295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520310" y="1516595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5" name="object 25"/>
          <p:cNvGrpSpPr/>
          <p:nvPr/>
        </p:nvGrpSpPr>
        <p:grpSpPr>
          <a:xfrm>
            <a:off x="87743" y="2030768"/>
            <a:ext cx="4483735" cy="621030"/>
            <a:chOff x="87743" y="2030768"/>
            <a:chExt cx="4483735" cy="621030"/>
          </a:xfrm>
        </p:grpSpPr>
        <p:sp>
          <p:nvSpPr>
            <p:cNvPr id="26" name="object 26"/>
            <p:cNvSpPr/>
            <p:nvPr/>
          </p:nvSpPr>
          <p:spPr>
            <a:xfrm>
              <a:off x="87743" y="2030768"/>
              <a:ext cx="4432935" cy="186055"/>
            </a:xfrm>
            <a:custGeom>
              <a:avLst/>
              <a:gdLst/>
              <a:ahLst/>
              <a:cxnLst/>
              <a:rect l="l" t="t" r="r" b="b"/>
              <a:pathLst>
                <a:path w="4432935" h="186055">
                  <a:moveTo>
                    <a:pt x="4381754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5674"/>
                  </a:lnTo>
                  <a:lnTo>
                    <a:pt x="4432554" y="185674"/>
                  </a:lnTo>
                  <a:lnTo>
                    <a:pt x="4432554" y="50800"/>
                  </a:lnTo>
                  <a:lnTo>
                    <a:pt x="4428545" y="31075"/>
                  </a:lnTo>
                  <a:lnTo>
                    <a:pt x="4417631" y="14922"/>
                  </a:lnTo>
                  <a:lnTo>
                    <a:pt x="4401478" y="4008"/>
                  </a:lnTo>
                  <a:lnTo>
                    <a:pt x="4381754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" name="object 2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7744" y="2203792"/>
              <a:ext cx="4432554" cy="50609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38544" y="2549931"/>
              <a:ext cx="101599" cy="101599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89344" y="2537231"/>
              <a:ext cx="4381754" cy="114300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520298" y="2075014"/>
              <a:ext cx="50800" cy="474916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87743" y="2248052"/>
              <a:ext cx="4432935" cy="353060"/>
            </a:xfrm>
            <a:custGeom>
              <a:avLst/>
              <a:gdLst/>
              <a:ahLst/>
              <a:cxnLst/>
              <a:rect l="l" t="t" r="r" b="b"/>
              <a:pathLst>
                <a:path w="4432935" h="353060">
                  <a:moveTo>
                    <a:pt x="4432554" y="0"/>
                  </a:moveTo>
                  <a:lnTo>
                    <a:pt x="0" y="0"/>
                  </a:lnTo>
                  <a:lnTo>
                    <a:pt x="0" y="301878"/>
                  </a:lnTo>
                  <a:lnTo>
                    <a:pt x="4008" y="321603"/>
                  </a:lnTo>
                  <a:lnTo>
                    <a:pt x="14922" y="337756"/>
                  </a:lnTo>
                  <a:lnTo>
                    <a:pt x="31075" y="348670"/>
                  </a:lnTo>
                  <a:lnTo>
                    <a:pt x="50800" y="352678"/>
                  </a:lnTo>
                  <a:lnTo>
                    <a:pt x="4381754" y="352678"/>
                  </a:lnTo>
                  <a:lnTo>
                    <a:pt x="4401478" y="348670"/>
                  </a:lnTo>
                  <a:lnTo>
                    <a:pt x="4417631" y="337756"/>
                  </a:lnTo>
                  <a:lnTo>
                    <a:pt x="4428545" y="321603"/>
                  </a:lnTo>
                  <a:lnTo>
                    <a:pt x="4432554" y="301878"/>
                  </a:lnTo>
                  <a:lnTo>
                    <a:pt x="4432554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4520309" y="2113051"/>
              <a:ext cx="0" cy="455930"/>
            </a:xfrm>
            <a:custGeom>
              <a:avLst/>
              <a:gdLst/>
              <a:ahLst/>
              <a:cxnLst/>
              <a:rect l="l" t="t" r="r" b="b"/>
              <a:pathLst>
                <a:path h="455930">
                  <a:moveTo>
                    <a:pt x="0" y="45593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4520309" y="2100408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4520309" y="2087708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4520309" y="2075008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object 36"/>
          <p:cNvSpPr txBox="1"/>
          <p:nvPr/>
        </p:nvSpPr>
        <p:spPr>
          <a:xfrm>
            <a:off x="125729" y="839308"/>
            <a:ext cx="3070225" cy="1729105"/>
          </a:xfrm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sz="1100" i="1" spc="-50" dirty="0">
                <a:solidFill>
                  <a:srgbClr val="3232B2"/>
                </a:solidFill>
                <a:latin typeface="Cambria"/>
                <a:cs typeface="Cambria"/>
              </a:rPr>
              <a:t>Text-</a:t>
            </a:r>
            <a:r>
              <a:rPr sz="1100" i="1" spc="-25" dirty="0">
                <a:solidFill>
                  <a:srgbClr val="3232B2"/>
                </a:solidFill>
                <a:latin typeface="Cambria"/>
                <a:cs typeface="Cambria"/>
              </a:rPr>
              <a:t>to-</a:t>
            </a:r>
            <a:r>
              <a:rPr sz="1100" i="1" spc="-10" dirty="0">
                <a:solidFill>
                  <a:srgbClr val="3232B2"/>
                </a:solidFill>
                <a:latin typeface="Cambria"/>
                <a:cs typeface="Cambria"/>
              </a:rPr>
              <a:t>Speech</a:t>
            </a:r>
            <a:endParaRPr sz="11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425"/>
              </a:spcBef>
            </a:pPr>
            <a:r>
              <a:rPr sz="950" spc="70" dirty="0">
                <a:latin typeface="Trebuchet MS"/>
                <a:cs typeface="Trebuchet MS"/>
              </a:rPr>
              <a:t>Same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orthographic </a:t>
            </a:r>
            <a:r>
              <a:rPr sz="950" spc="-10" dirty="0">
                <a:latin typeface="Trebuchet MS"/>
                <a:cs typeface="Trebuchet MS"/>
              </a:rPr>
              <a:t>form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but</a:t>
            </a:r>
            <a:r>
              <a:rPr sz="950" dirty="0">
                <a:latin typeface="Trebuchet MS"/>
                <a:cs typeface="Trebuchet MS"/>
              </a:rPr>
              <a:t> </a:t>
            </a:r>
            <a:r>
              <a:rPr sz="950" spc="-35" dirty="0">
                <a:latin typeface="Trebuchet MS"/>
                <a:cs typeface="Trebuchet MS"/>
              </a:rPr>
              <a:t>different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phonological </a:t>
            </a:r>
            <a:r>
              <a:rPr sz="950" spc="-20" dirty="0">
                <a:latin typeface="Trebuchet MS"/>
                <a:cs typeface="Trebuchet MS"/>
              </a:rPr>
              <a:t>form</a:t>
            </a:r>
            <a:endParaRPr sz="9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409"/>
              </a:spcBef>
            </a:pPr>
            <a:endParaRPr sz="9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100" i="1" spc="-35" dirty="0">
                <a:solidFill>
                  <a:srgbClr val="3232B2"/>
                </a:solidFill>
                <a:latin typeface="Cambria"/>
                <a:cs typeface="Cambria"/>
              </a:rPr>
              <a:t>Information</a:t>
            </a:r>
            <a:r>
              <a:rPr sz="1100" i="1" spc="25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100" i="1" spc="-10" dirty="0">
                <a:solidFill>
                  <a:srgbClr val="3232B2"/>
                </a:solidFill>
                <a:latin typeface="Cambria"/>
                <a:cs typeface="Cambria"/>
              </a:rPr>
              <a:t>Retrieval</a:t>
            </a:r>
            <a:endParaRPr sz="11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420"/>
              </a:spcBef>
            </a:pPr>
            <a:r>
              <a:rPr sz="950" spc="-25" dirty="0">
                <a:latin typeface="Trebuchet MS"/>
                <a:cs typeface="Trebuchet MS"/>
              </a:rPr>
              <a:t>Different</a:t>
            </a:r>
            <a:r>
              <a:rPr sz="950" spc="5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meaning</a:t>
            </a:r>
            <a:r>
              <a:rPr sz="950" spc="55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but</a:t>
            </a:r>
            <a:r>
              <a:rPr sz="950" spc="5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same</a:t>
            </a:r>
            <a:r>
              <a:rPr sz="950" spc="5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orthographic</a:t>
            </a:r>
            <a:r>
              <a:rPr sz="950" spc="55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form</a:t>
            </a:r>
            <a:endParaRPr sz="9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415"/>
              </a:spcBef>
            </a:pPr>
            <a:endParaRPr sz="9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100" i="1" spc="-10" dirty="0">
                <a:solidFill>
                  <a:srgbClr val="3232B2"/>
                </a:solidFill>
                <a:latin typeface="Cambria"/>
                <a:cs typeface="Cambria"/>
              </a:rPr>
              <a:t>Speech</a:t>
            </a:r>
            <a:r>
              <a:rPr sz="1100" i="1" spc="-30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100" i="1" spc="-10" dirty="0">
                <a:solidFill>
                  <a:srgbClr val="3232B2"/>
                </a:solidFill>
                <a:latin typeface="Cambria"/>
                <a:cs typeface="Cambria"/>
              </a:rPr>
              <a:t>Recognition</a:t>
            </a:r>
            <a:endParaRPr sz="11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365"/>
              </a:spcBef>
            </a:pPr>
            <a:r>
              <a:rPr sz="950" spc="-65" dirty="0">
                <a:latin typeface="Trebuchet MS"/>
                <a:cs typeface="Trebuchet MS"/>
              </a:rPr>
              <a:t>to,</a:t>
            </a:r>
            <a:r>
              <a:rPr sz="950" spc="-20" dirty="0">
                <a:latin typeface="Trebuchet MS"/>
                <a:cs typeface="Trebuchet MS"/>
              </a:rPr>
              <a:t> </a:t>
            </a:r>
            <a:r>
              <a:rPr sz="950" spc="-55" dirty="0">
                <a:latin typeface="Trebuchet MS"/>
                <a:cs typeface="Trebuchet MS"/>
              </a:rPr>
              <a:t>two,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spc="-25" dirty="0">
                <a:latin typeface="Trebuchet MS"/>
                <a:cs typeface="Trebuchet MS"/>
              </a:rPr>
              <a:t>too</a:t>
            </a:r>
            <a:endParaRPr sz="9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215"/>
              </a:spcBef>
            </a:pPr>
            <a:r>
              <a:rPr sz="950" i="1" spc="-20" dirty="0">
                <a:latin typeface="Trebuchet MS"/>
                <a:cs typeface="Trebuchet MS"/>
              </a:rPr>
              <a:t>Perfect</a:t>
            </a:r>
            <a:r>
              <a:rPr sz="950" i="1" spc="65" dirty="0">
                <a:latin typeface="Trebuchet MS"/>
                <a:cs typeface="Trebuchet MS"/>
              </a:rPr>
              <a:t> </a:t>
            </a:r>
            <a:r>
              <a:rPr sz="950" i="1" dirty="0">
                <a:latin typeface="Trebuchet MS"/>
                <a:cs typeface="Trebuchet MS"/>
              </a:rPr>
              <a:t>homonyms</a:t>
            </a:r>
            <a:r>
              <a:rPr sz="950" i="1" spc="70" dirty="0">
                <a:latin typeface="Trebuchet MS"/>
                <a:cs typeface="Trebuchet MS"/>
              </a:rPr>
              <a:t> </a:t>
            </a:r>
            <a:r>
              <a:rPr sz="950" i="1" dirty="0">
                <a:latin typeface="Trebuchet MS"/>
                <a:cs typeface="Trebuchet MS"/>
              </a:rPr>
              <a:t>are</a:t>
            </a:r>
            <a:r>
              <a:rPr sz="950" i="1" spc="70" dirty="0">
                <a:latin typeface="Trebuchet MS"/>
                <a:cs typeface="Trebuchet MS"/>
              </a:rPr>
              <a:t> </a:t>
            </a:r>
            <a:r>
              <a:rPr sz="950" i="1" dirty="0">
                <a:latin typeface="Trebuchet MS"/>
                <a:cs typeface="Trebuchet MS"/>
              </a:rPr>
              <a:t>also</a:t>
            </a:r>
            <a:r>
              <a:rPr sz="950" i="1" spc="65" dirty="0">
                <a:latin typeface="Trebuchet MS"/>
                <a:cs typeface="Trebuchet MS"/>
              </a:rPr>
              <a:t> </a:t>
            </a:r>
            <a:r>
              <a:rPr sz="950" i="1" spc="-10" dirty="0">
                <a:latin typeface="Trebuchet MS"/>
                <a:cs typeface="Trebuchet MS"/>
              </a:rPr>
              <a:t>problematic</a:t>
            </a:r>
            <a:endParaRPr sz="950">
              <a:latin typeface="Trebuchet MS"/>
              <a:cs typeface="Trebuchet MS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2016760" y="3339672"/>
            <a:ext cx="57467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13" action="ppaction://hlinksldjump"/>
              </a:rPr>
              <a:t>Lexical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  <a:hlinkClick r:id="rId13" action="ppaction://hlinksldjump"/>
              </a:rPr>
              <a:t>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  <a:hlinkClick r:id="rId13" action="ppaction://hlinksldjump"/>
              </a:rPr>
              <a:t>Semantics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3646170" y="3339672"/>
            <a:ext cx="56388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8,</a:t>
            </a:r>
            <a:r>
              <a:rPr sz="600" i="1" spc="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1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4355385" y="3339672"/>
            <a:ext cx="19875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7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10" dirty="0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</a:rPr>
              <a:t>18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45" name="Slide Number Placeholder 44">
            <a:extLst>
              <a:ext uri="{FF2B5EF4-FFF2-40B4-BE49-F238E27FC236}">
                <a16:creationId xmlns:a16="http://schemas.microsoft.com/office/drawing/2014/main" id="{2872226A-6F9B-46C0-8757-25F48473DB16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4292024" y="3339672"/>
            <a:ext cx="262254" cy="116204"/>
          </a:xfrm>
          <a:prstGeom prst="rect">
            <a:avLst/>
          </a:prstGeom>
        </p:spPr>
        <p:txBody>
          <a:bodyPr/>
          <a:lstStyle/>
          <a:p>
            <a:pPr marL="75565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lang="en-IN" smtClean="0"/>
              <a:t>14</a:t>
            </a:fld>
            <a:r>
              <a:rPr lang="en-IN" spc="-5"/>
              <a:t> </a:t>
            </a:r>
            <a:r>
              <a:rPr lang="en-IN" spc="-110"/>
              <a:t>/</a:t>
            </a:r>
            <a:r>
              <a:rPr lang="en-IN" spc="15"/>
              <a:t> </a:t>
            </a:r>
            <a:r>
              <a:rPr lang="en-IN" spc="-25"/>
              <a:t>18</a:t>
            </a:r>
            <a:endParaRPr lang="en-IN" spc="-25" dirty="0"/>
          </a:p>
        </p:txBody>
      </p:sp>
    </p:spTree>
  </p:cSld>
  <p:clrMapOvr>
    <a:masterClrMapping/>
  </p:clrMapOvr>
  <p:transition>
    <p:cut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Polysemy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7743" y="741819"/>
            <a:ext cx="4483735" cy="667385"/>
            <a:chOff x="87743" y="741819"/>
            <a:chExt cx="4483735" cy="667385"/>
          </a:xfrm>
        </p:grpSpPr>
        <p:sp>
          <p:nvSpPr>
            <p:cNvPr id="4" name="object 4"/>
            <p:cNvSpPr/>
            <p:nvPr/>
          </p:nvSpPr>
          <p:spPr>
            <a:xfrm>
              <a:off x="87743" y="741819"/>
              <a:ext cx="4432935" cy="187325"/>
            </a:xfrm>
            <a:custGeom>
              <a:avLst/>
              <a:gdLst/>
              <a:ahLst/>
              <a:cxnLst/>
              <a:rect l="l" t="t" r="r" b="b"/>
              <a:pathLst>
                <a:path w="4432935" h="187325">
                  <a:moveTo>
                    <a:pt x="4381754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6944"/>
                  </a:lnTo>
                  <a:lnTo>
                    <a:pt x="4432554" y="186944"/>
                  </a:lnTo>
                  <a:lnTo>
                    <a:pt x="4432554" y="50800"/>
                  </a:lnTo>
                  <a:lnTo>
                    <a:pt x="4428545" y="31075"/>
                  </a:lnTo>
                  <a:lnTo>
                    <a:pt x="4417631" y="14922"/>
                  </a:lnTo>
                  <a:lnTo>
                    <a:pt x="4401478" y="4008"/>
                  </a:lnTo>
                  <a:lnTo>
                    <a:pt x="4381754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744" y="916076"/>
              <a:ext cx="4432554" cy="5060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8544" y="1307287"/>
              <a:ext cx="101599" cy="1016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9344" y="1294587"/>
              <a:ext cx="4381754" cy="1143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20298" y="786053"/>
              <a:ext cx="50800" cy="521233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87743" y="960323"/>
              <a:ext cx="4432935" cy="398145"/>
            </a:xfrm>
            <a:custGeom>
              <a:avLst/>
              <a:gdLst/>
              <a:ahLst/>
              <a:cxnLst/>
              <a:rect l="l" t="t" r="r" b="b"/>
              <a:pathLst>
                <a:path w="4432935" h="398144">
                  <a:moveTo>
                    <a:pt x="4432554" y="0"/>
                  </a:moveTo>
                  <a:lnTo>
                    <a:pt x="0" y="0"/>
                  </a:lnTo>
                  <a:lnTo>
                    <a:pt x="0" y="346963"/>
                  </a:lnTo>
                  <a:lnTo>
                    <a:pt x="4008" y="366688"/>
                  </a:lnTo>
                  <a:lnTo>
                    <a:pt x="14922" y="382841"/>
                  </a:lnTo>
                  <a:lnTo>
                    <a:pt x="31075" y="393755"/>
                  </a:lnTo>
                  <a:lnTo>
                    <a:pt x="50800" y="397763"/>
                  </a:lnTo>
                  <a:lnTo>
                    <a:pt x="4381754" y="397763"/>
                  </a:lnTo>
                  <a:lnTo>
                    <a:pt x="4401478" y="393755"/>
                  </a:lnTo>
                  <a:lnTo>
                    <a:pt x="4417631" y="382841"/>
                  </a:lnTo>
                  <a:lnTo>
                    <a:pt x="4428545" y="366688"/>
                  </a:lnTo>
                  <a:lnTo>
                    <a:pt x="4432554" y="346963"/>
                  </a:lnTo>
                  <a:lnTo>
                    <a:pt x="4432554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520310" y="824179"/>
              <a:ext cx="0" cy="502284"/>
            </a:xfrm>
            <a:custGeom>
              <a:avLst/>
              <a:gdLst/>
              <a:ahLst/>
              <a:cxnLst/>
              <a:rect l="l" t="t" r="r" b="b"/>
              <a:pathLst>
                <a:path h="502284">
                  <a:moveTo>
                    <a:pt x="0" y="502157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520310" y="811453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520310" y="798753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520310" y="786053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81597" y="1010094"/>
              <a:ext cx="64757" cy="64757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81597" y="1220127"/>
              <a:ext cx="64757" cy="64757"/>
            </a:xfrm>
            <a:prstGeom prst="rect">
              <a:avLst/>
            </a:prstGeom>
          </p:spPr>
        </p:pic>
      </p:grpSp>
      <p:sp>
        <p:nvSpPr>
          <p:cNvPr id="16" name="object 16"/>
          <p:cNvSpPr txBox="1"/>
          <p:nvPr/>
        </p:nvSpPr>
        <p:spPr>
          <a:xfrm>
            <a:off x="125729" y="668417"/>
            <a:ext cx="3399154" cy="657225"/>
          </a:xfrm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sz="1100" i="1" spc="-10" dirty="0">
                <a:solidFill>
                  <a:srgbClr val="3232B2"/>
                </a:solidFill>
                <a:latin typeface="Cambria"/>
                <a:cs typeface="Cambria"/>
              </a:rPr>
              <a:t>Multiple</a:t>
            </a:r>
            <a:r>
              <a:rPr sz="1100" i="1" spc="-15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100" b="1" i="1" dirty="0">
                <a:solidFill>
                  <a:srgbClr val="3232B2"/>
                </a:solidFill>
                <a:latin typeface="Times New Roman"/>
                <a:cs typeface="Times New Roman"/>
              </a:rPr>
              <a:t>related</a:t>
            </a:r>
            <a:r>
              <a:rPr sz="1100" b="1" i="1" spc="-50" dirty="0">
                <a:solidFill>
                  <a:srgbClr val="3232B2"/>
                </a:solidFill>
                <a:latin typeface="Times New Roman"/>
                <a:cs typeface="Times New Roman"/>
              </a:rPr>
              <a:t> </a:t>
            </a:r>
            <a:r>
              <a:rPr sz="1100" i="1" spc="-30" dirty="0">
                <a:solidFill>
                  <a:srgbClr val="3232B2"/>
                </a:solidFill>
                <a:latin typeface="Cambria"/>
                <a:cs typeface="Cambria"/>
              </a:rPr>
              <a:t>meanings</a:t>
            </a:r>
            <a:r>
              <a:rPr sz="1100" i="1" spc="-15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100" i="1" spc="-30" dirty="0">
                <a:solidFill>
                  <a:srgbClr val="3232B2"/>
                </a:solidFill>
                <a:latin typeface="Cambria"/>
                <a:cs typeface="Cambria"/>
              </a:rPr>
              <a:t>within</a:t>
            </a:r>
            <a:r>
              <a:rPr sz="1100" i="1" spc="-10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100" i="1" dirty="0">
                <a:solidFill>
                  <a:srgbClr val="3232B2"/>
                </a:solidFill>
                <a:latin typeface="Cambria"/>
                <a:cs typeface="Cambria"/>
              </a:rPr>
              <a:t>a</a:t>
            </a:r>
            <a:r>
              <a:rPr sz="1100" i="1" spc="-15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100" i="1" dirty="0">
                <a:solidFill>
                  <a:srgbClr val="3232B2"/>
                </a:solidFill>
                <a:latin typeface="Cambria"/>
                <a:cs typeface="Cambria"/>
              </a:rPr>
              <a:t>single</a:t>
            </a:r>
            <a:r>
              <a:rPr sz="1100" i="1" spc="-15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100" i="1" spc="-10" dirty="0">
                <a:solidFill>
                  <a:srgbClr val="3232B2"/>
                </a:solidFill>
                <a:latin typeface="Cambria"/>
                <a:cs typeface="Cambria"/>
              </a:rPr>
              <a:t>lexeme.</a:t>
            </a:r>
            <a:endParaRPr sz="1100">
              <a:latin typeface="Cambria"/>
              <a:cs typeface="Cambria"/>
            </a:endParaRPr>
          </a:p>
          <a:p>
            <a:pPr marL="289560" marR="5080">
              <a:lnSpc>
                <a:spcPts val="1650"/>
              </a:lnSpc>
              <a:spcBef>
                <a:spcPts val="25"/>
              </a:spcBef>
            </a:pP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i="1" dirty="0">
                <a:latin typeface="Trebuchet MS"/>
                <a:cs typeface="Trebuchet MS"/>
              </a:rPr>
              <a:t>bank</a:t>
            </a:r>
            <a:r>
              <a:rPr sz="950" i="1" spc="1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was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constructed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in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1875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out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of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local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red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brick. </a:t>
            </a:r>
            <a:r>
              <a:rPr sz="950" dirty="0">
                <a:latin typeface="Trebuchet MS"/>
                <a:cs typeface="Trebuchet MS"/>
              </a:rPr>
              <a:t>I</a:t>
            </a:r>
            <a:r>
              <a:rPr sz="950" spc="-20" dirty="0">
                <a:latin typeface="Trebuchet MS"/>
                <a:cs typeface="Trebuchet MS"/>
              </a:rPr>
              <a:t> </a:t>
            </a:r>
            <a:r>
              <a:rPr sz="950" spc="-25" dirty="0">
                <a:latin typeface="Trebuchet MS"/>
                <a:cs typeface="Trebuchet MS"/>
              </a:rPr>
              <a:t>withdrew</a:t>
            </a:r>
            <a:r>
              <a:rPr sz="950" spc="-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-2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money</a:t>
            </a:r>
            <a:r>
              <a:rPr sz="950" spc="-1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from</a:t>
            </a:r>
            <a:r>
              <a:rPr sz="950" spc="-2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-15" dirty="0">
                <a:latin typeface="Trebuchet MS"/>
                <a:cs typeface="Trebuchet MS"/>
              </a:rPr>
              <a:t> </a:t>
            </a:r>
            <a:r>
              <a:rPr sz="950" i="1" spc="-10" dirty="0">
                <a:latin typeface="Trebuchet MS"/>
                <a:cs typeface="Trebuchet MS"/>
              </a:rPr>
              <a:t>bank</a:t>
            </a:r>
            <a:r>
              <a:rPr sz="950" spc="-10" dirty="0">
                <a:latin typeface="Trebuchet MS"/>
                <a:cs typeface="Trebuchet MS"/>
              </a:rPr>
              <a:t>.</a:t>
            </a:r>
            <a:endParaRPr sz="950">
              <a:latin typeface="Trebuchet MS"/>
              <a:cs typeface="Trebuchet MS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016760" y="3339672"/>
            <a:ext cx="57467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8" action="ppaction://hlinksldjump"/>
              </a:rPr>
              <a:t>Lexical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  <a:hlinkClick r:id="rId8" action="ppaction://hlinksldjump"/>
              </a:rPr>
              <a:t>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  <a:hlinkClick r:id="rId8" action="ppaction://hlinksldjump"/>
              </a:rPr>
              <a:t>Semantics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646170" y="3339672"/>
            <a:ext cx="56388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8,</a:t>
            </a:r>
            <a:r>
              <a:rPr sz="600" i="1" spc="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1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355385" y="3339672"/>
            <a:ext cx="19875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8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10" dirty="0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</a:rPr>
              <a:t>18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25" name="Slide Number Placeholder 24">
            <a:extLst>
              <a:ext uri="{FF2B5EF4-FFF2-40B4-BE49-F238E27FC236}">
                <a16:creationId xmlns:a16="http://schemas.microsoft.com/office/drawing/2014/main" id="{29EBFFC6-6ABD-4792-908C-7AC55CAB215C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4292024" y="3339672"/>
            <a:ext cx="262254" cy="116204"/>
          </a:xfrm>
          <a:prstGeom prst="rect">
            <a:avLst/>
          </a:prstGeom>
        </p:spPr>
        <p:txBody>
          <a:bodyPr/>
          <a:lstStyle/>
          <a:p>
            <a:pPr marL="75565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lang="en-IN" smtClean="0"/>
              <a:t>15</a:t>
            </a:fld>
            <a:r>
              <a:rPr lang="en-IN" spc="-5"/>
              <a:t> </a:t>
            </a:r>
            <a:r>
              <a:rPr lang="en-IN" spc="-110"/>
              <a:t>/</a:t>
            </a:r>
            <a:r>
              <a:rPr lang="en-IN" spc="15"/>
              <a:t> </a:t>
            </a:r>
            <a:r>
              <a:rPr lang="en-IN" spc="-25"/>
              <a:t>18</a:t>
            </a:r>
            <a:endParaRPr lang="en-IN" spc="-25" dirty="0"/>
          </a:p>
        </p:txBody>
      </p:sp>
    </p:spTree>
  </p:cSld>
  <p:clrMapOvr>
    <a:masterClrMapping/>
  </p:clrMapOvr>
  <p:transition>
    <p:cut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Polysemy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7743" y="741819"/>
            <a:ext cx="4483735" cy="667385"/>
            <a:chOff x="87743" y="741819"/>
            <a:chExt cx="4483735" cy="667385"/>
          </a:xfrm>
        </p:grpSpPr>
        <p:sp>
          <p:nvSpPr>
            <p:cNvPr id="4" name="object 4"/>
            <p:cNvSpPr/>
            <p:nvPr/>
          </p:nvSpPr>
          <p:spPr>
            <a:xfrm>
              <a:off x="87743" y="741819"/>
              <a:ext cx="4432935" cy="187325"/>
            </a:xfrm>
            <a:custGeom>
              <a:avLst/>
              <a:gdLst/>
              <a:ahLst/>
              <a:cxnLst/>
              <a:rect l="l" t="t" r="r" b="b"/>
              <a:pathLst>
                <a:path w="4432935" h="187325">
                  <a:moveTo>
                    <a:pt x="4381754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6944"/>
                  </a:lnTo>
                  <a:lnTo>
                    <a:pt x="4432554" y="186944"/>
                  </a:lnTo>
                  <a:lnTo>
                    <a:pt x="4432554" y="50800"/>
                  </a:lnTo>
                  <a:lnTo>
                    <a:pt x="4428545" y="31075"/>
                  </a:lnTo>
                  <a:lnTo>
                    <a:pt x="4417631" y="14922"/>
                  </a:lnTo>
                  <a:lnTo>
                    <a:pt x="4401478" y="4008"/>
                  </a:lnTo>
                  <a:lnTo>
                    <a:pt x="4381754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744" y="916076"/>
              <a:ext cx="4432554" cy="5060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8544" y="1307287"/>
              <a:ext cx="101599" cy="1016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9344" y="1294587"/>
              <a:ext cx="4381754" cy="1143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20298" y="786053"/>
              <a:ext cx="50800" cy="521233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87743" y="960323"/>
              <a:ext cx="4432935" cy="398145"/>
            </a:xfrm>
            <a:custGeom>
              <a:avLst/>
              <a:gdLst/>
              <a:ahLst/>
              <a:cxnLst/>
              <a:rect l="l" t="t" r="r" b="b"/>
              <a:pathLst>
                <a:path w="4432935" h="398144">
                  <a:moveTo>
                    <a:pt x="4432554" y="0"/>
                  </a:moveTo>
                  <a:lnTo>
                    <a:pt x="0" y="0"/>
                  </a:lnTo>
                  <a:lnTo>
                    <a:pt x="0" y="346963"/>
                  </a:lnTo>
                  <a:lnTo>
                    <a:pt x="4008" y="366688"/>
                  </a:lnTo>
                  <a:lnTo>
                    <a:pt x="14922" y="382841"/>
                  </a:lnTo>
                  <a:lnTo>
                    <a:pt x="31075" y="393755"/>
                  </a:lnTo>
                  <a:lnTo>
                    <a:pt x="50800" y="397763"/>
                  </a:lnTo>
                  <a:lnTo>
                    <a:pt x="4381754" y="397763"/>
                  </a:lnTo>
                  <a:lnTo>
                    <a:pt x="4401478" y="393755"/>
                  </a:lnTo>
                  <a:lnTo>
                    <a:pt x="4417631" y="382841"/>
                  </a:lnTo>
                  <a:lnTo>
                    <a:pt x="4428545" y="366688"/>
                  </a:lnTo>
                  <a:lnTo>
                    <a:pt x="4432554" y="346963"/>
                  </a:lnTo>
                  <a:lnTo>
                    <a:pt x="4432554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520310" y="824179"/>
              <a:ext cx="0" cy="502284"/>
            </a:xfrm>
            <a:custGeom>
              <a:avLst/>
              <a:gdLst/>
              <a:ahLst/>
              <a:cxnLst/>
              <a:rect l="l" t="t" r="r" b="b"/>
              <a:pathLst>
                <a:path h="502284">
                  <a:moveTo>
                    <a:pt x="0" y="502157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520310" y="811453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520310" y="798753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520310" y="786053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81597" y="1010094"/>
              <a:ext cx="64757" cy="64757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81597" y="1220127"/>
              <a:ext cx="64757" cy="64757"/>
            </a:xfrm>
            <a:prstGeom prst="rect">
              <a:avLst/>
            </a:prstGeom>
          </p:spPr>
        </p:pic>
      </p:grpSp>
      <p:grpSp>
        <p:nvGrpSpPr>
          <p:cNvPr id="16" name="object 16"/>
          <p:cNvGrpSpPr/>
          <p:nvPr/>
        </p:nvGrpSpPr>
        <p:grpSpPr>
          <a:xfrm>
            <a:off x="87743" y="1510004"/>
            <a:ext cx="4483735" cy="633095"/>
            <a:chOff x="87743" y="1510004"/>
            <a:chExt cx="4483735" cy="633095"/>
          </a:xfrm>
        </p:grpSpPr>
        <p:sp>
          <p:nvSpPr>
            <p:cNvPr id="17" name="object 17"/>
            <p:cNvSpPr/>
            <p:nvPr/>
          </p:nvSpPr>
          <p:spPr>
            <a:xfrm>
              <a:off x="87743" y="1510004"/>
              <a:ext cx="4432935" cy="176530"/>
            </a:xfrm>
            <a:custGeom>
              <a:avLst/>
              <a:gdLst/>
              <a:ahLst/>
              <a:cxnLst/>
              <a:rect l="l" t="t" r="r" b="b"/>
              <a:pathLst>
                <a:path w="4432935" h="176530">
                  <a:moveTo>
                    <a:pt x="4381754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76276"/>
                  </a:lnTo>
                  <a:lnTo>
                    <a:pt x="4432554" y="176276"/>
                  </a:lnTo>
                  <a:lnTo>
                    <a:pt x="4432554" y="50800"/>
                  </a:lnTo>
                  <a:lnTo>
                    <a:pt x="4428545" y="31075"/>
                  </a:lnTo>
                  <a:lnTo>
                    <a:pt x="4417631" y="14922"/>
                  </a:lnTo>
                  <a:lnTo>
                    <a:pt x="4401478" y="4008"/>
                  </a:lnTo>
                  <a:lnTo>
                    <a:pt x="4381754" y="0"/>
                  </a:lnTo>
                  <a:close/>
                </a:path>
              </a:pathLst>
            </a:custGeom>
            <a:solidFill>
              <a:srgbClr val="FF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7744" y="1673669"/>
              <a:ext cx="4432554" cy="50609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38544" y="2041182"/>
              <a:ext cx="101599" cy="101600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89344" y="2028482"/>
              <a:ext cx="4381754" cy="114300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520298" y="1554251"/>
              <a:ext cx="50800" cy="486930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87743" y="1717967"/>
              <a:ext cx="4432935" cy="374015"/>
            </a:xfrm>
            <a:custGeom>
              <a:avLst/>
              <a:gdLst/>
              <a:ahLst/>
              <a:cxnLst/>
              <a:rect l="l" t="t" r="r" b="b"/>
              <a:pathLst>
                <a:path w="4432935" h="374014">
                  <a:moveTo>
                    <a:pt x="4432554" y="0"/>
                  </a:moveTo>
                  <a:lnTo>
                    <a:pt x="0" y="0"/>
                  </a:lnTo>
                  <a:lnTo>
                    <a:pt x="0" y="323215"/>
                  </a:lnTo>
                  <a:lnTo>
                    <a:pt x="4008" y="342939"/>
                  </a:lnTo>
                  <a:lnTo>
                    <a:pt x="14922" y="359092"/>
                  </a:lnTo>
                  <a:lnTo>
                    <a:pt x="31075" y="370006"/>
                  </a:lnTo>
                  <a:lnTo>
                    <a:pt x="50800" y="374015"/>
                  </a:lnTo>
                  <a:lnTo>
                    <a:pt x="4381754" y="374015"/>
                  </a:lnTo>
                  <a:lnTo>
                    <a:pt x="4401478" y="370006"/>
                  </a:lnTo>
                  <a:lnTo>
                    <a:pt x="4417631" y="359092"/>
                  </a:lnTo>
                  <a:lnTo>
                    <a:pt x="4428545" y="342939"/>
                  </a:lnTo>
                  <a:lnTo>
                    <a:pt x="4432554" y="323215"/>
                  </a:lnTo>
                  <a:lnTo>
                    <a:pt x="4432554" y="0"/>
                  </a:lnTo>
                  <a:close/>
                </a:path>
              </a:pathLst>
            </a:custGeom>
            <a:solidFill>
              <a:srgbClr val="FFE5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4520309" y="1592364"/>
              <a:ext cx="0" cy="467995"/>
            </a:xfrm>
            <a:custGeom>
              <a:avLst/>
              <a:gdLst/>
              <a:ahLst/>
              <a:cxnLst/>
              <a:rect l="l" t="t" r="r" b="b"/>
              <a:pathLst>
                <a:path h="467994">
                  <a:moveTo>
                    <a:pt x="0" y="467867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520309" y="1579636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4520309" y="1566936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4520309" y="1554236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" name="object 27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81597" y="1767687"/>
              <a:ext cx="64757" cy="64757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281597" y="1977720"/>
              <a:ext cx="64757" cy="64757"/>
            </a:xfrm>
            <a:prstGeom prst="rect">
              <a:avLst/>
            </a:prstGeom>
          </p:spPr>
        </p:pic>
      </p:grpSp>
      <p:grpSp>
        <p:nvGrpSpPr>
          <p:cNvPr id="29" name="object 29"/>
          <p:cNvGrpSpPr/>
          <p:nvPr/>
        </p:nvGrpSpPr>
        <p:grpSpPr>
          <a:xfrm>
            <a:off x="87743" y="2243912"/>
            <a:ext cx="4483735" cy="666115"/>
            <a:chOff x="87743" y="2243912"/>
            <a:chExt cx="4483735" cy="666115"/>
          </a:xfrm>
        </p:grpSpPr>
        <p:sp>
          <p:nvSpPr>
            <p:cNvPr id="30" name="object 30"/>
            <p:cNvSpPr/>
            <p:nvPr/>
          </p:nvSpPr>
          <p:spPr>
            <a:xfrm>
              <a:off x="87743" y="2243912"/>
              <a:ext cx="4432935" cy="186055"/>
            </a:xfrm>
            <a:custGeom>
              <a:avLst/>
              <a:gdLst/>
              <a:ahLst/>
              <a:cxnLst/>
              <a:rect l="l" t="t" r="r" b="b"/>
              <a:pathLst>
                <a:path w="4432935" h="186055">
                  <a:moveTo>
                    <a:pt x="4381754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5674"/>
                  </a:lnTo>
                  <a:lnTo>
                    <a:pt x="4432554" y="185674"/>
                  </a:lnTo>
                  <a:lnTo>
                    <a:pt x="4432554" y="50800"/>
                  </a:lnTo>
                  <a:lnTo>
                    <a:pt x="4428545" y="31075"/>
                  </a:lnTo>
                  <a:lnTo>
                    <a:pt x="4417631" y="14922"/>
                  </a:lnTo>
                  <a:lnTo>
                    <a:pt x="4401478" y="4008"/>
                  </a:lnTo>
                  <a:lnTo>
                    <a:pt x="4381754" y="0"/>
                  </a:lnTo>
                  <a:close/>
                </a:path>
              </a:pathLst>
            </a:custGeom>
            <a:solidFill>
              <a:srgbClr val="CCE5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87744" y="2416924"/>
              <a:ext cx="4432554" cy="50609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38544" y="2808135"/>
              <a:ext cx="101599" cy="101600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89344" y="2795435"/>
              <a:ext cx="4381754" cy="114300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4520298" y="2288146"/>
              <a:ext cx="50800" cy="519988"/>
            </a:xfrm>
            <a:prstGeom prst="rect">
              <a:avLst/>
            </a:prstGeom>
          </p:spPr>
        </p:pic>
        <p:sp>
          <p:nvSpPr>
            <p:cNvPr id="35" name="object 35"/>
            <p:cNvSpPr/>
            <p:nvPr/>
          </p:nvSpPr>
          <p:spPr>
            <a:xfrm>
              <a:off x="87743" y="2461171"/>
              <a:ext cx="4432935" cy="398145"/>
            </a:xfrm>
            <a:custGeom>
              <a:avLst/>
              <a:gdLst/>
              <a:ahLst/>
              <a:cxnLst/>
              <a:rect l="l" t="t" r="r" b="b"/>
              <a:pathLst>
                <a:path w="4432935" h="398144">
                  <a:moveTo>
                    <a:pt x="4432554" y="0"/>
                  </a:moveTo>
                  <a:lnTo>
                    <a:pt x="0" y="0"/>
                  </a:lnTo>
                  <a:lnTo>
                    <a:pt x="0" y="346964"/>
                  </a:lnTo>
                  <a:lnTo>
                    <a:pt x="4008" y="366688"/>
                  </a:lnTo>
                  <a:lnTo>
                    <a:pt x="14922" y="382841"/>
                  </a:lnTo>
                  <a:lnTo>
                    <a:pt x="31075" y="393755"/>
                  </a:lnTo>
                  <a:lnTo>
                    <a:pt x="50800" y="397764"/>
                  </a:lnTo>
                  <a:lnTo>
                    <a:pt x="4381754" y="397764"/>
                  </a:lnTo>
                  <a:lnTo>
                    <a:pt x="4401478" y="393755"/>
                  </a:lnTo>
                  <a:lnTo>
                    <a:pt x="4417631" y="382841"/>
                  </a:lnTo>
                  <a:lnTo>
                    <a:pt x="4428545" y="366688"/>
                  </a:lnTo>
                  <a:lnTo>
                    <a:pt x="4432554" y="346964"/>
                  </a:lnTo>
                  <a:lnTo>
                    <a:pt x="4432554" y="0"/>
                  </a:lnTo>
                  <a:close/>
                </a:path>
              </a:pathLst>
            </a:custGeom>
            <a:solidFill>
              <a:srgbClr val="E5F2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4520309" y="2326297"/>
              <a:ext cx="0" cy="501015"/>
            </a:xfrm>
            <a:custGeom>
              <a:avLst/>
              <a:gdLst/>
              <a:ahLst/>
              <a:cxnLst/>
              <a:rect l="l" t="t" r="r" b="b"/>
              <a:pathLst>
                <a:path h="501014">
                  <a:moveTo>
                    <a:pt x="0" y="500888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4520309" y="2313545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4520309" y="2300845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4520309" y="2288145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0" name="object 40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281597" y="2510942"/>
              <a:ext cx="64757" cy="64757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281597" y="2720975"/>
              <a:ext cx="64757" cy="64757"/>
            </a:xfrm>
            <a:prstGeom prst="rect">
              <a:avLst/>
            </a:prstGeom>
          </p:spPr>
        </p:pic>
      </p:grpSp>
      <p:sp>
        <p:nvSpPr>
          <p:cNvPr id="42" name="object 42"/>
          <p:cNvSpPr txBox="1"/>
          <p:nvPr/>
        </p:nvSpPr>
        <p:spPr>
          <a:xfrm>
            <a:off x="125729" y="668417"/>
            <a:ext cx="3535045" cy="2157730"/>
          </a:xfrm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sz="1100" i="1" spc="-10" dirty="0">
                <a:solidFill>
                  <a:srgbClr val="3232B2"/>
                </a:solidFill>
                <a:latin typeface="Cambria"/>
                <a:cs typeface="Cambria"/>
              </a:rPr>
              <a:t>Multiple</a:t>
            </a:r>
            <a:r>
              <a:rPr sz="1100" i="1" spc="-15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100" b="1" i="1" dirty="0">
                <a:solidFill>
                  <a:srgbClr val="3232B2"/>
                </a:solidFill>
                <a:latin typeface="Times New Roman"/>
                <a:cs typeface="Times New Roman"/>
              </a:rPr>
              <a:t>related</a:t>
            </a:r>
            <a:r>
              <a:rPr sz="1100" b="1" i="1" spc="-50" dirty="0">
                <a:solidFill>
                  <a:srgbClr val="3232B2"/>
                </a:solidFill>
                <a:latin typeface="Times New Roman"/>
                <a:cs typeface="Times New Roman"/>
              </a:rPr>
              <a:t> </a:t>
            </a:r>
            <a:r>
              <a:rPr sz="1100" i="1" spc="-30" dirty="0">
                <a:solidFill>
                  <a:srgbClr val="3232B2"/>
                </a:solidFill>
                <a:latin typeface="Cambria"/>
                <a:cs typeface="Cambria"/>
              </a:rPr>
              <a:t>meanings</a:t>
            </a:r>
            <a:r>
              <a:rPr sz="1100" i="1" spc="-15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100" i="1" spc="-30" dirty="0">
                <a:solidFill>
                  <a:srgbClr val="3232B2"/>
                </a:solidFill>
                <a:latin typeface="Cambria"/>
                <a:cs typeface="Cambria"/>
              </a:rPr>
              <a:t>within</a:t>
            </a:r>
            <a:r>
              <a:rPr sz="1100" i="1" spc="-10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100" i="1" dirty="0">
                <a:solidFill>
                  <a:srgbClr val="3232B2"/>
                </a:solidFill>
                <a:latin typeface="Cambria"/>
                <a:cs typeface="Cambria"/>
              </a:rPr>
              <a:t>a</a:t>
            </a:r>
            <a:r>
              <a:rPr sz="1100" i="1" spc="-15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100" i="1" dirty="0">
                <a:solidFill>
                  <a:srgbClr val="3232B2"/>
                </a:solidFill>
                <a:latin typeface="Cambria"/>
                <a:cs typeface="Cambria"/>
              </a:rPr>
              <a:t>single</a:t>
            </a:r>
            <a:r>
              <a:rPr sz="1100" i="1" spc="-15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100" i="1" spc="-10" dirty="0">
                <a:solidFill>
                  <a:srgbClr val="3232B2"/>
                </a:solidFill>
                <a:latin typeface="Cambria"/>
                <a:cs typeface="Cambria"/>
              </a:rPr>
              <a:t>lexeme.</a:t>
            </a:r>
            <a:endParaRPr sz="1100">
              <a:latin typeface="Cambria"/>
              <a:cs typeface="Cambria"/>
            </a:endParaRPr>
          </a:p>
          <a:p>
            <a:pPr marL="289560" marR="140970">
              <a:lnSpc>
                <a:spcPts val="1650"/>
              </a:lnSpc>
              <a:spcBef>
                <a:spcPts val="55"/>
              </a:spcBef>
            </a:pP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i="1" dirty="0">
                <a:latin typeface="Trebuchet MS"/>
                <a:cs typeface="Trebuchet MS"/>
              </a:rPr>
              <a:t>bank</a:t>
            </a:r>
            <a:r>
              <a:rPr sz="950" i="1" spc="1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was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constructed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in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1875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out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of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local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red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brick. </a:t>
            </a:r>
            <a:r>
              <a:rPr sz="950" dirty="0">
                <a:latin typeface="Trebuchet MS"/>
                <a:cs typeface="Trebuchet MS"/>
              </a:rPr>
              <a:t>I</a:t>
            </a:r>
            <a:r>
              <a:rPr sz="950" spc="-20" dirty="0">
                <a:latin typeface="Trebuchet MS"/>
                <a:cs typeface="Trebuchet MS"/>
              </a:rPr>
              <a:t> </a:t>
            </a:r>
            <a:r>
              <a:rPr sz="950" spc="-25" dirty="0">
                <a:latin typeface="Trebuchet MS"/>
                <a:cs typeface="Trebuchet MS"/>
              </a:rPr>
              <a:t>withdrew</a:t>
            </a:r>
            <a:r>
              <a:rPr sz="950" spc="-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-2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money</a:t>
            </a:r>
            <a:r>
              <a:rPr sz="950" spc="-1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from</a:t>
            </a:r>
            <a:r>
              <a:rPr sz="950" spc="-2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-15" dirty="0">
                <a:latin typeface="Trebuchet MS"/>
                <a:cs typeface="Trebuchet MS"/>
              </a:rPr>
              <a:t> </a:t>
            </a:r>
            <a:r>
              <a:rPr sz="950" i="1" spc="-10" dirty="0">
                <a:latin typeface="Trebuchet MS"/>
                <a:cs typeface="Trebuchet MS"/>
              </a:rPr>
              <a:t>bank</a:t>
            </a:r>
            <a:r>
              <a:rPr sz="950" spc="-10" dirty="0">
                <a:latin typeface="Trebuchet MS"/>
                <a:cs typeface="Trebuchet MS"/>
              </a:rPr>
              <a:t>.</a:t>
            </a:r>
            <a:endParaRPr sz="9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260"/>
              </a:spcBef>
            </a:pPr>
            <a:endParaRPr sz="9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100" i="1" dirty="0">
                <a:solidFill>
                  <a:srgbClr val="FF0000"/>
                </a:solidFill>
                <a:latin typeface="Cambria"/>
                <a:cs typeface="Cambria"/>
              </a:rPr>
              <a:t>Are</a:t>
            </a:r>
            <a:r>
              <a:rPr sz="1100" i="1" spc="-3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100" i="1" spc="-25" dirty="0">
                <a:solidFill>
                  <a:srgbClr val="FF0000"/>
                </a:solidFill>
                <a:latin typeface="Cambria"/>
                <a:cs typeface="Cambria"/>
              </a:rPr>
              <a:t>those </a:t>
            </a:r>
            <a:r>
              <a:rPr sz="1100" i="1" spc="-30" dirty="0">
                <a:solidFill>
                  <a:srgbClr val="FF0000"/>
                </a:solidFill>
                <a:latin typeface="Cambria"/>
                <a:cs typeface="Cambria"/>
              </a:rPr>
              <a:t>the</a:t>
            </a:r>
            <a:r>
              <a:rPr sz="1100" i="1" spc="-2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100" i="1" spc="-20" dirty="0">
                <a:solidFill>
                  <a:srgbClr val="FF0000"/>
                </a:solidFill>
                <a:latin typeface="Cambria"/>
                <a:cs typeface="Cambria"/>
              </a:rPr>
              <a:t>same</a:t>
            </a:r>
            <a:r>
              <a:rPr sz="1100" i="1" spc="-2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100" i="1" spc="-10" dirty="0">
                <a:solidFill>
                  <a:srgbClr val="FF0000"/>
                </a:solidFill>
                <a:latin typeface="Cambria"/>
                <a:cs typeface="Cambria"/>
              </a:rPr>
              <a:t>sense?</a:t>
            </a:r>
            <a:endParaRPr sz="1100">
              <a:latin typeface="Cambria"/>
              <a:cs typeface="Cambria"/>
            </a:endParaRPr>
          </a:p>
          <a:p>
            <a:pPr marL="289560">
              <a:lnSpc>
                <a:spcPct val="100000"/>
              </a:lnSpc>
              <a:spcBef>
                <a:spcPts val="350"/>
              </a:spcBef>
            </a:pPr>
            <a:r>
              <a:rPr sz="950" spc="70" dirty="0">
                <a:latin typeface="Trebuchet MS"/>
                <a:cs typeface="Trebuchet MS"/>
              </a:rPr>
              <a:t>Sense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1:</a:t>
            </a:r>
            <a:r>
              <a:rPr sz="950" spc="6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“The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building </a:t>
            </a:r>
            <a:r>
              <a:rPr sz="950" dirty="0">
                <a:latin typeface="Trebuchet MS"/>
                <a:cs typeface="Trebuchet MS"/>
              </a:rPr>
              <a:t>belonging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to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</a:t>
            </a:r>
            <a:r>
              <a:rPr sz="950" spc="-10" dirty="0">
                <a:latin typeface="Trebuchet MS"/>
                <a:cs typeface="Trebuchet MS"/>
              </a:rPr>
              <a:t> financial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institution”</a:t>
            </a:r>
            <a:endParaRPr sz="950">
              <a:latin typeface="Trebuchet MS"/>
              <a:cs typeface="Trebuchet MS"/>
            </a:endParaRPr>
          </a:p>
          <a:p>
            <a:pPr marL="289560">
              <a:lnSpc>
                <a:spcPct val="100000"/>
              </a:lnSpc>
              <a:spcBef>
                <a:spcPts val="515"/>
              </a:spcBef>
            </a:pPr>
            <a:r>
              <a:rPr sz="950" spc="70" dirty="0">
                <a:latin typeface="Trebuchet MS"/>
                <a:cs typeface="Trebuchet MS"/>
              </a:rPr>
              <a:t>Sense</a:t>
            </a:r>
            <a:r>
              <a:rPr sz="950" spc="-3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2: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spc="-30" dirty="0">
                <a:latin typeface="Trebuchet MS"/>
                <a:cs typeface="Trebuchet MS"/>
              </a:rPr>
              <a:t>“A </a:t>
            </a:r>
            <a:r>
              <a:rPr sz="950" spc="-10" dirty="0">
                <a:latin typeface="Trebuchet MS"/>
                <a:cs typeface="Trebuchet MS"/>
              </a:rPr>
              <a:t>financial</a:t>
            </a:r>
            <a:r>
              <a:rPr sz="950" spc="-3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institution”</a:t>
            </a:r>
            <a:endParaRPr sz="9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210"/>
              </a:spcBef>
            </a:pPr>
            <a:endParaRPr sz="9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100" i="1" spc="-25" dirty="0">
                <a:solidFill>
                  <a:srgbClr val="007F00"/>
                </a:solidFill>
                <a:latin typeface="Cambria"/>
                <a:cs typeface="Cambria"/>
              </a:rPr>
              <a:t>Another</a:t>
            </a:r>
            <a:r>
              <a:rPr sz="1100" i="1" spc="-20" dirty="0">
                <a:solidFill>
                  <a:srgbClr val="007F00"/>
                </a:solidFill>
                <a:latin typeface="Cambria"/>
                <a:cs typeface="Cambria"/>
              </a:rPr>
              <a:t> </a:t>
            </a:r>
            <a:r>
              <a:rPr sz="1100" i="1" spc="-10" dirty="0">
                <a:solidFill>
                  <a:srgbClr val="007F00"/>
                </a:solidFill>
                <a:latin typeface="Cambria"/>
                <a:cs typeface="Cambria"/>
              </a:rPr>
              <a:t>example</a:t>
            </a:r>
            <a:endParaRPr sz="1100">
              <a:latin typeface="Cambria"/>
              <a:cs typeface="Cambria"/>
            </a:endParaRPr>
          </a:p>
          <a:p>
            <a:pPr marL="289560" marR="5080">
              <a:lnSpc>
                <a:spcPts val="1650"/>
              </a:lnSpc>
              <a:spcBef>
                <a:spcPts val="25"/>
              </a:spcBef>
            </a:pPr>
            <a:r>
              <a:rPr sz="950" dirty="0">
                <a:latin typeface="Trebuchet MS"/>
                <a:cs typeface="Trebuchet MS"/>
              </a:rPr>
              <a:t>Heavy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snow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caused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roof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of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i="1" dirty="0">
                <a:latin typeface="Trebuchet MS"/>
                <a:cs typeface="Trebuchet MS"/>
              </a:rPr>
              <a:t>school</a:t>
            </a:r>
            <a:r>
              <a:rPr sz="950" i="1" spc="135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to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collapse.</a:t>
            </a:r>
            <a:r>
              <a:rPr sz="950" spc="50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i="1" dirty="0">
                <a:latin typeface="Trebuchet MS"/>
                <a:cs typeface="Trebuchet MS"/>
              </a:rPr>
              <a:t>school</a:t>
            </a:r>
            <a:r>
              <a:rPr sz="950" i="1" spc="1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hired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more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teachers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this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year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than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ever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before.</a:t>
            </a:r>
            <a:endParaRPr sz="950">
              <a:latin typeface="Trebuchet MS"/>
              <a:cs typeface="Trebuchet MS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2016760" y="3339672"/>
            <a:ext cx="57467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20" action="ppaction://hlinksldjump"/>
              </a:rPr>
              <a:t>Lexical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  <a:hlinkClick r:id="rId20" action="ppaction://hlinksldjump"/>
              </a:rPr>
              <a:t>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  <a:hlinkClick r:id="rId20" action="ppaction://hlinksldjump"/>
              </a:rPr>
              <a:t>Semantics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3646170" y="3339672"/>
            <a:ext cx="56388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8,</a:t>
            </a:r>
            <a:r>
              <a:rPr sz="600" i="1" spc="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1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4355385" y="3339672"/>
            <a:ext cx="19875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8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10" dirty="0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</a:rPr>
              <a:t>18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51" name="Slide Number Placeholder 50">
            <a:extLst>
              <a:ext uri="{FF2B5EF4-FFF2-40B4-BE49-F238E27FC236}">
                <a16:creationId xmlns:a16="http://schemas.microsoft.com/office/drawing/2014/main" id="{666E7A74-132E-4AAF-9078-553E841D71B7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4292024" y="3339672"/>
            <a:ext cx="262254" cy="116204"/>
          </a:xfrm>
          <a:prstGeom prst="rect">
            <a:avLst/>
          </a:prstGeom>
        </p:spPr>
        <p:txBody>
          <a:bodyPr/>
          <a:lstStyle/>
          <a:p>
            <a:pPr marL="75565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lang="en-IN" smtClean="0"/>
              <a:t>16</a:t>
            </a:fld>
            <a:r>
              <a:rPr lang="en-IN" spc="-5"/>
              <a:t> </a:t>
            </a:r>
            <a:r>
              <a:rPr lang="en-IN" spc="-110"/>
              <a:t>/</a:t>
            </a:r>
            <a:r>
              <a:rPr lang="en-IN" spc="15"/>
              <a:t> </a:t>
            </a:r>
            <a:r>
              <a:rPr lang="en-IN" spc="-25"/>
              <a:t>18</a:t>
            </a:r>
            <a:endParaRPr lang="en-IN" spc="-25" dirty="0"/>
          </a:p>
        </p:txBody>
      </p:sp>
    </p:spTree>
  </p:cSld>
  <p:clrMapOvr>
    <a:masterClrMapping/>
  </p:clrMapOvr>
  <p:transition>
    <p:cut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Polysemy:</a:t>
            </a:r>
            <a:r>
              <a:rPr spc="60" dirty="0"/>
              <a:t> </a:t>
            </a:r>
            <a:r>
              <a:rPr spc="-10" dirty="0"/>
              <a:t>multiple</a:t>
            </a:r>
            <a:r>
              <a:rPr spc="-15" dirty="0"/>
              <a:t> </a:t>
            </a:r>
            <a:r>
              <a:rPr spc="-10" dirty="0"/>
              <a:t>related meanings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7743" y="761708"/>
            <a:ext cx="4483735" cy="625475"/>
            <a:chOff x="87743" y="761708"/>
            <a:chExt cx="4483735" cy="625475"/>
          </a:xfrm>
        </p:grpSpPr>
        <p:sp>
          <p:nvSpPr>
            <p:cNvPr id="4" name="object 4"/>
            <p:cNvSpPr/>
            <p:nvPr/>
          </p:nvSpPr>
          <p:spPr>
            <a:xfrm>
              <a:off x="87743" y="761708"/>
              <a:ext cx="4432935" cy="186055"/>
            </a:xfrm>
            <a:custGeom>
              <a:avLst/>
              <a:gdLst/>
              <a:ahLst/>
              <a:cxnLst/>
              <a:rect l="l" t="t" r="r" b="b"/>
              <a:pathLst>
                <a:path w="4432935" h="186055">
                  <a:moveTo>
                    <a:pt x="4381754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5674"/>
                  </a:lnTo>
                  <a:lnTo>
                    <a:pt x="4432554" y="185674"/>
                  </a:lnTo>
                  <a:lnTo>
                    <a:pt x="4432554" y="50800"/>
                  </a:lnTo>
                  <a:lnTo>
                    <a:pt x="4428545" y="31075"/>
                  </a:lnTo>
                  <a:lnTo>
                    <a:pt x="4417631" y="14922"/>
                  </a:lnTo>
                  <a:lnTo>
                    <a:pt x="4401478" y="4008"/>
                  </a:lnTo>
                  <a:lnTo>
                    <a:pt x="4381754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744" y="934720"/>
              <a:ext cx="4432554" cy="5060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8544" y="1285100"/>
              <a:ext cx="101599" cy="1016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9344" y="1272400"/>
              <a:ext cx="4381754" cy="1143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20298" y="805942"/>
              <a:ext cx="50800" cy="479158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87743" y="979030"/>
              <a:ext cx="4432935" cy="356870"/>
            </a:xfrm>
            <a:custGeom>
              <a:avLst/>
              <a:gdLst/>
              <a:ahLst/>
              <a:cxnLst/>
              <a:rect l="l" t="t" r="r" b="b"/>
              <a:pathLst>
                <a:path w="4432935" h="356869">
                  <a:moveTo>
                    <a:pt x="4432554" y="0"/>
                  </a:moveTo>
                  <a:lnTo>
                    <a:pt x="0" y="0"/>
                  </a:lnTo>
                  <a:lnTo>
                    <a:pt x="0" y="306069"/>
                  </a:lnTo>
                  <a:lnTo>
                    <a:pt x="4008" y="325794"/>
                  </a:lnTo>
                  <a:lnTo>
                    <a:pt x="14922" y="341947"/>
                  </a:lnTo>
                  <a:lnTo>
                    <a:pt x="31075" y="352861"/>
                  </a:lnTo>
                  <a:lnTo>
                    <a:pt x="50800" y="356869"/>
                  </a:lnTo>
                  <a:lnTo>
                    <a:pt x="4381754" y="356869"/>
                  </a:lnTo>
                  <a:lnTo>
                    <a:pt x="4401478" y="352861"/>
                  </a:lnTo>
                  <a:lnTo>
                    <a:pt x="4417631" y="341947"/>
                  </a:lnTo>
                  <a:lnTo>
                    <a:pt x="4428545" y="325794"/>
                  </a:lnTo>
                  <a:lnTo>
                    <a:pt x="4432554" y="306069"/>
                  </a:lnTo>
                  <a:lnTo>
                    <a:pt x="4432554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520310" y="844029"/>
              <a:ext cx="0" cy="460375"/>
            </a:xfrm>
            <a:custGeom>
              <a:avLst/>
              <a:gdLst/>
              <a:ahLst/>
              <a:cxnLst/>
              <a:rect l="l" t="t" r="r" b="b"/>
              <a:pathLst>
                <a:path h="460375">
                  <a:moveTo>
                    <a:pt x="0" y="46012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520310" y="831342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520310" y="818642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520310" y="805942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125729" y="690249"/>
            <a:ext cx="2673350" cy="612775"/>
          </a:xfrm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0"/>
              </a:spcBef>
            </a:pPr>
            <a:r>
              <a:rPr sz="1100" i="1" dirty="0">
                <a:solidFill>
                  <a:srgbClr val="3232B2"/>
                </a:solidFill>
                <a:latin typeface="Cambria"/>
                <a:cs typeface="Cambria"/>
              </a:rPr>
              <a:t>Often,</a:t>
            </a:r>
            <a:r>
              <a:rPr sz="1100" i="1" spc="-10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100" i="1" spc="-30" dirty="0">
                <a:solidFill>
                  <a:srgbClr val="3232B2"/>
                </a:solidFill>
                <a:latin typeface="Cambria"/>
                <a:cs typeface="Cambria"/>
              </a:rPr>
              <a:t>the</a:t>
            </a:r>
            <a:r>
              <a:rPr sz="1100" i="1" spc="-10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100" i="1" spc="-25" dirty="0">
                <a:solidFill>
                  <a:srgbClr val="3232B2"/>
                </a:solidFill>
                <a:latin typeface="Cambria"/>
                <a:cs typeface="Cambria"/>
              </a:rPr>
              <a:t>relationships</a:t>
            </a:r>
            <a:r>
              <a:rPr sz="1100" i="1" spc="-10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100" i="1" spc="-20" dirty="0">
                <a:solidFill>
                  <a:srgbClr val="3232B2"/>
                </a:solidFill>
                <a:latin typeface="Cambria"/>
                <a:cs typeface="Cambria"/>
              </a:rPr>
              <a:t>are</a:t>
            </a:r>
            <a:r>
              <a:rPr sz="1100" i="1" spc="-10" dirty="0">
                <a:solidFill>
                  <a:srgbClr val="3232B2"/>
                </a:solidFill>
                <a:latin typeface="Cambria"/>
                <a:cs typeface="Cambria"/>
              </a:rPr>
              <a:t> systematic</a:t>
            </a:r>
            <a:endParaRPr sz="11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400"/>
              </a:spcBef>
            </a:pPr>
            <a:r>
              <a:rPr sz="950" dirty="0">
                <a:latin typeface="Trebuchet MS"/>
                <a:cs typeface="Trebuchet MS"/>
              </a:rPr>
              <a:t>E.g.,</a:t>
            </a:r>
            <a:r>
              <a:rPr sz="950" spc="-10" dirty="0">
                <a:latin typeface="Trebuchet MS"/>
                <a:cs typeface="Trebuchet MS"/>
              </a:rPr>
              <a:t> building </a:t>
            </a:r>
            <a:r>
              <a:rPr sz="950" dirty="0">
                <a:latin typeface="Trebuchet MS"/>
                <a:cs typeface="Trebuchet MS"/>
              </a:rPr>
              <a:t>vs.</a:t>
            </a:r>
            <a:r>
              <a:rPr sz="950" spc="6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organization</a:t>
            </a:r>
            <a:endParaRPr sz="9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215"/>
              </a:spcBef>
            </a:pPr>
            <a:r>
              <a:rPr sz="950" i="1" dirty="0">
                <a:latin typeface="Trebuchet MS"/>
                <a:cs typeface="Trebuchet MS"/>
              </a:rPr>
              <a:t>school,</a:t>
            </a:r>
            <a:r>
              <a:rPr sz="950" i="1" spc="5" dirty="0">
                <a:latin typeface="Trebuchet MS"/>
                <a:cs typeface="Trebuchet MS"/>
              </a:rPr>
              <a:t> </a:t>
            </a:r>
            <a:r>
              <a:rPr sz="950" i="1" spc="-30" dirty="0">
                <a:latin typeface="Trebuchet MS"/>
                <a:cs typeface="Trebuchet MS"/>
              </a:rPr>
              <a:t>university,</a:t>
            </a:r>
            <a:r>
              <a:rPr sz="950" i="1" spc="10" dirty="0">
                <a:latin typeface="Trebuchet MS"/>
                <a:cs typeface="Trebuchet MS"/>
              </a:rPr>
              <a:t> </a:t>
            </a:r>
            <a:r>
              <a:rPr sz="950" i="1" spc="-20" dirty="0">
                <a:latin typeface="Trebuchet MS"/>
                <a:cs typeface="Trebuchet MS"/>
              </a:rPr>
              <a:t>hospital,</a:t>
            </a:r>
            <a:r>
              <a:rPr sz="950" i="1" spc="5" dirty="0">
                <a:latin typeface="Trebuchet MS"/>
                <a:cs typeface="Trebuchet MS"/>
              </a:rPr>
              <a:t> </a:t>
            </a:r>
            <a:r>
              <a:rPr sz="950" i="1" dirty="0">
                <a:latin typeface="Trebuchet MS"/>
                <a:cs typeface="Trebuchet MS"/>
              </a:rPr>
              <a:t>church,</a:t>
            </a:r>
            <a:r>
              <a:rPr sz="950" i="1" spc="10" dirty="0">
                <a:latin typeface="Trebuchet MS"/>
                <a:cs typeface="Trebuchet MS"/>
              </a:rPr>
              <a:t> </a:t>
            </a:r>
            <a:r>
              <a:rPr sz="950" i="1" spc="-10" dirty="0">
                <a:latin typeface="Trebuchet MS"/>
                <a:cs typeface="Trebuchet MS"/>
              </a:rPr>
              <a:t>supermarket</a:t>
            </a:r>
            <a:endParaRPr sz="950">
              <a:latin typeface="Trebuchet MS"/>
              <a:cs typeface="Trebuchet MS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016760" y="3339672"/>
            <a:ext cx="57467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6" action="ppaction://hlinksldjump"/>
              </a:rPr>
              <a:t>Lexical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  <a:hlinkClick r:id="rId6" action="ppaction://hlinksldjump"/>
              </a:rPr>
              <a:t>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  <a:hlinkClick r:id="rId6" action="ppaction://hlinksldjump"/>
              </a:rPr>
              <a:t>Semantics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646170" y="3339672"/>
            <a:ext cx="56388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8,</a:t>
            </a:r>
            <a:r>
              <a:rPr sz="600" i="1" spc="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1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355385" y="3339672"/>
            <a:ext cx="19875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9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10" dirty="0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</a:rPr>
              <a:t>18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C0D341F5-19CC-426C-A4C8-8698FB5D38B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4292024" y="3339672"/>
            <a:ext cx="262254" cy="116204"/>
          </a:xfrm>
          <a:prstGeom prst="rect">
            <a:avLst/>
          </a:prstGeom>
        </p:spPr>
        <p:txBody>
          <a:bodyPr/>
          <a:lstStyle/>
          <a:p>
            <a:pPr marL="75565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lang="en-IN" smtClean="0"/>
              <a:t>17</a:t>
            </a:fld>
            <a:r>
              <a:rPr lang="en-IN" spc="-5"/>
              <a:t> </a:t>
            </a:r>
            <a:r>
              <a:rPr lang="en-IN" spc="-110"/>
              <a:t>/</a:t>
            </a:r>
            <a:r>
              <a:rPr lang="en-IN" spc="15"/>
              <a:t> </a:t>
            </a:r>
            <a:r>
              <a:rPr lang="en-IN" spc="-25"/>
              <a:t>18</a:t>
            </a:r>
            <a:endParaRPr lang="en-IN" spc="-25" dirty="0"/>
          </a:p>
        </p:txBody>
      </p:sp>
    </p:spTree>
  </p:cSld>
  <p:clrMapOvr>
    <a:masterClrMapping/>
  </p:clrMapOvr>
  <p:transition>
    <p:cut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Polysemy:</a:t>
            </a:r>
            <a:r>
              <a:rPr spc="60" dirty="0"/>
              <a:t> </a:t>
            </a:r>
            <a:r>
              <a:rPr spc="-10" dirty="0"/>
              <a:t>multiple</a:t>
            </a:r>
            <a:r>
              <a:rPr spc="-15" dirty="0"/>
              <a:t> </a:t>
            </a:r>
            <a:r>
              <a:rPr spc="-10" dirty="0"/>
              <a:t>related meanings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7743" y="761708"/>
            <a:ext cx="4483735" cy="625475"/>
            <a:chOff x="87743" y="761708"/>
            <a:chExt cx="4483735" cy="625475"/>
          </a:xfrm>
        </p:grpSpPr>
        <p:sp>
          <p:nvSpPr>
            <p:cNvPr id="4" name="object 4"/>
            <p:cNvSpPr/>
            <p:nvPr/>
          </p:nvSpPr>
          <p:spPr>
            <a:xfrm>
              <a:off x="87743" y="761708"/>
              <a:ext cx="4432935" cy="186055"/>
            </a:xfrm>
            <a:custGeom>
              <a:avLst/>
              <a:gdLst/>
              <a:ahLst/>
              <a:cxnLst/>
              <a:rect l="l" t="t" r="r" b="b"/>
              <a:pathLst>
                <a:path w="4432935" h="186055">
                  <a:moveTo>
                    <a:pt x="4381754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5674"/>
                  </a:lnTo>
                  <a:lnTo>
                    <a:pt x="4432554" y="185674"/>
                  </a:lnTo>
                  <a:lnTo>
                    <a:pt x="4432554" y="50800"/>
                  </a:lnTo>
                  <a:lnTo>
                    <a:pt x="4428545" y="31075"/>
                  </a:lnTo>
                  <a:lnTo>
                    <a:pt x="4417631" y="14922"/>
                  </a:lnTo>
                  <a:lnTo>
                    <a:pt x="4401478" y="4008"/>
                  </a:lnTo>
                  <a:lnTo>
                    <a:pt x="4381754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744" y="934720"/>
              <a:ext cx="4432554" cy="5060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8544" y="1285100"/>
              <a:ext cx="101599" cy="1016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9344" y="1272400"/>
              <a:ext cx="4381754" cy="1143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20298" y="805942"/>
              <a:ext cx="50800" cy="479158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87743" y="979030"/>
              <a:ext cx="4432935" cy="356870"/>
            </a:xfrm>
            <a:custGeom>
              <a:avLst/>
              <a:gdLst/>
              <a:ahLst/>
              <a:cxnLst/>
              <a:rect l="l" t="t" r="r" b="b"/>
              <a:pathLst>
                <a:path w="4432935" h="356869">
                  <a:moveTo>
                    <a:pt x="4432554" y="0"/>
                  </a:moveTo>
                  <a:lnTo>
                    <a:pt x="0" y="0"/>
                  </a:lnTo>
                  <a:lnTo>
                    <a:pt x="0" y="306069"/>
                  </a:lnTo>
                  <a:lnTo>
                    <a:pt x="4008" y="325794"/>
                  </a:lnTo>
                  <a:lnTo>
                    <a:pt x="14922" y="341947"/>
                  </a:lnTo>
                  <a:lnTo>
                    <a:pt x="31075" y="352861"/>
                  </a:lnTo>
                  <a:lnTo>
                    <a:pt x="50800" y="356869"/>
                  </a:lnTo>
                  <a:lnTo>
                    <a:pt x="4381754" y="356869"/>
                  </a:lnTo>
                  <a:lnTo>
                    <a:pt x="4401478" y="352861"/>
                  </a:lnTo>
                  <a:lnTo>
                    <a:pt x="4417631" y="341947"/>
                  </a:lnTo>
                  <a:lnTo>
                    <a:pt x="4428545" y="325794"/>
                  </a:lnTo>
                  <a:lnTo>
                    <a:pt x="4432554" y="306069"/>
                  </a:lnTo>
                  <a:lnTo>
                    <a:pt x="4432554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520310" y="844029"/>
              <a:ext cx="0" cy="460375"/>
            </a:xfrm>
            <a:custGeom>
              <a:avLst/>
              <a:gdLst/>
              <a:ahLst/>
              <a:cxnLst/>
              <a:rect l="l" t="t" r="r" b="b"/>
              <a:pathLst>
                <a:path h="460375">
                  <a:moveTo>
                    <a:pt x="0" y="46012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520310" y="831342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520310" y="818642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520310" y="805942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4" name="object 14"/>
          <p:cNvGrpSpPr/>
          <p:nvPr/>
        </p:nvGrpSpPr>
        <p:grpSpPr>
          <a:xfrm>
            <a:off x="87743" y="1487817"/>
            <a:ext cx="4483735" cy="1392555"/>
            <a:chOff x="87743" y="1487817"/>
            <a:chExt cx="4483735" cy="1392555"/>
          </a:xfrm>
        </p:grpSpPr>
        <p:sp>
          <p:nvSpPr>
            <p:cNvPr id="15" name="object 15"/>
            <p:cNvSpPr/>
            <p:nvPr/>
          </p:nvSpPr>
          <p:spPr>
            <a:xfrm>
              <a:off x="87743" y="1487817"/>
              <a:ext cx="4432935" cy="186055"/>
            </a:xfrm>
            <a:custGeom>
              <a:avLst/>
              <a:gdLst/>
              <a:ahLst/>
              <a:cxnLst/>
              <a:rect l="l" t="t" r="r" b="b"/>
              <a:pathLst>
                <a:path w="4432935" h="186055">
                  <a:moveTo>
                    <a:pt x="4381754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5674"/>
                  </a:lnTo>
                  <a:lnTo>
                    <a:pt x="4432554" y="185674"/>
                  </a:lnTo>
                  <a:lnTo>
                    <a:pt x="4432554" y="50800"/>
                  </a:lnTo>
                  <a:lnTo>
                    <a:pt x="4428545" y="31075"/>
                  </a:lnTo>
                  <a:lnTo>
                    <a:pt x="4417631" y="14922"/>
                  </a:lnTo>
                  <a:lnTo>
                    <a:pt x="4401478" y="4008"/>
                  </a:lnTo>
                  <a:lnTo>
                    <a:pt x="4381754" y="0"/>
                  </a:lnTo>
                  <a:close/>
                </a:path>
              </a:pathLst>
            </a:custGeom>
            <a:solidFill>
              <a:srgbClr val="CCE5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7744" y="1660842"/>
              <a:ext cx="4432554" cy="50609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38544" y="2778302"/>
              <a:ext cx="101599" cy="101600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89344" y="2765602"/>
              <a:ext cx="4381754" cy="114300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520298" y="1532064"/>
              <a:ext cx="50800" cy="1246238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87743" y="1705152"/>
              <a:ext cx="4432935" cy="1123950"/>
            </a:xfrm>
            <a:custGeom>
              <a:avLst/>
              <a:gdLst/>
              <a:ahLst/>
              <a:cxnLst/>
              <a:rect l="l" t="t" r="r" b="b"/>
              <a:pathLst>
                <a:path w="4432935" h="1123950">
                  <a:moveTo>
                    <a:pt x="4432554" y="0"/>
                  </a:moveTo>
                  <a:lnTo>
                    <a:pt x="0" y="0"/>
                  </a:lnTo>
                  <a:lnTo>
                    <a:pt x="0" y="1073150"/>
                  </a:lnTo>
                  <a:lnTo>
                    <a:pt x="4008" y="1092874"/>
                  </a:lnTo>
                  <a:lnTo>
                    <a:pt x="14922" y="1109027"/>
                  </a:lnTo>
                  <a:lnTo>
                    <a:pt x="31075" y="1119941"/>
                  </a:lnTo>
                  <a:lnTo>
                    <a:pt x="50800" y="1123950"/>
                  </a:lnTo>
                  <a:lnTo>
                    <a:pt x="4381754" y="1123950"/>
                  </a:lnTo>
                  <a:lnTo>
                    <a:pt x="4401478" y="1119941"/>
                  </a:lnTo>
                  <a:lnTo>
                    <a:pt x="4417631" y="1109027"/>
                  </a:lnTo>
                  <a:lnTo>
                    <a:pt x="4428545" y="1092874"/>
                  </a:lnTo>
                  <a:lnTo>
                    <a:pt x="4432554" y="1073150"/>
                  </a:lnTo>
                  <a:lnTo>
                    <a:pt x="4432554" y="0"/>
                  </a:lnTo>
                  <a:close/>
                </a:path>
              </a:pathLst>
            </a:custGeom>
            <a:solidFill>
              <a:srgbClr val="E5F2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4520309" y="1570151"/>
              <a:ext cx="0" cy="1227455"/>
            </a:xfrm>
            <a:custGeom>
              <a:avLst/>
              <a:gdLst/>
              <a:ahLst/>
              <a:cxnLst/>
              <a:rect l="l" t="t" r="r" b="b"/>
              <a:pathLst>
                <a:path h="1227455">
                  <a:moveTo>
                    <a:pt x="0" y="1227201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4520309" y="1557446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4520309" y="1544746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520309" y="1532046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81597" y="1754848"/>
              <a:ext cx="64757" cy="64757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81597" y="2136965"/>
              <a:ext cx="64757" cy="64757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81597" y="2519070"/>
              <a:ext cx="64757" cy="64757"/>
            </a:xfrm>
            <a:prstGeom prst="rect">
              <a:avLst/>
            </a:prstGeom>
          </p:spPr>
        </p:pic>
      </p:grpSp>
      <p:sp>
        <p:nvSpPr>
          <p:cNvPr id="28" name="object 28"/>
          <p:cNvSpPr txBox="1"/>
          <p:nvPr/>
        </p:nvSpPr>
        <p:spPr>
          <a:xfrm>
            <a:off x="125729" y="690249"/>
            <a:ext cx="4300855" cy="2106295"/>
          </a:xfrm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0"/>
              </a:spcBef>
            </a:pPr>
            <a:r>
              <a:rPr sz="1100" i="1" dirty="0">
                <a:solidFill>
                  <a:srgbClr val="3232B2"/>
                </a:solidFill>
                <a:latin typeface="Cambria"/>
                <a:cs typeface="Cambria"/>
              </a:rPr>
              <a:t>Often,</a:t>
            </a:r>
            <a:r>
              <a:rPr sz="1100" i="1" spc="-10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100" i="1" spc="-30" dirty="0">
                <a:solidFill>
                  <a:srgbClr val="3232B2"/>
                </a:solidFill>
                <a:latin typeface="Cambria"/>
                <a:cs typeface="Cambria"/>
              </a:rPr>
              <a:t>the</a:t>
            </a:r>
            <a:r>
              <a:rPr sz="1100" i="1" spc="-10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100" i="1" spc="-25" dirty="0">
                <a:solidFill>
                  <a:srgbClr val="3232B2"/>
                </a:solidFill>
                <a:latin typeface="Cambria"/>
                <a:cs typeface="Cambria"/>
              </a:rPr>
              <a:t>relationships</a:t>
            </a:r>
            <a:r>
              <a:rPr sz="1100" i="1" spc="-10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100" i="1" spc="-20" dirty="0">
                <a:solidFill>
                  <a:srgbClr val="3232B2"/>
                </a:solidFill>
                <a:latin typeface="Cambria"/>
                <a:cs typeface="Cambria"/>
              </a:rPr>
              <a:t>are</a:t>
            </a:r>
            <a:r>
              <a:rPr sz="1100" i="1" spc="-10" dirty="0">
                <a:solidFill>
                  <a:srgbClr val="3232B2"/>
                </a:solidFill>
                <a:latin typeface="Cambria"/>
                <a:cs typeface="Cambria"/>
              </a:rPr>
              <a:t> systematic</a:t>
            </a:r>
            <a:endParaRPr sz="11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400"/>
              </a:spcBef>
            </a:pPr>
            <a:r>
              <a:rPr sz="950" dirty="0">
                <a:latin typeface="Trebuchet MS"/>
                <a:cs typeface="Trebuchet MS"/>
              </a:rPr>
              <a:t>E.g.,</a:t>
            </a:r>
            <a:r>
              <a:rPr sz="950" spc="-10" dirty="0">
                <a:latin typeface="Trebuchet MS"/>
                <a:cs typeface="Trebuchet MS"/>
              </a:rPr>
              <a:t> building </a:t>
            </a:r>
            <a:r>
              <a:rPr sz="950" dirty="0">
                <a:latin typeface="Trebuchet MS"/>
                <a:cs typeface="Trebuchet MS"/>
              </a:rPr>
              <a:t>vs.</a:t>
            </a:r>
            <a:r>
              <a:rPr sz="950" spc="6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organization</a:t>
            </a:r>
            <a:endParaRPr sz="9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215"/>
              </a:spcBef>
            </a:pPr>
            <a:r>
              <a:rPr sz="950" i="1" dirty="0">
                <a:latin typeface="Trebuchet MS"/>
                <a:cs typeface="Trebuchet MS"/>
              </a:rPr>
              <a:t>school,</a:t>
            </a:r>
            <a:r>
              <a:rPr sz="950" i="1" spc="5" dirty="0">
                <a:latin typeface="Trebuchet MS"/>
                <a:cs typeface="Trebuchet MS"/>
              </a:rPr>
              <a:t> </a:t>
            </a:r>
            <a:r>
              <a:rPr sz="950" i="1" spc="-30" dirty="0">
                <a:latin typeface="Trebuchet MS"/>
                <a:cs typeface="Trebuchet MS"/>
              </a:rPr>
              <a:t>university,</a:t>
            </a:r>
            <a:r>
              <a:rPr sz="950" i="1" spc="10" dirty="0">
                <a:latin typeface="Trebuchet MS"/>
                <a:cs typeface="Trebuchet MS"/>
              </a:rPr>
              <a:t> </a:t>
            </a:r>
            <a:r>
              <a:rPr sz="950" i="1" spc="-20" dirty="0">
                <a:latin typeface="Trebuchet MS"/>
                <a:cs typeface="Trebuchet MS"/>
              </a:rPr>
              <a:t>hospital,</a:t>
            </a:r>
            <a:r>
              <a:rPr sz="950" i="1" spc="5" dirty="0">
                <a:latin typeface="Trebuchet MS"/>
                <a:cs typeface="Trebuchet MS"/>
              </a:rPr>
              <a:t> </a:t>
            </a:r>
            <a:r>
              <a:rPr sz="950" i="1" dirty="0">
                <a:latin typeface="Trebuchet MS"/>
                <a:cs typeface="Trebuchet MS"/>
              </a:rPr>
              <a:t>church,</a:t>
            </a:r>
            <a:r>
              <a:rPr sz="950" i="1" spc="10" dirty="0">
                <a:latin typeface="Trebuchet MS"/>
                <a:cs typeface="Trebuchet MS"/>
              </a:rPr>
              <a:t> </a:t>
            </a:r>
            <a:r>
              <a:rPr sz="950" i="1" spc="-10" dirty="0">
                <a:latin typeface="Trebuchet MS"/>
                <a:cs typeface="Trebuchet MS"/>
              </a:rPr>
              <a:t>supermarket</a:t>
            </a:r>
            <a:endParaRPr sz="9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sz="9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100" i="1" dirty="0">
                <a:solidFill>
                  <a:srgbClr val="007F00"/>
                </a:solidFill>
                <a:latin typeface="Cambria"/>
                <a:cs typeface="Cambria"/>
              </a:rPr>
              <a:t>More</a:t>
            </a:r>
            <a:r>
              <a:rPr sz="1100" i="1" spc="-50" dirty="0">
                <a:solidFill>
                  <a:srgbClr val="007F00"/>
                </a:solidFill>
                <a:latin typeface="Cambria"/>
                <a:cs typeface="Cambria"/>
              </a:rPr>
              <a:t> </a:t>
            </a:r>
            <a:r>
              <a:rPr sz="1100" i="1" spc="-10" dirty="0">
                <a:solidFill>
                  <a:srgbClr val="007F00"/>
                </a:solidFill>
                <a:latin typeface="Cambria"/>
                <a:cs typeface="Cambria"/>
              </a:rPr>
              <a:t>examples:</a:t>
            </a:r>
            <a:endParaRPr sz="1100">
              <a:latin typeface="Cambria"/>
              <a:cs typeface="Cambria"/>
            </a:endParaRPr>
          </a:p>
          <a:p>
            <a:pPr marL="289560" marR="5080">
              <a:lnSpc>
                <a:spcPct val="113999"/>
              </a:lnSpc>
              <a:spcBef>
                <a:spcPts val="90"/>
              </a:spcBef>
            </a:pPr>
            <a:r>
              <a:rPr sz="950" dirty="0">
                <a:latin typeface="Trebuchet MS"/>
                <a:cs typeface="Trebuchet MS"/>
              </a:rPr>
              <a:t>Author</a:t>
            </a:r>
            <a:r>
              <a:rPr sz="950" spc="2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(Jane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Austen</a:t>
            </a:r>
            <a:r>
              <a:rPr sz="950" spc="20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wrote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Emma)</a:t>
            </a:r>
            <a:r>
              <a:rPr sz="950" spc="20" dirty="0">
                <a:latin typeface="Trebuchet MS"/>
                <a:cs typeface="Trebuchet MS"/>
              </a:rPr>
              <a:t> </a:t>
            </a:r>
            <a:r>
              <a:rPr sz="1100" spc="-280" dirty="0">
                <a:latin typeface="Lucida Sans Unicode"/>
                <a:cs typeface="Lucida Sans Unicode"/>
              </a:rPr>
              <a:t>↔</a:t>
            </a:r>
            <a:r>
              <a:rPr sz="1100" spc="-40" dirty="0">
                <a:latin typeface="Lucida Sans Unicode"/>
                <a:cs typeface="Lucida Sans Unicode"/>
              </a:rPr>
              <a:t> </a:t>
            </a:r>
            <a:r>
              <a:rPr sz="950" dirty="0">
                <a:latin typeface="Trebuchet MS"/>
                <a:cs typeface="Trebuchet MS"/>
              </a:rPr>
              <a:t>Works</a:t>
            </a:r>
            <a:r>
              <a:rPr sz="950" spc="2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of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Author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(I</a:t>
            </a:r>
            <a:r>
              <a:rPr sz="950" spc="2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really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love</a:t>
            </a:r>
            <a:r>
              <a:rPr sz="950" spc="20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Jane </a:t>
            </a:r>
            <a:r>
              <a:rPr sz="950" spc="-10" dirty="0">
                <a:latin typeface="Trebuchet MS"/>
                <a:cs typeface="Trebuchet MS"/>
              </a:rPr>
              <a:t>Austen)</a:t>
            </a:r>
            <a:endParaRPr sz="950">
              <a:latin typeface="Trebuchet MS"/>
              <a:cs typeface="Trebuchet MS"/>
            </a:endParaRPr>
          </a:p>
          <a:p>
            <a:pPr marL="289560" marR="173990">
              <a:lnSpc>
                <a:spcPct val="113999"/>
              </a:lnSpc>
              <a:spcBef>
                <a:spcPts val="175"/>
              </a:spcBef>
            </a:pPr>
            <a:r>
              <a:rPr sz="950" dirty="0">
                <a:latin typeface="Trebuchet MS"/>
                <a:cs typeface="Trebuchet MS"/>
              </a:rPr>
              <a:t>Animal</a:t>
            </a:r>
            <a:r>
              <a:rPr sz="950" spc="4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(The</a:t>
            </a:r>
            <a:r>
              <a:rPr sz="950" spc="4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chicken</a:t>
            </a:r>
            <a:r>
              <a:rPr sz="950" spc="4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was</a:t>
            </a:r>
            <a:r>
              <a:rPr sz="950" spc="4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domesticated</a:t>
            </a:r>
            <a:r>
              <a:rPr sz="950" spc="5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in</a:t>
            </a:r>
            <a:r>
              <a:rPr sz="950" spc="4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Asia)</a:t>
            </a:r>
            <a:r>
              <a:rPr sz="950" spc="45" dirty="0">
                <a:latin typeface="Trebuchet MS"/>
                <a:cs typeface="Trebuchet MS"/>
              </a:rPr>
              <a:t> </a:t>
            </a:r>
            <a:r>
              <a:rPr sz="1100" spc="-280" dirty="0">
                <a:latin typeface="Lucida Sans Unicode"/>
                <a:cs typeface="Lucida Sans Unicode"/>
              </a:rPr>
              <a:t>↔</a:t>
            </a:r>
            <a:r>
              <a:rPr sz="1100" spc="-20" dirty="0">
                <a:latin typeface="Lucida Sans Unicode"/>
                <a:cs typeface="Lucida Sans Unicode"/>
              </a:rPr>
              <a:t> </a:t>
            </a:r>
            <a:r>
              <a:rPr sz="950" dirty="0">
                <a:latin typeface="Trebuchet MS"/>
                <a:cs typeface="Trebuchet MS"/>
              </a:rPr>
              <a:t>Meat</a:t>
            </a:r>
            <a:r>
              <a:rPr sz="950" spc="4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(The</a:t>
            </a:r>
            <a:r>
              <a:rPr sz="950" spc="4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chicken </a:t>
            </a:r>
            <a:r>
              <a:rPr sz="950" dirty="0">
                <a:latin typeface="Trebuchet MS"/>
                <a:cs typeface="Trebuchet MS"/>
              </a:rPr>
              <a:t>was</a:t>
            </a:r>
            <a:r>
              <a:rPr sz="950" spc="10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overcooked)</a:t>
            </a:r>
            <a:endParaRPr sz="950">
              <a:latin typeface="Trebuchet MS"/>
              <a:cs typeface="Trebuchet MS"/>
            </a:endParaRPr>
          </a:p>
          <a:p>
            <a:pPr marL="289560" marR="167640">
              <a:lnSpc>
                <a:spcPct val="113999"/>
              </a:lnSpc>
              <a:spcBef>
                <a:spcPts val="180"/>
              </a:spcBef>
            </a:pPr>
            <a:r>
              <a:rPr sz="950" spc="-10" dirty="0">
                <a:latin typeface="Trebuchet MS"/>
                <a:cs typeface="Trebuchet MS"/>
              </a:rPr>
              <a:t>Tree</a:t>
            </a:r>
            <a:r>
              <a:rPr sz="950" spc="5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(Plums</a:t>
            </a:r>
            <a:r>
              <a:rPr sz="950" spc="5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have</a:t>
            </a:r>
            <a:r>
              <a:rPr sz="950" spc="55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beautiful</a:t>
            </a:r>
            <a:r>
              <a:rPr sz="950" spc="5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blossoms)</a:t>
            </a:r>
            <a:r>
              <a:rPr sz="950" spc="50" dirty="0">
                <a:latin typeface="Trebuchet MS"/>
                <a:cs typeface="Trebuchet MS"/>
              </a:rPr>
              <a:t> </a:t>
            </a:r>
            <a:r>
              <a:rPr sz="1100" spc="-280" dirty="0">
                <a:latin typeface="Lucida Sans Unicode"/>
                <a:cs typeface="Lucida Sans Unicode"/>
              </a:rPr>
              <a:t>↔</a:t>
            </a:r>
            <a:r>
              <a:rPr sz="1100" spc="-15" dirty="0">
                <a:latin typeface="Lucida Sans Unicode"/>
                <a:cs typeface="Lucida Sans Unicode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Fruit</a:t>
            </a:r>
            <a:r>
              <a:rPr sz="950" spc="5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(I</a:t>
            </a:r>
            <a:r>
              <a:rPr sz="950" spc="5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ate</a:t>
            </a:r>
            <a:r>
              <a:rPr sz="950" spc="5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</a:t>
            </a:r>
            <a:r>
              <a:rPr sz="950" spc="5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preserved</a:t>
            </a:r>
            <a:r>
              <a:rPr sz="950" spc="50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plum </a:t>
            </a:r>
            <a:r>
              <a:rPr sz="950" spc="-10" dirty="0">
                <a:latin typeface="Trebuchet MS"/>
                <a:cs typeface="Trebuchet MS"/>
              </a:rPr>
              <a:t>yesterday)</a:t>
            </a:r>
            <a:endParaRPr sz="950">
              <a:latin typeface="Trebuchet MS"/>
              <a:cs typeface="Trebuchet MS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2016760" y="3339672"/>
            <a:ext cx="57467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13" action="ppaction://hlinksldjump"/>
              </a:rPr>
              <a:t>Lexical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  <a:hlinkClick r:id="rId13" action="ppaction://hlinksldjump"/>
              </a:rPr>
              <a:t>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  <a:hlinkClick r:id="rId13" action="ppaction://hlinksldjump"/>
              </a:rPr>
              <a:t>Semantics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3646170" y="3339672"/>
            <a:ext cx="56388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8,</a:t>
            </a:r>
            <a:r>
              <a:rPr sz="600" i="1" spc="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1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4355385" y="3339672"/>
            <a:ext cx="19875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9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10" dirty="0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</a:rPr>
              <a:t>18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37" name="Slide Number Placeholder 36">
            <a:extLst>
              <a:ext uri="{FF2B5EF4-FFF2-40B4-BE49-F238E27FC236}">
                <a16:creationId xmlns:a16="http://schemas.microsoft.com/office/drawing/2014/main" id="{3AEE35E9-6328-490E-8CCA-696AA0837CD8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4292024" y="3339672"/>
            <a:ext cx="262254" cy="116204"/>
          </a:xfrm>
          <a:prstGeom prst="rect">
            <a:avLst/>
          </a:prstGeom>
        </p:spPr>
        <p:txBody>
          <a:bodyPr/>
          <a:lstStyle/>
          <a:p>
            <a:pPr marL="75565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lang="en-IN" smtClean="0"/>
              <a:t>18</a:t>
            </a:fld>
            <a:r>
              <a:rPr lang="en-IN" spc="-5"/>
              <a:t> </a:t>
            </a:r>
            <a:r>
              <a:rPr lang="en-IN" spc="-110"/>
              <a:t>/</a:t>
            </a:r>
            <a:r>
              <a:rPr lang="en-IN" spc="15"/>
              <a:t> </a:t>
            </a:r>
            <a:r>
              <a:rPr lang="en-IN" spc="-25"/>
              <a:t>18</a:t>
            </a:r>
            <a:endParaRPr lang="en-IN" spc="-25" dirty="0"/>
          </a:p>
        </p:txBody>
      </p:sp>
    </p:spTree>
  </p:cSld>
  <p:clrMapOvr>
    <a:masterClrMapping/>
  </p:clrMapOvr>
  <p:transition>
    <p:cut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Polysemy:</a:t>
            </a:r>
            <a:r>
              <a:rPr spc="60" dirty="0"/>
              <a:t> </a:t>
            </a:r>
            <a:r>
              <a:rPr spc="-10" dirty="0"/>
              <a:t>multiple</a:t>
            </a:r>
            <a:r>
              <a:rPr spc="-15" dirty="0"/>
              <a:t> </a:t>
            </a:r>
            <a:r>
              <a:rPr spc="-10" dirty="0"/>
              <a:t>related meanings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7743" y="953744"/>
            <a:ext cx="4483735" cy="909319"/>
            <a:chOff x="87743" y="953744"/>
            <a:chExt cx="4483735" cy="909319"/>
          </a:xfrm>
        </p:grpSpPr>
        <p:sp>
          <p:nvSpPr>
            <p:cNvPr id="4" name="object 4"/>
            <p:cNvSpPr/>
            <p:nvPr/>
          </p:nvSpPr>
          <p:spPr>
            <a:xfrm>
              <a:off x="87743" y="953744"/>
              <a:ext cx="4432935" cy="180975"/>
            </a:xfrm>
            <a:custGeom>
              <a:avLst/>
              <a:gdLst/>
              <a:ahLst/>
              <a:cxnLst/>
              <a:rect l="l" t="t" r="r" b="b"/>
              <a:pathLst>
                <a:path w="4432935" h="180975">
                  <a:moveTo>
                    <a:pt x="4381754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0975"/>
                  </a:lnTo>
                  <a:lnTo>
                    <a:pt x="4432554" y="180975"/>
                  </a:lnTo>
                  <a:lnTo>
                    <a:pt x="4432554" y="50800"/>
                  </a:lnTo>
                  <a:lnTo>
                    <a:pt x="4428545" y="31075"/>
                  </a:lnTo>
                  <a:lnTo>
                    <a:pt x="4417631" y="14922"/>
                  </a:lnTo>
                  <a:lnTo>
                    <a:pt x="4401478" y="4008"/>
                  </a:lnTo>
                  <a:lnTo>
                    <a:pt x="4381754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744" y="1122057"/>
              <a:ext cx="4432554" cy="5060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8544" y="1761248"/>
              <a:ext cx="101599" cy="1016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9344" y="1748548"/>
              <a:ext cx="4381754" cy="1143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20298" y="997978"/>
              <a:ext cx="50800" cy="763270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87743" y="1166380"/>
              <a:ext cx="4432935" cy="645795"/>
            </a:xfrm>
            <a:custGeom>
              <a:avLst/>
              <a:gdLst/>
              <a:ahLst/>
              <a:cxnLst/>
              <a:rect l="l" t="t" r="r" b="b"/>
              <a:pathLst>
                <a:path w="4432935" h="645794">
                  <a:moveTo>
                    <a:pt x="4432554" y="0"/>
                  </a:moveTo>
                  <a:lnTo>
                    <a:pt x="0" y="0"/>
                  </a:lnTo>
                  <a:lnTo>
                    <a:pt x="0" y="594868"/>
                  </a:lnTo>
                  <a:lnTo>
                    <a:pt x="4008" y="614592"/>
                  </a:lnTo>
                  <a:lnTo>
                    <a:pt x="14922" y="630745"/>
                  </a:lnTo>
                  <a:lnTo>
                    <a:pt x="31075" y="641659"/>
                  </a:lnTo>
                  <a:lnTo>
                    <a:pt x="50800" y="645668"/>
                  </a:lnTo>
                  <a:lnTo>
                    <a:pt x="4381754" y="645668"/>
                  </a:lnTo>
                  <a:lnTo>
                    <a:pt x="4401478" y="641659"/>
                  </a:lnTo>
                  <a:lnTo>
                    <a:pt x="4417631" y="630745"/>
                  </a:lnTo>
                  <a:lnTo>
                    <a:pt x="4428545" y="614592"/>
                  </a:lnTo>
                  <a:lnTo>
                    <a:pt x="4432554" y="594868"/>
                  </a:lnTo>
                  <a:lnTo>
                    <a:pt x="4432554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520310" y="1036078"/>
              <a:ext cx="0" cy="744220"/>
            </a:xfrm>
            <a:custGeom>
              <a:avLst/>
              <a:gdLst/>
              <a:ahLst/>
              <a:cxnLst/>
              <a:rect l="l" t="t" r="r" b="b"/>
              <a:pathLst>
                <a:path h="744219">
                  <a:moveTo>
                    <a:pt x="0" y="74421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520310" y="1023378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520310" y="1010678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520310" y="997978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81597" y="1216063"/>
              <a:ext cx="64757" cy="64757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81597" y="1426095"/>
              <a:ext cx="64757" cy="64757"/>
            </a:xfrm>
            <a:prstGeom prst="rect">
              <a:avLst/>
            </a:prstGeom>
          </p:spPr>
        </p:pic>
      </p:grpSp>
      <p:sp>
        <p:nvSpPr>
          <p:cNvPr id="16" name="object 16"/>
          <p:cNvSpPr txBox="1"/>
          <p:nvPr/>
        </p:nvSpPr>
        <p:spPr>
          <a:xfrm>
            <a:off x="125729" y="874466"/>
            <a:ext cx="2693035" cy="656590"/>
          </a:xfrm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sz="1100" i="1" spc="-25" dirty="0">
                <a:solidFill>
                  <a:srgbClr val="3232B2"/>
                </a:solidFill>
                <a:latin typeface="Cambria"/>
                <a:cs typeface="Cambria"/>
              </a:rPr>
              <a:t>Zeugma</a:t>
            </a:r>
            <a:r>
              <a:rPr sz="1100" i="1" spc="-5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100" i="1" spc="-20" dirty="0">
                <a:solidFill>
                  <a:srgbClr val="3232B2"/>
                </a:solidFill>
                <a:latin typeface="Cambria"/>
                <a:cs typeface="Cambria"/>
              </a:rPr>
              <a:t>test</a:t>
            </a:r>
            <a:endParaRPr sz="1100">
              <a:latin typeface="Cambria"/>
              <a:cs typeface="Cambria"/>
            </a:endParaRPr>
          </a:p>
          <a:p>
            <a:pPr marL="289560" marR="5080">
              <a:lnSpc>
                <a:spcPts val="1650"/>
              </a:lnSpc>
              <a:spcBef>
                <a:spcPts val="25"/>
              </a:spcBef>
            </a:pPr>
            <a:r>
              <a:rPr sz="950" dirty="0">
                <a:latin typeface="Trebuchet MS"/>
                <a:cs typeface="Trebuchet MS"/>
              </a:rPr>
              <a:t>Which</a:t>
            </a:r>
            <a:r>
              <a:rPr sz="950" spc="2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of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these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flights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i="1" dirty="0">
                <a:latin typeface="Trebuchet MS"/>
                <a:cs typeface="Trebuchet MS"/>
              </a:rPr>
              <a:t>serve</a:t>
            </a:r>
            <a:r>
              <a:rPr sz="950" i="1" spc="2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breakfast?</a:t>
            </a:r>
            <a:r>
              <a:rPr sz="950" spc="70" dirty="0">
                <a:latin typeface="Trebuchet MS"/>
                <a:cs typeface="Trebuchet MS"/>
              </a:rPr>
              <a:t> Does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spc="20" dirty="0">
                <a:latin typeface="Trebuchet MS"/>
                <a:cs typeface="Trebuchet MS"/>
              </a:rPr>
              <a:t>Midwest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spc="20" dirty="0">
                <a:latin typeface="Trebuchet MS"/>
                <a:cs typeface="Trebuchet MS"/>
              </a:rPr>
              <a:t>Express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i="1" spc="20" dirty="0">
                <a:latin typeface="Trebuchet MS"/>
                <a:cs typeface="Trebuchet MS"/>
              </a:rPr>
              <a:t>serve</a:t>
            </a:r>
            <a:r>
              <a:rPr sz="950" i="1" spc="3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Philadelphia?</a:t>
            </a:r>
            <a:endParaRPr sz="950">
              <a:latin typeface="Trebuchet MS"/>
              <a:cs typeface="Trebuchet MS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016760" y="3339672"/>
            <a:ext cx="57467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8" action="ppaction://hlinksldjump"/>
              </a:rPr>
              <a:t>Lexical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  <a:hlinkClick r:id="rId8" action="ppaction://hlinksldjump"/>
              </a:rPr>
              <a:t>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  <a:hlinkClick r:id="rId8" action="ppaction://hlinksldjump"/>
              </a:rPr>
              <a:t>Semantics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608260" y="3339672"/>
            <a:ext cx="56388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8,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1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317424" y="3339672"/>
            <a:ext cx="236854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10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10" dirty="0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</a:rPr>
              <a:t>18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25" name="Slide Number Placeholder 24">
            <a:extLst>
              <a:ext uri="{FF2B5EF4-FFF2-40B4-BE49-F238E27FC236}">
                <a16:creationId xmlns:a16="http://schemas.microsoft.com/office/drawing/2014/main" id="{507F3E5E-4EC4-4CB9-8430-98E3A2331483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4292024" y="3339672"/>
            <a:ext cx="262254" cy="116204"/>
          </a:xfrm>
          <a:prstGeom prst="rect">
            <a:avLst/>
          </a:prstGeom>
        </p:spPr>
        <p:txBody>
          <a:bodyPr/>
          <a:lstStyle/>
          <a:p>
            <a:pPr marL="75565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lang="en-IN" smtClean="0"/>
              <a:t>19</a:t>
            </a:fld>
            <a:r>
              <a:rPr lang="en-IN" spc="-5"/>
              <a:t> </a:t>
            </a:r>
            <a:r>
              <a:rPr lang="en-IN" spc="-110"/>
              <a:t>/</a:t>
            </a:r>
            <a:r>
              <a:rPr lang="en-IN" spc="15"/>
              <a:t> </a:t>
            </a:r>
            <a:r>
              <a:rPr lang="en-IN" spc="-25"/>
              <a:t>18</a:t>
            </a:r>
            <a:endParaRPr lang="en-IN" spc="-25" dirty="0"/>
          </a:p>
        </p:txBody>
      </p:sp>
    </p:spTree>
  </p:cSld>
  <p:clrMapOvr>
    <a:masterClrMapping/>
  </p:clrMapOvr>
  <p:transition>
    <p:cut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Polysemy:</a:t>
            </a:r>
            <a:r>
              <a:rPr spc="60" dirty="0"/>
              <a:t> </a:t>
            </a:r>
            <a:r>
              <a:rPr spc="-10" dirty="0"/>
              <a:t>multiple</a:t>
            </a:r>
            <a:r>
              <a:rPr spc="-15" dirty="0"/>
              <a:t> </a:t>
            </a:r>
            <a:r>
              <a:rPr spc="-10" dirty="0"/>
              <a:t>related meanings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7743" y="953744"/>
            <a:ext cx="4483735" cy="909319"/>
            <a:chOff x="87743" y="953744"/>
            <a:chExt cx="4483735" cy="909319"/>
          </a:xfrm>
        </p:grpSpPr>
        <p:sp>
          <p:nvSpPr>
            <p:cNvPr id="4" name="object 4"/>
            <p:cNvSpPr/>
            <p:nvPr/>
          </p:nvSpPr>
          <p:spPr>
            <a:xfrm>
              <a:off x="87743" y="953744"/>
              <a:ext cx="4432935" cy="180975"/>
            </a:xfrm>
            <a:custGeom>
              <a:avLst/>
              <a:gdLst/>
              <a:ahLst/>
              <a:cxnLst/>
              <a:rect l="l" t="t" r="r" b="b"/>
              <a:pathLst>
                <a:path w="4432935" h="180975">
                  <a:moveTo>
                    <a:pt x="4381754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0975"/>
                  </a:lnTo>
                  <a:lnTo>
                    <a:pt x="4432554" y="180975"/>
                  </a:lnTo>
                  <a:lnTo>
                    <a:pt x="4432554" y="50800"/>
                  </a:lnTo>
                  <a:lnTo>
                    <a:pt x="4428545" y="31075"/>
                  </a:lnTo>
                  <a:lnTo>
                    <a:pt x="4417631" y="14922"/>
                  </a:lnTo>
                  <a:lnTo>
                    <a:pt x="4401478" y="4008"/>
                  </a:lnTo>
                  <a:lnTo>
                    <a:pt x="4381754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744" y="1122057"/>
              <a:ext cx="4432554" cy="5060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8544" y="1761248"/>
              <a:ext cx="101599" cy="1016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9344" y="1748548"/>
              <a:ext cx="4381754" cy="1143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20298" y="997978"/>
              <a:ext cx="50800" cy="763270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87743" y="1166380"/>
              <a:ext cx="4432935" cy="645795"/>
            </a:xfrm>
            <a:custGeom>
              <a:avLst/>
              <a:gdLst/>
              <a:ahLst/>
              <a:cxnLst/>
              <a:rect l="l" t="t" r="r" b="b"/>
              <a:pathLst>
                <a:path w="4432935" h="645794">
                  <a:moveTo>
                    <a:pt x="4432554" y="0"/>
                  </a:moveTo>
                  <a:lnTo>
                    <a:pt x="0" y="0"/>
                  </a:lnTo>
                  <a:lnTo>
                    <a:pt x="0" y="594868"/>
                  </a:lnTo>
                  <a:lnTo>
                    <a:pt x="4008" y="614592"/>
                  </a:lnTo>
                  <a:lnTo>
                    <a:pt x="14922" y="630745"/>
                  </a:lnTo>
                  <a:lnTo>
                    <a:pt x="31075" y="641659"/>
                  </a:lnTo>
                  <a:lnTo>
                    <a:pt x="50800" y="645668"/>
                  </a:lnTo>
                  <a:lnTo>
                    <a:pt x="4381754" y="645668"/>
                  </a:lnTo>
                  <a:lnTo>
                    <a:pt x="4401478" y="641659"/>
                  </a:lnTo>
                  <a:lnTo>
                    <a:pt x="4417631" y="630745"/>
                  </a:lnTo>
                  <a:lnTo>
                    <a:pt x="4428545" y="614592"/>
                  </a:lnTo>
                  <a:lnTo>
                    <a:pt x="4432554" y="594868"/>
                  </a:lnTo>
                  <a:lnTo>
                    <a:pt x="4432554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520310" y="1036078"/>
              <a:ext cx="0" cy="744220"/>
            </a:xfrm>
            <a:custGeom>
              <a:avLst/>
              <a:gdLst/>
              <a:ahLst/>
              <a:cxnLst/>
              <a:rect l="l" t="t" r="r" b="b"/>
              <a:pathLst>
                <a:path h="744219">
                  <a:moveTo>
                    <a:pt x="0" y="74421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520310" y="1023378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520310" y="1010678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520310" y="997978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81597" y="1216063"/>
              <a:ext cx="64757" cy="64757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81597" y="1426095"/>
              <a:ext cx="64757" cy="64757"/>
            </a:xfrm>
            <a:prstGeom prst="rect">
              <a:avLst/>
            </a:prstGeom>
          </p:spPr>
        </p:pic>
      </p:grpSp>
      <p:sp>
        <p:nvSpPr>
          <p:cNvPr id="16" name="object 16"/>
          <p:cNvSpPr txBox="1"/>
          <p:nvPr/>
        </p:nvSpPr>
        <p:spPr>
          <a:xfrm>
            <a:off x="125729" y="874466"/>
            <a:ext cx="3091180" cy="904875"/>
          </a:xfrm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sz="1100" i="1" spc="-25" dirty="0">
                <a:solidFill>
                  <a:srgbClr val="3232B2"/>
                </a:solidFill>
                <a:latin typeface="Cambria"/>
                <a:cs typeface="Cambria"/>
              </a:rPr>
              <a:t>Zeugma</a:t>
            </a:r>
            <a:r>
              <a:rPr sz="1100" i="1" spc="-5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100" i="1" spc="-20" dirty="0">
                <a:solidFill>
                  <a:srgbClr val="3232B2"/>
                </a:solidFill>
                <a:latin typeface="Cambria"/>
                <a:cs typeface="Cambria"/>
              </a:rPr>
              <a:t>test</a:t>
            </a:r>
            <a:endParaRPr sz="1100">
              <a:latin typeface="Cambria"/>
              <a:cs typeface="Cambria"/>
            </a:endParaRPr>
          </a:p>
          <a:p>
            <a:pPr marL="289560" marR="403225">
              <a:lnSpc>
                <a:spcPts val="1650"/>
              </a:lnSpc>
              <a:spcBef>
                <a:spcPts val="55"/>
              </a:spcBef>
            </a:pPr>
            <a:r>
              <a:rPr sz="950" dirty="0">
                <a:latin typeface="Trebuchet MS"/>
                <a:cs typeface="Trebuchet MS"/>
              </a:rPr>
              <a:t>Which</a:t>
            </a:r>
            <a:r>
              <a:rPr sz="950" spc="2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of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these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flights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i="1" dirty="0">
                <a:latin typeface="Trebuchet MS"/>
                <a:cs typeface="Trebuchet MS"/>
              </a:rPr>
              <a:t>serve</a:t>
            </a:r>
            <a:r>
              <a:rPr sz="950" i="1" spc="2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breakfast?</a:t>
            </a:r>
            <a:r>
              <a:rPr sz="950" spc="70" dirty="0">
                <a:latin typeface="Trebuchet MS"/>
                <a:cs typeface="Trebuchet MS"/>
              </a:rPr>
              <a:t> Does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spc="20" dirty="0">
                <a:latin typeface="Trebuchet MS"/>
                <a:cs typeface="Trebuchet MS"/>
              </a:rPr>
              <a:t>Midwest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spc="20" dirty="0">
                <a:latin typeface="Trebuchet MS"/>
                <a:cs typeface="Trebuchet MS"/>
              </a:rPr>
              <a:t>Express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i="1" spc="20" dirty="0">
                <a:latin typeface="Trebuchet MS"/>
                <a:cs typeface="Trebuchet MS"/>
              </a:rPr>
              <a:t>serve</a:t>
            </a:r>
            <a:r>
              <a:rPr sz="950" i="1" spc="3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Philadelphia?</a:t>
            </a:r>
            <a:endParaRPr sz="9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sz="950" spc="60" dirty="0">
                <a:latin typeface="Trebuchet MS"/>
                <a:cs typeface="Trebuchet MS"/>
              </a:rPr>
              <a:t>*</a:t>
            </a:r>
            <a:r>
              <a:rPr sz="950" i="1" spc="60" dirty="0">
                <a:latin typeface="Trebuchet MS"/>
                <a:cs typeface="Trebuchet MS"/>
              </a:rPr>
              <a:t>Does </a:t>
            </a:r>
            <a:r>
              <a:rPr sz="950" i="1" dirty="0">
                <a:latin typeface="Trebuchet MS"/>
                <a:cs typeface="Trebuchet MS"/>
              </a:rPr>
              <a:t>Midwest</a:t>
            </a:r>
            <a:r>
              <a:rPr sz="950" i="1" spc="60" dirty="0">
                <a:latin typeface="Trebuchet MS"/>
                <a:cs typeface="Trebuchet MS"/>
              </a:rPr>
              <a:t> </a:t>
            </a:r>
            <a:r>
              <a:rPr sz="950" i="1" dirty="0">
                <a:latin typeface="Trebuchet MS"/>
                <a:cs typeface="Trebuchet MS"/>
              </a:rPr>
              <a:t>Express</a:t>
            </a:r>
            <a:r>
              <a:rPr sz="950" i="1" spc="60" dirty="0">
                <a:latin typeface="Trebuchet MS"/>
                <a:cs typeface="Trebuchet MS"/>
              </a:rPr>
              <a:t> </a:t>
            </a:r>
            <a:r>
              <a:rPr sz="950" i="1" dirty="0">
                <a:latin typeface="Trebuchet MS"/>
                <a:cs typeface="Trebuchet MS"/>
              </a:rPr>
              <a:t>serve</a:t>
            </a:r>
            <a:r>
              <a:rPr sz="950" i="1" spc="65" dirty="0">
                <a:latin typeface="Trebuchet MS"/>
                <a:cs typeface="Trebuchet MS"/>
              </a:rPr>
              <a:t> </a:t>
            </a:r>
            <a:r>
              <a:rPr sz="950" i="1" spc="-10" dirty="0">
                <a:latin typeface="Trebuchet MS"/>
                <a:cs typeface="Trebuchet MS"/>
              </a:rPr>
              <a:t>breakfast</a:t>
            </a:r>
            <a:r>
              <a:rPr sz="950" i="1" spc="60" dirty="0">
                <a:latin typeface="Trebuchet MS"/>
                <a:cs typeface="Trebuchet MS"/>
              </a:rPr>
              <a:t> </a:t>
            </a:r>
            <a:r>
              <a:rPr sz="950" i="1" dirty="0">
                <a:latin typeface="Trebuchet MS"/>
                <a:cs typeface="Trebuchet MS"/>
              </a:rPr>
              <a:t>and</a:t>
            </a:r>
            <a:r>
              <a:rPr sz="950" i="1" spc="60" dirty="0">
                <a:latin typeface="Trebuchet MS"/>
                <a:cs typeface="Trebuchet MS"/>
              </a:rPr>
              <a:t> </a:t>
            </a:r>
            <a:r>
              <a:rPr sz="950" i="1" spc="80" dirty="0">
                <a:latin typeface="Trebuchet MS"/>
                <a:cs typeface="Trebuchet MS"/>
              </a:rPr>
              <a:t>San</a:t>
            </a:r>
            <a:r>
              <a:rPr sz="950" i="1" spc="60" dirty="0">
                <a:latin typeface="Trebuchet MS"/>
                <a:cs typeface="Trebuchet MS"/>
              </a:rPr>
              <a:t> </a:t>
            </a:r>
            <a:r>
              <a:rPr sz="950" i="1" spc="65" dirty="0">
                <a:latin typeface="Trebuchet MS"/>
                <a:cs typeface="Trebuchet MS"/>
              </a:rPr>
              <a:t>Jose?</a:t>
            </a:r>
            <a:endParaRPr sz="950">
              <a:latin typeface="Trebuchet MS"/>
              <a:cs typeface="Trebuchet MS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016760" y="3339672"/>
            <a:ext cx="57467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8" action="ppaction://hlinksldjump"/>
              </a:rPr>
              <a:t>Lexical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  <a:hlinkClick r:id="rId8" action="ppaction://hlinksldjump"/>
              </a:rPr>
              <a:t>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  <a:hlinkClick r:id="rId8" action="ppaction://hlinksldjump"/>
              </a:rPr>
              <a:t>Semantics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608260" y="3339672"/>
            <a:ext cx="56388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8,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1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317424" y="3339672"/>
            <a:ext cx="236854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10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10" dirty="0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</a:rPr>
              <a:t>18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25" name="Slide Number Placeholder 24">
            <a:extLst>
              <a:ext uri="{FF2B5EF4-FFF2-40B4-BE49-F238E27FC236}">
                <a16:creationId xmlns:a16="http://schemas.microsoft.com/office/drawing/2014/main" id="{CEEB3D8F-AE5E-40F8-8398-6EB91402B05A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4292024" y="3339672"/>
            <a:ext cx="262254" cy="116204"/>
          </a:xfrm>
          <a:prstGeom prst="rect">
            <a:avLst/>
          </a:prstGeom>
        </p:spPr>
        <p:txBody>
          <a:bodyPr/>
          <a:lstStyle/>
          <a:p>
            <a:pPr marL="75565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lang="en-IN" smtClean="0"/>
              <a:t>20</a:t>
            </a:fld>
            <a:r>
              <a:rPr lang="en-IN" spc="-5"/>
              <a:t> </a:t>
            </a:r>
            <a:r>
              <a:rPr lang="en-IN" spc="-110"/>
              <a:t>/</a:t>
            </a:r>
            <a:r>
              <a:rPr lang="en-IN" spc="15"/>
              <a:t> </a:t>
            </a:r>
            <a:r>
              <a:rPr lang="en-IN" spc="-25"/>
              <a:t>18</a:t>
            </a:r>
            <a:endParaRPr lang="en-IN" spc="-25" dirty="0"/>
          </a:p>
        </p:txBody>
      </p:sp>
    </p:spTree>
  </p:cSld>
  <p:clrMapOvr>
    <a:masterClrMapping/>
  </p:clrMapOvr>
  <p:transition>
    <p:cut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Polysemy:</a:t>
            </a:r>
            <a:r>
              <a:rPr spc="60" dirty="0"/>
              <a:t> </a:t>
            </a:r>
            <a:r>
              <a:rPr spc="-10" dirty="0"/>
              <a:t>multiple</a:t>
            </a:r>
            <a:r>
              <a:rPr spc="-15" dirty="0"/>
              <a:t> </a:t>
            </a:r>
            <a:r>
              <a:rPr spc="-10" dirty="0"/>
              <a:t>related meanings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7743" y="953744"/>
            <a:ext cx="4483735" cy="909319"/>
            <a:chOff x="87743" y="953744"/>
            <a:chExt cx="4483735" cy="909319"/>
          </a:xfrm>
        </p:grpSpPr>
        <p:sp>
          <p:nvSpPr>
            <p:cNvPr id="4" name="object 4"/>
            <p:cNvSpPr/>
            <p:nvPr/>
          </p:nvSpPr>
          <p:spPr>
            <a:xfrm>
              <a:off x="87743" y="953744"/>
              <a:ext cx="4432935" cy="180975"/>
            </a:xfrm>
            <a:custGeom>
              <a:avLst/>
              <a:gdLst/>
              <a:ahLst/>
              <a:cxnLst/>
              <a:rect l="l" t="t" r="r" b="b"/>
              <a:pathLst>
                <a:path w="4432935" h="180975">
                  <a:moveTo>
                    <a:pt x="4381754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0975"/>
                  </a:lnTo>
                  <a:lnTo>
                    <a:pt x="4432554" y="180975"/>
                  </a:lnTo>
                  <a:lnTo>
                    <a:pt x="4432554" y="50800"/>
                  </a:lnTo>
                  <a:lnTo>
                    <a:pt x="4428545" y="31075"/>
                  </a:lnTo>
                  <a:lnTo>
                    <a:pt x="4417631" y="14922"/>
                  </a:lnTo>
                  <a:lnTo>
                    <a:pt x="4401478" y="4008"/>
                  </a:lnTo>
                  <a:lnTo>
                    <a:pt x="4381754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744" y="1122057"/>
              <a:ext cx="4432554" cy="5060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8544" y="1761248"/>
              <a:ext cx="101599" cy="1016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9344" y="1748548"/>
              <a:ext cx="4381754" cy="1143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20298" y="997978"/>
              <a:ext cx="50800" cy="763270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87743" y="1166380"/>
              <a:ext cx="4432935" cy="645795"/>
            </a:xfrm>
            <a:custGeom>
              <a:avLst/>
              <a:gdLst/>
              <a:ahLst/>
              <a:cxnLst/>
              <a:rect l="l" t="t" r="r" b="b"/>
              <a:pathLst>
                <a:path w="4432935" h="645794">
                  <a:moveTo>
                    <a:pt x="4432554" y="0"/>
                  </a:moveTo>
                  <a:lnTo>
                    <a:pt x="0" y="0"/>
                  </a:lnTo>
                  <a:lnTo>
                    <a:pt x="0" y="594868"/>
                  </a:lnTo>
                  <a:lnTo>
                    <a:pt x="4008" y="614592"/>
                  </a:lnTo>
                  <a:lnTo>
                    <a:pt x="14922" y="630745"/>
                  </a:lnTo>
                  <a:lnTo>
                    <a:pt x="31075" y="641659"/>
                  </a:lnTo>
                  <a:lnTo>
                    <a:pt x="50800" y="645668"/>
                  </a:lnTo>
                  <a:lnTo>
                    <a:pt x="4381754" y="645668"/>
                  </a:lnTo>
                  <a:lnTo>
                    <a:pt x="4401478" y="641659"/>
                  </a:lnTo>
                  <a:lnTo>
                    <a:pt x="4417631" y="630745"/>
                  </a:lnTo>
                  <a:lnTo>
                    <a:pt x="4428545" y="614592"/>
                  </a:lnTo>
                  <a:lnTo>
                    <a:pt x="4432554" y="594868"/>
                  </a:lnTo>
                  <a:lnTo>
                    <a:pt x="4432554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520310" y="1036078"/>
              <a:ext cx="0" cy="744220"/>
            </a:xfrm>
            <a:custGeom>
              <a:avLst/>
              <a:gdLst/>
              <a:ahLst/>
              <a:cxnLst/>
              <a:rect l="l" t="t" r="r" b="b"/>
              <a:pathLst>
                <a:path h="744219">
                  <a:moveTo>
                    <a:pt x="0" y="74421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520310" y="1023378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520310" y="1010678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520310" y="997978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81597" y="1216063"/>
              <a:ext cx="64757" cy="64757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81597" y="1426095"/>
              <a:ext cx="64757" cy="64757"/>
            </a:xfrm>
            <a:prstGeom prst="rect">
              <a:avLst/>
            </a:prstGeom>
          </p:spPr>
        </p:pic>
      </p:grpSp>
      <p:grpSp>
        <p:nvGrpSpPr>
          <p:cNvPr id="16" name="object 16"/>
          <p:cNvGrpSpPr/>
          <p:nvPr/>
        </p:nvGrpSpPr>
        <p:grpSpPr>
          <a:xfrm>
            <a:off x="87743" y="1963978"/>
            <a:ext cx="4483735" cy="628015"/>
            <a:chOff x="87743" y="1963978"/>
            <a:chExt cx="4483735" cy="628015"/>
          </a:xfrm>
        </p:grpSpPr>
        <p:sp>
          <p:nvSpPr>
            <p:cNvPr id="17" name="object 17"/>
            <p:cNvSpPr/>
            <p:nvPr/>
          </p:nvSpPr>
          <p:spPr>
            <a:xfrm>
              <a:off x="87743" y="1963978"/>
              <a:ext cx="4432935" cy="358140"/>
            </a:xfrm>
            <a:custGeom>
              <a:avLst/>
              <a:gdLst/>
              <a:ahLst/>
              <a:cxnLst/>
              <a:rect l="l" t="t" r="r" b="b"/>
              <a:pathLst>
                <a:path w="4432935" h="358139">
                  <a:moveTo>
                    <a:pt x="4381754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357759"/>
                  </a:lnTo>
                  <a:lnTo>
                    <a:pt x="4432554" y="357759"/>
                  </a:lnTo>
                  <a:lnTo>
                    <a:pt x="4432554" y="50800"/>
                  </a:lnTo>
                  <a:lnTo>
                    <a:pt x="4428545" y="31075"/>
                  </a:lnTo>
                  <a:lnTo>
                    <a:pt x="4417631" y="14922"/>
                  </a:lnTo>
                  <a:lnTo>
                    <a:pt x="4401478" y="4008"/>
                  </a:lnTo>
                  <a:lnTo>
                    <a:pt x="4381754" y="0"/>
                  </a:lnTo>
                  <a:close/>
                </a:path>
              </a:pathLst>
            </a:custGeom>
            <a:solidFill>
              <a:srgbClr val="FF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7744" y="2309063"/>
              <a:ext cx="4432554" cy="50609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38544" y="2490241"/>
              <a:ext cx="101599" cy="101600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89344" y="2477541"/>
              <a:ext cx="4381754" cy="114300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520298" y="2008213"/>
              <a:ext cx="50800" cy="482028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87743" y="2353335"/>
              <a:ext cx="4432935" cy="187960"/>
            </a:xfrm>
            <a:custGeom>
              <a:avLst/>
              <a:gdLst/>
              <a:ahLst/>
              <a:cxnLst/>
              <a:rect l="l" t="t" r="r" b="b"/>
              <a:pathLst>
                <a:path w="4432935" h="187960">
                  <a:moveTo>
                    <a:pt x="4432554" y="0"/>
                  </a:moveTo>
                  <a:lnTo>
                    <a:pt x="0" y="0"/>
                  </a:lnTo>
                  <a:lnTo>
                    <a:pt x="0" y="136906"/>
                  </a:lnTo>
                  <a:lnTo>
                    <a:pt x="4008" y="156630"/>
                  </a:lnTo>
                  <a:lnTo>
                    <a:pt x="14922" y="172783"/>
                  </a:lnTo>
                  <a:lnTo>
                    <a:pt x="31075" y="183697"/>
                  </a:lnTo>
                  <a:lnTo>
                    <a:pt x="50800" y="187706"/>
                  </a:lnTo>
                  <a:lnTo>
                    <a:pt x="4381754" y="187706"/>
                  </a:lnTo>
                  <a:lnTo>
                    <a:pt x="4401478" y="183697"/>
                  </a:lnTo>
                  <a:lnTo>
                    <a:pt x="4417631" y="172783"/>
                  </a:lnTo>
                  <a:lnTo>
                    <a:pt x="4428545" y="156630"/>
                  </a:lnTo>
                  <a:lnTo>
                    <a:pt x="4432554" y="136906"/>
                  </a:lnTo>
                  <a:lnTo>
                    <a:pt x="4432554" y="0"/>
                  </a:lnTo>
                  <a:close/>
                </a:path>
              </a:pathLst>
            </a:custGeom>
            <a:solidFill>
              <a:srgbClr val="FFE5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4520309" y="2046376"/>
              <a:ext cx="0" cy="462915"/>
            </a:xfrm>
            <a:custGeom>
              <a:avLst/>
              <a:gdLst/>
              <a:ahLst/>
              <a:cxnLst/>
              <a:rect l="l" t="t" r="r" b="b"/>
              <a:pathLst>
                <a:path h="462914">
                  <a:moveTo>
                    <a:pt x="0" y="462915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520309" y="2033609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4520309" y="2020909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4520309" y="2008209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125729" y="874466"/>
            <a:ext cx="4104004" cy="1633855"/>
          </a:xfrm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sz="1100" i="1" spc="-25" dirty="0">
                <a:solidFill>
                  <a:srgbClr val="3232B2"/>
                </a:solidFill>
                <a:latin typeface="Cambria"/>
                <a:cs typeface="Cambria"/>
              </a:rPr>
              <a:t>Zeugma</a:t>
            </a:r>
            <a:r>
              <a:rPr sz="1100" i="1" spc="-5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100" i="1" spc="-20" dirty="0">
                <a:solidFill>
                  <a:srgbClr val="3232B2"/>
                </a:solidFill>
                <a:latin typeface="Cambria"/>
                <a:cs typeface="Cambria"/>
              </a:rPr>
              <a:t>test</a:t>
            </a:r>
            <a:endParaRPr sz="1100">
              <a:latin typeface="Cambria"/>
              <a:cs typeface="Cambria"/>
            </a:endParaRPr>
          </a:p>
          <a:p>
            <a:pPr marL="289560" marR="1416050">
              <a:lnSpc>
                <a:spcPts val="1650"/>
              </a:lnSpc>
              <a:spcBef>
                <a:spcPts val="55"/>
              </a:spcBef>
            </a:pPr>
            <a:r>
              <a:rPr sz="950" dirty="0">
                <a:latin typeface="Trebuchet MS"/>
                <a:cs typeface="Trebuchet MS"/>
              </a:rPr>
              <a:t>Which</a:t>
            </a:r>
            <a:r>
              <a:rPr sz="950" spc="2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of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these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flights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i="1" dirty="0">
                <a:latin typeface="Trebuchet MS"/>
                <a:cs typeface="Trebuchet MS"/>
              </a:rPr>
              <a:t>serve</a:t>
            </a:r>
            <a:r>
              <a:rPr sz="950" i="1" spc="2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breakfast?</a:t>
            </a:r>
            <a:r>
              <a:rPr sz="950" spc="70" dirty="0">
                <a:latin typeface="Trebuchet MS"/>
                <a:cs typeface="Trebuchet MS"/>
              </a:rPr>
              <a:t> Does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spc="20" dirty="0">
                <a:latin typeface="Trebuchet MS"/>
                <a:cs typeface="Trebuchet MS"/>
              </a:rPr>
              <a:t>Midwest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spc="20" dirty="0">
                <a:latin typeface="Trebuchet MS"/>
                <a:cs typeface="Trebuchet MS"/>
              </a:rPr>
              <a:t>Express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i="1" spc="20" dirty="0">
                <a:latin typeface="Trebuchet MS"/>
                <a:cs typeface="Trebuchet MS"/>
              </a:rPr>
              <a:t>serve</a:t>
            </a:r>
            <a:r>
              <a:rPr sz="950" i="1" spc="3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Philadelphia?</a:t>
            </a:r>
            <a:endParaRPr sz="9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sz="950" spc="60" dirty="0">
                <a:latin typeface="Trebuchet MS"/>
                <a:cs typeface="Trebuchet MS"/>
              </a:rPr>
              <a:t>*</a:t>
            </a:r>
            <a:r>
              <a:rPr sz="950" i="1" spc="60" dirty="0">
                <a:latin typeface="Trebuchet MS"/>
                <a:cs typeface="Trebuchet MS"/>
              </a:rPr>
              <a:t>Does </a:t>
            </a:r>
            <a:r>
              <a:rPr sz="950" i="1" dirty="0">
                <a:latin typeface="Trebuchet MS"/>
                <a:cs typeface="Trebuchet MS"/>
              </a:rPr>
              <a:t>Midwest</a:t>
            </a:r>
            <a:r>
              <a:rPr sz="950" i="1" spc="60" dirty="0">
                <a:latin typeface="Trebuchet MS"/>
                <a:cs typeface="Trebuchet MS"/>
              </a:rPr>
              <a:t> </a:t>
            </a:r>
            <a:r>
              <a:rPr sz="950" i="1" dirty="0">
                <a:latin typeface="Trebuchet MS"/>
                <a:cs typeface="Trebuchet MS"/>
              </a:rPr>
              <a:t>Express</a:t>
            </a:r>
            <a:r>
              <a:rPr sz="950" i="1" spc="60" dirty="0">
                <a:latin typeface="Trebuchet MS"/>
                <a:cs typeface="Trebuchet MS"/>
              </a:rPr>
              <a:t> </a:t>
            </a:r>
            <a:r>
              <a:rPr sz="950" i="1" dirty="0">
                <a:latin typeface="Trebuchet MS"/>
                <a:cs typeface="Trebuchet MS"/>
              </a:rPr>
              <a:t>serve</a:t>
            </a:r>
            <a:r>
              <a:rPr sz="950" i="1" spc="65" dirty="0">
                <a:latin typeface="Trebuchet MS"/>
                <a:cs typeface="Trebuchet MS"/>
              </a:rPr>
              <a:t> </a:t>
            </a:r>
            <a:r>
              <a:rPr sz="950" i="1" spc="-10" dirty="0">
                <a:latin typeface="Trebuchet MS"/>
                <a:cs typeface="Trebuchet MS"/>
              </a:rPr>
              <a:t>breakfast</a:t>
            </a:r>
            <a:r>
              <a:rPr sz="950" i="1" spc="60" dirty="0">
                <a:latin typeface="Trebuchet MS"/>
                <a:cs typeface="Trebuchet MS"/>
              </a:rPr>
              <a:t> </a:t>
            </a:r>
            <a:r>
              <a:rPr sz="950" i="1" dirty="0">
                <a:latin typeface="Trebuchet MS"/>
                <a:cs typeface="Trebuchet MS"/>
              </a:rPr>
              <a:t>and</a:t>
            </a:r>
            <a:r>
              <a:rPr sz="950" i="1" spc="60" dirty="0">
                <a:latin typeface="Trebuchet MS"/>
                <a:cs typeface="Trebuchet MS"/>
              </a:rPr>
              <a:t> </a:t>
            </a:r>
            <a:r>
              <a:rPr sz="950" i="1" spc="80" dirty="0">
                <a:latin typeface="Trebuchet MS"/>
                <a:cs typeface="Trebuchet MS"/>
              </a:rPr>
              <a:t>San</a:t>
            </a:r>
            <a:r>
              <a:rPr sz="950" i="1" spc="60" dirty="0">
                <a:latin typeface="Trebuchet MS"/>
                <a:cs typeface="Trebuchet MS"/>
              </a:rPr>
              <a:t> </a:t>
            </a:r>
            <a:r>
              <a:rPr sz="950" i="1" spc="65" dirty="0">
                <a:latin typeface="Trebuchet MS"/>
                <a:cs typeface="Trebuchet MS"/>
              </a:rPr>
              <a:t>Jose?</a:t>
            </a:r>
            <a:endParaRPr sz="9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365"/>
              </a:spcBef>
            </a:pPr>
            <a:endParaRPr sz="950">
              <a:latin typeface="Trebuchet MS"/>
              <a:cs typeface="Trebuchet MS"/>
            </a:endParaRPr>
          </a:p>
          <a:p>
            <a:pPr marL="12700" marR="354330">
              <a:lnSpc>
                <a:spcPct val="102600"/>
              </a:lnSpc>
            </a:pPr>
            <a:r>
              <a:rPr sz="1100" i="1" dirty="0">
                <a:solidFill>
                  <a:srgbClr val="FF0000"/>
                </a:solidFill>
                <a:latin typeface="Cambria"/>
                <a:cs typeface="Cambria"/>
              </a:rPr>
              <a:t>Combine</a:t>
            </a:r>
            <a:r>
              <a:rPr sz="1100" i="1" spc="-3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100" i="1" spc="-45" dirty="0">
                <a:solidFill>
                  <a:srgbClr val="FF0000"/>
                </a:solidFill>
                <a:latin typeface="Cambria"/>
                <a:cs typeface="Cambria"/>
              </a:rPr>
              <a:t>two</a:t>
            </a:r>
            <a:r>
              <a:rPr sz="1100" i="1" spc="-1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100" i="1" spc="-30" dirty="0">
                <a:solidFill>
                  <a:srgbClr val="FF0000"/>
                </a:solidFill>
                <a:latin typeface="Cambria"/>
                <a:cs typeface="Cambria"/>
              </a:rPr>
              <a:t>separate</a:t>
            </a:r>
            <a:r>
              <a:rPr sz="1100" i="1" spc="-2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100" i="1" dirty="0">
                <a:solidFill>
                  <a:srgbClr val="FF0000"/>
                </a:solidFill>
                <a:latin typeface="Cambria"/>
                <a:cs typeface="Cambria"/>
              </a:rPr>
              <a:t>uses</a:t>
            </a:r>
            <a:r>
              <a:rPr sz="1100" i="1" spc="-2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100" i="1" dirty="0">
                <a:solidFill>
                  <a:srgbClr val="FF0000"/>
                </a:solidFill>
                <a:latin typeface="Cambria"/>
                <a:cs typeface="Cambria"/>
              </a:rPr>
              <a:t>of</a:t>
            </a:r>
            <a:r>
              <a:rPr sz="1100" i="1" spc="-2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100" i="1" dirty="0">
                <a:solidFill>
                  <a:srgbClr val="FF0000"/>
                </a:solidFill>
                <a:latin typeface="Cambria"/>
                <a:cs typeface="Cambria"/>
              </a:rPr>
              <a:t>a</a:t>
            </a:r>
            <a:r>
              <a:rPr sz="1100" i="1" spc="-20" dirty="0">
                <a:solidFill>
                  <a:srgbClr val="FF0000"/>
                </a:solidFill>
                <a:latin typeface="Cambria"/>
                <a:cs typeface="Cambria"/>
              </a:rPr>
              <a:t> lexeme into</a:t>
            </a:r>
            <a:r>
              <a:rPr sz="1100" i="1" spc="-2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100" i="1" dirty="0">
                <a:solidFill>
                  <a:srgbClr val="FF0000"/>
                </a:solidFill>
                <a:latin typeface="Cambria"/>
                <a:cs typeface="Cambria"/>
              </a:rPr>
              <a:t>a</a:t>
            </a:r>
            <a:r>
              <a:rPr sz="1100" i="1" spc="-2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100" i="1" dirty="0">
                <a:solidFill>
                  <a:srgbClr val="FF0000"/>
                </a:solidFill>
                <a:latin typeface="Cambria"/>
                <a:cs typeface="Cambria"/>
              </a:rPr>
              <a:t>single</a:t>
            </a:r>
            <a:r>
              <a:rPr sz="1100" i="1" spc="-2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100" i="1" spc="-25" dirty="0">
                <a:solidFill>
                  <a:srgbClr val="FF0000"/>
                </a:solidFill>
                <a:latin typeface="Cambria"/>
                <a:cs typeface="Cambria"/>
              </a:rPr>
              <a:t>example</a:t>
            </a:r>
            <a:r>
              <a:rPr sz="1100" i="1" spc="-2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100" i="1" spc="-10" dirty="0">
                <a:solidFill>
                  <a:srgbClr val="FF0000"/>
                </a:solidFill>
                <a:latin typeface="Cambria"/>
                <a:cs typeface="Cambria"/>
              </a:rPr>
              <a:t>using conjunction</a:t>
            </a:r>
            <a:endParaRPr sz="11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425"/>
              </a:spcBef>
            </a:pPr>
            <a:r>
              <a:rPr sz="950" dirty="0">
                <a:latin typeface="Trebuchet MS"/>
                <a:cs typeface="Trebuchet MS"/>
              </a:rPr>
              <a:t>Since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spc="-85" dirty="0">
                <a:latin typeface="Trebuchet MS"/>
                <a:cs typeface="Trebuchet MS"/>
              </a:rPr>
              <a:t>it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sounds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spc="-25" dirty="0">
                <a:latin typeface="Trebuchet MS"/>
                <a:cs typeface="Trebuchet MS"/>
              </a:rPr>
              <a:t>weird,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we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say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spc="-30" dirty="0">
                <a:latin typeface="Trebuchet MS"/>
                <a:cs typeface="Trebuchet MS"/>
              </a:rPr>
              <a:t>that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these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are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two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spc="-35" dirty="0">
                <a:latin typeface="Trebuchet MS"/>
                <a:cs typeface="Trebuchet MS"/>
              </a:rPr>
              <a:t>different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spc="60" dirty="0">
                <a:latin typeface="Trebuchet MS"/>
                <a:cs typeface="Trebuchet MS"/>
              </a:rPr>
              <a:t>senses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of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i="1" spc="-10" dirty="0">
                <a:latin typeface="Trebuchet MS"/>
                <a:cs typeface="Trebuchet MS"/>
              </a:rPr>
              <a:t>serve</a:t>
            </a:r>
            <a:r>
              <a:rPr sz="950" spc="-10" dirty="0">
                <a:latin typeface="Trebuchet MS"/>
                <a:cs typeface="Trebuchet MS"/>
              </a:rPr>
              <a:t>.</a:t>
            </a:r>
            <a:endParaRPr sz="950">
              <a:latin typeface="Trebuchet MS"/>
              <a:cs typeface="Trebuchet MS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0" y="3347161"/>
            <a:ext cx="4608195" cy="109220"/>
            <a:chOff x="0" y="3347161"/>
            <a:chExt cx="4608195" cy="109220"/>
          </a:xfrm>
        </p:grpSpPr>
        <p:sp>
          <p:nvSpPr>
            <p:cNvPr id="29" name="object 29"/>
            <p:cNvSpPr/>
            <p:nvPr/>
          </p:nvSpPr>
          <p:spPr>
            <a:xfrm>
              <a:off x="0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5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1535976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3071952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3232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2016760" y="3339672"/>
            <a:ext cx="57467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12" action="ppaction://hlinksldjump"/>
              </a:rPr>
              <a:t>Lexical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  <a:hlinkClick r:id="rId12" action="ppaction://hlinksldjump"/>
              </a:rPr>
              <a:t>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  <a:hlinkClick r:id="rId12" action="ppaction://hlinksldjump"/>
              </a:rPr>
              <a:t>Semantics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3608260" y="3339672"/>
            <a:ext cx="56388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8,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1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4317424" y="3339672"/>
            <a:ext cx="236854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10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10" dirty="0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</a:rPr>
              <a:t>18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36" name="Slide Number Placeholder 35">
            <a:extLst>
              <a:ext uri="{FF2B5EF4-FFF2-40B4-BE49-F238E27FC236}">
                <a16:creationId xmlns:a16="http://schemas.microsoft.com/office/drawing/2014/main" id="{E4BE989D-271D-46CE-9D08-CF0AD9B380CF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4292024" y="3339672"/>
            <a:ext cx="262254" cy="116204"/>
          </a:xfrm>
          <a:prstGeom prst="rect">
            <a:avLst/>
          </a:prstGeom>
        </p:spPr>
        <p:txBody>
          <a:bodyPr/>
          <a:lstStyle/>
          <a:p>
            <a:pPr marL="75565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lang="en-IN" smtClean="0"/>
              <a:t>21</a:t>
            </a:fld>
            <a:r>
              <a:rPr lang="en-IN" spc="-5"/>
              <a:t> </a:t>
            </a:r>
            <a:r>
              <a:rPr lang="en-IN" spc="-110"/>
              <a:t>/</a:t>
            </a:r>
            <a:r>
              <a:rPr lang="en-IN" spc="15"/>
              <a:t> </a:t>
            </a:r>
            <a:r>
              <a:rPr lang="en-IN" spc="-25"/>
              <a:t>18</a:t>
            </a:r>
            <a:endParaRPr lang="en-IN" spc="-25" dirty="0"/>
          </a:p>
        </p:txBody>
      </p:sp>
    </p:spTree>
  </p:cSld>
  <p:clrMapOvr>
    <a:masterClrMapping/>
  </p:clrMapOvr>
  <p:transition>
    <p:cut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250" y="60502"/>
            <a:ext cx="76454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Synonymy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7743" y="796264"/>
            <a:ext cx="4483735" cy="1500505"/>
            <a:chOff x="87743" y="796264"/>
            <a:chExt cx="4483735" cy="1500505"/>
          </a:xfrm>
        </p:grpSpPr>
        <p:sp>
          <p:nvSpPr>
            <p:cNvPr id="4" name="object 4"/>
            <p:cNvSpPr/>
            <p:nvPr/>
          </p:nvSpPr>
          <p:spPr>
            <a:xfrm>
              <a:off x="87743" y="796264"/>
              <a:ext cx="4432935" cy="186055"/>
            </a:xfrm>
            <a:custGeom>
              <a:avLst/>
              <a:gdLst/>
              <a:ahLst/>
              <a:cxnLst/>
              <a:rect l="l" t="t" r="r" b="b"/>
              <a:pathLst>
                <a:path w="4432935" h="186055">
                  <a:moveTo>
                    <a:pt x="4381754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5674"/>
                  </a:lnTo>
                  <a:lnTo>
                    <a:pt x="4432554" y="185674"/>
                  </a:lnTo>
                  <a:lnTo>
                    <a:pt x="4432554" y="50800"/>
                  </a:lnTo>
                  <a:lnTo>
                    <a:pt x="4428545" y="31075"/>
                  </a:lnTo>
                  <a:lnTo>
                    <a:pt x="4417631" y="14922"/>
                  </a:lnTo>
                  <a:lnTo>
                    <a:pt x="4401478" y="4008"/>
                  </a:lnTo>
                  <a:lnTo>
                    <a:pt x="4381754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744" y="969289"/>
              <a:ext cx="4432554" cy="5060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8544" y="2195156"/>
              <a:ext cx="101599" cy="1016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9344" y="2182456"/>
              <a:ext cx="4381754" cy="1143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20298" y="840498"/>
              <a:ext cx="50800" cy="1354658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87743" y="1013548"/>
              <a:ext cx="4432935" cy="1232535"/>
            </a:xfrm>
            <a:custGeom>
              <a:avLst/>
              <a:gdLst/>
              <a:ahLst/>
              <a:cxnLst/>
              <a:rect l="l" t="t" r="r" b="b"/>
              <a:pathLst>
                <a:path w="4432935" h="1232535">
                  <a:moveTo>
                    <a:pt x="4432554" y="0"/>
                  </a:moveTo>
                  <a:lnTo>
                    <a:pt x="0" y="0"/>
                  </a:lnTo>
                  <a:lnTo>
                    <a:pt x="0" y="1181608"/>
                  </a:lnTo>
                  <a:lnTo>
                    <a:pt x="4008" y="1201332"/>
                  </a:lnTo>
                  <a:lnTo>
                    <a:pt x="14922" y="1217485"/>
                  </a:lnTo>
                  <a:lnTo>
                    <a:pt x="31075" y="1228399"/>
                  </a:lnTo>
                  <a:lnTo>
                    <a:pt x="50800" y="1232408"/>
                  </a:lnTo>
                  <a:lnTo>
                    <a:pt x="4381754" y="1232408"/>
                  </a:lnTo>
                  <a:lnTo>
                    <a:pt x="4401478" y="1228399"/>
                  </a:lnTo>
                  <a:lnTo>
                    <a:pt x="4417631" y="1217485"/>
                  </a:lnTo>
                  <a:lnTo>
                    <a:pt x="4428545" y="1201332"/>
                  </a:lnTo>
                  <a:lnTo>
                    <a:pt x="4432554" y="1181608"/>
                  </a:lnTo>
                  <a:lnTo>
                    <a:pt x="4432554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520309" y="878547"/>
              <a:ext cx="0" cy="1336040"/>
            </a:xfrm>
            <a:custGeom>
              <a:avLst/>
              <a:gdLst/>
              <a:ahLst/>
              <a:cxnLst/>
              <a:rect l="l" t="t" r="r" b="b"/>
              <a:pathLst>
                <a:path h="1336039">
                  <a:moveTo>
                    <a:pt x="0" y="133565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520309" y="865886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520309" y="853186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520309" y="840486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81597" y="1063294"/>
              <a:ext cx="64757" cy="64757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81597" y="1273327"/>
              <a:ext cx="64757" cy="64757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81597" y="1483360"/>
              <a:ext cx="64757" cy="64757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81597" y="1693392"/>
              <a:ext cx="64757" cy="64757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81597" y="1903425"/>
              <a:ext cx="64757" cy="64757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81597" y="2113457"/>
              <a:ext cx="64757" cy="64757"/>
            </a:xfrm>
            <a:prstGeom prst="rect">
              <a:avLst/>
            </a:prstGeom>
          </p:spPr>
        </p:pic>
      </p:grpSp>
      <p:grpSp>
        <p:nvGrpSpPr>
          <p:cNvPr id="20" name="object 20"/>
          <p:cNvGrpSpPr/>
          <p:nvPr/>
        </p:nvGrpSpPr>
        <p:grpSpPr>
          <a:xfrm>
            <a:off x="87743" y="2397874"/>
            <a:ext cx="4483735" cy="430530"/>
            <a:chOff x="87743" y="2397874"/>
            <a:chExt cx="4483735" cy="430530"/>
          </a:xfrm>
        </p:grpSpPr>
        <p:sp>
          <p:nvSpPr>
            <p:cNvPr id="21" name="object 21"/>
            <p:cNvSpPr/>
            <p:nvPr/>
          </p:nvSpPr>
          <p:spPr>
            <a:xfrm>
              <a:off x="87743" y="2397874"/>
              <a:ext cx="4432935" cy="82550"/>
            </a:xfrm>
            <a:custGeom>
              <a:avLst/>
              <a:gdLst/>
              <a:ahLst/>
              <a:cxnLst/>
              <a:rect l="l" t="t" r="r" b="b"/>
              <a:pathLst>
                <a:path w="4432935" h="82550">
                  <a:moveTo>
                    <a:pt x="4381754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82423"/>
                  </a:lnTo>
                  <a:lnTo>
                    <a:pt x="4432554" y="82423"/>
                  </a:lnTo>
                  <a:lnTo>
                    <a:pt x="4432554" y="50800"/>
                  </a:lnTo>
                  <a:lnTo>
                    <a:pt x="4428545" y="31075"/>
                  </a:lnTo>
                  <a:lnTo>
                    <a:pt x="4417631" y="14922"/>
                  </a:lnTo>
                  <a:lnTo>
                    <a:pt x="4401478" y="4008"/>
                  </a:lnTo>
                  <a:lnTo>
                    <a:pt x="4381754" y="0"/>
                  </a:lnTo>
                  <a:close/>
                </a:path>
              </a:pathLst>
            </a:custGeom>
            <a:solidFill>
              <a:srgbClr val="E5F2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38544" y="2726448"/>
              <a:ext cx="101600" cy="101600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89344" y="2713748"/>
              <a:ext cx="4381754" cy="114300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4520298" y="2448445"/>
              <a:ext cx="50800" cy="278003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87743" y="2442349"/>
              <a:ext cx="4432935" cy="335280"/>
            </a:xfrm>
            <a:custGeom>
              <a:avLst/>
              <a:gdLst/>
              <a:ahLst/>
              <a:cxnLst/>
              <a:rect l="l" t="t" r="r" b="b"/>
              <a:pathLst>
                <a:path w="4432935" h="335280">
                  <a:moveTo>
                    <a:pt x="4432554" y="0"/>
                  </a:moveTo>
                  <a:lnTo>
                    <a:pt x="0" y="0"/>
                  </a:lnTo>
                  <a:lnTo>
                    <a:pt x="0" y="284099"/>
                  </a:lnTo>
                  <a:lnTo>
                    <a:pt x="4008" y="303823"/>
                  </a:lnTo>
                  <a:lnTo>
                    <a:pt x="14922" y="319976"/>
                  </a:lnTo>
                  <a:lnTo>
                    <a:pt x="31075" y="330890"/>
                  </a:lnTo>
                  <a:lnTo>
                    <a:pt x="50800" y="334899"/>
                  </a:lnTo>
                  <a:lnTo>
                    <a:pt x="4381754" y="334899"/>
                  </a:lnTo>
                  <a:lnTo>
                    <a:pt x="4401478" y="330890"/>
                  </a:lnTo>
                  <a:lnTo>
                    <a:pt x="4417631" y="319976"/>
                  </a:lnTo>
                  <a:lnTo>
                    <a:pt x="4428545" y="303823"/>
                  </a:lnTo>
                  <a:lnTo>
                    <a:pt x="4432554" y="284099"/>
                  </a:lnTo>
                  <a:lnTo>
                    <a:pt x="4432554" y="0"/>
                  </a:lnTo>
                  <a:close/>
                </a:path>
              </a:pathLst>
            </a:custGeom>
            <a:solidFill>
              <a:srgbClr val="E5F2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4520309" y="2486545"/>
              <a:ext cx="0" cy="259079"/>
            </a:xfrm>
            <a:custGeom>
              <a:avLst/>
              <a:gdLst/>
              <a:ahLst/>
              <a:cxnLst/>
              <a:rect l="l" t="t" r="r" b="b"/>
              <a:pathLst>
                <a:path h="259080">
                  <a:moveTo>
                    <a:pt x="0" y="258952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4520309" y="2473834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4520309" y="2461134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4520309" y="2448434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100330" y="721561"/>
            <a:ext cx="4183379" cy="2047875"/>
          </a:xfrm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25"/>
              </a:spcBef>
            </a:pPr>
            <a:r>
              <a:rPr sz="1100" i="1" spc="-65" dirty="0">
                <a:solidFill>
                  <a:srgbClr val="3232B2"/>
                </a:solidFill>
                <a:latin typeface="Cambria"/>
                <a:cs typeface="Cambria"/>
              </a:rPr>
              <a:t>Words</a:t>
            </a:r>
            <a:r>
              <a:rPr sz="1100" i="1" spc="5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100" i="1" spc="-55" dirty="0">
                <a:solidFill>
                  <a:srgbClr val="3232B2"/>
                </a:solidFill>
                <a:latin typeface="Cambria"/>
                <a:cs typeface="Cambria"/>
              </a:rPr>
              <a:t>that</a:t>
            </a:r>
            <a:r>
              <a:rPr sz="1100" i="1" spc="-5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100" i="1" spc="-10" dirty="0">
                <a:solidFill>
                  <a:srgbClr val="3232B2"/>
                </a:solidFill>
                <a:latin typeface="Cambria"/>
                <a:cs typeface="Cambria"/>
              </a:rPr>
              <a:t>have</a:t>
            </a:r>
            <a:r>
              <a:rPr sz="1100" i="1" spc="-20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100" i="1" spc="-30" dirty="0">
                <a:solidFill>
                  <a:srgbClr val="3232B2"/>
                </a:solidFill>
                <a:latin typeface="Cambria"/>
                <a:cs typeface="Cambria"/>
              </a:rPr>
              <a:t>the</a:t>
            </a:r>
            <a:r>
              <a:rPr sz="1100" i="1" spc="-10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100" i="1" spc="-20" dirty="0">
                <a:solidFill>
                  <a:srgbClr val="3232B2"/>
                </a:solidFill>
                <a:latin typeface="Cambria"/>
                <a:cs typeface="Cambria"/>
              </a:rPr>
              <a:t>same</a:t>
            </a:r>
            <a:r>
              <a:rPr sz="1100" i="1" spc="-5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100" i="1" spc="-35" dirty="0">
                <a:solidFill>
                  <a:srgbClr val="3232B2"/>
                </a:solidFill>
                <a:latin typeface="Cambria"/>
                <a:cs typeface="Cambria"/>
              </a:rPr>
              <a:t>meaning</a:t>
            </a:r>
            <a:r>
              <a:rPr sz="1100" i="1" spc="-5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100" i="1" dirty="0">
                <a:solidFill>
                  <a:srgbClr val="3232B2"/>
                </a:solidFill>
                <a:latin typeface="Cambria"/>
                <a:cs typeface="Cambria"/>
              </a:rPr>
              <a:t>in</a:t>
            </a:r>
            <a:r>
              <a:rPr sz="1100" i="1" spc="-5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100" i="1" spc="-20" dirty="0">
                <a:solidFill>
                  <a:srgbClr val="3232B2"/>
                </a:solidFill>
                <a:latin typeface="Cambria"/>
                <a:cs typeface="Cambria"/>
              </a:rPr>
              <a:t>some</a:t>
            </a:r>
            <a:r>
              <a:rPr sz="1100" i="1" spc="-10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100" i="1" dirty="0">
                <a:solidFill>
                  <a:srgbClr val="3232B2"/>
                </a:solidFill>
                <a:latin typeface="Cambria"/>
                <a:cs typeface="Cambria"/>
              </a:rPr>
              <a:t>or</a:t>
            </a:r>
            <a:r>
              <a:rPr sz="1100" i="1" spc="-5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100" i="1" dirty="0">
                <a:solidFill>
                  <a:srgbClr val="3232B2"/>
                </a:solidFill>
                <a:latin typeface="Cambria"/>
                <a:cs typeface="Cambria"/>
              </a:rPr>
              <a:t>all</a:t>
            </a:r>
            <a:r>
              <a:rPr sz="1100" i="1" spc="-5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100" i="1" spc="-10" dirty="0">
                <a:solidFill>
                  <a:srgbClr val="3232B2"/>
                </a:solidFill>
                <a:latin typeface="Cambria"/>
                <a:cs typeface="Cambria"/>
              </a:rPr>
              <a:t>contexts.</a:t>
            </a:r>
            <a:endParaRPr sz="1100">
              <a:latin typeface="Cambria"/>
              <a:cs typeface="Cambria"/>
            </a:endParaRPr>
          </a:p>
          <a:p>
            <a:pPr marL="314960" marR="2977515">
              <a:lnSpc>
                <a:spcPts val="1650"/>
              </a:lnSpc>
              <a:spcBef>
                <a:spcPts val="55"/>
              </a:spcBef>
            </a:pPr>
            <a:r>
              <a:rPr sz="950" spc="-35" dirty="0">
                <a:latin typeface="Trebuchet MS"/>
                <a:cs typeface="Trebuchet MS"/>
              </a:rPr>
              <a:t>filbert</a:t>
            </a:r>
            <a:r>
              <a:rPr sz="950" spc="-25" dirty="0">
                <a:latin typeface="Trebuchet MS"/>
                <a:cs typeface="Trebuchet MS"/>
              </a:rPr>
              <a:t> </a:t>
            </a:r>
            <a:r>
              <a:rPr sz="950" spc="-229" dirty="0">
                <a:latin typeface="Trebuchet MS"/>
                <a:cs typeface="Trebuchet MS"/>
              </a:rPr>
              <a:t>/</a:t>
            </a:r>
            <a:r>
              <a:rPr sz="950" spc="-1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hazelnut </a:t>
            </a:r>
            <a:r>
              <a:rPr sz="950" dirty="0">
                <a:latin typeface="Trebuchet MS"/>
                <a:cs typeface="Trebuchet MS"/>
              </a:rPr>
              <a:t>couch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spc="-229" dirty="0">
                <a:latin typeface="Trebuchet MS"/>
                <a:cs typeface="Trebuchet MS"/>
              </a:rPr>
              <a:t>/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sofa</a:t>
            </a:r>
            <a:endParaRPr sz="950">
              <a:latin typeface="Trebuchet MS"/>
              <a:cs typeface="Trebuchet MS"/>
            </a:endParaRPr>
          </a:p>
          <a:p>
            <a:pPr marL="314960" marR="2972435">
              <a:lnSpc>
                <a:spcPts val="1650"/>
              </a:lnSpc>
              <a:spcBef>
                <a:spcPts val="5"/>
              </a:spcBef>
            </a:pPr>
            <a:r>
              <a:rPr sz="950" dirty="0">
                <a:latin typeface="Trebuchet MS"/>
                <a:cs typeface="Trebuchet MS"/>
              </a:rPr>
              <a:t>big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spc="-229" dirty="0">
                <a:latin typeface="Trebuchet MS"/>
                <a:cs typeface="Trebuchet MS"/>
              </a:rPr>
              <a:t>/</a:t>
            </a:r>
            <a:r>
              <a:rPr sz="95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large </a:t>
            </a:r>
            <a:r>
              <a:rPr sz="950" dirty="0">
                <a:latin typeface="Trebuchet MS"/>
                <a:cs typeface="Trebuchet MS"/>
              </a:rPr>
              <a:t>automobile</a:t>
            </a:r>
            <a:r>
              <a:rPr sz="950" spc="-15" dirty="0">
                <a:latin typeface="Trebuchet MS"/>
                <a:cs typeface="Trebuchet MS"/>
              </a:rPr>
              <a:t> </a:t>
            </a:r>
            <a:r>
              <a:rPr sz="950" spc="-229" dirty="0">
                <a:latin typeface="Trebuchet MS"/>
                <a:cs typeface="Trebuchet MS"/>
              </a:rPr>
              <a:t>/</a:t>
            </a:r>
            <a:r>
              <a:rPr sz="950" spc="-15" dirty="0">
                <a:latin typeface="Trebuchet MS"/>
                <a:cs typeface="Trebuchet MS"/>
              </a:rPr>
              <a:t> </a:t>
            </a:r>
            <a:r>
              <a:rPr sz="950" spc="-25" dirty="0">
                <a:latin typeface="Trebuchet MS"/>
                <a:cs typeface="Trebuchet MS"/>
              </a:rPr>
              <a:t>car </a:t>
            </a:r>
            <a:r>
              <a:rPr sz="950" spc="-10" dirty="0">
                <a:latin typeface="Trebuchet MS"/>
                <a:cs typeface="Trebuchet MS"/>
              </a:rPr>
              <a:t>vomit</a:t>
            </a:r>
            <a:r>
              <a:rPr sz="950" spc="-65" dirty="0">
                <a:latin typeface="Trebuchet MS"/>
                <a:cs typeface="Trebuchet MS"/>
              </a:rPr>
              <a:t> </a:t>
            </a:r>
            <a:r>
              <a:rPr sz="950" spc="-229" dirty="0">
                <a:latin typeface="Trebuchet MS"/>
                <a:cs typeface="Trebuchet MS"/>
              </a:rPr>
              <a:t>/</a:t>
            </a:r>
            <a:r>
              <a:rPr sz="950" spc="-15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throw</a:t>
            </a:r>
            <a:r>
              <a:rPr sz="950" spc="-40" dirty="0">
                <a:latin typeface="Trebuchet MS"/>
                <a:cs typeface="Trebuchet MS"/>
              </a:rPr>
              <a:t> </a:t>
            </a:r>
            <a:r>
              <a:rPr sz="950" spc="-25" dirty="0">
                <a:latin typeface="Trebuchet MS"/>
                <a:cs typeface="Trebuchet MS"/>
              </a:rPr>
              <a:t>up </a:t>
            </a:r>
            <a:r>
              <a:rPr sz="950" spc="-20" dirty="0">
                <a:latin typeface="Trebuchet MS"/>
                <a:cs typeface="Trebuchet MS"/>
              </a:rPr>
              <a:t>water</a:t>
            </a:r>
            <a:r>
              <a:rPr sz="950" spc="-30" dirty="0">
                <a:latin typeface="Trebuchet MS"/>
                <a:cs typeface="Trebuchet MS"/>
              </a:rPr>
              <a:t> </a:t>
            </a:r>
            <a:r>
              <a:rPr sz="950" spc="-229" dirty="0">
                <a:latin typeface="Trebuchet MS"/>
                <a:cs typeface="Trebuchet MS"/>
              </a:rPr>
              <a:t>/</a:t>
            </a:r>
            <a:r>
              <a:rPr sz="950" spc="-15" dirty="0">
                <a:latin typeface="Trebuchet MS"/>
                <a:cs typeface="Trebuchet MS"/>
              </a:rPr>
              <a:t> </a:t>
            </a:r>
            <a:r>
              <a:rPr sz="1100" i="1" spc="-25" dirty="0">
                <a:latin typeface="Cambria"/>
                <a:cs typeface="Cambria"/>
              </a:rPr>
              <a:t>H</a:t>
            </a:r>
            <a:r>
              <a:rPr sz="1200" spc="-37" baseline="-10416" dirty="0">
                <a:latin typeface="Cambria"/>
                <a:cs typeface="Cambria"/>
              </a:rPr>
              <a:t>2</a:t>
            </a:r>
            <a:r>
              <a:rPr sz="1100" i="1" spc="-25" dirty="0">
                <a:latin typeface="Cambria"/>
                <a:cs typeface="Cambria"/>
              </a:rPr>
              <a:t>O</a:t>
            </a:r>
            <a:endParaRPr sz="11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385"/>
              </a:spcBef>
            </a:pPr>
            <a:endParaRPr sz="950">
              <a:latin typeface="Cambria"/>
              <a:cs typeface="Cambria"/>
            </a:endParaRPr>
          </a:p>
          <a:p>
            <a:pPr marL="38100" marR="17780">
              <a:lnSpc>
                <a:spcPct val="118800"/>
              </a:lnSpc>
            </a:pPr>
            <a:r>
              <a:rPr sz="950" dirty="0">
                <a:latin typeface="Trebuchet MS"/>
                <a:cs typeface="Trebuchet MS"/>
              </a:rPr>
              <a:t>Two</a:t>
            </a:r>
            <a:r>
              <a:rPr sz="950" spc="4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lexemes</a:t>
            </a:r>
            <a:r>
              <a:rPr sz="950" spc="5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are</a:t>
            </a:r>
            <a:r>
              <a:rPr sz="950" spc="4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synonyms</a:t>
            </a:r>
            <a:r>
              <a:rPr sz="950" spc="50" dirty="0">
                <a:latin typeface="Trebuchet MS"/>
                <a:cs typeface="Trebuchet MS"/>
              </a:rPr>
              <a:t> </a:t>
            </a:r>
            <a:r>
              <a:rPr sz="950" spc="-70" dirty="0">
                <a:latin typeface="Trebuchet MS"/>
                <a:cs typeface="Trebuchet MS"/>
              </a:rPr>
              <a:t>if</a:t>
            </a:r>
            <a:r>
              <a:rPr sz="950" spc="5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they</a:t>
            </a:r>
            <a:r>
              <a:rPr sz="950" spc="4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can</a:t>
            </a:r>
            <a:r>
              <a:rPr sz="950" spc="5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be</a:t>
            </a:r>
            <a:r>
              <a:rPr sz="950" spc="4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successfully</a:t>
            </a:r>
            <a:r>
              <a:rPr sz="950" spc="5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substituted</a:t>
            </a:r>
            <a:r>
              <a:rPr sz="950" spc="50" dirty="0">
                <a:latin typeface="Trebuchet MS"/>
                <a:cs typeface="Trebuchet MS"/>
              </a:rPr>
              <a:t> </a:t>
            </a:r>
            <a:r>
              <a:rPr sz="950" spc="-40" dirty="0">
                <a:latin typeface="Trebuchet MS"/>
                <a:cs typeface="Trebuchet MS"/>
              </a:rPr>
              <a:t>for</a:t>
            </a:r>
            <a:r>
              <a:rPr sz="950" spc="45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each </a:t>
            </a:r>
            <a:r>
              <a:rPr sz="950" spc="-10" dirty="0">
                <a:latin typeface="Trebuchet MS"/>
                <a:cs typeface="Trebuchet MS"/>
              </a:rPr>
              <a:t>other</a:t>
            </a:r>
            <a:r>
              <a:rPr sz="950" spc="-5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in</a:t>
            </a:r>
            <a:r>
              <a:rPr sz="950" spc="-5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all</a:t>
            </a:r>
            <a:r>
              <a:rPr sz="950" spc="-5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situations.</a:t>
            </a:r>
            <a:endParaRPr sz="950">
              <a:latin typeface="Trebuchet MS"/>
              <a:cs typeface="Trebuchet MS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2016760" y="3339672"/>
            <a:ext cx="57467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15" action="ppaction://hlinksldjump"/>
              </a:rPr>
              <a:t>Lexical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  <a:hlinkClick r:id="rId15" action="ppaction://hlinksldjump"/>
              </a:rPr>
              <a:t>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  <a:hlinkClick r:id="rId15" action="ppaction://hlinksldjump"/>
              </a:rPr>
              <a:t>Semantics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3608260" y="3339672"/>
            <a:ext cx="56388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8,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1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38" name="object 38"/>
          <p:cNvSpPr txBox="1">
            <a:spLocks noGrp="1"/>
          </p:cNvSpPr>
          <p:nvPr>
            <p:ph type="sldNum" sz="quarter" idx="4294967295"/>
          </p:nvPr>
        </p:nvSpPr>
        <p:spPr>
          <a:xfrm>
            <a:off x="4292024" y="3339672"/>
            <a:ext cx="262254" cy="116204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0"/>
              </a:spcBef>
            </a:pPr>
            <a:r>
              <a:rPr dirty="0"/>
              <a:t>11</a:t>
            </a:r>
            <a:r>
              <a:rPr spc="-20" dirty="0"/>
              <a:t> </a:t>
            </a:r>
            <a:r>
              <a:rPr spc="-110" dirty="0"/>
              <a:t>/</a:t>
            </a:r>
            <a:r>
              <a:rPr spc="15" dirty="0"/>
              <a:t> </a:t>
            </a:r>
            <a:r>
              <a:rPr spc="-25" dirty="0"/>
              <a:t>18</a:t>
            </a:r>
          </a:p>
        </p:txBody>
      </p:sp>
    </p:spTree>
  </p:cSld>
  <p:clrMapOvr>
    <a:masterClrMapping/>
  </p:clrMapOvr>
  <p:transition>
    <p:cut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Synonymy:</a:t>
            </a:r>
            <a:r>
              <a:rPr spc="80" dirty="0"/>
              <a:t> </a:t>
            </a:r>
            <a:r>
              <a:rPr dirty="0"/>
              <a:t>A</a:t>
            </a:r>
            <a:r>
              <a:rPr spc="5" dirty="0"/>
              <a:t> </a:t>
            </a:r>
            <a:r>
              <a:rPr spc="-10" dirty="0"/>
              <a:t>relation</a:t>
            </a:r>
            <a:r>
              <a:rPr spc="5" dirty="0"/>
              <a:t> </a:t>
            </a:r>
            <a:r>
              <a:rPr spc="-20" dirty="0"/>
              <a:t>between</a:t>
            </a:r>
            <a:r>
              <a:rPr spc="10" dirty="0"/>
              <a:t> </a:t>
            </a:r>
            <a:r>
              <a:rPr spc="-10" dirty="0"/>
              <a:t>senses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7743" y="852081"/>
            <a:ext cx="4483735" cy="667385"/>
            <a:chOff x="87743" y="852081"/>
            <a:chExt cx="4483735" cy="667385"/>
          </a:xfrm>
        </p:grpSpPr>
        <p:sp>
          <p:nvSpPr>
            <p:cNvPr id="4" name="object 4"/>
            <p:cNvSpPr/>
            <p:nvPr/>
          </p:nvSpPr>
          <p:spPr>
            <a:xfrm>
              <a:off x="87743" y="852081"/>
              <a:ext cx="4432935" cy="186055"/>
            </a:xfrm>
            <a:custGeom>
              <a:avLst/>
              <a:gdLst/>
              <a:ahLst/>
              <a:cxnLst/>
              <a:rect l="l" t="t" r="r" b="b"/>
              <a:pathLst>
                <a:path w="4432935" h="186055">
                  <a:moveTo>
                    <a:pt x="4381754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5674"/>
                  </a:lnTo>
                  <a:lnTo>
                    <a:pt x="4432554" y="185674"/>
                  </a:lnTo>
                  <a:lnTo>
                    <a:pt x="4432554" y="50800"/>
                  </a:lnTo>
                  <a:lnTo>
                    <a:pt x="4428545" y="31075"/>
                  </a:lnTo>
                  <a:lnTo>
                    <a:pt x="4417631" y="14922"/>
                  </a:lnTo>
                  <a:lnTo>
                    <a:pt x="4401478" y="4008"/>
                  </a:lnTo>
                  <a:lnTo>
                    <a:pt x="4381754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744" y="1025093"/>
              <a:ext cx="4432554" cy="5060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8544" y="1417802"/>
              <a:ext cx="101599" cy="1016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9344" y="1405102"/>
              <a:ext cx="4381754" cy="1143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20298" y="896315"/>
              <a:ext cx="50800" cy="521487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87743" y="1069441"/>
              <a:ext cx="4432935" cy="399415"/>
            </a:xfrm>
            <a:custGeom>
              <a:avLst/>
              <a:gdLst/>
              <a:ahLst/>
              <a:cxnLst/>
              <a:rect l="l" t="t" r="r" b="b"/>
              <a:pathLst>
                <a:path w="4432935" h="399415">
                  <a:moveTo>
                    <a:pt x="4432554" y="0"/>
                  </a:moveTo>
                  <a:lnTo>
                    <a:pt x="0" y="0"/>
                  </a:lnTo>
                  <a:lnTo>
                    <a:pt x="0" y="348361"/>
                  </a:lnTo>
                  <a:lnTo>
                    <a:pt x="4008" y="368085"/>
                  </a:lnTo>
                  <a:lnTo>
                    <a:pt x="14922" y="384238"/>
                  </a:lnTo>
                  <a:lnTo>
                    <a:pt x="31075" y="395152"/>
                  </a:lnTo>
                  <a:lnTo>
                    <a:pt x="50800" y="399161"/>
                  </a:lnTo>
                  <a:lnTo>
                    <a:pt x="4381754" y="399161"/>
                  </a:lnTo>
                  <a:lnTo>
                    <a:pt x="4401478" y="395152"/>
                  </a:lnTo>
                  <a:lnTo>
                    <a:pt x="4417631" y="384238"/>
                  </a:lnTo>
                  <a:lnTo>
                    <a:pt x="4428545" y="368085"/>
                  </a:lnTo>
                  <a:lnTo>
                    <a:pt x="4432554" y="348361"/>
                  </a:lnTo>
                  <a:lnTo>
                    <a:pt x="4432554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520310" y="934440"/>
              <a:ext cx="0" cy="502920"/>
            </a:xfrm>
            <a:custGeom>
              <a:avLst/>
              <a:gdLst/>
              <a:ahLst/>
              <a:cxnLst/>
              <a:rect l="l" t="t" r="r" b="b"/>
              <a:pathLst>
                <a:path h="502919">
                  <a:moveTo>
                    <a:pt x="0" y="502412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520310" y="921715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520310" y="909015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520310" y="896315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81597" y="1119111"/>
              <a:ext cx="64757" cy="64757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81597" y="1329143"/>
              <a:ext cx="64757" cy="64757"/>
            </a:xfrm>
            <a:prstGeom prst="rect">
              <a:avLst/>
            </a:prstGeom>
          </p:spPr>
        </p:pic>
      </p:grpSp>
      <p:sp>
        <p:nvSpPr>
          <p:cNvPr id="16" name="object 16"/>
          <p:cNvSpPr txBox="1"/>
          <p:nvPr/>
        </p:nvSpPr>
        <p:spPr>
          <a:xfrm>
            <a:off x="125729" y="497888"/>
            <a:ext cx="2710180" cy="936625"/>
          </a:xfrm>
          <a:prstGeom prst="rect">
            <a:avLst/>
          </a:prstGeom>
        </p:spPr>
        <p:txBody>
          <a:bodyPr vert="horz" wrap="square" lIns="0" tIns="10413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19"/>
              </a:spcBef>
            </a:pPr>
            <a:r>
              <a:rPr sz="950" dirty="0">
                <a:latin typeface="Trebuchet MS"/>
                <a:cs typeface="Trebuchet MS"/>
              </a:rPr>
              <a:t>Consider</a:t>
            </a:r>
            <a:r>
              <a:rPr sz="950" spc="5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5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words</a:t>
            </a:r>
            <a:r>
              <a:rPr sz="950" spc="50" dirty="0">
                <a:latin typeface="Trebuchet MS"/>
                <a:cs typeface="Trebuchet MS"/>
              </a:rPr>
              <a:t> </a:t>
            </a:r>
            <a:r>
              <a:rPr sz="950" i="1" dirty="0">
                <a:latin typeface="Trebuchet MS"/>
                <a:cs typeface="Trebuchet MS"/>
              </a:rPr>
              <a:t>big</a:t>
            </a:r>
            <a:r>
              <a:rPr sz="950" i="1" spc="114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and</a:t>
            </a:r>
            <a:r>
              <a:rPr sz="950" spc="55" dirty="0">
                <a:latin typeface="Trebuchet MS"/>
                <a:cs typeface="Trebuchet MS"/>
              </a:rPr>
              <a:t> </a:t>
            </a:r>
            <a:r>
              <a:rPr sz="950" i="1" spc="-10" dirty="0">
                <a:latin typeface="Trebuchet MS"/>
                <a:cs typeface="Trebuchet MS"/>
              </a:rPr>
              <a:t>large</a:t>
            </a:r>
            <a:r>
              <a:rPr sz="950" spc="-10" dirty="0">
                <a:latin typeface="Trebuchet MS"/>
                <a:cs typeface="Trebuchet MS"/>
              </a:rPr>
              <a:t>.</a:t>
            </a:r>
            <a:endParaRPr sz="9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765"/>
              </a:spcBef>
            </a:pPr>
            <a:r>
              <a:rPr sz="1100" i="1" dirty="0">
                <a:solidFill>
                  <a:srgbClr val="3232B2"/>
                </a:solidFill>
                <a:latin typeface="Cambria"/>
                <a:cs typeface="Cambria"/>
              </a:rPr>
              <a:t>Are</a:t>
            </a:r>
            <a:r>
              <a:rPr sz="1100" i="1" spc="-20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100" i="1" spc="-40" dirty="0">
                <a:solidFill>
                  <a:srgbClr val="3232B2"/>
                </a:solidFill>
                <a:latin typeface="Cambria"/>
                <a:cs typeface="Cambria"/>
              </a:rPr>
              <a:t>they</a:t>
            </a:r>
            <a:r>
              <a:rPr sz="1100" i="1" spc="-20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100" i="1" spc="-10" dirty="0">
                <a:solidFill>
                  <a:srgbClr val="3232B2"/>
                </a:solidFill>
                <a:latin typeface="Cambria"/>
                <a:cs typeface="Cambria"/>
              </a:rPr>
              <a:t>synonyms?</a:t>
            </a:r>
            <a:endParaRPr sz="1100">
              <a:latin typeface="Cambria"/>
              <a:cs typeface="Cambria"/>
            </a:endParaRPr>
          </a:p>
          <a:p>
            <a:pPr marL="289560">
              <a:lnSpc>
                <a:spcPct val="100000"/>
              </a:lnSpc>
              <a:spcBef>
                <a:spcPts val="425"/>
              </a:spcBef>
            </a:pPr>
            <a:r>
              <a:rPr sz="950" dirty="0">
                <a:latin typeface="Trebuchet MS"/>
                <a:cs typeface="Trebuchet MS"/>
              </a:rPr>
              <a:t>How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b="1" spc="50" dirty="0">
                <a:latin typeface="Trebuchet MS"/>
                <a:cs typeface="Trebuchet MS"/>
              </a:rPr>
              <a:t>big</a:t>
            </a:r>
            <a:r>
              <a:rPr sz="950" b="1" spc="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is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spc="-30" dirty="0">
                <a:latin typeface="Trebuchet MS"/>
                <a:cs typeface="Trebuchet MS"/>
              </a:rPr>
              <a:t>that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plane?</a:t>
            </a:r>
            <a:endParaRPr sz="950">
              <a:latin typeface="Trebuchet MS"/>
              <a:cs typeface="Trebuchet MS"/>
            </a:endParaRPr>
          </a:p>
          <a:p>
            <a:pPr marL="289560">
              <a:lnSpc>
                <a:spcPct val="100000"/>
              </a:lnSpc>
              <a:spcBef>
                <a:spcPts val="515"/>
              </a:spcBef>
            </a:pPr>
            <a:r>
              <a:rPr sz="950" dirty="0">
                <a:latin typeface="Trebuchet MS"/>
                <a:cs typeface="Trebuchet MS"/>
              </a:rPr>
              <a:t>Would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I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be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flying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on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b="1" dirty="0">
                <a:latin typeface="Trebuchet MS"/>
                <a:cs typeface="Trebuchet MS"/>
              </a:rPr>
              <a:t>large</a:t>
            </a:r>
            <a:r>
              <a:rPr sz="950" b="1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or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small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plane?</a:t>
            </a:r>
            <a:endParaRPr sz="950">
              <a:latin typeface="Trebuchet MS"/>
              <a:cs typeface="Trebuchet MS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016760" y="3339672"/>
            <a:ext cx="57467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8" action="ppaction://hlinksldjump"/>
              </a:rPr>
              <a:t>Lexical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  <a:hlinkClick r:id="rId8" action="ppaction://hlinksldjump"/>
              </a:rPr>
              <a:t>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  <a:hlinkClick r:id="rId8" action="ppaction://hlinksldjump"/>
              </a:rPr>
              <a:t>Semantics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608260" y="3339672"/>
            <a:ext cx="56388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8,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1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317424" y="3339672"/>
            <a:ext cx="236854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12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10" dirty="0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</a:rPr>
              <a:t>18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25" name="Slide Number Placeholder 24">
            <a:extLst>
              <a:ext uri="{FF2B5EF4-FFF2-40B4-BE49-F238E27FC236}">
                <a16:creationId xmlns:a16="http://schemas.microsoft.com/office/drawing/2014/main" id="{0D3516DE-59E9-4BAF-8B30-176A0226691F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4292024" y="3339672"/>
            <a:ext cx="262254" cy="116204"/>
          </a:xfrm>
          <a:prstGeom prst="rect">
            <a:avLst/>
          </a:prstGeom>
        </p:spPr>
        <p:txBody>
          <a:bodyPr/>
          <a:lstStyle/>
          <a:p>
            <a:pPr marL="75565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lang="en-IN" smtClean="0"/>
              <a:t>23</a:t>
            </a:fld>
            <a:r>
              <a:rPr lang="en-IN" spc="-5"/>
              <a:t> </a:t>
            </a:r>
            <a:r>
              <a:rPr lang="en-IN" spc="-110"/>
              <a:t>/</a:t>
            </a:r>
            <a:r>
              <a:rPr lang="en-IN" spc="15"/>
              <a:t> </a:t>
            </a:r>
            <a:r>
              <a:rPr lang="en-IN" spc="-25"/>
              <a:t>18</a:t>
            </a:r>
            <a:endParaRPr lang="en-IN" spc="-25" dirty="0"/>
          </a:p>
        </p:txBody>
      </p:sp>
    </p:spTree>
  </p:cSld>
  <p:clrMapOvr>
    <a:masterClrMapping/>
  </p:clrMapOvr>
  <p:transition>
    <p:cut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Synonymy:</a:t>
            </a:r>
            <a:r>
              <a:rPr spc="80" dirty="0"/>
              <a:t> </a:t>
            </a:r>
            <a:r>
              <a:rPr dirty="0"/>
              <a:t>A</a:t>
            </a:r>
            <a:r>
              <a:rPr spc="5" dirty="0"/>
              <a:t> </a:t>
            </a:r>
            <a:r>
              <a:rPr spc="-10" dirty="0"/>
              <a:t>relation</a:t>
            </a:r>
            <a:r>
              <a:rPr spc="5" dirty="0"/>
              <a:t> </a:t>
            </a:r>
            <a:r>
              <a:rPr spc="-20" dirty="0"/>
              <a:t>between</a:t>
            </a:r>
            <a:r>
              <a:rPr spc="10" dirty="0"/>
              <a:t> </a:t>
            </a:r>
            <a:r>
              <a:rPr spc="-10" dirty="0"/>
              <a:t>senses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7743" y="852081"/>
            <a:ext cx="4483735" cy="667385"/>
            <a:chOff x="87743" y="852081"/>
            <a:chExt cx="4483735" cy="667385"/>
          </a:xfrm>
        </p:grpSpPr>
        <p:sp>
          <p:nvSpPr>
            <p:cNvPr id="4" name="object 4"/>
            <p:cNvSpPr/>
            <p:nvPr/>
          </p:nvSpPr>
          <p:spPr>
            <a:xfrm>
              <a:off x="87743" y="852081"/>
              <a:ext cx="4432935" cy="186055"/>
            </a:xfrm>
            <a:custGeom>
              <a:avLst/>
              <a:gdLst/>
              <a:ahLst/>
              <a:cxnLst/>
              <a:rect l="l" t="t" r="r" b="b"/>
              <a:pathLst>
                <a:path w="4432935" h="186055">
                  <a:moveTo>
                    <a:pt x="4381754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5674"/>
                  </a:lnTo>
                  <a:lnTo>
                    <a:pt x="4432554" y="185674"/>
                  </a:lnTo>
                  <a:lnTo>
                    <a:pt x="4432554" y="50800"/>
                  </a:lnTo>
                  <a:lnTo>
                    <a:pt x="4428545" y="31075"/>
                  </a:lnTo>
                  <a:lnTo>
                    <a:pt x="4417631" y="14922"/>
                  </a:lnTo>
                  <a:lnTo>
                    <a:pt x="4401478" y="4008"/>
                  </a:lnTo>
                  <a:lnTo>
                    <a:pt x="4381754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744" y="1025093"/>
              <a:ext cx="4432554" cy="5060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8544" y="1417802"/>
              <a:ext cx="101599" cy="1016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9344" y="1405102"/>
              <a:ext cx="4381754" cy="1143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20298" y="896315"/>
              <a:ext cx="50800" cy="521487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87743" y="1069441"/>
              <a:ext cx="4432935" cy="399415"/>
            </a:xfrm>
            <a:custGeom>
              <a:avLst/>
              <a:gdLst/>
              <a:ahLst/>
              <a:cxnLst/>
              <a:rect l="l" t="t" r="r" b="b"/>
              <a:pathLst>
                <a:path w="4432935" h="399415">
                  <a:moveTo>
                    <a:pt x="4432554" y="0"/>
                  </a:moveTo>
                  <a:lnTo>
                    <a:pt x="0" y="0"/>
                  </a:lnTo>
                  <a:lnTo>
                    <a:pt x="0" y="348361"/>
                  </a:lnTo>
                  <a:lnTo>
                    <a:pt x="4008" y="368085"/>
                  </a:lnTo>
                  <a:lnTo>
                    <a:pt x="14922" y="384238"/>
                  </a:lnTo>
                  <a:lnTo>
                    <a:pt x="31075" y="395152"/>
                  </a:lnTo>
                  <a:lnTo>
                    <a:pt x="50800" y="399161"/>
                  </a:lnTo>
                  <a:lnTo>
                    <a:pt x="4381754" y="399161"/>
                  </a:lnTo>
                  <a:lnTo>
                    <a:pt x="4401478" y="395152"/>
                  </a:lnTo>
                  <a:lnTo>
                    <a:pt x="4417631" y="384238"/>
                  </a:lnTo>
                  <a:lnTo>
                    <a:pt x="4428545" y="368085"/>
                  </a:lnTo>
                  <a:lnTo>
                    <a:pt x="4432554" y="348361"/>
                  </a:lnTo>
                  <a:lnTo>
                    <a:pt x="4432554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520310" y="934440"/>
              <a:ext cx="0" cy="502920"/>
            </a:xfrm>
            <a:custGeom>
              <a:avLst/>
              <a:gdLst/>
              <a:ahLst/>
              <a:cxnLst/>
              <a:rect l="l" t="t" r="r" b="b"/>
              <a:pathLst>
                <a:path h="502919">
                  <a:moveTo>
                    <a:pt x="0" y="502412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520310" y="921715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520310" y="909015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520310" y="896315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81597" y="1119111"/>
              <a:ext cx="64757" cy="64757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81597" y="1329143"/>
              <a:ext cx="64757" cy="64757"/>
            </a:xfrm>
            <a:prstGeom prst="rect">
              <a:avLst/>
            </a:prstGeom>
          </p:spPr>
        </p:pic>
      </p:grpSp>
      <p:grpSp>
        <p:nvGrpSpPr>
          <p:cNvPr id="16" name="object 16"/>
          <p:cNvGrpSpPr/>
          <p:nvPr/>
        </p:nvGrpSpPr>
        <p:grpSpPr>
          <a:xfrm>
            <a:off x="87743" y="1620520"/>
            <a:ext cx="4483735" cy="658495"/>
            <a:chOff x="87743" y="1620520"/>
            <a:chExt cx="4483735" cy="658495"/>
          </a:xfrm>
        </p:grpSpPr>
        <p:sp>
          <p:nvSpPr>
            <p:cNvPr id="17" name="object 17"/>
            <p:cNvSpPr/>
            <p:nvPr/>
          </p:nvSpPr>
          <p:spPr>
            <a:xfrm>
              <a:off x="87743" y="1620520"/>
              <a:ext cx="4432935" cy="176530"/>
            </a:xfrm>
            <a:custGeom>
              <a:avLst/>
              <a:gdLst/>
              <a:ahLst/>
              <a:cxnLst/>
              <a:rect l="l" t="t" r="r" b="b"/>
              <a:pathLst>
                <a:path w="4432935" h="176530">
                  <a:moveTo>
                    <a:pt x="4381754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76276"/>
                  </a:lnTo>
                  <a:lnTo>
                    <a:pt x="4432554" y="176276"/>
                  </a:lnTo>
                  <a:lnTo>
                    <a:pt x="4432554" y="50800"/>
                  </a:lnTo>
                  <a:lnTo>
                    <a:pt x="4428545" y="31075"/>
                  </a:lnTo>
                  <a:lnTo>
                    <a:pt x="4417631" y="14922"/>
                  </a:lnTo>
                  <a:lnTo>
                    <a:pt x="4401478" y="4008"/>
                  </a:lnTo>
                  <a:lnTo>
                    <a:pt x="4381754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7744" y="1784184"/>
              <a:ext cx="4432554" cy="50609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38544" y="2176881"/>
              <a:ext cx="101599" cy="101600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89344" y="2164181"/>
              <a:ext cx="4381754" cy="114300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520298" y="1664754"/>
              <a:ext cx="50800" cy="512127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87743" y="1828520"/>
              <a:ext cx="4432935" cy="399415"/>
            </a:xfrm>
            <a:custGeom>
              <a:avLst/>
              <a:gdLst/>
              <a:ahLst/>
              <a:cxnLst/>
              <a:rect l="l" t="t" r="r" b="b"/>
              <a:pathLst>
                <a:path w="4432935" h="399414">
                  <a:moveTo>
                    <a:pt x="4432554" y="0"/>
                  </a:moveTo>
                  <a:lnTo>
                    <a:pt x="0" y="0"/>
                  </a:lnTo>
                  <a:lnTo>
                    <a:pt x="0" y="348360"/>
                  </a:lnTo>
                  <a:lnTo>
                    <a:pt x="4008" y="368085"/>
                  </a:lnTo>
                  <a:lnTo>
                    <a:pt x="14922" y="384238"/>
                  </a:lnTo>
                  <a:lnTo>
                    <a:pt x="31075" y="395152"/>
                  </a:lnTo>
                  <a:lnTo>
                    <a:pt x="50800" y="399160"/>
                  </a:lnTo>
                  <a:lnTo>
                    <a:pt x="4381754" y="399160"/>
                  </a:lnTo>
                  <a:lnTo>
                    <a:pt x="4401478" y="395152"/>
                  </a:lnTo>
                  <a:lnTo>
                    <a:pt x="4417631" y="384238"/>
                  </a:lnTo>
                  <a:lnTo>
                    <a:pt x="4428545" y="368085"/>
                  </a:lnTo>
                  <a:lnTo>
                    <a:pt x="4432554" y="348360"/>
                  </a:lnTo>
                  <a:lnTo>
                    <a:pt x="4432554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4520309" y="1702917"/>
              <a:ext cx="0" cy="493395"/>
            </a:xfrm>
            <a:custGeom>
              <a:avLst/>
              <a:gdLst/>
              <a:ahLst/>
              <a:cxnLst/>
              <a:rect l="l" t="t" r="r" b="b"/>
              <a:pathLst>
                <a:path h="493394">
                  <a:moveTo>
                    <a:pt x="0" y="493014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520309" y="1690149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4520309" y="1677449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4520309" y="1664749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" name="object 27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81597" y="1878203"/>
              <a:ext cx="64757" cy="64757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281597" y="2088235"/>
              <a:ext cx="64757" cy="64757"/>
            </a:xfrm>
            <a:prstGeom prst="rect">
              <a:avLst/>
            </a:prstGeom>
          </p:spPr>
        </p:pic>
      </p:grpSp>
      <p:sp>
        <p:nvSpPr>
          <p:cNvPr id="29" name="object 29"/>
          <p:cNvSpPr txBox="1"/>
          <p:nvPr/>
        </p:nvSpPr>
        <p:spPr>
          <a:xfrm>
            <a:off x="125729" y="497888"/>
            <a:ext cx="4149725" cy="1695450"/>
          </a:xfrm>
          <a:prstGeom prst="rect">
            <a:avLst/>
          </a:prstGeom>
        </p:spPr>
        <p:txBody>
          <a:bodyPr vert="horz" wrap="square" lIns="0" tIns="10413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19"/>
              </a:spcBef>
            </a:pPr>
            <a:r>
              <a:rPr sz="950" dirty="0">
                <a:latin typeface="Trebuchet MS"/>
                <a:cs typeface="Trebuchet MS"/>
              </a:rPr>
              <a:t>Consider</a:t>
            </a:r>
            <a:r>
              <a:rPr sz="950" spc="5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5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words</a:t>
            </a:r>
            <a:r>
              <a:rPr sz="950" spc="50" dirty="0">
                <a:latin typeface="Trebuchet MS"/>
                <a:cs typeface="Trebuchet MS"/>
              </a:rPr>
              <a:t> </a:t>
            </a:r>
            <a:r>
              <a:rPr sz="950" i="1" dirty="0">
                <a:latin typeface="Trebuchet MS"/>
                <a:cs typeface="Trebuchet MS"/>
              </a:rPr>
              <a:t>big</a:t>
            </a:r>
            <a:r>
              <a:rPr sz="950" i="1" spc="114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and</a:t>
            </a:r>
            <a:r>
              <a:rPr sz="950" spc="55" dirty="0">
                <a:latin typeface="Trebuchet MS"/>
                <a:cs typeface="Trebuchet MS"/>
              </a:rPr>
              <a:t> </a:t>
            </a:r>
            <a:r>
              <a:rPr sz="950" i="1" spc="-10" dirty="0">
                <a:latin typeface="Trebuchet MS"/>
                <a:cs typeface="Trebuchet MS"/>
              </a:rPr>
              <a:t>large</a:t>
            </a:r>
            <a:r>
              <a:rPr sz="950" spc="-10" dirty="0">
                <a:latin typeface="Trebuchet MS"/>
                <a:cs typeface="Trebuchet MS"/>
              </a:rPr>
              <a:t>.</a:t>
            </a:r>
            <a:endParaRPr sz="9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765"/>
              </a:spcBef>
            </a:pPr>
            <a:r>
              <a:rPr sz="1100" i="1" dirty="0">
                <a:solidFill>
                  <a:srgbClr val="3232B2"/>
                </a:solidFill>
                <a:latin typeface="Cambria"/>
                <a:cs typeface="Cambria"/>
              </a:rPr>
              <a:t>Are</a:t>
            </a:r>
            <a:r>
              <a:rPr sz="1100" i="1" spc="-20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100" i="1" spc="-40" dirty="0">
                <a:solidFill>
                  <a:srgbClr val="3232B2"/>
                </a:solidFill>
                <a:latin typeface="Cambria"/>
                <a:cs typeface="Cambria"/>
              </a:rPr>
              <a:t>they</a:t>
            </a:r>
            <a:r>
              <a:rPr sz="1100" i="1" spc="-20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100" i="1" spc="-10" dirty="0">
                <a:solidFill>
                  <a:srgbClr val="3232B2"/>
                </a:solidFill>
                <a:latin typeface="Cambria"/>
                <a:cs typeface="Cambria"/>
              </a:rPr>
              <a:t>synonyms?</a:t>
            </a:r>
            <a:endParaRPr sz="1100">
              <a:latin typeface="Cambria"/>
              <a:cs typeface="Cambria"/>
            </a:endParaRPr>
          </a:p>
          <a:p>
            <a:pPr marL="289560">
              <a:lnSpc>
                <a:spcPct val="100000"/>
              </a:lnSpc>
              <a:spcBef>
                <a:spcPts val="425"/>
              </a:spcBef>
            </a:pPr>
            <a:r>
              <a:rPr sz="950" dirty="0">
                <a:latin typeface="Trebuchet MS"/>
                <a:cs typeface="Trebuchet MS"/>
              </a:rPr>
              <a:t>How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b="1" spc="50" dirty="0">
                <a:latin typeface="Trebuchet MS"/>
                <a:cs typeface="Trebuchet MS"/>
              </a:rPr>
              <a:t>big</a:t>
            </a:r>
            <a:r>
              <a:rPr sz="950" b="1" spc="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is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spc="-30" dirty="0">
                <a:latin typeface="Trebuchet MS"/>
                <a:cs typeface="Trebuchet MS"/>
              </a:rPr>
              <a:t>that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plane?</a:t>
            </a:r>
            <a:endParaRPr sz="950">
              <a:latin typeface="Trebuchet MS"/>
              <a:cs typeface="Trebuchet MS"/>
            </a:endParaRPr>
          </a:p>
          <a:p>
            <a:pPr marL="289560">
              <a:lnSpc>
                <a:spcPct val="100000"/>
              </a:lnSpc>
              <a:spcBef>
                <a:spcPts val="515"/>
              </a:spcBef>
            </a:pPr>
            <a:r>
              <a:rPr sz="950" dirty="0">
                <a:latin typeface="Trebuchet MS"/>
                <a:cs typeface="Trebuchet MS"/>
              </a:rPr>
              <a:t>Would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I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be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flying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on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b="1" dirty="0">
                <a:latin typeface="Trebuchet MS"/>
                <a:cs typeface="Trebuchet MS"/>
              </a:rPr>
              <a:t>large</a:t>
            </a:r>
            <a:r>
              <a:rPr sz="950" b="1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or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small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plane?</a:t>
            </a:r>
            <a:endParaRPr sz="9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409"/>
              </a:spcBef>
            </a:pPr>
            <a:endParaRPr sz="9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100" i="1" dirty="0">
                <a:solidFill>
                  <a:srgbClr val="3232B2"/>
                </a:solidFill>
                <a:latin typeface="Cambria"/>
                <a:cs typeface="Cambria"/>
              </a:rPr>
              <a:t>How </a:t>
            </a:r>
            <a:r>
              <a:rPr sz="1100" i="1" spc="-40" dirty="0">
                <a:solidFill>
                  <a:srgbClr val="3232B2"/>
                </a:solidFill>
                <a:latin typeface="Cambria"/>
                <a:cs typeface="Cambria"/>
              </a:rPr>
              <a:t>about</a:t>
            </a:r>
            <a:r>
              <a:rPr sz="1100" i="1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100" i="1" spc="-10" dirty="0">
                <a:solidFill>
                  <a:srgbClr val="3232B2"/>
                </a:solidFill>
                <a:latin typeface="Cambria"/>
                <a:cs typeface="Cambria"/>
              </a:rPr>
              <a:t>here?</a:t>
            </a:r>
            <a:endParaRPr sz="1100">
              <a:latin typeface="Cambria"/>
              <a:cs typeface="Cambria"/>
            </a:endParaRPr>
          </a:p>
          <a:p>
            <a:pPr marL="289560">
              <a:lnSpc>
                <a:spcPct val="100000"/>
              </a:lnSpc>
              <a:spcBef>
                <a:spcPts val="350"/>
              </a:spcBef>
            </a:pPr>
            <a:r>
              <a:rPr sz="950" spc="65" dirty="0">
                <a:latin typeface="Trebuchet MS"/>
                <a:cs typeface="Trebuchet MS"/>
              </a:rPr>
              <a:t>Miss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Nelson,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spc="-40" dirty="0">
                <a:latin typeface="Trebuchet MS"/>
                <a:cs typeface="Trebuchet MS"/>
              </a:rPr>
              <a:t>for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instance,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became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kind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of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b="1" spc="50" dirty="0">
                <a:latin typeface="Trebuchet MS"/>
                <a:cs typeface="Trebuchet MS"/>
              </a:rPr>
              <a:t>big</a:t>
            </a:r>
            <a:r>
              <a:rPr sz="950" b="1" spc="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sister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to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Benjamin.</a:t>
            </a:r>
            <a:endParaRPr sz="950">
              <a:latin typeface="Trebuchet MS"/>
              <a:cs typeface="Trebuchet MS"/>
            </a:endParaRPr>
          </a:p>
          <a:p>
            <a:pPr marL="289560">
              <a:lnSpc>
                <a:spcPct val="100000"/>
              </a:lnSpc>
              <a:spcBef>
                <a:spcPts val="515"/>
              </a:spcBef>
            </a:pPr>
            <a:r>
              <a:rPr sz="950" spc="60" dirty="0">
                <a:latin typeface="Trebuchet MS"/>
                <a:cs typeface="Trebuchet MS"/>
              </a:rPr>
              <a:t>*Miss</a:t>
            </a:r>
            <a:r>
              <a:rPr sz="950" spc="2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Nelson,</a:t>
            </a:r>
            <a:r>
              <a:rPr sz="950" spc="20" dirty="0">
                <a:latin typeface="Trebuchet MS"/>
                <a:cs typeface="Trebuchet MS"/>
              </a:rPr>
              <a:t> </a:t>
            </a:r>
            <a:r>
              <a:rPr sz="950" spc="-40" dirty="0">
                <a:latin typeface="Trebuchet MS"/>
                <a:cs typeface="Trebuchet MS"/>
              </a:rPr>
              <a:t>for</a:t>
            </a:r>
            <a:r>
              <a:rPr sz="950" spc="2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instance,</a:t>
            </a:r>
            <a:r>
              <a:rPr sz="950" spc="2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became</a:t>
            </a:r>
            <a:r>
              <a:rPr sz="950" spc="2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</a:t>
            </a:r>
            <a:r>
              <a:rPr sz="950" spc="2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kind</a:t>
            </a:r>
            <a:r>
              <a:rPr sz="950" spc="2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of</a:t>
            </a:r>
            <a:r>
              <a:rPr sz="950" spc="20" dirty="0">
                <a:latin typeface="Trebuchet MS"/>
                <a:cs typeface="Trebuchet MS"/>
              </a:rPr>
              <a:t> </a:t>
            </a:r>
            <a:r>
              <a:rPr sz="950" b="1" dirty="0">
                <a:latin typeface="Trebuchet MS"/>
                <a:cs typeface="Trebuchet MS"/>
              </a:rPr>
              <a:t>large</a:t>
            </a:r>
            <a:r>
              <a:rPr sz="950" b="1" spc="2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sister</a:t>
            </a:r>
            <a:r>
              <a:rPr sz="950" spc="20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to</a:t>
            </a:r>
            <a:r>
              <a:rPr sz="950" spc="2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Benjamin.</a:t>
            </a:r>
            <a:endParaRPr sz="950">
              <a:latin typeface="Trebuchet MS"/>
              <a:cs typeface="Trebuchet MS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2016760" y="3339672"/>
            <a:ext cx="57467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14" action="ppaction://hlinksldjump"/>
              </a:rPr>
              <a:t>Lexical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  <a:hlinkClick r:id="rId14" action="ppaction://hlinksldjump"/>
              </a:rPr>
              <a:t>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  <a:hlinkClick r:id="rId14" action="ppaction://hlinksldjump"/>
              </a:rPr>
              <a:t>Semantics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3608260" y="3339672"/>
            <a:ext cx="56388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8,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1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4317424" y="3339672"/>
            <a:ext cx="236854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12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10" dirty="0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</a:rPr>
              <a:t>18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38" name="Slide Number Placeholder 37">
            <a:extLst>
              <a:ext uri="{FF2B5EF4-FFF2-40B4-BE49-F238E27FC236}">
                <a16:creationId xmlns:a16="http://schemas.microsoft.com/office/drawing/2014/main" id="{85754C27-D7FA-4684-891F-F1CA3DD7D9E7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4292024" y="3339672"/>
            <a:ext cx="262254" cy="116204"/>
          </a:xfrm>
          <a:prstGeom prst="rect">
            <a:avLst/>
          </a:prstGeom>
        </p:spPr>
        <p:txBody>
          <a:bodyPr/>
          <a:lstStyle/>
          <a:p>
            <a:pPr marL="75565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lang="en-IN" smtClean="0"/>
              <a:t>24</a:t>
            </a:fld>
            <a:r>
              <a:rPr lang="en-IN" spc="-5"/>
              <a:t> </a:t>
            </a:r>
            <a:r>
              <a:rPr lang="en-IN" spc="-110"/>
              <a:t>/</a:t>
            </a:r>
            <a:r>
              <a:rPr lang="en-IN" spc="15"/>
              <a:t> </a:t>
            </a:r>
            <a:r>
              <a:rPr lang="en-IN" spc="-25"/>
              <a:t>18</a:t>
            </a:r>
            <a:endParaRPr lang="en-IN" spc="-25" dirty="0"/>
          </a:p>
        </p:txBody>
      </p:sp>
    </p:spTree>
  </p:cSld>
  <p:clrMapOvr>
    <a:masterClrMapping/>
  </p:clrMapOvr>
  <p:transition>
    <p:cut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Synonymy:</a:t>
            </a:r>
            <a:r>
              <a:rPr spc="80" dirty="0"/>
              <a:t> </a:t>
            </a:r>
            <a:r>
              <a:rPr dirty="0"/>
              <a:t>A</a:t>
            </a:r>
            <a:r>
              <a:rPr spc="5" dirty="0"/>
              <a:t> </a:t>
            </a:r>
            <a:r>
              <a:rPr spc="-10" dirty="0"/>
              <a:t>relation</a:t>
            </a:r>
            <a:r>
              <a:rPr spc="5" dirty="0"/>
              <a:t> </a:t>
            </a:r>
            <a:r>
              <a:rPr spc="-20" dirty="0"/>
              <a:t>between</a:t>
            </a:r>
            <a:r>
              <a:rPr spc="10" dirty="0"/>
              <a:t> </a:t>
            </a:r>
            <a:r>
              <a:rPr spc="-10" dirty="0"/>
              <a:t>senses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7743" y="852081"/>
            <a:ext cx="4483735" cy="667385"/>
            <a:chOff x="87743" y="852081"/>
            <a:chExt cx="4483735" cy="667385"/>
          </a:xfrm>
        </p:grpSpPr>
        <p:sp>
          <p:nvSpPr>
            <p:cNvPr id="4" name="object 4"/>
            <p:cNvSpPr/>
            <p:nvPr/>
          </p:nvSpPr>
          <p:spPr>
            <a:xfrm>
              <a:off x="87743" y="852081"/>
              <a:ext cx="4432935" cy="186055"/>
            </a:xfrm>
            <a:custGeom>
              <a:avLst/>
              <a:gdLst/>
              <a:ahLst/>
              <a:cxnLst/>
              <a:rect l="l" t="t" r="r" b="b"/>
              <a:pathLst>
                <a:path w="4432935" h="186055">
                  <a:moveTo>
                    <a:pt x="4381754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5674"/>
                  </a:lnTo>
                  <a:lnTo>
                    <a:pt x="4432554" y="185674"/>
                  </a:lnTo>
                  <a:lnTo>
                    <a:pt x="4432554" y="50800"/>
                  </a:lnTo>
                  <a:lnTo>
                    <a:pt x="4428545" y="31075"/>
                  </a:lnTo>
                  <a:lnTo>
                    <a:pt x="4417631" y="14922"/>
                  </a:lnTo>
                  <a:lnTo>
                    <a:pt x="4401478" y="4008"/>
                  </a:lnTo>
                  <a:lnTo>
                    <a:pt x="4381754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744" y="1025093"/>
              <a:ext cx="4432554" cy="5060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8544" y="1417802"/>
              <a:ext cx="101599" cy="1016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9344" y="1405102"/>
              <a:ext cx="4381754" cy="1143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20298" y="896315"/>
              <a:ext cx="50800" cy="521487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87743" y="1069441"/>
              <a:ext cx="4432935" cy="399415"/>
            </a:xfrm>
            <a:custGeom>
              <a:avLst/>
              <a:gdLst/>
              <a:ahLst/>
              <a:cxnLst/>
              <a:rect l="l" t="t" r="r" b="b"/>
              <a:pathLst>
                <a:path w="4432935" h="399415">
                  <a:moveTo>
                    <a:pt x="4432554" y="0"/>
                  </a:moveTo>
                  <a:lnTo>
                    <a:pt x="0" y="0"/>
                  </a:lnTo>
                  <a:lnTo>
                    <a:pt x="0" y="348361"/>
                  </a:lnTo>
                  <a:lnTo>
                    <a:pt x="4008" y="368085"/>
                  </a:lnTo>
                  <a:lnTo>
                    <a:pt x="14922" y="384238"/>
                  </a:lnTo>
                  <a:lnTo>
                    <a:pt x="31075" y="395152"/>
                  </a:lnTo>
                  <a:lnTo>
                    <a:pt x="50800" y="399161"/>
                  </a:lnTo>
                  <a:lnTo>
                    <a:pt x="4381754" y="399161"/>
                  </a:lnTo>
                  <a:lnTo>
                    <a:pt x="4401478" y="395152"/>
                  </a:lnTo>
                  <a:lnTo>
                    <a:pt x="4417631" y="384238"/>
                  </a:lnTo>
                  <a:lnTo>
                    <a:pt x="4428545" y="368085"/>
                  </a:lnTo>
                  <a:lnTo>
                    <a:pt x="4432554" y="348361"/>
                  </a:lnTo>
                  <a:lnTo>
                    <a:pt x="4432554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520310" y="934440"/>
              <a:ext cx="0" cy="502920"/>
            </a:xfrm>
            <a:custGeom>
              <a:avLst/>
              <a:gdLst/>
              <a:ahLst/>
              <a:cxnLst/>
              <a:rect l="l" t="t" r="r" b="b"/>
              <a:pathLst>
                <a:path h="502919">
                  <a:moveTo>
                    <a:pt x="0" y="502412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520310" y="921715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520310" y="909015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520310" y="896315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81597" y="1119111"/>
              <a:ext cx="64757" cy="64757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81597" y="1329143"/>
              <a:ext cx="64757" cy="64757"/>
            </a:xfrm>
            <a:prstGeom prst="rect">
              <a:avLst/>
            </a:prstGeom>
          </p:spPr>
        </p:pic>
      </p:grpSp>
      <p:grpSp>
        <p:nvGrpSpPr>
          <p:cNvPr id="16" name="object 16"/>
          <p:cNvGrpSpPr/>
          <p:nvPr/>
        </p:nvGrpSpPr>
        <p:grpSpPr>
          <a:xfrm>
            <a:off x="87743" y="1620520"/>
            <a:ext cx="4483735" cy="658495"/>
            <a:chOff x="87743" y="1620520"/>
            <a:chExt cx="4483735" cy="658495"/>
          </a:xfrm>
        </p:grpSpPr>
        <p:sp>
          <p:nvSpPr>
            <p:cNvPr id="17" name="object 17"/>
            <p:cNvSpPr/>
            <p:nvPr/>
          </p:nvSpPr>
          <p:spPr>
            <a:xfrm>
              <a:off x="87743" y="1620520"/>
              <a:ext cx="4432935" cy="176530"/>
            </a:xfrm>
            <a:custGeom>
              <a:avLst/>
              <a:gdLst/>
              <a:ahLst/>
              <a:cxnLst/>
              <a:rect l="l" t="t" r="r" b="b"/>
              <a:pathLst>
                <a:path w="4432935" h="176530">
                  <a:moveTo>
                    <a:pt x="4381754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76276"/>
                  </a:lnTo>
                  <a:lnTo>
                    <a:pt x="4432554" y="176276"/>
                  </a:lnTo>
                  <a:lnTo>
                    <a:pt x="4432554" y="50800"/>
                  </a:lnTo>
                  <a:lnTo>
                    <a:pt x="4428545" y="31075"/>
                  </a:lnTo>
                  <a:lnTo>
                    <a:pt x="4417631" y="14922"/>
                  </a:lnTo>
                  <a:lnTo>
                    <a:pt x="4401478" y="4008"/>
                  </a:lnTo>
                  <a:lnTo>
                    <a:pt x="4381754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7744" y="1784184"/>
              <a:ext cx="4432554" cy="50609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38544" y="2176881"/>
              <a:ext cx="101599" cy="101600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89344" y="2164181"/>
              <a:ext cx="4381754" cy="114300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520298" y="1664754"/>
              <a:ext cx="50800" cy="512127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87743" y="1828520"/>
              <a:ext cx="4432935" cy="399415"/>
            </a:xfrm>
            <a:custGeom>
              <a:avLst/>
              <a:gdLst/>
              <a:ahLst/>
              <a:cxnLst/>
              <a:rect l="l" t="t" r="r" b="b"/>
              <a:pathLst>
                <a:path w="4432935" h="399414">
                  <a:moveTo>
                    <a:pt x="4432554" y="0"/>
                  </a:moveTo>
                  <a:lnTo>
                    <a:pt x="0" y="0"/>
                  </a:lnTo>
                  <a:lnTo>
                    <a:pt x="0" y="348360"/>
                  </a:lnTo>
                  <a:lnTo>
                    <a:pt x="4008" y="368085"/>
                  </a:lnTo>
                  <a:lnTo>
                    <a:pt x="14922" y="384238"/>
                  </a:lnTo>
                  <a:lnTo>
                    <a:pt x="31075" y="395152"/>
                  </a:lnTo>
                  <a:lnTo>
                    <a:pt x="50800" y="399160"/>
                  </a:lnTo>
                  <a:lnTo>
                    <a:pt x="4381754" y="399160"/>
                  </a:lnTo>
                  <a:lnTo>
                    <a:pt x="4401478" y="395152"/>
                  </a:lnTo>
                  <a:lnTo>
                    <a:pt x="4417631" y="384238"/>
                  </a:lnTo>
                  <a:lnTo>
                    <a:pt x="4428545" y="368085"/>
                  </a:lnTo>
                  <a:lnTo>
                    <a:pt x="4432554" y="348360"/>
                  </a:lnTo>
                  <a:lnTo>
                    <a:pt x="4432554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4520309" y="1702917"/>
              <a:ext cx="0" cy="493395"/>
            </a:xfrm>
            <a:custGeom>
              <a:avLst/>
              <a:gdLst/>
              <a:ahLst/>
              <a:cxnLst/>
              <a:rect l="l" t="t" r="r" b="b"/>
              <a:pathLst>
                <a:path h="493394">
                  <a:moveTo>
                    <a:pt x="0" y="493014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520309" y="1690149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4520309" y="1677449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4520309" y="1664749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" name="object 27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81597" y="1878203"/>
              <a:ext cx="64757" cy="64757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281597" y="2088235"/>
              <a:ext cx="64757" cy="64757"/>
            </a:xfrm>
            <a:prstGeom prst="rect">
              <a:avLst/>
            </a:prstGeom>
          </p:spPr>
        </p:pic>
      </p:grpSp>
      <p:grpSp>
        <p:nvGrpSpPr>
          <p:cNvPr id="29" name="object 29"/>
          <p:cNvGrpSpPr/>
          <p:nvPr/>
        </p:nvGrpSpPr>
        <p:grpSpPr>
          <a:xfrm>
            <a:off x="87743" y="2379611"/>
            <a:ext cx="4483735" cy="664845"/>
            <a:chOff x="87743" y="2379611"/>
            <a:chExt cx="4483735" cy="664845"/>
          </a:xfrm>
        </p:grpSpPr>
        <p:sp>
          <p:nvSpPr>
            <p:cNvPr id="30" name="object 30"/>
            <p:cNvSpPr/>
            <p:nvPr/>
          </p:nvSpPr>
          <p:spPr>
            <a:xfrm>
              <a:off x="87743" y="2379611"/>
              <a:ext cx="4432935" cy="186055"/>
            </a:xfrm>
            <a:custGeom>
              <a:avLst/>
              <a:gdLst/>
              <a:ahLst/>
              <a:cxnLst/>
              <a:rect l="l" t="t" r="r" b="b"/>
              <a:pathLst>
                <a:path w="4432935" h="186055">
                  <a:moveTo>
                    <a:pt x="4381754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5674"/>
                  </a:lnTo>
                  <a:lnTo>
                    <a:pt x="4432554" y="185674"/>
                  </a:lnTo>
                  <a:lnTo>
                    <a:pt x="4432554" y="50800"/>
                  </a:lnTo>
                  <a:lnTo>
                    <a:pt x="4428545" y="31075"/>
                  </a:lnTo>
                  <a:lnTo>
                    <a:pt x="4417631" y="14922"/>
                  </a:lnTo>
                  <a:lnTo>
                    <a:pt x="4401478" y="4008"/>
                  </a:lnTo>
                  <a:lnTo>
                    <a:pt x="4381754" y="0"/>
                  </a:lnTo>
                  <a:close/>
                </a:path>
              </a:pathLst>
            </a:custGeom>
            <a:solidFill>
              <a:srgbClr val="FF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87744" y="2552623"/>
              <a:ext cx="4432554" cy="50609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38544" y="2942463"/>
              <a:ext cx="101599" cy="101600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89344" y="2929763"/>
              <a:ext cx="4381754" cy="114300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4520298" y="2423845"/>
              <a:ext cx="50800" cy="518617"/>
            </a:xfrm>
            <a:prstGeom prst="rect">
              <a:avLst/>
            </a:prstGeom>
          </p:spPr>
        </p:pic>
        <p:sp>
          <p:nvSpPr>
            <p:cNvPr id="35" name="object 35"/>
            <p:cNvSpPr/>
            <p:nvPr/>
          </p:nvSpPr>
          <p:spPr>
            <a:xfrm>
              <a:off x="87743" y="2596896"/>
              <a:ext cx="4432935" cy="396875"/>
            </a:xfrm>
            <a:custGeom>
              <a:avLst/>
              <a:gdLst/>
              <a:ahLst/>
              <a:cxnLst/>
              <a:rect l="l" t="t" r="r" b="b"/>
              <a:pathLst>
                <a:path w="4432935" h="396875">
                  <a:moveTo>
                    <a:pt x="4432554" y="0"/>
                  </a:moveTo>
                  <a:lnTo>
                    <a:pt x="0" y="0"/>
                  </a:lnTo>
                  <a:lnTo>
                    <a:pt x="0" y="345567"/>
                  </a:lnTo>
                  <a:lnTo>
                    <a:pt x="4008" y="365291"/>
                  </a:lnTo>
                  <a:lnTo>
                    <a:pt x="14922" y="381444"/>
                  </a:lnTo>
                  <a:lnTo>
                    <a:pt x="31075" y="392358"/>
                  </a:lnTo>
                  <a:lnTo>
                    <a:pt x="50800" y="396367"/>
                  </a:lnTo>
                  <a:lnTo>
                    <a:pt x="4381754" y="396367"/>
                  </a:lnTo>
                  <a:lnTo>
                    <a:pt x="4401478" y="392358"/>
                  </a:lnTo>
                  <a:lnTo>
                    <a:pt x="4417631" y="381444"/>
                  </a:lnTo>
                  <a:lnTo>
                    <a:pt x="4428545" y="365291"/>
                  </a:lnTo>
                  <a:lnTo>
                    <a:pt x="4432554" y="345567"/>
                  </a:lnTo>
                  <a:lnTo>
                    <a:pt x="4432554" y="0"/>
                  </a:lnTo>
                  <a:close/>
                </a:path>
              </a:pathLst>
            </a:custGeom>
            <a:solidFill>
              <a:srgbClr val="FFE5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4520309" y="2461895"/>
              <a:ext cx="0" cy="499745"/>
            </a:xfrm>
            <a:custGeom>
              <a:avLst/>
              <a:gdLst/>
              <a:ahLst/>
              <a:cxnLst/>
              <a:rect l="l" t="t" r="r" b="b"/>
              <a:pathLst>
                <a:path h="499744">
                  <a:moveTo>
                    <a:pt x="0" y="499618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4520309" y="2449244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4520309" y="2436544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4520309" y="2423844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0" name="object 40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281597" y="2643771"/>
              <a:ext cx="64757" cy="64757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281597" y="2853804"/>
              <a:ext cx="64757" cy="64757"/>
            </a:xfrm>
            <a:prstGeom prst="rect">
              <a:avLst/>
            </a:prstGeom>
          </p:spPr>
        </p:pic>
      </p:grpSp>
      <p:sp>
        <p:nvSpPr>
          <p:cNvPr id="42" name="object 42"/>
          <p:cNvSpPr txBox="1"/>
          <p:nvPr/>
        </p:nvSpPr>
        <p:spPr>
          <a:xfrm>
            <a:off x="125729" y="497888"/>
            <a:ext cx="4149725" cy="2461260"/>
          </a:xfrm>
          <a:prstGeom prst="rect">
            <a:avLst/>
          </a:prstGeom>
        </p:spPr>
        <p:txBody>
          <a:bodyPr vert="horz" wrap="square" lIns="0" tIns="10413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19"/>
              </a:spcBef>
            </a:pPr>
            <a:r>
              <a:rPr sz="950" dirty="0">
                <a:latin typeface="Trebuchet MS"/>
                <a:cs typeface="Trebuchet MS"/>
              </a:rPr>
              <a:t>Consider</a:t>
            </a:r>
            <a:r>
              <a:rPr sz="950" spc="5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5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words</a:t>
            </a:r>
            <a:r>
              <a:rPr sz="950" spc="50" dirty="0">
                <a:latin typeface="Trebuchet MS"/>
                <a:cs typeface="Trebuchet MS"/>
              </a:rPr>
              <a:t> </a:t>
            </a:r>
            <a:r>
              <a:rPr sz="950" i="1" dirty="0">
                <a:latin typeface="Trebuchet MS"/>
                <a:cs typeface="Trebuchet MS"/>
              </a:rPr>
              <a:t>big</a:t>
            </a:r>
            <a:r>
              <a:rPr sz="950" i="1" spc="114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and</a:t>
            </a:r>
            <a:r>
              <a:rPr sz="950" spc="55" dirty="0">
                <a:latin typeface="Trebuchet MS"/>
                <a:cs typeface="Trebuchet MS"/>
              </a:rPr>
              <a:t> </a:t>
            </a:r>
            <a:r>
              <a:rPr sz="950" i="1" spc="-10" dirty="0">
                <a:latin typeface="Trebuchet MS"/>
                <a:cs typeface="Trebuchet MS"/>
              </a:rPr>
              <a:t>large</a:t>
            </a:r>
            <a:r>
              <a:rPr sz="950" spc="-10" dirty="0">
                <a:latin typeface="Trebuchet MS"/>
                <a:cs typeface="Trebuchet MS"/>
              </a:rPr>
              <a:t>.</a:t>
            </a:r>
            <a:endParaRPr sz="9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765"/>
              </a:spcBef>
            </a:pPr>
            <a:r>
              <a:rPr sz="1100" i="1" dirty="0">
                <a:solidFill>
                  <a:srgbClr val="3232B2"/>
                </a:solidFill>
                <a:latin typeface="Cambria"/>
                <a:cs typeface="Cambria"/>
              </a:rPr>
              <a:t>Are</a:t>
            </a:r>
            <a:r>
              <a:rPr sz="1100" i="1" spc="-20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100" i="1" spc="-40" dirty="0">
                <a:solidFill>
                  <a:srgbClr val="3232B2"/>
                </a:solidFill>
                <a:latin typeface="Cambria"/>
                <a:cs typeface="Cambria"/>
              </a:rPr>
              <a:t>they</a:t>
            </a:r>
            <a:r>
              <a:rPr sz="1100" i="1" spc="-20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100" i="1" spc="-10" dirty="0">
                <a:solidFill>
                  <a:srgbClr val="3232B2"/>
                </a:solidFill>
                <a:latin typeface="Cambria"/>
                <a:cs typeface="Cambria"/>
              </a:rPr>
              <a:t>synonyms?</a:t>
            </a:r>
            <a:endParaRPr sz="1100">
              <a:latin typeface="Cambria"/>
              <a:cs typeface="Cambria"/>
            </a:endParaRPr>
          </a:p>
          <a:p>
            <a:pPr marL="289560">
              <a:lnSpc>
                <a:spcPct val="100000"/>
              </a:lnSpc>
              <a:spcBef>
                <a:spcPts val="425"/>
              </a:spcBef>
            </a:pPr>
            <a:r>
              <a:rPr sz="950" dirty="0">
                <a:latin typeface="Trebuchet MS"/>
                <a:cs typeface="Trebuchet MS"/>
              </a:rPr>
              <a:t>How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b="1" spc="50" dirty="0">
                <a:latin typeface="Trebuchet MS"/>
                <a:cs typeface="Trebuchet MS"/>
              </a:rPr>
              <a:t>big</a:t>
            </a:r>
            <a:r>
              <a:rPr sz="950" b="1" spc="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is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spc="-30" dirty="0">
                <a:latin typeface="Trebuchet MS"/>
                <a:cs typeface="Trebuchet MS"/>
              </a:rPr>
              <a:t>that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plane?</a:t>
            </a:r>
            <a:endParaRPr sz="950">
              <a:latin typeface="Trebuchet MS"/>
              <a:cs typeface="Trebuchet MS"/>
            </a:endParaRPr>
          </a:p>
          <a:p>
            <a:pPr marL="289560">
              <a:lnSpc>
                <a:spcPct val="100000"/>
              </a:lnSpc>
              <a:spcBef>
                <a:spcPts val="515"/>
              </a:spcBef>
            </a:pPr>
            <a:r>
              <a:rPr sz="950" dirty="0">
                <a:latin typeface="Trebuchet MS"/>
                <a:cs typeface="Trebuchet MS"/>
              </a:rPr>
              <a:t>Would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I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be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flying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on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b="1" dirty="0">
                <a:latin typeface="Trebuchet MS"/>
                <a:cs typeface="Trebuchet MS"/>
              </a:rPr>
              <a:t>large</a:t>
            </a:r>
            <a:r>
              <a:rPr sz="950" b="1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or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small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plane?</a:t>
            </a:r>
            <a:endParaRPr sz="9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409"/>
              </a:spcBef>
            </a:pPr>
            <a:endParaRPr sz="9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100" i="1" dirty="0">
                <a:solidFill>
                  <a:srgbClr val="3232B2"/>
                </a:solidFill>
                <a:latin typeface="Cambria"/>
                <a:cs typeface="Cambria"/>
              </a:rPr>
              <a:t>How </a:t>
            </a:r>
            <a:r>
              <a:rPr sz="1100" i="1" spc="-40" dirty="0">
                <a:solidFill>
                  <a:srgbClr val="3232B2"/>
                </a:solidFill>
                <a:latin typeface="Cambria"/>
                <a:cs typeface="Cambria"/>
              </a:rPr>
              <a:t>about</a:t>
            </a:r>
            <a:r>
              <a:rPr sz="1100" i="1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100" i="1" spc="-10" dirty="0">
                <a:solidFill>
                  <a:srgbClr val="3232B2"/>
                </a:solidFill>
                <a:latin typeface="Cambria"/>
                <a:cs typeface="Cambria"/>
              </a:rPr>
              <a:t>here?</a:t>
            </a:r>
            <a:endParaRPr sz="1100">
              <a:latin typeface="Cambria"/>
              <a:cs typeface="Cambria"/>
            </a:endParaRPr>
          </a:p>
          <a:p>
            <a:pPr marL="289560">
              <a:lnSpc>
                <a:spcPct val="100000"/>
              </a:lnSpc>
              <a:spcBef>
                <a:spcPts val="350"/>
              </a:spcBef>
            </a:pPr>
            <a:r>
              <a:rPr sz="950" spc="65" dirty="0">
                <a:latin typeface="Trebuchet MS"/>
                <a:cs typeface="Trebuchet MS"/>
              </a:rPr>
              <a:t>Miss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Nelson,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spc="-40" dirty="0">
                <a:latin typeface="Trebuchet MS"/>
                <a:cs typeface="Trebuchet MS"/>
              </a:rPr>
              <a:t>for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instance,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became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kind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of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b="1" spc="50" dirty="0">
                <a:latin typeface="Trebuchet MS"/>
                <a:cs typeface="Trebuchet MS"/>
              </a:rPr>
              <a:t>big</a:t>
            </a:r>
            <a:r>
              <a:rPr sz="950" b="1" spc="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sister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to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Benjamin.</a:t>
            </a:r>
            <a:endParaRPr sz="950">
              <a:latin typeface="Trebuchet MS"/>
              <a:cs typeface="Trebuchet MS"/>
            </a:endParaRPr>
          </a:p>
          <a:p>
            <a:pPr marL="289560">
              <a:lnSpc>
                <a:spcPct val="100000"/>
              </a:lnSpc>
              <a:spcBef>
                <a:spcPts val="515"/>
              </a:spcBef>
            </a:pPr>
            <a:r>
              <a:rPr sz="950" spc="60" dirty="0">
                <a:latin typeface="Trebuchet MS"/>
                <a:cs typeface="Trebuchet MS"/>
              </a:rPr>
              <a:t>*Miss</a:t>
            </a:r>
            <a:r>
              <a:rPr sz="950" spc="2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Nelson,</a:t>
            </a:r>
            <a:r>
              <a:rPr sz="950" spc="20" dirty="0">
                <a:latin typeface="Trebuchet MS"/>
                <a:cs typeface="Trebuchet MS"/>
              </a:rPr>
              <a:t> </a:t>
            </a:r>
            <a:r>
              <a:rPr sz="950" spc="-40" dirty="0">
                <a:latin typeface="Trebuchet MS"/>
                <a:cs typeface="Trebuchet MS"/>
              </a:rPr>
              <a:t>for</a:t>
            </a:r>
            <a:r>
              <a:rPr sz="950" spc="2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instance,</a:t>
            </a:r>
            <a:r>
              <a:rPr sz="950" spc="2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became</a:t>
            </a:r>
            <a:r>
              <a:rPr sz="950" spc="2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</a:t>
            </a:r>
            <a:r>
              <a:rPr sz="950" spc="2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kind</a:t>
            </a:r>
            <a:r>
              <a:rPr sz="950" spc="2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of</a:t>
            </a:r>
            <a:r>
              <a:rPr sz="950" spc="20" dirty="0">
                <a:latin typeface="Trebuchet MS"/>
                <a:cs typeface="Trebuchet MS"/>
              </a:rPr>
              <a:t> </a:t>
            </a:r>
            <a:r>
              <a:rPr sz="950" b="1" dirty="0">
                <a:latin typeface="Trebuchet MS"/>
                <a:cs typeface="Trebuchet MS"/>
              </a:rPr>
              <a:t>large</a:t>
            </a:r>
            <a:r>
              <a:rPr sz="950" b="1" spc="2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sister</a:t>
            </a:r>
            <a:r>
              <a:rPr sz="950" spc="20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to</a:t>
            </a:r>
            <a:r>
              <a:rPr sz="950" spc="2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Benjamin.</a:t>
            </a:r>
            <a:endParaRPr sz="9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409"/>
              </a:spcBef>
            </a:pPr>
            <a:endParaRPr sz="9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100" i="1" spc="-20" dirty="0">
                <a:solidFill>
                  <a:srgbClr val="FF0000"/>
                </a:solidFill>
                <a:latin typeface="Cambria"/>
                <a:cs typeface="Cambria"/>
              </a:rPr>
              <a:t>Why?</a:t>
            </a:r>
            <a:endParaRPr sz="1100">
              <a:latin typeface="Cambria"/>
              <a:cs typeface="Cambria"/>
            </a:endParaRPr>
          </a:p>
          <a:p>
            <a:pPr marL="289560">
              <a:lnSpc>
                <a:spcPct val="100000"/>
              </a:lnSpc>
              <a:spcBef>
                <a:spcPts val="400"/>
              </a:spcBef>
            </a:pPr>
            <a:r>
              <a:rPr sz="950" i="1" dirty="0">
                <a:latin typeface="Trebuchet MS"/>
                <a:cs typeface="Trebuchet MS"/>
              </a:rPr>
              <a:t>big</a:t>
            </a:r>
            <a:r>
              <a:rPr sz="950" i="1" spc="75" dirty="0">
                <a:latin typeface="Trebuchet MS"/>
                <a:cs typeface="Trebuchet MS"/>
              </a:rPr>
              <a:t> </a:t>
            </a:r>
            <a:r>
              <a:rPr sz="950" spc="55" dirty="0">
                <a:latin typeface="Trebuchet MS"/>
                <a:cs typeface="Trebuchet MS"/>
              </a:rPr>
              <a:t>has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</a:t>
            </a:r>
            <a:r>
              <a:rPr sz="950" spc="20" dirty="0">
                <a:latin typeface="Trebuchet MS"/>
                <a:cs typeface="Trebuchet MS"/>
              </a:rPr>
              <a:t> </a:t>
            </a:r>
            <a:r>
              <a:rPr sz="950" spc="55" dirty="0">
                <a:latin typeface="Trebuchet MS"/>
                <a:cs typeface="Trebuchet MS"/>
              </a:rPr>
              <a:t>sense</a:t>
            </a:r>
            <a:r>
              <a:rPr sz="950" spc="20" dirty="0">
                <a:latin typeface="Trebuchet MS"/>
                <a:cs typeface="Trebuchet MS"/>
              </a:rPr>
              <a:t> </a:t>
            </a:r>
            <a:r>
              <a:rPr sz="950" spc="-30" dirty="0">
                <a:latin typeface="Trebuchet MS"/>
                <a:cs typeface="Trebuchet MS"/>
              </a:rPr>
              <a:t>that</a:t>
            </a:r>
            <a:r>
              <a:rPr sz="950" spc="2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means</a:t>
            </a:r>
            <a:r>
              <a:rPr sz="950" spc="2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being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spc="-25" dirty="0">
                <a:latin typeface="Trebuchet MS"/>
                <a:cs typeface="Trebuchet MS"/>
              </a:rPr>
              <a:t>older,</a:t>
            </a:r>
            <a:r>
              <a:rPr sz="950" spc="2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or</a:t>
            </a:r>
            <a:r>
              <a:rPr sz="950" spc="2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grown</a:t>
            </a:r>
            <a:r>
              <a:rPr sz="950" spc="20" dirty="0">
                <a:latin typeface="Trebuchet MS"/>
                <a:cs typeface="Trebuchet MS"/>
              </a:rPr>
              <a:t> </a:t>
            </a:r>
            <a:r>
              <a:rPr sz="950" spc="-25" dirty="0">
                <a:latin typeface="Trebuchet MS"/>
                <a:cs typeface="Trebuchet MS"/>
              </a:rPr>
              <a:t>up</a:t>
            </a:r>
            <a:endParaRPr sz="950">
              <a:latin typeface="Trebuchet MS"/>
              <a:cs typeface="Trebuchet MS"/>
            </a:endParaRPr>
          </a:p>
          <a:p>
            <a:pPr marL="289560">
              <a:lnSpc>
                <a:spcPct val="100000"/>
              </a:lnSpc>
              <a:spcBef>
                <a:spcPts val="515"/>
              </a:spcBef>
            </a:pPr>
            <a:r>
              <a:rPr sz="950" i="1" dirty="0">
                <a:latin typeface="Trebuchet MS"/>
                <a:cs typeface="Trebuchet MS"/>
              </a:rPr>
              <a:t>large</a:t>
            </a:r>
            <a:r>
              <a:rPr sz="950" i="1" spc="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lacks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this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950" spc="45" dirty="0">
                <a:latin typeface="Trebuchet MS"/>
                <a:cs typeface="Trebuchet MS"/>
              </a:rPr>
              <a:t>sense</a:t>
            </a:r>
            <a:endParaRPr sz="950">
              <a:latin typeface="Trebuchet MS"/>
              <a:cs typeface="Trebuchet MS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2016760" y="3339672"/>
            <a:ext cx="57467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20" action="ppaction://hlinksldjump"/>
              </a:rPr>
              <a:t>Lexical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  <a:hlinkClick r:id="rId20" action="ppaction://hlinksldjump"/>
              </a:rPr>
              <a:t>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  <a:hlinkClick r:id="rId20" action="ppaction://hlinksldjump"/>
              </a:rPr>
              <a:t>Semantics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3608260" y="3339672"/>
            <a:ext cx="56388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8,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1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4317424" y="3339672"/>
            <a:ext cx="236854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12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10" dirty="0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</a:rPr>
              <a:t>18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51" name="Slide Number Placeholder 50">
            <a:extLst>
              <a:ext uri="{FF2B5EF4-FFF2-40B4-BE49-F238E27FC236}">
                <a16:creationId xmlns:a16="http://schemas.microsoft.com/office/drawing/2014/main" id="{8DEF878F-329C-4688-B384-27B553C2905D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4292024" y="3339672"/>
            <a:ext cx="262254" cy="116204"/>
          </a:xfrm>
          <a:prstGeom prst="rect">
            <a:avLst/>
          </a:prstGeom>
        </p:spPr>
        <p:txBody>
          <a:bodyPr/>
          <a:lstStyle/>
          <a:p>
            <a:pPr marL="75565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lang="en-IN" smtClean="0"/>
              <a:t>25</a:t>
            </a:fld>
            <a:r>
              <a:rPr lang="en-IN" spc="-5"/>
              <a:t> </a:t>
            </a:r>
            <a:r>
              <a:rPr lang="en-IN" spc="-110"/>
              <a:t>/</a:t>
            </a:r>
            <a:r>
              <a:rPr lang="en-IN" spc="15"/>
              <a:t> </a:t>
            </a:r>
            <a:r>
              <a:rPr lang="en-IN" spc="-25"/>
              <a:t>18</a:t>
            </a:r>
            <a:endParaRPr lang="en-IN" spc="-25" dirty="0"/>
          </a:p>
        </p:txBody>
      </p:sp>
    </p:spTree>
  </p:cSld>
  <p:clrMapOvr>
    <a:masterClrMapping/>
  </p:clrMapOvr>
  <p:transition>
    <p:cut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5250" y="60502"/>
            <a:ext cx="75438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i="1" spc="-10" dirty="0">
                <a:solidFill>
                  <a:srgbClr val="FFFFFF"/>
                </a:solidFill>
                <a:latin typeface="Cambria"/>
                <a:cs typeface="Cambria"/>
              </a:rPr>
              <a:t>Synonyms</a:t>
            </a:r>
            <a:endParaRPr sz="1400">
              <a:latin typeface="Cambria"/>
              <a:cs typeface="Cambria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87743" y="911885"/>
            <a:ext cx="4483735" cy="666115"/>
            <a:chOff x="87743" y="911885"/>
            <a:chExt cx="4483735" cy="666115"/>
          </a:xfrm>
        </p:grpSpPr>
        <p:sp>
          <p:nvSpPr>
            <p:cNvPr id="4" name="object 4"/>
            <p:cNvSpPr/>
            <p:nvPr/>
          </p:nvSpPr>
          <p:spPr>
            <a:xfrm>
              <a:off x="87743" y="911885"/>
              <a:ext cx="4432935" cy="186055"/>
            </a:xfrm>
            <a:custGeom>
              <a:avLst/>
              <a:gdLst/>
              <a:ahLst/>
              <a:cxnLst/>
              <a:rect l="l" t="t" r="r" b="b"/>
              <a:pathLst>
                <a:path w="4432935" h="186055">
                  <a:moveTo>
                    <a:pt x="4381754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5674"/>
                  </a:lnTo>
                  <a:lnTo>
                    <a:pt x="4432554" y="185674"/>
                  </a:lnTo>
                  <a:lnTo>
                    <a:pt x="4432554" y="50800"/>
                  </a:lnTo>
                  <a:lnTo>
                    <a:pt x="4428545" y="31075"/>
                  </a:lnTo>
                  <a:lnTo>
                    <a:pt x="4417631" y="14922"/>
                  </a:lnTo>
                  <a:lnTo>
                    <a:pt x="4401478" y="4008"/>
                  </a:lnTo>
                  <a:lnTo>
                    <a:pt x="4381754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744" y="1084897"/>
              <a:ext cx="4432554" cy="5060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8544" y="1476108"/>
              <a:ext cx="101599" cy="1016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9344" y="1463408"/>
              <a:ext cx="4381754" cy="1143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20298" y="956119"/>
              <a:ext cx="50800" cy="519988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87743" y="1129144"/>
              <a:ext cx="4432935" cy="398145"/>
            </a:xfrm>
            <a:custGeom>
              <a:avLst/>
              <a:gdLst/>
              <a:ahLst/>
              <a:cxnLst/>
              <a:rect l="l" t="t" r="r" b="b"/>
              <a:pathLst>
                <a:path w="4432935" h="398144">
                  <a:moveTo>
                    <a:pt x="4432554" y="0"/>
                  </a:moveTo>
                  <a:lnTo>
                    <a:pt x="0" y="0"/>
                  </a:lnTo>
                  <a:lnTo>
                    <a:pt x="0" y="346963"/>
                  </a:lnTo>
                  <a:lnTo>
                    <a:pt x="4008" y="366688"/>
                  </a:lnTo>
                  <a:lnTo>
                    <a:pt x="14922" y="382841"/>
                  </a:lnTo>
                  <a:lnTo>
                    <a:pt x="31075" y="393755"/>
                  </a:lnTo>
                  <a:lnTo>
                    <a:pt x="50800" y="397763"/>
                  </a:lnTo>
                  <a:lnTo>
                    <a:pt x="4381754" y="397763"/>
                  </a:lnTo>
                  <a:lnTo>
                    <a:pt x="4401478" y="393755"/>
                  </a:lnTo>
                  <a:lnTo>
                    <a:pt x="4417631" y="382841"/>
                  </a:lnTo>
                  <a:lnTo>
                    <a:pt x="4428545" y="366688"/>
                  </a:lnTo>
                  <a:lnTo>
                    <a:pt x="4432554" y="346963"/>
                  </a:lnTo>
                  <a:lnTo>
                    <a:pt x="4432554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520310" y="994270"/>
              <a:ext cx="0" cy="501015"/>
            </a:xfrm>
            <a:custGeom>
              <a:avLst/>
              <a:gdLst/>
              <a:ahLst/>
              <a:cxnLst/>
              <a:rect l="l" t="t" r="r" b="b"/>
              <a:pathLst>
                <a:path h="501015">
                  <a:moveTo>
                    <a:pt x="0" y="500888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520310" y="981519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520310" y="968819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520310" y="956119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81597" y="1178915"/>
              <a:ext cx="64757" cy="64757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81597" y="1388948"/>
              <a:ext cx="64757" cy="64757"/>
            </a:xfrm>
            <a:prstGeom prst="rect">
              <a:avLst/>
            </a:prstGeom>
          </p:spPr>
        </p:pic>
      </p:grpSp>
      <p:sp>
        <p:nvSpPr>
          <p:cNvPr id="16" name="object 16"/>
          <p:cNvSpPr txBox="1"/>
          <p:nvPr/>
        </p:nvSpPr>
        <p:spPr>
          <a:xfrm>
            <a:off x="125729" y="837238"/>
            <a:ext cx="2446020" cy="657225"/>
          </a:xfrm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sz="1100" i="1" spc="-10" dirty="0">
                <a:solidFill>
                  <a:srgbClr val="3232B2"/>
                </a:solidFill>
                <a:latin typeface="Cambria"/>
                <a:cs typeface="Cambria"/>
              </a:rPr>
              <a:t>Shades</a:t>
            </a:r>
            <a:r>
              <a:rPr sz="1100" i="1" spc="-30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100" i="1" dirty="0">
                <a:solidFill>
                  <a:srgbClr val="3232B2"/>
                </a:solidFill>
                <a:latin typeface="Cambria"/>
                <a:cs typeface="Cambria"/>
              </a:rPr>
              <a:t>of</a:t>
            </a:r>
            <a:r>
              <a:rPr sz="1100" i="1" spc="-25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100" i="1" spc="-10" dirty="0">
                <a:solidFill>
                  <a:srgbClr val="3232B2"/>
                </a:solidFill>
                <a:latin typeface="Cambria"/>
                <a:cs typeface="Cambria"/>
              </a:rPr>
              <a:t>meaning</a:t>
            </a:r>
            <a:endParaRPr sz="1100">
              <a:latin typeface="Cambria"/>
              <a:cs typeface="Cambria"/>
            </a:endParaRPr>
          </a:p>
          <a:p>
            <a:pPr marL="289560">
              <a:lnSpc>
                <a:spcPct val="100000"/>
              </a:lnSpc>
              <a:spcBef>
                <a:spcPts val="425"/>
              </a:spcBef>
            </a:pPr>
            <a:r>
              <a:rPr sz="950" dirty="0">
                <a:latin typeface="Trebuchet MS"/>
                <a:cs typeface="Trebuchet MS"/>
              </a:rPr>
              <a:t>What</a:t>
            </a:r>
            <a:r>
              <a:rPr sz="950" spc="4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is</a:t>
            </a:r>
            <a:r>
              <a:rPr sz="950" spc="5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5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cheapest</a:t>
            </a:r>
            <a:r>
              <a:rPr sz="950" spc="50" dirty="0">
                <a:latin typeface="Trebuchet MS"/>
                <a:cs typeface="Trebuchet MS"/>
              </a:rPr>
              <a:t> </a:t>
            </a:r>
            <a:r>
              <a:rPr sz="950" spc="-35" dirty="0">
                <a:latin typeface="Trebuchet MS"/>
                <a:cs typeface="Trebuchet MS"/>
              </a:rPr>
              <a:t>first</a:t>
            </a:r>
            <a:r>
              <a:rPr sz="950" spc="5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class</a:t>
            </a:r>
            <a:r>
              <a:rPr sz="950" spc="50" dirty="0">
                <a:latin typeface="Trebuchet MS"/>
                <a:cs typeface="Trebuchet MS"/>
              </a:rPr>
              <a:t> </a:t>
            </a:r>
            <a:r>
              <a:rPr sz="950" i="1" spc="-10" dirty="0">
                <a:latin typeface="Trebuchet MS"/>
                <a:cs typeface="Trebuchet MS"/>
              </a:rPr>
              <a:t>fare</a:t>
            </a:r>
            <a:r>
              <a:rPr sz="950" spc="-10" dirty="0">
                <a:latin typeface="Trebuchet MS"/>
                <a:cs typeface="Trebuchet MS"/>
              </a:rPr>
              <a:t>?</a:t>
            </a:r>
            <a:endParaRPr sz="950">
              <a:latin typeface="Trebuchet MS"/>
              <a:cs typeface="Trebuchet MS"/>
            </a:endParaRPr>
          </a:p>
          <a:p>
            <a:pPr marL="289560">
              <a:lnSpc>
                <a:spcPct val="100000"/>
              </a:lnSpc>
              <a:spcBef>
                <a:spcPts val="509"/>
              </a:spcBef>
            </a:pPr>
            <a:r>
              <a:rPr sz="950" dirty="0">
                <a:latin typeface="Trebuchet MS"/>
                <a:cs typeface="Trebuchet MS"/>
              </a:rPr>
              <a:t>*What</a:t>
            </a:r>
            <a:r>
              <a:rPr sz="950" spc="5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is</a:t>
            </a:r>
            <a:r>
              <a:rPr sz="950" spc="5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5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cheapest</a:t>
            </a:r>
            <a:r>
              <a:rPr sz="950" spc="55" dirty="0">
                <a:latin typeface="Trebuchet MS"/>
                <a:cs typeface="Trebuchet MS"/>
              </a:rPr>
              <a:t> </a:t>
            </a:r>
            <a:r>
              <a:rPr sz="950" spc="-35" dirty="0">
                <a:latin typeface="Trebuchet MS"/>
                <a:cs typeface="Trebuchet MS"/>
              </a:rPr>
              <a:t>first</a:t>
            </a:r>
            <a:r>
              <a:rPr sz="950" spc="5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class</a:t>
            </a:r>
            <a:r>
              <a:rPr sz="950" spc="55" dirty="0">
                <a:latin typeface="Trebuchet MS"/>
                <a:cs typeface="Trebuchet MS"/>
              </a:rPr>
              <a:t> </a:t>
            </a:r>
            <a:r>
              <a:rPr sz="950" i="1" spc="-10" dirty="0">
                <a:latin typeface="Trebuchet MS"/>
                <a:cs typeface="Trebuchet MS"/>
              </a:rPr>
              <a:t>price</a:t>
            </a:r>
            <a:r>
              <a:rPr sz="950" spc="-10" dirty="0">
                <a:latin typeface="Trebuchet MS"/>
                <a:cs typeface="Trebuchet MS"/>
              </a:rPr>
              <a:t>?</a:t>
            </a:r>
            <a:endParaRPr sz="950">
              <a:latin typeface="Trebuchet MS"/>
              <a:cs typeface="Trebuchet MS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016760" y="3339672"/>
            <a:ext cx="57467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8" action="ppaction://hlinksldjump"/>
              </a:rPr>
              <a:t>Lexical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  <a:hlinkClick r:id="rId8" action="ppaction://hlinksldjump"/>
              </a:rPr>
              <a:t>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  <a:hlinkClick r:id="rId8" action="ppaction://hlinksldjump"/>
              </a:rPr>
              <a:t>Semantics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608260" y="3339672"/>
            <a:ext cx="56388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8,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1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317424" y="3339672"/>
            <a:ext cx="236854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13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10" dirty="0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</a:rPr>
              <a:t>18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25" name="Slide Number Placeholder 24">
            <a:extLst>
              <a:ext uri="{FF2B5EF4-FFF2-40B4-BE49-F238E27FC236}">
                <a16:creationId xmlns:a16="http://schemas.microsoft.com/office/drawing/2014/main" id="{5C694F7F-E8CD-4AB5-B193-EA5DF0B5169E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4292024" y="3339672"/>
            <a:ext cx="262254" cy="116204"/>
          </a:xfrm>
          <a:prstGeom prst="rect">
            <a:avLst/>
          </a:prstGeom>
        </p:spPr>
        <p:txBody>
          <a:bodyPr/>
          <a:lstStyle/>
          <a:p>
            <a:pPr marL="75565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lang="en-IN" smtClean="0"/>
              <a:t>26</a:t>
            </a:fld>
            <a:r>
              <a:rPr lang="en-IN" spc="-5"/>
              <a:t> </a:t>
            </a:r>
            <a:r>
              <a:rPr lang="en-IN" spc="-110"/>
              <a:t>/</a:t>
            </a:r>
            <a:r>
              <a:rPr lang="en-IN" spc="15"/>
              <a:t> </a:t>
            </a:r>
            <a:r>
              <a:rPr lang="en-IN" spc="-25"/>
              <a:t>18</a:t>
            </a:r>
            <a:endParaRPr lang="en-IN" spc="-25" dirty="0"/>
          </a:p>
        </p:txBody>
      </p:sp>
    </p:spTree>
  </p:cSld>
  <p:clrMapOvr>
    <a:masterClrMapping/>
  </p:clrMapOvr>
  <p:transition>
    <p:cut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250" y="60502"/>
            <a:ext cx="75438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Synonyms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7743" y="911885"/>
            <a:ext cx="4483735" cy="666115"/>
            <a:chOff x="87743" y="911885"/>
            <a:chExt cx="4483735" cy="666115"/>
          </a:xfrm>
        </p:grpSpPr>
        <p:sp>
          <p:nvSpPr>
            <p:cNvPr id="4" name="object 4"/>
            <p:cNvSpPr/>
            <p:nvPr/>
          </p:nvSpPr>
          <p:spPr>
            <a:xfrm>
              <a:off x="87743" y="911885"/>
              <a:ext cx="4432935" cy="186055"/>
            </a:xfrm>
            <a:custGeom>
              <a:avLst/>
              <a:gdLst/>
              <a:ahLst/>
              <a:cxnLst/>
              <a:rect l="l" t="t" r="r" b="b"/>
              <a:pathLst>
                <a:path w="4432935" h="186055">
                  <a:moveTo>
                    <a:pt x="4381754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5674"/>
                  </a:lnTo>
                  <a:lnTo>
                    <a:pt x="4432554" y="185674"/>
                  </a:lnTo>
                  <a:lnTo>
                    <a:pt x="4432554" y="50800"/>
                  </a:lnTo>
                  <a:lnTo>
                    <a:pt x="4428545" y="31075"/>
                  </a:lnTo>
                  <a:lnTo>
                    <a:pt x="4417631" y="14922"/>
                  </a:lnTo>
                  <a:lnTo>
                    <a:pt x="4401478" y="4008"/>
                  </a:lnTo>
                  <a:lnTo>
                    <a:pt x="4381754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744" y="1084897"/>
              <a:ext cx="4432554" cy="5060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8544" y="1476108"/>
              <a:ext cx="101599" cy="1016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9344" y="1463408"/>
              <a:ext cx="4381754" cy="1143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20298" y="956119"/>
              <a:ext cx="50800" cy="519988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87743" y="1129144"/>
              <a:ext cx="4432935" cy="398145"/>
            </a:xfrm>
            <a:custGeom>
              <a:avLst/>
              <a:gdLst/>
              <a:ahLst/>
              <a:cxnLst/>
              <a:rect l="l" t="t" r="r" b="b"/>
              <a:pathLst>
                <a:path w="4432935" h="398144">
                  <a:moveTo>
                    <a:pt x="4432554" y="0"/>
                  </a:moveTo>
                  <a:lnTo>
                    <a:pt x="0" y="0"/>
                  </a:lnTo>
                  <a:lnTo>
                    <a:pt x="0" y="346963"/>
                  </a:lnTo>
                  <a:lnTo>
                    <a:pt x="4008" y="366688"/>
                  </a:lnTo>
                  <a:lnTo>
                    <a:pt x="14922" y="382841"/>
                  </a:lnTo>
                  <a:lnTo>
                    <a:pt x="31075" y="393755"/>
                  </a:lnTo>
                  <a:lnTo>
                    <a:pt x="50800" y="397763"/>
                  </a:lnTo>
                  <a:lnTo>
                    <a:pt x="4381754" y="397763"/>
                  </a:lnTo>
                  <a:lnTo>
                    <a:pt x="4401478" y="393755"/>
                  </a:lnTo>
                  <a:lnTo>
                    <a:pt x="4417631" y="382841"/>
                  </a:lnTo>
                  <a:lnTo>
                    <a:pt x="4428545" y="366688"/>
                  </a:lnTo>
                  <a:lnTo>
                    <a:pt x="4432554" y="346963"/>
                  </a:lnTo>
                  <a:lnTo>
                    <a:pt x="4432554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520310" y="994270"/>
              <a:ext cx="0" cy="501015"/>
            </a:xfrm>
            <a:custGeom>
              <a:avLst/>
              <a:gdLst/>
              <a:ahLst/>
              <a:cxnLst/>
              <a:rect l="l" t="t" r="r" b="b"/>
              <a:pathLst>
                <a:path h="501015">
                  <a:moveTo>
                    <a:pt x="0" y="500888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520310" y="981519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520310" y="968819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520310" y="956119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81597" y="1178915"/>
              <a:ext cx="64757" cy="64757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81597" y="1388948"/>
              <a:ext cx="64757" cy="64757"/>
            </a:xfrm>
            <a:prstGeom prst="rect">
              <a:avLst/>
            </a:prstGeom>
          </p:spPr>
        </p:pic>
      </p:grpSp>
      <p:grpSp>
        <p:nvGrpSpPr>
          <p:cNvPr id="16" name="object 16"/>
          <p:cNvGrpSpPr/>
          <p:nvPr/>
        </p:nvGrpSpPr>
        <p:grpSpPr>
          <a:xfrm>
            <a:off x="87743" y="1678825"/>
            <a:ext cx="4483735" cy="975994"/>
            <a:chOff x="87743" y="1678825"/>
            <a:chExt cx="4483735" cy="975994"/>
          </a:xfrm>
        </p:grpSpPr>
        <p:sp>
          <p:nvSpPr>
            <p:cNvPr id="17" name="object 17"/>
            <p:cNvSpPr/>
            <p:nvPr/>
          </p:nvSpPr>
          <p:spPr>
            <a:xfrm>
              <a:off x="87743" y="1678825"/>
              <a:ext cx="4432935" cy="176530"/>
            </a:xfrm>
            <a:custGeom>
              <a:avLst/>
              <a:gdLst/>
              <a:ahLst/>
              <a:cxnLst/>
              <a:rect l="l" t="t" r="r" b="b"/>
              <a:pathLst>
                <a:path w="4432935" h="176530">
                  <a:moveTo>
                    <a:pt x="4381754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76276"/>
                  </a:lnTo>
                  <a:lnTo>
                    <a:pt x="4432554" y="176276"/>
                  </a:lnTo>
                  <a:lnTo>
                    <a:pt x="4432554" y="50800"/>
                  </a:lnTo>
                  <a:lnTo>
                    <a:pt x="4428545" y="31075"/>
                  </a:lnTo>
                  <a:lnTo>
                    <a:pt x="4417631" y="14922"/>
                  </a:lnTo>
                  <a:lnTo>
                    <a:pt x="4401478" y="4008"/>
                  </a:lnTo>
                  <a:lnTo>
                    <a:pt x="4381754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744" y="1842490"/>
              <a:ext cx="4432554" cy="50609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38544" y="2553030"/>
              <a:ext cx="101599" cy="101599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89344" y="2540330"/>
              <a:ext cx="4381754" cy="114300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520298" y="1723059"/>
              <a:ext cx="50800" cy="829970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87743" y="1886788"/>
              <a:ext cx="4432935" cy="717550"/>
            </a:xfrm>
            <a:custGeom>
              <a:avLst/>
              <a:gdLst/>
              <a:ahLst/>
              <a:cxnLst/>
              <a:rect l="l" t="t" r="r" b="b"/>
              <a:pathLst>
                <a:path w="4432935" h="717550">
                  <a:moveTo>
                    <a:pt x="4432554" y="0"/>
                  </a:moveTo>
                  <a:lnTo>
                    <a:pt x="0" y="0"/>
                  </a:lnTo>
                  <a:lnTo>
                    <a:pt x="0" y="666242"/>
                  </a:lnTo>
                  <a:lnTo>
                    <a:pt x="4008" y="685966"/>
                  </a:lnTo>
                  <a:lnTo>
                    <a:pt x="14922" y="702119"/>
                  </a:lnTo>
                  <a:lnTo>
                    <a:pt x="31075" y="713033"/>
                  </a:lnTo>
                  <a:lnTo>
                    <a:pt x="50800" y="717042"/>
                  </a:lnTo>
                  <a:lnTo>
                    <a:pt x="4381754" y="717042"/>
                  </a:lnTo>
                  <a:lnTo>
                    <a:pt x="4401478" y="713033"/>
                  </a:lnTo>
                  <a:lnTo>
                    <a:pt x="4417631" y="702119"/>
                  </a:lnTo>
                  <a:lnTo>
                    <a:pt x="4428545" y="685966"/>
                  </a:lnTo>
                  <a:lnTo>
                    <a:pt x="4432554" y="666242"/>
                  </a:lnTo>
                  <a:lnTo>
                    <a:pt x="4432554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4520309" y="1761185"/>
              <a:ext cx="0" cy="810895"/>
            </a:xfrm>
            <a:custGeom>
              <a:avLst/>
              <a:gdLst/>
              <a:ahLst/>
              <a:cxnLst/>
              <a:rect l="l" t="t" r="r" b="b"/>
              <a:pathLst>
                <a:path h="810894">
                  <a:moveTo>
                    <a:pt x="0" y="810894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520309" y="1748453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4520309" y="1735753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4520309" y="1723053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" name="object 27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81597" y="1936496"/>
              <a:ext cx="64757" cy="64757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81597" y="2318613"/>
              <a:ext cx="64757" cy="64757"/>
            </a:xfrm>
            <a:prstGeom prst="rect">
              <a:avLst/>
            </a:prstGeom>
          </p:spPr>
        </p:pic>
      </p:grpSp>
      <p:sp>
        <p:nvSpPr>
          <p:cNvPr id="29" name="object 29"/>
          <p:cNvSpPr txBox="1"/>
          <p:nvPr/>
        </p:nvSpPr>
        <p:spPr>
          <a:xfrm>
            <a:off x="125729" y="837238"/>
            <a:ext cx="4102735" cy="1758950"/>
          </a:xfrm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sz="1100" i="1" spc="-10" dirty="0">
                <a:solidFill>
                  <a:srgbClr val="3232B2"/>
                </a:solidFill>
                <a:latin typeface="Cambria"/>
                <a:cs typeface="Cambria"/>
              </a:rPr>
              <a:t>Shades</a:t>
            </a:r>
            <a:r>
              <a:rPr sz="1100" i="1" spc="-30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100" i="1" dirty="0">
                <a:solidFill>
                  <a:srgbClr val="3232B2"/>
                </a:solidFill>
                <a:latin typeface="Cambria"/>
                <a:cs typeface="Cambria"/>
              </a:rPr>
              <a:t>of</a:t>
            </a:r>
            <a:r>
              <a:rPr sz="1100" i="1" spc="-25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100" i="1" spc="-10" dirty="0">
                <a:solidFill>
                  <a:srgbClr val="3232B2"/>
                </a:solidFill>
                <a:latin typeface="Cambria"/>
                <a:cs typeface="Cambria"/>
              </a:rPr>
              <a:t>meaning</a:t>
            </a:r>
            <a:endParaRPr sz="1100">
              <a:latin typeface="Cambria"/>
              <a:cs typeface="Cambria"/>
            </a:endParaRPr>
          </a:p>
          <a:p>
            <a:pPr marL="289560">
              <a:lnSpc>
                <a:spcPct val="100000"/>
              </a:lnSpc>
              <a:spcBef>
                <a:spcPts val="425"/>
              </a:spcBef>
            </a:pPr>
            <a:r>
              <a:rPr sz="950" dirty="0">
                <a:latin typeface="Trebuchet MS"/>
                <a:cs typeface="Trebuchet MS"/>
              </a:rPr>
              <a:t>What</a:t>
            </a:r>
            <a:r>
              <a:rPr sz="950" spc="4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is</a:t>
            </a:r>
            <a:r>
              <a:rPr sz="950" spc="5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5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cheapest</a:t>
            </a:r>
            <a:r>
              <a:rPr sz="950" spc="50" dirty="0">
                <a:latin typeface="Trebuchet MS"/>
                <a:cs typeface="Trebuchet MS"/>
              </a:rPr>
              <a:t> </a:t>
            </a:r>
            <a:r>
              <a:rPr sz="950" spc="-35" dirty="0">
                <a:latin typeface="Trebuchet MS"/>
                <a:cs typeface="Trebuchet MS"/>
              </a:rPr>
              <a:t>first</a:t>
            </a:r>
            <a:r>
              <a:rPr sz="950" spc="5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class</a:t>
            </a:r>
            <a:r>
              <a:rPr sz="950" spc="50" dirty="0">
                <a:latin typeface="Trebuchet MS"/>
                <a:cs typeface="Trebuchet MS"/>
              </a:rPr>
              <a:t> </a:t>
            </a:r>
            <a:r>
              <a:rPr sz="950" i="1" spc="-10" dirty="0">
                <a:latin typeface="Trebuchet MS"/>
                <a:cs typeface="Trebuchet MS"/>
              </a:rPr>
              <a:t>fare</a:t>
            </a:r>
            <a:r>
              <a:rPr sz="950" spc="-10" dirty="0">
                <a:latin typeface="Trebuchet MS"/>
                <a:cs typeface="Trebuchet MS"/>
              </a:rPr>
              <a:t>?</a:t>
            </a:r>
            <a:endParaRPr sz="950">
              <a:latin typeface="Trebuchet MS"/>
              <a:cs typeface="Trebuchet MS"/>
            </a:endParaRPr>
          </a:p>
          <a:p>
            <a:pPr marL="289560">
              <a:lnSpc>
                <a:spcPct val="100000"/>
              </a:lnSpc>
              <a:spcBef>
                <a:spcPts val="509"/>
              </a:spcBef>
            </a:pPr>
            <a:r>
              <a:rPr sz="950" dirty="0">
                <a:latin typeface="Trebuchet MS"/>
                <a:cs typeface="Trebuchet MS"/>
              </a:rPr>
              <a:t>*What</a:t>
            </a:r>
            <a:r>
              <a:rPr sz="950" spc="5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is</a:t>
            </a:r>
            <a:r>
              <a:rPr sz="950" spc="5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5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cheapest</a:t>
            </a:r>
            <a:r>
              <a:rPr sz="950" spc="55" dirty="0">
                <a:latin typeface="Trebuchet MS"/>
                <a:cs typeface="Trebuchet MS"/>
              </a:rPr>
              <a:t> </a:t>
            </a:r>
            <a:r>
              <a:rPr sz="950" spc="-35" dirty="0">
                <a:latin typeface="Trebuchet MS"/>
                <a:cs typeface="Trebuchet MS"/>
              </a:rPr>
              <a:t>first</a:t>
            </a:r>
            <a:r>
              <a:rPr sz="950" spc="5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class</a:t>
            </a:r>
            <a:r>
              <a:rPr sz="950" spc="55" dirty="0">
                <a:latin typeface="Trebuchet MS"/>
                <a:cs typeface="Trebuchet MS"/>
              </a:rPr>
              <a:t> </a:t>
            </a:r>
            <a:r>
              <a:rPr sz="950" i="1" spc="-10" dirty="0">
                <a:latin typeface="Trebuchet MS"/>
                <a:cs typeface="Trebuchet MS"/>
              </a:rPr>
              <a:t>price</a:t>
            </a:r>
            <a:r>
              <a:rPr sz="950" spc="-10" dirty="0">
                <a:latin typeface="Trebuchet MS"/>
                <a:cs typeface="Trebuchet MS"/>
              </a:rPr>
              <a:t>?</a:t>
            </a:r>
            <a:endParaRPr sz="9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sz="9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100" i="1" dirty="0">
                <a:solidFill>
                  <a:srgbClr val="3232B2"/>
                </a:solidFill>
                <a:latin typeface="Cambria"/>
                <a:cs typeface="Cambria"/>
              </a:rPr>
              <a:t>Collocational</a:t>
            </a:r>
            <a:r>
              <a:rPr sz="1100" i="1" spc="-35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100" i="1" spc="-10" dirty="0">
                <a:solidFill>
                  <a:srgbClr val="3232B2"/>
                </a:solidFill>
                <a:latin typeface="Cambria"/>
                <a:cs typeface="Cambria"/>
              </a:rPr>
              <a:t>constraints</a:t>
            </a:r>
            <a:endParaRPr sz="1100">
              <a:latin typeface="Cambria"/>
              <a:cs typeface="Cambria"/>
            </a:endParaRPr>
          </a:p>
          <a:p>
            <a:pPr marL="289560">
              <a:lnSpc>
                <a:spcPct val="100000"/>
              </a:lnSpc>
              <a:spcBef>
                <a:spcPts val="350"/>
              </a:spcBef>
            </a:pPr>
            <a:r>
              <a:rPr sz="950" spc="55" dirty="0">
                <a:latin typeface="Trebuchet MS"/>
                <a:cs typeface="Trebuchet MS"/>
              </a:rPr>
              <a:t>We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frustate</a:t>
            </a:r>
            <a:r>
              <a:rPr sz="950" spc="20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’em</a:t>
            </a:r>
            <a:r>
              <a:rPr sz="950" spc="2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and</a:t>
            </a:r>
            <a:r>
              <a:rPr sz="950" spc="20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frustate</a:t>
            </a:r>
            <a:r>
              <a:rPr sz="950" spc="20" dirty="0">
                <a:latin typeface="Trebuchet MS"/>
                <a:cs typeface="Trebuchet MS"/>
              </a:rPr>
              <a:t> </a:t>
            </a:r>
            <a:r>
              <a:rPr sz="950" spc="-35" dirty="0">
                <a:latin typeface="Trebuchet MS"/>
                <a:cs typeface="Trebuchet MS"/>
              </a:rPr>
              <a:t>’em,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and</a:t>
            </a:r>
            <a:r>
              <a:rPr sz="950" spc="20" dirty="0">
                <a:latin typeface="Trebuchet MS"/>
                <a:cs typeface="Trebuchet MS"/>
              </a:rPr>
              <a:t> </a:t>
            </a:r>
            <a:r>
              <a:rPr sz="950" spc="-30" dirty="0">
                <a:latin typeface="Trebuchet MS"/>
                <a:cs typeface="Trebuchet MS"/>
              </a:rPr>
              <a:t>pretty</a:t>
            </a:r>
            <a:r>
              <a:rPr sz="950" spc="2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soon</a:t>
            </a:r>
            <a:r>
              <a:rPr sz="950" spc="2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they</a:t>
            </a:r>
            <a:r>
              <a:rPr sz="950" spc="2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make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</a:t>
            </a:r>
            <a:r>
              <a:rPr sz="950" spc="20" dirty="0">
                <a:latin typeface="Trebuchet MS"/>
                <a:cs typeface="Trebuchet MS"/>
              </a:rPr>
              <a:t> </a:t>
            </a:r>
            <a:r>
              <a:rPr sz="950" i="1" spc="-25" dirty="0">
                <a:latin typeface="Trebuchet MS"/>
                <a:cs typeface="Trebuchet MS"/>
              </a:rPr>
              <a:t>big</a:t>
            </a:r>
            <a:endParaRPr sz="950">
              <a:latin typeface="Trebuchet MS"/>
              <a:cs typeface="Trebuchet MS"/>
            </a:endParaRPr>
          </a:p>
          <a:p>
            <a:pPr marL="289560">
              <a:lnSpc>
                <a:spcPct val="100000"/>
              </a:lnSpc>
              <a:spcBef>
                <a:spcPts val="215"/>
              </a:spcBef>
            </a:pPr>
            <a:r>
              <a:rPr sz="950" spc="-10" dirty="0">
                <a:latin typeface="Trebuchet MS"/>
                <a:cs typeface="Trebuchet MS"/>
              </a:rPr>
              <a:t>mistake.</a:t>
            </a:r>
            <a:endParaRPr sz="950">
              <a:latin typeface="Trebuchet MS"/>
              <a:cs typeface="Trebuchet MS"/>
            </a:endParaRPr>
          </a:p>
          <a:p>
            <a:pPr marL="289560">
              <a:lnSpc>
                <a:spcPct val="100000"/>
              </a:lnSpc>
              <a:spcBef>
                <a:spcPts val="515"/>
              </a:spcBef>
            </a:pPr>
            <a:r>
              <a:rPr sz="950" dirty="0">
                <a:latin typeface="Trebuchet MS"/>
                <a:cs typeface="Trebuchet MS"/>
              </a:rPr>
              <a:t>*We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frustate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’em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and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frustate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spc="-35" dirty="0">
                <a:latin typeface="Trebuchet MS"/>
                <a:cs typeface="Trebuchet MS"/>
              </a:rPr>
              <a:t>’em,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and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spc="-30" dirty="0">
                <a:latin typeface="Trebuchet MS"/>
                <a:cs typeface="Trebuchet MS"/>
              </a:rPr>
              <a:t>pretty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soon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they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make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i="1" spc="-10" dirty="0">
                <a:latin typeface="Trebuchet MS"/>
                <a:cs typeface="Trebuchet MS"/>
              </a:rPr>
              <a:t>large</a:t>
            </a:r>
            <a:endParaRPr sz="950">
              <a:latin typeface="Trebuchet MS"/>
              <a:cs typeface="Trebuchet MS"/>
            </a:endParaRPr>
          </a:p>
          <a:p>
            <a:pPr marL="289560">
              <a:lnSpc>
                <a:spcPct val="100000"/>
              </a:lnSpc>
              <a:spcBef>
                <a:spcPts val="215"/>
              </a:spcBef>
            </a:pPr>
            <a:r>
              <a:rPr sz="950" spc="-10" dirty="0">
                <a:latin typeface="Trebuchet MS"/>
                <a:cs typeface="Trebuchet MS"/>
              </a:rPr>
              <a:t>mistake.</a:t>
            </a:r>
            <a:endParaRPr sz="950">
              <a:latin typeface="Trebuchet MS"/>
              <a:cs typeface="Trebuchet MS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2016760" y="3339672"/>
            <a:ext cx="57467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13" action="ppaction://hlinksldjump"/>
              </a:rPr>
              <a:t>Lexical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  <a:hlinkClick r:id="rId13" action="ppaction://hlinksldjump"/>
              </a:rPr>
              <a:t>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  <a:hlinkClick r:id="rId13" action="ppaction://hlinksldjump"/>
              </a:rPr>
              <a:t>Semantics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3608260" y="3339672"/>
            <a:ext cx="56388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8,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1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4317424" y="3339672"/>
            <a:ext cx="236854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13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10" dirty="0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</a:rPr>
              <a:t>18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38" name="Slide Number Placeholder 37">
            <a:extLst>
              <a:ext uri="{FF2B5EF4-FFF2-40B4-BE49-F238E27FC236}">
                <a16:creationId xmlns:a16="http://schemas.microsoft.com/office/drawing/2014/main" id="{475D1E07-5984-40BC-9B7D-E4B096675F7E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4292024" y="3339672"/>
            <a:ext cx="262254" cy="116204"/>
          </a:xfrm>
          <a:prstGeom prst="rect">
            <a:avLst/>
          </a:prstGeom>
        </p:spPr>
        <p:txBody>
          <a:bodyPr/>
          <a:lstStyle/>
          <a:p>
            <a:pPr marL="75565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lang="en-IN" smtClean="0"/>
              <a:t>27</a:t>
            </a:fld>
            <a:r>
              <a:rPr lang="en-IN" spc="-5"/>
              <a:t> </a:t>
            </a:r>
            <a:r>
              <a:rPr lang="en-IN" spc="-110"/>
              <a:t>/</a:t>
            </a:r>
            <a:r>
              <a:rPr lang="en-IN" spc="15"/>
              <a:t> </a:t>
            </a:r>
            <a:r>
              <a:rPr lang="en-IN" spc="-25"/>
              <a:t>18</a:t>
            </a:r>
            <a:endParaRPr lang="en-IN" spc="-25" dirty="0"/>
          </a:p>
        </p:txBody>
      </p:sp>
    </p:spTree>
  </p:cSld>
  <p:clrMapOvr>
    <a:masterClrMapping/>
  </p:clrMapOvr>
  <p:transition>
    <p:cut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250" y="60502"/>
            <a:ext cx="74422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20" dirty="0"/>
              <a:t>Antonyms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597" y="842543"/>
            <a:ext cx="64757" cy="64757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77532" y="732277"/>
            <a:ext cx="3947160" cy="11874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 marR="30480">
              <a:lnSpc>
                <a:spcPct val="131100"/>
              </a:lnSpc>
              <a:spcBef>
                <a:spcPts val="90"/>
              </a:spcBef>
            </a:pPr>
            <a:r>
              <a:rPr sz="950" spc="75" dirty="0">
                <a:latin typeface="Trebuchet MS"/>
                <a:cs typeface="Trebuchet MS"/>
              </a:rPr>
              <a:t>Senses</a:t>
            </a:r>
            <a:r>
              <a:rPr sz="950" dirty="0">
                <a:latin typeface="Trebuchet MS"/>
                <a:cs typeface="Trebuchet MS"/>
              </a:rPr>
              <a:t> </a:t>
            </a:r>
            <a:r>
              <a:rPr sz="950" spc="-30" dirty="0">
                <a:latin typeface="Trebuchet MS"/>
                <a:cs typeface="Trebuchet MS"/>
              </a:rPr>
              <a:t>that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are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opposites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spc="-40" dirty="0">
                <a:latin typeface="Trebuchet MS"/>
                <a:cs typeface="Trebuchet MS"/>
              </a:rPr>
              <a:t>with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respect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to</a:t>
            </a:r>
            <a:r>
              <a:rPr sz="950" dirty="0">
                <a:latin typeface="Trebuchet MS"/>
                <a:cs typeface="Trebuchet MS"/>
              </a:rPr>
              <a:t> one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feature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of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spc="-30" dirty="0">
                <a:latin typeface="Trebuchet MS"/>
                <a:cs typeface="Trebuchet MS"/>
              </a:rPr>
              <a:t>their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meaning </a:t>
            </a:r>
            <a:r>
              <a:rPr sz="950" dirty="0">
                <a:latin typeface="Trebuchet MS"/>
                <a:cs typeface="Trebuchet MS"/>
              </a:rPr>
              <a:t>Otherwise,</a:t>
            </a:r>
            <a:r>
              <a:rPr sz="950" spc="-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they</a:t>
            </a:r>
            <a:r>
              <a:rPr sz="950" spc="-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are</a:t>
            </a:r>
            <a:r>
              <a:rPr sz="950" spc="-2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similar!</a:t>
            </a:r>
            <a:endParaRPr sz="950">
              <a:latin typeface="Trebuchet MS"/>
              <a:cs typeface="Trebuchet MS"/>
            </a:endParaRPr>
          </a:p>
          <a:p>
            <a:pPr marL="313690" indent="-116205">
              <a:lnSpc>
                <a:spcPct val="100000"/>
              </a:lnSpc>
              <a:spcBef>
                <a:spcPts val="305"/>
              </a:spcBef>
              <a:buClr>
                <a:srgbClr val="3232B2"/>
              </a:buClr>
              <a:buSzPct val="66666"/>
              <a:buFont typeface="Lucida Sans Unicode"/>
              <a:buChar char="►"/>
              <a:tabLst>
                <a:tab pos="313690" algn="l"/>
              </a:tabLst>
            </a:pPr>
            <a:r>
              <a:rPr sz="900" dirty="0">
                <a:latin typeface="Trebuchet MS"/>
                <a:cs typeface="Trebuchet MS"/>
              </a:rPr>
              <a:t>dark</a:t>
            </a:r>
            <a:r>
              <a:rPr sz="900" spc="-55" dirty="0">
                <a:latin typeface="Trebuchet MS"/>
                <a:cs typeface="Trebuchet MS"/>
              </a:rPr>
              <a:t> </a:t>
            </a:r>
            <a:r>
              <a:rPr sz="900" spc="-235" dirty="0">
                <a:latin typeface="Trebuchet MS"/>
                <a:cs typeface="Trebuchet MS"/>
              </a:rPr>
              <a:t>/</a:t>
            </a:r>
            <a:r>
              <a:rPr sz="900" spc="-25" dirty="0">
                <a:latin typeface="Trebuchet MS"/>
                <a:cs typeface="Trebuchet MS"/>
              </a:rPr>
              <a:t> </a:t>
            </a:r>
            <a:r>
              <a:rPr sz="900" spc="-10" dirty="0">
                <a:latin typeface="Trebuchet MS"/>
                <a:cs typeface="Trebuchet MS"/>
              </a:rPr>
              <a:t>light</a:t>
            </a:r>
            <a:endParaRPr sz="900">
              <a:latin typeface="Trebuchet MS"/>
              <a:cs typeface="Trebuchet MS"/>
            </a:endParaRPr>
          </a:p>
          <a:p>
            <a:pPr marL="313690" indent="-116205">
              <a:lnSpc>
                <a:spcPct val="100000"/>
              </a:lnSpc>
              <a:spcBef>
                <a:spcPts val="114"/>
              </a:spcBef>
              <a:buClr>
                <a:srgbClr val="3232B2"/>
              </a:buClr>
              <a:buSzPct val="66666"/>
              <a:buFont typeface="Lucida Sans Unicode"/>
              <a:buChar char="►"/>
              <a:tabLst>
                <a:tab pos="313690" algn="l"/>
              </a:tabLst>
            </a:pPr>
            <a:r>
              <a:rPr sz="900" dirty="0">
                <a:latin typeface="Trebuchet MS"/>
                <a:cs typeface="Trebuchet MS"/>
              </a:rPr>
              <a:t>short</a:t>
            </a:r>
            <a:r>
              <a:rPr sz="900" spc="-50" dirty="0">
                <a:latin typeface="Trebuchet MS"/>
                <a:cs typeface="Trebuchet MS"/>
              </a:rPr>
              <a:t> </a:t>
            </a:r>
            <a:r>
              <a:rPr sz="900" spc="-235" dirty="0">
                <a:latin typeface="Trebuchet MS"/>
                <a:cs typeface="Trebuchet MS"/>
              </a:rPr>
              <a:t>/</a:t>
            </a:r>
            <a:r>
              <a:rPr sz="900" spc="-25" dirty="0">
                <a:latin typeface="Trebuchet MS"/>
                <a:cs typeface="Trebuchet MS"/>
              </a:rPr>
              <a:t> </a:t>
            </a:r>
            <a:r>
              <a:rPr sz="900" spc="-20" dirty="0">
                <a:latin typeface="Trebuchet MS"/>
                <a:cs typeface="Trebuchet MS"/>
              </a:rPr>
              <a:t>long</a:t>
            </a:r>
            <a:endParaRPr sz="900">
              <a:latin typeface="Trebuchet MS"/>
              <a:cs typeface="Trebuchet MS"/>
            </a:endParaRPr>
          </a:p>
          <a:p>
            <a:pPr marL="313690" indent="-116205">
              <a:lnSpc>
                <a:spcPct val="100000"/>
              </a:lnSpc>
              <a:spcBef>
                <a:spcPts val="120"/>
              </a:spcBef>
              <a:buClr>
                <a:srgbClr val="3232B2"/>
              </a:buClr>
              <a:buSzPct val="66666"/>
              <a:buFont typeface="Lucida Sans Unicode"/>
              <a:buChar char="►"/>
              <a:tabLst>
                <a:tab pos="313690" algn="l"/>
              </a:tabLst>
            </a:pPr>
            <a:r>
              <a:rPr sz="900" spc="-25" dirty="0">
                <a:latin typeface="Trebuchet MS"/>
                <a:cs typeface="Trebuchet MS"/>
              </a:rPr>
              <a:t>hot</a:t>
            </a:r>
            <a:r>
              <a:rPr sz="900" spc="-40" dirty="0">
                <a:latin typeface="Trebuchet MS"/>
                <a:cs typeface="Trebuchet MS"/>
              </a:rPr>
              <a:t> </a:t>
            </a:r>
            <a:r>
              <a:rPr sz="900" spc="-235" dirty="0">
                <a:latin typeface="Trebuchet MS"/>
                <a:cs typeface="Trebuchet MS"/>
              </a:rPr>
              <a:t>/</a:t>
            </a:r>
            <a:r>
              <a:rPr sz="900" spc="-25" dirty="0">
                <a:latin typeface="Trebuchet MS"/>
                <a:cs typeface="Trebuchet MS"/>
              </a:rPr>
              <a:t> </a:t>
            </a:r>
            <a:r>
              <a:rPr sz="900" spc="-20" dirty="0">
                <a:latin typeface="Trebuchet MS"/>
                <a:cs typeface="Trebuchet MS"/>
              </a:rPr>
              <a:t>cold</a:t>
            </a:r>
            <a:endParaRPr sz="900">
              <a:latin typeface="Trebuchet MS"/>
              <a:cs typeface="Trebuchet MS"/>
            </a:endParaRPr>
          </a:p>
          <a:p>
            <a:pPr marL="313690" indent="-116205">
              <a:lnSpc>
                <a:spcPct val="100000"/>
              </a:lnSpc>
              <a:spcBef>
                <a:spcPts val="115"/>
              </a:spcBef>
              <a:buClr>
                <a:srgbClr val="3232B2"/>
              </a:buClr>
              <a:buSzPct val="66666"/>
              <a:buFont typeface="Lucida Sans Unicode"/>
              <a:buChar char="►"/>
              <a:tabLst>
                <a:tab pos="313690" algn="l"/>
              </a:tabLst>
            </a:pPr>
            <a:r>
              <a:rPr sz="900" dirty="0">
                <a:latin typeface="Trebuchet MS"/>
                <a:cs typeface="Trebuchet MS"/>
              </a:rPr>
              <a:t>up</a:t>
            </a:r>
            <a:r>
              <a:rPr sz="900" spc="-25" dirty="0">
                <a:latin typeface="Trebuchet MS"/>
                <a:cs typeface="Trebuchet MS"/>
              </a:rPr>
              <a:t> </a:t>
            </a:r>
            <a:r>
              <a:rPr sz="900" spc="-235" dirty="0">
                <a:latin typeface="Trebuchet MS"/>
                <a:cs typeface="Trebuchet MS"/>
              </a:rPr>
              <a:t>/</a:t>
            </a:r>
            <a:r>
              <a:rPr sz="900" spc="-20" dirty="0">
                <a:latin typeface="Trebuchet MS"/>
                <a:cs typeface="Trebuchet MS"/>
              </a:rPr>
              <a:t> down</a:t>
            </a:r>
            <a:endParaRPr sz="900">
              <a:latin typeface="Trebuchet MS"/>
              <a:cs typeface="Trebuchet MS"/>
            </a:endParaRPr>
          </a:p>
          <a:p>
            <a:pPr marL="313690" indent="-116205">
              <a:lnSpc>
                <a:spcPct val="100000"/>
              </a:lnSpc>
              <a:spcBef>
                <a:spcPts val="114"/>
              </a:spcBef>
              <a:buClr>
                <a:srgbClr val="3232B2"/>
              </a:buClr>
              <a:buSzPct val="66666"/>
              <a:buFont typeface="Lucida Sans Unicode"/>
              <a:buChar char="►"/>
              <a:tabLst>
                <a:tab pos="313690" algn="l"/>
              </a:tabLst>
            </a:pPr>
            <a:r>
              <a:rPr sz="900" spc="-10" dirty="0">
                <a:latin typeface="Trebuchet MS"/>
                <a:cs typeface="Trebuchet MS"/>
              </a:rPr>
              <a:t>in</a:t>
            </a:r>
            <a:r>
              <a:rPr sz="900" spc="-55" dirty="0">
                <a:latin typeface="Trebuchet MS"/>
                <a:cs typeface="Trebuchet MS"/>
              </a:rPr>
              <a:t> </a:t>
            </a:r>
            <a:r>
              <a:rPr sz="900" spc="-235" dirty="0">
                <a:latin typeface="Trebuchet MS"/>
                <a:cs typeface="Trebuchet MS"/>
              </a:rPr>
              <a:t>/</a:t>
            </a:r>
            <a:r>
              <a:rPr sz="900" spc="-25" dirty="0">
                <a:latin typeface="Trebuchet MS"/>
                <a:cs typeface="Trebuchet MS"/>
              </a:rPr>
              <a:t> out</a:t>
            </a:r>
            <a:endParaRPr sz="900">
              <a:latin typeface="Trebuchet MS"/>
              <a:cs typeface="Trebuchet MS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597" y="1032332"/>
            <a:ext cx="64757" cy="64757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2016760" y="3339672"/>
            <a:ext cx="57467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4" action="ppaction://hlinksldjump"/>
              </a:rPr>
              <a:t>Lexical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  <a:hlinkClick r:id="rId4" action="ppaction://hlinksldjump"/>
              </a:rPr>
              <a:t>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  <a:hlinkClick r:id="rId4" action="ppaction://hlinksldjump"/>
              </a:rPr>
              <a:t>Semantics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608260" y="3339672"/>
            <a:ext cx="56388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8,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1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317424" y="3339672"/>
            <a:ext cx="236854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14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10" dirty="0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</a:rPr>
              <a:t>18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FF5EE0D8-9365-4B87-86E6-B8A6140858E2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4292024" y="3339672"/>
            <a:ext cx="262254" cy="116204"/>
          </a:xfrm>
          <a:prstGeom prst="rect">
            <a:avLst/>
          </a:prstGeom>
        </p:spPr>
        <p:txBody>
          <a:bodyPr/>
          <a:lstStyle/>
          <a:p>
            <a:pPr marL="75565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lang="en-IN" smtClean="0"/>
              <a:t>28</a:t>
            </a:fld>
            <a:r>
              <a:rPr lang="en-IN" spc="-5"/>
              <a:t> </a:t>
            </a:r>
            <a:r>
              <a:rPr lang="en-IN" spc="-110"/>
              <a:t>/</a:t>
            </a:r>
            <a:r>
              <a:rPr lang="en-IN" spc="15"/>
              <a:t> </a:t>
            </a:r>
            <a:r>
              <a:rPr lang="en-IN" spc="-25"/>
              <a:t>18</a:t>
            </a:r>
            <a:endParaRPr lang="en-IN" spc="-25" dirty="0"/>
          </a:p>
        </p:txBody>
      </p:sp>
    </p:spTree>
  </p:cSld>
  <p:clrMapOvr>
    <a:masterClrMapping/>
  </p:clrMapOvr>
  <p:transition>
    <p:cut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250" y="60502"/>
            <a:ext cx="74422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20" dirty="0"/>
              <a:t>Antonyms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597" y="842543"/>
            <a:ext cx="64757" cy="64757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597" y="1032332"/>
            <a:ext cx="64757" cy="64757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87743" y="2063597"/>
            <a:ext cx="4483735" cy="814705"/>
            <a:chOff x="87743" y="2063597"/>
            <a:chExt cx="4483735" cy="814705"/>
          </a:xfrm>
        </p:grpSpPr>
        <p:sp>
          <p:nvSpPr>
            <p:cNvPr id="6" name="object 6"/>
            <p:cNvSpPr/>
            <p:nvPr/>
          </p:nvSpPr>
          <p:spPr>
            <a:xfrm>
              <a:off x="87743" y="2063597"/>
              <a:ext cx="4432935" cy="186055"/>
            </a:xfrm>
            <a:custGeom>
              <a:avLst/>
              <a:gdLst/>
              <a:ahLst/>
              <a:cxnLst/>
              <a:rect l="l" t="t" r="r" b="b"/>
              <a:pathLst>
                <a:path w="4432935" h="186055">
                  <a:moveTo>
                    <a:pt x="4381754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5674"/>
                  </a:lnTo>
                  <a:lnTo>
                    <a:pt x="4432554" y="185674"/>
                  </a:lnTo>
                  <a:lnTo>
                    <a:pt x="4432554" y="50800"/>
                  </a:lnTo>
                  <a:lnTo>
                    <a:pt x="4428545" y="31075"/>
                  </a:lnTo>
                  <a:lnTo>
                    <a:pt x="4417631" y="14922"/>
                  </a:lnTo>
                  <a:lnTo>
                    <a:pt x="4401478" y="4008"/>
                  </a:lnTo>
                  <a:lnTo>
                    <a:pt x="4381754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7744" y="2236609"/>
              <a:ext cx="4432554" cy="50609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38544" y="2776194"/>
              <a:ext cx="101599" cy="10160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89344" y="2763494"/>
              <a:ext cx="4381754" cy="114300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520298" y="2107831"/>
              <a:ext cx="50800" cy="668362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87743" y="2280894"/>
              <a:ext cx="4432935" cy="546100"/>
            </a:xfrm>
            <a:custGeom>
              <a:avLst/>
              <a:gdLst/>
              <a:ahLst/>
              <a:cxnLst/>
              <a:rect l="l" t="t" r="r" b="b"/>
              <a:pathLst>
                <a:path w="4432935" h="546100">
                  <a:moveTo>
                    <a:pt x="4432554" y="0"/>
                  </a:moveTo>
                  <a:lnTo>
                    <a:pt x="0" y="0"/>
                  </a:lnTo>
                  <a:lnTo>
                    <a:pt x="0" y="495299"/>
                  </a:lnTo>
                  <a:lnTo>
                    <a:pt x="4008" y="515024"/>
                  </a:lnTo>
                  <a:lnTo>
                    <a:pt x="14922" y="531177"/>
                  </a:lnTo>
                  <a:lnTo>
                    <a:pt x="31075" y="542091"/>
                  </a:lnTo>
                  <a:lnTo>
                    <a:pt x="50800" y="546099"/>
                  </a:lnTo>
                  <a:lnTo>
                    <a:pt x="4381754" y="546099"/>
                  </a:lnTo>
                  <a:lnTo>
                    <a:pt x="4401478" y="542091"/>
                  </a:lnTo>
                  <a:lnTo>
                    <a:pt x="4417631" y="531177"/>
                  </a:lnTo>
                  <a:lnTo>
                    <a:pt x="4428545" y="515024"/>
                  </a:lnTo>
                  <a:lnTo>
                    <a:pt x="4432554" y="495299"/>
                  </a:lnTo>
                  <a:lnTo>
                    <a:pt x="4432554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520309" y="2145893"/>
              <a:ext cx="0" cy="649605"/>
            </a:xfrm>
            <a:custGeom>
              <a:avLst/>
              <a:gdLst/>
              <a:ahLst/>
              <a:cxnLst/>
              <a:rect l="l" t="t" r="r" b="b"/>
              <a:pathLst>
                <a:path h="649605">
                  <a:moveTo>
                    <a:pt x="0" y="649351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520309" y="2133219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520309" y="2120519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520309" y="2107819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81597" y="2330615"/>
              <a:ext cx="64757" cy="64757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81597" y="2712720"/>
              <a:ext cx="64757" cy="64757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100330" y="732277"/>
            <a:ext cx="4249420" cy="208597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14960" marR="55880">
              <a:lnSpc>
                <a:spcPct val="131100"/>
              </a:lnSpc>
              <a:spcBef>
                <a:spcPts val="90"/>
              </a:spcBef>
            </a:pPr>
            <a:r>
              <a:rPr sz="950" spc="75" dirty="0">
                <a:latin typeface="Trebuchet MS"/>
                <a:cs typeface="Trebuchet MS"/>
              </a:rPr>
              <a:t>Senses</a:t>
            </a:r>
            <a:r>
              <a:rPr sz="950" dirty="0">
                <a:latin typeface="Trebuchet MS"/>
                <a:cs typeface="Trebuchet MS"/>
              </a:rPr>
              <a:t> </a:t>
            </a:r>
            <a:r>
              <a:rPr sz="950" spc="-30" dirty="0">
                <a:latin typeface="Trebuchet MS"/>
                <a:cs typeface="Trebuchet MS"/>
              </a:rPr>
              <a:t>that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are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opposites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spc="-40" dirty="0">
                <a:latin typeface="Trebuchet MS"/>
                <a:cs typeface="Trebuchet MS"/>
              </a:rPr>
              <a:t>with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respect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to</a:t>
            </a:r>
            <a:r>
              <a:rPr sz="950" dirty="0">
                <a:latin typeface="Trebuchet MS"/>
                <a:cs typeface="Trebuchet MS"/>
              </a:rPr>
              <a:t> one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feature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of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spc="-30" dirty="0">
                <a:latin typeface="Trebuchet MS"/>
                <a:cs typeface="Trebuchet MS"/>
              </a:rPr>
              <a:t>their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meaning </a:t>
            </a:r>
            <a:r>
              <a:rPr sz="950" dirty="0">
                <a:latin typeface="Trebuchet MS"/>
                <a:cs typeface="Trebuchet MS"/>
              </a:rPr>
              <a:t>Otherwise,</a:t>
            </a:r>
            <a:r>
              <a:rPr sz="950" spc="-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they</a:t>
            </a:r>
            <a:r>
              <a:rPr sz="950" spc="-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are</a:t>
            </a:r>
            <a:r>
              <a:rPr sz="950" spc="-2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similar!</a:t>
            </a:r>
            <a:endParaRPr sz="950">
              <a:latin typeface="Trebuchet MS"/>
              <a:cs typeface="Trebuchet MS"/>
            </a:endParaRPr>
          </a:p>
          <a:p>
            <a:pPr marL="590550" indent="-116205">
              <a:lnSpc>
                <a:spcPct val="100000"/>
              </a:lnSpc>
              <a:spcBef>
                <a:spcPts val="305"/>
              </a:spcBef>
              <a:buClr>
                <a:srgbClr val="3232B2"/>
              </a:buClr>
              <a:buSzPct val="66666"/>
              <a:buFont typeface="Lucida Sans Unicode"/>
              <a:buChar char="►"/>
              <a:tabLst>
                <a:tab pos="590550" algn="l"/>
              </a:tabLst>
            </a:pPr>
            <a:r>
              <a:rPr sz="900" dirty="0">
                <a:latin typeface="Trebuchet MS"/>
                <a:cs typeface="Trebuchet MS"/>
              </a:rPr>
              <a:t>dark</a:t>
            </a:r>
            <a:r>
              <a:rPr sz="900" spc="-55" dirty="0">
                <a:latin typeface="Trebuchet MS"/>
                <a:cs typeface="Trebuchet MS"/>
              </a:rPr>
              <a:t> </a:t>
            </a:r>
            <a:r>
              <a:rPr sz="900" spc="-235" dirty="0">
                <a:latin typeface="Trebuchet MS"/>
                <a:cs typeface="Trebuchet MS"/>
              </a:rPr>
              <a:t>/</a:t>
            </a:r>
            <a:r>
              <a:rPr sz="900" spc="-25" dirty="0">
                <a:latin typeface="Trebuchet MS"/>
                <a:cs typeface="Trebuchet MS"/>
              </a:rPr>
              <a:t> </a:t>
            </a:r>
            <a:r>
              <a:rPr sz="900" spc="-10" dirty="0">
                <a:latin typeface="Trebuchet MS"/>
                <a:cs typeface="Trebuchet MS"/>
              </a:rPr>
              <a:t>light</a:t>
            </a:r>
            <a:endParaRPr sz="900">
              <a:latin typeface="Trebuchet MS"/>
              <a:cs typeface="Trebuchet MS"/>
            </a:endParaRPr>
          </a:p>
          <a:p>
            <a:pPr marL="590550" indent="-116205">
              <a:lnSpc>
                <a:spcPct val="100000"/>
              </a:lnSpc>
              <a:spcBef>
                <a:spcPts val="114"/>
              </a:spcBef>
              <a:buClr>
                <a:srgbClr val="3232B2"/>
              </a:buClr>
              <a:buSzPct val="66666"/>
              <a:buFont typeface="Lucida Sans Unicode"/>
              <a:buChar char="►"/>
              <a:tabLst>
                <a:tab pos="590550" algn="l"/>
              </a:tabLst>
            </a:pPr>
            <a:r>
              <a:rPr sz="900" dirty="0">
                <a:latin typeface="Trebuchet MS"/>
                <a:cs typeface="Trebuchet MS"/>
              </a:rPr>
              <a:t>short</a:t>
            </a:r>
            <a:r>
              <a:rPr sz="900" spc="-50" dirty="0">
                <a:latin typeface="Trebuchet MS"/>
                <a:cs typeface="Trebuchet MS"/>
              </a:rPr>
              <a:t> </a:t>
            </a:r>
            <a:r>
              <a:rPr sz="900" spc="-235" dirty="0">
                <a:latin typeface="Trebuchet MS"/>
                <a:cs typeface="Trebuchet MS"/>
              </a:rPr>
              <a:t>/</a:t>
            </a:r>
            <a:r>
              <a:rPr sz="900" spc="-25" dirty="0">
                <a:latin typeface="Trebuchet MS"/>
                <a:cs typeface="Trebuchet MS"/>
              </a:rPr>
              <a:t> </a:t>
            </a:r>
            <a:r>
              <a:rPr sz="900" spc="-20" dirty="0">
                <a:latin typeface="Trebuchet MS"/>
                <a:cs typeface="Trebuchet MS"/>
              </a:rPr>
              <a:t>long</a:t>
            </a:r>
            <a:endParaRPr sz="900">
              <a:latin typeface="Trebuchet MS"/>
              <a:cs typeface="Trebuchet MS"/>
            </a:endParaRPr>
          </a:p>
          <a:p>
            <a:pPr marL="590550" indent="-116205">
              <a:lnSpc>
                <a:spcPct val="100000"/>
              </a:lnSpc>
              <a:spcBef>
                <a:spcPts val="120"/>
              </a:spcBef>
              <a:buClr>
                <a:srgbClr val="3232B2"/>
              </a:buClr>
              <a:buSzPct val="66666"/>
              <a:buFont typeface="Lucida Sans Unicode"/>
              <a:buChar char="►"/>
              <a:tabLst>
                <a:tab pos="590550" algn="l"/>
              </a:tabLst>
            </a:pPr>
            <a:r>
              <a:rPr sz="900" spc="-25" dirty="0">
                <a:latin typeface="Trebuchet MS"/>
                <a:cs typeface="Trebuchet MS"/>
              </a:rPr>
              <a:t>hot</a:t>
            </a:r>
            <a:r>
              <a:rPr sz="900" spc="-40" dirty="0">
                <a:latin typeface="Trebuchet MS"/>
                <a:cs typeface="Trebuchet MS"/>
              </a:rPr>
              <a:t> </a:t>
            </a:r>
            <a:r>
              <a:rPr sz="900" spc="-235" dirty="0">
                <a:latin typeface="Trebuchet MS"/>
                <a:cs typeface="Trebuchet MS"/>
              </a:rPr>
              <a:t>/</a:t>
            </a:r>
            <a:r>
              <a:rPr sz="900" spc="-25" dirty="0">
                <a:latin typeface="Trebuchet MS"/>
                <a:cs typeface="Trebuchet MS"/>
              </a:rPr>
              <a:t> </a:t>
            </a:r>
            <a:r>
              <a:rPr sz="900" spc="-20" dirty="0">
                <a:latin typeface="Trebuchet MS"/>
                <a:cs typeface="Trebuchet MS"/>
              </a:rPr>
              <a:t>cold</a:t>
            </a:r>
            <a:endParaRPr sz="900">
              <a:latin typeface="Trebuchet MS"/>
              <a:cs typeface="Trebuchet MS"/>
            </a:endParaRPr>
          </a:p>
          <a:p>
            <a:pPr marL="590550" indent="-116205">
              <a:lnSpc>
                <a:spcPct val="100000"/>
              </a:lnSpc>
              <a:spcBef>
                <a:spcPts val="115"/>
              </a:spcBef>
              <a:buClr>
                <a:srgbClr val="3232B2"/>
              </a:buClr>
              <a:buSzPct val="66666"/>
              <a:buFont typeface="Lucida Sans Unicode"/>
              <a:buChar char="►"/>
              <a:tabLst>
                <a:tab pos="590550" algn="l"/>
              </a:tabLst>
            </a:pPr>
            <a:r>
              <a:rPr sz="900" dirty="0">
                <a:latin typeface="Trebuchet MS"/>
                <a:cs typeface="Trebuchet MS"/>
              </a:rPr>
              <a:t>up</a:t>
            </a:r>
            <a:r>
              <a:rPr sz="900" spc="-25" dirty="0">
                <a:latin typeface="Trebuchet MS"/>
                <a:cs typeface="Trebuchet MS"/>
              </a:rPr>
              <a:t> </a:t>
            </a:r>
            <a:r>
              <a:rPr sz="900" spc="-235" dirty="0">
                <a:latin typeface="Trebuchet MS"/>
                <a:cs typeface="Trebuchet MS"/>
              </a:rPr>
              <a:t>/</a:t>
            </a:r>
            <a:r>
              <a:rPr sz="900" spc="-20" dirty="0">
                <a:latin typeface="Trebuchet MS"/>
                <a:cs typeface="Trebuchet MS"/>
              </a:rPr>
              <a:t> down</a:t>
            </a:r>
            <a:endParaRPr sz="900">
              <a:latin typeface="Trebuchet MS"/>
              <a:cs typeface="Trebuchet MS"/>
            </a:endParaRPr>
          </a:p>
          <a:p>
            <a:pPr marL="590550" indent="-116205">
              <a:lnSpc>
                <a:spcPct val="100000"/>
              </a:lnSpc>
              <a:spcBef>
                <a:spcPts val="114"/>
              </a:spcBef>
              <a:buClr>
                <a:srgbClr val="3232B2"/>
              </a:buClr>
              <a:buSzPct val="66666"/>
              <a:buFont typeface="Lucida Sans Unicode"/>
              <a:buChar char="►"/>
              <a:tabLst>
                <a:tab pos="590550" algn="l"/>
              </a:tabLst>
            </a:pPr>
            <a:r>
              <a:rPr sz="900" spc="-10" dirty="0">
                <a:latin typeface="Trebuchet MS"/>
                <a:cs typeface="Trebuchet MS"/>
              </a:rPr>
              <a:t>in</a:t>
            </a:r>
            <a:r>
              <a:rPr sz="900" spc="-55" dirty="0">
                <a:latin typeface="Trebuchet MS"/>
                <a:cs typeface="Trebuchet MS"/>
              </a:rPr>
              <a:t> </a:t>
            </a:r>
            <a:r>
              <a:rPr sz="900" spc="-235" dirty="0">
                <a:latin typeface="Trebuchet MS"/>
                <a:cs typeface="Trebuchet MS"/>
              </a:rPr>
              <a:t>/</a:t>
            </a:r>
            <a:r>
              <a:rPr sz="900" spc="-25" dirty="0">
                <a:latin typeface="Trebuchet MS"/>
                <a:cs typeface="Trebuchet MS"/>
              </a:rPr>
              <a:t> out</a:t>
            </a:r>
            <a:endParaRPr sz="9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25"/>
              </a:spcBef>
            </a:pPr>
            <a:endParaRPr sz="900">
              <a:latin typeface="Trebuchet MS"/>
              <a:cs typeface="Trebuchet MS"/>
            </a:endParaRPr>
          </a:p>
          <a:p>
            <a:pPr marL="38100">
              <a:lnSpc>
                <a:spcPct val="100000"/>
              </a:lnSpc>
            </a:pPr>
            <a:r>
              <a:rPr sz="1100" i="1" dirty="0">
                <a:solidFill>
                  <a:srgbClr val="3232B2"/>
                </a:solidFill>
                <a:latin typeface="Cambria"/>
                <a:cs typeface="Cambria"/>
              </a:rPr>
              <a:t>More</a:t>
            </a:r>
            <a:r>
              <a:rPr sz="1100" i="1" spc="-20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100" i="1" spc="-10" dirty="0">
                <a:solidFill>
                  <a:srgbClr val="3232B2"/>
                </a:solidFill>
                <a:latin typeface="Cambria"/>
                <a:cs typeface="Cambria"/>
              </a:rPr>
              <a:t>formally:</a:t>
            </a:r>
            <a:r>
              <a:rPr sz="1100" i="1" spc="40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100" i="1" spc="-35" dirty="0">
                <a:solidFill>
                  <a:srgbClr val="3232B2"/>
                </a:solidFill>
                <a:latin typeface="Cambria"/>
                <a:cs typeface="Cambria"/>
              </a:rPr>
              <a:t>antonyms</a:t>
            </a:r>
            <a:r>
              <a:rPr sz="1100" i="1" spc="-15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100" i="1" spc="-25" dirty="0">
                <a:solidFill>
                  <a:srgbClr val="3232B2"/>
                </a:solidFill>
                <a:latin typeface="Cambria"/>
                <a:cs typeface="Cambria"/>
              </a:rPr>
              <a:t>can</a:t>
            </a:r>
            <a:endParaRPr sz="1100">
              <a:latin typeface="Cambria"/>
              <a:cs typeface="Cambria"/>
            </a:endParaRPr>
          </a:p>
          <a:p>
            <a:pPr marL="314960">
              <a:lnSpc>
                <a:spcPct val="100000"/>
              </a:lnSpc>
              <a:spcBef>
                <a:spcPts val="425"/>
              </a:spcBef>
            </a:pPr>
            <a:r>
              <a:rPr sz="950" dirty="0">
                <a:latin typeface="Trebuchet MS"/>
                <a:cs typeface="Trebuchet MS"/>
              </a:rPr>
              <a:t>define</a:t>
            </a:r>
            <a:r>
              <a:rPr sz="950" spc="2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</a:t>
            </a:r>
            <a:r>
              <a:rPr sz="950" spc="2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binary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opposition</a:t>
            </a:r>
            <a:r>
              <a:rPr sz="950" spc="2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or</a:t>
            </a:r>
            <a:r>
              <a:rPr sz="950" spc="2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at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opposite</a:t>
            </a:r>
            <a:r>
              <a:rPr sz="950" spc="2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ends</a:t>
            </a:r>
            <a:r>
              <a:rPr sz="950" spc="2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of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</a:t>
            </a:r>
            <a:r>
              <a:rPr sz="950" spc="2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scale</a:t>
            </a:r>
            <a:r>
              <a:rPr sz="950" spc="2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(</a:t>
            </a:r>
            <a:r>
              <a:rPr sz="950" i="1" spc="-10" dirty="0">
                <a:latin typeface="Trebuchet MS"/>
                <a:cs typeface="Trebuchet MS"/>
              </a:rPr>
              <a:t>long/short</a:t>
            </a:r>
            <a:r>
              <a:rPr sz="950" spc="-10" dirty="0">
                <a:latin typeface="Trebuchet MS"/>
                <a:cs typeface="Trebuchet MS"/>
              </a:rPr>
              <a:t>,</a:t>
            </a:r>
            <a:endParaRPr sz="950">
              <a:latin typeface="Trebuchet MS"/>
              <a:cs typeface="Trebuchet MS"/>
            </a:endParaRPr>
          </a:p>
          <a:p>
            <a:pPr marL="314960">
              <a:lnSpc>
                <a:spcPct val="100000"/>
              </a:lnSpc>
              <a:spcBef>
                <a:spcPts val="215"/>
              </a:spcBef>
            </a:pPr>
            <a:r>
              <a:rPr sz="950" i="1" spc="-45" dirty="0">
                <a:latin typeface="Trebuchet MS"/>
                <a:cs typeface="Trebuchet MS"/>
              </a:rPr>
              <a:t>fast/slow</a:t>
            </a:r>
            <a:r>
              <a:rPr sz="950" i="1" spc="-135" dirty="0">
                <a:latin typeface="Trebuchet MS"/>
                <a:cs typeface="Trebuchet MS"/>
              </a:rPr>
              <a:t> </a:t>
            </a:r>
            <a:r>
              <a:rPr sz="950" spc="-50" dirty="0">
                <a:latin typeface="Trebuchet MS"/>
                <a:cs typeface="Trebuchet MS"/>
              </a:rPr>
              <a:t>)</a:t>
            </a:r>
            <a:endParaRPr sz="950">
              <a:latin typeface="Trebuchet MS"/>
              <a:cs typeface="Trebuchet MS"/>
            </a:endParaRPr>
          </a:p>
          <a:p>
            <a:pPr marL="314960">
              <a:lnSpc>
                <a:spcPct val="100000"/>
              </a:lnSpc>
              <a:spcBef>
                <a:spcPts val="515"/>
              </a:spcBef>
            </a:pPr>
            <a:r>
              <a:rPr sz="950" spc="70" dirty="0">
                <a:latin typeface="Trebuchet MS"/>
                <a:cs typeface="Trebuchet MS"/>
              </a:rPr>
              <a:t>Be</a:t>
            </a:r>
            <a:r>
              <a:rPr sz="950" spc="55" dirty="0">
                <a:latin typeface="Trebuchet MS"/>
                <a:cs typeface="Trebuchet MS"/>
              </a:rPr>
              <a:t> </a:t>
            </a:r>
            <a:r>
              <a:rPr sz="950" b="1" dirty="0">
                <a:latin typeface="Trebuchet MS"/>
                <a:cs typeface="Trebuchet MS"/>
              </a:rPr>
              <a:t>reversives</a:t>
            </a:r>
            <a:r>
              <a:rPr sz="950" dirty="0">
                <a:latin typeface="Trebuchet MS"/>
                <a:cs typeface="Trebuchet MS"/>
              </a:rPr>
              <a:t>:</a:t>
            </a:r>
            <a:r>
              <a:rPr sz="950" spc="140" dirty="0">
                <a:latin typeface="Trebuchet MS"/>
                <a:cs typeface="Trebuchet MS"/>
              </a:rPr>
              <a:t> </a:t>
            </a:r>
            <a:r>
              <a:rPr sz="950" i="1" spc="-10" dirty="0">
                <a:latin typeface="Trebuchet MS"/>
                <a:cs typeface="Trebuchet MS"/>
              </a:rPr>
              <a:t>rise/fall</a:t>
            </a:r>
            <a:endParaRPr sz="950">
              <a:latin typeface="Trebuchet MS"/>
              <a:cs typeface="Trebuchet MS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016760" y="3339672"/>
            <a:ext cx="57467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10" action="ppaction://hlinksldjump"/>
              </a:rPr>
              <a:t>Lexical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  <a:hlinkClick r:id="rId10" action="ppaction://hlinksldjump"/>
              </a:rPr>
              <a:t>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  <a:hlinkClick r:id="rId10" action="ppaction://hlinksldjump"/>
              </a:rPr>
              <a:t>Semantics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608260" y="3339672"/>
            <a:ext cx="56388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8,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1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317424" y="3339672"/>
            <a:ext cx="236854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14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10" dirty="0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</a:rPr>
              <a:t>18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27" name="Slide Number Placeholder 26">
            <a:extLst>
              <a:ext uri="{FF2B5EF4-FFF2-40B4-BE49-F238E27FC236}">
                <a16:creationId xmlns:a16="http://schemas.microsoft.com/office/drawing/2014/main" id="{9F102990-93B8-49FC-9D3F-0B87ED8A0E05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4292024" y="3339672"/>
            <a:ext cx="262254" cy="116204"/>
          </a:xfrm>
          <a:prstGeom prst="rect">
            <a:avLst/>
          </a:prstGeom>
        </p:spPr>
        <p:txBody>
          <a:bodyPr/>
          <a:lstStyle/>
          <a:p>
            <a:pPr marL="75565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lang="en-IN" smtClean="0"/>
              <a:t>29</a:t>
            </a:fld>
            <a:r>
              <a:rPr lang="en-IN" spc="-5"/>
              <a:t> </a:t>
            </a:r>
            <a:r>
              <a:rPr lang="en-IN" spc="-110"/>
              <a:t>/</a:t>
            </a:r>
            <a:r>
              <a:rPr lang="en-IN" spc="15"/>
              <a:t> </a:t>
            </a:r>
            <a:r>
              <a:rPr lang="en-IN" spc="-25"/>
              <a:t>18</a:t>
            </a:r>
            <a:endParaRPr lang="en-IN" spc="-25" dirty="0"/>
          </a:p>
        </p:txBody>
      </p:sp>
    </p:spTree>
  </p:cSld>
  <p:clrMapOvr>
    <a:masterClrMapping/>
  </p:clrMapOvr>
  <p:transition>
    <p:cut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Hyponymy</a:t>
            </a:r>
            <a:r>
              <a:rPr spc="-60" dirty="0"/>
              <a:t> </a:t>
            </a:r>
            <a:r>
              <a:rPr dirty="0"/>
              <a:t>and</a:t>
            </a:r>
            <a:r>
              <a:rPr spc="-55" dirty="0"/>
              <a:t> </a:t>
            </a:r>
            <a:r>
              <a:rPr spc="-10" dirty="0"/>
              <a:t>Hypernymy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7743" y="633565"/>
            <a:ext cx="4483735" cy="1254760"/>
            <a:chOff x="87743" y="633565"/>
            <a:chExt cx="4483735" cy="1254760"/>
          </a:xfrm>
        </p:grpSpPr>
        <p:sp>
          <p:nvSpPr>
            <p:cNvPr id="4" name="object 4"/>
            <p:cNvSpPr/>
            <p:nvPr/>
          </p:nvSpPr>
          <p:spPr>
            <a:xfrm>
              <a:off x="87743" y="633565"/>
              <a:ext cx="4432935" cy="180975"/>
            </a:xfrm>
            <a:custGeom>
              <a:avLst/>
              <a:gdLst/>
              <a:ahLst/>
              <a:cxnLst/>
              <a:rect l="l" t="t" r="r" b="b"/>
              <a:pathLst>
                <a:path w="4432935" h="180975">
                  <a:moveTo>
                    <a:pt x="4381754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0975"/>
                  </a:lnTo>
                  <a:lnTo>
                    <a:pt x="4432554" y="180975"/>
                  </a:lnTo>
                  <a:lnTo>
                    <a:pt x="4432554" y="50800"/>
                  </a:lnTo>
                  <a:lnTo>
                    <a:pt x="4428545" y="31075"/>
                  </a:lnTo>
                  <a:lnTo>
                    <a:pt x="4417631" y="14922"/>
                  </a:lnTo>
                  <a:lnTo>
                    <a:pt x="4401478" y="4008"/>
                  </a:lnTo>
                  <a:lnTo>
                    <a:pt x="4381754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744" y="801878"/>
              <a:ext cx="4432554" cy="5060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8544" y="1786712"/>
              <a:ext cx="101599" cy="1016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9344" y="1774012"/>
              <a:ext cx="4381754" cy="1143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20298" y="677799"/>
              <a:ext cx="50800" cy="1108913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87743" y="846150"/>
              <a:ext cx="4432935" cy="991869"/>
            </a:xfrm>
            <a:custGeom>
              <a:avLst/>
              <a:gdLst/>
              <a:ahLst/>
              <a:cxnLst/>
              <a:rect l="l" t="t" r="r" b="b"/>
              <a:pathLst>
                <a:path w="4432935" h="991869">
                  <a:moveTo>
                    <a:pt x="4432554" y="0"/>
                  </a:moveTo>
                  <a:lnTo>
                    <a:pt x="0" y="0"/>
                  </a:lnTo>
                  <a:lnTo>
                    <a:pt x="0" y="940562"/>
                  </a:lnTo>
                  <a:lnTo>
                    <a:pt x="4008" y="960286"/>
                  </a:lnTo>
                  <a:lnTo>
                    <a:pt x="14922" y="976439"/>
                  </a:lnTo>
                  <a:lnTo>
                    <a:pt x="31075" y="987353"/>
                  </a:lnTo>
                  <a:lnTo>
                    <a:pt x="50800" y="991362"/>
                  </a:lnTo>
                  <a:lnTo>
                    <a:pt x="4381754" y="991362"/>
                  </a:lnTo>
                  <a:lnTo>
                    <a:pt x="4401478" y="987353"/>
                  </a:lnTo>
                  <a:lnTo>
                    <a:pt x="4417631" y="976439"/>
                  </a:lnTo>
                  <a:lnTo>
                    <a:pt x="4428545" y="960286"/>
                  </a:lnTo>
                  <a:lnTo>
                    <a:pt x="4432554" y="940562"/>
                  </a:lnTo>
                  <a:lnTo>
                    <a:pt x="4432554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520310" y="715848"/>
              <a:ext cx="0" cy="1090295"/>
            </a:xfrm>
            <a:custGeom>
              <a:avLst/>
              <a:gdLst/>
              <a:ahLst/>
              <a:cxnLst/>
              <a:rect l="l" t="t" r="r" b="b"/>
              <a:pathLst>
                <a:path h="1090295">
                  <a:moveTo>
                    <a:pt x="0" y="1089914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520310" y="703186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520310" y="690486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520310" y="677786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81597" y="1277988"/>
              <a:ext cx="64757" cy="64757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81597" y="1488020"/>
              <a:ext cx="64757" cy="64757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81597" y="1698053"/>
              <a:ext cx="64757" cy="64757"/>
            </a:xfrm>
            <a:prstGeom prst="rect">
              <a:avLst/>
            </a:prstGeom>
          </p:spPr>
        </p:pic>
      </p:grpSp>
      <p:sp>
        <p:nvSpPr>
          <p:cNvPr id="17" name="object 17"/>
          <p:cNvSpPr txBox="1"/>
          <p:nvPr/>
        </p:nvSpPr>
        <p:spPr>
          <a:xfrm>
            <a:off x="125729" y="554205"/>
            <a:ext cx="4335780" cy="1249045"/>
          </a:xfrm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sz="1100" i="1" spc="-10" dirty="0">
                <a:solidFill>
                  <a:srgbClr val="3232B2"/>
                </a:solidFill>
                <a:latin typeface="Cambria"/>
                <a:cs typeface="Cambria"/>
              </a:rPr>
              <a:t>Hyponymy</a:t>
            </a:r>
            <a:endParaRPr sz="1100">
              <a:latin typeface="Cambria"/>
              <a:cs typeface="Cambria"/>
            </a:endParaRPr>
          </a:p>
          <a:p>
            <a:pPr marL="12700" marR="5080" algn="just">
              <a:lnSpc>
                <a:spcPct val="118900"/>
              </a:lnSpc>
              <a:spcBef>
                <a:spcPts val="209"/>
              </a:spcBef>
            </a:pPr>
            <a:r>
              <a:rPr sz="950" spc="55" dirty="0">
                <a:latin typeface="Trebuchet MS"/>
                <a:cs typeface="Trebuchet MS"/>
              </a:rPr>
              <a:t>One</a:t>
            </a:r>
            <a:r>
              <a:rPr sz="950" spc="-25" dirty="0">
                <a:latin typeface="Trebuchet MS"/>
                <a:cs typeface="Trebuchet MS"/>
              </a:rPr>
              <a:t> </a:t>
            </a:r>
            <a:r>
              <a:rPr sz="950" spc="55" dirty="0">
                <a:latin typeface="Trebuchet MS"/>
                <a:cs typeface="Trebuchet MS"/>
              </a:rPr>
              <a:t>sense</a:t>
            </a:r>
            <a:r>
              <a:rPr sz="950" dirty="0">
                <a:latin typeface="Trebuchet MS"/>
                <a:cs typeface="Trebuchet MS"/>
              </a:rPr>
              <a:t> is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 hyponym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of another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spc="-90" dirty="0">
                <a:latin typeface="Trebuchet MS"/>
                <a:cs typeface="Trebuchet MS"/>
              </a:rPr>
              <a:t>if</a:t>
            </a:r>
            <a:r>
              <a:rPr sz="950" spc="2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spc="-35" dirty="0">
                <a:latin typeface="Trebuchet MS"/>
                <a:cs typeface="Trebuchet MS"/>
              </a:rPr>
              <a:t>first</a:t>
            </a:r>
            <a:r>
              <a:rPr sz="950" dirty="0">
                <a:latin typeface="Trebuchet MS"/>
                <a:cs typeface="Trebuchet MS"/>
              </a:rPr>
              <a:t> </a:t>
            </a:r>
            <a:r>
              <a:rPr sz="950" spc="55" dirty="0">
                <a:latin typeface="Trebuchet MS"/>
                <a:cs typeface="Trebuchet MS"/>
              </a:rPr>
              <a:t>sense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is more </a:t>
            </a:r>
            <a:r>
              <a:rPr sz="950" spc="-10" dirty="0">
                <a:latin typeface="Trebuchet MS"/>
                <a:cs typeface="Trebuchet MS"/>
              </a:rPr>
              <a:t>specific,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denoting </a:t>
            </a:r>
            <a:r>
              <a:rPr sz="950" spc="10" dirty="0">
                <a:latin typeface="Trebuchet MS"/>
                <a:cs typeface="Trebuchet MS"/>
              </a:rPr>
              <a:t>a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spc="10" dirty="0">
                <a:latin typeface="Trebuchet MS"/>
                <a:cs typeface="Trebuchet MS"/>
              </a:rPr>
              <a:t>subclass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of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other</a:t>
            </a:r>
            <a:endParaRPr sz="950">
              <a:latin typeface="Trebuchet MS"/>
              <a:cs typeface="Trebuchet MS"/>
            </a:endParaRPr>
          </a:p>
          <a:p>
            <a:pPr marL="289560" marR="2510155" algn="just">
              <a:lnSpc>
                <a:spcPct val="145100"/>
              </a:lnSpc>
            </a:pPr>
            <a:r>
              <a:rPr sz="950" i="1" dirty="0">
                <a:latin typeface="Trebuchet MS"/>
                <a:cs typeface="Trebuchet MS"/>
              </a:rPr>
              <a:t>car</a:t>
            </a:r>
            <a:r>
              <a:rPr sz="950" i="1" spc="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is</a:t>
            </a:r>
            <a:r>
              <a:rPr sz="950" spc="2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</a:t>
            </a:r>
            <a:r>
              <a:rPr sz="950" spc="2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hyponym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of</a:t>
            </a:r>
            <a:r>
              <a:rPr sz="950" spc="20" dirty="0">
                <a:latin typeface="Trebuchet MS"/>
                <a:cs typeface="Trebuchet MS"/>
              </a:rPr>
              <a:t> </a:t>
            </a:r>
            <a:r>
              <a:rPr sz="950" i="1" spc="-10" dirty="0">
                <a:latin typeface="Trebuchet MS"/>
                <a:cs typeface="Trebuchet MS"/>
              </a:rPr>
              <a:t>vehicle </a:t>
            </a:r>
            <a:r>
              <a:rPr sz="950" i="1" dirty="0">
                <a:latin typeface="Trebuchet MS"/>
                <a:cs typeface="Trebuchet MS"/>
              </a:rPr>
              <a:t>dog</a:t>
            </a:r>
            <a:r>
              <a:rPr sz="950" i="1" spc="4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is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hyponym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of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i="1" spc="-10" dirty="0">
                <a:latin typeface="Trebuchet MS"/>
                <a:cs typeface="Trebuchet MS"/>
              </a:rPr>
              <a:t>animal </a:t>
            </a:r>
            <a:r>
              <a:rPr sz="950" i="1" dirty="0">
                <a:latin typeface="Trebuchet MS"/>
                <a:cs typeface="Trebuchet MS"/>
              </a:rPr>
              <a:t>mango</a:t>
            </a:r>
            <a:r>
              <a:rPr sz="950" i="1" spc="5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is</a:t>
            </a:r>
            <a:r>
              <a:rPr sz="950" spc="5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</a:t>
            </a:r>
            <a:r>
              <a:rPr sz="950" spc="5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hyponym</a:t>
            </a:r>
            <a:r>
              <a:rPr sz="950" spc="5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of</a:t>
            </a:r>
            <a:r>
              <a:rPr sz="950" spc="55" dirty="0">
                <a:latin typeface="Trebuchet MS"/>
                <a:cs typeface="Trebuchet MS"/>
              </a:rPr>
              <a:t> </a:t>
            </a:r>
            <a:r>
              <a:rPr sz="950" i="1" spc="-75" dirty="0">
                <a:latin typeface="Trebuchet MS"/>
                <a:cs typeface="Trebuchet MS"/>
              </a:rPr>
              <a:t>fruit</a:t>
            </a:r>
            <a:endParaRPr sz="950">
              <a:latin typeface="Trebuchet MS"/>
              <a:cs typeface="Trebuchet MS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016760" y="3339672"/>
            <a:ext cx="57467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9" action="ppaction://hlinksldjump"/>
              </a:rPr>
              <a:t>Lexical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  <a:hlinkClick r:id="rId9" action="ppaction://hlinksldjump"/>
              </a:rPr>
              <a:t>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  <a:hlinkClick r:id="rId9" action="ppaction://hlinksldjump"/>
              </a:rPr>
              <a:t>Semantics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608260" y="3339672"/>
            <a:ext cx="56388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8,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1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317424" y="3339672"/>
            <a:ext cx="236854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15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10" dirty="0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</a:rPr>
              <a:t>18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26" name="Slide Number Placeholder 25">
            <a:extLst>
              <a:ext uri="{FF2B5EF4-FFF2-40B4-BE49-F238E27FC236}">
                <a16:creationId xmlns:a16="http://schemas.microsoft.com/office/drawing/2014/main" id="{71B9F2E0-F4B0-4A5E-8AC2-FAD0C7289BBF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4292024" y="3339672"/>
            <a:ext cx="262254" cy="116204"/>
          </a:xfrm>
          <a:prstGeom prst="rect">
            <a:avLst/>
          </a:prstGeom>
        </p:spPr>
        <p:txBody>
          <a:bodyPr/>
          <a:lstStyle/>
          <a:p>
            <a:pPr marL="75565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lang="en-IN" smtClean="0"/>
              <a:t>30</a:t>
            </a:fld>
            <a:r>
              <a:rPr lang="en-IN" spc="-5"/>
              <a:t> </a:t>
            </a:r>
            <a:r>
              <a:rPr lang="en-IN" spc="-110"/>
              <a:t>/</a:t>
            </a:r>
            <a:r>
              <a:rPr lang="en-IN" spc="15"/>
              <a:t> </a:t>
            </a:r>
            <a:r>
              <a:rPr lang="en-IN" spc="-25"/>
              <a:t>18</a:t>
            </a:r>
            <a:endParaRPr lang="en-IN" spc="-25" dirty="0"/>
          </a:p>
        </p:txBody>
      </p:sp>
    </p:spTree>
  </p:cSld>
  <p:clrMapOvr>
    <a:masterClrMapping/>
  </p:clrMapOvr>
  <p:transition>
    <p:cut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Hyponymy</a:t>
            </a:r>
            <a:r>
              <a:rPr spc="-60" dirty="0"/>
              <a:t> </a:t>
            </a:r>
            <a:r>
              <a:rPr dirty="0"/>
              <a:t>and</a:t>
            </a:r>
            <a:r>
              <a:rPr spc="-55" dirty="0"/>
              <a:t> </a:t>
            </a:r>
            <a:r>
              <a:rPr spc="-10" dirty="0"/>
              <a:t>Hypernymy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7743" y="633565"/>
            <a:ext cx="4483735" cy="1254760"/>
            <a:chOff x="87743" y="633565"/>
            <a:chExt cx="4483735" cy="1254760"/>
          </a:xfrm>
        </p:grpSpPr>
        <p:sp>
          <p:nvSpPr>
            <p:cNvPr id="4" name="object 4"/>
            <p:cNvSpPr/>
            <p:nvPr/>
          </p:nvSpPr>
          <p:spPr>
            <a:xfrm>
              <a:off x="87743" y="633565"/>
              <a:ext cx="4432935" cy="180975"/>
            </a:xfrm>
            <a:custGeom>
              <a:avLst/>
              <a:gdLst/>
              <a:ahLst/>
              <a:cxnLst/>
              <a:rect l="l" t="t" r="r" b="b"/>
              <a:pathLst>
                <a:path w="4432935" h="180975">
                  <a:moveTo>
                    <a:pt x="4381754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0975"/>
                  </a:lnTo>
                  <a:lnTo>
                    <a:pt x="4432554" y="180975"/>
                  </a:lnTo>
                  <a:lnTo>
                    <a:pt x="4432554" y="50800"/>
                  </a:lnTo>
                  <a:lnTo>
                    <a:pt x="4428545" y="31075"/>
                  </a:lnTo>
                  <a:lnTo>
                    <a:pt x="4417631" y="14922"/>
                  </a:lnTo>
                  <a:lnTo>
                    <a:pt x="4401478" y="4008"/>
                  </a:lnTo>
                  <a:lnTo>
                    <a:pt x="4381754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744" y="801878"/>
              <a:ext cx="4432554" cy="5060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8544" y="1786712"/>
              <a:ext cx="101599" cy="1016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9344" y="1774012"/>
              <a:ext cx="4381754" cy="1143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20298" y="677799"/>
              <a:ext cx="50800" cy="1108913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87743" y="846150"/>
              <a:ext cx="4432935" cy="991869"/>
            </a:xfrm>
            <a:custGeom>
              <a:avLst/>
              <a:gdLst/>
              <a:ahLst/>
              <a:cxnLst/>
              <a:rect l="l" t="t" r="r" b="b"/>
              <a:pathLst>
                <a:path w="4432935" h="991869">
                  <a:moveTo>
                    <a:pt x="4432554" y="0"/>
                  </a:moveTo>
                  <a:lnTo>
                    <a:pt x="0" y="0"/>
                  </a:lnTo>
                  <a:lnTo>
                    <a:pt x="0" y="940562"/>
                  </a:lnTo>
                  <a:lnTo>
                    <a:pt x="4008" y="960286"/>
                  </a:lnTo>
                  <a:lnTo>
                    <a:pt x="14922" y="976439"/>
                  </a:lnTo>
                  <a:lnTo>
                    <a:pt x="31075" y="987353"/>
                  </a:lnTo>
                  <a:lnTo>
                    <a:pt x="50800" y="991362"/>
                  </a:lnTo>
                  <a:lnTo>
                    <a:pt x="4381754" y="991362"/>
                  </a:lnTo>
                  <a:lnTo>
                    <a:pt x="4401478" y="987353"/>
                  </a:lnTo>
                  <a:lnTo>
                    <a:pt x="4417631" y="976439"/>
                  </a:lnTo>
                  <a:lnTo>
                    <a:pt x="4428545" y="960286"/>
                  </a:lnTo>
                  <a:lnTo>
                    <a:pt x="4432554" y="940562"/>
                  </a:lnTo>
                  <a:lnTo>
                    <a:pt x="4432554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520310" y="715848"/>
              <a:ext cx="0" cy="1090295"/>
            </a:xfrm>
            <a:custGeom>
              <a:avLst/>
              <a:gdLst/>
              <a:ahLst/>
              <a:cxnLst/>
              <a:rect l="l" t="t" r="r" b="b"/>
              <a:pathLst>
                <a:path h="1090295">
                  <a:moveTo>
                    <a:pt x="0" y="1089914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520310" y="703186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520310" y="690486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520310" y="677786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81597" y="1277988"/>
              <a:ext cx="64757" cy="64757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81597" y="1488020"/>
              <a:ext cx="64757" cy="64757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81597" y="1698053"/>
              <a:ext cx="64757" cy="64757"/>
            </a:xfrm>
            <a:prstGeom prst="rect">
              <a:avLst/>
            </a:prstGeom>
          </p:spPr>
        </p:pic>
      </p:grpSp>
      <p:grpSp>
        <p:nvGrpSpPr>
          <p:cNvPr id="17" name="object 17"/>
          <p:cNvGrpSpPr/>
          <p:nvPr/>
        </p:nvGrpSpPr>
        <p:grpSpPr>
          <a:xfrm>
            <a:off x="87743" y="1989442"/>
            <a:ext cx="4483735" cy="1082675"/>
            <a:chOff x="87743" y="1989442"/>
            <a:chExt cx="4483735" cy="1082675"/>
          </a:xfrm>
        </p:grpSpPr>
        <p:sp>
          <p:nvSpPr>
            <p:cNvPr id="18" name="object 18"/>
            <p:cNvSpPr/>
            <p:nvPr/>
          </p:nvSpPr>
          <p:spPr>
            <a:xfrm>
              <a:off x="87743" y="1989442"/>
              <a:ext cx="4432935" cy="180975"/>
            </a:xfrm>
            <a:custGeom>
              <a:avLst/>
              <a:gdLst/>
              <a:ahLst/>
              <a:cxnLst/>
              <a:rect l="l" t="t" r="r" b="b"/>
              <a:pathLst>
                <a:path w="4432935" h="180975">
                  <a:moveTo>
                    <a:pt x="4381754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0975"/>
                  </a:lnTo>
                  <a:lnTo>
                    <a:pt x="4432554" y="180975"/>
                  </a:lnTo>
                  <a:lnTo>
                    <a:pt x="4432554" y="50800"/>
                  </a:lnTo>
                  <a:lnTo>
                    <a:pt x="4428545" y="31075"/>
                  </a:lnTo>
                  <a:lnTo>
                    <a:pt x="4417631" y="14922"/>
                  </a:lnTo>
                  <a:lnTo>
                    <a:pt x="4401478" y="4008"/>
                  </a:lnTo>
                  <a:lnTo>
                    <a:pt x="4381754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7744" y="2157742"/>
              <a:ext cx="4432554" cy="50609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38544" y="2970504"/>
              <a:ext cx="101599" cy="101600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89344" y="2957804"/>
              <a:ext cx="4381754" cy="114300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520298" y="2033676"/>
              <a:ext cx="50800" cy="936828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87743" y="2202027"/>
              <a:ext cx="4432935" cy="819785"/>
            </a:xfrm>
            <a:custGeom>
              <a:avLst/>
              <a:gdLst/>
              <a:ahLst/>
              <a:cxnLst/>
              <a:rect l="l" t="t" r="r" b="b"/>
              <a:pathLst>
                <a:path w="4432935" h="819785">
                  <a:moveTo>
                    <a:pt x="4432554" y="0"/>
                  </a:moveTo>
                  <a:lnTo>
                    <a:pt x="0" y="0"/>
                  </a:lnTo>
                  <a:lnTo>
                    <a:pt x="0" y="768477"/>
                  </a:lnTo>
                  <a:lnTo>
                    <a:pt x="4008" y="788201"/>
                  </a:lnTo>
                  <a:lnTo>
                    <a:pt x="14922" y="804354"/>
                  </a:lnTo>
                  <a:lnTo>
                    <a:pt x="31075" y="815268"/>
                  </a:lnTo>
                  <a:lnTo>
                    <a:pt x="50800" y="819276"/>
                  </a:lnTo>
                  <a:lnTo>
                    <a:pt x="4381754" y="819276"/>
                  </a:lnTo>
                  <a:lnTo>
                    <a:pt x="4401478" y="815268"/>
                  </a:lnTo>
                  <a:lnTo>
                    <a:pt x="4417631" y="804354"/>
                  </a:lnTo>
                  <a:lnTo>
                    <a:pt x="4428545" y="788201"/>
                  </a:lnTo>
                  <a:lnTo>
                    <a:pt x="4432554" y="768477"/>
                  </a:lnTo>
                  <a:lnTo>
                    <a:pt x="4432554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520309" y="2071725"/>
              <a:ext cx="0" cy="918210"/>
            </a:xfrm>
            <a:custGeom>
              <a:avLst/>
              <a:gdLst/>
              <a:ahLst/>
              <a:cxnLst/>
              <a:rect l="l" t="t" r="r" b="b"/>
              <a:pathLst>
                <a:path h="918210">
                  <a:moveTo>
                    <a:pt x="0" y="917828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4520309" y="2059057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4520309" y="2046357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4520309" y="2033657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" name="object 28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281597" y="2461780"/>
              <a:ext cx="64757" cy="64757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281597" y="2671813"/>
              <a:ext cx="64757" cy="64757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281597" y="2881845"/>
              <a:ext cx="64757" cy="64757"/>
            </a:xfrm>
            <a:prstGeom prst="rect">
              <a:avLst/>
            </a:prstGeom>
          </p:spPr>
        </p:pic>
      </p:grpSp>
      <p:sp>
        <p:nvSpPr>
          <p:cNvPr id="31" name="object 31"/>
          <p:cNvSpPr txBox="1"/>
          <p:nvPr/>
        </p:nvSpPr>
        <p:spPr>
          <a:xfrm>
            <a:off x="125729" y="554205"/>
            <a:ext cx="4335780" cy="2432685"/>
          </a:xfrm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sz="1100" i="1" spc="-10" dirty="0">
                <a:solidFill>
                  <a:srgbClr val="3232B2"/>
                </a:solidFill>
                <a:latin typeface="Cambria"/>
                <a:cs typeface="Cambria"/>
              </a:rPr>
              <a:t>Hyponymy</a:t>
            </a:r>
            <a:endParaRPr sz="1100">
              <a:latin typeface="Cambria"/>
              <a:cs typeface="Cambria"/>
            </a:endParaRPr>
          </a:p>
          <a:p>
            <a:pPr marL="12700" marR="5080" algn="just">
              <a:lnSpc>
                <a:spcPct val="118900"/>
              </a:lnSpc>
              <a:spcBef>
                <a:spcPts val="209"/>
              </a:spcBef>
            </a:pPr>
            <a:r>
              <a:rPr sz="950" spc="55" dirty="0">
                <a:latin typeface="Trebuchet MS"/>
                <a:cs typeface="Trebuchet MS"/>
              </a:rPr>
              <a:t>One</a:t>
            </a:r>
            <a:r>
              <a:rPr sz="950" spc="-25" dirty="0">
                <a:latin typeface="Trebuchet MS"/>
                <a:cs typeface="Trebuchet MS"/>
              </a:rPr>
              <a:t> </a:t>
            </a:r>
            <a:r>
              <a:rPr sz="950" spc="55" dirty="0">
                <a:latin typeface="Trebuchet MS"/>
                <a:cs typeface="Trebuchet MS"/>
              </a:rPr>
              <a:t>sense</a:t>
            </a:r>
            <a:r>
              <a:rPr sz="950" dirty="0">
                <a:latin typeface="Trebuchet MS"/>
                <a:cs typeface="Trebuchet MS"/>
              </a:rPr>
              <a:t> is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 hyponym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of another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spc="-90" dirty="0">
                <a:latin typeface="Trebuchet MS"/>
                <a:cs typeface="Trebuchet MS"/>
              </a:rPr>
              <a:t>if</a:t>
            </a:r>
            <a:r>
              <a:rPr sz="950" spc="2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spc="-35" dirty="0">
                <a:latin typeface="Trebuchet MS"/>
                <a:cs typeface="Trebuchet MS"/>
              </a:rPr>
              <a:t>first</a:t>
            </a:r>
            <a:r>
              <a:rPr sz="950" dirty="0">
                <a:latin typeface="Trebuchet MS"/>
                <a:cs typeface="Trebuchet MS"/>
              </a:rPr>
              <a:t> </a:t>
            </a:r>
            <a:r>
              <a:rPr sz="950" spc="55" dirty="0">
                <a:latin typeface="Trebuchet MS"/>
                <a:cs typeface="Trebuchet MS"/>
              </a:rPr>
              <a:t>sense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is more </a:t>
            </a:r>
            <a:r>
              <a:rPr sz="950" spc="-10" dirty="0">
                <a:latin typeface="Trebuchet MS"/>
                <a:cs typeface="Trebuchet MS"/>
              </a:rPr>
              <a:t>specific,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denoting </a:t>
            </a:r>
            <a:r>
              <a:rPr sz="950" spc="10" dirty="0">
                <a:latin typeface="Trebuchet MS"/>
                <a:cs typeface="Trebuchet MS"/>
              </a:rPr>
              <a:t>a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spc="10" dirty="0">
                <a:latin typeface="Trebuchet MS"/>
                <a:cs typeface="Trebuchet MS"/>
              </a:rPr>
              <a:t>subclass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of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other</a:t>
            </a:r>
            <a:endParaRPr sz="950">
              <a:latin typeface="Trebuchet MS"/>
              <a:cs typeface="Trebuchet MS"/>
            </a:endParaRPr>
          </a:p>
          <a:p>
            <a:pPr marL="289560" marR="2510155" algn="just">
              <a:lnSpc>
                <a:spcPct val="145100"/>
              </a:lnSpc>
            </a:pPr>
            <a:r>
              <a:rPr sz="950" i="1" dirty="0">
                <a:latin typeface="Trebuchet MS"/>
                <a:cs typeface="Trebuchet MS"/>
              </a:rPr>
              <a:t>car</a:t>
            </a:r>
            <a:r>
              <a:rPr sz="950" i="1" spc="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is</a:t>
            </a:r>
            <a:r>
              <a:rPr sz="950" spc="2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</a:t>
            </a:r>
            <a:r>
              <a:rPr sz="950" spc="2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hyponym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of</a:t>
            </a:r>
            <a:r>
              <a:rPr sz="950" spc="20" dirty="0">
                <a:latin typeface="Trebuchet MS"/>
                <a:cs typeface="Trebuchet MS"/>
              </a:rPr>
              <a:t> </a:t>
            </a:r>
            <a:r>
              <a:rPr sz="950" i="1" spc="-10" dirty="0">
                <a:latin typeface="Trebuchet MS"/>
                <a:cs typeface="Trebuchet MS"/>
              </a:rPr>
              <a:t>vehicle </a:t>
            </a:r>
            <a:r>
              <a:rPr sz="950" i="1" dirty="0">
                <a:latin typeface="Trebuchet MS"/>
                <a:cs typeface="Trebuchet MS"/>
              </a:rPr>
              <a:t>dog</a:t>
            </a:r>
            <a:r>
              <a:rPr sz="950" i="1" spc="4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is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hyponym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of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i="1" spc="-10" dirty="0">
                <a:latin typeface="Trebuchet MS"/>
                <a:cs typeface="Trebuchet MS"/>
              </a:rPr>
              <a:t>animal </a:t>
            </a:r>
            <a:r>
              <a:rPr sz="950" i="1" dirty="0">
                <a:latin typeface="Trebuchet MS"/>
                <a:cs typeface="Trebuchet MS"/>
              </a:rPr>
              <a:t>mango</a:t>
            </a:r>
            <a:r>
              <a:rPr sz="950" i="1" spc="5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is</a:t>
            </a:r>
            <a:r>
              <a:rPr sz="950" spc="5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</a:t>
            </a:r>
            <a:r>
              <a:rPr sz="950" spc="5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hyponym</a:t>
            </a:r>
            <a:r>
              <a:rPr sz="950" spc="5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of</a:t>
            </a:r>
            <a:r>
              <a:rPr sz="950" spc="55" dirty="0">
                <a:latin typeface="Trebuchet MS"/>
                <a:cs typeface="Trebuchet MS"/>
              </a:rPr>
              <a:t> </a:t>
            </a:r>
            <a:r>
              <a:rPr sz="950" i="1" spc="-75" dirty="0">
                <a:latin typeface="Trebuchet MS"/>
                <a:cs typeface="Trebuchet MS"/>
              </a:rPr>
              <a:t>fruit</a:t>
            </a:r>
            <a:endParaRPr sz="9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370"/>
              </a:spcBef>
            </a:pPr>
            <a:endParaRPr sz="9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100" i="1" spc="-10" dirty="0">
                <a:solidFill>
                  <a:srgbClr val="3232B2"/>
                </a:solidFill>
                <a:latin typeface="Cambria"/>
                <a:cs typeface="Cambria"/>
              </a:rPr>
              <a:t>Hypernymy</a:t>
            </a:r>
            <a:endParaRPr sz="11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425"/>
              </a:spcBef>
            </a:pPr>
            <a:r>
              <a:rPr sz="950" spc="-10" dirty="0">
                <a:latin typeface="Trebuchet MS"/>
                <a:cs typeface="Trebuchet MS"/>
              </a:rPr>
              <a:t>Conversely</a:t>
            </a:r>
            <a:endParaRPr sz="950">
              <a:latin typeface="Trebuchet MS"/>
              <a:cs typeface="Trebuchet MS"/>
            </a:endParaRPr>
          </a:p>
          <a:p>
            <a:pPr marL="289560" marR="1701164">
              <a:lnSpc>
                <a:spcPct val="145100"/>
              </a:lnSpc>
            </a:pPr>
            <a:r>
              <a:rPr sz="950" i="1" dirty="0">
                <a:latin typeface="Trebuchet MS"/>
                <a:cs typeface="Trebuchet MS"/>
              </a:rPr>
              <a:t>vehicle</a:t>
            </a:r>
            <a:r>
              <a:rPr sz="950" i="1" spc="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is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hypernym/superordinate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of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i="1" spc="-25" dirty="0">
                <a:latin typeface="Trebuchet MS"/>
                <a:cs typeface="Trebuchet MS"/>
              </a:rPr>
              <a:t>car </a:t>
            </a:r>
            <a:r>
              <a:rPr sz="950" i="1" dirty="0">
                <a:latin typeface="Trebuchet MS"/>
                <a:cs typeface="Trebuchet MS"/>
              </a:rPr>
              <a:t>animal </a:t>
            </a:r>
            <a:r>
              <a:rPr sz="950" dirty="0">
                <a:latin typeface="Trebuchet MS"/>
                <a:cs typeface="Trebuchet MS"/>
              </a:rPr>
              <a:t>is a hypernym of </a:t>
            </a:r>
            <a:r>
              <a:rPr sz="950" i="1" spc="-25" dirty="0">
                <a:latin typeface="Trebuchet MS"/>
                <a:cs typeface="Trebuchet MS"/>
              </a:rPr>
              <a:t>dog</a:t>
            </a:r>
            <a:endParaRPr sz="950">
              <a:latin typeface="Trebuchet MS"/>
              <a:cs typeface="Trebuchet MS"/>
            </a:endParaRPr>
          </a:p>
          <a:p>
            <a:pPr marL="289560">
              <a:lnSpc>
                <a:spcPct val="100000"/>
              </a:lnSpc>
              <a:spcBef>
                <a:spcPts val="515"/>
              </a:spcBef>
            </a:pPr>
            <a:r>
              <a:rPr sz="950" i="1" spc="-80" dirty="0">
                <a:latin typeface="Trebuchet MS"/>
                <a:cs typeface="Trebuchet MS"/>
              </a:rPr>
              <a:t>fruit</a:t>
            </a:r>
            <a:r>
              <a:rPr sz="950" i="1" spc="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is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hypernym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of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i="1" spc="-10" dirty="0">
                <a:latin typeface="Trebuchet MS"/>
                <a:cs typeface="Trebuchet MS"/>
              </a:rPr>
              <a:t>mango</a:t>
            </a:r>
            <a:endParaRPr sz="950">
              <a:latin typeface="Trebuchet MS"/>
              <a:cs typeface="Trebuchet MS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2016760" y="3339672"/>
            <a:ext cx="57467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16" action="ppaction://hlinksldjump"/>
              </a:rPr>
              <a:t>Lexical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  <a:hlinkClick r:id="rId16" action="ppaction://hlinksldjump"/>
              </a:rPr>
              <a:t>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  <a:hlinkClick r:id="rId16" action="ppaction://hlinksldjump"/>
              </a:rPr>
              <a:t>Semantics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3608260" y="3339672"/>
            <a:ext cx="56388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8,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1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4317424" y="3339672"/>
            <a:ext cx="236854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15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10" dirty="0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</a:rPr>
              <a:t>18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40" name="Slide Number Placeholder 39">
            <a:extLst>
              <a:ext uri="{FF2B5EF4-FFF2-40B4-BE49-F238E27FC236}">
                <a16:creationId xmlns:a16="http://schemas.microsoft.com/office/drawing/2014/main" id="{7271FDD7-C0E8-4B80-9BEE-7A326A7A4BB4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4292024" y="3339672"/>
            <a:ext cx="262254" cy="116204"/>
          </a:xfrm>
          <a:prstGeom prst="rect">
            <a:avLst/>
          </a:prstGeom>
        </p:spPr>
        <p:txBody>
          <a:bodyPr/>
          <a:lstStyle/>
          <a:p>
            <a:pPr marL="75565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lang="en-IN" smtClean="0"/>
              <a:t>31</a:t>
            </a:fld>
            <a:r>
              <a:rPr lang="en-IN" spc="-5"/>
              <a:t> </a:t>
            </a:r>
            <a:r>
              <a:rPr lang="en-IN" spc="-110"/>
              <a:t>/</a:t>
            </a:r>
            <a:r>
              <a:rPr lang="en-IN" spc="15"/>
              <a:t> </a:t>
            </a:r>
            <a:r>
              <a:rPr lang="en-IN" spc="-25"/>
              <a:t>18</a:t>
            </a:r>
            <a:endParaRPr lang="en-IN" spc="-25" dirty="0"/>
          </a:p>
        </p:txBody>
      </p:sp>
    </p:spTree>
  </p:cSld>
  <p:clrMapOvr>
    <a:masterClrMapping/>
  </p:clrMapOvr>
  <p:transition>
    <p:cut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Hyponymy</a:t>
            </a:r>
            <a:r>
              <a:rPr spc="-75" dirty="0"/>
              <a:t> </a:t>
            </a:r>
            <a:r>
              <a:rPr spc="-10" dirty="0"/>
              <a:t>more</a:t>
            </a:r>
            <a:r>
              <a:rPr spc="-70" dirty="0"/>
              <a:t> </a:t>
            </a:r>
            <a:r>
              <a:rPr spc="-10" dirty="0"/>
              <a:t>formally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7743" y="1138313"/>
            <a:ext cx="4483735" cy="622300"/>
            <a:chOff x="87743" y="1138313"/>
            <a:chExt cx="4483735" cy="622300"/>
          </a:xfrm>
        </p:grpSpPr>
        <p:sp>
          <p:nvSpPr>
            <p:cNvPr id="4" name="object 4"/>
            <p:cNvSpPr/>
            <p:nvPr/>
          </p:nvSpPr>
          <p:spPr>
            <a:xfrm>
              <a:off x="87743" y="1138313"/>
              <a:ext cx="4432935" cy="176530"/>
            </a:xfrm>
            <a:custGeom>
              <a:avLst/>
              <a:gdLst/>
              <a:ahLst/>
              <a:cxnLst/>
              <a:rect l="l" t="t" r="r" b="b"/>
              <a:pathLst>
                <a:path w="4432935" h="176530">
                  <a:moveTo>
                    <a:pt x="4381754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76276"/>
                  </a:lnTo>
                  <a:lnTo>
                    <a:pt x="4432554" y="176276"/>
                  </a:lnTo>
                  <a:lnTo>
                    <a:pt x="4432554" y="50800"/>
                  </a:lnTo>
                  <a:lnTo>
                    <a:pt x="4428545" y="31075"/>
                  </a:lnTo>
                  <a:lnTo>
                    <a:pt x="4417631" y="14922"/>
                  </a:lnTo>
                  <a:lnTo>
                    <a:pt x="4401478" y="4008"/>
                  </a:lnTo>
                  <a:lnTo>
                    <a:pt x="4381754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744" y="1301978"/>
              <a:ext cx="4432554" cy="5060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8544" y="1658950"/>
              <a:ext cx="101599" cy="1016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9344" y="1646250"/>
              <a:ext cx="4381754" cy="1143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20298" y="1182560"/>
              <a:ext cx="50800" cy="476389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87743" y="1346276"/>
              <a:ext cx="4432935" cy="363855"/>
            </a:xfrm>
            <a:custGeom>
              <a:avLst/>
              <a:gdLst/>
              <a:ahLst/>
              <a:cxnLst/>
              <a:rect l="l" t="t" r="r" b="b"/>
              <a:pathLst>
                <a:path w="4432935" h="363855">
                  <a:moveTo>
                    <a:pt x="4432554" y="0"/>
                  </a:moveTo>
                  <a:lnTo>
                    <a:pt x="0" y="0"/>
                  </a:lnTo>
                  <a:lnTo>
                    <a:pt x="0" y="312674"/>
                  </a:lnTo>
                  <a:lnTo>
                    <a:pt x="4008" y="332398"/>
                  </a:lnTo>
                  <a:lnTo>
                    <a:pt x="14922" y="348551"/>
                  </a:lnTo>
                  <a:lnTo>
                    <a:pt x="31075" y="359465"/>
                  </a:lnTo>
                  <a:lnTo>
                    <a:pt x="50800" y="363474"/>
                  </a:lnTo>
                  <a:lnTo>
                    <a:pt x="4381754" y="363474"/>
                  </a:lnTo>
                  <a:lnTo>
                    <a:pt x="4401478" y="359465"/>
                  </a:lnTo>
                  <a:lnTo>
                    <a:pt x="4417631" y="348551"/>
                  </a:lnTo>
                  <a:lnTo>
                    <a:pt x="4428545" y="332398"/>
                  </a:lnTo>
                  <a:lnTo>
                    <a:pt x="4432554" y="312674"/>
                  </a:lnTo>
                  <a:lnTo>
                    <a:pt x="4432554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520310" y="1220673"/>
              <a:ext cx="0" cy="457834"/>
            </a:xfrm>
            <a:custGeom>
              <a:avLst/>
              <a:gdLst/>
              <a:ahLst/>
              <a:cxnLst/>
              <a:rect l="l" t="t" r="r" b="b"/>
              <a:pathLst>
                <a:path h="457835">
                  <a:moveTo>
                    <a:pt x="0" y="457326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520310" y="1207947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520310" y="1195247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520310" y="1182547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4" name="object 14"/>
          <p:cNvGrpSpPr/>
          <p:nvPr/>
        </p:nvGrpSpPr>
        <p:grpSpPr>
          <a:xfrm>
            <a:off x="87743" y="1861680"/>
            <a:ext cx="4483735" cy="453390"/>
            <a:chOff x="87743" y="1861680"/>
            <a:chExt cx="4483735" cy="453390"/>
          </a:xfrm>
        </p:grpSpPr>
        <p:sp>
          <p:nvSpPr>
            <p:cNvPr id="15" name="object 15"/>
            <p:cNvSpPr/>
            <p:nvPr/>
          </p:nvSpPr>
          <p:spPr>
            <a:xfrm>
              <a:off x="87743" y="1861680"/>
              <a:ext cx="4432935" cy="180975"/>
            </a:xfrm>
            <a:custGeom>
              <a:avLst/>
              <a:gdLst/>
              <a:ahLst/>
              <a:cxnLst/>
              <a:rect l="l" t="t" r="r" b="b"/>
              <a:pathLst>
                <a:path w="4432935" h="180975">
                  <a:moveTo>
                    <a:pt x="4381754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0975"/>
                  </a:lnTo>
                  <a:lnTo>
                    <a:pt x="4432554" y="180975"/>
                  </a:lnTo>
                  <a:lnTo>
                    <a:pt x="4432554" y="50800"/>
                  </a:lnTo>
                  <a:lnTo>
                    <a:pt x="4428545" y="31075"/>
                  </a:lnTo>
                  <a:lnTo>
                    <a:pt x="4417631" y="14922"/>
                  </a:lnTo>
                  <a:lnTo>
                    <a:pt x="4401478" y="4008"/>
                  </a:lnTo>
                  <a:lnTo>
                    <a:pt x="4381754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744" y="2029980"/>
              <a:ext cx="4432554" cy="50609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38544" y="2213381"/>
              <a:ext cx="101599" cy="101600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89344" y="2200681"/>
              <a:ext cx="4381754" cy="114300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520298" y="1905914"/>
              <a:ext cx="50800" cy="307466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87743" y="2074316"/>
              <a:ext cx="4432935" cy="189865"/>
            </a:xfrm>
            <a:custGeom>
              <a:avLst/>
              <a:gdLst/>
              <a:ahLst/>
              <a:cxnLst/>
              <a:rect l="l" t="t" r="r" b="b"/>
              <a:pathLst>
                <a:path w="4432935" h="189864">
                  <a:moveTo>
                    <a:pt x="4432554" y="0"/>
                  </a:moveTo>
                  <a:lnTo>
                    <a:pt x="0" y="0"/>
                  </a:lnTo>
                  <a:lnTo>
                    <a:pt x="0" y="139064"/>
                  </a:lnTo>
                  <a:lnTo>
                    <a:pt x="4008" y="158789"/>
                  </a:lnTo>
                  <a:lnTo>
                    <a:pt x="14922" y="174942"/>
                  </a:lnTo>
                  <a:lnTo>
                    <a:pt x="31075" y="185856"/>
                  </a:lnTo>
                  <a:lnTo>
                    <a:pt x="50800" y="189864"/>
                  </a:lnTo>
                  <a:lnTo>
                    <a:pt x="4381754" y="189864"/>
                  </a:lnTo>
                  <a:lnTo>
                    <a:pt x="4401478" y="185856"/>
                  </a:lnTo>
                  <a:lnTo>
                    <a:pt x="4417631" y="174942"/>
                  </a:lnTo>
                  <a:lnTo>
                    <a:pt x="4428545" y="158789"/>
                  </a:lnTo>
                  <a:lnTo>
                    <a:pt x="4432554" y="139064"/>
                  </a:lnTo>
                  <a:lnTo>
                    <a:pt x="4432554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4520309" y="1944014"/>
              <a:ext cx="0" cy="288925"/>
            </a:xfrm>
            <a:custGeom>
              <a:avLst/>
              <a:gdLst/>
              <a:ahLst/>
              <a:cxnLst/>
              <a:rect l="l" t="t" r="r" b="b"/>
              <a:pathLst>
                <a:path h="288925">
                  <a:moveTo>
                    <a:pt x="0" y="288417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4520309" y="1931313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4520309" y="1918613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520309" y="1905913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125729" y="1090216"/>
            <a:ext cx="3609340" cy="1144270"/>
          </a:xfrm>
          <a:prstGeom prst="rect">
            <a:avLst/>
          </a:prstGeom>
        </p:spPr>
        <p:txBody>
          <a:bodyPr vert="horz" wrap="square" lIns="0" tIns="400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15"/>
              </a:spcBef>
            </a:pPr>
            <a:r>
              <a:rPr sz="1100" i="1" spc="-10" dirty="0">
                <a:solidFill>
                  <a:srgbClr val="3232B2"/>
                </a:solidFill>
                <a:latin typeface="Cambria"/>
                <a:cs typeface="Cambria"/>
              </a:rPr>
              <a:t>Entailment</a:t>
            </a:r>
            <a:endParaRPr sz="1100">
              <a:latin typeface="Cambria"/>
              <a:cs typeface="Cambria"/>
            </a:endParaRPr>
          </a:p>
          <a:p>
            <a:pPr marL="12700" marR="5080">
              <a:lnSpc>
                <a:spcPct val="113999"/>
              </a:lnSpc>
              <a:spcBef>
                <a:spcPts val="35"/>
              </a:spcBef>
            </a:pPr>
            <a:r>
              <a:rPr sz="950" spc="70" dirty="0">
                <a:latin typeface="Trebuchet MS"/>
                <a:cs typeface="Trebuchet MS"/>
              </a:rPr>
              <a:t>Sense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1100" i="1" dirty="0">
                <a:latin typeface="Cambria"/>
                <a:cs typeface="Cambria"/>
              </a:rPr>
              <a:t>A</a:t>
            </a:r>
            <a:r>
              <a:rPr sz="1100" i="1" spc="60" dirty="0">
                <a:latin typeface="Cambria"/>
                <a:cs typeface="Cambria"/>
              </a:rPr>
              <a:t> </a:t>
            </a:r>
            <a:r>
              <a:rPr sz="950" dirty="0">
                <a:latin typeface="Trebuchet MS"/>
                <a:cs typeface="Trebuchet MS"/>
              </a:rPr>
              <a:t>is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hyponym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of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spc="55" dirty="0">
                <a:latin typeface="Trebuchet MS"/>
                <a:cs typeface="Trebuchet MS"/>
              </a:rPr>
              <a:t>sense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1100" i="1" dirty="0">
                <a:latin typeface="Cambria"/>
                <a:cs typeface="Cambria"/>
              </a:rPr>
              <a:t>B</a:t>
            </a:r>
            <a:r>
              <a:rPr sz="1100" i="1" spc="60" dirty="0">
                <a:latin typeface="Cambria"/>
                <a:cs typeface="Cambria"/>
              </a:rPr>
              <a:t> </a:t>
            </a:r>
            <a:r>
              <a:rPr sz="950" spc="-70" dirty="0">
                <a:latin typeface="Trebuchet MS"/>
                <a:cs typeface="Trebuchet MS"/>
              </a:rPr>
              <a:t>if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being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an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1100" i="1" dirty="0">
                <a:latin typeface="Cambria"/>
                <a:cs typeface="Cambria"/>
              </a:rPr>
              <a:t>A</a:t>
            </a:r>
            <a:r>
              <a:rPr sz="1100" i="1" spc="60" dirty="0">
                <a:latin typeface="Cambria"/>
                <a:cs typeface="Cambria"/>
              </a:rPr>
              <a:t> </a:t>
            </a:r>
            <a:r>
              <a:rPr sz="950" dirty="0">
                <a:latin typeface="Trebuchet MS"/>
                <a:cs typeface="Trebuchet MS"/>
              </a:rPr>
              <a:t>entails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being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1100" i="1" spc="-25" dirty="0">
                <a:latin typeface="Cambria"/>
                <a:cs typeface="Cambria"/>
              </a:rPr>
              <a:t>B</a:t>
            </a:r>
            <a:r>
              <a:rPr sz="950" spc="-25" dirty="0">
                <a:latin typeface="Trebuchet MS"/>
                <a:cs typeface="Trebuchet MS"/>
              </a:rPr>
              <a:t>. </a:t>
            </a:r>
            <a:r>
              <a:rPr sz="950" dirty="0">
                <a:latin typeface="Trebuchet MS"/>
                <a:cs typeface="Trebuchet MS"/>
              </a:rPr>
              <a:t>Ex:</a:t>
            </a:r>
            <a:r>
              <a:rPr sz="950" spc="114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dog,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animal</a:t>
            </a:r>
            <a:endParaRPr sz="9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370"/>
              </a:spcBef>
            </a:pPr>
            <a:endParaRPr sz="9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100" i="1" spc="-10" dirty="0">
                <a:solidFill>
                  <a:srgbClr val="3232B2"/>
                </a:solidFill>
                <a:latin typeface="Cambria"/>
                <a:cs typeface="Cambria"/>
              </a:rPr>
              <a:t>Transitivity</a:t>
            </a:r>
            <a:endParaRPr sz="11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290"/>
              </a:spcBef>
            </a:pPr>
            <a:r>
              <a:rPr sz="1100" i="1" dirty="0">
                <a:latin typeface="Cambria"/>
                <a:cs typeface="Cambria"/>
              </a:rPr>
              <a:t>A</a:t>
            </a:r>
            <a:r>
              <a:rPr sz="1100" i="1" spc="55" dirty="0">
                <a:latin typeface="Cambria"/>
                <a:cs typeface="Cambria"/>
              </a:rPr>
              <a:t> </a:t>
            </a:r>
            <a:r>
              <a:rPr sz="950" dirty="0">
                <a:latin typeface="Trebuchet MS"/>
                <a:cs typeface="Trebuchet MS"/>
              </a:rPr>
              <a:t>hypo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1100" i="1" dirty="0">
                <a:latin typeface="Cambria"/>
                <a:cs typeface="Cambria"/>
              </a:rPr>
              <a:t>B</a:t>
            </a:r>
            <a:r>
              <a:rPr sz="1100" i="1" spc="55" dirty="0">
                <a:latin typeface="Cambria"/>
                <a:cs typeface="Cambria"/>
              </a:rPr>
              <a:t> </a:t>
            </a:r>
            <a:r>
              <a:rPr sz="950" dirty="0">
                <a:latin typeface="Trebuchet MS"/>
                <a:cs typeface="Trebuchet MS"/>
              </a:rPr>
              <a:t>and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1100" i="1" dirty="0">
                <a:latin typeface="Cambria"/>
                <a:cs typeface="Cambria"/>
              </a:rPr>
              <a:t>B</a:t>
            </a:r>
            <a:r>
              <a:rPr sz="1100" i="1" spc="60" dirty="0">
                <a:latin typeface="Cambria"/>
                <a:cs typeface="Cambria"/>
              </a:rPr>
              <a:t> </a:t>
            </a:r>
            <a:r>
              <a:rPr sz="950" dirty="0">
                <a:latin typeface="Trebuchet MS"/>
                <a:cs typeface="Trebuchet MS"/>
              </a:rPr>
              <a:t>hypo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1100" i="1" spc="135" dirty="0">
                <a:latin typeface="Cambria"/>
                <a:cs typeface="Cambria"/>
              </a:rPr>
              <a:t>C</a:t>
            </a:r>
            <a:r>
              <a:rPr sz="1100" i="1" spc="80" dirty="0">
                <a:latin typeface="Cambria"/>
                <a:cs typeface="Cambria"/>
              </a:rPr>
              <a:t> </a:t>
            </a:r>
            <a:r>
              <a:rPr sz="950" dirty="0">
                <a:latin typeface="Trebuchet MS"/>
                <a:cs typeface="Trebuchet MS"/>
              </a:rPr>
              <a:t>entails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1100" i="1" dirty="0">
                <a:latin typeface="Cambria"/>
                <a:cs typeface="Cambria"/>
              </a:rPr>
              <a:t>A</a:t>
            </a:r>
            <a:r>
              <a:rPr sz="1100" i="1" spc="60" dirty="0">
                <a:latin typeface="Cambria"/>
                <a:cs typeface="Cambria"/>
              </a:rPr>
              <a:t> </a:t>
            </a:r>
            <a:r>
              <a:rPr sz="950" dirty="0">
                <a:latin typeface="Trebuchet MS"/>
                <a:cs typeface="Trebuchet MS"/>
              </a:rPr>
              <a:t>hypo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1100" i="1" spc="85" dirty="0">
                <a:latin typeface="Cambria"/>
                <a:cs typeface="Cambria"/>
              </a:rPr>
              <a:t>C</a:t>
            </a:r>
            <a:endParaRPr sz="1100">
              <a:latin typeface="Cambria"/>
              <a:cs typeface="Cambria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2016760" y="3339672"/>
            <a:ext cx="57467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9" action="ppaction://hlinksldjump"/>
              </a:rPr>
              <a:t>Lexical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  <a:hlinkClick r:id="rId9" action="ppaction://hlinksldjump"/>
              </a:rPr>
              <a:t>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  <a:hlinkClick r:id="rId9" action="ppaction://hlinksldjump"/>
              </a:rPr>
              <a:t>Semantics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3608260" y="3339672"/>
            <a:ext cx="56388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8,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1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33" name="object 33"/>
          <p:cNvSpPr txBox="1">
            <a:spLocks noGrp="1"/>
          </p:cNvSpPr>
          <p:nvPr>
            <p:ph type="sldNum" sz="quarter" idx="4294967295"/>
          </p:nvPr>
        </p:nvSpPr>
        <p:spPr>
          <a:xfrm>
            <a:off x="4292024" y="3339672"/>
            <a:ext cx="262254" cy="116204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0"/>
              </a:spcBef>
            </a:pPr>
            <a:r>
              <a:rPr dirty="0"/>
              <a:t>16</a:t>
            </a:r>
            <a:r>
              <a:rPr spc="-20" dirty="0"/>
              <a:t> </a:t>
            </a:r>
            <a:r>
              <a:rPr spc="-110" dirty="0"/>
              <a:t>/</a:t>
            </a:r>
            <a:r>
              <a:rPr spc="15" dirty="0"/>
              <a:t> </a:t>
            </a:r>
            <a:r>
              <a:rPr spc="-25" dirty="0"/>
              <a:t>18</a:t>
            </a:r>
          </a:p>
        </p:txBody>
      </p:sp>
    </p:spTree>
  </p:cSld>
  <p:clrMapOvr>
    <a:masterClrMapping/>
  </p:clrMapOvr>
  <p:transition>
    <p:cut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Meronyms</a:t>
            </a:r>
            <a:r>
              <a:rPr spc="-25" dirty="0"/>
              <a:t> </a:t>
            </a:r>
            <a:r>
              <a:rPr dirty="0"/>
              <a:t>and</a:t>
            </a:r>
            <a:r>
              <a:rPr spc="-20" dirty="0"/>
              <a:t> </a:t>
            </a:r>
            <a:r>
              <a:rPr spc="-10" dirty="0"/>
              <a:t>holonyms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7743" y="822693"/>
            <a:ext cx="4483735" cy="796925"/>
            <a:chOff x="87743" y="822693"/>
            <a:chExt cx="4483735" cy="796925"/>
          </a:xfrm>
        </p:grpSpPr>
        <p:sp>
          <p:nvSpPr>
            <p:cNvPr id="4" name="object 4"/>
            <p:cNvSpPr/>
            <p:nvPr/>
          </p:nvSpPr>
          <p:spPr>
            <a:xfrm>
              <a:off x="87743" y="822693"/>
              <a:ext cx="4432935" cy="186055"/>
            </a:xfrm>
            <a:custGeom>
              <a:avLst/>
              <a:gdLst/>
              <a:ahLst/>
              <a:cxnLst/>
              <a:rect l="l" t="t" r="r" b="b"/>
              <a:pathLst>
                <a:path w="4432935" h="186055">
                  <a:moveTo>
                    <a:pt x="4381754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5674"/>
                  </a:lnTo>
                  <a:lnTo>
                    <a:pt x="4432554" y="185674"/>
                  </a:lnTo>
                  <a:lnTo>
                    <a:pt x="4432554" y="50800"/>
                  </a:lnTo>
                  <a:lnTo>
                    <a:pt x="4428545" y="31075"/>
                  </a:lnTo>
                  <a:lnTo>
                    <a:pt x="4417631" y="14922"/>
                  </a:lnTo>
                  <a:lnTo>
                    <a:pt x="4401478" y="4008"/>
                  </a:lnTo>
                  <a:lnTo>
                    <a:pt x="4381754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744" y="995705"/>
              <a:ext cx="4432554" cy="5060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8544" y="1517726"/>
              <a:ext cx="101599" cy="1016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9344" y="1505026"/>
              <a:ext cx="4381754" cy="1143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20298" y="866927"/>
              <a:ext cx="50800" cy="650798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87743" y="1039952"/>
              <a:ext cx="4432935" cy="528955"/>
            </a:xfrm>
            <a:custGeom>
              <a:avLst/>
              <a:gdLst/>
              <a:ahLst/>
              <a:cxnLst/>
              <a:rect l="l" t="t" r="r" b="b"/>
              <a:pathLst>
                <a:path w="4432935" h="528955">
                  <a:moveTo>
                    <a:pt x="4432554" y="0"/>
                  </a:moveTo>
                  <a:lnTo>
                    <a:pt x="0" y="0"/>
                  </a:lnTo>
                  <a:lnTo>
                    <a:pt x="0" y="477774"/>
                  </a:lnTo>
                  <a:lnTo>
                    <a:pt x="4008" y="497498"/>
                  </a:lnTo>
                  <a:lnTo>
                    <a:pt x="14922" y="513651"/>
                  </a:lnTo>
                  <a:lnTo>
                    <a:pt x="31075" y="524565"/>
                  </a:lnTo>
                  <a:lnTo>
                    <a:pt x="50800" y="528574"/>
                  </a:lnTo>
                  <a:lnTo>
                    <a:pt x="4381754" y="528574"/>
                  </a:lnTo>
                  <a:lnTo>
                    <a:pt x="4401478" y="524565"/>
                  </a:lnTo>
                  <a:lnTo>
                    <a:pt x="4417631" y="513651"/>
                  </a:lnTo>
                  <a:lnTo>
                    <a:pt x="4428545" y="497498"/>
                  </a:lnTo>
                  <a:lnTo>
                    <a:pt x="4432554" y="477774"/>
                  </a:lnTo>
                  <a:lnTo>
                    <a:pt x="4432554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520310" y="905078"/>
              <a:ext cx="0" cy="631825"/>
            </a:xfrm>
            <a:custGeom>
              <a:avLst/>
              <a:gdLst/>
              <a:ahLst/>
              <a:cxnLst/>
              <a:rect l="l" t="t" r="r" b="b"/>
              <a:pathLst>
                <a:path h="631825">
                  <a:moveTo>
                    <a:pt x="0" y="631698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520310" y="892327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520310" y="879627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520310" y="866927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125729" y="751235"/>
            <a:ext cx="3510279" cy="784860"/>
          </a:xfrm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0"/>
              </a:spcBef>
            </a:pPr>
            <a:r>
              <a:rPr sz="1100" i="1" spc="-10" dirty="0">
                <a:solidFill>
                  <a:srgbClr val="3232B2"/>
                </a:solidFill>
                <a:latin typeface="Cambria"/>
                <a:cs typeface="Cambria"/>
              </a:rPr>
              <a:t>Definition</a:t>
            </a:r>
            <a:endParaRPr sz="11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400"/>
              </a:spcBef>
            </a:pPr>
            <a:r>
              <a:rPr sz="950" b="1" dirty="0">
                <a:latin typeface="Trebuchet MS"/>
                <a:cs typeface="Trebuchet MS"/>
              </a:rPr>
              <a:t>Meronymy:</a:t>
            </a:r>
            <a:r>
              <a:rPr sz="950" b="1" spc="10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an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asymmetric,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transitive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relation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between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senses.</a:t>
            </a:r>
            <a:endParaRPr sz="950">
              <a:latin typeface="Trebuchet MS"/>
              <a:cs typeface="Trebuchet MS"/>
            </a:endParaRPr>
          </a:p>
          <a:p>
            <a:pPr marL="12700" marR="991235">
              <a:lnSpc>
                <a:spcPts val="1350"/>
              </a:lnSpc>
              <a:spcBef>
                <a:spcPts val="85"/>
              </a:spcBef>
            </a:pPr>
            <a:r>
              <a:rPr sz="1100" i="1" spc="65" dirty="0">
                <a:latin typeface="Cambria"/>
                <a:cs typeface="Cambria"/>
              </a:rPr>
              <a:t>X</a:t>
            </a:r>
            <a:r>
              <a:rPr sz="1100" i="1" spc="100" dirty="0">
                <a:latin typeface="Cambria"/>
                <a:cs typeface="Cambria"/>
              </a:rPr>
              <a:t> </a:t>
            </a:r>
            <a:r>
              <a:rPr sz="950" dirty="0">
                <a:latin typeface="Trebuchet MS"/>
                <a:cs typeface="Trebuchet MS"/>
              </a:rPr>
              <a:t>is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b="1" dirty="0">
                <a:latin typeface="Trebuchet MS"/>
                <a:cs typeface="Trebuchet MS"/>
              </a:rPr>
              <a:t>meronym</a:t>
            </a:r>
            <a:r>
              <a:rPr sz="950" b="1" spc="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of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1100" i="1" dirty="0">
                <a:latin typeface="Cambria"/>
                <a:cs typeface="Cambria"/>
              </a:rPr>
              <a:t>Y</a:t>
            </a:r>
            <a:r>
              <a:rPr sz="1100" i="1" spc="140" dirty="0">
                <a:latin typeface="Cambria"/>
                <a:cs typeface="Cambria"/>
              </a:rPr>
              <a:t> </a:t>
            </a:r>
            <a:r>
              <a:rPr sz="950" spc="-70" dirty="0">
                <a:latin typeface="Trebuchet MS"/>
                <a:cs typeface="Trebuchet MS"/>
              </a:rPr>
              <a:t>if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spc="-85" dirty="0">
                <a:latin typeface="Trebuchet MS"/>
                <a:cs typeface="Trebuchet MS"/>
              </a:rPr>
              <a:t>it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denotes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part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of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1100" i="1" spc="-25" dirty="0">
                <a:latin typeface="Cambria"/>
                <a:cs typeface="Cambria"/>
              </a:rPr>
              <a:t>Y</a:t>
            </a:r>
            <a:r>
              <a:rPr sz="950" spc="-25" dirty="0">
                <a:latin typeface="Trebuchet MS"/>
                <a:cs typeface="Trebuchet MS"/>
              </a:rPr>
              <a:t>.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inverse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relation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is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b="1" spc="-10" dirty="0">
                <a:latin typeface="Trebuchet MS"/>
                <a:cs typeface="Trebuchet MS"/>
              </a:rPr>
              <a:t>holonymy</a:t>
            </a:r>
            <a:r>
              <a:rPr sz="950" spc="-10" dirty="0">
                <a:latin typeface="Trebuchet MS"/>
                <a:cs typeface="Trebuchet MS"/>
              </a:rPr>
              <a:t>.</a:t>
            </a:r>
            <a:endParaRPr sz="950">
              <a:latin typeface="Trebuchet MS"/>
              <a:cs typeface="Trebuchet MS"/>
            </a:endParaRPr>
          </a:p>
        </p:txBody>
      </p:sp>
      <p:graphicFrame>
        <p:nvGraphicFramePr>
          <p:cNvPr id="15" name="object 15"/>
          <p:cNvGraphicFramePr>
            <a:graphicFrameLocks noGrp="1"/>
          </p:cNvGraphicFramePr>
          <p:nvPr/>
        </p:nvGraphicFramePr>
        <p:xfrm>
          <a:off x="1651063" y="1745716"/>
          <a:ext cx="1300480" cy="8826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743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61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7653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950" spc="-10" dirty="0">
                          <a:latin typeface="Trebuchet MS"/>
                          <a:cs typeface="Trebuchet MS"/>
                        </a:rPr>
                        <a:t>meronym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190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950" spc="-10" dirty="0">
                          <a:latin typeface="Trebuchet MS"/>
                          <a:cs typeface="Trebuchet MS"/>
                        </a:rPr>
                        <a:t>holonym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190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950" spc="-10" dirty="0">
                          <a:latin typeface="Trebuchet MS"/>
                          <a:cs typeface="Trebuchet MS"/>
                        </a:rPr>
                        <a:t>porch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190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950" spc="-10" dirty="0">
                          <a:latin typeface="Trebuchet MS"/>
                          <a:cs typeface="Trebuchet MS"/>
                        </a:rPr>
                        <a:t>house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190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950" spc="-10" dirty="0">
                          <a:latin typeface="Trebuchet MS"/>
                          <a:cs typeface="Trebuchet MS"/>
                        </a:rPr>
                        <a:t>wheel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190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950" spc="-25" dirty="0">
                          <a:latin typeface="Trebuchet MS"/>
                          <a:cs typeface="Trebuchet MS"/>
                        </a:rPr>
                        <a:t>car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190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950" spc="-25" dirty="0">
                          <a:latin typeface="Trebuchet MS"/>
                          <a:cs typeface="Trebuchet MS"/>
                        </a:rPr>
                        <a:t>leg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190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950" spc="-10" dirty="0">
                          <a:latin typeface="Trebuchet MS"/>
                          <a:cs typeface="Trebuchet MS"/>
                        </a:rPr>
                        <a:t>chair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190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950" spc="-20" dirty="0">
                          <a:latin typeface="Trebuchet MS"/>
                          <a:cs typeface="Trebuchet MS"/>
                        </a:rPr>
                        <a:t>nose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190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950" spc="-20" dirty="0">
                          <a:latin typeface="Trebuchet MS"/>
                          <a:cs typeface="Trebuchet MS"/>
                        </a:rPr>
                        <a:t>face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190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1" name="object 21"/>
          <p:cNvSpPr txBox="1"/>
          <p:nvPr/>
        </p:nvSpPr>
        <p:spPr>
          <a:xfrm>
            <a:off x="2016760" y="3339672"/>
            <a:ext cx="57467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6" action="ppaction://hlinksldjump"/>
              </a:rPr>
              <a:t>Lexical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  <a:hlinkClick r:id="rId6" action="ppaction://hlinksldjump"/>
              </a:rPr>
              <a:t>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  <a:hlinkClick r:id="rId6" action="ppaction://hlinksldjump"/>
              </a:rPr>
              <a:t>Semantics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608260" y="3339672"/>
            <a:ext cx="56388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8,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1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23" name="object 23"/>
          <p:cNvSpPr txBox="1">
            <a:spLocks noGrp="1"/>
          </p:cNvSpPr>
          <p:nvPr>
            <p:ph type="sldNum" sz="quarter" idx="4294967295"/>
          </p:nvPr>
        </p:nvSpPr>
        <p:spPr>
          <a:xfrm>
            <a:off x="4292024" y="3339672"/>
            <a:ext cx="262254" cy="116204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0"/>
              </a:spcBef>
            </a:pPr>
            <a:r>
              <a:rPr dirty="0"/>
              <a:t>17</a:t>
            </a:r>
            <a:r>
              <a:rPr spc="-20" dirty="0"/>
              <a:t> </a:t>
            </a:r>
            <a:r>
              <a:rPr spc="-110" dirty="0"/>
              <a:t>/</a:t>
            </a:r>
            <a:r>
              <a:rPr spc="15" dirty="0"/>
              <a:t> </a:t>
            </a:r>
            <a:r>
              <a:rPr spc="-25" dirty="0"/>
              <a:t>18</a:t>
            </a:r>
          </a:p>
        </p:txBody>
      </p:sp>
    </p:spTree>
  </p:cSld>
  <p:clrMapOvr>
    <a:masterClrMapping/>
  </p:clrMapOvr>
  <p:transition>
    <p:cut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7743" y="908939"/>
            <a:ext cx="4432935" cy="82550"/>
          </a:xfrm>
          <a:custGeom>
            <a:avLst/>
            <a:gdLst/>
            <a:ahLst/>
            <a:cxnLst/>
            <a:rect l="l" t="t" r="r" b="b"/>
            <a:pathLst>
              <a:path w="4432935" h="82550">
                <a:moveTo>
                  <a:pt x="4381754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82423"/>
                </a:lnTo>
                <a:lnTo>
                  <a:pt x="4432554" y="82423"/>
                </a:lnTo>
                <a:lnTo>
                  <a:pt x="4432554" y="50800"/>
                </a:lnTo>
                <a:lnTo>
                  <a:pt x="4428545" y="31075"/>
                </a:lnTo>
                <a:lnTo>
                  <a:pt x="4417631" y="14922"/>
                </a:lnTo>
                <a:lnTo>
                  <a:pt x="4401478" y="4008"/>
                </a:lnTo>
                <a:lnTo>
                  <a:pt x="4381754" y="0"/>
                </a:lnTo>
                <a:close/>
              </a:path>
            </a:pathLst>
          </a:custGeom>
          <a:solidFill>
            <a:srgbClr val="3232B2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87743" y="953363"/>
            <a:ext cx="4483735" cy="347345"/>
            <a:chOff x="87743" y="953363"/>
            <a:chExt cx="4483735" cy="34734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8544" y="1198854"/>
              <a:ext cx="101599" cy="1016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9344" y="1186154"/>
              <a:ext cx="4381754" cy="11430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520298" y="959510"/>
              <a:ext cx="50800" cy="239344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87743" y="953363"/>
              <a:ext cx="4432935" cy="296545"/>
            </a:xfrm>
            <a:custGeom>
              <a:avLst/>
              <a:gdLst/>
              <a:ahLst/>
              <a:cxnLst/>
              <a:rect l="l" t="t" r="r" b="b"/>
              <a:pathLst>
                <a:path w="4432935" h="296544">
                  <a:moveTo>
                    <a:pt x="4432554" y="0"/>
                  </a:moveTo>
                  <a:lnTo>
                    <a:pt x="0" y="0"/>
                  </a:lnTo>
                  <a:lnTo>
                    <a:pt x="0" y="245490"/>
                  </a:lnTo>
                  <a:lnTo>
                    <a:pt x="4008" y="265215"/>
                  </a:lnTo>
                  <a:lnTo>
                    <a:pt x="14922" y="281368"/>
                  </a:lnTo>
                  <a:lnTo>
                    <a:pt x="31075" y="292282"/>
                  </a:lnTo>
                  <a:lnTo>
                    <a:pt x="50800" y="296290"/>
                  </a:lnTo>
                  <a:lnTo>
                    <a:pt x="4381754" y="296290"/>
                  </a:lnTo>
                  <a:lnTo>
                    <a:pt x="4401478" y="292282"/>
                  </a:lnTo>
                  <a:lnTo>
                    <a:pt x="4417631" y="281368"/>
                  </a:lnTo>
                  <a:lnTo>
                    <a:pt x="4428545" y="265215"/>
                  </a:lnTo>
                  <a:lnTo>
                    <a:pt x="4432554" y="245490"/>
                  </a:lnTo>
                  <a:lnTo>
                    <a:pt x="4432554" y="0"/>
                  </a:lnTo>
                  <a:close/>
                </a:path>
              </a:pathLst>
            </a:custGeom>
            <a:solidFill>
              <a:srgbClr val="3232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520310" y="997559"/>
              <a:ext cx="0" cy="220345"/>
            </a:xfrm>
            <a:custGeom>
              <a:avLst/>
              <a:gdLst/>
              <a:ahLst/>
              <a:cxnLst/>
              <a:rect l="l" t="t" r="r" b="b"/>
              <a:pathLst>
                <a:path h="220344">
                  <a:moveTo>
                    <a:pt x="0" y="220344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520310" y="984910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520310" y="972210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520310" y="959510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1239672" y="957732"/>
            <a:ext cx="212915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i="1" dirty="0">
                <a:solidFill>
                  <a:srgbClr val="FFFFFF"/>
                </a:solidFill>
                <a:latin typeface="Cambria"/>
                <a:cs typeface="Cambria"/>
              </a:rPr>
              <a:t>Lexical</a:t>
            </a:r>
            <a:r>
              <a:rPr sz="1400" i="1" spc="4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dirty="0">
                <a:solidFill>
                  <a:srgbClr val="FFFFFF"/>
                </a:solidFill>
                <a:latin typeface="Cambria"/>
                <a:cs typeface="Cambria"/>
              </a:rPr>
              <a:t>Semantics</a:t>
            </a:r>
            <a:r>
              <a:rPr sz="1400" i="1" spc="4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dirty="0">
                <a:solidFill>
                  <a:srgbClr val="FFFFFF"/>
                </a:solidFill>
                <a:latin typeface="Cambria"/>
                <a:cs typeface="Cambria"/>
              </a:rPr>
              <a:t>-</a:t>
            </a:r>
            <a:r>
              <a:rPr sz="1400" i="1" spc="4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spc="-45" dirty="0">
                <a:solidFill>
                  <a:srgbClr val="FFFFFF"/>
                </a:solidFill>
                <a:latin typeface="Cambria"/>
                <a:cs typeface="Cambria"/>
              </a:rPr>
              <a:t>WordNet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853082" y="3339672"/>
            <a:ext cx="90233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5" action="ppaction://hlinksldjump"/>
              </a:rPr>
              <a:t>Lexical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  <a:hlinkClick r:id="rId5" action="ppaction://hlinksldjump"/>
              </a:rPr>
              <a:t>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  <a:hlinkClick r:id="rId5" action="ppaction://hlinksldjump"/>
              </a:rPr>
              <a:t>Semantics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  <a:hlinkClick r:id="rId5" action="ppaction://hlinksldjump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5" action="ppaction://hlinksldjump"/>
              </a:rPr>
              <a:t>-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  <a:hlinkClick r:id="rId5" action="ppaction://hlinksldjump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  <a:hlinkClick r:id="rId5" action="ppaction://hlinksldjump"/>
              </a:rPr>
              <a:t>WordNet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646170" y="3339672"/>
            <a:ext cx="56388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8,</a:t>
            </a:r>
            <a:r>
              <a:rPr sz="600" i="1" spc="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2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sldNum" sz="quarter" idx="4294967295"/>
          </p:nvPr>
        </p:nvSpPr>
        <p:spPr>
          <a:xfrm>
            <a:off x="4292024" y="3339672"/>
            <a:ext cx="262254" cy="116204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75565">
              <a:lnSpc>
                <a:spcPct val="100000"/>
              </a:lnSpc>
              <a:spcBef>
                <a:spcPts val="50"/>
              </a:spcBef>
            </a:pPr>
            <a:r>
              <a:rPr dirty="0"/>
              <a:t>1</a:t>
            </a:r>
            <a:r>
              <a:rPr spc="-5" dirty="0"/>
              <a:t> </a:t>
            </a:r>
            <a:r>
              <a:rPr spc="-110" dirty="0"/>
              <a:t>/</a:t>
            </a:r>
            <a:r>
              <a:rPr spc="15" dirty="0"/>
              <a:t> </a:t>
            </a:r>
            <a:r>
              <a:rPr spc="-25" dirty="0"/>
              <a:t>27</a:t>
            </a:r>
          </a:p>
        </p:txBody>
      </p:sp>
    </p:spTree>
  </p:cSld>
  <p:clrMapOvr>
    <a:masterClrMapping/>
  </p:clrMapOvr>
  <p:transition>
    <p:cut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50" dirty="0"/>
              <a:t>WordNet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597" y="1058316"/>
            <a:ext cx="64757" cy="64757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597" y="1268349"/>
            <a:ext cx="64757" cy="6475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597" y="1478381"/>
            <a:ext cx="64757" cy="64757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25729" y="717773"/>
            <a:ext cx="3554729" cy="866140"/>
          </a:xfrm>
          <a:prstGeom prst="rect">
            <a:avLst/>
          </a:prstGeom>
        </p:spPr>
        <p:txBody>
          <a:bodyPr vert="horz" wrap="square" lIns="0" tIns="768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5"/>
              </a:spcBef>
            </a:pPr>
            <a:r>
              <a:rPr sz="950" spc="-10" dirty="0">
                <a:latin typeface="Trebuchet MS"/>
                <a:cs typeface="Trebuchet MS"/>
              </a:rPr>
              <a:t>https://wordnet.princeton.edu/wordnet/</a:t>
            </a:r>
            <a:endParaRPr sz="950">
              <a:latin typeface="Trebuchet MS"/>
              <a:cs typeface="Trebuchet MS"/>
            </a:endParaRPr>
          </a:p>
          <a:p>
            <a:pPr marL="289560">
              <a:lnSpc>
                <a:spcPct val="100000"/>
              </a:lnSpc>
              <a:spcBef>
                <a:spcPts val="515"/>
              </a:spcBef>
            </a:pPr>
            <a:r>
              <a:rPr sz="950" spc="90" dirty="0">
                <a:latin typeface="Trebuchet MS"/>
                <a:cs typeface="Trebuchet MS"/>
              </a:rPr>
              <a:t>A</a:t>
            </a:r>
            <a:r>
              <a:rPr sz="95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hierarchically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organized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lexical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database</a:t>
            </a:r>
            <a:endParaRPr sz="950">
              <a:latin typeface="Trebuchet MS"/>
              <a:cs typeface="Trebuchet MS"/>
            </a:endParaRPr>
          </a:p>
          <a:p>
            <a:pPr marL="289560" marR="5080">
              <a:lnSpc>
                <a:spcPct val="145100"/>
              </a:lnSpc>
            </a:pPr>
            <a:r>
              <a:rPr sz="950" spc="90" dirty="0">
                <a:latin typeface="Trebuchet MS"/>
                <a:cs typeface="Trebuchet MS"/>
              </a:rPr>
              <a:t>A</a:t>
            </a:r>
            <a:r>
              <a:rPr sz="950" spc="4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machine-readable</a:t>
            </a:r>
            <a:r>
              <a:rPr sz="950" spc="5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thesaurus,</a:t>
            </a:r>
            <a:r>
              <a:rPr sz="950" spc="5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and</a:t>
            </a:r>
            <a:r>
              <a:rPr sz="950" spc="4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aspects</a:t>
            </a:r>
            <a:r>
              <a:rPr sz="950" spc="5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of</a:t>
            </a:r>
            <a:r>
              <a:rPr sz="950" spc="5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</a:t>
            </a:r>
            <a:r>
              <a:rPr sz="950" spc="4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dictionary </a:t>
            </a:r>
            <a:r>
              <a:rPr sz="950" dirty="0">
                <a:latin typeface="Trebuchet MS"/>
                <a:cs typeface="Trebuchet MS"/>
              </a:rPr>
              <a:t>Versions</a:t>
            </a:r>
            <a:r>
              <a:rPr sz="950" spc="75" dirty="0">
                <a:latin typeface="Trebuchet MS"/>
                <a:cs typeface="Trebuchet MS"/>
              </a:rPr>
              <a:t> </a:t>
            </a:r>
            <a:r>
              <a:rPr sz="950" spc="-40" dirty="0">
                <a:latin typeface="Trebuchet MS"/>
                <a:cs typeface="Trebuchet MS"/>
              </a:rPr>
              <a:t>for</a:t>
            </a:r>
            <a:r>
              <a:rPr sz="950" spc="7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other</a:t>
            </a:r>
            <a:r>
              <a:rPr sz="950" spc="7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languages</a:t>
            </a:r>
            <a:r>
              <a:rPr sz="950" spc="8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are</a:t>
            </a:r>
            <a:r>
              <a:rPr sz="950" spc="7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under</a:t>
            </a:r>
            <a:r>
              <a:rPr sz="950" spc="7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development</a:t>
            </a:r>
            <a:endParaRPr sz="950">
              <a:latin typeface="Trebuchet MS"/>
              <a:cs typeface="Trebuchet MS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1437639" y="1739524"/>
          <a:ext cx="1732280" cy="8464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467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54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72720">
                <a:tc>
                  <a:txBody>
                    <a:bodyPr/>
                    <a:lstStyle/>
                    <a:p>
                      <a:pPr marL="75565">
                        <a:lnSpc>
                          <a:spcPts val="1125"/>
                        </a:lnSpc>
                      </a:pPr>
                      <a:r>
                        <a:rPr sz="950" dirty="0">
                          <a:latin typeface="Trebuchet MS"/>
                          <a:cs typeface="Trebuchet MS"/>
                        </a:rPr>
                        <a:t>part</a:t>
                      </a:r>
                      <a:r>
                        <a:rPr sz="950" spc="-7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950" dirty="0">
                          <a:latin typeface="Trebuchet MS"/>
                          <a:cs typeface="Trebuchet MS"/>
                        </a:rPr>
                        <a:t>of</a:t>
                      </a:r>
                      <a:r>
                        <a:rPr sz="950" spc="-7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950" spc="-10" dirty="0">
                          <a:latin typeface="Trebuchet MS"/>
                          <a:cs typeface="Trebuchet MS"/>
                        </a:rPr>
                        <a:t>speech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7945" algn="r">
                        <a:lnSpc>
                          <a:spcPts val="1125"/>
                        </a:lnSpc>
                      </a:pPr>
                      <a:r>
                        <a:rPr sz="950" dirty="0">
                          <a:latin typeface="Trebuchet MS"/>
                          <a:cs typeface="Trebuchet MS"/>
                        </a:rPr>
                        <a:t>no.</a:t>
                      </a:r>
                      <a:r>
                        <a:rPr sz="950" spc="-2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950" spc="-10" dirty="0">
                          <a:latin typeface="Trebuchet MS"/>
                          <a:cs typeface="Trebuchet MS"/>
                        </a:rPr>
                        <a:t>synsets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7005"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950" spc="-20" dirty="0">
                          <a:latin typeface="Trebuchet MS"/>
                          <a:cs typeface="Trebuchet MS"/>
                        </a:rPr>
                        <a:t>noun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1905" marB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67945" algn="r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950" spc="-10" dirty="0">
                          <a:latin typeface="Trebuchet MS"/>
                          <a:cs typeface="Trebuchet MS"/>
                        </a:rPr>
                        <a:t>82,115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1905" marB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sz="950" spc="-20" dirty="0">
                          <a:latin typeface="Trebuchet MS"/>
                          <a:cs typeface="Trebuchet MS"/>
                        </a:rPr>
                        <a:t>verb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6985" marB="0"/>
                </a:tc>
                <a:tc>
                  <a:txBody>
                    <a:bodyPr/>
                    <a:lstStyle/>
                    <a:p>
                      <a:pPr marR="67945" algn="r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sz="950" spc="-10" dirty="0">
                          <a:latin typeface="Trebuchet MS"/>
                          <a:cs typeface="Trebuchet MS"/>
                        </a:rPr>
                        <a:t>13,767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6985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2085"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sz="950" spc="-10" dirty="0">
                          <a:latin typeface="Trebuchet MS"/>
                          <a:cs typeface="Trebuchet MS"/>
                        </a:rPr>
                        <a:t>adjective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6985" marB="0"/>
                </a:tc>
                <a:tc>
                  <a:txBody>
                    <a:bodyPr/>
                    <a:lstStyle/>
                    <a:p>
                      <a:pPr marR="67945" algn="r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sz="950" spc="-10" dirty="0">
                          <a:latin typeface="Trebuchet MS"/>
                          <a:cs typeface="Trebuchet MS"/>
                        </a:rPr>
                        <a:t>18,156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6985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3195">
                <a:tc>
                  <a:txBody>
                    <a:bodyPr/>
                    <a:lstStyle/>
                    <a:p>
                      <a:pPr marL="75565">
                        <a:lnSpc>
                          <a:spcPts val="1130"/>
                        </a:lnSpc>
                        <a:spcBef>
                          <a:spcPts val="55"/>
                        </a:spcBef>
                      </a:pPr>
                      <a:r>
                        <a:rPr sz="950" spc="-10" dirty="0">
                          <a:latin typeface="Trebuchet MS"/>
                          <a:cs typeface="Trebuchet MS"/>
                        </a:rPr>
                        <a:t>adverb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6985" marB="0"/>
                </a:tc>
                <a:tc>
                  <a:txBody>
                    <a:bodyPr/>
                    <a:lstStyle/>
                    <a:p>
                      <a:pPr marR="67945" algn="r">
                        <a:lnSpc>
                          <a:spcPts val="1130"/>
                        </a:lnSpc>
                        <a:spcBef>
                          <a:spcPts val="55"/>
                        </a:spcBef>
                      </a:pPr>
                      <a:r>
                        <a:rPr sz="950" spc="-10" dirty="0">
                          <a:latin typeface="Trebuchet MS"/>
                          <a:cs typeface="Trebuchet MS"/>
                        </a:rPr>
                        <a:t>3,621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6985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3" name="object 13"/>
          <p:cNvSpPr txBox="1"/>
          <p:nvPr/>
        </p:nvSpPr>
        <p:spPr>
          <a:xfrm>
            <a:off x="1853082" y="3339672"/>
            <a:ext cx="90233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5" action="ppaction://hlinksldjump"/>
              </a:rPr>
              <a:t>Lexical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  <a:hlinkClick r:id="rId5" action="ppaction://hlinksldjump"/>
              </a:rPr>
              <a:t>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  <a:hlinkClick r:id="rId5" action="ppaction://hlinksldjump"/>
              </a:rPr>
              <a:t>Semantics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  <a:hlinkClick r:id="rId5" action="ppaction://hlinksldjump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5" action="ppaction://hlinksldjump"/>
              </a:rPr>
              <a:t>-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  <a:hlinkClick r:id="rId5" action="ppaction://hlinksldjump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  <a:hlinkClick r:id="rId5" action="ppaction://hlinksldjump"/>
              </a:rPr>
              <a:t>WordNet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646170" y="3339672"/>
            <a:ext cx="56388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8,</a:t>
            </a:r>
            <a:r>
              <a:rPr sz="600" i="1" spc="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2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4294967295"/>
          </p:nvPr>
        </p:nvSpPr>
        <p:spPr>
          <a:xfrm>
            <a:off x="4292024" y="3339672"/>
            <a:ext cx="262254" cy="116204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75565">
              <a:lnSpc>
                <a:spcPct val="100000"/>
              </a:lnSpc>
              <a:spcBef>
                <a:spcPts val="50"/>
              </a:spcBef>
            </a:pPr>
            <a:r>
              <a:rPr dirty="0"/>
              <a:t>2</a:t>
            </a:r>
            <a:r>
              <a:rPr spc="-5" dirty="0"/>
              <a:t> </a:t>
            </a:r>
            <a:r>
              <a:rPr spc="-110" dirty="0"/>
              <a:t>/</a:t>
            </a:r>
            <a:r>
              <a:rPr spc="15" dirty="0"/>
              <a:t> </a:t>
            </a:r>
            <a:r>
              <a:rPr spc="-25" dirty="0"/>
              <a:t>27</a:t>
            </a:r>
          </a:p>
        </p:txBody>
      </p:sp>
    </p:spTree>
  </p:cSld>
  <p:clrMapOvr>
    <a:masterClrMapping/>
  </p:clrMapOvr>
  <p:transition>
    <p:cut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Synsets in </a:t>
            </a:r>
            <a:r>
              <a:rPr spc="-45" dirty="0"/>
              <a:t>WordNet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597" y="1068463"/>
            <a:ext cx="64757" cy="64757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02932" y="937966"/>
            <a:ext cx="4065270" cy="617855"/>
          </a:xfrm>
          <a:prstGeom prst="rect">
            <a:avLst/>
          </a:prstGeom>
        </p:spPr>
        <p:txBody>
          <a:bodyPr vert="horz" wrap="square" lIns="0" tIns="768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5"/>
              </a:spcBef>
            </a:pPr>
            <a:r>
              <a:rPr sz="950" spc="90" dirty="0">
                <a:latin typeface="Trebuchet MS"/>
                <a:cs typeface="Trebuchet MS"/>
              </a:rPr>
              <a:t>A</a:t>
            </a:r>
            <a:r>
              <a:rPr sz="950" spc="45" dirty="0">
                <a:latin typeface="Trebuchet MS"/>
                <a:cs typeface="Trebuchet MS"/>
              </a:rPr>
              <a:t> </a:t>
            </a:r>
            <a:r>
              <a:rPr sz="950" b="1" spc="10" dirty="0">
                <a:latin typeface="Trebuchet MS"/>
                <a:cs typeface="Trebuchet MS"/>
              </a:rPr>
              <a:t>synset</a:t>
            </a:r>
            <a:r>
              <a:rPr sz="950" b="1" spc="45" dirty="0">
                <a:latin typeface="Trebuchet MS"/>
                <a:cs typeface="Trebuchet MS"/>
              </a:rPr>
              <a:t> </a:t>
            </a:r>
            <a:r>
              <a:rPr sz="950" spc="10" dirty="0">
                <a:latin typeface="Trebuchet MS"/>
                <a:cs typeface="Trebuchet MS"/>
              </a:rPr>
              <a:t>is</a:t>
            </a:r>
            <a:r>
              <a:rPr sz="950" spc="50" dirty="0">
                <a:latin typeface="Trebuchet MS"/>
                <a:cs typeface="Trebuchet MS"/>
              </a:rPr>
              <a:t> </a:t>
            </a:r>
            <a:r>
              <a:rPr sz="950" spc="10" dirty="0">
                <a:latin typeface="Trebuchet MS"/>
                <a:cs typeface="Trebuchet MS"/>
              </a:rPr>
              <a:t>a</a:t>
            </a:r>
            <a:r>
              <a:rPr sz="950" spc="45" dirty="0">
                <a:latin typeface="Trebuchet MS"/>
                <a:cs typeface="Trebuchet MS"/>
              </a:rPr>
              <a:t> </a:t>
            </a:r>
            <a:r>
              <a:rPr sz="950" spc="10" dirty="0">
                <a:latin typeface="Trebuchet MS"/>
                <a:cs typeface="Trebuchet MS"/>
              </a:rPr>
              <a:t>set</a:t>
            </a:r>
            <a:r>
              <a:rPr sz="950" spc="4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of</a:t>
            </a:r>
            <a:r>
              <a:rPr sz="950" spc="50" dirty="0">
                <a:latin typeface="Trebuchet MS"/>
                <a:cs typeface="Trebuchet MS"/>
              </a:rPr>
              <a:t> </a:t>
            </a:r>
            <a:r>
              <a:rPr sz="950" spc="10" dirty="0">
                <a:latin typeface="Trebuchet MS"/>
                <a:cs typeface="Trebuchet MS"/>
              </a:rPr>
              <a:t>synonyms</a:t>
            </a:r>
            <a:r>
              <a:rPr sz="950" spc="4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representing</a:t>
            </a:r>
            <a:r>
              <a:rPr sz="950" spc="45" dirty="0">
                <a:latin typeface="Trebuchet MS"/>
                <a:cs typeface="Trebuchet MS"/>
              </a:rPr>
              <a:t> </a:t>
            </a:r>
            <a:r>
              <a:rPr sz="950" spc="10" dirty="0">
                <a:latin typeface="Trebuchet MS"/>
                <a:cs typeface="Trebuchet MS"/>
              </a:rPr>
              <a:t>a</a:t>
            </a:r>
            <a:r>
              <a:rPr sz="950" spc="50" dirty="0">
                <a:latin typeface="Trebuchet MS"/>
                <a:cs typeface="Trebuchet MS"/>
              </a:rPr>
              <a:t> </a:t>
            </a:r>
            <a:r>
              <a:rPr sz="950" spc="45" dirty="0">
                <a:latin typeface="Trebuchet MS"/>
                <a:cs typeface="Trebuchet MS"/>
              </a:rPr>
              <a:t>sense</a:t>
            </a:r>
            <a:endParaRPr sz="950">
              <a:latin typeface="Trebuchet MS"/>
              <a:cs typeface="Trebuchet MS"/>
            </a:endParaRPr>
          </a:p>
          <a:p>
            <a:pPr marL="12700" marR="5080">
              <a:lnSpc>
                <a:spcPct val="118900"/>
              </a:lnSpc>
              <a:spcBef>
                <a:spcPts val="300"/>
              </a:spcBef>
            </a:pPr>
            <a:r>
              <a:rPr sz="950" dirty="0">
                <a:latin typeface="Trebuchet MS"/>
                <a:cs typeface="Trebuchet MS"/>
              </a:rPr>
              <a:t>Example:</a:t>
            </a:r>
            <a:r>
              <a:rPr sz="950" spc="10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chump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spc="70" dirty="0">
                <a:latin typeface="Trebuchet MS"/>
                <a:cs typeface="Trebuchet MS"/>
              </a:rPr>
              <a:t>as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noun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to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mean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spc="-45" dirty="0">
                <a:latin typeface="Trebuchet MS"/>
                <a:cs typeface="Trebuchet MS"/>
              </a:rPr>
              <a:t>‘a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person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who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is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gullible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and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spc="50" dirty="0">
                <a:latin typeface="Trebuchet MS"/>
                <a:cs typeface="Trebuchet MS"/>
              </a:rPr>
              <a:t>easy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spc="-25" dirty="0">
                <a:latin typeface="Trebuchet MS"/>
                <a:cs typeface="Trebuchet MS"/>
              </a:rPr>
              <a:t>to </a:t>
            </a:r>
            <a:r>
              <a:rPr sz="950" dirty="0">
                <a:latin typeface="Trebuchet MS"/>
                <a:cs typeface="Trebuchet MS"/>
              </a:rPr>
              <a:t>take</a:t>
            </a:r>
            <a:r>
              <a:rPr sz="950" spc="4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advantage</a:t>
            </a:r>
            <a:r>
              <a:rPr sz="950" spc="45" dirty="0">
                <a:latin typeface="Trebuchet MS"/>
                <a:cs typeface="Trebuchet MS"/>
              </a:rPr>
              <a:t> </a:t>
            </a:r>
            <a:r>
              <a:rPr sz="950" spc="-25" dirty="0">
                <a:latin typeface="Trebuchet MS"/>
                <a:cs typeface="Trebuchet MS"/>
              </a:rPr>
              <a:t>of’</a:t>
            </a:r>
            <a:endParaRPr sz="950">
              <a:latin typeface="Trebuchet MS"/>
              <a:cs typeface="Trebuchet MS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597" y="1278496"/>
            <a:ext cx="64757" cy="64757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2307" y="1687512"/>
            <a:ext cx="3528059" cy="26670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1597" y="2157780"/>
            <a:ext cx="64757" cy="64757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402932" y="2027270"/>
            <a:ext cx="3344545" cy="445770"/>
          </a:xfrm>
          <a:prstGeom prst="rect">
            <a:avLst/>
          </a:prstGeom>
        </p:spPr>
        <p:txBody>
          <a:bodyPr vert="horz" wrap="square" lIns="0" tIns="768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5"/>
              </a:spcBef>
            </a:pPr>
            <a:r>
              <a:rPr sz="950" spc="55" dirty="0">
                <a:latin typeface="Trebuchet MS"/>
                <a:cs typeface="Trebuchet MS"/>
              </a:rPr>
              <a:t>Each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of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these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spc="60" dirty="0">
                <a:latin typeface="Trebuchet MS"/>
                <a:cs typeface="Trebuchet MS"/>
              </a:rPr>
              <a:t>senses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share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this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same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gloss.</a:t>
            </a:r>
            <a:endParaRPr sz="9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sz="950" dirty="0">
                <a:latin typeface="Trebuchet MS"/>
                <a:cs typeface="Trebuchet MS"/>
              </a:rPr>
              <a:t>For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WordNet,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meaning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of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this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spc="55" dirty="0">
                <a:latin typeface="Trebuchet MS"/>
                <a:cs typeface="Trebuchet MS"/>
              </a:rPr>
              <a:t>sense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of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chump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is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this</a:t>
            </a:r>
            <a:r>
              <a:rPr sz="950" spc="-10" dirty="0">
                <a:latin typeface="Trebuchet MS"/>
                <a:cs typeface="Trebuchet MS"/>
              </a:rPr>
              <a:t> list.</a:t>
            </a:r>
            <a:endParaRPr sz="950">
              <a:latin typeface="Trebuchet MS"/>
              <a:cs typeface="Trebuchet MS"/>
            </a:endParaRPr>
          </a:p>
        </p:txBody>
      </p:sp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81597" y="2367813"/>
            <a:ext cx="64757" cy="64757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1853082" y="3339672"/>
            <a:ext cx="90233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7" action="ppaction://hlinksldjump"/>
              </a:rPr>
              <a:t>Lexical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  <a:hlinkClick r:id="rId7" action="ppaction://hlinksldjump"/>
              </a:rPr>
              <a:t>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  <a:hlinkClick r:id="rId7" action="ppaction://hlinksldjump"/>
              </a:rPr>
              <a:t>Semantics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  <a:hlinkClick r:id="rId7" action="ppaction://hlinksldjump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7" action="ppaction://hlinksldjump"/>
              </a:rPr>
              <a:t>-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  <a:hlinkClick r:id="rId7" action="ppaction://hlinksldjump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  <a:hlinkClick r:id="rId7" action="ppaction://hlinksldjump"/>
              </a:rPr>
              <a:t>WordNet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646170" y="3339672"/>
            <a:ext cx="56388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8,</a:t>
            </a:r>
            <a:r>
              <a:rPr sz="600" i="1" spc="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2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4294967295"/>
          </p:nvPr>
        </p:nvSpPr>
        <p:spPr>
          <a:xfrm>
            <a:off x="4292024" y="3339672"/>
            <a:ext cx="262254" cy="116204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75565">
              <a:lnSpc>
                <a:spcPct val="100000"/>
              </a:lnSpc>
              <a:spcBef>
                <a:spcPts val="50"/>
              </a:spcBef>
            </a:pPr>
            <a:r>
              <a:rPr dirty="0"/>
              <a:t>3</a:t>
            </a:r>
            <a:r>
              <a:rPr spc="-5" dirty="0"/>
              <a:t> </a:t>
            </a:r>
            <a:r>
              <a:rPr spc="-110" dirty="0"/>
              <a:t>/</a:t>
            </a:r>
            <a:r>
              <a:rPr spc="15" dirty="0"/>
              <a:t> </a:t>
            </a:r>
            <a:r>
              <a:rPr spc="-25" dirty="0"/>
              <a:t>27</a:t>
            </a:r>
          </a:p>
        </p:txBody>
      </p:sp>
    </p:spTree>
  </p:cSld>
  <p:clrMapOvr>
    <a:masterClrMapping/>
  </p:clrMapOvr>
  <p:transition>
    <p:cut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38"/>
            <a:ext cx="4608195" cy="351790"/>
          </a:xfrm>
          <a:custGeom>
            <a:avLst/>
            <a:gdLst/>
            <a:ahLst/>
            <a:cxnLst/>
            <a:rect l="l" t="t" r="r" b="b"/>
            <a:pathLst>
              <a:path w="4608195" h="351790">
                <a:moveTo>
                  <a:pt x="4607941" y="0"/>
                </a:moveTo>
                <a:lnTo>
                  <a:pt x="0" y="0"/>
                </a:lnTo>
                <a:lnTo>
                  <a:pt x="0" y="351409"/>
                </a:lnTo>
                <a:lnTo>
                  <a:pt x="4607941" y="351409"/>
                </a:lnTo>
                <a:lnTo>
                  <a:pt x="4607941" y="0"/>
                </a:lnTo>
                <a:close/>
              </a:path>
            </a:pathLst>
          </a:custGeom>
          <a:solidFill>
            <a:srgbClr val="3232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5250" y="60502"/>
            <a:ext cx="132715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i="1" spc="-10" dirty="0">
                <a:solidFill>
                  <a:srgbClr val="FFFFFF"/>
                </a:solidFill>
                <a:latin typeface="Cambria"/>
                <a:cs typeface="Cambria"/>
              </a:rPr>
              <a:t>lemma</a:t>
            </a:r>
            <a:r>
              <a:rPr sz="1400" i="1" spc="4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dirty="0">
                <a:solidFill>
                  <a:srgbClr val="FFFFFF"/>
                </a:solidFill>
                <a:latin typeface="Cambria"/>
                <a:cs typeface="Cambria"/>
              </a:rPr>
              <a:t>vs.</a:t>
            </a:r>
            <a:r>
              <a:rPr sz="1400" i="1" spc="1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spc="-10" dirty="0">
                <a:solidFill>
                  <a:srgbClr val="FFFFFF"/>
                </a:solidFill>
                <a:latin typeface="Cambria"/>
                <a:cs typeface="Cambria"/>
              </a:rPr>
              <a:t>synsets</a:t>
            </a:r>
            <a:endParaRPr sz="1400">
              <a:latin typeface="Cambria"/>
              <a:cs typeface="Cambri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2843" y="687730"/>
            <a:ext cx="2987039" cy="2217420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1853082" y="3339672"/>
            <a:ext cx="90233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Lexical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Semantics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-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WordNet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646170" y="3339672"/>
            <a:ext cx="56388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8,</a:t>
            </a:r>
            <a:r>
              <a:rPr sz="600" i="1" spc="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2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4294967295"/>
          </p:nvPr>
        </p:nvSpPr>
        <p:spPr>
          <a:xfrm>
            <a:off x="4292024" y="3339672"/>
            <a:ext cx="262254" cy="116204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75565">
              <a:lnSpc>
                <a:spcPct val="100000"/>
              </a:lnSpc>
              <a:spcBef>
                <a:spcPts val="50"/>
              </a:spcBef>
            </a:pPr>
            <a:r>
              <a:rPr dirty="0"/>
              <a:t>4</a:t>
            </a:r>
            <a:r>
              <a:rPr spc="-5" dirty="0"/>
              <a:t> </a:t>
            </a:r>
            <a:r>
              <a:rPr spc="-110" dirty="0"/>
              <a:t>/</a:t>
            </a:r>
            <a:r>
              <a:rPr spc="15" dirty="0"/>
              <a:t> </a:t>
            </a:r>
            <a:r>
              <a:rPr spc="-25" dirty="0"/>
              <a:t>27</a:t>
            </a:r>
          </a:p>
        </p:txBody>
      </p:sp>
    </p:spTree>
  </p:cSld>
  <p:clrMapOvr>
    <a:masterClrMapping/>
  </p:clrMapOvr>
  <p:transition>
    <p:cut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38"/>
            <a:ext cx="4608195" cy="351790"/>
          </a:xfrm>
          <a:custGeom>
            <a:avLst/>
            <a:gdLst/>
            <a:ahLst/>
            <a:cxnLst/>
            <a:rect l="l" t="t" r="r" b="b"/>
            <a:pathLst>
              <a:path w="4608195" h="351790">
                <a:moveTo>
                  <a:pt x="4607941" y="0"/>
                </a:moveTo>
                <a:lnTo>
                  <a:pt x="0" y="0"/>
                </a:lnTo>
                <a:lnTo>
                  <a:pt x="0" y="351409"/>
                </a:lnTo>
                <a:lnTo>
                  <a:pt x="4607941" y="351409"/>
                </a:lnTo>
                <a:lnTo>
                  <a:pt x="4607941" y="0"/>
                </a:lnTo>
                <a:close/>
              </a:path>
            </a:pathLst>
          </a:custGeom>
          <a:solidFill>
            <a:srgbClr val="3232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5250" y="60502"/>
            <a:ext cx="179260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i="1" dirty="0">
                <a:solidFill>
                  <a:srgbClr val="FFFFFF"/>
                </a:solidFill>
                <a:latin typeface="Cambria"/>
                <a:cs typeface="Cambria"/>
              </a:rPr>
              <a:t>All</a:t>
            </a:r>
            <a:r>
              <a:rPr sz="1400" i="1" spc="5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spc="-10" dirty="0">
                <a:solidFill>
                  <a:srgbClr val="FFFFFF"/>
                </a:solidFill>
                <a:latin typeface="Cambria"/>
                <a:cs typeface="Cambria"/>
              </a:rPr>
              <a:t>relations</a:t>
            </a:r>
            <a:r>
              <a:rPr sz="1400" i="1" spc="5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dirty="0">
                <a:solidFill>
                  <a:srgbClr val="FFFFFF"/>
                </a:solidFill>
                <a:latin typeface="Cambria"/>
                <a:cs typeface="Cambria"/>
              </a:rPr>
              <a:t>in</a:t>
            </a:r>
            <a:r>
              <a:rPr sz="1400" i="1" spc="5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spc="-45" dirty="0">
                <a:solidFill>
                  <a:srgbClr val="FFFFFF"/>
                </a:solidFill>
                <a:latin typeface="Cambria"/>
                <a:cs typeface="Cambria"/>
              </a:rPr>
              <a:t>WordNet</a:t>
            </a:r>
            <a:endParaRPr sz="1400">
              <a:latin typeface="Cambria"/>
              <a:cs typeface="Cambri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22833" y="587260"/>
            <a:ext cx="3128010" cy="2449829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1853082" y="3339672"/>
            <a:ext cx="90233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Lexical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Semantics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-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WordNet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646170" y="3339672"/>
            <a:ext cx="56388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8,</a:t>
            </a:r>
            <a:r>
              <a:rPr sz="600" i="1" spc="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2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4294967295"/>
          </p:nvPr>
        </p:nvSpPr>
        <p:spPr>
          <a:xfrm>
            <a:off x="4292024" y="3339672"/>
            <a:ext cx="262254" cy="116204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75565">
              <a:lnSpc>
                <a:spcPct val="100000"/>
              </a:lnSpc>
              <a:spcBef>
                <a:spcPts val="50"/>
              </a:spcBef>
            </a:pPr>
            <a:r>
              <a:rPr dirty="0"/>
              <a:t>5</a:t>
            </a:r>
            <a:r>
              <a:rPr spc="-5" dirty="0"/>
              <a:t> </a:t>
            </a:r>
            <a:r>
              <a:rPr spc="-110" dirty="0"/>
              <a:t>/</a:t>
            </a:r>
            <a:r>
              <a:rPr spc="15" dirty="0"/>
              <a:t> </a:t>
            </a:r>
            <a:r>
              <a:rPr spc="-25" dirty="0"/>
              <a:t>27</a:t>
            </a:r>
          </a:p>
        </p:txBody>
      </p:sp>
    </p:spTree>
  </p:cSld>
  <p:clrMapOvr>
    <a:masterClrMapping/>
  </p:clrMapOvr>
  <p:transition>
    <p:cut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38"/>
            <a:ext cx="4608195" cy="351790"/>
          </a:xfrm>
          <a:custGeom>
            <a:avLst/>
            <a:gdLst/>
            <a:ahLst/>
            <a:cxnLst/>
            <a:rect l="l" t="t" r="r" b="b"/>
            <a:pathLst>
              <a:path w="4608195" h="351790">
                <a:moveTo>
                  <a:pt x="4607941" y="0"/>
                </a:moveTo>
                <a:lnTo>
                  <a:pt x="0" y="0"/>
                </a:lnTo>
                <a:lnTo>
                  <a:pt x="0" y="351409"/>
                </a:lnTo>
                <a:lnTo>
                  <a:pt x="4607941" y="351409"/>
                </a:lnTo>
                <a:lnTo>
                  <a:pt x="4607941" y="0"/>
                </a:lnTo>
                <a:close/>
              </a:path>
            </a:pathLst>
          </a:custGeom>
          <a:solidFill>
            <a:srgbClr val="3232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5250" y="60502"/>
            <a:ext cx="241427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i="1" spc="-50" dirty="0">
                <a:solidFill>
                  <a:srgbClr val="FFFFFF"/>
                </a:solidFill>
                <a:latin typeface="Cambria"/>
                <a:cs typeface="Cambria"/>
              </a:rPr>
              <a:t>Wordnet</a:t>
            </a:r>
            <a:r>
              <a:rPr sz="1400" i="1" spc="-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dirty="0">
                <a:solidFill>
                  <a:srgbClr val="FFFFFF"/>
                </a:solidFill>
                <a:latin typeface="Cambria"/>
                <a:cs typeface="Cambria"/>
              </a:rPr>
              <a:t>noun</a:t>
            </a:r>
            <a:r>
              <a:rPr sz="1400" i="1" spc="-4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dirty="0">
                <a:solidFill>
                  <a:srgbClr val="FFFFFF"/>
                </a:solidFill>
                <a:latin typeface="Cambria"/>
                <a:cs typeface="Cambria"/>
              </a:rPr>
              <a:t>and</a:t>
            </a:r>
            <a:r>
              <a:rPr sz="1400" i="1" spc="-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dirty="0">
                <a:solidFill>
                  <a:srgbClr val="FFFFFF"/>
                </a:solidFill>
                <a:latin typeface="Cambria"/>
                <a:cs typeface="Cambria"/>
              </a:rPr>
              <a:t>verb</a:t>
            </a:r>
            <a:r>
              <a:rPr sz="1400" i="1" spc="-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spc="-10" dirty="0">
                <a:solidFill>
                  <a:srgbClr val="FFFFFF"/>
                </a:solidFill>
                <a:latin typeface="Cambria"/>
                <a:cs typeface="Cambria"/>
              </a:rPr>
              <a:t>relations</a:t>
            </a:r>
            <a:endParaRPr sz="1400">
              <a:latin typeface="Cambria"/>
              <a:cs typeface="Cambri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2778" y="732650"/>
            <a:ext cx="4057649" cy="120396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7538" y="2386279"/>
            <a:ext cx="4076700" cy="613410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1936115" y="3339672"/>
            <a:ext cx="90233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4" action="ppaction://hlinksldjump"/>
              </a:rPr>
              <a:t>Lexical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  <a:hlinkClick r:id="rId4" action="ppaction://hlinksldjump"/>
              </a:rPr>
              <a:t>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  <a:hlinkClick r:id="rId4" action="ppaction://hlinksldjump"/>
              </a:rPr>
              <a:t>Semantics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  <a:hlinkClick r:id="rId4" action="ppaction://hlinksldjump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4" action="ppaction://hlinksldjump"/>
              </a:rPr>
              <a:t>-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  <a:hlinkClick r:id="rId4" action="ppaction://hlinksldjump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  <a:hlinkClick r:id="rId4" action="ppaction://hlinksldjump"/>
              </a:rPr>
              <a:t>WordNet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646170" y="3339672"/>
            <a:ext cx="56388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8,</a:t>
            </a:r>
            <a:r>
              <a:rPr sz="600" i="1" spc="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2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4294967295"/>
          </p:nvPr>
        </p:nvSpPr>
        <p:spPr>
          <a:xfrm>
            <a:off x="4292024" y="3339672"/>
            <a:ext cx="262254" cy="116204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75565">
              <a:lnSpc>
                <a:spcPct val="100000"/>
              </a:lnSpc>
              <a:spcBef>
                <a:spcPts val="50"/>
              </a:spcBef>
            </a:pPr>
            <a:r>
              <a:rPr dirty="0"/>
              <a:t>6</a:t>
            </a:r>
            <a:r>
              <a:rPr spc="-5" dirty="0"/>
              <a:t> </a:t>
            </a:r>
            <a:r>
              <a:rPr spc="-110" dirty="0"/>
              <a:t>/</a:t>
            </a:r>
            <a:r>
              <a:rPr spc="15" dirty="0"/>
              <a:t> </a:t>
            </a:r>
            <a:r>
              <a:rPr spc="-25" dirty="0"/>
              <a:t>27</a:t>
            </a:r>
          </a:p>
        </p:txBody>
      </p:sp>
    </p:spTree>
  </p:cSld>
  <p:clrMapOvr>
    <a:masterClrMapping/>
  </p:clrMapOvr>
  <p:transition>
    <p:cut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38"/>
            <a:ext cx="4608195" cy="351790"/>
          </a:xfrm>
          <a:custGeom>
            <a:avLst/>
            <a:gdLst/>
            <a:ahLst/>
            <a:cxnLst/>
            <a:rect l="l" t="t" r="r" b="b"/>
            <a:pathLst>
              <a:path w="4608195" h="351790">
                <a:moveTo>
                  <a:pt x="4607941" y="0"/>
                </a:moveTo>
                <a:lnTo>
                  <a:pt x="0" y="0"/>
                </a:lnTo>
                <a:lnTo>
                  <a:pt x="0" y="351409"/>
                </a:lnTo>
                <a:lnTo>
                  <a:pt x="4607941" y="351409"/>
                </a:lnTo>
                <a:lnTo>
                  <a:pt x="4607941" y="0"/>
                </a:lnTo>
                <a:close/>
              </a:path>
            </a:pathLst>
          </a:custGeom>
          <a:solidFill>
            <a:srgbClr val="3232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5250" y="60502"/>
            <a:ext cx="156400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i="1" spc="-45" dirty="0">
                <a:solidFill>
                  <a:srgbClr val="FFFFFF"/>
                </a:solidFill>
                <a:latin typeface="Cambria"/>
                <a:cs typeface="Cambria"/>
              </a:rPr>
              <a:t>WordNet</a:t>
            </a:r>
            <a:r>
              <a:rPr sz="1400" i="1" spc="-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spc="-10" dirty="0">
                <a:solidFill>
                  <a:srgbClr val="FFFFFF"/>
                </a:solidFill>
                <a:latin typeface="Cambria"/>
                <a:cs typeface="Cambria"/>
              </a:rPr>
              <a:t>Hierarchies</a:t>
            </a:r>
            <a:endParaRPr sz="1400">
              <a:latin typeface="Cambria"/>
              <a:cs typeface="Cambri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6994" y="515391"/>
            <a:ext cx="3332479" cy="154432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35901" y="2358491"/>
            <a:ext cx="2153919" cy="848359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1853082" y="3339672"/>
            <a:ext cx="90233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4" action="ppaction://hlinksldjump"/>
              </a:rPr>
              <a:t>Lexical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  <a:hlinkClick r:id="rId4" action="ppaction://hlinksldjump"/>
              </a:rPr>
              <a:t>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  <a:hlinkClick r:id="rId4" action="ppaction://hlinksldjump"/>
              </a:rPr>
              <a:t>Semantics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  <a:hlinkClick r:id="rId4" action="ppaction://hlinksldjump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4" action="ppaction://hlinksldjump"/>
              </a:rPr>
              <a:t>-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  <a:hlinkClick r:id="rId4" action="ppaction://hlinksldjump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  <a:hlinkClick r:id="rId4" action="ppaction://hlinksldjump"/>
              </a:rPr>
              <a:t>WordNet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646170" y="3339672"/>
            <a:ext cx="56388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8,</a:t>
            </a:r>
            <a:r>
              <a:rPr sz="600" i="1" spc="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2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4294967295"/>
          </p:nvPr>
        </p:nvSpPr>
        <p:spPr>
          <a:xfrm>
            <a:off x="4292024" y="3339672"/>
            <a:ext cx="262254" cy="116204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75565">
              <a:lnSpc>
                <a:spcPct val="100000"/>
              </a:lnSpc>
              <a:spcBef>
                <a:spcPts val="50"/>
              </a:spcBef>
            </a:pPr>
            <a:r>
              <a:rPr dirty="0"/>
              <a:t>7</a:t>
            </a:r>
            <a:r>
              <a:rPr spc="-5" dirty="0"/>
              <a:t> </a:t>
            </a:r>
            <a:r>
              <a:rPr spc="-110" dirty="0"/>
              <a:t>/</a:t>
            </a:r>
            <a:r>
              <a:rPr spc="15" dirty="0"/>
              <a:t> </a:t>
            </a:r>
            <a:r>
              <a:rPr spc="-25" dirty="0"/>
              <a:t>27</a:t>
            </a:r>
          </a:p>
        </p:txBody>
      </p:sp>
    </p:spTree>
  </p:cSld>
  <p:clrMapOvr>
    <a:masterClrMapping/>
  </p:clrMapOvr>
  <p:transition>
    <p:cut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38"/>
            <a:ext cx="4608195" cy="351790"/>
          </a:xfrm>
          <a:custGeom>
            <a:avLst/>
            <a:gdLst/>
            <a:ahLst/>
            <a:cxnLst/>
            <a:rect l="l" t="t" r="r" b="b"/>
            <a:pathLst>
              <a:path w="4608195" h="351790">
                <a:moveTo>
                  <a:pt x="4607941" y="0"/>
                </a:moveTo>
                <a:lnTo>
                  <a:pt x="0" y="0"/>
                </a:lnTo>
                <a:lnTo>
                  <a:pt x="0" y="351409"/>
                </a:lnTo>
                <a:lnTo>
                  <a:pt x="4607941" y="351409"/>
                </a:lnTo>
                <a:lnTo>
                  <a:pt x="4607941" y="0"/>
                </a:lnTo>
                <a:close/>
              </a:path>
            </a:pathLst>
          </a:custGeom>
          <a:solidFill>
            <a:srgbClr val="3232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5250" y="60502"/>
            <a:ext cx="117157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i="1" spc="-60" dirty="0">
                <a:solidFill>
                  <a:srgbClr val="FFFFFF"/>
                </a:solidFill>
                <a:latin typeface="Cambria"/>
                <a:cs typeface="Cambria"/>
              </a:rPr>
              <a:t>Word</a:t>
            </a:r>
            <a:r>
              <a:rPr sz="1400" i="1" spc="-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spc="-10" dirty="0">
                <a:solidFill>
                  <a:srgbClr val="FFFFFF"/>
                </a:solidFill>
                <a:latin typeface="Cambria"/>
                <a:cs typeface="Cambria"/>
              </a:rPr>
              <a:t>Similarity</a:t>
            </a:r>
            <a:endParaRPr sz="1400">
              <a:latin typeface="Cambria"/>
              <a:cs typeface="Cambri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597" y="743610"/>
            <a:ext cx="64757" cy="64757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377532" y="631557"/>
            <a:ext cx="2392680" cy="392430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59"/>
              </a:spcBef>
            </a:pPr>
            <a:r>
              <a:rPr sz="950" spc="10" dirty="0">
                <a:latin typeface="Trebuchet MS"/>
                <a:cs typeface="Trebuchet MS"/>
              </a:rPr>
              <a:t>Synonymy</a:t>
            </a:r>
            <a:r>
              <a:rPr sz="950" spc="50" dirty="0">
                <a:latin typeface="Trebuchet MS"/>
                <a:cs typeface="Trebuchet MS"/>
              </a:rPr>
              <a:t> </a:t>
            </a:r>
            <a:r>
              <a:rPr sz="950" spc="10" dirty="0">
                <a:latin typeface="Trebuchet MS"/>
                <a:cs typeface="Trebuchet MS"/>
              </a:rPr>
              <a:t>is</a:t>
            </a:r>
            <a:r>
              <a:rPr sz="950" spc="50" dirty="0">
                <a:latin typeface="Trebuchet MS"/>
                <a:cs typeface="Trebuchet MS"/>
              </a:rPr>
              <a:t> </a:t>
            </a:r>
            <a:r>
              <a:rPr sz="950" spc="10" dirty="0">
                <a:latin typeface="Trebuchet MS"/>
                <a:cs typeface="Trebuchet MS"/>
              </a:rPr>
              <a:t>a</a:t>
            </a:r>
            <a:r>
              <a:rPr sz="950" spc="55" dirty="0">
                <a:latin typeface="Trebuchet MS"/>
                <a:cs typeface="Trebuchet MS"/>
              </a:rPr>
              <a:t> </a:t>
            </a:r>
            <a:r>
              <a:rPr sz="950" spc="10" dirty="0">
                <a:latin typeface="Trebuchet MS"/>
                <a:cs typeface="Trebuchet MS"/>
              </a:rPr>
              <a:t>binary</a:t>
            </a:r>
            <a:r>
              <a:rPr sz="950" spc="5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relation</a:t>
            </a:r>
            <a:endParaRPr sz="950">
              <a:latin typeface="Trebuchet MS"/>
              <a:cs typeface="Trebuchet MS"/>
            </a:endParaRPr>
          </a:p>
          <a:p>
            <a:pPr marL="313690" indent="-116205">
              <a:lnSpc>
                <a:spcPct val="100000"/>
              </a:lnSpc>
              <a:spcBef>
                <a:spcPts val="305"/>
              </a:spcBef>
              <a:buClr>
                <a:srgbClr val="3232B2"/>
              </a:buClr>
              <a:buSzPct val="66666"/>
              <a:buFont typeface="Lucida Sans Unicode"/>
              <a:buChar char="►"/>
              <a:tabLst>
                <a:tab pos="313690" algn="l"/>
              </a:tabLst>
            </a:pPr>
            <a:r>
              <a:rPr sz="900" spc="-45" dirty="0">
                <a:latin typeface="Trebuchet MS"/>
                <a:cs typeface="Trebuchet MS"/>
              </a:rPr>
              <a:t>Two</a:t>
            </a:r>
            <a:r>
              <a:rPr sz="900" spc="5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words</a:t>
            </a:r>
            <a:r>
              <a:rPr sz="900" spc="5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are</a:t>
            </a:r>
            <a:r>
              <a:rPr sz="900" spc="5" dirty="0">
                <a:latin typeface="Trebuchet MS"/>
                <a:cs typeface="Trebuchet MS"/>
              </a:rPr>
              <a:t> </a:t>
            </a:r>
            <a:r>
              <a:rPr sz="900" spc="-45" dirty="0">
                <a:latin typeface="Trebuchet MS"/>
                <a:cs typeface="Trebuchet MS"/>
              </a:rPr>
              <a:t>either</a:t>
            </a:r>
            <a:r>
              <a:rPr sz="900" spc="5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synonymous</a:t>
            </a:r>
            <a:r>
              <a:rPr sz="900" spc="5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or</a:t>
            </a:r>
            <a:r>
              <a:rPr sz="900" spc="10" dirty="0">
                <a:latin typeface="Trebuchet MS"/>
                <a:cs typeface="Trebuchet MS"/>
              </a:rPr>
              <a:t> </a:t>
            </a:r>
            <a:r>
              <a:rPr sz="900" spc="-25" dirty="0">
                <a:latin typeface="Trebuchet MS"/>
                <a:cs typeface="Trebuchet MS"/>
              </a:rPr>
              <a:t>not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853082" y="3339672"/>
            <a:ext cx="90233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Lexical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Semantics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-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WordNet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646170" y="3339672"/>
            <a:ext cx="56388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8,</a:t>
            </a:r>
            <a:r>
              <a:rPr sz="600" i="1" spc="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2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355385" y="3339672"/>
            <a:ext cx="19875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8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10" dirty="0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</a:rPr>
              <a:t>27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E40400A4-EBCC-47B8-82E5-ABDBEF9AEE1C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4292024" y="3339672"/>
            <a:ext cx="262254" cy="116204"/>
          </a:xfrm>
          <a:prstGeom prst="rect">
            <a:avLst/>
          </a:prstGeom>
        </p:spPr>
        <p:txBody>
          <a:bodyPr/>
          <a:lstStyle/>
          <a:p>
            <a:pPr marL="75565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lang="en-IN" smtClean="0"/>
              <a:t>41</a:t>
            </a:fld>
            <a:r>
              <a:rPr lang="en-IN" spc="-5"/>
              <a:t> </a:t>
            </a:r>
            <a:r>
              <a:rPr lang="en-IN" spc="-110"/>
              <a:t>/</a:t>
            </a:r>
            <a:r>
              <a:rPr lang="en-IN" spc="15"/>
              <a:t> </a:t>
            </a:r>
            <a:r>
              <a:rPr lang="en-IN" spc="-25"/>
              <a:t>18</a:t>
            </a:r>
            <a:endParaRPr lang="en-IN" spc="-25" dirty="0"/>
          </a:p>
        </p:txBody>
      </p:sp>
    </p:spTree>
  </p:cSld>
  <p:clrMapOvr>
    <a:masterClrMapping/>
  </p:clrMapOvr>
  <p:transition>
    <p:cut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60" dirty="0"/>
              <a:t>Word</a:t>
            </a:r>
            <a:r>
              <a:rPr spc="-5" dirty="0"/>
              <a:t> </a:t>
            </a:r>
            <a:r>
              <a:rPr spc="-10" dirty="0"/>
              <a:t>Similarity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597" y="743610"/>
            <a:ext cx="64757" cy="64757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77532" y="631557"/>
            <a:ext cx="2392680" cy="911225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59"/>
              </a:spcBef>
            </a:pPr>
            <a:r>
              <a:rPr sz="950" spc="10" dirty="0">
                <a:latin typeface="Trebuchet MS"/>
                <a:cs typeface="Trebuchet MS"/>
              </a:rPr>
              <a:t>Synonymy</a:t>
            </a:r>
            <a:r>
              <a:rPr sz="950" spc="50" dirty="0">
                <a:latin typeface="Trebuchet MS"/>
                <a:cs typeface="Trebuchet MS"/>
              </a:rPr>
              <a:t> </a:t>
            </a:r>
            <a:r>
              <a:rPr sz="950" spc="10" dirty="0">
                <a:latin typeface="Trebuchet MS"/>
                <a:cs typeface="Trebuchet MS"/>
              </a:rPr>
              <a:t>is</a:t>
            </a:r>
            <a:r>
              <a:rPr sz="950" spc="50" dirty="0">
                <a:latin typeface="Trebuchet MS"/>
                <a:cs typeface="Trebuchet MS"/>
              </a:rPr>
              <a:t> </a:t>
            </a:r>
            <a:r>
              <a:rPr sz="950" spc="10" dirty="0">
                <a:latin typeface="Trebuchet MS"/>
                <a:cs typeface="Trebuchet MS"/>
              </a:rPr>
              <a:t>a</a:t>
            </a:r>
            <a:r>
              <a:rPr sz="950" spc="55" dirty="0">
                <a:latin typeface="Trebuchet MS"/>
                <a:cs typeface="Trebuchet MS"/>
              </a:rPr>
              <a:t> </a:t>
            </a:r>
            <a:r>
              <a:rPr sz="950" spc="10" dirty="0">
                <a:latin typeface="Trebuchet MS"/>
                <a:cs typeface="Trebuchet MS"/>
              </a:rPr>
              <a:t>binary</a:t>
            </a:r>
            <a:r>
              <a:rPr sz="950" spc="5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relation</a:t>
            </a:r>
            <a:endParaRPr sz="950">
              <a:latin typeface="Trebuchet MS"/>
              <a:cs typeface="Trebuchet MS"/>
            </a:endParaRPr>
          </a:p>
          <a:p>
            <a:pPr marL="313690" indent="-116205">
              <a:lnSpc>
                <a:spcPct val="100000"/>
              </a:lnSpc>
              <a:spcBef>
                <a:spcPts val="305"/>
              </a:spcBef>
              <a:buClr>
                <a:srgbClr val="3232B2"/>
              </a:buClr>
              <a:buSzPct val="66666"/>
              <a:buFont typeface="Lucida Sans Unicode"/>
              <a:buChar char="►"/>
              <a:tabLst>
                <a:tab pos="313690" algn="l"/>
              </a:tabLst>
            </a:pPr>
            <a:r>
              <a:rPr sz="900" spc="-45" dirty="0">
                <a:latin typeface="Trebuchet MS"/>
                <a:cs typeface="Trebuchet MS"/>
              </a:rPr>
              <a:t>Two</a:t>
            </a:r>
            <a:r>
              <a:rPr sz="900" spc="5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words</a:t>
            </a:r>
            <a:r>
              <a:rPr sz="900" spc="5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are</a:t>
            </a:r>
            <a:r>
              <a:rPr sz="900" spc="5" dirty="0">
                <a:latin typeface="Trebuchet MS"/>
                <a:cs typeface="Trebuchet MS"/>
              </a:rPr>
              <a:t> </a:t>
            </a:r>
            <a:r>
              <a:rPr sz="900" spc="-45" dirty="0">
                <a:latin typeface="Trebuchet MS"/>
                <a:cs typeface="Trebuchet MS"/>
              </a:rPr>
              <a:t>either</a:t>
            </a:r>
            <a:r>
              <a:rPr sz="900" spc="5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synonymous</a:t>
            </a:r>
            <a:r>
              <a:rPr sz="900" spc="5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or</a:t>
            </a:r>
            <a:r>
              <a:rPr sz="900" spc="10" dirty="0">
                <a:latin typeface="Trebuchet MS"/>
                <a:cs typeface="Trebuchet MS"/>
              </a:rPr>
              <a:t> </a:t>
            </a:r>
            <a:r>
              <a:rPr sz="900" spc="-25" dirty="0">
                <a:latin typeface="Trebuchet MS"/>
                <a:cs typeface="Trebuchet MS"/>
              </a:rPr>
              <a:t>not</a:t>
            </a:r>
            <a:endParaRPr sz="900">
              <a:latin typeface="Trebuchet MS"/>
              <a:cs typeface="Trebuchet MS"/>
            </a:endParaRPr>
          </a:p>
          <a:p>
            <a:pPr marL="38100">
              <a:lnSpc>
                <a:spcPct val="100000"/>
              </a:lnSpc>
              <a:spcBef>
                <a:spcPts val="365"/>
              </a:spcBef>
            </a:pPr>
            <a:r>
              <a:rPr sz="950" spc="55" dirty="0">
                <a:latin typeface="Trebuchet MS"/>
                <a:cs typeface="Trebuchet MS"/>
              </a:rPr>
              <a:t>We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want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looser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metric</a:t>
            </a:r>
            <a:endParaRPr sz="950">
              <a:latin typeface="Trebuchet MS"/>
              <a:cs typeface="Trebuchet MS"/>
            </a:endParaRPr>
          </a:p>
          <a:p>
            <a:pPr marL="313690" indent="-116205">
              <a:lnSpc>
                <a:spcPct val="100000"/>
              </a:lnSpc>
              <a:spcBef>
                <a:spcPts val="305"/>
              </a:spcBef>
              <a:buClr>
                <a:srgbClr val="3232B2"/>
              </a:buClr>
              <a:buSzPct val="66666"/>
              <a:buFont typeface="Lucida Sans Unicode"/>
              <a:buChar char="►"/>
              <a:tabLst>
                <a:tab pos="313690" algn="l"/>
              </a:tabLst>
            </a:pPr>
            <a:r>
              <a:rPr sz="900" dirty="0">
                <a:latin typeface="Trebuchet MS"/>
                <a:cs typeface="Trebuchet MS"/>
              </a:rPr>
              <a:t>Word</a:t>
            </a:r>
            <a:r>
              <a:rPr sz="900" spc="-5" dirty="0">
                <a:latin typeface="Trebuchet MS"/>
                <a:cs typeface="Trebuchet MS"/>
              </a:rPr>
              <a:t> </a:t>
            </a:r>
            <a:r>
              <a:rPr sz="900" spc="-35" dirty="0">
                <a:latin typeface="Trebuchet MS"/>
                <a:cs typeface="Trebuchet MS"/>
              </a:rPr>
              <a:t>similarity</a:t>
            </a:r>
            <a:r>
              <a:rPr sz="900" spc="-5" dirty="0">
                <a:latin typeface="Trebuchet MS"/>
                <a:cs typeface="Trebuchet MS"/>
              </a:rPr>
              <a:t> </a:t>
            </a:r>
            <a:r>
              <a:rPr sz="900" spc="-25" dirty="0">
                <a:latin typeface="Trebuchet MS"/>
                <a:cs typeface="Trebuchet MS"/>
              </a:rPr>
              <a:t>or</a:t>
            </a:r>
            <a:endParaRPr sz="900">
              <a:latin typeface="Trebuchet MS"/>
              <a:cs typeface="Trebuchet MS"/>
            </a:endParaRPr>
          </a:p>
          <a:p>
            <a:pPr marL="313690" indent="-116205">
              <a:lnSpc>
                <a:spcPct val="100000"/>
              </a:lnSpc>
              <a:spcBef>
                <a:spcPts val="114"/>
              </a:spcBef>
              <a:buClr>
                <a:srgbClr val="3232B2"/>
              </a:buClr>
              <a:buSzPct val="66666"/>
              <a:buFont typeface="Lucida Sans Unicode"/>
              <a:buChar char="►"/>
              <a:tabLst>
                <a:tab pos="313690" algn="l"/>
              </a:tabLst>
            </a:pPr>
            <a:r>
              <a:rPr sz="900" dirty="0">
                <a:latin typeface="Trebuchet MS"/>
                <a:cs typeface="Trebuchet MS"/>
              </a:rPr>
              <a:t>Word</a:t>
            </a:r>
            <a:r>
              <a:rPr sz="900" spc="-25" dirty="0">
                <a:latin typeface="Trebuchet MS"/>
                <a:cs typeface="Trebuchet MS"/>
              </a:rPr>
              <a:t> </a:t>
            </a:r>
            <a:r>
              <a:rPr sz="900" spc="-10" dirty="0">
                <a:latin typeface="Trebuchet MS"/>
                <a:cs typeface="Trebuchet MS"/>
              </a:rPr>
              <a:t>distance</a:t>
            </a:r>
            <a:endParaRPr sz="900">
              <a:latin typeface="Trebuchet MS"/>
              <a:cs typeface="Trebuchet MS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597" y="1110538"/>
            <a:ext cx="64757" cy="64757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1853082" y="3339672"/>
            <a:ext cx="90233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4" action="ppaction://hlinksldjump"/>
              </a:rPr>
              <a:t>Lexical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  <a:hlinkClick r:id="rId4" action="ppaction://hlinksldjump"/>
              </a:rPr>
              <a:t>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  <a:hlinkClick r:id="rId4" action="ppaction://hlinksldjump"/>
              </a:rPr>
              <a:t>Semantics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  <a:hlinkClick r:id="rId4" action="ppaction://hlinksldjump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4" action="ppaction://hlinksldjump"/>
              </a:rPr>
              <a:t>-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  <a:hlinkClick r:id="rId4" action="ppaction://hlinksldjump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  <a:hlinkClick r:id="rId4" action="ppaction://hlinksldjump"/>
              </a:rPr>
              <a:t>WordNet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646170" y="3339672"/>
            <a:ext cx="56388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8,</a:t>
            </a:r>
            <a:r>
              <a:rPr sz="600" i="1" spc="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2</a:t>
            </a:r>
            <a:endParaRPr sz="600" dirty="0">
              <a:latin typeface="Cambria"/>
              <a:cs typeface="Cambri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355385" y="3339672"/>
            <a:ext cx="19875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8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10" dirty="0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</a:rPr>
              <a:t>27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0E1BB9E0-B573-4F52-9079-E50E06924076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4292024" y="3339672"/>
            <a:ext cx="262254" cy="116204"/>
          </a:xfrm>
          <a:prstGeom prst="rect">
            <a:avLst/>
          </a:prstGeom>
        </p:spPr>
        <p:txBody>
          <a:bodyPr/>
          <a:lstStyle/>
          <a:p>
            <a:pPr marL="75565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lang="en-IN" smtClean="0"/>
              <a:t>42</a:t>
            </a:fld>
            <a:r>
              <a:rPr lang="en-IN" spc="-5"/>
              <a:t> </a:t>
            </a:r>
            <a:r>
              <a:rPr lang="en-IN" spc="-110"/>
              <a:t>/</a:t>
            </a:r>
            <a:r>
              <a:rPr lang="en-IN" spc="15"/>
              <a:t> </a:t>
            </a:r>
            <a:r>
              <a:rPr lang="en-IN" spc="-25"/>
              <a:t>18</a:t>
            </a:r>
            <a:endParaRPr lang="en-IN" spc="-25" dirty="0"/>
          </a:p>
        </p:txBody>
      </p:sp>
    </p:spTree>
  </p:cSld>
  <p:clrMapOvr>
    <a:masterClrMapping/>
  </p:clrMapOvr>
  <p:transition>
    <p:cut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60" dirty="0"/>
              <a:t>Word</a:t>
            </a:r>
            <a:r>
              <a:rPr spc="-5" dirty="0"/>
              <a:t> </a:t>
            </a:r>
            <a:r>
              <a:rPr spc="-10" dirty="0"/>
              <a:t>Similarity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597" y="743610"/>
            <a:ext cx="64757" cy="64757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77532" y="631557"/>
            <a:ext cx="2392680" cy="1278255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59"/>
              </a:spcBef>
            </a:pPr>
            <a:r>
              <a:rPr sz="950" spc="10" dirty="0">
                <a:latin typeface="Trebuchet MS"/>
                <a:cs typeface="Trebuchet MS"/>
              </a:rPr>
              <a:t>Synonymy</a:t>
            </a:r>
            <a:r>
              <a:rPr sz="950" spc="50" dirty="0">
                <a:latin typeface="Trebuchet MS"/>
                <a:cs typeface="Trebuchet MS"/>
              </a:rPr>
              <a:t> </a:t>
            </a:r>
            <a:r>
              <a:rPr sz="950" spc="10" dirty="0">
                <a:latin typeface="Trebuchet MS"/>
                <a:cs typeface="Trebuchet MS"/>
              </a:rPr>
              <a:t>is</a:t>
            </a:r>
            <a:r>
              <a:rPr sz="950" spc="50" dirty="0">
                <a:latin typeface="Trebuchet MS"/>
                <a:cs typeface="Trebuchet MS"/>
              </a:rPr>
              <a:t> </a:t>
            </a:r>
            <a:r>
              <a:rPr sz="950" spc="10" dirty="0">
                <a:latin typeface="Trebuchet MS"/>
                <a:cs typeface="Trebuchet MS"/>
              </a:rPr>
              <a:t>a</a:t>
            </a:r>
            <a:r>
              <a:rPr sz="950" spc="55" dirty="0">
                <a:latin typeface="Trebuchet MS"/>
                <a:cs typeface="Trebuchet MS"/>
              </a:rPr>
              <a:t> </a:t>
            </a:r>
            <a:r>
              <a:rPr sz="950" spc="10" dirty="0">
                <a:latin typeface="Trebuchet MS"/>
                <a:cs typeface="Trebuchet MS"/>
              </a:rPr>
              <a:t>binary</a:t>
            </a:r>
            <a:r>
              <a:rPr sz="950" spc="5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relation</a:t>
            </a:r>
            <a:endParaRPr sz="950">
              <a:latin typeface="Trebuchet MS"/>
              <a:cs typeface="Trebuchet MS"/>
            </a:endParaRPr>
          </a:p>
          <a:p>
            <a:pPr marL="313690" indent="-116205">
              <a:lnSpc>
                <a:spcPct val="100000"/>
              </a:lnSpc>
              <a:spcBef>
                <a:spcPts val="305"/>
              </a:spcBef>
              <a:buClr>
                <a:srgbClr val="3232B2"/>
              </a:buClr>
              <a:buSzPct val="66666"/>
              <a:buFont typeface="Lucida Sans Unicode"/>
              <a:buChar char="►"/>
              <a:tabLst>
                <a:tab pos="313690" algn="l"/>
              </a:tabLst>
            </a:pPr>
            <a:r>
              <a:rPr sz="900" spc="-45" dirty="0">
                <a:latin typeface="Trebuchet MS"/>
                <a:cs typeface="Trebuchet MS"/>
              </a:rPr>
              <a:t>Two</a:t>
            </a:r>
            <a:r>
              <a:rPr sz="900" spc="5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words</a:t>
            </a:r>
            <a:r>
              <a:rPr sz="900" spc="5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are</a:t>
            </a:r>
            <a:r>
              <a:rPr sz="900" spc="5" dirty="0">
                <a:latin typeface="Trebuchet MS"/>
                <a:cs typeface="Trebuchet MS"/>
              </a:rPr>
              <a:t> </a:t>
            </a:r>
            <a:r>
              <a:rPr sz="900" spc="-45" dirty="0">
                <a:latin typeface="Trebuchet MS"/>
                <a:cs typeface="Trebuchet MS"/>
              </a:rPr>
              <a:t>either</a:t>
            </a:r>
            <a:r>
              <a:rPr sz="900" spc="5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synonymous</a:t>
            </a:r>
            <a:r>
              <a:rPr sz="900" spc="5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or</a:t>
            </a:r>
            <a:r>
              <a:rPr sz="900" spc="10" dirty="0">
                <a:latin typeface="Trebuchet MS"/>
                <a:cs typeface="Trebuchet MS"/>
              </a:rPr>
              <a:t> </a:t>
            </a:r>
            <a:r>
              <a:rPr sz="900" spc="-25" dirty="0">
                <a:latin typeface="Trebuchet MS"/>
                <a:cs typeface="Trebuchet MS"/>
              </a:rPr>
              <a:t>not</a:t>
            </a:r>
            <a:endParaRPr sz="900">
              <a:latin typeface="Trebuchet MS"/>
              <a:cs typeface="Trebuchet MS"/>
            </a:endParaRPr>
          </a:p>
          <a:p>
            <a:pPr marL="38100">
              <a:lnSpc>
                <a:spcPct val="100000"/>
              </a:lnSpc>
              <a:spcBef>
                <a:spcPts val="365"/>
              </a:spcBef>
            </a:pPr>
            <a:r>
              <a:rPr sz="950" spc="55" dirty="0">
                <a:latin typeface="Trebuchet MS"/>
                <a:cs typeface="Trebuchet MS"/>
              </a:rPr>
              <a:t>We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want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looser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metric</a:t>
            </a:r>
            <a:endParaRPr sz="950">
              <a:latin typeface="Trebuchet MS"/>
              <a:cs typeface="Trebuchet MS"/>
            </a:endParaRPr>
          </a:p>
          <a:p>
            <a:pPr marL="313690" indent="-116205">
              <a:lnSpc>
                <a:spcPct val="100000"/>
              </a:lnSpc>
              <a:spcBef>
                <a:spcPts val="305"/>
              </a:spcBef>
              <a:buClr>
                <a:srgbClr val="3232B2"/>
              </a:buClr>
              <a:buSzPct val="66666"/>
              <a:buFont typeface="Lucida Sans Unicode"/>
              <a:buChar char="►"/>
              <a:tabLst>
                <a:tab pos="313690" algn="l"/>
              </a:tabLst>
            </a:pPr>
            <a:r>
              <a:rPr sz="900" dirty="0">
                <a:latin typeface="Trebuchet MS"/>
                <a:cs typeface="Trebuchet MS"/>
              </a:rPr>
              <a:t>Word</a:t>
            </a:r>
            <a:r>
              <a:rPr sz="900" spc="-5" dirty="0">
                <a:latin typeface="Trebuchet MS"/>
                <a:cs typeface="Trebuchet MS"/>
              </a:rPr>
              <a:t> </a:t>
            </a:r>
            <a:r>
              <a:rPr sz="900" spc="-35" dirty="0">
                <a:latin typeface="Trebuchet MS"/>
                <a:cs typeface="Trebuchet MS"/>
              </a:rPr>
              <a:t>similarity</a:t>
            </a:r>
            <a:r>
              <a:rPr sz="900" spc="-5" dirty="0">
                <a:latin typeface="Trebuchet MS"/>
                <a:cs typeface="Trebuchet MS"/>
              </a:rPr>
              <a:t> </a:t>
            </a:r>
            <a:r>
              <a:rPr sz="900" spc="-25" dirty="0">
                <a:latin typeface="Trebuchet MS"/>
                <a:cs typeface="Trebuchet MS"/>
              </a:rPr>
              <a:t>or</a:t>
            </a:r>
            <a:endParaRPr sz="900">
              <a:latin typeface="Trebuchet MS"/>
              <a:cs typeface="Trebuchet MS"/>
            </a:endParaRPr>
          </a:p>
          <a:p>
            <a:pPr marL="313690" indent="-116205">
              <a:lnSpc>
                <a:spcPct val="100000"/>
              </a:lnSpc>
              <a:spcBef>
                <a:spcPts val="114"/>
              </a:spcBef>
              <a:buClr>
                <a:srgbClr val="3232B2"/>
              </a:buClr>
              <a:buSzPct val="66666"/>
              <a:buFont typeface="Lucida Sans Unicode"/>
              <a:buChar char="►"/>
              <a:tabLst>
                <a:tab pos="313690" algn="l"/>
              </a:tabLst>
            </a:pPr>
            <a:r>
              <a:rPr sz="900" dirty="0">
                <a:latin typeface="Trebuchet MS"/>
                <a:cs typeface="Trebuchet MS"/>
              </a:rPr>
              <a:t>Word</a:t>
            </a:r>
            <a:r>
              <a:rPr sz="900" spc="-25" dirty="0">
                <a:latin typeface="Trebuchet MS"/>
                <a:cs typeface="Trebuchet MS"/>
              </a:rPr>
              <a:t> </a:t>
            </a:r>
            <a:r>
              <a:rPr sz="900" spc="-10" dirty="0">
                <a:latin typeface="Trebuchet MS"/>
                <a:cs typeface="Trebuchet MS"/>
              </a:rPr>
              <a:t>distance</a:t>
            </a:r>
            <a:endParaRPr sz="900">
              <a:latin typeface="Trebuchet MS"/>
              <a:cs typeface="Trebuchet MS"/>
            </a:endParaRPr>
          </a:p>
          <a:p>
            <a:pPr marL="38100">
              <a:lnSpc>
                <a:spcPct val="100000"/>
              </a:lnSpc>
              <a:spcBef>
                <a:spcPts val="365"/>
              </a:spcBef>
            </a:pPr>
            <a:r>
              <a:rPr sz="950" dirty="0">
                <a:latin typeface="Trebuchet MS"/>
                <a:cs typeface="Trebuchet MS"/>
              </a:rPr>
              <a:t>Two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words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are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more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similar</a:t>
            </a:r>
            <a:endParaRPr sz="950">
              <a:latin typeface="Trebuchet MS"/>
              <a:cs typeface="Trebuchet MS"/>
            </a:endParaRPr>
          </a:p>
          <a:p>
            <a:pPr marL="313690" indent="-116205">
              <a:lnSpc>
                <a:spcPct val="100000"/>
              </a:lnSpc>
              <a:spcBef>
                <a:spcPts val="305"/>
              </a:spcBef>
              <a:buClr>
                <a:srgbClr val="3232B2"/>
              </a:buClr>
              <a:buSzPct val="66666"/>
              <a:buFont typeface="Lucida Sans Unicode"/>
              <a:buChar char="►"/>
              <a:tabLst>
                <a:tab pos="313690" algn="l"/>
              </a:tabLst>
            </a:pPr>
            <a:r>
              <a:rPr sz="900" spc="-55" dirty="0">
                <a:latin typeface="Trebuchet MS"/>
                <a:cs typeface="Trebuchet MS"/>
              </a:rPr>
              <a:t>If</a:t>
            </a:r>
            <a:r>
              <a:rPr sz="900" spc="-20" dirty="0">
                <a:latin typeface="Trebuchet MS"/>
                <a:cs typeface="Trebuchet MS"/>
              </a:rPr>
              <a:t> </a:t>
            </a:r>
            <a:r>
              <a:rPr sz="900" spc="-25" dirty="0">
                <a:latin typeface="Trebuchet MS"/>
                <a:cs typeface="Trebuchet MS"/>
              </a:rPr>
              <a:t>they</a:t>
            </a:r>
            <a:r>
              <a:rPr sz="900" spc="-20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share</a:t>
            </a:r>
            <a:r>
              <a:rPr sz="900" spc="-20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more</a:t>
            </a:r>
            <a:r>
              <a:rPr sz="900" spc="-15" dirty="0">
                <a:latin typeface="Trebuchet MS"/>
                <a:cs typeface="Trebuchet MS"/>
              </a:rPr>
              <a:t> </a:t>
            </a:r>
            <a:r>
              <a:rPr sz="900" spc="-20" dirty="0">
                <a:latin typeface="Trebuchet MS"/>
                <a:cs typeface="Trebuchet MS"/>
              </a:rPr>
              <a:t>features </a:t>
            </a:r>
            <a:r>
              <a:rPr sz="900" spc="-45" dirty="0">
                <a:latin typeface="Trebuchet MS"/>
                <a:cs typeface="Trebuchet MS"/>
              </a:rPr>
              <a:t>of</a:t>
            </a:r>
            <a:r>
              <a:rPr sz="900" spc="-20" dirty="0">
                <a:latin typeface="Trebuchet MS"/>
                <a:cs typeface="Trebuchet MS"/>
              </a:rPr>
              <a:t> </a:t>
            </a:r>
            <a:r>
              <a:rPr sz="900" spc="-10" dirty="0">
                <a:latin typeface="Trebuchet MS"/>
                <a:cs typeface="Trebuchet MS"/>
              </a:rPr>
              <a:t>meaning</a:t>
            </a:r>
            <a:endParaRPr sz="900">
              <a:latin typeface="Trebuchet MS"/>
              <a:cs typeface="Trebuchet MS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597" y="1110538"/>
            <a:ext cx="64757" cy="64757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597" y="1629295"/>
            <a:ext cx="64757" cy="64757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1853082" y="3339672"/>
            <a:ext cx="90233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5" action="ppaction://hlinksldjump"/>
              </a:rPr>
              <a:t>Lexical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  <a:hlinkClick r:id="rId5" action="ppaction://hlinksldjump"/>
              </a:rPr>
              <a:t>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  <a:hlinkClick r:id="rId5" action="ppaction://hlinksldjump"/>
              </a:rPr>
              <a:t>Semantics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  <a:hlinkClick r:id="rId5" action="ppaction://hlinksldjump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5" action="ppaction://hlinksldjump"/>
              </a:rPr>
              <a:t>-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  <a:hlinkClick r:id="rId5" action="ppaction://hlinksldjump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  <a:hlinkClick r:id="rId5" action="ppaction://hlinksldjump"/>
              </a:rPr>
              <a:t>WordNet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646170" y="3339672"/>
            <a:ext cx="56388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8,</a:t>
            </a:r>
            <a:r>
              <a:rPr sz="600" i="1" spc="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2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355385" y="3339672"/>
            <a:ext cx="19875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8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10" dirty="0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</a:rPr>
              <a:t>27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C413222E-4EB4-46C9-A40F-A8392203C14C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4292024" y="3339672"/>
            <a:ext cx="262254" cy="116204"/>
          </a:xfrm>
          <a:prstGeom prst="rect">
            <a:avLst/>
          </a:prstGeom>
        </p:spPr>
        <p:txBody>
          <a:bodyPr/>
          <a:lstStyle/>
          <a:p>
            <a:pPr marL="75565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lang="en-IN" smtClean="0"/>
              <a:t>43</a:t>
            </a:fld>
            <a:r>
              <a:rPr lang="en-IN" spc="-5"/>
              <a:t> </a:t>
            </a:r>
            <a:r>
              <a:rPr lang="en-IN" spc="-110"/>
              <a:t>/</a:t>
            </a:r>
            <a:r>
              <a:rPr lang="en-IN" spc="15"/>
              <a:t> </a:t>
            </a:r>
            <a:r>
              <a:rPr lang="en-IN" spc="-25"/>
              <a:t>18</a:t>
            </a:r>
            <a:endParaRPr lang="en-IN" spc="-25" dirty="0"/>
          </a:p>
        </p:txBody>
      </p:sp>
    </p:spTree>
  </p:cSld>
  <p:clrMapOvr>
    <a:masterClrMapping/>
  </p:clrMapOvr>
  <p:transition>
    <p:cut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60" dirty="0"/>
              <a:t>Word</a:t>
            </a:r>
            <a:r>
              <a:rPr spc="-5" dirty="0"/>
              <a:t> </a:t>
            </a:r>
            <a:r>
              <a:rPr spc="-10" dirty="0"/>
              <a:t>Similarity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597" y="743610"/>
            <a:ext cx="64757" cy="64757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77532" y="631557"/>
            <a:ext cx="2902585" cy="2085339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59"/>
              </a:spcBef>
            </a:pPr>
            <a:r>
              <a:rPr sz="950" spc="10" dirty="0">
                <a:latin typeface="Trebuchet MS"/>
                <a:cs typeface="Trebuchet MS"/>
              </a:rPr>
              <a:t>Synonymy</a:t>
            </a:r>
            <a:r>
              <a:rPr sz="950" spc="50" dirty="0">
                <a:latin typeface="Trebuchet MS"/>
                <a:cs typeface="Trebuchet MS"/>
              </a:rPr>
              <a:t> </a:t>
            </a:r>
            <a:r>
              <a:rPr sz="950" spc="10" dirty="0">
                <a:latin typeface="Trebuchet MS"/>
                <a:cs typeface="Trebuchet MS"/>
              </a:rPr>
              <a:t>is</a:t>
            </a:r>
            <a:r>
              <a:rPr sz="950" spc="50" dirty="0">
                <a:latin typeface="Trebuchet MS"/>
                <a:cs typeface="Trebuchet MS"/>
              </a:rPr>
              <a:t> </a:t>
            </a:r>
            <a:r>
              <a:rPr sz="950" spc="10" dirty="0">
                <a:latin typeface="Trebuchet MS"/>
                <a:cs typeface="Trebuchet MS"/>
              </a:rPr>
              <a:t>a</a:t>
            </a:r>
            <a:r>
              <a:rPr sz="950" spc="55" dirty="0">
                <a:latin typeface="Trebuchet MS"/>
                <a:cs typeface="Trebuchet MS"/>
              </a:rPr>
              <a:t> </a:t>
            </a:r>
            <a:r>
              <a:rPr sz="950" spc="10" dirty="0">
                <a:latin typeface="Trebuchet MS"/>
                <a:cs typeface="Trebuchet MS"/>
              </a:rPr>
              <a:t>binary</a:t>
            </a:r>
            <a:r>
              <a:rPr sz="950" spc="5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relation</a:t>
            </a:r>
            <a:endParaRPr sz="950">
              <a:latin typeface="Trebuchet MS"/>
              <a:cs typeface="Trebuchet MS"/>
            </a:endParaRPr>
          </a:p>
          <a:p>
            <a:pPr marL="313690" indent="-116205">
              <a:lnSpc>
                <a:spcPct val="100000"/>
              </a:lnSpc>
              <a:spcBef>
                <a:spcPts val="305"/>
              </a:spcBef>
              <a:buClr>
                <a:srgbClr val="3232B2"/>
              </a:buClr>
              <a:buSzPct val="66666"/>
              <a:buFont typeface="Lucida Sans Unicode"/>
              <a:buChar char="►"/>
              <a:tabLst>
                <a:tab pos="313690" algn="l"/>
              </a:tabLst>
            </a:pPr>
            <a:r>
              <a:rPr sz="900" spc="-45" dirty="0">
                <a:latin typeface="Trebuchet MS"/>
                <a:cs typeface="Trebuchet MS"/>
              </a:rPr>
              <a:t>Two</a:t>
            </a:r>
            <a:r>
              <a:rPr sz="900" spc="5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words</a:t>
            </a:r>
            <a:r>
              <a:rPr sz="900" spc="5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are</a:t>
            </a:r>
            <a:r>
              <a:rPr sz="900" spc="5" dirty="0">
                <a:latin typeface="Trebuchet MS"/>
                <a:cs typeface="Trebuchet MS"/>
              </a:rPr>
              <a:t> </a:t>
            </a:r>
            <a:r>
              <a:rPr sz="900" spc="-45" dirty="0">
                <a:latin typeface="Trebuchet MS"/>
                <a:cs typeface="Trebuchet MS"/>
              </a:rPr>
              <a:t>either</a:t>
            </a:r>
            <a:r>
              <a:rPr sz="900" spc="5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synonymous</a:t>
            </a:r>
            <a:r>
              <a:rPr sz="900" spc="5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or</a:t>
            </a:r>
            <a:r>
              <a:rPr sz="900" spc="10" dirty="0">
                <a:latin typeface="Trebuchet MS"/>
                <a:cs typeface="Trebuchet MS"/>
              </a:rPr>
              <a:t> </a:t>
            </a:r>
            <a:r>
              <a:rPr sz="900" spc="-25" dirty="0">
                <a:latin typeface="Trebuchet MS"/>
                <a:cs typeface="Trebuchet MS"/>
              </a:rPr>
              <a:t>not</a:t>
            </a:r>
            <a:endParaRPr sz="900">
              <a:latin typeface="Trebuchet MS"/>
              <a:cs typeface="Trebuchet MS"/>
            </a:endParaRPr>
          </a:p>
          <a:p>
            <a:pPr marL="38100">
              <a:lnSpc>
                <a:spcPct val="100000"/>
              </a:lnSpc>
              <a:spcBef>
                <a:spcPts val="365"/>
              </a:spcBef>
            </a:pPr>
            <a:r>
              <a:rPr sz="950" spc="55" dirty="0">
                <a:latin typeface="Trebuchet MS"/>
                <a:cs typeface="Trebuchet MS"/>
              </a:rPr>
              <a:t>We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want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looser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metric</a:t>
            </a:r>
            <a:endParaRPr sz="950">
              <a:latin typeface="Trebuchet MS"/>
              <a:cs typeface="Trebuchet MS"/>
            </a:endParaRPr>
          </a:p>
          <a:p>
            <a:pPr marL="313690" indent="-116205">
              <a:lnSpc>
                <a:spcPct val="100000"/>
              </a:lnSpc>
              <a:spcBef>
                <a:spcPts val="305"/>
              </a:spcBef>
              <a:buClr>
                <a:srgbClr val="3232B2"/>
              </a:buClr>
              <a:buSzPct val="66666"/>
              <a:buFont typeface="Lucida Sans Unicode"/>
              <a:buChar char="►"/>
              <a:tabLst>
                <a:tab pos="313690" algn="l"/>
              </a:tabLst>
            </a:pPr>
            <a:r>
              <a:rPr sz="900" dirty="0">
                <a:latin typeface="Trebuchet MS"/>
                <a:cs typeface="Trebuchet MS"/>
              </a:rPr>
              <a:t>Word</a:t>
            </a:r>
            <a:r>
              <a:rPr sz="900" spc="-5" dirty="0">
                <a:latin typeface="Trebuchet MS"/>
                <a:cs typeface="Trebuchet MS"/>
              </a:rPr>
              <a:t> </a:t>
            </a:r>
            <a:r>
              <a:rPr sz="900" spc="-35" dirty="0">
                <a:latin typeface="Trebuchet MS"/>
                <a:cs typeface="Trebuchet MS"/>
              </a:rPr>
              <a:t>similarity</a:t>
            </a:r>
            <a:r>
              <a:rPr sz="900" spc="-5" dirty="0">
                <a:latin typeface="Trebuchet MS"/>
                <a:cs typeface="Trebuchet MS"/>
              </a:rPr>
              <a:t> </a:t>
            </a:r>
            <a:r>
              <a:rPr sz="900" spc="-25" dirty="0">
                <a:latin typeface="Trebuchet MS"/>
                <a:cs typeface="Trebuchet MS"/>
              </a:rPr>
              <a:t>or</a:t>
            </a:r>
            <a:endParaRPr sz="900">
              <a:latin typeface="Trebuchet MS"/>
              <a:cs typeface="Trebuchet MS"/>
            </a:endParaRPr>
          </a:p>
          <a:p>
            <a:pPr marL="313690" indent="-116205">
              <a:lnSpc>
                <a:spcPct val="100000"/>
              </a:lnSpc>
              <a:spcBef>
                <a:spcPts val="114"/>
              </a:spcBef>
              <a:buClr>
                <a:srgbClr val="3232B2"/>
              </a:buClr>
              <a:buSzPct val="66666"/>
              <a:buFont typeface="Lucida Sans Unicode"/>
              <a:buChar char="►"/>
              <a:tabLst>
                <a:tab pos="313690" algn="l"/>
              </a:tabLst>
            </a:pPr>
            <a:r>
              <a:rPr sz="900" dirty="0">
                <a:latin typeface="Trebuchet MS"/>
                <a:cs typeface="Trebuchet MS"/>
              </a:rPr>
              <a:t>Word</a:t>
            </a:r>
            <a:r>
              <a:rPr sz="900" spc="-25" dirty="0">
                <a:latin typeface="Trebuchet MS"/>
                <a:cs typeface="Trebuchet MS"/>
              </a:rPr>
              <a:t> </a:t>
            </a:r>
            <a:r>
              <a:rPr sz="900" spc="-10" dirty="0">
                <a:latin typeface="Trebuchet MS"/>
                <a:cs typeface="Trebuchet MS"/>
              </a:rPr>
              <a:t>distance</a:t>
            </a:r>
            <a:endParaRPr sz="900">
              <a:latin typeface="Trebuchet MS"/>
              <a:cs typeface="Trebuchet MS"/>
            </a:endParaRPr>
          </a:p>
          <a:p>
            <a:pPr marL="38100">
              <a:lnSpc>
                <a:spcPct val="100000"/>
              </a:lnSpc>
              <a:spcBef>
                <a:spcPts val="365"/>
              </a:spcBef>
            </a:pPr>
            <a:r>
              <a:rPr sz="950" dirty="0">
                <a:latin typeface="Trebuchet MS"/>
                <a:cs typeface="Trebuchet MS"/>
              </a:rPr>
              <a:t>Two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words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are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more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similar</a:t>
            </a:r>
            <a:endParaRPr sz="950">
              <a:latin typeface="Trebuchet MS"/>
              <a:cs typeface="Trebuchet MS"/>
            </a:endParaRPr>
          </a:p>
          <a:p>
            <a:pPr marL="313690" indent="-116205">
              <a:lnSpc>
                <a:spcPct val="100000"/>
              </a:lnSpc>
              <a:spcBef>
                <a:spcPts val="305"/>
              </a:spcBef>
              <a:buClr>
                <a:srgbClr val="3232B2"/>
              </a:buClr>
              <a:buSzPct val="66666"/>
              <a:buFont typeface="Lucida Sans Unicode"/>
              <a:buChar char="►"/>
              <a:tabLst>
                <a:tab pos="313690" algn="l"/>
              </a:tabLst>
            </a:pPr>
            <a:r>
              <a:rPr sz="900" spc="-55" dirty="0">
                <a:latin typeface="Trebuchet MS"/>
                <a:cs typeface="Trebuchet MS"/>
              </a:rPr>
              <a:t>If</a:t>
            </a:r>
            <a:r>
              <a:rPr sz="900" spc="-20" dirty="0">
                <a:latin typeface="Trebuchet MS"/>
                <a:cs typeface="Trebuchet MS"/>
              </a:rPr>
              <a:t> </a:t>
            </a:r>
            <a:r>
              <a:rPr sz="900" spc="-25" dirty="0">
                <a:latin typeface="Trebuchet MS"/>
                <a:cs typeface="Trebuchet MS"/>
              </a:rPr>
              <a:t>they</a:t>
            </a:r>
            <a:r>
              <a:rPr sz="900" spc="-20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share</a:t>
            </a:r>
            <a:r>
              <a:rPr sz="900" spc="-20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more</a:t>
            </a:r>
            <a:r>
              <a:rPr sz="900" spc="-15" dirty="0">
                <a:latin typeface="Trebuchet MS"/>
                <a:cs typeface="Trebuchet MS"/>
              </a:rPr>
              <a:t> </a:t>
            </a:r>
            <a:r>
              <a:rPr sz="900" spc="-20" dirty="0">
                <a:latin typeface="Trebuchet MS"/>
                <a:cs typeface="Trebuchet MS"/>
              </a:rPr>
              <a:t>features </a:t>
            </a:r>
            <a:r>
              <a:rPr sz="900" spc="-45" dirty="0">
                <a:latin typeface="Trebuchet MS"/>
                <a:cs typeface="Trebuchet MS"/>
              </a:rPr>
              <a:t>of</a:t>
            </a:r>
            <a:r>
              <a:rPr sz="900" spc="-20" dirty="0">
                <a:latin typeface="Trebuchet MS"/>
                <a:cs typeface="Trebuchet MS"/>
              </a:rPr>
              <a:t> </a:t>
            </a:r>
            <a:r>
              <a:rPr sz="900" spc="-10" dirty="0">
                <a:latin typeface="Trebuchet MS"/>
                <a:cs typeface="Trebuchet MS"/>
              </a:rPr>
              <a:t>meaning</a:t>
            </a:r>
            <a:endParaRPr sz="900">
              <a:latin typeface="Trebuchet MS"/>
              <a:cs typeface="Trebuchet MS"/>
            </a:endParaRPr>
          </a:p>
          <a:p>
            <a:pPr marL="38100">
              <a:lnSpc>
                <a:spcPct val="100000"/>
              </a:lnSpc>
              <a:spcBef>
                <a:spcPts val="365"/>
              </a:spcBef>
            </a:pPr>
            <a:r>
              <a:rPr sz="950" dirty="0">
                <a:latin typeface="Trebuchet MS"/>
                <a:cs typeface="Trebuchet MS"/>
              </a:rPr>
              <a:t>Actually</a:t>
            </a:r>
            <a:r>
              <a:rPr sz="950" spc="-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these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are</a:t>
            </a:r>
            <a:r>
              <a:rPr sz="950" spc="-1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really </a:t>
            </a:r>
            <a:r>
              <a:rPr sz="950" dirty="0">
                <a:latin typeface="Trebuchet MS"/>
                <a:cs typeface="Trebuchet MS"/>
              </a:rPr>
              <a:t>relations</a:t>
            </a:r>
            <a:r>
              <a:rPr sz="950" spc="-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between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950" b="1" spc="35" dirty="0">
                <a:latin typeface="Trebuchet MS"/>
                <a:cs typeface="Trebuchet MS"/>
              </a:rPr>
              <a:t>senses</a:t>
            </a:r>
            <a:r>
              <a:rPr sz="950" spc="35" dirty="0">
                <a:latin typeface="Trebuchet MS"/>
                <a:cs typeface="Trebuchet MS"/>
              </a:rPr>
              <a:t>:</a:t>
            </a:r>
            <a:endParaRPr sz="950">
              <a:latin typeface="Trebuchet MS"/>
              <a:cs typeface="Trebuchet MS"/>
            </a:endParaRPr>
          </a:p>
          <a:p>
            <a:pPr marL="313690" indent="-116205">
              <a:lnSpc>
                <a:spcPct val="100000"/>
              </a:lnSpc>
              <a:spcBef>
                <a:spcPts val="305"/>
              </a:spcBef>
              <a:buClr>
                <a:srgbClr val="3232B2"/>
              </a:buClr>
              <a:buSzPct val="66666"/>
              <a:buFont typeface="Lucida Sans Unicode"/>
              <a:buChar char="►"/>
              <a:tabLst>
                <a:tab pos="313690" algn="l"/>
              </a:tabLst>
            </a:pPr>
            <a:r>
              <a:rPr sz="900" dirty="0">
                <a:latin typeface="Trebuchet MS"/>
                <a:cs typeface="Trebuchet MS"/>
              </a:rPr>
              <a:t>Instead</a:t>
            </a:r>
            <a:r>
              <a:rPr sz="900" spc="-10" dirty="0">
                <a:latin typeface="Trebuchet MS"/>
                <a:cs typeface="Trebuchet MS"/>
              </a:rPr>
              <a:t> </a:t>
            </a:r>
            <a:r>
              <a:rPr sz="900" spc="-45" dirty="0">
                <a:latin typeface="Trebuchet MS"/>
                <a:cs typeface="Trebuchet MS"/>
              </a:rPr>
              <a:t>of</a:t>
            </a:r>
            <a:r>
              <a:rPr sz="900" spc="-5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saying</a:t>
            </a:r>
            <a:r>
              <a:rPr sz="900" spc="-5" dirty="0">
                <a:latin typeface="Trebuchet MS"/>
                <a:cs typeface="Trebuchet MS"/>
              </a:rPr>
              <a:t> </a:t>
            </a:r>
            <a:r>
              <a:rPr sz="900" spc="-40" dirty="0">
                <a:latin typeface="Trebuchet MS"/>
                <a:cs typeface="Trebuchet MS"/>
              </a:rPr>
              <a:t>“bank</a:t>
            </a:r>
            <a:r>
              <a:rPr sz="900" spc="-5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is</a:t>
            </a:r>
            <a:r>
              <a:rPr sz="900" spc="-5" dirty="0">
                <a:latin typeface="Trebuchet MS"/>
                <a:cs typeface="Trebuchet MS"/>
              </a:rPr>
              <a:t> </a:t>
            </a:r>
            <a:r>
              <a:rPr sz="900" spc="-35" dirty="0">
                <a:latin typeface="Trebuchet MS"/>
                <a:cs typeface="Trebuchet MS"/>
              </a:rPr>
              <a:t>like</a:t>
            </a:r>
            <a:r>
              <a:rPr sz="900" spc="-10" dirty="0">
                <a:latin typeface="Trebuchet MS"/>
                <a:cs typeface="Trebuchet MS"/>
              </a:rPr>
              <a:t> fund”</a:t>
            </a:r>
            <a:endParaRPr sz="900">
              <a:latin typeface="Trebuchet MS"/>
              <a:cs typeface="Trebuchet MS"/>
            </a:endParaRPr>
          </a:p>
          <a:p>
            <a:pPr marL="313690" indent="-116205">
              <a:lnSpc>
                <a:spcPct val="100000"/>
              </a:lnSpc>
              <a:spcBef>
                <a:spcPts val="15"/>
              </a:spcBef>
              <a:buClr>
                <a:srgbClr val="3232B2"/>
              </a:buClr>
              <a:buSzPct val="66666"/>
              <a:buFont typeface="Lucida Sans Unicode"/>
              <a:buChar char="►"/>
              <a:tabLst>
                <a:tab pos="313690" algn="l"/>
              </a:tabLst>
            </a:pPr>
            <a:r>
              <a:rPr sz="900" dirty="0">
                <a:latin typeface="Trebuchet MS"/>
                <a:cs typeface="Trebuchet MS"/>
              </a:rPr>
              <a:t>We</a:t>
            </a:r>
            <a:r>
              <a:rPr sz="900" spc="35" dirty="0">
                <a:latin typeface="Trebuchet MS"/>
                <a:cs typeface="Trebuchet MS"/>
              </a:rPr>
              <a:t> </a:t>
            </a:r>
            <a:r>
              <a:rPr sz="900" spc="-25" dirty="0">
                <a:latin typeface="Trebuchet MS"/>
                <a:cs typeface="Trebuchet MS"/>
              </a:rPr>
              <a:t>say</a:t>
            </a:r>
            <a:endParaRPr sz="900">
              <a:latin typeface="Trebuchet MS"/>
              <a:cs typeface="Trebuchet MS"/>
            </a:endParaRPr>
          </a:p>
          <a:p>
            <a:pPr marL="449580">
              <a:lnSpc>
                <a:spcPct val="100000"/>
              </a:lnSpc>
              <a:spcBef>
                <a:spcPts val="315"/>
              </a:spcBef>
            </a:pPr>
            <a:r>
              <a:rPr sz="900" spc="375" baseline="13888" dirty="0">
                <a:solidFill>
                  <a:srgbClr val="3232B2"/>
                </a:solidFill>
                <a:latin typeface="Lucida Sans Unicode"/>
                <a:cs typeface="Lucida Sans Unicode"/>
              </a:rPr>
              <a:t>F</a:t>
            </a:r>
            <a:r>
              <a:rPr sz="900" spc="555" baseline="13888" dirty="0">
                <a:solidFill>
                  <a:srgbClr val="3232B2"/>
                </a:solidFill>
                <a:latin typeface="Lucida Sans Unicode"/>
                <a:cs typeface="Lucida Sans Unicode"/>
              </a:rPr>
              <a:t> </a:t>
            </a:r>
            <a:r>
              <a:rPr sz="800" dirty="0">
                <a:latin typeface="Trebuchet MS"/>
                <a:cs typeface="Trebuchet MS"/>
              </a:rPr>
              <a:t>Bank</a:t>
            </a:r>
            <a:r>
              <a:rPr sz="1050" baseline="27777" dirty="0">
                <a:latin typeface="Cambria"/>
                <a:cs typeface="Cambria"/>
              </a:rPr>
              <a:t>1</a:t>
            </a:r>
            <a:r>
              <a:rPr sz="1050" spc="195" baseline="27777" dirty="0">
                <a:latin typeface="Cambria"/>
                <a:cs typeface="Cambria"/>
              </a:rPr>
              <a:t> </a:t>
            </a:r>
            <a:r>
              <a:rPr sz="800" dirty="0">
                <a:latin typeface="Trebuchet MS"/>
                <a:cs typeface="Trebuchet MS"/>
              </a:rPr>
              <a:t>is</a:t>
            </a:r>
            <a:r>
              <a:rPr sz="800" spc="-10" dirty="0">
                <a:latin typeface="Trebuchet MS"/>
                <a:cs typeface="Trebuchet MS"/>
              </a:rPr>
              <a:t> similar </a:t>
            </a:r>
            <a:r>
              <a:rPr sz="800" spc="-30" dirty="0">
                <a:latin typeface="Trebuchet MS"/>
                <a:cs typeface="Trebuchet MS"/>
              </a:rPr>
              <a:t>to</a:t>
            </a:r>
            <a:r>
              <a:rPr sz="800" spc="-10" dirty="0">
                <a:latin typeface="Trebuchet MS"/>
                <a:cs typeface="Trebuchet MS"/>
              </a:rPr>
              <a:t> </a:t>
            </a:r>
            <a:r>
              <a:rPr sz="800" spc="-20" dirty="0">
                <a:latin typeface="Trebuchet MS"/>
                <a:cs typeface="Trebuchet MS"/>
              </a:rPr>
              <a:t>fund</a:t>
            </a:r>
            <a:r>
              <a:rPr sz="1050" spc="-30" baseline="27777" dirty="0">
                <a:latin typeface="Cambria"/>
                <a:cs typeface="Cambria"/>
              </a:rPr>
              <a:t>3</a:t>
            </a:r>
            <a:endParaRPr sz="1050" baseline="27777">
              <a:latin typeface="Cambria"/>
              <a:cs typeface="Cambria"/>
            </a:endParaRPr>
          </a:p>
          <a:p>
            <a:pPr marL="449580">
              <a:lnSpc>
                <a:spcPct val="100000"/>
              </a:lnSpc>
              <a:spcBef>
                <a:spcPts val="135"/>
              </a:spcBef>
            </a:pPr>
            <a:r>
              <a:rPr sz="900" spc="375" baseline="13888" dirty="0">
                <a:solidFill>
                  <a:srgbClr val="3232B2"/>
                </a:solidFill>
                <a:latin typeface="Lucida Sans Unicode"/>
                <a:cs typeface="Lucida Sans Unicode"/>
              </a:rPr>
              <a:t>F</a:t>
            </a:r>
            <a:r>
              <a:rPr sz="900" spc="555" baseline="13888" dirty="0">
                <a:solidFill>
                  <a:srgbClr val="3232B2"/>
                </a:solidFill>
                <a:latin typeface="Lucida Sans Unicode"/>
                <a:cs typeface="Lucida Sans Unicode"/>
              </a:rPr>
              <a:t> </a:t>
            </a:r>
            <a:r>
              <a:rPr sz="800" dirty="0">
                <a:latin typeface="Trebuchet MS"/>
                <a:cs typeface="Trebuchet MS"/>
              </a:rPr>
              <a:t>Bank</a:t>
            </a:r>
            <a:r>
              <a:rPr sz="1050" baseline="27777" dirty="0">
                <a:latin typeface="Cambria"/>
                <a:cs typeface="Cambria"/>
              </a:rPr>
              <a:t>2</a:t>
            </a:r>
            <a:r>
              <a:rPr sz="1050" spc="195" baseline="27777" dirty="0">
                <a:latin typeface="Cambria"/>
                <a:cs typeface="Cambria"/>
              </a:rPr>
              <a:t> </a:t>
            </a:r>
            <a:r>
              <a:rPr sz="800" dirty="0">
                <a:latin typeface="Trebuchet MS"/>
                <a:cs typeface="Trebuchet MS"/>
              </a:rPr>
              <a:t>is</a:t>
            </a:r>
            <a:r>
              <a:rPr sz="800" spc="-10" dirty="0">
                <a:latin typeface="Trebuchet MS"/>
                <a:cs typeface="Trebuchet MS"/>
              </a:rPr>
              <a:t> similar </a:t>
            </a:r>
            <a:r>
              <a:rPr sz="800" spc="-30" dirty="0">
                <a:latin typeface="Trebuchet MS"/>
                <a:cs typeface="Trebuchet MS"/>
              </a:rPr>
              <a:t>to</a:t>
            </a:r>
            <a:r>
              <a:rPr sz="800" spc="-10" dirty="0">
                <a:latin typeface="Trebuchet MS"/>
                <a:cs typeface="Trebuchet MS"/>
              </a:rPr>
              <a:t> slope</a:t>
            </a:r>
            <a:r>
              <a:rPr sz="1050" spc="-15" baseline="27777" dirty="0">
                <a:latin typeface="Cambria"/>
                <a:cs typeface="Cambria"/>
              </a:rPr>
              <a:t>5</a:t>
            </a:r>
            <a:endParaRPr sz="1050" baseline="27777">
              <a:latin typeface="Cambria"/>
              <a:cs typeface="Cambria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597" y="1110538"/>
            <a:ext cx="64757" cy="64757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597" y="1629295"/>
            <a:ext cx="64757" cy="64757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1597" y="1996224"/>
            <a:ext cx="64757" cy="64757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1853082" y="3339672"/>
            <a:ext cx="90233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6" action="ppaction://hlinksldjump"/>
              </a:rPr>
              <a:t>Lexical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  <a:hlinkClick r:id="rId6" action="ppaction://hlinksldjump"/>
              </a:rPr>
              <a:t>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  <a:hlinkClick r:id="rId6" action="ppaction://hlinksldjump"/>
              </a:rPr>
              <a:t>Semantics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  <a:hlinkClick r:id="rId6" action="ppaction://hlinksldjump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6" action="ppaction://hlinksldjump"/>
              </a:rPr>
              <a:t>-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  <a:hlinkClick r:id="rId6" action="ppaction://hlinksldjump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  <a:hlinkClick r:id="rId6" action="ppaction://hlinksldjump"/>
              </a:rPr>
              <a:t>WordNet</a:t>
            </a:r>
            <a:endParaRPr sz="600" dirty="0">
              <a:latin typeface="Cambria"/>
              <a:cs typeface="Cambri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646170" y="3339672"/>
            <a:ext cx="56388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8,</a:t>
            </a:r>
            <a:r>
              <a:rPr sz="600" i="1" spc="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2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355385" y="3339672"/>
            <a:ext cx="19875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8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10" dirty="0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</a:rPr>
              <a:t>27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D6E7FCBB-B687-4920-A237-468757505030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4292024" y="3339672"/>
            <a:ext cx="262254" cy="116204"/>
          </a:xfrm>
          <a:prstGeom prst="rect">
            <a:avLst/>
          </a:prstGeom>
        </p:spPr>
        <p:txBody>
          <a:bodyPr/>
          <a:lstStyle/>
          <a:p>
            <a:pPr marL="75565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lang="en-IN" smtClean="0"/>
              <a:t>44</a:t>
            </a:fld>
            <a:r>
              <a:rPr lang="en-IN" spc="-5"/>
              <a:t> </a:t>
            </a:r>
            <a:r>
              <a:rPr lang="en-IN" spc="-110"/>
              <a:t>/</a:t>
            </a:r>
            <a:r>
              <a:rPr lang="en-IN" spc="15"/>
              <a:t> </a:t>
            </a:r>
            <a:r>
              <a:rPr lang="en-IN" spc="-25"/>
              <a:t>18</a:t>
            </a:r>
            <a:endParaRPr lang="en-IN" spc="-25" dirty="0"/>
          </a:p>
        </p:txBody>
      </p:sp>
    </p:spTree>
  </p:cSld>
  <p:clrMapOvr>
    <a:masterClrMapping/>
  </p:clrMapOvr>
  <p:transition>
    <p:cut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60" dirty="0"/>
              <a:t>Word</a:t>
            </a:r>
            <a:r>
              <a:rPr spc="-5" dirty="0"/>
              <a:t> </a:t>
            </a:r>
            <a:r>
              <a:rPr spc="-10" dirty="0"/>
              <a:t>Similarity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597" y="743610"/>
            <a:ext cx="64757" cy="64757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77532" y="631557"/>
            <a:ext cx="3089275" cy="2299970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59"/>
              </a:spcBef>
            </a:pPr>
            <a:r>
              <a:rPr sz="950" spc="10" dirty="0">
                <a:latin typeface="Trebuchet MS"/>
                <a:cs typeface="Trebuchet MS"/>
              </a:rPr>
              <a:t>Synonymy</a:t>
            </a:r>
            <a:r>
              <a:rPr sz="950" spc="50" dirty="0">
                <a:latin typeface="Trebuchet MS"/>
                <a:cs typeface="Trebuchet MS"/>
              </a:rPr>
              <a:t> </a:t>
            </a:r>
            <a:r>
              <a:rPr sz="950" spc="10" dirty="0">
                <a:latin typeface="Trebuchet MS"/>
                <a:cs typeface="Trebuchet MS"/>
              </a:rPr>
              <a:t>is</a:t>
            </a:r>
            <a:r>
              <a:rPr sz="950" spc="50" dirty="0">
                <a:latin typeface="Trebuchet MS"/>
                <a:cs typeface="Trebuchet MS"/>
              </a:rPr>
              <a:t> </a:t>
            </a:r>
            <a:r>
              <a:rPr sz="950" spc="10" dirty="0">
                <a:latin typeface="Trebuchet MS"/>
                <a:cs typeface="Trebuchet MS"/>
              </a:rPr>
              <a:t>a</a:t>
            </a:r>
            <a:r>
              <a:rPr sz="950" spc="55" dirty="0">
                <a:latin typeface="Trebuchet MS"/>
                <a:cs typeface="Trebuchet MS"/>
              </a:rPr>
              <a:t> </a:t>
            </a:r>
            <a:r>
              <a:rPr sz="950" spc="10" dirty="0">
                <a:latin typeface="Trebuchet MS"/>
                <a:cs typeface="Trebuchet MS"/>
              </a:rPr>
              <a:t>binary</a:t>
            </a:r>
            <a:r>
              <a:rPr sz="950" spc="5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relation</a:t>
            </a:r>
            <a:endParaRPr sz="950">
              <a:latin typeface="Trebuchet MS"/>
              <a:cs typeface="Trebuchet MS"/>
            </a:endParaRPr>
          </a:p>
          <a:p>
            <a:pPr marL="313690" indent="-116205">
              <a:lnSpc>
                <a:spcPct val="100000"/>
              </a:lnSpc>
              <a:spcBef>
                <a:spcPts val="305"/>
              </a:spcBef>
              <a:buClr>
                <a:srgbClr val="3232B2"/>
              </a:buClr>
              <a:buSzPct val="66666"/>
              <a:buFont typeface="Lucida Sans Unicode"/>
              <a:buChar char="►"/>
              <a:tabLst>
                <a:tab pos="313690" algn="l"/>
              </a:tabLst>
            </a:pPr>
            <a:r>
              <a:rPr sz="900" spc="-45" dirty="0">
                <a:latin typeface="Trebuchet MS"/>
                <a:cs typeface="Trebuchet MS"/>
              </a:rPr>
              <a:t>Two</a:t>
            </a:r>
            <a:r>
              <a:rPr sz="900" spc="5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words</a:t>
            </a:r>
            <a:r>
              <a:rPr sz="900" spc="5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are</a:t>
            </a:r>
            <a:r>
              <a:rPr sz="900" spc="5" dirty="0">
                <a:latin typeface="Trebuchet MS"/>
                <a:cs typeface="Trebuchet MS"/>
              </a:rPr>
              <a:t> </a:t>
            </a:r>
            <a:r>
              <a:rPr sz="900" spc="-45" dirty="0">
                <a:latin typeface="Trebuchet MS"/>
                <a:cs typeface="Trebuchet MS"/>
              </a:rPr>
              <a:t>either</a:t>
            </a:r>
            <a:r>
              <a:rPr sz="900" spc="5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synonymous</a:t>
            </a:r>
            <a:r>
              <a:rPr sz="900" spc="5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or</a:t>
            </a:r>
            <a:r>
              <a:rPr sz="900" spc="10" dirty="0">
                <a:latin typeface="Trebuchet MS"/>
                <a:cs typeface="Trebuchet MS"/>
              </a:rPr>
              <a:t> </a:t>
            </a:r>
            <a:r>
              <a:rPr sz="900" spc="-25" dirty="0">
                <a:latin typeface="Trebuchet MS"/>
                <a:cs typeface="Trebuchet MS"/>
              </a:rPr>
              <a:t>not</a:t>
            </a:r>
            <a:endParaRPr sz="900">
              <a:latin typeface="Trebuchet MS"/>
              <a:cs typeface="Trebuchet MS"/>
            </a:endParaRPr>
          </a:p>
          <a:p>
            <a:pPr marL="38100">
              <a:lnSpc>
                <a:spcPct val="100000"/>
              </a:lnSpc>
              <a:spcBef>
                <a:spcPts val="365"/>
              </a:spcBef>
            </a:pPr>
            <a:r>
              <a:rPr sz="950" spc="55" dirty="0">
                <a:latin typeface="Trebuchet MS"/>
                <a:cs typeface="Trebuchet MS"/>
              </a:rPr>
              <a:t>We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want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looser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metric</a:t>
            </a:r>
            <a:endParaRPr sz="950">
              <a:latin typeface="Trebuchet MS"/>
              <a:cs typeface="Trebuchet MS"/>
            </a:endParaRPr>
          </a:p>
          <a:p>
            <a:pPr marL="313690" indent="-116205">
              <a:lnSpc>
                <a:spcPct val="100000"/>
              </a:lnSpc>
              <a:spcBef>
                <a:spcPts val="305"/>
              </a:spcBef>
              <a:buClr>
                <a:srgbClr val="3232B2"/>
              </a:buClr>
              <a:buSzPct val="66666"/>
              <a:buFont typeface="Lucida Sans Unicode"/>
              <a:buChar char="►"/>
              <a:tabLst>
                <a:tab pos="313690" algn="l"/>
              </a:tabLst>
            </a:pPr>
            <a:r>
              <a:rPr sz="900" dirty="0">
                <a:latin typeface="Trebuchet MS"/>
                <a:cs typeface="Trebuchet MS"/>
              </a:rPr>
              <a:t>Word</a:t>
            </a:r>
            <a:r>
              <a:rPr sz="900" spc="-5" dirty="0">
                <a:latin typeface="Trebuchet MS"/>
                <a:cs typeface="Trebuchet MS"/>
              </a:rPr>
              <a:t> </a:t>
            </a:r>
            <a:r>
              <a:rPr sz="900" spc="-35" dirty="0">
                <a:latin typeface="Trebuchet MS"/>
                <a:cs typeface="Trebuchet MS"/>
              </a:rPr>
              <a:t>similarity</a:t>
            </a:r>
            <a:r>
              <a:rPr sz="900" spc="-5" dirty="0">
                <a:latin typeface="Trebuchet MS"/>
                <a:cs typeface="Trebuchet MS"/>
              </a:rPr>
              <a:t> </a:t>
            </a:r>
            <a:r>
              <a:rPr sz="900" spc="-25" dirty="0">
                <a:latin typeface="Trebuchet MS"/>
                <a:cs typeface="Trebuchet MS"/>
              </a:rPr>
              <a:t>or</a:t>
            </a:r>
            <a:endParaRPr sz="900">
              <a:latin typeface="Trebuchet MS"/>
              <a:cs typeface="Trebuchet MS"/>
            </a:endParaRPr>
          </a:p>
          <a:p>
            <a:pPr marL="313690" indent="-116205">
              <a:lnSpc>
                <a:spcPct val="100000"/>
              </a:lnSpc>
              <a:spcBef>
                <a:spcPts val="114"/>
              </a:spcBef>
              <a:buClr>
                <a:srgbClr val="3232B2"/>
              </a:buClr>
              <a:buSzPct val="66666"/>
              <a:buFont typeface="Lucida Sans Unicode"/>
              <a:buChar char="►"/>
              <a:tabLst>
                <a:tab pos="313690" algn="l"/>
              </a:tabLst>
            </a:pPr>
            <a:r>
              <a:rPr sz="900" dirty="0">
                <a:latin typeface="Trebuchet MS"/>
                <a:cs typeface="Trebuchet MS"/>
              </a:rPr>
              <a:t>Word</a:t>
            </a:r>
            <a:r>
              <a:rPr sz="900" spc="-25" dirty="0">
                <a:latin typeface="Trebuchet MS"/>
                <a:cs typeface="Trebuchet MS"/>
              </a:rPr>
              <a:t> </a:t>
            </a:r>
            <a:r>
              <a:rPr sz="900" spc="-10" dirty="0">
                <a:latin typeface="Trebuchet MS"/>
                <a:cs typeface="Trebuchet MS"/>
              </a:rPr>
              <a:t>distance</a:t>
            </a:r>
            <a:endParaRPr sz="900">
              <a:latin typeface="Trebuchet MS"/>
              <a:cs typeface="Trebuchet MS"/>
            </a:endParaRPr>
          </a:p>
          <a:p>
            <a:pPr marL="38100">
              <a:lnSpc>
                <a:spcPct val="100000"/>
              </a:lnSpc>
              <a:spcBef>
                <a:spcPts val="365"/>
              </a:spcBef>
            </a:pPr>
            <a:r>
              <a:rPr sz="950" dirty="0">
                <a:latin typeface="Trebuchet MS"/>
                <a:cs typeface="Trebuchet MS"/>
              </a:rPr>
              <a:t>Two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words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are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more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similar</a:t>
            </a:r>
            <a:endParaRPr sz="950">
              <a:latin typeface="Trebuchet MS"/>
              <a:cs typeface="Trebuchet MS"/>
            </a:endParaRPr>
          </a:p>
          <a:p>
            <a:pPr marL="313690" indent="-116205">
              <a:lnSpc>
                <a:spcPct val="100000"/>
              </a:lnSpc>
              <a:spcBef>
                <a:spcPts val="305"/>
              </a:spcBef>
              <a:buClr>
                <a:srgbClr val="3232B2"/>
              </a:buClr>
              <a:buSzPct val="66666"/>
              <a:buFont typeface="Lucida Sans Unicode"/>
              <a:buChar char="►"/>
              <a:tabLst>
                <a:tab pos="313690" algn="l"/>
              </a:tabLst>
            </a:pPr>
            <a:r>
              <a:rPr sz="900" spc="-55" dirty="0">
                <a:latin typeface="Trebuchet MS"/>
                <a:cs typeface="Trebuchet MS"/>
              </a:rPr>
              <a:t>If</a:t>
            </a:r>
            <a:r>
              <a:rPr sz="900" spc="-20" dirty="0">
                <a:latin typeface="Trebuchet MS"/>
                <a:cs typeface="Trebuchet MS"/>
              </a:rPr>
              <a:t> </a:t>
            </a:r>
            <a:r>
              <a:rPr sz="900" spc="-25" dirty="0">
                <a:latin typeface="Trebuchet MS"/>
                <a:cs typeface="Trebuchet MS"/>
              </a:rPr>
              <a:t>they</a:t>
            </a:r>
            <a:r>
              <a:rPr sz="900" spc="-20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share</a:t>
            </a:r>
            <a:r>
              <a:rPr sz="900" spc="-20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more</a:t>
            </a:r>
            <a:r>
              <a:rPr sz="900" spc="-15" dirty="0">
                <a:latin typeface="Trebuchet MS"/>
                <a:cs typeface="Trebuchet MS"/>
              </a:rPr>
              <a:t> </a:t>
            </a:r>
            <a:r>
              <a:rPr sz="900" spc="-20" dirty="0">
                <a:latin typeface="Trebuchet MS"/>
                <a:cs typeface="Trebuchet MS"/>
              </a:rPr>
              <a:t>features </a:t>
            </a:r>
            <a:r>
              <a:rPr sz="900" spc="-45" dirty="0">
                <a:latin typeface="Trebuchet MS"/>
                <a:cs typeface="Trebuchet MS"/>
              </a:rPr>
              <a:t>of</a:t>
            </a:r>
            <a:r>
              <a:rPr sz="900" spc="-20" dirty="0">
                <a:latin typeface="Trebuchet MS"/>
                <a:cs typeface="Trebuchet MS"/>
              </a:rPr>
              <a:t> </a:t>
            </a:r>
            <a:r>
              <a:rPr sz="900" spc="-10" dirty="0">
                <a:latin typeface="Trebuchet MS"/>
                <a:cs typeface="Trebuchet MS"/>
              </a:rPr>
              <a:t>meaning</a:t>
            </a:r>
            <a:endParaRPr sz="900">
              <a:latin typeface="Trebuchet MS"/>
              <a:cs typeface="Trebuchet MS"/>
            </a:endParaRPr>
          </a:p>
          <a:p>
            <a:pPr marL="38100">
              <a:lnSpc>
                <a:spcPct val="100000"/>
              </a:lnSpc>
              <a:spcBef>
                <a:spcPts val="365"/>
              </a:spcBef>
            </a:pPr>
            <a:r>
              <a:rPr sz="950" dirty="0">
                <a:latin typeface="Trebuchet MS"/>
                <a:cs typeface="Trebuchet MS"/>
              </a:rPr>
              <a:t>Actually</a:t>
            </a:r>
            <a:r>
              <a:rPr sz="950" spc="-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these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are</a:t>
            </a:r>
            <a:r>
              <a:rPr sz="950" spc="-1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really </a:t>
            </a:r>
            <a:r>
              <a:rPr sz="950" dirty="0">
                <a:latin typeface="Trebuchet MS"/>
                <a:cs typeface="Trebuchet MS"/>
              </a:rPr>
              <a:t>relations</a:t>
            </a:r>
            <a:r>
              <a:rPr sz="950" spc="-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between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950" b="1" spc="35" dirty="0">
                <a:latin typeface="Trebuchet MS"/>
                <a:cs typeface="Trebuchet MS"/>
              </a:rPr>
              <a:t>senses</a:t>
            </a:r>
            <a:r>
              <a:rPr sz="950" spc="35" dirty="0">
                <a:latin typeface="Trebuchet MS"/>
                <a:cs typeface="Trebuchet MS"/>
              </a:rPr>
              <a:t>:</a:t>
            </a:r>
            <a:endParaRPr sz="950">
              <a:latin typeface="Trebuchet MS"/>
              <a:cs typeface="Trebuchet MS"/>
            </a:endParaRPr>
          </a:p>
          <a:p>
            <a:pPr marL="313690" indent="-116205">
              <a:lnSpc>
                <a:spcPct val="100000"/>
              </a:lnSpc>
              <a:spcBef>
                <a:spcPts val="305"/>
              </a:spcBef>
              <a:buClr>
                <a:srgbClr val="3232B2"/>
              </a:buClr>
              <a:buSzPct val="66666"/>
              <a:buFont typeface="Lucida Sans Unicode"/>
              <a:buChar char="►"/>
              <a:tabLst>
                <a:tab pos="313690" algn="l"/>
              </a:tabLst>
            </a:pPr>
            <a:r>
              <a:rPr sz="900" dirty="0">
                <a:latin typeface="Trebuchet MS"/>
                <a:cs typeface="Trebuchet MS"/>
              </a:rPr>
              <a:t>Instead</a:t>
            </a:r>
            <a:r>
              <a:rPr sz="900" spc="-10" dirty="0">
                <a:latin typeface="Trebuchet MS"/>
                <a:cs typeface="Trebuchet MS"/>
              </a:rPr>
              <a:t> </a:t>
            </a:r>
            <a:r>
              <a:rPr sz="900" spc="-45" dirty="0">
                <a:latin typeface="Trebuchet MS"/>
                <a:cs typeface="Trebuchet MS"/>
              </a:rPr>
              <a:t>of</a:t>
            </a:r>
            <a:r>
              <a:rPr sz="900" spc="-5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saying</a:t>
            </a:r>
            <a:r>
              <a:rPr sz="900" spc="-5" dirty="0">
                <a:latin typeface="Trebuchet MS"/>
                <a:cs typeface="Trebuchet MS"/>
              </a:rPr>
              <a:t> </a:t>
            </a:r>
            <a:r>
              <a:rPr sz="900" spc="-40" dirty="0">
                <a:latin typeface="Trebuchet MS"/>
                <a:cs typeface="Trebuchet MS"/>
              </a:rPr>
              <a:t>“bank</a:t>
            </a:r>
            <a:r>
              <a:rPr sz="900" spc="-5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is</a:t>
            </a:r>
            <a:r>
              <a:rPr sz="900" spc="-5" dirty="0">
                <a:latin typeface="Trebuchet MS"/>
                <a:cs typeface="Trebuchet MS"/>
              </a:rPr>
              <a:t> </a:t>
            </a:r>
            <a:r>
              <a:rPr sz="900" spc="-35" dirty="0">
                <a:latin typeface="Trebuchet MS"/>
                <a:cs typeface="Trebuchet MS"/>
              </a:rPr>
              <a:t>like</a:t>
            </a:r>
            <a:r>
              <a:rPr sz="900" spc="-10" dirty="0">
                <a:latin typeface="Trebuchet MS"/>
                <a:cs typeface="Trebuchet MS"/>
              </a:rPr>
              <a:t> fund”</a:t>
            </a:r>
            <a:endParaRPr sz="900">
              <a:latin typeface="Trebuchet MS"/>
              <a:cs typeface="Trebuchet MS"/>
            </a:endParaRPr>
          </a:p>
          <a:p>
            <a:pPr marL="313690" indent="-116205">
              <a:lnSpc>
                <a:spcPct val="100000"/>
              </a:lnSpc>
              <a:spcBef>
                <a:spcPts val="15"/>
              </a:spcBef>
              <a:buClr>
                <a:srgbClr val="3232B2"/>
              </a:buClr>
              <a:buSzPct val="66666"/>
              <a:buFont typeface="Lucida Sans Unicode"/>
              <a:buChar char="►"/>
              <a:tabLst>
                <a:tab pos="313690" algn="l"/>
              </a:tabLst>
            </a:pPr>
            <a:r>
              <a:rPr sz="900" dirty="0">
                <a:latin typeface="Trebuchet MS"/>
                <a:cs typeface="Trebuchet MS"/>
              </a:rPr>
              <a:t>We</a:t>
            </a:r>
            <a:r>
              <a:rPr sz="900" spc="35" dirty="0">
                <a:latin typeface="Trebuchet MS"/>
                <a:cs typeface="Trebuchet MS"/>
              </a:rPr>
              <a:t> </a:t>
            </a:r>
            <a:r>
              <a:rPr sz="900" spc="-25" dirty="0">
                <a:latin typeface="Trebuchet MS"/>
                <a:cs typeface="Trebuchet MS"/>
              </a:rPr>
              <a:t>say</a:t>
            </a:r>
            <a:endParaRPr sz="900">
              <a:latin typeface="Trebuchet MS"/>
              <a:cs typeface="Trebuchet MS"/>
            </a:endParaRPr>
          </a:p>
          <a:p>
            <a:pPr marL="449580">
              <a:lnSpc>
                <a:spcPct val="100000"/>
              </a:lnSpc>
              <a:spcBef>
                <a:spcPts val="315"/>
              </a:spcBef>
            </a:pPr>
            <a:r>
              <a:rPr sz="900" spc="375" baseline="13888" dirty="0">
                <a:solidFill>
                  <a:srgbClr val="3232B2"/>
                </a:solidFill>
                <a:latin typeface="Lucida Sans Unicode"/>
                <a:cs typeface="Lucida Sans Unicode"/>
              </a:rPr>
              <a:t>F</a:t>
            </a:r>
            <a:r>
              <a:rPr sz="900" spc="555" baseline="13888" dirty="0">
                <a:solidFill>
                  <a:srgbClr val="3232B2"/>
                </a:solidFill>
                <a:latin typeface="Lucida Sans Unicode"/>
                <a:cs typeface="Lucida Sans Unicode"/>
              </a:rPr>
              <a:t> </a:t>
            </a:r>
            <a:r>
              <a:rPr sz="800" dirty="0">
                <a:latin typeface="Trebuchet MS"/>
                <a:cs typeface="Trebuchet MS"/>
              </a:rPr>
              <a:t>Bank</a:t>
            </a:r>
            <a:r>
              <a:rPr sz="1050" baseline="27777" dirty="0">
                <a:latin typeface="Cambria"/>
                <a:cs typeface="Cambria"/>
              </a:rPr>
              <a:t>1</a:t>
            </a:r>
            <a:r>
              <a:rPr sz="1050" spc="195" baseline="27777" dirty="0">
                <a:latin typeface="Cambria"/>
                <a:cs typeface="Cambria"/>
              </a:rPr>
              <a:t> </a:t>
            </a:r>
            <a:r>
              <a:rPr sz="800" dirty="0">
                <a:latin typeface="Trebuchet MS"/>
                <a:cs typeface="Trebuchet MS"/>
              </a:rPr>
              <a:t>is</a:t>
            </a:r>
            <a:r>
              <a:rPr sz="800" spc="-10" dirty="0">
                <a:latin typeface="Trebuchet MS"/>
                <a:cs typeface="Trebuchet MS"/>
              </a:rPr>
              <a:t> similar </a:t>
            </a:r>
            <a:r>
              <a:rPr sz="800" spc="-30" dirty="0">
                <a:latin typeface="Trebuchet MS"/>
                <a:cs typeface="Trebuchet MS"/>
              </a:rPr>
              <a:t>to</a:t>
            </a:r>
            <a:r>
              <a:rPr sz="800" spc="-10" dirty="0">
                <a:latin typeface="Trebuchet MS"/>
                <a:cs typeface="Trebuchet MS"/>
              </a:rPr>
              <a:t> </a:t>
            </a:r>
            <a:r>
              <a:rPr sz="800" spc="-20" dirty="0">
                <a:latin typeface="Trebuchet MS"/>
                <a:cs typeface="Trebuchet MS"/>
              </a:rPr>
              <a:t>fund</a:t>
            </a:r>
            <a:r>
              <a:rPr sz="1050" spc="-30" baseline="27777" dirty="0">
                <a:latin typeface="Cambria"/>
                <a:cs typeface="Cambria"/>
              </a:rPr>
              <a:t>3</a:t>
            </a:r>
            <a:endParaRPr sz="1050" baseline="27777">
              <a:latin typeface="Cambria"/>
              <a:cs typeface="Cambria"/>
            </a:endParaRPr>
          </a:p>
          <a:p>
            <a:pPr marL="449580">
              <a:lnSpc>
                <a:spcPct val="100000"/>
              </a:lnSpc>
              <a:spcBef>
                <a:spcPts val="135"/>
              </a:spcBef>
            </a:pPr>
            <a:r>
              <a:rPr sz="900" spc="375" baseline="13888" dirty="0">
                <a:solidFill>
                  <a:srgbClr val="3232B2"/>
                </a:solidFill>
                <a:latin typeface="Lucida Sans Unicode"/>
                <a:cs typeface="Lucida Sans Unicode"/>
              </a:rPr>
              <a:t>F</a:t>
            </a:r>
            <a:r>
              <a:rPr sz="900" spc="555" baseline="13888" dirty="0">
                <a:solidFill>
                  <a:srgbClr val="3232B2"/>
                </a:solidFill>
                <a:latin typeface="Lucida Sans Unicode"/>
                <a:cs typeface="Lucida Sans Unicode"/>
              </a:rPr>
              <a:t> </a:t>
            </a:r>
            <a:r>
              <a:rPr sz="800" dirty="0">
                <a:latin typeface="Trebuchet MS"/>
                <a:cs typeface="Trebuchet MS"/>
              </a:rPr>
              <a:t>Bank</a:t>
            </a:r>
            <a:r>
              <a:rPr sz="1050" baseline="27777" dirty="0">
                <a:latin typeface="Cambria"/>
                <a:cs typeface="Cambria"/>
              </a:rPr>
              <a:t>2</a:t>
            </a:r>
            <a:r>
              <a:rPr sz="1050" spc="195" baseline="27777" dirty="0">
                <a:latin typeface="Cambria"/>
                <a:cs typeface="Cambria"/>
              </a:rPr>
              <a:t> </a:t>
            </a:r>
            <a:r>
              <a:rPr sz="800" dirty="0">
                <a:latin typeface="Trebuchet MS"/>
                <a:cs typeface="Trebuchet MS"/>
              </a:rPr>
              <a:t>is</a:t>
            </a:r>
            <a:r>
              <a:rPr sz="800" spc="-10" dirty="0">
                <a:latin typeface="Trebuchet MS"/>
                <a:cs typeface="Trebuchet MS"/>
              </a:rPr>
              <a:t> similar </a:t>
            </a:r>
            <a:r>
              <a:rPr sz="800" spc="-30" dirty="0">
                <a:latin typeface="Trebuchet MS"/>
                <a:cs typeface="Trebuchet MS"/>
              </a:rPr>
              <a:t>to</a:t>
            </a:r>
            <a:r>
              <a:rPr sz="800" spc="-10" dirty="0">
                <a:latin typeface="Trebuchet MS"/>
                <a:cs typeface="Trebuchet MS"/>
              </a:rPr>
              <a:t> slope</a:t>
            </a:r>
            <a:r>
              <a:rPr sz="1050" spc="-15" baseline="27777" dirty="0">
                <a:latin typeface="Cambria"/>
                <a:cs typeface="Cambria"/>
              </a:rPr>
              <a:t>5</a:t>
            </a:r>
            <a:endParaRPr sz="1050" baseline="27777">
              <a:latin typeface="Cambria"/>
              <a:cs typeface="Cambria"/>
            </a:endParaRPr>
          </a:p>
          <a:p>
            <a:pPr marL="38100">
              <a:lnSpc>
                <a:spcPct val="100000"/>
              </a:lnSpc>
              <a:spcBef>
                <a:spcPts val="545"/>
              </a:spcBef>
            </a:pPr>
            <a:r>
              <a:rPr sz="950" spc="55" dirty="0">
                <a:latin typeface="Trebuchet MS"/>
                <a:cs typeface="Trebuchet MS"/>
              </a:rPr>
              <a:t>We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spc="-50" dirty="0">
                <a:latin typeface="Trebuchet MS"/>
                <a:cs typeface="Trebuchet MS"/>
              </a:rPr>
              <a:t>will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compute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similarity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over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both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words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and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spc="50" dirty="0">
                <a:latin typeface="Trebuchet MS"/>
                <a:cs typeface="Trebuchet MS"/>
              </a:rPr>
              <a:t>senses</a:t>
            </a:r>
            <a:endParaRPr sz="950">
              <a:latin typeface="Trebuchet MS"/>
              <a:cs typeface="Trebuchet MS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597" y="1110538"/>
            <a:ext cx="64757" cy="64757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597" y="1629295"/>
            <a:ext cx="64757" cy="64757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1597" y="1996224"/>
            <a:ext cx="64757" cy="64757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81597" y="2826219"/>
            <a:ext cx="64757" cy="64757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1853082" y="3339672"/>
            <a:ext cx="90233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7" action="ppaction://hlinksldjump"/>
              </a:rPr>
              <a:t>Lexical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  <a:hlinkClick r:id="rId7" action="ppaction://hlinksldjump"/>
              </a:rPr>
              <a:t>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  <a:hlinkClick r:id="rId7" action="ppaction://hlinksldjump"/>
              </a:rPr>
              <a:t>Semantics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  <a:hlinkClick r:id="rId7" action="ppaction://hlinksldjump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7" action="ppaction://hlinksldjump"/>
              </a:rPr>
              <a:t>-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  <a:hlinkClick r:id="rId7" action="ppaction://hlinksldjump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  <a:hlinkClick r:id="rId7" action="ppaction://hlinksldjump"/>
              </a:rPr>
              <a:t>WordNet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646170" y="3339672"/>
            <a:ext cx="56388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8,</a:t>
            </a:r>
            <a:r>
              <a:rPr sz="600" i="1" spc="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2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355385" y="3339672"/>
            <a:ext cx="19875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8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10" dirty="0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</a:rPr>
              <a:t>27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FCD449AA-F28C-491C-A94F-7BF4112BB09E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4292024" y="3339672"/>
            <a:ext cx="262254" cy="116204"/>
          </a:xfrm>
          <a:prstGeom prst="rect">
            <a:avLst/>
          </a:prstGeom>
        </p:spPr>
        <p:txBody>
          <a:bodyPr/>
          <a:lstStyle/>
          <a:p>
            <a:pPr marL="75565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lang="en-IN" smtClean="0"/>
              <a:t>45</a:t>
            </a:fld>
            <a:r>
              <a:rPr lang="en-IN" spc="-5"/>
              <a:t> </a:t>
            </a:r>
            <a:r>
              <a:rPr lang="en-IN" spc="-110"/>
              <a:t>/</a:t>
            </a:r>
            <a:r>
              <a:rPr lang="en-IN" spc="15"/>
              <a:t> </a:t>
            </a:r>
            <a:r>
              <a:rPr lang="en-IN" spc="-25"/>
              <a:t>18</a:t>
            </a:r>
            <a:endParaRPr lang="en-IN" spc="-25" dirty="0"/>
          </a:p>
        </p:txBody>
      </p:sp>
    </p:spTree>
  </p:cSld>
  <p:clrMapOvr>
    <a:masterClrMapping/>
  </p:clrMapOvr>
  <p:transition>
    <p:cut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250" y="60502"/>
            <a:ext cx="191008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35" dirty="0"/>
              <a:t>Two</a:t>
            </a:r>
            <a:r>
              <a:rPr spc="45" dirty="0"/>
              <a:t> </a:t>
            </a:r>
            <a:r>
              <a:rPr dirty="0"/>
              <a:t>classes</a:t>
            </a:r>
            <a:r>
              <a:rPr spc="50" dirty="0"/>
              <a:t> </a:t>
            </a:r>
            <a:r>
              <a:rPr dirty="0"/>
              <a:t>of</a:t>
            </a:r>
            <a:r>
              <a:rPr spc="45" dirty="0"/>
              <a:t> </a:t>
            </a:r>
            <a:r>
              <a:rPr spc="-10" dirty="0"/>
              <a:t>algorithms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7743" y="1204455"/>
            <a:ext cx="4483735" cy="454659"/>
            <a:chOff x="87743" y="1204455"/>
            <a:chExt cx="4483735" cy="454659"/>
          </a:xfrm>
        </p:grpSpPr>
        <p:sp>
          <p:nvSpPr>
            <p:cNvPr id="4" name="object 4"/>
            <p:cNvSpPr/>
            <p:nvPr/>
          </p:nvSpPr>
          <p:spPr>
            <a:xfrm>
              <a:off x="87743" y="1204455"/>
              <a:ext cx="4432935" cy="186055"/>
            </a:xfrm>
            <a:custGeom>
              <a:avLst/>
              <a:gdLst/>
              <a:ahLst/>
              <a:cxnLst/>
              <a:rect l="l" t="t" r="r" b="b"/>
              <a:pathLst>
                <a:path w="4432935" h="186055">
                  <a:moveTo>
                    <a:pt x="4381754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5674"/>
                  </a:lnTo>
                  <a:lnTo>
                    <a:pt x="4432554" y="185674"/>
                  </a:lnTo>
                  <a:lnTo>
                    <a:pt x="4432554" y="50800"/>
                  </a:lnTo>
                  <a:lnTo>
                    <a:pt x="4428545" y="31075"/>
                  </a:lnTo>
                  <a:lnTo>
                    <a:pt x="4417631" y="14922"/>
                  </a:lnTo>
                  <a:lnTo>
                    <a:pt x="4401478" y="4008"/>
                  </a:lnTo>
                  <a:lnTo>
                    <a:pt x="4381754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744" y="1377467"/>
              <a:ext cx="4432554" cy="5060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8544" y="1557261"/>
              <a:ext cx="101599" cy="1016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9344" y="1544561"/>
              <a:ext cx="4381754" cy="1143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20298" y="1248689"/>
              <a:ext cx="50800" cy="308571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87743" y="1421752"/>
              <a:ext cx="4432935" cy="186690"/>
            </a:xfrm>
            <a:custGeom>
              <a:avLst/>
              <a:gdLst/>
              <a:ahLst/>
              <a:cxnLst/>
              <a:rect l="l" t="t" r="r" b="b"/>
              <a:pathLst>
                <a:path w="4432935" h="186690">
                  <a:moveTo>
                    <a:pt x="4432554" y="0"/>
                  </a:moveTo>
                  <a:lnTo>
                    <a:pt x="0" y="0"/>
                  </a:lnTo>
                  <a:lnTo>
                    <a:pt x="0" y="135508"/>
                  </a:lnTo>
                  <a:lnTo>
                    <a:pt x="4008" y="155233"/>
                  </a:lnTo>
                  <a:lnTo>
                    <a:pt x="14922" y="171386"/>
                  </a:lnTo>
                  <a:lnTo>
                    <a:pt x="31075" y="182300"/>
                  </a:lnTo>
                  <a:lnTo>
                    <a:pt x="50800" y="186308"/>
                  </a:lnTo>
                  <a:lnTo>
                    <a:pt x="4381754" y="186308"/>
                  </a:lnTo>
                  <a:lnTo>
                    <a:pt x="4401478" y="182300"/>
                  </a:lnTo>
                  <a:lnTo>
                    <a:pt x="4417631" y="171386"/>
                  </a:lnTo>
                  <a:lnTo>
                    <a:pt x="4428545" y="155233"/>
                  </a:lnTo>
                  <a:lnTo>
                    <a:pt x="4432554" y="135508"/>
                  </a:lnTo>
                  <a:lnTo>
                    <a:pt x="4432554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520310" y="1286751"/>
              <a:ext cx="0" cy="289560"/>
            </a:xfrm>
            <a:custGeom>
              <a:avLst/>
              <a:gdLst/>
              <a:ahLst/>
              <a:cxnLst/>
              <a:rect l="l" t="t" r="r" b="b"/>
              <a:pathLst>
                <a:path h="289559">
                  <a:moveTo>
                    <a:pt x="0" y="28956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520310" y="1274076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520310" y="1261376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520310" y="1248676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4" name="object 14"/>
          <p:cNvGrpSpPr/>
          <p:nvPr/>
        </p:nvGrpSpPr>
        <p:grpSpPr>
          <a:xfrm>
            <a:off x="87743" y="1759991"/>
            <a:ext cx="4483735" cy="455930"/>
            <a:chOff x="87743" y="1759991"/>
            <a:chExt cx="4483735" cy="455930"/>
          </a:xfrm>
        </p:grpSpPr>
        <p:sp>
          <p:nvSpPr>
            <p:cNvPr id="15" name="object 15"/>
            <p:cNvSpPr/>
            <p:nvPr/>
          </p:nvSpPr>
          <p:spPr>
            <a:xfrm>
              <a:off x="87743" y="1759991"/>
              <a:ext cx="4432935" cy="186055"/>
            </a:xfrm>
            <a:custGeom>
              <a:avLst/>
              <a:gdLst/>
              <a:ahLst/>
              <a:cxnLst/>
              <a:rect l="l" t="t" r="r" b="b"/>
              <a:pathLst>
                <a:path w="4432935" h="186055">
                  <a:moveTo>
                    <a:pt x="4381754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5674"/>
                  </a:lnTo>
                  <a:lnTo>
                    <a:pt x="4432554" y="185674"/>
                  </a:lnTo>
                  <a:lnTo>
                    <a:pt x="4432554" y="50800"/>
                  </a:lnTo>
                  <a:lnTo>
                    <a:pt x="4428545" y="31075"/>
                  </a:lnTo>
                  <a:lnTo>
                    <a:pt x="4417631" y="14922"/>
                  </a:lnTo>
                  <a:lnTo>
                    <a:pt x="4401478" y="4008"/>
                  </a:lnTo>
                  <a:lnTo>
                    <a:pt x="4381754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7744" y="1933003"/>
              <a:ext cx="4432554" cy="50609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38544" y="2114181"/>
              <a:ext cx="101599" cy="101600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89344" y="2101481"/>
              <a:ext cx="4381754" cy="114300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520298" y="1804225"/>
              <a:ext cx="50800" cy="309956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87743" y="1977275"/>
              <a:ext cx="4432935" cy="187960"/>
            </a:xfrm>
            <a:custGeom>
              <a:avLst/>
              <a:gdLst/>
              <a:ahLst/>
              <a:cxnLst/>
              <a:rect l="l" t="t" r="r" b="b"/>
              <a:pathLst>
                <a:path w="4432935" h="187960">
                  <a:moveTo>
                    <a:pt x="4432554" y="0"/>
                  </a:moveTo>
                  <a:lnTo>
                    <a:pt x="0" y="0"/>
                  </a:lnTo>
                  <a:lnTo>
                    <a:pt x="0" y="136906"/>
                  </a:lnTo>
                  <a:lnTo>
                    <a:pt x="4008" y="156630"/>
                  </a:lnTo>
                  <a:lnTo>
                    <a:pt x="14922" y="172783"/>
                  </a:lnTo>
                  <a:lnTo>
                    <a:pt x="31075" y="183697"/>
                  </a:lnTo>
                  <a:lnTo>
                    <a:pt x="50800" y="187706"/>
                  </a:lnTo>
                  <a:lnTo>
                    <a:pt x="4381754" y="187706"/>
                  </a:lnTo>
                  <a:lnTo>
                    <a:pt x="4401478" y="183697"/>
                  </a:lnTo>
                  <a:lnTo>
                    <a:pt x="4417631" y="172783"/>
                  </a:lnTo>
                  <a:lnTo>
                    <a:pt x="4428545" y="156630"/>
                  </a:lnTo>
                  <a:lnTo>
                    <a:pt x="4432554" y="136906"/>
                  </a:lnTo>
                  <a:lnTo>
                    <a:pt x="4432554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4520309" y="1842274"/>
              <a:ext cx="0" cy="291465"/>
            </a:xfrm>
            <a:custGeom>
              <a:avLst/>
              <a:gdLst/>
              <a:ahLst/>
              <a:cxnLst/>
              <a:rect l="l" t="t" r="r" b="b"/>
              <a:pathLst>
                <a:path h="291464">
                  <a:moveTo>
                    <a:pt x="0" y="290956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4520309" y="1829626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4520309" y="1816926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520309" y="1804226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125729" y="1132997"/>
            <a:ext cx="3947160" cy="999490"/>
          </a:xfrm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0"/>
              </a:spcBef>
            </a:pPr>
            <a:r>
              <a:rPr sz="1100" i="1" spc="-20" dirty="0">
                <a:solidFill>
                  <a:srgbClr val="3232B2"/>
                </a:solidFill>
                <a:latin typeface="Cambria"/>
                <a:cs typeface="Cambria"/>
              </a:rPr>
              <a:t>Distributional</a:t>
            </a:r>
            <a:r>
              <a:rPr sz="1100" i="1" spc="25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100" i="1" spc="-10" dirty="0">
                <a:solidFill>
                  <a:srgbClr val="3232B2"/>
                </a:solidFill>
                <a:latin typeface="Cambria"/>
                <a:cs typeface="Cambria"/>
              </a:rPr>
              <a:t>algorithms</a:t>
            </a:r>
            <a:endParaRPr sz="11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400"/>
              </a:spcBef>
            </a:pPr>
            <a:r>
              <a:rPr sz="950" spc="70" dirty="0">
                <a:latin typeface="Trebuchet MS"/>
                <a:cs typeface="Trebuchet MS"/>
              </a:rPr>
              <a:t>By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comparing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words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based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on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spc="-30" dirty="0">
                <a:latin typeface="Trebuchet MS"/>
                <a:cs typeface="Trebuchet MS"/>
              </a:rPr>
              <a:t>their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spc="-25" dirty="0">
                <a:latin typeface="Trebuchet MS"/>
                <a:cs typeface="Trebuchet MS"/>
              </a:rPr>
              <a:t>distributional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context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in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corpora</a:t>
            </a:r>
            <a:endParaRPr sz="9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409"/>
              </a:spcBef>
            </a:pPr>
            <a:endParaRPr sz="9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100" i="1" spc="-30" dirty="0">
                <a:solidFill>
                  <a:srgbClr val="3232B2"/>
                </a:solidFill>
                <a:latin typeface="Cambria"/>
                <a:cs typeface="Cambria"/>
              </a:rPr>
              <a:t>Thesaurus-</a:t>
            </a:r>
            <a:r>
              <a:rPr sz="1100" i="1" spc="-10" dirty="0">
                <a:solidFill>
                  <a:srgbClr val="3232B2"/>
                </a:solidFill>
                <a:latin typeface="Cambria"/>
                <a:cs typeface="Cambria"/>
              </a:rPr>
              <a:t>based</a:t>
            </a:r>
            <a:r>
              <a:rPr sz="1100" i="1" spc="65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100" i="1" spc="-10" dirty="0">
                <a:solidFill>
                  <a:srgbClr val="3232B2"/>
                </a:solidFill>
                <a:latin typeface="Cambria"/>
                <a:cs typeface="Cambria"/>
              </a:rPr>
              <a:t>algorithms</a:t>
            </a:r>
            <a:endParaRPr sz="11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425"/>
              </a:spcBef>
            </a:pPr>
            <a:r>
              <a:rPr sz="950" spc="60" dirty="0">
                <a:latin typeface="Trebuchet MS"/>
                <a:cs typeface="Trebuchet MS"/>
              </a:rPr>
              <a:t>Based</a:t>
            </a:r>
            <a:r>
              <a:rPr sz="950" dirty="0">
                <a:latin typeface="Trebuchet MS"/>
                <a:cs typeface="Trebuchet MS"/>
              </a:rPr>
              <a:t> on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whether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words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are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spc="-35" dirty="0">
                <a:latin typeface="Trebuchet MS"/>
                <a:cs typeface="Trebuchet MS"/>
              </a:rPr>
              <a:t>“nearby”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in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WordNet</a:t>
            </a:r>
            <a:endParaRPr sz="950">
              <a:latin typeface="Trebuchet MS"/>
              <a:cs typeface="Trebuchet MS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853082" y="3339672"/>
            <a:ext cx="90233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10" action="ppaction://hlinksldjump"/>
              </a:rPr>
              <a:t>Lexical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  <a:hlinkClick r:id="rId10" action="ppaction://hlinksldjump"/>
              </a:rPr>
              <a:t>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  <a:hlinkClick r:id="rId10" action="ppaction://hlinksldjump"/>
              </a:rPr>
              <a:t>Semantics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  <a:hlinkClick r:id="rId10" action="ppaction://hlinksldjump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10" action="ppaction://hlinksldjump"/>
              </a:rPr>
              <a:t>-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  <a:hlinkClick r:id="rId10" action="ppaction://hlinksldjump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  <a:hlinkClick r:id="rId10" action="ppaction://hlinksldjump"/>
              </a:rPr>
              <a:t>WordNet</a:t>
            </a:r>
            <a:endParaRPr sz="600" dirty="0">
              <a:latin typeface="Cambria"/>
              <a:cs typeface="Cambria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3646170" y="3339672"/>
            <a:ext cx="56388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8,</a:t>
            </a:r>
            <a:r>
              <a:rPr sz="600" i="1" spc="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2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33" name="object 33"/>
          <p:cNvSpPr txBox="1">
            <a:spLocks noGrp="1"/>
          </p:cNvSpPr>
          <p:nvPr>
            <p:ph type="sldNum" sz="quarter" idx="4294967295"/>
          </p:nvPr>
        </p:nvSpPr>
        <p:spPr>
          <a:xfrm>
            <a:off x="4292024" y="3339672"/>
            <a:ext cx="262254" cy="116204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75565">
              <a:lnSpc>
                <a:spcPct val="100000"/>
              </a:lnSpc>
              <a:spcBef>
                <a:spcPts val="50"/>
              </a:spcBef>
            </a:pPr>
            <a:r>
              <a:rPr dirty="0"/>
              <a:t>9</a:t>
            </a:r>
            <a:r>
              <a:rPr spc="-5" dirty="0"/>
              <a:t> </a:t>
            </a:r>
            <a:r>
              <a:rPr spc="-110" dirty="0"/>
              <a:t>/</a:t>
            </a:r>
            <a:r>
              <a:rPr spc="15" dirty="0"/>
              <a:t> </a:t>
            </a:r>
            <a:r>
              <a:rPr spc="-25" dirty="0"/>
              <a:t>27</a:t>
            </a:r>
          </a:p>
        </p:txBody>
      </p:sp>
    </p:spTree>
  </p:cSld>
  <p:clrMapOvr>
    <a:masterClrMapping/>
  </p:clrMapOvr>
  <p:transition>
    <p:cut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Thesaurus-</a:t>
            </a:r>
            <a:r>
              <a:rPr dirty="0"/>
              <a:t>based</a:t>
            </a:r>
            <a:r>
              <a:rPr spc="20" dirty="0"/>
              <a:t> </a:t>
            </a:r>
            <a:r>
              <a:rPr spc="-60" dirty="0"/>
              <a:t>Word</a:t>
            </a:r>
            <a:r>
              <a:rPr spc="25" dirty="0"/>
              <a:t> </a:t>
            </a:r>
            <a:r>
              <a:rPr spc="-10" dirty="0"/>
              <a:t>Similarity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597" y="915530"/>
            <a:ext cx="64757" cy="64757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77532" y="803476"/>
            <a:ext cx="2290445" cy="544195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59"/>
              </a:spcBef>
            </a:pPr>
            <a:r>
              <a:rPr sz="950" spc="55" dirty="0">
                <a:latin typeface="Trebuchet MS"/>
                <a:cs typeface="Trebuchet MS"/>
              </a:rPr>
              <a:t>We</a:t>
            </a:r>
            <a:r>
              <a:rPr sz="950" spc="-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could</a:t>
            </a:r>
            <a:r>
              <a:rPr sz="950" spc="-20" dirty="0">
                <a:latin typeface="Trebuchet MS"/>
                <a:cs typeface="Trebuchet MS"/>
              </a:rPr>
              <a:t> </a:t>
            </a:r>
            <a:r>
              <a:rPr sz="950" spc="50" dirty="0">
                <a:latin typeface="Trebuchet MS"/>
                <a:cs typeface="Trebuchet MS"/>
              </a:rPr>
              <a:t>use</a:t>
            </a:r>
            <a:r>
              <a:rPr sz="950" spc="-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anything</a:t>
            </a:r>
            <a:r>
              <a:rPr sz="950" spc="-2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in</a:t>
            </a:r>
            <a:r>
              <a:rPr sz="950" spc="-2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-2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thesaurus:</a:t>
            </a:r>
            <a:endParaRPr sz="950">
              <a:latin typeface="Trebuchet MS"/>
              <a:cs typeface="Trebuchet MS"/>
            </a:endParaRPr>
          </a:p>
          <a:p>
            <a:pPr marL="313690" indent="-116205">
              <a:lnSpc>
                <a:spcPct val="100000"/>
              </a:lnSpc>
              <a:spcBef>
                <a:spcPts val="305"/>
              </a:spcBef>
              <a:buClr>
                <a:srgbClr val="3232B2"/>
              </a:buClr>
              <a:buSzPct val="66666"/>
              <a:buFont typeface="Lucida Sans Unicode"/>
              <a:buChar char="►"/>
              <a:tabLst>
                <a:tab pos="313690" algn="l"/>
              </a:tabLst>
            </a:pPr>
            <a:r>
              <a:rPr sz="900" spc="-20" dirty="0">
                <a:latin typeface="Trebuchet MS"/>
                <a:cs typeface="Trebuchet MS"/>
              </a:rPr>
              <a:t>Meronymy,</a:t>
            </a:r>
            <a:r>
              <a:rPr sz="900" spc="10" dirty="0">
                <a:latin typeface="Trebuchet MS"/>
                <a:cs typeface="Trebuchet MS"/>
              </a:rPr>
              <a:t> </a:t>
            </a:r>
            <a:r>
              <a:rPr sz="900" spc="-30" dirty="0">
                <a:latin typeface="Trebuchet MS"/>
                <a:cs typeface="Trebuchet MS"/>
              </a:rPr>
              <a:t>hyponymy,</a:t>
            </a:r>
            <a:r>
              <a:rPr sz="900" spc="10" dirty="0">
                <a:latin typeface="Trebuchet MS"/>
                <a:cs typeface="Trebuchet MS"/>
              </a:rPr>
              <a:t> </a:t>
            </a:r>
            <a:r>
              <a:rPr sz="900" spc="-10" dirty="0">
                <a:latin typeface="Trebuchet MS"/>
                <a:cs typeface="Trebuchet MS"/>
              </a:rPr>
              <a:t>troponymy</a:t>
            </a:r>
            <a:endParaRPr sz="900">
              <a:latin typeface="Trebuchet MS"/>
              <a:cs typeface="Trebuchet MS"/>
            </a:endParaRPr>
          </a:p>
          <a:p>
            <a:pPr marL="313690" indent="-116205">
              <a:lnSpc>
                <a:spcPct val="100000"/>
              </a:lnSpc>
              <a:spcBef>
                <a:spcPts val="114"/>
              </a:spcBef>
              <a:buClr>
                <a:srgbClr val="3232B2"/>
              </a:buClr>
              <a:buSzPct val="66666"/>
              <a:buFont typeface="Lucida Sans Unicode"/>
              <a:buChar char="►"/>
              <a:tabLst>
                <a:tab pos="313690" algn="l"/>
              </a:tabLst>
            </a:pPr>
            <a:r>
              <a:rPr sz="900" dirty="0">
                <a:latin typeface="Trebuchet MS"/>
                <a:cs typeface="Trebuchet MS"/>
              </a:rPr>
              <a:t>Glosses</a:t>
            </a:r>
            <a:r>
              <a:rPr sz="900" spc="75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and</a:t>
            </a:r>
            <a:r>
              <a:rPr sz="900" spc="80" dirty="0">
                <a:latin typeface="Trebuchet MS"/>
                <a:cs typeface="Trebuchet MS"/>
              </a:rPr>
              <a:t> </a:t>
            </a:r>
            <a:r>
              <a:rPr sz="900" spc="-10" dirty="0">
                <a:latin typeface="Trebuchet MS"/>
                <a:cs typeface="Trebuchet MS"/>
              </a:rPr>
              <a:t>example</a:t>
            </a:r>
            <a:r>
              <a:rPr sz="900" spc="80" dirty="0">
                <a:latin typeface="Trebuchet MS"/>
                <a:cs typeface="Trebuchet MS"/>
              </a:rPr>
              <a:t> </a:t>
            </a:r>
            <a:r>
              <a:rPr sz="900" spc="-10" dirty="0">
                <a:latin typeface="Trebuchet MS"/>
                <a:cs typeface="Trebuchet MS"/>
              </a:rPr>
              <a:t>sentences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853082" y="3339672"/>
            <a:ext cx="90233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Lexical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Semantics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-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WordNet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608260" y="3339672"/>
            <a:ext cx="56388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8,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2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317424" y="3339672"/>
            <a:ext cx="236854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10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10" dirty="0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</a:rPr>
              <a:t>27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32E8736F-65B2-4313-9247-B5D90E7791DF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4292024" y="3339672"/>
            <a:ext cx="262254" cy="116204"/>
          </a:xfrm>
          <a:prstGeom prst="rect">
            <a:avLst/>
          </a:prstGeom>
        </p:spPr>
        <p:txBody>
          <a:bodyPr/>
          <a:lstStyle/>
          <a:p>
            <a:pPr marL="75565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lang="en-IN" smtClean="0"/>
              <a:t>47</a:t>
            </a:fld>
            <a:r>
              <a:rPr lang="en-IN" spc="-5"/>
              <a:t> </a:t>
            </a:r>
            <a:r>
              <a:rPr lang="en-IN" spc="-110"/>
              <a:t>/</a:t>
            </a:r>
            <a:r>
              <a:rPr lang="en-IN" spc="15"/>
              <a:t> </a:t>
            </a:r>
            <a:r>
              <a:rPr lang="en-IN" spc="-25"/>
              <a:t>18</a:t>
            </a:r>
            <a:endParaRPr lang="en-IN" spc="-25" dirty="0"/>
          </a:p>
        </p:txBody>
      </p:sp>
    </p:spTree>
  </p:cSld>
  <p:clrMapOvr>
    <a:masterClrMapping/>
  </p:clrMapOvr>
  <p:transition>
    <p:cut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Thesaurus-</a:t>
            </a:r>
            <a:r>
              <a:rPr dirty="0"/>
              <a:t>based</a:t>
            </a:r>
            <a:r>
              <a:rPr spc="20" dirty="0"/>
              <a:t> </a:t>
            </a:r>
            <a:r>
              <a:rPr spc="-60" dirty="0"/>
              <a:t>Word</a:t>
            </a:r>
            <a:r>
              <a:rPr spc="25" dirty="0"/>
              <a:t> </a:t>
            </a:r>
            <a:r>
              <a:rPr spc="-10" dirty="0"/>
              <a:t>Similarity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597" y="915530"/>
            <a:ext cx="64757" cy="64757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77532" y="803476"/>
            <a:ext cx="2937510" cy="1062990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59"/>
              </a:spcBef>
            </a:pPr>
            <a:r>
              <a:rPr sz="950" spc="55" dirty="0">
                <a:latin typeface="Trebuchet MS"/>
                <a:cs typeface="Trebuchet MS"/>
              </a:rPr>
              <a:t>We</a:t>
            </a:r>
            <a:r>
              <a:rPr sz="950" spc="-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could</a:t>
            </a:r>
            <a:r>
              <a:rPr sz="950" spc="-20" dirty="0">
                <a:latin typeface="Trebuchet MS"/>
                <a:cs typeface="Trebuchet MS"/>
              </a:rPr>
              <a:t> </a:t>
            </a:r>
            <a:r>
              <a:rPr sz="950" spc="50" dirty="0">
                <a:latin typeface="Trebuchet MS"/>
                <a:cs typeface="Trebuchet MS"/>
              </a:rPr>
              <a:t>use</a:t>
            </a:r>
            <a:r>
              <a:rPr sz="950" spc="-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anything</a:t>
            </a:r>
            <a:r>
              <a:rPr sz="950" spc="-2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in</a:t>
            </a:r>
            <a:r>
              <a:rPr sz="950" spc="-2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-2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thesaurus:</a:t>
            </a:r>
            <a:endParaRPr sz="950">
              <a:latin typeface="Trebuchet MS"/>
              <a:cs typeface="Trebuchet MS"/>
            </a:endParaRPr>
          </a:p>
          <a:p>
            <a:pPr marL="313690" indent="-116205">
              <a:lnSpc>
                <a:spcPct val="100000"/>
              </a:lnSpc>
              <a:spcBef>
                <a:spcPts val="305"/>
              </a:spcBef>
              <a:buClr>
                <a:srgbClr val="3232B2"/>
              </a:buClr>
              <a:buSzPct val="66666"/>
              <a:buFont typeface="Lucida Sans Unicode"/>
              <a:buChar char="►"/>
              <a:tabLst>
                <a:tab pos="313690" algn="l"/>
              </a:tabLst>
            </a:pPr>
            <a:r>
              <a:rPr sz="900" spc="-20" dirty="0">
                <a:latin typeface="Trebuchet MS"/>
                <a:cs typeface="Trebuchet MS"/>
              </a:rPr>
              <a:t>Meronymy,</a:t>
            </a:r>
            <a:r>
              <a:rPr sz="900" spc="10" dirty="0">
                <a:latin typeface="Trebuchet MS"/>
                <a:cs typeface="Trebuchet MS"/>
              </a:rPr>
              <a:t> </a:t>
            </a:r>
            <a:r>
              <a:rPr sz="900" spc="-30" dirty="0">
                <a:latin typeface="Trebuchet MS"/>
                <a:cs typeface="Trebuchet MS"/>
              </a:rPr>
              <a:t>hyponymy,</a:t>
            </a:r>
            <a:r>
              <a:rPr sz="900" spc="10" dirty="0">
                <a:latin typeface="Trebuchet MS"/>
                <a:cs typeface="Trebuchet MS"/>
              </a:rPr>
              <a:t> </a:t>
            </a:r>
            <a:r>
              <a:rPr sz="900" spc="-10" dirty="0">
                <a:latin typeface="Trebuchet MS"/>
                <a:cs typeface="Trebuchet MS"/>
              </a:rPr>
              <a:t>troponymy</a:t>
            </a:r>
            <a:endParaRPr sz="900">
              <a:latin typeface="Trebuchet MS"/>
              <a:cs typeface="Trebuchet MS"/>
            </a:endParaRPr>
          </a:p>
          <a:p>
            <a:pPr marL="313690" indent="-116205">
              <a:lnSpc>
                <a:spcPct val="100000"/>
              </a:lnSpc>
              <a:spcBef>
                <a:spcPts val="114"/>
              </a:spcBef>
              <a:buClr>
                <a:srgbClr val="3232B2"/>
              </a:buClr>
              <a:buSzPct val="66666"/>
              <a:buFont typeface="Lucida Sans Unicode"/>
              <a:buChar char="►"/>
              <a:tabLst>
                <a:tab pos="313690" algn="l"/>
              </a:tabLst>
            </a:pPr>
            <a:r>
              <a:rPr sz="900" dirty="0">
                <a:latin typeface="Trebuchet MS"/>
                <a:cs typeface="Trebuchet MS"/>
              </a:rPr>
              <a:t>Glosses</a:t>
            </a:r>
            <a:r>
              <a:rPr sz="900" spc="75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and</a:t>
            </a:r>
            <a:r>
              <a:rPr sz="900" spc="80" dirty="0">
                <a:latin typeface="Trebuchet MS"/>
                <a:cs typeface="Trebuchet MS"/>
              </a:rPr>
              <a:t> </a:t>
            </a:r>
            <a:r>
              <a:rPr sz="900" spc="-10" dirty="0">
                <a:latin typeface="Trebuchet MS"/>
                <a:cs typeface="Trebuchet MS"/>
              </a:rPr>
              <a:t>example</a:t>
            </a:r>
            <a:r>
              <a:rPr sz="900" spc="80" dirty="0">
                <a:latin typeface="Trebuchet MS"/>
                <a:cs typeface="Trebuchet MS"/>
              </a:rPr>
              <a:t> </a:t>
            </a:r>
            <a:r>
              <a:rPr sz="900" spc="-10" dirty="0">
                <a:latin typeface="Trebuchet MS"/>
                <a:cs typeface="Trebuchet MS"/>
              </a:rPr>
              <a:t>sentences</a:t>
            </a:r>
            <a:endParaRPr sz="900">
              <a:latin typeface="Trebuchet MS"/>
              <a:cs typeface="Trebuchet MS"/>
            </a:endParaRPr>
          </a:p>
          <a:p>
            <a:pPr marL="38100">
              <a:lnSpc>
                <a:spcPct val="100000"/>
              </a:lnSpc>
              <a:spcBef>
                <a:spcPts val="365"/>
              </a:spcBef>
            </a:pPr>
            <a:r>
              <a:rPr sz="950" dirty="0">
                <a:latin typeface="Trebuchet MS"/>
                <a:cs typeface="Trebuchet MS"/>
              </a:rPr>
              <a:t>In</a:t>
            </a:r>
            <a:r>
              <a:rPr sz="950" spc="60" dirty="0">
                <a:latin typeface="Trebuchet MS"/>
                <a:cs typeface="Trebuchet MS"/>
              </a:rPr>
              <a:t> </a:t>
            </a:r>
            <a:r>
              <a:rPr sz="950" spc="-25" dirty="0">
                <a:latin typeface="Trebuchet MS"/>
                <a:cs typeface="Trebuchet MS"/>
              </a:rPr>
              <a:t>practice,</a:t>
            </a:r>
            <a:r>
              <a:rPr sz="950" spc="6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“thesaurus-</a:t>
            </a:r>
            <a:r>
              <a:rPr sz="950" dirty="0">
                <a:latin typeface="Trebuchet MS"/>
                <a:cs typeface="Trebuchet MS"/>
              </a:rPr>
              <a:t>based”</a:t>
            </a:r>
            <a:r>
              <a:rPr sz="950" spc="6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methods</a:t>
            </a:r>
            <a:r>
              <a:rPr sz="950" spc="6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usually</a:t>
            </a:r>
            <a:r>
              <a:rPr sz="950" spc="60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use:</a:t>
            </a:r>
            <a:endParaRPr sz="950">
              <a:latin typeface="Trebuchet MS"/>
              <a:cs typeface="Trebuchet MS"/>
            </a:endParaRPr>
          </a:p>
          <a:p>
            <a:pPr marL="313690" indent="-116205">
              <a:lnSpc>
                <a:spcPct val="100000"/>
              </a:lnSpc>
              <a:spcBef>
                <a:spcPts val="305"/>
              </a:spcBef>
              <a:buClr>
                <a:srgbClr val="3232B2"/>
              </a:buClr>
              <a:buSzPct val="66666"/>
              <a:buFont typeface="Lucida Sans Unicode"/>
              <a:buChar char="►"/>
              <a:tabLst>
                <a:tab pos="313690" algn="l"/>
              </a:tabLst>
            </a:pPr>
            <a:r>
              <a:rPr sz="900" spc="-25" dirty="0">
                <a:latin typeface="Trebuchet MS"/>
                <a:cs typeface="Trebuchet MS"/>
              </a:rPr>
              <a:t>the</a:t>
            </a:r>
            <a:r>
              <a:rPr sz="900" spc="40" dirty="0">
                <a:latin typeface="Trebuchet MS"/>
                <a:cs typeface="Trebuchet MS"/>
              </a:rPr>
              <a:t> </a:t>
            </a:r>
            <a:r>
              <a:rPr sz="900" spc="-25" dirty="0">
                <a:latin typeface="Trebuchet MS"/>
                <a:cs typeface="Trebuchet MS"/>
              </a:rPr>
              <a:t>is-a/subsumption/hypernymy</a:t>
            </a:r>
            <a:r>
              <a:rPr sz="900" spc="45" dirty="0">
                <a:latin typeface="Trebuchet MS"/>
                <a:cs typeface="Trebuchet MS"/>
              </a:rPr>
              <a:t> </a:t>
            </a:r>
            <a:r>
              <a:rPr sz="900" spc="-10" dirty="0">
                <a:latin typeface="Trebuchet MS"/>
                <a:cs typeface="Trebuchet MS"/>
              </a:rPr>
              <a:t>hierarchy</a:t>
            </a:r>
            <a:endParaRPr sz="900">
              <a:latin typeface="Trebuchet MS"/>
              <a:cs typeface="Trebuchet MS"/>
            </a:endParaRPr>
          </a:p>
          <a:p>
            <a:pPr marL="313690" indent="-116205">
              <a:lnSpc>
                <a:spcPct val="100000"/>
              </a:lnSpc>
              <a:spcBef>
                <a:spcPts val="114"/>
              </a:spcBef>
              <a:buClr>
                <a:srgbClr val="3232B2"/>
              </a:buClr>
              <a:buSzPct val="66666"/>
              <a:buFont typeface="Lucida Sans Unicode"/>
              <a:buChar char="►"/>
              <a:tabLst>
                <a:tab pos="313690" algn="l"/>
              </a:tabLst>
            </a:pPr>
            <a:r>
              <a:rPr sz="900" dirty="0">
                <a:latin typeface="Trebuchet MS"/>
                <a:cs typeface="Trebuchet MS"/>
              </a:rPr>
              <a:t>and</a:t>
            </a:r>
            <a:r>
              <a:rPr sz="900" spc="40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sometimes</a:t>
            </a:r>
            <a:r>
              <a:rPr sz="900" spc="40" dirty="0">
                <a:latin typeface="Trebuchet MS"/>
                <a:cs typeface="Trebuchet MS"/>
              </a:rPr>
              <a:t> </a:t>
            </a:r>
            <a:r>
              <a:rPr sz="900" spc="-25" dirty="0">
                <a:latin typeface="Trebuchet MS"/>
                <a:cs typeface="Trebuchet MS"/>
              </a:rPr>
              <a:t>the</a:t>
            </a:r>
            <a:r>
              <a:rPr sz="900" spc="40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glosses</a:t>
            </a:r>
            <a:r>
              <a:rPr sz="900" spc="40" dirty="0">
                <a:latin typeface="Trebuchet MS"/>
                <a:cs typeface="Trebuchet MS"/>
              </a:rPr>
              <a:t> </a:t>
            </a:r>
            <a:r>
              <a:rPr sz="900" spc="-25" dirty="0">
                <a:latin typeface="Trebuchet MS"/>
                <a:cs typeface="Trebuchet MS"/>
              </a:rPr>
              <a:t>too</a:t>
            </a:r>
            <a:endParaRPr sz="900">
              <a:latin typeface="Trebuchet MS"/>
              <a:cs typeface="Trebuchet MS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597" y="1434287"/>
            <a:ext cx="64757" cy="64757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1853082" y="3339672"/>
            <a:ext cx="90233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4" action="ppaction://hlinksldjump"/>
              </a:rPr>
              <a:t>Lexical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  <a:hlinkClick r:id="rId4" action="ppaction://hlinksldjump"/>
              </a:rPr>
              <a:t>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  <a:hlinkClick r:id="rId4" action="ppaction://hlinksldjump"/>
              </a:rPr>
              <a:t>Semantics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  <a:hlinkClick r:id="rId4" action="ppaction://hlinksldjump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4" action="ppaction://hlinksldjump"/>
              </a:rPr>
              <a:t>-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  <a:hlinkClick r:id="rId4" action="ppaction://hlinksldjump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  <a:hlinkClick r:id="rId4" action="ppaction://hlinksldjump"/>
              </a:rPr>
              <a:t>WordNet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608260" y="3339672"/>
            <a:ext cx="56388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8,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2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317424" y="3339672"/>
            <a:ext cx="236854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10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10" dirty="0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</a:rPr>
              <a:t>27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DDA98D08-4E62-4E88-88EB-855089A1F35F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4292024" y="3339672"/>
            <a:ext cx="262254" cy="116204"/>
          </a:xfrm>
          <a:prstGeom prst="rect">
            <a:avLst/>
          </a:prstGeom>
        </p:spPr>
        <p:txBody>
          <a:bodyPr/>
          <a:lstStyle/>
          <a:p>
            <a:pPr marL="75565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lang="en-IN" smtClean="0"/>
              <a:t>48</a:t>
            </a:fld>
            <a:r>
              <a:rPr lang="en-IN" spc="-5"/>
              <a:t> </a:t>
            </a:r>
            <a:r>
              <a:rPr lang="en-IN" spc="-110"/>
              <a:t>/</a:t>
            </a:r>
            <a:r>
              <a:rPr lang="en-IN" spc="15"/>
              <a:t> </a:t>
            </a:r>
            <a:r>
              <a:rPr lang="en-IN" spc="-25"/>
              <a:t>18</a:t>
            </a:r>
            <a:endParaRPr lang="en-IN" spc="-25" dirty="0"/>
          </a:p>
        </p:txBody>
      </p:sp>
    </p:spTree>
  </p:cSld>
  <p:clrMapOvr>
    <a:masterClrMapping/>
  </p:clrMapOvr>
  <p:transition>
    <p:cut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Thesaurus-</a:t>
            </a:r>
            <a:r>
              <a:rPr dirty="0"/>
              <a:t>based</a:t>
            </a:r>
            <a:r>
              <a:rPr spc="20" dirty="0"/>
              <a:t> </a:t>
            </a:r>
            <a:r>
              <a:rPr spc="-60" dirty="0"/>
              <a:t>Word</a:t>
            </a:r>
            <a:r>
              <a:rPr spc="25" dirty="0"/>
              <a:t> </a:t>
            </a:r>
            <a:r>
              <a:rPr spc="-10" dirty="0"/>
              <a:t>Similarity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597" y="915530"/>
            <a:ext cx="64757" cy="64757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77532" y="803476"/>
            <a:ext cx="2937510" cy="1870075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59"/>
              </a:spcBef>
            </a:pPr>
            <a:r>
              <a:rPr sz="950" spc="55" dirty="0">
                <a:latin typeface="Trebuchet MS"/>
                <a:cs typeface="Trebuchet MS"/>
              </a:rPr>
              <a:t>We</a:t>
            </a:r>
            <a:r>
              <a:rPr sz="950" spc="-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could</a:t>
            </a:r>
            <a:r>
              <a:rPr sz="950" spc="-20" dirty="0">
                <a:latin typeface="Trebuchet MS"/>
                <a:cs typeface="Trebuchet MS"/>
              </a:rPr>
              <a:t> </a:t>
            </a:r>
            <a:r>
              <a:rPr sz="950" spc="50" dirty="0">
                <a:latin typeface="Trebuchet MS"/>
                <a:cs typeface="Trebuchet MS"/>
              </a:rPr>
              <a:t>use</a:t>
            </a:r>
            <a:r>
              <a:rPr sz="950" spc="-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anything</a:t>
            </a:r>
            <a:r>
              <a:rPr sz="950" spc="-2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in</a:t>
            </a:r>
            <a:r>
              <a:rPr sz="950" spc="-2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-2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thesaurus:</a:t>
            </a:r>
            <a:endParaRPr sz="950">
              <a:latin typeface="Trebuchet MS"/>
              <a:cs typeface="Trebuchet MS"/>
            </a:endParaRPr>
          </a:p>
          <a:p>
            <a:pPr marL="313690" indent="-116205">
              <a:lnSpc>
                <a:spcPct val="100000"/>
              </a:lnSpc>
              <a:spcBef>
                <a:spcPts val="305"/>
              </a:spcBef>
              <a:buClr>
                <a:srgbClr val="3232B2"/>
              </a:buClr>
              <a:buSzPct val="66666"/>
              <a:buFont typeface="Lucida Sans Unicode"/>
              <a:buChar char="►"/>
              <a:tabLst>
                <a:tab pos="313690" algn="l"/>
              </a:tabLst>
            </a:pPr>
            <a:r>
              <a:rPr sz="900" spc="-20" dirty="0">
                <a:latin typeface="Trebuchet MS"/>
                <a:cs typeface="Trebuchet MS"/>
              </a:rPr>
              <a:t>Meronymy,</a:t>
            </a:r>
            <a:r>
              <a:rPr sz="900" spc="10" dirty="0">
                <a:latin typeface="Trebuchet MS"/>
                <a:cs typeface="Trebuchet MS"/>
              </a:rPr>
              <a:t> </a:t>
            </a:r>
            <a:r>
              <a:rPr sz="900" spc="-30" dirty="0">
                <a:latin typeface="Trebuchet MS"/>
                <a:cs typeface="Trebuchet MS"/>
              </a:rPr>
              <a:t>hyponymy,</a:t>
            </a:r>
            <a:r>
              <a:rPr sz="900" spc="10" dirty="0">
                <a:latin typeface="Trebuchet MS"/>
                <a:cs typeface="Trebuchet MS"/>
              </a:rPr>
              <a:t> </a:t>
            </a:r>
            <a:r>
              <a:rPr sz="900" spc="-10" dirty="0">
                <a:latin typeface="Trebuchet MS"/>
                <a:cs typeface="Trebuchet MS"/>
              </a:rPr>
              <a:t>troponymy</a:t>
            </a:r>
            <a:endParaRPr sz="900">
              <a:latin typeface="Trebuchet MS"/>
              <a:cs typeface="Trebuchet MS"/>
            </a:endParaRPr>
          </a:p>
          <a:p>
            <a:pPr marL="313690" indent="-116205">
              <a:lnSpc>
                <a:spcPct val="100000"/>
              </a:lnSpc>
              <a:spcBef>
                <a:spcPts val="114"/>
              </a:spcBef>
              <a:buClr>
                <a:srgbClr val="3232B2"/>
              </a:buClr>
              <a:buSzPct val="66666"/>
              <a:buFont typeface="Lucida Sans Unicode"/>
              <a:buChar char="►"/>
              <a:tabLst>
                <a:tab pos="313690" algn="l"/>
              </a:tabLst>
            </a:pPr>
            <a:r>
              <a:rPr sz="900" dirty="0">
                <a:latin typeface="Trebuchet MS"/>
                <a:cs typeface="Trebuchet MS"/>
              </a:rPr>
              <a:t>Glosses</a:t>
            </a:r>
            <a:r>
              <a:rPr sz="900" spc="75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and</a:t>
            </a:r>
            <a:r>
              <a:rPr sz="900" spc="80" dirty="0">
                <a:latin typeface="Trebuchet MS"/>
                <a:cs typeface="Trebuchet MS"/>
              </a:rPr>
              <a:t> </a:t>
            </a:r>
            <a:r>
              <a:rPr sz="900" spc="-10" dirty="0">
                <a:latin typeface="Trebuchet MS"/>
                <a:cs typeface="Trebuchet MS"/>
              </a:rPr>
              <a:t>example</a:t>
            </a:r>
            <a:r>
              <a:rPr sz="900" spc="80" dirty="0">
                <a:latin typeface="Trebuchet MS"/>
                <a:cs typeface="Trebuchet MS"/>
              </a:rPr>
              <a:t> </a:t>
            </a:r>
            <a:r>
              <a:rPr sz="900" spc="-10" dirty="0">
                <a:latin typeface="Trebuchet MS"/>
                <a:cs typeface="Trebuchet MS"/>
              </a:rPr>
              <a:t>sentences</a:t>
            </a:r>
            <a:endParaRPr sz="900">
              <a:latin typeface="Trebuchet MS"/>
              <a:cs typeface="Trebuchet MS"/>
            </a:endParaRPr>
          </a:p>
          <a:p>
            <a:pPr marL="38100">
              <a:lnSpc>
                <a:spcPct val="100000"/>
              </a:lnSpc>
              <a:spcBef>
                <a:spcPts val="365"/>
              </a:spcBef>
            </a:pPr>
            <a:r>
              <a:rPr sz="950" dirty="0">
                <a:latin typeface="Trebuchet MS"/>
                <a:cs typeface="Trebuchet MS"/>
              </a:rPr>
              <a:t>In</a:t>
            </a:r>
            <a:r>
              <a:rPr sz="950" spc="60" dirty="0">
                <a:latin typeface="Trebuchet MS"/>
                <a:cs typeface="Trebuchet MS"/>
              </a:rPr>
              <a:t> </a:t>
            </a:r>
            <a:r>
              <a:rPr sz="950" spc="-25" dirty="0">
                <a:latin typeface="Trebuchet MS"/>
                <a:cs typeface="Trebuchet MS"/>
              </a:rPr>
              <a:t>practice,</a:t>
            </a:r>
            <a:r>
              <a:rPr sz="950" spc="6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“thesaurus-</a:t>
            </a:r>
            <a:r>
              <a:rPr sz="950" dirty="0">
                <a:latin typeface="Trebuchet MS"/>
                <a:cs typeface="Trebuchet MS"/>
              </a:rPr>
              <a:t>based”</a:t>
            </a:r>
            <a:r>
              <a:rPr sz="950" spc="6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methods</a:t>
            </a:r>
            <a:r>
              <a:rPr sz="950" spc="6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usually</a:t>
            </a:r>
            <a:r>
              <a:rPr sz="950" spc="60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use:</a:t>
            </a:r>
            <a:endParaRPr sz="950">
              <a:latin typeface="Trebuchet MS"/>
              <a:cs typeface="Trebuchet MS"/>
            </a:endParaRPr>
          </a:p>
          <a:p>
            <a:pPr marL="313690" indent="-116205">
              <a:lnSpc>
                <a:spcPct val="100000"/>
              </a:lnSpc>
              <a:spcBef>
                <a:spcPts val="305"/>
              </a:spcBef>
              <a:buClr>
                <a:srgbClr val="3232B2"/>
              </a:buClr>
              <a:buSzPct val="66666"/>
              <a:buFont typeface="Lucida Sans Unicode"/>
              <a:buChar char="►"/>
              <a:tabLst>
                <a:tab pos="313690" algn="l"/>
              </a:tabLst>
            </a:pPr>
            <a:r>
              <a:rPr sz="900" spc="-25" dirty="0">
                <a:latin typeface="Trebuchet MS"/>
                <a:cs typeface="Trebuchet MS"/>
              </a:rPr>
              <a:t>the</a:t>
            </a:r>
            <a:r>
              <a:rPr sz="900" spc="40" dirty="0">
                <a:latin typeface="Trebuchet MS"/>
                <a:cs typeface="Trebuchet MS"/>
              </a:rPr>
              <a:t> </a:t>
            </a:r>
            <a:r>
              <a:rPr sz="900" spc="-25" dirty="0">
                <a:latin typeface="Trebuchet MS"/>
                <a:cs typeface="Trebuchet MS"/>
              </a:rPr>
              <a:t>is-a/subsumption/hypernymy</a:t>
            </a:r>
            <a:r>
              <a:rPr sz="900" spc="45" dirty="0">
                <a:latin typeface="Trebuchet MS"/>
                <a:cs typeface="Trebuchet MS"/>
              </a:rPr>
              <a:t> </a:t>
            </a:r>
            <a:r>
              <a:rPr sz="900" spc="-10" dirty="0">
                <a:latin typeface="Trebuchet MS"/>
                <a:cs typeface="Trebuchet MS"/>
              </a:rPr>
              <a:t>hierarchy</a:t>
            </a:r>
            <a:endParaRPr sz="900">
              <a:latin typeface="Trebuchet MS"/>
              <a:cs typeface="Trebuchet MS"/>
            </a:endParaRPr>
          </a:p>
          <a:p>
            <a:pPr marL="313690" indent="-116205">
              <a:lnSpc>
                <a:spcPct val="100000"/>
              </a:lnSpc>
              <a:spcBef>
                <a:spcPts val="114"/>
              </a:spcBef>
              <a:buClr>
                <a:srgbClr val="3232B2"/>
              </a:buClr>
              <a:buSzPct val="66666"/>
              <a:buFont typeface="Lucida Sans Unicode"/>
              <a:buChar char="►"/>
              <a:tabLst>
                <a:tab pos="313690" algn="l"/>
              </a:tabLst>
            </a:pPr>
            <a:r>
              <a:rPr sz="900" dirty="0">
                <a:latin typeface="Trebuchet MS"/>
                <a:cs typeface="Trebuchet MS"/>
              </a:rPr>
              <a:t>and</a:t>
            </a:r>
            <a:r>
              <a:rPr sz="900" spc="40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sometimes</a:t>
            </a:r>
            <a:r>
              <a:rPr sz="900" spc="40" dirty="0">
                <a:latin typeface="Trebuchet MS"/>
                <a:cs typeface="Trebuchet MS"/>
              </a:rPr>
              <a:t> </a:t>
            </a:r>
            <a:r>
              <a:rPr sz="900" spc="-25" dirty="0">
                <a:latin typeface="Trebuchet MS"/>
                <a:cs typeface="Trebuchet MS"/>
              </a:rPr>
              <a:t>the</a:t>
            </a:r>
            <a:r>
              <a:rPr sz="900" spc="40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glosses</a:t>
            </a:r>
            <a:r>
              <a:rPr sz="900" spc="40" dirty="0">
                <a:latin typeface="Trebuchet MS"/>
                <a:cs typeface="Trebuchet MS"/>
              </a:rPr>
              <a:t> </a:t>
            </a:r>
            <a:r>
              <a:rPr sz="900" spc="-25" dirty="0">
                <a:latin typeface="Trebuchet MS"/>
                <a:cs typeface="Trebuchet MS"/>
              </a:rPr>
              <a:t>too</a:t>
            </a:r>
            <a:endParaRPr sz="900">
              <a:latin typeface="Trebuchet MS"/>
              <a:cs typeface="Trebuchet MS"/>
            </a:endParaRPr>
          </a:p>
          <a:p>
            <a:pPr marL="38100">
              <a:lnSpc>
                <a:spcPct val="100000"/>
              </a:lnSpc>
              <a:spcBef>
                <a:spcPts val="365"/>
              </a:spcBef>
            </a:pPr>
            <a:r>
              <a:rPr sz="950" dirty="0">
                <a:latin typeface="Trebuchet MS"/>
                <a:cs typeface="Trebuchet MS"/>
              </a:rPr>
              <a:t>Word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similarity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vs.</a:t>
            </a:r>
            <a:r>
              <a:rPr sz="950" spc="8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word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relatedness</a:t>
            </a:r>
            <a:endParaRPr sz="950">
              <a:latin typeface="Trebuchet MS"/>
              <a:cs typeface="Trebuchet MS"/>
            </a:endParaRPr>
          </a:p>
          <a:p>
            <a:pPr marL="313690" indent="-116205">
              <a:lnSpc>
                <a:spcPct val="100000"/>
              </a:lnSpc>
              <a:spcBef>
                <a:spcPts val="305"/>
              </a:spcBef>
              <a:buClr>
                <a:srgbClr val="3232B2"/>
              </a:buClr>
              <a:buSzPct val="66666"/>
              <a:buFont typeface="Lucida Sans Unicode"/>
              <a:buChar char="►"/>
              <a:tabLst>
                <a:tab pos="313690" algn="l"/>
              </a:tabLst>
            </a:pPr>
            <a:r>
              <a:rPr sz="900" spc="-10" dirty="0">
                <a:latin typeface="Trebuchet MS"/>
                <a:cs typeface="Trebuchet MS"/>
              </a:rPr>
              <a:t>Similar</a:t>
            </a:r>
            <a:r>
              <a:rPr sz="900" spc="-35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words</a:t>
            </a:r>
            <a:r>
              <a:rPr sz="900" spc="-35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are</a:t>
            </a:r>
            <a:r>
              <a:rPr sz="900" spc="-35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near-</a:t>
            </a:r>
            <a:r>
              <a:rPr sz="900" spc="-10" dirty="0">
                <a:latin typeface="Trebuchet MS"/>
                <a:cs typeface="Trebuchet MS"/>
              </a:rPr>
              <a:t>synonyms</a:t>
            </a:r>
            <a:endParaRPr sz="900">
              <a:latin typeface="Trebuchet MS"/>
              <a:cs typeface="Trebuchet MS"/>
            </a:endParaRPr>
          </a:p>
          <a:p>
            <a:pPr marL="313690" indent="-116205">
              <a:lnSpc>
                <a:spcPct val="100000"/>
              </a:lnSpc>
              <a:spcBef>
                <a:spcPts val="15"/>
              </a:spcBef>
              <a:buClr>
                <a:srgbClr val="3232B2"/>
              </a:buClr>
              <a:buSzPct val="66666"/>
              <a:buFont typeface="Lucida Sans Unicode"/>
              <a:buChar char="►"/>
              <a:tabLst>
                <a:tab pos="313690" algn="l"/>
              </a:tabLst>
            </a:pPr>
            <a:r>
              <a:rPr sz="900" dirty="0">
                <a:latin typeface="Trebuchet MS"/>
                <a:cs typeface="Trebuchet MS"/>
              </a:rPr>
              <a:t>Related</a:t>
            </a:r>
            <a:r>
              <a:rPr sz="900" spc="-35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words</a:t>
            </a:r>
            <a:r>
              <a:rPr sz="900" spc="-30" dirty="0">
                <a:latin typeface="Trebuchet MS"/>
                <a:cs typeface="Trebuchet MS"/>
              </a:rPr>
              <a:t> </a:t>
            </a:r>
            <a:r>
              <a:rPr sz="900" spc="-10" dirty="0">
                <a:latin typeface="Trebuchet MS"/>
                <a:cs typeface="Trebuchet MS"/>
              </a:rPr>
              <a:t>could</a:t>
            </a:r>
            <a:r>
              <a:rPr sz="900" spc="-35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be</a:t>
            </a:r>
            <a:r>
              <a:rPr sz="900" spc="-30" dirty="0">
                <a:latin typeface="Trebuchet MS"/>
                <a:cs typeface="Trebuchet MS"/>
              </a:rPr>
              <a:t> related </a:t>
            </a:r>
            <a:r>
              <a:rPr sz="900" dirty="0">
                <a:latin typeface="Trebuchet MS"/>
                <a:cs typeface="Trebuchet MS"/>
              </a:rPr>
              <a:t>any</a:t>
            </a:r>
            <a:r>
              <a:rPr sz="900" spc="-35" dirty="0">
                <a:latin typeface="Trebuchet MS"/>
                <a:cs typeface="Trebuchet MS"/>
              </a:rPr>
              <a:t> </a:t>
            </a:r>
            <a:r>
              <a:rPr sz="900" spc="-25" dirty="0">
                <a:latin typeface="Trebuchet MS"/>
                <a:cs typeface="Trebuchet MS"/>
              </a:rPr>
              <a:t>way</a:t>
            </a:r>
            <a:endParaRPr sz="900">
              <a:latin typeface="Trebuchet MS"/>
              <a:cs typeface="Trebuchet MS"/>
            </a:endParaRPr>
          </a:p>
          <a:p>
            <a:pPr marL="449580">
              <a:lnSpc>
                <a:spcPct val="100000"/>
              </a:lnSpc>
              <a:spcBef>
                <a:spcPts val="315"/>
              </a:spcBef>
            </a:pPr>
            <a:r>
              <a:rPr sz="900" spc="375" baseline="13888" dirty="0">
                <a:solidFill>
                  <a:srgbClr val="3232B2"/>
                </a:solidFill>
                <a:latin typeface="Lucida Sans Unicode"/>
                <a:cs typeface="Lucida Sans Unicode"/>
              </a:rPr>
              <a:t>F</a:t>
            </a:r>
            <a:r>
              <a:rPr sz="900" spc="540" baseline="13888" dirty="0">
                <a:solidFill>
                  <a:srgbClr val="3232B2"/>
                </a:solidFill>
                <a:latin typeface="Lucida Sans Unicode"/>
                <a:cs typeface="Lucida Sans Unicode"/>
              </a:rPr>
              <a:t> </a:t>
            </a:r>
            <a:r>
              <a:rPr sz="800" spc="-45" dirty="0">
                <a:latin typeface="Trebuchet MS"/>
                <a:cs typeface="Trebuchet MS"/>
              </a:rPr>
              <a:t>car,</a:t>
            </a:r>
            <a:r>
              <a:rPr sz="800" spc="-10" dirty="0">
                <a:latin typeface="Trebuchet MS"/>
                <a:cs typeface="Trebuchet MS"/>
              </a:rPr>
              <a:t> </a:t>
            </a:r>
            <a:r>
              <a:rPr sz="800" dirty="0">
                <a:latin typeface="Trebuchet MS"/>
                <a:cs typeface="Trebuchet MS"/>
              </a:rPr>
              <a:t>gasoline</a:t>
            </a:r>
            <a:r>
              <a:rPr sz="800" spc="-15" dirty="0">
                <a:latin typeface="Trebuchet MS"/>
                <a:cs typeface="Trebuchet MS"/>
              </a:rPr>
              <a:t> </a:t>
            </a:r>
            <a:r>
              <a:rPr sz="800" dirty="0">
                <a:latin typeface="Trebuchet MS"/>
                <a:cs typeface="Trebuchet MS"/>
              </a:rPr>
              <a:t>:</a:t>
            </a:r>
            <a:r>
              <a:rPr sz="800" spc="40" dirty="0">
                <a:latin typeface="Trebuchet MS"/>
                <a:cs typeface="Trebuchet MS"/>
              </a:rPr>
              <a:t> </a:t>
            </a:r>
            <a:r>
              <a:rPr sz="800" spc="-30" dirty="0">
                <a:latin typeface="Trebuchet MS"/>
                <a:cs typeface="Trebuchet MS"/>
              </a:rPr>
              <a:t>related,</a:t>
            </a:r>
            <a:r>
              <a:rPr sz="800" spc="-10" dirty="0">
                <a:latin typeface="Trebuchet MS"/>
                <a:cs typeface="Trebuchet MS"/>
              </a:rPr>
              <a:t> </a:t>
            </a:r>
            <a:r>
              <a:rPr sz="800" spc="-40" dirty="0">
                <a:latin typeface="Trebuchet MS"/>
                <a:cs typeface="Trebuchet MS"/>
              </a:rPr>
              <a:t>but</a:t>
            </a:r>
            <a:r>
              <a:rPr sz="800" spc="-15" dirty="0">
                <a:latin typeface="Trebuchet MS"/>
                <a:cs typeface="Trebuchet MS"/>
              </a:rPr>
              <a:t> </a:t>
            </a:r>
            <a:r>
              <a:rPr sz="800" dirty="0">
                <a:latin typeface="Trebuchet MS"/>
                <a:cs typeface="Trebuchet MS"/>
              </a:rPr>
              <a:t>nor</a:t>
            </a:r>
            <a:r>
              <a:rPr sz="800" spc="-15" dirty="0">
                <a:latin typeface="Trebuchet MS"/>
                <a:cs typeface="Trebuchet MS"/>
              </a:rPr>
              <a:t> </a:t>
            </a:r>
            <a:r>
              <a:rPr sz="800" spc="-10" dirty="0">
                <a:latin typeface="Trebuchet MS"/>
                <a:cs typeface="Trebuchet MS"/>
              </a:rPr>
              <a:t>similar</a:t>
            </a:r>
            <a:endParaRPr sz="800">
              <a:latin typeface="Trebuchet MS"/>
              <a:cs typeface="Trebuchet MS"/>
            </a:endParaRPr>
          </a:p>
          <a:p>
            <a:pPr marL="449580">
              <a:lnSpc>
                <a:spcPct val="100000"/>
              </a:lnSpc>
              <a:spcBef>
                <a:spcPts val="135"/>
              </a:spcBef>
            </a:pPr>
            <a:r>
              <a:rPr sz="900" spc="375" baseline="13888" dirty="0">
                <a:solidFill>
                  <a:srgbClr val="3232B2"/>
                </a:solidFill>
                <a:latin typeface="Lucida Sans Unicode"/>
                <a:cs typeface="Lucida Sans Unicode"/>
              </a:rPr>
              <a:t>F</a:t>
            </a:r>
            <a:r>
              <a:rPr sz="900" spc="540" baseline="13888" dirty="0">
                <a:solidFill>
                  <a:srgbClr val="3232B2"/>
                </a:solidFill>
                <a:latin typeface="Lucida Sans Unicode"/>
                <a:cs typeface="Lucida Sans Unicode"/>
              </a:rPr>
              <a:t> </a:t>
            </a:r>
            <a:r>
              <a:rPr sz="800" spc="-45" dirty="0">
                <a:latin typeface="Trebuchet MS"/>
                <a:cs typeface="Trebuchet MS"/>
              </a:rPr>
              <a:t>car,</a:t>
            </a:r>
            <a:r>
              <a:rPr sz="800" spc="-15" dirty="0">
                <a:latin typeface="Trebuchet MS"/>
                <a:cs typeface="Trebuchet MS"/>
              </a:rPr>
              <a:t> </a:t>
            </a:r>
            <a:r>
              <a:rPr sz="800" spc="-20" dirty="0">
                <a:latin typeface="Trebuchet MS"/>
                <a:cs typeface="Trebuchet MS"/>
              </a:rPr>
              <a:t>bicycle:</a:t>
            </a:r>
            <a:r>
              <a:rPr sz="800" spc="40" dirty="0">
                <a:latin typeface="Trebuchet MS"/>
                <a:cs typeface="Trebuchet MS"/>
              </a:rPr>
              <a:t> </a:t>
            </a:r>
            <a:r>
              <a:rPr sz="800" spc="-10" dirty="0">
                <a:latin typeface="Trebuchet MS"/>
                <a:cs typeface="Trebuchet MS"/>
              </a:rPr>
              <a:t>similar</a:t>
            </a:r>
            <a:endParaRPr sz="800">
              <a:latin typeface="Trebuchet MS"/>
              <a:cs typeface="Trebuchet MS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597" y="1434287"/>
            <a:ext cx="64757" cy="64757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597" y="1953044"/>
            <a:ext cx="64757" cy="64757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1853082" y="3339672"/>
            <a:ext cx="90233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5" action="ppaction://hlinksldjump"/>
              </a:rPr>
              <a:t>Lexical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  <a:hlinkClick r:id="rId5" action="ppaction://hlinksldjump"/>
              </a:rPr>
              <a:t>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  <a:hlinkClick r:id="rId5" action="ppaction://hlinksldjump"/>
              </a:rPr>
              <a:t>Semantics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  <a:hlinkClick r:id="rId5" action="ppaction://hlinksldjump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5" action="ppaction://hlinksldjump"/>
              </a:rPr>
              <a:t>-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  <a:hlinkClick r:id="rId5" action="ppaction://hlinksldjump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  <a:hlinkClick r:id="rId5" action="ppaction://hlinksldjump"/>
              </a:rPr>
              <a:t>WordNet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608260" y="3339672"/>
            <a:ext cx="56388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8,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2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317424" y="3339672"/>
            <a:ext cx="236854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10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10" dirty="0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</a:rPr>
              <a:t>27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BC6D06E9-4CA6-424E-9CA9-67C1C7753AA0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4292024" y="3339672"/>
            <a:ext cx="262254" cy="116204"/>
          </a:xfrm>
          <a:prstGeom prst="rect">
            <a:avLst/>
          </a:prstGeom>
        </p:spPr>
        <p:txBody>
          <a:bodyPr/>
          <a:lstStyle/>
          <a:p>
            <a:pPr marL="75565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lang="en-IN" smtClean="0"/>
              <a:t>49</a:t>
            </a:fld>
            <a:r>
              <a:rPr lang="en-IN" spc="-5"/>
              <a:t> </a:t>
            </a:r>
            <a:r>
              <a:rPr lang="en-IN" spc="-110"/>
              <a:t>/</a:t>
            </a:r>
            <a:r>
              <a:rPr lang="en-IN" spc="15"/>
              <a:t> </a:t>
            </a:r>
            <a:r>
              <a:rPr lang="en-IN" spc="-25"/>
              <a:t>18</a:t>
            </a:r>
            <a:endParaRPr lang="en-IN" spc="-25" dirty="0"/>
          </a:p>
        </p:txBody>
      </p:sp>
    </p:spTree>
  </p:cSld>
  <p:clrMapOvr>
    <a:masterClrMapping/>
  </p:clrMapOvr>
  <p:transition>
    <p:cut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38"/>
            <a:ext cx="4608195" cy="351790"/>
          </a:xfrm>
          <a:custGeom>
            <a:avLst/>
            <a:gdLst/>
            <a:ahLst/>
            <a:cxnLst/>
            <a:rect l="l" t="t" r="r" b="b"/>
            <a:pathLst>
              <a:path w="4608195" h="351790">
                <a:moveTo>
                  <a:pt x="4607941" y="0"/>
                </a:moveTo>
                <a:lnTo>
                  <a:pt x="0" y="0"/>
                </a:lnTo>
                <a:lnTo>
                  <a:pt x="0" y="351409"/>
                </a:lnTo>
                <a:lnTo>
                  <a:pt x="4607941" y="351409"/>
                </a:lnTo>
                <a:lnTo>
                  <a:pt x="4607941" y="0"/>
                </a:lnTo>
                <a:close/>
              </a:path>
            </a:pathLst>
          </a:custGeom>
          <a:solidFill>
            <a:srgbClr val="3232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5250" y="60502"/>
            <a:ext cx="158496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i="1" spc="-25" dirty="0">
                <a:solidFill>
                  <a:srgbClr val="FFFFFF"/>
                </a:solidFill>
                <a:latin typeface="Cambria"/>
                <a:cs typeface="Cambria"/>
              </a:rPr>
              <a:t>Path-</a:t>
            </a:r>
            <a:r>
              <a:rPr sz="1400" i="1" dirty="0">
                <a:solidFill>
                  <a:srgbClr val="FFFFFF"/>
                </a:solidFill>
                <a:latin typeface="Cambria"/>
                <a:cs typeface="Cambria"/>
              </a:rPr>
              <a:t>based</a:t>
            </a:r>
            <a:r>
              <a:rPr sz="1400" i="1" spc="-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spc="-10" dirty="0">
                <a:solidFill>
                  <a:srgbClr val="FFFFFF"/>
                </a:solidFill>
                <a:latin typeface="Cambria"/>
                <a:cs typeface="Cambria"/>
              </a:rPr>
              <a:t>similarity</a:t>
            </a:r>
            <a:endParaRPr sz="1400">
              <a:latin typeface="Cambria"/>
              <a:cs typeface="Cambri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87743" y="1090409"/>
            <a:ext cx="4483735" cy="1296670"/>
            <a:chOff x="87743" y="1090409"/>
            <a:chExt cx="4483735" cy="1296670"/>
          </a:xfrm>
        </p:grpSpPr>
        <p:sp>
          <p:nvSpPr>
            <p:cNvPr id="5" name="object 5"/>
            <p:cNvSpPr/>
            <p:nvPr/>
          </p:nvSpPr>
          <p:spPr>
            <a:xfrm>
              <a:off x="87743" y="1090409"/>
              <a:ext cx="4432935" cy="176530"/>
            </a:xfrm>
            <a:custGeom>
              <a:avLst/>
              <a:gdLst/>
              <a:ahLst/>
              <a:cxnLst/>
              <a:rect l="l" t="t" r="r" b="b"/>
              <a:pathLst>
                <a:path w="4432935" h="176530">
                  <a:moveTo>
                    <a:pt x="4381754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76276"/>
                  </a:lnTo>
                  <a:lnTo>
                    <a:pt x="4432554" y="176276"/>
                  </a:lnTo>
                  <a:lnTo>
                    <a:pt x="4432554" y="50800"/>
                  </a:lnTo>
                  <a:lnTo>
                    <a:pt x="4428545" y="31075"/>
                  </a:lnTo>
                  <a:lnTo>
                    <a:pt x="4417631" y="14922"/>
                  </a:lnTo>
                  <a:lnTo>
                    <a:pt x="4401478" y="4008"/>
                  </a:lnTo>
                  <a:lnTo>
                    <a:pt x="4381754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744" y="1254074"/>
              <a:ext cx="4432554" cy="5060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8544" y="2285250"/>
              <a:ext cx="101599" cy="1016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9344" y="2272550"/>
              <a:ext cx="4381754" cy="11430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20298" y="1134643"/>
              <a:ext cx="50800" cy="1150607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87743" y="1298333"/>
              <a:ext cx="4432935" cy="1038225"/>
            </a:xfrm>
            <a:custGeom>
              <a:avLst/>
              <a:gdLst/>
              <a:ahLst/>
              <a:cxnLst/>
              <a:rect l="l" t="t" r="r" b="b"/>
              <a:pathLst>
                <a:path w="4432935" h="1038225">
                  <a:moveTo>
                    <a:pt x="4432554" y="0"/>
                  </a:moveTo>
                  <a:lnTo>
                    <a:pt x="0" y="0"/>
                  </a:lnTo>
                  <a:lnTo>
                    <a:pt x="0" y="986916"/>
                  </a:lnTo>
                  <a:lnTo>
                    <a:pt x="4008" y="1006641"/>
                  </a:lnTo>
                  <a:lnTo>
                    <a:pt x="14922" y="1022794"/>
                  </a:lnTo>
                  <a:lnTo>
                    <a:pt x="31075" y="1033708"/>
                  </a:lnTo>
                  <a:lnTo>
                    <a:pt x="50800" y="1037716"/>
                  </a:lnTo>
                  <a:lnTo>
                    <a:pt x="4381754" y="1037716"/>
                  </a:lnTo>
                  <a:lnTo>
                    <a:pt x="4401478" y="1033708"/>
                  </a:lnTo>
                  <a:lnTo>
                    <a:pt x="4417631" y="1022794"/>
                  </a:lnTo>
                  <a:lnTo>
                    <a:pt x="4428545" y="1006641"/>
                  </a:lnTo>
                  <a:lnTo>
                    <a:pt x="4432554" y="986916"/>
                  </a:lnTo>
                  <a:lnTo>
                    <a:pt x="4432554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520309" y="1172730"/>
              <a:ext cx="0" cy="1131570"/>
            </a:xfrm>
            <a:custGeom>
              <a:avLst/>
              <a:gdLst/>
              <a:ahLst/>
              <a:cxnLst/>
              <a:rect l="l" t="t" r="r" b="b"/>
              <a:pathLst>
                <a:path h="1131570">
                  <a:moveTo>
                    <a:pt x="0" y="113157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520309" y="1160032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520309" y="1147332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520309" y="1134632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81597" y="1348079"/>
              <a:ext cx="64757" cy="64757"/>
            </a:xfrm>
            <a:prstGeom prst="rect">
              <a:avLst/>
            </a:prstGeom>
          </p:spPr>
        </p:pic>
      </p:grpSp>
      <p:sp>
        <p:nvSpPr>
          <p:cNvPr id="16" name="object 16"/>
          <p:cNvSpPr txBox="1"/>
          <p:nvPr/>
        </p:nvSpPr>
        <p:spPr>
          <a:xfrm>
            <a:off x="125729" y="1026162"/>
            <a:ext cx="3761104" cy="427355"/>
          </a:xfrm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sz="1100" i="1" dirty="0">
                <a:solidFill>
                  <a:srgbClr val="3232B2"/>
                </a:solidFill>
                <a:latin typeface="Cambria"/>
                <a:cs typeface="Cambria"/>
              </a:rPr>
              <a:t>Basic</a:t>
            </a:r>
            <a:r>
              <a:rPr sz="1100" i="1" spc="5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100" i="1" spc="-20" dirty="0">
                <a:solidFill>
                  <a:srgbClr val="3232B2"/>
                </a:solidFill>
                <a:latin typeface="Cambria"/>
                <a:cs typeface="Cambria"/>
              </a:rPr>
              <a:t>Idea</a:t>
            </a:r>
            <a:endParaRPr sz="1100">
              <a:latin typeface="Cambria"/>
              <a:cs typeface="Cambria"/>
            </a:endParaRPr>
          </a:p>
          <a:p>
            <a:pPr marL="289560">
              <a:lnSpc>
                <a:spcPct val="100000"/>
              </a:lnSpc>
              <a:spcBef>
                <a:spcPts val="350"/>
              </a:spcBef>
            </a:pPr>
            <a:r>
              <a:rPr sz="950" dirty="0">
                <a:latin typeface="Trebuchet MS"/>
                <a:cs typeface="Trebuchet MS"/>
              </a:rPr>
              <a:t>Two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words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are</a:t>
            </a:r>
            <a:r>
              <a:rPr sz="950" spc="-10" dirty="0">
                <a:latin typeface="Trebuchet MS"/>
                <a:cs typeface="Trebuchet MS"/>
              </a:rPr>
              <a:t> similar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spc="-70" dirty="0">
                <a:latin typeface="Trebuchet MS"/>
                <a:cs typeface="Trebuchet MS"/>
              </a:rPr>
              <a:t>if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they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are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nearby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in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hypernym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graph</a:t>
            </a:r>
            <a:endParaRPr sz="950">
              <a:latin typeface="Trebuchet MS"/>
              <a:cs typeface="Trebuchet MS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853082" y="3339672"/>
            <a:ext cx="90233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7" action="ppaction://hlinksldjump"/>
              </a:rPr>
              <a:t>Lexical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  <a:hlinkClick r:id="rId7" action="ppaction://hlinksldjump"/>
              </a:rPr>
              <a:t>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  <a:hlinkClick r:id="rId7" action="ppaction://hlinksldjump"/>
              </a:rPr>
              <a:t>Semantics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  <a:hlinkClick r:id="rId7" action="ppaction://hlinksldjump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7" action="ppaction://hlinksldjump"/>
              </a:rPr>
              <a:t>-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  <a:hlinkClick r:id="rId7" action="ppaction://hlinksldjump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  <a:hlinkClick r:id="rId7" action="ppaction://hlinksldjump"/>
              </a:rPr>
              <a:t>WordNet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608260" y="3339672"/>
            <a:ext cx="56388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8,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2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317424" y="3339672"/>
            <a:ext cx="236854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11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10" dirty="0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</a:rPr>
              <a:t>27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25" name="Slide Number Placeholder 24">
            <a:extLst>
              <a:ext uri="{FF2B5EF4-FFF2-40B4-BE49-F238E27FC236}">
                <a16:creationId xmlns:a16="http://schemas.microsoft.com/office/drawing/2014/main" id="{92C609AE-680E-4A88-A9B4-FD0A6A321357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4292024" y="3339672"/>
            <a:ext cx="262254" cy="116204"/>
          </a:xfrm>
          <a:prstGeom prst="rect">
            <a:avLst/>
          </a:prstGeom>
        </p:spPr>
        <p:txBody>
          <a:bodyPr/>
          <a:lstStyle/>
          <a:p>
            <a:pPr marL="75565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lang="en-IN" smtClean="0"/>
              <a:t>50</a:t>
            </a:fld>
            <a:r>
              <a:rPr lang="en-IN" spc="-5"/>
              <a:t> </a:t>
            </a:r>
            <a:r>
              <a:rPr lang="en-IN" spc="-110"/>
              <a:t>/</a:t>
            </a:r>
            <a:r>
              <a:rPr lang="en-IN" spc="15"/>
              <a:t> </a:t>
            </a:r>
            <a:r>
              <a:rPr lang="en-IN" spc="-25"/>
              <a:t>18</a:t>
            </a:r>
            <a:endParaRPr lang="en-IN" spc="-25" dirty="0"/>
          </a:p>
        </p:txBody>
      </p:sp>
    </p:spTree>
  </p:cSld>
  <p:clrMapOvr>
    <a:masterClrMapping/>
  </p:clrMapOvr>
  <p:transition>
    <p:cut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25" dirty="0"/>
              <a:t>Path-</a:t>
            </a:r>
            <a:r>
              <a:rPr dirty="0"/>
              <a:t>based</a:t>
            </a:r>
            <a:r>
              <a:rPr spc="-15" dirty="0"/>
              <a:t> </a:t>
            </a:r>
            <a:r>
              <a:rPr spc="-10" dirty="0"/>
              <a:t>similarity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7743" y="1090409"/>
            <a:ext cx="4483735" cy="1296670"/>
            <a:chOff x="87743" y="1090409"/>
            <a:chExt cx="4483735" cy="1296670"/>
          </a:xfrm>
        </p:grpSpPr>
        <p:sp>
          <p:nvSpPr>
            <p:cNvPr id="4" name="object 4"/>
            <p:cNvSpPr/>
            <p:nvPr/>
          </p:nvSpPr>
          <p:spPr>
            <a:xfrm>
              <a:off x="87743" y="1090409"/>
              <a:ext cx="4432935" cy="176530"/>
            </a:xfrm>
            <a:custGeom>
              <a:avLst/>
              <a:gdLst/>
              <a:ahLst/>
              <a:cxnLst/>
              <a:rect l="l" t="t" r="r" b="b"/>
              <a:pathLst>
                <a:path w="4432935" h="176530">
                  <a:moveTo>
                    <a:pt x="4381754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76276"/>
                  </a:lnTo>
                  <a:lnTo>
                    <a:pt x="4432554" y="176276"/>
                  </a:lnTo>
                  <a:lnTo>
                    <a:pt x="4432554" y="50800"/>
                  </a:lnTo>
                  <a:lnTo>
                    <a:pt x="4428545" y="31075"/>
                  </a:lnTo>
                  <a:lnTo>
                    <a:pt x="4417631" y="14922"/>
                  </a:lnTo>
                  <a:lnTo>
                    <a:pt x="4401478" y="4008"/>
                  </a:lnTo>
                  <a:lnTo>
                    <a:pt x="4381754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744" y="1254074"/>
              <a:ext cx="4432554" cy="5060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8544" y="2285250"/>
              <a:ext cx="101599" cy="1016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9344" y="2272550"/>
              <a:ext cx="4381754" cy="1143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20298" y="1134643"/>
              <a:ext cx="50800" cy="1150607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87743" y="1298333"/>
              <a:ext cx="4432935" cy="1038225"/>
            </a:xfrm>
            <a:custGeom>
              <a:avLst/>
              <a:gdLst/>
              <a:ahLst/>
              <a:cxnLst/>
              <a:rect l="l" t="t" r="r" b="b"/>
              <a:pathLst>
                <a:path w="4432935" h="1038225">
                  <a:moveTo>
                    <a:pt x="4432554" y="0"/>
                  </a:moveTo>
                  <a:lnTo>
                    <a:pt x="0" y="0"/>
                  </a:lnTo>
                  <a:lnTo>
                    <a:pt x="0" y="986916"/>
                  </a:lnTo>
                  <a:lnTo>
                    <a:pt x="4008" y="1006641"/>
                  </a:lnTo>
                  <a:lnTo>
                    <a:pt x="14922" y="1022794"/>
                  </a:lnTo>
                  <a:lnTo>
                    <a:pt x="31075" y="1033708"/>
                  </a:lnTo>
                  <a:lnTo>
                    <a:pt x="50800" y="1037716"/>
                  </a:lnTo>
                  <a:lnTo>
                    <a:pt x="4381754" y="1037716"/>
                  </a:lnTo>
                  <a:lnTo>
                    <a:pt x="4401478" y="1033708"/>
                  </a:lnTo>
                  <a:lnTo>
                    <a:pt x="4417631" y="1022794"/>
                  </a:lnTo>
                  <a:lnTo>
                    <a:pt x="4428545" y="1006641"/>
                  </a:lnTo>
                  <a:lnTo>
                    <a:pt x="4432554" y="986916"/>
                  </a:lnTo>
                  <a:lnTo>
                    <a:pt x="4432554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520309" y="1172730"/>
              <a:ext cx="0" cy="1131570"/>
            </a:xfrm>
            <a:custGeom>
              <a:avLst/>
              <a:gdLst/>
              <a:ahLst/>
              <a:cxnLst/>
              <a:rect l="l" t="t" r="r" b="b"/>
              <a:pathLst>
                <a:path h="1131570">
                  <a:moveTo>
                    <a:pt x="0" y="113157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520309" y="1160032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520309" y="1147332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520309" y="1134632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81597" y="1348079"/>
              <a:ext cx="64757" cy="64757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81597" y="1558112"/>
              <a:ext cx="64757" cy="64757"/>
            </a:xfrm>
            <a:prstGeom prst="rect">
              <a:avLst/>
            </a:prstGeom>
          </p:spPr>
        </p:pic>
      </p:grpSp>
      <p:sp>
        <p:nvSpPr>
          <p:cNvPr id="16" name="object 16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514574" rIns="0" bIns="0" rtlCol="0">
            <a:spAutoFit/>
          </a:bodyPr>
          <a:lstStyle/>
          <a:p>
            <a:pPr marL="50165">
              <a:lnSpc>
                <a:spcPct val="100000"/>
              </a:lnSpc>
              <a:spcBef>
                <a:spcPts val="445"/>
              </a:spcBef>
            </a:pPr>
            <a:r>
              <a:rPr dirty="0"/>
              <a:t>Basic</a:t>
            </a:r>
            <a:r>
              <a:rPr spc="5" dirty="0"/>
              <a:t> </a:t>
            </a:r>
            <a:r>
              <a:rPr spc="-20" dirty="0"/>
              <a:t>Idea</a:t>
            </a:r>
          </a:p>
          <a:p>
            <a:pPr marL="327025">
              <a:lnSpc>
                <a:spcPct val="100000"/>
              </a:lnSpc>
              <a:spcBef>
                <a:spcPts val="350"/>
              </a:spcBef>
            </a:pP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Two</a:t>
            </a:r>
            <a:r>
              <a:rPr sz="950" i="0" spc="-1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words</a:t>
            </a:r>
            <a:r>
              <a:rPr sz="950" i="0" spc="-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are</a:t>
            </a:r>
            <a:r>
              <a:rPr sz="950" i="0" spc="-10" dirty="0">
                <a:solidFill>
                  <a:srgbClr val="000000"/>
                </a:solidFill>
                <a:latin typeface="Trebuchet MS"/>
                <a:cs typeface="Trebuchet MS"/>
              </a:rPr>
              <a:t> similar</a:t>
            </a:r>
            <a:r>
              <a:rPr sz="950" i="0" spc="-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spc="-70" dirty="0">
                <a:solidFill>
                  <a:srgbClr val="000000"/>
                </a:solidFill>
                <a:latin typeface="Trebuchet MS"/>
                <a:cs typeface="Trebuchet MS"/>
              </a:rPr>
              <a:t>if</a:t>
            </a:r>
            <a:r>
              <a:rPr sz="950" i="0" spc="-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they</a:t>
            </a:r>
            <a:r>
              <a:rPr sz="950" i="0" spc="-1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are</a:t>
            </a:r>
            <a:r>
              <a:rPr sz="950" i="0" spc="-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nearby</a:t>
            </a:r>
            <a:r>
              <a:rPr sz="950" i="0" spc="-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in</a:t>
            </a:r>
            <a:r>
              <a:rPr sz="950" i="0" spc="-1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the</a:t>
            </a:r>
            <a:r>
              <a:rPr sz="950" i="0" spc="-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hypernym</a:t>
            </a:r>
            <a:r>
              <a:rPr sz="950" i="0" spc="-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spc="-10" dirty="0">
                <a:solidFill>
                  <a:srgbClr val="000000"/>
                </a:solidFill>
                <a:latin typeface="Trebuchet MS"/>
                <a:cs typeface="Trebuchet MS"/>
              </a:rPr>
              <a:t>graph</a:t>
            </a:r>
            <a:endParaRPr sz="950">
              <a:latin typeface="Trebuchet MS"/>
              <a:cs typeface="Trebuchet MS"/>
            </a:endParaRPr>
          </a:p>
          <a:p>
            <a:pPr marL="327025" marR="43180">
              <a:lnSpc>
                <a:spcPct val="102699"/>
              </a:lnSpc>
              <a:spcBef>
                <a:spcPts val="325"/>
              </a:spcBef>
            </a:pPr>
            <a:r>
              <a:rPr spc="-25" dirty="0">
                <a:solidFill>
                  <a:srgbClr val="000000"/>
                </a:solidFill>
              </a:rPr>
              <a:t>pathlen</a:t>
            </a:r>
            <a:r>
              <a:rPr i="0" spc="-25" dirty="0">
                <a:solidFill>
                  <a:srgbClr val="000000"/>
                </a:solidFill>
                <a:latin typeface="Arial MT"/>
                <a:cs typeface="Arial MT"/>
              </a:rPr>
              <a:t>(</a:t>
            </a:r>
            <a:r>
              <a:rPr spc="-25" dirty="0">
                <a:solidFill>
                  <a:srgbClr val="000000"/>
                </a:solidFill>
              </a:rPr>
              <a:t>c</a:t>
            </a:r>
            <a:r>
              <a:rPr sz="1200" i="0" spc="-37" baseline="-10416" dirty="0">
                <a:solidFill>
                  <a:srgbClr val="000000"/>
                </a:solidFill>
                <a:latin typeface="Cambria"/>
                <a:cs typeface="Cambria"/>
              </a:rPr>
              <a:t>1</a:t>
            </a:r>
            <a:r>
              <a:rPr sz="1100" spc="-25" dirty="0">
                <a:solidFill>
                  <a:srgbClr val="000000"/>
                </a:solidFill>
                <a:latin typeface="Arial"/>
                <a:cs typeface="Arial"/>
              </a:rPr>
              <a:t>,</a:t>
            </a:r>
            <a:r>
              <a:rPr sz="1100" spc="-17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000000"/>
                </a:solidFill>
              </a:rPr>
              <a:t>c</a:t>
            </a:r>
            <a:r>
              <a:rPr sz="1200" i="0" baseline="-10416" dirty="0">
                <a:solidFill>
                  <a:srgbClr val="000000"/>
                </a:solidFill>
                <a:latin typeface="Cambria"/>
                <a:cs typeface="Cambria"/>
              </a:rPr>
              <a:t>2</a:t>
            </a:r>
            <a:r>
              <a:rPr sz="1100" i="0" dirty="0">
                <a:solidFill>
                  <a:srgbClr val="000000"/>
                </a:solidFill>
                <a:latin typeface="Arial MT"/>
                <a:cs typeface="Arial MT"/>
              </a:rPr>
              <a:t>)</a:t>
            </a:r>
            <a:r>
              <a:rPr sz="1100" i="0" spc="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950" i="0" spc="70" dirty="0">
                <a:solidFill>
                  <a:srgbClr val="000000"/>
                </a:solidFill>
                <a:latin typeface="Trebuchet MS"/>
                <a:cs typeface="Trebuchet MS"/>
              </a:rPr>
              <a:t>=</a:t>
            </a:r>
            <a:r>
              <a:rPr sz="950" i="0" spc="2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number</a:t>
            </a:r>
            <a:r>
              <a:rPr sz="950" i="0" spc="2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of</a:t>
            </a:r>
            <a:r>
              <a:rPr sz="950" i="0" spc="2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edges</a:t>
            </a:r>
            <a:r>
              <a:rPr sz="950" i="0" spc="2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in</a:t>
            </a:r>
            <a:r>
              <a:rPr sz="950" i="0" spc="2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shortest</a:t>
            </a:r>
            <a:r>
              <a:rPr sz="950" i="0" spc="2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path</a:t>
            </a:r>
            <a:r>
              <a:rPr sz="950" i="0" spc="2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spc="-10" dirty="0">
                <a:solidFill>
                  <a:srgbClr val="000000"/>
                </a:solidFill>
                <a:latin typeface="Trebuchet MS"/>
                <a:cs typeface="Trebuchet MS"/>
              </a:rPr>
              <a:t>(in</a:t>
            </a:r>
            <a:r>
              <a:rPr sz="950" i="0" spc="2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hypernym</a:t>
            </a:r>
            <a:r>
              <a:rPr sz="950" i="0" spc="2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spc="-10" dirty="0">
                <a:solidFill>
                  <a:srgbClr val="000000"/>
                </a:solidFill>
                <a:latin typeface="Trebuchet MS"/>
                <a:cs typeface="Trebuchet MS"/>
              </a:rPr>
              <a:t>graph) 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between </a:t>
            </a:r>
            <a:r>
              <a:rPr sz="950" i="0" spc="60" dirty="0">
                <a:solidFill>
                  <a:srgbClr val="000000"/>
                </a:solidFill>
                <a:latin typeface="Trebuchet MS"/>
                <a:cs typeface="Trebuchet MS"/>
              </a:rPr>
              <a:t>senses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1100" dirty="0">
                <a:solidFill>
                  <a:srgbClr val="000000"/>
                </a:solidFill>
              </a:rPr>
              <a:t>c</a:t>
            </a:r>
            <a:r>
              <a:rPr sz="1200" i="0" baseline="-10416" dirty="0">
                <a:solidFill>
                  <a:srgbClr val="000000"/>
                </a:solidFill>
                <a:latin typeface="Cambria"/>
                <a:cs typeface="Cambria"/>
              </a:rPr>
              <a:t>1</a:t>
            </a:r>
            <a:r>
              <a:rPr sz="1200" i="0" spc="247" baseline="-10416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and </a:t>
            </a:r>
            <a:r>
              <a:rPr sz="1100" spc="-25" dirty="0">
                <a:solidFill>
                  <a:srgbClr val="000000"/>
                </a:solidFill>
              </a:rPr>
              <a:t>c</a:t>
            </a:r>
            <a:r>
              <a:rPr sz="1200" i="0" spc="-37" baseline="-10416" dirty="0">
                <a:solidFill>
                  <a:srgbClr val="000000"/>
                </a:solidFill>
                <a:latin typeface="Cambria"/>
                <a:cs typeface="Cambria"/>
              </a:rPr>
              <a:t>2</a:t>
            </a:r>
            <a:endParaRPr sz="1200" baseline="-10416">
              <a:latin typeface="Cambria"/>
              <a:cs typeface="Cambri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853082" y="3339672"/>
            <a:ext cx="90233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8" action="ppaction://hlinksldjump"/>
              </a:rPr>
              <a:t>Lexical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  <a:hlinkClick r:id="rId8" action="ppaction://hlinksldjump"/>
              </a:rPr>
              <a:t>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  <a:hlinkClick r:id="rId8" action="ppaction://hlinksldjump"/>
              </a:rPr>
              <a:t>Semantics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  <a:hlinkClick r:id="rId8" action="ppaction://hlinksldjump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8" action="ppaction://hlinksldjump"/>
              </a:rPr>
              <a:t>-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  <a:hlinkClick r:id="rId8" action="ppaction://hlinksldjump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  <a:hlinkClick r:id="rId8" action="ppaction://hlinksldjump"/>
              </a:rPr>
              <a:t>WordNet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608260" y="3339672"/>
            <a:ext cx="56388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8,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2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317424" y="3339672"/>
            <a:ext cx="236854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11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10" dirty="0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</a:rPr>
              <a:t>27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25" name="Slide Number Placeholder 24">
            <a:extLst>
              <a:ext uri="{FF2B5EF4-FFF2-40B4-BE49-F238E27FC236}">
                <a16:creationId xmlns:a16="http://schemas.microsoft.com/office/drawing/2014/main" id="{9AFD9CB6-CD90-4AB3-AFC2-8491C92C7FC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4292024" y="3339672"/>
            <a:ext cx="262254" cy="116204"/>
          </a:xfrm>
          <a:prstGeom prst="rect">
            <a:avLst/>
          </a:prstGeom>
        </p:spPr>
        <p:txBody>
          <a:bodyPr/>
          <a:lstStyle/>
          <a:p>
            <a:pPr marL="75565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lang="en-IN" smtClean="0"/>
              <a:t>51</a:t>
            </a:fld>
            <a:r>
              <a:rPr lang="en-IN" spc="-5"/>
              <a:t> </a:t>
            </a:r>
            <a:r>
              <a:rPr lang="en-IN" spc="-110"/>
              <a:t>/</a:t>
            </a:r>
            <a:r>
              <a:rPr lang="en-IN" spc="15"/>
              <a:t> </a:t>
            </a:r>
            <a:r>
              <a:rPr lang="en-IN" spc="-25"/>
              <a:t>18</a:t>
            </a:r>
            <a:endParaRPr lang="en-IN" spc="-25" dirty="0"/>
          </a:p>
        </p:txBody>
      </p:sp>
    </p:spTree>
  </p:cSld>
  <p:clrMapOvr>
    <a:masterClrMapping/>
  </p:clrMapOvr>
  <p:transition>
    <p:cut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25" dirty="0"/>
              <a:t>Path-</a:t>
            </a:r>
            <a:r>
              <a:rPr dirty="0"/>
              <a:t>based</a:t>
            </a:r>
            <a:r>
              <a:rPr spc="-15" dirty="0"/>
              <a:t> </a:t>
            </a:r>
            <a:r>
              <a:rPr spc="-10" dirty="0"/>
              <a:t>similarity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7743" y="1090409"/>
            <a:ext cx="4483735" cy="1296670"/>
            <a:chOff x="87743" y="1090409"/>
            <a:chExt cx="4483735" cy="1296670"/>
          </a:xfrm>
        </p:grpSpPr>
        <p:sp>
          <p:nvSpPr>
            <p:cNvPr id="4" name="object 4"/>
            <p:cNvSpPr/>
            <p:nvPr/>
          </p:nvSpPr>
          <p:spPr>
            <a:xfrm>
              <a:off x="87743" y="1090409"/>
              <a:ext cx="4432935" cy="176530"/>
            </a:xfrm>
            <a:custGeom>
              <a:avLst/>
              <a:gdLst/>
              <a:ahLst/>
              <a:cxnLst/>
              <a:rect l="l" t="t" r="r" b="b"/>
              <a:pathLst>
                <a:path w="4432935" h="176530">
                  <a:moveTo>
                    <a:pt x="4381754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76276"/>
                  </a:lnTo>
                  <a:lnTo>
                    <a:pt x="4432554" y="176276"/>
                  </a:lnTo>
                  <a:lnTo>
                    <a:pt x="4432554" y="50800"/>
                  </a:lnTo>
                  <a:lnTo>
                    <a:pt x="4428545" y="31075"/>
                  </a:lnTo>
                  <a:lnTo>
                    <a:pt x="4417631" y="14922"/>
                  </a:lnTo>
                  <a:lnTo>
                    <a:pt x="4401478" y="4008"/>
                  </a:lnTo>
                  <a:lnTo>
                    <a:pt x="4381754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744" y="1254074"/>
              <a:ext cx="4432554" cy="5060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8544" y="2285250"/>
              <a:ext cx="101599" cy="1016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9344" y="2272550"/>
              <a:ext cx="4381754" cy="1143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20298" y="1134643"/>
              <a:ext cx="50800" cy="1150607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87743" y="1298333"/>
              <a:ext cx="4432935" cy="1038225"/>
            </a:xfrm>
            <a:custGeom>
              <a:avLst/>
              <a:gdLst/>
              <a:ahLst/>
              <a:cxnLst/>
              <a:rect l="l" t="t" r="r" b="b"/>
              <a:pathLst>
                <a:path w="4432935" h="1038225">
                  <a:moveTo>
                    <a:pt x="4432554" y="0"/>
                  </a:moveTo>
                  <a:lnTo>
                    <a:pt x="0" y="0"/>
                  </a:lnTo>
                  <a:lnTo>
                    <a:pt x="0" y="986916"/>
                  </a:lnTo>
                  <a:lnTo>
                    <a:pt x="4008" y="1006641"/>
                  </a:lnTo>
                  <a:lnTo>
                    <a:pt x="14922" y="1022794"/>
                  </a:lnTo>
                  <a:lnTo>
                    <a:pt x="31075" y="1033708"/>
                  </a:lnTo>
                  <a:lnTo>
                    <a:pt x="50800" y="1037716"/>
                  </a:lnTo>
                  <a:lnTo>
                    <a:pt x="4381754" y="1037716"/>
                  </a:lnTo>
                  <a:lnTo>
                    <a:pt x="4401478" y="1033708"/>
                  </a:lnTo>
                  <a:lnTo>
                    <a:pt x="4417631" y="1022794"/>
                  </a:lnTo>
                  <a:lnTo>
                    <a:pt x="4428545" y="1006641"/>
                  </a:lnTo>
                  <a:lnTo>
                    <a:pt x="4432554" y="986916"/>
                  </a:lnTo>
                  <a:lnTo>
                    <a:pt x="4432554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520309" y="1172730"/>
              <a:ext cx="0" cy="1131570"/>
            </a:xfrm>
            <a:custGeom>
              <a:avLst/>
              <a:gdLst/>
              <a:ahLst/>
              <a:cxnLst/>
              <a:rect l="l" t="t" r="r" b="b"/>
              <a:pathLst>
                <a:path h="1131570">
                  <a:moveTo>
                    <a:pt x="0" y="113157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520309" y="1160032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520309" y="1147332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520309" y="1134632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81597" y="1348079"/>
              <a:ext cx="64757" cy="64757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81597" y="1558112"/>
              <a:ext cx="64757" cy="64757"/>
            </a:xfrm>
            <a:prstGeom prst="rect">
              <a:avLst/>
            </a:prstGeom>
          </p:spPr>
        </p:pic>
      </p:grpSp>
      <p:sp>
        <p:nvSpPr>
          <p:cNvPr id="16" name="object 16"/>
          <p:cNvSpPr txBox="1"/>
          <p:nvPr/>
        </p:nvSpPr>
        <p:spPr>
          <a:xfrm>
            <a:off x="113029" y="1026162"/>
            <a:ext cx="4277995" cy="812165"/>
          </a:xfrm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445"/>
              </a:spcBef>
            </a:pPr>
            <a:r>
              <a:rPr sz="1100" i="1" dirty="0">
                <a:solidFill>
                  <a:srgbClr val="3232B2"/>
                </a:solidFill>
                <a:latin typeface="Cambria"/>
                <a:cs typeface="Cambria"/>
              </a:rPr>
              <a:t>Basic</a:t>
            </a:r>
            <a:r>
              <a:rPr sz="1100" i="1" spc="5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100" i="1" spc="-20" dirty="0">
                <a:solidFill>
                  <a:srgbClr val="3232B2"/>
                </a:solidFill>
                <a:latin typeface="Cambria"/>
                <a:cs typeface="Cambria"/>
              </a:rPr>
              <a:t>Idea</a:t>
            </a:r>
            <a:endParaRPr sz="1100">
              <a:latin typeface="Cambria"/>
              <a:cs typeface="Cambria"/>
            </a:endParaRPr>
          </a:p>
          <a:p>
            <a:pPr marL="302260">
              <a:lnSpc>
                <a:spcPct val="100000"/>
              </a:lnSpc>
              <a:spcBef>
                <a:spcPts val="350"/>
              </a:spcBef>
            </a:pPr>
            <a:r>
              <a:rPr sz="950" dirty="0">
                <a:latin typeface="Trebuchet MS"/>
                <a:cs typeface="Trebuchet MS"/>
              </a:rPr>
              <a:t>Two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words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are</a:t>
            </a:r>
            <a:r>
              <a:rPr sz="950" spc="-10" dirty="0">
                <a:latin typeface="Trebuchet MS"/>
                <a:cs typeface="Trebuchet MS"/>
              </a:rPr>
              <a:t> similar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spc="-70" dirty="0">
                <a:latin typeface="Trebuchet MS"/>
                <a:cs typeface="Trebuchet MS"/>
              </a:rPr>
              <a:t>if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they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are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nearby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in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hypernym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graph</a:t>
            </a:r>
            <a:endParaRPr sz="950">
              <a:latin typeface="Trebuchet MS"/>
              <a:cs typeface="Trebuchet MS"/>
            </a:endParaRPr>
          </a:p>
          <a:p>
            <a:pPr marL="302260" marR="43180">
              <a:lnSpc>
                <a:spcPct val="102699"/>
              </a:lnSpc>
              <a:spcBef>
                <a:spcPts val="325"/>
              </a:spcBef>
            </a:pPr>
            <a:r>
              <a:rPr sz="1100" i="1" spc="-25" dirty="0">
                <a:latin typeface="Cambria"/>
                <a:cs typeface="Cambria"/>
              </a:rPr>
              <a:t>pathlen</a:t>
            </a:r>
            <a:r>
              <a:rPr sz="1100" spc="-25" dirty="0">
                <a:latin typeface="Arial MT"/>
                <a:cs typeface="Arial MT"/>
              </a:rPr>
              <a:t>(</a:t>
            </a:r>
            <a:r>
              <a:rPr sz="1100" i="1" spc="-25" dirty="0">
                <a:latin typeface="Cambria"/>
                <a:cs typeface="Cambria"/>
              </a:rPr>
              <a:t>c</a:t>
            </a:r>
            <a:r>
              <a:rPr sz="1200" spc="-37" baseline="-10416" dirty="0">
                <a:latin typeface="Cambria"/>
                <a:cs typeface="Cambria"/>
              </a:rPr>
              <a:t>1</a:t>
            </a:r>
            <a:r>
              <a:rPr sz="1100" i="1" spc="-25" dirty="0">
                <a:latin typeface="Arial"/>
                <a:cs typeface="Arial"/>
              </a:rPr>
              <a:t>,</a:t>
            </a:r>
            <a:r>
              <a:rPr sz="1100" i="1" spc="-170" dirty="0">
                <a:latin typeface="Arial"/>
                <a:cs typeface="Arial"/>
              </a:rPr>
              <a:t> </a:t>
            </a:r>
            <a:r>
              <a:rPr sz="1100" i="1" dirty="0">
                <a:latin typeface="Cambria"/>
                <a:cs typeface="Cambria"/>
              </a:rPr>
              <a:t>c</a:t>
            </a:r>
            <a:r>
              <a:rPr sz="1200" baseline="-10416" dirty="0">
                <a:latin typeface="Cambria"/>
                <a:cs typeface="Cambria"/>
              </a:rPr>
              <a:t>2</a:t>
            </a:r>
            <a:r>
              <a:rPr sz="1100" dirty="0">
                <a:latin typeface="Arial MT"/>
                <a:cs typeface="Arial MT"/>
              </a:rPr>
              <a:t>)</a:t>
            </a:r>
            <a:r>
              <a:rPr sz="1100" spc="5" dirty="0">
                <a:latin typeface="Arial MT"/>
                <a:cs typeface="Arial MT"/>
              </a:rPr>
              <a:t> </a:t>
            </a:r>
            <a:r>
              <a:rPr sz="950" spc="70" dirty="0">
                <a:latin typeface="Trebuchet MS"/>
                <a:cs typeface="Trebuchet MS"/>
              </a:rPr>
              <a:t>=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number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of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edges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in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shortest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path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(in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hypernym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graph) </a:t>
            </a:r>
            <a:r>
              <a:rPr sz="950" dirty="0">
                <a:latin typeface="Trebuchet MS"/>
                <a:cs typeface="Trebuchet MS"/>
              </a:rPr>
              <a:t>between </a:t>
            </a:r>
            <a:r>
              <a:rPr sz="950" spc="60" dirty="0">
                <a:latin typeface="Trebuchet MS"/>
                <a:cs typeface="Trebuchet MS"/>
              </a:rPr>
              <a:t>senses</a:t>
            </a:r>
            <a:r>
              <a:rPr sz="950" dirty="0">
                <a:latin typeface="Trebuchet MS"/>
                <a:cs typeface="Trebuchet MS"/>
              </a:rPr>
              <a:t> </a:t>
            </a:r>
            <a:r>
              <a:rPr sz="1100" i="1" dirty="0">
                <a:latin typeface="Cambria"/>
                <a:cs typeface="Cambria"/>
              </a:rPr>
              <a:t>c</a:t>
            </a:r>
            <a:r>
              <a:rPr sz="1200" baseline="-10416" dirty="0">
                <a:latin typeface="Cambria"/>
                <a:cs typeface="Cambria"/>
              </a:rPr>
              <a:t>1</a:t>
            </a:r>
            <a:r>
              <a:rPr sz="1200" spc="247" baseline="-10416" dirty="0">
                <a:latin typeface="Cambria"/>
                <a:cs typeface="Cambria"/>
              </a:rPr>
              <a:t> </a:t>
            </a:r>
            <a:r>
              <a:rPr sz="950" dirty="0">
                <a:latin typeface="Trebuchet MS"/>
                <a:cs typeface="Trebuchet MS"/>
              </a:rPr>
              <a:t>and </a:t>
            </a:r>
            <a:r>
              <a:rPr sz="1100" i="1" spc="-25" dirty="0">
                <a:latin typeface="Cambria"/>
                <a:cs typeface="Cambria"/>
              </a:rPr>
              <a:t>c</a:t>
            </a:r>
            <a:r>
              <a:rPr sz="1200" spc="-37" baseline="-10416" dirty="0">
                <a:latin typeface="Cambria"/>
                <a:cs typeface="Cambria"/>
              </a:rPr>
              <a:t>2</a:t>
            </a:r>
            <a:endParaRPr sz="1200" baseline="-10416">
              <a:latin typeface="Cambria"/>
              <a:cs typeface="Cambria"/>
            </a:endParaRPr>
          </a:p>
        </p:txBody>
      </p:sp>
      <p:pic>
        <p:nvPicPr>
          <p:cNvPr id="17" name="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81597" y="1940217"/>
            <a:ext cx="64757" cy="64757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1698231" y="1838998"/>
            <a:ext cx="7620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0" dirty="0">
                <a:latin typeface="Cambria"/>
                <a:cs typeface="Cambria"/>
              </a:rPr>
              <a:t>1</a:t>
            </a:r>
            <a:endParaRPr sz="800">
              <a:latin typeface="Cambria"/>
              <a:cs typeface="Cambria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1373568" y="1971903"/>
            <a:ext cx="725805" cy="0"/>
          </a:xfrm>
          <a:custGeom>
            <a:avLst/>
            <a:gdLst/>
            <a:ahLst/>
            <a:cxnLst/>
            <a:rect l="l" t="t" r="r" b="b"/>
            <a:pathLst>
              <a:path w="725805">
                <a:moveTo>
                  <a:pt x="0" y="0"/>
                </a:moveTo>
                <a:lnTo>
                  <a:pt x="725297" y="0"/>
                </a:lnTo>
              </a:path>
            </a:pathLst>
          </a:custGeom>
          <a:ln w="77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377532" y="1856270"/>
            <a:ext cx="108521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i="1" spc="-20" dirty="0">
                <a:latin typeface="Cambria"/>
                <a:cs typeface="Cambria"/>
              </a:rPr>
              <a:t>sim</a:t>
            </a:r>
            <a:r>
              <a:rPr sz="1200" i="1" spc="-30" baseline="-10416" dirty="0">
                <a:latin typeface="Cambria"/>
                <a:cs typeface="Cambria"/>
              </a:rPr>
              <a:t>path</a:t>
            </a:r>
            <a:r>
              <a:rPr sz="1100" spc="-20" dirty="0">
                <a:latin typeface="Arial MT"/>
                <a:cs typeface="Arial MT"/>
              </a:rPr>
              <a:t>(</a:t>
            </a:r>
            <a:r>
              <a:rPr sz="1100" i="1" spc="-20" dirty="0">
                <a:latin typeface="Cambria"/>
                <a:cs typeface="Cambria"/>
              </a:rPr>
              <a:t>c</a:t>
            </a:r>
            <a:r>
              <a:rPr sz="1200" spc="-30" baseline="-10416" dirty="0">
                <a:latin typeface="Cambria"/>
                <a:cs typeface="Cambria"/>
              </a:rPr>
              <a:t>1</a:t>
            </a:r>
            <a:r>
              <a:rPr sz="1100" i="1" spc="-20" dirty="0">
                <a:latin typeface="Arial"/>
                <a:cs typeface="Arial"/>
              </a:rPr>
              <a:t>,</a:t>
            </a:r>
            <a:r>
              <a:rPr sz="1100" i="1" spc="-165" dirty="0">
                <a:latin typeface="Arial"/>
                <a:cs typeface="Arial"/>
              </a:rPr>
              <a:t> </a:t>
            </a:r>
            <a:r>
              <a:rPr sz="1100" i="1" dirty="0">
                <a:latin typeface="Cambria"/>
                <a:cs typeface="Cambria"/>
              </a:rPr>
              <a:t>c</a:t>
            </a:r>
            <a:r>
              <a:rPr sz="1200" baseline="-10416" dirty="0">
                <a:latin typeface="Cambria"/>
                <a:cs typeface="Cambria"/>
              </a:rPr>
              <a:t>2</a:t>
            </a:r>
            <a:r>
              <a:rPr sz="1100" dirty="0">
                <a:latin typeface="Arial MT"/>
                <a:cs typeface="Arial MT"/>
              </a:rPr>
              <a:t>)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spc="200" dirty="0">
                <a:latin typeface="Arial MT"/>
                <a:cs typeface="Arial MT"/>
              </a:rPr>
              <a:t>=</a:t>
            </a:r>
            <a:r>
              <a:rPr sz="1100" spc="125" dirty="0">
                <a:latin typeface="Arial MT"/>
                <a:cs typeface="Arial MT"/>
              </a:rPr>
              <a:t> </a:t>
            </a:r>
            <a:r>
              <a:rPr sz="1200" spc="-75" baseline="-27777" dirty="0">
                <a:latin typeface="Cambria"/>
                <a:cs typeface="Cambria"/>
              </a:rPr>
              <a:t>1</a:t>
            </a:r>
            <a:endParaRPr sz="1200" baseline="-27777">
              <a:latin typeface="Cambria"/>
              <a:cs typeface="Cambri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386077" y="1945538"/>
            <a:ext cx="75120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800" spc="-10" dirty="0">
                <a:latin typeface="Tahoma"/>
                <a:cs typeface="Tahoma"/>
              </a:rPr>
              <a:t>+</a:t>
            </a:r>
            <a:r>
              <a:rPr sz="800" i="1" spc="-10" dirty="0">
                <a:latin typeface="Cambria"/>
                <a:cs typeface="Cambria"/>
              </a:rPr>
              <a:t>pathlen</a:t>
            </a:r>
            <a:r>
              <a:rPr sz="800" spc="-10" dirty="0">
                <a:latin typeface="Tahoma"/>
                <a:cs typeface="Tahoma"/>
              </a:rPr>
              <a:t>(</a:t>
            </a:r>
            <a:r>
              <a:rPr sz="800" i="1" spc="-10" dirty="0">
                <a:latin typeface="Cambria"/>
                <a:cs typeface="Cambria"/>
              </a:rPr>
              <a:t>c</a:t>
            </a:r>
            <a:r>
              <a:rPr sz="900" spc="-15" baseline="-9259" dirty="0">
                <a:latin typeface="Cambria"/>
                <a:cs typeface="Cambria"/>
              </a:rPr>
              <a:t>1</a:t>
            </a:r>
            <a:r>
              <a:rPr sz="800" i="1" spc="-10" dirty="0">
                <a:latin typeface="Arial"/>
                <a:cs typeface="Arial"/>
              </a:rPr>
              <a:t>,</a:t>
            </a:r>
            <a:r>
              <a:rPr sz="800" i="1" spc="-10" dirty="0">
                <a:latin typeface="Cambria"/>
                <a:cs typeface="Cambria"/>
              </a:rPr>
              <a:t>c</a:t>
            </a:r>
            <a:r>
              <a:rPr sz="900" spc="-15" baseline="-9259" dirty="0">
                <a:latin typeface="Cambria"/>
                <a:cs typeface="Cambria"/>
              </a:rPr>
              <a:t>2</a:t>
            </a:r>
            <a:r>
              <a:rPr sz="800" spc="-10" dirty="0">
                <a:latin typeface="Tahoma"/>
                <a:cs typeface="Tahoma"/>
              </a:rPr>
              <a:t>)</a:t>
            </a:r>
            <a:endParaRPr sz="800">
              <a:latin typeface="Tahoma"/>
              <a:cs typeface="Tahom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853082" y="3339672"/>
            <a:ext cx="90233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9" action="ppaction://hlinksldjump"/>
              </a:rPr>
              <a:t>Lexical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  <a:hlinkClick r:id="rId9" action="ppaction://hlinksldjump"/>
              </a:rPr>
              <a:t>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  <a:hlinkClick r:id="rId9" action="ppaction://hlinksldjump"/>
              </a:rPr>
              <a:t>Semantics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  <a:hlinkClick r:id="rId9" action="ppaction://hlinksldjump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9" action="ppaction://hlinksldjump"/>
              </a:rPr>
              <a:t>-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  <a:hlinkClick r:id="rId9" action="ppaction://hlinksldjump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  <a:hlinkClick r:id="rId9" action="ppaction://hlinksldjump"/>
              </a:rPr>
              <a:t>WordNet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3608260" y="3339672"/>
            <a:ext cx="56388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8,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2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4317424" y="3339672"/>
            <a:ext cx="236854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11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10" dirty="0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</a:rPr>
              <a:t>27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30" name="Slide Number Placeholder 29">
            <a:extLst>
              <a:ext uri="{FF2B5EF4-FFF2-40B4-BE49-F238E27FC236}">
                <a16:creationId xmlns:a16="http://schemas.microsoft.com/office/drawing/2014/main" id="{122C7E67-4F4F-4A8A-B830-8E17A457A416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4292024" y="3339672"/>
            <a:ext cx="262254" cy="116204"/>
          </a:xfrm>
          <a:prstGeom prst="rect">
            <a:avLst/>
          </a:prstGeom>
        </p:spPr>
        <p:txBody>
          <a:bodyPr/>
          <a:lstStyle/>
          <a:p>
            <a:pPr marL="75565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lang="en-IN" smtClean="0"/>
              <a:t>52</a:t>
            </a:fld>
            <a:r>
              <a:rPr lang="en-IN" spc="-5"/>
              <a:t> </a:t>
            </a:r>
            <a:r>
              <a:rPr lang="en-IN" spc="-110"/>
              <a:t>/</a:t>
            </a:r>
            <a:r>
              <a:rPr lang="en-IN" spc="15"/>
              <a:t> </a:t>
            </a:r>
            <a:r>
              <a:rPr lang="en-IN" spc="-25"/>
              <a:t>18</a:t>
            </a:r>
            <a:endParaRPr lang="en-IN" spc="-25" dirty="0"/>
          </a:p>
        </p:txBody>
      </p:sp>
    </p:spTree>
  </p:cSld>
  <p:clrMapOvr>
    <a:masterClrMapping/>
  </p:clrMapOvr>
  <p:transition>
    <p:cut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25" dirty="0"/>
              <a:t>Path-</a:t>
            </a:r>
            <a:r>
              <a:rPr dirty="0"/>
              <a:t>based</a:t>
            </a:r>
            <a:r>
              <a:rPr spc="-15" dirty="0"/>
              <a:t> </a:t>
            </a:r>
            <a:r>
              <a:rPr spc="-10" dirty="0"/>
              <a:t>similarity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7743" y="1090409"/>
            <a:ext cx="4483735" cy="1296670"/>
            <a:chOff x="87743" y="1090409"/>
            <a:chExt cx="4483735" cy="1296670"/>
          </a:xfrm>
        </p:grpSpPr>
        <p:sp>
          <p:nvSpPr>
            <p:cNvPr id="4" name="object 4"/>
            <p:cNvSpPr/>
            <p:nvPr/>
          </p:nvSpPr>
          <p:spPr>
            <a:xfrm>
              <a:off x="87743" y="1090409"/>
              <a:ext cx="4432935" cy="176530"/>
            </a:xfrm>
            <a:custGeom>
              <a:avLst/>
              <a:gdLst/>
              <a:ahLst/>
              <a:cxnLst/>
              <a:rect l="l" t="t" r="r" b="b"/>
              <a:pathLst>
                <a:path w="4432935" h="176530">
                  <a:moveTo>
                    <a:pt x="4381754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76276"/>
                  </a:lnTo>
                  <a:lnTo>
                    <a:pt x="4432554" y="176276"/>
                  </a:lnTo>
                  <a:lnTo>
                    <a:pt x="4432554" y="50800"/>
                  </a:lnTo>
                  <a:lnTo>
                    <a:pt x="4428545" y="31075"/>
                  </a:lnTo>
                  <a:lnTo>
                    <a:pt x="4417631" y="14922"/>
                  </a:lnTo>
                  <a:lnTo>
                    <a:pt x="4401478" y="4008"/>
                  </a:lnTo>
                  <a:lnTo>
                    <a:pt x="4381754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744" y="1254074"/>
              <a:ext cx="4432554" cy="5060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8544" y="2285250"/>
              <a:ext cx="101599" cy="1016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9344" y="2272550"/>
              <a:ext cx="4381754" cy="1143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20298" y="1134643"/>
              <a:ext cx="50800" cy="1150607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87743" y="1298333"/>
              <a:ext cx="4432935" cy="1038225"/>
            </a:xfrm>
            <a:custGeom>
              <a:avLst/>
              <a:gdLst/>
              <a:ahLst/>
              <a:cxnLst/>
              <a:rect l="l" t="t" r="r" b="b"/>
              <a:pathLst>
                <a:path w="4432935" h="1038225">
                  <a:moveTo>
                    <a:pt x="4432554" y="0"/>
                  </a:moveTo>
                  <a:lnTo>
                    <a:pt x="0" y="0"/>
                  </a:lnTo>
                  <a:lnTo>
                    <a:pt x="0" y="986916"/>
                  </a:lnTo>
                  <a:lnTo>
                    <a:pt x="4008" y="1006641"/>
                  </a:lnTo>
                  <a:lnTo>
                    <a:pt x="14922" y="1022794"/>
                  </a:lnTo>
                  <a:lnTo>
                    <a:pt x="31075" y="1033708"/>
                  </a:lnTo>
                  <a:lnTo>
                    <a:pt x="50800" y="1037716"/>
                  </a:lnTo>
                  <a:lnTo>
                    <a:pt x="4381754" y="1037716"/>
                  </a:lnTo>
                  <a:lnTo>
                    <a:pt x="4401478" y="1033708"/>
                  </a:lnTo>
                  <a:lnTo>
                    <a:pt x="4417631" y="1022794"/>
                  </a:lnTo>
                  <a:lnTo>
                    <a:pt x="4428545" y="1006641"/>
                  </a:lnTo>
                  <a:lnTo>
                    <a:pt x="4432554" y="986916"/>
                  </a:lnTo>
                  <a:lnTo>
                    <a:pt x="4432554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520309" y="1172730"/>
              <a:ext cx="0" cy="1131570"/>
            </a:xfrm>
            <a:custGeom>
              <a:avLst/>
              <a:gdLst/>
              <a:ahLst/>
              <a:cxnLst/>
              <a:rect l="l" t="t" r="r" b="b"/>
              <a:pathLst>
                <a:path h="1131570">
                  <a:moveTo>
                    <a:pt x="0" y="113157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520309" y="1160032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520309" y="1147332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520309" y="1134632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81597" y="1348079"/>
              <a:ext cx="64757" cy="64757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81597" y="1558112"/>
              <a:ext cx="64757" cy="64757"/>
            </a:xfrm>
            <a:prstGeom prst="rect">
              <a:avLst/>
            </a:prstGeom>
          </p:spPr>
        </p:pic>
      </p:grpSp>
      <p:sp>
        <p:nvSpPr>
          <p:cNvPr id="16" name="object 16"/>
          <p:cNvSpPr txBox="1"/>
          <p:nvPr/>
        </p:nvSpPr>
        <p:spPr>
          <a:xfrm>
            <a:off x="113029" y="1026162"/>
            <a:ext cx="4277995" cy="812165"/>
          </a:xfrm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445"/>
              </a:spcBef>
            </a:pPr>
            <a:r>
              <a:rPr sz="1100" i="1" dirty="0">
                <a:solidFill>
                  <a:srgbClr val="3232B2"/>
                </a:solidFill>
                <a:latin typeface="Cambria"/>
                <a:cs typeface="Cambria"/>
              </a:rPr>
              <a:t>Basic</a:t>
            </a:r>
            <a:r>
              <a:rPr sz="1100" i="1" spc="5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100" i="1" spc="-20" dirty="0">
                <a:solidFill>
                  <a:srgbClr val="3232B2"/>
                </a:solidFill>
                <a:latin typeface="Cambria"/>
                <a:cs typeface="Cambria"/>
              </a:rPr>
              <a:t>Idea</a:t>
            </a:r>
            <a:endParaRPr sz="1100">
              <a:latin typeface="Cambria"/>
              <a:cs typeface="Cambria"/>
            </a:endParaRPr>
          </a:p>
          <a:p>
            <a:pPr marL="302260">
              <a:lnSpc>
                <a:spcPct val="100000"/>
              </a:lnSpc>
              <a:spcBef>
                <a:spcPts val="350"/>
              </a:spcBef>
            </a:pPr>
            <a:r>
              <a:rPr sz="950" dirty="0">
                <a:latin typeface="Trebuchet MS"/>
                <a:cs typeface="Trebuchet MS"/>
              </a:rPr>
              <a:t>Two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words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are</a:t>
            </a:r>
            <a:r>
              <a:rPr sz="950" spc="-10" dirty="0">
                <a:latin typeface="Trebuchet MS"/>
                <a:cs typeface="Trebuchet MS"/>
              </a:rPr>
              <a:t> similar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spc="-70" dirty="0">
                <a:latin typeface="Trebuchet MS"/>
                <a:cs typeface="Trebuchet MS"/>
              </a:rPr>
              <a:t>if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they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are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nearby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in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hypernym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graph</a:t>
            </a:r>
            <a:endParaRPr sz="950">
              <a:latin typeface="Trebuchet MS"/>
              <a:cs typeface="Trebuchet MS"/>
            </a:endParaRPr>
          </a:p>
          <a:p>
            <a:pPr marL="302260" marR="43180">
              <a:lnSpc>
                <a:spcPct val="102699"/>
              </a:lnSpc>
              <a:spcBef>
                <a:spcPts val="325"/>
              </a:spcBef>
            </a:pPr>
            <a:r>
              <a:rPr sz="1100" i="1" spc="-25" dirty="0">
                <a:latin typeface="Cambria"/>
                <a:cs typeface="Cambria"/>
              </a:rPr>
              <a:t>pathlen</a:t>
            </a:r>
            <a:r>
              <a:rPr sz="1100" spc="-25" dirty="0">
                <a:latin typeface="Arial MT"/>
                <a:cs typeface="Arial MT"/>
              </a:rPr>
              <a:t>(</a:t>
            </a:r>
            <a:r>
              <a:rPr sz="1100" i="1" spc="-25" dirty="0">
                <a:latin typeface="Cambria"/>
                <a:cs typeface="Cambria"/>
              </a:rPr>
              <a:t>c</a:t>
            </a:r>
            <a:r>
              <a:rPr sz="1200" spc="-37" baseline="-10416" dirty="0">
                <a:latin typeface="Cambria"/>
                <a:cs typeface="Cambria"/>
              </a:rPr>
              <a:t>1</a:t>
            </a:r>
            <a:r>
              <a:rPr sz="1100" i="1" spc="-25" dirty="0">
                <a:latin typeface="Arial"/>
                <a:cs typeface="Arial"/>
              </a:rPr>
              <a:t>,</a:t>
            </a:r>
            <a:r>
              <a:rPr sz="1100" i="1" spc="-170" dirty="0">
                <a:latin typeface="Arial"/>
                <a:cs typeface="Arial"/>
              </a:rPr>
              <a:t> </a:t>
            </a:r>
            <a:r>
              <a:rPr sz="1100" i="1" dirty="0">
                <a:latin typeface="Cambria"/>
                <a:cs typeface="Cambria"/>
              </a:rPr>
              <a:t>c</a:t>
            </a:r>
            <a:r>
              <a:rPr sz="1200" baseline="-10416" dirty="0">
                <a:latin typeface="Cambria"/>
                <a:cs typeface="Cambria"/>
              </a:rPr>
              <a:t>2</a:t>
            </a:r>
            <a:r>
              <a:rPr sz="1100" dirty="0">
                <a:latin typeface="Arial MT"/>
                <a:cs typeface="Arial MT"/>
              </a:rPr>
              <a:t>)</a:t>
            </a:r>
            <a:r>
              <a:rPr sz="1100" spc="5" dirty="0">
                <a:latin typeface="Arial MT"/>
                <a:cs typeface="Arial MT"/>
              </a:rPr>
              <a:t> </a:t>
            </a:r>
            <a:r>
              <a:rPr sz="950" spc="70" dirty="0">
                <a:latin typeface="Trebuchet MS"/>
                <a:cs typeface="Trebuchet MS"/>
              </a:rPr>
              <a:t>=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number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of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edges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in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shortest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path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(in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hypernym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graph) </a:t>
            </a:r>
            <a:r>
              <a:rPr sz="950" dirty="0">
                <a:latin typeface="Trebuchet MS"/>
                <a:cs typeface="Trebuchet MS"/>
              </a:rPr>
              <a:t>between </a:t>
            </a:r>
            <a:r>
              <a:rPr sz="950" spc="60" dirty="0">
                <a:latin typeface="Trebuchet MS"/>
                <a:cs typeface="Trebuchet MS"/>
              </a:rPr>
              <a:t>senses</a:t>
            </a:r>
            <a:r>
              <a:rPr sz="950" dirty="0">
                <a:latin typeface="Trebuchet MS"/>
                <a:cs typeface="Trebuchet MS"/>
              </a:rPr>
              <a:t> </a:t>
            </a:r>
            <a:r>
              <a:rPr sz="1100" i="1" dirty="0">
                <a:latin typeface="Cambria"/>
                <a:cs typeface="Cambria"/>
              </a:rPr>
              <a:t>c</a:t>
            </a:r>
            <a:r>
              <a:rPr sz="1200" baseline="-10416" dirty="0">
                <a:latin typeface="Cambria"/>
                <a:cs typeface="Cambria"/>
              </a:rPr>
              <a:t>1</a:t>
            </a:r>
            <a:r>
              <a:rPr sz="1200" spc="247" baseline="-10416" dirty="0">
                <a:latin typeface="Cambria"/>
                <a:cs typeface="Cambria"/>
              </a:rPr>
              <a:t> </a:t>
            </a:r>
            <a:r>
              <a:rPr sz="950" dirty="0">
                <a:latin typeface="Trebuchet MS"/>
                <a:cs typeface="Trebuchet MS"/>
              </a:rPr>
              <a:t>and </a:t>
            </a:r>
            <a:r>
              <a:rPr sz="1100" i="1" spc="-25" dirty="0">
                <a:latin typeface="Cambria"/>
                <a:cs typeface="Cambria"/>
              </a:rPr>
              <a:t>c</a:t>
            </a:r>
            <a:r>
              <a:rPr sz="1200" spc="-37" baseline="-10416" dirty="0">
                <a:latin typeface="Cambria"/>
                <a:cs typeface="Cambria"/>
              </a:rPr>
              <a:t>2</a:t>
            </a:r>
            <a:endParaRPr sz="1200" baseline="-10416">
              <a:latin typeface="Cambria"/>
              <a:cs typeface="Cambria"/>
            </a:endParaRPr>
          </a:p>
        </p:txBody>
      </p:sp>
      <p:pic>
        <p:nvPicPr>
          <p:cNvPr id="17" name="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81597" y="1940217"/>
            <a:ext cx="64757" cy="64757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1698231" y="1838998"/>
            <a:ext cx="7620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0" dirty="0">
                <a:latin typeface="Cambria"/>
                <a:cs typeface="Cambria"/>
              </a:rPr>
              <a:t>1</a:t>
            </a:r>
            <a:endParaRPr sz="800">
              <a:latin typeface="Cambria"/>
              <a:cs typeface="Cambria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1373568" y="1971903"/>
            <a:ext cx="725805" cy="0"/>
          </a:xfrm>
          <a:custGeom>
            <a:avLst/>
            <a:gdLst/>
            <a:ahLst/>
            <a:cxnLst/>
            <a:rect l="l" t="t" r="r" b="b"/>
            <a:pathLst>
              <a:path w="725805">
                <a:moveTo>
                  <a:pt x="0" y="0"/>
                </a:moveTo>
                <a:lnTo>
                  <a:pt x="725297" y="0"/>
                </a:lnTo>
              </a:path>
            </a:pathLst>
          </a:custGeom>
          <a:ln w="77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377532" y="1856270"/>
            <a:ext cx="108521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i="1" spc="-20" dirty="0">
                <a:latin typeface="Cambria"/>
                <a:cs typeface="Cambria"/>
              </a:rPr>
              <a:t>sim</a:t>
            </a:r>
            <a:r>
              <a:rPr sz="1200" i="1" spc="-30" baseline="-10416" dirty="0">
                <a:latin typeface="Cambria"/>
                <a:cs typeface="Cambria"/>
              </a:rPr>
              <a:t>path</a:t>
            </a:r>
            <a:r>
              <a:rPr sz="1100" spc="-20" dirty="0">
                <a:latin typeface="Arial MT"/>
                <a:cs typeface="Arial MT"/>
              </a:rPr>
              <a:t>(</a:t>
            </a:r>
            <a:r>
              <a:rPr sz="1100" i="1" spc="-20" dirty="0">
                <a:latin typeface="Cambria"/>
                <a:cs typeface="Cambria"/>
              </a:rPr>
              <a:t>c</a:t>
            </a:r>
            <a:r>
              <a:rPr sz="1200" spc="-30" baseline="-10416" dirty="0">
                <a:latin typeface="Cambria"/>
                <a:cs typeface="Cambria"/>
              </a:rPr>
              <a:t>1</a:t>
            </a:r>
            <a:r>
              <a:rPr sz="1100" i="1" spc="-20" dirty="0">
                <a:latin typeface="Arial"/>
                <a:cs typeface="Arial"/>
              </a:rPr>
              <a:t>,</a:t>
            </a:r>
            <a:r>
              <a:rPr sz="1100" i="1" spc="-165" dirty="0">
                <a:latin typeface="Arial"/>
                <a:cs typeface="Arial"/>
              </a:rPr>
              <a:t> </a:t>
            </a:r>
            <a:r>
              <a:rPr sz="1100" i="1" dirty="0">
                <a:latin typeface="Cambria"/>
                <a:cs typeface="Cambria"/>
              </a:rPr>
              <a:t>c</a:t>
            </a:r>
            <a:r>
              <a:rPr sz="1200" baseline="-10416" dirty="0">
                <a:latin typeface="Cambria"/>
                <a:cs typeface="Cambria"/>
              </a:rPr>
              <a:t>2</a:t>
            </a:r>
            <a:r>
              <a:rPr sz="1100" dirty="0">
                <a:latin typeface="Arial MT"/>
                <a:cs typeface="Arial MT"/>
              </a:rPr>
              <a:t>)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spc="200" dirty="0">
                <a:latin typeface="Arial MT"/>
                <a:cs typeface="Arial MT"/>
              </a:rPr>
              <a:t>=</a:t>
            </a:r>
            <a:r>
              <a:rPr sz="1100" spc="125" dirty="0">
                <a:latin typeface="Arial MT"/>
                <a:cs typeface="Arial MT"/>
              </a:rPr>
              <a:t> </a:t>
            </a:r>
            <a:r>
              <a:rPr sz="1200" spc="-75" baseline="-27777" dirty="0">
                <a:latin typeface="Cambria"/>
                <a:cs typeface="Cambria"/>
              </a:rPr>
              <a:t>1</a:t>
            </a:r>
            <a:endParaRPr sz="1200" baseline="-27777">
              <a:latin typeface="Cambria"/>
              <a:cs typeface="Cambri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386077" y="1945538"/>
            <a:ext cx="75120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800" spc="-10" dirty="0">
                <a:latin typeface="Tahoma"/>
                <a:cs typeface="Tahoma"/>
              </a:rPr>
              <a:t>+</a:t>
            </a:r>
            <a:r>
              <a:rPr sz="800" i="1" spc="-10" dirty="0">
                <a:latin typeface="Cambria"/>
                <a:cs typeface="Cambria"/>
              </a:rPr>
              <a:t>pathlen</a:t>
            </a:r>
            <a:r>
              <a:rPr sz="800" spc="-10" dirty="0">
                <a:latin typeface="Tahoma"/>
                <a:cs typeface="Tahoma"/>
              </a:rPr>
              <a:t>(</a:t>
            </a:r>
            <a:r>
              <a:rPr sz="800" i="1" spc="-10" dirty="0">
                <a:latin typeface="Cambria"/>
                <a:cs typeface="Cambria"/>
              </a:rPr>
              <a:t>c</a:t>
            </a:r>
            <a:r>
              <a:rPr sz="900" spc="-15" baseline="-9259" dirty="0">
                <a:latin typeface="Cambria"/>
                <a:cs typeface="Cambria"/>
              </a:rPr>
              <a:t>1</a:t>
            </a:r>
            <a:r>
              <a:rPr sz="800" i="1" spc="-10" dirty="0">
                <a:latin typeface="Arial"/>
                <a:cs typeface="Arial"/>
              </a:rPr>
              <a:t>,</a:t>
            </a:r>
            <a:r>
              <a:rPr sz="800" i="1" spc="-10" dirty="0">
                <a:latin typeface="Cambria"/>
                <a:cs typeface="Cambria"/>
              </a:rPr>
              <a:t>c</a:t>
            </a:r>
            <a:r>
              <a:rPr sz="900" spc="-15" baseline="-9259" dirty="0">
                <a:latin typeface="Cambria"/>
                <a:cs typeface="Cambria"/>
              </a:rPr>
              <a:t>2</a:t>
            </a:r>
            <a:r>
              <a:rPr sz="800" spc="-10" dirty="0">
                <a:latin typeface="Tahoma"/>
                <a:cs typeface="Tahoma"/>
              </a:rPr>
              <a:t>)</a:t>
            </a:r>
            <a:endParaRPr sz="800">
              <a:latin typeface="Tahoma"/>
              <a:cs typeface="Tahoma"/>
            </a:endParaRPr>
          </a:p>
        </p:txBody>
      </p:sp>
      <p:pic>
        <p:nvPicPr>
          <p:cNvPr id="22" name="object 22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281597" y="2171992"/>
            <a:ext cx="64757" cy="64757"/>
          </a:xfrm>
          <a:prstGeom prst="rect">
            <a:avLst/>
          </a:prstGeom>
        </p:spPr>
      </p:pic>
      <p:sp>
        <p:nvSpPr>
          <p:cNvPr id="23" name="object 23"/>
          <p:cNvSpPr txBox="1"/>
          <p:nvPr/>
        </p:nvSpPr>
        <p:spPr>
          <a:xfrm>
            <a:off x="377532" y="2115070"/>
            <a:ext cx="293941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650" i="1" spc="-44" baseline="10101" dirty="0">
                <a:latin typeface="Cambria"/>
                <a:cs typeface="Cambria"/>
              </a:rPr>
              <a:t>sim</a:t>
            </a:r>
            <a:r>
              <a:rPr sz="1650" spc="-44" baseline="10101" dirty="0">
                <a:latin typeface="Arial MT"/>
                <a:cs typeface="Arial MT"/>
              </a:rPr>
              <a:t>(</a:t>
            </a:r>
            <a:r>
              <a:rPr sz="1650" i="1" spc="-44" baseline="10101" dirty="0">
                <a:latin typeface="Cambria"/>
                <a:cs typeface="Cambria"/>
              </a:rPr>
              <a:t>w</a:t>
            </a:r>
            <a:r>
              <a:rPr sz="1200" spc="-44" baseline="3472" dirty="0">
                <a:latin typeface="Cambria"/>
                <a:cs typeface="Cambria"/>
              </a:rPr>
              <a:t>1</a:t>
            </a:r>
            <a:r>
              <a:rPr sz="1650" i="1" spc="-44" baseline="10101" dirty="0">
                <a:latin typeface="Arial"/>
                <a:cs typeface="Arial"/>
              </a:rPr>
              <a:t>,</a:t>
            </a:r>
            <a:r>
              <a:rPr sz="1650" i="1" spc="-202" baseline="10101" dirty="0">
                <a:latin typeface="Arial"/>
                <a:cs typeface="Arial"/>
              </a:rPr>
              <a:t> </a:t>
            </a:r>
            <a:r>
              <a:rPr sz="1650" i="1" spc="-15" baseline="10101" dirty="0">
                <a:latin typeface="Cambria"/>
                <a:cs typeface="Cambria"/>
              </a:rPr>
              <a:t>w</a:t>
            </a:r>
            <a:r>
              <a:rPr sz="1200" spc="-15" baseline="3472" dirty="0">
                <a:latin typeface="Cambria"/>
                <a:cs typeface="Cambria"/>
              </a:rPr>
              <a:t>2</a:t>
            </a:r>
            <a:r>
              <a:rPr sz="1650" spc="-15" baseline="10101" dirty="0">
                <a:latin typeface="Arial MT"/>
                <a:cs typeface="Arial MT"/>
              </a:rPr>
              <a:t>)</a:t>
            </a:r>
            <a:r>
              <a:rPr sz="1650" spc="67" baseline="10101" dirty="0">
                <a:latin typeface="Arial MT"/>
                <a:cs typeface="Arial MT"/>
              </a:rPr>
              <a:t> </a:t>
            </a:r>
            <a:r>
              <a:rPr sz="1650" spc="300" baseline="10101" dirty="0">
                <a:latin typeface="Arial MT"/>
                <a:cs typeface="Arial MT"/>
              </a:rPr>
              <a:t>=</a:t>
            </a:r>
            <a:r>
              <a:rPr sz="1650" spc="67" baseline="10101" dirty="0">
                <a:latin typeface="Arial MT"/>
                <a:cs typeface="Arial MT"/>
              </a:rPr>
              <a:t> </a:t>
            </a:r>
            <a:r>
              <a:rPr sz="1650" i="1" spc="-37" baseline="10101" dirty="0">
                <a:latin typeface="Cambria"/>
                <a:cs typeface="Cambria"/>
              </a:rPr>
              <a:t>max</a:t>
            </a:r>
            <a:r>
              <a:rPr sz="800" i="1" spc="-25" dirty="0">
                <a:latin typeface="Cambria"/>
                <a:cs typeface="Cambria"/>
              </a:rPr>
              <a:t>c</a:t>
            </a:r>
            <a:r>
              <a:rPr sz="900" spc="-37" baseline="-9259" dirty="0">
                <a:latin typeface="Cambria"/>
                <a:cs typeface="Cambria"/>
              </a:rPr>
              <a:t>1</a:t>
            </a:r>
            <a:r>
              <a:rPr sz="800" spc="-25" dirty="0">
                <a:latin typeface="Lucida Sans Unicode"/>
                <a:cs typeface="Lucida Sans Unicode"/>
              </a:rPr>
              <a:t>∈</a:t>
            </a:r>
            <a:r>
              <a:rPr sz="800" i="1" spc="-25" dirty="0">
                <a:latin typeface="Cambria"/>
                <a:cs typeface="Cambria"/>
              </a:rPr>
              <a:t>senses</a:t>
            </a:r>
            <a:r>
              <a:rPr sz="800" spc="-25" dirty="0">
                <a:latin typeface="Tahoma"/>
                <a:cs typeface="Tahoma"/>
              </a:rPr>
              <a:t>(</a:t>
            </a:r>
            <a:r>
              <a:rPr sz="800" i="1" spc="-25" dirty="0">
                <a:latin typeface="Cambria"/>
                <a:cs typeface="Cambria"/>
              </a:rPr>
              <a:t>w</a:t>
            </a:r>
            <a:r>
              <a:rPr sz="900" spc="-37" baseline="-9259" dirty="0">
                <a:latin typeface="Cambria"/>
                <a:cs typeface="Cambria"/>
              </a:rPr>
              <a:t>1</a:t>
            </a:r>
            <a:r>
              <a:rPr sz="800" spc="-25" dirty="0">
                <a:latin typeface="Tahoma"/>
                <a:cs typeface="Tahoma"/>
              </a:rPr>
              <a:t>)</a:t>
            </a:r>
            <a:r>
              <a:rPr sz="800" i="1" spc="-25" dirty="0">
                <a:latin typeface="Arial"/>
                <a:cs typeface="Arial"/>
              </a:rPr>
              <a:t>,</a:t>
            </a:r>
            <a:r>
              <a:rPr sz="800" i="1" spc="-25" dirty="0">
                <a:latin typeface="Cambria"/>
                <a:cs typeface="Cambria"/>
              </a:rPr>
              <a:t>c</a:t>
            </a:r>
            <a:r>
              <a:rPr sz="900" spc="-37" baseline="-9259" dirty="0">
                <a:latin typeface="Cambria"/>
                <a:cs typeface="Cambria"/>
              </a:rPr>
              <a:t>2</a:t>
            </a:r>
            <a:r>
              <a:rPr sz="800" spc="-25" dirty="0">
                <a:latin typeface="Lucida Sans Unicode"/>
                <a:cs typeface="Lucida Sans Unicode"/>
              </a:rPr>
              <a:t>∈</a:t>
            </a:r>
            <a:r>
              <a:rPr sz="800" i="1" spc="-25" dirty="0">
                <a:latin typeface="Cambria"/>
                <a:cs typeface="Cambria"/>
              </a:rPr>
              <a:t>senses</a:t>
            </a:r>
            <a:r>
              <a:rPr sz="800" spc="-25" dirty="0">
                <a:latin typeface="Tahoma"/>
                <a:cs typeface="Tahoma"/>
              </a:rPr>
              <a:t>(</a:t>
            </a:r>
            <a:r>
              <a:rPr sz="800" i="1" spc="-25" dirty="0">
                <a:latin typeface="Cambria"/>
                <a:cs typeface="Cambria"/>
              </a:rPr>
              <a:t>w</a:t>
            </a:r>
            <a:r>
              <a:rPr sz="900" spc="-37" baseline="-9259" dirty="0">
                <a:latin typeface="Cambria"/>
                <a:cs typeface="Cambria"/>
              </a:rPr>
              <a:t>2</a:t>
            </a:r>
            <a:r>
              <a:rPr sz="800" spc="-25" dirty="0">
                <a:latin typeface="Tahoma"/>
                <a:cs typeface="Tahoma"/>
              </a:rPr>
              <a:t>)</a:t>
            </a:r>
            <a:r>
              <a:rPr sz="1650" i="1" spc="-37" baseline="10101" dirty="0">
                <a:latin typeface="Cambria"/>
                <a:cs typeface="Cambria"/>
              </a:rPr>
              <a:t>sim</a:t>
            </a:r>
            <a:r>
              <a:rPr sz="1650" spc="-37" baseline="10101" dirty="0">
                <a:latin typeface="Arial MT"/>
                <a:cs typeface="Arial MT"/>
              </a:rPr>
              <a:t>(</a:t>
            </a:r>
            <a:r>
              <a:rPr sz="1650" i="1" spc="-37" baseline="10101" dirty="0">
                <a:latin typeface="Cambria"/>
                <a:cs typeface="Cambria"/>
              </a:rPr>
              <a:t>c</a:t>
            </a:r>
            <a:r>
              <a:rPr sz="1200" spc="-37" baseline="3472" dirty="0">
                <a:latin typeface="Cambria"/>
                <a:cs typeface="Cambria"/>
              </a:rPr>
              <a:t>1</a:t>
            </a:r>
            <a:r>
              <a:rPr sz="1650" i="1" spc="-37" baseline="10101" dirty="0">
                <a:latin typeface="Arial"/>
                <a:cs typeface="Arial"/>
              </a:rPr>
              <a:t>,</a:t>
            </a:r>
            <a:r>
              <a:rPr sz="1650" i="1" spc="-195" baseline="10101" dirty="0">
                <a:latin typeface="Arial"/>
                <a:cs typeface="Arial"/>
              </a:rPr>
              <a:t> </a:t>
            </a:r>
            <a:r>
              <a:rPr sz="1650" i="1" spc="-37" baseline="10101" dirty="0">
                <a:latin typeface="Cambria"/>
                <a:cs typeface="Cambria"/>
              </a:rPr>
              <a:t>c</a:t>
            </a:r>
            <a:r>
              <a:rPr sz="1200" spc="-37" baseline="3472" dirty="0">
                <a:latin typeface="Cambria"/>
                <a:cs typeface="Cambria"/>
              </a:rPr>
              <a:t>2</a:t>
            </a:r>
            <a:r>
              <a:rPr sz="1650" spc="-37" baseline="10101" dirty="0">
                <a:latin typeface="Arial MT"/>
                <a:cs typeface="Arial MT"/>
              </a:rPr>
              <a:t>)</a:t>
            </a:r>
            <a:endParaRPr sz="1650" baseline="10101">
              <a:latin typeface="Arial MT"/>
              <a:cs typeface="Arial MT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853082" y="3339672"/>
            <a:ext cx="90233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10" action="ppaction://hlinksldjump"/>
              </a:rPr>
              <a:t>Lexical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  <a:hlinkClick r:id="rId10" action="ppaction://hlinksldjump"/>
              </a:rPr>
              <a:t>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  <a:hlinkClick r:id="rId10" action="ppaction://hlinksldjump"/>
              </a:rPr>
              <a:t>Semantics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  <a:hlinkClick r:id="rId10" action="ppaction://hlinksldjump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10" action="ppaction://hlinksldjump"/>
              </a:rPr>
              <a:t>-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  <a:hlinkClick r:id="rId10" action="ppaction://hlinksldjump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  <a:hlinkClick r:id="rId10" action="ppaction://hlinksldjump"/>
              </a:rPr>
              <a:t>WordNet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3608260" y="3339672"/>
            <a:ext cx="56388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8,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2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4317424" y="3339672"/>
            <a:ext cx="236854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11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10" dirty="0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</a:rPr>
              <a:t>27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32" name="Slide Number Placeholder 31">
            <a:extLst>
              <a:ext uri="{FF2B5EF4-FFF2-40B4-BE49-F238E27FC236}">
                <a16:creationId xmlns:a16="http://schemas.microsoft.com/office/drawing/2014/main" id="{12A2CAB7-754F-4B17-A282-17350FD94D1B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4292024" y="3339672"/>
            <a:ext cx="262254" cy="116204"/>
          </a:xfrm>
          <a:prstGeom prst="rect">
            <a:avLst/>
          </a:prstGeom>
        </p:spPr>
        <p:txBody>
          <a:bodyPr/>
          <a:lstStyle/>
          <a:p>
            <a:pPr marL="75565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lang="en-IN" smtClean="0"/>
              <a:t>53</a:t>
            </a:fld>
            <a:r>
              <a:rPr lang="en-IN" spc="-5"/>
              <a:t> </a:t>
            </a:r>
            <a:r>
              <a:rPr lang="en-IN" spc="-110"/>
              <a:t>/</a:t>
            </a:r>
            <a:r>
              <a:rPr lang="en-IN" spc="15"/>
              <a:t> </a:t>
            </a:r>
            <a:r>
              <a:rPr lang="en-IN" spc="-25"/>
              <a:t>18</a:t>
            </a:r>
            <a:endParaRPr lang="en-IN" spc="-25" dirty="0"/>
          </a:p>
        </p:txBody>
      </p:sp>
    </p:spTree>
  </p:cSld>
  <p:clrMapOvr>
    <a:masterClrMapping/>
  </p:clrMapOvr>
  <p:transition>
    <p:cut/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38"/>
            <a:ext cx="4608195" cy="351790"/>
          </a:xfrm>
          <a:custGeom>
            <a:avLst/>
            <a:gdLst/>
            <a:ahLst/>
            <a:cxnLst/>
            <a:rect l="l" t="t" r="r" b="b"/>
            <a:pathLst>
              <a:path w="4608195" h="351790">
                <a:moveTo>
                  <a:pt x="4607941" y="0"/>
                </a:moveTo>
                <a:lnTo>
                  <a:pt x="0" y="0"/>
                </a:lnTo>
                <a:lnTo>
                  <a:pt x="0" y="351409"/>
                </a:lnTo>
                <a:lnTo>
                  <a:pt x="4607941" y="351409"/>
                </a:lnTo>
                <a:lnTo>
                  <a:pt x="4607941" y="0"/>
                </a:lnTo>
                <a:close/>
              </a:path>
            </a:pathLst>
          </a:custGeom>
          <a:solidFill>
            <a:srgbClr val="3232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5250" y="60502"/>
            <a:ext cx="218948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i="1" spc="-10" dirty="0">
                <a:solidFill>
                  <a:srgbClr val="FFFFFF"/>
                </a:solidFill>
                <a:latin typeface="Cambria"/>
                <a:cs typeface="Cambria"/>
              </a:rPr>
              <a:t>Shortest</a:t>
            </a:r>
            <a:r>
              <a:rPr sz="1400" i="1" spc="-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spc="-20" dirty="0">
                <a:solidFill>
                  <a:srgbClr val="FFFFFF"/>
                </a:solidFill>
                <a:latin typeface="Cambria"/>
                <a:cs typeface="Cambria"/>
              </a:rPr>
              <a:t>path</a:t>
            </a:r>
            <a:r>
              <a:rPr sz="1400" i="1" spc="-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dirty="0">
                <a:solidFill>
                  <a:srgbClr val="FFFFFF"/>
                </a:solidFill>
                <a:latin typeface="Cambria"/>
                <a:cs typeface="Cambria"/>
              </a:rPr>
              <a:t>in</a:t>
            </a:r>
            <a:r>
              <a:rPr sz="1400" i="1" spc="-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dirty="0">
                <a:solidFill>
                  <a:srgbClr val="FFFFFF"/>
                </a:solidFill>
                <a:latin typeface="Cambria"/>
                <a:cs typeface="Cambria"/>
              </a:rPr>
              <a:t>the</a:t>
            </a:r>
            <a:r>
              <a:rPr sz="1400" i="1" spc="-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spc="-10" dirty="0">
                <a:solidFill>
                  <a:srgbClr val="FFFFFF"/>
                </a:solidFill>
                <a:latin typeface="Cambria"/>
                <a:cs typeface="Cambria"/>
              </a:rPr>
              <a:t>hierarchy</a:t>
            </a:r>
            <a:endParaRPr sz="1400">
              <a:latin typeface="Cambria"/>
              <a:cs typeface="Cambri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0913" y="898804"/>
            <a:ext cx="3265170" cy="2004059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1853082" y="3339672"/>
            <a:ext cx="90233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Lexical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Semantics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-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WordNet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608260" y="3339672"/>
            <a:ext cx="56388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8,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2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4294967295"/>
          </p:nvPr>
        </p:nvSpPr>
        <p:spPr>
          <a:xfrm>
            <a:off x="4292024" y="3339672"/>
            <a:ext cx="262254" cy="116204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0"/>
              </a:spcBef>
            </a:pPr>
            <a:r>
              <a:rPr dirty="0"/>
              <a:t>12</a:t>
            </a:r>
            <a:r>
              <a:rPr spc="-20" dirty="0"/>
              <a:t> </a:t>
            </a:r>
            <a:r>
              <a:rPr spc="-110" dirty="0"/>
              <a:t>/</a:t>
            </a:r>
            <a:r>
              <a:rPr spc="15" dirty="0"/>
              <a:t> </a:t>
            </a:r>
            <a:r>
              <a:rPr spc="-25" dirty="0"/>
              <a:t>27</a:t>
            </a:r>
          </a:p>
        </p:txBody>
      </p:sp>
    </p:spTree>
  </p:cSld>
  <p:clrMapOvr>
    <a:masterClrMapping/>
  </p:clrMapOvr>
  <p:transition>
    <p:cut/>
  </p:transition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Leacock-Chodorow</a:t>
            </a:r>
            <a:r>
              <a:rPr spc="160" dirty="0"/>
              <a:t> </a:t>
            </a:r>
            <a:r>
              <a:rPr dirty="0"/>
              <a:t>(L-C)</a:t>
            </a:r>
            <a:r>
              <a:rPr spc="160" dirty="0"/>
              <a:t> </a:t>
            </a:r>
            <a:r>
              <a:rPr spc="-10" dirty="0"/>
              <a:t>Similarity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7743" y="819924"/>
            <a:ext cx="4483735" cy="822325"/>
            <a:chOff x="87743" y="819924"/>
            <a:chExt cx="4483735" cy="822325"/>
          </a:xfrm>
        </p:grpSpPr>
        <p:sp>
          <p:nvSpPr>
            <p:cNvPr id="4" name="object 4"/>
            <p:cNvSpPr/>
            <p:nvPr/>
          </p:nvSpPr>
          <p:spPr>
            <a:xfrm>
              <a:off x="87743" y="819924"/>
              <a:ext cx="4432935" cy="186055"/>
            </a:xfrm>
            <a:custGeom>
              <a:avLst/>
              <a:gdLst/>
              <a:ahLst/>
              <a:cxnLst/>
              <a:rect l="l" t="t" r="r" b="b"/>
              <a:pathLst>
                <a:path w="4432935" h="186055">
                  <a:moveTo>
                    <a:pt x="4381754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5674"/>
                  </a:lnTo>
                  <a:lnTo>
                    <a:pt x="4432554" y="185674"/>
                  </a:lnTo>
                  <a:lnTo>
                    <a:pt x="4432554" y="50800"/>
                  </a:lnTo>
                  <a:lnTo>
                    <a:pt x="4428545" y="31075"/>
                  </a:lnTo>
                  <a:lnTo>
                    <a:pt x="4417631" y="14922"/>
                  </a:lnTo>
                  <a:lnTo>
                    <a:pt x="4401478" y="4008"/>
                  </a:lnTo>
                  <a:lnTo>
                    <a:pt x="4381754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744" y="992936"/>
              <a:ext cx="4432554" cy="5060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8544" y="1540421"/>
              <a:ext cx="101599" cy="1016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9344" y="1527721"/>
              <a:ext cx="4381754" cy="1143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20298" y="864158"/>
              <a:ext cx="50800" cy="676262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87743" y="1037247"/>
              <a:ext cx="4432935" cy="554355"/>
            </a:xfrm>
            <a:custGeom>
              <a:avLst/>
              <a:gdLst/>
              <a:ahLst/>
              <a:cxnLst/>
              <a:rect l="l" t="t" r="r" b="b"/>
              <a:pathLst>
                <a:path w="4432935" h="554355">
                  <a:moveTo>
                    <a:pt x="4432554" y="0"/>
                  </a:moveTo>
                  <a:lnTo>
                    <a:pt x="0" y="0"/>
                  </a:lnTo>
                  <a:lnTo>
                    <a:pt x="0" y="503174"/>
                  </a:lnTo>
                  <a:lnTo>
                    <a:pt x="4008" y="522898"/>
                  </a:lnTo>
                  <a:lnTo>
                    <a:pt x="14922" y="539051"/>
                  </a:lnTo>
                  <a:lnTo>
                    <a:pt x="31075" y="549965"/>
                  </a:lnTo>
                  <a:lnTo>
                    <a:pt x="50800" y="553974"/>
                  </a:lnTo>
                  <a:lnTo>
                    <a:pt x="4381754" y="553974"/>
                  </a:lnTo>
                  <a:lnTo>
                    <a:pt x="4401478" y="549965"/>
                  </a:lnTo>
                  <a:lnTo>
                    <a:pt x="4417631" y="539051"/>
                  </a:lnTo>
                  <a:lnTo>
                    <a:pt x="4428545" y="522898"/>
                  </a:lnTo>
                  <a:lnTo>
                    <a:pt x="4432554" y="503174"/>
                  </a:lnTo>
                  <a:lnTo>
                    <a:pt x="4432554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520310" y="902246"/>
              <a:ext cx="0" cy="657225"/>
            </a:xfrm>
            <a:custGeom>
              <a:avLst/>
              <a:gdLst/>
              <a:ahLst/>
              <a:cxnLst/>
              <a:rect l="l" t="t" r="r" b="b"/>
              <a:pathLst>
                <a:path h="657225">
                  <a:moveTo>
                    <a:pt x="0" y="657225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520310" y="889546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520310" y="876846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520310" y="864146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113029" y="800709"/>
            <a:ext cx="3378835" cy="7607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90"/>
              </a:spcBef>
            </a:pPr>
            <a:r>
              <a:rPr sz="1100" i="1" spc="55" dirty="0">
                <a:solidFill>
                  <a:srgbClr val="3232B2"/>
                </a:solidFill>
                <a:latin typeface="Cambria"/>
                <a:cs typeface="Cambria"/>
              </a:rPr>
              <a:t>L-</a:t>
            </a:r>
            <a:r>
              <a:rPr sz="1100" i="1" spc="70" dirty="0">
                <a:solidFill>
                  <a:srgbClr val="3232B2"/>
                </a:solidFill>
                <a:latin typeface="Cambria"/>
                <a:cs typeface="Cambria"/>
              </a:rPr>
              <a:t>C</a:t>
            </a:r>
            <a:r>
              <a:rPr sz="1100" i="1" spc="30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100" i="1" spc="-10" dirty="0">
                <a:solidFill>
                  <a:srgbClr val="3232B2"/>
                </a:solidFill>
                <a:latin typeface="Cambria"/>
                <a:cs typeface="Cambria"/>
              </a:rPr>
              <a:t>similarity</a:t>
            </a:r>
            <a:endParaRPr sz="1100">
              <a:latin typeface="Cambria"/>
              <a:cs typeface="Cambria"/>
            </a:endParaRPr>
          </a:p>
          <a:p>
            <a:pPr marL="1228090" marR="43180" indent="-174625">
              <a:lnSpc>
                <a:spcPts val="2250"/>
              </a:lnSpc>
              <a:spcBef>
                <a:spcPts val="75"/>
              </a:spcBef>
            </a:pPr>
            <a:r>
              <a:rPr sz="1100" i="1" dirty="0">
                <a:latin typeface="Cambria"/>
                <a:cs typeface="Cambria"/>
              </a:rPr>
              <a:t>sim</a:t>
            </a:r>
            <a:r>
              <a:rPr sz="1200" i="1" baseline="-10416" dirty="0">
                <a:latin typeface="Cambria"/>
                <a:cs typeface="Cambria"/>
              </a:rPr>
              <a:t>LC</a:t>
            </a:r>
            <a:r>
              <a:rPr sz="1100" dirty="0">
                <a:latin typeface="Arial MT"/>
                <a:cs typeface="Arial MT"/>
              </a:rPr>
              <a:t>(</a:t>
            </a:r>
            <a:r>
              <a:rPr sz="1100" i="1" dirty="0">
                <a:latin typeface="Cambria"/>
                <a:cs typeface="Cambria"/>
              </a:rPr>
              <a:t>c</a:t>
            </a:r>
            <a:r>
              <a:rPr sz="1200" baseline="-10416" dirty="0">
                <a:latin typeface="Cambria"/>
                <a:cs typeface="Cambria"/>
              </a:rPr>
              <a:t>1</a:t>
            </a:r>
            <a:r>
              <a:rPr sz="1100" i="1" dirty="0">
                <a:latin typeface="Arial"/>
                <a:cs typeface="Arial"/>
              </a:rPr>
              <a:t>,</a:t>
            </a:r>
            <a:r>
              <a:rPr sz="1100" i="1" spc="-145" dirty="0">
                <a:latin typeface="Arial"/>
                <a:cs typeface="Arial"/>
              </a:rPr>
              <a:t> </a:t>
            </a:r>
            <a:r>
              <a:rPr sz="1100" i="1" dirty="0">
                <a:latin typeface="Cambria"/>
                <a:cs typeface="Cambria"/>
              </a:rPr>
              <a:t>c</a:t>
            </a:r>
            <a:r>
              <a:rPr sz="1200" baseline="-10416" dirty="0">
                <a:latin typeface="Cambria"/>
                <a:cs typeface="Cambria"/>
              </a:rPr>
              <a:t>2</a:t>
            </a:r>
            <a:r>
              <a:rPr sz="1100" dirty="0">
                <a:latin typeface="Arial MT"/>
                <a:cs typeface="Arial MT"/>
              </a:rPr>
              <a:t>)</a:t>
            </a:r>
            <a:r>
              <a:rPr sz="1100" spc="25" dirty="0">
                <a:latin typeface="Arial MT"/>
                <a:cs typeface="Arial MT"/>
              </a:rPr>
              <a:t> </a:t>
            </a:r>
            <a:r>
              <a:rPr sz="1100" spc="200" dirty="0">
                <a:latin typeface="Arial MT"/>
                <a:cs typeface="Arial MT"/>
              </a:rPr>
              <a:t>=</a:t>
            </a:r>
            <a:r>
              <a:rPr sz="1100" spc="30" dirty="0">
                <a:latin typeface="Arial MT"/>
                <a:cs typeface="Arial MT"/>
              </a:rPr>
              <a:t> </a:t>
            </a:r>
            <a:r>
              <a:rPr sz="1100" spc="-30" dirty="0">
                <a:latin typeface="Lucida Sans Unicode"/>
                <a:cs typeface="Lucida Sans Unicode"/>
              </a:rPr>
              <a:t>−</a:t>
            </a:r>
            <a:r>
              <a:rPr sz="1100" i="1" spc="-30" dirty="0">
                <a:latin typeface="Cambria"/>
                <a:cs typeface="Cambria"/>
              </a:rPr>
              <a:t>log</a:t>
            </a:r>
            <a:r>
              <a:rPr sz="1100" spc="-30" dirty="0">
                <a:latin typeface="Arial MT"/>
                <a:cs typeface="Arial MT"/>
              </a:rPr>
              <a:t>(</a:t>
            </a:r>
            <a:r>
              <a:rPr sz="1100" i="1" spc="-30" dirty="0">
                <a:latin typeface="Cambria"/>
                <a:cs typeface="Cambria"/>
              </a:rPr>
              <a:t>pathlen</a:t>
            </a:r>
            <a:r>
              <a:rPr sz="1100" spc="-30" dirty="0">
                <a:latin typeface="Arial MT"/>
                <a:cs typeface="Arial MT"/>
              </a:rPr>
              <a:t>(</a:t>
            </a:r>
            <a:r>
              <a:rPr sz="1100" i="1" spc="-30" dirty="0">
                <a:latin typeface="Cambria"/>
                <a:cs typeface="Cambria"/>
              </a:rPr>
              <a:t>c</a:t>
            </a:r>
            <a:r>
              <a:rPr sz="1200" spc="-44" baseline="-10416" dirty="0">
                <a:latin typeface="Cambria"/>
                <a:cs typeface="Cambria"/>
              </a:rPr>
              <a:t>1</a:t>
            </a:r>
            <a:r>
              <a:rPr sz="1100" i="1" spc="-30" dirty="0">
                <a:latin typeface="Arial"/>
                <a:cs typeface="Arial"/>
              </a:rPr>
              <a:t>,</a:t>
            </a:r>
            <a:r>
              <a:rPr sz="1100" i="1" spc="-145" dirty="0">
                <a:latin typeface="Arial"/>
                <a:cs typeface="Arial"/>
              </a:rPr>
              <a:t> </a:t>
            </a:r>
            <a:r>
              <a:rPr sz="1100" i="1" spc="-10" dirty="0">
                <a:latin typeface="Cambria"/>
                <a:cs typeface="Cambria"/>
              </a:rPr>
              <a:t>c</a:t>
            </a:r>
            <a:r>
              <a:rPr sz="1200" spc="-15" baseline="-10416" dirty="0">
                <a:latin typeface="Cambria"/>
                <a:cs typeface="Cambria"/>
              </a:rPr>
              <a:t>2</a:t>
            </a:r>
            <a:r>
              <a:rPr sz="1100" spc="-10" dirty="0">
                <a:latin typeface="Arial MT"/>
                <a:cs typeface="Arial MT"/>
              </a:rPr>
              <a:t>)</a:t>
            </a:r>
            <a:r>
              <a:rPr sz="1100" i="1" spc="-10" dirty="0">
                <a:latin typeface="Arial"/>
                <a:cs typeface="Arial"/>
              </a:rPr>
              <a:t>/</a:t>
            </a:r>
            <a:r>
              <a:rPr sz="1100" spc="-10" dirty="0">
                <a:latin typeface="Cambria"/>
                <a:cs typeface="Cambria"/>
              </a:rPr>
              <a:t>2</a:t>
            </a:r>
            <a:r>
              <a:rPr sz="1100" i="1" spc="-10" dirty="0">
                <a:latin typeface="Cambria"/>
                <a:cs typeface="Cambria"/>
              </a:rPr>
              <a:t>d</a:t>
            </a:r>
            <a:r>
              <a:rPr sz="1100" spc="-10" dirty="0">
                <a:latin typeface="Arial MT"/>
                <a:cs typeface="Arial MT"/>
              </a:rPr>
              <a:t>) </a:t>
            </a:r>
            <a:r>
              <a:rPr sz="1100" i="1" dirty="0">
                <a:latin typeface="Cambria"/>
                <a:cs typeface="Cambria"/>
              </a:rPr>
              <a:t>d</a:t>
            </a:r>
            <a:r>
              <a:rPr sz="950" dirty="0">
                <a:latin typeface="Trebuchet MS"/>
                <a:cs typeface="Trebuchet MS"/>
              </a:rPr>
              <a:t>: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maximum</a:t>
            </a:r>
            <a:r>
              <a:rPr sz="950" spc="-4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depth</a:t>
            </a:r>
            <a:r>
              <a:rPr sz="950" spc="-4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of</a:t>
            </a:r>
            <a:r>
              <a:rPr sz="950" spc="-4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-4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hierarchy</a:t>
            </a:r>
            <a:endParaRPr sz="950">
              <a:latin typeface="Trebuchet MS"/>
              <a:cs typeface="Trebuchet MS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853082" y="3339672"/>
            <a:ext cx="90233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6" action="ppaction://hlinksldjump"/>
              </a:rPr>
              <a:t>Lexical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  <a:hlinkClick r:id="rId6" action="ppaction://hlinksldjump"/>
              </a:rPr>
              <a:t>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  <a:hlinkClick r:id="rId6" action="ppaction://hlinksldjump"/>
              </a:rPr>
              <a:t>Semantics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  <a:hlinkClick r:id="rId6" action="ppaction://hlinksldjump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6" action="ppaction://hlinksldjump"/>
              </a:rPr>
              <a:t>-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  <a:hlinkClick r:id="rId6" action="ppaction://hlinksldjump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  <a:hlinkClick r:id="rId6" action="ppaction://hlinksldjump"/>
              </a:rPr>
              <a:t>WordNet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608260" y="3339672"/>
            <a:ext cx="56388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8,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2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317424" y="3339672"/>
            <a:ext cx="236854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13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10" dirty="0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</a:rPr>
              <a:t>27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637F97D1-5BE3-40AA-8404-A231BF81B997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4292024" y="3339672"/>
            <a:ext cx="262254" cy="116204"/>
          </a:xfrm>
          <a:prstGeom prst="rect">
            <a:avLst/>
          </a:prstGeom>
        </p:spPr>
        <p:txBody>
          <a:bodyPr/>
          <a:lstStyle/>
          <a:p>
            <a:pPr marL="75565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lang="en-IN" smtClean="0"/>
              <a:t>55</a:t>
            </a:fld>
            <a:r>
              <a:rPr lang="en-IN" spc="-5"/>
              <a:t> </a:t>
            </a:r>
            <a:r>
              <a:rPr lang="en-IN" spc="-110"/>
              <a:t>/</a:t>
            </a:r>
            <a:r>
              <a:rPr lang="en-IN" spc="15"/>
              <a:t> </a:t>
            </a:r>
            <a:r>
              <a:rPr lang="en-IN" spc="-25"/>
              <a:t>18</a:t>
            </a:r>
            <a:endParaRPr lang="en-IN" spc="-25" dirty="0"/>
          </a:p>
        </p:txBody>
      </p:sp>
    </p:spTree>
  </p:cSld>
  <p:clrMapOvr>
    <a:masterClrMapping/>
  </p:clrMapOvr>
  <p:transition>
    <p:cut/>
  </p:transition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Leacock-Chodorow</a:t>
            </a:r>
            <a:r>
              <a:rPr spc="160" dirty="0"/>
              <a:t> </a:t>
            </a:r>
            <a:r>
              <a:rPr dirty="0"/>
              <a:t>(L-C)</a:t>
            </a:r>
            <a:r>
              <a:rPr spc="160" dirty="0"/>
              <a:t> </a:t>
            </a:r>
            <a:r>
              <a:rPr spc="-10" dirty="0"/>
              <a:t>Similarity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7743" y="819924"/>
            <a:ext cx="4483735" cy="822325"/>
            <a:chOff x="87743" y="819924"/>
            <a:chExt cx="4483735" cy="822325"/>
          </a:xfrm>
        </p:grpSpPr>
        <p:sp>
          <p:nvSpPr>
            <p:cNvPr id="4" name="object 4"/>
            <p:cNvSpPr/>
            <p:nvPr/>
          </p:nvSpPr>
          <p:spPr>
            <a:xfrm>
              <a:off x="87743" y="819924"/>
              <a:ext cx="4432935" cy="186055"/>
            </a:xfrm>
            <a:custGeom>
              <a:avLst/>
              <a:gdLst/>
              <a:ahLst/>
              <a:cxnLst/>
              <a:rect l="l" t="t" r="r" b="b"/>
              <a:pathLst>
                <a:path w="4432935" h="186055">
                  <a:moveTo>
                    <a:pt x="4381754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5674"/>
                  </a:lnTo>
                  <a:lnTo>
                    <a:pt x="4432554" y="185674"/>
                  </a:lnTo>
                  <a:lnTo>
                    <a:pt x="4432554" y="50800"/>
                  </a:lnTo>
                  <a:lnTo>
                    <a:pt x="4428545" y="31075"/>
                  </a:lnTo>
                  <a:lnTo>
                    <a:pt x="4417631" y="14922"/>
                  </a:lnTo>
                  <a:lnTo>
                    <a:pt x="4401478" y="4008"/>
                  </a:lnTo>
                  <a:lnTo>
                    <a:pt x="4381754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744" y="992936"/>
              <a:ext cx="4432554" cy="5060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8544" y="1540421"/>
              <a:ext cx="101599" cy="1016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9344" y="1527721"/>
              <a:ext cx="4381754" cy="1143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20298" y="864158"/>
              <a:ext cx="50800" cy="676262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87743" y="1037247"/>
              <a:ext cx="4432935" cy="554355"/>
            </a:xfrm>
            <a:custGeom>
              <a:avLst/>
              <a:gdLst/>
              <a:ahLst/>
              <a:cxnLst/>
              <a:rect l="l" t="t" r="r" b="b"/>
              <a:pathLst>
                <a:path w="4432935" h="554355">
                  <a:moveTo>
                    <a:pt x="4432554" y="0"/>
                  </a:moveTo>
                  <a:lnTo>
                    <a:pt x="0" y="0"/>
                  </a:lnTo>
                  <a:lnTo>
                    <a:pt x="0" y="503174"/>
                  </a:lnTo>
                  <a:lnTo>
                    <a:pt x="4008" y="522898"/>
                  </a:lnTo>
                  <a:lnTo>
                    <a:pt x="14922" y="539051"/>
                  </a:lnTo>
                  <a:lnTo>
                    <a:pt x="31075" y="549965"/>
                  </a:lnTo>
                  <a:lnTo>
                    <a:pt x="50800" y="553974"/>
                  </a:lnTo>
                  <a:lnTo>
                    <a:pt x="4381754" y="553974"/>
                  </a:lnTo>
                  <a:lnTo>
                    <a:pt x="4401478" y="549965"/>
                  </a:lnTo>
                  <a:lnTo>
                    <a:pt x="4417631" y="539051"/>
                  </a:lnTo>
                  <a:lnTo>
                    <a:pt x="4428545" y="522898"/>
                  </a:lnTo>
                  <a:lnTo>
                    <a:pt x="4432554" y="503174"/>
                  </a:lnTo>
                  <a:lnTo>
                    <a:pt x="4432554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520310" y="902246"/>
              <a:ext cx="0" cy="657225"/>
            </a:xfrm>
            <a:custGeom>
              <a:avLst/>
              <a:gdLst/>
              <a:ahLst/>
              <a:cxnLst/>
              <a:rect l="l" t="t" r="r" b="b"/>
              <a:pathLst>
                <a:path h="657225">
                  <a:moveTo>
                    <a:pt x="0" y="657225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520310" y="889546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520310" y="876846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520310" y="864146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4" name="object 14"/>
          <p:cNvGrpSpPr/>
          <p:nvPr/>
        </p:nvGrpSpPr>
        <p:grpSpPr>
          <a:xfrm>
            <a:off x="87743" y="1743151"/>
            <a:ext cx="4483735" cy="1049655"/>
            <a:chOff x="87743" y="1743151"/>
            <a:chExt cx="4483735" cy="1049655"/>
          </a:xfrm>
        </p:grpSpPr>
        <p:sp>
          <p:nvSpPr>
            <p:cNvPr id="15" name="object 15"/>
            <p:cNvSpPr/>
            <p:nvPr/>
          </p:nvSpPr>
          <p:spPr>
            <a:xfrm>
              <a:off x="87743" y="1743151"/>
              <a:ext cx="4432935" cy="186055"/>
            </a:xfrm>
            <a:custGeom>
              <a:avLst/>
              <a:gdLst/>
              <a:ahLst/>
              <a:cxnLst/>
              <a:rect l="l" t="t" r="r" b="b"/>
              <a:pathLst>
                <a:path w="4432935" h="186055">
                  <a:moveTo>
                    <a:pt x="4381754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5674"/>
                  </a:lnTo>
                  <a:lnTo>
                    <a:pt x="4432554" y="185674"/>
                  </a:lnTo>
                  <a:lnTo>
                    <a:pt x="4432554" y="50800"/>
                  </a:lnTo>
                  <a:lnTo>
                    <a:pt x="4428545" y="31075"/>
                  </a:lnTo>
                  <a:lnTo>
                    <a:pt x="4417631" y="14922"/>
                  </a:lnTo>
                  <a:lnTo>
                    <a:pt x="4401478" y="4008"/>
                  </a:lnTo>
                  <a:lnTo>
                    <a:pt x="4381754" y="0"/>
                  </a:lnTo>
                  <a:close/>
                </a:path>
              </a:pathLst>
            </a:custGeom>
            <a:solidFill>
              <a:srgbClr val="FF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7744" y="1916163"/>
              <a:ext cx="4432554" cy="50609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38544" y="2690977"/>
              <a:ext cx="101599" cy="101600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89344" y="2678277"/>
              <a:ext cx="4381754" cy="114300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520298" y="1787385"/>
              <a:ext cx="50800" cy="903592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87743" y="1960473"/>
              <a:ext cx="4432935" cy="781685"/>
            </a:xfrm>
            <a:custGeom>
              <a:avLst/>
              <a:gdLst/>
              <a:ahLst/>
              <a:cxnLst/>
              <a:rect l="l" t="t" r="r" b="b"/>
              <a:pathLst>
                <a:path w="4432935" h="781685">
                  <a:moveTo>
                    <a:pt x="4432554" y="0"/>
                  </a:moveTo>
                  <a:lnTo>
                    <a:pt x="0" y="0"/>
                  </a:lnTo>
                  <a:lnTo>
                    <a:pt x="0" y="730504"/>
                  </a:lnTo>
                  <a:lnTo>
                    <a:pt x="4008" y="750228"/>
                  </a:lnTo>
                  <a:lnTo>
                    <a:pt x="14922" y="766381"/>
                  </a:lnTo>
                  <a:lnTo>
                    <a:pt x="31075" y="777295"/>
                  </a:lnTo>
                  <a:lnTo>
                    <a:pt x="50800" y="781304"/>
                  </a:lnTo>
                  <a:lnTo>
                    <a:pt x="4381754" y="781304"/>
                  </a:lnTo>
                  <a:lnTo>
                    <a:pt x="4401478" y="777295"/>
                  </a:lnTo>
                  <a:lnTo>
                    <a:pt x="4417631" y="766381"/>
                  </a:lnTo>
                  <a:lnTo>
                    <a:pt x="4428545" y="750228"/>
                  </a:lnTo>
                  <a:lnTo>
                    <a:pt x="4432554" y="730504"/>
                  </a:lnTo>
                  <a:lnTo>
                    <a:pt x="4432554" y="0"/>
                  </a:lnTo>
                  <a:close/>
                </a:path>
              </a:pathLst>
            </a:custGeom>
            <a:solidFill>
              <a:srgbClr val="FFE5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4520309" y="1825472"/>
              <a:ext cx="0" cy="884555"/>
            </a:xfrm>
            <a:custGeom>
              <a:avLst/>
              <a:gdLst/>
              <a:ahLst/>
              <a:cxnLst/>
              <a:rect l="l" t="t" r="r" b="b"/>
              <a:pathLst>
                <a:path h="884555">
                  <a:moveTo>
                    <a:pt x="0" y="884555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4520309" y="1812779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4520309" y="1800079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520309" y="1787379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81597" y="2010181"/>
              <a:ext cx="64757" cy="64757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81597" y="2220214"/>
              <a:ext cx="64757" cy="64757"/>
            </a:xfrm>
            <a:prstGeom prst="rect">
              <a:avLst/>
            </a:prstGeom>
          </p:spPr>
        </p:pic>
      </p:grpSp>
      <p:sp>
        <p:nvSpPr>
          <p:cNvPr id="27" name="object 27"/>
          <p:cNvSpPr txBox="1"/>
          <p:nvPr/>
        </p:nvSpPr>
        <p:spPr>
          <a:xfrm>
            <a:off x="87630" y="800709"/>
            <a:ext cx="3429635" cy="152463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90"/>
              </a:spcBef>
            </a:pPr>
            <a:r>
              <a:rPr sz="1100" i="1" spc="55" dirty="0">
                <a:solidFill>
                  <a:srgbClr val="3232B2"/>
                </a:solidFill>
                <a:latin typeface="Cambria"/>
                <a:cs typeface="Cambria"/>
              </a:rPr>
              <a:t>L-</a:t>
            </a:r>
            <a:r>
              <a:rPr sz="1100" i="1" spc="70" dirty="0">
                <a:solidFill>
                  <a:srgbClr val="3232B2"/>
                </a:solidFill>
                <a:latin typeface="Cambria"/>
                <a:cs typeface="Cambria"/>
              </a:rPr>
              <a:t>C</a:t>
            </a:r>
            <a:r>
              <a:rPr sz="1100" i="1" spc="30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100" i="1" spc="-10" dirty="0">
                <a:solidFill>
                  <a:srgbClr val="3232B2"/>
                </a:solidFill>
                <a:latin typeface="Cambria"/>
                <a:cs typeface="Cambria"/>
              </a:rPr>
              <a:t>similarity</a:t>
            </a:r>
            <a:endParaRPr sz="1100">
              <a:latin typeface="Cambria"/>
              <a:cs typeface="Cambria"/>
            </a:endParaRPr>
          </a:p>
          <a:p>
            <a:pPr marL="1253490" marR="68580" indent="-174625">
              <a:lnSpc>
                <a:spcPts val="2250"/>
              </a:lnSpc>
              <a:spcBef>
                <a:spcPts val="204"/>
              </a:spcBef>
            </a:pPr>
            <a:r>
              <a:rPr sz="1100" i="1" dirty="0">
                <a:latin typeface="Cambria"/>
                <a:cs typeface="Cambria"/>
              </a:rPr>
              <a:t>sim</a:t>
            </a:r>
            <a:r>
              <a:rPr sz="1200" i="1" baseline="-10416" dirty="0">
                <a:latin typeface="Cambria"/>
                <a:cs typeface="Cambria"/>
              </a:rPr>
              <a:t>LC</a:t>
            </a:r>
            <a:r>
              <a:rPr sz="1100" dirty="0">
                <a:latin typeface="Arial MT"/>
                <a:cs typeface="Arial MT"/>
              </a:rPr>
              <a:t>(</a:t>
            </a:r>
            <a:r>
              <a:rPr sz="1100" i="1" dirty="0">
                <a:latin typeface="Cambria"/>
                <a:cs typeface="Cambria"/>
              </a:rPr>
              <a:t>c</a:t>
            </a:r>
            <a:r>
              <a:rPr sz="1200" baseline="-10416" dirty="0">
                <a:latin typeface="Cambria"/>
                <a:cs typeface="Cambria"/>
              </a:rPr>
              <a:t>1</a:t>
            </a:r>
            <a:r>
              <a:rPr sz="1100" i="1" dirty="0">
                <a:latin typeface="Arial"/>
                <a:cs typeface="Arial"/>
              </a:rPr>
              <a:t>,</a:t>
            </a:r>
            <a:r>
              <a:rPr sz="1100" i="1" spc="-145" dirty="0">
                <a:latin typeface="Arial"/>
                <a:cs typeface="Arial"/>
              </a:rPr>
              <a:t> </a:t>
            </a:r>
            <a:r>
              <a:rPr sz="1100" i="1" dirty="0">
                <a:latin typeface="Cambria"/>
                <a:cs typeface="Cambria"/>
              </a:rPr>
              <a:t>c</a:t>
            </a:r>
            <a:r>
              <a:rPr sz="1200" baseline="-10416" dirty="0">
                <a:latin typeface="Cambria"/>
                <a:cs typeface="Cambria"/>
              </a:rPr>
              <a:t>2</a:t>
            </a:r>
            <a:r>
              <a:rPr sz="1100" dirty="0">
                <a:latin typeface="Arial MT"/>
                <a:cs typeface="Arial MT"/>
              </a:rPr>
              <a:t>)</a:t>
            </a:r>
            <a:r>
              <a:rPr sz="1100" spc="25" dirty="0">
                <a:latin typeface="Arial MT"/>
                <a:cs typeface="Arial MT"/>
              </a:rPr>
              <a:t> </a:t>
            </a:r>
            <a:r>
              <a:rPr sz="1100" spc="200" dirty="0">
                <a:latin typeface="Arial MT"/>
                <a:cs typeface="Arial MT"/>
              </a:rPr>
              <a:t>=</a:t>
            </a:r>
            <a:r>
              <a:rPr sz="1100" spc="30" dirty="0">
                <a:latin typeface="Arial MT"/>
                <a:cs typeface="Arial MT"/>
              </a:rPr>
              <a:t> </a:t>
            </a:r>
            <a:r>
              <a:rPr sz="1100" spc="-30" dirty="0">
                <a:latin typeface="Lucida Sans Unicode"/>
                <a:cs typeface="Lucida Sans Unicode"/>
              </a:rPr>
              <a:t>−</a:t>
            </a:r>
            <a:r>
              <a:rPr sz="1100" i="1" spc="-30" dirty="0">
                <a:latin typeface="Cambria"/>
                <a:cs typeface="Cambria"/>
              </a:rPr>
              <a:t>log</a:t>
            </a:r>
            <a:r>
              <a:rPr sz="1100" spc="-30" dirty="0">
                <a:latin typeface="Arial MT"/>
                <a:cs typeface="Arial MT"/>
              </a:rPr>
              <a:t>(</a:t>
            </a:r>
            <a:r>
              <a:rPr sz="1100" i="1" spc="-30" dirty="0">
                <a:latin typeface="Cambria"/>
                <a:cs typeface="Cambria"/>
              </a:rPr>
              <a:t>pathlen</a:t>
            </a:r>
            <a:r>
              <a:rPr sz="1100" spc="-30" dirty="0">
                <a:latin typeface="Arial MT"/>
                <a:cs typeface="Arial MT"/>
              </a:rPr>
              <a:t>(</a:t>
            </a:r>
            <a:r>
              <a:rPr sz="1100" i="1" spc="-30" dirty="0">
                <a:latin typeface="Cambria"/>
                <a:cs typeface="Cambria"/>
              </a:rPr>
              <a:t>c</a:t>
            </a:r>
            <a:r>
              <a:rPr sz="1200" spc="-44" baseline="-10416" dirty="0">
                <a:latin typeface="Cambria"/>
                <a:cs typeface="Cambria"/>
              </a:rPr>
              <a:t>1</a:t>
            </a:r>
            <a:r>
              <a:rPr sz="1100" i="1" spc="-30" dirty="0">
                <a:latin typeface="Arial"/>
                <a:cs typeface="Arial"/>
              </a:rPr>
              <a:t>,</a:t>
            </a:r>
            <a:r>
              <a:rPr sz="1100" i="1" spc="-145" dirty="0">
                <a:latin typeface="Arial"/>
                <a:cs typeface="Arial"/>
              </a:rPr>
              <a:t> </a:t>
            </a:r>
            <a:r>
              <a:rPr sz="1100" i="1" spc="-10" dirty="0">
                <a:latin typeface="Cambria"/>
                <a:cs typeface="Cambria"/>
              </a:rPr>
              <a:t>c</a:t>
            </a:r>
            <a:r>
              <a:rPr sz="1200" spc="-15" baseline="-10416" dirty="0">
                <a:latin typeface="Cambria"/>
                <a:cs typeface="Cambria"/>
              </a:rPr>
              <a:t>2</a:t>
            </a:r>
            <a:r>
              <a:rPr sz="1100" spc="-10" dirty="0">
                <a:latin typeface="Arial MT"/>
                <a:cs typeface="Arial MT"/>
              </a:rPr>
              <a:t>)</a:t>
            </a:r>
            <a:r>
              <a:rPr sz="1100" i="1" spc="-10" dirty="0">
                <a:latin typeface="Arial"/>
                <a:cs typeface="Arial"/>
              </a:rPr>
              <a:t>/</a:t>
            </a:r>
            <a:r>
              <a:rPr sz="1100" spc="-10" dirty="0">
                <a:latin typeface="Cambria"/>
                <a:cs typeface="Cambria"/>
              </a:rPr>
              <a:t>2</a:t>
            </a:r>
            <a:r>
              <a:rPr sz="1100" i="1" spc="-10" dirty="0">
                <a:latin typeface="Cambria"/>
                <a:cs typeface="Cambria"/>
              </a:rPr>
              <a:t>d</a:t>
            </a:r>
            <a:r>
              <a:rPr sz="1100" spc="-10" dirty="0">
                <a:latin typeface="Arial MT"/>
                <a:cs typeface="Arial MT"/>
              </a:rPr>
              <a:t>) </a:t>
            </a:r>
            <a:r>
              <a:rPr sz="1100" i="1" dirty="0">
                <a:latin typeface="Cambria"/>
                <a:cs typeface="Cambria"/>
              </a:rPr>
              <a:t>d</a:t>
            </a:r>
            <a:r>
              <a:rPr sz="950" dirty="0">
                <a:latin typeface="Trebuchet MS"/>
                <a:cs typeface="Trebuchet MS"/>
              </a:rPr>
              <a:t>: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maximum</a:t>
            </a:r>
            <a:r>
              <a:rPr sz="950" spc="-4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depth</a:t>
            </a:r>
            <a:r>
              <a:rPr sz="950" spc="-4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of</a:t>
            </a:r>
            <a:r>
              <a:rPr sz="950" spc="-4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-4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hierarchy</a:t>
            </a:r>
            <a:endParaRPr sz="950">
              <a:latin typeface="Trebuchet MS"/>
              <a:cs typeface="Trebuchet MS"/>
            </a:endParaRPr>
          </a:p>
          <a:p>
            <a:pPr marL="50800">
              <a:lnSpc>
                <a:spcPct val="100000"/>
              </a:lnSpc>
              <a:spcBef>
                <a:spcPts val="1245"/>
              </a:spcBef>
            </a:pPr>
            <a:r>
              <a:rPr sz="1100" i="1" spc="-20" dirty="0">
                <a:solidFill>
                  <a:srgbClr val="FF0000"/>
                </a:solidFill>
                <a:latin typeface="Cambria"/>
                <a:cs typeface="Cambria"/>
              </a:rPr>
              <a:t>Problems</a:t>
            </a:r>
            <a:r>
              <a:rPr sz="1100" i="1" spc="1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100" i="1" spc="-40" dirty="0">
                <a:solidFill>
                  <a:srgbClr val="FF0000"/>
                </a:solidFill>
                <a:latin typeface="Cambria"/>
                <a:cs typeface="Cambria"/>
              </a:rPr>
              <a:t>with</a:t>
            </a:r>
            <a:r>
              <a:rPr sz="1100" i="1" spc="1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100" i="1" spc="55" dirty="0">
                <a:solidFill>
                  <a:srgbClr val="FF0000"/>
                </a:solidFill>
                <a:latin typeface="Cambria"/>
                <a:cs typeface="Cambria"/>
              </a:rPr>
              <a:t>L-</a:t>
            </a:r>
            <a:r>
              <a:rPr sz="1100" i="1" spc="70" dirty="0">
                <a:solidFill>
                  <a:srgbClr val="FF0000"/>
                </a:solidFill>
                <a:latin typeface="Cambria"/>
                <a:cs typeface="Cambria"/>
              </a:rPr>
              <a:t>C</a:t>
            </a:r>
            <a:r>
              <a:rPr sz="1100" i="1" spc="1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100" i="1" spc="-10" dirty="0">
                <a:solidFill>
                  <a:srgbClr val="FF0000"/>
                </a:solidFill>
                <a:latin typeface="Cambria"/>
                <a:cs typeface="Cambria"/>
              </a:rPr>
              <a:t>similarity</a:t>
            </a:r>
            <a:endParaRPr sz="1100">
              <a:latin typeface="Cambria"/>
              <a:cs typeface="Cambria"/>
            </a:endParaRPr>
          </a:p>
          <a:p>
            <a:pPr marL="327660" marR="287655">
              <a:lnSpc>
                <a:spcPts val="1650"/>
              </a:lnSpc>
              <a:spcBef>
                <a:spcPts val="25"/>
              </a:spcBef>
            </a:pPr>
            <a:r>
              <a:rPr sz="950" spc="65" dirty="0">
                <a:latin typeface="Trebuchet MS"/>
                <a:cs typeface="Trebuchet MS"/>
              </a:rPr>
              <a:t>Assumes</a:t>
            </a:r>
            <a:r>
              <a:rPr sz="950" spc="5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each</a:t>
            </a:r>
            <a:r>
              <a:rPr sz="950" spc="5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edge</a:t>
            </a:r>
            <a:r>
              <a:rPr sz="950" spc="5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represents</a:t>
            </a:r>
            <a:r>
              <a:rPr sz="950" spc="5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</a:t>
            </a:r>
            <a:r>
              <a:rPr sz="950" spc="5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uniform</a:t>
            </a:r>
            <a:r>
              <a:rPr sz="950" spc="5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distance </a:t>
            </a:r>
            <a:r>
              <a:rPr sz="950" spc="-30" dirty="0">
                <a:latin typeface="Trebuchet MS"/>
                <a:cs typeface="Trebuchet MS"/>
              </a:rPr>
              <a:t>‘nickel-</a:t>
            </a:r>
            <a:r>
              <a:rPr sz="950" spc="-10" dirty="0">
                <a:latin typeface="Trebuchet MS"/>
                <a:cs typeface="Trebuchet MS"/>
              </a:rPr>
              <a:t>money’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spc="55" dirty="0">
                <a:latin typeface="Trebuchet MS"/>
                <a:cs typeface="Trebuchet MS"/>
              </a:rPr>
              <a:t>seems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closer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than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spc="-35" dirty="0">
                <a:latin typeface="Trebuchet MS"/>
                <a:cs typeface="Trebuchet MS"/>
              </a:rPr>
              <a:t>‘nickel-</a:t>
            </a:r>
            <a:r>
              <a:rPr sz="950" spc="-10" dirty="0">
                <a:latin typeface="Trebuchet MS"/>
                <a:cs typeface="Trebuchet MS"/>
              </a:rPr>
              <a:t>standard’</a:t>
            </a:r>
            <a:endParaRPr sz="950">
              <a:latin typeface="Trebuchet MS"/>
              <a:cs typeface="Trebuchet MS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1853082" y="3339672"/>
            <a:ext cx="90233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12" action="ppaction://hlinksldjump"/>
              </a:rPr>
              <a:t>Lexical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  <a:hlinkClick r:id="rId12" action="ppaction://hlinksldjump"/>
              </a:rPr>
              <a:t>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  <a:hlinkClick r:id="rId12" action="ppaction://hlinksldjump"/>
              </a:rPr>
              <a:t>Semantics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  <a:hlinkClick r:id="rId12" action="ppaction://hlinksldjump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12" action="ppaction://hlinksldjump"/>
              </a:rPr>
              <a:t>-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  <a:hlinkClick r:id="rId12" action="ppaction://hlinksldjump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  <a:hlinkClick r:id="rId12" action="ppaction://hlinksldjump"/>
              </a:rPr>
              <a:t>WordNet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3608260" y="3339672"/>
            <a:ext cx="56388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8,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2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4317424" y="3339672"/>
            <a:ext cx="236854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13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10" dirty="0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</a:rPr>
              <a:t>27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36" name="Slide Number Placeholder 35">
            <a:extLst>
              <a:ext uri="{FF2B5EF4-FFF2-40B4-BE49-F238E27FC236}">
                <a16:creationId xmlns:a16="http://schemas.microsoft.com/office/drawing/2014/main" id="{0204F388-2885-42D1-80AE-DC2E00E6AAA2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4292024" y="3339672"/>
            <a:ext cx="262254" cy="116204"/>
          </a:xfrm>
          <a:prstGeom prst="rect">
            <a:avLst/>
          </a:prstGeom>
        </p:spPr>
        <p:txBody>
          <a:bodyPr/>
          <a:lstStyle/>
          <a:p>
            <a:pPr marL="75565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lang="en-IN" smtClean="0"/>
              <a:t>56</a:t>
            </a:fld>
            <a:r>
              <a:rPr lang="en-IN" spc="-5"/>
              <a:t> </a:t>
            </a:r>
            <a:r>
              <a:rPr lang="en-IN" spc="-110"/>
              <a:t>/</a:t>
            </a:r>
            <a:r>
              <a:rPr lang="en-IN" spc="15"/>
              <a:t> </a:t>
            </a:r>
            <a:r>
              <a:rPr lang="en-IN" spc="-25"/>
              <a:t>18</a:t>
            </a:r>
            <a:endParaRPr lang="en-IN" spc="-25" dirty="0"/>
          </a:p>
        </p:txBody>
      </p:sp>
    </p:spTree>
  </p:cSld>
  <p:clrMapOvr>
    <a:masterClrMapping/>
  </p:clrMapOvr>
  <p:transition>
    <p:cut/>
  </p:transition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Leacock-Chodorow</a:t>
            </a:r>
            <a:r>
              <a:rPr spc="160" dirty="0"/>
              <a:t> </a:t>
            </a:r>
            <a:r>
              <a:rPr dirty="0"/>
              <a:t>(L-C)</a:t>
            </a:r>
            <a:r>
              <a:rPr spc="160" dirty="0"/>
              <a:t> </a:t>
            </a:r>
            <a:r>
              <a:rPr spc="-10" dirty="0"/>
              <a:t>Similarity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7743" y="819924"/>
            <a:ext cx="4483735" cy="822325"/>
            <a:chOff x="87743" y="819924"/>
            <a:chExt cx="4483735" cy="822325"/>
          </a:xfrm>
        </p:grpSpPr>
        <p:sp>
          <p:nvSpPr>
            <p:cNvPr id="4" name="object 4"/>
            <p:cNvSpPr/>
            <p:nvPr/>
          </p:nvSpPr>
          <p:spPr>
            <a:xfrm>
              <a:off x="87743" y="819924"/>
              <a:ext cx="4432935" cy="186055"/>
            </a:xfrm>
            <a:custGeom>
              <a:avLst/>
              <a:gdLst/>
              <a:ahLst/>
              <a:cxnLst/>
              <a:rect l="l" t="t" r="r" b="b"/>
              <a:pathLst>
                <a:path w="4432935" h="186055">
                  <a:moveTo>
                    <a:pt x="4381754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5674"/>
                  </a:lnTo>
                  <a:lnTo>
                    <a:pt x="4432554" y="185674"/>
                  </a:lnTo>
                  <a:lnTo>
                    <a:pt x="4432554" y="50800"/>
                  </a:lnTo>
                  <a:lnTo>
                    <a:pt x="4428545" y="31075"/>
                  </a:lnTo>
                  <a:lnTo>
                    <a:pt x="4417631" y="14922"/>
                  </a:lnTo>
                  <a:lnTo>
                    <a:pt x="4401478" y="4008"/>
                  </a:lnTo>
                  <a:lnTo>
                    <a:pt x="4381754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744" y="992936"/>
              <a:ext cx="4432554" cy="5060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8544" y="1540421"/>
              <a:ext cx="101599" cy="1016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9344" y="1527721"/>
              <a:ext cx="4381754" cy="1143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20298" y="864158"/>
              <a:ext cx="50800" cy="676262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87743" y="1037247"/>
              <a:ext cx="4432935" cy="554355"/>
            </a:xfrm>
            <a:custGeom>
              <a:avLst/>
              <a:gdLst/>
              <a:ahLst/>
              <a:cxnLst/>
              <a:rect l="l" t="t" r="r" b="b"/>
              <a:pathLst>
                <a:path w="4432935" h="554355">
                  <a:moveTo>
                    <a:pt x="4432554" y="0"/>
                  </a:moveTo>
                  <a:lnTo>
                    <a:pt x="0" y="0"/>
                  </a:lnTo>
                  <a:lnTo>
                    <a:pt x="0" y="503174"/>
                  </a:lnTo>
                  <a:lnTo>
                    <a:pt x="4008" y="522898"/>
                  </a:lnTo>
                  <a:lnTo>
                    <a:pt x="14922" y="539051"/>
                  </a:lnTo>
                  <a:lnTo>
                    <a:pt x="31075" y="549965"/>
                  </a:lnTo>
                  <a:lnTo>
                    <a:pt x="50800" y="553974"/>
                  </a:lnTo>
                  <a:lnTo>
                    <a:pt x="4381754" y="553974"/>
                  </a:lnTo>
                  <a:lnTo>
                    <a:pt x="4401478" y="549965"/>
                  </a:lnTo>
                  <a:lnTo>
                    <a:pt x="4417631" y="539051"/>
                  </a:lnTo>
                  <a:lnTo>
                    <a:pt x="4428545" y="522898"/>
                  </a:lnTo>
                  <a:lnTo>
                    <a:pt x="4432554" y="503174"/>
                  </a:lnTo>
                  <a:lnTo>
                    <a:pt x="4432554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520310" y="902246"/>
              <a:ext cx="0" cy="657225"/>
            </a:xfrm>
            <a:custGeom>
              <a:avLst/>
              <a:gdLst/>
              <a:ahLst/>
              <a:cxnLst/>
              <a:rect l="l" t="t" r="r" b="b"/>
              <a:pathLst>
                <a:path h="657225">
                  <a:moveTo>
                    <a:pt x="0" y="657225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520310" y="889546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520310" y="876846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520310" y="864146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4" name="object 14"/>
          <p:cNvGrpSpPr/>
          <p:nvPr/>
        </p:nvGrpSpPr>
        <p:grpSpPr>
          <a:xfrm>
            <a:off x="87743" y="1743151"/>
            <a:ext cx="4483735" cy="1049655"/>
            <a:chOff x="87743" y="1743151"/>
            <a:chExt cx="4483735" cy="1049655"/>
          </a:xfrm>
        </p:grpSpPr>
        <p:sp>
          <p:nvSpPr>
            <p:cNvPr id="15" name="object 15"/>
            <p:cNvSpPr/>
            <p:nvPr/>
          </p:nvSpPr>
          <p:spPr>
            <a:xfrm>
              <a:off x="87743" y="1743151"/>
              <a:ext cx="4432935" cy="186055"/>
            </a:xfrm>
            <a:custGeom>
              <a:avLst/>
              <a:gdLst/>
              <a:ahLst/>
              <a:cxnLst/>
              <a:rect l="l" t="t" r="r" b="b"/>
              <a:pathLst>
                <a:path w="4432935" h="186055">
                  <a:moveTo>
                    <a:pt x="4381754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5674"/>
                  </a:lnTo>
                  <a:lnTo>
                    <a:pt x="4432554" y="185674"/>
                  </a:lnTo>
                  <a:lnTo>
                    <a:pt x="4432554" y="50800"/>
                  </a:lnTo>
                  <a:lnTo>
                    <a:pt x="4428545" y="31075"/>
                  </a:lnTo>
                  <a:lnTo>
                    <a:pt x="4417631" y="14922"/>
                  </a:lnTo>
                  <a:lnTo>
                    <a:pt x="4401478" y="4008"/>
                  </a:lnTo>
                  <a:lnTo>
                    <a:pt x="4381754" y="0"/>
                  </a:lnTo>
                  <a:close/>
                </a:path>
              </a:pathLst>
            </a:custGeom>
            <a:solidFill>
              <a:srgbClr val="FF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7744" y="1916163"/>
              <a:ext cx="4432554" cy="50609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38544" y="2690977"/>
              <a:ext cx="101599" cy="101600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89344" y="2678277"/>
              <a:ext cx="4381754" cy="114300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520298" y="1787385"/>
              <a:ext cx="50800" cy="903592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87743" y="1960473"/>
              <a:ext cx="4432935" cy="781685"/>
            </a:xfrm>
            <a:custGeom>
              <a:avLst/>
              <a:gdLst/>
              <a:ahLst/>
              <a:cxnLst/>
              <a:rect l="l" t="t" r="r" b="b"/>
              <a:pathLst>
                <a:path w="4432935" h="781685">
                  <a:moveTo>
                    <a:pt x="4432554" y="0"/>
                  </a:moveTo>
                  <a:lnTo>
                    <a:pt x="0" y="0"/>
                  </a:lnTo>
                  <a:lnTo>
                    <a:pt x="0" y="730504"/>
                  </a:lnTo>
                  <a:lnTo>
                    <a:pt x="4008" y="750228"/>
                  </a:lnTo>
                  <a:lnTo>
                    <a:pt x="14922" y="766381"/>
                  </a:lnTo>
                  <a:lnTo>
                    <a:pt x="31075" y="777295"/>
                  </a:lnTo>
                  <a:lnTo>
                    <a:pt x="50800" y="781304"/>
                  </a:lnTo>
                  <a:lnTo>
                    <a:pt x="4381754" y="781304"/>
                  </a:lnTo>
                  <a:lnTo>
                    <a:pt x="4401478" y="777295"/>
                  </a:lnTo>
                  <a:lnTo>
                    <a:pt x="4417631" y="766381"/>
                  </a:lnTo>
                  <a:lnTo>
                    <a:pt x="4428545" y="750228"/>
                  </a:lnTo>
                  <a:lnTo>
                    <a:pt x="4432554" y="730504"/>
                  </a:lnTo>
                  <a:lnTo>
                    <a:pt x="4432554" y="0"/>
                  </a:lnTo>
                  <a:close/>
                </a:path>
              </a:pathLst>
            </a:custGeom>
            <a:solidFill>
              <a:srgbClr val="FFE5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4520309" y="1825472"/>
              <a:ext cx="0" cy="884555"/>
            </a:xfrm>
            <a:custGeom>
              <a:avLst/>
              <a:gdLst/>
              <a:ahLst/>
              <a:cxnLst/>
              <a:rect l="l" t="t" r="r" b="b"/>
              <a:pathLst>
                <a:path h="884555">
                  <a:moveTo>
                    <a:pt x="0" y="884555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4520309" y="1812779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4520309" y="1800079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520309" y="1787379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81597" y="2010181"/>
              <a:ext cx="64757" cy="64757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81597" y="2220214"/>
              <a:ext cx="64757" cy="64757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81597" y="2430246"/>
              <a:ext cx="64757" cy="64757"/>
            </a:xfrm>
            <a:prstGeom prst="rect">
              <a:avLst/>
            </a:prstGeom>
          </p:spPr>
        </p:pic>
      </p:grpSp>
      <p:sp>
        <p:nvSpPr>
          <p:cNvPr id="28" name="object 28"/>
          <p:cNvSpPr txBox="1"/>
          <p:nvPr/>
        </p:nvSpPr>
        <p:spPr>
          <a:xfrm>
            <a:off x="87630" y="800709"/>
            <a:ext cx="4077335" cy="19069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90"/>
              </a:spcBef>
            </a:pPr>
            <a:r>
              <a:rPr sz="1100" i="1" spc="55" dirty="0">
                <a:solidFill>
                  <a:srgbClr val="3232B2"/>
                </a:solidFill>
                <a:latin typeface="Cambria"/>
                <a:cs typeface="Cambria"/>
              </a:rPr>
              <a:t>L-</a:t>
            </a:r>
            <a:r>
              <a:rPr sz="1100" i="1" spc="70" dirty="0">
                <a:solidFill>
                  <a:srgbClr val="3232B2"/>
                </a:solidFill>
                <a:latin typeface="Cambria"/>
                <a:cs typeface="Cambria"/>
              </a:rPr>
              <a:t>C</a:t>
            </a:r>
            <a:r>
              <a:rPr sz="1100" i="1" spc="30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100" i="1" spc="-10" dirty="0">
                <a:solidFill>
                  <a:srgbClr val="3232B2"/>
                </a:solidFill>
                <a:latin typeface="Cambria"/>
                <a:cs typeface="Cambria"/>
              </a:rPr>
              <a:t>similarity</a:t>
            </a:r>
            <a:endParaRPr sz="1100">
              <a:latin typeface="Cambria"/>
              <a:cs typeface="Cambria"/>
            </a:endParaRPr>
          </a:p>
          <a:p>
            <a:pPr marL="1253490" marR="716280" indent="-174625">
              <a:lnSpc>
                <a:spcPts val="2250"/>
              </a:lnSpc>
              <a:spcBef>
                <a:spcPts val="204"/>
              </a:spcBef>
            </a:pPr>
            <a:r>
              <a:rPr sz="1100" i="1" dirty="0">
                <a:latin typeface="Cambria"/>
                <a:cs typeface="Cambria"/>
              </a:rPr>
              <a:t>sim</a:t>
            </a:r>
            <a:r>
              <a:rPr sz="1200" i="1" baseline="-10416" dirty="0">
                <a:latin typeface="Cambria"/>
                <a:cs typeface="Cambria"/>
              </a:rPr>
              <a:t>LC</a:t>
            </a:r>
            <a:r>
              <a:rPr sz="1100" dirty="0">
                <a:latin typeface="Arial MT"/>
                <a:cs typeface="Arial MT"/>
              </a:rPr>
              <a:t>(</a:t>
            </a:r>
            <a:r>
              <a:rPr sz="1100" i="1" dirty="0">
                <a:latin typeface="Cambria"/>
                <a:cs typeface="Cambria"/>
              </a:rPr>
              <a:t>c</a:t>
            </a:r>
            <a:r>
              <a:rPr sz="1200" baseline="-10416" dirty="0">
                <a:latin typeface="Cambria"/>
                <a:cs typeface="Cambria"/>
              </a:rPr>
              <a:t>1</a:t>
            </a:r>
            <a:r>
              <a:rPr sz="1100" i="1" dirty="0">
                <a:latin typeface="Arial"/>
                <a:cs typeface="Arial"/>
              </a:rPr>
              <a:t>,</a:t>
            </a:r>
            <a:r>
              <a:rPr sz="1100" i="1" spc="-145" dirty="0">
                <a:latin typeface="Arial"/>
                <a:cs typeface="Arial"/>
              </a:rPr>
              <a:t> </a:t>
            </a:r>
            <a:r>
              <a:rPr sz="1100" i="1" dirty="0">
                <a:latin typeface="Cambria"/>
                <a:cs typeface="Cambria"/>
              </a:rPr>
              <a:t>c</a:t>
            </a:r>
            <a:r>
              <a:rPr sz="1200" baseline="-10416" dirty="0">
                <a:latin typeface="Cambria"/>
                <a:cs typeface="Cambria"/>
              </a:rPr>
              <a:t>2</a:t>
            </a:r>
            <a:r>
              <a:rPr sz="1100" dirty="0">
                <a:latin typeface="Arial MT"/>
                <a:cs typeface="Arial MT"/>
              </a:rPr>
              <a:t>)</a:t>
            </a:r>
            <a:r>
              <a:rPr sz="1100" spc="25" dirty="0">
                <a:latin typeface="Arial MT"/>
                <a:cs typeface="Arial MT"/>
              </a:rPr>
              <a:t> </a:t>
            </a:r>
            <a:r>
              <a:rPr sz="1100" spc="200" dirty="0">
                <a:latin typeface="Arial MT"/>
                <a:cs typeface="Arial MT"/>
              </a:rPr>
              <a:t>=</a:t>
            </a:r>
            <a:r>
              <a:rPr sz="1100" spc="30" dirty="0">
                <a:latin typeface="Arial MT"/>
                <a:cs typeface="Arial MT"/>
              </a:rPr>
              <a:t> </a:t>
            </a:r>
            <a:r>
              <a:rPr sz="1100" spc="-30" dirty="0">
                <a:latin typeface="Lucida Sans Unicode"/>
                <a:cs typeface="Lucida Sans Unicode"/>
              </a:rPr>
              <a:t>−</a:t>
            </a:r>
            <a:r>
              <a:rPr sz="1100" i="1" spc="-30" dirty="0">
                <a:latin typeface="Cambria"/>
                <a:cs typeface="Cambria"/>
              </a:rPr>
              <a:t>log</a:t>
            </a:r>
            <a:r>
              <a:rPr sz="1100" spc="-30" dirty="0">
                <a:latin typeface="Arial MT"/>
                <a:cs typeface="Arial MT"/>
              </a:rPr>
              <a:t>(</a:t>
            </a:r>
            <a:r>
              <a:rPr sz="1100" i="1" spc="-30" dirty="0">
                <a:latin typeface="Cambria"/>
                <a:cs typeface="Cambria"/>
              </a:rPr>
              <a:t>pathlen</a:t>
            </a:r>
            <a:r>
              <a:rPr sz="1100" spc="-30" dirty="0">
                <a:latin typeface="Arial MT"/>
                <a:cs typeface="Arial MT"/>
              </a:rPr>
              <a:t>(</a:t>
            </a:r>
            <a:r>
              <a:rPr sz="1100" i="1" spc="-30" dirty="0">
                <a:latin typeface="Cambria"/>
                <a:cs typeface="Cambria"/>
              </a:rPr>
              <a:t>c</a:t>
            </a:r>
            <a:r>
              <a:rPr sz="1200" spc="-44" baseline="-10416" dirty="0">
                <a:latin typeface="Cambria"/>
                <a:cs typeface="Cambria"/>
              </a:rPr>
              <a:t>1</a:t>
            </a:r>
            <a:r>
              <a:rPr sz="1100" i="1" spc="-30" dirty="0">
                <a:latin typeface="Arial"/>
                <a:cs typeface="Arial"/>
              </a:rPr>
              <a:t>,</a:t>
            </a:r>
            <a:r>
              <a:rPr sz="1100" i="1" spc="-145" dirty="0">
                <a:latin typeface="Arial"/>
                <a:cs typeface="Arial"/>
              </a:rPr>
              <a:t> </a:t>
            </a:r>
            <a:r>
              <a:rPr sz="1100" i="1" spc="-10" dirty="0">
                <a:latin typeface="Cambria"/>
                <a:cs typeface="Cambria"/>
              </a:rPr>
              <a:t>c</a:t>
            </a:r>
            <a:r>
              <a:rPr sz="1200" spc="-15" baseline="-10416" dirty="0">
                <a:latin typeface="Cambria"/>
                <a:cs typeface="Cambria"/>
              </a:rPr>
              <a:t>2</a:t>
            </a:r>
            <a:r>
              <a:rPr sz="1100" spc="-10" dirty="0">
                <a:latin typeface="Arial MT"/>
                <a:cs typeface="Arial MT"/>
              </a:rPr>
              <a:t>)</a:t>
            </a:r>
            <a:r>
              <a:rPr sz="1100" i="1" spc="-10" dirty="0">
                <a:latin typeface="Arial"/>
                <a:cs typeface="Arial"/>
              </a:rPr>
              <a:t>/</a:t>
            </a:r>
            <a:r>
              <a:rPr sz="1100" spc="-10" dirty="0">
                <a:latin typeface="Cambria"/>
                <a:cs typeface="Cambria"/>
              </a:rPr>
              <a:t>2</a:t>
            </a:r>
            <a:r>
              <a:rPr sz="1100" i="1" spc="-10" dirty="0">
                <a:latin typeface="Cambria"/>
                <a:cs typeface="Cambria"/>
              </a:rPr>
              <a:t>d</a:t>
            </a:r>
            <a:r>
              <a:rPr sz="1100" spc="-10" dirty="0">
                <a:latin typeface="Arial MT"/>
                <a:cs typeface="Arial MT"/>
              </a:rPr>
              <a:t>) </a:t>
            </a:r>
            <a:r>
              <a:rPr sz="1100" i="1" dirty="0">
                <a:latin typeface="Cambria"/>
                <a:cs typeface="Cambria"/>
              </a:rPr>
              <a:t>d</a:t>
            </a:r>
            <a:r>
              <a:rPr sz="950" dirty="0">
                <a:latin typeface="Trebuchet MS"/>
                <a:cs typeface="Trebuchet MS"/>
              </a:rPr>
              <a:t>: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maximum</a:t>
            </a:r>
            <a:r>
              <a:rPr sz="950" spc="-4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depth</a:t>
            </a:r>
            <a:r>
              <a:rPr sz="950" spc="-4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of</a:t>
            </a:r>
            <a:r>
              <a:rPr sz="950" spc="-4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-4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hierarchy</a:t>
            </a:r>
            <a:endParaRPr sz="950">
              <a:latin typeface="Trebuchet MS"/>
              <a:cs typeface="Trebuchet MS"/>
            </a:endParaRPr>
          </a:p>
          <a:p>
            <a:pPr marL="50800">
              <a:lnSpc>
                <a:spcPct val="100000"/>
              </a:lnSpc>
              <a:spcBef>
                <a:spcPts val="1245"/>
              </a:spcBef>
            </a:pPr>
            <a:r>
              <a:rPr sz="1100" i="1" spc="-20" dirty="0">
                <a:solidFill>
                  <a:srgbClr val="FF0000"/>
                </a:solidFill>
                <a:latin typeface="Cambria"/>
                <a:cs typeface="Cambria"/>
              </a:rPr>
              <a:t>Problems</a:t>
            </a:r>
            <a:r>
              <a:rPr sz="1100" i="1" spc="1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100" i="1" spc="-40" dirty="0">
                <a:solidFill>
                  <a:srgbClr val="FF0000"/>
                </a:solidFill>
                <a:latin typeface="Cambria"/>
                <a:cs typeface="Cambria"/>
              </a:rPr>
              <a:t>with</a:t>
            </a:r>
            <a:r>
              <a:rPr sz="1100" i="1" spc="1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100" i="1" spc="55" dirty="0">
                <a:solidFill>
                  <a:srgbClr val="FF0000"/>
                </a:solidFill>
                <a:latin typeface="Cambria"/>
                <a:cs typeface="Cambria"/>
              </a:rPr>
              <a:t>L-</a:t>
            </a:r>
            <a:r>
              <a:rPr sz="1100" i="1" spc="70" dirty="0">
                <a:solidFill>
                  <a:srgbClr val="FF0000"/>
                </a:solidFill>
                <a:latin typeface="Cambria"/>
                <a:cs typeface="Cambria"/>
              </a:rPr>
              <a:t>C</a:t>
            </a:r>
            <a:r>
              <a:rPr sz="1100" i="1" spc="1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100" i="1" spc="-10" dirty="0">
                <a:solidFill>
                  <a:srgbClr val="FF0000"/>
                </a:solidFill>
                <a:latin typeface="Cambria"/>
                <a:cs typeface="Cambria"/>
              </a:rPr>
              <a:t>similarity</a:t>
            </a:r>
            <a:endParaRPr sz="1100">
              <a:latin typeface="Cambria"/>
              <a:cs typeface="Cambria"/>
            </a:endParaRPr>
          </a:p>
          <a:p>
            <a:pPr marL="327660" marR="935355">
              <a:lnSpc>
                <a:spcPts val="1650"/>
              </a:lnSpc>
              <a:spcBef>
                <a:spcPts val="50"/>
              </a:spcBef>
            </a:pPr>
            <a:r>
              <a:rPr sz="950" spc="65" dirty="0">
                <a:latin typeface="Trebuchet MS"/>
                <a:cs typeface="Trebuchet MS"/>
              </a:rPr>
              <a:t>Assumes</a:t>
            </a:r>
            <a:r>
              <a:rPr sz="950" spc="5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each</a:t>
            </a:r>
            <a:r>
              <a:rPr sz="950" spc="5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edge</a:t>
            </a:r>
            <a:r>
              <a:rPr sz="950" spc="5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represents</a:t>
            </a:r>
            <a:r>
              <a:rPr sz="950" spc="5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</a:t>
            </a:r>
            <a:r>
              <a:rPr sz="950" spc="5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uniform</a:t>
            </a:r>
            <a:r>
              <a:rPr sz="950" spc="5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distance </a:t>
            </a:r>
            <a:r>
              <a:rPr sz="950" spc="-30" dirty="0">
                <a:latin typeface="Trebuchet MS"/>
                <a:cs typeface="Trebuchet MS"/>
              </a:rPr>
              <a:t>‘nickel-</a:t>
            </a:r>
            <a:r>
              <a:rPr sz="950" spc="-10" dirty="0">
                <a:latin typeface="Trebuchet MS"/>
                <a:cs typeface="Trebuchet MS"/>
              </a:rPr>
              <a:t>money’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spc="55" dirty="0">
                <a:latin typeface="Trebuchet MS"/>
                <a:cs typeface="Trebuchet MS"/>
              </a:rPr>
              <a:t>seems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closer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than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spc="-35" dirty="0">
                <a:latin typeface="Trebuchet MS"/>
                <a:cs typeface="Trebuchet MS"/>
              </a:rPr>
              <a:t>‘nickel-</a:t>
            </a:r>
            <a:r>
              <a:rPr sz="950" spc="-10" dirty="0">
                <a:latin typeface="Trebuchet MS"/>
                <a:cs typeface="Trebuchet MS"/>
              </a:rPr>
              <a:t>standard’</a:t>
            </a:r>
            <a:endParaRPr sz="950">
              <a:latin typeface="Trebuchet MS"/>
              <a:cs typeface="Trebuchet MS"/>
            </a:endParaRPr>
          </a:p>
          <a:p>
            <a:pPr marL="327660" marR="17780">
              <a:lnSpc>
                <a:spcPct val="118900"/>
              </a:lnSpc>
              <a:spcBef>
                <a:spcPts val="165"/>
              </a:spcBef>
            </a:pPr>
            <a:r>
              <a:rPr sz="950" spc="55" dirty="0">
                <a:latin typeface="Trebuchet MS"/>
                <a:cs typeface="Trebuchet MS"/>
              </a:rPr>
              <a:t>We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want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metric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which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lets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spc="55" dirty="0">
                <a:latin typeface="Trebuchet MS"/>
                <a:cs typeface="Trebuchet MS"/>
              </a:rPr>
              <a:t>us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assign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spc="-35" dirty="0">
                <a:latin typeface="Trebuchet MS"/>
                <a:cs typeface="Trebuchet MS"/>
              </a:rPr>
              <a:t>different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spc="-35" dirty="0">
                <a:latin typeface="Trebuchet MS"/>
                <a:cs typeface="Trebuchet MS"/>
              </a:rPr>
              <a:t>“lengths”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to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spc="-30" dirty="0">
                <a:latin typeface="Trebuchet MS"/>
                <a:cs typeface="Trebuchet MS"/>
              </a:rPr>
              <a:t>different </a:t>
            </a:r>
            <a:r>
              <a:rPr sz="950" dirty="0">
                <a:latin typeface="Trebuchet MS"/>
                <a:cs typeface="Trebuchet MS"/>
              </a:rPr>
              <a:t>edges</a:t>
            </a:r>
            <a:r>
              <a:rPr sz="950" spc="4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-</a:t>
            </a:r>
            <a:r>
              <a:rPr sz="950" spc="45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but</a:t>
            </a:r>
            <a:r>
              <a:rPr sz="950" spc="45" dirty="0">
                <a:latin typeface="Trebuchet MS"/>
                <a:cs typeface="Trebuchet MS"/>
              </a:rPr>
              <a:t> </a:t>
            </a:r>
            <a:r>
              <a:rPr sz="950" spc="35" dirty="0">
                <a:latin typeface="Trebuchet MS"/>
                <a:cs typeface="Trebuchet MS"/>
              </a:rPr>
              <a:t>how?</a:t>
            </a:r>
            <a:endParaRPr sz="950">
              <a:latin typeface="Trebuchet MS"/>
              <a:cs typeface="Trebuchet MS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1853082" y="3339672"/>
            <a:ext cx="90233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13" action="ppaction://hlinksldjump"/>
              </a:rPr>
              <a:t>Lexical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  <a:hlinkClick r:id="rId13" action="ppaction://hlinksldjump"/>
              </a:rPr>
              <a:t>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  <a:hlinkClick r:id="rId13" action="ppaction://hlinksldjump"/>
              </a:rPr>
              <a:t>Semantics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  <a:hlinkClick r:id="rId13" action="ppaction://hlinksldjump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13" action="ppaction://hlinksldjump"/>
              </a:rPr>
              <a:t>-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  <a:hlinkClick r:id="rId13" action="ppaction://hlinksldjump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  <a:hlinkClick r:id="rId13" action="ppaction://hlinksldjump"/>
              </a:rPr>
              <a:t>WordNet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3608260" y="3339672"/>
            <a:ext cx="56388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8,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2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4317424" y="3339672"/>
            <a:ext cx="236854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13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10" dirty="0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</a:rPr>
              <a:t>27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37" name="Slide Number Placeholder 36">
            <a:extLst>
              <a:ext uri="{FF2B5EF4-FFF2-40B4-BE49-F238E27FC236}">
                <a16:creationId xmlns:a16="http://schemas.microsoft.com/office/drawing/2014/main" id="{C4CF1D75-B5DE-4D0F-ACA5-B63A5D48D57D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4292024" y="3339672"/>
            <a:ext cx="262254" cy="116204"/>
          </a:xfrm>
          <a:prstGeom prst="rect">
            <a:avLst/>
          </a:prstGeom>
        </p:spPr>
        <p:txBody>
          <a:bodyPr/>
          <a:lstStyle/>
          <a:p>
            <a:pPr marL="75565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lang="en-IN" smtClean="0"/>
              <a:t>57</a:t>
            </a:fld>
            <a:r>
              <a:rPr lang="en-IN" spc="-5"/>
              <a:t> </a:t>
            </a:r>
            <a:r>
              <a:rPr lang="en-IN" spc="-110"/>
              <a:t>/</a:t>
            </a:r>
            <a:r>
              <a:rPr lang="en-IN" spc="15"/>
              <a:t> </a:t>
            </a:r>
            <a:r>
              <a:rPr lang="en-IN" spc="-25"/>
              <a:t>18</a:t>
            </a:r>
            <a:endParaRPr lang="en-IN" spc="-25" dirty="0"/>
          </a:p>
        </p:txBody>
      </p:sp>
    </p:spTree>
  </p:cSld>
  <p:clrMapOvr>
    <a:masterClrMapping/>
  </p:clrMapOvr>
  <p:transition>
    <p:cut/>
  </p:transition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Concept</a:t>
            </a:r>
            <a:r>
              <a:rPr spc="45" dirty="0"/>
              <a:t> </a:t>
            </a:r>
            <a:r>
              <a:rPr spc="-10" dirty="0"/>
              <a:t>probability</a:t>
            </a:r>
            <a:r>
              <a:rPr spc="50" dirty="0"/>
              <a:t> </a:t>
            </a:r>
            <a:r>
              <a:rPr spc="-10" dirty="0"/>
              <a:t>models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7743" y="812444"/>
            <a:ext cx="4483735" cy="1060450"/>
            <a:chOff x="87743" y="812444"/>
            <a:chExt cx="4483735" cy="1060450"/>
          </a:xfrm>
        </p:grpSpPr>
        <p:sp>
          <p:nvSpPr>
            <p:cNvPr id="4" name="object 4"/>
            <p:cNvSpPr/>
            <p:nvPr/>
          </p:nvSpPr>
          <p:spPr>
            <a:xfrm>
              <a:off x="87743" y="812444"/>
              <a:ext cx="4432935" cy="186055"/>
            </a:xfrm>
            <a:custGeom>
              <a:avLst/>
              <a:gdLst/>
              <a:ahLst/>
              <a:cxnLst/>
              <a:rect l="l" t="t" r="r" b="b"/>
              <a:pathLst>
                <a:path w="4432935" h="186055">
                  <a:moveTo>
                    <a:pt x="4381754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5674"/>
                  </a:lnTo>
                  <a:lnTo>
                    <a:pt x="4432554" y="185674"/>
                  </a:lnTo>
                  <a:lnTo>
                    <a:pt x="4432554" y="50800"/>
                  </a:lnTo>
                  <a:lnTo>
                    <a:pt x="4428545" y="31075"/>
                  </a:lnTo>
                  <a:lnTo>
                    <a:pt x="4417631" y="14922"/>
                  </a:lnTo>
                  <a:lnTo>
                    <a:pt x="4401478" y="4008"/>
                  </a:lnTo>
                  <a:lnTo>
                    <a:pt x="4381754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744" y="985456"/>
              <a:ext cx="4432554" cy="5060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8544" y="1770964"/>
              <a:ext cx="101599" cy="1016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9344" y="1758264"/>
              <a:ext cx="4381754" cy="1143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20298" y="856678"/>
              <a:ext cx="50800" cy="914285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87743" y="1029792"/>
              <a:ext cx="4432935" cy="792480"/>
            </a:xfrm>
            <a:custGeom>
              <a:avLst/>
              <a:gdLst/>
              <a:ahLst/>
              <a:cxnLst/>
              <a:rect l="l" t="t" r="r" b="b"/>
              <a:pathLst>
                <a:path w="4432935" h="792480">
                  <a:moveTo>
                    <a:pt x="4432554" y="0"/>
                  </a:moveTo>
                  <a:lnTo>
                    <a:pt x="0" y="0"/>
                  </a:lnTo>
                  <a:lnTo>
                    <a:pt x="0" y="741172"/>
                  </a:lnTo>
                  <a:lnTo>
                    <a:pt x="4008" y="760896"/>
                  </a:lnTo>
                  <a:lnTo>
                    <a:pt x="14922" y="777049"/>
                  </a:lnTo>
                  <a:lnTo>
                    <a:pt x="31075" y="787963"/>
                  </a:lnTo>
                  <a:lnTo>
                    <a:pt x="50800" y="791972"/>
                  </a:lnTo>
                  <a:lnTo>
                    <a:pt x="4381754" y="791972"/>
                  </a:lnTo>
                  <a:lnTo>
                    <a:pt x="4401478" y="787963"/>
                  </a:lnTo>
                  <a:lnTo>
                    <a:pt x="4417631" y="777049"/>
                  </a:lnTo>
                  <a:lnTo>
                    <a:pt x="4428545" y="760896"/>
                  </a:lnTo>
                  <a:lnTo>
                    <a:pt x="4432554" y="741172"/>
                  </a:lnTo>
                  <a:lnTo>
                    <a:pt x="4432554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520310" y="894791"/>
              <a:ext cx="0" cy="895350"/>
            </a:xfrm>
            <a:custGeom>
              <a:avLst/>
              <a:gdLst/>
              <a:ahLst/>
              <a:cxnLst/>
              <a:rect l="l" t="t" r="r" b="b"/>
              <a:pathLst>
                <a:path h="895350">
                  <a:moveTo>
                    <a:pt x="0" y="895223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520310" y="882065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520310" y="869365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520310" y="856665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81597" y="1091666"/>
              <a:ext cx="64757" cy="64757"/>
            </a:xfrm>
            <a:prstGeom prst="rect">
              <a:avLst/>
            </a:prstGeom>
          </p:spPr>
        </p:pic>
      </p:grpSp>
      <p:sp>
        <p:nvSpPr>
          <p:cNvPr id="15" name="object 15"/>
          <p:cNvSpPr txBox="1"/>
          <p:nvPr/>
        </p:nvSpPr>
        <p:spPr>
          <a:xfrm>
            <a:off x="125729" y="745005"/>
            <a:ext cx="4203065" cy="626745"/>
          </a:xfrm>
          <a:prstGeom prst="rect">
            <a:avLst/>
          </a:prstGeom>
        </p:spPr>
        <p:txBody>
          <a:bodyPr vert="horz" wrap="square" lIns="0" tIns="596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70"/>
              </a:spcBef>
            </a:pPr>
            <a:r>
              <a:rPr sz="1100" i="1" dirty="0">
                <a:solidFill>
                  <a:srgbClr val="3232B2"/>
                </a:solidFill>
                <a:latin typeface="Cambria"/>
                <a:cs typeface="Cambria"/>
              </a:rPr>
              <a:t>Cencept</a:t>
            </a:r>
            <a:r>
              <a:rPr sz="1100" i="1" spc="-10" dirty="0">
                <a:solidFill>
                  <a:srgbClr val="3232B2"/>
                </a:solidFill>
                <a:latin typeface="Cambria"/>
                <a:cs typeface="Cambria"/>
              </a:rPr>
              <a:t> probabilities</a:t>
            </a:r>
            <a:endParaRPr sz="1100">
              <a:latin typeface="Cambria"/>
              <a:cs typeface="Cambria"/>
            </a:endParaRPr>
          </a:p>
          <a:p>
            <a:pPr marL="289560" marR="5080">
              <a:lnSpc>
                <a:spcPct val="102600"/>
              </a:lnSpc>
              <a:spcBef>
                <a:spcPts val="335"/>
              </a:spcBef>
            </a:pPr>
            <a:r>
              <a:rPr sz="950" dirty="0">
                <a:latin typeface="Trebuchet MS"/>
                <a:cs typeface="Trebuchet MS"/>
              </a:rPr>
              <a:t>For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each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concept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(synset)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1100" i="1" spc="-20" dirty="0">
                <a:latin typeface="Cambria"/>
                <a:cs typeface="Cambria"/>
              </a:rPr>
              <a:t>c</a:t>
            </a:r>
            <a:r>
              <a:rPr sz="950" spc="-20" dirty="0">
                <a:latin typeface="Trebuchet MS"/>
                <a:cs typeface="Trebuchet MS"/>
              </a:rPr>
              <a:t>,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spc="-40" dirty="0">
                <a:latin typeface="Trebuchet MS"/>
                <a:cs typeface="Trebuchet MS"/>
              </a:rPr>
              <a:t>let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1100" i="1" dirty="0">
                <a:latin typeface="Cambria"/>
                <a:cs typeface="Cambria"/>
              </a:rPr>
              <a:t>P</a:t>
            </a:r>
            <a:r>
              <a:rPr sz="1100" dirty="0">
                <a:latin typeface="Arial MT"/>
                <a:cs typeface="Arial MT"/>
              </a:rPr>
              <a:t>(</a:t>
            </a:r>
            <a:r>
              <a:rPr sz="1100" i="1" dirty="0">
                <a:latin typeface="Cambria"/>
                <a:cs typeface="Cambria"/>
              </a:rPr>
              <a:t>c</a:t>
            </a:r>
            <a:r>
              <a:rPr sz="1100" dirty="0">
                <a:latin typeface="Arial MT"/>
                <a:cs typeface="Arial MT"/>
              </a:rPr>
              <a:t>)</a:t>
            </a:r>
            <a:r>
              <a:rPr sz="1100" spc="5" dirty="0">
                <a:latin typeface="Arial MT"/>
                <a:cs typeface="Arial MT"/>
              </a:rPr>
              <a:t> </a:t>
            </a:r>
            <a:r>
              <a:rPr sz="950" dirty="0">
                <a:latin typeface="Trebuchet MS"/>
                <a:cs typeface="Trebuchet MS"/>
              </a:rPr>
              <a:t>be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probability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spc="-30" dirty="0">
                <a:latin typeface="Trebuchet MS"/>
                <a:cs typeface="Trebuchet MS"/>
              </a:rPr>
              <a:t>that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randomly </a:t>
            </a:r>
            <a:r>
              <a:rPr sz="950" dirty="0">
                <a:latin typeface="Trebuchet MS"/>
                <a:cs typeface="Trebuchet MS"/>
              </a:rPr>
              <a:t>selected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word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in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corpus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is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an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instance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(hyponym)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of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1100" i="1" spc="-50" dirty="0">
                <a:latin typeface="Cambria"/>
                <a:cs typeface="Cambria"/>
              </a:rPr>
              <a:t>c</a:t>
            </a:r>
            <a:endParaRPr sz="1100">
              <a:latin typeface="Cambria"/>
              <a:cs typeface="Cambri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853082" y="3339672"/>
            <a:ext cx="90233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7" action="ppaction://hlinksldjump"/>
              </a:rPr>
              <a:t>Lexical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  <a:hlinkClick r:id="rId7" action="ppaction://hlinksldjump"/>
              </a:rPr>
              <a:t>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  <a:hlinkClick r:id="rId7" action="ppaction://hlinksldjump"/>
              </a:rPr>
              <a:t>Semantics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  <a:hlinkClick r:id="rId7" action="ppaction://hlinksldjump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7" action="ppaction://hlinksldjump"/>
              </a:rPr>
              <a:t>-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  <a:hlinkClick r:id="rId7" action="ppaction://hlinksldjump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  <a:hlinkClick r:id="rId7" action="ppaction://hlinksldjump"/>
              </a:rPr>
              <a:t>WordNet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608260" y="3339672"/>
            <a:ext cx="56388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8,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2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317424" y="3339672"/>
            <a:ext cx="236854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14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10" dirty="0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</a:rPr>
              <a:t>27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24" name="Slide Number Placeholder 23">
            <a:extLst>
              <a:ext uri="{FF2B5EF4-FFF2-40B4-BE49-F238E27FC236}">
                <a16:creationId xmlns:a16="http://schemas.microsoft.com/office/drawing/2014/main" id="{1AA68F5A-2139-43D5-A6DD-57B3FD38AEF8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4292024" y="3339672"/>
            <a:ext cx="262254" cy="116204"/>
          </a:xfrm>
          <a:prstGeom prst="rect">
            <a:avLst/>
          </a:prstGeom>
        </p:spPr>
        <p:txBody>
          <a:bodyPr/>
          <a:lstStyle/>
          <a:p>
            <a:pPr marL="75565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lang="en-IN" smtClean="0"/>
              <a:t>58</a:t>
            </a:fld>
            <a:r>
              <a:rPr lang="en-IN" spc="-5"/>
              <a:t> </a:t>
            </a:r>
            <a:r>
              <a:rPr lang="en-IN" spc="-110"/>
              <a:t>/</a:t>
            </a:r>
            <a:r>
              <a:rPr lang="en-IN" spc="15"/>
              <a:t> </a:t>
            </a:r>
            <a:r>
              <a:rPr lang="en-IN" spc="-25"/>
              <a:t>18</a:t>
            </a:r>
            <a:endParaRPr lang="en-IN" spc="-25" dirty="0"/>
          </a:p>
        </p:txBody>
      </p:sp>
    </p:spTree>
  </p:cSld>
  <p:clrMapOvr>
    <a:masterClrMapping/>
  </p:clrMapOvr>
  <p:transition>
    <p:cut/>
  </p:transition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Concept</a:t>
            </a:r>
            <a:r>
              <a:rPr spc="45" dirty="0"/>
              <a:t> </a:t>
            </a:r>
            <a:r>
              <a:rPr spc="-10" dirty="0"/>
              <a:t>probability</a:t>
            </a:r>
            <a:r>
              <a:rPr spc="50" dirty="0"/>
              <a:t> </a:t>
            </a:r>
            <a:r>
              <a:rPr spc="-10" dirty="0"/>
              <a:t>models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7743" y="812444"/>
            <a:ext cx="4483735" cy="1060450"/>
            <a:chOff x="87743" y="812444"/>
            <a:chExt cx="4483735" cy="1060450"/>
          </a:xfrm>
        </p:grpSpPr>
        <p:sp>
          <p:nvSpPr>
            <p:cNvPr id="4" name="object 4"/>
            <p:cNvSpPr/>
            <p:nvPr/>
          </p:nvSpPr>
          <p:spPr>
            <a:xfrm>
              <a:off x="87743" y="812444"/>
              <a:ext cx="4432935" cy="186055"/>
            </a:xfrm>
            <a:custGeom>
              <a:avLst/>
              <a:gdLst/>
              <a:ahLst/>
              <a:cxnLst/>
              <a:rect l="l" t="t" r="r" b="b"/>
              <a:pathLst>
                <a:path w="4432935" h="186055">
                  <a:moveTo>
                    <a:pt x="4381754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5674"/>
                  </a:lnTo>
                  <a:lnTo>
                    <a:pt x="4432554" y="185674"/>
                  </a:lnTo>
                  <a:lnTo>
                    <a:pt x="4432554" y="50800"/>
                  </a:lnTo>
                  <a:lnTo>
                    <a:pt x="4428545" y="31075"/>
                  </a:lnTo>
                  <a:lnTo>
                    <a:pt x="4417631" y="14922"/>
                  </a:lnTo>
                  <a:lnTo>
                    <a:pt x="4401478" y="4008"/>
                  </a:lnTo>
                  <a:lnTo>
                    <a:pt x="4381754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744" y="985456"/>
              <a:ext cx="4432554" cy="5060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8544" y="1770964"/>
              <a:ext cx="101599" cy="1016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9344" y="1758264"/>
              <a:ext cx="4381754" cy="1143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20298" y="856678"/>
              <a:ext cx="50800" cy="914285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87743" y="1029792"/>
              <a:ext cx="4432935" cy="792480"/>
            </a:xfrm>
            <a:custGeom>
              <a:avLst/>
              <a:gdLst/>
              <a:ahLst/>
              <a:cxnLst/>
              <a:rect l="l" t="t" r="r" b="b"/>
              <a:pathLst>
                <a:path w="4432935" h="792480">
                  <a:moveTo>
                    <a:pt x="4432554" y="0"/>
                  </a:moveTo>
                  <a:lnTo>
                    <a:pt x="0" y="0"/>
                  </a:lnTo>
                  <a:lnTo>
                    <a:pt x="0" y="741172"/>
                  </a:lnTo>
                  <a:lnTo>
                    <a:pt x="4008" y="760896"/>
                  </a:lnTo>
                  <a:lnTo>
                    <a:pt x="14922" y="777049"/>
                  </a:lnTo>
                  <a:lnTo>
                    <a:pt x="31075" y="787963"/>
                  </a:lnTo>
                  <a:lnTo>
                    <a:pt x="50800" y="791972"/>
                  </a:lnTo>
                  <a:lnTo>
                    <a:pt x="4381754" y="791972"/>
                  </a:lnTo>
                  <a:lnTo>
                    <a:pt x="4401478" y="787963"/>
                  </a:lnTo>
                  <a:lnTo>
                    <a:pt x="4417631" y="777049"/>
                  </a:lnTo>
                  <a:lnTo>
                    <a:pt x="4428545" y="760896"/>
                  </a:lnTo>
                  <a:lnTo>
                    <a:pt x="4432554" y="741172"/>
                  </a:lnTo>
                  <a:lnTo>
                    <a:pt x="4432554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520310" y="894791"/>
              <a:ext cx="0" cy="895350"/>
            </a:xfrm>
            <a:custGeom>
              <a:avLst/>
              <a:gdLst/>
              <a:ahLst/>
              <a:cxnLst/>
              <a:rect l="l" t="t" r="r" b="b"/>
              <a:pathLst>
                <a:path h="895350">
                  <a:moveTo>
                    <a:pt x="0" y="895223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520310" y="882065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520310" y="869365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520310" y="856665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81597" y="1091666"/>
              <a:ext cx="64757" cy="64757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81597" y="1473771"/>
              <a:ext cx="64757" cy="64757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81597" y="1683804"/>
              <a:ext cx="64757" cy="64757"/>
            </a:xfrm>
            <a:prstGeom prst="rect">
              <a:avLst/>
            </a:prstGeom>
          </p:spPr>
        </p:pic>
      </p:grpSp>
      <p:sp>
        <p:nvSpPr>
          <p:cNvPr id="17" name="object 17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236591" rIns="0" bIns="0" rtlCol="0">
            <a:spAutoFit/>
          </a:bodyPr>
          <a:lstStyle/>
          <a:p>
            <a:pPr marL="50165">
              <a:lnSpc>
                <a:spcPct val="100000"/>
              </a:lnSpc>
              <a:spcBef>
                <a:spcPts val="470"/>
              </a:spcBef>
            </a:pPr>
            <a:r>
              <a:rPr dirty="0"/>
              <a:t>Cencept</a:t>
            </a:r>
            <a:r>
              <a:rPr spc="-10" dirty="0"/>
              <a:t> probabilities</a:t>
            </a:r>
          </a:p>
          <a:p>
            <a:pPr marL="327025" marR="5080">
              <a:lnSpc>
                <a:spcPct val="102600"/>
              </a:lnSpc>
              <a:spcBef>
                <a:spcPts val="335"/>
              </a:spcBef>
            </a:pP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For</a:t>
            </a:r>
            <a:r>
              <a:rPr sz="950" i="0" spc="2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each</a:t>
            </a:r>
            <a:r>
              <a:rPr sz="950" i="0" spc="2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concept</a:t>
            </a:r>
            <a:r>
              <a:rPr sz="950" i="0" spc="2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(synset)</a:t>
            </a:r>
            <a:r>
              <a:rPr sz="950" i="0" spc="3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pc="-20" dirty="0">
                <a:solidFill>
                  <a:srgbClr val="000000"/>
                </a:solidFill>
              </a:rPr>
              <a:t>c</a:t>
            </a:r>
            <a:r>
              <a:rPr sz="950" i="0" spc="-20" dirty="0">
                <a:solidFill>
                  <a:srgbClr val="000000"/>
                </a:solidFill>
                <a:latin typeface="Trebuchet MS"/>
                <a:cs typeface="Trebuchet MS"/>
              </a:rPr>
              <a:t>,</a:t>
            </a:r>
            <a:r>
              <a:rPr sz="950" i="0" spc="2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spc="-40" dirty="0">
                <a:solidFill>
                  <a:srgbClr val="000000"/>
                </a:solidFill>
                <a:latin typeface="Trebuchet MS"/>
                <a:cs typeface="Trebuchet MS"/>
              </a:rPr>
              <a:t>let</a:t>
            </a:r>
            <a:r>
              <a:rPr sz="950" i="0" spc="2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>
                <a:solidFill>
                  <a:srgbClr val="000000"/>
                </a:solidFill>
              </a:rPr>
              <a:t>P</a:t>
            </a:r>
            <a:r>
              <a:rPr i="0" dirty="0">
                <a:solidFill>
                  <a:srgbClr val="000000"/>
                </a:solidFill>
                <a:latin typeface="Arial MT"/>
                <a:cs typeface="Arial MT"/>
              </a:rPr>
              <a:t>(</a:t>
            </a:r>
            <a:r>
              <a:rPr dirty="0">
                <a:solidFill>
                  <a:srgbClr val="000000"/>
                </a:solidFill>
              </a:rPr>
              <a:t>c</a:t>
            </a:r>
            <a:r>
              <a:rPr i="0" dirty="0">
                <a:solidFill>
                  <a:srgbClr val="000000"/>
                </a:solidFill>
                <a:latin typeface="Arial MT"/>
                <a:cs typeface="Arial MT"/>
              </a:rPr>
              <a:t>)</a:t>
            </a:r>
            <a:r>
              <a:rPr i="0" spc="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be</a:t>
            </a:r>
            <a:r>
              <a:rPr sz="950" i="0" spc="2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the</a:t>
            </a:r>
            <a:r>
              <a:rPr sz="950" i="0" spc="3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spc="-20" dirty="0">
                <a:solidFill>
                  <a:srgbClr val="000000"/>
                </a:solidFill>
                <a:latin typeface="Trebuchet MS"/>
                <a:cs typeface="Trebuchet MS"/>
              </a:rPr>
              <a:t>probability</a:t>
            </a:r>
            <a:r>
              <a:rPr sz="950" i="0" spc="2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spc="-30" dirty="0">
                <a:solidFill>
                  <a:srgbClr val="000000"/>
                </a:solidFill>
                <a:latin typeface="Trebuchet MS"/>
                <a:cs typeface="Trebuchet MS"/>
              </a:rPr>
              <a:t>that</a:t>
            </a:r>
            <a:r>
              <a:rPr sz="950" i="0" spc="2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a</a:t>
            </a:r>
            <a:r>
              <a:rPr sz="950" i="0" spc="3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spc="-10" dirty="0">
                <a:solidFill>
                  <a:srgbClr val="000000"/>
                </a:solidFill>
                <a:latin typeface="Trebuchet MS"/>
                <a:cs typeface="Trebuchet MS"/>
              </a:rPr>
              <a:t>randomly 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selected</a:t>
            </a:r>
            <a:r>
              <a:rPr sz="950" i="0" spc="2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word</a:t>
            </a:r>
            <a:r>
              <a:rPr sz="950" i="0" spc="3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in</a:t>
            </a:r>
            <a:r>
              <a:rPr sz="950" i="0" spc="2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a</a:t>
            </a:r>
            <a:r>
              <a:rPr sz="950" i="0" spc="3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corpus</a:t>
            </a:r>
            <a:r>
              <a:rPr sz="950" i="0" spc="2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is</a:t>
            </a:r>
            <a:r>
              <a:rPr sz="950" i="0" spc="3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an</a:t>
            </a:r>
            <a:r>
              <a:rPr sz="950" i="0" spc="3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instance</a:t>
            </a:r>
            <a:r>
              <a:rPr sz="950" i="0" spc="2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(hyponym)</a:t>
            </a:r>
            <a:r>
              <a:rPr sz="950" i="0" spc="3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of</a:t>
            </a:r>
            <a:r>
              <a:rPr sz="950" i="0" spc="2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pc="-50" dirty="0">
                <a:solidFill>
                  <a:srgbClr val="000000"/>
                </a:solidFill>
              </a:rPr>
              <a:t>c</a:t>
            </a:r>
            <a:endParaRPr sz="950">
              <a:latin typeface="Trebuchet MS"/>
              <a:cs typeface="Trebuchet MS"/>
            </a:endParaRPr>
          </a:p>
          <a:p>
            <a:pPr marL="327025">
              <a:lnSpc>
                <a:spcPct val="100000"/>
              </a:lnSpc>
              <a:spcBef>
                <a:spcPts val="330"/>
              </a:spcBef>
            </a:pPr>
            <a:r>
              <a:rPr spc="45" dirty="0">
                <a:solidFill>
                  <a:srgbClr val="000000"/>
                </a:solidFill>
              </a:rPr>
              <a:t>P</a:t>
            </a:r>
            <a:r>
              <a:rPr i="0" spc="45" dirty="0">
                <a:solidFill>
                  <a:srgbClr val="000000"/>
                </a:solidFill>
                <a:latin typeface="Arial MT"/>
                <a:cs typeface="Arial MT"/>
              </a:rPr>
              <a:t>(</a:t>
            </a:r>
            <a:r>
              <a:rPr spc="45" dirty="0">
                <a:solidFill>
                  <a:srgbClr val="000000"/>
                </a:solidFill>
              </a:rPr>
              <a:t>ROOT</a:t>
            </a:r>
            <a:r>
              <a:rPr i="0" spc="45" dirty="0">
                <a:solidFill>
                  <a:srgbClr val="000000"/>
                </a:solidFill>
                <a:latin typeface="Arial MT"/>
                <a:cs typeface="Arial MT"/>
              </a:rPr>
              <a:t>)</a:t>
            </a:r>
            <a:r>
              <a:rPr i="0" spc="-5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i="0" spc="200" dirty="0">
                <a:solidFill>
                  <a:srgbClr val="000000"/>
                </a:solidFill>
                <a:latin typeface="Arial MT"/>
                <a:cs typeface="Arial MT"/>
              </a:rPr>
              <a:t>=</a:t>
            </a:r>
            <a:r>
              <a:rPr i="0" spc="-5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i="0" spc="-50" dirty="0">
                <a:solidFill>
                  <a:srgbClr val="000000"/>
                </a:solidFill>
                <a:latin typeface="Cambria"/>
                <a:cs typeface="Cambria"/>
              </a:rPr>
              <a:t>1</a:t>
            </a:r>
          </a:p>
          <a:p>
            <a:pPr marL="327025">
              <a:lnSpc>
                <a:spcPct val="100000"/>
              </a:lnSpc>
              <a:spcBef>
                <a:spcPts val="484"/>
              </a:spcBef>
            </a:pP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The</a:t>
            </a:r>
            <a:r>
              <a:rPr sz="950" i="0" spc="-1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spc="-10" dirty="0">
                <a:solidFill>
                  <a:srgbClr val="000000"/>
                </a:solidFill>
                <a:latin typeface="Trebuchet MS"/>
                <a:cs typeface="Trebuchet MS"/>
              </a:rPr>
              <a:t>lower</a:t>
            </a:r>
            <a:r>
              <a:rPr sz="950" i="0" spc="-1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a</a:t>
            </a:r>
            <a:r>
              <a:rPr sz="950" i="0" spc="-1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node</a:t>
            </a:r>
            <a:r>
              <a:rPr sz="950" i="0" spc="-1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in</a:t>
            </a:r>
            <a:r>
              <a:rPr sz="950" i="0" spc="-1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the</a:t>
            </a:r>
            <a:r>
              <a:rPr sz="950" i="0" spc="-1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spc="-25" dirty="0">
                <a:solidFill>
                  <a:srgbClr val="000000"/>
                </a:solidFill>
                <a:latin typeface="Trebuchet MS"/>
                <a:cs typeface="Trebuchet MS"/>
              </a:rPr>
              <a:t>hierarchy,</a:t>
            </a:r>
            <a:r>
              <a:rPr sz="950" i="0" spc="-1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the</a:t>
            </a:r>
            <a:r>
              <a:rPr sz="950" i="0" spc="-1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spc="-10" dirty="0">
                <a:solidFill>
                  <a:srgbClr val="000000"/>
                </a:solidFill>
                <a:latin typeface="Trebuchet MS"/>
                <a:cs typeface="Trebuchet MS"/>
              </a:rPr>
              <a:t>lower</a:t>
            </a:r>
            <a:r>
              <a:rPr sz="950" i="0" spc="-1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spc="-10" dirty="0">
                <a:solidFill>
                  <a:srgbClr val="000000"/>
                </a:solidFill>
                <a:latin typeface="Trebuchet MS"/>
                <a:cs typeface="Trebuchet MS"/>
              </a:rPr>
              <a:t>its</a:t>
            </a:r>
            <a:r>
              <a:rPr sz="950" i="0" spc="-1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spc="-10" dirty="0">
                <a:solidFill>
                  <a:srgbClr val="000000"/>
                </a:solidFill>
                <a:latin typeface="Trebuchet MS"/>
                <a:cs typeface="Trebuchet MS"/>
              </a:rPr>
              <a:t>probability</a:t>
            </a:r>
            <a:endParaRPr sz="950">
              <a:latin typeface="Trebuchet MS"/>
              <a:cs typeface="Trebuchet MS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853082" y="3339672"/>
            <a:ext cx="90233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9" action="ppaction://hlinksldjump"/>
              </a:rPr>
              <a:t>Lexical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  <a:hlinkClick r:id="rId9" action="ppaction://hlinksldjump"/>
              </a:rPr>
              <a:t>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  <a:hlinkClick r:id="rId9" action="ppaction://hlinksldjump"/>
              </a:rPr>
              <a:t>Semantics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  <a:hlinkClick r:id="rId9" action="ppaction://hlinksldjump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9" action="ppaction://hlinksldjump"/>
              </a:rPr>
              <a:t>-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  <a:hlinkClick r:id="rId9" action="ppaction://hlinksldjump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  <a:hlinkClick r:id="rId9" action="ppaction://hlinksldjump"/>
              </a:rPr>
              <a:t>WordNet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608260" y="3339672"/>
            <a:ext cx="56388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8,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2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317424" y="3339672"/>
            <a:ext cx="236854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14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10" dirty="0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</a:rPr>
              <a:t>27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26" name="Slide Number Placeholder 25">
            <a:extLst>
              <a:ext uri="{FF2B5EF4-FFF2-40B4-BE49-F238E27FC236}">
                <a16:creationId xmlns:a16="http://schemas.microsoft.com/office/drawing/2014/main" id="{6A26EE0C-90CE-478D-9D8F-0393B32D1C9A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4292024" y="3339672"/>
            <a:ext cx="262254" cy="116204"/>
          </a:xfrm>
          <a:prstGeom prst="rect">
            <a:avLst/>
          </a:prstGeom>
        </p:spPr>
        <p:txBody>
          <a:bodyPr/>
          <a:lstStyle/>
          <a:p>
            <a:pPr marL="75565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lang="en-IN" smtClean="0"/>
              <a:t>59</a:t>
            </a:fld>
            <a:r>
              <a:rPr lang="en-IN" spc="-5"/>
              <a:t> </a:t>
            </a:r>
            <a:r>
              <a:rPr lang="en-IN" spc="-110"/>
              <a:t>/</a:t>
            </a:r>
            <a:r>
              <a:rPr lang="en-IN" spc="15"/>
              <a:t> </a:t>
            </a:r>
            <a:r>
              <a:rPr lang="en-IN" spc="-25"/>
              <a:t>18</a:t>
            </a:r>
            <a:endParaRPr lang="en-IN" spc="-25" dirty="0"/>
          </a:p>
        </p:txBody>
      </p:sp>
    </p:spTree>
  </p:cSld>
  <p:clrMapOvr>
    <a:masterClrMapping/>
  </p:clrMapOvr>
  <p:transition>
    <p:cut/>
  </p:transition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Concept</a:t>
            </a:r>
            <a:r>
              <a:rPr spc="45" dirty="0"/>
              <a:t> </a:t>
            </a:r>
            <a:r>
              <a:rPr spc="-10" dirty="0"/>
              <a:t>probability</a:t>
            </a:r>
            <a:r>
              <a:rPr spc="50" dirty="0"/>
              <a:t> </a:t>
            </a:r>
            <a:r>
              <a:rPr spc="-10" dirty="0"/>
              <a:t>models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7743" y="812444"/>
            <a:ext cx="4483735" cy="1060450"/>
            <a:chOff x="87743" y="812444"/>
            <a:chExt cx="4483735" cy="1060450"/>
          </a:xfrm>
        </p:grpSpPr>
        <p:sp>
          <p:nvSpPr>
            <p:cNvPr id="4" name="object 4"/>
            <p:cNvSpPr/>
            <p:nvPr/>
          </p:nvSpPr>
          <p:spPr>
            <a:xfrm>
              <a:off x="87743" y="812444"/>
              <a:ext cx="4432935" cy="186055"/>
            </a:xfrm>
            <a:custGeom>
              <a:avLst/>
              <a:gdLst/>
              <a:ahLst/>
              <a:cxnLst/>
              <a:rect l="l" t="t" r="r" b="b"/>
              <a:pathLst>
                <a:path w="4432935" h="186055">
                  <a:moveTo>
                    <a:pt x="4381754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5674"/>
                  </a:lnTo>
                  <a:lnTo>
                    <a:pt x="4432554" y="185674"/>
                  </a:lnTo>
                  <a:lnTo>
                    <a:pt x="4432554" y="50800"/>
                  </a:lnTo>
                  <a:lnTo>
                    <a:pt x="4428545" y="31075"/>
                  </a:lnTo>
                  <a:lnTo>
                    <a:pt x="4417631" y="14922"/>
                  </a:lnTo>
                  <a:lnTo>
                    <a:pt x="4401478" y="4008"/>
                  </a:lnTo>
                  <a:lnTo>
                    <a:pt x="4381754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744" y="985456"/>
              <a:ext cx="4432554" cy="5060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8544" y="1770964"/>
              <a:ext cx="101599" cy="1016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9344" y="1758264"/>
              <a:ext cx="4381754" cy="1143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20298" y="856678"/>
              <a:ext cx="50800" cy="914285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87743" y="1029792"/>
              <a:ext cx="4432935" cy="792480"/>
            </a:xfrm>
            <a:custGeom>
              <a:avLst/>
              <a:gdLst/>
              <a:ahLst/>
              <a:cxnLst/>
              <a:rect l="l" t="t" r="r" b="b"/>
              <a:pathLst>
                <a:path w="4432935" h="792480">
                  <a:moveTo>
                    <a:pt x="4432554" y="0"/>
                  </a:moveTo>
                  <a:lnTo>
                    <a:pt x="0" y="0"/>
                  </a:lnTo>
                  <a:lnTo>
                    <a:pt x="0" y="741172"/>
                  </a:lnTo>
                  <a:lnTo>
                    <a:pt x="4008" y="760896"/>
                  </a:lnTo>
                  <a:lnTo>
                    <a:pt x="14922" y="777049"/>
                  </a:lnTo>
                  <a:lnTo>
                    <a:pt x="31075" y="787963"/>
                  </a:lnTo>
                  <a:lnTo>
                    <a:pt x="50800" y="791972"/>
                  </a:lnTo>
                  <a:lnTo>
                    <a:pt x="4381754" y="791972"/>
                  </a:lnTo>
                  <a:lnTo>
                    <a:pt x="4401478" y="787963"/>
                  </a:lnTo>
                  <a:lnTo>
                    <a:pt x="4417631" y="777049"/>
                  </a:lnTo>
                  <a:lnTo>
                    <a:pt x="4428545" y="760896"/>
                  </a:lnTo>
                  <a:lnTo>
                    <a:pt x="4432554" y="741172"/>
                  </a:lnTo>
                  <a:lnTo>
                    <a:pt x="4432554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520310" y="894791"/>
              <a:ext cx="0" cy="895350"/>
            </a:xfrm>
            <a:custGeom>
              <a:avLst/>
              <a:gdLst/>
              <a:ahLst/>
              <a:cxnLst/>
              <a:rect l="l" t="t" r="r" b="b"/>
              <a:pathLst>
                <a:path h="895350">
                  <a:moveTo>
                    <a:pt x="0" y="895223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520310" y="882065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520310" y="869365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520310" y="856665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81597" y="1091666"/>
              <a:ext cx="64757" cy="64757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81597" y="1473771"/>
              <a:ext cx="64757" cy="64757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81597" y="1683804"/>
              <a:ext cx="64757" cy="64757"/>
            </a:xfrm>
            <a:prstGeom prst="rect">
              <a:avLst/>
            </a:prstGeom>
          </p:spPr>
        </p:pic>
      </p:grpSp>
      <p:grpSp>
        <p:nvGrpSpPr>
          <p:cNvPr id="17" name="object 17"/>
          <p:cNvGrpSpPr/>
          <p:nvPr/>
        </p:nvGrpSpPr>
        <p:grpSpPr>
          <a:xfrm>
            <a:off x="87743" y="1973694"/>
            <a:ext cx="4483735" cy="830580"/>
            <a:chOff x="87743" y="1973694"/>
            <a:chExt cx="4483735" cy="830580"/>
          </a:xfrm>
        </p:grpSpPr>
        <p:sp>
          <p:nvSpPr>
            <p:cNvPr id="18" name="object 18"/>
            <p:cNvSpPr/>
            <p:nvPr/>
          </p:nvSpPr>
          <p:spPr>
            <a:xfrm>
              <a:off x="87743" y="1973694"/>
              <a:ext cx="4432935" cy="186055"/>
            </a:xfrm>
            <a:custGeom>
              <a:avLst/>
              <a:gdLst/>
              <a:ahLst/>
              <a:cxnLst/>
              <a:rect l="l" t="t" r="r" b="b"/>
              <a:pathLst>
                <a:path w="4432935" h="186055">
                  <a:moveTo>
                    <a:pt x="4381754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799"/>
                  </a:lnTo>
                  <a:lnTo>
                    <a:pt x="0" y="185673"/>
                  </a:lnTo>
                  <a:lnTo>
                    <a:pt x="4432554" y="185673"/>
                  </a:lnTo>
                  <a:lnTo>
                    <a:pt x="4432554" y="50799"/>
                  </a:lnTo>
                  <a:lnTo>
                    <a:pt x="4428545" y="31075"/>
                  </a:lnTo>
                  <a:lnTo>
                    <a:pt x="4417631" y="14922"/>
                  </a:lnTo>
                  <a:lnTo>
                    <a:pt x="4401478" y="4008"/>
                  </a:lnTo>
                  <a:lnTo>
                    <a:pt x="4381754" y="0"/>
                  </a:lnTo>
                  <a:close/>
                </a:path>
              </a:pathLst>
            </a:custGeom>
            <a:solidFill>
              <a:srgbClr val="FF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7744" y="2146706"/>
              <a:ext cx="4432554" cy="50609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38544" y="2702191"/>
              <a:ext cx="101599" cy="101600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89344" y="2689491"/>
              <a:ext cx="4381754" cy="114300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520298" y="2017928"/>
              <a:ext cx="50800" cy="684263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87743" y="2191016"/>
              <a:ext cx="4432935" cy="561975"/>
            </a:xfrm>
            <a:custGeom>
              <a:avLst/>
              <a:gdLst/>
              <a:ahLst/>
              <a:cxnLst/>
              <a:rect l="l" t="t" r="r" b="b"/>
              <a:pathLst>
                <a:path w="4432935" h="561975">
                  <a:moveTo>
                    <a:pt x="4432554" y="0"/>
                  </a:moveTo>
                  <a:lnTo>
                    <a:pt x="0" y="0"/>
                  </a:lnTo>
                  <a:lnTo>
                    <a:pt x="0" y="511174"/>
                  </a:lnTo>
                  <a:lnTo>
                    <a:pt x="4008" y="530899"/>
                  </a:lnTo>
                  <a:lnTo>
                    <a:pt x="14922" y="547052"/>
                  </a:lnTo>
                  <a:lnTo>
                    <a:pt x="31075" y="557966"/>
                  </a:lnTo>
                  <a:lnTo>
                    <a:pt x="50800" y="561974"/>
                  </a:lnTo>
                  <a:lnTo>
                    <a:pt x="4381754" y="561974"/>
                  </a:lnTo>
                  <a:lnTo>
                    <a:pt x="4401478" y="557966"/>
                  </a:lnTo>
                  <a:lnTo>
                    <a:pt x="4417631" y="547052"/>
                  </a:lnTo>
                  <a:lnTo>
                    <a:pt x="4428545" y="530899"/>
                  </a:lnTo>
                  <a:lnTo>
                    <a:pt x="4432554" y="511174"/>
                  </a:lnTo>
                  <a:lnTo>
                    <a:pt x="4432554" y="0"/>
                  </a:lnTo>
                  <a:close/>
                </a:path>
              </a:pathLst>
            </a:custGeom>
            <a:solidFill>
              <a:srgbClr val="FFE5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520309" y="2056015"/>
              <a:ext cx="0" cy="665480"/>
            </a:xfrm>
            <a:custGeom>
              <a:avLst/>
              <a:gdLst/>
              <a:ahLst/>
              <a:cxnLst/>
              <a:rect l="l" t="t" r="r" b="b"/>
              <a:pathLst>
                <a:path h="665480">
                  <a:moveTo>
                    <a:pt x="0" y="665226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4520309" y="2043317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4520309" y="2030617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4520309" y="2017917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" name="object 28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281597" y="2240724"/>
              <a:ext cx="64757" cy="64757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281597" y="2450757"/>
              <a:ext cx="64757" cy="64757"/>
            </a:xfrm>
            <a:prstGeom prst="rect">
              <a:avLst/>
            </a:prstGeom>
          </p:spPr>
        </p:pic>
      </p:grpSp>
      <p:sp>
        <p:nvSpPr>
          <p:cNvPr id="30" name="object 30"/>
          <p:cNvSpPr txBox="1"/>
          <p:nvPr/>
        </p:nvSpPr>
        <p:spPr>
          <a:xfrm>
            <a:off x="125729" y="745005"/>
            <a:ext cx="4203065" cy="1983105"/>
          </a:xfrm>
          <a:prstGeom prst="rect">
            <a:avLst/>
          </a:prstGeom>
        </p:spPr>
        <p:txBody>
          <a:bodyPr vert="horz" wrap="square" lIns="0" tIns="596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70"/>
              </a:spcBef>
            </a:pPr>
            <a:r>
              <a:rPr sz="1100" i="1" dirty="0">
                <a:solidFill>
                  <a:srgbClr val="3232B2"/>
                </a:solidFill>
                <a:latin typeface="Cambria"/>
                <a:cs typeface="Cambria"/>
              </a:rPr>
              <a:t>Cencept</a:t>
            </a:r>
            <a:r>
              <a:rPr sz="1100" i="1" spc="-10" dirty="0">
                <a:solidFill>
                  <a:srgbClr val="3232B2"/>
                </a:solidFill>
                <a:latin typeface="Cambria"/>
                <a:cs typeface="Cambria"/>
              </a:rPr>
              <a:t> probabilities</a:t>
            </a:r>
            <a:endParaRPr sz="1100">
              <a:latin typeface="Cambria"/>
              <a:cs typeface="Cambria"/>
            </a:endParaRPr>
          </a:p>
          <a:p>
            <a:pPr marL="289560" marR="5080">
              <a:lnSpc>
                <a:spcPct val="102600"/>
              </a:lnSpc>
              <a:spcBef>
                <a:spcPts val="335"/>
              </a:spcBef>
            </a:pPr>
            <a:r>
              <a:rPr sz="950" dirty="0">
                <a:latin typeface="Trebuchet MS"/>
                <a:cs typeface="Trebuchet MS"/>
              </a:rPr>
              <a:t>For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each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concept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(synset)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1100" i="1" spc="-20" dirty="0">
                <a:latin typeface="Cambria"/>
                <a:cs typeface="Cambria"/>
              </a:rPr>
              <a:t>c</a:t>
            </a:r>
            <a:r>
              <a:rPr sz="950" spc="-20" dirty="0">
                <a:latin typeface="Trebuchet MS"/>
                <a:cs typeface="Trebuchet MS"/>
              </a:rPr>
              <a:t>,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spc="-40" dirty="0">
                <a:latin typeface="Trebuchet MS"/>
                <a:cs typeface="Trebuchet MS"/>
              </a:rPr>
              <a:t>let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1100" i="1" dirty="0">
                <a:latin typeface="Cambria"/>
                <a:cs typeface="Cambria"/>
              </a:rPr>
              <a:t>P</a:t>
            </a:r>
            <a:r>
              <a:rPr sz="1100" dirty="0">
                <a:latin typeface="Arial MT"/>
                <a:cs typeface="Arial MT"/>
              </a:rPr>
              <a:t>(</a:t>
            </a:r>
            <a:r>
              <a:rPr sz="1100" i="1" dirty="0">
                <a:latin typeface="Cambria"/>
                <a:cs typeface="Cambria"/>
              </a:rPr>
              <a:t>c</a:t>
            </a:r>
            <a:r>
              <a:rPr sz="1100" dirty="0">
                <a:latin typeface="Arial MT"/>
                <a:cs typeface="Arial MT"/>
              </a:rPr>
              <a:t>)</a:t>
            </a:r>
            <a:r>
              <a:rPr sz="1100" spc="5" dirty="0">
                <a:latin typeface="Arial MT"/>
                <a:cs typeface="Arial MT"/>
              </a:rPr>
              <a:t> </a:t>
            </a:r>
            <a:r>
              <a:rPr sz="950" dirty="0">
                <a:latin typeface="Trebuchet MS"/>
                <a:cs typeface="Trebuchet MS"/>
              </a:rPr>
              <a:t>be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probability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spc="-30" dirty="0">
                <a:latin typeface="Trebuchet MS"/>
                <a:cs typeface="Trebuchet MS"/>
              </a:rPr>
              <a:t>that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randomly </a:t>
            </a:r>
            <a:r>
              <a:rPr sz="950" dirty="0">
                <a:latin typeface="Trebuchet MS"/>
                <a:cs typeface="Trebuchet MS"/>
              </a:rPr>
              <a:t>selected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word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in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corpus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is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an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instance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(hyponym)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of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1100" i="1" spc="-50" dirty="0">
                <a:latin typeface="Cambria"/>
                <a:cs typeface="Cambria"/>
              </a:rPr>
              <a:t>c</a:t>
            </a:r>
            <a:endParaRPr sz="1100">
              <a:latin typeface="Cambria"/>
              <a:cs typeface="Cambria"/>
            </a:endParaRPr>
          </a:p>
          <a:p>
            <a:pPr marL="289560">
              <a:lnSpc>
                <a:spcPct val="100000"/>
              </a:lnSpc>
              <a:spcBef>
                <a:spcPts val="330"/>
              </a:spcBef>
            </a:pPr>
            <a:r>
              <a:rPr sz="1100" i="1" spc="45" dirty="0">
                <a:latin typeface="Cambria"/>
                <a:cs typeface="Cambria"/>
              </a:rPr>
              <a:t>P</a:t>
            </a:r>
            <a:r>
              <a:rPr sz="1100" spc="45" dirty="0">
                <a:latin typeface="Arial MT"/>
                <a:cs typeface="Arial MT"/>
              </a:rPr>
              <a:t>(</a:t>
            </a:r>
            <a:r>
              <a:rPr sz="1100" i="1" spc="45" dirty="0">
                <a:latin typeface="Cambria"/>
                <a:cs typeface="Cambria"/>
              </a:rPr>
              <a:t>ROOT</a:t>
            </a:r>
            <a:r>
              <a:rPr sz="1100" spc="45" dirty="0">
                <a:latin typeface="Arial MT"/>
                <a:cs typeface="Arial MT"/>
              </a:rPr>
              <a:t>)</a:t>
            </a:r>
            <a:r>
              <a:rPr sz="1100" spc="-50" dirty="0">
                <a:latin typeface="Arial MT"/>
                <a:cs typeface="Arial MT"/>
              </a:rPr>
              <a:t> </a:t>
            </a:r>
            <a:r>
              <a:rPr sz="1100" spc="200" dirty="0">
                <a:latin typeface="Arial MT"/>
                <a:cs typeface="Arial MT"/>
              </a:rPr>
              <a:t>=</a:t>
            </a:r>
            <a:r>
              <a:rPr sz="1100" spc="-50" dirty="0">
                <a:latin typeface="Arial MT"/>
                <a:cs typeface="Arial MT"/>
              </a:rPr>
              <a:t> </a:t>
            </a:r>
            <a:r>
              <a:rPr sz="1100" spc="-50" dirty="0">
                <a:latin typeface="Cambria"/>
                <a:cs typeface="Cambria"/>
              </a:rPr>
              <a:t>1</a:t>
            </a:r>
            <a:endParaRPr sz="1100">
              <a:latin typeface="Cambria"/>
              <a:cs typeface="Cambria"/>
            </a:endParaRPr>
          </a:p>
          <a:p>
            <a:pPr marL="289560">
              <a:lnSpc>
                <a:spcPct val="100000"/>
              </a:lnSpc>
              <a:spcBef>
                <a:spcPts val="484"/>
              </a:spcBef>
            </a:pP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-1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lower</a:t>
            </a:r>
            <a:r>
              <a:rPr sz="950" spc="-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</a:t>
            </a:r>
            <a:r>
              <a:rPr sz="950" spc="-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node</a:t>
            </a:r>
            <a:r>
              <a:rPr sz="950" spc="-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in</a:t>
            </a:r>
            <a:r>
              <a:rPr sz="950" spc="-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-15" dirty="0">
                <a:latin typeface="Trebuchet MS"/>
                <a:cs typeface="Trebuchet MS"/>
              </a:rPr>
              <a:t> </a:t>
            </a:r>
            <a:r>
              <a:rPr sz="950" spc="-25" dirty="0">
                <a:latin typeface="Trebuchet MS"/>
                <a:cs typeface="Trebuchet MS"/>
              </a:rPr>
              <a:t>hierarchy,</a:t>
            </a:r>
            <a:r>
              <a:rPr sz="950" spc="-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-1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lower</a:t>
            </a:r>
            <a:r>
              <a:rPr sz="950" spc="-1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its</a:t>
            </a:r>
            <a:r>
              <a:rPr sz="950" spc="-1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probability</a:t>
            </a:r>
            <a:endParaRPr sz="9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sz="9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100" i="1" spc="-30" dirty="0">
                <a:solidFill>
                  <a:srgbClr val="FF0000"/>
                </a:solidFill>
                <a:latin typeface="Cambria"/>
                <a:cs typeface="Cambria"/>
              </a:rPr>
              <a:t>Estimating</a:t>
            </a:r>
            <a:r>
              <a:rPr sz="1100" i="1" spc="1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100" i="1" spc="-20" dirty="0">
                <a:solidFill>
                  <a:srgbClr val="FF0000"/>
                </a:solidFill>
                <a:latin typeface="Cambria"/>
                <a:cs typeface="Cambria"/>
              </a:rPr>
              <a:t>concept</a:t>
            </a:r>
            <a:r>
              <a:rPr sz="1100" i="1" spc="1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100" i="1" spc="-10" dirty="0">
                <a:solidFill>
                  <a:srgbClr val="FF0000"/>
                </a:solidFill>
                <a:latin typeface="Cambria"/>
                <a:cs typeface="Cambria"/>
              </a:rPr>
              <a:t>probabilities</a:t>
            </a:r>
            <a:endParaRPr sz="1100">
              <a:latin typeface="Cambria"/>
              <a:cs typeface="Cambria"/>
            </a:endParaRPr>
          </a:p>
          <a:p>
            <a:pPr marL="289560">
              <a:lnSpc>
                <a:spcPct val="100000"/>
              </a:lnSpc>
              <a:spcBef>
                <a:spcPts val="425"/>
              </a:spcBef>
            </a:pPr>
            <a:r>
              <a:rPr sz="950" spc="-20" dirty="0">
                <a:latin typeface="Trebuchet MS"/>
                <a:cs typeface="Trebuchet MS"/>
              </a:rPr>
              <a:t>Train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by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counting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“concept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950" spc="-25" dirty="0">
                <a:latin typeface="Trebuchet MS"/>
                <a:cs typeface="Trebuchet MS"/>
              </a:rPr>
              <a:t>activations”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in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</a:t>
            </a:r>
            <a:r>
              <a:rPr sz="950" spc="-10" dirty="0">
                <a:latin typeface="Trebuchet MS"/>
                <a:cs typeface="Trebuchet MS"/>
              </a:rPr>
              <a:t> corpus</a:t>
            </a:r>
            <a:endParaRPr sz="950">
              <a:latin typeface="Trebuchet MS"/>
              <a:cs typeface="Trebuchet MS"/>
            </a:endParaRPr>
          </a:p>
          <a:p>
            <a:pPr marL="289560" marR="207010">
              <a:lnSpc>
                <a:spcPct val="118900"/>
              </a:lnSpc>
              <a:spcBef>
                <a:spcPts val="295"/>
              </a:spcBef>
            </a:pPr>
            <a:r>
              <a:rPr sz="950" spc="55" dirty="0">
                <a:latin typeface="Trebuchet MS"/>
                <a:cs typeface="Trebuchet MS"/>
              </a:rPr>
              <a:t>Each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occurrence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of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i="1" dirty="0">
                <a:latin typeface="Trebuchet MS"/>
                <a:cs typeface="Trebuchet MS"/>
              </a:rPr>
              <a:t>dime</a:t>
            </a:r>
            <a:r>
              <a:rPr sz="950" i="1" spc="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also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increments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counts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spc="-40" dirty="0">
                <a:latin typeface="Trebuchet MS"/>
                <a:cs typeface="Trebuchet MS"/>
              </a:rPr>
              <a:t>for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i="1" dirty="0">
                <a:latin typeface="Trebuchet MS"/>
                <a:cs typeface="Trebuchet MS"/>
              </a:rPr>
              <a:t>coin,</a:t>
            </a:r>
            <a:r>
              <a:rPr sz="950" i="1" spc="10" dirty="0">
                <a:latin typeface="Trebuchet MS"/>
                <a:cs typeface="Trebuchet MS"/>
              </a:rPr>
              <a:t> </a:t>
            </a:r>
            <a:r>
              <a:rPr sz="950" i="1" spc="-10" dirty="0">
                <a:latin typeface="Trebuchet MS"/>
                <a:cs typeface="Trebuchet MS"/>
              </a:rPr>
              <a:t>currency, </a:t>
            </a:r>
            <a:r>
              <a:rPr sz="950" i="1" dirty="0">
                <a:latin typeface="Trebuchet MS"/>
                <a:cs typeface="Trebuchet MS"/>
              </a:rPr>
              <a:t>standard</a:t>
            </a:r>
            <a:r>
              <a:rPr sz="950" dirty="0">
                <a:latin typeface="Trebuchet MS"/>
                <a:cs typeface="Trebuchet MS"/>
              </a:rPr>
              <a:t>,</a:t>
            </a:r>
            <a:r>
              <a:rPr sz="950" spc="-65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etc.</a:t>
            </a:r>
            <a:endParaRPr sz="950">
              <a:latin typeface="Trebuchet MS"/>
              <a:cs typeface="Trebuchet MS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1853082" y="3339672"/>
            <a:ext cx="90233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15" action="ppaction://hlinksldjump"/>
              </a:rPr>
              <a:t>Lexical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  <a:hlinkClick r:id="rId15" action="ppaction://hlinksldjump"/>
              </a:rPr>
              <a:t>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  <a:hlinkClick r:id="rId15" action="ppaction://hlinksldjump"/>
              </a:rPr>
              <a:t>Semantics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  <a:hlinkClick r:id="rId15" action="ppaction://hlinksldjump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15" action="ppaction://hlinksldjump"/>
              </a:rPr>
              <a:t>-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  <a:hlinkClick r:id="rId15" action="ppaction://hlinksldjump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  <a:hlinkClick r:id="rId15" action="ppaction://hlinksldjump"/>
              </a:rPr>
              <a:t>WordNet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3608260" y="3339672"/>
            <a:ext cx="56388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8,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2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4317424" y="3339672"/>
            <a:ext cx="236854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14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10" dirty="0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</a:rPr>
              <a:t>27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39" name="Slide Number Placeholder 38">
            <a:extLst>
              <a:ext uri="{FF2B5EF4-FFF2-40B4-BE49-F238E27FC236}">
                <a16:creationId xmlns:a16="http://schemas.microsoft.com/office/drawing/2014/main" id="{C1C3C5D3-E8FC-4B66-B9A4-4C95271F689D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4292024" y="3339672"/>
            <a:ext cx="262254" cy="116204"/>
          </a:xfrm>
          <a:prstGeom prst="rect">
            <a:avLst/>
          </a:prstGeom>
        </p:spPr>
        <p:txBody>
          <a:bodyPr/>
          <a:lstStyle/>
          <a:p>
            <a:pPr marL="75565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lang="en-IN" smtClean="0"/>
              <a:t>60</a:t>
            </a:fld>
            <a:r>
              <a:rPr lang="en-IN" spc="-5"/>
              <a:t> </a:t>
            </a:r>
            <a:r>
              <a:rPr lang="en-IN" spc="-110"/>
              <a:t>/</a:t>
            </a:r>
            <a:r>
              <a:rPr lang="en-IN" spc="15"/>
              <a:t> </a:t>
            </a:r>
            <a:r>
              <a:rPr lang="en-IN" spc="-25"/>
              <a:t>18</a:t>
            </a:r>
            <a:endParaRPr lang="en-IN" spc="-25" dirty="0"/>
          </a:p>
        </p:txBody>
      </p:sp>
    </p:spTree>
  </p:cSld>
  <p:clrMapOvr>
    <a:masterClrMapping/>
  </p:clrMapOvr>
  <p:transition>
    <p:cut/>
  </p:transition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38"/>
            <a:ext cx="4608195" cy="351790"/>
          </a:xfrm>
          <a:custGeom>
            <a:avLst/>
            <a:gdLst/>
            <a:ahLst/>
            <a:cxnLst/>
            <a:rect l="l" t="t" r="r" b="b"/>
            <a:pathLst>
              <a:path w="4608195" h="351790">
                <a:moveTo>
                  <a:pt x="4607941" y="0"/>
                </a:moveTo>
                <a:lnTo>
                  <a:pt x="0" y="0"/>
                </a:lnTo>
                <a:lnTo>
                  <a:pt x="0" y="351409"/>
                </a:lnTo>
                <a:lnTo>
                  <a:pt x="4607941" y="351409"/>
                </a:lnTo>
                <a:lnTo>
                  <a:pt x="4607941" y="0"/>
                </a:lnTo>
                <a:close/>
              </a:path>
            </a:pathLst>
          </a:custGeom>
          <a:solidFill>
            <a:srgbClr val="3232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5250" y="60502"/>
            <a:ext cx="184277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i="1" dirty="0">
                <a:solidFill>
                  <a:srgbClr val="FFFFFF"/>
                </a:solidFill>
                <a:latin typeface="Cambria"/>
                <a:cs typeface="Cambria"/>
              </a:rPr>
              <a:t>Example</a:t>
            </a:r>
            <a:r>
              <a:rPr sz="1400" i="1" spc="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spc="110" dirty="0">
                <a:solidFill>
                  <a:srgbClr val="FFFFFF"/>
                </a:solidFill>
                <a:latin typeface="Cambria"/>
                <a:cs typeface="Cambria"/>
              </a:rPr>
              <a:t>:</a:t>
            </a:r>
            <a:r>
              <a:rPr sz="1400" i="1" spc="8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dirty="0">
                <a:solidFill>
                  <a:srgbClr val="FFFFFF"/>
                </a:solidFill>
                <a:latin typeface="Cambria"/>
                <a:cs typeface="Cambria"/>
              </a:rPr>
              <a:t>concept</a:t>
            </a:r>
            <a:r>
              <a:rPr sz="1400" i="1" spc="1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spc="-10" dirty="0">
                <a:solidFill>
                  <a:srgbClr val="FFFFFF"/>
                </a:solidFill>
                <a:latin typeface="Cambria"/>
                <a:cs typeface="Cambria"/>
              </a:rPr>
              <a:t>count</a:t>
            </a:r>
            <a:endParaRPr sz="1400">
              <a:latin typeface="Cambria"/>
              <a:cs typeface="Cambri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3758" y="933094"/>
            <a:ext cx="3348990" cy="2004059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1853082" y="3339672"/>
            <a:ext cx="90233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Lexical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Semantics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-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WordNet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608260" y="3339672"/>
            <a:ext cx="56388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8,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2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4294967295"/>
          </p:nvPr>
        </p:nvSpPr>
        <p:spPr>
          <a:xfrm>
            <a:off x="4292024" y="3339672"/>
            <a:ext cx="262254" cy="116204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0"/>
              </a:spcBef>
            </a:pPr>
            <a:r>
              <a:rPr dirty="0"/>
              <a:t>15</a:t>
            </a:r>
            <a:r>
              <a:rPr spc="-20" dirty="0"/>
              <a:t> </a:t>
            </a:r>
            <a:r>
              <a:rPr spc="-110" dirty="0"/>
              <a:t>/</a:t>
            </a:r>
            <a:r>
              <a:rPr spc="15" dirty="0"/>
              <a:t> </a:t>
            </a:r>
            <a:r>
              <a:rPr spc="-25" dirty="0"/>
              <a:t>27</a:t>
            </a:r>
          </a:p>
        </p:txBody>
      </p:sp>
    </p:spTree>
  </p:cSld>
  <p:clrMapOvr>
    <a:masterClrMapping/>
  </p:clrMapOvr>
  <p:transition>
    <p:cut/>
  </p:transition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38"/>
            <a:ext cx="4608195" cy="351790"/>
          </a:xfrm>
          <a:custGeom>
            <a:avLst/>
            <a:gdLst/>
            <a:ahLst/>
            <a:cxnLst/>
            <a:rect l="l" t="t" r="r" b="b"/>
            <a:pathLst>
              <a:path w="4608195" h="351790">
                <a:moveTo>
                  <a:pt x="4607941" y="0"/>
                </a:moveTo>
                <a:lnTo>
                  <a:pt x="0" y="0"/>
                </a:lnTo>
                <a:lnTo>
                  <a:pt x="0" y="351409"/>
                </a:lnTo>
                <a:lnTo>
                  <a:pt x="4607941" y="351409"/>
                </a:lnTo>
                <a:lnTo>
                  <a:pt x="4607941" y="0"/>
                </a:lnTo>
                <a:close/>
              </a:path>
            </a:pathLst>
          </a:custGeom>
          <a:solidFill>
            <a:srgbClr val="3232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5250" y="60502"/>
            <a:ext cx="236156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i="1" dirty="0">
                <a:solidFill>
                  <a:srgbClr val="FFFFFF"/>
                </a:solidFill>
                <a:latin typeface="Cambria"/>
                <a:cs typeface="Cambria"/>
              </a:rPr>
              <a:t>Example</a:t>
            </a:r>
            <a:r>
              <a:rPr sz="1400" i="1" spc="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spc="110" dirty="0">
                <a:solidFill>
                  <a:srgbClr val="FFFFFF"/>
                </a:solidFill>
                <a:latin typeface="Cambria"/>
                <a:cs typeface="Cambria"/>
              </a:rPr>
              <a:t>:</a:t>
            </a:r>
            <a:r>
              <a:rPr sz="1400" i="1" spc="8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dirty="0">
                <a:solidFill>
                  <a:srgbClr val="FFFFFF"/>
                </a:solidFill>
                <a:latin typeface="Cambria"/>
                <a:cs typeface="Cambria"/>
              </a:rPr>
              <a:t>concept</a:t>
            </a:r>
            <a:r>
              <a:rPr sz="1400" i="1" spc="1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spc="-10" dirty="0">
                <a:solidFill>
                  <a:srgbClr val="FFFFFF"/>
                </a:solidFill>
                <a:latin typeface="Cambria"/>
                <a:cs typeface="Cambria"/>
              </a:rPr>
              <a:t>probabilities</a:t>
            </a:r>
            <a:endParaRPr sz="1400">
              <a:latin typeface="Cambria"/>
              <a:cs typeface="Cambri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0423" y="889660"/>
            <a:ext cx="3505200" cy="2004059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1853082" y="3339672"/>
            <a:ext cx="90233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Lexical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Semantics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-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WordNet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608260" y="3339672"/>
            <a:ext cx="56388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8,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2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4294967295"/>
          </p:nvPr>
        </p:nvSpPr>
        <p:spPr>
          <a:xfrm>
            <a:off x="4292024" y="3339672"/>
            <a:ext cx="262254" cy="116204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0"/>
              </a:spcBef>
            </a:pPr>
            <a:r>
              <a:rPr dirty="0"/>
              <a:t>16</a:t>
            </a:r>
            <a:r>
              <a:rPr spc="-20" dirty="0"/>
              <a:t> </a:t>
            </a:r>
            <a:r>
              <a:rPr spc="-110" dirty="0"/>
              <a:t>/</a:t>
            </a:r>
            <a:r>
              <a:rPr spc="15" dirty="0"/>
              <a:t> </a:t>
            </a:r>
            <a:r>
              <a:rPr spc="-25" dirty="0"/>
              <a:t>27</a:t>
            </a:r>
          </a:p>
        </p:txBody>
      </p:sp>
    </p:spTree>
  </p:cSld>
  <p:clrMapOvr>
    <a:masterClrMapping/>
  </p:clrMapOvr>
  <p:transition>
    <p:cut/>
  </p:transition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250" y="60502"/>
            <a:ext cx="147828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20" dirty="0"/>
              <a:t>Information</a:t>
            </a:r>
            <a:r>
              <a:rPr spc="-15" dirty="0"/>
              <a:t> </a:t>
            </a:r>
            <a:r>
              <a:rPr spc="-20" dirty="0"/>
              <a:t>content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7743" y="1116101"/>
            <a:ext cx="4483735" cy="1232535"/>
            <a:chOff x="87743" y="1116101"/>
            <a:chExt cx="4483735" cy="1232535"/>
          </a:xfrm>
        </p:grpSpPr>
        <p:sp>
          <p:nvSpPr>
            <p:cNvPr id="4" name="object 4"/>
            <p:cNvSpPr/>
            <p:nvPr/>
          </p:nvSpPr>
          <p:spPr>
            <a:xfrm>
              <a:off x="87743" y="1116101"/>
              <a:ext cx="4432935" cy="186055"/>
            </a:xfrm>
            <a:custGeom>
              <a:avLst/>
              <a:gdLst/>
              <a:ahLst/>
              <a:cxnLst/>
              <a:rect l="l" t="t" r="r" b="b"/>
              <a:pathLst>
                <a:path w="4432935" h="186055">
                  <a:moveTo>
                    <a:pt x="4381754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5674"/>
                  </a:lnTo>
                  <a:lnTo>
                    <a:pt x="4432554" y="185674"/>
                  </a:lnTo>
                  <a:lnTo>
                    <a:pt x="4432554" y="50800"/>
                  </a:lnTo>
                  <a:lnTo>
                    <a:pt x="4428545" y="31075"/>
                  </a:lnTo>
                  <a:lnTo>
                    <a:pt x="4417631" y="14922"/>
                  </a:lnTo>
                  <a:lnTo>
                    <a:pt x="4401478" y="4008"/>
                  </a:lnTo>
                  <a:lnTo>
                    <a:pt x="4381754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744" y="1289113"/>
              <a:ext cx="4432554" cy="5060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8544" y="2246706"/>
              <a:ext cx="101599" cy="1016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9344" y="2234006"/>
              <a:ext cx="4381754" cy="1143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20298" y="1160335"/>
              <a:ext cx="50800" cy="1086370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87743" y="1333449"/>
              <a:ext cx="4432935" cy="964565"/>
            </a:xfrm>
            <a:custGeom>
              <a:avLst/>
              <a:gdLst/>
              <a:ahLst/>
              <a:cxnLst/>
              <a:rect l="l" t="t" r="r" b="b"/>
              <a:pathLst>
                <a:path w="4432935" h="964564">
                  <a:moveTo>
                    <a:pt x="4432554" y="0"/>
                  </a:moveTo>
                  <a:lnTo>
                    <a:pt x="0" y="0"/>
                  </a:lnTo>
                  <a:lnTo>
                    <a:pt x="0" y="913257"/>
                  </a:lnTo>
                  <a:lnTo>
                    <a:pt x="4008" y="932981"/>
                  </a:lnTo>
                  <a:lnTo>
                    <a:pt x="14922" y="949134"/>
                  </a:lnTo>
                  <a:lnTo>
                    <a:pt x="31075" y="960048"/>
                  </a:lnTo>
                  <a:lnTo>
                    <a:pt x="50800" y="964057"/>
                  </a:lnTo>
                  <a:lnTo>
                    <a:pt x="4381754" y="964057"/>
                  </a:lnTo>
                  <a:lnTo>
                    <a:pt x="4401478" y="960048"/>
                  </a:lnTo>
                  <a:lnTo>
                    <a:pt x="4417631" y="949134"/>
                  </a:lnTo>
                  <a:lnTo>
                    <a:pt x="4428545" y="932981"/>
                  </a:lnTo>
                  <a:lnTo>
                    <a:pt x="4432554" y="913257"/>
                  </a:lnTo>
                  <a:lnTo>
                    <a:pt x="4432554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520309" y="1198448"/>
              <a:ext cx="0" cy="1067435"/>
            </a:xfrm>
            <a:custGeom>
              <a:avLst/>
              <a:gdLst/>
              <a:ahLst/>
              <a:cxnLst/>
              <a:rect l="l" t="t" r="r" b="b"/>
              <a:pathLst>
                <a:path h="1067435">
                  <a:moveTo>
                    <a:pt x="0" y="1067308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520309" y="1185726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520309" y="1173026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520309" y="1160326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81597" y="1395323"/>
              <a:ext cx="64757" cy="64757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81597" y="1605356"/>
              <a:ext cx="64757" cy="64757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81597" y="1987473"/>
              <a:ext cx="64757" cy="64757"/>
            </a:xfrm>
            <a:prstGeom prst="rect">
              <a:avLst/>
            </a:prstGeom>
          </p:spPr>
        </p:pic>
      </p:grpSp>
      <p:sp>
        <p:nvSpPr>
          <p:cNvPr id="17" name="object 17"/>
          <p:cNvSpPr txBox="1"/>
          <p:nvPr/>
        </p:nvSpPr>
        <p:spPr>
          <a:xfrm>
            <a:off x="113029" y="1048649"/>
            <a:ext cx="4407535" cy="1216025"/>
          </a:xfrm>
          <a:prstGeom prst="rect">
            <a:avLst/>
          </a:prstGeom>
        </p:spPr>
        <p:txBody>
          <a:bodyPr vert="horz" wrap="square" lIns="0" tIns="5969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470"/>
              </a:spcBef>
            </a:pPr>
            <a:r>
              <a:rPr sz="1100" i="1" spc="-35" dirty="0">
                <a:solidFill>
                  <a:srgbClr val="3232B2"/>
                </a:solidFill>
                <a:latin typeface="Cambria"/>
                <a:cs typeface="Cambria"/>
              </a:rPr>
              <a:t>Information</a:t>
            </a:r>
            <a:r>
              <a:rPr sz="1100" i="1" spc="25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100" i="1" spc="-10" dirty="0">
                <a:solidFill>
                  <a:srgbClr val="3232B2"/>
                </a:solidFill>
                <a:latin typeface="Cambria"/>
                <a:cs typeface="Cambria"/>
              </a:rPr>
              <a:t>content</a:t>
            </a:r>
            <a:endParaRPr sz="1100">
              <a:latin typeface="Cambria"/>
              <a:cs typeface="Cambria"/>
            </a:endParaRPr>
          </a:p>
          <a:p>
            <a:pPr marL="302260">
              <a:lnSpc>
                <a:spcPct val="100000"/>
              </a:lnSpc>
              <a:spcBef>
                <a:spcPts val="370"/>
              </a:spcBef>
            </a:pPr>
            <a:r>
              <a:rPr sz="950" spc="-10" dirty="0">
                <a:latin typeface="Trebuchet MS"/>
                <a:cs typeface="Trebuchet MS"/>
              </a:rPr>
              <a:t>Information</a:t>
            </a:r>
            <a:r>
              <a:rPr sz="950" spc="-6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content:</a:t>
            </a:r>
            <a:r>
              <a:rPr sz="950" spc="20" dirty="0">
                <a:latin typeface="Trebuchet MS"/>
                <a:cs typeface="Trebuchet MS"/>
              </a:rPr>
              <a:t> </a:t>
            </a:r>
            <a:r>
              <a:rPr sz="1100" i="1" spc="55" dirty="0">
                <a:latin typeface="Cambria"/>
                <a:cs typeface="Cambria"/>
              </a:rPr>
              <a:t>IC</a:t>
            </a:r>
            <a:r>
              <a:rPr sz="1100" spc="55" dirty="0">
                <a:latin typeface="Arial MT"/>
                <a:cs typeface="Arial MT"/>
              </a:rPr>
              <a:t>(</a:t>
            </a:r>
            <a:r>
              <a:rPr sz="1100" i="1" spc="55" dirty="0">
                <a:latin typeface="Cambria"/>
                <a:cs typeface="Cambria"/>
              </a:rPr>
              <a:t>c</a:t>
            </a:r>
            <a:r>
              <a:rPr sz="1100" spc="55" dirty="0">
                <a:latin typeface="Arial MT"/>
                <a:cs typeface="Arial MT"/>
              </a:rPr>
              <a:t>)</a:t>
            </a:r>
            <a:r>
              <a:rPr sz="1100" spc="-75" dirty="0">
                <a:latin typeface="Arial MT"/>
                <a:cs typeface="Arial MT"/>
              </a:rPr>
              <a:t> </a:t>
            </a:r>
            <a:r>
              <a:rPr sz="1100" spc="200" dirty="0">
                <a:latin typeface="Arial MT"/>
                <a:cs typeface="Arial MT"/>
              </a:rPr>
              <a:t>=</a:t>
            </a:r>
            <a:r>
              <a:rPr sz="1100" spc="-75" dirty="0">
                <a:latin typeface="Arial MT"/>
                <a:cs typeface="Arial MT"/>
              </a:rPr>
              <a:t> </a:t>
            </a:r>
            <a:r>
              <a:rPr sz="1100" spc="-10" dirty="0">
                <a:latin typeface="Lucida Sans Unicode"/>
                <a:cs typeface="Lucida Sans Unicode"/>
              </a:rPr>
              <a:t>−</a:t>
            </a:r>
            <a:r>
              <a:rPr sz="1100" i="1" spc="-10" dirty="0">
                <a:latin typeface="Cambria"/>
                <a:cs typeface="Cambria"/>
              </a:rPr>
              <a:t>logP</a:t>
            </a:r>
            <a:r>
              <a:rPr sz="1100" spc="-10" dirty="0">
                <a:latin typeface="Arial MT"/>
                <a:cs typeface="Arial MT"/>
              </a:rPr>
              <a:t>(</a:t>
            </a:r>
            <a:r>
              <a:rPr sz="1100" i="1" spc="-10" dirty="0">
                <a:latin typeface="Cambria"/>
                <a:cs typeface="Cambria"/>
              </a:rPr>
              <a:t>c</a:t>
            </a:r>
            <a:r>
              <a:rPr sz="1100" spc="-10" dirty="0">
                <a:latin typeface="Arial MT"/>
                <a:cs typeface="Arial MT"/>
              </a:rPr>
              <a:t>)</a:t>
            </a:r>
            <a:endParaRPr sz="1100">
              <a:latin typeface="Arial MT"/>
              <a:cs typeface="Arial MT"/>
            </a:endParaRPr>
          </a:p>
          <a:p>
            <a:pPr marL="302260" marR="43180">
              <a:lnSpc>
                <a:spcPct val="102600"/>
              </a:lnSpc>
              <a:spcBef>
                <a:spcPts val="300"/>
              </a:spcBef>
            </a:pPr>
            <a:r>
              <a:rPr sz="950" dirty="0">
                <a:latin typeface="Trebuchet MS"/>
                <a:cs typeface="Trebuchet MS"/>
              </a:rPr>
              <a:t>Lowest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common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subsumer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:</a:t>
            </a:r>
            <a:r>
              <a:rPr sz="950" spc="114" dirty="0">
                <a:latin typeface="Trebuchet MS"/>
                <a:cs typeface="Trebuchet MS"/>
              </a:rPr>
              <a:t> </a:t>
            </a:r>
            <a:r>
              <a:rPr sz="1100" i="1" dirty="0">
                <a:latin typeface="Cambria"/>
                <a:cs typeface="Cambria"/>
              </a:rPr>
              <a:t>LCS</a:t>
            </a:r>
            <a:r>
              <a:rPr sz="1100" dirty="0">
                <a:latin typeface="Arial MT"/>
                <a:cs typeface="Arial MT"/>
              </a:rPr>
              <a:t>(</a:t>
            </a:r>
            <a:r>
              <a:rPr sz="1100" i="1" dirty="0">
                <a:latin typeface="Cambria"/>
                <a:cs typeface="Cambria"/>
              </a:rPr>
              <a:t>c</a:t>
            </a:r>
            <a:r>
              <a:rPr sz="1200" baseline="-10416" dirty="0">
                <a:latin typeface="Cambria"/>
                <a:cs typeface="Cambria"/>
              </a:rPr>
              <a:t>1</a:t>
            </a:r>
            <a:r>
              <a:rPr sz="1100" i="1" dirty="0">
                <a:latin typeface="Arial"/>
                <a:cs typeface="Arial"/>
              </a:rPr>
              <a:t>,</a:t>
            </a:r>
            <a:r>
              <a:rPr sz="1100" i="1" spc="-160" dirty="0">
                <a:latin typeface="Arial"/>
                <a:cs typeface="Arial"/>
              </a:rPr>
              <a:t> </a:t>
            </a:r>
            <a:r>
              <a:rPr sz="1100" i="1" dirty="0">
                <a:latin typeface="Cambria"/>
                <a:cs typeface="Cambria"/>
              </a:rPr>
              <a:t>c</a:t>
            </a:r>
            <a:r>
              <a:rPr sz="1200" baseline="-10416" dirty="0">
                <a:latin typeface="Cambria"/>
                <a:cs typeface="Cambria"/>
              </a:rPr>
              <a:t>2</a:t>
            </a:r>
            <a:r>
              <a:rPr sz="1100" dirty="0">
                <a:latin typeface="Arial MT"/>
                <a:cs typeface="Arial MT"/>
              </a:rPr>
              <a:t>)</a:t>
            </a:r>
            <a:r>
              <a:rPr sz="950" dirty="0">
                <a:latin typeface="Trebuchet MS"/>
                <a:cs typeface="Trebuchet MS"/>
              </a:rPr>
              <a:t>:</a:t>
            </a:r>
            <a:r>
              <a:rPr sz="950" spc="114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the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lowest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node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in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the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hierarchy </a:t>
            </a:r>
            <a:r>
              <a:rPr sz="950" spc="-30" dirty="0">
                <a:latin typeface="Trebuchet MS"/>
                <a:cs typeface="Trebuchet MS"/>
              </a:rPr>
              <a:t>that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950" spc="50" dirty="0">
                <a:latin typeface="Trebuchet MS"/>
                <a:cs typeface="Trebuchet MS"/>
              </a:rPr>
              <a:t>subsumes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(is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hypernym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of)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both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1100" i="1" dirty="0">
                <a:latin typeface="Cambria"/>
                <a:cs typeface="Cambria"/>
              </a:rPr>
              <a:t>c</a:t>
            </a:r>
            <a:r>
              <a:rPr sz="1200" baseline="-10416" dirty="0">
                <a:latin typeface="Cambria"/>
                <a:cs typeface="Cambria"/>
              </a:rPr>
              <a:t>1</a:t>
            </a:r>
            <a:r>
              <a:rPr sz="1200" spc="232" baseline="-10416" dirty="0">
                <a:latin typeface="Cambria"/>
                <a:cs typeface="Cambria"/>
              </a:rPr>
              <a:t> </a:t>
            </a:r>
            <a:r>
              <a:rPr sz="950" dirty="0">
                <a:latin typeface="Trebuchet MS"/>
                <a:cs typeface="Trebuchet MS"/>
              </a:rPr>
              <a:t>and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1100" i="1" spc="-25" dirty="0">
                <a:latin typeface="Cambria"/>
                <a:cs typeface="Cambria"/>
              </a:rPr>
              <a:t>c</a:t>
            </a:r>
            <a:r>
              <a:rPr sz="1200" spc="-37" baseline="-10416" dirty="0">
                <a:latin typeface="Cambria"/>
                <a:cs typeface="Cambria"/>
              </a:rPr>
              <a:t>2</a:t>
            </a:r>
            <a:endParaRPr sz="1200" baseline="-10416">
              <a:latin typeface="Cambria"/>
              <a:cs typeface="Cambria"/>
            </a:endParaRPr>
          </a:p>
          <a:p>
            <a:pPr marL="302260" marR="456565">
              <a:lnSpc>
                <a:spcPct val="113999"/>
              </a:lnSpc>
              <a:spcBef>
                <a:spcPts val="145"/>
              </a:spcBef>
            </a:pPr>
            <a:r>
              <a:rPr sz="950" spc="55" dirty="0">
                <a:latin typeface="Trebuchet MS"/>
                <a:cs typeface="Trebuchet MS"/>
              </a:rPr>
              <a:t>We</a:t>
            </a:r>
            <a:r>
              <a:rPr sz="950" dirty="0">
                <a:latin typeface="Trebuchet MS"/>
                <a:cs typeface="Trebuchet MS"/>
              </a:rPr>
              <a:t> are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now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ready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to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spc="55" dirty="0">
                <a:latin typeface="Trebuchet MS"/>
                <a:cs typeface="Trebuchet MS"/>
              </a:rPr>
              <a:t>see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how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to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spc="50" dirty="0">
                <a:latin typeface="Trebuchet MS"/>
                <a:cs typeface="Trebuchet MS"/>
              </a:rPr>
              <a:t>use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information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content</a:t>
            </a:r>
            <a:r>
              <a:rPr sz="950" dirty="0">
                <a:latin typeface="Trebuchet MS"/>
                <a:cs typeface="Trebuchet MS"/>
              </a:rPr>
              <a:t> (</a:t>
            </a:r>
            <a:r>
              <a:rPr sz="1100" i="1" dirty="0">
                <a:latin typeface="Cambria"/>
                <a:cs typeface="Cambria"/>
              </a:rPr>
              <a:t>IC</a:t>
            </a:r>
            <a:r>
              <a:rPr sz="950" dirty="0">
                <a:latin typeface="Trebuchet MS"/>
                <a:cs typeface="Trebuchet MS"/>
              </a:rPr>
              <a:t>)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spc="70" dirty="0">
                <a:latin typeface="Trebuchet MS"/>
                <a:cs typeface="Trebuchet MS"/>
              </a:rPr>
              <a:t>as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spc="-50" dirty="0">
                <a:latin typeface="Trebuchet MS"/>
                <a:cs typeface="Trebuchet MS"/>
              </a:rPr>
              <a:t>a </a:t>
            </a:r>
            <a:r>
              <a:rPr sz="950" spc="-20" dirty="0">
                <a:latin typeface="Trebuchet MS"/>
                <a:cs typeface="Trebuchet MS"/>
              </a:rPr>
              <a:t>similarity</a:t>
            </a:r>
            <a:r>
              <a:rPr sz="95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metric.</a:t>
            </a:r>
            <a:endParaRPr sz="950">
              <a:latin typeface="Trebuchet MS"/>
              <a:cs typeface="Trebuchet MS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853082" y="3339672"/>
            <a:ext cx="90233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9" action="ppaction://hlinksldjump"/>
              </a:rPr>
              <a:t>Lexical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  <a:hlinkClick r:id="rId9" action="ppaction://hlinksldjump"/>
              </a:rPr>
              <a:t>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  <a:hlinkClick r:id="rId9" action="ppaction://hlinksldjump"/>
              </a:rPr>
              <a:t>Semantics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  <a:hlinkClick r:id="rId9" action="ppaction://hlinksldjump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9" action="ppaction://hlinksldjump"/>
              </a:rPr>
              <a:t>-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  <a:hlinkClick r:id="rId9" action="ppaction://hlinksldjump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  <a:hlinkClick r:id="rId9" action="ppaction://hlinksldjump"/>
              </a:rPr>
              <a:t>WordNet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608260" y="3339672"/>
            <a:ext cx="56388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8,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2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25" name="object 25"/>
          <p:cNvSpPr txBox="1">
            <a:spLocks noGrp="1"/>
          </p:cNvSpPr>
          <p:nvPr>
            <p:ph type="sldNum" sz="quarter" idx="4294967295"/>
          </p:nvPr>
        </p:nvSpPr>
        <p:spPr>
          <a:xfrm>
            <a:off x="4292024" y="3339672"/>
            <a:ext cx="262254" cy="116204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0"/>
              </a:spcBef>
            </a:pPr>
            <a:r>
              <a:rPr dirty="0"/>
              <a:t>17</a:t>
            </a:r>
            <a:r>
              <a:rPr spc="-20" dirty="0"/>
              <a:t> </a:t>
            </a:r>
            <a:r>
              <a:rPr spc="-110" dirty="0"/>
              <a:t>/</a:t>
            </a:r>
            <a:r>
              <a:rPr spc="15" dirty="0"/>
              <a:t> </a:t>
            </a:r>
            <a:r>
              <a:rPr spc="-25" dirty="0"/>
              <a:t>27</a:t>
            </a:r>
          </a:p>
        </p:txBody>
      </p:sp>
    </p:spTree>
  </p:cSld>
  <p:clrMapOvr>
    <a:masterClrMapping/>
  </p:clrMapOvr>
  <p:transition>
    <p:cut/>
  </p:transition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38"/>
            <a:ext cx="4608195" cy="351790"/>
          </a:xfrm>
          <a:custGeom>
            <a:avLst/>
            <a:gdLst/>
            <a:ahLst/>
            <a:cxnLst/>
            <a:rect l="l" t="t" r="r" b="b"/>
            <a:pathLst>
              <a:path w="4608195" h="351790">
                <a:moveTo>
                  <a:pt x="4607941" y="0"/>
                </a:moveTo>
                <a:lnTo>
                  <a:pt x="0" y="0"/>
                </a:lnTo>
                <a:lnTo>
                  <a:pt x="0" y="351409"/>
                </a:lnTo>
                <a:lnTo>
                  <a:pt x="4607941" y="351409"/>
                </a:lnTo>
                <a:lnTo>
                  <a:pt x="4607941" y="0"/>
                </a:lnTo>
                <a:close/>
              </a:path>
            </a:pathLst>
          </a:custGeom>
          <a:solidFill>
            <a:srgbClr val="3232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5250" y="60502"/>
            <a:ext cx="227838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i="1" dirty="0">
                <a:solidFill>
                  <a:srgbClr val="FFFFFF"/>
                </a:solidFill>
                <a:latin typeface="Cambria"/>
                <a:cs typeface="Cambria"/>
              </a:rPr>
              <a:t>Example</a:t>
            </a:r>
            <a:r>
              <a:rPr sz="14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spc="110" dirty="0">
                <a:solidFill>
                  <a:srgbClr val="FFFFFF"/>
                </a:solidFill>
                <a:latin typeface="Cambria"/>
                <a:cs typeface="Cambria"/>
              </a:rPr>
              <a:t>:</a:t>
            </a:r>
            <a:r>
              <a:rPr sz="1400" i="1" spc="9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spc="-20" dirty="0">
                <a:solidFill>
                  <a:srgbClr val="FFFFFF"/>
                </a:solidFill>
                <a:latin typeface="Cambria"/>
                <a:cs typeface="Cambria"/>
              </a:rPr>
              <a:t>Information</a:t>
            </a:r>
            <a:r>
              <a:rPr sz="14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spc="-10" dirty="0">
                <a:solidFill>
                  <a:srgbClr val="FFFFFF"/>
                </a:solidFill>
                <a:latin typeface="Cambria"/>
                <a:cs typeface="Cambria"/>
              </a:rPr>
              <a:t>content</a:t>
            </a:r>
            <a:endParaRPr sz="1400">
              <a:latin typeface="Cambria"/>
              <a:cs typeface="Cambri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8048" y="928522"/>
            <a:ext cx="3406140" cy="2004059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1853082" y="3339672"/>
            <a:ext cx="90233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Lexical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Semantics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-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WordNet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608260" y="3339672"/>
            <a:ext cx="56388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8,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2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4294967295"/>
          </p:nvPr>
        </p:nvSpPr>
        <p:spPr>
          <a:xfrm>
            <a:off x="4292024" y="3339672"/>
            <a:ext cx="262254" cy="116204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0"/>
              </a:spcBef>
            </a:pPr>
            <a:r>
              <a:rPr dirty="0"/>
              <a:t>18</a:t>
            </a:r>
            <a:r>
              <a:rPr spc="-20" dirty="0"/>
              <a:t> </a:t>
            </a:r>
            <a:r>
              <a:rPr spc="-110" dirty="0"/>
              <a:t>/</a:t>
            </a:r>
            <a:r>
              <a:rPr spc="15" dirty="0"/>
              <a:t> </a:t>
            </a:r>
            <a:r>
              <a:rPr spc="-25" dirty="0"/>
              <a:t>27</a:t>
            </a:r>
          </a:p>
        </p:txBody>
      </p:sp>
    </p:spTree>
  </p:cSld>
  <p:clrMapOvr>
    <a:masterClrMapping/>
  </p:clrMapOvr>
  <p:transition>
    <p:cut/>
  </p:transition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Resnik</a:t>
            </a:r>
            <a:r>
              <a:rPr spc="5" dirty="0"/>
              <a:t> </a:t>
            </a:r>
            <a:r>
              <a:rPr spc="-10" dirty="0"/>
              <a:t>Similarity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7743" y="1118768"/>
            <a:ext cx="4483735" cy="1225550"/>
            <a:chOff x="87743" y="1118768"/>
            <a:chExt cx="4483735" cy="1225550"/>
          </a:xfrm>
        </p:grpSpPr>
        <p:sp>
          <p:nvSpPr>
            <p:cNvPr id="4" name="object 4"/>
            <p:cNvSpPr/>
            <p:nvPr/>
          </p:nvSpPr>
          <p:spPr>
            <a:xfrm>
              <a:off x="87743" y="1118768"/>
              <a:ext cx="4432935" cy="186055"/>
            </a:xfrm>
            <a:custGeom>
              <a:avLst/>
              <a:gdLst/>
              <a:ahLst/>
              <a:cxnLst/>
              <a:rect l="l" t="t" r="r" b="b"/>
              <a:pathLst>
                <a:path w="4432935" h="186055">
                  <a:moveTo>
                    <a:pt x="4381754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5674"/>
                  </a:lnTo>
                  <a:lnTo>
                    <a:pt x="4432554" y="185674"/>
                  </a:lnTo>
                  <a:lnTo>
                    <a:pt x="4432554" y="50800"/>
                  </a:lnTo>
                  <a:lnTo>
                    <a:pt x="4428545" y="31075"/>
                  </a:lnTo>
                  <a:lnTo>
                    <a:pt x="4417631" y="14922"/>
                  </a:lnTo>
                  <a:lnTo>
                    <a:pt x="4401478" y="4008"/>
                  </a:lnTo>
                  <a:lnTo>
                    <a:pt x="4381754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744" y="1291793"/>
              <a:ext cx="4432554" cy="5060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8544" y="2242693"/>
              <a:ext cx="101599" cy="1016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9344" y="2229993"/>
              <a:ext cx="4381754" cy="1143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20298" y="1163002"/>
              <a:ext cx="50800" cy="1079690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87743" y="1336040"/>
              <a:ext cx="4432935" cy="957580"/>
            </a:xfrm>
            <a:custGeom>
              <a:avLst/>
              <a:gdLst/>
              <a:ahLst/>
              <a:cxnLst/>
              <a:rect l="l" t="t" r="r" b="b"/>
              <a:pathLst>
                <a:path w="4432935" h="957580">
                  <a:moveTo>
                    <a:pt x="4432554" y="0"/>
                  </a:moveTo>
                  <a:lnTo>
                    <a:pt x="0" y="0"/>
                  </a:lnTo>
                  <a:lnTo>
                    <a:pt x="0" y="906652"/>
                  </a:lnTo>
                  <a:lnTo>
                    <a:pt x="4008" y="926377"/>
                  </a:lnTo>
                  <a:lnTo>
                    <a:pt x="14922" y="942530"/>
                  </a:lnTo>
                  <a:lnTo>
                    <a:pt x="31075" y="953444"/>
                  </a:lnTo>
                  <a:lnTo>
                    <a:pt x="50800" y="957452"/>
                  </a:lnTo>
                  <a:lnTo>
                    <a:pt x="4381754" y="957452"/>
                  </a:lnTo>
                  <a:lnTo>
                    <a:pt x="4401478" y="953444"/>
                  </a:lnTo>
                  <a:lnTo>
                    <a:pt x="4417631" y="942530"/>
                  </a:lnTo>
                  <a:lnTo>
                    <a:pt x="4428545" y="926377"/>
                  </a:lnTo>
                  <a:lnTo>
                    <a:pt x="4432554" y="906652"/>
                  </a:lnTo>
                  <a:lnTo>
                    <a:pt x="4432554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520309" y="1201039"/>
              <a:ext cx="0" cy="1061085"/>
            </a:xfrm>
            <a:custGeom>
              <a:avLst/>
              <a:gdLst/>
              <a:ahLst/>
              <a:cxnLst/>
              <a:rect l="l" t="t" r="r" b="b"/>
              <a:pathLst>
                <a:path h="1061085">
                  <a:moveTo>
                    <a:pt x="0" y="1060703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520309" y="1188392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520309" y="1175692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520309" y="1162992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81597" y="1382928"/>
              <a:ext cx="64757" cy="64757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81597" y="1765033"/>
              <a:ext cx="64757" cy="64757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81597" y="2147151"/>
              <a:ext cx="64757" cy="64757"/>
            </a:xfrm>
            <a:prstGeom prst="rect">
              <a:avLst/>
            </a:prstGeom>
          </p:spPr>
        </p:pic>
      </p:grpSp>
      <p:sp>
        <p:nvSpPr>
          <p:cNvPr id="17" name="object 17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542734" rIns="0" bIns="0" rtlCol="0">
            <a:spAutoFit/>
          </a:bodyPr>
          <a:lstStyle/>
          <a:p>
            <a:pPr marL="50165">
              <a:lnSpc>
                <a:spcPct val="100000"/>
              </a:lnSpc>
              <a:spcBef>
                <a:spcPts val="500"/>
              </a:spcBef>
            </a:pPr>
            <a:r>
              <a:rPr spc="-10" dirty="0"/>
              <a:t>Resnik</a:t>
            </a:r>
            <a:r>
              <a:rPr spc="-35" dirty="0"/>
              <a:t> </a:t>
            </a:r>
            <a:r>
              <a:rPr spc="-10" dirty="0"/>
              <a:t>Similarity</a:t>
            </a:r>
          </a:p>
          <a:p>
            <a:pPr marL="327025" marR="43180">
              <a:lnSpc>
                <a:spcPct val="118900"/>
              </a:lnSpc>
              <a:spcBef>
                <a:spcPts val="185"/>
              </a:spcBef>
            </a:pPr>
            <a:r>
              <a:rPr sz="950" i="0" spc="-30" dirty="0">
                <a:solidFill>
                  <a:srgbClr val="000000"/>
                </a:solidFill>
                <a:latin typeface="Trebuchet MS"/>
                <a:cs typeface="Trebuchet MS"/>
              </a:rPr>
              <a:t>Intuition:</a:t>
            </a:r>
            <a:r>
              <a:rPr sz="950" i="0" spc="10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how</a:t>
            </a:r>
            <a:r>
              <a:rPr sz="950" i="0" spc="3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spc="-10" dirty="0">
                <a:solidFill>
                  <a:srgbClr val="000000"/>
                </a:solidFill>
                <a:latin typeface="Trebuchet MS"/>
                <a:cs typeface="Trebuchet MS"/>
              </a:rPr>
              <a:t>similar</a:t>
            </a:r>
            <a:r>
              <a:rPr sz="950" i="0" spc="2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spc="-20" dirty="0">
                <a:solidFill>
                  <a:srgbClr val="000000"/>
                </a:solidFill>
                <a:latin typeface="Trebuchet MS"/>
                <a:cs typeface="Trebuchet MS"/>
              </a:rPr>
              <a:t>two</a:t>
            </a:r>
            <a:r>
              <a:rPr sz="950" i="0" spc="3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words</a:t>
            </a:r>
            <a:r>
              <a:rPr sz="950" i="0" spc="3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are</a:t>
            </a:r>
            <a:r>
              <a:rPr sz="950" i="0" spc="2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depends</a:t>
            </a:r>
            <a:r>
              <a:rPr sz="950" i="0" spc="3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on</a:t>
            </a:r>
            <a:r>
              <a:rPr sz="950" i="0" spc="2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how</a:t>
            </a:r>
            <a:r>
              <a:rPr sz="950" i="0" spc="3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much</a:t>
            </a:r>
            <a:r>
              <a:rPr sz="950" i="0" spc="3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they</a:t>
            </a:r>
            <a:r>
              <a:rPr sz="950" i="0" spc="2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have</a:t>
            </a:r>
            <a:r>
              <a:rPr sz="950" i="0" spc="3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spc="-25" dirty="0">
                <a:solidFill>
                  <a:srgbClr val="000000"/>
                </a:solidFill>
                <a:latin typeface="Trebuchet MS"/>
                <a:cs typeface="Trebuchet MS"/>
              </a:rPr>
              <a:t>in </a:t>
            </a:r>
            <a:r>
              <a:rPr sz="950" i="0" spc="-10" dirty="0">
                <a:solidFill>
                  <a:srgbClr val="000000"/>
                </a:solidFill>
                <a:latin typeface="Trebuchet MS"/>
                <a:cs typeface="Trebuchet MS"/>
              </a:rPr>
              <a:t>common</a:t>
            </a:r>
            <a:endParaRPr sz="950">
              <a:latin typeface="Trebuchet MS"/>
              <a:cs typeface="Trebuchet MS"/>
            </a:endParaRPr>
          </a:p>
          <a:p>
            <a:pPr marL="327025" marR="180340">
              <a:lnSpc>
                <a:spcPct val="118900"/>
              </a:lnSpc>
              <a:spcBef>
                <a:spcPts val="300"/>
              </a:spcBef>
            </a:pPr>
            <a:r>
              <a:rPr sz="950" i="0" spc="-45" dirty="0">
                <a:solidFill>
                  <a:srgbClr val="000000"/>
                </a:solidFill>
                <a:latin typeface="Trebuchet MS"/>
                <a:cs typeface="Trebuchet MS"/>
              </a:rPr>
              <a:t>It</a:t>
            </a:r>
            <a:r>
              <a:rPr sz="950" i="0" spc="-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measures the commonality</a:t>
            </a:r>
            <a:r>
              <a:rPr sz="950" i="0" spc="-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by the </a:t>
            </a:r>
            <a:r>
              <a:rPr sz="950" i="0" spc="-20" dirty="0">
                <a:solidFill>
                  <a:srgbClr val="000000"/>
                </a:solidFill>
                <a:latin typeface="Trebuchet MS"/>
                <a:cs typeface="Trebuchet MS"/>
              </a:rPr>
              <a:t>information</a:t>
            </a:r>
            <a:r>
              <a:rPr sz="950" i="0" spc="-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spc="-10" dirty="0">
                <a:solidFill>
                  <a:srgbClr val="000000"/>
                </a:solidFill>
                <a:latin typeface="Trebuchet MS"/>
                <a:cs typeface="Trebuchet MS"/>
              </a:rPr>
              <a:t>content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 of the</a:t>
            </a:r>
            <a:r>
              <a:rPr sz="950" i="0" spc="-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spc="-10" dirty="0">
                <a:solidFill>
                  <a:srgbClr val="000000"/>
                </a:solidFill>
                <a:latin typeface="Trebuchet MS"/>
                <a:cs typeface="Trebuchet MS"/>
              </a:rPr>
              <a:t>lowest 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common</a:t>
            </a:r>
            <a:r>
              <a:rPr sz="950" i="0" spc="12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spc="-10" dirty="0">
                <a:solidFill>
                  <a:srgbClr val="000000"/>
                </a:solidFill>
                <a:latin typeface="Trebuchet MS"/>
                <a:cs typeface="Trebuchet MS"/>
              </a:rPr>
              <a:t>subsumer</a:t>
            </a:r>
            <a:endParaRPr sz="950">
              <a:latin typeface="Trebuchet MS"/>
              <a:cs typeface="Trebuchet MS"/>
            </a:endParaRPr>
          </a:p>
          <a:p>
            <a:pPr marL="327025">
              <a:lnSpc>
                <a:spcPct val="100000"/>
              </a:lnSpc>
              <a:spcBef>
                <a:spcPts val="360"/>
              </a:spcBef>
            </a:pPr>
            <a:r>
              <a:rPr spc="-10" dirty="0">
                <a:solidFill>
                  <a:srgbClr val="000000"/>
                </a:solidFill>
              </a:rPr>
              <a:t>sim</a:t>
            </a:r>
            <a:r>
              <a:rPr sz="1200" spc="-15" baseline="-10416" dirty="0">
                <a:solidFill>
                  <a:srgbClr val="000000"/>
                </a:solidFill>
              </a:rPr>
              <a:t>resnik</a:t>
            </a:r>
            <a:r>
              <a:rPr sz="1100" i="0" spc="-10" dirty="0">
                <a:solidFill>
                  <a:srgbClr val="000000"/>
                </a:solidFill>
                <a:latin typeface="Arial MT"/>
                <a:cs typeface="Arial MT"/>
              </a:rPr>
              <a:t>(</a:t>
            </a:r>
            <a:r>
              <a:rPr sz="1100" spc="-10" dirty="0">
                <a:solidFill>
                  <a:srgbClr val="000000"/>
                </a:solidFill>
              </a:rPr>
              <a:t>c</a:t>
            </a:r>
            <a:r>
              <a:rPr sz="1200" i="0" spc="-15" baseline="-10416" dirty="0">
                <a:solidFill>
                  <a:srgbClr val="000000"/>
                </a:solidFill>
                <a:latin typeface="Cambria"/>
                <a:cs typeface="Cambria"/>
              </a:rPr>
              <a:t>1</a:t>
            </a:r>
            <a:r>
              <a:rPr sz="1100" spc="-10" dirty="0">
                <a:solidFill>
                  <a:srgbClr val="000000"/>
                </a:solidFill>
                <a:latin typeface="Arial"/>
                <a:cs typeface="Arial"/>
              </a:rPr>
              <a:t>,</a:t>
            </a:r>
            <a:r>
              <a:rPr sz="1100" spc="-16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000000"/>
                </a:solidFill>
              </a:rPr>
              <a:t>c</a:t>
            </a:r>
            <a:r>
              <a:rPr sz="1200" i="0" baseline="-10416" dirty="0">
                <a:solidFill>
                  <a:srgbClr val="000000"/>
                </a:solidFill>
                <a:latin typeface="Cambria"/>
                <a:cs typeface="Cambria"/>
              </a:rPr>
              <a:t>2</a:t>
            </a:r>
            <a:r>
              <a:rPr sz="1100" i="0" dirty="0">
                <a:solidFill>
                  <a:srgbClr val="000000"/>
                </a:solidFill>
                <a:latin typeface="Arial MT"/>
                <a:cs typeface="Arial MT"/>
              </a:rPr>
              <a:t>)</a:t>
            </a:r>
            <a:r>
              <a:rPr sz="1100" i="0" spc="-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100" i="0" spc="200" dirty="0">
                <a:solidFill>
                  <a:srgbClr val="000000"/>
                </a:solidFill>
                <a:latin typeface="Arial MT"/>
                <a:cs typeface="Arial MT"/>
              </a:rPr>
              <a:t>=</a:t>
            </a:r>
            <a:r>
              <a:rPr sz="1100" i="0" spc="-1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100" spc="45" dirty="0">
                <a:solidFill>
                  <a:srgbClr val="000000"/>
                </a:solidFill>
              </a:rPr>
              <a:t>IC</a:t>
            </a:r>
            <a:r>
              <a:rPr sz="1100" i="0" spc="45" dirty="0">
                <a:solidFill>
                  <a:srgbClr val="000000"/>
                </a:solidFill>
                <a:latin typeface="Arial MT"/>
                <a:cs typeface="Arial MT"/>
              </a:rPr>
              <a:t>(</a:t>
            </a:r>
            <a:r>
              <a:rPr sz="1100" spc="45" dirty="0">
                <a:solidFill>
                  <a:srgbClr val="000000"/>
                </a:solidFill>
              </a:rPr>
              <a:t>LCS</a:t>
            </a:r>
            <a:r>
              <a:rPr sz="1100" i="0" spc="45" dirty="0">
                <a:solidFill>
                  <a:srgbClr val="000000"/>
                </a:solidFill>
                <a:latin typeface="Arial MT"/>
                <a:cs typeface="Arial MT"/>
              </a:rPr>
              <a:t>(</a:t>
            </a:r>
            <a:r>
              <a:rPr sz="1100" spc="45" dirty="0">
                <a:solidFill>
                  <a:srgbClr val="000000"/>
                </a:solidFill>
              </a:rPr>
              <a:t>c</a:t>
            </a:r>
            <a:r>
              <a:rPr sz="1200" i="0" spc="67" baseline="-10416" dirty="0">
                <a:solidFill>
                  <a:srgbClr val="000000"/>
                </a:solidFill>
                <a:latin typeface="Cambria"/>
                <a:cs typeface="Cambria"/>
              </a:rPr>
              <a:t>1</a:t>
            </a:r>
            <a:r>
              <a:rPr sz="1100" spc="45" dirty="0">
                <a:solidFill>
                  <a:srgbClr val="000000"/>
                </a:solidFill>
                <a:latin typeface="Arial"/>
                <a:cs typeface="Arial"/>
              </a:rPr>
              <a:t>,</a:t>
            </a:r>
            <a:r>
              <a:rPr sz="1100" spc="-15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000000"/>
                </a:solidFill>
              </a:rPr>
              <a:t>c</a:t>
            </a:r>
            <a:r>
              <a:rPr sz="1200" i="0" baseline="-10416" dirty="0">
                <a:solidFill>
                  <a:srgbClr val="000000"/>
                </a:solidFill>
                <a:latin typeface="Cambria"/>
                <a:cs typeface="Cambria"/>
              </a:rPr>
              <a:t>2</a:t>
            </a:r>
            <a:r>
              <a:rPr sz="1100" i="0" dirty="0">
                <a:solidFill>
                  <a:srgbClr val="000000"/>
                </a:solidFill>
                <a:latin typeface="Arial MT"/>
                <a:cs typeface="Arial MT"/>
              </a:rPr>
              <a:t>))</a:t>
            </a:r>
            <a:r>
              <a:rPr sz="1100" i="0" spc="-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100" i="0" spc="200" dirty="0">
                <a:solidFill>
                  <a:srgbClr val="000000"/>
                </a:solidFill>
                <a:latin typeface="Arial MT"/>
                <a:cs typeface="Arial MT"/>
              </a:rPr>
              <a:t>=</a:t>
            </a:r>
            <a:r>
              <a:rPr sz="1100" i="0" spc="-1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100" i="0" dirty="0">
                <a:solidFill>
                  <a:srgbClr val="000000"/>
                </a:solidFill>
                <a:latin typeface="Lucida Sans Unicode"/>
                <a:cs typeface="Lucida Sans Unicode"/>
              </a:rPr>
              <a:t>−</a:t>
            </a:r>
            <a:r>
              <a:rPr sz="1100" dirty="0">
                <a:solidFill>
                  <a:srgbClr val="000000"/>
                </a:solidFill>
              </a:rPr>
              <a:t>logP</a:t>
            </a:r>
            <a:r>
              <a:rPr sz="1100" i="0" dirty="0">
                <a:solidFill>
                  <a:srgbClr val="000000"/>
                </a:solidFill>
                <a:latin typeface="Arial MT"/>
                <a:cs typeface="Arial MT"/>
              </a:rPr>
              <a:t>(</a:t>
            </a:r>
            <a:r>
              <a:rPr sz="1100" dirty="0">
                <a:solidFill>
                  <a:srgbClr val="000000"/>
                </a:solidFill>
              </a:rPr>
              <a:t>LCS</a:t>
            </a:r>
            <a:r>
              <a:rPr sz="1100" i="0" dirty="0">
                <a:solidFill>
                  <a:srgbClr val="000000"/>
                </a:solidFill>
                <a:latin typeface="Arial MT"/>
                <a:cs typeface="Arial MT"/>
              </a:rPr>
              <a:t>(</a:t>
            </a:r>
            <a:r>
              <a:rPr sz="1100" dirty="0">
                <a:solidFill>
                  <a:srgbClr val="000000"/>
                </a:solidFill>
              </a:rPr>
              <a:t>c</a:t>
            </a:r>
            <a:r>
              <a:rPr sz="1200" i="0" baseline="-10416" dirty="0">
                <a:solidFill>
                  <a:srgbClr val="000000"/>
                </a:solidFill>
                <a:latin typeface="Cambria"/>
                <a:cs typeface="Cambria"/>
              </a:rPr>
              <a:t>1</a:t>
            </a:r>
            <a:r>
              <a:rPr sz="1100" dirty="0">
                <a:solidFill>
                  <a:srgbClr val="000000"/>
                </a:solidFill>
                <a:latin typeface="Arial"/>
                <a:cs typeface="Arial"/>
              </a:rPr>
              <a:t>,</a:t>
            </a:r>
            <a:r>
              <a:rPr sz="1100" spc="-15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1100" spc="-20" dirty="0">
                <a:solidFill>
                  <a:srgbClr val="000000"/>
                </a:solidFill>
              </a:rPr>
              <a:t>c</a:t>
            </a:r>
            <a:r>
              <a:rPr sz="1200" i="0" spc="-30" baseline="-10416" dirty="0">
                <a:solidFill>
                  <a:srgbClr val="000000"/>
                </a:solidFill>
                <a:latin typeface="Cambria"/>
                <a:cs typeface="Cambria"/>
              </a:rPr>
              <a:t>2</a:t>
            </a:r>
            <a:r>
              <a:rPr sz="1100" i="0" spc="-20" dirty="0">
                <a:solidFill>
                  <a:srgbClr val="000000"/>
                </a:solidFill>
                <a:latin typeface="Arial MT"/>
                <a:cs typeface="Arial MT"/>
              </a:rPr>
              <a:t>))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853082" y="3339672"/>
            <a:ext cx="90233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9" action="ppaction://hlinksldjump"/>
              </a:rPr>
              <a:t>Lexical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  <a:hlinkClick r:id="rId9" action="ppaction://hlinksldjump"/>
              </a:rPr>
              <a:t>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  <a:hlinkClick r:id="rId9" action="ppaction://hlinksldjump"/>
              </a:rPr>
              <a:t>Semantics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  <a:hlinkClick r:id="rId9" action="ppaction://hlinksldjump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9" action="ppaction://hlinksldjump"/>
              </a:rPr>
              <a:t>-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  <a:hlinkClick r:id="rId9" action="ppaction://hlinksldjump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  <a:hlinkClick r:id="rId9" action="ppaction://hlinksldjump"/>
              </a:rPr>
              <a:t>WordNet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608260" y="3339672"/>
            <a:ext cx="56388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8,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2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25" name="object 25"/>
          <p:cNvSpPr txBox="1">
            <a:spLocks noGrp="1"/>
          </p:cNvSpPr>
          <p:nvPr>
            <p:ph type="sldNum" sz="quarter" idx="4294967295"/>
          </p:nvPr>
        </p:nvSpPr>
        <p:spPr>
          <a:xfrm>
            <a:off x="4292024" y="3339672"/>
            <a:ext cx="262254" cy="116204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0"/>
              </a:spcBef>
            </a:pPr>
            <a:r>
              <a:rPr dirty="0"/>
              <a:t>19</a:t>
            </a:r>
            <a:r>
              <a:rPr spc="-20" dirty="0"/>
              <a:t> </a:t>
            </a:r>
            <a:r>
              <a:rPr spc="-110" dirty="0"/>
              <a:t>/</a:t>
            </a:r>
            <a:r>
              <a:rPr spc="15" dirty="0"/>
              <a:t> </a:t>
            </a:r>
            <a:r>
              <a:rPr spc="-25" dirty="0"/>
              <a:t>27</a:t>
            </a:r>
          </a:p>
        </p:txBody>
      </p:sp>
    </p:spTree>
  </p:cSld>
  <p:clrMapOvr>
    <a:masterClrMapping/>
  </p:clrMapOvr>
  <p:transition>
    <p:cut/>
  </p:transition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38"/>
            <a:ext cx="4608195" cy="351790"/>
          </a:xfrm>
          <a:custGeom>
            <a:avLst/>
            <a:gdLst/>
            <a:ahLst/>
            <a:cxnLst/>
            <a:rect l="l" t="t" r="r" b="b"/>
            <a:pathLst>
              <a:path w="4608195" h="351790">
                <a:moveTo>
                  <a:pt x="4607941" y="0"/>
                </a:moveTo>
                <a:lnTo>
                  <a:pt x="0" y="0"/>
                </a:lnTo>
                <a:lnTo>
                  <a:pt x="0" y="351409"/>
                </a:lnTo>
                <a:lnTo>
                  <a:pt x="4607941" y="351409"/>
                </a:lnTo>
                <a:lnTo>
                  <a:pt x="4607941" y="0"/>
                </a:lnTo>
                <a:close/>
              </a:path>
            </a:pathLst>
          </a:custGeom>
          <a:solidFill>
            <a:srgbClr val="3232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5250" y="60502"/>
            <a:ext cx="201041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i="1" dirty="0">
                <a:solidFill>
                  <a:srgbClr val="FFFFFF"/>
                </a:solidFill>
                <a:latin typeface="Cambria"/>
                <a:cs typeface="Cambria"/>
              </a:rPr>
              <a:t>Example:</a:t>
            </a:r>
            <a:r>
              <a:rPr sz="1400" i="1" spc="19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dirty="0">
                <a:solidFill>
                  <a:srgbClr val="FFFFFF"/>
                </a:solidFill>
                <a:latin typeface="Cambria"/>
                <a:cs typeface="Cambria"/>
              </a:rPr>
              <a:t>Resnik</a:t>
            </a:r>
            <a:r>
              <a:rPr sz="1400" i="1" spc="10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spc="-10" dirty="0">
                <a:solidFill>
                  <a:srgbClr val="FFFFFF"/>
                </a:solidFill>
                <a:latin typeface="Cambria"/>
                <a:cs typeface="Cambria"/>
              </a:rPr>
              <a:t>similarity</a:t>
            </a:r>
            <a:endParaRPr sz="1400">
              <a:latin typeface="Cambria"/>
              <a:cs typeface="Cambri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63753" y="830986"/>
            <a:ext cx="3409950" cy="2171700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1853082" y="3339672"/>
            <a:ext cx="90233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Lexical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Semantics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-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WordNet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608260" y="3339672"/>
            <a:ext cx="56388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8,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2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4294967295"/>
          </p:nvPr>
        </p:nvSpPr>
        <p:spPr>
          <a:xfrm>
            <a:off x="4292024" y="3339672"/>
            <a:ext cx="262254" cy="116204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0"/>
              </a:spcBef>
            </a:pPr>
            <a:r>
              <a:rPr dirty="0"/>
              <a:t>20</a:t>
            </a:r>
            <a:r>
              <a:rPr spc="-20" dirty="0"/>
              <a:t> </a:t>
            </a:r>
            <a:r>
              <a:rPr spc="-110" dirty="0"/>
              <a:t>/</a:t>
            </a:r>
            <a:r>
              <a:rPr spc="15" dirty="0"/>
              <a:t> </a:t>
            </a:r>
            <a:r>
              <a:rPr spc="-25" dirty="0"/>
              <a:t>27</a:t>
            </a:r>
          </a:p>
        </p:txBody>
      </p:sp>
    </p:spTree>
  </p:cSld>
  <p:clrMapOvr>
    <a:masterClrMapping/>
  </p:clrMapOvr>
  <p:transition>
    <p:cut/>
  </p:transition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Lin</a:t>
            </a:r>
            <a:r>
              <a:rPr spc="85" dirty="0"/>
              <a:t> </a:t>
            </a:r>
            <a:r>
              <a:rPr spc="-10" dirty="0"/>
              <a:t>similarity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7743" y="589965"/>
            <a:ext cx="4483735" cy="1577340"/>
            <a:chOff x="87743" y="589965"/>
            <a:chExt cx="4483735" cy="1577340"/>
          </a:xfrm>
        </p:grpSpPr>
        <p:sp>
          <p:nvSpPr>
            <p:cNvPr id="4" name="object 4"/>
            <p:cNvSpPr/>
            <p:nvPr/>
          </p:nvSpPr>
          <p:spPr>
            <a:xfrm>
              <a:off x="87743" y="589965"/>
              <a:ext cx="4432935" cy="186055"/>
            </a:xfrm>
            <a:custGeom>
              <a:avLst/>
              <a:gdLst/>
              <a:ahLst/>
              <a:cxnLst/>
              <a:rect l="l" t="t" r="r" b="b"/>
              <a:pathLst>
                <a:path w="4432935" h="186054">
                  <a:moveTo>
                    <a:pt x="4381754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5674"/>
                  </a:lnTo>
                  <a:lnTo>
                    <a:pt x="4432554" y="185674"/>
                  </a:lnTo>
                  <a:lnTo>
                    <a:pt x="4432554" y="50800"/>
                  </a:lnTo>
                  <a:lnTo>
                    <a:pt x="4428545" y="31075"/>
                  </a:lnTo>
                  <a:lnTo>
                    <a:pt x="4417631" y="14922"/>
                  </a:lnTo>
                  <a:lnTo>
                    <a:pt x="4401478" y="4008"/>
                  </a:lnTo>
                  <a:lnTo>
                    <a:pt x="4381754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744" y="762977"/>
              <a:ext cx="4432554" cy="5060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8544" y="2065655"/>
              <a:ext cx="101599" cy="1016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9344" y="2052955"/>
              <a:ext cx="4381754" cy="1143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20298" y="634199"/>
              <a:ext cx="50800" cy="1431455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87743" y="807212"/>
              <a:ext cx="4432935" cy="1309370"/>
            </a:xfrm>
            <a:custGeom>
              <a:avLst/>
              <a:gdLst/>
              <a:ahLst/>
              <a:cxnLst/>
              <a:rect l="l" t="t" r="r" b="b"/>
              <a:pathLst>
                <a:path w="4432935" h="1309370">
                  <a:moveTo>
                    <a:pt x="4432554" y="0"/>
                  </a:moveTo>
                  <a:lnTo>
                    <a:pt x="0" y="0"/>
                  </a:lnTo>
                  <a:lnTo>
                    <a:pt x="0" y="1258443"/>
                  </a:lnTo>
                  <a:lnTo>
                    <a:pt x="4008" y="1278167"/>
                  </a:lnTo>
                  <a:lnTo>
                    <a:pt x="14922" y="1294320"/>
                  </a:lnTo>
                  <a:lnTo>
                    <a:pt x="31075" y="1305234"/>
                  </a:lnTo>
                  <a:lnTo>
                    <a:pt x="50800" y="1309243"/>
                  </a:lnTo>
                  <a:lnTo>
                    <a:pt x="4381754" y="1309243"/>
                  </a:lnTo>
                  <a:lnTo>
                    <a:pt x="4401478" y="1305234"/>
                  </a:lnTo>
                  <a:lnTo>
                    <a:pt x="4417631" y="1294320"/>
                  </a:lnTo>
                  <a:lnTo>
                    <a:pt x="4428545" y="1278167"/>
                  </a:lnTo>
                  <a:lnTo>
                    <a:pt x="4432554" y="1258443"/>
                  </a:lnTo>
                  <a:lnTo>
                    <a:pt x="4432554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520309" y="672338"/>
              <a:ext cx="0" cy="1412875"/>
            </a:xfrm>
            <a:custGeom>
              <a:avLst/>
              <a:gdLst/>
              <a:ahLst/>
              <a:cxnLst/>
              <a:rect l="l" t="t" r="r" b="b"/>
              <a:pathLst>
                <a:path h="1412875">
                  <a:moveTo>
                    <a:pt x="0" y="1412366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520309" y="659574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520309" y="646874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520309" y="634174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81597" y="856996"/>
              <a:ext cx="64757" cy="64757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81597" y="1067028"/>
              <a:ext cx="64757" cy="64757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81597" y="1449133"/>
              <a:ext cx="64757" cy="64757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81597" y="1831238"/>
              <a:ext cx="64757" cy="64757"/>
            </a:xfrm>
            <a:prstGeom prst="rect">
              <a:avLst/>
            </a:prstGeom>
          </p:spPr>
        </p:pic>
      </p:grpSp>
      <p:grpSp>
        <p:nvGrpSpPr>
          <p:cNvPr id="18" name="object 18"/>
          <p:cNvGrpSpPr/>
          <p:nvPr/>
        </p:nvGrpSpPr>
        <p:grpSpPr>
          <a:xfrm>
            <a:off x="87743" y="2268385"/>
            <a:ext cx="4483735" cy="869315"/>
            <a:chOff x="87743" y="2268385"/>
            <a:chExt cx="4483735" cy="869315"/>
          </a:xfrm>
        </p:grpSpPr>
        <p:sp>
          <p:nvSpPr>
            <p:cNvPr id="19" name="object 19"/>
            <p:cNvSpPr/>
            <p:nvPr/>
          </p:nvSpPr>
          <p:spPr>
            <a:xfrm>
              <a:off x="87743" y="2268385"/>
              <a:ext cx="4432935" cy="82550"/>
            </a:xfrm>
            <a:custGeom>
              <a:avLst/>
              <a:gdLst/>
              <a:ahLst/>
              <a:cxnLst/>
              <a:rect l="l" t="t" r="r" b="b"/>
              <a:pathLst>
                <a:path w="4432935" h="82550">
                  <a:moveTo>
                    <a:pt x="4381754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82423"/>
                  </a:lnTo>
                  <a:lnTo>
                    <a:pt x="4432554" y="82423"/>
                  </a:lnTo>
                  <a:lnTo>
                    <a:pt x="4432554" y="50800"/>
                  </a:lnTo>
                  <a:lnTo>
                    <a:pt x="4428545" y="31075"/>
                  </a:lnTo>
                  <a:lnTo>
                    <a:pt x="4417631" y="14922"/>
                  </a:lnTo>
                  <a:lnTo>
                    <a:pt x="4401478" y="4008"/>
                  </a:lnTo>
                  <a:lnTo>
                    <a:pt x="4381754" y="0"/>
                  </a:lnTo>
                  <a:close/>
                </a:path>
              </a:pathLst>
            </a:custGeom>
            <a:solidFill>
              <a:srgbClr val="E5F2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38544" y="3035909"/>
              <a:ext cx="101600" cy="101600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89344" y="3023209"/>
              <a:ext cx="4381754" cy="114300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520298" y="2318943"/>
              <a:ext cx="50800" cy="716965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87743" y="2312771"/>
              <a:ext cx="4432935" cy="774065"/>
            </a:xfrm>
            <a:custGeom>
              <a:avLst/>
              <a:gdLst/>
              <a:ahLst/>
              <a:cxnLst/>
              <a:rect l="l" t="t" r="r" b="b"/>
              <a:pathLst>
                <a:path w="4432935" h="774064">
                  <a:moveTo>
                    <a:pt x="4432554" y="0"/>
                  </a:moveTo>
                  <a:lnTo>
                    <a:pt x="0" y="0"/>
                  </a:lnTo>
                  <a:lnTo>
                    <a:pt x="0" y="723138"/>
                  </a:lnTo>
                  <a:lnTo>
                    <a:pt x="4008" y="742862"/>
                  </a:lnTo>
                  <a:lnTo>
                    <a:pt x="14922" y="759015"/>
                  </a:lnTo>
                  <a:lnTo>
                    <a:pt x="31075" y="769929"/>
                  </a:lnTo>
                  <a:lnTo>
                    <a:pt x="50800" y="773938"/>
                  </a:lnTo>
                  <a:lnTo>
                    <a:pt x="4381754" y="773938"/>
                  </a:lnTo>
                  <a:lnTo>
                    <a:pt x="4401478" y="769929"/>
                  </a:lnTo>
                  <a:lnTo>
                    <a:pt x="4417631" y="759015"/>
                  </a:lnTo>
                  <a:lnTo>
                    <a:pt x="4428545" y="742862"/>
                  </a:lnTo>
                  <a:lnTo>
                    <a:pt x="4432554" y="723138"/>
                  </a:lnTo>
                  <a:lnTo>
                    <a:pt x="4432554" y="0"/>
                  </a:lnTo>
                  <a:close/>
                </a:path>
              </a:pathLst>
            </a:custGeom>
            <a:solidFill>
              <a:srgbClr val="E5F2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520309" y="2357094"/>
              <a:ext cx="0" cy="697865"/>
            </a:xfrm>
            <a:custGeom>
              <a:avLst/>
              <a:gdLst/>
              <a:ahLst/>
              <a:cxnLst/>
              <a:rect l="l" t="t" r="r" b="b"/>
              <a:pathLst>
                <a:path h="697864">
                  <a:moveTo>
                    <a:pt x="0" y="697865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4520309" y="2344342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4520309" y="2331642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4520309" y="2318942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87630" y="515318"/>
            <a:ext cx="4357370" cy="2563495"/>
          </a:xfrm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525"/>
              </a:spcBef>
            </a:pPr>
            <a:r>
              <a:rPr sz="1100" i="1" spc="-25" dirty="0">
                <a:solidFill>
                  <a:srgbClr val="3232B2"/>
                </a:solidFill>
                <a:latin typeface="Cambria"/>
                <a:cs typeface="Cambria"/>
              </a:rPr>
              <a:t>Proportion</a:t>
            </a:r>
            <a:r>
              <a:rPr sz="1100" i="1" spc="-10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100" i="1" dirty="0">
                <a:solidFill>
                  <a:srgbClr val="3232B2"/>
                </a:solidFill>
                <a:latin typeface="Cambria"/>
                <a:cs typeface="Cambria"/>
              </a:rPr>
              <a:t>of</a:t>
            </a:r>
            <a:r>
              <a:rPr sz="1100" i="1" spc="-5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100" i="1" spc="-25" dirty="0">
                <a:solidFill>
                  <a:srgbClr val="3232B2"/>
                </a:solidFill>
                <a:latin typeface="Cambria"/>
                <a:cs typeface="Cambria"/>
              </a:rPr>
              <a:t>shared</a:t>
            </a:r>
            <a:r>
              <a:rPr sz="1100" i="1" spc="-10" dirty="0">
                <a:solidFill>
                  <a:srgbClr val="3232B2"/>
                </a:solidFill>
                <a:latin typeface="Cambria"/>
                <a:cs typeface="Cambria"/>
              </a:rPr>
              <a:t> information</a:t>
            </a:r>
            <a:endParaRPr sz="1100">
              <a:latin typeface="Cambria"/>
              <a:cs typeface="Cambria"/>
            </a:endParaRPr>
          </a:p>
          <a:p>
            <a:pPr marL="327660">
              <a:lnSpc>
                <a:spcPct val="100000"/>
              </a:lnSpc>
              <a:spcBef>
                <a:spcPts val="425"/>
              </a:spcBef>
            </a:pPr>
            <a:r>
              <a:rPr sz="950" spc="-45" dirty="0">
                <a:latin typeface="Trebuchet MS"/>
                <a:cs typeface="Trebuchet MS"/>
              </a:rPr>
              <a:t>It’s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not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just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about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commonalities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-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spc="-65" dirty="0">
                <a:latin typeface="Trebuchet MS"/>
                <a:cs typeface="Trebuchet MS"/>
              </a:rPr>
              <a:t>it’s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also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about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differences!</a:t>
            </a:r>
            <a:endParaRPr sz="950">
              <a:latin typeface="Trebuchet MS"/>
              <a:cs typeface="Trebuchet MS"/>
            </a:endParaRPr>
          </a:p>
          <a:p>
            <a:pPr marL="327660" marR="63500">
              <a:lnSpc>
                <a:spcPct val="118900"/>
              </a:lnSpc>
              <a:spcBef>
                <a:spcPts val="295"/>
              </a:spcBef>
            </a:pPr>
            <a:r>
              <a:rPr sz="950" b="1" dirty="0">
                <a:latin typeface="Trebuchet MS"/>
                <a:cs typeface="Trebuchet MS"/>
              </a:rPr>
              <a:t>Resnik:</a:t>
            </a:r>
            <a:r>
              <a:rPr sz="950" b="1" spc="9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more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information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content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they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share,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more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similar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they </a:t>
            </a:r>
            <a:r>
              <a:rPr sz="950" spc="-25" dirty="0">
                <a:latin typeface="Trebuchet MS"/>
                <a:cs typeface="Trebuchet MS"/>
              </a:rPr>
              <a:t>are</a:t>
            </a:r>
            <a:endParaRPr sz="950">
              <a:latin typeface="Trebuchet MS"/>
              <a:cs typeface="Trebuchet MS"/>
            </a:endParaRPr>
          </a:p>
          <a:p>
            <a:pPr marL="327660" marR="43180">
              <a:lnSpc>
                <a:spcPct val="118900"/>
              </a:lnSpc>
              <a:spcBef>
                <a:spcPts val="300"/>
              </a:spcBef>
            </a:pPr>
            <a:r>
              <a:rPr sz="950" b="1" dirty="0">
                <a:latin typeface="Trebuchet MS"/>
                <a:cs typeface="Trebuchet MS"/>
              </a:rPr>
              <a:t>Lin:</a:t>
            </a:r>
            <a:r>
              <a:rPr sz="950" b="1" spc="8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more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information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content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they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spc="-30" dirty="0">
                <a:latin typeface="Trebuchet MS"/>
                <a:cs typeface="Trebuchet MS"/>
              </a:rPr>
              <a:t>don’t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share,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less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similar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they </a:t>
            </a:r>
            <a:r>
              <a:rPr sz="950" spc="-25" dirty="0">
                <a:latin typeface="Trebuchet MS"/>
                <a:cs typeface="Trebuchet MS"/>
              </a:rPr>
              <a:t>are</a:t>
            </a:r>
            <a:endParaRPr sz="950">
              <a:latin typeface="Trebuchet MS"/>
              <a:cs typeface="Trebuchet MS"/>
            </a:endParaRPr>
          </a:p>
          <a:p>
            <a:pPr marL="327660" marR="283845">
              <a:lnSpc>
                <a:spcPct val="118900"/>
              </a:lnSpc>
              <a:spcBef>
                <a:spcPts val="300"/>
              </a:spcBef>
            </a:pPr>
            <a:r>
              <a:rPr sz="950" dirty="0">
                <a:latin typeface="Trebuchet MS"/>
                <a:cs typeface="Trebuchet MS"/>
              </a:rPr>
              <a:t>Not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i="1" dirty="0">
                <a:latin typeface="Trebuchet MS"/>
                <a:cs typeface="Trebuchet MS"/>
              </a:rPr>
              <a:t>absolute</a:t>
            </a:r>
            <a:r>
              <a:rPr sz="950" i="1" spc="-5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quantity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of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shared </a:t>
            </a:r>
            <a:r>
              <a:rPr sz="950" spc="-20" dirty="0">
                <a:latin typeface="Trebuchet MS"/>
                <a:cs typeface="Trebuchet MS"/>
              </a:rPr>
              <a:t>information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but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i="1" spc="-20" dirty="0">
                <a:latin typeface="Trebuchet MS"/>
                <a:cs typeface="Trebuchet MS"/>
              </a:rPr>
              <a:t>proportion</a:t>
            </a:r>
            <a:r>
              <a:rPr sz="950" i="1" spc="-5" dirty="0">
                <a:latin typeface="Trebuchet MS"/>
                <a:cs typeface="Trebuchet MS"/>
              </a:rPr>
              <a:t> </a:t>
            </a:r>
            <a:r>
              <a:rPr sz="950" spc="-25" dirty="0">
                <a:latin typeface="Trebuchet MS"/>
                <a:cs typeface="Trebuchet MS"/>
              </a:rPr>
              <a:t>of </a:t>
            </a:r>
            <a:r>
              <a:rPr sz="950" dirty="0">
                <a:latin typeface="Trebuchet MS"/>
                <a:cs typeface="Trebuchet MS"/>
              </a:rPr>
              <a:t>shared</a:t>
            </a:r>
            <a:r>
              <a:rPr sz="950" spc="15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information</a:t>
            </a:r>
            <a:endParaRPr sz="9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630"/>
              </a:spcBef>
            </a:pPr>
            <a:endParaRPr sz="950">
              <a:latin typeface="Trebuchet MS"/>
              <a:cs typeface="Trebuchet MS"/>
            </a:endParaRPr>
          </a:p>
          <a:p>
            <a:pPr marL="1191895">
              <a:lnSpc>
                <a:spcPct val="100000"/>
              </a:lnSpc>
            </a:pPr>
            <a:r>
              <a:rPr sz="1650" i="1" spc="-15" baseline="-37878" dirty="0">
                <a:latin typeface="Cambria"/>
                <a:cs typeface="Cambria"/>
              </a:rPr>
              <a:t>sim</a:t>
            </a:r>
            <a:r>
              <a:rPr sz="1200" i="1" spc="-15" baseline="-65972" dirty="0">
                <a:latin typeface="Cambria"/>
                <a:cs typeface="Cambria"/>
              </a:rPr>
              <a:t>Lin</a:t>
            </a:r>
            <a:r>
              <a:rPr sz="1650" spc="-15" baseline="-37878" dirty="0">
                <a:latin typeface="Arial MT"/>
                <a:cs typeface="Arial MT"/>
              </a:rPr>
              <a:t>(</a:t>
            </a:r>
            <a:r>
              <a:rPr sz="1650" i="1" spc="-15" baseline="-37878" dirty="0">
                <a:latin typeface="Cambria"/>
                <a:cs typeface="Cambria"/>
              </a:rPr>
              <a:t>c</a:t>
            </a:r>
            <a:r>
              <a:rPr sz="1200" spc="-15" baseline="-65972" dirty="0">
                <a:latin typeface="Cambria"/>
                <a:cs typeface="Cambria"/>
              </a:rPr>
              <a:t>1</a:t>
            </a:r>
            <a:r>
              <a:rPr sz="1650" i="1" spc="-15" baseline="-37878" dirty="0">
                <a:latin typeface="Arial"/>
                <a:cs typeface="Arial"/>
              </a:rPr>
              <a:t>,</a:t>
            </a:r>
            <a:r>
              <a:rPr sz="1650" i="1" spc="-209" baseline="-37878" dirty="0">
                <a:latin typeface="Arial"/>
                <a:cs typeface="Arial"/>
              </a:rPr>
              <a:t> </a:t>
            </a:r>
            <a:r>
              <a:rPr sz="1650" i="1" baseline="-37878" dirty="0">
                <a:latin typeface="Cambria"/>
                <a:cs typeface="Cambria"/>
              </a:rPr>
              <a:t>c</a:t>
            </a:r>
            <a:r>
              <a:rPr sz="1200" baseline="-65972" dirty="0">
                <a:latin typeface="Cambria"/>
                <a:cs typeface="Cambria"/>
              </a:rPr>
              <a:t>2</a:t>
            </a:r>
            <a:r>
              <a:rPr sz="1650" baseline="-37878" dirty="0">
                <a:latin typeface="Arial MT"/>
                <a:cs typeface="Arial MT"/>
              </a:rPr>
              <a:t>)</a:t>
            </a:r>
            <a:r>
              <a:rPr sz="1650" spc="37" baseline="-37878" dirty="0">
                <a:latin typeface="Arial MT"/>
                <a:cs typeface="Arial MT"/>
              </a:rPr>
              <a:t> </a:t>
            </a:r>
            <a:r>
              <a:rPr sz="1650" spc="300" baseline="-37878" dirty="0">
                <a:latin typeface="Arial MT"/>
                <a:cs typeface="Arial MT"/>
              </a:rPr>
              <a:t>= </a:t>
            </a:r>
            <a:r>
              <a:rPr sz="1100" u="sng" spc="-75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 </a:t>
            </a:r>
            <a:r>
              <a:rPr sz="1100" u="sng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2</a:t>
            </a:r>
            <a:r>
              <a:rPr sz="1100" i="1" u="sng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logP</a:t>
            </a:r>
            <a:r>
              <a:rPr sz="1100" u="sng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(</a:t>
            </a:r>
            <a:r>
              <a:rPr sz="1100" i="1" u="sng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LCS</a:t>
            </a:r>
            <a:r>
              <a:rPr sz="1100" u="sng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(</a:t>
            </a:r>
            <a:r>
              <a:rPr sz="1100" i="1" u="sng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c</a:t>
            </a:r>
            <a:r>
              <a:rPr sz="1200" u="sng" baseline="-10416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1</a:t>
            </a:r>
            <a:r>
              <a:rPr sz="1100" i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,</a:t>
            </a:r>
            <a:r>
              <a:rPr sz="1100" i="1" u="sng" spc="-14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100" i="1" u="sng" spc="-20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c</a:t>
            </a:r>
            <a:r>
              <a:rPr sz="1200" u="sng" spc="-30" baseline="-10416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2</a:t>
            </a:r>
            <a:r>
              <a:rPr sz="1100" u="sng" spc="-20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))</a:t>
            </a:r>
            <a:endParaRPr sz="1100">
              <a:latin typeface="Arial MT"/>
              <a:cs typeface="Arial MT"/>
            </a:endParaRPr>
          </a:p>
          <a:p>
            <a:pPr marL="2105025">
              <a:lnSpc>
                <a:spcPct val="100000"/>
              </a:lnSpc>
              <a:spcBef>
                <a:spcPts val="200"/>
              </a:spcBef>
            </a:pPr>
            <a:r>
              <a:rPr sz="1100" i="1" dirty="0">
                <a:latin typeface="Cambria"/>
                <a:cs typeface="Cambria"/>
              </a:rPr>
              <a:t>logP</a:t>
            </a:r>
            <a:r>
              <a:rPr sz="1100" dirty="0">
                <a:latin typeface="Arial MT"/>
                <a:cs typeface="Arial MT"/>
              </a:rPr>
              <a:t>(</a:t>
            </a:r>
            <a:r>
              <a:rPr sz="1100" i="1" dirty="0">
                <a:latin typeface="Cambria"/>
                <a:cs typeface="Cambria"/>
              </a:rPr>
              <a:t>c</a:t>
            </a:r>
            <a:r>
              <a:rPr sz="1200" baseline="-10416" dirty="0">
                <a:latin typeface="Cambria"/>
                <a:cs typeface="Cambria"/>
              </a:rPr>
              <a:t>1</a:t>
            </a:r>
            <a:r>
              <a:rPr sz="1100" dirty="0">
                <a:latin typeface="Arial MT"/>
                <a:cs typeface="Arial MT"/>
              </a:rPr>
              <a:t>)</a:t>
            </a:r>
            <a:r>
              <a:rPr sz="1100" spc="-95" dirty="0">
                <a:latin typeface="Arial MT"/>
                <a:cs typeface="Arial MT"/>
              </a:rPr>
              <a:t> </a:t>
            </a:r>
            <a:r>
              <a:rPr sz="1100" spc="200" dirty="0">
                <a:latin typeface="Arial MT"/>
                <a:cs typeface="Arial MT"/>
              </a:rPr>
              <a:t>+</a:t>
            </a:r>
            <a:r>
              <a:rPr sz="1100" spc="-90" dirty="0">
                <a:latin typeface="Arial MT"/>
                <a:cs typeface="Arial MT"/>
              </a:rPr>
              <a:t> </a:t>
            </a:r>
            <a:r>
              <a:rPr sz="1100" i="1" spc="-10" dirty="0">
                <a:latin typeface="Cambria"/>
                <a:cs typeface="Cambria"/>
              </a:rPr>
              <a:t>logP</a:t>
            </a:r>
            <a:r>
              <a:rPr sz="1100" spc="-10" dirty="0">
                <a:latin typeface="Arial MT"/>
                <a:cs typeface="Arial MT"/>
              </a:rPr>
              <a:t>(</a:t>
            </a:r>
            <a:r>
              <a:rPr sz="1100" i="1" spc="-10" dirty="0">
                <a:latin typeface="Cambria"/>
                <a:cs typeface="Cambria"/>
              </a:rPr>
              <a:t>c</a:t>
            </a:r>
            <a:r>
              <a:rPr sz="1200" spc="-15" baseline="-10416" dirty="0">
                <a:latin typeface="Cambria"/>
                <a:cs typeface="Cambria"/>
              </a:rPr>
              <a:t>2</a:t>
            </a:r>
            <a:r>
              <a:rPr sz="1100" spc="-10" dirty="0">
                <a:latin typeface="Arial MT"/>
                <a:cs typeface="Arial MT"/>
              </a:rPr>
              <a:t>)</a:t>
            </a:r>
            <a:endParaRPr sz="1100">
              <a:latin typeface="Arial MT"/>
              <a:cs typeface="Arial MT"/>
            </a:endParaRPr>
          </a:p>
          <a:p>
            <a:pPr marL="50800" marR="189230">
              <a:lnSpc>
                <a:spcPct val="113999"/>
              </a:lnSpc>
              <a:spcBef>
                <a:spcPts val="235"/>
              </a:spcBef>
            </a:pP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information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content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common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to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1100" i="1" dirty="0">
                <a:latin typeface="Cambria"/>
                <a:cs typeface="Cambria"/>
              </a:rPr>
              <a:t>c</a:t>
            </a:r>
            <a:r>
              <a:rPr sz="1200" baseline="-10416" dirty="0">
                <a:latin typeface="Cambria"/>
                <a:cs typeface="Cambria"/>
              </a:rPr>
              <a:t>1</a:t>
            </a:r>
            <a:r>
              <a:rPr sz="1200" spc="270" baseline="-10416" dirty="0">
                <a:latin typeface="Cambria"/>
                <a:cs typeface="Cambria"/>
              </a:rPr>
              <a:t> </a:t>
            </a:r>
            <a:r>
              <a:rPr sz="950" dirty="0">
                <a:latin typeface="Trebuchet MS"/>
                <a:cs typeface="Trebuchet MS"/>
              </a:rPr>
              <a:t>and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1100" i="1" spc="-10" dirty="0">
                <a:latin typeface="Cambria"/>
                <a:cs typeface="Cambria"/>
              </a:rPr>
              <a:t>c</a:t>
            </a:r>
            <a:r>
              <a:rPr sz="1200" spc="-15" baseline="-10416" dirty="0">
                <a:latin typeface="Cambria"/>
                <a:cs typeface="Cambria"/>
              </a:rPr>
              <a:t>2</a:t>
            </a:r>
            <a:r>
              <a:rPr sz="950" spc="-10" dirty="0">
                <a:latin typeface="Trebuchet MS"/>
                <a:cs typeface="Trebuchet MS"/>
              </a:rPr>
              <a:t>,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normalized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by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spc="-30" dirty="0">
                <a:latin typeface="Trebuchet MS"/>
                <a:cs typeface="Trebuchet MS"/>
              </a:rPr>
              <a:t>their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average </a:t>
            </a:r>
            <a:r>
              <a:rPr sz="950" spc="-20" dirty="0">
                <a:latin typeface="Trebuchet MS"/>
                <a:cs typeface="Trebuchet MS"/>
              </a:rPr>
              <a:t>information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content.</a:t>
            </a:r>
            <a:endParaRPr sz="950">
              <a:latin typeface="Trebuchet MS"/>
              <a:cs typeface="Trebuchet MS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1853082" y="3339672"/>
            <a:ext cx="90233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13" action="ppaction://hlinksldjump"/>
              </a:rPr>
              <a:t>Lexical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  <a:hlinkClick r:id="rId13" action="ppaction://hlinksldjump"/>
              </a:rPr>
              <a:t>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  <a:hlinkClick r:id="rId13" action="ppaction://hlinksldjump"/>
              </a:rPr>
              <a:t>Semantics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  <a:hlinkClick r:id="rId13" action="ppaction://hlinksldjump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13" action="ppaction://hlinksldjump"/>
              </a:rPr>
              <a:t>-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  <a:hlinkClick r:id="rId13" action="ppaction://hlinksldjump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  <a:hlinkClick r:id="rId13" action="ppaction://hlinksldjump"/>
              </a:rPr>
              <a:t>WordNet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3608260" y="3339672"/>
            <a:ext cx="56388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8,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2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36" name="object 36"/>
          <p:cNvSpPr txBox="1">
            <a:spLocks noGrp="1"/>
          </p:cNvSpPr>
          <p:nvPr>
            <p:ph type="sldNum" sz="quarter" idx="4294967295"/>
          </p:nvPr>
        </p:nvSpPr>
        <p:spPr>
          <a:xfrm>
            <a:off x="4292024" y="3339672"/>
            <a:ext cx="262254" cy="116204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0"/>
              </a:spcBef>
            </a:pPr>
            <a:r>
              <a:rPr dirty="0"/>
              <a:t>21</a:t>
            </a:r>
            <a:r>
              <a:rPr spc="-20" dirty="0"/>
              <a:t> </a:t>
            </a:r>
            <a:r>
              <a:rPr spc="-110" dirty="0"/>
              <a:t>/</a:t>
            </a:r>
            <a:r>
              <a:rPr spc="15" dirty="0"/>
              <a:t> </a:t>
            </a:r>
            <a:r>
              <a:rPr spc="-25" dirty="0"/>
              <a:t>27</a:t>
            </a:r>
          </a:p>
        </p:txBody>
      </p:sp>
    </p:spTree>
  </p:cSld>
  <p:clrMapOvr>
    <a:masterClrMapping/>
  </p:clrMapOvr>
  <p:transition>
    <p:cut/>
  </p:transition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38"/>
            <a:ext cx="4608195" cy="351790"/>
          </a:xfrm>
          <a:custGeom>
            <a:avLst/>
            <a:gdLst/>
            <a:ahLst/>
            <a:cxnLst/>
            <a:rect l="l" t="t" r="r" b="b"/>
            <a:pathLst>
              <a:path w="4608195" h="351790">
                <a:moveTo>
                  <a:pt x="4607941" y="0"/>
                </a:moveTo>
                <a:lnTo>
                  <a:pt x="0" y="0"/>
                </a:lnTo>
                <a:lnTo>
                  <a:pt x="0" y="351409"/>
                </a:lnTo>
                <a:lnTo>
                  <a:pt x="4607941" y="351409"/>
                </a:lnTo>
                <a:lnTo>
                  <a:pt x="4607941" y="0"/>
                </a:lnTo>
                <a:close/>
              </a:path>
            </a:pathLst>
          </a:custGeom>
          <a:solidFill>
            <a:srgbClr val="3232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5250" y="60502"/>
            <a:ext cx="1767839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i="1" dirty="0">
                <a:solidFill>
                  <a:srgbClr val="FFFFFF"/>
                </a:solidFill>
                <a:latin typeface="Cambria"/>
                <a:cs typeface="Cambria"/>
              </a:rPr>
              <a:t>Example:</a:t>
            </a:r>
            <a:r>
              <a:rPr sz="1400" i="1" spc="2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dirty="0">
                <a:solidFill>
                  <a:srgbClr val="FFFFFF"/>
                </a:solidFill>
                <a:latin typeface="Cambria"/>
                <a:cs typeface="Cambria"/>
              </a:rPr>
              <a:t>Lin</a:t>
            </a:r>
            <a:r>
              <a:rPr sz="1400" i="1" spc="114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spc="-10" dirty="0">
                <a:solidFill>
                  <a:srgbClr val="FFFFFF"/>
                </a:solidFill>
                <a:latin typeface="Cambria"/>
                <a:cs typeface="Cambria"/>
              </a:rPr>
              <a:t>similarity</a:t>
            </a:r>
            <a:endParaRPr sz="1400">
              <a:latin typeface="Cambria"/>
              <a:cs typeface="Cambri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6148" y="923887"/>
            <a:ext cx="3409950" cy="2171700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1853082" y="3339672"/>
            <a:ext cx="90233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Lexical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Semantics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-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WordNet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608260" y="3339672"/>
            <a:ext cx="56388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8,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2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4294967295"/>
          </p:nvPr>
        </p:nvSpPr>
        <p:spPr>
          <a:xfrm>
            <a:off x="4292024" y="3339672"/>
            <a:ext cx="262254" cy="116204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0"/>
              </a:spcBef>
            </a:pPr>
            <a:r>
              <a:rPr dirty="0"/>
              <a:t>22</a:t>
            </a:r>
            <a:r>
              <a:rPr spc="-20" dirty="0"/>
              <a:t> </a:t>
            </a:r>
            <a:r>
              <a:rPr spc="-110" dirty="0"/>
              <a:t>/</a:t>
            </a:r>
            <a:r>
              <a:rPr spc="15" dirty="0"/>
              <a:t> </a:t>
            </a:r>
            <a:r>
              <a:rPr spc="-25" dirty="0"/>
              <a:t>27</a:t>
            </a:r>
          </a:p>
        </p:txBody>
      </p:sp>
    </p:spTree>
  </p:cSld>
  <p:clrMapOvr>
    <a:masterClrMapping/>
  </p:clrMapOvr>
  <p:transition>
    <p:cut/>
  </p:transition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Jiang-Conrath</a:t>
            </a:r>
            <a:r>
              <a:rPr spc="200" dirty="0"/>
              <a:t> </a:t>
            </a:r>
            <a:r>
              <a:rPr spc="-10" dirty="0"/>
              <a:t>distance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7743" y="772363"/>
            <a:ext cx="4483735" cy="2091689"/>
            <a:chOff x="87743" y="772363"/>
            <a:chExt cx="4483735" cy="2091689"/>
          </a:xfrm>
        </p:grpSpPr>
        <p:sp>
          <p:nvSpPr>
            <p:cNvPr id="4" name="object 4"/>
            <p:cNvSpPr/>
            <p:nvPr/>
          </p:nvSpPr>
          <p:spPr>
            <a:xfrm>
              <a:off x="87743" y="772363"/>
              <a:ext cx="4432935" cy="186055"/>
            </a:xfrm>
            <a:custGeom>
              <a:avLst/>
              <a:gdLst/>
              <a:ahLst/>
              <a:cxnLst/>
              <a:rect l="l" t="t" r="r" b="b"/>
              <a:pathLst>
                <a:path w="4432935" h="186055">
                  <a:moveTo>
                    <a:pt x="4381754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5674"/>
                  </a:lnTo>
                  <a:lnTo>
                    <a:pt x="4432554" y="185674"/>
                  </a:lnTo>
                  <a:lnTo>
                    <a:pt x="4432554" y="50800"/>
                  </a:lnTo>
                  <a:lnTo>
                    <a:pt x="4428545" y="31075"/>
                  </a:lnTo>
                  <a:lnTo>
                    <a:pt x="4417631" y="14922"/>
                  </a:lnTo>
                  <a:lnTo>
                    <a:pt x="4401478" y="4008"/>
                  </a:lnTo>
                  <a:lnTo>
                    <a:pt x="4381754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744" y="945388"/>
              <a:ext cx="4432554" cy="5060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8544" y="2762300"/>
              <a:ext cx="101599" cy="1016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9344" y="2749600"/>
              <a:ext cx="4381754" cy="1143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20298" y="816597"/>
              <a:ext cx="50800" cy="1945703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87743" y="989634"/>
              <a:ext cx="4432935" cy="1823720"/>
            </a:xfrm>
            <a:custGeom>
              <a:avLst/>
              <a:gdLst/>
              <a:ahLst/>
              <a:cxnLst/>
              <a:rect l="l" t="t" r="r" b="b"/>
              <a:pathLst>
                <a:path w="4432935" h="1823720">
                  <a:moveTo>
                    <a:pt x="4432554" y="0"/>
                  </a:moveTo>
                  <a:lnTo>
                    <a:pt x="0" y="0"/>
                  </a:lnTo>
                  <a:lnTo>
                    <a:pt x="0" y="1772665"/>
                  </a:lnTo>
                  <a:lnTo>
                    <a:pt x="4008" y="1792390"/>
                  </a:lnTo>
                  <a:lnTo>
                    <a:pt x="14922" y="1808543"/>
                  </a:lnTo>
                  <a:lnTo>
                    <a:pt x="31075" y="1819457"/>
                  </a:lnTo>
                  <a:lnTo>
                    <a:pt x="50800" y="1823465"/>
                  </a:lnTo>
                  <a:lnTo>
                    <a:pt x="4381754" y="1823465"/>
                  </a:lnTo>
                  <a:lnTo>
                    <a:pt x="4401478" y="1819457"/>
                  </a:lnTo>
                  <a:lnTo>
                    <a:pt x="4417631" y="1808543"/>
                  </a:lnTo>
                  <a:lnTo>
                    <a:pt x="4428545" y="1792390"/>
                  </a:lnTo>
                  <a:lnTo>
                    <a:pt x="4432554" y="1772665"/>
                  </a:lnTo>
                  <a:lnTo>
                    <a:pt x="4432554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520309" y="854633"/>
              <a:ext cx="0" cy="1927225"/>
            </a:xfrm>
            <a:custGeom>
              <a:avLst/>
              <a:gdLst/>
              <a:ahLst/>
              <a:cxnLst/>
              <a:rect l="l" t="t" r="r" b="b"/>
              <a:pathLst>
                <a:path h="1927225">
                  <a:moveTo>
                    <a:pt x="0" y="1926716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520309" y="841971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520309" y="829271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520309" y="816571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100330" y="697716"/>
            <a:ext cx="4244340" cy="1607185"/>
          </a:xfrm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25"/>
              </a:spcBef>
            </a:pPr>
            <a:r>
              <a:rPr sz="1100" i="1" spc="145" dirty="0">
                <a:solidFill>
                  <a:srgbClr val="3232B2"/>
                </a:solidFill>
                <a:latin typeface="Cambria"/>
                <a:cs typeface="Cambria"/>
              </a:rPr>
              <a:t>JC</a:t>
            </a:r>
            <a:r>
              <a:rPr sz="1100" i="1" spc="30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100" i="1" spc="-10" dirty="0">
                <a:solidFill>
                  <a:srgbClr val="3232B2"/>
                </a:solidFill>
                <a:latin typeface="Cambria"/>
                <a:cs typeface="Cambria"/>
              </a:rPr>
              <a:t>similarity</a:t>
            </a:r>
            <a:endParaRPr sz="1100">
              <a:latin typeface="Cambria"/>
              <a:cs typeface="Cambria"/>
            </a:endParaRPr>
          </a:p>
          <a:p>
            <a:pPr marL="38100">
              <a:lnSpc>
                <a:spcPct val="100000"/>
              </a:lnSpc>
              <a:spcBef>
                <a:spcPts val="425"/>
              </a:spcBef>
            </a:pPr>
            <a:r>
              <a:rPr sz="950" spc="55" dirty="0">
                <a:latin typeface="Trebuchet MS"/>
                <a:cs typeface="Trebuchet MS"/>
              </a:rPr>
              <a:t>We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can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spc="50" dirty="0">
                <a:latin typeface="Trebuchet MS"/>
                <a:cs typeface="Trebuchet MS"/>
              </a:rPr>
              <a:t>use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spc="75" dirty="0">
                <a:latin typeface="Trebuchet MS"/>
                <a:cs typeface="Trebuchet MS"/>
              </a:rPr>
              <a:t>IC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to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assign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lengths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to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graph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edges:</a:t>
            </a:r>
            <a:endParaRPr sz="950">
              <a:latin typeface="Trebuchet MS"/>
              <a:cs typeface="Trebuchet MS"/>
            </a:endParaRPr>
          </a:p>
          <a:p>
            <a:pPr marL="213360" marR="335280" indent="575310">
              <a:lnSpc>
                <a:spcPts val="3100"/>
              </a:lnSpc>
              <a:spcBef>
                <a:spcPts val="40"/>
              </a:spcBef>
            </a:pPr>
            <a:r>
              <a:rPr sz="1100" i="1" dirty="0">
                <a:latin typeface="Cambria"/>
                <a:cs typeface="Cambria"/>
              </a:rPr>
              <a:t>dist</a:t>
            </a:r>
            <a:r>
              <a:rPr sz="1200" i="1" baseline="-10416" dirty="0">
                <a:latin typeface="Cambria"/>
                <a:cs typeface="Cambria"/>
              </a:rPr>
              <a:t>JC</a:t>
            </a:r>
            <a:r>
              <a:rPr sz="1100" dirty="0">
                <a:latin typeface="Arial MT"/>
                <a:cs typeface="Arial MT"/>
              </a:rPr>
              <a:t>(</a:t>
            </a:r>
            <a:r>
              <a:rPr sz="1100" i="1" dirty="0">
                <a:latin typeface="Cambria"/>
                <a:cs typeface="Cambria"/>
              </a:rPr>
              <a:t>c</a:t>
            </a:r>
            <a:r>
              <a:rPr sz="1100" i="1" dirty="0">
                <a:latin typeface="Arial"/>
                <a:cs typeface="Arial"/>
              </a:rPr>
              <a:t>,</a:t>
            </a:r>
            <a:r>
              <a:rPr sz="1100" i="1" spc="-155" dirty="0">
                <a:latin typeface="Arial"/>
                <a:cs typeface="Arial"/>
              </a:rPr>
              <a:t> </a:t>
            </a:r>
            <a:r>
              <a:rPr sz="1100" i="1" spc="-10" dirty="0">
                <a:latin typeface="Cambria"/>
                <a:cs typeface="Cambria"/>
              </a:rPr>
              <a:t>hypernym</a:t>
            </a:r>
            <a:r>
              <a:rPr sz="1100" spc="-10" dirty="0">
                <a:latin typeface="Arial MT"/>
                <a:cs typeface="Arial MT"/>
              </a:rPr>
              <a:t>(</a:t>
            </a:r>
            <a:r>
              <a:rPr sz="1100" i="1" spc="-10" dirty="0">
                <a:latin typeface="Cambria"/>
                <a:cs typeface="Cambria"/>
              </a:rPr>
              <a:t>c</a:t>
            </a:r>
            <a:r>
              <a:rPr sz="1100" spc="-10" dirty="0">
                <a:latin typeface="Arial MT"/>
                <a:cs typeface="Arial MT"/>
              </a:rPr>
              <a:t>))</a:t>
            </a:r>
            <a:r>
              <a:rPr sz="1100" spc="-5" dirty="0">
                <a:latin typeface="Arial MT"/>
                <a:cs typeface="Arial MT"/>
              </a:rPr>
              <a:t> </a:t>
            </a:r>
            <a:r>
              <a:rPr sz="1100" spc="200" dirty="0">
                <a:latin typeface="Arial MT"/>
                <a:cs typeface="Arial MT"/>
              </a:rPr>
              <a:t>=</a:t>
            </a:r>
            <a:r>
              <a:rPr sz="1100" dirty="0">
                <a:latin typeface="Arial MT"/>
                <a:cs typeface="Arial MT"/>
              </a:rPr>
              <a:t> </a:t>
            </a:r>
            <a:r>
              <a:rPr sz="1100" i="1" spc="55" dirty="0">
                <a:latin typeface="Cambria"/>
                <a:cs typeface="Cambria"/>
              </a:rPr>
              <a:t>IC</a:t>
            </a:r>
            <a:r>
              <a:rPr sz="1100" spc="55" dirty="0">
                <a:latin typeface="Arial MT"/>
                <a:cs typeface="Arial MT"/>
              </a:rPr>
              <a:t>(</a:t>
            </a:r>
            <a:r>
              <a:rPr sz="1100" i="1" spc="55" dirty="0">
                <a:latin typeface="Cambria"/>
                <a:cs typeface="Cambria"/>
              </a:rPr>
              <a:t>c</a:t>
            </a:r>
            <a:r>
              <a:rPr sz="1100" spc="55" dirty="0">
                <a:latin typeface="Arial MT"/>
                <a:cs typeface="Arial MT"/>
              </a:rPr>
              <a:t>)</a:t>
            </a:r>
            <a:r>
              <a:rPr sz="1100" spc="-114" dirty="0">
                <a:latin typeface="Arial MT"/>
                <a:cs typeface="Arial MT"/>
              </a:rPr>
              <a:t> </a:t>
            </a:r>
            <a:r>
              <a:rPr sz="1100" spc="-190" dirty="0">
                <a:latin typeface="Lucida Sans Unicode"/>
                <a:cs typeface="Lucida Sans Unicode"/>
              </a:rPr>
              <a:t>−</a:t>
            </a:r>
            <a:r>
              <a:rPr sz="1100" spc="-160" dirty="0">
                <a:latin typeface="Lucida Sans Unicode"/>
                <a:cs typeface="Lucida Sans Unicode"/>
              </a:rPr>
              <a:t> </a:t>
            </a:r>
            <a:r>
              <a:rPr sz="1100" i="1" spc="-10" dirty="0">
                <a:latin typeface="Cambria"/>
                <a:cs typeface="Cambria"/>
              </a:rPr>
              <a:t>IC</a:t>
            </a:r>
            <a:r>
              <a:rPr sz="1100" spc="-10" dirty="0">
                <a:latin typeface="Arial MT"/>
                <a:cs typeface="Arial MT"/>
              </a:rPr>
              <a:t>(</a:t>
            </a:r>
            <a:r>
              <a:rPr sz="1100" i="1" spc="-10" dirty="0">
                <a:latin typeface="Cambria"/>
                <a:cs typeface="Cambria"/>
              </a:rPr>
              <a:t>hypernym</a:t>
            </a:r>
            <a:r>
              <a:rPr sz="1100" spc="-10" dirty="0">
                <a:latin typeface="Arial MT"/>
                <a:cs typeface="Arial MT"/>
              </a:rPr>
              <a:t>(</a:t>
            </a:r>
            <a:r>
              <a:rPr sz="1100" i="1" spc="-10" dirty="0">
                <a:latin typeface="Cambria"/>
                <a:cs typeface="Cambria"/>
              </a:rPr>
              <a:t>c</a:t>
            </a:r>
            <a:r>
              <a:rPr sz="1100" spc="-10" dirty="0">
                <a:latin typeface="Arial MT"/>
                <a:cs typeface="Arial MT"/>
              </a:rPr>
              <a:t>)) </a:t>
            </a:r>
            <a:r>
              <a:rPr sz="1100" i="1" spc="20" dirty="0">
                <a:latin typeface="Cambria"/>
                <a:cs typeface="Cambria"/>
              </a:rPr>
              <a:t>dist</a:t>
            </a:r>
            <a:r>
              <a:rPr sz="1200" i="1" spc="30" baseline="-10416" dirty="0">
                <a:latin typeface="Cambria"/>
                <a:cs typeface="Cambria"/>
              </a:rPr>
              <a:t>JC</a:t>
            </a:r>
            <a:r>
              <a:rPr sz="1100" spc="20" dirty="0">
                <a:latin typeface="Arial MT"/>
                <a:cs typeface="Arial MT"/>
              </a:rPr>
              <a:t>(</a:t>
            </a:r>
            <a:r>
              <a:rPr sz="1100" i="1" spc="20" dirty="0">
                <a:latin typeface="Cambria"/>
                <a:cs typeface="Cambria"/>
              </a:rPr>
              <a:t>c</a:t>
            </a:r>
            <a:r>
              <a:rPr sz="1200" spc="30" baseline="-10416" dirty="0">
                <a:latin typeface="Cambria"/>
                <a:cs typeface="Cambria"/>
              </a:rPr>
              <a:t>1</a:t>
            </a:r>
            <a:r>
              <a:rPr sz="1100" i="1" spc="20" dirty="0">
                <a:latin typeface="Arial"/>
                <a:cs typeface="Arial"/>
              </a:rPr>
              <a:t>,</a:t>
            </a:r>
            <a:r>
              <a:rPr sz="1100" i="1" spc="-175" dirty="0">
                <a:latin typeface="Arial"/>
                <a:cs typeface="Arial"/>
              </a:rPr>
              <a:t> </a:t>
            </a:r>
            <a:r>
              <a:rPr sz="1100" i="1" spc="20" dirty="0">
                <a:latin typeface="Cambria"/>
                <a:cs typeface="Cambria"/>
              </a:rPr>
              <a:t>c</a:t>
            </a:r>
            <a:r>
              <a:rPr sz="1200" spc="30" baseline="-10416" dirty="0">
                <a:latin typeface="Cambria"/>
                <a:cs typeface="Cambria"/>
              </a:rPr>
              <a:t>2</a:t>
            </a:r>
            <a:r>
              <a:rPr sz="1100" spc="20" dirty="0">
                <a:latin typeface="Arial MT"/>
                <a:cs typeface="Arial MT"/>
              </a:rPr>
              <a:t>)</a:t>
            </a:r>
            <a:r>
              <a:rPr sz="1100" spc="229" dirty="0">
                <a:latin typeface="Arial MT"/>
                <a:cs typeface="Arial MT"/>
              </a:rPr>
              <a:t>  </a:t>
            </a:r>
            <a:r>
              <a:rPr sz="1100" spc="200" dirty="0">
                <a:latin typeface="Arial MT"/>
                <a:cs typeface="Arial MT"/>
              </a:rPr>
              <a:t>=</a:t>
            </a:r>
            <a:r>
              <a:rPr sz="1100" spc="235" dirty="0">
                <a:latin typeface="Arial MT"/>
                <a:cs typeface="Arial MT"/>
              </a:rPr>
              <a:t>  </a:t>
            </a:r>
            <a:r>
              <a:rPr sz="1100" i="1" spc="20" dirty="0">
                <a:latin typeface="Cambria"/>
                <a:cs typeface="Cambria"/>
              </a:rPr>
              <a:t>dist</a:t>
            </a:r>
            <a:r>
              <a:rPr sz="1200" i="1" spc="30" baseline="-10416" dirty="0">
                <a:latin typeface="Cambria"/>
                <a:cs typeface="Cambria"/>
              </a:rPr>
              <a:t>JC</a:t>
            </a:r>
            <a:r>
              <a:rPr sz="1100" spc="20" dirty="0">
                <a:latin typeface="Arial MT"/>
                <a:cs typeface="Arial MT"/>
              </a:rPr>
              <a:t>(</a:t>
            </a:r>
            <a:r>
              <a:rPr sz="1100" i="1" spc="20" dirty="0">
                <a:latin typeface="Cambria"/>
                <a:cs typeface="Cambria"/>
              </a:rPr>
              <a:t>c</a:t>
            </a:r>
            <a:r>
              <a:rPr sz="1200" spc="30" baseline="-10416" dirty="0">
                <a:latin typeface="Cambria"/>
                <a:cs typeface="Cambria"/>
              </a:rPr>
              <a:t>1</a:t>
            </a:r>
            <a:r>
              <a:rPr sz="1100" i="1" spc="20" dirty="0">
                <a:latin typeface="Arial"/>
                <a:cs typeface="Arial"/>
              </a:rPr>
              <a:t>,</a:t>
            </a:r>
            <a:r>
              <a:rPr sz="1100" i="1" spc="-175" dirty="0">
                <a:latin typeface="Arial"/>
                <a:cs typeface="Arial"/>
              </a:rPr>
              <a:t> </a:t>
            </a:r>
            <a:r>
              <a:rPr sz="1100" i="1" spc="20" dirty="0">
                <a:latin typeface="Cambria"/>
                <a:cs typeface="Cambria"/>
              </a:rPr>
              <a:t>LCS</a:t>
            </a:r>
            <a:r>
              <a:rPr sz="1100" spc="20" dirty="0">
                <a:latin typeface="Arial MT"/>
                <a:cs typeface="Arial MT"/>
              </a:rPr>
              <a:t>(</a:t>
            </a:r>
            <a:r>
              <a:rPr sz="1100" i="1" spc="20" dirty="0">
                <a:latin typeface="Cambria"/>
                <a:cs typeface="Cambria"/>
              </a:rPr>
              <a:t>c</a:t>
            </a:r>
            <a:r>
              <a:rPr sz="1200" spc="30" baseline="-10416" dirty="0">
                <a:latin typeface="Cambria"/>
                <a:cs typeface="Cambria"/>
              </a:rPr>
              <a:t>1</a:t>
            </a:r>
            <a:r>
              <a:rPr sz="1100" i="1" spc="20" dirty="0">
                <a:latin typeface="Arial"/>
                <a:cs typeface="Arial"/>
              </a:rPr>
              <a:t>,</a:t>
            </a:r>
            <a:r>
              <a:rPr sz="1100" i="1" spc="-175" dirty="0">
                <a:latin typeface="Arial"/>
                <a:cs typeface="Arial"/>
              </a:rPr>
              <a:t> </a:t>
            </a:r>
            <a:r>
              <a:rPr sz="1100" i="1" spc="20" dirty="0">
                <a:latin typeface="Cambria"/>
                <a:cs typeface="Cambria"/>
              </a:rPr>
              <a:t>c</a:t>
            </a:r>
            <a:r>
              <a:rPr sz="1200" spc="30" baseline="-10416" dirty="0">
                <a:latin typeface="Cambria"/>
                <a:cs typeface="Cambria"/>
              </a:rPr>
              <a:t>2</a:t>
            </a:r>
            <a:r>
              <a:rPr sz="1100" spc="20" dirty="0">
                <a:latin typeface="Arial MT"/>
                <a:cs typeface="Arial MT"/>
              </a:rPr>
              <a:t>))</a:t>
            </a:r>
            <a:r>
              <a:rPr sz="1100" spc="-145" dirty="0">
                <a:latin typeface="Arial MT"/>
                <a:cs typeface="Arial MT"/>
              </a:rPr>
              <a:t> </a:t>
            </a:r>
            <a:r>
              <a:rPr sz="1100" spc="200" dirty="0">
                <a:latin typeface="Arial MT"/>
                <a:cs typeface="Arial MT"/>
              </a:rPr>
              <a:t>+</a:t>
            </a:r>
            <a:r>
              <a:rPr sz="1100" spc="-140" dirty="0">
                <a:latin typeface="Arial MT"/>
                <a:cs typeface="Arial MT"/>
              </a:rPr>
              <a:t> </a:t>
            </a:r>
            <a:r>
              <a:rPr sz="1100" i="1" spc="20" dirty="0">
                <a:latin typeface="Cambria"/>
                <a:cs typeface="Cambria"/>
              </a:rPr>
              <a:t>dist</a:t>
            </a:r>
            <a:r>
              <a:rPr sz="1200" i="1" spc="30" baseline="-10416" dirty="0">
                <a:latin typeface="Cambria"/>
                <a:cs typeface="Cambria"/>
              </a:rPr>
              <a:t>JC</a:t>
            </a:r>
            <a:r>
              <a:rPr sz="1100" spc="20" dirty="0">
                <a:latin typeface="Arial MT"/>
                <a:cs typeface="Arial MT"/>
              </a:rPr>
              <a:t>(</a:t>
            </a:r>
            <a:r>
              <a:rPr sz="1100" i="1" spc="20" dirty="0">
                <a:latin typeface="Cambria"/>
                <a:cs typeface="Cambria"/>
              </a:rPr>
              <a:t>c</a:t>
            </a:r>
            <a:r>
              <a:rPr sz="1200" spc="30" baseline="-10416" dirty="0">
                <a:latin typeface="Cambria"/>
                <a:cs typeface="Cambria"/>
              </a:rPr>
              <a:t>2</a:t>
            </a:r>
            <a:r>
              <a:rPr sz="1100" i="1" spc="20" dirty="0">
                <a:latin typeface="Arial"/>
                <a:cs typeface="Arial"/>
              </a:rPr>
              <a:t>,</a:t>
            </a:r>
            <a:r>
              <a:rPr sz="1100" i="1" spc="-175" dirty="0">
                <a:latin typeface="Arial"/>
                <a:cs typeface="Arial"/>
              </a:rPr>
              <a:t> </a:t>
            </a:r>
            <a:r>
              <a:rPr sz="1100" i="1" spc="20" dirty="0">
                <a:latin typeface="Cambria"/>
                <a:cs typeface="Cambria"/>
              </a:rPr>
              <a:t>LCS</a:t>
            </a:r>
            <a:r>
              <a:rPr sz="1100" spc="20" dirty="0">
                <a:latin typeface="Arial MT"/>
                <a:cs typeface="Arial MT"/>
              </a:rPr>
              <a:t>(</a:t>
            </a:r>
            <a:r>
              <a:rPr sz="1100" i="1" spc="20" dirty="0">
                <a:latin typeface="Cambria"/>
                <a:cs typeface="Cambria"/>
              </a:rPr>
              <a:t>c</a:t>
            </a:r>
            <a:r>
              <a:rPr sz="1200" spc="30" baseline="-10416" dirty="0">
                <a:latin typeface="Cambria"/>
                <a:cs typeface="Cambria"/>
              </a:rPr>
              <a:t>1</a:t>
            </a:r>
            <a:r>
              <a:rPr sz="1100" i="1" spc="20" dirty="0">
                <a:latin typeface="Arial"/>
                <a:cs typeface="Arial"/>
              </a:rPr>
              <a:t>,</a:t>
            </a:r>
            <a:r>
              <a:rPr sz="1100" i="1" spc="-175" dirty="0">
                <a:latin typeface="Arial"/>
                <a:cs typeface="Arial"/>
              </a:rPr>
              <a:t> </a:t>
            </a:r>
            <a:r>
              <a:rPr sz="1100" i="1" spc="-20" dirty="0">
                <a:latin typeface="Cambria"/>
                <a:cs typeface="Cambria"/>
              </a:rPr>
              <a:t>c</a:t>
            </a:r>
            <a:r>
              <a:rPr sz="1200" spc="-30" baseline="-10416" dirty="0">
                <a:latin typeface="Cambria"/>
                <a:cs typeface="Cambria"/>
              </a:rPr>
              <a:t>2</a:t>
            </a:r>
            <a:r>
              <a:rPr sz="1100" spc="-20" dirty="0">
                <a:latin typeface="Arial MT"/>
                <a:cs typeface="Arial MT"/>
              </a:rPr>
              <a:t>))</a:t>
            </a:r>
            <a:endParaRPr sz="1100">
              <a:latin typeface="Arial MT"/>
              <a:cs typeface="Arial MT"/>
            </a:endParaRPr>
          </a:p>
          <a:p>
            <a:pPr marL="1056005">
              <a:lnSpc>
                <a:spcPts val="1250"/>
              </a:lnSpc>
            </a:pPr>
            <a:r>
              <a:rPr sz="1100" spc="200" dirty="0">
                <a:latin typeface="Arial MT"/>
                <a:cs typeface="Arial MT"/>
              </a:rPr>
              <a:t>=</a:t>
            </a:r>
            <a:r>
              <a:rPr sz="1100" spc="360" dirty="0">
                <a:latin typeface="Arial MT"/>
                <a:cs typeface="Arial MT"/>
              </a:rPr>
              <a:t>  </a:t>
            </a:r>
            <a:r>
              <a:rPr sz="1100" i="1" dirty="0">
                <a:latin typeface="Cambria"/>
                <a:cs typeface="Cambria"/>
              </a:rPr>
              <a:t>IC</a:t>
            </a:r>
            <a:r>
              <a:rPr sz="1100" dirty="0">
                <a:latin typeface="Arial MT"/>
                <a:cs typeface="Arial MT"/>
              </a:rPr>
              <a:t>(</a:t>
            </a:r>
            <a:r>
              <a:rPr sz="1100" i="1" dirty="0">
                <a:latin typeface="Cambria"/>
                <a:cs typeface="Cambria"/>
              </a:rPr>
              <a:t>c</a:t>
            </a:r>
            <a:r>
              <a:rPr sz="1200" baseline="-10416" dirty="0">
                <a:latin typeface="Cambria"/>
                <a:cs typeface="Cambria"/>
              </a:rPr>
              <a:t>1</a:t>
            </a:r>
            <a:r>
              <a:rPr sz="1100" dirty="0">
                <a:latin typeface="Arial MT"/>
                <a:cs typeface="Arial MT"/>
              </a:rPr>
              <a:t>)</a:t>
            </a:r>
            <a:r>
              <a:rPr sz="1100" spc="-105" dirty="0">
                <a:latin typeface="Arial MT"/>
                <a:cs typeface="Arial MT"/>
              </a:rPr>
              <a:t> </a:t>
            </a:r>
            <a:r>
              <a:rPr sz="1100" spc="-190" dirty="0">
                <a:latin typeface="Lucida Sans Unicode"/>
                <a:cs typeface="Lucida Sans Unicode"/>
              </a:rPr>
              <a:t>−</a:t>
            </a:r>
            <a:r>
              <a:rPr sz="1100" spc="-150" dirty="0">
                <a:latin typeface="Lucida Sans Unicode"/>
                <a:cs typeface="Lucida Sans Unicode"/>
              </a:rPr>
              <a:t> </a:t>
            </a:r>
            <a:r>
              <a:rPr sz="1100" i="1" spc="45" dirty="0">
                <a:latin typeface="Cambria"/>
                <a:cs typeface="Cambria"/>
              </a:rPr>
              <a:t>IC</a:t>
            </a:r>
            <a:r>
              <a:rPr sz="1100" spc="45" dirty="0">
                <a:latin typeface="Arial MT"/>
                <a:cs typeface="Arial MT"/>
              </a:rPr>
              <a:t>(</a:t>
            </a:r>
            <a:r>
              <a:rPr sz="1100" i="1" spc="45" dirty="0">
                <a:latin typeface="Cambria"/>
                <a:cs typeface="Cambria"/>
              </a:rPr>
              <a:t>LCS</a:t>
            </a:r>
            <a:r>
              <a:rPr sz="1100" spc="45" dirty="0">
                <a:latin typeface="Arial MT"/>
                <a:cs typeface="Arial MT"/>
              </a:rPr>
              <a:t>(</a:t>
            </a:r>
            <a:r>
              <a:rPr sz="1100" i="1" spc="45" dirty="0">
                <a:latin typeface="Cambria"/>
                <a:cs typeface="Cambria"/>
              </a:rPr>
              <a:t>c</a:t>
            </a:r>
            <a:r>
              <a:rPr sz="1200" spc="67" baseline="-10416" dirty="0">
                <a:latin typeface="Cambria"/>
                <a:cs typeface="Cambria"/>
              </a:rPr>
              <a:t>1</a:t>
            </a:r>
            <a:r>
              <a:rPr sz="1100" i="1" spc="45" dirty="0">
                <a:latin typeface="Arial"/>
                <a:cs typeface="Arial"/>
              </a:rPr>
              <a:t>,</a:t>
            </a:r>
            <a:r>
              <a:rPr sz="1100" i="1" spc="-145" dirty="0">
                <a:latin typeface="Arial"/>
                <a:cs typeface="Arial"/>
              </a:rPr>
              <a:t> </a:t>
            </a:r>
            <a:r>
              <a:rPr sz="1100" i="1" dirty="0">
                <a:latin typeface="Cambria"/>
                <a:cs typeface="Cambria"/>
              </a:rPr>
              <a:t>c</a:t>
            </a:r>
            <a:r>
              <a:rPr sz="1200" baseline="-10416" dirty="0">
                <a:latin typeface="Cambria"/>
                <a:cs typeface="Cambria"/>
              </a:rPr>
              <a:t>2</a:t>
            </a:r>
            <a:r>
              <a:rPr sz="1100" dirty="0">
                <a:latin typeface="Arial MT"/>
                <a:cs typeface="Arial MT"/>
              </a:rPr>
              <a:t>))</a:t>
            </a:r>
            <a:r>
              <a:rPr sz="1100" spc="-100" dirty="0">
                <a:latin typeface="Arial MT"/>
                <a:cs typeface="Arial MT"/>
              </a:rPr>
              <a:t> </a:t>
            </a:r>
            <a:r>
              <a:rPr sz="1100" spc="200" dirty="0">
                <a:latin typeface="Arial MT"/>
                <a:cs typeface="Arial MT"/>
              </a:rPr>
              <a:t>+</a:t>
            </a:r>
            <a:r>
              <a:rPr sz="1100" spc="-105" dirty="0">
                <a:latin typeface="Arial MT"/>
                <a:cs typeface="Arial MT"/>
              </a:rPr>
              <a:t> </a:t>
            </a:r>
            <a:r>
              <a:rPr sz="1100" i="1" dirty="0">
                <a:latin typeface="Cambria"/>
                <a:cs typeface="Cambria"/>
              </a:rPr>
              <a:t>IC</a:t>
            </a:r>
            <a:r>
              <a:rPr sz="1100" dirty="0">
                <a:latin typeface="Arial MT"/>
                <a:cs typeface="Arial MT"/>
              </a:rPr>
              <a:t>(</a:t>
            </a:r>
            <a:r>
              <a:rPr sz="1100" i="1" dirty="0">
                <a:latin typeface="Cambria"/>
                <a:cs typeface="Cambria"/>
              </a:rPr>
              <a:t>c</a:t>
            </a:r>
            <a:r>
              <a:rPr sz="1200" baseline="-10416" dirty="0">
                <a:latin typeface="Cambria"/>
                <a:cs typeface="Cambria"/>
              </a:rPr>
              <a:t>2</a:t>
            </a:r>
            <a:r>
              <a:rPr sz="1100" dirty="0">
                <a:latin typeface="Arial MT"/>
                <a:cs typeface="Arial MT"/>
              </a:rPr>
              <a:t>)</a:t>
            </a:r>
            <a:r>
              <a:rPr sz="1100" spc="-105" dirty="0">
                <a:latin typeface="Arial MT"/>
                <a:cs typeface="Arial MT"/>
              </a:rPr>
              <a:t> </a:t>
            </a:r>
            <a:r>
              <a:rPr sz="1100" spc="-190" dirty="0">
                <a:latin typeface="Lucida Sans Unicode"/>
                <a:cs typeface="Lucida Sans Unicode"/>
              </a:rPr>
              <a:t>−</a:t>
            </a:r>
            <a:r>
              <a:rPr sz="1100" spc="-150" dirty="0">
                <a:latin typeface="Lucida Sans Unicode"/>
                <a:cs typeface="Lucida Sans Unicode"/>
              </a:rPr>
              <a:t> </a:t>
            </a:r>
            <a:r>
              <a:rPr sz="1100" i="1" spc="45" dirty="0">
                <a:latin typeface="Cambria"/>
                <a:cs typeface="Cambria"/>
              </a:rPr>
              <a:t>IC</a:t>
            </a:r>
            <a:r>
              <a:rPr sz="1100" spc="45" dirty="0">
                <a:latin typeface="Arial MT"/>
                <a:cs typeface="Arial MT"/>
              </a:rPr>
              <a:t>(</a:t>
            </a:r>
            <a:r>
              <a:rPr sz="1100" i="1" spc="45" dirty="0">
                <a:latin typeface="Cambria"/>
                <a:cs typeface="Cambria"/>
              </a:rPr>
              <a:t>LCS</a:t>
            </a:r>
            <a:r>
              <a:rPr sz="1100" spc="45" dirty="0">
                <a:latin typeface="Arial MT"/>
                <a:cs typeface="Arial MT"/>
              </a:rPr>
              <a:t>(</a:t>
            </a:r>
            <a:r>
              <a:rPr sz="1100" i="1" spc="45" dirty="0">
                <a:latin typeface="Cambria"/>
                <a:cs typeface="Cambria"/>
              </a:rPr>
              <a:t>c</a:t>
            </a:r>
            <a:r>
              <a:rPr sz="1200" spc="67" baseline="-10416" dirty="0">
                <a:latin typeface="Cambria"/>
                <a:cs typeface="Cambria"/>
              </a:rPr>
              <a:t>1</a:t>
            </a:r>
            <a:r>
              <a:rPr sz="1100" i="1" spc="45" dirty="0">
                <a:latin typeface="Arial"/>
                <a:cs typeface="Arial"/>
              </a:rPr>
              <a:t>,</a:t>
            </a:r>
            <a:r>
              <a:rPr sz="1100" i="1" spc="-145" dirty="0">
                <a:latin typeface="Arial"/>
                <a:cs typeface="Arial"/>
              </a:rPr>
              <a:t> </a:t>
            </a:r>
            <a:r>
              <a:rPr sz="1100" i="1" spc="-20" dirty="0">
                <a:latin typeface="Cambria"/>
                <a:cs typeface="Cambria"/>
              </a:rPr>
              <a:t>c</a:t>
            </a:r>
            <a:r>
              <a:rPr sz="1200" spc="-30" baseline="-10416" dirty="0">
                <a:latin typeface="Cambria"/>
                <a:cs typeface="Cambria"/>
              </a:rPr>
              <a:t>2</a:t>
            </a:r>
            <a:r>
              <a:rPr sz="1100" spc="-20" dirty="0">
                <a:latin typeface="Arial MT"/>
                <a:cs typeface="Arial MT"/>
              </a:rPr>
              <a:t>))</a:t>
            </a:r>
            <a:endParaRPr sz="1100">
              <a:latin typeface="Arial MT"/>
              <a:cs typeface="Arial MT"/>
            </a:endParaRPr>
          </a:p>
          <a:p>
            <a:pPr marL="1056005">
              <a:lnSpc>
                <a:spcPct val="100000"/>
              </a:lnSpc>
              <a:spcBef>
                <a:spcPts val="330"/>
              </a:spcBef>
            </a:pPr>
            <a:r>
              <a:rPr sz="1100" spc="200" dirty="0">
                <a:latin typeface="Arial MT"/>
                <a:cs typeface="Arial MT"/>
              </a:rPr>
              <a:t>=</a:t>
            </a:r>
            <a:r>
              <a:rPr sz="1100" spc="340" dirty="0">
                <a:latin typeface="Arial MT"/>
                <a:cs typeface="Arial MT"/>
              </a:rPr>
              <a:t>  </a:t>
            </a:r>
            <a:r>
              <a:rPr sz="1100" i="1" dirty="0">
                <a:latin typeface="Cambria"/>
                <a:cs typeface="Cambria"/>
              </a:rPr>
              <a:t>IC</a:t>
            </a:r>
            <a:r>
              <a:rPr sz="1100" dirty="0">
                <a:latin typeface="Arial MT"/>
                <a:cs typeface="Arial MT"/>
              </a:rPr>
              <a:t>(</a:t>
            </a:r>
            <a:r>
              <a:rPr sz="1100" i="1" dirty="0">
                <a:latin typeface="Cambria"/>
                <a:cs typeface="Cambria"/>
              </a:rPr>
              <a:t>c</a:t>
            </a:r>
            <a:r>
              <a:rPr sz="1200" baseline="-10416" dirty="0">
                <a:latin typeface="Cambria"/>
                <a:cs typeface="Cambria"/>
              </a:rPr>
              <a:t>1</a:t>
            </a:r>
            <a:r>
              <a:rPr sz="1100" dirty="0">
                <a:latin typeface="Arial MT"/>
                <a:cs typeface="Arial MT"/>
              </a:rPr>
              <a:t>)</a:t>
            </a:r>
            <a:r>
              <a:rPr sz="1100" spc="-110" dirty="0">
                <a:latin typeface="Arial MT"/>
                <a:cs typeface="Arial MT"/>
              </a:rPr>
              <a:t> </a:t>
            </a:r>
            <a:r>
              <a:rPr sz="1100" spc="200" dirty="0">
                <a:latin typeface="Arial MT"/>
                <a:cs typeface="Arial MT"/>
              </a:rPr>
              <a:t>+</a:t>
            </a:r>
            <a:r>
              <a:rPr sz="1100" spc="-110" dirty="0">
                <a:latin typeface="Arial MT"/>
                <a:cs typeface="Arial MT"/>
              </a:rPr>
              <a:t> </a:t>
            </a:r>
            <a:r>
              <a:rPr sz="1100" i="1" dirty="0">
                <a:latin typeface="Cambria"/>
                <a:cs typeface="Cambria"/>
              </a:rPr>
              <a:t>IC</a:t>
            </a:r>
            <a:r>
              <a:rPr sz="1100" dirty="0">
                <a:latin typeface="Arial MT"/>
                <a:cs typeface="Arial MT"/>
              </a:rPr>
              <a:t>(</a:t>
            </a:r>
            <a:r>
              <a:rPr sz="1100" i="1" dirty="0">
                <a:latin typeface="Cambria"/>
                <a:cs typeface="Cambria"/>
              </a:rPr>
              <a:t>c</a:t>
            </a:r>
            <a:r>
              <a:rPr sz="1200" baseline="-10416" dirty="0">
                <a:latin typeface="Cambria"/>
                <a:cs typeface="Cambria"/>
              </a:rPr>
              <a:t>2</a:t>
            </a:r>
            <a:r>
              <a:rPr sz="1100" dirty="0">
                <a:latin typeface="Arial MT"/>
                <a:cs typeface="Arial MT"/>
              </a:rPr>
              <a:t>)</a:t>
            </a:r>
            <a:r>
              <a:rPr sz="1100" spc="-110" dirty="0">
                <a:latin typeface="Arial MT"/>
                <a:cs typeface="Arial MT"/>
              </a:rPr>
              <a:t> </a:t>
            </a:r>
            <a:r>
              <a:rPr sz="1100" spc="-190" dirty="0">
                <a:latin typeface="Lucida Sans Unicode"/>
                <a:cs typeface="Lucida Sans Unicode"/>
              </a:rPr>
              <a:t>−</a:t>
            </a:r>
            <a:r>
              <a:rPr sz="1100" spc="-150" dirty="0">
                <a:latin typeface="Lucida Sans Unicode"/>
                <a:cs typeface="Lucida Sans Unicode"/>
              </a:rPr>
              <a:t> </a:t>
            </a:r>
            <a:r>
              <a:rPr sz="1100" spc="-75" dirty="0">
                <a:latin typeface="Cambria"/>
                <a:cs typeface="Cambria"/>
              </a:rPr>
              <a:t>2</a:t>
            </a:r>
            <a:r>
              <a:rPr sz="1100" spc="-50" dirty="0">
                <a:latin typeface="Cambria"/>
                <a:cs typeface="Cambria"/>
              </a:rPr>
              <a:t> </a:t>
            </a:r>
            <a:r>
              <a:rPr sz="1100" spc="-190" dirty="0">
                <a:latin typeface="Lucida Sans Unicode"/>
                <a:cs typeface="Lucida Sans Unicode"/>
              </a:rPr>
              <a:t>×</a:t>
            </a:r>
            <a:r>
              <a:rPr sz="1100" spc="-155" dirty="0">
                <a:latin typeface="Lucida Sans Unicode"/>
                <a:cs typeface="Lucida Sans Unicode"/>
              </a:rPr>
              <a:t> </a:t>
            </a:r>
            <a:r>
              <a:rPr sz="1100" i="1" spc="45" dirty="0">
                <a:latin typeface="Cambria"/>
                <a:cs typeface="Cambria"/>
              </a:rPr>
              <a:t>IC</a:t>
            </a:r>
            <a:r>
              <a:rPr sz="1100" spc="45" dirty="0">
                <a:latin typeface="Arial MT"/>
                <a:cs typeface="Arial MT"/>
              </a:rPr>
              <a:t>(</a:t>
            </a:r>
            <a:r>
              <a:rPr sz="1100" i="1" spc="45" dirty="0">
                <a:latin typeface="Cambria"/>
                <a:cs typeface="Cambria"/>
              </a:rPr>
              <a:t>LCS</a:t>
            </a:r>
            <a:r>
              <a:rPr sz="1100" spc="45" dirty="0">
                <a:latin typeface="Arial MT"/>
                <a:cs typeface="Arial MT"/>
              </a:rPr>
              <a:t>(</a:t>
            </a:r>
            <a:r>
              <a:rPr sz="1100" i="1" spc="45" dirty="0">
                <a:latin typeface="Cambria"/>
                <a:cs typeface="Cambria"/>
              </a:rPr>
              <a:t>c</a:t>
            </a:r>
            <a:r>
              <a:rPr sz="1200" spc="67" baseline="-10416" dirty="0">
                <a:latin typeface="Cambria"/>
                <a:cs typeface="Cambria"/>
              </a:rPr>
              <a:t>1</a:t>
            </a:r>
            <a:r>
              <a:rPr sz="1100" i="1" spc="45" dirty="0">
                <a:latin typeface="Arial"/>
                <a:cs typeface="Arial"/>
              </a:rPr>
              <a:t>,</a:t>
            </a:r>
            <a:r>
              <a:rPr sz="1100" i="1" spc="-150" dirty="0">
                <a:latin typeface="Arial"/>
                <a:cs typeface="Arial"/>
              </a:rPr>
              <a:t> </a:t>
            </a:r>
            <a:r>
              <a:rPr sz="1100" i="1" spc="-20" dirty="0">
                <a:latin typeface="Cambria"/>
                <a:cs typeface="Cambria"/>
              </a:rPr>
              <a:t>c</a:t>
            </a:r>
            <a:r>
              <a:rPr sz="1200" spc="-30" baseline="-10416" dirty="0">
                <a:latin typeface="Cambria"/>
                <a:cs typeface="Cambria"/>
              </a:rPr>
              <a:t>2</a:t>
            </a:r>
            <a:r>
              <a:rPr sz="1100" spc="-20" dirty="0">
                <a:latin typeface="Arial MT"/>
                <a:cs typeface="Arial MT"/>
              </a:rPr>
              <a:t>))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67905" y="2487345"/>
            <a:ext cx="305752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  <a:tabLst>
                <a:tab pos="1939925" algn="l"/>
                <a:tab pos="3018790" algn="l"/>
              </a:tabLst>
            </a:pPr>
            <a:r>
              <a:rPr sz="1100" i="1" spc="20" dirty="0">
                <a:latin typeface="Cambria"/>
                <a:cs typeface="Cambria"/>
              </a:rPr>
              <a:t>sim</a:t>
            </a:r>
            <a:r>
              <a:rPr sz="1200" i="1" spc="30" baseline="-10416" dirty="0">
                <a:latin typeface="Cambria"/>
                <a:cs typeface="Cambria"/>
              </a:rPr>
              <a:t>JC</a:t>
            </a:r>
            <a:r>
              <a:rPr sz="1100" spc="20" dirty="0">
                <a:latin typeface="Arial MT"/>
                <a:cs typeface="Arial MT"/>
              </a:rPr>
              <a:t>(</a:t>
            </a:r>
            <a:r>
              <a:rPr sz="1100" i="1" spc="20" dirty="0">
                <a:latin typeface="Cambria"/>
                <a:cs typeface="Cambria"/>
              </a:rPr>
              <a:t>c</a:t>
            </a:r>
            <a:r>
              <a:rPr sz="1200" spc="30" baseline="-10416" dirty="0">
                <a:latin typeface="Cambria"/>
                <a:cs typeface="Cambria"/>
              </a:rPr>
              <a:t>1</a:t>
            </a:r>
            <a:r>
              <a:rPr sz="1100" i="1" spc="20" dirty="0">
                <a:latin typeface="Arial"/>
                <a:cs typeface="Arial"/>
              </a:rPr>
              <a:t>,</a:t>
            </a:r>
            <a:r>
              <a:rPr sz="1100" i="1" spc="-155" dirty="0">
                <a:latin typeface="Arial"/>
                <a:cs typeface="Arial"/>
              </a:rPr>
              <a:t> </a:t>
            </a:r>
            <a:r>
              <a:rPr sz="1100" i="1" spc="20" dirty="0">
                <a:latin typeface="Cambria"/>
                <a:cs typeface="Cambria"/>
              </a:rPr>
              <a:t>c</a:t>
            </a:r>
            <a:r>
              <a:rPr sz="1200" spc="30" baseline="-10416" dirty="0">
                <a:latin typeface="Cambria"/>
                <a:cs typeface="Cambria"/>
              </a:rPr>
              <a:t>2</a:t>
            </a:r>
            <a:r>
              <a:rPr sz="1100" spc="20" dirty="0">
                <a:latin typeface="Arial MT"/>
                <a:cs typeface="Arial MT"/>
              </a:rPr>
              <a:t>)</a:t>
            </a:r>
            <a:r>
              <a:rPr sz="1100" spc="-5" dirty="0">
                <a:latin typeface="Arial MT"/>
                <a:cs typeface="Arial MT"/>
              </a:rPr>
              <a:t> </a:t>
            </a:r>
            <a:r>
              <a:rPr sz="1100" spc="200" dirty="0">
                <a:latin typeface="Arial MT"/>
                <a:cs typeface="Arial MT"/>
              </a:rPr>
              <a:t>=</a:t>
            </a:r>
            <a:r>
              <a:rPr sz="1100" spc="150" dirty="0">
                <a:latin typeface="Arial MT"/>
                <a:cs typeface="Arial MT"/>
              </a:rPr>
              <a:t> </a:t>
            </a:r>
            <a:r>
              <a:rPr sz="1650" u="sng" baseline="37878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sz="1650" u="sng" spc="-75" baseline="37878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1</a:t>
            </a:r>
            <a:r>
              <a:rPr sz="1650" u="sng" baseline="37878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	</a:t>
            </a:r>
            <a:endParaRPr sz="1650" baseline="37878">
              <a:latin typeface="Cambria"/>
              <a:cs typeface="Cambri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660550" y="2582799"/>
            <a:ext cx="216471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i="1" dirty="0">
                <a:latin typeface="Cambria"/>
                <a:cs typeface="Cambria"/>
              </a:rPr>
              <a:t>IC</a:t>
            </a:r>
            <a:r>
              <a:rPr sz="1100" dirty="0">
                <a:latin typeface="Arial MT"/>
                <a:cs typeface="Arial MT"/>
              </a:rPr>
              <a:t>(</a:t>
            </a:r>
            <a:r>
              <a:rPr sz="1100" i="1" dirty="0">
                <a:latin typeface="Cambria"/>
                <a:cs typeface="Cambria"/>
              </a:rPr>
              <a:t>c</a:t>
            </a:r>
            <a:r>
              <a:rPr sz="1200" baseline="-10416" dirty="0">
                <a:latin typeface="Cambria"/>
                <a:cs typeface="Cambria"/>
              </a:rPr>
              <a:t>1</a:t>
            </a:r>
            <a:r>
              <a:rPr sz="1100" dirty="0">
                <a:latin typeface="Arial MT"/>
                <a:cs typeface="Arial MT"/>
              </a:rPr>
              <a:t>)</a:t>
            </a:r>
            <a:r>
              <a:rPr sz="1100" spc="-70" dirty="0">
                <a:latin typeface="Arial MT"/>
                <a:cs typeface="Arial MT"/>
              </a:rPr>
              <a:t> </a:t>
            </a:r>
            <a:r>
              <a:rPr sz="1100" spc="200" dirty="0">
                <a:latin typeface="Arial MT"/>
                <a:cs typeface="Arial MT"/>
              </a:rPr>
              <a:t>+</a:t>
            </a:r>
            <a:r>
              <a:rPr sz="1100" spc="-65" dirty="0">
                <a:latin typeface="Arial MT"/>
                <a:cs typeface="Arial MT"/>
              </a:rPr>
              <a:t> </a:t>
            </a:r>
            <a:r>
              <a:rPr sz="1100" i="1" dirty="0">
                <a:latin typeface="Cambria"/>
                <a:cs typeface="Cambria"/>
              </a:rPr>
              <a:t>IC</a:t>
            </a:r>
            <a:r>
              <a:rPr sz="1100" dirty="0">
                <a:latin typeface="Arial MT"/>
                <a:cs typeface="Arial MT"/>
              </a:rPr>
              <a:t>(</a:t>
            </a:r>
            <a:r>
              <a:rPr sz="1100" i="1" dirty="0">
                <a:latin typeface="Cambria"/>
                <a:cs typeface="Cambria"/>
              </a:rPr>
              <a:t>c</a:t>
            </a:r>
            <a:r>
              <a:rPr sz="1200" baseline="-10416" dirty="0">
                <a:latin typeface="Cambria"/>
                <a:cs typeface="Cambria"/>
              </a:rPr>
              <a:t>2</a:t>
            </a:r>
            <a:r>
              <a:rPr sz="1100" dirty="0">
                <a:latin typeface="Arial MT"/>
                <a:cs typeface="Arial MT"/>
              </a:rPr>
              <a:t>)</a:t>
            </a:r>
            <a:r>
              <a:rPr sz="1100" spc="-65" dirty="0">
                <a:latin typeface="Arial MT"/>
                <a:cs typeface="Arial MT"/>
              </a:rPr>
              <a:t> </a:t>
            </a:r>
            <a:r>
              <a:rPr sz="1100" spc="-190" dirty="0">
                <a:latin typeface="Lucida Sans Unicode"/>
                <a:cs typeface="Lucida Sans Unicode"/>
              </a:rPr>
              <a:t>−</a:t>
            </a:r>
            <a:r>
              <a:rPr sz="1100" spc="-110" dirty="0">
                <a:latin typeface="Lucida Sans Unicode"/>
                <a:cs typeface="Lucida Sans Unicode"/>
              </a:rPr>
              <a:t> </a:t>
            </a:r>
            <a:r>
              <a:rPr sz="1100" spc="-75" dirty="0">
                <a:latin typeface="Cambria"/>
                <a:cs typeface="Cambria"/>
              </a:rPr>
              <a:t>2</a:t>
            </a:r>
            <a:r>
              <a:rPr sz="1100" spc="-5" dirty="0">
                <a:latin typeface="Cambria"/>
                <a:cs typeface="Cambria"/>
              </a:rPr>
              <a:t> </a:t>
            </a:r>
            <a:r>
              <a:rPr sz="1100" spc="-190" dirty="0">
                <a:latin typeface="Lucida Sans Unicode"/>
                <a:cs typeface="Lucida Sans Unicode"/>
              </a:rPr>
              <a:t>×</a:t>
            </a:r>
            <a:r>
              <a:rPr sz="1100" spc="-110" dirty="0">
                <a:latin typeface="Lucida Sans Unicode"/>
                <a:cs typeface="Lucida Sans Unicode"/>
              </a:rPr>
              <a:t> </a:t>
            </a:r>
            <a:r>
              <a:rPr sz="1100" i="1" spc="45" dirty="0">
                <a:latin typeface="Cambria"/>
                <a:cs typeface="Cambria"/>
              </a:rPr>
              <a:t>IC</a:t>
            </a:r>
            <a:r>
              <a:rPr sz="1100" spc="45" dirty="0">
                <a:latin typeface="Arial MT"/>
                <a:cs typeface="Arial MT"/>
              </a:rPr>
              <a:t>(</a:t>
            </a:r>
            <a:r>
              <a:rPr sz="1100" i="1" spc="45" dirty="0">
                <a:latin typeface="Cambria"/>
                <a:cs typeface="Cambria"/>
              </a:rPr>
              <a:t>LCS</a:t>
            </a:r>
            <a:r>
              <a:rPr sz="1100" spc="45" dirty="0">
                <a:latin typeface="Arial MT"/>
                <a:cs typeface="Arial MT"/>
              </a:rPr>
              <a:t>(</a:t>
            </a:r>
            <a:r>
              <a:rPr sz="1100" i="1" spc="45" dirty="0">
                <a:latin typeface="Cambria"/>
                <a:cs typeface="Cambria"/>
              </a:rPr>
              <a:t>c</a:t>
            </a:r>
            <a:r>
              <a:rPr sz="1200" spc="67" baseline="-10416" dirty="0">
                <a:latin typeface="Cambria"/>
                <a:cs typeface="Cambria"/>
              </a:rPr>
              <a:t>1</a:t>
            </a:r>
            <a:r>
              <a:rPr sz="1100" i="1" spc="45" dirty="0">
                <a:latin typeface="Arial"/>
                <a:cs typeface="Arial"/>
              </a:rPr>
              <a:t>,</a:t>
            </a:r>
            <a:r>
              <a:rPr sz="1100" i="1" spc="-114" dirty="0">
                <a:latin typeface="Arial"/>
                <a:cs typeface="Arial"/>
              </a:rPr>
              <a:t> </a:t>
            </a:r>
            <a:r>
              <a:rPr sz="1100" i="1" spc="-20" dirty="0">
                <a:latin typeface="Cambria"/>
                <a:cs typeface="Cambria"/>
              </a:rPr>
              <a:t>c</a:t>
            </a:r>
            <a:r>
              <a:rPr sz="1200" spc="-30" baseline="-10416" dirty="0">
                <a:latin typeface="Cambria"/>
                <a:cs typeface="Cambria"/>
              </a:rPr>
              <a:t>2</a:t>
            </a:r>
            <a:r>
              <a:rPr sz="1100" spc="-20" dirty="0">
                <a:latin typeface="Arial MT"/>
                <a:cs typeface="Arial MT"/>
              </a:rPr>
              <a:t>))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853082" y="3339672"/>
            <a:ext cx="90233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6" action="ppaction://hlinksldjump"/>
              </a:rPr>
              <a:t>Lexical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  <a:hlinkClick r:id="rId6" action="ppaction://hlinksldjump"/>
              </a:rPr>
              <a:t>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  <a:hlinkClick r:id="rId6" action="ppaction://hlinksldjump"/>
              </a:rPr>
              <a:t>Semantics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  <a:hlinkClick r:id="rId6" action="ppaction://hlinksldjump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6" action="ppaction://hlinksldjump"/>
              </a:rPr>
              <a:t>-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  <a:hlinkClick r:id="rId6" action="ppaction://hlinksldjump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  <a:hlinkClick r:id="rId6" action="ppaction://hlinksldjump"/>
              </a:rPr>
              <a:t>WordNet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608260" y="3339672"/>
            <a:ext cx="56388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8,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2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24" name="object 24"/>
          <p:cNvSpPr txBox="1">
            <a:spLocks noGrp="1"/>
          </p:cNvSpPr>
          <p:nvPr>
            <p:ph type="sldNum" sz="quarter" idx="4294967295"/>
          </p:nvPr>
        </p:nvSpPr>
        <p:spPr>
          <a:xfrm>
            <a:off x="4292024" y="3339672"/>
            <a:ext cx="262254" cy="116204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0"/>
              </a:spcBef>
            </a:pPr>
            <a:r>
              <a:rPr dirty="0"/>
              <a:t>23</a:t>
            </a:r>
            <a:r>
              <a:rPr spc="-20" dirty="0"/>
              <a:t> </a:t>
            </a:r>
            <a:r>
              <a:rPr spc="-110" dirty="0"/>
              <a:t>/</a:t>
            </a:r>
            <a:r>
              <a:rPr spc="15" dirty="0"/>
              <a:t> </a:t>
            </a:r>
            <a:r>
              <a:rPr spc="-25" dirty="0"/>
              <a:t>27</a:t>
            </a:r>
          </a:p>
        </p:txBody>
      </p:sp>
    </p:spTree>
  </p:cSld>
  <p:clrMapOvr>
    <a:masterClrMapping/>
  </p:clrMapOvr>
  <p:transition>
    <p:cut/>
  </p:transition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38"/>
            <a:ext cx="4608195" cy="351790"/>
          </a:xfrm>
          <a:custGeom>
            <a:avLst/>
            <a:gdLst/>
            <a:ahLst/>
            <a:cxnLst/>
            <a:rect l="l" t="t" r="r" b="b"/>
            <a:pathLst>
              <a:path w="4608195" h="351790">
                <a:moveTo>
                  <a:pt x="4607941" y="0"/>
                </a:moveTo>
                <a:lnTo>
                  <a:pt x="0" y="0"/>
                </a:lnTo>
                <a:lnTo>
                  <a:pt x="0" y="351409"/>
                </a:lnTo>
                <a:lnTo>
                  <a:pt x="4607941" y="351409"/>
                </a:lnTo>
                <a:lnTo>
                  <a:pt x="4607941" y="0"/>
                </a:lnTo>
                <a:close/>
              </a:path>
            </a:pathLst>
          </a:custGeom>
          <a:solidFill>
            <a:srgbClr val="3232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5250" y="60502"/>
            <a:ext cx="250317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i="1" dirty="0">
                <a:solidFill>
                  <a:srgbClr val="FFFFFF"/>
                </a:solidFill>
                <a:latin typeface="Cambria"/>
                <a:cs typeface="Cambria"/>
              </a:rPr>
              <a:t>Example:</a:t>
            </a:r>
            <a:r>
              <a:rPr sz="1400" i="1" spc="27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dirty="0">
                <a:solidFill>
                  <a:srgbClr val="FFFFFF"/>
                </a:solidFill>
                <a:latin typeface="Cambria"/>
                <a:cs typeface="Cambria"/>
              </a:rPr>
              <a:t>Jiang-Conrath</a:t>
            </a:r>
            <a:r>
              <a:rPr sz="1400" i="1" spc="16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spc="-10" dirty="0">
                <a:solidFill>
                  <a:srgbClr val="FFFFFF"/>
                </a:solidFill>
                <a:latin typeface="Cambria"/>
                <a:cs typeface="Cambria"/>
              </a:rPr>
              <a:t>distance</a:t>
            </a:r>
            <a:endParaRPr sz="1400">
              <a:latin typeface="Cambria"/>
              <a:cs typeface="Cambri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0428" y="837082"/>
            <a:ext cx="3409950" cy="2171700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1853082" y="3339672"/>
            <a:ext cx="90233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Lexical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Semantics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-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WordNet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608260" y="3339672"/>
            <a:ext cx="56388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8,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2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4294967295"/>
          </p:nvPr>
        </p:nvSpPr>
        <p:spPr>
          <a:xfrm>
            <a:off x="4292024" y="3339672"/>
            <a:ext cx="262254" cy="116204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0"/>
              </a:spcBef>
            </a:pPr>
            <a:r>
              <a:rPr dirty="0"/>
              <a:t>24</a:t>
            </a:r>
            <a:r>
              <a:rPr spc="-20" dirty="0"/>
              <a:t> </a:t>
            </a:r>
            <a:r>
              <a:rPr spc="-110" dirty="0"/>
              <a:t>/</a:t>
            </a:r>
            <a:r>
              <a:rPr spc="15" dirty="0"/>
              <a:t> </a:t>
            </a:r>
            <a:r>
              <a:rPr spc="-25" dirty="0"/>
              <a:t>27</a:t>
            </a:r>
          </a:p>
        </p:txBody>
      </p:sp>
    </p:spTree>
  </p:cSld>
  <p:clrMapOvr>
    <a:masterClrMapping/>
  </p:clrMapOvr>
  <p:transition>
    <p:cut/>
  </p:transition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The</a:t>
            </a:r>
            <a:r>
              <a:rPr spc="20" dirty="0"/>
              <a:t> </a:t>
            </a:r>
            <a:r>
              <a:rPr spc="-25" dirty="0"/>
              <a:t>(extended)</a:t>
            </a:r>
            <a:r>
              <a:rPr spc="20" dirty="0"/>
              <a:t> </a:t>
            </a:r>
            <a:r>
              <a:rPr dirty="0"/>
              <a:t>Lesk</a:t>
            </a:r>
            <a:r>
              <a:rPr spc="20" dirty="0"/>
              <a:t> </a:t>
            </a:r>
            <a:r>
              <a:rPr spc="-10" dirty="0"/>
              <a:t>Algorithm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7743" y="1135646"/>
            <a:ext cx="4483735" cy="1183640"/>
            <a:chOff x="87743" y="1135646"/>
            <a:chExt cx="4483735" cy="1183640"/>
          </a:xfrm>
        </p:grpSpPr>
        <p:sp>
          <p:nvSpPr>
            <p:cNvPr id="4" name="object 4"/>
            <p:cNvSpPr/>
            <p:nvPr/>
          </p:nvSpPr>
          <p:spPr>
            <a:xfrm>
              <a:off x="87743" y="1135646"/>
              <a:ext cx="4432935" cy="82550"/>
            </a:xfrm>
            <a:custGeom>
              <a:avLst/>
              <a:gdLst/>
              <a:ahLst/>
              <a:cxnLst/>
              <a:rect l="l" t="t" r="r" b="b"/>
              <a:pathLst>
                <a:path w="4432935" h="82550">
                  <a:moveTo>
                    <a:pt x="4381754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82423"/>
                  </a:lnTo>
                  <a:lnTo>
                    <a:pt x="4432554" y="82423"/>
                  </a:lnTo>
                  <a:lnTo>
                    <a:pt x="4432554" y="50800"/>
                  </a:lnTo>
                  <a:lnTo>
                    <a:pt x="4428545" y="31075"/>
                  </a:lnTo>
                  <a:lnTo>
                    <a:pt x="4417631" y="14922"/>
                  </a:lnTo>
                  <a:lnTo>
                    <a:pt x="4401478" y="4008"/>
                  </a:lnTo>
                  <a:lnTo>
                    <a:pt x="4381754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8544" y="2217381"/>
              <a:ext cx="101599" cy="10160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9344" y="2204681"/>
              <a:ext cx="4381754" cy="1143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520298" y="1186205"/>
              <a:ext cx="50800" cy="1031176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87743" y="1180045"/>
              <a:ext cx="4432935" cy="1088390"/>
            </a:xfrm>
            <a:custGeom>
              <a:avLst/>
              <a:gdLst/>
              <a:ahLst/>
              <a:cxnLst/>
              <a:rect l="l" t="t" r="r" b="b"/>
              <a:pathLst>
                <a:path w="4432935" h="1088389">
                  <a:moveTo>
                    <a:pt x="4432554" y="0"/>
                  </a:moveTo>
                  <a:lnTo>
                    <a:pt x="0" y="0"/>
                  </a:lnTo>
                  <a:lnTo>
                    <a:pt x="0" y="1037336"/>
                  </a:lnTo>
                  <a:lnTo>
                    <a:pt x="4008" y="1057060"/>
                  </a:lnTo>
                  <a:lnTo>
                    <a:pt x="14922" y="1073213"/>
                  </a:lnTo>
                  <a:lnTo>
                    <a:pt x="31075" y="1084127"/>
                  </a:lnTo>
                  <a:lnTo>
                    <a:pt x="50800" y="1088136"/>
                  </a:lnTo>
                  <a:lnTo>
                    <a:pt x="4381754" y="1088136"/>
                  </a:lnTo>
                  <a:lnTo>
                    <a:pt x="4401478" y="1084127"/>
                  </a:lnTo>
                  <a:lnTo>
                    <a:pt x="4417631" y="1073213"/>
                  </a:lnTo>
                  <a:lnTo>
                    <a:pt x="4428545" y="1057060"/>
                  </a:lnTo>
                  <a:lnTo>
                    <a:pt x="4432554" y="1037336"/>
                  </a:lnTo>
                  <a:lnTo>
                    <a:pt x="4432554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520309" y="1224241"/>
              <a:ext cx="0" cy="1012190"/>
            </a:xfrm>
            <a:custGeom>
              <a:avLst/>
              <a:gdLst/>
              <a:ahLst/>
              <a:cxnLst/>
              <a:rect l="l" t="t" r="r" b="b"/>
              <a:pathLst>
                <a:path h="1012189">
                  <a:moveTo>
                    <a:pt x="0" y="101218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520309" y="1211592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520309" y="1198892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520309" y="1186192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1597" y="1229791"/>
              <a:ext cx="64757" cy="64757"/>
            </a:xfrm>
            <a:prstGeom prst="rect">
              <a:avLst/>
            </a:prstGeom>
          </p:spPr>
        </p:pic>
      </p:grpSp>
      <p:sp>
        <p:nvSpPr>
          <p:cNvPr id="14" name="object 1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608055" rIns="0" bIns="0" rtlCol="0">
            <a:spAutoFit/>
          </a:bodyPr>
          <a:lstStyle/>
          <a:p>
            <a:pPr marL="327660">
              <a:lnSpc>
                <a:spcPct val="100000"/>
              </a:lnSpc>
              <a:spcBef>
                <a:spcPts val="459"/>
              </a:spcBef>
            </a:pP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Two</a:t>
            </a:r>
            <a:r>
              <a:rPr sz="950" i="0" spc="-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concepts</a:t>
            </a:r>
            <a:r>
              <a:rPr sz="950" i="0" spc="-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are</a:t>
            </a:r>
            <a:r>
              <a:rPr sz="950" i="0" spc="-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spc="-10" dirty="0">
                <a:solidFill>
                  <a:srgbClr val="000000"/>
                </a:solidFill>
                <a:latin typeface="Trebuchet MS"/>
                <a:cs typeface="Trebuchet MS"/>
              </a:rPr>
              <a:t>similar</a:t>
            </a:r>
            <a:r>
              <a:rPr sz="950" i="0" spc="-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spc="-70" dirty="0">
                <a:solidFill>
                  <a:srgbClr val="000000"/>
                </a:solidFill>
                <a:latin typeface="Trebuchet MS"/>
                <a:cs typeface="Trebuchet MS"/>
              </a:rPr>
              <a:t>if</a:t>
            </a:r>
            <a:r>
              <a:rPr sz="950" i="0" spc="-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spc="-30" dirty="0">
                <a:solidFill>
                  <a:srgbClr val="000000"/>
                </a:solidFill>
                <a:latin typeface="Trebuchet MS"/>
                <a:cs typeface="Trebuchet MS"/>
              </a:rPr>
              <a:t>their</a:t>
            </a:r>
            <a:r>
              <a:rPr sz="950" i="0" spc="-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spc="50" dirty="0">
                <a:solidFill>
                  <a:srgbClr val="000000"/>
                </a:solidFill>
                <a:latin typeface="Trebuchet MS"/>
                <a:cs typeface="Trebuchet MS"/>
              </a:rPr>
              <a:t>glosses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 contain</a:t>
            </a:r>
            <a:r>
              <a:rPr sz="950" i="0" spc="-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spc="-10" dirty="0">
                <a:solidFill>
                  <a:srgbClr val="000000"/>
                </a:solidFill>
                <a:latin typeface="Trebuchet MS"/>
                <a:cs typeface="Trebuchet MS"/>
              </a:rPr>
              <a:t>similar</a:t>
            </a:r>
            <a:r>
              <a:rPr sz="950" i="0" spc="-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spc="-20" dirty="0">
                <a:solidFill>
                  <a:srgbClr val="000000"/>
                </a:solidFill>
                <a:latin typeface="Trebuchet MS"/>
                <a:cs typeface="Trebuchet MS"/>
              </a:rPr>
              <a:t>words</a:t>
            </a:r>
            <a:endParaRPr sz="950">
              <a:latin typeface="Trebuchet MS"/>
              <a:cs typeface="Trebuchet MS"/>
            </a:endParaRPr>
          </a:p>
          <a:p>
            <a:pPr marL="603250" indent="-116205">
              <a:lnSpc>
                <a:spcPct val="100000"/>
              </a:lnSpc>
              <a:spcBef>
                <a:spcPts val="305"/>
              </a:spcBef>
              <a:buClr>
                <a:srgbClr val="D6D6EF"/>
              </a:buClr>
              <a:buSzPct val="66666"/>
              <a:buFont typeface="Lucida Sans Unicode"/>
              <a:buChar char="►"/>
              <a:tabLst>
                <a:tab pos="603885" algn="l"/>
              </a:tabLst>
            </a:pPr>
            <a:r>
              <a:rPr sz="900" spc="-10" dirty="0">
                <a:solidFill>
                  <a:srgbClr val="000000"/>
                </a:solidFill>
                <a:latin typeface="Trebuchet MS"/>
                <a:cs typeface="Trebuchet MS"/>
              </a:rPr>
              <a:t>Drawing</a:t>
            </a:r>
            <a:r>
              <a:rPr sz="900" spc="-1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00" dirty="0">
                <a:solidFill>
                  <a:srgbClr val="000000"/>
                </a:solidFill>
                <a:latin typeface="Trebuchet MS"/>
                <a:cs typeface="Trebuchet MS"/>
              </a:rPr>
              <a:t>paper:</a:t>
            </a:r>
            <a:r>
              <a:rPr sz="900" spc="5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00" b="1" spc="-10" dirty="0">
                <a:solidFill>
                  <a:srgbClr val="000000"/>
                </a:solidFill>
                <a:latin typeface="Trebuchet MS"/>
                <a:cs typeface="Trebuchet MS"/>
              </a:rPr>
              <a:t>paper</a:t>
            </a:r>
            <a:r>
              <a:rPr sz="900" b="1" spc="-1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00" spc="-70" dirty="0">
                <a:solidFill>
                  <a:srgbClr val="000000"/>
                </a:solidFill>
                <a:latin typeface="Trebuchet MS"/>
                <a:cs typeface="Trebuchet MS"/>
              </a:rPr>
              <a:t>that</a:t>
            </a:r>
            <a:r>
              <a:rPr sz="900" spc="-1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00" dirty="0">
                <a:solidFill>
                  <a:srgbClr val="000000"/>
                </a:solidFill>
                <a:latin typeface="Trebuchet MS"/>
                <a:cs typeface="Trebuchet MS"/>
              </a:rPr>
              <a:t>is</a:t>
            </a:r>
            <a:r>
              <a:rPr sz="900" spc="-1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00" b="1" spc="-10" dirty="0">
                <a:solidFill>
                  <a:srgbClr val="000000"/>
                </a:solidFill>
                <a:latin typeface="Trebuchet MS"/>
                <a:cs typeface="Trebuchet MS"/>
              </a:rPr>
              <a:t>specially</a:t>
            </a:r>
            <a:r>
              <a:rPr sz="900" b="1" spc="-1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00" b="1" spc="-20" dirty="0">
                <a:solidFill>
                  <a:srgbClr val="000000"/>
                </a:solidFill>
                <a:latin typeface="Trebuchet MS"/>
                <a:cs typeface="Trebuchet MS"/>
              </a:rPr>
              <a:t>prepared</a:t>
            </a:r>
            <a:r>
              <a:rPr sz="900" b="1" spc="-1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00" spc="-80" dirty="0">
                <a:solidFill>
                  <a:srgbClr val="000000"/>
                </a:solidFill>
                <a:latin typeface="Trebuchet MS"/>
                <a:cs typeface="Trebuchet MS"/>
              </a:rPr>
              <a:t>for</a:t>
            </a:r>
            <a:r>
              <a:rPr sz="900" spc="-1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00" dirty="0">
                <a:solidFill>
                  <a:srgbClr val="000000"/>
                </a:solidFill>
                <a:latin typeface="Trebuchet MS"/>
                <a:cs typeface="Trebuchet MS"/>
              </a:rPr>
              <a:t>use</a:t>
            </a:r>
            <a:r>
              <a:rPr sz="900" spc="-1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00" spc="-30" dirty="0">
                <a:solidFill>
                  <a:srgbClr val="000000"/>
                </a:solidFill>
                <a:latin typeface="Trebuchet MS"/>
                <a:cs typeface="Trebuchet MS"/>
              </a:rPr>
              <a:t>in</a:t>
            </a:r>
            <a:r>
              <a:rPr sz="900" spc="-1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00" spc="-10" dirty="0">
                <a:solidFill>
                  <a:srgbClr val="000000"/>
                </a:solidFill>
                <a:latin typeface="Trebuchet MS"/>
                <a:cs typeface="Trebuchet MS"/>
              </a:rPr>
              <a:t>drafting</a:t>
            </a:r>
            <a:endParaRPr sz="900">
              <a:latin typeface="Trebuchet MS"/>
              <a:cs typeface="Trebuchet MS"/>
            </a:endParaRPr>
          </a:p>
          <a:p>
            <a:pPr marL="602615" marR="30480" indent="-116205">
              <a:lnSpc>
                <a:spcPct val="110700"/>
              </a:lnSpc>
              <a:buClr>
                <a:srgbClr val="D6D6EF"/>
              </a:buClr>
              <a:buSzPct val="66666"/>
              <a:buFont typeface="Lucida Sans Unicode"/>
              <a:buChar char="►"/>
              <a:tabLst>
                <a:tab pos="605155" algn="l"/>
              </a:tabLst>
            </a:pPr>
            <a:r>
              <a:rPr sz="900" dirty="0">
                <a:solidFill>
                  <a:srgbClr val="000000"/>
                </a:solidFill>
                <a:latin typeface="Trebuchet MS"/>
                <a:cs typeface="Trebuchet MS"/>
              </a:rPr>
              <a:t>Decal:</a:t>
            </a:r>
            <a:r>
              <a:rPr sz="900" spc="7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00" spc="-45" dirty="0">
                <a:solidFill>
                  <a:srgbClr val="000000"/>
                </a:solidFill>
                <a:latin typeface="Trebuchet MS"/>
                <a:cs typeface="Trebuchet MS"/>
              </a:rPr>
              <a:t>the</a:t>
            </a:r>
            <a:r>
              <a:rPr sz="900" spc="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00" spc="-55" dirty="0">
                <a:solidFill>
                  <a:srgbClr val="000000"/>
                </a:solidFill>
                <a:latin typeface="Trebuchet MS"/>
                <a:cs typeface="Trebuchet MS"/>
              </a:rPr>
              <a:t>art</a:t>
            </a:r>
            <a:r>
              <a:rPr sz="900" spc="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00" spc="-65" dirty="0">
                <a:solidFill>
                  <a:srgbClr val="000000"/>
                </a:solidFill>
                <a:latin typeface="Trebuchet MS"/>
                <a:cs typeface="Trebuchet MS"/>
              </a:rPr>
              <a:t>of</a:t>
            </a:r>
            <a:r>
              <a:rPr sz="900" spc="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00" spc="-40" dirty="0">
                <a:solidFill>
                  <a:srgbClr val="000000"/>
                </a:solidFill>
                <a:latin typeface="Trebuchet MS"/>
                <a:cs typeface="Trebuchet MS"/>
              </a:rPr>
              <a:t>transferring</a:t>
            </a:r>
            <a:r>
              <a:rPr sz="900" spc="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00" dirty="0">
                <a:solidFill>
                  <a:srgbClr val="000000"/>
                </a:solidFill>
                <a:latin typeface="Trebuchet MS"/>
                <a:cs typeface="Trebuchet MS"/>
              </a:rPr>
              <a:t>designs</a:t>
            </a:r>
            <a:r>
              <a:rPr sz="900" spc="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00" spc="-55" dirty="0">
                <a:solidFill>
                  <a:srgbClr val="000000"/>
                </a:solidFill>
                <a:latin typeface="Trebuchet MS"/>
                <a:cs typeface="Trebuchet MS"/>
              </a:rPr>
              <a:t>from</a:t>
            </a:r>
            <a:r>
              <a:rPr sz="900" spc="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00" b="1" spc="-10" dirty="0">
                <a:solidFill>
                  <a:srgbClr val="000000"/>
                </a:solidFill>
                <a:latin typeface="Trebuchet MS"/>
                <a:cs typeface="Trebuchet MS"/>
              </a:rPr>
              <a:t>specially</a:t>
            </a:r>
            <a:r>
              <a:rPr sz="900" b="1" spc="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00" b="1" spc="-20" dirty="0">
                <a:solidFill>
                  <a:srgbClr val="000000"/>
                </a:solidFill>
                <a:latin typeface="Trebuchet MS"/>
                <a:cs typeface="Trebuchet MS"/>
              </a:rPr>
              <a:t>prepared</a:t>
            </a:r>
            <a:r>
              <a:rPr sz="900" b="1" spc="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00" b="1" spc="-10" dirty="0">
                <a:solidFill>
                  <a:srgbClr val="000000"/>
                </a:solidFill>
                <a:latin typeface="Trebuchet MS"/>
                <a:cs typeface="Trebuchet MS"/>
              </a:rPr>
              <a:t>paper</a:t>
            </a:r>
            <a:r>
              <a:rPr sz="900" b="1" spc="1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00" spc="-65" dirty="0">
                <a:solidFill>
                  <a:srgbClr val="000000"/>
                </a:solidFill>
                <a:latin typeface="Trebuchet MS"/>
                <a:cs typeface="Trebuchet MS"/>
              </a:rPr>
              <a:t>to</a:t>
            </a:r>
            <a:r>
              <a:rPr sz="900" spc="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00" spc="-50" dirty="0">
                <a:solidFill>
                  <a:srgbClr val="000000"/>
                </a:solidFill>
                <a:latin typeface="Trebuchet MS"/>
                <a:cs typeface="Trebuchet MS"/>
              </a:rPr>
              <a:t>a 	</a:t>
            </a:r>
            <a:r>
              <a:rPr sz="900" dirty="0">
                <a:solidFill>
                  <a:srgbClr val="000000"/>
                </a:solidFill>
                <a:latin typeface="Trebuchet MS"/>
                <a:cs typeface="Trebuchet MS"/>
              </a:rPr>
              <a:t>wood </a:t>
            </a:r>
            <a:r>
              <a:rPr sz="900" spc="-30" dirty="0">
                <a:solidFill>
                  <a:srgbClr val="000000"/>
                </a:solidFill>
                <a:latin typeface="Trebuchet MS"/>
                <a:cs typeface="Trebuchet MS"/>
              </a:rPr>
              <a:t>or</a:t>
            </a:r>
            <a:r>
              <a:rPr sz="900" spc="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00" dirty="0">
                <a:solidFill>
                  <a:srgbClr val="000000"/>
                </a:solidFill>
                <a:latin typeface="Trebuchet MS"/>
                <a:cs typeface="Trebuchet MS"/>
              </a:rPr>
              <a:t>glass</a:t>
            </a:r>
            <a:r>
              <a:rPr sz="900" spc="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00" spc="-30" dirty="0">
                <a:solidFill>
                  <a:srgbClr val="000000"/>
                </a:solidFill>
                <a:latin typeface="Trebuchet MS"/>
                <a:cs typeface="Trebuchet MS"/>
              </a:rPr>
              <a:t>or</a:t>
            </a:r>
            <a:r>
              <a:rPr sz="90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00" spc="-45" dirty="0">
                <a:solidFill>
                  <a:srgbClr val="000000"/>
                </a:solidFill>
                <a:latin typeface="Trebuchet MS"/>
                <a:cs typeface="Trebuchet MS"/>
              </a:rPr>
              <a:t>metal</a:t>
            </a:r>
            <a:r>
              <a:rPr sz="900" spc="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00" spc="-10" dirty="0">
                <a:solidFill>
                  <a:srgbClr val="000000"/>
                </a:solidFill>
                <a:latin typeface="Trebuchet MS"/>
                <a:cs typeface="Trebuchet MS"/>
              </a:rPr>
              <a:t>surface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853082" y="3339672"/>
            <a:ext cx="90233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6" action="ppaction://hlinksldjump"/>
              </a:rPr>
              <a:t>Lexical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  <a:hlinkClick r:id="rId6" action="ppaction://hlinksldjump"/>
              </a:rPr>
              <a:t>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  <a:hlinkClick r:id="rId6" action="ppaction://hlinksldjump"/>
              </a:rPr>
              <a:t>Semantics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  <a:hlinkClick r:id="rId6" action="ppaction://hlinksldjump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6" action="ppaction://hlinksldjump"/>
              </a:rPr>
              <a:t>-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  <a:hlinkClick r:id="rId6" action="ppaction://hlinksldjump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  <a:hlinkClick r:id="rId6" action="ppaction://hlinksldjump"/>
              </a:rPr>
              <a:t>WordNet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608260" y="3339672"/>
            <a:ext cx="56388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8,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2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317424" y="3339672"/>
            <a:ext cx="236854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25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10" dirty="0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</a:rPr>
              <a:t>27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1230D736-8BC8-4DB2-9843-7839C23BDFCB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4292024" y="3339672"/>
            <a:ext cx="262254" cy="116204"/>
          </a:xfrm>
          <a:prstGeom prst="rect">
            <a:avLst/>
          </a:prstGeom>
        </p:spPr>
        <p:txBody>
          <a:bodyPr/>
          <a:lstStyle/>
          <a:p>
            <a:pPr marL="75565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lang="en-IN" smtClean="0"/>
              <a:t>71</a:t>
            </a:fld>
            <a:r>
              <a:rPr lang="en-IN" spc="-5"/>
              <a:t> </a:t>
            </a:r>
            <a:r>
              <a:rPr lang="en-IN" spc="-110"/>
              <a:t>/</a:t>
            </a:r>
            <a:r>
              <a:rPr lang="en-IN" spc="15"/>
              <a:t> </a:t>
            </a:r>
            <a:r>
              <a:rPr lang="en-IN" spc="-25"/>
              <a:t>18</a:t>
            </a:r>
            <a:endParaRPr lang="en-IN" spc="-25" dirty="0"/>
          </a:p>
        </p:txBody>
      </p:sp>
    </p:spTree>
  </p:cSld>
  <p:clrMapOvr>
    <a:masterClrMapping/>
  </p:clrMapOvr>
  <p:transition>
    <p:cut/>
  </p:transition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The</a:t>
            </a:r>
            <a:r>
              <a:rPr spc="20" dirty="0"/>
              <a:t> </a:t>
            </a:r>
            <a:r>
              <a:rPr spc="-25" dirty="0"/>
              <a:t>(extended)</a:t>
            </a:r>
            <a:r>
              <a:rPr spc="20" dirty="0"/>
              <a:t> </a:t>
            </a:r>
            <a:r>
              <a:rPr dirty="0"/>
              <a:t>Lesk</a:t>
            </a:r>
            <a:r>
              <a:rPr spc="20" dirty="0"/>
              <a:t> </a:t>
            </a:r>
            <a:r>
              <a:rPr spc="-10" dirty="0"/>
              <a:t>Algorithm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7743" y="1135646"/>
            <a:ext cx="4483735" cy="1183640"/>
            <a:chOff x="87743" y="1135646"/>
            <a:chExt cx="4483735" cy="1183640"/>
          </a:xfrm>
        </p:grpSpPr>
        <p:sp>
          <p:nvSpPr>
            <p:cNvPr id="4" name="object 4"/>
            <p:cNvSpPr/>
            <p:nvPr/>
          </p:nvSpPr>
          <p:spPr>
            <a:xfrm>
              <a:off x="87743" y="1135646"/>
              <a:ext cx="4432935" cy="82550"/>
            </a:xfrm>
            <a:custGeom>
              <a:avLst/>
              <a:gdLst/>
              <a:ahLst/>
              <a:cxnLst/>
              <a:rect l="l" t="t" r="r" b="b"/>
              <a:pathLst>
                <a:path w="4432935" h="82550">
                  <a:moveTo>
                    <a:pt x="4381754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82423"/>
                  </a:lnTo>
                  <a:lnTo>
                    <a:pt x="4432554" y="82423"/>
                  </a:lnTo>
                  <a:lnTo>
                    <a:pt x="4432554" y="50800"/>
                  </a:lnTo>
                  <a:lnTo>
                    <a:pt x="4428545" y="31075"/>
                  </a:lnTo>
                  <a:lnTo>
                    <a:pt x="4417631" y="14922"/>
                  </a:lnTo>
                  <a:lnTo>
                    <a:pt x="4401478" y="4008"/>
                  </a:lnTo>
                  <a:lnTo>
                    <a:pt x="4381754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8544" y="2217381"/>
              <a:ext cx="101599" cy="10160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9344" y="2204681"/>
              <a:ext cx="4381754" cy="1143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520298" y="1186205"/>
              <a:ext cx="50800" cy="1031176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87743" y="1180045"/>
              <a:ext cx="4432935" cy="1088390"/>
            </a:xfrm>
            <a:custGeom>
              <a:avLst/>
              <a:gdLst/>
              <a:ahLst/>
              <a:cxnLst/>
              <a:rect l="l" t="t" r="r" b="b"/>
              <a:pathLst>
                <a:path w="4432935" h="1088389">
                  <a:moveTo>
                    <a:pt x="4432554" y="0"/>
                  </a:moveTo>
                  <a:lnTo>
                    <a:pt x="0" y="0"/>
                  </a:lnTo>
                  <a:lnTo>
                    <a:pt x="0" y="1037336"/>
                  </a:lnTo>
                  <a:lnTo>
                    <a:pt x="4008" y="1057060"/>
                  </a:lnTo>
                  <a:lnTo>
                    <a:pt x="14922" y="1073213"/>
                  </a:lnTo>
                  <a:lnTo>
                    <a:pt x="31075" y="1084127"/>
                  </a:lnTo>
                  <a:lnTo>
                    <a:pt x="50800" y="1088136"/>
                  </a:lnTo>
                  <a:lnTo>
                    <a:pt x="4381754" y="1088136"/>
                  </a:lnTo>
                  <a:lnTo>
                    <a:pt x="4401478" y="1084127"/>
                  </a:lnTo>
                  <a:lnTo>
                    <a:pt x="4417631" y="1073213"/>
                  </a:lnTo>
                  <a:lnTo>
                    <a:pt x="4428545" y="1057060"/>
                  </a:lnTo>
                  <a:lnTo>
                    <a:pt x="4432554" y="1037336"/>
                  </a:lnTo>
                  <a:lnTo>
                    <a:pt x="4432554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520309" y="1224241"/>
              <a:ext cx="0" cy="1012190"/>
            </a:xfrm>
            <a:custGeom>
              <a:avLst/>
              <a:gdLst/>
              <a:ahLst/>
              <a:cxnLst/>
              <a:rect l="l" t="t" r="r" b="b"/>
              <a:pathLst>
                <a:path h="1012189">
                  <a:moveTo>
                    <a:pt x="0" y="101218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520309" y="1211592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520309" y="1198892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520309" y="1186192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1597" y="1229791"/>
              <a:ext cx="64757" cy="64757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81597" y="1920633"/>
              <a:ext cx="64757" cy="64757"/>
            </a:xfrm>
            <a:prstGeom prst="rect">
              <a:avLst/>
            </a:prstGeom>
          </p:spPr>
        </p:pic>
      </p:grpSp>
      <p:sp>
        <p:nvSpPr>
          <p:cNvPr id="15" name="object 15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608055" rIns="0" bIns="0" rtlCol="0">
            <a:spAutoFit/>
          </a:bodyPr>
          <a:lstStyle/>
          <a:p>
            <a:pPr marL="327660">
              <a:lnSpc>
                <a:spcPct val="100000"/>
              </a:lnSpc>
              <a:spcBef>
                <a:spcPts val="459"/>
              </a:spcBef>
            </a:pP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Two</a:t>
            </a:r>
            <a:r>
              <a:rPr sz="950" i="0" spc="-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concepts</a:t>
            </a:r>
            <a:r>
              <a:rPr sz="950" i="0" spc="-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are</a:t>
            </a:r>
            <a:r>
              <a:rPr sz="950" i="0" spc="-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spc="-10" dirty="0">
                <a:solidFill>
                  <a:srgbClr val="000000"/>
                </a:solidFill>
                <a:latin typeface="Trebuchet MS"/>
                <a:cs typeface="Trebuchet MS"/>
              </a:rPr>
              <a:t>similar</a:t>
            </a:r>
            <a:r>
              <a:rPr sz="950" i="0" spc="-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spc="-70" dirty="0">
                <a:solidFill>
                  <a:srgbClr val="000000"/>
                </a:solidFill>
                <a:latin typeface="Trebuchet MS"/>
                <a:cs typeface="Trebuchet MS"/>
              </a:rPr>
              <a:t>if</a:t>
            </a:r>
            <a:r>
              <a:rPr sz="950" i="0" spc="-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spc="-30" dirty="0">
                <a:solidFill>
                  <a:srgbClr val="000000"/>
                </a:solidFill>
                <a:latin typeface="Trebuchet MS"/>
                <a:cs typeface="Trebuchet MS"/>
              </a:rPr>
              <a:t>their</a:t>
            </a:r>
            <a:r>
              <a:rPr sz="950" i="0" spc="-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spc="50" dirty="0">
                <a:solidFill>
                  <a:srgbClr val="000000"/>
                </a:solidFill>
                <a:latin typeface="Trebuchet MS"/>
                <a:cs typeface="Trebuchet MS"/>
              </a:rPr>
              <a:t>glosses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 contain</a:t>
            </a:r>
            <a:r>
              <a:rPr sz="950" i="0" spc="-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spc="-10" dirty="0">
                <a:solidFill>
                  <a:srgbClr val="000000"/>
                </a:solidFill>
                <a:latin typeface="Trebuchet MS"/>
                <a:cs typeface="Trebuchet MS"/>
              </a:rPr>
              <a:t>similar</a:t>
            </a:r>
            <a:r>
              <a:rPr sz="950" i="0" spc="-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spc="-20" dirty="0">
                <a:solidFill>
                  <a:srgbClr val="000000"/>
                </a:solidFill>
                <a:latin typeface="Trebuchet MS"/>
                <a:cs typeface="Trebuchet MS"/>
              </a:rPr>
              <a:t>words</a:t>
            </a:r>
            <a:endParaRPr sz="950">
              <a:latin typeface="Trebuchet MS"/>
              <a:cs typeface="Trebuchet MS"/>
            </a:endParaRPr>
          </a:p>
          <a:p>
            <a:pPr marL="603250" indent="-116205">
              <a:lnSpc>
                <a:spcPct val="100000"/>
              </a:lnSpc>
              <a:spcBef>
                <a:spcPts val="305"/>
              </a:spcBef>
              <a:buClr>
                <a:srgbClr val="D6D6EF"/>
              </a:buClr>
              <a:buSzPct val="66666"/>
              <a:buFont typeface="Lucida Sans Unicode"/>
              <a:buChar char="►"/>
              <a:tabLst>
                <a:tab pos="603885" algn="l"/>
              </a:tabLst>
            </a:pPr>
            <a:r>
              <a:rPr sz="900" spc="-10" dirty="0">
                <a:solidFill>
                  <a:srgbClr val="000000"/>
                </a:solidFill>
                <a:latin typeface="Trebuchet MS"/>
                <a:cs typeface="Trebuchet MS"/>
              </a:rPr>
              <a:t>Drawing</a:t>
            </a:r>
            <a:r>
              <a:rPr sz="900" spc="-1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00" dirty="0">
                <a:solidFill>
                  <a:srgbClr val="000000"/>
                </a:solidFill>
                <a:latin typeface="Trebuchet MS"/>
                <a:cs typeface="Trebuchet MS"/>
              </a:rPr>
              <a:t>paper:</a:t>
            </a:r>
            <a:r>
              <a:rPr sz="900" spc="5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00" b="1" spc="-10" dirty="0">
                <a:solidFill>
                  <a:srgbClr val="000000"/>
                </a:solidFill>
                <a:latin typeface="Trebuchet MS"/>
                <a:cs typeface="Trebuchet MS"/>
              </a:rPr>
              <a:t>paper</a:t>
            </a:r>
            <a:r>
              <a:rPr sz="900" b="1" spc="-1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00" spc="-70" dirty="0">
                <a:solidFill>
                  <a:srgbClr val="000000"/>
                </a:solidFill>
                <a:latin typeface="Trebuchet MS"/>
                <a:cs typeface="Trebuchet MS"/>
              </a:rPr>
              <a:t>that</a:t>
            </a:r>
            <a:r>
              <a:rPr sz="900" spc="-1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00" dirty="0">
                <a:solidFill>
                  <a:srgbClr val="000000"/>
                </a:solidFill>
                <a:latin typeface="Trebuchet MS"/>
                <a:cs typeface="Trebuchet MS"/>
              </a:rPr>
              <a:t>is</a:t>
            </a:r>
            <a:r>
              <a:rPr sz="900" spc="-1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00" b="1" spc="-10" dirty="0">
                <a:solidFill>
                  <a:srgbClr val="000000"/>
                </a:solidFill>
                <a:latin typeface="Trebuchet MS"/>
                <a:cs typeface="Trebuchet MS"/>
              </a:rPr>
              <a:t>specially</a:t>
            </a:r>
            <a:r>
              <a:rPr sz="900" b="1" spc="-1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00" b="1" spc="-20" dirty="0">
                <a:solidFill>
                  <a:srgbClr val="000000"/>
                </a:solidFill>
                <a:latin typeface="Trebuchet MS"/>
                <a:cs typeface="Trebuchet MS"/>
              </a:rPr>
              <a:t>prepared</a:t>
            </a:r>
            <a:r>
              <a:rPr sz="900" b="1" spc="-1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00" spc="-80" dirty="0">
                <a:solidFill>
                  <a:srgbClr val="000000"/>
                </a:solidFill>
                <a:latin typeface="Trebuchet MS"/>
                <a:cs typeface="Trebuchet MS"/>
              </a:rPr>
              <a:t>for</a:t>
            </a:r>
            <a:r>
              <a:rPr sz="900" spc="-1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00" dirty="0">
                <a:solidFill>
                  <a:srgbClr val="000000"/>
                </a:solidFill>
                <a:latin typeface="Trebuchet MS"/>
                <a:cs typeface="Trebuchet MS"/>
              </a:rPr>
              <a:t>use</a:t>
            </a:r>
            <a:r>
              <a:rPr sz="900" spc="-1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00" spc="-30" dirty="0">
                <a:solidFill>
                  <a:srgbClr val="000000"/>
                </a:solidFill>
                <a:latin typeface="Trebuchet MS"/>
                <a:cs typeface="Trebuchet MS"/>
              </a:rPr>
              <a:t>in</a:t>
            </a:r>
            <a:r>
              <a:rPr sz="900" spc="-1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00" spc="-10" dirty="0">
                <a:solidFill>
                  <a:srgbClr val="000000"/>
                </a:solidFill>
                <a:latin typeface="Trebuchet MS"/>
                <a:cs typeface="Trebuchet MS"/>
              </a:rPr>
              <a:t>drafting</a:t>
            </a:r>
            <a:endParaRPr sz="900">
              <a:latin typeface="Trebuchet MS"/>
              <a:cs typeface="Trebuchet MS"/>
            </a:endParaRPr>
          </a:p>
          <a:p>
            <a:pPr marL="602615" marR="30480" indent="-116205">
              <a:lnSpc>
                <a:spcPct val="110700"/>
              </a:lnSpc>
              <a:buClr>
                <a:srgbClr val="D6D6EF"/>
              </a:buClr>
              <a:buSzPct val="66666"/>
              <a:buFont typeface="Lucida Sans Unicode"/>
              <a:buChar char="►"/>
              <a:tabLst>
                <a:tab pos="605155" algn="l"/>
              </a:tabLst>
            </a:pPr>
            <a:r>
              <a:rPr sz="900" dirty="0">
                <a:solidFill>
                  <a:srgbClr val="000000"/>
                </a:solidFill>
                <a:latin typeface="Trebuchet MS"/>
                <a:cs typeface="Trebuchet MS"/>
              </a:rPr>
              <a:t>Decal:</a:t>
            </a:r>
            <a:r>
              <a:rPr sz="900" spc="7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00" spc="-45" dirty="0">
                <a:solidFill>
                  <a:srgbClr val="000000"/>
                </a:solidFill>
                <a:latin typeface="Trebuchet MS"/>
                <a:cs typeface="Trebuchet MS"/>
              </a:rPr>
              <a:t>the</a:t>
            </a:r>
            <a:r>
              <a:rPr sz="900" spc="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00" spc="-55" dirty="0">
                <a:solidFill>
                  <a:srgbClr val="000000"/>
                </a:solidFill>
                <a:latin typeface="Trebuchet MS"/>
                <a:cs typeface="Trebuchet MS"/>
              </a:rPr>
              <a:t>art</a:t>
            </a:r>
            <a:r>
              <a:rPr sz="900" spc="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00" spc="-65" dirty="0">
                <a:solidFill>
                  <a:srgbClr val="000000"/>
                </a:solidFill>
                <a:latin typeface="Trebuchet MS"/>
                <a:cs typeface="Trebuchet MS"/>
              </a:rPr>
              <a:t>of</a:t>
            </a:r>
            <a:r>
              <a:rPr sz="900" spc="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00" spc="-40" dirty="0">
                <a:solidFill>
                  <a:srgbClr val="000000"/>
                </a:solidFill>
                <a:latin typeface="Trebuchet MS"/>
                <a:cs typeface="Trebuchet MS"/>
              </a:rPr>
              <a:t>transferring</a:t>
            </a:r>
            <a:r>
              <a:rPr sz="900" spc="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00" dirty="0">
                <a:solidFill>
                  <a:srgbClr val="000000"/>
                </a:solidFill>
                <a:latin typeface="Trebuchet MS"/>
                <a:cs typeface="Trebuchet MS"/>
              </a:rPr>
              <a:t>designs</a:t>
            </a:r>
            <a:r>
              <a:rPr sz="900" spc="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00" spc="-55" dirty="0">
                <a:solidFill>
                  <a:srgbClr val="000000"/>
                </a:solidFill>
                <a:latin typeface="Trebuchet MS"/>
                <a:cs typeface="Trebuchet MS"/>
              </a:rPr>
              <a:t>from</a:t>
            </a:r>
            <a:r>
              <a:rPr sz="900" spc="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00" b="1" spc="-10" dirty="0">
                <a:solidFill>
                  <a:srgbClr val="000000"/>
                </a:solidFill>
                <a:latin typeface="Trebuchet MS"/>
                <a:cs typeface="Trebuchet MS"/>
              </a:rPr>
              <a:t>specially</a:t>
            </a:r>
            <a:r>
              <a:rPr sz="900" b="1" spc="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00" b="1" spc="-20" dirty="0">
                <a:solidFill>
                  <a:srgbClr val="000000"/>
                </a:solidFill>
                <a:latin typeface="Trebuchet MS"/>
                <a:cs typeface="Trebuchet MS"/>
              </a:rPr>
              <a:t>prepared</a:t>
            </a:r>
            <a:r>
              <a:rPr sz="900" b="1" spc="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00" b="1" spc="-10" dirty="0">
                <a:solidFill>
                  <a:srgbClr val="000000"/>
                </a:solidFill>
                <a:latin typeface="Trebuchet MS"/>
                <a:cs typeface="Trebuchet MS"/>
              </a:rPr>
              <a:t>paper</a:t>
            </a:r>
            <a:r>
              <a:rPr sz="900" b="1" spc="1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00" spc="-65" dirty="0">
                <a:solidFill>
                  <a:srgbClr val="000000"/>
                </a:solidFill>
                <a:latin typeface="Trebuchet MS"/>
                <a:cs typeface="Trebuchet MS"/>
              </a:rPr>
              <a:t>to</a:t>
            </a:r>
            <a:r>
              <a:rPr sz="900" spc="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00" spc="-50" dirty="0">
                <a:solidFill>
                  <a:srgbClr val="000000"/>
                </a:solidFill>
                <a:latin typeface="Trebuchet MS"/>
                <a:cs typeface="Trebuchet MS"/>
              </a:rPr>
              <a:t>a 	</a:t>
            </a:r>
            <a:r>
              <a:rPr sz="900" dirty="0">
                <a:solidFill>
                  <a:srgbClr val="000000"/>
                </a:solidFill>
                <a:latin typeface="Trebuchet MS"/>
                <a:cs typeface="Trebuchet MS"/>
              </a:rPr>
              <a:t>wood </a:t>
            </a:r>
            <a:r>
              <a:rPr sz="900" spc="-30" dirty="0">
                <a:solidFill>
                  <a:srgbClr val="000000"/>
                </a:solidFill>
                <a:latin typeface="Trebuchet MS"/>
                <a:cs typeface="Trebuchet MS"/>
              </a:rPr>
              <a:t>or</a:t>
            </a:r>
            <a:r>
              <a:rPr sz="900" spc="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00" dirty="0">
                <a:solidFill>
                  <a:srgbClr val="000000"/>
                </a:solidFill>
                <a:latin typeface="Trebuchet MS"/>
                <a:cs typeface="Trebuchet MS"/>
              </a:rPr>
              <a:t>glass</a:t>
            </a:r>
            <a:r>
              <a:rPr sz="900" spc="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00" spc="-30" dirty="0">
                <a:solidFill>
                  <a:srgbClr val="000000"/>
                </a:solidFill>
                <a:latin typeface="Trebuchet MS"/>
                <a:cs typeface="Trebuchet MS"/>
              </a:rPr>
              <a:t>or</a:t>
            </a:r>
            <a:r>
              <a:rPr sz="90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00" spc="-45" dirty="0">
                <a:solidFill>
                  <a:srgbClr val="000000"/>
                </a:solidFill>
                <a:latin typeface="Trebuchet MS"/>
                <a:cs typeface="Trebuchet MS"/>
              </a:rPr>
              <a:t>metal</a:t>
            </a:r>
            <a:r>
              <a:rPr sz="900" spc="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00" spc="-10" dirty="0">
                <a:solidFill>
                  <a:srgbClr val="000000"/>
                </a:solidFill>
                <a:latin typeface="Trebuchet MS"/>
                <a:cs typeface="Trebuchet MS"/>
              </a:rPr>
              <a:t>surface</a:t>
            </a:r>
            <a:endParaRPr sz="900">
              <a:latin typeface="Trebuchet MS"/>
              <a:cs typeface="Trebuchet MS"/>
            </a:endParaRPr>
          </a:p>
          <a:p>
            <a:pPr marL="327660">
              <a:lnSpc>
                <a:spcPct val="100000"/>
              </a:lnSpc>
              <a:spcBef>
                <a:spcPts val="375"/>
              </a:spcBef>
            </a:pP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For</a:t>
            </a:r>
            <a:r>
              <a:rPr sz="950" i="0" spc="4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each</a:t>
            </a:r>
            <a:r>
              <a:rPr sz="950" i="0" spc="5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spc="-10" dirty="0">
                <a:solidFill>
                  <a:srgbClr val="000000"/>
                </a:solidFill>
                <a:latin typeface="Trebuchet MS"/>
                <a:cs typeface="Trebuchet MS"/>
              </a:rPr>
              <a:t>n-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word</a:t>
            </a:r>
            <a:r>
              <a:rPr sz="950" i="0" spc="5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phrase</a:t>
            </a:r>
            <a:r>
              <a:rPr sz="950" i="0" spc="5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spc="-30" dirty="0">
                <a:solidFill>
                  <a:srgbClr val="000000"/>
                </a:solidFill>
                <a:latin typeface="Trebuchet MS"/>
                <a:cs typeface="Trebuchet MS"/>
              </a:rPr>
              <a:t>that</a:t>
            </a:r>
            <a:r>
              <a:rPr sz="950" i="0" spc="4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occurs</a:t>
            </a:r>
            <a:r>
              <a:rPr sz="950" i="0" spc="5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in</a:t>
            </a:r>
            <a:r>
              <a:rPr sz="950" i="0" spc="5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both</a:t>
            </a:r>
            <a:r>
              <a:rPr sz="950" i="0" spc="5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glosses,</a:t>
            </a:r>
            <a:r>
              <a:rPr sz="950" i="0" spc="4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add</a:t>
            </a:r>
            <a:r>
              <a:rPr sz="950" i="0" spc="5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a</a:t>
            </a:r>
            <a:r>
              <a:rPr sz="950" i="0" spc="5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score</a:t>
            </a:r>
            <a:r>
              <a:rPr sz="950" i="0" spc="5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of</a:t>
            </a:r>
            <a:r>
              <a:rPr sz="950" i="0" spc="4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pc="-25" dirty="0">
                <a:solidFill>
                  <a:srgbClr val="000000"/>
                </a:solidFill>
              </a:rPr>
              <a:t>n</a:t>
            </a:r>
            <a:r>
              <a:rPr sz="1200" i="0" spc="-37" baseline="27777" dirty="0">
                <a:solidFill>
                  <a:srgbClr val="000000"/>
                </a:solidFill>
                <a:latin typeface="Cambria"/>
                <a:cs typeface="Cambria"/>
              </a:rPr>
              <a:t>2</a:t>
            </a:r>
            <a:endParaRPr sz="1200" baseline="27777">
              <a:latin typeface="Cambria"/>
              <a:cs typeface="Cambri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853082" y="3339672"/>
            <a:ext cx="90233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7" action="ppaction://hlinksldjump"/>
              </a:rPr>
              <a:t>Lexical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  <a:hlinkClick r:id="rId7" action="ppaction://hlinksldjump"/>
              </a:rPr>
              <a:t>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  <a:hlinkClick r:id="rId7" action="ppaction://hlinksldjump"/>
              </a:rPr>
              <a:t>Semantics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  <a:hlinkClick r:id="rId7" action="ppaction://hlinksldjump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7" action="ppaction://hlinksldjump"/>
              </a:rPr>
              <a:t>-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  <a:hlinkClick r:id="rId7" action="ppaction://hlinksldjump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  <a:hlinkClick r:id="rId7" action="ppaction://hlinksldjump"/>
              </a:rPr>
              <a:t>WordNet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608260" y="3339672"/>
            <a:ext cx="56388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8,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2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317424" y="3339672"/>
            <a:ext cx="236854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25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10" dirty="0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</a:rPr>
              <a:t>27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24" name="Slide Number Placeholder 23">
            <a:extLst>
              <a:ext uri="{FF2B5EF4-FFF2-40B4-BE49-F238E27FC236}">
                <a16:creationId xmlns:a16="http://schemas.microsoft.com/office/drawing/2014/main" id="{904DA8CF-89B2-44D9-A67F-F2A21FFA9637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4292024" y="3339672"/>
            <a:ext cx="262254" cy="116204"/>
          </a:xfrm>
          <a:prstGeom prst="rect">
            <a:avLst/>
          </a:prstGeom>
        </p:spPr>
        <p:txBody>
          <a:bodyPr/>
          <a:lstStyle/>
          <a:p>
            <a:pPr marL="75565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lang="en-IN" smtClean="0"/>
              <a:t>72</a:t>
            </a:fld>
            <a:r>
              <a:rPr lang="en-IN" spc="-5"/>
              <a:t> </a:t>
            </a:r>
            <a:r>
              <a:rPr lang="en-IN" spc="-110"/>
              <a:t>/</a:t>
            </a:r>
            <a:r>
              <a:rPr lang="en-IN" spc="15"/>
              <a:t> </a:t>
            </a:r>
            <a:r>
              <a:rPr lang="en-IN" spc="-25"/>
              <a:t>18</a:t>
            </a:r>
            <a:endParaRPr lang="en-IN" spc="-25" dirty="0"/>
          </a:p>
        </p:txBody>
      </p:sp>
    </p:spTree>
  </p:cSld>
  <p:clrMapOvr>
    <a:masterClrMapping/>
  </p:clrMapOvr>
  <p:transition>
    <p:cut/>
  </p:transition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The</a:t>
            </a:r>
            <a:r>
              <a:rPr spc="20" dirty="0"/>
              <a:t> </a:t>
            </a:r>
            <a:r>
              <a:rPr spc="-25" dirty="0"/>
              <a:t>(extended)</a:t>
            </a:r>
            <a:r>
              <a:rPr spc="20" dirty="0"/>
              <a:t> </a:t>
            </a:r>
            <a:r>
              <a:rPr dirty="0"/>
              <a:t>Lesk</a:t>
            </a:r>
            <a:r>
              <a:rPr spc="20" dirty="0"/>
              <a:t> </a:t>
            </a:r>
            <a:r>
              <a:rPr spc="-10" dirty="0"/>
              <a:t>Algorithm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7743" y="1135646"/>
            <a:ext cx="4483735" cy="1183640"/>
            <a:chOff x="87743" y="1135646"/>
            <a:chExt cx="4483735" cy="1183640"/>
          </a:xfrm>
        </p:grpSpPr>
        <p:sp>
          <p:nvSpPr>
            <p:cNvPr id="4" name="object 4"/>
            <p:cNvSpPr/>
            <p:nvPr/>
          </p:nvSpPr>
          <p:spPr>
            <a:xfrm>
              <a:off x="87743" y="1135646"/>
              <a:ext cx="4432935" cy="82550"/>
            </a:xfrm>
            <a:custGeom>
              <a:avLst/>
              <a:gdLst/>
              <a:ahLst/>
              <a:cxnLst/>
              <a:rect l="l" t="t" r="r" b="b"/>
              <a:pathLst>
                <a:path w="4432935" h="82550">
                  <a:moveTo>
                    <a:pt x="4381754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82423"/>
                  </a:lnTo>
                  <a:lnTo>
                    <a:pt x="4432554" y="82423"/>
                  </a:lnTo>
                  <a:lnTo>
                    <a:pt x="4432554" y="50800"/>
                  </a:lnTo>
                  <a:lnTo>
                    <a:pt x="4428545" y="31075"/>
                  </a:lnTo>
                  <a:lnTo>
                    <a:pt x="4417631" y="14922"/>
                  </a:lnTo>
                  <a:lnTo>
                    <a:pt x="4401478" y="4008"/>
                  </a:lnTo>
                  <a:lnTo>
                    <a:pt x="4381754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8544" y="2217381"/>
              <a:ext cx="101599" cy="10160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9344" y="2204681"/>
              <a:ext cx="4381754" cy="1143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520298" y="1186205"/>
              <a:ext cx="50800" cy="1031176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87743" y="1180045"/>
              <a:ext cx="4432935" cy="1088390"/>
            </a:xfrm>
            <a:custGeom>
              <a:avLst/>
              <a:gdLst/>
              <a:ahLst/>
              <a:cxnLst/>
              <a:rect l="l" t="t" r="r" b="b"/>
              <a:pathLst>
                <a:path w="4432935" h="1088389">
                  <a:moveTo>
                    <a:pt x="4432554" y="0"/>
                  </a:moveTo>
                  <a:lnTo>
                    <a:pt x="0" y="0"/>
                  </a:lnTo>
                  <a:lnTo>
                    <a:pt x="0" y="1037336"/>
                  </a:lnTo>
                  <a:lnTo>
                    <a:pt x="4008" y="1057060"/>
                  </a:lnTo>
                  <a:lnTo>
                    <a:pt x="14922" y="1073213"/>
                  </a:lnTo>
                  <a:lnTo>
                    <a:pt x="31075" y="1084127"/>
                  </a:lnTo>
                  <a:lnTo>
                    <a:pt x="50800" y="1088136"/>
                  </a:lnTo>
                  <a:lnTo>
                    <a:pt x="4381754" y="1088136"/>
                  </a:lnTo>
                  <a:lnTo>
                    <a:pt x="4401478" y="1084127"/>
                  </a:lnTo>
                  <a:lnTo>
                    <a:pt x="4417631" y="1073213"/>
                  </a:lnTo>
                  <a:lnTo>
                    <a:pt x="4428545" y="1057060"/>
                  </a:lnTo>
                  <a:lnTo>
                    <a:pt x="4432554" y="1037336"/>
                  </a:lnTo>
                  <a:lnTo>
                    <a:pt x="4432554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520309" y="1224241"/>
              <a:ext cx="0" cy="1012190"/>
            </a:xfrm>
            <a:custGeom>
              <a:avLst/>
              <a:gdLst/>
              <a:ahLst/>
              <a:cxnLst/>
              <a:rect l="l" t="t" r="r" b="b"/>
              <a:pathLst>
                <a:path h="1012189">
                  <a:moveTo>
                    <a:pt x="0" y="101218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520309" y="1211592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520309" y="1198892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520309" y="1186192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1597" y="1229791"/>
              <a:ext cx="64757" cy="64757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81597" y="1920633"/>
              <a:ext cx="64757" cy="64757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81597" y="2130666"/>
              <a:ext cx="64757" cy="64757"/>
            </a:xfrm>
            <a:prstGeom prst="rect">
              <a:avLst/>
            </a:prstGeom>
          </p:spPr>
        </p:pic>
      </p:grpSp>
      <p:sp>
        <p:nvSpPr>
          <p:cNvPr id="16" name="object 16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608055" rIns="0" bIns="0" rtlCol="0">
            <a:spAutoFit/>
          </a:bodyPr>
          <a:lstStyle/>
          <a:p>
            <a:pPr marL="327660">
              <a:lnSpc>
                <a:spcPct val="100000"/>
              </a:lnSpc>
              <a:spcBef>
                <a:spcPts val="459"/>
              </a:spcBef>
            </a:pP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Two</a:t>
            </a:r>
            <a:r>
              <a:rPr sz="950" i="0" spc="-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concepts</a:t>
            </a:r>
            <a:r>
              <a:rPr sz="950" i="0" spc="-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are</a:t>
            </a:r>
            <a:r>
              <a:rPr sz="950" i="0" spc="-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spc="-10" dirty="0">
                <a:solidFill>
                  <a:srgbClr val="000000"/>
                </a:solidFill>
                <a:latin typeface="Trebuchet MS"/>
                <a:cs typeface="Trebuchet MS"/>
              </a:rPr>
              <a:t>similar</a:t>
            </a:r>
            <a:r>
              <a:rPr sz="950" i="0" spc="-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spc="-70" dirty="0">
                <a:solidFill>
                  <a:srgbClr val="000000"/>
                </a:solidFill>
                <a:latin typeface="Trebuchet MS"/>
                <a:cs typeface="Trebuchet MS"/>
              </a:rPr>
              <a:t>if</a:t>
            </a:r>
            <a:r>
              <a:rPr sz="950" i="0" spc="-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spc="-30" dirty="0">
                <a:solidFill>
                  <a:srgbClr val="000000"/>
                </a:solidFill>
                <a:latin typeface="Trebuchet MS"/>
                <a:cs typeface="Trebuchet MS"/>
              </a:rPr>
              <a:t>their</a:t>
            </a:r>
            <a:r>
              <a:rPr sz="950" i="0" spc="-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spc="50" dirty="0">
                <a:solidFill>
                  <a:srgbClr val="000000"/>
                </a:solidFill>
                <a:latin typeface="Trebuchet MS"/>
                <a:cs typeface="Trebuchet MS"/>
              </a:rPr>
              <a:t>glosses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 contain</a:t>
            </a:r>
            <a:r>
              <a:rPr sz="950" i="0" spc="-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spc="-10" dirty="0">
                <a:solidFill>
                  <a:srgbClr val="000000"/>
                </a:solidFill>
                <a:latin typeface="Trebuchet MS"/>
                <a:cs typeface="Trebuchet MS"/>
              </a:rPr>
              <a:t>similar</a:t>
            </a:r>
            <a:r>
              <a:rPr sz="950" i="0" spc="-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spc="-20" dirty="0">
                <a:solidFill>
                  <a:srgbClr val="000000"/>
                </a:solidFill>
                <a:latin typeface="Trebuchet MS"/>
                <a:cs typeface="Trebuchet MS"/>
              </a:rPr>
              <a:t>words</a:t>
            </a:r>
            <a:endParaRPr sz="950">
              <a:latin typeface="Trebuchet MS"/>
              <a:cs typeface="Trebuchet MS"/>
            </a:endParaRPr>
          </a:p>
          <a:p>
            <a:pPr marL="603250" indent="-116205">
              <a:lnSpc>
                <a:spcPct val="100000"/>
              </a:lnSpc>
              <a:spcBef>
                <a:spcPts val="305"/>
              </a:spcBef>
              <a:buClr>
                <a:srgbClr val="D6D6EF"/>
              </a:buClr>
              <a:buSzPct val="66666"/>
              <a:buFont typeface="Lucida Sans Unicode"/>
              <a:buChar char="►"/>
              <a:tabLst>
                <a:tab pos="603885" algn="l"/>
              </a:tabLst>
            </a:pPr>
            <a:r>
              <a:rPr sz="900" spc="-10" dirty="0">
                <a:solidFill>
                  <a:srgbClr val="000000"/>
                </a:solidFill>
                <a:latin typeface="Trebuchet MS"/>
                <a:cs typeface="Trebuchet MS"/>
              </a:rPr>
              <a:t>Drawing</a:t>
            </a:r>
            <a:r>
              <a:rPr sz="900" spc="-1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00" dirty="0">
                <a:solidFill>
                  <a:srgbClr val="000000"/>
                </a:solidFill>
                <a:latin typeface="Trebuchet MS"/>
                <a:cs typeface="Trebuchet MS"/>
              </a:rPr>
              <a:t>paper:</a:t>
            </a:r>
            <a:r>
              <a:rPr sz="900" spc="5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00" b="1" spc="-10" dirty="0">
                <a:solidFill>
                  <a:srgbClr val="000000"/>
                </a:solidFill>
                <a:latin typeface="Trebuchet MS"/>
                <a:cs typeface="Trebuchet MS"/>
              </a:rPr>
              <a:t>paper</a:t>
            </a:r>
            <a:r>
              <a:rPr sz="900" b="1" spc="-1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00" spc="-70" dirty="0">
                <a:solidFill>
                  <a:srgbClr val="000000"/>
                </a:solidFill>
                <a:latin typeface="Trebuchet MS"/>
                <a:cs typeface="Trebuchet MS"/>
              </a:rPr>
              <a:t>that</a:t>
            </a:r>
            <a:r>
              <a:rPr sz="900" spc="-1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00" dirty="0">
                <a:solidFill>
                  <a:srgbClr val="000000"/>
                </a:solidFill>
                <a:latin typeface="Trebuchet MS"/>
                <a:cs typeface="Trebuchet MS"/>
              </a:rPr>
              <a:t>is</a:t>
            </a:r>
            <a:r>
              <a:rPr sz="900" spc="-1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00" b="1" spc="-10" dirty="0">
                <a:solidFill>
                  <a:srgbClr val="000000"/>
                </a:solidFill>
                <a:latin typeface="Trebuchet MS"/>
                <a:cs typeface="Trebuchet MS"/>
              </a:rPr>
              <a:t>specially</a:t>
            </a:r>
            <a:r>
              <a:rPr sz="900" b="1" spc="-1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00" b="1" spc="-20" dirty="0">
                <a:solidFill>
                  <a:srgbClr val="000000"/>
                </a:solidFill>
                <a:latin typeface="Trebuchet MS"/>
                <a:cs typeface="Trebuchet MS"/>
              </a:rPr>
              <a:t>prepared</a:t>
            </a:r>
            <a:r>
              <a:rPr sz="900" b="1" spc="-1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00" spc="-80" dirty="0">
                <a:solidFill>
                  <a:srgbClr val="000000"/>
                </a:solidFill>
                <a:latin typeface="Trebuchet MS"/>
                <a:cs typeface="Trebuchet MS"/>
              </a:rPr>
              <a:t>for</a:t>
            </a:r>
            <a:r>
              <a:rPr sz="900" spc="-1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00" dirty="0">
                <a:solidFill>
                  <a:srgbClr val="000000"/>
                </a:solidFill>
                <a:latin typeface="Trebuchet MS"/>
                <a:cs typeface="Trebuchet MS"/>
              </a:rPr>
              <a:t>use</a:t>
            </a:r>
            <a:r>
              <a:rPr sz="900" spc="-1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00" spc="-30" dirty="0">
                <a:solidFill>
                  <a:srgbClr val="000000"/>
                </a:solidFill>
                <a:latin typeface="Trebuchet MS"/>
                <a:cs typeface="Trebuchet MS"/>
              </a:rPr>
              <a:t>in</a:t>
            </a:r>
            <a:r>
              <a:rPr sz="900" spc="-1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00" spc="-10" dirty="0">
                <a:solidFill>
                  <a:srgbClr val="000000"/>
                </a:solidFill>
                <a:latin typeface="Trebuchet MS"/>
                <a:cs typeface="Trebuchet MS"/>
              </a:rPr>
              <a:t>drafting</a:t>
            </a:r>
            <a:endParaRPr sz="900">
              <a:latin typeface="Trebuchet MS"/>
              <a:cs typeface="Trebuchet MS"/>
            </a:endParaRPr>
          </a:p>
          <a:p>
            <a:pPr marL="602615" marR="30480" indent="-116205">
              <a:lnSpc>
                <a:spcPct val="110700"/>
              </a:lnSpc>
              <a:buClr>
                <a:srgbClr val="D6D6EF"/>
              </a:buClr>
              <a:buSzPct val="66666"/>
              <a:buFont typeface="Lucida Sans Unicode"/>
              <a:buChar char="►"/>
              <a:tabLst>
                <a:tab pos="605155" algn="l"/>
              </a:tabLst>
            </a:pPr>
            <a:r>
              <a:rPr sz="900" dirty="0">
                <a:solidFill>
                  <a:srgbClr val="000000"/>
                </a:solidFill>
                <a:latin typeface="Trebuchet MS"/>
                <a:cs typeface="Trebuchet MS"/>
              </a:rPr>
              <a:t>Decal:</a:t>
            </a:r>
            <a:r>
              <a:rPr sz="900" spc="7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00" spc="-45" dirty="0">
                <a:solidFill>
                  <a:srgbClr val="000000"/>
                </a:solidFill>
                <a:latin typeface="Trebuchet MS"/>
                <a:cs typeface="Trebuchet MS"/>
              </a:rPr>
              <a:t>the</a:t>
            </a:r>
            <a:r>
              <a:rPr sz="900" spc="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00" spc="-55" dirty="0">
                <a:solidFill>
                  <a:srgbClr val="000000"/>
                </a:solidFill>
                <a:latin typeface="Trebuchet MS"/>
                <a:cs typeface="Trebuchet MS"/>
              </a:rPr>
              <a:t>art</a:t>
            </a:r>
            <a:r>
              <a:rPr sz="900" spc="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00" spc="-65" dirty="0">
                <a:solidFill>
                  <a:srgbClr val="000000"/>
                </a:solidFill>
                <a:latin typeface="Trebuchet MS"/>
                <a:cs typeface="Trebuchet MS"/>
              </a:rPr>
              <a:t>of</a:t>
            </a:r>
            <a:r>
              <a:rPr sz="900" spc="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00" spc="-40" dirty="0">
                <a:solidFill>
                  <a:srgbClr val="000000"/>
                </a:solidFill>
                <a:latin typeface="Trebuchet MS"/>
                <a:cs typeface="Trebuchet MS"/>
              </a:rPr>
              <a:t>transferring</a:t>
            </a:r>
            <a:r>
              <a:rPr sz="900" spc="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00" dirty="0">
                <a:solidFill>
                  <a:srgbClr val="000000"/>
                </a:solidFill>
                <a:latin typeface="Trebuchet MS"/>
                <a:cs typeface="Trebuchet MS"/>
              </a:rPr>
              <a:t>designs</a:t>
            </a:r>
            <a:r>
              <a:rPr sz="900" spc="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00" spc="-55" dirty="0">
                <a:solidFill>
                  <a:srgbClr val="000000"/>
                </a:solidFill>
                <a:latin typeface="Trebuchet MS"/>
                <a:cs typeface="Trebuchet MS"/>
              </a:rPr>
              <a:t>from</a:t>
            </a:r>
            <a:r>
              <a:rPr sz="900" spc="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00" b="1" spc="-10" dirty="0">
                <a:solidFill>
                  <a:srgbClr val="000000"/>
                </a:solidFill>
                <a:latin typeface="Trebuchet MS"/>
                <a:cs typeface="Trebuchet MS"/>
              </a:rPr>
              <a:t>specially</a:t>
            </a:r>
            <a:r>
              <a:rPr sz="900" b="1" spc="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00" b="1" spc="-20" dirty="0">
                <a:solidFill>
                  <a:srgbClr val="000000"/>
                </a:solidFill>
                <a:latin typeface="Trebuchet MS"/>
                <a:cs typeface="Trebuchet MS"/>
              </a:rPr>
              <a:t>prepared</a:t>
            </a:r>
            <a:r>
              <a:rPr sz="900" b="1" spc="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00" b="1" spc="-10" dirty="0">
                <a:solidFill>
                  <a:srgbClr val="000000"/>
                </a:solidFill>
                <a:latin typeface="Trebuchet MS"/>
                <a:cs typeface="Trebuchet MS"/>
              </a:rPr>
              <a:t>paper</a:t>
            </a:r>
            <a:r>
              <a:rPr sz="900" b="1" spc="1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00" spc="-65" dirty="0">
                <a:solidFill>
                  <a:srgbClr val="000000"/>
                </a:solidFill>
                <a:latin typeface="Trebuchet MS"/>
                <a:cs typeface="Trebuchet MS"/>
              </a:rPr>
              <a:t>to</a:t>
            </a:r>
            <a:r>
              <a:rPr sz="900" spc="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00" spc="-50" dirty="0">
                <a:solidFill>
                  <a:srgbClr val="000000"/>
                </a:solidFill>
                <a:latin typeface="Trebuchet MS"/>
                <a:cs typeface="Trebuchet MS"/>
              </a:rPr>
              <a:t>a 	</a:t>
            </a:r>
            <a:r>
              <a:rPr sz="900" dirty="0">
                <a:solidFill>
                  <a:srgbClr val="000000"/>
                </a:solidFill>
                <a:latin typeface="Trebuchet MS"/>
                <a:cs typeface="Trebuchet MS"/>
              </a:rPr>
              <a:t>wood </a:t>
            </a:r>
            <a:r>
              <a:rPr sz="900" spc="-30" dirty="0">
                <a:solidFill>
                  <a:srgbClr val="000000"/>
                </a:solidFill>
                <a:latin typeface="Trebuchet MS"/>
                <a:cs typeface="Trebuchet MS"/>
              </a:rPr>
              <a:t>or</a:t>
            </a:r>
            <a:r>
              <a:rPr sz="900" spc="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00" dirty="0">
                <a:solidFill>
                  <a:srgbClr val="000000"/>
                </a:solidFill>
                <a:latin typeface="Trebuchet MS"/>
                <a:cs typeface="Trebuchet MS"/>
              </a:rPr>
              <a:t>glass</a:t>
            </a:r>
            <a:r>
              <a:rPr sz="900" spc="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00" spc="-30" dirty="0">
                <a:solidFill>
                  <a:srgbClr val="000000"/>
                </a:solidFill>
                <a:latin typeface="Trebuchet MS"/>
                <a:cs typeface="Trebuchet MS"/>
              </a:rPr>
              <a:t>or</a:t>
            </a:r>
            <a:r>
              <a:rPr sz="90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00" spc="-45" dirty="0">
                <a:solidFill>
                  <a:srgbClr val="000000"/>
                </a:solidFill>
                <a:latin typeface="Trebuchet MS"/>
                <a:cs typeface="Trebuchet MS"/>
              </a:rPr>
              <a:t>metal</a:t>
            </a:r>
            <a:r>
              <a:rPr sz="900" spc="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00" spc="-10" dirty="0">
                <a:solidFill>
                  <a:srgbClr val="000000"/>
                </a:solidFill>
                <a:latin typeface="Trebuchet MS"/>
                <a:cs typeface="Trebuchet MS"/>
              </a:rPr>
              <a:t>surface</a:t>
            </a:r>
            <a:endParaRPr sz="900">
              <a:latin typeface="Trebuchet MS"/>
              <a:cs typeface="Trebuchet MS"/>
            </a:endParaRPr>
          </a:p>
          <a:p>
            <a:pPr marL="327660">
              <a:lnSpc>
                <a:spcPct val="100000"/>
              </a:lnSpc>
              <a:spcBef>
                <a:spcPts val="375"/>
              </a:spcBef>
            </a:pP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For</a:t>
            </a:r>
            <a:r>
              <a:rPr sz="950" i="0" spc="4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each</a:t>
            </a:r>
            <a:r>
              <a:rPr sz="950" i="0" spc="5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spc="-10" dirty="0">
                <a:solidFill>
                  <a:srgbClr val="000000"/>
                </a:solidFill>
                <a:latin typeface="Trebuchet MS"/>
                <a:cs typeface="Trebuchet MS"/>
              </a:rPr>
              <a:t>n-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word</a:t>
            </a:r>
            <a:r>
              <a:rPr sz="950" i="0" spc="5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phrase</a:t>
            </a:r>
            <a:r>
              <a:rPr sz="950" i="0" spc="5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spc="-30" dirty="0">
                <a:solidFill>
                  <a:srgbClr val="000000"/>
                </a:solidFill>
                <a:latin typeface="Trebuchet MS"/>
                <a:cs typeface="Trebuchet MS"/>
              </a:rPr>
              <a:t>that</a:t>
            </a:r>
            <a:r>
              <a:rPr sz="950" i="0" spc="4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occurs</a:t>
            </a:r>
            <a:r>
              <a:rPr sz="950" i="0" spc="5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in</a:t>
            </a:r>
            <a:r>
              <a:rPr sz="950" i="0" spc="5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both</a:t>
            </a:r>
            <a:r>
              <a:rPr sz="950" i="0" spc="5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glosses,</a:t>
            </a:r>
            <a:r>
              <a:rPr sz="950" i="0" spc="4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add</a:t>
            </a:r>
            <a:r>
              <a:rPr sz="950" i="0" spc="5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a</a:t>
            </a:r>
            <a:r>
              <a:rPr sz="950" i="0" spc="5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score</a:t>
            </a:r>
            <a:r>
              <a:rPr sz="950" i="0" spc="5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of</a:t>
            </a:r>
            <a:r>
              <a:rPr sz="950" i="0" spc="4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pc="-25" dirty="0">
                <a:solidFill>
                  <a:srgbClr val="000000"/>
                </a:solidFill>
              </a:rPr>
              <a:t>n</a:t>
            </a:r>
            <a:r>
              <a:rPr sz="1200" i="0" spc="-37" baseline="27777" dirty="0">
                <a:solidFill>
                  <a:srgbClr val="000000"/>
                </a:solidFill>
                <a:latin typeface="Cambria"/>
                <a:cs typeface="Cambria"/>
              </a:rPr>
              <a:t>2</a:t>
            </a:r>
            <a:endParaRPr sz="1200" baseline="27777">
              <a:latin typeface="Cambria"/>
              <a:cs typeface="Cambria"/>
            </a:endParaRPr>
          </a:p>
          <a:p>
            <a:pPr marL="327660">
              <a:lnSpc>
                <a:spcPct val="100000"/>
              </a:lnSpc>
              <a:spcBef>
                <a:spcPts val="334"/>
              </a:spcBef>
            </a:pPr>
            <a:r>
              <a:rPr sz="950" b="1" i="0" dirty="0">
                <a:solidFill>
                  <a:srgbClr val="000000"/>
                </a:solidFill>
                <a:latin typeface="Trebuchet MS"/>
                <a:cs typeface="Trebuchet MS"/>
              </a:rPr>
              <a:t>paper</a:t>
            </a:r>
            <a:r>
              <a:rPr sz="950" b="1" i="0" spc="6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and</a:t>
            </a:r>
            <a:r>
              <a:rPr sz="950" i="0" spc="6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b="1" i="0" dirty="0">
                <a:solidFill>
                  <a:srgbClr val="000000"/>
                </a:solidFill>
                <a:latin typeface="Trebuchet MS"/>
                <a:cs typeface="Trebuchet MS"/>
              </a:rPr>
              <a:t>specially</a:t>
            </a:r>
            <a:r>
              <a:rPr sz="950" b="1" i="0" spc="6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b="1" i="0" dirty="0">
                <a:solidFill>
                  <a:srgbClr val="000000"/>
                </a:solidFill>
                <a:latin typeface="Trebuchet MS"/>
                <a:cs typeface="Trebuchet MS"/>
              </a:rPr>
              <a:t>prepared</a:t>
            </a:r>
            <a:r>
              <a:rPr sz="950" b="1" i="0" spc="6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i="0" dirty="0">
                <a:solidFill>
                  <a:srgbClr val="000000"/>
                </a:solidFill>
                <a:latin typeface="Lucida Sans Unicode"/>
                <a:cs typeface="Lucida Sans Unicode"/>
              </a:rPr>
              <a:t>→</a:t>
            </a:r>
            <a:r>
              <a:rPr i="0" spc="-45" dirty="0">
                <a:solidFill>
                  <a:srgbClr val="000000"/>
                </a:solidFill>
                <a:latin typeface="Lucida Sans Unicode"/>
                <a:cs typeface="Lucida Sans Unicode"/>
              </a:rPr>
              <a:t> </a:t>
            </a:r>
            <a:r>
              <a:rPr i="0" spc="-75" dirty="0">
                <a:solidFill>
                  <a:srgbClr val="000000"/>
                </a:solidFill>
                <a:latin typeface="Cambria"/>
                <a:cs typeface="Cambria"/>
              </a:rPr>
              <a:t>1</a:t>
            </a:r>
            <a:r>
              <a:rPr i="0" spc="-55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i="0" spc="200" dirty="0">
                <a:solidFill>
                  <a:srgbClr val="000000"/>
                </a:solidFill>
                <a:latin typeface="Arial MT"/>
                <a:cs typeface="Arial MT"/>
              </a:rPr>
              <a:t>+</a:t>
            </a:r>
            <a:r>
              <a:rPr i="0" spc="-114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i="0" spc="-70" dirty="0">
                <a:solidFill>
                  <a:srgbClr val="000000"/>
                </a:solidFill>
                <a:latin typeface="Cambria"/>
                <a:cs typeface="Cambria"/>
              </a:rPr>
              <a:t>4</a:t>
            </a:r>
            <a:r>
              <a:rPr i="0" spc="65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i="0" spc="200" dirty="0">
                <a:solidFill>
                  <a:srgbClr val="000000"/>
                </a:solidFill>
                <a:latin typeface="Arial MT"/>
                <a:cs typeface="Arial MT"/>
              </a:rPr>
              <a:t>=</a:t>
            </a:r>
            <a:r>
              <a:rPr i="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i="0" spc="-50" dirty="0">
                <a:solidFill>
                  <a:srgbClr val="000000"/>
                </a:solidFill>
                <a:latin typeface="Cambria"/>
                <a:cs typeface="Cambria"/>
              </a:rPr>
              <a:t>5</a:t>
            </a:r>
            <a:endParaRPr sz="950">
              <a:latin typeface="Cambria"/>
              <a:cs typeface="Cambri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853082" y="3339672"/>
            <a:ext cx="90233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8" action="ppaction://hlinksldjump"/>
              </a:rPr>
              <a:t>Lexical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  <a:hlinkClick r:id="rId8" action="ppaction://hlinksldjump"/>
              </a:rPr>
              <a:t>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  <a:hlinkClick r:id="rId8" action="ppaction://hlinksldjump"/>
              </a:rPr>
              <a:t>Semantics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  <a:hlinkClick r:id="rId8" action="ppaction://hlinksldjump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8" action="ppaction://hlinksldjump"/>
              </a:rPr>
              <a:t>-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  <a:hlinkClick r:id="rId8" action="ppaction://hlinksldjump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  <a:hlinkClick r:id="rId8" action="ppaction://hlinksldjump"/>
              </a:rPr>
              <a:t>WordNet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608260" y="3339672"/>
            <a:ext cx="56388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8,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2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317424" y="3339672"/>
            <a:ext cx="236854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25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10" dirty="0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</a:rPr>
              <a:t>27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25" name="Slide Number Placeholder 24">
            <a:extLst>
              <a:ext uri="{FF2B5EF4-FFF2-40B4-BE49-F238E27FC236}">
                <a16:creationId xmlns:a16="http://schemas.microsoft.com/office/drawing/2014/main" id="{12136497-0EB8-4A66-BA33-7D75AAC08CB9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4292024" y="3339672"/>
            <a:ext cx="262254" cy="116204"/>
          </a:xfrm>
          <a:prstGeom prst="rect">
            <a:avLst/>
          </a:prstGeom>
        </p:spPr>
        <p:txBody>
          <a:bodyPr/>
          <a:lstStyle/>
          <a:p>
            <a:pPr marL="75565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lang="en-IN" smtClean="0"/>
              <a:t>73</a:t>
            </a:fld>
            <a:r>
              <a:rPr lang="en-IN" spc="-5"/>
              <a:t> </a:t>
            </a:r>
            <a:r>
              <a:rPr lang="en-IN" spc="-110"/>
              <a:t>/</a:t>
            </a:r>
            <a:r>
              <a:rPr lang="en-IN" spc="15"/>
              <a:t> </a:t>
            </a:r>
            <a:r>
              <a:rPr lang="en-IN" spc="-25"/>
              <a:t>18</a:t>
            </a:r>
            <a:endParaRPr lang="en-IN" spc="-25" dirty="0"/>
          </a:p>
        </p:txBody>
      </p:sp>
    </p:spTree>
  </p:cSld>
  <p:clrMapOvr>
    <a:masterClrMapping/>
  </p:clrMapOvr>
  <p:transition>
    <p:cut/>
  </p:transition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Problem</a:t>
            </a:r>
            <a:r>
              <a:rPr spc="-20" dirty="0"/>
              <a:t> </a:t>
            </a:r>
            <a:r>
              <a:rPr dirty="0"/>
              <a:t>in</a:t>
            </a:r>
            <a:r>
              <a:rPr spc="-20" dirty="0"/>
              <a:t> mapping </a:t>
            </a:r>
            <a:r>
              <a:rPr dirty="0"/>
              <a:t>words</a:t>
            </a:r>
            <a:r>
              <a:rPr spc="-20" dirty="0"/>
              <a:t> </a:t>
            </a:r>
            <a:r>
              <a:rPr dirty="0"/>
              <a:t>to</a:t>
            </a:r>
            <a:r>
              <a:rPr spc="-15" dirty="0"/>
              <a:t> </a:t>
            </a:r>
            <a:r>
              <a:rPr spc="-30" dirty="0"/>
              <a:t>wordnet</a:t>
            </a:r>
            <a:r>
              <a:rPr spc="-20" dirty="0"/>
              <a:t> </a:t>
            </a:r>
            <a:r>
              <a:rPr spc="-10" dirty="0"/>
              <a:t>senses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5729" y="1503527"/>
            <a:ext cx="3529965" cy="1752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950" dirty="0">
                <a:latin typeface="Trebuchet MS"/>
                <a:cs typeface="Trebuchet MS"/>
              </a:rPr>
              <a:t>I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saw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man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who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is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98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years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old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and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can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spc="-30" dirty="0">
                <a:latin typeface="Trebuchet MS"/>
                <a:cs typeface="Trebuchet MS"/>
              </a:rPr>
              <a:t>still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walk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and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spc="-50" dirty="0">
                <a:latin typeface="Trebuchet MS"/>
                <a:cs typeface="Trebuchet MS"/>
              </a:rPr>
              <a:t>tell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jokes</a:t>
            </a:r>
            <a:endParaRPr sz="95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853082" y="3339672"/>
            <a:ext cx="90233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2" action="ppaction://hlinksldjump"/>
              </a:rPr>
              <a:t>Lexical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  <a:hlinkClick r:id="rId2" action="ppaction://hlinksldjump"/>
              </a:rPr>
              <a:t>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  <a:hlinkClick r:id="rId2" action="ppaction://hlinksldjump"/>
              </a:rPr>
              <a:t>Semantics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  <a:hlinkClick r:id="rId2" action="ppaction://hlinksldjump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2" action="ppaction://hlinksldjump"/>
              </a:rPr>
              <a:t>-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  <a:hlinkClick r:id="rId2" action="ppaction://hlinksldjump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  <a:hlinkClick r:id="rId2" action="ppaction://hlinksldjump"/>
              </a:rPr>
              <a:t>WordNet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608260" y="3339672"/>
            <a:ext cx="56388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8,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2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4294967295"/>
          </p:nvPr>
        </p:nvSpPr>
        <p:spPr>
          <a:xfrm>
            <a:off x="4292024" y="3339672"/>
            <a:ext cx="262254" cy="116204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0"/>
              </a:spcBef>
            </a:pPr>
            <a:r>
              <a:rPr dirty="0"/>
              <a:t>26</a:t>
            </a:r>
            <a:r>
              <a:rPr spc="-20" dirty="0"/>
              <a:t> </a:t>
            </a:r>
            <a:r>
              <a:rPr spc="-110" dirty="0"/>
              <a:t>/</a:t>
            </a:r>
            <a:r>
              <a:rPr spc="15" dirty="0"/>
              <a:t> </a:t>
            </a:r>
            <a:r>
              <a:rPr spc="-25" dirty="0"/>
              <a:t>27</a:t>
            </a:r>
          </a:p>
        </p:txBody>
      </p:sp>
    </p:spTree>
  </p:cSld>
  <p:clrMapOvr>
    <a:masterClrMapping/>
  </p:clrMapOvr>
  <p:transition>
    <p:cut/>
  </p:transition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38"/>
            <a:ext cx="4608195" cy="351790"/>
          </a:xfrm>
          <a:custGeom>
            <a:avLst/>
            <a:gdLst/>
            <a:ahLst/>
            <a:cxnLst/>
            <a:rect l="l" t="t" r="r" b="b"/>
            <a:pathLst>
              <a:path w="4608195" h="351790">
                <a:moveTo>
                  <a:pt x="4607941" y="0"/>
                </a:moveTo>
                <a:lnTo>
                  <a:pt x="0" y="0"/>
                </a:lnTo>
                <a:lnTo>
                  <a:pt x="0" y="351409"/>
                </a:lnTo>
                <a:lnTo>
                  <a:pt x="4607941" y="351409"/>
                </a:lnTo>
                <a:lnTo>
                  <a:pt x="4607941" y="0"/>
                </a:lnTo>
                <a:close/>
              </a:path>
            </a:pathLst>
          </a:custGeom>
          <a:solidFill>
            <a:srgbClr val="3232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5250" y="60502"/>
            <a:ext cx="1663064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i="1" spc="-10" dirty="0">
                <a:solidFill>
                  <a:srgbClr val="FFFFFF"/>
                </a:solidFill>
                <a:latin typeface="Cambria"/>
                <a:cs typeface="Cambria"/>
              </a:rPr>
              <a:t>Ambiguity</a:t>
            </a:r>
            <a:r>
              <a:rPr sz="1400" i="1" spc="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dirty="0">
                <a:solidFill>
                  <a:srgbClr val="FFFFFF"/>
                </a:solidFill>
                <a:latin typeface="Cambria"/>
                <a:cs typeface="Cambria"/>
              </a:rPr>
              <a:t>is</a:t>
            </a:r>
            <a:r>
              <a:rPr sz="1400" i="1" spc="2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spc="-20" dirty="0">
                <a:solidFill>
                  <a:srgbClr val="FFFFFF"/>
                </a:solidFill>
                <a:latin typeface="Cambria"/>
                <a:cs typeface="Cambria"/>
              </a:rPr>
              <a:t>rampant!</a:t>
            </a:r>
            <a:endParaRPr sz="1400">
              <a:latin typeface="Cambria"/>
              <a:cs typeface="Cambri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3713" y="683920"/>
            <a:ext cx="4320540" cy="2255520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1853082" y="3339672"/>
            <a:ext cx="90233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Lexical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Semantics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-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WordNet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608260" y="3339672"/>
            <a:ext cx="56388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8,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2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4294967295"/>
          </p:nvPr>
        </p:nvSpPr>
        <p:spPr>
          <a:xfrm>
            <a:off x="4292024" y="3339672"/>
            <a:ext cx="262254" cy="116204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0"/>
              </a:spcBef>
            </a:pPr>
            <a:r>
              <a:rPr dirty="0"/>
              <a:t>27</a:t>
            </a:r>
            <a:r>
              <a:rPr spc="-20" dirty="0"/>
              <a:t> </a:t>
            </a:r>
            <a:r>
              <a:rPr spc="-110" dirty="0"/>
              <a:t>/</a:t>
            </a:r>
            <a:r>
              <a:rPr spc="15" dirty="0"/>
              <a:t> </a:t>
            </a:r>
            <a:r>
              <a:rPr spc="-25" dirty="0"/>
              <a:t>27</a:t>
            </a:r>
          </a:p>
        </p:txBody>
      </p:sp>
    </p:spTree>
  </p:cSld>
  <p:clrMapOvr>
    <a:masterClrMapping/>
  </p:clrMapOvr>
  <p:transition>
    <p:cut/>
  </p:transition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7743" y="893356"/>
            <a:ext cx="4432935" cy="82550"/>
          </a:xfrm>
          <a:custGeom>
            <a:avLst/>
            <a:gdLst/>
            <a:ahLst/>
            <a:cxnLst/>
            <a:rect l="l" t="t" r="r" b="b"/>
            <a:pathLst>
              <a:path w="4432935" h="82550">
                <a:moveTo>
                  <a:pt x="4381754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82423"/>
                </a:lnTo>
                <a:lnTo>
                  <a:pt x="4432554" y="82423"/>
                </a:lnTo>
                <a:lnTo>
                  <a:pt x="4432554" y="50800"/>
                </a:lnTo>
                <a:lnTo>
                  <a:pt x="4428545" y="31075"/>
                </a:lnTo>
                <a:lnTo>
                  <a:pt x="4417631" y="14922"/>
                </a:lnTo>
                <a:lnTo>
                  <a:pt x="4401478" y="4008"/>
                </a:lnTo>
                <a:lnTo>
                  <a:pt x="4381754" y="0"/>
                </a:lnTo>
                <a:close/>
              </a:path>
            </a:pathLst>
          </a:custGeom>
          <a:solidFill>
            <a:srgbClr val="3232B2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87743" y="937793"/>
            <a:ext cx="4483735" cy="382270"/>
            <a:chOff x="87743" y="937793"/>
            <a:chExt cx="4483735" cy="38227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8544" y="1218336"/>
              <a:ext cx="101599" cy="1016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9344" y="1205636"/>
              <a:ext cx="4381754" cy="11430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520298" y="943914"/>
              <a:ext cx="50800" cy="274421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87743" y="937793"/>
              <a:ext cx="4432935" cy="331470"/>
            </a:xfrm>
            <a:custGeom>
              <a:avLst/>
              <a:gdLst/>
              <a:ahLst/>
              <a:cxnLst/>
              <a:rect l="l" t="t" r="r" b="b"/>
              <a:pathLst>
                <a:path w="4432935" h="331469">
                  <a:moveTo>
                    <a:pt x="4432554" y="0"/>
                  </a:moveTo>
                  <a:lnTo>
                    <a:pt x="0" y="0"/>
                  </a:lnTo>
                  <a:lnTo>
                    <a:pt x="0" y="280543"/>
                  </a:lnTo>
                  <a:lnTo>
                    <a:pt x="4008" y="300267"/>
                  </a:lnTo>
                  <a:lnTo>
                    <a:pt x="14922" y="316420"/>
                  </a:lnTo>
                  <a:lnTo>
                    <a:pt x="31075" y="327334"/>
                  </a:lnTo>
                  <a:lnTo>
                    <a:pt x="50800" y="331343"/>
                  </a:lnTo>
                  <a:lnTo>
                    <a:pt x="4381754" y="331343"/>
                  </a:lnTo>
                  <a:lnTo>
                    <a:pt x="4401478" y="327334"/>
                  </a:lnTo>
                  <a:lnTo>
                    <a:pt x="4417631" y="316420"/>
                  </a:lnTo>
                  <a:lnTo>
                    <a:pt x="4428545" y="300267"/>
                  </a:lnTo>
                  <a:lnTo>
                    <a:pt x="4432554" y="280543"/>
                  </a:lnTo>
                  <a:lnTo>
                    <a:pt x="4432554" y="0"/>
                  </a:lnTo>
                  <a:close/>
                </a:path>
              </a:pathLst>
            </a:custGeom>
            <a:solidFill>
              <a:srgbClr val="3232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520310" y="981989"/>
              <a:ext cx="0" cy="255904"/>
            </a:xfrm>
            <a:custGeom>
              <a:avLst/>
              <a:gdLst/>
              <a:ahLst/>
              <a:cxnLst/>
              <a:rect l="l" t="t" r="r" b="b"/>
              <a:pathLst>
                <a:path h="255905">
                  <a:moveTo>
                    <a:pt x="0" y="255396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520310" y="969314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520310" y="956614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520310" y="943914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1154315" y="942136"/>
            <a:ext cx="229997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i="1" spc="-60" dirty="0">
                <a:solidFill>
                  <a:srgbClr val="FFFFFF"/>
                </a:solidFill>
                <a:latin typeface="Cambria"/>
                <a:cs typeface="Cambria"/>
              </a:rPr>
              <a:t>Word</a:t>
            </a:r>
            <a:r>
              <a:rPr sz="1400" i="1" spc="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dirty="0">
                <a:solidFill>
                  <a:srgbClr val="FFFFFF"/>
                </a:solidFill>
                <a:latin typeface="Cambria"/>
                <a:cs typeface="Cambria"/>
              </a:rPr>
              <a:t>Sense</a:t>
            </a:r>
            <a:r>
              <a:rPr sz="1400" i="1" spc="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dirty="0">
                <a:solidFill>
                  <a:srgbClr val="FFFFFF"/>
                </a:solidFill>
                <a:latin typeface="Cambria"/>
                <a:cs typeface="Cambria"/>
              </a:rPr>
              <a:t>Disambiguation</a:t>
            </a:r>
            <a:r>
              <a:rPr sz="1400" i="1" spc="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dirty="0">
                <a:solidFill>
                  <a:srgbClr val="FFFFFF"/>
                </a:solidFill>
                <a:latin typeface="Cambria"/>
                <a:cs typeface="Cambria"/>
              </a:rPr>
              <a:t>-</a:t>
            </a:r>
            <a:r>
              <a:rPr sz="1400" i="1" spc="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spc="-50" dirty="0">
                <a:solidFill>
                  <a:srgbClr val="FFFFFF"/>
                </a:solidFill>
                <a:latin typeface="Cambria"/>
                <a:cs typeface="Cambria"/>
              </a:rPr>
              <a:t>I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817522" y="3339672"/>
            <a:ext cx="97345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  <a:hlinkClick r:id="rId5" action="ppaction://hlinksldjump"/>
              </a:rPr>
              <a:t>Word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  <a:hlinkClick r:id="rId5" action="ppaction://hlinksldjump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5" action="ppaction://hlinksldjump"/>
              </a:rPr>
              <a:t>Sense</a:t>
            </a:r>
            <a:r>
              <a:rPr sz="600" i="1" spc="5" dirty="0">
                <a:solidFill>
                  <a:srgbClr val="FFFFFF"/>
                </a:solidFill>
                <a:latin typeface="Cambria"/>
                <a:cs typeface="Cambria"/>
                <a:hlinkClick r:id="rId5" action="ppaction://hlinksldjump"/>
              </a:rPr>
              <a:t>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  <a:hlinkClick r:id="rId5" action="ppaction://hlinksldjump"/>
              </a:rPr>
              <a:t>Disambiguation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  <a:hlinkClick r:id="rId5" action="ppaction://hlinksldjump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5" action="ppaction://hlinksldjump"/>
              </a:rPr>
              <a:t>-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  <a:hlinkClick r:id="rId5" action="ppaction://hlinksldjump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  <a:hlinkClick r:id="rId5" action="ppaction://hlinksldjump"/>
              </a:rPr>
              <a:t>I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646170" y="3339672"/>
            <a:ext cx="56388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8,</a:t>
            </a:r>
            <a:r>
              <a:rPr sz="600" i="1" spc="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3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sldNum" sz="quarter" idx="4294967295"/>
          </p:nvPr>
        </p:nvSpPr>
        <p:spPr>
          <a:xfrm>
            <a:off x="4292024" y="3339672"/>
            <a:ext cx="262254" cy="116204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75565">
              <a:lnSpc>
                <a:spcPct val="100000"/>
              </a:lnSpc>
              <a:spcBef>
                <a:spcPts val="50"/>
              </a:spcBef>
            </a:pPr>
            <a:r>
              <a:rPr dirty="0"/>
              <a:t>1</a:t>
            </a:r>
            <a:r>
              <a:rPr spc="-5" dirty="0"/>
              <a:t> </a:t>
            </a:r>
            <a:r>
              <a:rPr spc="-110" dirty="0"/>
              <a:t>/</a:t>
            </a:r>
            <a:r>
              <a:rPr spc="15" dirty="0"/>
              <a:t> </a:t>
            </a:r>
            <a:r>
              <a:rPr spc="-25" dirty="0"/>
              <a:t>15</a:t>
            </a:r>
          </a:p>
        </p:txBody>
      </p:sp>
    </p:spTree>
  </p:cSld>
  <p:clrMapOvr>
    <a:masterClrMapping/>
  </p:clrMapOvr>
  <p:transition>
    <p:cut/>
  </p:transition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60" dirty="0"/>
              <a:t>Word</a:t>
            </a:r>
            <a:r>
              <a:rPr spc="-10" dirty="0"/>
              <a:t> </a:t>
            </a:r>
            <a:r>
              <a:rPr dirty="0"/>
              <a:t>Sense Disambiguation</a:t>
            </a:r>
            <a:r>
              <a:rPr spc="5" dirty="0"/>
              <a:t> </a:t>
            </a:r>
            <a:r>
              <a:rPr spc="-10" dirty="0"/>
              <a:t>(WSD)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7743" y="639533"/>
            <a:ext cx="4483735" cy="1483360"/>
            <a:chOff x="87743" y="639533"/>
            <a:chExt cx="4483735" cy="1483360"/>
          </a:xfrm>
        </p:grpSpPr>
        <p:sp>
          <p:nvSpPr>
            <p:cNvPr id="4" name="object 4"/>
            <p:cNvSpPr/>
            <p:nvPr/>
          </p:nvSpPr>
          <p:spPr>
            <a:xfrm>
              <a:off x="87743" y="639533"/>
              <a:ext cx="4432935" cy="186055"/>
            </a:xfrm>
            <a:custGeom>
              <a:avLst/>
              <a:gdLst/>
              <a:ahLst/>
              <a:cxnLst/>
              <a:rect l="l" t="t" r="r" b="b"/>
              <a:pathLst>
                <a:path w="4432935" h="186055">
                  <a:moveTo>
                    <a:pt x="4381754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5674"/>
                  </a:lnTo>
                  <a:lnTo>
                    <a:pt x="4432554" y="185674"/>
                  </a:lnTo>
                  <a:lnTo>
                    <a:pt x="4432554" y="50800"/>
                  </a:lnTo>
                  <a:lnTo>
                    <a:pt x="4428545" y="31075"/>
                  </a:lnTo>
                  <a:lnTo>
                    <a:pt x="4417631" y="14922"/>
                  </a:lnTo>
                  <a:lnTo>
                    <a:pt x="4401478" y="4008"/>
                  </a:lnTo>
                  <a:lnTo>
                    <a:pt x="4381754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744" y="812558"/>
              <a:ext cx="4432554" cy="5060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8544" y="2021027"/>
              <a:ext cx="101599" cy="1016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9344" y="2008327"/>
              <a:ext cx="4381754" cy="1143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20298" y="683780"/>
              <a:ext cx="50800" cy="1337246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87743" y="856818"/>
              <a:ext cx="4432935" cy="1215390"/>
            </a:xfrm>
            <a:custGeom>
              <a:avLst/>
              <a:gdLst/>
              <a:ahLst/>
              <a:cxnLst/>
              <a:rect l="l" t="t" r="r" b="b"/>
              <a:pathLst>
                <a:path w="4432935" h="1215389">
                  <a:moveTo>
                    <a:pt x="4432554" y="0"/>
                  </a:moveTo>
                  <a:lnTo>
                    <a:pt x="0" y="0"/>
                  </a:lnTo>
                  <a:lnTo>
                    <a:pt x="0" y="1164209"/>
                  </a:lnTo>
                  <a:lnTo>
                    <a:pt x="4008" y="1183933"/>
                  </a:lnTo>
                  <a:lnTo>
                    <a:pt x="14922" y="1200086"/>
                  </a:lnTo>
                  <a:lnTo>
                    <a:pt x="31075" y="1211000"/>
                  </a:lnTo>
                  <a:lnTo>
                    <a:pt x="50800" y="1215009"/>
                  </a:lnTo>
                  <a:lnTo>
                    <a:pt x="4381754" y="1215009"/>
                  </a:lnTo>
                  <a:lnTo>
                    <a:pt x="4401478" y="1211000"/>
                  </a:lnTo>
                  <a:lnTo>
                    <a:pt x="4417631" y="1200086"/>
                  </a:lnTo>
                  <a:lnTo>
                    <a:pt x="4428545" y="1183933"/>
                  </a:lnTo>
                  <a:lnTo>
                    <a:pt x="4432554" y="1164209"/>
                  </a:lnTo>
                  <a:lnTo>
                    <a:pt x="4432554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520309" y="721817"/>
              <a:ext cx="0" cy="1318260"/>
            </a:xfrm>
            <a:custGeom>
              <a:avLst/>
              <a:gdLst/>
              <a:ahLst/>
              <a:cxnLst/>
              <a:rect l="l" t="t" r="r" b="b"/>
              <a:pathLst>
                <a:path h="1318260">
                  <a:moveTo>
                    <a:pt x="0" y="131826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520309" y="709155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520309" y="696455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520309" y="683755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81597" y="903693"/>
              <a:ext cx="64757" cy="64757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81597" y="1113726"/>
              <a:ext cx="64757" cy="64757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81597" y="1303515"/>
              <a:ext cx="64757" cy="64757"/>
            </a:xfrm>
            <a:prstGeom prst="rect">
              <a:avLst/>
            </a:prstGeom>
          </p:spPr>
        </p:pic>
      </p:grpSp>
      <p:sp>
        <p:nvSpPr>
          <p:cNvPr id="17" name="object 17"/>
          <p:cNvSpPr txBox="1"/>
          <p:nvPr/>
        </p:nvSpPr>
        <p:spPr>
          <a:xfrm>
            <a:off x="113029" y="568103"/>
            <a:ext cx="4289425" cy="1471295"/>
          </a:xfrm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500"/>
              </a:spcBef>
            </a:pPr>
            <a:r>
              <a:rPr sz="1100" i="1" dirty="0">
                <a:solidFill>
                  <a:srgbClr val="3232B2"/>
                </a:solidFill>
                <a:latin typeface="Cambria"/>
                <a:cs typeface="Cambria"/>
              </a:rPr>
              <a:t>Sense</a:t>
            </a:r>
            <a:r>
              <a:rPr sz="1100" i="1" spc="-50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100" i="1" spc="-10" dirty="0">
                <a:solidFill>
                  <a:srgbClr val="3232B2"/>
                </a:solidFill>
                <a:latin typeface="Cambria"/>
                <a:cs typeface="Cambria"/>
              </a:rPr>
              <a:t>ambiguity</a:t>
            </a:r>
            <a:endParaRPr sz="1100">
              <a:latin typeface="Cambria"/>
              <a:cs typeface="Cambria"/>
            </a:endParaRPr>
          </a:p>
          <a:p>
            <a:pPr marL="302260">
              <a:lnSpc>
                <a:spcPct val="100000"/>
              </a:lnSpc>
              <a:spcBef>
                <a:spcPts val="400"/>
              </a:spcBef>
            </a:pPr>
            <a:r>
              <a:rPr sz="950" spc="50" dirty="0">
                <a:latin typeface="Trebuchet MS"/>
                <a:cs typeface="Trebuchet MS"/>
              </a:rPr>
              <a:t>Many</a:t>
            </a:r>
            <a:r>
              <a:rPr sz="950" spc="6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words</a:t>
            </a:r>
            <a:r>
              <a:rPr sz="950" spc="6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have</a:t>
            </a:r>
            <a:r>
              <a:rPr sz="950" spc="6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several</a:t>
            </a:r>
            <a:r>
              <a:rPr sz="950" spc="6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meanings</a:t>
            </a:r>
            <a:r>
              <a:rPr sz="950" spc="6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or</a:t>
            </a:r>
            <a:r>
              <a:rPr sz="950" spc="60" dirty="0">
                <a:latin typeface="Trebuchet MS"/>
                <a:cs typeface="Trebuchet MS"/>
              </a:rPr>
              <a:t> </a:t>
            </a:r>
            <a:r>
              <a:rPr sz="950" spc="50" dirty="0">
                <a:latin typeface="Trebuchet MS"/>
                <a:cs typeface="Trebuchet MS"/>
              </a:rPr>
              <a:t>senses</a:t>
            </a:r>
            <a:endParaRPr sz="950">
              <a:latin typeface="Trebuchet MS"/>
              <a:cs typeface="Trebuchet MS"/>
            </a:endParaRPr>
          </a:p>
          <a:p>
            <a:pPr marL="302260" marR="1466215">
              <a:lnSpc>
                <a:spcPct val="131100"/>
              </a:lnSpc>
              <a:spcBef>
                <a:spcPts val="160"/>
              </a:spcBef>
            </a:pP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meaning</a:t>
            </a:r>
            <a:r>
              <a:rPr sz="950" spc="5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of</a:t>
            </a:r>
            <a:r>
              <a:rPr sz="950" spc="50" dirty="0">
                <a:latin typeface="Trebuchet MS"/>
                <a:cs typeface="Trebuchet MS"/>
              </a:rPr>
              <a:t> </a:t>
            </a:r>
            <a:r>
              <a:rPr sz="950" b="1" spc="85" dirty="0">
                <a:latin typeface="Trebuchet MS"/>
                <a:cs typeface="Trebuchet MS"/>
              </a:rPr>
              <a:t>bass</a:t>
            </a:r>
            <a:r>
              <a:rPr sz="950" b="1" spc="4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depends</a:t>
            </a:r>
            <a:r>
              <a:rPr sz="950" spc="5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on</a:t>
            </a:r>
            <a:r>
              <a:rPr sz="950" spc="5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50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context </a:t>
            </a:r>
            <a:r>
              <a:rPr sz="950" dirty="0">
                <a:latin typeface="Trebuchet MS"/>
                <a:cs typeface="Trebuchet MS"/>
              </a:rPr>
              <a:t>Are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we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talking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about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music,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or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fish?</a:t>
            </a:r>
            <a:endParaRPr sz="950">
              <a:latin typeface="Trebuchet MS"/>
              <a:cs typeface="Trebuchet MS"/>
            </a:endParaRPr>
          </a:p>
          <a:p>
            <a:pPr marL="577215" marR="63500" indent="-116205">
              <a:lnSpc>
                <a:spcPct val="110700"/>
              </a:lnSpc>
              <a:spcBef>
                <a:spcPts val="190"/>
              </a:spcBef>
              <a:buClr>
                <a:srgbClr val="D6D6EF"/>
              </a:buClr>
              <a:buSzPct val="66666"/>
              <a:buFont typeface="Lucida Sans Unicode"/>
              <a:buChar char="►"/>
              <a:tabLst>
                <a:tab pos="579120" algn="l"/>
              </a:tabLst>
            </a:pPr>
            <a:r>
              <a:rPr sz="900" dirty="0">
                <a:latin typeface="Trebuchet MS"/>
                <a:cs typeface="Trebuchet MS"/>
              </a:rPr>
              <a:t>An</a:t>
            </a:r>
            <a:r>
              <a:rPr sz="900" spc="-15" dirty="0">
                <a:latin typeface="Trebuchet MS"/>
                <a:cs typeface="Trebuchet MS"/>
              </a:rPr>
              <a:t> </a:t>
            </a:r>
            <a:r>
              <a:rPr sz="900" spc="-35" dirty="0">
                <a:latin typeface="Trebuchet MS"/>
                <a:cs typeface="Trebuchet MS"/>
              </a:rPr>
              <a:t>electric</a:t>
            </a:r>
            <a:r>
              <a:rPr sz="900" spc="-15" dirty="0">
                <a:latin typeface="Trebuchet MS"/>
                <a:cs typeface="Trebuchet MS"/>
              </a:rPr>
              <a:t> </a:t>
            </a:r>
            <a:r>
              <a:rPr sz="900" spc="-30" dirty="0">
                <a:latin typeface="Trebuchet MS"/>
                <a:cs typeface="Trebuchet MS"/>
              </a:rPr>
              <a:t>guitar</a:t>
            </a:r>
            <a:r>
              <a:rPr sz="900" spc="-10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and</a:t>
            </a:r>
            <a:r>
              <a:rPr sz="900" spc="-15" dirty="0">
                <a:latin typeface="Trebuchet MS"/>
                <a:cs typeface="Trebuchet MS"/>
              </a:rPr>
              <a:t> </a:t>
            </a:r>
            <a:r>
              <a:rPr sz="900" b="1" spc="65" dirty="0">
                <a:latin typeface="Trebuchet MS"/>
                <a:cs typeface="Trebuchet MS"/>
              </a:rPr>
              <a:t>bass</a:t>
            </a:r>
            <a:r>
              <a:rPr sz="900" b="1" spc="-10" dirty="0">
                <a:latin typeface="Trebuchet MS"/>
                <a:cs typeface="Trebuchet MS"/>
              </a:rPr>
              <a:t> </a:t>
            </a:r>
            <a:r>
              <a:rPr sz="900" spc="-25" dirty="0">
                <a:latin typeface="Trebuchet MS"/>
                <a:cs typeface="Trebuchet MS"/>
              </a:rPr>
              <a:t>player</a:t>
            </a:r>
            <a:r>
              <a:rPr sz="900" spc="-15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stand</a:t>
            </a:r>
            <a:r>
              <a:rPr sz="900" spc="-15" dirty="0">
                <a:latin typeface="Trebuchet MS"/>
                <a:cs typeface="Trebuchet MS"/>
              </a:rPr>
              <a:t> </a:t>
            </a:r>
            <a:r>
              <a:rPr sz="900" spc="-65" dirty="0">
                <a:latin typeface="Trebuchet MS"/>
                <a:cs typeface="Trebuchet MS"/>
              </a:rPr>
              <a:t>off</a:t>
            </a:r>
            <a:r>
              <a:rPr sz="900" spc="-10" dirty="0">
                <a:latin typeface="Trebuchet MS"/>
                <a:cs typeface="Trebuchet MS"/>
              </a:rPr>
              <a:t> </a:t>
            </a:r>
            <a:r>
              <a:rPr sz="900" spc="-65" dirty="0">
                <a:latin typeface="Trebuchet MS"/>
                <a:cs typeface="Trebuchet MS"/>
              </a:rPr>
              <a:t>to</a:t>
            </a:r>
            <a:r>
              <a:rPr sz="900" spc="-15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one</a:t>
            </a:r>
            <a:r>
              <a:rPr sz="900" spc="-10" dirty="0">
                <a:latin typeface="Trebuchet MS"/>
                <a:cs typeface="Trebuchet MS"/>
              </a:rPr>
              <a:t> side,</a:t>
            </a:r>
            <a:r>
              <a:rPr sz="900" spc="-15" dirty="0">
                <a:latin typeface="Trebuchet MS"/>
                <a:cs typeface="Trebuchet MS"/>
              </a:rPr>
              <a:t> </a:t>
            </a:r>
            <a:r>
              <a:rPr sz="900" spc="-25" dirty="0">
                <a:latin typeface="Trebuchet MS"/>
                <a:cs typeface="Trebuchet MS"/>
              </a:rPr>
              <a:t>not</a:t>
            </a:r>
            <a:r>
              <a:rPr sz="900" spc="-10" dirty="0">
                <a:latin typeface="Trebuchet MS"/>
                <a:cs typeface="Trebuchet MS"/>
              </a:rPr>
              <a:t> </a:t>
            </a:r>
            <a:r>
              <a:rPr sz="900" spc="-25" dirty="0">
                <a:latin typeface="Trebuchet MS"/>
                <a:cs typeface="Trebuchet MS"/>
              </a:rPr>
              <a:t>really</a:t>
            </a:r>
            <a:r>
              <a:rPr sz="900" spc="-15" dirty="0">
                <a:latin typeface="Trebuchet MS"/>
                <a:cs typeface="Trebuchet MS"/>
              </a:rPr>
              <a:t> </a:t>
            </a:r>
            <a:r>
              <a:rPr sz="900" spc="-35" dirty="0">
                <a:latin typeface="Trebuchet MS"/>
                <a:cs typeface="Trebuchet MS"/>
              </a:rPr>
              <a:t>part</a:t>
            </a:r>
            <a:r>
              <a:rPr sz="900" spc="-15" dirty="0">
                <a:latin typeface="Trebuchet MS"/>
                <a:cs typeface="Trebuchet MS"/>
              </a:rPr>
              <a:t> </a:t>
            </a:r>
            <a:r>
              <a:rPr sz="900" spc="-25" dirty="0">
                <a:latin typeface="Trebuchet MS"/>
                <a:cs typeface="Trebuchet MS"/>
              </a:rPr>
              <a:t>of 	the</a:t>
            </a:r>
            <a:r>
              <a:rPr sz="900" spc="-15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scene,</a:t>
            </a:r>
            <a:r>
              <a:rPr sz="900" spc="-15" dirty="0">
                <a:latin typeface="Trebuchet MS"/>
                <a:cs typeface="Trebuchet MS"/>
              </a:rPr>
              <a:t> </a:t>
            </a:r>
            <a:r>
              <a:rPr sz="900" spc="-45" dirty="0">
                <a:latin typeface="Trebuchet MS"/>
                <a:cs typeface="Trebuchet MS"/>
              </a:rPr>
              <a:t>just</a:t>
            </a:r>
            <a:r>
              <a:rPr sz="900" spc="-15" dirty="0">
                <a:latin typeface="Trebuchet MS"/>
                <a:cs typeface="Trebuchet MS"/>
              </a:rPr>
              <a:t> </a:t>
            </a:r>
            <a:r>
              <a:rPr sz="900" spc="50" dirty="0">
                <a:latin typeface="Trebuchet MS"/>
                <a:cs typeface="Trebuchet MS"/>
              </a:rPr>
              <a:t>as</a:t>
            </a:r>
            <a:r>
              <a:rPr sz="900" spc="-15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a</a:t>
            </a:r>
            <a:r>
              <a:rPr sz="900" spc="-15" dirty="0">
                <a:latin typeface="Trebuchet MS"/>
                <a:cs typeface="Trebuchet MS"/>
              </a:rPr>
              <a:t> </a:t>
            </a:r>
            <a:r>
              <a:rPr sz="900" spc="-10" dirty="0">
                <a:latin typeface="Trebuchet MS"/>
                <a:cs typeface="Trebuchet MS"/>
              </a:rPr>
              <a:t>sort</a:t>
            </a:r>
            <a:r>
              <a:rPr sz="900" spc="-15" dirty="0">
                <a:latin typeface="Trebuchet MS"/>
                <a:cs typeface="Trebuchet MS"/>
              </a:rPr>
              <a:t> </a:t>
            </a:r>
            <a:r>
              <a:rPr sz="900" spc="-45" dirty="0">
                <a:latin typeface="Trebuchet MS"/>
                <a:cs typeface="Trebuchet MS"/>
              </a:rPr>
              <a:t>of</a:t>
            </a:r>
            <a:r>
              <a:rPr sz="900" spc="-15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nod</a:t>
            </a:r>
            <a:r>
              <a:rPr sz="900" spc="-10" dirty="0">
                <a:latin typeface="Trebuchet MS"/>
                <a:cs typeface="Trebuchet MS"/>
              </a:rPr>
              <a:t> </a:t>
            </a:r>
            <a:r>
              <a:rPr sz="900" spc="-65" dirty="0">
                <a:latin typeface="Trebuchet MS"/>
                <a:cs typeface="Trebuchet MS"/>
              </a:rPr>
              <a:t>to</a:t>
            </a:r>
            <a:r>
              <a:rPr sz="900" spc="-15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gringo</a:t>
            </a:r>
            <a:r>
              <a:rPr sz="900" spc="-15" dirty="0">
                <a:latin typeface="Trebuchet MS"/>
                <a:cs typeface="Trebuchet MS"/>
              </a:rPr>
              <a:t> </a:t>
            </a:r>
            <a:r>
              <a:rPr sz="900" spc="-20" dirty="0">
                <a:latin typeface="Trebuchet MS"/>
                <a:cs typeface="Trebuchet MS"/>
              </a:rPr>
              <a:t>expectations</a:t>
            </a:r>
            <a:r>
              <a:rPr sz="900" spc="-15" dirty="0">
                <a:latin typeface="Trebuchet MS"/>
                <a:cs typeface="Trebuchet MS"/>
              </a:rPr>
              <a:t> </a:t>
            </a:r>
            <a:r>
              <a:rPr sz="900" spc="-10" dirty="0">
                <a:latin typeface="Trebuchet MS"/>
                <a:cs typeface="Trebuchet MS"/>
              </a:rPr>
              <a:t>perhaps.</a:t>
            </a:r>
            <a:endParaRPr sz="900">
              <a:latin typeface="Trebuchet MS"/>
              <a:cs typeface="Trebuchet MS"/>
            </a:endParaRPr>
          </a:p>
          <a:p>
            <a:pPr marL="577215" marR="43180" indent="-116205">
              <a:lnSpc>
                <a:spcPct val="110700"/>
              </a:lnSpc>
              <a:buClr>
                <a:srgbClr val="D6D6EF"/>
              </a:buClr>
              <a:buSzPct val="66666"/>
              <a:buFont typeface="Lucida Sans Unicode"/>
              <a:buChar char="►"/>
              <a:tabLst>
                <a:tab pos="579120" algn="l"/>
              </a:tabLst>
            </a:pPr>
            <a:r>
              <a:rPr sz="900" dirty="0">
                <a:latin typeface="Trebuchet MS"/>
                <a:cs typeface="Trebuchet MS"/>
              </a:rPr>
              <a:t>And</a:t>
            </a:r>
            <a:r>
              <a:rPr sz="900" spc="-15" dirty="0">
                <a:latin typeface="Trebuchet MS"/>
                <a:cs typeface="Trebuchet MS"/>
              </a:rPr>
              <a:t> </a:t>
            </a:r>
            <a:r>
              <a:rPr sz="900" spc="-100" dirty="0">
                <a:latin typeface="Trebuchet MS"/>
                <a:cs typeface="Trebuchet MS"/>
              </a:rPr>
              <a:t>it</a:t>
            </a:r>
            <a:r>
              <a:rPr sz="900" spc="-15" dirty="0">
                <a:latin typeface="Trebuchet MS"/>
                <a:cs typeface="Trebuchet MS"/>
              </a:rPr>
              <a:t> </a:t>
            </a:r>
            <a:r>
              <a:rPr sz="900" spc="-40" dirty="0">
                <a:latin typeface="Trebuchet MS"/>
                <a:cs typeface="Trebuchet MS"/>
              </a:rPr>
              <a:t>all</a:t>
            </a:r>
            <a:r>
              <a:rPr sz="900" spc="-15" dirty="0">
                <a:latin typeface="Trebuchet MS"/>
                <a:cs typeface="Trebuchet MS"/>
              </a:rPr>
              <a:t> </a:t>
            </a:r>
            <a:r>
              <a:rPr sz="900" spc="-20" dirty="0">
                <a:latin typeface="Trebuchet MS"/>
                <a:cs typeface="Trebuchet MS"/>
              </a:rPr>
              <a:t>started</a:t>
            </a:r>
            <a:r>
              <a:rPr sz="900" spc="-10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when</a:t>
            </a:r>
            <a:r>
              <a:rPr sz="900" spc="-15" dirty="0">
                <a:latin typeface="Trebuchet MS"/>
                <a:cs typeface="Trebuchet MS"/>
              </a:rPr>
              <a:t> </a:t>
            </a:r>
            <a:r>
              <a:rPr sz="900" spc="-10" dirty="0">
                <a:latin typeface="Trebuchet MS"/>
                <a:cs typeface="Trebuchet MS"/>
              </a:rPr>
              <a:t>fishermen</a:t>
            </a:r>
            <a:r>
              <a:rPr sz="900" spc="-15" dirty="0">
                <a:latin typeface="Trebuchet MS"/>
                <a:cs typeface="Trebuchet MS"/>
              </a:rPr>
              <a:t> </a:t>
            </a:r>
            <a:r>
              <a:rPr sz="900" spc="-10" dirty="0">
                <a:latin typeface="Trebuchet MS"/>
                <a:cs typeface="Trebuchet MS"/>
              </a:rPr>
              <a:t>decided</a:t>
            </a:r>
            <a:r>
              <a:rPr sz="900" spc="-15" dirty="0">
                <a:latin typeface="Trebuchet MS"/>
                <a:cs typeface="Trebuchet MS"/>
              </a:rPr>
              <a:t> </a:t>
            </a:r>
            <a:r>
              <a:rPr sz="900" spc="-25" dirty="0">
                <a:latin typeface="Trebuchet MS"/>
                <a:cs typeface="Trebuchet MS"/>
              </a:rPr>
              <a:t>the</a:t>
            </a:r>
            <a:r>
              <a:rPr sz="900" spc="-10" dirty="0">
                <a:latin typeface="Trebuchet MS"/>
                <a:cs typeface="Trebuchet MS"/>
              </a:rPr>
              <a:t> </a:t>
            </a:r>
            <a:r>
              <a:rPr sz="900" spc="-20" dirty="0">
                <a:latin typeface="Trebuchet MS"/>
                <a:cs typeface="Trebuchet MS"/>
              </a:rPr>
              <a:t>striped</a:t>
            </a:r>
            <a:r>
              <a:rPr sz="900" spc="-15" dirty="0">
                <a:latin typeface="Trebuchet MS"/>
                <a:cs typeface="Trebuchet MS"/>
              </a:rPr>
              <a:t> </a:t>
            </a:r>
            <a:r>
              <a:rPr sz="900" b="1" spc="65" dirty="0">
                <a:latin typeface="Trebuchet MS"/>
                <a:cs typeface="Trebuchet MS"/>
              </a:rPr>
              <a:t>bass</a:t>
            </a:r>
            <a:r>
              <a:rPr sz="900" b="1" spc="-15" dirty="0">
                <a:latin typeface="Trebuchet MS"/>
                <a:cs typeface="Trebuchet MS"/>
              </a:rPr>
              <a:t> </a:t>
            </a:r>
            <a:r>
              <a:rPr sz="900" spc="-10" dirty="0">
                <a:latin typeface="Trebuchet MS"/>
                <a:cs typeface="Trebuchet MS"/>
              </a:rPr>
              <a:t>in</a:t>
            </a:r>
            <a:r>
              <a:rPr sz="900" spc="-15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Lake</a:t>
            </a:r>
            <a:r>
              <a:rPr sz="900" spc="-10" dirty="0">
                <a:latin typeface="Trebuchet MS"/>
                <a:cs typeface="Trebuchet MS"/>
              </a:rPr>
              <a:t> </a:t>
            </a:r>
            <a:r>
              <a:rPr sz="900" spc="-20" dirty="0">
                <a:latin typeface="Trebuchet MS"/>
                <a:cs typeface="Trebuchet MS"/>
              </a:rPr>
              <a:t>Mead 	were</a:t>
            </a:r>
            <a:r>
              <a:rPr sz="900" spc="-40" dirty="0">
                <a:latin typeface="Trebuchet MS"/>
                <a:cs typeface="Trebuchet MS"/>
              </a:rPr>
              <a:t> </a:t>
            </a:r>
            <a:r>
              <a:rPr sz="900" spc="-25" dirty="0">
                <a:latin typeface="Trebuchet MS"/>
                <a:cs typeface="Trebuchet MS"/>
              </a:rPr>
              <a:t>too</a:t>
            </a:r>
            <a:r>
              <a:rPr sz="900" spc="-35" dirty="0">
                <a:latin typeface="Trebuchet MS"/>
                <a:cs typeface="Trebuchet MS"/>
              </a:rPr>
              <a:t> </a:t>
            </a:r>
            <a:r>
              <a:rPr sz="900" spc="-10" dirty="0">
                <a:latin typeface="Trebuchet MS"/>
                <a:cs typeface="Trebuchet MS"/>
              </a:rPr>
              <a:t>skinny.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817522" y="3339672"/>
            <a:ext cx="97345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  <a:hlinkClick r:id="rId9" action="ppaction://hlinksldjump"/>
              </a:rPr>
              <a:t>Word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  <a:hlinkClick r:id="rId9" action="ppaction://hlinksldjump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9" action="ppaction://hlinksldjump"/>
              </a:rPr>
              <a:t>Sense</a:t>
            </a:r>
            <a:r>
              <a:rPr sz="600" i="1" spc="5" dirty="0">
                <a:solidFill>
                  <a:srgbClr val="FFFFFF"/>
                </a:solidFill>
                <a:latin typeface="Cambria"/>
                <a:cs typeface="Cambria"/>
                <a:hlinkClick r:id="rId9" action="ppaction://hlinksldjump"/>
              </a:rPr>
              <a:t>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  <a:hlinkClick r:id="rId9" action="ppaction://hlinksldjump"/>
              </a:rPr>
              <a:t>Disambiguation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  <a:hlinkClick r:id="rId9" action="ppaction://hlinksldjump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9" action="ppaction://hlinksldjump"/>
              </a:rPr>
              <a:t>-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  <a:hlinkClick r:id="rId9" action="ppaction://hlinksldjump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  <a:hlinkClick r:id="rId9" action="ppaction://hlinksldjump"/>
              </a:rPr>
              <a:t>I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646170" y="3339672"/>
            <a:ext cx="56388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8,</a:t>
            </a:r>
            <a:r>
              <a:rPr sz="600" i="1" spc="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3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355385" y="3339672"/>
            <a:ext cx="19875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2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10" dirty="0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</a:rPr>
              <a:t>15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26" name="Slide Number Placeholder 25">
            <a:extLst>
              <a:ext uri="{FF2B5EF4-FFF2-40B4-BE49-F238E27FC236}">
                <a16:creationId xmlns:a16="http://schemas.microsoft.com/office/drawing/2014/main" id="{7DA54DC5-8B56-4D40-BFF2-6C3F1C2E8AEF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4292024" y="3339672"/>
            <a:ext cx="262254" cy="116204"/>
          </a:xfrm>
          <a:prstGeom prst="rect">
            <a:avLst/>
          </a:prstGeom>
        </p:spPr>
        <p:txBody>
          <a:bodyPr/>
          <a:lstStyle/>
          <a:p>
            <a:pPr marL="75565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lang="en-IN" smtClean="0"/>
              <a:t>77</a:t>
            </a:fld>
            <a:r>
              <a:rPr lang="en-IN" spc="-5"/>
              <a:t> </a:t>
            </a:r>
            <a:r>
              <a:rPr lang="en-IN" spc="-110"/>
              <a:t>/</a:t>
            </a:r>
            <a:r>
              <a:rPr lang="en-IN" spc="15"/>
              <a:t> </a:t>
            </a:r>
            <a:r>
              <a:rPr lang="en-IN" spc="-25"/>
              <a:t>18</a:t>
            </a:r>
            <a:endParaRPr lang="en-IN" spc="-25" dirty="0"/>
          </a:p>
        </p:txBody>
      </p:sp>
    </p:spTree>
  </p:cSld>
  <p:clrMapOvr>
    <a:masterClrMapping/>
  </p:clrMapOvr>
  <p:transition>
    <p:cut/>
  </p:transition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60" dirty="0"/>
              <a:t>Word</a:t>
            </a:r>
            <a:r>
              <a:rPr spc="-10" dirty="0"/>
              <a:t> </a:t>
            </a:r>
            <a:r>
              <a:rPr dirty="0"/>
              <a:t>Sense Disambiguation</a:t>
            </a:r>
            <a:r>
              <a:rPr spc="5" dirty="0"/>
              <a:t> </a:t>
            </a:r>
            <a:r>
              <a:rPr spc="-10" dirty="0"/>
              <a:t>(WSD)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7743" y="639533"/>
            <a:ext cx="4483735" cy="1483360"/>
            <a:chOff x="87743" y="639533"/>
            <a:chExt cx="4483735" cy="1483360"/>
          </a:xfrm>
        </p:grpSpPr>
        <p:sp>
          <p:nvSpPr>
            <p:cNvPr id="4" name="object 4"/>
            <p:cNvSpPr/>
            <p:nvPr/>
          </p:nvSpPr>
          <p:spPr>
            <a:xfrm>
              <a:off x="87743" y="639533"/>
              <a:ext cx="4432935" cy="186055"/>
            </a:xfrm>
            <a:custGeom>
              <a:avLst/>
              <a:gdLst/>
              <a:ahLst/>
              <a:cxnLst/>
              <a:rect l="l" t="t" r="r" b="b"/>
              <a:pathLst>
                <a:path w="4432935" h="186055">
                  <a:moveTo>
                    <a:pt x="4381754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5674"/>
                  </a:lnTo>
                  <a:lnTo>
                    <a:pt x="4432554" y="185674"/>
                  </a:lnTo>
                  <a:lnTo>
                    <a:pt x="4432554" y="50800"/>
                  </a:lnTo>
                  <a:lnTo>
                    <a:pt x="4428545" y="31075"/>
                  </a:lnTo>
                  <a:lnTo>
                    <a:pt x="4417631" y="14922"/>
                  </a:lnTo>
                  <a:lnTo>
                    <a:pt x="4401478" y="4008"/>
                  </a:lnTo>
                  <a:lnTo>
                    <a:pt x="4381754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744" y="812558"/>
              <a:ext cx="4432554" cy="5060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8544" y="2021027"/>
              <a:ext cx="101599" cy="1016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9344" y="2008327"/>
              <a:ext cx="4381754" cy="1143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20298" y="683780"/>
              <a:ext cx="50800" cy="1337246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87743" y="856818"/>
              <a:ext cx="4432935" cy="1215390"/>
            </a:xfrm>
            <a:custGeom>
              <a:avLst/>
              <a:gdLst/>
              <a:ahLst/>
              <a:cxnLst/>
              <a:rect l="l" t="t" r="r" b="b"/>
              <a:pathLst>
                <a:path w="4432935" h="1215389">
                  <a:moveTo>
                    <a:pt x="4432554" y="0"/>
                  </a:moveTo>
                  <a:lnTo>
                    <a:pt x="0" y="0"/>
                  </a:lnTo>
                  <a:lnTo>
                    <a:pt x="0" y="1164209"/>
                  </a:lnTo>
                  <a:lnTo>
                    <a:pt x="4008" y="1183933"/>
                  </a:lnTo>
                  <a:lnTo>
                    <a:pt x="14922" y="1200086"/>
                  </a:lnTo>
                  <a:lnTo>
                    <a:pt x="31075" y="1211000"/>
                  </a:lnTo>
                  <a:lnTo>
                    <a:pt x="50800" y="1215009"/>
                  </a:lnTo>
                  <a:lnTo>
                    <a:pt x="4381754" y="1215009"/>
                  </a:lnTo>
                  <a:lnTo>
                    <a:pt x="4401478" y="1211000"/>
                  </a:lnTo>
                  <a:lnTo>
                    <a:pt x="4417631" y="1200086"/>
                  </a:lnTo>
                  <a:lnTo>
                    <a:pt x="4428545" y="1183933"/>
                  </a:lnTo>
                  <a:lnTo>
                    <a:pt x="4432554" y="1164209"/>
                  </a:lnTo>
                  <a:lnTo>
                    <a:pt x="4432554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520309" y="721817"/>
              <a:ext cx="0" cy="1318260"/>
            </a:xfrm>
            <a:custGeom>
              <a:avLst/>
              <a:gdLst/>
              <a:ahLst/>
              <a:cxnLst/>
              <a:rect l="l" t="t" r="r" b="b"/>
              <a:pathLst>
                <a:path h="1318260">
                  <a:moveTo>
                    <a:pt x="0" y="131826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520309" y="709155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520309" y="696455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520309" y="683755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81597" y="903693"/>
              <a:ext cx="64757" cy="64757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81597" y="1113726"/>
              <a:ext cx="64757" cy="64757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81597" y="1303515"/>
              <a:ext cx="64757" cy="64757"/>
            </a:xfrm>
            <a:prstGeom prst="rect">
              <a:avLst/>
            </a:prstGeom>
          </p:spPr>
        </p:pic>
      </p:grpSp>
      <p:grpSp>
        <p:nvGrpSpPr>
          <p:cNvPr id="17" name="object 17"/>
          <p:cNvGrpSpPr/>
          <p:nvPr/>
        </p:nvGrpSpPr>
        <p:grpSpPr>
          <a:xfrm>
            <a:off x="87743" y="2223757"/>
            <a:ext cx="4483735" cy="839469"/>
            <a:chOff x="87743" y="2223757"/>
            <a:chExt cx="4483735" cy="839469"/>
          </a:xfrm>
        </p:grpSpPr>
        <p:sp>
          <p:nvSpPr>
            <p:cNvPr id="18" name="object 18"/>
            <p:cNvSpPr/>
            <p:nvPr/>
          </p:nvSpPr>
          <p:spPr>
            <a:xfrm>
              <a:off x="87743" y="2223757"/>
              <a:ext cx="4432935" cy="186055"/>
            </a:xfrm>
            <a:custGeom>
              <a:avLst/>
              <a:gdLst/>
              <a:ahLst/>
              <a:cxnLst/>
              <a:rect l="l" t="t" r="r" b="b"/>
              <a:pathLst>
                <a:path w="4432935" h="186055">
                  <a:moveTo>
                    <a:pt x="4381754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799"/>
                  </a:lnTo>
                  <a:lnTo>
                    <a:pt x="0" y="185673"/>
                  </a:lnTo>
                  <a:lnTo>
                    <a:pt x="4432554" y="185673"/>
                  </a:lnTo>
                  <a:lnTo>
                    <a:pt x="4432554" y="50799"/>
                  </a:lnTo>
                  <a:lnTo>
                    <a:pt x="4428545" y="31075"/>
                  </a:lnTo>
                  <a:lnTo>
                    <a:pt x="4417631" y="14922"/>
                  </a:lnTo>
                  <a:lnTo>
                    <a:pt x="4401478" y="4008"/>
                  </a:lnTo>
                  <a:lnTo>
                    <a:pt x="4381754" y="0"/>
                  </a:lnTo>
                  <a:close/>
                </a:path>
              </a:pathLst>
            </a:custGeom>
            <a:solidFill>
              <a:srgbClr val="CCE5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7744" y="2396769"/>
              <a:ext cx="4432554" cy="50609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38544" y="2961551"/>
              <a:ext cx="101599" cy="101600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89344" y="2948851"/>
              <a:ext cx="4381754" cy="114300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520298" y="2267991"/>
              <a:ext cx="50800" cy="693559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87743" y="2441105"/>
              <a:ext cx="4432935" cy="571500"/>
            </a:xfrm>
            <a:custGeom>
              <a:avLst/>
              <a:gdLst/>
              <a:ahLst/>
              <a:cxnLst/>
              <a:rect l="l" t="t" r="r" b="b"/>
              <a:pathLst>
                <a:path w="4432935" h="571500">
                  <a:moveTo>
                    <a:pt x="4432554" y="0"/>
                  </a:moveTo>
                  <a:lnTo>
                    <a:pt x="0" y="0"/>
                  </a:lnTo>
                  <a:lnTo>
                    <a:pt x="0" y="520446"/>
                  </a:lnTo>
                  <a:lnTo>
                    <a:pt x="4008" y="540170"/>
                  </a:lnTo>
                  <a:lnTo>
                    <a:pt x="14922" y="556323"/>
                  </a:lnTo>
                  <a:lnTo>
                    <a:pt x="31075" y="567237"/>
                  </a:lnTo>
                  <a:lnTo>
                    <a:pt x="50800" y="571246"/>
                  </a:lnTo>
                  <a:lnTo>
                    <a:pt x="4381754" y="571246"/>
                  </a:lnTo>
                  <a:lnTo>
                    <a:pt x="4401478" y="567237"/>
                  </a:lnTo>
                  <a:lnTo>
                    <a:pt x="4417631" y="556323"/>
                  </a:lnTo>
                  <a:lnTo>
                    <a:pt x="4428545" y="540170"/>
                  </a:lnTo>
                  <a:lnTo>
                    <a:pt x="4432554" y="520446"/>
                  </a:lnTo>
                  <a:lnTo>
                    <a:pt x="4432554" y="0"/>
                  </a:lnTo>
                  <a:close/>
                </a:path>
              </a:pathLst>
            </a:custGeom>
            <a:solidFill>
              <a:srgbClr val="E5F2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520309" y="2306104"/>
              <a:ext cx="0" cy="675005"/>
            </a:xfrm>
            <a:custGeom>
              <a:avLst/>
              <a:gdLst/>
              <a:ahLst/>
              <a:cxnLst/>
              <a:rect l="l" t="t" r="r" b="b"/>
              <a:pathLst>
                <a:path h="675005">
                  <a:moveTo>
                    <a:pt x="0" y="674497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4520309" y="2293387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4520309" y="2280687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4520309" y="2267987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" name="object 28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281597" y="2490787"/>
              <a:ext cx="64757" cy="64757"/>
            </a:xfrm>
            <a:prstGeom prst="rect">
              <a:avLst/>
            </a:prstGeom>
          </p:spPr>
        </p:pic>
      </p:grpSp>
      <p:sp>
        <p:nvSpPr>
          <p:cNvPr id="29" name="object 29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500"/>
              </a:spcBef>
            </a:pPr>
            <a:r>
              <a:rPr dirty="0"/>
              <a:t>Sense</a:t>
            </a:r>
            <a:r>
              <a:rPr spc="-50" dirty="0"/>
              <a:t> </a:t>
            </a:r>
            <a:r>
              <a:rPr spc="-10" dirty="0"/>
              <a:t>ambiguity</a:t>
            </a:r>
          </a:p>
          <a:p>
            <a:pPr marL="327660">
              <a:lnSpc>
                <a:spcPct val="100000"/>
              </a:lnSpc>
              <a:spcBef>
                <a:spcPts val="400"/>
              </a:spcBef>
            </a:pPr>
            <a:r>
              <a:rPr sz="950" i="0" spc="50" dirty="0">
                <a:solidFill>
                  <a:srgbClr val="000000"/>
                </a:solidFill>
                <a:latin typeface="Trebuchet MS"/>
                <a:cs typeface="Trebuchet MS"/>
              </a:rPr>
              <a:t>Many</a:t>
            </a:r>
            <a:r>
              <a:rPr sz="950" i="0" spc="6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words</a:t>
            </a:r>
            <a:r>
              <a:rPr sz="950" i="0" spc="6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have</a:t>
            </a:r>
            <a:r>
              <a:rPr sz="950" i="0" spc="6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several</a:t>
            </a:r>
            <a:r>
              <a:rPr sz="950" i="0" spc="6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meanings</a:t>
            </a:r>
            <a:r>
              <a:rPr sz="950" i="0" spc="6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or</a:t>
            </a:r>
            <a:r>
              <a:rPr sz="950" i="0" spc="6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spc="50" dirty="0">
                <a:solidFill>
                  <a:srgbClr val="000000"/>
                </a:solidFill>
                <a:latin typeface="Trebuchet MS"/>
                <a:cs typeface="Trebuchet MS"/>
              </a:rPr>
              <a:t>senses</a:t>
            </a:r>
            <a:endParaRPr sz="950">
              <a:latin typeface="Trebuchet MS"/>
              <a:cs typeface="Trebuchet MS"/>
            </a:endParaRPr>
          </a:p>
          <a:p>
            <a:pPr marL="327660" marR="1491615">
              <a:lnSpc>
                <a:spcPct val="131100"/>
              </a:lnSpc>
              <a:spcBef>
                <a:spcPts val="160"/>
              </a:spcBef>
            </a:pP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The</a:t>
            </a:r>
            <a:r>
              <a:rPr sz="950" i="0" spc="3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meaning</a:t>
            </a:r>
            <a:r>
              <a:rPr sz="950" i="0" spc="5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of</a:t>
            </a:r>
            <a:r>
              <a:rPr sz="950" i="0" spc="5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b="1" i="0" spc="85" dirty="0">
                <a:solidFill>
                  <a:srgbClr val="000000"/>
                </a:solidFill>
                <a:latin typeface="Trebuchet MS"/>
                <a:cs typeface="Trebuchet MS"/>
              </a:rPr>
              <a:t>bass</a:t>
            </a:r>
            <a:r>
              <a:rPr sz="950" b="1" i="0" spc="4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depends</a:t>
            </a:r>
            <a:r>
              <a:rPr sz="950" i="0" spc="5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on</a:t>
            </a:r>
            <a:r>
              <a:rPr sz="950" i="0" spc="5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the</a:t>
            </a:r>
            <a:r>
              <a:rPr sz="950" i="0" spc="5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spc="-20" dirty="0">
                <a:solidFill>
                  <a:srgbClr val="000000"/>
                </a:solidFill>
                <a:latin typeface="Trebuchet MS"/>
                <a:cs typeface="Trebuchet MS"/>
              </a:rPr>
              <a:t>context 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Are</a:t>
            </a:r>
            <a:r>
              <a:rPr sz="950" i="0" spc="-1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we</a:t>
            </a:r>
            <a:r>
              <a:rPr sz="950" i="0" spc="-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spc="-10" dirty="0">
                <a:solidFill>
                  <a:srgbClr val="000000"/>
                </a:solidFill>
                <a:latin typeface="Trebuchet MS"/>
                <a:cs typeface="Trebuchet MS"/>
              </a:rPr>
              <a:t>talking</a:t>
            </a:r>
            <a:r>
              <a:rPr sz="950" i="0" spc="-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about</a:t>
            </a:r>
            <a:r>
              <a:rPr sz="950" i="0" spc="-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music,</a:t>
            </a:r>
            <a:r>
              <a:rPr sz="950" i="0" spc="-1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or</a:t>
            </a:r>
            <a:r>
              <a:rPr sz="950" i="0" spc="-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spc="-10" dirty="0">
                <a:solidFill>
                  <a:srgbClr val="000000"/>
                </a:solidFill>
                <a:latin typeface="Trebuchet MS"/>
                <a:cs typeface="Trebuchet MS"/>
              </a:rPr>
              <a:t>fish?</a:t>
            </a:r>
            <a:endParaRPr sz="950">
              <a:latin typeface="Trebuchet MS"/>
              <a:cs typeface="Trebuchet MS"/>
            </a:endParaRPr>
          </a:p>
          <a:p>
            <a:pPr marL="602615" marR="88900" indent="-116205">
              <a:lnSpc>
                <a:spcPct val="110700"/>
              </a:lnSpc>
              <a:spcBef>
                <a:spcPts val="190"/>
              </a:spcBef>
              <a:buClr>
                <a:srgbClr val="D6D6EF"/>
              </a:buClr>
              <a:buSzPct val="66666"/>
              <a:buFont typeface="Lucida Sans Unicode"/>
              <a:buChar char="►"/>
              <a:tabLst>
                <a:tab pos="604520" algn="l"/>
              </a:tabLst>
            </a:pPr>
            <a:r>
              <a:rPr sz="900" i="0" dirty="0">
                <a:solidFill>
                  <a:srgbClr val="000000"/>
                </a:solidFill>
                <a:latin typeface="Trebuchet MS"/>
                <a:cs typeface="Trebuchet MS"/>
              </a:rPr>
              <a:t>An</a:t>
            </a:r>
            <a:r>
              <a:rPr sz="900" i="0" spc="-1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00" i="0" spc="-35" dirty="0">
                <a:solidFill>
                  <a:srgbClr val="000000"/>
                </a:solidFill>
                <a:latin typeface="Trebuchet MS"/>
                <a:cs typeface="Trebuchet MS"/>
              </a:rPr>
              <a:t>electric</a:t>
            </a:r>
            <a:r>
              <a:rPr sz="900" i="0" spc="-1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00" i="0" spc="-30" dirty="0">
                <a:solidFill>
                  <a:srgbClr val="000000"/>
                </a:solidFill>
                <a:latin typeface="Trebuchet MS"/>
                <a:cs typeface="Trebuchet MS"/>
              </a:rPr>
              <a:t>guitar</a:t>
            </a:r>
            <a:r>
              <a:rPr sz="900" i="0" spc="-1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00" i="0" dirty="0">
                <a:solidFill>
                  <a:srgbClr val="000000"/>
                </a:solidFill>
                <a:latin typeface="Trebuchet MS"/>
                <a:cs typeface="Trebuchet MS"/>
              </a:rPr>
              <a:t>and</a:t>
            </a:r>
            <a:r>
              <a:rPr sz="900" i="0" spc="-1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00" b="1" i="0" spc="65" dirty="0">
                <a:solidFill>
                  <a:srgbClr val="000000"/>
                </a:solidFill>
                <a:latin typeface="Trebuchet MS"/>
                <a:cs typeface="Trebuchet MS"/>
              </a:rPr>
              <a:t>bass</a:t>
            </a:r>
            <a:r>
              <a:rPr sz="900" b="1" i="0" spc="-1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00" i="0" spc="-25" dirty="0">
                <a:solidFill>
                  <a:srgbClr val="000000"/>
                </a:solidFill>
                <a:latin typeface="Trebuchet MS"/>
                <a:cs typeface="Trebuchet MS"/>
              </a:rPr>
              <a:t>player</a:t>
            </a:r>
            <a:r>
              <a:rPr sz="900" i="0" spc="-1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00" i="0" dirty="0">
                <a:solidFill>
                  <a:srgbClr val="000000"/>
                </a:solidFill>
                <a:latin typeface="Trebuchet MS"/>
                <a:cs typeface="Trebuchet MS"/>
              </a:rPr>
              <a:t>stand</a:t>
            </a:r>
            <a:r>
              <a:rPr sz="900" i="0" spc="-1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00" i="0" spc="-65" dirty="0">
                <a:solidFill>
                  <a:srgbClr val="000000"/>
                </a:solidFill>
                <a:latin typeface="Trebuchet MS"/>
                <a:cs typeface="Trebuchet MS"/>
              </a:rPr>
              <a:t>off</a:t>
            </a:r>
            <a:r>
              <a:rPr sz="900" i="0" spc="-1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00" i="0" spc="-65" dirty="0">
                <a:solidFill>
                  <a:srgbClr val="000000"/>
                </a:solidFill>
                <a:latin typeface="Trebuchet MS"/>
                <a:cs typeface="Trebuchet MS"/>
              </a:rPr>
              <a:t>to</a:t>
            </a:r>
            <a:r>
              <a:rPr sz="900" i="0" spc="-1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00" i="0" dirty="0">
                <a:solidFill>
                  <a:srgbClr val="000000"/>
                </a:solidFill>
                <a:latin typeface="Trebuchet MS"/>
                <a:cs typeface="Trebuchet MS"/>
              </a:rPr>
              <a:t>one</a:t>
            </a:r>
            <a:r>
              <a:rPr sz="900" i="0" spc="-10" dirty="0">
                <a:solidFill>
                  <a:srgbClr val="000000"/>
                </a:solidFill>
                <a:latin typeface="Trebuchet MS"/>
                <a:cs typeface="Trebuchet MS"/>
              </a:rPr>
              <a:t> side,</a:t>
            </a:r>
            <a:r>
              <a:rPr sz="900" i="0" spc="-1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00" i="0" spc="-25" dirty="0">
                <a:solidFill>
                  <a:srgbClr val="000000"/>
                </a:solidFill>
                <a:latin typeface="Trebuchet MS"/>
                <a:cs typeface="Trebuchet MS"/>
              </a:rPr>
              <a:t>not</a:t>
            </a:r>
            <a:r>
              <a:rPr sz="900" i="0" spc="-1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00" i="0" spc="-25" dirty="0">
                <a:solidFill>
                  <a:srgbClr val="000000"/>
                </a:solidFill>
                <a:latin typeface="Trebuchet MS"/>
                <a:cs typeface="Trebuchet MS"/>
              </a:rPr>
              <a:t>really</a:t>
            </a:r>
            <a:r>
              <a:rPr sz="900" i="0" spc="-1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00" i="0" spc="-35" dirty="0">
                <a:solidFill>
                  <a:srgbClr val="000000"/>
                </a:solidFill>
                <a:latin typeface="Trebuchet MS"/>
                <a:cs typeface="Trebuchet MS"/>
              </a:rPr>
              <a:t>part</a:t>
            </a:r>
            <a:r>
              <a:rPr sz="900" i="0" spc="-1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00" i="0" spc="-25" dirty="0">
                <a:solidFill>
                  <a:srgbClr val="000000"/>
                </a:solidFill>
                <a:latin typeface="Trebuchet MS"/>
                <a:cs typeface="Trebuchet MS"/>
              </a:rPr>
              <a:t>of 	the</a:t>
            </a:r>
            <a:r>
              <a:rPr sz="900" i="0" spc="-1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00" i="0" dirty="0">
                <a:solidFill>
                  <a:srgbClr val="000000"/>
                </a:solidFill>
                <a:latin typeface="Trebuchet MS"/>
                <a:cs typeface="Trebuchet MS"/>
              </a:rPr>
              <a:t>scene,</a:t>
            </a:r>
            <a:r>
              <a:rPr sz="900" i="0" spc="-1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00" i="0" spc="-45" dirty="0">
                <a:solidFill>
                  <a:srgbClr val="000000"/>
                </a:solidFill>
                <a:latin typeface="Trebuchet MS"/>
                <a:cs typeface="Trebuchet MS"/>
              </a:rPr>
              <a:t>just</a:t>
            </a:r>
            <a:r>
              <a:rPr sz="900" i="0" spc="-1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00" i="0" spc="50" dirty="0">
                <a:solidFill>
                  <a:srgbClr val="000000"/>
                </a:solidFill>
                <a:latin typeface="Trebuchet MS"/>
                <a:cs typeface="Trebuchet MS"/>
              </a:rPr>
              <a:t>as</a:t>
            </a:r>
            <a:r>
              <a:rPr sz="900" i="0" spc="-1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00" i="0" dirty="0">
                <a:solidFill>
                  <a:srgbClr val="000000"/>
                </a:solidFill>
                <a:latin typeface="Trebuchet MS"/>
                <a:cs typeface="Trebuchet MS"/>
              </a:rPr>
              <a:t>a</a:t>
            </a:r>
            <a:r>
              <a:rPr sz="900" i="0" spc="-1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00" i="0" spc="-10" dirty="0">
                <a:solidFill>
                  <a:srgbClr val="000000"/>
                </a:solidFill>
                <a:latin typeface="Trebuchet MS"/>
                <a:cs typeface="Trebuchet MS"/>
              </a:rPr>
              <a:t>sort</a:t>
            </a:r>
            <a:r>
              <a:rPr sz="900" i="0" spc="-1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00" i="0" spc="-45" dirty="0">
                <a:solidFill>
                  <a:srgbClr val="000000"/>
                </a:solidFill>
                <a:latin typeface="Trebuchet MS"/>
                <a:cs typeface="Trebuchet MS"/>
              </a:rPr>
              <a:t>of</a:t>
            </a:r>
            <a:r>
              <a:rPr sz="900" i="0" spc="-1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00" i="0" dirty="0">
                <a:solidFill>
                  <a:srgbClr val="000000"/>
                </a:solidFill>
                <a:latin typeface="Trebuchet MS"/>
                <a:cs typeface="Trebuchet MS"/>
              </a:rPr>
              <a:t>nod</a:t>
            </a:r>
            <a:r>
              <a:rPr sz="900" i="0" spc="-1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00" i="0" spc="-65" dirty="0">
                <a:solidFill>
                  <a:srgbClr val="000000"/>
                </a:solidFill>
                <a:latin typeface="Trebuchet MS"/>
                <a:cs typeface="Trebuchet MS"/>
              </a:rPr>
              <a:t>to</a:t>
            </a:r>
            <a:r>
              <a:rPr sz="900" i="0" spc="-1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00" i="0" dirty="0">
                <a:solidFill>
                  <a:srgbClr val="000000"/>
                </a:solidFill>
                <a:latin typeface="Trebuchet MS"/>
                <a:cs typeface="Trebuchet MS"/>
              </a:rPr>
              <a:t>gringo</a:t>
            </a:r>
            <a:r>
              <a:rPr sz="900" i="0" spc="-1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00" i="0" spc="-20" dirty="0">
                <a:solidFill>
                  <a:srgbClr val="000000"/>
                </a:solidFill>
                <a:latin typeface="Trebuchet MS"/>
                <a:cs typeface="Trebuchet MS"/>
              </a:rPr>
              <a:t>expectations</a:t>
            </a:r>
            <a:r>
              <a:rPr sz="900" i="0" spc="-1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00" i="0" spc="-10" dirty="0">
                <a:solidFill>
                  <a:srgbClr val="000000"/>
                </a:solidFill>
                <a:latin typeface="Trebuchet MS"/>
                <a:cs typeface="Trebuchet MS"/>
              </a:rPr>
              <a:t>perhaps.</a:t>
            </a:r>
            <a:endParaRPr sz="900">
              <a:latin typeface="Trebuchet MS"/>
              <a:cs typeface="Trebuchet MS"/>
            </a:endParaRPr>
          </a:p>
          <a:p>
            <a:pPr marL="602615" marR="68580" indent="-116205">
              <a:lnSpc>
                <a:spcPct val="110700"/>
              </a:lnSpc>
              <a:buClr>
                <a:srgbClr val="D6D6EF"/>
              </a:buClr>
              <a:buSzPct val="66666"/>
              <a:buFont typeface="Lucida Sans Unicode"/>
              <a:buChar char="►"/>
              <a:tabLst>
                <a:tab pos="604520" algn="l"/>
              </a:tabLst>
            </a:pPr>
            <a:r>
              <a:rPr sz="900" i="0" dirty="0">
                <a:solidFill>
                  <a:srgbClr val="000000"/>
                </a:solidFill>
                <a:latin typeface="Trebuchet MS"/>
                <a:cs typeface="Trebuchet MS"/>
              </a:rPr>
              <a:t>And</a:t>
            </a:r>
            <a:r>
              <a:rPr sz="900" i="0" spc="-1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00" i="0" spc="-100" dirty="0">
                <a:solidFill>
                  <a:srgbClr val="000000"/>
                </a:solidFill>
                <a:latin typeface="Trebuchet MS"/>
                <a:cs typeface="Trebuchet MS"/>
              </a:rPr>
              <a:t>it</a:t>
            </a:r>
            <a:r>
              <a:rPr sz="900" i="0" spc="-1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00" i="0" spc="-40" dirty="0">
                <a:solidFill>
                  <a:srgbClr val="000000"/>
                </a:solidFill>
                <a:latin typeface="Trebuchet MS"/>
                <a:cs typeface="Trebuchet MS"/>
              </a:rPr>
              <a:t>all</a:t>
            </a:r>
            <a:r>
              <a:rPr sz="900" i="0" spc="-1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00" i="0" spc="-20" dirty="0">
                <a:solidFill>
                  <a:srgbClr val="000000"/>
                </a:solidFill>
                <a:latin typeface="Trebuchet MS"/>
                <a:cs typeface="Trebuchet MS"/>
              </a:rPr>
              <a:t>started</a:t>
            </a:r>
            <a:r>
              <a:rPr sz="900" i="0" spc="-1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00" i="0" dirty="0">
                <a:solidFill>
                  <a:srgbClr val="000000"/>
                </a:solidFill>
                <a:latin typeface="Trebuchet MS"/>
                <a:cs typeface="Trebuchet MS"/>
              </a:rPr>
              <a:t>when</a:t>
            </a:r>
            <a:r>
              <a:rPr sz="900" i="0" spc="-1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00" i="0" spc="-10" dirty="0">
                <a:solidFill>
                  <a:srgbClr val="000000"/>
                </a:solidFill>
                <a:latin typeface="Trebuchet MS"/>
                <a:cs typeface="Trebuchet MS"/>
              </a:rPr>
              <a:t>fishermen</a:t>
            </a:r>
            <a:r>
              <a:rPr sz="900" i="0" spc="-1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00" i="0" spc="-10" dirty="0">
                <a:solidFill>
                  <a:srgbClr val="000000"/>
                </a:solidFill>
                <a:latin typeface="Trebuchet MS"/>
                <a:cs typeface="Trebuchet MS"/>
              </a:rPr>
              <a:t>decided</a:t>
            </a:r>
            <a:r>
              <a:rPr sz="900" i="0" spc="-1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00" i="0" spc="-25" dirty="0">
                <a:solidFill>
                  <a:srgbClr val="000000"/>
                </a:solidFill>
                <a:latin typeface="Trebuchet MS"/>
                <a:cs typeface="Trebuchet MS"/>
              </a:rPr>
              <a:t>the</a:t>
            </a:r>
            <a:r>
              <a:rPr sz="900" i="0" spc="-1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00" i="0" spc="-20" dirty="0">
                <a:solidFill>
                  <a:srgbClr val="000000"/>
                </a:solidFill>
                <a:latin typeface="Trebuchet MS"/>
                <a:cs typeface="Trebuchet MS"/>
              </a:rPr>
              <a:t>striped</a:t>
            </a:r>
            <a:r>
              <a:rPr sz="900" i="0" spc="-1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00" b="1" i="0" spc="65" dirty="0">
                <a:solidFill>
                  <a:srgbClr val="000000"/>
                </a:solidFill>
                <a:latin typeface="Trebuchet MS"/>
                <a:cs typeface="Trebuchet MS"/>
              </a:rPr>
              <a:t>bass</a:t>
            </a:r>
            <a:r>
              <a:rPr sz="900" b="1" i="0" spc="-1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00" i="0" spc="-10" dirty="0">
                <a:solidFill>
                  <a:srgbClr val="000000"/>
                </a:solidFill>
                <a:latin typeface="Trebuchet MS"/>
                <a:cs typeface="Trebuchet MS"/>
              </a:rPr>
              <a:t>in</a:t>
            </a:r>
            <a:r>
              <a:rPr sz="900" i="0" spc="-1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00" i="0" dirty="0">
                <a:solidFill>
                  <a:srgbClr val="000000"/>
                </a:solidFill>
                <a:latin typeface="Trebuchet MS"/>
                <a:cs typeface="Trebuchet MS"/>
              </a:rPr>
              <a:t>Lake</a:t>
            </a:r>
            <a:r>
              <a:rPr sz="900" i="0" spc="-1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00" i="0" spc="-20" dirty="0">
                <a:solidFill>
                  <a:srgbClr val="000000"/>
                </a:solidFill>
                <a:latin typeface="Trebuchet MS"/>
                <a:cs typeface="Trebuchet MS"/>
              </a:rPr>
              <a:t>Mead 	were</a:t>
            </a:r>
            <a:r>
              <a:rPr sz="900" i="0" spc="-4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00" i="0" spc="-25" dirty="0">
                <a:solidFill>
                  <a:srgbClr val="000000"/>
                </a:solidFill>
                <a:latin typeface="Trebuchet MS"/>
                <a:cs typeface="Trebuchet MS"/>
              </a:rPr>
              <a:t>too</a:t>
            </a:r>
            <a:r>
              <a:rPr sz="900" i="0" spc="-3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00" i="0" spc="-10" dirty="0">
                <a:solidFill>
                  <a:srgbClr val="000000"/>
                </a:solidFill>
                <a:latin typeface="Trebuchet MS"/>
                <a:cs typeface="Trebuchet MS"/>
              </a:rPr>
              <a:t>skinny.</a:t>
            </a:r>
            <a:endParaRPr sz="9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450"/>
              </a:spcBef>
            </a:pPr>
            <a:endParaRPr sz="900">
              <a:latin typeface="Trebuchet MS"/>
              <a:cs typeface="Trebuchet MS"/>
            </a:endParaRPr>
          </a:p>
          <a:p>
            <a:pPr marL="50800">
              <a:lnSpc>
                <a:spcPct val="100000"/>
              </a:lnSpc>
            </a:pPr>
            <a:r>
              <a:rPr spc="-10" dirty="0">
                <a:solidFill>
                  <a:srgbClr val="007F00"/>
                </a:solidFill>
              </a:rPr>
              <a:t>Disambiguation</a:t>
            </a:r>
          </a:p>
          <a:p>
            <a:pPr marL="327660" marR="217170">
              <a:lnSpc>
                <a:spcPct val="118800"/>
              </a:lnSpc>
              <a:spcBef>
                <a:spcPts val="204"/>
              </a:spcBef>
            </a:pP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The</a:t>
            </a:r>
            <a:r>
              <a:rPr sz="950" i="0" spc="-1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task</a:t>
            </a:r>
            <a:r>
              <a:rPr sz="950" i="0" spc="-1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of</a:t>
            </a:r>
            <a:r>
              <a:rPr sz="950" i="0" spc="-1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disambiguation</a:t>
            </a:r>
            <a:r>
              <a:rPr sz="950" i="0" spc="-1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is</a:t>
            </a:r>
            <a:r>
              <a:rPr sz="950" i="0" spc="-1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spc="-20" dirty="0">
                <a:solidFill>
                  <a:srgbClr val="000000"/>
                </a:solidFill>
                <a:latin typeface="Trebuchet MS"/>
                <a:cs typeface="Trebuchet MS"/>
              </a:rPr>
              <a:t>to</a:t>
            </a:r>
            <a:r>
              <a:rPr sz="950" i="0" spc="-1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determine</a:t>
            </a:r>
            <a:r>
              <a:rPr sz="950" i="0" spc="-1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which</a:t>
            </a:r>
            <a:r>
              <a:rPr sz="950" i="0" spc="-1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of</a:t>
            </a:r>
            <a:r>
              <a:rPr sz="950" i="0" spc="-1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the</a:t>
            </a:r>
            <a:r>
              <a:rPr sz="950" i="0" spc="-1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spc="60" dirty="0">
                <a:solidFill>
                  <a:srgbClr val="000000"/>
                </a:solidFill>
                <a:latin typeface="Trebuchet MS"/>
                <a:cs typeface="Trebuchet MS"/>
              </a:rPr>
              <a:t>senses</a:t>
            </a:r>
            <a:r>
              <a:rPr sz="950" i="0" spc="-1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of</a:t>
            </a:r>
            <a:r>
              <a:rPr sz="950" i="0" spc="-1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spc="-25" dirty="0">
                <a:solidFill>
                  <a:srgbClr val="000000"/>
                </a:solidFill>
                <a:latin typeface="Trebuchet MS"/>
                <a:cs typeface="Trebuchet MS"/>
              </a:rPr>
              <a:t>an 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ambiguous</a:t>
            </a:r>
            <a:r>
              <a:rPr sz="950" i="0" spc="1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word</a:t>
            </a:r>
            <a:r>
              <a:rPr sz="950" i="0" spc="1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is</a:t>
            </a:r>
            <a:r>
              <a:rPr sz="950" i="0" spc="1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invoked</a:t>
            </a:r>
            <a:r>
              <a:rPr sz="950" i="0" spc="1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in</a:t>
            </a:r>
            <a:r>
              <a:rPr sz="950" i="0" spc="1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a</a:t>
            </a:r>
            <a:r>
              <a:rPr sz="950" i="0" spc="1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spc="-20" dirty="0">
                <a:solidFill>
                  <a:srgbClr val="000000"/>
                </a:solidFill>
                <a:latin typeface="Trebuchet MS"/>
                <a:cs typeface="Trebuchet MS"/>
              </a:rPr>
              <a:t>particular</a:t>
            </a:r>
            <a:r>
              <a:rPr sz="950" i="0" spc="1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spc="50" dirty="0">
                <a:solidFill>
                  <a:srgbClr val="000000"/>
                </a:solidFill>
                <a:latin typeface="Trebuchet MS"/>
                <a:cs typeface="Trebuchet MS"/>
              </a:rPr>
              <a:t>use</a:t>
            </a:r>
            <a:r>
              <a:rPr sz="950" i="0" spc="1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of</a:t>
            </a:r>
            <a:r>
              <a:rPr sz="950" i="0" spc="1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the</a:t>
            </a:r>
            <a:r>
              <a:rPr sz="950" i="0" spc="1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spc="-10" dirty="0">
                <a:solidFill>
                  <a:srgbClr val="000000"/>
                </a:solidFill>
                <a:latin typeface="Trebuchet MS"/>
                <a:cs typeface="Trebuchet MS"/>
              </a:rPr>
              <a:t>word.</a:t>
            </a:r>
            <a:endParaRPr sz="950">
              <a:latin typeface="Trebuchet MS"/>
              <a:cs typeface="Trebuchet MS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1817522" y="3339672"/>
            <a:ext cx="97345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  <a:hlinkClick r:id="rId14" action="ppaction://hlinksldjump"/>
              </a:rPr>
              <a:t>Word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  <a:hlinkClick r:id="rId14" action="ppaction://hlinksldjump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14" action="ppaction://hlinksldjump"/>
              </a:rPr>
              <a:t>Sense</a:t>
            </a:r>
            <a:r>
              <a:rPr sz="600" i="1" spc="5" dirty="0">
                <a:solidFill>
                  <a:srgbClr val="FFFFFF"/>
                </a:solidFill>
                <a:latin typeface="Cambria"/>
                <a:cs typeface="Cambria"/>
                <a:hlinkClick r:id="rId14" action="ppaction://hlinksldjump"/>
              </a:rPr>
              <a:t>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  <a:hlinkClick r:id="rId14" action="ppaction://hlinksldjump"/>
              </a:rPr>
              <a:t>Disambiguation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  <a:hlinkClick r:id="rId14" action="ppaction://hlinksldjump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14" action="ppaction://hlinksldjump"/>
              </a:rPr>
              <a:t>-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  <a:hlinkClick r:id="rId14" action="ppaction://hlinksldjump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  <a:hlinkClick r:id="rId14" action="ppaction://hlinksldjump"/>
              </a:rPr>
              <a:t>I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3646170" y="3339672"/>
            <a:ext cx="56388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8,</a:t>
            </a:r>
            <a:r>
              <a:rPr sz="600" i="1" spc="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3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4355385" y="3339672"/>
            <a:ext cx="19875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2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10" dirty="0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</a:rPr>
              <a:t>15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38" name="Slide Number Placeholder 37">
            <a:extLst>
              <a:ext uri="{FF2B5EF4-FFF2-40B4-BE49-F238E27FC236}">
                <a16:creationId xmlns:a16="http://schemas.microsoft.com/office/drawing/2014/main" id="{E020C7C3-CB63-41A1-977F-C766093CC40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4292024" y="3339672"/>
            <a:ext cx="262254" cy="116204"/>
          </a:xfrm>
          <a:prstGeom prst="rect">
            <a:avLst/>
          </a:prstGeom>
        </p:spPr>
        <p:txBody>
          <a:bodyPr/>
          <a:lstStyle/>
          <a:p>
            <a:pPr marL="75565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lang="en-IN" smtClean="0"/>
              <a:t>78</a:t>
            </a:fld>
            <a:r>
              <a:rPr lang="en-IN" spc="-5"/>
              <a:t> </a:t>
            </a:r>
            <a:r>
              <a:rPr lang="en-IN" spc="-110"/>
              <a:t>/</a:t>
            </a:r>
            <a:r>
              <a:rPr lang="en-IN" spc="15"/>
              <a:t> </a:t>
            </a:r>
            <a:r>
              <a:rPr lang="en-IN" spc="-25"/>
              <a:t>18</a:t>
            </a:r>
            <a:endParaRPr lang="en-IN" spc="-25" dirty="0"/>
          </a:p>
        </p:txBody>
      </p:sp>
    </p:spTree>
  </p:cSld>
  <p:clrMapOvr>
    <a:masterClrMapping/>
  </p:clrMapOvr>
  <p:transition>
    <p:cut/>
  </p:transition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60" dirty="0"/>
              <a:t>Word</a:t>
            </a:r>
            <a:r>
              <a:rPr spc="-10" dirty="0"/>
              <a:t> </a:t>
            </a:r>
            <a:r>
              <a:rPr dirty="0"/>
              <a:t>Sense Disambiguation</a:t>
            </a:r>
            <a:r>
              <a:rPr spc="5" dirty="0"/>
              <a:t> </a:t>
            </a:r>
            <a:r>
              <a:rPr spc="-10" dirty="0"/>
              <a:t>(WSD)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7743" y="639533"/>
            <a:ext cx="4483735" cy="1483360"/>
            <a:chOff x="87743" y="639533"/>
            <a:chExt cx="4483735" cy="1483360"/>
          </a:xfrm>
        </p:grpSpPr>
        <p:sp>
          <p:nvSpPr>
            <p:cNvPr id="4" name="object 4"/>
            <p:cNvSpPr/>
            <p:nvPr/>
          </p:nvSpPr>
          <p:spPr>
            <a:xfrm>
              <a:off x="87743" y="639533"/>
              <a:ext cx="4432935" cy="186055"/>
            </a:xfrm>
            <a:custGeom>
              <a:avLst/>
              <a:gdLst/>
              <a:ahLst/>
              <a:cxnLst/>
              <a:rect l="l" t="t" r="r" b="b"/>
              <a:pathLst>
                <a:path w="4432935" h="186055">
                  <a:moveTo>
                    <a:pt x="4381754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5674"/>
                  </a:lnTo>
                  <a:lnTo>
                    <a:pt x="4432554" y="185674"/>
                  </a:lnTo>
                  <a:lnTo>
                    <a:pt x="4432554" y="50800"/>
                  </a:lnTo>
                  <a:lnTo>
                    <a:pt x="4428545" y="31075"/>
                  </a:lnTo>
                  <a:lnTo>
                    <a:pt x="4417631" y="14922"/>
                  </a:lnTo>
                  <a:lnTo>
                    <a:pt x="4401478" y="4008"/>
                  </a:lnTo>
                  <a:lnTo>
                    <a:pt x="4381754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744" y="812558"/>
              <a:ext cx="4432554" cy="5060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8544" y="2021027"/>
              <a:ext cx="101599" cy="1016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9344" y="2008327"/>
              <a:ext cx="4381754" cy="1143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20298" y="683780"/>
              <a:ext cx="50800" cy="1337246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87743" y="856818"/>
              <a:ext cx="4432935" cy="1215390"/>
            </a:xfrm>
            <a:custGeom>
              <a:avLst/>
              <a:gdLst/>
              <a:ahLst/>
              <a:cxnLst/>
              <a:rect l="l" t="t" r="r" b="b"/>
              <a:pathLst>
                <a:path w="4432935" h="1215389">
                  <a:moveTo>
                    <a:pt x="4432554" y="0"/>
                  </a:moveTo>
                  <a:lnTo>
                    <a:pt x="0" y="0"/>
                  </a:lnTo>
                  <a:lnTo>
                    <a:pt x="0" y="1164209"/>
                  </a:lnTo>
                  <a:lnTo>
                    <a:pt x="4008" y="1183933"/>
                  </a:lnTo>
                  <a:lnTo>
                    <a:pt x="14922" y="1200086"/>
                  </a:lnTo>
                  <a:lnTo>
                    <a:pt x="31075" y="1211000"/>
                  </a:lnTo>
                  <a:lnTo>
                    <a:pt x="50800" y="1215009"/>
                  </a:lnTo>
                  <a:lnTo>
                    <a:pt x="4381754" y="1215009"/>
                  </a:lnTo>
                  <a:lnTo>
                    <a:pt x="4401478" y="1211000"/>
                  </a:lnTo>
                  <a:lnTo>
                    <a:pt x="4417631" y="1200086"/>
                  </a:lnTo>
                  <a:lnTo>
                    <a:pt x="4428545" y="1183933"/>
                  </a:lnTo>
                  <a:lnTo>
                    <a:pt x="4432554" y="1164209"/>
                  </a:lnTo>
                  <a:lnTo>
                    <a:pt x="4432554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520309" y="721817"/>
              <a:ext cx="0" cy="1318260"/>
            </a:xfrm>
            <a:custGeom>
              <a:avLst/>
              <a:gdLst/>
              <a:ahLst/>
              <a:cxnLst/>
              <a:rect l="l" t="t" r="r" b="b"/>
              <a:pathLst>
                <a:path h="1318260">
                  <a:moveTo>
                    <a:pt x="0" y="131826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520309" y="709155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520309" y="696455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520309" y="683755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81597" y="903693"/>
              <a:ext cx="64757" cy="64757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81597" y="1113726"/>
              <a:ext cx="64757" cy="64757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81597" y="1303515"/>
              <a:ext cx="64757" cy="64757"/>
            </a:xfrm>
            <a:prstGeom prst="rect">
              <a:avLst/>
            </a:prstGeom>
          </p:spPr>
        </p:pic>
      </p:grpSp>
      <p:grpSp>
        <p:nvGrpSpPr>
          <p:cNvPr id="17" name="object 17"/>
          <p:cNvGrpSpPr/>
          <p:nvPr/>
        </p:nvGrpSpPr>
        <p:grpSpPr>
          <a:xfrm>
            <a:off x="87743" y="2223757"/>
            <a:ext cx="4483735" cy="839469"/>
            <a:chOff x="87743" y="2223757"/>
            <a:chExt cx="4483735" cy="839469"/>
          </a:xfrm>
        </p:grpSpPr>
        <p:sp>
          <p:nvSpPr>
            <p:cNvPr id="18" name="object 18"/>
            <p:cNvSpPr/>
            <p:nvPr/>
          </p:nvSpPr>
          <p:spPr>
            <a:xfrm>
              <a:off x="87743" y="2223757"/>
              <a:ext cx="4432935" cy="186055"/>
            </a:xfrm>
            <a:custGeom>
              <a:avLst/>
              <a:gdLst/>
              <a:ahLst/>
              <a:cxnLst/>
              <a:rect l="l" t="t" r="r" b="b"/>
              <a:pathLst>
                <a:path w="4432935" h="186055">
                  <a:moveTo>
                    <a:pt x="4381754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799"/>
                  </a:lnTo>
                  <a:lnTo>
                    <a:pt x="0" y="185673"/>
                  </a:lnTo>
                  <a:lnTo>
                    <a:pt x="4432554" y="185673"/>
                  </a:lnTo>
                  <a:lnTo>
                    <a:pt x="4432554" y="50799"/>
                  </a:lnTo>
                  <a:lnTo>
                    <a:pt x="4428545" y="31075"/>
                  </a:lnTo>
                  <a:lnTo>
                    <a:pt x="4417631" y="14922"/>
                  </a:lnTo>
                  <a:lnTo>
                    <a:pt x="4401478" y="4008"/>
                  </a:lnTo>
                  <a:lnTo>
                    <a:pt x="4381754" y="0"/>
                  </a:lnTo>
                  <a:close/>
                </a:path>
              </a:pathLst>
            </a:custGeom>
            <a:solidFill>
              <a:srgbClr val="CCE5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7744" y="2396769"/>
              <a:ext cx="4432554" cy="50609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38544" y="2961551"/>
              <a:ext cx="101599" cy="101600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89344" y="2948851"/>
              <a:ext cx="4381754" cy="114300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520298" y="2267991"/>
              <a:ext cx="50800" cy="693559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87743" y="2441105"/>
              <a:ext cx="4432935" cy="571500"/>
            </a:xfrm>
            <a:custGeom>
              <a:avLst/>
              <a:gdLst/>
              <a:ahLst/>
              <a:cxnLst/>
              <a:rect l="l" t="t" r="r" b="b"/>
              <a:pathLst>
                <a:path w="4432935" h="571500">
                  <a:moveTo>
                    <a:pt x="4432554" y="0"/>
                  </a:moveTo>
                  <a:lnTo>
                    <a:pt x="0" y="0"/>
                  </a:lnTo>
                  <a:lnTo>
                    <a:pt x="0" y="520446"/>
                  </a:lnTo>
                  <a:lnTo>
                    <a:pt x="4008" y="540170"/>
                  </a:lnTo>
                  <a:lnTo>
                    <a:pt x="14922" y="556323"/>
                  </a:lnTo>
                  <a:lnTo>
                    <a:pt x="31075" y="567237"/>
                  </a:lnTo>
                  <a:lnTo>
                    <a:pt x="50800" y="571246"/>
                  </a:lnTo>
                  <a:lnTo>
                    <a:pt x="4381754" y="571246"/>
                  </a:lnTo>
                  <a:lnTo>
                    <a:pt x="4401478" y="567237"/>
                  </a:lnTo>
                  <a:lnTo>
                    <a:pt x="4417631" y="556323"/>
                  </a:lnTo>
                  <a:lnTo>
                    <a:pt x="4428545" y="540170"/>
                  </a:lnTo>
                  <a:lnTo>
                    <a:pt x="4432554" y="520446"/>
                  </a:lnTo>
                  <a:lnTo>
                    <a:pt x="4432554" y="0"/>
                  </a:lnTo>
                  <a:close/>
                </a:path>
              </a:pathLst>
            </a:custGeom>
            <a:solidFill>
              <a:srgbClr val="E5F2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520309" y="2306104"/>
              <a:ext cx="0" cy="675005"/>
            </a:xfrm>
            <a:custGeom>
              <a:avLst/>
              <a:gdLst/>
              <a:ahLst/>
              <a:cxnLst/>
              <a:rect l="l" t="t" r="r" b="b"/>
              <a:pathLst>
                <a:path h="675005">
                  <a:moveTo>
                    <a:pt x="0" y="674497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4520309" y="2293387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4520309" y="2280687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4520309" y="2267987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" name="object 28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281597" y="2490787"/>
              <a:ext cx="64757" cy="64757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281597" y="2872892"/>
              <a:ext cx="64757" cy="64757"/>
            </a:xfrm>
            <a:prstGeom prst="rect">
              <a:avLst/>
            </a:prstGeom>
          </p:spPr>
        </p:pic>
      </p:grpSp>
      <p:sp>
        <p:nvSpPr>
          <p:cNvPr id="30" name="object 30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500"/>
              </a:spcBef>
            </a:pPr>
            <a:r>
              <a:rPr dirty="0"/>
              <a:t>Sense</a:t>
            </a:r>
            <a:r>
              <a:rPr spc="-50" dirty="0"/>
              <a:t> </a:t>
            </a:r>
            <a:r>
              <a:rPr spc="-10" dirty="0"/>
              <a:t>ambiguity</a:t>
            </a:r>
          </a:p>
          <a:p>
            <a:pPr marL="327660">
              <a:lnSpc>
                <a:spcPct val="100000"/>
              </a:lnSpc>
              <a:spcBef>
                <a:spcPts val="400"/>
              </a:spcBef>
            </a:pPr>
            <a:r>
              <a:rPr sz="950" i="0" spc="50" dirty="0">
                <a:solidFill>
                  <a:srgbClr val="000000"/>
                </a:solidFill>
                <a:latin typeface="Trebuchet MS"/>
                <a:cs typeface="Trebuchet MS"/>
              </a:rPr>
              <a:t>Many</a:t>
            </a:r>
            <a:r>
              <a:rPr sz="950" i="0" spc="6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words</a:t>
            </a:r>
            <a:r>
              <a:rPr sz="950" i="0" spc="6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have</a:t>
            </a:r>
            <a:r>
              <a:rPr sz="950" i="0" spc="6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several</a:t>
            </a:r>
            <a:r>
              <a:rPr sz="950" i="0" spc="6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meanings</a:t>
            </a:r>
            <a:r>
              <a:rPr sz="950" i="0" spc="6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or</a:t>
            </a:r>
            <a:r>
              <a:rPr sz="950" i="0" spc="6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spc="50" dirty="0">
                <a:solidFill>
                  <a:srgbClr val="000000"/>
                </a:solidFill>
                <a:latin typeface="Trebuchet MS"/>
                <a:cs typeface="Trebuchet MS"/>
              </a:rPr>
              <a:t>senses</a:t>
            </a:r>
            <a:endParaRPr sz="950">
              <a:latin typeface="Trebuchet MS"/>
              <a:cs typeface="Trebuchet MS"/>
            </a:endParaRPr>
          </a:p>
          <a:p>
            <a:pPr marL="327660" marR="1491615">
              <a:lnSpc>
                <a:spcPct val="131100"/>
              </a:lnSpc>
              <a:spcBef>
                <a:spcPts val="160"/>
              </a:spcBef>
            </a:pP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The</a:t>
            </a:r>
            <a:r>
              <a:rPr sz="950" i="0" spc="3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meaning</a:t>
            </a:r>
            <a:r>
              <a:rPr sz="950" i="0" spc="5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of</a:t>
            </a:r>
            <a:r>
              <a:rPr sz="950" i="0" spc="5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b="1" i="0" spc="85" dirty="0">
                <a:solidFill>
                  <a:srgbClr val="000000"/>
                </a:solidFill>
                <a:latin typeface="Trebuchet MS"/>
                <a:cs typeface="Trebuchet MS"/>
              </a:rPr>
              <a:t>bass</a:t>
            </a:r>
            <a:r>
              <a:rPr sz="950" b="1" i="0" spc="4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depends</a:t>
            </a:r>
            <a:r>
              <a:rPr sz="950" i="0" spc="5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on</a:t>
            </a:r>
            <a:r>
              <a:rPr sz="950" i="0" spc="5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the</a:t>
            </a:r>
            <a:r>
              <a:rPr sz="950" i="0" spc="5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spc="-20" dirty="0">
                <a:solidFill>
                  <a:srgbClr val="000000"/>
                </a:solidFill>
                <a:latin typeface="Trebuchet MS"/>
                <a:cs typeface="Trebuchet MS"/>
              </a:rPr>
              <a:t>context 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Are</a:t>
            </a:r>
            <a:r>
              <a:rPr sz="950" i="0" spc="-1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we</a:t>
            </a:r>
            <a:r>
              <a:rPr sz="950" i="0" spc="-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spc="-10" dirty="0">
                <a:solidFill>
                  <a:srgbClr val="000000"/>
                </a:solidFill>
                <a:latin typeface="Trebuchet MS"/>
                <a:cs typeface="Trebuchet MS"/>
              </a:rPr>
              <a:t>talking</a:t>
            </a:r>
            <a:r>
              <a:rPr sz="950" i="0" spc="-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about</a:t>
            </a:r>
            <a:r>
              <a:rPr sz="950" i="0" spc="-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music,</a:t>
            </a:r>
            <a:r>
              <a:rPr sz="950" i="0" spc="-1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or</a:t>
            </a:r>
            <a:r>
              <a:rPr sz="950" i="0" spc="-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spc="-10" dirty="0">
                <a:solidFill>
                  <a:srgbClr val="000000"/>
                </a:solidFill>
                <a:latin typeface="Trebuchet MS"/>
                <a:cs typeface="Trebuchet MS"/>
              </a:rPr>
              <a:t>fish?</a:t>
            </a:r>
            <a:endParaRPr sz="950">
              <a:latin typeface="Trebuchet MS"/>
              <a:cs typeface="Trebuchet MS"/>
            </a:endParaRPr>
          </a:p>
          <a:p>
            <a:pPr marL="602615" marR="88900" indent="-116205">
              <a:lnSpc>
                <a:spcPct val="110700"/>
              </a:lnSpc>
              <a:spcBef>
                <a:spcPts val="190"/>
              </a:spcBef>
              <a:buClr>
                <a:srgbClr val="D6D6EF"/>
              </a:buClr>
              <a:buSzPct val="66666"/>
              <a:buFont typeface="Lucida Sans Unicode"/>
              <a:buChar char="►"/>
              <a:tabLst>
                <a:tab pos="604520" algn="l"/>
              </a:tabLst>
            </a:pPr>
            <a:r>
              <a:rPr sz="900" i="0" dirty="0">
                <a:solidFill>
                  <a:srgbClr val="000000"/>
                </a:solidFill>
                <a:latin typeface="Trebuchet MS"/>
                <a:cs typeface="Trebuchet MS"/>
              </a:rPr>
              <a:t>An</a:t>
            </a:r>
            <a:r>
              <a:rPr sz="900" i="0" spc="-1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00" i="0" spc="-35" dirty="0">
                <a:solidFill>
                  <a:srgbClr val="000000"/>
                </a:solidFill>
                <a:latin typeface="Trebuchet MS"/>
                <a:cs typeface="Trebuchet MS"/>
              </a:rPr>
              <a:t>electric</a:t>
            </a:r>
            <a:r>
              <a:rPr sz="900" i="0" spc="-1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00" i="0" spc="-30" dirty="0">
                <a:solidFill>
                  <a:srgbClr val="000000"/>
                </a:solidFill>
                <a:latin typeface="Trebuchet MS"/>
                <a:cs typeface="Trebuchet MS"/>
              </a:rPr>
              <a:t>guitar</a:t>
            </a:r>
            <a:r>
              <a:rPr sz="900" i="0" spc="-1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00" i="0" dirty="0">
                <a:solidFill>
                  <a:srgbClr val="000000"/>
                </a:solidFill>
                <a:latin typeface="Trebuchet MS"/>
                <a:cs typeface="Trebuchet MS"/>
              </a:rPr>
              <a:t>and</a:t>
            </a:r>
            <a:r>
              <a:rPr sz="900" i="0" spc="-1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00" b="1" i="0" spc="65" dirty="0">
                <a:solidFill>
                  <a:srgbClr val="000000"/>
                </a:solidFill>
                <a:latin typeface="Trebuchet MS"/>
                <a:cs typeface="Trebuchet MS"/>
              </a:rPr>
              <a:t>bass</a:t>
            </a:r>
            <a:r>
              <a:rPr sz="900" b="1" i="0" spc="-1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00" i="0" spc="-25" dirty="0">
                <a:solidFill>
                  <a:srgbClr val="000000"/>
                </a:solidFill>
                <a:latin typeface="Trebuchet MS"/>
                <a:cs typeface="Trebuchet MS"/>
              </a:rPr>
              <a:t>player</a:t>
            </a:r>
            <a:r>
              <a:rPr sz="900" i="0" spc="-1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00" i="0" dirty="0">
                <a:solidFill>
                  <a:srgbClr val="000000"/>
                </a:solidFill>
                <a:latin typeface="Trebuchet MS"/>
                <a:cs typeface="Trebuchet MS"/>
              </a:rPr>
              <a:t>stand</a:t>
            </a:r>
            <a:r>
              <a:rPr sz="900" i="0" spc="-1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00" i="0" spc="-65" dirty="0">
                <a:solidFill>
                  <a:srgbClr val="000000"/>
                </a:solidFill>
                <a:latin typeface="Trebuchet MS"/>
                <a:cs typeface="Trebuchet MS"/>
              </a:rPr>
              <a:t>off</a:t>
            </a:r>
            <a:r>
              <a:rPr sz="900" i="0" spc="-1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00" i="0" spc="-65" dirty="0">
                <a:solidFill>
                  <a:srgbClr val="000000"/>
                </a:solidFill>
                <a:latin typeface="Trebuchet MS"/>
                <a:cs typeface="Trebuchet MS"/>
              </a:rPr>
              <a:t>to</a:t>
            </a:r>
            <a:r>
              <a:rPr sz="900" i="0" spc="-1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00" i="0" dirty="0">
                <a:solidFill>
                  <a:srgbClr val="000000"/>
                </a:solidFill>
                <a:latin typeface="Trebuchet MS"/>
                <a:cs typeface="Trebuchet MS"/>
              </a:rPr>
              <a:t>one</a:t>
            </a:r>
            <a:r>
              <a:rPr sz="900" i="0" spc="-10" dirty="0">
                <a:solidFill>
                  <a:srgbClr val="000000"/>
                </a:solidFill>
                <a:latin typeface="Trebuchet MS"/>
                <a:cs typeface="Trebuchet MS"/>
              </a:rPr>
              <a:t> side,</a:t>
            </a:r>
            <a:r>
              <a:rPr sz="900" i="0" spc="-1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00" i="0" spc="-25" dirty="0">
                <a:solidFill>
                  <a:srgbClr val="000000"/>
                </a:solidFill>
                <a:latin typeface="Trebuchet MS"/>
                <a:cs typeface="Trebuchet MS"/>
              </a:rPr>
              <a:t>not</a:t>
            </a:r>
            <a:r>
              <a:rPr sz="900" i="0" spc="-1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00" i="0" spc="-25" dirty="0">
                <a:solidFill>
                  <a:srgbClr val="000000"/>
                </a:solidFill>
                <a:latin typeface="Trebuchet MS"/>
                <a:cs typeface="Trebuchet MS"/>
              </a:rPr>
              <a:t>really</a:t>
            </a:r>
            <a:r>
              <a:rPr sz="900" i="0" spc="-1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00" i="0" spc="-35" dirty="0">
                <a:solidFill>
                  <a:srgbClr val="000000"/>
                </a:solidFill>
                <a:latin typeface="Trebuchet MS"/>
                <a:cs typeface="Trebuchet MS"/>
              </a:rPr>
              <a:t>part</a:t>
            </a:r>
            <a:r>
              <a:rPr sz="900" i="0" spc="-1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00" i="0" spc="-25" dirty="0">
                <a:solidFill>
                  <a:srgbClr val="000000"/>
                </a:solidFill>
                <a:latin typeface="Trebuchet MS"/>
                <a:cs typeface="Trebuchet MS"/>
              </a:rPr>
              <a:t>of 	the</a:t>
            </a:r>
            <a:r>
              <a:rPr sz="900" i="0" spc="-1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00" i="0" dirty="0">
                <a:solidFill>
                  <a:srgbClr val="000000"/>
                </a:solidFill>
                <a:latin typeface="Trebuchet MS"/>
                <a:cs typeface="Trebuchet MS"/>
              </a:rPr>
              <a:t>scene,</a:t>
            </a:r>
            <a:r>
              <a:rPr sz="900" i="0" spc="-1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00" i="0" spc="-45" dirty="0">
                <a:solidFill>
                  <a:srgbClr val="000000"/>
                </a:solidFill>
                <a:latin typeface="Trebuchet MS"/>
                <a:cs typeface="Trebuchet MS"/>
              </a:rPr>
              <a:t>just</a:t>
            </a:r>
            <a:r>
              <a:rPr sz="900" i="0" spc="-1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00" i="0" spc="50" dirty="0">
                <a:solidFill>
                  <a:srgbClr val="000000"/>
                </a:solidFill>
                <a:latin typeface="Trebuchet MS"/>
                <a:cs typeface="Trebuchet MS"/>
              </a:rPr>
              <a:t>as</a:t>
            </a:r>
            <a:r>
              <a:rPr sz="900" i="0" spc="-1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00" i="0" dirty="0">
                <a:solidFill>
                  <a:srgbClr val="000000"/>
                </a:solidFill>
                <a:latin typeface="Trebuchet MS"/>
                <a:cs typeface="Trebuchet MS"/>
              </a:rPr>
              <a:t>a</a:t>
            </a:r>
            <a:r>
              <a:rPr sz="900" i="0" spc="-1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00" i="0" spc="-10" dirty="0">
                <a:solidFill>
                  <a:srgbClr val="000000"/>
                </a:solidFill>
                <a:latin typeface="Trebuchet MS"/>
                <a:cs typeface="Trebuchet MS"/>
              </a:rPr>
              <a:t>sort</a:t>
            </a:r>
            <a:r>
              <a:rPr sz="900" i="0" spc="-1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00" i="0" spc="-45" dirty="0">
                <a:solidFill>
                  <a:srgbClr val="000000"/>
                </a:solidFill>
                <a:latin typeface="Trebuchet MS"/>
                <a:cs typeface="Trebuchet MS"/>
              </a:rPr>
              <a:t>of</a:t>
            </a:r>
            <a:r>
              <a:rPr sz="900" i="0" spc="-1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00" i="0" dirty="0">
                <a:solidFill>
                  <a:srgbClr val="000000"/>
                </a:solidFill>
                <a:latin typeface="Trebuchet MS"/>
                <a:cs typeface="Trebuchet MS"/>
              </a:rPr>
              <a:t>nod</a:t>
            </a:r>
            <a:r>
              <a:rPr sz="900" i="0" spc="-1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00" i="0" spc="-65" dirty="0">
                <a:solidFill>
                  <a:srgbClr val="000000"/>
                </a:solidFill>
                <a:latin typeface="Trebuchet MS"/>
                <a:cs typeface="Trebuchet MS"/>
              </a:rPr>
              <a:t>to</a:t>
            </a:r>
            <a:r>
              <a:rPr sz="900" i="0" spc="-1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00" i="0" dirty="0">
                <a:solidFill>
                  <a:srgbClr val="000000"/>
                </a:solidFill>
                <a:latin typeface="Trebuchet MS"/>
                <a:cs typeface="Trebuchet MS"/>
              </a:rPr>
              <a:t>gringo</a:t>
            </a:r>
            <a:r>
              <a:rPr sz="900" i="0" spc="-1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00" i="0" spc="-20" dirty="0">
                <a:solidFill>
                  <a:srgbClr val="000000"/>
                </a:solidFill>
                <a:latin typeface="Trebuchet MS"/>
                <a:cs typeface="Trebuchet MS"/>
              </a:rPr>
              <a:t>expectations</a:t>
            </a:r>
            <a:r>
              <a:rPr sz="900" i="0" spc="-1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00" i="0" spc="-10" dirty="0">
                <a:solidFill>
                  <a:srgbClr val="000000"/>
                </a:solidFill>
                <a:latin typeface="Trebuchet MS"/>
                <a:cs typeface="Trebuchet MS"/>
              </a:rPr>
              <a:t>perhaps.</a:t>
            </a:r>
            <a:endParaRPr sz="900">
              <a:latin typeface="Trebuchet MS"/>
              <a:cs typeface="Trebuchet MS"/>
            </a:endParaRPr>
          </a:p>
          <a:p>
            <a:pPr marL="602615" marR="68580" indent="-116205">
              <a:lnSpc>
                <a:spcPct val="110700"/>
              </a:lnSpc>
              <a:buClr>
                <a:srgbClr val="D6D6EF"/>
              </a:buClr>
              <a:buSzPct val="66666"/>
              <a:buFont typeface="Lucida Sans Unicode"/>
              <a:buChar char="►"/>
              <a:tabLst>
                <a:tab pos="604520" algn="l"/>
              </a:tabLst>
            </a:pPr>
            <a:r>
              <a:rPr sz="900" i="0" dirty="0">
                <a:solidFill>
                  <a:srgbClr val="000000"/>
                </a:solidFill>
                <a:latin typeface="Trebuchet MS"/>
                <a:cs typeface="Trebuchet MS"/>
              </a:rPr>
              <a:t>And</a:t>
            </a:r>
            <a:r>
              <a:rPr sz="900" i="0" spc="-1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00" i="0" spc="-100" dirty="0">
                <a:solidFill>
                  <a:srgbClr val="000000"/>
                </a:solidFill>
                <a:latin typeface="Trebuchet MS"/>
                <a:cs typeface="Trebuchet MS"/>
              </a:rPr>
              <a:t>it</a:t>
            </a:r>
            <a:r>
              <a:rPr sz="900" i="0" spc="-1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00" i="0" spc="-40" dirty="0">
                <a:solidFill>
                  <a:srgbClr val="000000"/>
                </a:solidFill>
                <a:latin typeface="Trebuchet MS"/>
                <a:cs typeface="Trebuchet MS"/>
              </a:rPr>
              <a:t>all</a:t>
            </a:r>
            <a:r>
              <a:rPr sz="900" i="0" spc="-1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00" i="0" spc="-20" dirty="0">
                <a:solidFill>
                  <a:srgbClr val="000000"/>
                </a:solidFill>
                <a:latin typeface="Trebuchet MS"/>
                <a:cs typeface="Trebuchet MS"/>
              </a:rPr>
              <a:t>started</a:t>
            </a:r>
            <a:r>
              <a:rPr sz="900" i="0" spc="-1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00" i="0" dirty="0">
                <a:solidFill>
                  <a:srgbClr val="000000"/>
                </a:solidFill>
                <a:latin typeface="Trebuchet MS"/>
                <a:cs typeface="Trebuchet MS"/>
              </a:rPr>
              <a:t>when</a:t>
            </a:r>
            <a:r>
              <a:rPr sz="900" i="0" spc="-1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00" i="0" spc="-10" dirty="0">
                <a:solidFill>
                  <a:srgbClr val="000000"/>
                </a:solidFill>
                <a:latin typeface="Trebuchet MS"/>
                <a:cs typeface="Trebuchet MS"/>
              </a:rPr>
              <a:t>fishermen</a:t>
            </a:r>
            <a:r>
              <a:rPr sz="900" i="0" spc="-1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00" i="0" spc="-10" dirty="0">
                <a:solidFill>
                  <a:srgbClr val="000000"/>
                </a:solidFill>
                <a:latin typeface="Trebuchet MS"/>
                <a:cs typeface="Trebuchet MS"/>
              </a:rPr>
              <a:t>decided</a:t>
            </a:r>
            <a:r>
              <a:rPr sz="900" i="0" spc="-1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00" i="0" spc="-25" dirty="0">
                <a:solidFill>
                  <a:srgbClr val="000000"/>
                </a:solidFill>
                <a:latin typeface="Trebuchet MS"/>
                <a:cs typeface="Trebuchet MS"/>
              </a:rPr>
              <a:t>the</a:t>
            </a:r>
            <a:r>
              <a:rPr sz="900" i="0" spc="-1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00" i="0" spc="-20" dirty="0">
                <a:solidFill>
                  <a:srgbClr val="000000"/>
                </a:solidFill>
                <a:latin typeface="Trebuchet MS"/>
                <a:cs typeface="Trebuchet MS"/>
              </a:rPr>
              <a:t>striped</a:t>
            </a:r>
            <a:r>
              <a:rPr sz="900" i="0" spc="-1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00" b="1" i="0" spc="65" dirty="0">
                <a:solidFill>
                  <a:srgbClr val="000000"/>
                </a:solidFill>
                <a:latin typeface="Trebuchet MS"/>
                <a:cs typeface="Trebuchet MS"/>
              </a:rPr>
              <a:t>bass</a:t>
            </a:r>
            <a:r>
              <a:rPr sz="900" b="1" i="0" spc="-1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00" i="0" spc="-10" dirty="0">
                <a:solidFill>
                  <a:srgbClr val="000000"/>
                </a:solidFill>
                <a:latin typeface="Trebuchet MS"/>
                <a:cs typeface="Trebuchet MS"/>
              </a:rPr>
              <a:t>in</a:t>
            </a:r>
            <a:r>
              <a:rPr sz="900" i="0" spc="-1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00" i="0" dirty="0">
                <a:solidFill>
                  <a:srgbClr val="000000"/>
                </a:solidFill>
                <a:latin typeface="Trebuchet MS"/>
                <a:cs typeface="Trebuchet MS"/>
              </a:rPr>
              <a:t>Lake</a:t>
            </a:r>
            <a:r>
              <a:rPr sz="900" i="0" spc="-1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00" i="0" spc="-20" dirty="0">
                <a:solidFill>
                  <a:srgbClr val="000000"/>
                </a:solidFill>
                <a:latin typeface="Trebuchet MS"/>
                <a:cs typeface="Trebuchet MS"/>
              </a:rPr>
              <a:t>Mead 	were</a:t>
            </a:r>
            <a:r>
              <a:rPr sz="900" i="0" spc="-4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00" i="0" spc="-25" dirty="0">
                <a:solidFill>
                  <a:srgbClr val="000000"/>
                </a:solidFill>
                <a:latin typeface="Trebuchet MS"/>
                <a:cs typeface="Trebuchet MS"/>
              </a:rPr>
              <a:t>too</a:t>
            </a:r>
            <a:r>
              <a:rPr sz="900" i="0" spc="-3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00" i="0" spc="-10" dirty="0">
                <a:solidFill>
                  <a:srgbClr val="000000"/>
                </a:solidFill>
                <a:latin typeface="Trebuchet MS"/>
                <a:cs typeface="Trebuchet MS"/>
              </a:rPr>
              <a:t>skinny.</a:t>
            </a:r>
            <a:endParaRPr sz="9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450"/>
              </a:spcBef>
            </a:pPr>
            <a:endParaRPr sz="900">
              <a:latin typeface="Trebuchet MS"/>
              <a:cs typeface="Trebuchet MS"/>
            </a:endParaRPr>
          </a:p>
          <a:p>
            <a:pPr marL="50800">
              <a:lnSpc>
                <a:spcPct val="100000"/>
              </a:lnSpc>
            </a:pPr>
            <a:r>
              <a:rPr spc="-10" dirty="0">
                <a:solidFill>
                  <a:srgbClr val="007F00"/>
                </a:solidFill>
              </a:rPr>
              <a:t>Disambiguation</a:t>
            </a:r>
          </a:p>
          <a:p>
            <a:pPr marL="327660" marR="217170">
              <a:lnSpc>
                <a:spcPct val="118800"/>
              </a:lnSpc>
              <a:spcBef>
                <a:spcPts val="204"/>
              </a:spcBef>
            </a:pP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The</a:t>
            </a:r>
            <a:r>
              <a:rPr sz="950" i="0" spc="-1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task</a:t>
            </a:r>
            <a:r>
              <a:rPr sz="950" i="0" spc="-1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of</a:t>
            </a:r>
            <a:r>
              <a:rPr sz="950" i="0" spc="-1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disambiguation</a:t>
            </a:r>
            <a:r>
              <a:rPr sz="950" i="0" spc="-1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is</a:t>
            </a:r>
            <a:r>
              <a:rPr sz="950" i="0" spc="-1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spc="-20" dirty="0">
                <a:solidFill>
                  <a:srgbClr val="000000"/>
                </a:solidFill>
                <a:latin typeface="Trebuchet MS"/>
                <a:cs typeface="Trebuchet MS"/>
              </a:rPr>
              <a:t>to</a:t>
            </a:r>
            <a:r>
              <a:rPr sz="950" i="0" spc="-1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determine</a:t>
            </a:r>
            <a:r>
              <a:rPr sz="950" i="0" spc="-1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which</a:t>
            </a:r>
            <a:r>
              <a:rPr sz="950" i="0" spc="-1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of</a:t>
            </a:r>
            <a:r>
              <a:rPr sz="950" i="0" spc="-1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the</a:t>
            </a:r>
            <a:r>
              <a:rPr sz="950" i="0" spc="-1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spc="60" dirty="0">
                <a:solidFill>
                  <a:srgbClr val="000000"/>
                </a:solidFill>
                <a:latin typeface="Trebuchet MS"/>
                <a:cs typeface="Trebuchet MS"/>
              </a:rPr>
              <a:t>senses</a:t>
            </a:r>
            <a:r>
              <a:rPr sz="950" i="0" spc="-1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of</a:t>
            </a:r>
            <a:r>
              <a:rPr sz="950" i="0" spc="-1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spc="-25" dirty="0">
                <a:solidFill>
                  <a:srgbClr val="000000"/>
                </a:solidFill>
                <a:latin typeface="Trebuchet MS"/>
                <a:cs typeface="Trebuchet MS"/>
              </a:rPr>
              <a:t>an 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ambiguous</a:t>
            </a:r>
            <a:r>
              <a:rPr sz="950" i="0" spc="1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word</a:t>
            </a:r>
            <a:r>
              <a:rPr sz="950" i="0" spc="1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is</a:t>
            </a:r>
            <a:r>
              <a:rPr sz="950" i="0" spc="1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invoked</a:t>
            </a:r>
            <a:r>
              <a:rPr sz="950" i="0" spc="1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in</a:t>
            </a:r>
            <a:r>
              <a:rPr sz="950" i="0" spc="1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a</a:t>
            </a:r>
            <a:r>
              <a:rPr sz="950" i="0" spc="1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spc="-20" dirty="0">
                <a:solidFill>
                  <a:srgbClr val="000000"/>
                </a:solidFill>
                <a:latin typeface="Trebuchet MS"/>
                <a:cs typeface="Trebuchet MS"/>
              </a:rPr>
              <a:t>particular</a:t>
            </a:r>
            <a:r>
              <a:rPr sz="950" i="0" spc="1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spc="50" dirty="0">
                <a:solidFill>
                  <a:srgbClr val="000000"/>
                </a:solidFill>
                <a:latin typeface="Trebuchet MS"/>
                <a:cs typeface="Trebuchet MS"/>
              </a:rPr>
              <a:t>use</a:t>
            </a:r>
            <a:r>
              <a:rPr sz="950" i="0" spc="1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of</a:t>
            </a:r>
            <a:r>
              <a:rPr sz="950" i="0" spc="1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the</a:t>
            </a:r>
            <a:r>
              <a:rPr sz="950" i="0" spc="1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spc="-10" dirty="0">
                <a:solidFill>
                  <a:srgbClr val="000000"/>
                </a:solidFill>
                <a:latin typeface="Trebuchet MS"/>
                <a:cs typeface="Trebuchet MS"/>
              </a:rPr>
              <a:t>word.</a:t>
            </a:r>
            <a:endParaRPr sz="950">
              <a:latin typeface="Trebuchet MS"/>
              <a:cs typeface="Trebuchet MS"/>
            </a:endParaRPr>
          </a:p>
          <a:p>
            <a:pPr marL="327660">
              <a:lnSpc>
                <a:spcPct val="100000"/>
              </a:lnSpc>
              <a:spcBef>
                <a:spcPts val="515"/>
              </a:spcBef>
            </a:pP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This</a:t>
            </a:r>
            <a:r>
              <a:rPr sz="950" i="0" spc="-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is</a:t>
            </a:r>
            <a:r>
              <a:rPr sz="950" i="0" spc="-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done</a:t>
            </a:r>
            <a:r>
              <a:rPr sz="950" i="0" spc="-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by looking</a:t>
            </a:r>
            <a:r>
              <a:rPr sz="950" i="0" spc="-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spc="-10" dirty="0">
                <a:solidFill>
                  <a:srgbClr val="000000"/>
                </a:solidFill>
                <a:latin typeface="Trebuchet MS"/>
                <a:cs typeface="Trebuchet MS"/>
              </a:rPr>
              <a:t>at</a:t>
            </a:r>
            <a:r>
              <a:rPr sz="950" i="0" spc="-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the</a:t>
            </a:r>
            <a:r>
              <a:rPr sz="950" i="0" spc="-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spc="-20" dirty="0">
                <a:solidFill>
                  <a:srgbClr val="000000"/>
                </a:solidFill>
                <a:latin typeface="Trebuchet MS"/>
                <a:cs typeface="Trebuchet MS"/>
              </a:rPr>
              <a:t>context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 of</a:t>
            </a:r>
            <a:r>
              <a:rPr sz="950" i="0" spc="-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the</a:t>
            </a:r>
            <a:r>
              <a:rPr sz="950" i="0" spc="-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spc="-20" dirty="0">
                <a:solidFill>
                  <a:srgbClr val="000000"/>
                </a:solidFill>
                <a:latin typeface="Trebuchet MS"/>
                <a:cs typeface="Trebuchet MS"/>
              </a:rPr>
              <a:t>word’s</a:t>
            </a:r>
            <a:r>
              <a:rPr sz="950" i="0" spc="-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spc="-20" dirty="0">
                <a:solidFill>
                  <a:srgbClr val="000000"/>
                </a:solidFill>
                <a:latin typeface="Trebuchet MS"/>
                <a:cs typeface="Trebuchet MS"/>
              </a:rPr>
              <a:t>use.</a:t>
            </a:r>
            <a:endParaRPr sz="950">
              <a:latin typeface="Trebuchet MS"/>
              <a:cs typeface="Trebuchet MS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1817522" y="3339672"/>
            <a:ext cx="97345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  <a:hlinkClick r:id="rId15" action="ppaction://hlinksldjump"/>
              </a:rPr>
              <a:t>Word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  <a:hlinkClick r:id="rId15" action="ppaction://hlinksldjump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15" action="ppaction://hlinksldjump"/>
              </a:rPr>
              <a:t>Sense</a:t>
            </a:r>
            <a:r>
              <a:rPr sz="600" i="1" spc="5" dirty="0">
                <a:solidFill>
                  <a:srgbClr val="FFFFFF"/>
                </a:solidFill>
                <a:latin typeface="Cambria"/>
                <a:cs typeface="Cambria"/>
                <a:hlinkClick r:id="rId15" action="ppaction://hlinksldjump"/>
              </a:rPr>
              <a:t>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  <a:hlinkClick r:id="rId15" action="ppaction://hlinksldjump"/>
              </a:rPr>
              <a:t>Disambiguation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  <a:hlinkClick r:id="rId15" action="ppaction://hlinksldjump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15" action="ppaction://hlinksldjump"/>
              </a:rPr>
              <a:t>-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  <a:hlinkClick r:id="rId15" action="ppaction://hlinksldjump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  <a:hlinkClick r:id="rId15" action="ppaction://hlinksldjump"/>
              </a:rPr>
              <a:t>I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3646170" y="3339672"/>
            <a:ext cx="56388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8,</a:t>
            </a:r>
            <a:r>
              <a:rPr sz="600" i="1" spc="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3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4355385" y="3339672"/>
            <a:ext cx="19875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2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10" dirty="0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</a:rPr>
              <a:t>15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39" name="Slide Number Placeholder 38">
            <a:extLst>
              <a:ext uri="{FF2B5EF4-FFF2-40B4-BE49-F238E27FC236}">
                <a16:creationId xmlns:a16="http://schemas.microsoft.com/office/drawing/2014/main" id="{72902B53-7F81-49FC-BB4C-72018EB748A4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4292024" y="3339672"/>
            <a:ext cx="262254" cy="116204"/>
          </a:xfrm>
          <a:prstGeom prst="rect">
            <a:avLst/>
          </a:prstGeom>
        </p:spPr>
        <p:txBody>
          <a:bodyPr/>
          <a:lstStyle/>
          <a:p>
            <a:pPr marL="75565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lang="en-IN" smtClean="0"/>
              <a:t>79</a:t>
            </a:fld>
            <a:r>
              <a:rPr lang="en-IN" spc="-5"/>
              <a:t> </a:t>
            </a:r>
            <a:r>
              <a:rPr lang="en-IN" spc="-110"/>
              <a:t>/</a:t>
            </a:r>
            <a:r>
              <a:rPr lang="en-IN" spc="15"/>
              <a:t> </a:t>
            </a:r>
            <a:r>
              <a:rPr lang="en-IN" spc="-25"/>
              <a:t>18</a:t>
            </a:r>
            <a:endParaRPr lang="en-IN" spc="-25" dirty="0"/>
          </a:p>
        </p:txBody>
      </p:sp>
    </p:spTree>
  </p:cSld>
  <p:clrMapOvr>
    <a:masterClrMapping/>
  </p:clrMapOvr>
  <p:transition>
    <p:cut/>
  </p:transition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Algorithms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597" y="1153553"/>
            <a:ext cx="64757" cy="64757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77532" y="1041500"/>
            <a:ext cx="2159000" cy="1275080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R="409575" algn="r">
              <a:lnSpc>
                <a:spcPct val="100000"/>
              </a:lnSpc>
              <a:spcBef>
                <a:spcPts val="459"/>
              </a:spcBef>
            </a:pPr>
            <a:r>
              <a:rPr sz="950" dirty="0">
                <a:latin typeface="Trebuchet MS"/>
                <a:cs typeface="Trebuchet MS"/>
              </a:rPr>
              <a:t>Knowledge</a:t>
            </a:r>
            <a:r>
              <a:rPr sz="950" spc="110" dirty="0">
                <a:latin typeface="Trebuchet MS"/>
                <a:cs typeface="Trebuchet MS"/>
              </a:rPr>
              <a:t> </a:t>
            </a:r>
            <a:r>
              <a:rPr sz="950" spc="60" dirty="0">
                <a:latin typeface="Trebuchet MS"/>
                <a:cs typeface="Trebuchet MS"/>
              </a:rPr>
              <a:t>Based</a:t>
            </a:r>
            <a:r>
              <a:rPr sz="950" spc="11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Approaches</a:t>
            </a:r>
            <a:endParaRPr sz="950">
              <a:latin typeface="Trebuchet MS"/>
              <a:cs typeface="Trebuchet MS"/>
            </a:endParaRPr>
          </a:p>
          <a:p>
            <a:pPr marL="116205" marR="443865" indent="-116205" algn="r">
              <a:lnSpc>
                <a:spcPct val="100000"/>
              </a:lnSpc>
              <a:spcBef>
                <a:spcPts val="305"/>
              </a:spcBef>
              <a:buClr>
                <a:srgbClr val="3232B2"/>
              </a:buClr>
              <a:buSzPct val="66666"/>
              <a:buFont typeface="Lucida Sans Unicode"/>
              <a:buChar char="►"/>
              <a:tabLst>
                <a:tab pos="116205" algn="l"/>
              </a:tabLst>
            </a:pPr>
            <a:r>
              <a:rPr sz="900" dirty="0">
                <a:latin typeface="Trebuchet MS"/>
                <a:cs typeface="Trebuchet MS"/>
              </a:rPr>
              <a:t>Overlap</a:t>
            </a:r>
            <a:r>
              <a:rPr sz="900" spc="60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Based</a:t>
            </a:r>
            <a:r>
              <a:rPr sz="900" spc="65" dirty="0">
                <a:latin typeface="Trebuchet MS"/>
                <a:cs typeface="Trebuchet MS"/>
              </a:rPr>
              <a:t> </a:t>
            </a:r>
            <a:r>
              <a:rPr sz="900" spc="-10" dirty="0">
                <a:latin typeface="Trebuchet MS"/>
                <a:cs typeface="Trebuchet MS"/>
              </a:rPr>
              <a:t>Approaches</a:t>
            </a:r>
            <a:endParaRPr sz="900">
              <a:latin typeface="Trebuchet MS"/>
              <a:cs typeface="Trebuchet MS"/>
            </a:endParaRPr>
          </a:p>
          <a:p>
            <a:pPr marL="38100">
              <a:lnSpc>
                <a:spcPct val="100000"/>
              </a:lnSpc>
              <a:spcBef>
                <a:spcPts val="365"/>
              </a:spcBef>
            </a:pPr>
            <a:r>
              <a:rPr sz="950" dirty="0">
                <a:latin typeface="Trebuchet MS"/>
                <a:cs typeface="Trebuchet MS"/>
              </a:rPr>
              <a:t>Machine</a:t>
            </a:r>
            <a:r>
              <a:rPr sz="950" spc="114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Learning</a:t>
            </a:r>
            <a:r>
              <a:rPr sz="950" spc="114" dirty="0">
                <a:latin typeface="Trebuchet MS"/>
                <a:cs typeface="Trebuchet MS"/>
              </a:rPr>
              <a:t> </a:t>
            </a:r>
            <a:r>
              <a:rPr sz="950" spc="60" dirty="0">
                <a:latin typeface="Trebuchet MS"/>
                <a:cs typeface="Trebuchet MS"/>
              </a:rPr>
              <a:t>Based</a:t>
            </a:r>
            <a:r>
              <a:rPr sz="950" spc="12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Approaches</a:t>
            </a:r>
            <a:endParaRPr sz="950">
              <a:latin typeface="Trebuchet MS"/>
              <a:cs typeface="Trebuchet MS"/>
            </a:endParaRPr>
          </a:p>
          <a:p>
            <a:pPr marL="313690" indent="-116205">
              <a:lnSpc>
                <a:spcPct val="100000"/>
              </a:lnSpc>
              <a:spcBef>
                <a:spcPts val="305"/>
              </a:spcBef>
              <a:buClr>
                <a:srgbClr val="3232B2"/>
              </a:buClr>
              <a:buSzPct val="66666"/>
              <a:buFont typeface="Lucida Sans Unicode"/>
              <a:buChar char="►"/>
              <a:tabLst>
                <a:tab pos="313690" algn="l"/>
              </a:tabLst>
            </a:pPr>
            <a:r>
              <a:rPr sz="900" dirty="0">
                <a:latin typeface="Trebuchet MS"/>
                <a:cs typeface="Trebuchet MS"/>
              </a:rPr>
              <a:t>Supervised</a:t>
            </a:r>
            <a:r>
              <a:rPr sz="900" spc="150" dirty="0">
                <a:latin typeface="Trebuchet MS"/>
                <a:cs typeface="Trebuchet MS"/>
              </a:rPr>
              <a:t> </a:t>
            </a:r>
            <a:r>
              <a:rPr sz="900" spc="-10" dirty="0">
                <a:latin typeface="Trebuchet MS"/>
                <a:cs typeface="Trebuchet MS"/>
              </a:rPr>
              <a:t>Approaches</a:t>
            </a:r>
            <a:endParaRPr sz="900">
              <a:latin typeface="Trebuchet MS"/>
              <a:cs typeface="Trebuchet MS"/>
            </a:endParaRPr>
          </a:p>
          <a:p>
            <a:pPr marL="313690" indent="-116205">
              <a:lnSpc>
                <a:spcPct val="100000"/>
              </a:lnSpc>
              <a:spcBef>
                <a:spcPts val="114"/>
              </a:spcBef>
              <a:buClr>
                <a:srgbClr val="3232B2"/>
              </a:buClr>
              <a:buSzPct val="66666"/>
              <a:buFont typeface="Lucida Sans Unicode"/>
              <a:buChar char="►"/>
              <a:tabLst>
                <a:tab pos="313690" algn="l"/>
              </a:tabLst>
            </a:pPr>
            <a:r>
              <a:rPr sz="900" dirty="0">
                <a:latin typeface="Trebuchet MS"/>
                <a:cs typeface="Trebuchet MS"/>
              </a:rPr>
              <a:t>Semi-supervised</a:t>
            </a:r>
            <a:r>
              <a:rPr sz="900" spc="130" dirty="0">
                <a:latin typeface="Trebuchet MS"/>
                <a:cs typeface="Trebuchet MS"/>
              </a:rPr>
              <a:t> </a:t>
            </a:r>
            <a:r>
              <a:rPr sz="900" spc="-10" dirty="0">
                <a:latin typeface="Trebuchet MS"/>
                <a:cs typeface="Trebuchet MS"/>
              </a:rPr>
              <a:t>Algorithms</a:t>
            </a:r>
            <a:endParaRPr sz="900">
              <a:latin typeface="Trebuchet MS"/>
              <a:cs typeface="Trebuchet MS"/>
            </a:endParaRPr>
          </a:p>
          <a:p>
            <a:pPr marL="313690" indent="-116205">
              <a:lnSpc>
                <a:spcPct val="100000"/>
              </a:lnSpc>
              <a:spcBef>
                <a:spcPts val="114"/>
              </a:spcBef>
              <a:buClr>
                <a:srgbClr val="3232B2"/>
              </a:buClr>
              <a:buSzPct val="66666"/>
              <a:buFont typeface="Lucida Sans Unicode"/>
              <a:buChar char="►"/>
              <a:tabLst>
                <a:tab pos="313690" algn="l"/>
              </a:tabLst>
            </a:pPr>
            <a:r>
              <a:rPr sz="900" dirty="0">
                <a:latin typeface="Trebuchet MS"/>
                <a:cs typeface="Trebuchet MS"/>
              </a:rPr>
              <a:t>Unsupervised</a:t>
            </a:r>
            <a:r>
              <a:rPr sz="900" spc="135" dirty="0">
                <a:latin typeface="Trebuchet MS"/>
                <a:cs typeface="Trebuchet MS"/>
              </a:rPr>
              <a:t> </a:t>
            </a:r>
            <a:r>
              <a:rPr sz="900" spc="-10" dirty="0">
                <a:latin typeface="Trebuchet MS"/>
                <a:cs typeface="Trebuchet MS"/>
              </a:rPr>
              <a:t>Algorithms</a:t>
            </a:r>
            <a:endParaRPr sz="900">
              <a:latin typeface="Trebuchet MS"/>
              <a:cs typeface="Trebuchet MS"/>
            </a:endParaRPr>
          </a:p>
          <a:p>
            <a:pPr marL="38100">
              <a:lnSpc>
                <a:spcPct val="100000"/>
              </a:lnSpc>
              <a:spcBef>
                <a:spcPts val="525"/>
              </a:spcBef>
            </a:pPr>
            <a:r>
              <a:rPr sz="950" dirty="0">
                <a:latin typeface="Trebuchet MS"/>
                <a:cs typeface="Trebuchet MS"/>
              </a:rPr>
              <a:t>Hybrid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Approaches</a:t>
            </a:r>
            <a:endParaRPr sz="950">
              <a:latin typeface="Trebuchet MS"/>
              <a:cs typeface="Trebuchet MS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597" y="1520482"/>
            <a:ext cx="64757" cy="64757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597" y="2211311"/>
            <a:ext cx="64757" cy="64757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1817522" y="3339672"/>
            <a:ext cx="97345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  <a:hlinkClick r:id="rId5" action="ppaction://hlinksldjump"/>
              </a:rPr>
              <a:t>Word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  <a:hlinkClick r:id="rId5" action="ppaction://hlinksldjump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5" action="ppaction://hlinksldjump"/>
              </a:rPr>
              <a:t>Sense</a:t>
            </a:r>
            <a:r>
              <a:rPr sz="600" i="1" spc="5" dirty="0">
                <a:solidFill>
                  <a:srgbClr val="FFFFFF"/>
                </a:solidFill>
                <a:latin typeface="Cambria"/>
                <a:cs typeface="Cambria"/>
                <a:hlinkClick r:id="rId5" action="ppaction://hlinksldjump"/>
              </a:rPr>
              <a:t>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  <a:hlinkClick r:id="rId5" action="ppaction://hlinksldjump"/>
              </a:rPr>
              <a:t>Disambiguation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  <a:hlinkClick r:id="rId5" action="ppaction://hlinksldjump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5" action="ppaction://hlinksldjump"/>
              </a:rPr>
              <a:t>-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  <a:hlinkClick r:id="rId5" action="ppaction://hlinksldjump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  <a:hlinkClick r:id="rId5" action="ppaction://hlinksldjump"/>
              </a:rPr>
              <a:t>I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646170" y="3339672"/>
            <a:ext cx="56388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8,</a:t>
            </a:r>
            <a:r>
              <a:rPr sz="600" i="1" spc="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3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4294967295"/>
          </p:nvPr>
        </p:nvSpPr>
        <p:spPr>
          <a:xfrm>
            <a:off x="4292024" y="3339672"/>
            <a:ext cx="262254" cy="116204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75565">
              <a:lnSpc>
                <a:spcPct val="100000"/>
              </a:lnSpc>
              <a:spcBef>
                <a:spcPts val="50"/>
              </a:spcBef>
            </a:pPr>
            <a:r>
              <a:rPr dirty="0"/>
              <a:t>3</a:t>
            </a:r>
            <a:r>
              <a:rPr spc="-5" dirty="0"/>
              <a:t> </a:t>
            </a:r>
            <a:r>
              <a:rPr spc="-110" dirty="0"/>
              <a:t>/</a:t>
            </a:r>
            <a:r>
              <a:rPr spc="15" dirty="0"/>
              <a:t> </a:t>
            </a:r>
            <a:r>
              <a:rPr spc="-25" dirty="0"/>
              <a:t>15</a:t>
            </a:r>
          </a:p>
        </p:txBody>
      </p:sp>
    </p:spTree>
  </p:cSld>
  <p:clrMapOvr>
    <a:masterClrMapping/>
  </p:clrMapOvr>
  <p:transition>
    <p:cut/>
  </p:transition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Knowledge</a:t>
            </a:r>
            <a:r>
              <a:rPr spc="35" dirty="0"/>
              <a:t> </a:t>
            </a:r>
            <a:r>
              <a:rPr dirty="0"/>
              <a:t>Based</a:t>
            </a:r>
            <a:r>
              <a:rPr spc="40" dirty="0"/>
              <a:t> </a:t>
            </a:r>
            <a:r>
              <a:rPr spc="-10" dirty="0"/>
              <a:t>Approaches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7743" y="815289"/>
            <a:ext cx="4483735" cy="1984375"/>
            <a:chOff x="87743" y="815289"/>
            <a:chExt cx="4483735" cy="1984375"/>
          </a:xfrm>
        </p:grpSpPr>
        <p:sp>
          <p:nvSpPr>
            <p:cNvPr id="4" name="object 4"/>
            <p:cNvSpPr/>
            <p:nvPr/>
          </p:nvSpPr>
          <p:spPr>
            <a:xfrm>
              <a:off x="87743" y="815289"/>
              <a:ext cx="4432935" cy="186055"/>
            </a:xfrm>
            <a:custGeom>
              <a:avLst/>
              <a:gdLst/>
              <a:ahLst/>
              <a:cxnLst/>
              <a:rect l="l" t="t" r="r" b="b"/>
              <a:pathLst>
                <a:path w="4432935" h="186055">
                  <a:moveTo>
                    <a:pt x="4381754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5674"/>
                  </a:lnTo>
                  <a:lnTo>
                    <a:pt x="4432554" y="185674"/>
                  </a:lnTo>
                  <a:lnTo>
                    <a:pt x="4432554" y="50800"/>
                  </a:lnTo>
                  <a:lnTo>
                    <a:pt x="4428545" y="31075"/>
                  </a:lnTo>
                  <a:lnTo>
                    <a:pt x="4417631" y="14922"/>
                  </a:lnTo>
                  <a:lnTo>
                    <a:pt x="4401478" y="4008"/>
                  </a:lnTo>
                  <a:lnTo>
                    <a:pt x="4381754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744" y="988314"/>
              <a:ext cx="4432554" cy="5060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8544" y="2697911"/>
              <a:ext cx="101599" cy="1016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9344" y="2685211"/>
              <a:ext cx="4381754" cy="1143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20298" y="859536"/>
              <a:ext cx="50800" cy="1838375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87743" y="1032560"/>
              <a:ext cx="4432935" cy="1716405"/>
            </a:xfrm>
            <a:custGeom>
              <a:avLst/>
              <a:gdLst/>
              <a:ahLst/>
              <a:cxnLst/>
              <a:rect l="l" t="t" r="r" b="b"/>
              <a:pathLst>
                <a:path w="4432935" h="1716405">
                  <a:moveTo>
                    <a:pt x="4432554" y="0"/>
                  </a:moveTo>
                  <a:lnTo>
                    <a:pt x="0" y="0"/>
                  </a:lnTo>
                  <a:lnTo>
                    <a:pt x="0" y="1665351"/>
                  </a:lnTo>
                  <a:lnTo>
                    <a:pt x="4008" y="1685075"/>
                  </a:lnTo>
                  <a:lnTo>
                    <a:pt x="14922" y="1701228"/>
                  </a:lnTo>
                  <a:lnTo>
                    <a:pt x="31075" y="1712142"/>
                  </a:lnTo>
                  <a:lnTo>
                    <a:pt x="50800" y="1716151"/>
                  </a:lnTo>
                  <a:lnTo>
                    <a:pt x="4381754" y="1716151"/>
                  </a:lnTo>
                  <a:lnTo>
                    <a:pt x="4401478" y="1712142"/>
                  </a:lnTo>
                  <a:lnTo>
                    <a:pt x="4417631" y="1701228"/>
                  </a:lnTo>
                  <a:lnTo>
                    <a:pt x="4428545" y="1685075"/>
                  </a:lnTo>
                  <a:lnTo>
                    <a:pt x="4432554" y="1665351"/>
                  </a:lnTo>
                  <a:lnTo>
                    <a:pt x="4432554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520309" y="897559"/>
              <a:ext cx="0" cy="1819910"/>
            </a:xfrm>
            <a:custGeom>
              <a:avLst/>
              <a:gdLst/>
              <a:ahLst/>
              <a:cxnLst/>
              <a:rect l="l" t="t" r="r" b="b"/>
              <a:pathLst>
                <a:path h="1819910">
                  <a:moveTo>
                    <a:pt x="0" y="1819402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520309" y="884910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520309" y="872210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520309" y="859510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81597" y="1082319"/>
              <a:ext cx="64757" cy="64757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81597" y="1292352"/>
              <a:ext cx="64757" cy="64757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81597" y="1846541"/>
              <a:ext cx="64757" cy="64757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81597" y="2228646"/>
              <a:ext cx="64757" cy="64757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81597" y="2438679"/>
              <a:ext cx="64757" cy="64757"/>
            </a:xfrm>
            <a:prstGeom prst="rect">
              <a:avLst/>
            </a:prstGeom>
          </p:spPr>
        </p:pic>
      </p:grpSp>
      <p:sp>
        <p:nvSpPr>
          <p:cNvPr id="19" name="object 19"/>
          <p:cNvSpPr txBox="1"/>
          <p:nvPr/>
        </p:nvSpPr>
        <p:spPr>
          <a:xfrm>
            <a:off x="125729" y="740584"/>
            <a:ext cx="4311015" cy="1975485"/>
          </a:xfrm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sz="1100" i="1" dirty="0">
                <a:solidFill>
                  <a:srgbClr val="3232B2"/>
                </a:solidFill>
                <a:latin typeface="Cambria"/>
                <a:cs typeface="Cambria"/>
              </a:rPr>
              <a:t>Overlap</a:t>
            </a:r>
            <a:r>
              <a:rPr sz="1100" i="1" spc="-35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100" i="1" dirty="0">
                <a:solidFill>
                  <a:srgbClr val="3232B2"/>
                </a:solidFill>
                <a:latin typeface="Cambria"/>
                <a:cs typeface="Cambria"/>
              </a:rPr>
              <a:t>Based</a:t>
            </a:r>
            <a:r>
              <a:rPr sz="1100" i="1" spc="-25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100" i="1" spc="-10" dirty="0">
                <a:solidFill>
                  <a:srgbClr val="3232B2"/>
                </a:solidFill>
                <a:latin typeface="Cambria"/>
                <a:cs typeface="Cambria"/>
              </a:rPr>
              <a:t>Approaches</a:t>
            </a:r>
            <a:endParaRPr sz="1100">
              <a:latin typeface="Cambria"/>
              <a:cs typeface="Cambria"/>
            </a:endParaRPr>
          </a:p>
          <a:p>
            <a:pPr marL="289560">
              <a:lnSpc>
                <a:spcPct val="100000"/>
              </a:lnSpc>
              <a:spcBef>
                <a:spcPts val="425"/>
              </a:spcBef>
            </a:pPr>
            <a:r>
              <a:rPr sz="950" dirty="0">
                <a:latin typeface="Trebuchet MS"/>
                <a:cs typeface="Trebuchet MS"/>
              </a:rPr>
              <a:t>Require</a:t>
            </a:r>
            <a:r>
              <a:rPr sz="950" spc="16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</a:t>
            </a:r>
            <a:r>
              <a:rPr sz="950" spc="170" dirty="0">
                <a:latin typeface="Trebuchet MS"/>
                <a:cs typeface="Trebuchet MS"/>
              </a:rPr>
              <a:t> </a:t>
            </a:r>
            <a:r>
              <a:rPr sz="950" b="1" dirty="0">
                <a:latin typeface="Trebuchet MS"/>
                <a:cs typeface="Trebuchet MS"/>
              </a:rPr>
              <a:t>Machine</a:t>
            </a:r>
            <a:r>
              <a:rPr sz="950" b="1" spc="170" dirty="0">
                <a:latin typeface="Trebuchet MS"/>
                <a:cs typeface="Trebuchet MS"/>
              </a:rPr>
              <a:t> </a:t>
            </a:r>
            <a:r>
              <a:rPr sz="950" b="1" dirty="0">
                <a:latin typeface="Trebuchet MS"/>
                <a:cs typeface="Trebuchet MS"/>
              </a:rPr>
              <a:t>Readable</a:t>
            </a:r>
            <a:r>
              <a:rPr sz="950" b="1" spc="170" dirty="0">
                <a:latin typeface="Trebuchet MS"/>
                <a:cs typeface="Trebuchet MS"/>
              </a:rPr>
              <a:t> </a:t>
            </a:r>
            <a:r>
              <a:rPr sz="950" b="1" dirty="0">
                <a:latin typeface="Trebuchet MS"/>
                <a:cs typeface="Trebuchet MS"/>
              </a:rPr>
              <a:t>Dictionary</a:t>
            </a:r>
            <a:r>
              <a:rPr sz="950" b="1" spc="16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(MRD).</a:t>
            </a:r>
            <a:endParaRPr sz="950">
              <a:latin typeface="Trebuchet MS"/>
              <a:cs typeface="Trebuchet MS"/>
            </a:endParaRPr>
          </a:p>
          <a:p>
            <a:pPr marL="289560" marR="5080">
              <a:lnSpc>
                <a:spcPct val="118900"/>
              </a:lnSpc>
              <a:spcBef>
                <a:spcPts val="295"/>
              </a:spcBef>
            </a:pPr>
            <a:r>
              <a:rPr sz="950" dirty="0">
                <a:latin typeface="Trebuchet MS"/>
                <a:cs typeface="Trebuchet MS"/>
              </a:rPr>
              <a:t>Find</a:t>
            </a:r>
            <a:r>
              <a:rPr sz="950" spc="-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-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overlap</a:t>
            </a:r>
            <a:r>
              <a:rPr sz="950" spc="-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between</a:t>
            </a:r>
            <a:r>
              <a:rPr sz="950" spc="-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-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features</a:t>
            </a:r>
            <a:r>
              <a:rPr sz="950" spc="-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of</a:t>
            </a:r>
            <a:r>
              <a:rPr sz="950" spc="-25" dirty="0">
                <a:latin typeface="Trebuchet MS"/>
                <a:cs typeface="Trebuchet MS"/>
              </a:rPr>
              <a:t> </a:t>
            </a:r>
            <a:r>
              <a:rPr sz="950" spc="-35" dirty="0">
                <a:latin typeface="Trebuchet MS"/>
                <a:cs typeface="Trebuchet MS"/>
              </a:rPr>
              <a:t>different</a:t>
            </a:r>
            <a:r>
              <a:rPr sz="950" spc="-30" dirty="0">
                <a:latin typeface="Trebuchet MS"/>
                <a:cs typeface="Trebuchet MS"/>
              </a:rPr>
              <a:t> </a:t>
            </a:r>
            <a:r>
              <a:rPr sz="950" spc="60" dirty="0">
                <a:latin typeface="Trebuchet MS"/>
                <a:cs typeface="Trebuchet MS"/>
              </a:rPr>
              <a:t>senses</a:t>
            </a:r>
            <a:r>
              <a:rPr sz="950" spc="-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of</a:t>
            </a:r>
            <a:r>
              <a:rPr sz="950" spc="-25" dirty="0">
                <a:latin typeface="Trebuchet MS"/>
                <a:cs typeface="Trebuchet MS"/>
              </a:rPr>
              <a:t> an</a:t>
            </a:r>
            <a:r>
              <a:rPr sz="950" spc="50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ambiguous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word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(</a:t>
            </a:r>
            <a:r>
              <a:rPr sz="950" b="1" dirty="0">
                <a:latin typeface="Trebuchet MS"/>
                <a:cs typeface="Trebuchet MS"/>
              </a:rPr>
              <a:t>sense</a:t>
            </a:r>
            <a:r>
              <a:rPr sz="950" b="1" spc="30" dirty="0">
                <a:latin typeface="Trebuchet MS"/>
                <a:cs typeface="Trebuchet MS"/>
              </a:rPr>
              <a:t> </a:t>
            </a:r>
            <a:r>
              <a:rPr sz="950" b="1" dirty="0">
                <a:latin typeface="Trebuchet MS"/>
                <a:cs typeface="Trebuchet MS"/>
              </a:rPr>
              <a:t>bag</a:t>
            </a:r>
            <a:r>
              <a:rPr sz="950" dirty="0">
                <a:latin typeface="Trebuchet MS"/>
                <a:cs typeface="Trebuchet MS"/>
              </a:rPr>
              <a:t>)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and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features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of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words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in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its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context </a:t>
            </a:r>
            <a:r>
              <a:rPr sz="950" dirty="0">
                <a:latin typeface="Trebuchet MS"/>
                <a:cs typeface="Trebuchet MS"/>
              </a:rPr>
              <a:t>(</a:t>
            </a:r>
            <a:r>
              <a:rPr sz="950" b="1" dirty="0">
                <a:latin typeface="Trebuchet MS"/>
                <a:cs typeface="Trebuchet MS"/>
              </a:rPr>
              <a:t>context </a:t>
            </a:r>
            <a:r>
              <a:rPr sz="950" b="1" spc="-10" dirty="0">
                <a:latin typeface="Trebuchet MS"/>
                <a:cs typeface="Trebuchet MS"/>
              </a:rPr>
              <a:t>bag</a:t>
            </a:r>
            <a:r>
              <a:rPr sz="950" spc="-10" dirty="0">
                <a:latin typeface="Trebuchet MS"/>
                <a:cs typeface="Trebuchet MS"/>
              </a:rPr>
              <a:t>).</a:t>
            </a:r>
            <a:endParaRPr sz="950">
              <a:latin typeface="Trebuchet MS"/>
              <a:cs typeface="Trebuchet MS"/>
            </a:endParaRPr>
          </a:p>
          <a:p>
            <a:pPr marL="289560" marR="34925">
              <a:lnSpc>
                <a:spcPct val="118900"/>
              </a:lnSpc>
              <a:spcBef>
                <a:spcPts val="300"/>
              </a:spcBef>
            </a:pP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features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could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be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spc="55" dirty="0">
                <a:latin typeface="Trebuchet MS"/>
                <a:cs typeface="Trebuchet MS"/>
              </a:rPr>
              <a:t>sense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definitions,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example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sentences,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hypernyms </a:t>
            </a:r>
            <a:r>
              <a:rPr sz="950" spc="-20" dirty="0">
                <a:latin typeface="Trebuchet MS"/>
                <a:cs typeface="Trebuchet MS"/>
              </a:rPr>
              <a:t>etc.</a:t>
            </a:r>
            <a:endParaRPr sz="950">
              <a:latin typeface="Trebuchet MS"/>
              <a:cs typeface="Trebuchet MS"/>
            </a:endParaRPr>
          </a:p>
          <a:p>
            <a:pPr marL="289560">
              <a:lnSpc>
                <a:spcPct val="100000"/>
              </a:lnSpc>
              <a:spcBef>
                <a:spcPts val="515"/>
              </a:spcBef>
            </a:pP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features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could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also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be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given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weights.</a:t>
            </a:r>
            <a:endParaRPr sz="950">
              <a:latin typeface="Trebuchet MS"/>
              <a:cs typeface="Trebuchet MS"/>
            </a:endParaRPr>
          </a:p>
          <a:p>
            <a:pPr marL="289560" marR="621665">
              <a:lnSpc>
                <a:spcPct val="118800"/>
              </a:lnSpc>
              <a:spcBef>
                <a:spcPts val="300"/>
              </a:spcBef>
            </a:pP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spc="55" dirty="0">
                <a:latin typeface="Trebuchet MS"/>
                <a:cs typeface="Trebuchet MS"/>
              </a:rPr>
              <a:t>sense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which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spc="55" dirty="0">
                <a:latin typeface="Trebuchet MS"/>
                <a:cs typeface="Trebuchet MS"/>
              </a:rPr>
              <a:t>has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maximum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overlap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is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selected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spc="70" dirty="0">
                <a:latin typeface="Trebuchet MS"/>
                <a:cs typeface="Trebuchet MS"/>
              </a:rPr>
              <a:t>as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spc="-25" dirty="0">
                <a:latin typeface="Trebuchet MS"/>
                <a:cs typeface="Trebuchet MS"/>
              </a:rPr>
              <a:t>the </a:t>
            </a:r>
            <a:r>
              <a:rPr sz="950" spc="-10" dirty="0">
                <a:latin typeface="Trebuchet MS"/>
                <a:cs typeface="Trebuchet MS"/>
              </a:rPr>
              <a:t>contextually</a:t>
            </a:r>
            <a:r>
              <a:rPr sz="950" spc="-5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appropriate</a:t>
            </a:r>
            <a:r>
              <a:rPr sz="950" spc="-5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sense.</a:t>
            </a:r>
            <a:endParaRPr sz="950">
              <a:latin typeface="Trebuchet MS"/>
              <a:cs typeface="Trebuchet MS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817522" y="3339672"/>
            <a:ext cx="97345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  <a:hlinkClick r:id="rId11" action="ppaction://hlinksldjump"/>
              </a:rPr>
              <a:t>Word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  <a:hlinkClick r:id="rId11" action="ppaction://hlinksldjump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11" action="ppaction://hlinksldjump"/>
              </a:rPr>
              <a:t>Sense</a:t>
            </a:r>
            <a:r>
              <a:rPr sz="600" i="1" spc="5" dirty="0">
                <a:solidFill>
                  <a:srgbClr val="FFFFFF"/>
                </a:solidFill>
                <a:latin typeface="Cambria"/>
                <a:cs typeface="Cambria"/>
                <a:hlinkClick r:id="rId11" action="ppaction://hlinksldjump"/>
              </a:rPr>
              <a:t>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  <a:hlinkClick r:id="rId11" action="ppaction://hlinksldjump"/>
              </a:rPr>
              <a:t>Disambiguation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  <a:hlinkClick r:id="rId11" action="ppaction://hlinksldjump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11" action="ppaction://hlinksldjump"/>
              </a:rPr>
              <a:t>-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  <a:hlinkClick r:id="rId11" action="ppaction://hlinksldjump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  <a:hlinkClick r:id="rId11" action="ppaction://hlinksldjump"/>
              </a:rPr>
              <a:t>I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3646170" y="3339672"/>
            <a:ext cx="56388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8,</a:t>
            </a:r>
            <a:r>
              <a:rPr sz="600" i="1" spc="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3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27" name="object 27"/>
          <p:cNvSpPr txBox="1">
            <a:spLocks noGrp="1"/>
          </p:cNvSpPr>
          <p:nvPr>
            <p:ph type="sldNum" sz="quarter" idx="4294967295"/>
          </p:nvPr>
        </p:nvSpPr>
        <p:spPr>
          <a:xfrm>
            <a:off x="4292024" y="3339672"/>
            <a:ext cx="262254" cy="116204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75565">
              <a:lnSpc>
                <a:spcPct val="100000"/>
              </a:lnSpc>
              <a:spcBef>
                <a:spcPts val="50"/>
              </a:spcBef>
            </a:pPr>
            <a:r>
              <a:rPr dirty="0"/>
              <a:t>4</a:t>
            </a:r>
            <a:r>
              <a:rPr spc="-5" dirty="0"/>
              <a:t> </a:t>
            </a:r>
            <a:r>
              <a:rPr spc="-110" dirty="0"/>
              <a:t>/</a:t>
            </a:r>
            <a:r>
              <a:rPr spc="15" dirty="0"/>
              <a:t> </a:t>
            </a:r>
            <a:r>
              <a:rPr spc="-25" dirty="0"/>
              <a:t>15</a:t>
            </a:r>
          </a:p>
        </p:txBody>
      </p:sp>
    </p:spTree>
  </p:cSld>
  <p:clrMapOvr>
    <a:masterClrMapping/>
  </p:clrMapOvr>
  <p:transition>
    <p:cut/>
  </p:transition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Lesk’s</a:t>
            </a:r>
            <a:r>
              <a:rPr spc="180" dirty="0"/>
              <a:t> </a:t>
            </a:r>
            <a:r>
              <a:rPr spc="-10" dirty="0"/>
              <a:t>Algorithm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5729" y="394710"/>
            <a:ext cx="4189729" cy="3702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18900"/>
              </a:lnSpc>
              <a:spcBef>
                <a:spcPts val="90"/>
              </a:spcBef>
            </a:pPr>
            <a:r>
              <a:rPr sz="950" b="1" spc="60" dirty="0">
                <a:latin typeface="Trebuchet MS"/>
                <a:cs typeface="Trebuchet MS"/>
              </a:rPr>
              <a:t>Sense</a:t>
            </a:r>
            <a:r>
              <a:rPr sz="950" b="1" spc="-15" dirty="0">
                <a:latin typeface="Trebuchet MS"/>
                <a:cs typeface="Trebuchet MS"/>
              </a:rPr>
              <a:t> </a:t>
            </a:r>
            <a:r>
              <a:rPr sz="950" b="1" spc="70" dirty="0">
                <a:latin typeface="Trebuchet MS"/>
                <a:cs typeface="Trebuchet MS"/>
              </a:rPr>
              <a:t>Bag:</a:t>
            </a:r>
            <a:r>
              <a:rPr sz="950" b="1" spc="5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contains</a:t>
            </a:r>
            <a:r>
              <a:rPr sz="950" spc="-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-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words</a:t>
            </a:r>
            <a:r>
              <a:rPr sz="950" spc="-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in</a:t>
            </a:r>
            <a:r>
              <a:rPr sz="950" spc="-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-15" dirty="0">
                <a:latin typeface="Trebuchet MS"/>
                <a:cs typeface="Trebuchet MS"/>
              </a:rPr>
              <a:t> </a:t>
            </a:r>
            <a:r>
              <a:rPr sz="950" spc="-25" dirty="0">
                <a:latin typeface="Trebuchet MS"/>
                <a:cs typeface="Trebuchet MS"/>
              </a:rPr>
              <a:t>definition</a:t>
            </a:r>
            <a:r>
              <a:rPr sz="950" spc="-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of</a:t>
            </a:r>
            <a:r>
              <a:rPr sz="950" spc="-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</a:t>
            </a:r>
            <a:r>
              <a:rPr sz="950" spc="-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candidate</a:t>
            </a:r>
            <a:r>
              <a:rPr sz="950" spc="-15" dirty="0">
                <a:latin typeface="Trebuchet MS"/>
                <a:cs typeface="Trebuchet MS"/>
              </a:rPr>
              <a:t> </a:t>
            </a:r>
            <a:r>
              <a:rPr sz="950" spc="55" dirty="0">
                <a:latin typeface="Trebuchet MS"/>
                <a:cs typeface="Trebuchet MS"/>
              </a:rPr>
              <a:t>sense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of</a:t>
            </a:r>
            <a:r>
              <a:rPr sz="950" spc="-15" dirty="0">
                <a:latin typeface="Trebuchet MS"/>
                <a:cs typeface="Trebuchet MS"/>
              </a:rPr>
              <a:t> </a:t>
            </a:r>
            <a:r>
              <a:rPr sz="950" spc="-25" dirty="0">
                <a:latin typeface="Trebuchet MS"/>
                <a:cs typeface="Trebuchet MS"/>
              </a:rPr>
              <a:t>the </a:t>
            </a:r>
            <a:r>
              <a:rPr sz="950" dirty="0">
                <a:latin typeface="Trebuchet MS"/>
                <a:cs typeface="Trebuchet MS"/>
              </a:rPr>
              <a:t>ambiguous</a:t>
            </a:r>
            <a:r>
              <a:rPr sz="950" spc="254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word.</a:t>
            </a:r>
            <a:endParaRPr sz="95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817522" y="3339672"/>
            <a:ext cx="97345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  <a:hlinkClick r:id="rId2" action="ppaction://hlinksldjump"/>
              </a:rPr>
              <a:t>Word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  <a:hlinkClick r:id="rId2" action="ppaction://hlinksldjump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2" action="ppaction://hlinksldjump"/>
              </a:rPr>
              <a:t>Sense</a:t>
            </a:r>
            <a:r>
              <a:rPr sz="600" i="1" spc="5" dirty="0">
                <a:solidFill>
                  <a:srgbClr val="FFFFFF"/>
                </a:solidFill>
                <a:latin typeface="Cambria"/>
                <a:cs typeface="Cambria"/>
                <a:hlinkClick r:id="rId2" action="ppaction://hlinksldjump"/>
              </a:rPr>
              <a:t>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  <a:hlinkClick r:id="rId2" action="ppaction://hlinksldjump"/>
              </a:rPr>
              <a:t>Disambiguation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  <a:hlinkClick r:id="rId2" action="ppaction://hlinksldjump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2" action="ppaction://hlinksldjump"/>
              </a:rPr>
              <a:t>-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  <a:hlinkClick r:id="rId2" action="ppaction://hlinksldjump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  <a:hlinkClick r:id="rId2" action="ppaction://hlinksldjump"/>
              </a:rPr>
              <a:t>I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646170" y="3339672"/>
            <a:ext cx="56388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8,</a:t>
            </a:r>
            <a:r>
              <a:rPr sz="600" i="1" spc="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3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355385" y="3339672"/>
            <a:ext cx="19875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5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10" dirty="0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</a:rPr>
              <a:t>15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33583D9B-7622-445E-ADAA-AFFFA13DC64C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4292024" y="3339672"/>
            <a:ext cx="262254" cy="116204"/>
          </a:xfrm>
          <a:prstGeom prst="rect">
            <a:avLst/>
          </a:prstGeom>
        </p:spPr>
        <p:txBody>
          <a:bodyPr/>
          <a:lstStyle/>
          <a:p>
            <a:pPr marL="75565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lang="en-IN" smtClean="0"/>
              <a:t>82</a:t>
            </a:fld>
            <a:r>
              <a:rPr lang="en-IN" spc="-5"/>
              <a:t> </a:t>
            </a:r>
            <a:r>
              <a:rPr lang="en-IN" spc="-110"/>
              <a:t>/</a:t>
            </a:r>
            <a:r>
              <a:rPr lang="en-IN" spc="15"/>
              <a:t> </a:t>
            </a:r>
            <a:r>
              <a:rPr lang="en-IN" spc="-25"/>
              <a:t>18</a:t>
            </a:r>
            <a:endParaRPr lang="en-IN" spc="-25" dirty="0"/>
          </a:p>
        </p:txBody>
      </p:sp>
    </p:spTree>
  </p:cSld>
  <p:clrMapOvr>
    <a:masterClrMapping/>
  </p:clrMapOvr>
  <p:transition>
    <p:cut/>
  </p:transition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Lesk’s</a:t>
            </a:r>
            <a:r>
              <a:rPr spc="180" dirty="0"/>
              <a:t> </a:t>
            </a:r>
            <a:r>
              <a:rPr spc="-10" dirty="0"/>
              <a:t>Algorithm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5729" y="394710"/>
            <a:ext cx="4189729" cy="71437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18900"/>
              </a:lnSpc>
              <a:spcBef>
                <a:spcPts val="90"/>
              </a:spcBef>
            </a:pPr>
            <a:r>
              <a:rPr sz="950" b="1" spc="60" dirty="0">
                <a:latin typeface="Trebuchet MS"/>
                <a:cs typeface="Trebuchet MS"/>
              </a:rPr>
              <a:t>Sense</a:t>
            </a:r>
            <a:r>
              <a:rPr sz="950" b="1" spc="-15" dirty="0">
                <a:latin typeface="Trebuchet MS"/>
                <a:cs typeface="Trebuchet MS"/>
              </a:rPr>
              <a:t> </a:t>
            </a:r>
            <a:r>
              <a:rPr sz="950" b="1" spc="70" dirty="0">
                <a:latin typeface="Trebuchet MS"/>
                <a:cs typeface="Trebuchet MS"/>
              </a:rPr>
              <a:t>Bag:</a:t>
            </a:r>
            <a:r>
              <a:rPr sz="950" b="1" spc="5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contains</a:t>
            </a:r>
            <a:r>
              <a:rPr sz="950" spc="-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-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words</a:t>
            </a:r>
            <a:r>
              <a:rPr sz="950" spc="-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in</a:t>
            </a:r>
            <a:r>
              <a:rPr sz="950" spc="-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-15" dirty="0">
                <a:latin typeface="Trebuchet MS"/>
                <a:cs typeface="Trebuchet MS"/>
              </a:rPr>
              <a:t> </a:t>
            </a:r>
            <a:r>
              <a:rPr sz="950" spc="-25" dirty="0">
                <a:latin typeface="Trebuchet MS"/>
                <a:cs typeface="Trebuchet MS"/>
              </a:rPr>
              <a:t>definition</a:t>
            </a:r>
            <a:r>
              <a:rPr sz="950" spc="-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of</a:t>
            </a:r>
            <a:r>
              <a:rPr sz="950" spc="-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</a:t>
            </a:r>
            <a:r>
              <a:rPr sz="950" spc="-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candidate</a:t>
            </a:r>
            <a:r>
              <a:rPr sz="950" spc="-15" dirty="0">
                <a:latin typeface="Trebuchet MS"/>
                <a:cs typeface="Trebuchet MS"/>
              </a:rPr>
              <a:t> </a:t>
            </a:r>
            <a:r>
              <a:rPr sz="950" spc="55" dirty="0">
                <a:latin typeface="Trebuchet MS"/>
                <a:cs typeface="Trebuchet MS"/>
              </a:rPr>
              <a:t>sense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of</a:t>
            </a:r>
            <a:r>
              <a:rPr sz="950" spc="-15" dirty="0">
                <a:latin typeface="Trebuchet MS"/>
                <a:cs typeface="Trebuchet MS"/>
              </a:rPr>
              <a:t> </a:t>
            </a:r>
            <a:r>
              <a:rPr sz="950" spc="-25" dirty="0">
                <a:latin typeface="Trebuchet MS"/>
                <a:cs typeface="Trebuchet MS"/>
              </a:rPr>
              <a:t>the </a:t>
            </a:r>
            <a:r>
              <a:rPr sz="950" dirty="0">
                <a:latin typeface="Trebuchet MS"/>
                <a:cs typeface="Trebuchet MS"/>
              </a:rPr>
              <a:t>ambiguous</a:t>
            </a:r>
            <a:r>
              <a:rPr sz="950" spc="254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word.</a:t>
            </a:r>
            <a:endParaRPr sz="950">
              <a:latin typeface="Trebuchet MS"/>
              <a:cs typeface="Trebuchet MS"/>
            </a:endParaRPr>
          </a:p>
          <a:p>
            <a:pPr marL="12700" marR="187325">
              <a:lnSpc>
                <a:spcPts val="1360"/>
              </a:lnSpc>
              <a:spcBef>
                <a:spcPts val="80"/>
              </a:spcBef>
            </a:pPr>
            <a:r>
              <a:rPr sz="950" b="1" dirty="0">
                <a:latin typeface="Trebuchet MS"/>
                <a:cs typeface="Trebuchet MS"/>
              </a:rPr>
              <a:t>Context</a:t>
            </a:r>
            <a:r>
              <a:rPr sz="950" b="1" spc="-10" dirty="0">
                <a:latin typeface="Trebuchet MS"/>
                <a:cs typeface="Trebuchet MS"/>
              </a:rPr>
              <a:t> </a:t>
            </a:r>
            <a:r>
              <a:rPr sz="950" b="1" spc="70" dirty="0">
                <a:latin typeface="Trebuchet MS"/>
                <a:cs typeface="Trebuchet MS"/>
              </a:rPr>
              <a:t>Bag:</a:t>
            </a:r>
            <a:r>
              <a:rPr sz="950" b="1" spc="6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contains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words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in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spc="-25" dirty="0">
                <a:latin typeface="Trebuchet MS"/>
                <a:cs typeface="Trebuchet MS"/>
              </a:rPr>
              <a:t>definition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of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each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spc="55" dirty="0">
                <a:latin typeface="Trebuchet MS"/>
                <a:cs typeface="Trebuchet MS"/>
              </a:rPr>
              <a:t>sense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of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each context</a:t>
            </a:r>
            <a:r>
              <a:rPr sz="95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word.</a:t>
            </a:r>
            <a:endParaRPr sz="95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817522" y="3339672"/>
            <a:ext cx="97345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  <a:hlinkClick r:id="rId2" action="ppaction://hlinksldjump"/>
              </a:rPr>
              <a:t>Word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  <a:hlinkClick r:id="rId2" action="ppaction://hlinksldjump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2" action="ppaction://hlinksldjump"/>
              </a:rPr>
              <a:t>Sense</a:t>
            </a:r>
            <a:r>
              <a:rPr sz="600" i="1" spc="5" dirty="0">
                <a:solidFill>
                  <a:srgbClr val="FFFFFF"/>
                </a:solidFill>
                <a:latin typeface="Cambria"/>
                <a:cs typeface="Cambria"/>
                <a:hlinkClick r:id="rId2" action="ppaction://hlinksldjump"/>
              </a:rPr>
              <a:t>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  <a:hlinkClick r:id="rId2" action="ppaction://hlinksldjump"/>
              </a:rPr>
              <a:t>Disambiguation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  <a:hlinkClick r:id="rId2" action="ppaction://hlinksldjump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2" action="ppaction://hlinksldjump"/>
              </a:rPr>
              <a:t>-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  <a:hlinkClick r:id="rId2" action="ppaction://hlinksldjump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  <a:hlinkClick r:id="rId2" action="ppaction://hlinksldjump"/>
              </a:rPr>
              <a:t>I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646170" y="3339672"/>
            <a:ext cx="56388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8,</a:t>
            </a:r>
            <a:r>
              <a:rPr sz="600" i="1" spc="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3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355385" y="3339672"/>
            <a:ext cx="19875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5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10" dirty="0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</a:rPr>
              <a:t>15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BFC0B2BC-5244-4A9B-BA72-A01F30973B1A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4292024" y="3339672"/>
            <a:ext cx="262254" cy="116204"/>
          </a:xfrm>
          <a:prstGeom prst="rect">
            <a:avLst/>
          </a:prstGeom>
        </p:spPr>
        <p:txBody>
          <a:bodyPr/>
          <a:lstStyle/>
          <a:p>
            <a:pPr marL="75565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lang="en-IN" smtClean="0"/>
              <a:t>83</a:t>
            </a:fld>
            <a:r>
              <a:rPr lang="en-IN" spc="-5"/>
              <a:t> </a:t>
            </a:r>
            <a:r>
              <a:rPr lang="en-IN" spc="-110"/>
              <a:t>/</a:t>
            </a:r>
            <a:r>
              <a:rPr lang="en-IN" spc="15"/>
              <a:t> </a:t>
            </a:r>
            <a:r>
              <a:rPr lang="en-IN" spc="-25"/>
              <a:t>18</a:t>
            </a:r>
            <a:endParaRPr lang="en-IN" spc="-25" dirty="0"/>
          </a:p>
        </p:txBody>
      </p:sp>
    </p:spTree>
  </p:cSld>
  <p:clrMapOvr>
    <a:masterClrMapping/>
  </p:clrMapOvr>
  <p:transition>
    <p:cut/>
  </p:transition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Lesk’s</a:t>
            </a:r>
            <a:r>
              <a:rPr spc="180" dirty="0"/>
              <a:t> </a:t>
            </a:r>
            <a:r>
              <a:rPr spc="-10" dirty="0"/>
              <a:t>Algorithm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5729" y="394710"/>
            <a:ext cx="4189729" cy="103124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18900"/>
              </a:lnSpc>
              <a:spcBef>
                <a:spcPts val="90"/>
              </a:spcBef>
            </a:pPr>
            <a:r>
              <a:rPr sz="950" b="1" spc="60" dirty="0">
                <a:latin typeface="Trebuchet MS"/>
                <a:cs typeface="Trebuchet MS"/>
              </a:rPr>
              <a:t>Sense</a:t>
            </a:r>
            <a:r>
              <a:rPr sz="950" b="1" spc="-15" dirty="0">
                <a:latin typeface="Trebuchet MS"/>
                <a:cs typeface="Trebuchet MS"/>
              </a:rPr>
              <a:t> </a:t>
            </a:r>
            <a:r>
              <a:rPr sz="950" b="1" spc="70" dirty="0">
                <a:latin typeface="Trebuchet MS"/>
                <a:cs typeface="Trebuchet MS"/>
              </a:rPr>
              <a:t>Bag:</a:t>
            </a:r>
            <a:r>
              <a:rPr sz="950" b="1" spc="5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contains</a:t>
            </a:r>
            <a:r>
              <a:rPr sz="950" spc="-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-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words</a:t>
            </a:r>
            <a:r>
              <a:rPr sz="950" spc="-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in</a:t>
            </a:r>
            <a:r>
              <a:rPr sz="950" spc="-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-15" dirty="0">
                <a:latin typeface="Trebuchet MS"/>
                <a:cs typeface="Trebuchet MS"/>
              </a:rPr>
              <a:t> </a:t>
            </a:r>
            <a:r>
              <a:rPr sz="950" spc="-25" dirty="0">
                <a:latin typeface="Trebuchet MS"/>
                <a:cs typeface="Trebuchet MS"/>
              </a:rPr>
              <a:t>definition</a:t>
            </a:r>
            <a:r>
              <a:rPr sz="950" spc="-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of</a:t>
            </a:r>
            <a:r>
              <a:rPr sz="950" spc="-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</a:t>
            </a:r>
            <a:r>
              <a:rPr sz="950" spc="-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candidate</a:t>
            </a:r>
            <a:r>
              <a:rPr sz="950" spc="-15" dirty="0">
                <a:latin typeface="Trebuchet MS"/>
                <a:cs typeface="Trebuchet MS"/>
              </a:rPr>
              <a:t> </a:t>
            </a:r>
            <a:r>
              <a:rPr sz="950" spc="55" dirty="0">
                <a:latin typeface="Trebuchet MS"/>
                <a:cs typeface="Trebuchet MS"/>
              </a:rPr>
              <a:t>sense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of</a:t>
            </a:r>
            <a:r>
              <a:rPr sz="950" spc="-15" dirty="0">
                <a:latin typeface="Trebuchet MS"/>
                <a:cs typeface="Trebuchet MS"/>
              </a:rPr>
              <a:t> </a:t>
            </a:r>
            <a:r>
              <a:rPr sz="950" spc="-25" dirty="0">
                <a:latin typeface="Trebuchet MS"/>
                <a:cs typeface="Trebuchet MS"/>
              </a:rPr>
              <a:t>the </a:t>
            </a:r>
            <a:r>
              <a:rPr sz="950" dirty="0">
                <a:latin typeface="Trebuchet MS"/>
                <a:cs typeface="Trebuchet MS"/>
              </a:rPr>
              <a:t>ambiguous</a:t>
            </a:r>
            <a:r>
              <a:rPr sz="950" spc="254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word.</a:t>
            </a:r>
            <a:endParaRPr sz="950">
              <a:latin typeface="Trebuchet MS"/>
              <a:cs typeface="Trebuchet MS"/>
            </a:endParaRPr>
          </a:p>
          <a:p>
            <a:pPr marL="12700" marR="187325">
              <a:lnSpc>
                <a:spcPts val="1360"/>
              </a:lnSpc>
              <a:spcBef>
                <a:spcPts val="80"/>
              </a:spcBef>
            </a:pPr>
            <a:r>
              <a:rPr sz="950" b="1" dirty="0">
                <a:latin typeface="Trebuchet MS"/>
                <a:cs typeface="Trebuchet MS"/>
              </a:rPr>
              <a:t>Context</a:t>
            </a:r>
            <a:r>
              <a:rPr sz="950" b="1" spc="-10" dirty="0">
                <a:latin typeface="Trebuchet MS"/>
                <a:cs typeface="Trebuchet MS"/>
              </a:rPr>
              <a:t> </a:t>
            </a:r>
            <a:r>
              <a:rPr sz="950" b="1" spc="70" dirty="0">
                <a:latin typeface="Trebuchet MS"/>
                <a:cs typeface="Trebuchet MS"/>
              </a:rPr>
              <a:t>Bag:</a:t>
            </a:r>
            <a:r>
              <a:rPr sz="950" b="1" spc="6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contains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words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in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spc="-25" dirty="0">
                <a:latin typeface="Trebuchet MS"/>
                <a:cs typeface="Trebuchet MS"/>
              </a:rPr>
              <a:t>definition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of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each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spc="55" dirty="0">
                <a:latin typeface="Trebuchet MS"/>
                <a:cs typeface="Trebuchet MS"/>
              </a:rPr>
              <a:t>sense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of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each context</a:t>
            </a:r>
            <a:r>
              <a:rPr sz="95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word.</a:t>
            </a:r>
            <a:endParaRPr sz="9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65"/>
              </a:spcBef>
            </a:pPr>
            <a:endParaRPr sz="950">
              <a:latin typeface="Trebuchet MS"/>
              <a:cs typeface="Trebuchet MS"/>
            </a:endParaRPr>
          </a:p>
          <a:p>
            <a:pPr marL="166370" algn="ctr">
              <a:lnSpc>
                <a:spcPct val="100000"/>
              </a:lnSpc>
            </a:pPr>
            <a:r>
              <a:rPr sz="950" i="1" spc="65" dirty="0">
                <a:latin typeface="Trebuchet MS"/>
                <a:cs typeface="Trebuchet MS"/>
              </a:rPr>
              <a:t>On</a:t>
            </a:r>
            <a:r>
              <a:rPr sz="950" i="1" spc="-10" dirty="0">
                <a:latin typeface="Trebuchet MS"/>
                <a:cs typeface="Trebuchet MS"/>
              </a:rPr>
              <a:t> </a:t>
            </a:r>
            <a:r>
              <a:rPr sz="950" i="1" dirty="0">
                <a:latin typeface="Trebuchet MS"/>
                <a:cs typeface="Trebuchet MS"/>
              </a:rPr>
              <a:t>burning </a:t>
            </a:r>
            <a:r>
              <a:rPr sz="950" b="1" i="1" dirty="0">
                <a:latin typeface="Trebuchet MS"/>
                <a:cs typeface="Trebuchet MS"/>
              </a:rPr>
              <a:t>coal</a:t>
            </a:r>
            <a:r>
              <a:rPr sz="950" b="1" i="1" spc="5" dirty="0">
                <a:latin typeface="Trebuchet MS"/>
                <a:cs typeface="Trebuchet MS"/>
              </a:rPr>
              <a:t> </a:t>
            </a:r>
            <a:r>
              <a:rPr sz="950" i="1" dirty="0">
                <a:latin typeface="Trebuchet MS"/>
                <a:cs typeface="Trebuchet MS"/>
              </a:rPr>
              <a:t>we get</a:t>
            </a:r>
            <a:r>
              <a:rPr sz="950" i="1" spc="5" dirty="0">
                <a:latin typeface="Trebuchet MS"/>
                <a:cs typeface="Trebuchet MS"/>
              </a:rPr>
              <a:t> </a:t>
            </a:r>
            <a:r>
              <a:rPr sz="950" i="1" spc="-20" dirty="0">
                <a:solidFill>
                  <a:srgbClr val="FF0000"/>
                </a:solidFill>
                <a:latin typeface="Trebuchet MS"/>
                <a:cs typeface="Trebuchet MS"/>
              </a:rPr>
              <a:t>ash</a:t>
            </a:r>
            <a:r>
              <a:rPr sz="950" i="1" spc="-20" dirty="0">
                <a:latin typeface="Trebuchet MS"/>
                <a:cs typeface="Trebuchet MS"/>
              </a:rPr>
              <a:t>.</a:t>
            </a:r>
            <a:endParaRPr sz="95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817522" y="3339672"/>
            <a:ext cx="97345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  <a:hlinkClick r:id="rId2" action="ppaction://hlinksldjump"/>
              </a:rPr>
              <a:t>Word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  <a:hlinkClick r:id="rId2" action="ppaction://hlinksldjump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2" action="ppaction://hlinksldjump"/>
              </a:rPr>
              <a:t>Sense</a:t>
            </a:r>
            <a:r>
              <a:rPr sz="600" i="1" spc="5" dirty="0">
                <a:solidFill>
                  <a:srgbClr val="FFFFFF"/>
                </a:solidFill>
                <a:latin typeface="Cambria"/>
                <a:cs typeface="Cambria"/>
                <a:hlinkClick r:id="rId2" action="ppaction://hlinksldjump"/>
              </a:rPr>
              <a:t>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  <a:hlinkClick r:id="rId2" action="ppaction://hlinksldjump"/>
              </a:rPr>
              <a:t>Disambiguation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  <a:hlinkClick r:id="rId2" action="ppaction://hlinksldjump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2" action="ppaction://hlinksldjump"/>
              </a:rPr>
              <a:t>-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  <a:hlinkClick r:id="rId2" action="ppaction://hlinksldjump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  <a:hlinkClick r:id="rId2" action="ppaction://hlinksldjump"/>
              </a:rPr>
              <a:t>I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646170" y="3339672"/>
            <a:ext cx="56388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8,</a:t>
            </a:r>
            <a:r>
              <a:rPr sz="600" i="1" spc="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3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355385" y="3339672"/>
            <a:ext cx="19875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5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10" dirty="0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</a:rPr>
              <a:t>15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ED428F94-F2F2-4A16-87C7-79827AB7C26C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4292024" y="3339672"/>
            <a:ext cx="262254" cy="116204"/>
          </a:xfrm>
          <a:prstGeom prst="rect">
            <a:avLst/>
          </a:prstGeom>
        </p:spPr>
        <p:txBody>
          <a:bodyPr/>
          <a:lstStyle/>
          <a:p>
            <a:pPr marL="75565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lang="en-IN" smtClean="0"/>
              <a:t>84</a:t>
            </a:fld>
            <a:r>
              <a:rPr lang="en-IN" spc="-5"/>
              <a:t> </a:t>
            </a:r>
            <a:r>
              <a:rPr lang="en-IN" spc="-110"/>
              <a:t>/</a:t>
            </a:r>
            <a:r>
              <a:rPr lang="en-IN" spc="15"/>
              <a:t> </a:t>
            </a:r>
            <a:r>
              <a:rPr lang="en-IN" spc="-25"/>
              <a:t>18</a:t>
            </a:r>
            <a:endParaRPr lang="en-IN" spc="-25" dirty="0"/>
          </a:p>
        </p:txBody>
      </p:sp>
    </p:spTree>
  </p:cSld>
  <p:clrMapOvr>
    <a:masterClrMapping/>
  </p:clrMapOvr>
  <p:transition>
    <p:cut/>
  </p:transition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Lesk’s</a:t>
            </a:r>
            <a:r>
              <a:rPr spc="180" dirty="0"/>
              <a:t> </a:t>
            </a:r>
            <a:r>
              <a:rPr spc="-10" dirty="0"/>
              <a:t>Algorithm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5729" y="394710"/>
            <a:ext cx="4189729" cy="103124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18900"/>
              </a:lnSpc>
              <a:spcBef>
                <a:spcPts val="90"/>
              </a:spcBef>
            </a:pPr>
            <a:r>
              <a:rPr sz="950" b="1" spc="60" dirty="0">
                <a:latin typeface="Trebuchet MS"/>
                <a:cs typeface="Trebuchet MS"/>
              </a:rPr>
              <a:t>Sense</a:t>
            </a:r>
            <a:r>
              <a:rPr sz="950" b="1" spc="-15" dirty="0">
                <a:latin typeface="Trebuchet MS"/>
                <a:cs typeface="Trebuchet MS"/>
              </a:rPr>
              <a:t> </a:t>
            </a:r>
            <a:r>
              <a:rPr sz="950" b="1" spc="70" dirty="0">
                <a:latin typeface="Trebuchet MS"/>
                <a:cs typeface="Trebuchet MS"/>
              </a:rPr>
              <a:t>Bag:</a:t>
            </a:r>
            <a:r>
              <a:rPr sz="950" b="1" spc="5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contains</a:t>
            </a:r>
            <a:r>
              <a:rPr sz="950" spc="-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-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words</a:t>
            </a:r>
            <a:r>
              <a:rPr sz="950" spc="-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in</a:t>
            </a:r>
            <a:r>
              <a:rPr sz="950" spc="-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-15" dirty="0">
                <a:latin typeface="Trebuchet MS"/>
                <a:cs typeface="Trebuchet MS"/>
              </a:rPr>
              <a:t> </a:t>
            </a:r>
            <a:r>
              <a:rPr sz="950" spc="-25" dirty="0">
                <a:latin typeface="Trebuchet MS"/>
                <a:cs typeface="Trebuchet MS"/>
              </a:rPr>
              <a:t>definition</a:t>
            </a:r>
            <a:r>
              <a:rPr sz="950" spc="-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of</a:t>
            </a:r>
            <a:r>
              <a:rPr sz="950" spc="-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</a:t>
            </a:r>
            <a:r>
              <a:rPr sz="950" spc="-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candidate</a:t>
            </a:r>
            <a:r>
              <a:rPr sz="950" spc="-15" dirty="0">
                <a:latin typeface="Trebuchet MS"/>
                <a:cs typeface="Trebuchet MS"/>
              </a:rPr>
              <a:t> </a:t>
            </a:r>
            <a:r>
              <a:rPr sz="950" spc="55" dirty="0">
                <a:latin typeface="Trebuchet MS"/>
                <a:cs typeface="Trebuchet MS"/>
              </a:rPr>
              <a:t>sense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of</a:t>
            </a:r>
            <a:r>
              <a:rPr sz="950" spc="-15" dirty="0">
                <a:latin typeface="Trebuchet MS"/>
                <a:cs typeface="Trebuchet MS"/>
              </a:rPr>
              <a:t> </a:t>
            </a:r>
            <a:r>
              <a:rPr sz="950" spc="-25" dirty="0">
                <a:latin typeface="Trebuchet MS"/>
                <a:cs typeface="Trebuchet MS"/>
              </a:rPr>
              <a:t>the </a:t>
            </a:r>
            <a:r>
              <a:rPr sz="950" dirty="0">
                <a:latin typeface="Trebuchet MS"/>
                <a:cs typeface="Trebuchet MS"/>
              </a:rPr>
              <a:t>ambiguous</a:t>
            </a:r>
            <a:r>
              <a:rPr sz="950" spc="254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word.</a:t>
            </a:r>
            <a:endParaRPr sz="950">
              <a:latin typeface="Trebuchet MS"/>
              <a:cs typeface="Trebuchet MS"/>
            </a:endParaRPr>
          </a:p>
          <a:p>
            <a:pPr marL="12700" marR="187325">
              <a:lnSpc>
                <a:spcPts val="1360"/>
              </a:lnSpc>
              <a:spcBef>
                <a:spcPts val="80"/>
              </a:spcBef>
            </a:pPr>
            <a:r>
              <a:rPr sz="950" b="1" dirty="0">
                <a:latin typeface="Trebuchet MS"/>
                <a:cs typeface="Trebuchet MS"/>
              </a:rPr>
              <a:t>Context</a:t>
            </a:r>
            <a:r>
              <a:rPr sz="950" b="1" spc="-10" dirty="0">
                <a:latin typeface="Trebuchet MS"/>
                <a:cs typeface="Trebuchet MS"/>
              </a:rPr>
              <a:t> </a:t>
            </a:r>
            <a:r>
              <a:rPr sz="950" b="1" spc="70" dirty="0">
                <a:latin typeface="Trebuchet MS"/>
                <a:cs typeface="Trebuchet MS"/>
              </a:rPr>
              <a:t>Bag:</a:t>
            </a:r>
            <a:r>
              <a:rPr sz="950" b="1" spc="6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contains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words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in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spc="-25" dirty="0">
                <a:latin typeface="Trebuchet MS"/>
                <a:cs typeface="Trebuchet MS"/>
              </a:rPr>
              <a:t>definition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of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each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spc="55" dirty="0">
                <a:latin typeface="Trebuchet MS"/>
                <a:cs typeface="Trebuchet MS"/>
              </a:rPr>
              <a:t>sense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of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each context</a:t>
            </a:r>
            <a:r>
              <a:rPr sz="95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word.</a:t>
            </a:r>
            <a:endParaRPr sz="9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65"/>
              </a:spcBef>
            </a:pPr>
            <a:endParaRPr sz="950">
              <a:latin typeface="Trebuchet MS"/>
              <a:cs typeface="Trebuchet MS"/>
            </a:endParaRPr>
          </a:p>
          <a:p>
            <a:pPr marL="166370" algn="ctr">
              <a:lnSpc>
                <a:spcPct val="100000"/>
              </a:lnSpc>
            </a:pPr>
            <a:r>
              <a:rPr sz="950" i="1" spc="65" dirty="0">
                <a:latin typeface="Trebuchet MS"/>
                <a:cs typeface="Trebuchet MS"/>
              </a:rPr>
              <a:t>On</a:t>
            </a:r>
            <a:r>
              <a:rPr sz="950" i="1" spc="-10" dirty="0">
                <a:latin typeface="Trebuchet MS"/>
                <a:cs typeface="Trebuchet MS"/>
              </a:rPr>
              <a:t> </a:t>
            </a:r>
            <a:r>
              <a:rPr sz="950" i="1" dirty="0">
                <a:latin typeface="Trebuchet MS"/>
                <a:cs typeface="Trebuchet MS"/>
              </a:rPr>
              <a:t>burning </a:t>
            </a:r>
            <a:r>
              <a:rPr sz="950" b="1" i="1" dirty="0">
                <a:latin typeface="Trebuchet MS"/>
                <a:cs typeface="Trebuchet MS"/>
              </a:rPr>
              <a:t>coal</a:t>
            </a:r>
            <a:r>
              <a:rPr sz="950" b="1" i="1" spc="5" dirty="0">
                <a:latin typeface="Trebuchet MS"/>
                <a:cs typeface="Trebuchet MS"/>
              </a:rPr>
              <a:t> </a:t>
            </a:r>
            <a:r>
              <a:rPr sz="950" i="1" dirty="0">
                <a:latin typeface="Trebuchet MS"/>
                <a:cs typeface="Trebuchet MS"/>
              </a:rPr>
              <a:t>we get</a:t>
            </a:r>
            <a:r>
              <a:rPr sz="950" i="1" spc="5" dirty="0">
                <a:latin typeface="Trebuchet MS"/>
                <a:cs typeface="Trebuchet MS"/>
              </a:rPr>
              <a:t> </a:t>
            </a:r>
            <a:r>
              <a:rPr sz="950" i="1" spc="-20" dirty="0">
                <a:solidFill>
                  <a:srgbClr val="FF0000"/>
                </a:solidFill>
                <a:latin typeface="Trebuchet MS"/>
                <a:cs typeface="Trebuchet MS"/>
              </a:rPr>
              <a:t>ash</a:t>
            </a:r>
            <a:r>
              <a:rPr sz="950" i="1" spc="-20" dirty="0">
                <a:latin typeface="Trebuchet MS"/>
                <a:cs typeface="Trebuchet MS"/>
              </a:rPr>
              <a:t>.</a:t>
            </a:r>
            <a:endParaRPr sz="950">
              <a:latin typeface="Trebuchet MS"/>
              <a:cs typeface="Trebuchet MS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1418" y="1749336"/>
            <a:ext cx="2971800" cy="1390649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1817522" y="3339672"/>
            <a:ext cx="97345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Word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Sense</a:t>
            </a:r>
            <a:r>
              <a:rPr sz="600" i="1" spc="5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Disambiguation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-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I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646170" y="3339672"/>
            <a:ext cx="56388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8,</a:t>
            </a:r>
            <a:r>
              <a:rPr sz="600" i="1" spc="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3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355385" y="3339672"/>
            <a:ext cx="19875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5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10" dirty="0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</a:rPr>
              <a:t>15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54DF58BD-8353-4DC0-8A5D-07753CB9075E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4292024" y="3339672"/>
            <a:ext cx="262254" cy="116204"/>
          </a:xfrm>
          <a:prstGeom prst="rect">
            <a:avLst/>
          </a:prstGeom>
        </p:spPr>
        <p:txBody>
          <a:bodyPr/>
          <a:lstStyle/>
          <a:p>
            <a:pPr marL="75565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lang="en-IN" smtClean="0"/>
              <a:t>85</a:t>
            </a:fld>
            <a:r>
              <a:rPr lang="en-IN" spc="-5"/>
              <a:t> </a:t>
            </a:r>
            <a:r>
              <a:rPr lang="en-IN" spc="-110"/>
              <a:t>/</a:t>
            </a:r>
            <a:r>
              <a:rPr lang="en-IN" spc="15"/>
              <a:t> </a:t>
            </a:r>
            <a:r>
              <a:rPr lang="en-IN" spc="-25"/>
              <a:t>18</a:t>
            </a:r>
            <a:endParaRPr lang="en-IN" spc="-25" dirty="0"/>
          </a:p>
        </p:txBody>
      </p:sp>
    </p:spTree>
  </p:cSld>
  <p:clrMapOvr>
    <a:masterClrMapping/>
  </p:clrMapOvr>
  <p:transition>
    <p:cut/>
  </p:transition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38"/>
            <a:ext cx="4608195" cy="351790"/>
          </a:xfrm>
          <a:custGeom>
            <a:avLst/>
            <a:gdLst/>
            <a:ahLst/>
            <a:cxnLst/>
            <a:rect l="l" t="t" r="r" b="b"/>
            <a:pathLst>
              <a:path w="4608195" h="351790">
                <a:moveTo>
                  <a:pt x="4607941" y="0"/>
                </a:moveTo>
                <a:lnTo>
                  <a:pt x="0" y="0"/>
                </a:lnTo>
                <a:lnTo>
                  <a:pt x="0" y="351409"/>
                </a:lnTo>
                <a:lnTo>
                  <a:pt x="4607941" y="351409"/>
                </a:lnTo>
                <a:lnTo>
                  <a:pt x="4607941" y="0"/>
                </a:lnTo>
                <a:close/>
              </a:path>
            </a:pathLst>
          </a:custGeom>
          <a:solidFill>
            <a:srgbClr val="3232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5250" y="60502"/>
            <a:ext cx="144208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i="1" spc="-10" dirty="0">
                <a:solidFill>
                  <a:srgbClr val="FFFFFF"/>
                </a:solidFill>
                <a:latin typeface="Cambria"/>
                <a:cs typeface="Cambria"/>
              </a:rPr>
              <a:t>Walker’s</a:t>
            </a:r>
            <a:r>
              <a:rPr sz="1400" i="1" spc="-4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spc="-10" dirty="0">
                <a:solidFill>
                  <a:srgbClr val="FFFFFF"/>
                </a:solidFill>
                <a:latin typeface="Cambria"/>
                <a:cs typeface="Cambria"/>
              </a:rPr>
              <a:t>Algorithm</a:t>
            </a:r>
            <a:endParaRPr sz="1400">
              <a:latin typeface="Cambria"/>
              <a:cs typeface="Cambri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597" y="568121"/>
            <a:ext cx="64757" cy="64757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02932" y="498030"/>
            <a:ext cx="1677035" cy="1752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950" spc="90" dirty="0">
                <a:latin typeface="Trebuchet MS"/>
                <a:cs typeface="Trebuchet MS"/>
              </a:rPr>
              <a:t>A</a:t>
            </a:r>
            <a:r>
              <a:rPr sz="950" spc="70" dirty="0">
                <a:latin typeface="Trebuchet MS"/>
                <a:cs typeface="Trebuchet MS"/>
              </a:rPr>
              <a:t> </a:t>
            </a:r>
            <a:r>
              <a:rPr sz="950" spc="10" dirty="0">
                <a:latin typeface="Trebuchet MS"/>
                <a:cs typeface="Trebuchet MS"/>
              </a:rPr>
              <a:t>Thesaurus</a:t>
            </a:r>
            <a:r>
              <a:rPr sz="950" spc="70" dirty="0">
                <a:latin typeface="Trebuchet MS"/>
                <a:cs typeface="Trebuchet MS"/>
              </a:rPr>
              <a:t> </a:t>
            </a:r>
            <a:r>
              <a:rPr sz="950" spc="60" dirty="0">
                <a:latin typeface="Trebuchet MS"/>
                <a:cs typeface="Trebuchet MS"/>
              </a:rPr>
              <a:t>Based</a:t>
            </a:r>
            <a:r>
              <a:rPr sz="950" spc="7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approach</a:t>
            </a:r>
            <a:endParaRPr sz="950">
              <a:latin typeface="Trebuchet MS"/>
              <a:cs typeface="Trebuchet M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817522" y="3339672"/>
            <a:ext cx="97345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Word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Sense</a:t>
            </a:r>
            <a:r>
              <a:rPr sz="600" i="1" spc="5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Disambiguation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-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I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646170" y="3339672"/>
            <a:ext cx="56388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8,</a:t>
            </a:r>
            <a:r>
              <a:rPr sz="600" i="1" spc="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3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355385" y="3339672"/>
            <a:ext cx="19875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6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10" dirty="0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</a:rPr>
              <a:t>15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478F5B3A-51F5-41DC-99FC-02443BD7DFE4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4292024" y="3339672"/>
            <a:ext cx="262254" cy="116204"/>
          </a:xfrm>
          <a:prstGeom prst="rect">
            <a:avLst/>
          </a:prstGeom>
        </p:spPr>
        <p:txBody>
          <a:bodyPr/>
          <a:lstStyle/>
          <a:p>
            <a:pPr marL="75565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lang="en-IN" smtClean="0"/>
              <a:t>86</a:t>
            </a:fld>
            <a:r>
              <a:rPr lang="en-IN" spc="-5"/>
              <a:t> </a:t>
            </a:r>
            <a:r>
              <a:rPr lang="en-IN" spc="-110"/>
              <a:t>/</a:t>
            </a:r>
            <a:r>
              <a:rPr lang="en-IN" spc="15"/>
              <a:t> </a:t>
            </a:r>
            <a:r>
              <a:rPr lang="en-IN" spc="-25"/>
              <a:t>18</a:t>
            </a:r>
            <a:endParaRPr lang="en-IN" spc="-25" dirty="0"/>
          </a:p>
        </p:txBody>
      </p:sp>
    </p:spTree>
  </p:cSld>
  <p:clrMapOvr>
    <a:masterClrMapping/>
  </p:clrMapOvr>
  <p:transition>
    <p:cut/>
  </p:transition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Walker’s</a:t>
            </a:r>
            <a:r>
              <a:rPr spc="-45" dirty="0"/>
              <a:t> </a:t>
            </a:r>
            <a:r>
              <a:rPr spc="-10" dirty="0"/>
              <a:t>Algorithm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597" y="568121"/>
            <a:ext cx="64757" cy="64757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02932" y="437624"/>
            <a:ext cx="4026535" cy="617855"/>
          </a:xfrm>
          <a:prstGeom prst="rect">
            <a:avLst/>
          </a:prstGeom>
        </p:spPr>
        <p:txBody>
          <a:bodyPr vert="horz" wrap="square" lIns="0" tIns="768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5"/>
              </a:spcBef>
            </a:pPr>
            <a:r>
              <a:rPr sz="950" spc="90" dirty="0">
                <a:latin typeface="Trebuchet MS"/>
                <a:cs typeface="Trebuchet MS"/>
              </a:rPr>
              <a:t>A</a:t>
            </a:r>
            <a:r>
              <a:rPr sz="950" spc="70" dirty="0">
                <a:latin typeface="Trebuchet MS"/>
                <a:cs typeface="Trebuchet MS"/>
              </a:rPr>
              <a:t> </a:t>
            </a:r>
            <a:r>
              <a:rPr sz="950" spc="10" dirty="0">
                <a:latin typeface="Trebuchet MS"/>
                <a:cs typeface="Trebuchet MS"/>
              </a:rPr>
              <a:t>Thesaurus</a:t>
            </a:r>
            <a:r>
              <a:rPr sz="950" spc="70" dirty="0">
                <a:latin typeface="Trebuchet MS"/>
                <a:cs typeface="Trebuchet MS"/>
              </a:rPr>
              <a:t> </a:t>
            </a:r>
            <a:r>
              <a:rPr sz="950" spc="60" dirty="0">
                <a:latin typeface="Trebuchet MS"/>
                <a:cs typeface="Trebuchet MS"/>
              </a:rPr>
              <a:t>Based</a:t>
            </a:r>
            <a:r>
              <a:rPr sz="950" spc="7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approach</a:t>
            </a:r>
            <a:endParaRPr sz="950">
              <a:latin typeface="Trebuchet MS"/>
              <a:cs typeface="Trebuchet MS"/>
            </a:endParaRPr>
          </a:p>
          <a:p>
            <a:pPr marL="12700" marR="5080">
              <a:lnSpc>
                <a:spcPct val="118900"/>
              </a:lnSpc>
              <a:spcBef>
                <a:spcPts val="300"/>
              </a:spcBef>
            </a:pPr>
            <a:r>
              <a:rPr sz="950" b="1" dirty="0">
                <a:latin typeface="Trebuchet MS"/>
                <a:cs typeface="Trebuchet MS"/>
              </a:rPr>
              <a:t>Step</a:t>
            </a:r>
            <a:r>
              <a:rPr sz="950" b="1" spc="5" dirty="0">
                <a:latin typeface="Trebuchet MS"/>
                <a:cs typeface="Trebuchet MS"/>
              </a:rPr>
              <a:t> </a:t>
            </a:r>
            <a:r>
              <a:rPr sz="950" b="1" dirty="0">
                <a:latin typeface="Trebuchet MS"/>
                <a:cs typeface="Trebuchet MS"/>
              </a:rPr>
              <a:t>1:</a:t>
            </a:r>
            <a:r>
              <a:rPr sz="950" b="1" spc="7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For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each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spc="55" dirty="0">
                <a:latin typeface="Trebuchet MS"/>
                <a:cs typeface="Trebuchet MS"/>
              </a:rPr>
              <a:t>sense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of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target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word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find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thesaurus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category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spc="-25" dirty="0">
                <a:latin typeface="Trebuchet MS"/>
                <a:cs typeface="Trebuchet MS"/>
              </a:rPr>
              <a:t>to </a:t>
            </a:r>
            <a:r>
              <a:rPr sz="950" dirty="0">
                <a:latin typeface="Trebuchet MS"/>
                <a:cs typeface="Trebuchet MS"/>
              </a:rPr>
              <a:t>which</a:t>
            </a:r>
            <a:r>
              <a:rPr sz="950" spc="-30" dirty="0">
                <a:latin typeface="Trebuchet MS"/>
                <a:cs typeface="Trebuchet MS"/>
              </a:rPr>
              <a:t> that </a:t>
            </a:r>
            <a:r>
              <a:rPr sz="950" spc="55" dirty="0">
                <a:latin typeface="Trebuchet MS"/>
                <a:cs typeface="Trebuchet MS"/>
              </a:rPr>
              <a:t>sense</a:t>
            </a:r>
            <a:r>
              <a:rPr sz="950" spc="-3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belongs</a:t>
            </a:r>
            <a:endParaRPr sz="950">
              <a:latin typeface="Trebuchet MS"/>
              <a:cs typeface="Trebuchet MS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597" y="778154"/>
            <a:ext cx="64757" cy="64757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1817522" y="3339672"/>
            <a:ext cx="97345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  <a:hlinkClick r:id="rId4" action="ppaction://hlinksldjump"/>
              </a:rPr>
              <a:t>Word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  <a:hlinkClick r:id="rId4" action="ppaction://hlinksldjump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4" action="ppaction://hlinksldjump"/>
              </a:rPr>
              <a:t>Sense</a:t>
            </a:r>
            <a:r>
              <a:rPr sz="600" i="1" spc="5" dirty="0">
                <a:solidFill>
                  <a:srgbClr val="FFFFFF"/>
                </a:solidFill>
                <a:latin typeface="Cambria"/>
                <a:cs typeface="Cambria"/>
                <a:hlinkClick r:id="rId4" action="ppaction://hlinksldjump"/>
              </a:rPr>
              <a:t>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  <a:hlinkClick r:id="rId4" action="ppaction://hlinksldjump"/>
              </a:rPr>
              <a:t>Disambiguation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  <a:hlinkClick r:id="rId4" action="ppaction://hlinksldjump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4" action="ppaction://hlinksldjump"/>
              </a:rPr>
              <a:t>-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  <a:hlinkClick r:id="rId4" action="ppaction://hlinksldjump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  <a:hlinkClick r:id="rId4" action="ppaction://hlinksldjump"/>
              </a:rPr>
              <a:t>I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646170" y="3339672"/>
            <a:ext cx="56388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8,</a:t>
            </a:r>
            <a:r>
              <a:rPr sz="600" i="1" spc="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3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355385" y="3339672"/>
            <a:ext cx="19875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6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10" dirty="0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</a:rPr>
              <a:t>15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45B72EF0-0488-4CCB-A7E6-6D38930D4A16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4292024" y="3339672"/>
            <a:ext cx="262254" cy="116204"/>
          </a:xfrm>
          <a:prstGeom prst="rect">
            <a:avLst/>
          </a:prstGeom>
        </p:spPr>
        <p:txBody>
          <a:bodyPr/>
          <a:lstStyle/>
          <a:p>
            <a:pPr marL="75565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lang="en-IN" smtClean="0"/>
              <a:t>87</a:t>
            </a:fld>
            <a:r>
              <a:rPr lang="en-IN" spc="-5"/>
              <a:t> </a:t>
            </a:r>
            <a:r>
              <a:rPr lang="en-IN" spc="-110"/>
              <a:t>/</a:t>
            </a:r>
            <a:r>
              <a:rPr lang="en-IN" spc="15"/>
              <a:t> </a:t>
            </a:r>
            <a:r>
              <a:rPr lang="en-IN" spc="-25"/>
              <a:t>18</a:t>
            </a:r>
            <a:endParaRPr lang="en-IN" spc="-25" dirty="0"/>
          </a:p>
        </p:txBody>
      </p:sp>
    </p:spTree>
  </p:cSld>
  <p:clrMapOvr>
    <a:masterClrMapping/>
  </p:clrMapOvr>
  <p:transition>
    <p:cut/>
  </p:transition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Walker’s</a:t>
            </a:r>
            <a:r>
              <a:rPr spc="-45" dirty="0"/>
              <a:t> </a:t>
            </a:r>
            <a:r>
              <a:rPr spc="-10" dirty="0"/>
              <a:t>Algorithm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597" y="568121"/>
            <a:ext cx="64757" cy="64757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02932" y="437624"/>
            <a:ext cx="4026535" cy="828040"/>
          </a:xfrm>
          <a:prstGeom prst="rect">
            <a:avLst/>
          </a:prstGeom>
        </p:spPr>
        <p:txBody>
          <a:bodyPr vert="horz" wrap="square" lIns="0" tIns="768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5"/>
              </a:spcBef>
            </a:pPr>
            <a:r>
              <a:rPr sz="950" spc="90" dirty="0">
                <a:latin typeface="Trebuchet MS"/>
                <a:cs typeface="Trebuchet MS"/>
              </a:rPr>
              <a:t>A</a:t>
            </a:r>
            <a:r>
              <a:rPr sz="950" spc="70" dirty="0">
                <a:latin typeface="Trebuchet MS"/>
                <a:cs typeface="Trebuchet MS"/>
              </a:rPr>
              <a:t> </a:t>
            </a:r>
            <a:r>
              <a:rPr sz="950" spc="10" dirty="0">
                <a:latin typeface="Trebuchet MS"/>
                <a:cs typeface="Trebuchet MS"/>
              </a:rPr>
              <a:t>Thesaurus</a:t>
            </a:r>
            <a:r>
              <a:rPr sz="950" spc="70" dirty="0">
                <a:latin typeface="Trebuchet MS"/>
                <a:cs typeface="Trebuchet MS"/>
              </a:rPr>
              <a:t> </a:t>
            </a:r>
            <a:r>
              <a:rPr sz="950" spc="60" dirty="0">
                <a:latin typeface="Trebuchet MS"/>
                <a:cs typeface="Trebuchet MS"/>
              </a:rPr>
              <a:t>Based</a:t>
            </a:r>
            <a:r>
              <a:rPr sz="950" spc="7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approach</a:t>
            </a:r>
            <a:endParaRPr sz="950">
              <a:latin typeface="Trebuchet MS"/>
              <a:cs typeface="Trebuchet MS"/>
            </a:endParaRPr>
          </a:p>
          <a:p>
            <a:pPr marL="12700" marR="5080">
              <a:lnSpc>
                <a:spcPct val="118900"/>
              </a:lnSpc>
              <a:spcBef>
                <a:spcPts val="300"/>
              </a:spcBef>
            </a:pPr>
            <a:r>
              <a:rPr sz="950" b="1" dirty="0">
                <a:latin typeface="Trebuchet MS"/>
                <a:cs typeface="Trebuchet MS"/>
              </a:rPr>
              <a:t>Step</a:t>
            </a:r>
            <a:r>
              <a:rPr sz="950" b="1" spc="5" dirty="0">
                <a:latin typeface="Trebuchet MS"/>
                <a:cs typeface="Trebuchet MS"/>
              </a:rPr>
              <a:t> </a:t>
            </a:r>
            <a:r>
              <a:rPr sz="950" b="1" dirty="0">
                <a:latin typeface="Trebuchet MS"/>
                <a:cs typeface="Trebuchet MS"/>
              </a:rPr>
              <a:t>1:</a:t>
            </a:r>
            <a:r>
              <a:rPr sz="950" b="1" spc="7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For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each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spc="55" dirty="0">
                <a:latin typeface="Trebuchet MS"/>
                <a:cs typeface="Trebuchet MS"/>
              </a:rPr>
              <a:t>sense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of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target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word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find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thesaurus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category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spc="-25" dirty="0">
                <a:latin typeface="Trebuchet MS"/>
                <a:cs typeface="Trebuchet MS"/>
              </a:rPr>
              <a:t>to </a:t>
            </a:r>
            <a:r>
              <a:rPr sz="950" dirty="0">
                <a:latin typeface="Trebuchet MS"/>
                <a:cs typeface="Trebuchet MS"/>
              </a:rPr>
              <a:t>which</a:t>
            </a:r>
            <a:r>
              <a:rPr sz="950" spc="-30" dirty="0">
                <a:latin typeface="Trebuchet MS"/>
                <a:cs typeface="Trebuchet MS"/>
              </a:rPr>
              <a:t> that </a:t>
            </a:r>
            <a:r>
              <a:rPr sz="950" spc="55" dirty="0">
                <a:latin typeface="Trebuchet MS"/>
                <a:cs typeface="Trebuchet MS"/>
              </a:rPr>
              <a:t>sense</a:t>
            </a:r>
            <a:r>
              <a:rPr sz="950" spc="-3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belongs</a:t>
            </a:r>
            <a:endParaRPr sz="9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509"/>
              </a:spcBef>
            </a:pPr>
            <a:r>
              <a:rPr sz="950" b="1" dirty="0">
                <a:latin typeface="Trebuchet MS"/>
                <a:cs typeface="Trebuchet MS"/>
              </a:rPr>
              <a:t>Step</a:t>
            </a:r>
            <a:r>
              <a:rPr sz="950" b="1" spc="25" dirty="0">
                <a:latin typeface="Trebuchet MS"/>
                <a:cs typeface="Trebuchet MS"/>
              </a:rPr>
              <a:t> </a:t>
            </a:r>
            <a:r>
              <a:rPr sz="950" b="1" dirty="0">
                <a:latin typeface="Trebuchet MS"/>
                <a:cs typeface="Trebuchet MS"/>
              </a:rPr>
              <a:t>2:</a:t>
            </a:r>
            <a:r>
              <a:rPr sz="950" b="1" spc="10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Calculate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score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spc="-40" dirty="0">
                <a:latin typeface="Trebuchet MS"/>
                <a:cs typeface="Trebuchet MS"/>
              </a:rPr>
              <a:t>for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each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spc="55" dirty="0">
                <a:latin typeface="Trebuchet MS"/>
                <a:cs typeface="Trebuchet MS"/>
              </a:rPr>
              <a:t>sense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by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using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context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words.</a:t>
            </a:r>
            <a:endParaRPr sz="950">
              <a:latin typeface="Trebuchet MS"/>
              <a:cs typeface="Trebuchet MS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597" y="778154"/>
            <a:ext cx="64757" cy="64757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597" y="1160259"/>
            <a:ext cx="64757" cy="64757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1817522" y="3339672"/>
            <a:ext cx="97345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  <a:hlinkClick r:id="rId5" action="ppaction://hlinksldjump"/>
              </a:rPr>
              <a:t>Word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  <a:hlinkClick r:id="rId5" action="ppaction://hlinksldjump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5" action="ppaction://hlinksldjump"/>
              </a:rPr>
              <a:t>Sense</a:t>
            </a:r>
            <a:r>
              <a:rPr sz="600" i="1" spc="5" dirty="0">
                <a:solidFill>
                  <a:srgbClr val="FFFFFF"/>
                </a:solidFill>
                <a:latin typeface="Cambria"/>
                <a:cs typeface="Cambria"/>
                <a:hlinkClick r:id="rId5" action="ppaction://hlinksldjump"/>
              </a:rPr>
              <a:t>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  <a:hlinkClick r:id="rId5" action="ppaction://hlinksldjump"/>
              </a:rPr>
              <a:t>Disambiguation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  <a:hlinkClick r:id="rId5" action="ppaction://hlinksldjump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5" action="ppaction://hlinksldjump"/>
              </a:rPr>
              <a:t>-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  <a:hlinkClick r:id="rId5" action="ppaction://hlinksldjump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  <a:hlinkClick r:id="rId5" action="ppaction://hlinksldjump"/>
              </a:rPr>
              <a:t>I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646170" y="3339672"/>
            <a:ext cx="56388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8,</a:t>
            </a:r>
            <a:r>
              <a:rPr sz="600" i="1" spc="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3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355385" y="3339672"/>
            <a:ext cx="19875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6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10" dirty="0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</a:rPr>
              <a:t>15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D69ECF9A-FC0D-4F64-9D0F-1849F39351FF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4292024" y="3339672"/>
            <a:ext cx="262254" cy="116204"/>
          </a:xfrm>
          <a:prstGeom prst="rect">
            <a:avLst/>
          </a:prstGeom>
        </p:spPr>
        <p:txBody>
          <a:bodyPr/>
          <a:lstStyle/>
          <a:p>
            <a:pPr marL="75565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lang="en-IN" smtClean="0"/>
              <a:t>88</a:t>
            </a:fld>
            <a:r>
              <a:rPr lang="en-IN" spc="-5"/>
              <a:t> </a:t>
            </a:r>
            <a:r>
              <a:rPr lang="en-IN" spc="-110"/>
              <a:t>/</a:t>
            </a:r>
            <a:r>
              <a:rPr lang="en-IN" spc="15"/>
              <a:t> </a:t>
            </a:r>
            <a:r>
              <a:rPr lang="en-IN" spc="-25"/>
              <a:t>18</a:t>
            </a:r>
            <a:endParaRPr lang="en-IN" spc="-25" dirty="0"/>
          </a:p>
        </p:txBody>
      </p:sp>
    </p:spTree>
  </p:cSld>
  <p:clrMapOvr>
    <a:masterClrMapping/>
  </p:clrMapOvr>
  <p:transition>
    <p:cut/>
  </p:transition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Walker’s</a:t>
            </a:r>
            <a:r>
              <a:rPr spc="-45" dirty="0"/>
              <a:t> </a:t>
            </a:r>
            <a:r>
              <a:rPr spc="-10" dirty="0"/>
              <a:t>Algorithm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597" y="568121"/>
            <a:ext cx="64757" cy="64757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02932" y="437624"/>
            <a:ext cx="4026535" cy="1131570"/>
          </a:xfrm>
          <a:prstGeom prst="rect">
            <a:avLst/>
          </a:prstGeom>
        </p:spPr>
        <p:txBody>
          <a:bodyPr vert="horz" wrap="square" lIns="0" tIns="768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5"/>
              </a:spcBef>
            </a:pPr>
            <a:r>
              <a:rPr sz="950" spc="90" dirty="0">
                <a:latin typeface="Trebuchet MS"/>
                <a:cs typeface="Trebuchet MS"/>
              </a:rPr>
              <a:t>A</a:t>
            </a:r>
            <a:r>
              <a:rPr sz="950" spc="70" dirty="0">
                <a:latin typeface="Trebuchet MS"/>
                <a:cs typeface="Trebuchet MS"/>
              </a:rPr>
              <a:t> </a:t>
            </a:r>
            <a:r>
              <a:rPr sz="950" spc="10" dirty="0">
                <a:latin typeface="Trebuchet MS"/>
                <a:cs typeface="Trebuchet MS"/>
              </a:rPr>
              <a:t>Thesaurus</a:t>
            </a:r>
            <a:r>
              <a:rPr sz="950" spc="70" dirty="0">
                <a:latin typeface="Trebuchet MS"/>
                <a:cs typeface="Trebuchet MS"/>
              </a:rPr>
              <a:t> </a:t>
            </a:r>
            <a:r>
              <a:rPr sz="950" spc="60" dirty="0">
                <a:latin typeface="Trebuchet MS"/>
                <a:cs typeface="Trebuchet MS"/>
              </a:rPr>
              <a:t>Based</a:t>
            </a:r>
            <a:r>
              <a:rPr sz="950" spc="7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approach</a:t>
            </a:r>
            <a:endParaRPr sz="950">
              <a:latin typeface="Trebuchet MS"/>
              <a:cs typeface="Trebuchet MS"/>
            </a:endParaRPr>
          </a:p>
          <a:p>
            <a:pPr marL="12700" marR="5080">
              <a:lnSpc>
                <a:spcPct val="118900"/>
              </a:lnSpc>
              <a:spcBef>
                <a:spcPts val="300"/>
              </a:spcBef>
            </a:pPr>
            <a:r>
              <a:rPr sz="950" b="1" dirty="0">
                <a:latin typeface="Trebuchet MS"/>
                <a:cs typeface="Trebuchet MS"/>
              </a:rPr>
              <a:t>Step</a:t>
            </a:r>
            <a:r>
              <a:rPr sz="950" b="1" spc="5" dirty="0">
                <a:latin typeface="Trebuchet MS"/>
                <a:cs typeface="Trebuchet MS"/>
              </a:rPr>
              <a:t> </a:t>
            </a:r>
            <a:r>
              <a:rPr sz="950" b="1" dirty="0">
                <a:latin typeface="Trebuchet MS"/>
                <a:cs typeface="Trebuchet MS"/>
              </a:rPr>
              <a:t>1:</a:t>
            </a:r>
            <a:r>
              <a:rPr sz="950" b="1" spc="7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For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each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spc="55" dirty="0">
                <a:latin typeface="Trebuchet MS"/>
                <a:cs typeface="Trebuchet MS"/>
              </a:rPr>
              <a:t>sense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of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target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word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find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thesaurus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category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spc="-25" dirty="0">
                <a:latin typeface="Trebuchet MS"/>
                <a:cs typeface="Trebuchet MS"/>
              </a:rPr>
              <a:t>to </a:t>
            </a:r>
            <a:r>
              <a:rPr sz="950" dirty="0">
                <a:latin typeface="Trebuchet MS"/>
                <a:cs typeface="Trebuchet MS"/>
              </a:rPr>
              <a:t>which</a:t>
            </a:r>
            <a:r>
              <a:rPr sz="950" spc="-30" dirty="0">
                <a:latin typeface="Trebuchet MS"/>
                <a:cs typeface="Trebuchet MS"/>
              </a:rPr>
              <a:t> that </a:t>
            </a:r>
            <a:r>
              <a:rPr sz="950" spc="55" dirty="0">
                <a:latin typeface="Trebuchet MS"/>
                <a:cs typeface="Trebuchet MS"/>
              </a:rPr>
              <a:t>sense</a:t>
            </a:r>
            <a:r>
              <a:rPr sz="950" spc="-3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belongs</a:t>
            </a:r>
            <a:endParaRPr sz="950">
              <a:latin typeface="Trebuchet MS"/>
              <a:cs typeface="Trebuchet MS"/>
            </a:endParaRPr>
          </a:p>
          <a:p>
            <a:pPr marL="12700" marR="94615">
              <a:lnSpc>
                <a:spcPct val="104900"/>
              </a:lnSpc>
              <a:spcBef>
                <a:spcPts val="455"/>
              </a:spcBef>
            </a:pPr>
            <a:r>
              <a:rPr sz="950" b="1" dirty="0">
                <a:latin typeface="Trebuchet MS"/>
                <a:cs typeface="Trebuchet MS"/>
              </a:rPr>
              <a:t>Step</a:t>
            </a:r>
            <a:r>
              <a:rPr sz="950" b="1" spc="25" dirty="0">
                <a:latin typeface="Trebuchet MS"/>
                <a:cs typeface="Trebuchet MS"/>
              </a:rPr>
              <a:t> </a:t>
            </a:r>
            <a:r>
              <a:rPr sz="950" b="1" dirty="0">
                <a:latin typeface="Trebuchet MS"/>
                <a:cs typeface="Trebuchet MS"/>
              </a:rPr>
              <a:t>2:</a:t>
            </a:r>
            <a:r>
              <a:rPr sz="950" b="1" spc="10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Calculate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score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spc="-40" dirty="0">
                <a:latin typeface="Trebuchet MS"/>
                <a:cs typeface="Trebuchet MS"/>
              </a:rPr>
              <a:t>for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each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spc="55" dirty="0">
                <a:latin typeface="Trebuchet MS"/>
                <a:cs typeface="Trebuchet MS"/>
              </a:rPr>
              <a:t>sense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by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using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context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words. </a:t>
            </a:r>
            <a:r>
              <a:rPr sz="950" i="1" spc="70" dirty="0">
                <a:latin typeface="Trebuchet MS"/>
                <a:cs typeface="Trebuchet MS"/>
              </a:rPr>
              <a:t>A</a:t>
            </a:r>
            <a:r>
              <a:rPr sz="950" i="1" spc="-5" dirty="0">
                <a:latin typeface="Trebuchet MS"/>
                <a:cs typeface="Trebuchet MS"/>
              </a:rPr>
              <a:t> </a:t>
            </a:r>
            <a:r>
              <a:rPr sz="950" i="1" spc="-20" dirty="0">
                <a:latin typeface="Trebuchet MS"/>
                <a:cs typeface="Trebuchet MS"/>
              </a:rPr>
              <a:t>context</a:t>
            </a:r>
            <a:r>
              <a:rPr sz="950" i="1" spc="-5" dirty="0">
                <a:latin typeface="Trebuchet MS"/>
                <a:cs typeface="Trebuchet MS"/>
              </a:rPr>
              <a:t> </a:t>
            </a:r>
            <a:r>
              <a:rPr sz="950" i="1" dirty="0">
                <a:latin typeface="Trebuchet MS"/>
                <a:cs typeface="Trebuchet MS"/>
              </a:rPr>
              <a:t>word</a:t>
            </a:r>
            <a:r>
              <a:rPr sz="950" i="1" spc="-5" dirty="0">
                <a:latin typeface="Trebuchet MS"/>
                <a:cs typeface="Trebuchet MS"/>
              </a:rPr>
              <a:t> </a:t>
            </a:r>
            <a:r>
              <a:rPr sz="950" i="1" spc="-65" dirty="0">
                <a:latin typeface="Trebuchet MS"/>
                <a:cs typeface="Trebuchet MS"/>
              </a:rPr>
              <a:t>will</a:t>
            </a:r>
            <a:r>
              <a:rPr sz="950" i="1" spc="-5" dirty="0">
                <a:latin typeface="Trebuchet MS"/>
                <a:cs typeface="Trebuchet MS"/>
              </a:rPr>
              <a:t> </a:t>
            </a:r>
            <a:r>
              <a:rPr sz="950" i="1" dirty="0">
                <a:latin typeface="Trebuchet MS"/>
                <a:cs typeface="Trebuchet MS"/>
              </a:rPr>
              <a:t>add</a:t>
            </a:r>
            <a:r>
              <a:rPr sz="950" i="1" spc="-5" dirty="0">
                <a:latin typeface="Trebuchet MS"/>
                <a:cs typeface="Trebuchet MS"/>
              </a:rPr>
              <a:t> </a:t>
            </a:r>
            <a:r>
              <a:rPr sz="950" i="1" dirty="0">
                <a:latin typeface="Trebuchet MS"/>
                <a:cs typeface="Trebuchet MS"/>
              </a:rPr>
              <a:t>1</a:t>
            </a:r>
            <a:r>
              <a:rPr sz="950" i="1" spc="-5" dirty="0">
                <a:latin typeface="Trebuchet MS"/>
                <a:cs typeface="Trebuchet MS"/>
              </a:rPr>
              <a:t> </a:t>
            </a:r>
            <a:r>
              <a:rPr sz="950" i="1" spc="-50" dirty="0">
                <a:latin typeface="Trebuchet MS"/>
                <a:cs typeface="Trebuchet MS"/>
              </a:rPr>
              <a:t>to</a:t>
            </a:r>
            <a:r>
              <a:rPr sz="950" i="1" spc="-5" dirty="0">
                <a:latin typeface="Trebuchet MS"/>
                <a:cs typeface="Trebuchet MS"/>
              </a:rPr>
              <a:t> </a:t>
            </a:r>
            <a:r>
              <a:rPr sz="950" i="1" spc="-20" dirty="0">
                <a:latin typeface="Trebuchet MS"/>
                <a:cs typeface="Trebuchet MS"/>
              </a:rPr>
              <a:t>the</a:t>
            </a:r>
            <a:r>
              <a:rPr sz="950" i="1" spc="-5" dirty="0">
                <a:latin typeface="Trebuchet MS"/>
                <a:cs typeface="Trebuchet MS"/>
              </a:rPr>
              <a:t> </a:t>
            </a:r>
            <a:r>
              <a:rPr sz="950" i="1" dirty="0">
                <a:latin typeface="Trebuchet MS"/>
                <a:cs typeface="Trebuchet MS"/>
              </a:rPr>
              <a:t>score </a:t>
            </a:r>
            <a:r>
              <a:rPr sz="950" i="1" spc="-35" dirty="0">
                <a:latin typeface="Trebuchet MS"/>
                <a:cs typeface="Trebuchet MS"/>
              </a:rPr>
              <a:t>of</a:t>
            </a:r>
            <a:r>
              <a:rPr sz="950" i="1" spc="-5" dirty="0">
                <a:latin typeface="Trebuchet MS"/>
                <a:cs typeface="Trebuchet MS"/>
              </a:rPr>
              <a:t> </a:t>
            </a:r>
            <a:r>
              <a:rPr sz="950" i="1" spc="-20" dirty="0">
                <a:latin typeface="Trebuchet MS"/>
                <a:cs typeface="Trebuchet MS"/>
              </a:rPr>
              <a:t>the</a:t>
            </a:r>
            <a:r>
              <a:rPr sz="950" i="1" spc="-5" dirty="0">
                <a:latin typeface="Trebuchet MS"/>
                <a:cs typeface="Trebuchet MS"/>
              </a:rPr>
              <a:t> </a:t>
            </a:r>
            <a:r>
              <a:rPr sz="950" i="1" spc="55" dirty="0">
                <a:latin typeface="Trebuchet MS"/>
                <a:cs typeface="Trebuchet MS"/>
              </a:rPr>
              <a:t>sense</a:t>
            </a:r>
            <a:r>
              <a:rPr sz="950" i="1" spc="-5" dirty="0">
                <a:latin typeface="Trebuchet MS"/>
                <a:cs typeface="Trebuchet MS"/>
              </a:rPr>
              <a:t> </a:t>
            </a:r>
            <a:r>
              <a:rPr sz="950" i="1" spc="-100" dirty="0">
                <a:latin typeface="Trebuchet MS"/>
                <a:cs typeface="Trebuchet MS"/>
              </a:rPr>
              <a:t>if</a:t>
            </a:r>
            <a:r>
              <a:rPr sz="950" i="1" spc="-5" dirty="0">
                <a:latin typeface="Trebuchet MS"/>
                <a:cs typeface="Trebuchet MS"/>
              </a:rPr>
              <a:t> </a:t>
            </a:r>
            <a:r>
              <a:rPr sz="950" i="1" spc="-20" dirty="0">
                <a:latin typeface="Trebuchet MS"/>
                <a:cs typeface="Trebuchet MS"/>
              </a:rPr>
              <a:t>the</a:t>
            </a:r>
            <a:r>
              <a:rPr sz="950" i="1" spc="-5" dirty="0">
                <a:latin typeface="Trebuchet MS"/>
                <a:cs typeface="Trebuchet MS"/>
              </a:rPr>
              <a:t> </a:t>
            </a:r>
            <a:r>
              <a:rPr sz="950" i="1" spc="-10" dirty="0">
                <a:latin typeface="Trebuchet MS"/>
                <a:cs typeface="Trebuchet MS"/>
              </a:rPr>
              <a:t>thesaurus </a:t>
            </a:r>
            <a:r>
              <a:rPr sz="950" i="1" dirty="0">
                <a:latin typeface="Trebuchet MS"/>
                <a:cs typeface="Trebuchet MS"/>
              </a:rPr>
              <a:t>category</a:t>
            </a:r>
            <a:r>
              <a:rPr sz="950" i="1" spc="-5" dirty="0">
                <a:latin typeface="Trebuchet MS"/>
                <a:cs typeface="Trebuchet MS"/>
              </a:rPr>
              <a:t> </a:t>
            </a:r>
            <a:r>
              <a:rPr sz="950" i="1" spc="-35" dirty="0">
                <a:latin typeface="Trebuchet MS"/>
                <a:cs typeface="Trebuchet MS"/>
              </a:rPr>
              <a:t>of</a:t>
            </a:r>
            <a:r>
              <a:rPr sz="950" i="1" dirty="0">
                <a:latin typeface="Trebuchet MS"/>
                <a:cs typeface="Trebuchet MS"/>
              </a:rPr>
              <a:t> </a:t>
            </a:r>
            <a:r>
              <a:rPr sz="950" i="1" spc="-20" dirty="0">
                <a:latin typeface="Trebuchet MS"/>
                <a:cs typeface="Trebuchet MS"/>
              </a:rPr>
              <a:t>the</a:t>
            </a:r>
            <a:r>
              <a:rPr sz="950" i="1" dirty="0">
                <a:latin typeface="Trebuchet MS"/>
                <a:cs typeface="Trebuchet MS"/>
              </a:rPr>
              <a:t> word</a:t>
            </a:r>
            <a:r>
              <a:rPr sz="950" i="1" spc="-5" dirty="0">
                <a:latin typeface="Trebuchet MS"/>
                <a:cs typeface="Trebuchet MS"/>
              </a:rPr>
              <a:t> </a:t>
            </a:r>
            <a:r>
              <a:rPr sz="950" i="1" dirty="0">
                <a:latin typeface="Trebuchet MS"/>
                <a:cs typeface="Trebuchet MS"/>
              </a:rPr>
              <a:t>matches </a:t>
            </a:r>
            <a:r>
              <a:rPr sz="950" i="1" spc="-55" dirty="0">
                <a:latin typeface="Trebuchet MS"/>
                <a:cs typeface="Trebuchet MS"/>
              </a:rPr>
              <a:t>that</a:t>
            </a:r>
            <a:r>
              <a:rPr sz="950" i="1" dirty="0">
                <a:latin typeface="Trebuchet MS"/>
                <a:cs typeface="Trebuchet MS"/>
              </a:rPr>
              <a:t> </a:t>
            </a:r>
            <a:r>
              <a:rPr sz="950" i="1" spc="-35" dirty="0">
                <a:latin typeface="Trebuchet MS"/>
                <a:cs typeface="Trebuchet MS"/>
              </a:rPr>
              <a:t>of</a:t>
            </a:r>
            <a:r>
              <a:rPr sz="950" i="1" spc="-5" dirty="0">
                <a:latin typeface="Trebuchet MS"/>
                <a:cs typeface="Trebuchet MS"/>
              </a:rPr>
              <a:t> </a:t>
            </a:r>
            <a:r>
              <a:rPr sz="950" i="1" spc="-20" dirty="0">
                <a:latin typeface="Trebuchet MS"/>
                <a:cs typeface="Trebuchet MS"/>
              </a:rPr>
              <a:t>the</a:t>
            </a:r>
            <a:r>
              <a:rPr sz="950" i="1" dirty="0">
                <a:latin typeface="Trebuchet MS"/>
                <a:cs typeface="Trebuchet MS"/>
              </a:rPr>
              <a:t> </a:t>
            </a:r>
            <a:r>
              <a:rPr sz="950" i="1" spc="-10" dirty="0">
                <a:latin typeface="Trebuchet MS"/>
                <a:cs typeface="Trebuchet MS"/>
              </a:rPr>
              <a:t>sense.</a:t>
            </a:r>
            <a:endParaRPr sz="950">
              <a:latin typeface="Trebuchet MS"/>
              <a:cs typeface="Trebuchet MS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597" y="778154"/>
            <a:ext cx="64757" cy="64757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597" y="1160259"/>
            <a:ext cx="64757" cy="64757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1817522" y="3339672"/>
            <a:ext cx="97345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  <a:hlinkClick r:id="rId5" action="ppaction://hlinksldjump"/>
              </a:rPr>
              <a:t>Word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  <a:hlinkClick r:id="rId5" action="ppaction://hlinksldjump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5" action="ppaction://hlinksldjump"/>
              </a:rPr>
              <a:t>Sense</a:t>
            </a:r>
            <a:r>
              <a:rPr sz="600" i="1" spc="5" dirty="0">
                <a:solidFill>
                  <a:srgbClr val="FFFFFF"/>
                </a:solidFill>
                <a:latin typeface="Cambria"/>
                <a:cs typeface="Cambria"/>
                <a:hlinkClick r:id="rId5" action="ppaction://hlinksldjump"/>
              </a:rPr>
              <a:t>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  <a:hlinkClick r:id="rId5" action="ppaction://hlinksldjump"/>
              </a:rPr>
              <a:t>Disambiguation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  <a:hlinkClick r:id="rId5" action="ppaction://hlinksldjump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5" action="ppaction://hlinksldjump"/>
              </a:rPr>
              <a:t>-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  <a:hlinkClick r:id="rId5" action="ppaction://hlinksldjump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  <a:hlinkClick r:id="rId5" action="ppaction://hlinksldjump"/>
              </a:rPr>
              <a:t>I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646170" y="3339672"/>
            <a:ext cx="56388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8,</a:t>
            </a:r>
            <a:r>
              <a:rPr sz="600" i="1" spc="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3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355385" y="3339672"/>
            <a:ext cx="19875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6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10" dirty="0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</a:rPr>
              <a:t>15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C4342495-EEED-42CD-AE23-338256AE879C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4292024" y="3339672"/>
            <a:ext cx="262254" cy="116204"/>
          </a:xfrm>
          <a:prstGeom prst="rect">
            <a:avLst/>
          </a:prstGeom>
        </p:spPr>
        <p:txBody>
          <a:bodyPr/>
          <a:lstStyle/>
          <a:p>
            <a:pPr marL="75565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lang="en-IN" smtClean="0"/>
              <a:t>89</a:t>
            </a:fld>
            <a:r>
              <a:rPr lang="en-IN" spc="-5"/>
              <a:t> </a:t>
            </a:r>
            <a:r>
              <a:rPr lang="en-IN" spc="-110"/>
              <a:t>/</a:t>
            </a:r>
            <a:r>
              <a:rPr lang="en-IN" spc="15"/>
              <a:t> </a:t>
            </a:r>
            <a:r>
              <a:rPr lang="en-IN" spc="-25"/>
              <a:t>18</a:t>
            </a:r>
            <a:endParaRPr lang="en-IN" spc="-25" dirty="0"/>
          </a:p>
        </p:txBody>
      </p:sp>
    </p:spTree>
  </p:cSld>
  <p:clrMapOvr>
    <a:masterClrMapping/>
  </p:clrMapOvr>
  <p:transition>
    <p:cut/>
  </p:transition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Walker’s</a:t>
            </a:r>
            <a:r>
              <a:rPr spc="-45" dirty="0"/>
              <a:t> </a:t>
            </a:r>
            <a:r>
              <a:rPr spc="-10" dirty="0"/>
              <a:t>Algorithm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597" y="568121"/>
            <a:ext cx="64757" cy="64757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77532" y="437624"/>
            <a:ext cx="4077335" cy="1308735"/>
          </a:xfrm>
          <a:prstGeom prst="rect">
            <a:avLst/>
          </a:prstGeom>
        </p:spPr>
        <p:txBody>
          <a:bodyPr vert="horz" wrap="square" lIns="0" tIns="768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05"/>
              </a:spcBef>
            </a:pPr>
            <a:r>
              <a:rPr sz="950" spc="90" dirty="0">
                <a:latin typeface="Trebuchet MS"/>
                <a:cs typeface="Trebuchet MS"/>
              </a:rPr>
              <a:t>A</a:t>
            </a:r>
            <a:r>
              <a:rPr sz="950" spc="70" dirty="0">
                <a:latin typeface="Trebuchet MS"/>
                <a:cs typeface="Trebuchet MS"/>
              </a:rPr>
              <a:t> </a:t>
            </a:r>
            <a:r>
              <a:rPr sz="950" spc="10" dirty="0">
                <a:latin typeface="Trebuchet MS"/>
                <a:cs typeface="Trebuchet MS"/>
              </a:rPr>
              <a:t>Thesaurus</a:t>
            </a:r>
            <a:r>
              <a:rPr sz="950" spc="70" dirty="0">
                <a:latin typeface="Trebuchet MS"/>
                <a:cs typeface="Trebuchet MS"/>
              </a:rPr>
              <a:t> </a:t>
            </a:r>
            <a:r>
              <a:rPr sz="950" spc="60" dirty="0">
                <a:latin typeface="Trebuchet MS"/>
                <a:cs typeface="Trebuchet MS"/>
              </a:rPr>
              <a:t>Based</a:t>
            </a:r>
            <a:r>
              <a:rPr sz="950" spc="7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approach</a:t>
            </a:r>
            <a:endParaRPr sz="950">
              <a:latin typeface="Trebuchet MS"/>
              <a:cs typeface="Trebuchet MS"/>
            </a:endParaRPr>
          </a:p>
          <a:p>
            <a:pPr marL="38100" marR="30480">
              <a:lnSpc>
                <a:spcPct val="118900"/>
              </a:lnSpc>
              <a:spcBef>
                <a:spcPts val="300"/>
              </a:spcBef>
            </a:pPr>
            <a:r>
              <a:rPr sz="950" b="1" dirty="0">
                <a:latin typeface="Trebuchet MS"/>
                <a:cs typeface="Trebuchet MS"/>
              </a:rPr>
              <a:t>Step</a:t>
            </a:r>
            <a:r>
              <a:rPr sz="950" b="1" spc="5" dirty="0">
                <a:latin typeface="Trebuchet MS"/>
                <a:cs typeface="Trebuchet MS"/>
              </a:rPr>
              <a:t> </a:t>
            </a:r>
            <a:r>
              <a:rPr sz="950" b="1" dirty="0">
                <a:latin typeface="Trebuchet MS"/>
                <a:cs typeface="Trebuchet MS"/>
              </a:rPr>
              <a:t>1:</a:t>
            </a:r>
            <a:r>
              <a:rPr sz="950" b="1" spc="7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For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each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spc="55" dirty="0">
                <a:latin typeface="Trebuchet MS"/>
                <a:cs typeface="Trebuchet MS"/>
              </a:rPr>
              <a:t>sense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of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target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word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find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thesaurus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category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spc="-25" dirty="0">
                <a:latin typeface="Trebuchet MS"/>
                <a:cs typeface="Trebuchet MS"/>
              </a:rPr>
              <a:t>to </a:t>
            </a:r>
            <a:r>
              <a:rPr sz="950" dirty="0">
                <a:latin typeface="Trebuchet MS"/>
                <a:cs typeface="Trebuchet MS"/>
              </a:rPr>
              <a:t>which</a:t>
            </a:r>
            <a:r>
              <a:rPr sz="950" spc="-30" dirty="0">
                <a:latin typeface="Trebuchet MS"/>
                <a:cs typeface="Trebuchet MS"/>
              </a:rPr>
              <a:t> that </a:t>
            </a:r>
            <a:r>
              <a:rPr sz="950" spc="55" dirty="0">
                <a:latin typeface="Trebuchet MS"/>
                <a:cs typeface="Trebuchet MS"/>
              </a:rPr>
              <a:t>sense</a:t>
            </a:r>
            <a:r>
              <a:rPr sz="950" spc="-3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belongs</a:t>
            </a:r>
            <a:endParaRPr sz="950">
              <a:latin typeface="Trebuchet MS"/>
              <a:cs typeface="Trebuchet MS"/>
            </a:endParaRPr>
          </a:p>
          <a:p>
            <a:pPr marL="38100" marR="120014">
              <a:lnSpc>
                <a:spcPct val="104900"/>
              </a:lnSpc>
              <a:spcBef>
                <a:spcPts val="455"/>
              </a:spcBef>
            </a:pPr>
            <a:r>
              <a:rPr sz="950" b="1" dirty="0">
                <a:latin typeface="Trebuchet MS"/>
                <a:cs typeface="Trebuchet MS"/>
              </a:rPr>
              <a:t>Step</a:t>
            </a:r>
            <a:r>
              <a:rPr sz="950" b="1" spc="25" dirty="0">
                <a:latin typeface="Trebuchet MS"/>
                <a:cs typeface="Trebuchet MS"/>
              </a:rPr>
              <a:t> </a:t>
            </a:r>
            <a:r>
              <a:rPr sz="950" b="1" dirty="0">
                <a:latin typeface="Trebuchet MS"/>
                <a:cs typeface="Trebuchet MS"/>
              </a:rPr>
              <a:t>2:</a:t>
            </a:r>
            <a:r>
              <a:rPr sz="950" b="1" spc="10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Calculate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score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spc="-40" dirty="0">
                <a:latin typeface="Trebuchet MS"/>
                <a:cs typeface="Trebuchet MS"/>
              </a:rPr>
              <a:t>for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each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spc="55" dirty="0">
                <a:latin typeface="Trebuchet MS"/>
                <a:cs typeface="Trebuchet MS"/>
              </a:rPr>
              <a:t>sense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by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using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context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words. </a:t>
            </a:r>
            <a:r>
              <a:rPr sz="950" i="1" spc="70" dirty="0">
                <a:latin typeface="Trebuchet MS"/>
                <a:cs typeface="Trebuchet MS"/>
              </a:rPr>
              <a:t>A</a:t>
            </a:r>
            <a:r>
              <a:rPr sz="950" i="1" spc="-5" dirty="0">
                <a:latin typeface="Trebuchet MS"/>
                <a:cs typeface="Trebuchet MS"/>
              </a:rPr>
              <a:t> </a:t>
            </a:r>
            <a:r>
              <a:rPr sz="950" i="1" spc="-20" dirty="0">
                <a:latin typeface="Trebuchet MS"/>
                <a:cs typeface="Trebuchet MS"/>
              </a:rPr>
              <a:t>context</a:t>
            </a:r>
            <a:r>
              <a:rPr sz="950" i="1" spc="-5" dirty="0">
                <a:latin typeface="Trebuchet MS"/>
                <a:cs typeface="Trebuchet MS"/>
              </a:rPr>
              <a:t> </a:t>
            </a:r>
            <a:r>
              <a:rPr sz="950" i="1" dirty="0">
                <a:latin typeface="Trebuchet MS"/>
                <a:cs typeface="Trebuchet MS"/>
              </a:rPr>
              <a:t>word</a:t>
            </a:r>
            <a:r>
              <a:rPr sz="950" i="1" spc="-5" dirty="0">
                <a:latin typeface="Trebuchet MS"/>
                <a:cs typeface="Trebuchet MS"/>
              </a:rPr>
              <a:t> </a:t>
            </a:r>
            <a:r>
              <a:rPr sz="950" i="1" spc="-65" dirty="0">
                <a:latin typeface="Trebuchet MS"/>
                <a:cs typeface="Trebuchet MS"/>
              </a:rPr>
              <a:t>will</a:t>
            </a:r>
            <a:r>
              <a:rPr sz="950" i="1" spc="-5" dirty="0">
                <a:latin typeface="Trebuchet MS"/>
                <a:cs typeface="Trebuchet MS"/>
              </a:rPr>
              <a:t> </a:t>
            </a:r>
            <a:r>
              <a:rPr sz="950" i="1" dirty="0">
                <a:latin typeface="Trebuchet MS"/>
                <a:cs typeface="Trebuchet MS"/>
              </a:rPr>
              <a:t>add</a:t>
            </a:r>
            <a:r>
              <a:rPr sz="950" i="1" spc="-5" dirty="0">
                <a:latin typeface="Trebuchet MS"/>
                <a:cs typeface="Trebuchet MS"/>
              </a:rPr>
              <a:t> </a:t>
            </a:r>
            <a:r>
              <a:rPr sz="950" i="1" dirty="0">
                <a:latin typeface="Trebuchet MS"/>
                <a:cs typeface="Trebuchet MS"/>
              </a:rPr>
              <a:t>1</a:t>
            </a:r>
            <a:r>
              <a:rPr sz="950" i="1" spc="-5" dirty="0">
                <a:latin typeface="Trebuchet MS"/>
                <a:cs typeface="Trebuchet MS"/>
              </a:rPr>
              <a:t> </a:t>
            </a:r>
            <a:r>
              <a:rPr sz="950" i="1" spc="-50" dirty="0">
                <a:latin typeface="Trebuchet MS"/>
                <a:cs typeface="Trebuchet MS"/>
              </a:rPr>
              <a:t>to</a:t>
            </a:r>
            <a:r>
              <a:rPr sz="950" i="1" spc="-5" dirty="0">
                <a:latin typeface="Trebuchet MS"/>
                <a:cs typeface="Trebuchet MS"/>
              </a:rPr>
              <a:t> </a:t>
            </a:r>
            <a:r>
              <a:rPr sz="950" i="1" spc="-20" dirty="0">
                <a:latin typeface="Trebuchet MS"/>
                <a:cs typeface="Trebuchet MS"/>
              </a:rPr>
              <a:t>the</a:t>
            </a:r>
            <a:r>
              <a:rPr sz="950" i="1" spc="-5" dirty="0">
                <a:latin typeface="Trebuchet MS"/>
                <a:cs typeface="Trebuchet MS"/>
              </a:rPr>
              <a:t> </a:t>
            </a:r>
            <a:r>
              <a:rPr sz="950" i="1" dirty="0">
                <a:latin typeface="Trebuchet MS"/>
                <a:cs typeface="Trebuchet MS"/>
              </a:rPr>
              <a:t>score </a:t>
            </a:r>
            <a:r>
              <a:rPr sz="950" i="1" spc="-35" dirty="0">
                <a:latin typeface="Trebuchet MS"/>
                <a:cs typeface="Trebuchet MS"/>
              </a:rPr>
              <a:t>of</a:t>
            </a:r>
            <a:r>
              <a:rPr sz="950" i="1" spc="-5" dirty="0">
                <a:latin typeface="Trebuchet MS"/>
                <a:cs typeface="Trebuchet MS"/>
              </a:rPr>
              <a:t> </a:t>
            </a:r>
            <a:r>
              <a:rPr sz="950" i="1" spc="-20" dirty="0">
                <a:latin typeface="Trebuchet MS"/>
                <a:cs typeface="Trebuchet MS"/>
              </a:rPr>
              <a:t>the</a:t>
            </a:r>
            <a:r>
              <a:rPr sz="950" i="1" spc="-5" dirty="0">
                <a:latin typeface="Trebuchet MS"/>
                <a:cs typeface="Trebuchet MS"/>
              </a:rPr>
              <a:t> </a:t>
            </a:r>
            <a:r>
              <a:rPr sz="950" i="1" spc="55" dirty="0">
                <a:latin typeface="Trebuchet MS"/>
                <a:cs typeface="Trebuchet MS"/>
              </a:rPr>
              <a:t>sense</a:t>
            </a:r>
            <a:r>
              <a:rPr sz="950" i="1" spc="-5" dirty="0">
                <a:latin typeface="Trebuchet MS"/>
                <a:cs typeface="Trebuchet MS"/>
              </a:rPr>
              <a:t> </a:t>
            </a:r>
            <a:r>
              <a:rPr sz="950" i="1" spc="-100" dirty="0">
                <a:latin typeface="Trebuchet MS"/>
                <a:cs typeface="Trebuchet MS"/>
              </a:rPr>
              <a:t>if</a:t>
            </a:r>
            <a:r>
              <a:rPr sz="950" i="1" spc="-5" dirty="0">
                <a:latin typeface="Trebuchet MS"/>
                <a:cs typeface="Trebuchet MS"/>
              </a:rPr>
              <a:t> </a:t>
            </a:r>
            <a:r>
              <a:rPr sz="950" i="1" spc="-20" dirty="0">
                <a:latin typeface="Trebuchet MS"/>
                <a:cs typeface="Trebuchet MS"/>
              </a:rPr>
              <a:t>the</a:t>
            </a:r>
            <a:r>
              <a:rPr sz="950" i="1" spc="-5" dirty="0">
                <a:latin typeface="Trebuchet MS"/>
                <a:cs typeface="Trebuchet MS"/>
              </a:rPr>
              <a:t> </a:t>
            </a:r>
            <a:r>
              <a:rPr sz="950" i="1" spc="-10" dirty="0">
                <a:latin typeface="Trebuchet MS"/>
                <a:cs typeface="Trebuchet MS"/>
              </a:rPr>
              <a:t>thesaurus </a:t>
            </a:r>
            <a:r>
              <a:rPr sz="950" i="1" dirty="0">
                <a:latin typeface="Trebuchet MS"/>
                <a:cs typeface="Trebuchet MS"/>
              </a:rPr>
              <a:t>category</a:t>
            </a:r>
            <a:r>
              <a:rPr sz="950" i="1" spc="-5" dirty="0">
                <a:latin typeface="Trebuchet MS"/>
                <a:cs typeface="Trebuchet MS"/>
              </a:rPr>
              <a:t> </a:t>
            </a:r>
            <a:r>
              <a:rPr sz="950" i="1" spc="-35" dirty="0">
                <a:latin typeface="Trebuchet MS"/>
                <a:cs typeface="Trebuchet MS"/>
              </a:rPr>
              <a:t>of</a:t>
            </a:r>
            <a:r>
              <a:rPr sz="950" i="1" dirty="0">
                <a:latin typeface="Trebuchet MS"/>
                <a:cs typeface="Trebuchet MS"/>
              </a:rPr>
              <a:t> </a:t>
            </a:r>
            <a:r>
              <a:rPr sz="950" i="1" spc="-20" dirty="0">
                <a:latin typeface="Trebuchet MS"/>
                <a:cs typeface="Trebuchet MS"/>
              </a:rPr>
              <a:t>the</a:t>
            </a:r>
            <a:r>
              <a:rPr sz="950" i="1" dirty="0">
                <a:latin typeface="Trebuchet MS"/>
                <a:cs typeface="Trebuchet MS"/>
              </a:rPr>
              <a:t> word</a:t>
            </a:r>
            <a:r>
              <a:rPr sz="950" i="1" spc="-5" dirty="0">
                <a:latin typeface="Trebuchet MS"/>
                <a:cs typeface="Trebuchet MS"/>
              </a:rPr>
              <a:t> </a:t>
            </a:r>
            <a:r>
              <a:rPr sz="950" i="1" dirty="0">
                <a:latin typeface="Trebuchet MS"/>
                <a:cs typeface="Trebuchet MS"/>
              </a:rPr>
              <a:t>matches </a:t>
            </a:r>
            <a:r>
              <a:rPr sz="950" i="1" spc="-55" dirty="0">
                <a:latin typeface="Trebuchet MS"/>
                <a:cs typeface="Trebuchet MS"/>
              </a:rPr>
              <a:t>that</a:t>
            </a:r>
            <a:r>
              <a:rPr sz="950" i="1" dirty="0">
                <a:latin typeface="Trebuchet MS"/>
                <a:cs typeface="Trebuchet MS"/>
              </a:rPr>
              <a:t> </a:t>
            </a:r>
            <a:r>
              <a:rPr sz="950" i="1" spc="-35" dirty="0">
                <a:latin typeface="Trebuchet MS"/>
                <a:cs typeface="Trebuchet MS"/>
              </a:rPr>
              <a:t>of</a:t>
            </a:r>
            <a:r>
              <a:rPr sz="950" i="1" spc="-5" dirty="0">
                <a:latin typeface="Trebuchet MS"/>
                <a:cs typeface="Trebuchet MS"/>
              </a:rPr>
              <a:t> </a:t>
            </a:r>
            <a:r>
              <a:rPr sz="950" i="1" spc="-20" dirty="0">
                <a:latin typeface="Trebuchet MS"/>
                <a:cs typeface="Trebuchet MS"/>
              </a:rPr>
              <a:t>the</a:t>
            </a:r>
            <a:r>
              <a:rPr sz="950" i="1" dirty="0">
                <a:latin typeface="Trebuchet MS"/>
                <a:cs typeface="Trebuchet MS"/>
              </a:rPr>
              <a:t> </a:t>
            </a:r>
            <a:r>
              <a:rPr sz="950" i="1" spc="-10" dirty="0">
                <a:latin typeface="Trebuchet MS"/>
                <a:cs typeface="Trebuchet MS"/>
              </a:rPr>
              <a:t>sense.</a:t>
            </a:r>
            <a:endParaRPr sz="950">
              <a:latin typeface="Trebuchet MS"/>
              <a:cs typeface="Trebuchet MS"/>
            </a:endParaRPr>
          </a:p>
          <a:p>
            <a:pPr marL="313690" indent="-116205">
              <a:lnSpc>
                <a:spcPct val="100000"/>
              </a:lnSpc>
              <a:spcBef>
                <a:spcPts val="204"/>
              </a:spcBef>
              <a:buClr>
                <a:srgbClr val="3232B2"/>
              </a:buClr>
              <a:buSzPct val="66666"/>
              <a:buFont typeface="Lucida Sans Unicode"/>
              <a:buChar char="►"/>
              <a:tabLst>
                <a:tab pos="313690" algn="l"/>
              </a:tabLst>
            </a:pPr>
            <a:r>
              <a:rPr sz="900" dirty="0">
                <a:latin typeface="Trebuchet MS"/>
                <a:cs typeface="Trebuchet MS"/>
              </a:rPr>
              <a:t>E.g.</a:t>
            </a:r>
            <a:r>
              <a:rPr sz="900" spc="40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The</a:t>
            </a:r>
            <a:r>
              <a:rPr sz="900" spc="-20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money</a:t>
            </a:r>
            <a:r>
              <a:rPr sz="900" spc="-15" dirty="0">
                <a:latin typeface="Trebuchet MS"/>
                <a:cs typeface="Trebuchet MS"/>
              </a:rPr>
              <a:t> </a:t>
            </a:r>
            <a:r>
              <a:rPr sz="900" spc="-10" dirty="0">
                <a:latin typeface="Trebuchet MS"/>
                <a:cs typeface="Trebuchet MS"/>
              </a:rPr>
              <a:t>in</a:t>
            </a:r>
            <a:r>
              <a:rPr sz="900" spc="-20" dirty="0">
                <a:latin typeface="Trebuchet MS"/>
                <a:cs typeface="Trebuchet MS"/>
              </a:rPr>
              <a:t> this </a:t>
            </a:r>
            <a:r>
              <a:rPr sz="900" dirty="0">
                <a:latin typeface="Trebuchet MS"/>
                <a:cs typeface="Trebuchet MS"/>
              </a:rPr>
              <a:t>bank</a:t>
            </a:r>
            <a:r>
              <a:rPr sz="900" spc="-20" dirty="0">
                <a:latin typeface="Trebuchet MS"/>
                <a:cs typeface="Trebuchet MS"/>
              </a:rPr>
              <a:t> fetches</a:t>
            </a:r>
            <a:r>
              <a:rPr sz="900" spc="-15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an</a:t>
            </a:r>
            <a:r>
              <a:rPr sz="900" spc="-20" dirty="0">
                <a:latin typeface="Trebuchet MS"/>
                <a:cs typeface="Trebuchet MS"/>
              </a:rPr>
              <a:t> </a:t>
            </a:r>
            <a:r>
              <a:rPr sz="900" spc="-35" dirty="0">
                <a:latin typeface="Trebuchet MS"/>
                <a:cs typeface="Trebuchet MS"/>
              </a:rPr>
              <a:t>interest</a:t>
            </a:r>
            <a:r>
              <a:rPr sz="900" spc="-20" dirty="0">
                <a:latin typeface="Trebuchet MS"/>
                <a:cs typeface="Trebuchet MS"/>
              </a:rPr>
              <a:t> </a:t>
            </a:r>
            <a:r>
              <a:rPr sz="900" spc="-45" dirty="0">
                <a:latin typeface="Trebuchet MS"/>
                <a:cs typeface="Trebuchet MS"/>
              </a:rPr>
              <a:t>of</a:t>
            </a:r>
            <a:r>
              <a:rPr sz="900" spc="-20" dirty="0">
                <a:latin typeface="Trebuchet MS"/>
                <a:cs typeface="Trebuchet MS"/>
              </a:rPr>
              <a:t> </a:t>
            </a:r>
            <a:r>
              <a:rPr sz="1000" spc="-65" dirty="0">
                <a:latin typeface="Cambria"/>
                <a:cs typeface="Cambria"/>
              </a:rPr>
              <a:t>8</a:t>
            </a:r>
            <a:r>
              <a:rPr sz="1000" spc="-65" dirty="0">
                <a:latin typeface="Arial MT"/>
                <a:cs typeface="Arial MT"/>
              </a:rPr>
              <a:t>%</a:t>
            </a:r>
            <a:r>
              <a:rPr sz="1000" spc="-20" dirty="0">
                <a:latin typeface="Arial MT"/>
                <a:cs typeface="Arial MT"/>
              </a:rPr>
              <a:t> </a:t>
            </a:r>
            <a:r>
              <a:rPr sz="900" spc="-10" dirty="0">
                <a:latin typeface="Trebuchet MS"/>
                <a:cs typeface="Trebuchet MS"/>
              </a:rPr>
              <a:t>per</a:t>
            </a:r>
            <a:r>
              <a:rPr sz="900" spc="-20" dirty="0">
                <a:latin typeface="Trebuchet MS"/>
                <a:cs typeface="Trebuchet MS"/>
              </a:rPr>
              <a:t> annum</a:t>
            </a:r>
            <a:endParaRPr sz="900">
              <a:latin typeface="Trebuchet MS"/>
              <a:cs typeface="Trebuchet MS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597" y="778154"/>
            <a:ext cx="64757" cy="64757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597" y="1160259"/>
            <a:ext cx="64757" cy="64757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1817522" y="3339672"/>
            <a:ext cx="97345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  <a:hlinkClick r:id="rId5" action="ppaction://hlinksldjump"/>
              </a:rPr>
              <a:t>Word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  <a:hlinkClick r:id="rId5" action="ppaction://hlinksldjump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5" action="ppaction://hlinksldjump"/>
              </a:rPr>
              <a:t>Sense</a:t>
            </a:r>
            <a:r>
              <a:rPr sz="600" i="1" spc="5" dirty="0">
                <a:solidFill>
                  <a:srgbClr val="FFFFFF"/>
                </a:solidFill>
                <a:latin typeface="Cambria"/>
                <a:cs typeface="Cambria"/>
                <a:hlinkClick r:id="rId5" action="ppaction://hlinksldjump"/>
              </a:rPr>
              <a:t>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  <a:hlinkClick r:id="rId5" action="ppaction://hlinksldjump"/>
              </a:rPr>
              <a:t>Disambiguation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  <a:hlinkClick r:id="rId5" action="ppaction://hlinksldjump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5" action="ppaction://hlinksldjump"/>
              </a:rPr>
              <a:t>-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  <a:hlinkClick r:id="rId5" action="ppaction://hlinksldjump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  <a:hlinkClick r:id="rId5" action="ppaction://hlinksldjump"/>
              </a:rPr>
              <a:t>I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646170" y="3339672"/>
            <a:ext cx="56388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8,</a:t>
            </a:r>
            <a:r>
              <a:rPr sz="600" i="1" spc="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3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355385" y="3339672"/>
            <a:ext cx="19875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6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10" dirty="0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</a:rPr>
              <a:t>15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5752A76A-9469-404A-8857-5F148DFF407B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4292024" y="3339672"/>
            <a:ext cx="262254" cy="116204"/>
          </a:xfrm>
          <a:prstGeom prst="rect">
            <a:avLst/>
          </a:prstGeom>
        </p:spPr>
        <p:txBody>
          <a:bodyPr/>
          <a:lstStyle/>
          <a:p>
            <a:pPr marL="75565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lang="en-IN" smtClean="0"/>
              <a:t>90</a:t>
            </a:fld>
            <a:r>
              <a:rPr lang="en-IN" spc="-5"/>
              <a:t> </a:t>
            </a:r>
            <a:r>
              <a:rPr lang="en-IN" spc="-110"/>
              <a:t>/</a:t>
            </a:r>
            <a:r>
              <a:rPr lang="en-IN" spc="15"/>
              <a:t> </a:t>
            </a:r>
            <a:r>
              <a:rPr lang="en-IN" spc="-25"/>
              <a:t>18</a:t>
            </a:r>
            <a:endParaRPr lang="en-IN" spc="-25" dirty="0"/>
          </a:p>
        </p:txBody>
      </p:sp>
    </p:spTree>
  </p:cSld>
  <p:clrMapOvr>
    <a:masterClrMapping/>
  </p:clrMapOvr>
  <p:transition>
    <p:cut/>
  </p:transition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Walker’s</a:t>
            </a:r>
            <a:r>
              <a:rPr spc="-45" dirty="0"/>
              <a:t> </a:t>
            </a:r>
            <a:r>
              <a:rPr spc="-10" dirty="0"/>
              <a:t>Algorithm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597" y="568121"/>
            <a:ext cx="64757" cy="64757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77532" y="437624"/>
            <a:ext cx="4077335" cy="1610360"/>
          </a:xfrm>
          <a:prstGeom prst="rect">
            <a:avLst/>
          </a:prstGeom>
        </p:spPr>
        <p:txBody>
          <a:bodyPr vert="horz" wrap="square" lIns="0" tIns="768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05"/>
              </a:spcBef>
            </a:pPr>
            <a:r>
              <a:rPr sz="950" spc="90" dirty="0">
                <a:latin typeface="Trebuchet MS"/>
                <a:cs typeface="Trebuchet MS"/>
              </a:rPr>
              <a:t>A</a:t>
            </a:r>
            <a:r>
              <a:rPr sz="950" spc="70" dirty="0">
                <a:latin typeface="Trebuchet MS"/>
                <a:cs typeface="Trebuchet MS"/>
              </a:rPr>
              <a:t> </a:t>
            </a:r>
            <a:r>
              <a:rPr sz="950" spc="10" dirty="0">
                <a:latin typeface="Trebuchet MS"/>
                <a:cs typeface="Trebuchet MS"/>
              </a:rPr>
              <a:t>Thesaurus</a:t>
            </a:r>
            <a:r>
              <a:rPr sz="950" spc="70" dirty="0">
                <a:latin typeface="Trebuchet MS"/>
                <a:cs typeface="Trebuchet MS"/>
              </a:rPr>
              <a:t> </a:t>
            </a:r>
            <a:r>
              <a:rPr sz="950" spc="60" dirty="0">
                <a:latin typeface="Trebuchet MS"/>
                <a:cs typeface="Trebuchet MS"/>
              </a:rPr>
              <a:t>Based</a:t>
            </a:r>
            <a:r>
              <a:rPr sz="950" spc="7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approach</a:t>
            </a:r>
            <a:endParaRPr sz="950">
              <a:latin typeface="Trebuchet MS"/>
              <a:cs typeface="Trebuchet MS"/>
            </a:endParaRPr>
          </a:p>
          <a:p>
            <a:pPr marL="38100" marR="30480">
              <a:lnSpc>
                <a:spcPct val="118900"/>
              </a:lnSpc>
              <a:spcBef>
                <a:spcPts val="300"/>
              </a:spcBef>
            </a:pPr>
            <a:r>
              <a:rPr sz="950" b="1" dirty="0">
                <a:latin typeface="Trebuchet MS"/>
                <a:cs typeface="Trebuchet MS"/>
              </a:rPr>
              <a:t>Step</a:t>
            </a:r>
            <a:r>
              <a:rPr sz="950" b="1" spc="5" dirty="0">
                <a:latin typeface="Trebuchet MS"/>
                <a:cs typeface="Trebuchet MS"/>
              </a:rPr>
              <a:t> </a:t>
            </a:r>
            <a:r>
              <a:rPr sz="950" b="1" dirty="0">
                <a:latin typeface="Trebuchet MS"/>
                <a:cs typeface="Trebuchet MS"/>
              </a:rPr>
              <a:t>1:</a:t>
            </a:r>
            <a:r>
              <a:rPr sz="950" b="1" spc="7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For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each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spc="55" dirty="0">
                <a:latin typeface="Trebuchet MS"/>
                <a:cs typeface="Trebuchet MS"/>
              </a:rPr>
              <a:t>sense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of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target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word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find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thesaurus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category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spc="-25" dirty="0">
                <a:latin typeface="Trebuchet MS"/>
                <a:cs typeface="Trebuchet MS"/>
              </a:rPr>
              <a:t>to </a:t>
            </a:r>
            <a:r>
              <a:rPr sz="950" dirty="0">
                <a:latin typeface="Trebuchet MS"/>
                <a:cs typeface="Trebuchet MS"/>
              </a:rPr>
              <a:t>which</a:t>
            </a:r>
            <a:r>
              <a:rPr sz="950" spc="-30" dirty="0">
                <a:latin typeface="Trebuchet MS"/>
                <a:cs typeface="Trebuchet MS"/>
              </a:rPr>
              <a:t> that </a:t>
            </a:r>
            <a:r>
              <a:rPr sz="950" spc="55" dirty="0">
                <a:latin typeface="Trebuchet MS"/>
                <a:cs typeface="Trebuchet MS"/>
              </a:rPr>
              <a:t>sense</a:t>
            </a:r>
            <a:r>
              <a:rPr sz="950" spc="-3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belongs</a:t>
            </a:r>
            <a:endParaRPr sz="950">
              <a:latin typeface="Trebuchet MS"/>
              <a:cs typeface="Trebuchet MS"/>
            </a:endParaRPr>
          </a:p>
          <a:p>
            <a:pPr marL="38100" marR="120014">
              <a:lnSpc>
                <a:spcPct val="104900"/>
              </a:lnSpc>
              <a:spcBef>
                <a:spcPts val="455"/>
              </a:spcBef>
            </a:pPr>
            <a:r>
              <a:rPr sz="950" b="1" dirty="0">
                <a:latin typeface="Trebuchet MS"/>
                <a:cs typeface="Trebuchet MS"/>
              </a:rPr>
              <a:t>Step</a:t>
            </a:r>
            <a:r>
              <a:rPr sz="950" b="1" spc="25" dirty="0">
                <a:latin typeface="Trebuchet MS"/>
                <a:cs typeface="Trebuchet MS"/>
              </a:rPr>
              <a:t> </a:t>
            </a:r>
            <a:r>
              <a:rPr sz="950" b="1" dirty="0">
                <a:latin typeface="Trebuchet MS"/>
                <a:cs typeface="Trebuchet MS"/>
              </a:rPr>
              <a:t>2:</a:t>
            </a:r>
            <a:r>
              <a:rPr sz="950" b="1" spc="10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Calculate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score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spc="-40" dirty="0">
                <a:latin typeface="Trebuchet MS"/>
                <a:cs typeface="Trebuchet MS"/>
              </a:rPr>
              <a:t>for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each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spc="55" dirty="0">
                <a:latin typeface="Trebuchet MS"/>
                <a:cs typeface="Trebuchet MS"/>
              </a:rPr>
              <a:t>sense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by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using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context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words. </a:t>
            </a:r>
            <a:r>
              <a:rPr sz="950" i="1" spc="70" dirty="0">
                <a:latin typeface="Trebuchet MS"/>
                <a:cs typeface="Trebuchet MS"/>
              </a:rPr>
              <a:t>A</a:t>
            </a:r>
            <a:r>
              <a:rPr sz="950" i="1" spc="-5" dirty="0">
                <a:latin typeface="Trebuchet MS"/>
                <a:cs typeface="Trebuchet MS"/>
              </a:rPr>
              <a:t> </a:t>
            </a:r>
            <a:r>
              <a:rPr sz="950" i="1" spc="-20" dirty="0">
                <a:latin typeface="Trebuchet MS"/>
                <a:cs typeface="Trebuchet MS"/>
              </a:rPr>
              <a:t>context</a:t>
            </a:r>
            <a:r>
              <a:rPr sz="950" i="1" spc="-5" dirty="0">
                <a:latin typeface="Trebuchet MS"/>
                <a:cs typeface="Trebuchet MS"/>
              </a:rPr>
              <a:t> </a:t>
            </a:r>
            <a:r>
              <a:rPr sz="950" i="1" dirty="0">
                <a:latin typeface="Trebuchet MS"/>
                <a:cs typeface="Trebuchet MS"/>
              </a:rPr>
              <a:t>word</a:t>
            </a:r>
            <a:r>
              <a:rPr sz="950" i="1" spc="-5" dirty="0">
                <a:latin typeface="Trebuchet MS"/>
                <a:cs typeface="Trebuchet MS"/>
              </a:rPr>
              <a:t> </a:t>
            </a:r>
            <a:r>
              <a:rPr sz="950" i="1" spc="-65" dirty="0">
                <a:latin typeface="Trebuchet MS"/>
                <a:cs typeface="Trebuchet MS"/>
              </a:rPr>
              <a:t>will</a:t>
            </a:r>
            <a:r>
              <a:rPr sz="950" i="1" spc="-5" dirty="0">
                <a:latin typeface="Trebuchet MS"/>
                <a:cs typeface="Trebuchet MS"/>
              </a:rPr>
              <a:t> </a:t>
            </a:r>
            <a:r>
              <a:rPr sz="950" i="1" dirty="0">
                <a:latin typeface="Trebuchet MS"/>
                <a:cs typeface="Trebuchet MS"/>
              </a:rPr>
              <a:t>add</a:t>
            </a:r>
            <a:r>
              <a:rPr sz="950" i="1" spc="-5" dirty="0">
                <a:latin typeface="Trebuchet MS"/>
                <a:cs typeface="Trebuchet MS"/>
              </a:rPr>
              <a:t> </a:t>
            </a:r>
            <a:r>
              <a:rPr sz="950" i="1" dirty="0">
                <a:latin typeface="Trebuchet MS"/>
                <a:cs typeface="Trebuchet MS"/>
              </a:rPr>
              <a:t>1</a:t>
            </a:r>
            <a:r>
              <a:rPr sz="950" i="1" spc="-5" dirty="0">
                <a:latin typeface="Trebuchet MS"/>
                <a:cs typeface="Trebuchet MS"/>
              </a:rPr>
              <a:t> </a:t>
            </a:r>
            <a:r>
              <a:rPr sz="950" i="1" spc="-50" dirty="0">
                <a:latin typeface="Trebuchet MS"/>
                <a:cs typeface="Trebuchet MS"/>
              </a:rPr>
              <a:t>to</a:t>
            </a:r>
            <a:r>
              <a:rPr sz="950" i="1" spc="-5" dirty="0">
                <a:latin typeface="Trebuchet MS"/>
                <a:cs typeface="Trebuchet MS"/>
              </a:rPr>
              <a:t> </a:t>
            </a:r>
            <a:r>
              <a:rPr sz="950" i="1" spc="-20" dirty="0">
                <a:latin typeface="Trebuchet MS"/>
                <a:cs typeface="Trebuchet MS"/>
              </a:rPr>
              <a:t>the</a:t>
            </a:r>
            <a:r>
              <a:rPr sz="950" i="1" spc="-5" dirty="0">
                <a:latin typeface="Trebuchet MS"/>
                <a:cs typeface="Trebuchet MS"/>
              </a:rPr>
              <a:t> </a:t>
            </a:r>
            <a:r>
              <a:rPr sz="950" i="1" dirty="0">
                <a:latin typeface="Trebuchet MS"/>
                <a:cs typeface="Trebuchet MS"/>
              </a:rPr>
              <a:t>score </a:t>
            </a:r>
            <a:r>
              <a:rPr sz="950" i="1" spc="-35" dirty="0">
                <a:latin typeface="Trebuchet MS"/>
                <a:cs typeface="Trebuchet MS"/>
              </a:rPr>
              <a:t>of</a:t>
            </a:r>
            <a:r>
              <a:rPr sz="950" i="1" spc="-5" dirty="0">
                <a:latin typeface="Trebuchet MS"/>
                <a:cs typeface="Trebuchet MS"/>
              </a:rPr>
              <a:t> </a:t>
            </a:r>
            <a:r>
              <a:rPr sz="950" i="1" spc="-20" dirty="0">
                <a:latin typeface="Trebuchet MS"/>
                <a:cs typeface="Trebuchet MS"/>
              </a:rPr>
              <a:t>the</a:t>
            </a:r>
            <a:r>
              <a:rPr sz="950" i="1" spc="-5" dirty="0">
                <a:latin typeface="Trebuchet MS"/>
                <a:cs typeface="Trebuchet MS"/>
              </a:rPr>
              <a:t> </a:t>
            </a:r>
            <a:r>
              <a:rPr sz="950" i="1" spc="55" dirty="0">
                <a:latin typeface="Trebuchet MS"/>
                <a:cs typeface="Trebuchet MS"/>
              </a:rPr>
              <a:t>sense</a:t>
            </a:r>
            <a:r>
              <a:rPr sz="950" i="1" spc="-5" dirty="0">
                <a:latin typeface="Trebuchet MS"/>
                <a:cs typeface="Trebuchet MS"/>
              </a:rPr>
              <a:t> </a:t>
            </a:r>
            <a:r>
              <a:rPr sz="950" i="1" spc="-100" dirty="0">
                <a:latin typeface="Trebuchet MS"/>
                <a:cs typeface="Trebuchet MS"/>
              </a:rPr>
              <a:t>if</a:t>
            </a:r>
            <a:r>
              <a:rPr sz="950" i="1" spc="-5" dirty="0">
                <a:latin typeface="Trebuchet MS"/>
                <a:cs typeface="Trebuchet MS"/>
              </a:rPr>
              <a:t> </a:t>
            </a:r>
            <a:r>
              <a:rPr sz="950" i="1" spc="-20" dirty="0">
                <a:latin typeface="Trebuchet MS"/>
                <a:cs typeface="Trebuchet MS"/>
              </a:rPr>
              <a:t>the</a:t>
            </a:r>
            <a:r>
              <a:rPr sz="950" i="1" spc="-5" dirty="0">
                <a:latin typeface="Trebuchet MS"/>
                <a:cs typeface="Trebuchet MS"/>
              </a:rPr>
              <a:t> </a:t>
            </a:r>
            <a:r>
              <a:rPr sz="950" i="1" spc="-10" dirty="0">
                <a:latin typeface="Trebuchet MS"/>
                <a:cs typeface="Trebuchet MS"/>
              </a:rPr>
              <a:t>thesaurus </a:t>
            </a:r>
            <a:r>
              <a:rPr sz="950" i="1" dirty="0">
                <a:latin typeface="Trebuchet MS"/>
                <a:cs typeface="Trebuchet MS"/>
              </a:rPr>
              <a:t>category</a:t>
            </a:r>
            <a:r>
              <a:rPr sz="950" i="1" spc="-5" dirty="0">
                <a:latin typeface="Trebuchet MS"/>
                <a:cs typeface="Trebuchet MS"/>
              </a:rPr>
              <a:t> </a:t>
            </a:r>
            <a:r>
              <a:rPr sz="950" i="1" spc="-35" dirty="0">
                <a:latin typeface="Trebuchet MS"/>
                <a:cs typeface="Trebuchet MS"/>
              </a:rPr>
              <a:t>of</a:t>
            </a:r>
            <a:r>
              <a:rPr sz="950" i="1" dirty="0">
                <a:latin typeface="Trebuchet MS"/>
                <a:cs typeface="Trebuchet MS"/>
              </a:rPr>
              <a:t> </a:t>
            </a:r>
            <a:r>
              <a:rPr sz="950" i="1" spc="-20" dirty="0">
                <a:latin typeface="Trebuchet MS"/>
                <a:cs typeface="Trebuchet MS"/>
              </a:rPr>
              <a:t>the</a:t>
            </a:r>
            <a:r>
              <a:rPr sz="950" i="1" dirty="0">
                <a:latin typeface="Trebuchet MS"/>
                <a:cs typeface="Trebuchet MS"/>
              </a:rPr>
              <a:t> word</a:t>
            </a:r>
            <a:r>
              <a:rPr sz="950" i="1" spc="-5" dirty="0">
                <a:latin typeface="Trebuchet MS"/>
                <a:cs typeface="Trebuchet MS"/>
              </a:rPr>
              <a:t> </a:t>
            </a:r>
            <a:r>
              <a:rPr sz="950" i="1" dirty="0">
                <a:latin typeface="Trebuchet MS"/>
                <a:cs typeface="Trebuchet MS"/>
              </a:rPr>
              <a:t>matches </a:t>
            </a:r>
            <a:r>
              <a:rPr sz="950" i="1" spc="-55" dirty="0">
                <a:latin typeface="Trebuchet MS"/>
                <a:cs typeface="Trebuchet MS"/>
              </a:rPr>
              <a:t>that</a:t>
            </a:r>
            <a:r>
              <a:rPr sz="950" i="1" dirty="0">
                <a:latin typeface="Trebuchet MS"/>
                <a:cs typeface="Trebuchet MS"/>
              </a:rPr>
              <a:t> </a:t>
            </a:r>
            <a:r>
              <a:rPr sz="950" i="1" spc="-35" dirty="0">
                <a:latin typeface="Trebuchet MS"/>
                <a:cs typeface="Trebuchet MS"/>
              </a:rPr>
              <a:t>of</a:t>
            </a:r>
            <a:r>
              <a:rPr sz="950" i="1" spc="-5" dirty="0">
                <a:latin typeface="Trebuchet MS"/>
                <a:cs typeface="Trebuchet MS"/>
              </a:rPr>
              <a:t> </a:t>
            </a:r>
            <a:r>
              <a:rPr sz="950" i="1" spc="-20" dirty="0">
                <a:latin typeface="Trebuchet MS"/>
                <a:cs typeface="Trebuchet MS"/>
              </a:rPr>
              <a:t>the</a:t>
            </a:r>
            <a:r>
              <a:rPr sz="950" i="1" dirty="0">
                <a:latin typeface="Trebuchet MS"/>
                <a:cs typeface="Trebuchet MS"/>
              </a:rPr>
              <a:t> </a:t>
            </a:r>
            <a:r>
              <a:rPr sz="950" i="1" spc="-10" dirty="0">
                <a:latin typeface="Trebuchet MS"/>
                <a:cs typeface="Trebuchet MS"/>
              </a:rPr>
              <a:t>sense.</a:t>
            </a:r>
            <a:endParaRPr sz="950">
              <a:latin typeface="Trebuchet MS"/>
              <a:cs typeface="Trebuchet MS"/>
            </a:endParaRPr>
          </a:p>
          <a:p>
            <a:pPr marL="313690" indent="-116205">
              <a:lnSpc>
                <a:spcPct val="100000"/>
              </a:lnSpc>
              <a:spcBef>
                <a:spcPts val="204"/>
              </a:spcBef>
              <a:buClr>
                <a:srgbClr val="3232B2"/>
              </a:buClr>
              <a:buSzPct val="66666"/>
              <a:buFont typeface="Lucida Sans Unicode"/>
              <a:buChar char="►"/>
              <a:tabLst>
                <a:tab pos="313690" algn="l"/>
              </a:tabLst>
            </a:pPr>
            <a:r>
              <a:rPr sz="900" dirty="0">
                <a:latin typeface="Trebuchet MS"/>
                <a:cs typeface="Trebuchet MS"/>
              </a:rPr>
              <a:t>E.g.</a:t>
            </a:r>
            <a:r>
              <a:rPr sz="900" spc="40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The</a:t>
            </a:r>
            <a:r>
              <a:rPr sz="900" spc="-20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money</a:t>
            </a:r>
            <a:r>
              <a:rPr sz="900" spc="-15" dirty="0">
                <a:latin typeface="Trebuchet MS"/>
                <a:cs typeface="Trebuchet MS"/>
              </a:rPr>
              <a:t> </a:t>
            </a:r>
            <a:r>
              <a:rPr sz="900" spc="-10" dirty="0">
                <a:latin typeface="Trebuchet MS"/>
                <a:cs typeface="Trebuchet MS"/>
              </a:rPr>
              <a:t>in</a:t>
            </a:r>
            <a:r>
              <a:rPr sz="900" spc="-20" dirty="0">
                <a:latin typeface="Trebuchet MS"/>
                <a:cs typeface="Trebuchet MS"/>
              </a:rPr>
              <a:t> this </a:t>
            </a:r>
            <a:r>
              <a:rPr sz="900" dirty="0">
                <a:latin typeface="Trebuchet MS"/>
                <a:cs typeface="Trebuchet MS"/>
              </a:rPr>
              <a:t>bank</a:t>
            </a:r>
            <a:r>
              <a:rPr sz="900" spc="-20" dirty="0">
                <a:latin typeface="Trebuchet MS"/>
                <a:cs typeface="Trebuchet MS"/>
              </a:rPr>
              <a:t> fetches</a:t>
            </a:r>
            <a:r>
              <a:rPr sz="900" spc="-15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an</a:t>
            </a:r>
            <a:r>
              <a:rPr sz="900" spc="-20" dirty="0">
                <a:latin typeface="Trebuchet MS"/>
                <a:cs typeface="Trebuchet MS"/>
              </a:rPr>
              <a:t> </a:t>
            </a:r>
            <a:r>
              <a:rPr sz="900" spc="-35" dirty="0">
                <a:latin typeface="Trebuchet MS"/>
                <a:cs typeface="Trebuchet MS"/>
              </a:rPr>
              <a:t>interest</a:t>
            </a:r>
            <a:r>
              <a:rPr sz="900" spc="-20" dirty="0">
                <a:latin typeface="Trebuchet MS"/>
                <a:cs typeface="Trebuchet MS"/>
              </a:rPr>
              <a:t> </a:t>
            </a:r>
            <a:r>
              <a:rPr sz="900" spc="-45" dirty="0">
                <a:latin typeface="Trebuchet MS"/>
                <a:cs typeface="Trebuchet MS"/>
              </a:rPr>
              <a:t>of</a:t>
            </a:r>
            <a:r>
              <a:rPr sz="900" spc="-20" dirty="0">
                <a:latin typeface="Trebuchet MS"/>
                <a:cs typeface="Trebuchet MS"/>
              </a:rPr>
              <a:t> </a:t>
            </a:r>
            <a:r>
              <a:rPr sz="1000" spc="-65" dirty="0">
                <a:latin typeface="Cambria"/>
                <a:cs typeface="Cambria"/>
              </a:rPr>
              <a:t>8</a:t>
            </a:r>
            <a:r>
              <a:rPr sz="1000" spc="-65" dirty="0">
                <a:latin typeface="Arial MT"/>
                <a:cs typeface="Arial MT"/>
              </a:rPr>
              <a:t>%</a:t>
            </a:r>
            <a:r>
              <a:rPr sz="1000" spc="-20" dirty="0">
                <a:latin typeface="Arial MT"/>
                <a:cs typeface="Arial MT"/>
              </a:rPr>
              <a:t> </a:t>
            </a:r>
            <a:r>
              <a:rPr sz="900" spc="-10" dirty="0">
                <a:latin typeface="Trebuchet MS"/>
                <a:cs typeface="Trebuchet MS"/>
              </a:rPr>
              <a:t>per</a:t>
            </a:r>
            <a:r>
              <a:rPr sz="900" spc="-20" dirty="0">
                <a:latin typeface="Trebuchet MS"/>
                <a:cs typeface="Trebuchet MS"/>
              </a:rPr>
              <a:t> annum</a:t>
            </a:r>
            <a:endParaRPr sz="900">
              <a:latin typeface="Trebuchet MS"/>
              <a:cs typeface="Trebuchet MS"/>
            </a:endParaRPr>
          </a:p>
          <a:p>
            <a:pPr marL="313690" indent="-116205">
              <a:lnSpc>
                <a:spcPct val="100000"/>
              </a:lnSpc>
              <a:spcBef>
                <a:spcPts val="95"/>
              </a:spcBef>
              <a:buClr>
                <a:srgbClr val="3232B2"/>
              </a:buClr>
              <a:buSzPct val="66666"/>
              <a:buFont typeface="Lucida Sans Unicode"/>
              <a:buChar char="►"/>
              <a:tabLst>
                <a:tab pos="313690" algn="l"/>
              </a:tabLst>
            </a:pPr>
            <a:r>
              <a:rPr sz="900" spc="-30" dirty="0">
                <a:latin typeface="Trebuchet MS"/>
                <a:cs typeface="Trebuchet MS"/>
              </a:rPr>
              <a:t>Target</a:t>
            </a:r>
            <a:r>
              <a:rPr sz="900" spc="-40" dirty="0">
                <a:latin typeface="Trebuchet MS"/>
                <a:cs typeface="Trebuchet MS"/>
              </a:rPr>
              <a:t> </a:t>
            </a:r>
            <a:r>
              <a:rPr sz="900" spc="-20" dirty="0">
                <a:latin typeface="Trebuchet MS"/>
                <a:cs typeface="Trebuchet MS"/>
              </a:rPr>
              <a:t>word:</a:t>
            </a:r>
            <a:r>
              <a:rPr sz="900" spc="-35" dirty="0">
                <a:latin typeface="Trebuchet MS"/>
                <a:cs typeface="Trebuchet MS"/>
              </a:rPr>
              <a:t> </a:t>
            </a:r>
            <a:r>
              <a:rPr sz="900" i="1" spc="-20" dirty="0">
                <a:latin typeface="Trebuchet MS"/>
                <a:cs typeface="Trebuchet MS"/>
              </a:rPr>
              <a:t>bank</a:t>
            </a:r>
            <a:endParaRPr sz="900">
              <a:latin typeface="Trebuchet MS"/>
              <a:cs typeface="Trebuchet MS"/>
            </a:endParaRPr>
          </a:p>
          <a:p>
            <a:pPr marL="313690" indent="-116205">
              <a:lnSpc>
                <a:spcPct val="100000"/>
              </a:lnSpc>
              <a:spcBef>
                <a:spcPts val="114"/>
              </a:spcBef>
              <a:buClr>
                <a:srgbClr val="3232B2"/>
              </a:buClr>
              <a:buSzPct val="66666"/>
              <a:buFont typeface="Lucida Sans Unicode"/>
              <a:buChar char="►"/>
              <a:tabLst>
                <a:tab pos="313690" algn="l"/>
              </a:tabLst>
            </a:pPr>
            <a:r>
              <a:rPr sz="900" dirty="0">
                <a:latin typeface="Trebuchet MS"/>
                <a:cs typeface="Trebuchet MS"/>
              </a:rPr>
              <a:t>Clue</a:t>
            </a:r>
            <a:r>
              <a:rPr sz="900" spc="-25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words</a:t>
            </a:r>
            <a:r>
              <a:rPr sz="900" spc="-20" dirty="0">
                <a:latin typeface="Trebuchet MS"/>
                <a:cs typeface="Trebuchet MS"/>
              </a:rPr>
              <a:t> </a:t>
            </a:r>
            <a:r>
              <a:rPr sz="900" spc="-40" dirty="0">
                <a:latin typeface="Trebuchet MS"/>
                <a:cs typeface="Trebuchet MS"/>
              </a:rPr>
              <a:t>from</a:t>
            </a:r>
            <a:r>
              <a:rPr sz="900" spc="-20" dirty="0">
                <a:latin typeface="Trebuchet MS"/>
                <a:cs typeface="Trebuchet MS"/>
              </a:rPr>
              <a:t> </a:t>
            </a:r>
            <a:r>
              <a:rPr sz="900" spc="-25" dirty="0">
                <a:latin typeface="Trebuchet MS"/>
                <a:cs typeface="Trebuchet MS"/>
              </a:rPr>
              <a:t>the</a:t>
            </a:r>
            <a:r>
              <a:rPr sz="900" spc="-20" dirty="0">
                <a:latin typeface="Trebuchet MS"/>
                <a:cs typeface="Trebuchet MS"/>
              </a:rPr>
              <a:t> </a:t>
            </a:r>
            <a:r>
              <a:rPr sz="900" spc="-35" dirty="0">
                <a:latin typeface="Trebuchet MS"/>
                <a:cs typeface="Trebuchet MS"/>
              </a:rPr>
              <a:t>context:</a:t>
            </a:r>
            <a:r>
              <a:rPr sz="900" spc="40" dirty="0">
                <a:latin typeface="Trebuchet MS"/>
                <a:cs typeface="Trebuchet MS"/>
              </a:rPr>
              <a:t> </a:t>
            </a:r>
            <a:r>
              <a:rPr sz="900" i="1" spc="-30" dirty="0">
                <a:latin typeface="Trebuchet MS"/>
                <a:cs typeface="Trebuchet MS"/>
              </a:rPr>
              <a:t>money,</a:t>
            </a:r>
            <a:r>
              <a:rPr sz="900" i="1" spc="-20" dirty="0">
                <a:latin typeface="Trebuchet MS"/>
                <a:cs typeface="Trebuchet MS"/>
              </a:rPr>
              <a:t> </a:t>
            </a:r>
            <a:r>
              <a:rPr sz="900" i="1" spc="-45" dirty="0">
                <a:latin typeface="Trebuchet MS"/>
                <a:cs typeface="Trebuchet MS"/>
              </a:rPr>
              <a:t>interest,</a:t>
            </a:r>
            <a:r>
              <a:rPr sz="900" i="1" spc="-20" dirty="0">
                <a:latin typeface="Trebuchet MS"/>
                <a:cs typeface="Trebuchet MS"/>
              </a:rPr>
              <a:t> </a:t>
            </a:r>
            <a:r>
              <a:rPr sz="900" i="1" spc="-10" dirty="0">
                <a:latin typeface="Trebuchet MS"/>
                <a:cs typeface="Trebuchet MS"/>
              </a:rPr>
              <a:t>annum,</a:t>
            </a:r>
            <a:r>
              <a:rPr sz="900" i="1" spc="-20" dirty="0">
                <a:latin typeface="Trebuchet MS"/>
                <a:cs typeface="Trebuchet MS"/>
              </a:rPr>
              <a:t> </a:t>
            </a:r>
            <a:r>
              <a:rPr sz="900" i="1" spc="-10" dirty="0">
                <a:latin typeface="Trebuchet MS"/>
                <a:cs typeface="Trebuchet MS"/>
              </a:rPr>
              <a:t>fetch</a:t>
            </a:r>
            <a:endParaRPr sz="900">
              <a:latin typeface="Trebuchet MS"/>
              <a:cs typeface="Trebuchet MS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597" y="778154"/>
            <a:ext cx="64757" cy="64757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597" y="1160259"/>
            <a:ext cx="64757" cy="64757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1817522" y="3339672"/>
            <a:ext cx="97345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  <a:hlinkClick r:id="rId5" action="ppaction://hlinksldjump"/>
              </a:rPr>
              <a:t>Word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  <a:hlinkClick r:id="rId5" action="ppaction://hlinksldjump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5" action="ppaction://hlinksldjump"/>
              </a:rPr>
              <a:t>Sense</a:t>
            </a:r>
            <a:r>
              <a:rPr sz="600" i="1" spc="5" dirty="0">
                <a:solidFill>
                  <a:srgbClr val="FFFFFF"/>
                </a:solidFill>
                <a:latin typeface="Cambria"/>
                <a:cs typeface="Cambria"/>
                <a:hlinkClick r:id="rId5" action="ppaction://hlinksldjump"/>
              </a:rPr>
              <a:t>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  <a:hlinkClick r:id="rId5" action="ppaction://hlinksldjump"/>
              </a:rPr>
              <a:t>Disambiguation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  <a:hlinkClick r:id="rId5" action="ppaction://hlinksldjump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5" action="ppaction://hlinksldjump"/>
              </a:rPr>
              <a:t>-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  <a:hlinkClick r:id="rId5" action="ppaction://hlinksldjump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  <a:hlinkClick r:id="rId5" action="ppaction://hlinksldjump"/>
              </a:rPr>
              <a:t>I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646170" y="3339672"/>
            <a:ext cx="56388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8,</a:t>
            </a:r>
            <a:r>
              <a:rPr sz="600" i="1" spc="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3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355385" y="3339672"/>
            <a:ext cx="19875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6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10" dirty="0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</a:rPr>
              <a:t>15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84D07034-FF1D-44D4-80E7-4B7DEE595A07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4292024" y="3339672"/>
            <a:ext cx="262254" cy="116204"/>
          </a:xfrm>
          <a:prstGeom prst="rect">
            <a:avLst/>
          </a:prstGeom>
        </p:spPr>
        <p:txBody>
          <a:bodyPr/>
          <a:lstStyle/>
          <a:p>
            <a:pPr marL="75565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lang="en-IN" smtClean="0"/>
              <a:t>91</a:t>
            </a:fld>
            <a:r>
              <a:rPr lang="en-IN" spc="-5"/>
              <a:t> </a:t>
            </a:r>
            <a:r>
              <a:rPr lang="en-IN" spc="-110"/>
              <a:t>/</a:t>
            </a:r>
            <a:r>
              <a:rPr lang="en-IN" spc="15"/>
              <a:t> </a:t>
            </a:r>
            <a:r>
              <a:rPr lang="en-IN" spc="-25"/>
              <a:t>18</a:t>
            </a:r>
            <a:endParaRPr lang="en-IN" spc="-25" dirty="0"/>
          </a:p>
        </p:txBody>
      </p:sp>
    </p:spTree>
  </p:cSld>
  <p:clrMapOvr>
    <a:masterClrMapping/>
  </p:clrMapOvr>
  <p:transition>
    <p:cut/>
  </p:transition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Walker’s</a:t>
            </a:r>
            <a:r>
              <a:rPr spc="-45" dirty="0"/>
              <a:t> </a:t>
            </a:r>
            <a:r>
              <a:rPr spc="-10" dirty="0"/>
              <a:t>Algorithm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597" y="568121"/>
            <a:ext cx="64757" cy="64757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77532" y="437624"/>
            <a:ext cx="4077335" cy="1610360"/>
          </a:xfrm>
          <a:prstGeom prst="rect">
            <a:avLst/>
          </a:prstGeom>
        </p:spPr>
        <p:txBody>
          <a:bodyPr vert="horz" wrap="square" lIns="0" tIns="768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05"/>
              </a:spcBef>
            </a:pPr>
            <a:r>
              <a:rPr sz="950" spc="90" dirty="0">
                <a:latin typeface="Trebuchet MS"/>
                <a:cs typeface="Trebuchet MS"/>
              </a:rPr>
              <a:t>A</a:t>
            </a:r>
            <a:r>
              <a:rPr sz="950" spc="70" dirty="0">
                <a:latin typeface="Trebuchet MS"/>
                <a:cs typeface="Trebuchet MS"/>
              </a:rPr>
              <a:t> </a:t>
            </a:r>
            <a:r>
              <a:rPr sz="950" spc="10" dirty="0">
                <a:latin typeface="Trebuchet MS"/>
                <a:cs typeface="Trebuchet MS"/>
              </a:rPr>
              <a:t>Thesaurus</a:t>
            </a:r>
            <a:r>
              <a:rPr sz="950" spc="70" dirty="0">
                <a:latin typeface="Trebuchet MS"/>
                <a:cs typeface="Trebuchet MS"/>
              </a:rPr>
              <a:t> </a:t>
            </a:r>
            <a:r>
              <a:rPr sz="950" spc="60" dirty="0">
                <a:latin typeface="Trebuchet MS"/>
                <a:cs typeface="Trebuchet MS"/>
              </a:rPr>
              <a:t>Based</a:t>
            </a:r>
            <a:r>
              <a:rPr sz="950" spc="7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approach</a:t>
            </a:r>
            <a:endParaRPr sz="950">
              <a:latin typeface="Trebuchet MS"/>
              <a:cs typeface="Trebuchet MS"/>
            </a:endParaRPr>
          </a:p>
          <a:p>
            <a:pPr marL="38100" marR="30480">
              <a:lnSpc>
                <a:spcPct val="118900"/>
              </a:lnSpc>
              <a:spcBef>
                <a:spcPts val="300"/>
              </a:spcBef>
            </a:pPr>
            <a:r>
              <a:rPr sz="950" b="1" dirty="0">
                <a:latin typeface="Trebuchet MS"/>
                <a:cs typeface="Trebuchet MS"/>
              </a:rPr>
              <a:t>Step</a:t>
            </a:r>
            <a:r>
              <a:rPr sz="950" b="1" spc="5" dirty="0">
                <a:latin typeface="Trebuchet MS"/>
                <a:cs typeface="Trebuchet MS"/>
              </a:rPr>
              <a:t> </a:t>
            </a:r>
            <a:r>
              <a:rPr sz="950" b="1" dirty="0">
                <a:latin typeface="Trebuchet MS"/>
                <a:cs typeface="Trebuchet MS"/>
              </a:rPr>
              <a:t>1:</a:t>
            </a:r>
            <a:r>
              <a:rPr sz="950" b="1" spc="7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For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each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spc="55" dirty="0">
                <a:latin typeface="Trebuchet MS"/>
                <a:cs typeface="Trebuchet MS"/>
              </a:rPr>
              <a:t>sense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of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target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word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find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thesaurus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category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spc="-25" dirty="0">
                <a:latin typeface="Trebuchet MS"/>
                <a:cs typeface="Trebuchet MS"/>
              </a:rPr>
              <a:t>to </a:t>
            </a:r>
            <a:r>
              <a:rPr sz="950" dirty="0">
                <a:latin typeface="Trebuchet MS"/>
                <a:cs typeface="Trebuchet MS"/>
              </a:rPr>
              <a:t>which</a:t>
            </a:r>
            <a:r>
              <a:rPr sz="950" spc="-30" dirty="0">
                <a:latin typeface="Trebuchet MS"/>
                <a:cs typeface="Trebuchet MS"/>
              </a:rPr>
              <a:t> that </a:t>
            </a:r>
            <a:r>
              <a:rPr sz="950" spc="55" dirty="0">
                <a:latin typeface="Trebuchet MS"/>
                <a:cs typeface="Trebuchet MS"/>
              </a:rPr>
              <a:t>sense</a:t>
            </a:r>
            <a:r>
              <a:rPr sz="950" spc="-3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belongs</a:t>
            </a:r>
            <a:endParaRPr sz="950">
              <a:latin typeface="Trebuchet MS"/>
              <a:cs typeface="Trebuchet MS"/>
            </a:endParaRPr>
          </a:p>
          <a:p>
            <a:pPr marL="38100" marR="120014">
              <a:lnSpc>
                <a:spcPct val="104900"/>
              </a:lnSpc>
              <a:spcBef>
                <a:spcPts val="455"/>
              </a:spcBef>
            </a:pPr>
            <a:r>
              <a:rPr sz="950" b="1" dirty="0">
                <a:latin typeface="Trebuchet MS"/>
                <a:cs typeface="Trebuchet MS"/>
              </a:rPr>
              <a:t>Step</a:t>
            </a:r>
            <a:r>
              <a:rPr sz="950" b="1" spc="25" dirty="0">
                <a:latin typeface="Trebuchet MS"/>
                <a:cs typeface="Trebuchet MS"/>
              </a:rPr>
              <a:t> </a:t>
            </a:r>
            <a:r>
              <a:rPr sz="950" b="1" dirty="0">
                <a:latin typeface="Trebuchet MS"/>
                <a:cs typeface="Trebuchet MS"/>
              </a:rPr>
              <a:t>2:</a:t>
            </a:r>
            <a:r>
              <a:rPr sz="950" b="1" spc="10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Calculate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score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spc="-40" dirty="0">
                <a:latin typeface="Trebuchet MS"/>
                <a:cs typeface="Trebuchet MS"/>
              </a:rPr>
              <a:t>for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each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spc="55" dirty="0">
                <a:latin typeface="Trebuchet MS"/>
                <a:cs typeface="Trebuchet MS"/>
              </a:rPr>
              <a:t>sense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by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using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context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words. </a:t>
            </a:r>
            <a:r>
              <a:rPr sz="950" i="1" spc="70" dirty="0">
                <a:latin typeface="Trebuchet MS"/>
                <a:cs typeface="Trebuchet MS"/>
              </a:rPr>
              <a:t>A</a:t>
            </a:r>
            <a:r>
              <a:rPr sz="950" i="1" spc="-5" dirty="0">
                <a:latin typeface="Trebuchet MS"/>
                <a:cs typeface="Trebuchet MS"/>
              </a:rPr>
              <a:t> </a:t>
            </a:r>
            <a:r>
              <a:rPr sz="950" i="1" spc="-20" dirty="0">
                <a:latin typeface="Trebuchet MS"/>
                <a:cs typeface="Trebuchet MS"/>
              </a:rPr>
              <a:t>context</a:t>
            </a:r>
            <a:r>
              <a:rPr sz="950" i="1" spc="-5" dirty="0">
                <a:latin typeface="Trebuchet MS"/>
                <a:cs typeface="Trebuchet MS"/>
              </a:rPr>
              <a:t> </a:t>
            </a:r>
            <a:r>
              <a:rPr sz="950" i="1" dirty="0">
                <a:latin typeface="Trebuchet MS"/>
                <a:cs typeface="Trebuchet MS"/>
              </a:rPr>
              <a:t>word</a:t>
            </a:r>
            <a:r>
              <a:rPr sz="950" i="1" spc="-5" dirty="0">
                <a:latin typeface="Trebuchet MS"/>
                <a:cs typeface="Trebuchet MS"/>
              </a:rPr>
              <a:t> </a:t>
            </a:r>
            <a:r>
              <a:rPr sz="950" i="1" spc="-65" dirty="0">
                <a:latin typeface="Trebuchet MS"/>
                <a:cs typeface="Trebuchet MS"/>
              </a:rPr>
              <a:t>will</a:t>
            </a:r>
            <a:r>
              <a:rPr sz="950" i="1" spc="-5" dirty="0">
                <a:latin typeface="Trebuchet MS"/>
                <a:cs typeface="Trebuchet MS"/>
              </a:rPr>
              <a:t> </a:t>
            </a:r>
            <a:r>
              <a:rPr sz="950" i="1" dirty="0">
                <a:latin typeface="Trebuchet MS"/>
                <a:cs typeface="Trebuchet MS"/>
              </a:rPr>
              <a:t>add</a:t>
            </a:r>
            <a:r>
              <a:rPr sz="950" i="1" spc="-5" dirty="0">
                <a:latin typeface="Trebuchet MS"/>
                <a:cs typeface="Trebuchet MS"/>
              </a:rPr>
              <a:t> </a:t>
            </a:r>
            <a:r>
              <a:rPr sz="950" i="1" dirty="0">
                <a:latin typeface="Trebuchet MS"/>
                <a:cs typeface="Trebuchet MS"/>
              </a:rPr>
              <a:t>1</a:t>
            </a:r>
            <a:r>
              <a:rPr sz="950" i="1" spc="-5" dirty="0">
                <a:latin typeface="Trebuchet MS"/>
                <a:cs typeface="Trebuchet MS"/>
              </a:rPr>
              <a:t> </a:t>
            </a:r>
            <a:r>
              <a:rPr sz="950" i="1" spc="-50" dirty="0">
                <a:latin typeface="Trebuchet MS"/>
                <a:cs typeface="Trebuchet MS"/>
              </a:rPr>
              <a:t>to</a:t>
            </a:r>
            <a:r>
              <a:rPr sz="950" i="1" spc="-5" dirty="0">
                <a:latin typeface="Trebuchet MS"/>
                <a:cs typeface="Trebuchet MS"/>
              </a:rPr>
              <a:t> </a:t>
            </a:r>
            <a:r>
              <a:rPr sz="950" i="1" spc="-20" dirty="0">
                <a:latin typeface="Trebuchet MS"/>
                <a:cs typeface="Trebuchet MS"/>
              </a:rPr>
              <a:t>the</a:t>
            </a:r>
            <a:r>
              <a:rPr sz="950" i="1" spc="-5" dirty="0">
                <a:latin typeface="Trebuchet MS"/>
                <a:cs typeface="Trebuchet MS"/>
              </a:rPr>
              <a:t> </a:t>
            </a:r>
            <a:r>
              <a:rPr sz="950" i="1" dirty="0">
                <a:latin typeface="Trebuchet MS"/>
                <a:cs typeface="Trebuchet MS"/>
              </a:rPr>
              <a:t>score </a:t>
            </a:r>
            <a:r>
              <a:rPr sz="950" i="1" spc="-35" dirty="0">
                <a:latin typeface="Trebuchet MS"/>
                <a:cs typeface="Trebuchet MS"/>
              </a:rPr>
              <a:t>of</a:t>
            </a:r>
            <a:r>
              <a:rPr sz="950" i="1" spc="-5" dirty="0">
                <a:latin typeface="Trebuchet MS"/>
                <a:cs typeface="Trebuchet MS"/>
              </a:rPr>
              <a:t> </a:t>
            </a:r>
            <a:r>
              <a:rPr sz="950" i="1" spc="-20" dirty="0">
                <a:latin typeface="Trebuchet MS"/>
                <a:cs typeface="Trebuchet MS"/>
              </a:rPr>
              <a:t>the</a:t>
            </a:r>
            <a:r>
              <a:rPr sz="950" i="1" spc="-5" dirty="0">
                <a:latin typeface="Trebuchet MS"/>
                <a:cs typeface="Trebuchet MS"/>
              </a:rPr>
              <a:t> </a:t>
            </a:r>
            <a:r>
              <a:rPr sz="950" i="1" spc="55" dirty="0">
                <a:latin typeface="Trebuchet MS"/>
                <a:cs typeface="Trebuchet MS"/>
              </a:rPr>
              <a:t>sense</a:t>
            </a:r>
            <a:r>
              <a:rPr sz="950" i="1" spc="-5" dirty="0">
                <a:latin typeface="Trebuchet MS"/>
                <a:cs typeface="Trebuchet MS"/>
              </a:rPr>
              <a:t> </a:t>
            </a:r>
            <a:r>
              <a:rPr sz="950" i="1" spc="-100" dirty="0">
                <a:latin typeface="Trebuchet MS"/>
                <a:cs typeface="Trebuchet MS"/>
              </a:rPr>
              <a:t>if</a:t>
            </a:r>
            <a:r>
              <a:rPr sz="950" i="1" spc="-5" dirty="0">
                <a:latin typeface="Trebuchet MS"/>
                <a:cs typeface="Trebuchet MS"/>
              </a:rPr>
              <a:t> </a:t>
            </a:r>
            <a:r>
              <a:rPr sz="950" i="1" spc="-20" dirty="0">
                <a:latin typeface="Trebuchet MS"/>
                <a:cs typeface="Trebuchet MS"/>
              </a:rPr>
              <a:t>the</a:t>
            </a:r>
            <a:r>
              <a:rPr sz="950" i="1" spc="-5" dirty="0">
                <a:latin typeface="Trebuchet MS"/>
                <a:cs typeface="Trebuchet MS"/>
              </a:rPr>
              <a:t> </a:t>
            </a:r>
            <a:r>
              <a:rPr sz="950" i="1" spc="-10" dirty="0">
                <a:latin typeface="Trebuchet MS"/>
                <a:cs typeface="Trebuchet MS"/>
              </a:rPr>
              <a:t>thesaurus </a:t>
            </a:r>
            <a:r>
              <a:rPr sz="950" i="1" dirty="0">
                <a:latin typeface="Trebuchet MS"/>
                <a:cs typeface="Trebuchet MS"/>
              </a:rPr>
              <a:t>category</a:t>
            </a:r>
            <a:r>
              <a:rPr sz="950" i="1" spc="-5" dirty="0">
                <a:latin typeface="Trebuchet MS"/>
                <a:cs typeface="Trebuchet MS"/>
              </a:rPr>
              <a:t> </a:t>
            </a:r>
            <a:r>
              <a:rPr sz="950" i="1" spc="-35" dirty="0">
                <a:latin typeface="Trebuchet MS"/>
                <a:cs typeface="Trebuchet MS"/>
              </a:rPr>
              <a:t>of</a:t>
            </a:r>
            <a:r>
              <a:rPr sz="950" i="1" dirty="0">
                <a:latin typeface="Trebuchet MS"/>
                <a:cs typeface="Trebuchet MS"/>
              </a:rPr>
              <a:t> </a:t>
            </a:r>
            <a:r>
              <a:rPr sz="950" i="1" spc="-20" dirty="0">
                <a:latin typeface="Trebuchet MS"/>
                <a:cs typeface="Trebuchet MS"/>
              </a:rPr>
              <a:t>the</a:t>
            </a:r>
            <a:r>
              <a:rPr sz="950" i="1" dirty="0">
                <a:latin typeface="Trebuchet MS"/>
                <a:cs typeface="Trebuchet MS"/>
              </a:rPr>
              <a:t> word</a:t>
            </a:r>
            <a:r>
              <a:rPr sz="950" i="1" spc="-5" dirty="0">
                <a:latin typeface="Trebuchet MS"/>
                <a:cs typeface="Trebuchet MS"/>
              </a:rPr>
              <a:t> </a:t>
            </a:r>
            <a:r>
              <a:rPr sz="950" i="1" dirty="0">
                <a:latin typeface="Trebuchet MS"/>
                <a:cs typeface="Trebuchet MS"/>
              </a:rPr>
              <a:t>matches </a:t>
            </a:r>
            <a:r>
              <a:rPr sz="950" i="1" spc="-55" dirty="0">
                <a:latin typeface="Trebuchet MS"/>
                <a:cs typeface="Trebuchet MS"/>
              </a:rPr>
              <a:t>that</a:t>
            </a:r>
            <a:r>
              <a:rPr sz="950" i="1" dirty="0">
                <a:latin typeface="Trebuchet MS"/>
                <a:cs typeface="Trebuchet MS"/>
              </a:rPr>
              <a:t> </a:t>
            </a:r>
            <a:r>
              <a:rPr sz="950" i="1" spc="-35" dirty="0">
                <a:latin typeface="Trebuchet MS"/>
                <a:cs typeface="Trebuchet MS"/>
              </a:rPr>
              <a:t>of</a:t>
            </a:r>
            <a:r>
              <a:rPr sz="950" i="1" spc="-5" dirty="0">
                <a:latin typeface="Trebuchet MS"/>
                <a:cs typeface="Trebuchet MS"/>
              </a:rPr>
              <a:t> </a:t>
            </a:r>
            <a:r>
              <a:rPr sz="950" i="1" spc="-20" dirty="0">
                <a:latin typeface="Trebuchet MS"/>
                <a:cs typeface="Trebuchet MS"/>
              </a:rPr>
              <a:t>the</a:t>
            </a:r>
            <a:r>
              <a:rPr sz="950" i="1" dirty="0">
                <a:latin typeface="Trebuchet MS"/>
                <a:cs typeface="Trebuchet MS"/>
              </a:rPr>
              <a:t> </a:t>
            </a:r>
            <a:r>
              <a:rPr sz="950" i="1" spc="-10" dirty="0">
                <a:latin typeface="Trebuchet MS"/>
                <a:cs typeface="Trebuchet MS"/>
              </a:rPr>
              <a:t>sense.</a:t>
            </a:r>
            <a:endParaRPr sz="950">
              <a:latin typeface="Trebuchet MS"/>
              <a:cs typeface="Trebuchet MS"/>
            </a:endParaRPr>
          </a:p>
          <a:p>
            <a:pPr marL="313690" indent="-116205">
              <a:lnSpc>
                <a:spcPct val="100000"/>
              </a:lnSpc>
              <a:spcBef>
                <a:spcPts val="204"/>
              </a:spcBef>
              <a:buClr>
                <a:srgbClr val="3232B2"/>
              </a:buClr>
              <a:buSzPct val="66666"/>
              <a:buFont typeface="Lucida Sans Unicode"/>
              <a:buChar char="►"/>
              <a:tabLst>
                <a:tab pos="313690" algn="l"/>
              </a:tabLst>
            </a:pPr>
            <a:r>
              <a:rPr sz="900" dirty="0">
                <a:latin typeface="Trebuchet MS"/>
                <a:cs typeface="Trebuchet MS"/>
              </a:rPr>
              <a:t>E.g.</a:t>
            </a:r>
            <a:r>
              <a:rPr sz="900" spc="40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The</a:t>
            </a:r>
            <a:r>
              <a:rPr sz="900" spc="-20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money</a:t>
            </a:r>
            <a:r>
              <a:rPr sz="900" spc="-15" dirty="0">
                <a:latin typeface="Trebuchet MS"/>
                <a:cs typeface="Trebuchet MS"/>
              </a:rPr>
              <a:t> </a:t>
            </a:r>
            <a:r>
              <a:rPr sz="900" spc="-10" dirty="0">
                <a:latin typeface="Trebuchet MS"/>
                <a:cs typeface="Trebuchet MS"/>
              </a:rPr>
              <a:t>in</a:t>
            </a:r>
            <a:r>
              <a:rPr sz="900" spc="-20" dirty="0">
                <a:latin typeface="Trebuchet MS"/>
                <a:cs typeface="Trebuchet MS"/>
              </a:rPr>
              <a:t> this </a:t>
            </a:r>
            <a:r>
              <a:rPr sz="900" dirty="0">
                <a:latin typeface="Trebuchet MS"/>
                <a:cs typeface="Trebuchet MS"/>
              </a:rPr>
              <a:t>bank</a:t>
            </a:r>
            <a:r>
              <a:rPr sz="900" spc="-20" dirty="0">
                <a:latin typeface="Trebuchet MS"/>
                <a:cs typeface="Trebuchet MS"/>
              </a:rPr>
              <a:t> fetches</a:t>
            </a:r>
            <a:r>
              <a:rPr sz="900" spc="-15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an</a:t>
            </a:r>
            <a:r>
              <a:rPr sz="900" spc="-20" dirty="0">
                <a:latin typeface="Trebuchet MS"/>
                <a:cs typeface="Trebuchet MS"/>
              </a:rPr>
              <a:t> </a:t>
            </a:r>
            <a:r>
              <a:rPr sz="900" spc="-35" dirty="0">
                <a:latin typeface="Trebuchet MS"/>
                <a:cs typeface="Trebuchet MS"/>
              </a:rPr>
              <a:t>interest</a:t>
            </a:r>
            <a:r>
              <a:rPr sz="900" spc="-20" dirty="0">
                <a:latin typeface="Trebuchet MS"/>
                <a:cs typeface="Trebuchet MS"/>
              </a:rPr>
              <a:t> </a:t>
            </a:r>
            <a:r>
              <a:rPr sz="900" spc="-45" dirty="0">
                <a:latin typeface="Trebuchet MS"/>
                <a:cs typeface="Trebuchet MS"/>
              </a:rPr>
              <a:t>of</a:t>
            </a:r>
            <a:r>
              <a:rPr sz="900" spc="-20" dirty="0">
                <a:latin typeface="Trebuchet MS"/>
                <a:cs typeface="Trebuchet MS"/>
              </a:rPr>
              <a:t> </a:t>
            </a:r>
            <a:r>
              <a:rPr sz="1000" spc="-65" dirty="0">
                <a:latin typeface="Cambria"/>
                <a:cs typeface="Cambria"/>
              </a:rPr>
              <a:t>8</a:t>
            </a:r>
            <a:r>
              <a:rPr sz="1000" spc="-65" dirty="0">
                <a:latin typeface="Arial MT"/>
                <a:cs typeface="Arial MT"/>
              </a:rPr>
              <a:t>%</a:t>
            </a:r>
            <a:r>
              <a:rPr sz="1000" spc="-20" dirty="0">
                <a:latin typeface="Arial MT"/>
                <a:cs typeface="Arial MT"/>
              </a:rPr>
              <a:t> </a:t>
            </a:r>
            <a:r>
              <a:rPr sz="900" spc="-10" dirty="0">
                <a:latin typeface="Trebuchet MS"/>
                <a:cs typeface="Trebuchet MS"/>
              </a:rPr>
              <a:t>per</a:t>
            </a:r>
            <a:r>
              <a:rPr sz="900" spc="-20" dirty="0">
                <a:latin typeface="Trebuchet MS"/>
                <a:cs typeface="Trebuchet MS"/>
              </a:rPr>
              <a:t> annum</a:t>
            </a:r>
            <a:endParaRPr sz="900">
              <a:latin typeface="Trebuchet MS"/>
              <a:cs typeface="Trebuchet MS"/>
            </a:endParaRPr>
          </a:p>
          <a:p>
            <a:pPr marL="313690" indent="-116205">
              <a:lnSpc>
                <a:spcPct val="100000"/>
              </a:lnSpc>
              <a:spcBef>
                <a:spcPts val="95"/>
              </a:spcBef>
              <a:buClr>
                <a:srgbClr val="3232B2"/>
              </a:buClr>
              <a:buSzPct val="66666"/>
              <a:buFont typeface="Lucida Sans Unicode"/>
              <a:buChar char="►"/>
              <a:tabLst>
                <a:tab pos="313690" algn="l"/>
              </a:tabLst>
            </a:pPr>
            <a:r>
              <a:rPr sz="900" spc="-30" dirty="0">
                <a:latin typeface="Trebuchet MS"/>
                <a:cs typeface="Trebuchet MS"/>
              </a:rPr>
              <a:t>Target</a:t>
            </a:r>
            <a:r>
              <a:rPr sz="900" spc="-40" dirty="0">
                <a:latin typeface="Trebuchet MS"/>
                <a:cs typeface="Trebuchet MS"/>
              </a:rPr>
              <a:t> </a:t>
            </a:r>
            <a:r>
              <a:rPr sz="900" spc="-20" dirty="0">
                <a:latin typeface="Trebuchet MS"/>
                <a:cs typeface="Trebuchet MS"/>
              </a:rPr>
              <a:t>word:</a:t>
            </a:r>
            <a:r>
              <a:rPr sz="900" spc="-35" dirty="0">
                <a:latin typeface="Trebuchet MS"/>
                <a:cs typeface="Trebuchet MS"/>
              </a:rPr>
              <a:t> </a:t>
            </a:r>
            <a:r>
              <a:rPr sz="900" i="1" spc="-20" dirty="0">
                <a:latin typeface="Trebuchet MS"/>
                <a:cs typeface="Trebuchet MS"/>
              </a:rPr>
              <a:t>bank</a:t>
            </a:r>
            <a:endParaRPr sz="900">
              <a:latin typeface="Trebuchet MS"/>
              <a:cs typeface="Trebuchet MS"/>
            </a:endParaRPr>
          </a:p>
          <a:p>
            <a:pPr marL="313690" indent="-116205">
              <a:lnSpc>
                <a:spcPct val="100000"/>
              </a:lnSpc>
              <a:spcBef>
                <a:spcPts val="114"/>
              </a:spcBef>
              <a:buClr>
                <a:srgbClr val="3232B2"/>
              </a:buClr>
              <a:buSzPct val="66666"/>
              <a:buFont typeface="Lucida Sans Unicode"/>
              <a:buChar char="►"/>
              <a:tabLst>
                <a:tab pos="313690" algn="l"/>
              </a:tabLst>
            </a:pPr>
            <a:r>
              <a:rPr sz="900" dirty="0">
                <a:latin typeface="Trebuchet MS"/>
                <a:cs typeface="Trebuchet MS"/>
              </a:rPr>
              <a:t>Clue</a:t>
            </a:r>
            <a:r>
              <a:rPr sz="900" spc="-25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words</a:t>
            </a:r>
            <a:r>
              <a:rPr sz="900" spc="-20" dirty="0">
                <a:latin typeface="Trebuchet MS"/>
                <a:cs typeface="Trebuchet MS"/>
              </a:rPr>
              <a:t> </a:t>
            </a:r>
            <a:r>
              <a:rPr sz="900" spc="-40" dirty="0">
                <a:latin typeface="Trebuchet MS"/>
                <a:cs typeface="Trebuchet MS"/>
              </a:rPr>
              <a:t>from</a:t>
            </a:r>
            <a:r>
              <a:rPr sz="900" spc="-20" dirty="0">
                <a:latin typeface="Trebuchet MS"/>
                <a:cs typeface="Trebuchet MS"/>
              </a:rPr>
              <a:t> </a:t>
            </a:r>
            <a:r>
              <a:rPr sz="900" spc="-25" dirty="0">
                <a:latin typeface="Trebuchet MS"/>
                <a:cs typeface="Trebuchet MS"/>
              </a:rPr>
              <a:t>the</a:t>
            </a:r>
            <a:r>
              <a:rPr sz="900" spc="-20" dirty="0">
                <a:latin typeface="Trebuchet MS"/>
                <a:cs typeface="Trebuchet MS"/>
              </a:rPr>
              <a:t> </a:t>
            </a:r>
            <a:r>
              <a:rPr sz="900" spc="-35" dirty="0">
                <a:latin typeface="Trebuchet MS"/>
                <a:cs typeface="Trebuchet MS"/>
              </a:rPr>
              <a:t>context:</a:t>
            </a:r>
            <a:r>
              <a:rPr sz="900" spc="40" dirty="0">
                <a:latin typeface="Trebuchet MS"/>
                <a:cs typeface="Trebuchet MS"/>
              </a:rPr>
              <a:t> </a:t>
            </a:r>
            <a:r>
              <a:rPr sz="900" i="1" spc="-30" dirty="0">
                <a:latin typeface="Trebuchet MS"/>
                <a:cs typeface="Trebuchet MS"/>
              </a:rPr>
              <a:t>money,</a:t>
            </a:r>
            <a:r>
              <a:rPr sz="900" i="1" spc="-20" dirty="0">
                <a:latin typeface="Trebuchet MS"/>
                <a:cs typeface="Trebuchet MS"/>
              </a:rPr>
              <a:t> </a:t>
            </a:r>
            <a:r>
              <a:rPr sz="900" i="1" spc="-45" dirty="0">
                <a:latin typeface="Trebuchet MS"/>
                <a:cs typeface="Trebuchet MS"/>
              </a:rPr>
              <a:t>interest,</a:t>
            </a:r>
            <a:r>
              <a:rPr sz="900" i="1" spc="-20" dirty="0">
                <a:latin typeface="Trebuchet MS"/>
                <a:cs typeface="Trebuchet MS"/>
              </a:rPr>
              <a:t> </a:t>
            </a:r>
            <a:r>
              <a:rPr sz="900" i="1" spc="-10" dirty="0">
                <a:latin typeface="Trebuchet MS"/>
                <a:cs typeface="Trebuchet MS"/>
              </a:rPr>
              <a:t>annum,</a:t>
            </a:r>
            <a:r>
              <a:rPr sz="900" i="1" spc="-20" dirty="0">
                <a:latin typeface="Trebuchet MS"/>
                <a:cs typeface="Trebuchet MS"/>
              </a:rPr>
              <a:t> </a:t>
            </a:r>
            <a:r>
              <a:rPr sz="900" i="1" spc="-10" dirty="0">
                <a:latin typeface="Trebuchet MS"/>
                <a:cs typeface="Trebuchet MS"/>
              </a:rPr>
              <a:t>fetch</a:t>
            </a:r>
            <a:endParaRPr sz="900">
              <a:latin typeface="Trebuchet MS"/>
              <a:cs typeface="Trebuchet MS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597" y="778154"/>
            <a:ext cx="64757" cy="64757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597" y="1160259"/>
            <a:ext cx="64757" cy="64757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159090" y="2306866"/>
            <a:ext cx="2308860" cy="761999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1817522" y="3339672"/>
            <a:ext cx="97345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  <a:hlinkClick r:id="rId6" action="ppaction://hlinksldjump"/>
              </a:rPr>
              <a:t>Word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  <a:hlinkClick r:id="rId6" action="ppaction://hlinksldjump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6" action="ppaction://hlinksldjump"/>
              </a:rPr>
              <a:t>Sense</a:t>
            </a:r>
            <a:r>
              <a:rPr sz="600" i="1" spc="5" dirty="0">
                <a:solidFill>
                  <a:srgbClr val="FFFFFF"/>
                </a:solidFill>
                <a:latin typeface="Cambria"/>
                <a:cs typeface="Cambria"/>
                <a:hlinkClick r:id="rId6" action="ppaction://hlinksldjump"/>
              </a:rPr>
              <a:t>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  <a:hlinkClick r:id="rId6" action="ppaction://hlinksldjump"/>
              </a:rPr>
              <a:t>Disambiguation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  <a:hlinkClick r:id="rId6" action="ppaction://hlinksldjump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6" action="ppaction://hlinksldjump"/>
              </a:rPr>
              <a:t>-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  <a:hlinkClick r:id="rId6" action="ppaction://hlinksldjump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  <a:hlinkClick r:id="rId6" action="ppaction://hlinksldjump"/>
              </a:rPr>
              <a:t>I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646170" y="3339672"/>
            <a:ext cx="56388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8,</a:t>
            </a:r>
            <a:r>
              <a:rPr sz="600" i="1" spc="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3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355385" y="3339672"/>
            <a:ext cx="19875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6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10" dirty="0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</a:rPr>
              <a:t>15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F72AA81B-DEE7-4F25-B78A-BEF293324A73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4292024" y="3339672"/>
            <a:ext cx="262254" cy="116204"/>
          </a:xfrm>
          <a:prstGeom prst="rect">
            <a:avLst/>
          </a:prstGeom>
        </p:spPr>
        <p:txBody>
          <a:bodyPr/>
          <a:lstStyle/>
          <a:p>
            <a:pPr marL="75565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lang="en-IN" smtClean="0"/>
              <a:t>92</a:t>
            </a:fld>
            <a:r>
              <a:rPr lang="en-IN" spc="-5"/>
              <a:t> </a:t>
            </a:r>
            <a:r>
              <a:rPr lang="en-IN" spc="-110"/>
              <a:t>/</a:t>
            </a:r>
            <a:r>
              <a:rPr lang="en-IN" spc="15"/>
              <a:t> </a:t>
            </a:r>
            <a:r>
              <a:rPr lang="en-IN" spc="-25"/>
              <a:t>18</a:t>
            </a:r>
            <a:endParaRPr lang="en-IN" spc="-25" dirty="0"/>
          </a:p>
        </p:txBody>
      </p:sp>
    </p:spTree>
  </p:cSld>
  <p:clrMapOvr>
    <a:masterClrMapping/>
  </p:clrMapOvr>
  <p:transition>
    <p:cut/>
  </p:transition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38"/>
            <a:ext cx="4608195" cy="351790"/>
          </a:xfrm>
          <a:custGeom>
            <a:avLst/>
            <a:gdLst/>
            <a:ahLst/>
            <a:cxnLst/>
            <a:rect l="l" t="t" r="r" b="b"/>
            <a:pathLst>
              <a:path w="4608195" h="351790">
                <a:moveTo>
                  <a:pt x="4607941" y="0"/>
                </a:moveTo>
                <a:lnTo>
                  <a:pt x="0" y="0"/>
                </a:lnTo>
                <a:lnTo>
                  <a:pt x="0" y="351409"/>
                </a:lnTo>
                <a:lnTo>
                  <a:pt x="4607941" y="351409"/>
                </a:lnTo>
                <a:lnTo>
                  <a:pt x="4607941" y="0"/>
                </a:lnTo>
                <a:close/>
              </a:path>
            </a:pathLst>
          </a:custGeom>
          <a:solidFill>
            <a:srgbClr val="3232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5250" y="60502"/>
            <a:ext cx="272161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i="1" dirty="0">
                <a:solidFill>
                  <a:srgbClr val="FFFFFF"/>
                </a:solidFill>
                <a:latin typeface="Cambria"/>
                <a:cs typeface="Cambria"/>
              </a:rPr>
              <a:t>WSD</a:t>
            </a:r>
            <a:r>
              <a:rPr sz="1400" i="1" spc="7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dirty="0">
                <a:solidFill>
                  <a:srgbClr val="FFFFFF"/>
                </a:solidFill>
                <a:latin typeface="Cambria"/>
                <a:cs typeface="Cambria"/>
              </a:rPr>
              <a:t>Using</a:t>
            </a:r>
            <a:r>
              <a:rPr sz="1400" i="1" spc="7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dirty="0">
                <a:solidFill>
                  <a:srgbClr val="FFFFFF"/>
                </a:solidFill>
                <a:latin typeface="Cambria"/>
                <a:cs typeface="Cambria"/>
              </a:rPr>
              <a:t>Random</a:t>
            </a:r>
            <a:r>
              <a:rPr sz="1400" i="1" spc="7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spc="-50" dirty="0">
                <a:solidFill>
                  <a:srgbClr val="FFFFFF"/>
                </a:solidFill>
                <a:latin typeface="Cambria"/>
                <a:cs typeface="Cambria"/>
              </a:rPr>
              <a:t>Walk</a:t>
            </a:r>
            <a:r>
              <a:rPr sz="1400" i="1" spc="7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spc="-10" dirty="0">
                <a:solidFill>
                  <a:srgbClr val="FFFFFF"/>
                </a:solidFill>
                <a:latin typeface="Cambria"/>
                <a:cs typeface="Cambria"/>
              </a:rPr>
              <a:t>Algorithm</a:t>
            </a:r>
            <a:endParaRPr sz="1400">
              <a:latin typeface="Cambria"/>
              <a:cs typeface="Cambri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3771" y="606615"/>
            <a:ext cx="4014724" cy="2318512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1817522" y="3339672"/>
            <a:ext cx="97345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Word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Sense</a:t>
            </a:r>
            <a:r>
              <a:rPr sz="600" i="1" spc="5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Disambiguation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-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I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608260" y="3339672"/>
            <a:ext cx="56388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8,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3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4294967295"/>
          </p:nvPr>
        </p:nvSpPr>
        <p:spPr>
          <a:xfrm>
            <a:off x="4292024" y="3339672"/>
            <a:ext cx="262254" cy="116204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0"/>
              </a:spcBef>
            </a:pPr>
            <a:r>
              <a:rPr dirty="0"/>
              <a:t>7</a:t>
            </a:r>
            <a:r>
              <a:rPr spc="-20" dirty="0"/>
              <a:t> </a:t>
            </a:r>
            <a:r>
              <a:rPr spc="-110" dirty="0"/>
              <a:t>/</a:t>
            </a:r>
            <a:r>
              <a:rPr spc="15" dirty="0"/>
              <a:t> </a:t>
            </a:r>
            <a:r>
              <a:rPr spc="-25" dirty="0"/>
              <a:t>15</a:t>
            </a:r>
          </a:p>
        </p:txBody>
      </p:sp>
    </p:spTree>
  </p:cSld>
  <p:clrMapOvr>
    <a:masterClrMapping/>
  </p:clrMapOvr>
  <p:transition>
    <p:cut/>
  </p:transition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38"/>
            <a:ext cx="4608195" cy="351790"/>
          </a:xfrm>
          <a:custGeom>
            <a:avLst/>
            <a:gdLst/>
            <a:ahLst/>
            <a:cxnLst/>
            <a:rect l="l" t="t" r="r" b="b"/>
            <a:pathLst>
              <a:path w="4608195" h="351790">
                <a:moveTo>
                  <a:pt x="4607941" y="0"/>
                </a:moveTo>
                <a:lnTo>
                  <a:pt x="0" y="0"/>
                </a:lnTo>
                <a:lnTo>
                  <a:pt x="0" y="351409"/>
                </a:lnTo>
                <a:lnTo>
                  <a:pt x="4607941" y="351409"/>
                </a:lnTo>
                <a:lnTo>
                  <a:pt x="4607941" y="0"/>
                </a:lnTo>
                <a:close/>
              </a:path>
            </a:pathLst>
          </a:custGeom>
          <a:solidFill>
            <a:srgbClr val="3232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5250" y="60502"/>
            <a:ext cx="272161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i="1" dirty="0">
                <a:solidFill>
                  <a:srgbClr val="FFFFFF"/>
                </a:solidFill>
                <a:latin typeface="Cambria"/>
                <a:cs typeface="Cambria"/>
              </a:rPr>
              <a:t>WSD</a:t>
            </a:r>
            <a:r>
              <a:rPr sz="1400" i="1" spc="7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dirty="0">
                <a:solidFill>
                  <a:srgbClr val="FFFFFF"/>
                </a:solidFill>
                <a:latin typeface="Cambria"/>
                <a:cs typeface="Cambria"/>
              </a:rPr>
              <a:t>Using</a:t>
            </a:r>
            <a:r>
              <a:rPr sz="1400" i="1" spc="7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dirty="0">
                <a:solidFill>
                  <a:srgbClr val="FFFFFF"/>
                </a:solidFill>
                <a:latin typeface="Cambria"/>
                <a:cs typeface="Cambria"/>
              </a:rPr>
              <a:t>Random</a:t>
            </a:r>
            <a:r>
              <a:rPr sz="1400" i="1" spc="7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spc="-50" dirty="0">
                <a:solidFill>
                  <a:srgbClr val="FFFFFF"/>
                </a:solidFill>
                <a:latin typeface="Cambria"/>
                <a:cs typeface="Cambria"/>
              </a:rPr>
              <a:t>Walk</a:t>
            </a:r>
            <a:r>
              <a:rPr sz="1400" i="1" spc="7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spc="-10" dirty="0">
                <a:solidFill>
                  <a:srgbClr val="FFFFFF"/>
                </a:solidFill>
                <a:latin typeface="Cambria"/>
                <a:cs typeface="Cambria"/>
              </a:rPr>
              <a:t>Algorithm</a:t>
            </a:r>
            <a:endParaRPr sz="1400">
              <a:latin typeface="Cambria"/>
              <a:cs typeface="Cambri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3771" y="606615"/>
            <a:ext cx="4014724" cy="2336291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1817522" y="3339672"/>
            <a:ext cx="97345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Word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Sense</a:t>
            </a:r>
            <a:r>
              <a:rPr sz="600" i="1" spc="5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Disambiguation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-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I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608260" y="3339672"/>
            <a:ext cx="56388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8,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3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4294967295"/>
          </p:nvPr>
        </p:nvSpPr>
        <p:spPr>
          <a:xfrm>
            <a:off x="4292024" y="3339672"/>
            <a:ext cx="262254" cy="116204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0"/>
              </a:spcBef>
            </a:pPr>
            <a:r>
              <a:rPr dirty="0"/>
              <a:t>8</a:t>
            </a:r>
            <a:r>
              <a:rPr spc="-20" dirty="0"/>
              <a:t> </a:t>
            </a:r>
            <a:r>
              <a:rPr spc="-110" dirty="0"/>
              <a:t>/</a:t>
            </a:r>
            <a:r>
              <a:rPr spc="15" dirty="0"/>
              <a:t> </a:t>
            </a:r>
            <a:r>
              <a:rPr spc="-25" dirty="0"/>
              <a:t>15</a:t>
            </a:r>
          </a:p>
        </p:txBody>
      </p:sp>
    </p:spTree>
  </p:cSld>
  <p:clrMapOvr>
    <a:masterClrMapping/>
  </p:clrMapOvr>
  <p:transition>
    <p:cut/>
  </p:transition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38"/>
            <a:ext cx="4608195" cy="351790"/>
          </a:xfrm>
          <a:custGeom>
            <a:avLst/>
            <a:gdLst/>
            <a:ahLst/>
            <a:cxnLst/>
            <a:rect l="l" t="t" r="r" b="b"/>
            <a:pathLst>
              <a:path w="4608195" h="351790">
                <a:moveTo>
                  <a:pt x="4607941" y="0"/>
                </a:moveTo>
                <a:lnTo>
                  <a:pt x="0" y="0"/>
                </a:lnTo>
                <a:lnTo>
                  <a:pt x="0" y="351409"/>
                </a:lnTo>
                <a:lnTo>
                  <a:pt x="4607941" y="351409"/>
                </a:lnTo>
                <a:lnTo>
                  <a:pt x="4607941" y="0"/>
                </a:lnTo>
                <a:close/>
              </a:path>
            </a:pathLst>
          </a:custGeom>
          <a:solidFill>
            <a:srgbClr val="3232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5250" y="60502"/>
            <a:ext cx="272161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i="1" dirty="0">
                <a:solidFill>
                  <a:srgbClr val="FFFFFF"/>
                </a:solidFill>
                <a:latin typeface="Cambria"/>
                <a:cs typeface="Cambria"/>
              </a:rPr>
              <a:t>WSD</a:t>
            </a:r>
            <a:r>
              <a:rPr sz="1400" i="1" spc="7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dirty="0">
                <a:solidFill>
                  <a:srgbClr val="FFFFFF"/>
                </a:solidFill>
                <a:latin typeface="Cambria"/>
                <a:cs typeface="Cambria"/>
              </a:rPr>
              <a:t>Using</a:t>
            </a:r>
            <a:r>
              <a:rPr sz="1400" i="1" spc="7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dirty="0">
                <a:solidFill>
                  <a:srgbClr val="FFFFFF"/>
                </a:solidFill>
                <a:latin typeface="Cambria"/>
                <a:cs typeface="Cambria"/>
              </a:rPr>
              <a:t>Random</a:t>
            </a:r>
            <a:r>
              <a:rPr sz="1400" i="1" spc="7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spc="-50" dirty="0">
                <a:solidFill>
                  <a:srgbClr val="FFFFFF"/>
                </a:solidFill>
                <a:latin typeface="Cambria"/>
                <a:cs typeface="Cambria"/>
              </a:rPr>
              <a:t>Walk</a:t>
            </a:r>
            <a:r>
              <a:rPr sz="1400" i="1" spc="7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spc="-10" dirty="0">
                <a:solidFill>
                  <a:srgbClr val="FFFFFF"/>
                </a:solidFill>
                <a:latin typeface="Cambria"/>
                <a:cs typeface="Cambria"/>
              </a:rPr>
              <a:t>Algorithm</a:t>
            </a:r>
            <a:endParaRPr sz="1400">
              <a:latin typeface="Cambria"/>
              <a:cs typeface="Cambri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3771" y="549719"/>
            <a:ext cx="4014724" cy="2510535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1817522" y="3339672"/>
            <a:ext cx="97345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Word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Sense</a:t>
            </a:r>
            <a:r>
              <a:rPr sz="600" i="1" spc="5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Disambiguation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-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I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608260" y="3339672"/>
            <a:ext cx="56388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8,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3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4294967295"/>
          </p:nvPr>
        </p:nvSpPr>
        <p:spPr>
          <a:xfrm>
            <a:off x="4292024" y="3339672"/>
            <a:ext cx="262254" cy="116204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0"/>
              </a:spcBef>
            </a:pPr>
            <a:r>
              <a:rPr dirty="0"/>
              <a:t>9</a:t>
            </a:r>
            <a:r>
              <a:rPr spc="-20" dirty="0"/>
              <a:t> </a:t>
            </a:r>
            <a:r>
              <a:rPr spc="-110" dirty="0"/>
              <a:t>/</a:t>
            </a:r>
            <a:r>
              <a:rPr spc="15" dirty="0"/>
              <a:t> </a:t>
            </a:r>
            <a:r>
              <a:rPr spc="-25" dirty="0"/>
              <a:t>15</a:t>
            </a:r>
          </a:p>
        </p:txBody>
      </p:sp>
    </p:spTree>
  </p:cSld>
  <p:clrMapOvr>
    <a:masterClrMapping/>
  </p:clrMapOvr>
  <p:transition>
    <p:cut/>
  </p:transition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38"/>
            <a:ext cx="4608195" cy="351790"/>
          </a:xfrm>
          <a:custGeom>
            <a:avLst/>
            <a:gdLst/>
            <a:ahLst/>
            <a:cxnLst/>
            <a:rect l="l" t="t" r="r" b="b"/>
            <a:pathLst>
              <a:path w="4608195" h="351790">
                <a:moveTo>
                  <a:pt x="4607941" y="0"/>
                </a:moveTo>
                <a:lnTo>
                  <a:pt x="0" y="0"/>
                </a:lnTo>
                <a:lnTo>
                  <a:pt x="0" y="351409"/>
                </a:lnTo>
                <a:lnTo>
                  <a:pt x="4607941" y="351409"/>
                </a:lnTo>
                <a:lnTo>
                  <a:pt x="4607941" y="0"/>
                </a:lnTo>
                <a:close/>
              </a:path>
            </a:pathLst>
          </a:custGeom>
          <a:solidFill>
            <a:srgbClr val="3232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5250" y="60502"/>
            <a:ext cx="272161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i="1" dirty="0">
                <a:solidFill>
                  <a:srgbClr val="FFFFFF"/>
                </a:solidFill>
                <a:latin typeface="Cambria"/>
                <a:cs typeface="Cambria"/>
              </a:rPr>
              <a:t>WSD</a:t>
            </a:r>
            <a:r>
              <a:rPr sz="1400" i="1" spc="7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dirty="0">
                <a:solidFill>
                  <a:srgbClr val="FFFFFF"/>
                </a:solidFill>
                <a:latin typeface="Cambria"/>
                <a:cs typeface="Cambria"/>
              </a:rPr>
              <a:t>Using</a:t>
            </a:r>
            <a:r>
              <a:rPr sz="1400" i="1" spc="7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dirty="0">
                <a:solidFill>
                  <a:srgbClr val="FFFFFF"/>
                </a:solidFill>
                <a:latin typeface="Cambria"/>
                <a:cs typeface="Cambria"/>
              </a:rPr>
              <a:t>Random</a:t>
            </a:r>
            <a:r>
              <a:rPr sz="1400" i="1" spc="7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spc="-50" dirty="0">
                <a:solidFill>
                  <a:srgbClr val="FFFFFF"/>
                </a:solidFill>
                <a:latin typeface="Cambria"/>
                <a:cs typeface="Cambria"/>
              </a:rPr>
              <a:t>Walk</a:t>
            </a:r>
            <a:r>
              <a:rPr sz="1400" i="1" spc="7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spc="-10" dirty="0">
                <a:solidFill>
                  <a:srgbClr val="FFFFFF"/>
                </a:solidFill>
                <a:latin typeface="Cambria"/>
                <a:cs typeface="Cambria"/>
              </a:rPr>
              <a:t>Algorithm</a:t>
            </a:r>
            <a:endParaRPr sz="1400">
              <a:latin typeface="Cambria"/>
              <a:cs typeface="Cambri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3771" y="549719"/>
            <a:ext cx="4014724" cy="2279395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1817522" y="3339672"/>
            <a:ext cx="97345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Word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Sense</a:t>
            </a:r>
            <a:r>
              <a:rPr sz="600" i="1" spc="5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Disambiguation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-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I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608260" y="3339672"/>
            <a:ext cx="56388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8,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3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4294967295"/>
          </p:nvPr>
        </p:nvSpPr>
        <p:spPr>
          <a:xfrm>
            <a:off x="4292024" y="3339672"/>
            <a:ext cx="262254" cy="116204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0"/>
              </a:spcBef>
            </a:pPr>
            <a:r>
              <a:rPr dirty="0"/>
              <a:t>10</a:t>
            </a:r>
            <a:r>
              <a:rPr spc="-20" dirty="0"/>
              <a:t> </a:t>
            </a:r>
            <a:r>
              <a:rPr spc="-110" dirty="0"/>
              <a:t>/</a:t>
            </a:r>
            <a:r>
              <a:rPr spc="15" dirty="0"/>
              <a:t> </a:t>
            </a:r>
            <a:r>
              <a:rPr spc="-25" dirty="0"/>
              <a:t>15</a:t>
            </a:r>
          </a:p>
        </p:txBody>
      </p:sp>
    </p:spTree>
  </p:cSld>
  <p:clrMapOvr>
    <a:masterClrMapping/>
  </p:clrMapOvr>
  <p:transition>
    <p:cut/>
  </p:transition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Naïve</a:t>
            </a:r>
            <a:r>
              <a:rPr spc="35" dirty="0"/>
              <a:t> </a:t>
            </a:r>
            <a:r>
              <a:rPr dirty="0"/>
              <a:t>Bayes</a:t>
            </a:r>
            <a:r>
              <a:rPr spc="40" dirty="0"/>
              <a:t> </a:t>
            </a:r>
            <a:r>
              <a:rPr dirty="0"/>
              <a:t>for</a:t>
            </a:r>
            <a:r>
              <a:rPr spc="40" dirty="0"/>
              <a:t> </a:t>
            </a:r>
            <a:r>
              <a:rPr spc="-25" dirty="0"/>
              <a:t>WSD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597" y="537083"/>
            <a:ext cx="64757" cy="64757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02932" y="444520"/>
            <a:ext cx="3962400" cy="7531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18900"/>
              </a:lnSpc>
              <a:spcBef>
                <a:spcPts val="90"/>
              </a:spcBef>
            </a:pPr>
            <a:r>
              <a:rPr sz="950" spc="90" dirty="0">
                <a:latin typeface="Trebuchet MS"/>
                <a:cs typeface="Trebuchet MS"/>
              </a:rPr>
              <a:t>A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Naïve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spc="50" dirty="0">
                <a:latin typeface="Trebuchet MS"/>
                <a:cs typeface="Trebuchet MS"/>
              </a:rPr>
              <a:t>Bayes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classifier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chooses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most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likely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spc="55" dirty="0">
                <a:latin typeface="Trebuchet MS"/>
                <a:cs typeface="Trebuchet MS"/>
              </a:rPr>
              <a:t>sense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spc="-40" dirty="0">
                <a:latin typeface="Trebuchet MS"/>
                <a:cs typeface="Trebuchet MS"/>
              </a:rPr>
              <a:t>for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word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given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-7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features</a:t>
            </a:r>
            <a:r>
              <a:rPr sz="950" spc="-7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of</a:t>
            </a:r>
            <a:r>
              <a:rPr sz="950" spc="-6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-7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context:</a:t>
            </a:r>
            <a:endParaRPr sz="950">
              <a:latin typeface="Trebuchet MS"/>
              <a:cs typeface="Trebuchet MS"/>
            </a:endParaRPr>
          </a:p>
          <a:p>
            <a:pPr marL="108585" algn="ctr">
              <a:lnSpc>
                <a:spcPts val="1290"/>
              </a:lnSpc>
              <a:spcBef>
                <a:spcPts val="810"/>
              </a:spcBef>
            </a:pPr>
            <a:r>
              <a:rPr sz="1100" spc="-160" dirty="0">
                <a:latin typeface="Arial MT"/>
                <a:cs typeface="Arial MT"/>
              </a:rPr>
              <a:t>ˆ</a:t>
            </a:r>
            <a:r>
              <a:rPr sz="1100" i="1" spc="-160" dirty="0">
                <a:latin typeface="Cambria"/>
                <a:cs typeface="Cambria"/>
              </a:rPr>
              <a:t>s</a:t>
            </a:r>
            <a:r>
              <a:rPr sz="1100" i="1" spc="25" dirty="0">
                <a:latin typeface="Cambria"/>
                <a:cs typeface="Cambria"/>
              </a:rPr>
              <a:t> </a:t>
            </a:r>
            <a:r>
              <a:rPr sz="1100" spc="200" dirty="0">
                <a:latin typeface="Arial MT"/>
                <a:cs typeface="Arial MT"/>
              </a:rPr>
              <a:t>=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spc="-35" dirty="0">
                <a:latin typeface="Cambria"/>
                <a:cs typeface="Cambria"/>
              </a:rPr>
              <a:t>argmax</a:t>
            </a:r>
            <a:r>
              <a:rPr sz="1100" spc="-110" dirty="0">
                <a:latin typeface="Cambria"/>
                <a:cs typeface="Cambria"/>
              </a:rPr>
              <a:t> </a:t>
            </a:r>
            <a:r>
              <a:rPr sz="1100" i="1" spc="-30" dirty="0">
                <a:latin typeface="Cambria"/>
                <a:cs typeface="Cambria"/>
              </a:rPr>
              <a:t>P</a:t>
            </a:r>
            <a:r>
              <a:rPr sz="1100" spc="-30" dirty="0">
                <a:latin typeface="Arial MT"/>
                <a:cs typeface="Arial MT"/>
              </a:rPr>
              <a:t>(</a:t>
            </a:r>
            <a:r>
              <a:rPr sz="1100" i="1" spc="-30" dirty="0">
                <a:latin typeface="Cambria"/>
                <a:cs typeface="Cambria"/>
              </a:rPr>
              <a:t>s</a:t>
            </a:r>
            <a:r>
              <a:rPr sz="1100" spc="-30" dirty="0">
                <a:latin typeface="Lucida Sans Unicode"/>
                <a:cs typeface="Lucida Sans Unicode"/>
              </a:rPr>
              <a:t>|</a:t>
            </a:r>
            <a:r>
              <a:rPr sz="1100" i="1" spc="-30" dirty="0">
                <a:latin typeface="Cambria"/>
                <a:cs typeface="Cambria"/>
              </a:rPr>
              <a:t>f</a:t>
            </a:r>
            <a:r>
              <a:rPr sz="1100" i="1" spc="-65" dirty="0">
                <a:latin typeface="Cambria"/>
                <a:cs typeface="Cambria"/>
              </a:rPr>
              <a:t> </a:t>
            </a:r>
            <a:r>
              <a:rPr sz="1100" spc="5" dirty="0">
                <a:latin typeface="Arial MT"/>
                <a:cs typeface="Arial MT"/>
              </a:rPr>
              <a:t>)</a:t>
            </a:r>
            <a:endParaRPr sz="1100">
              <a:latin typeface="Arial MT"/>
              <a:cs typeface="Arial MT"/>
            </a:endParaRPr>
          </a:p>
          <a:p>
            <a:pPr marR="635" algn="ctr">
              <a:lnSpc>
                <a:spcPts val="930"/>
              </a:lnSpc>
            </a:pPr>
            <a:r>
              <a:rPr sz="800" i="1" spc="-25" dirty="0">
                <a:latin typeface="Cambria"/>
                <a:cs typeface="Cambria"/>
              </a:rPr>
              <a:t>s</a:t>
            </a:r>
            <a:r>
              <a:rPr sz="800" spc="-25" dirty="0">
                <a:latin typeface="Lucida Sans Unicode"/>
                <a:cs typeface="Lucida Sans Unicode"/>
              </a:rPr>
              <a:t>∈</a:t>
            </a:r>
            <a:r>
              <a:rPr sz="800" i="1" spc="-25" dirty="0">
                <a:latin typeface="Cambria"/>
                <a:cs typeface="Cambria"/>
              </a:rPr>
              <a:t>S</a:t>
            </a:r>
            <a:endParaRPr sz="800">
              <a:latin typeface="Cambria"/>
              <a:cs typeface="Cambri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817522" y="3339672"/>
            <a:ext cx="97345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Word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Sense</a:t>
            </a:r>
            <a:r>
              <a:rPr sz="600" i="1" spc="5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Disambiguation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-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I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608260" y="3339672"/>
            <a:ext cx="56388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8,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3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317424" y="3339672"/>
            <a:ext cx="236854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11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10" dirty="0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</a:rPr>
              <a:t>15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10BFFADC-E7EE-4D8D-A2AC-2F2B7FE01A38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4292024" y="3339672"/>
            <a:ext cx="262254" cy="116204"/>
          </a:xfrm>
          <a:prstGeom prst="rect">
            <a:avLst/>
          </a:prstGeom>
        </p:spPr>
        <p:txBody>
          <a:bodyPr/>
          <a:lstStyle/>
          <a:p>
            <a:pPr marL="75565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lang="en-IN" smtClean="0"/>
              <a:t>97</a:t>
            </a:fld>
            <a:r>
              <a:rPr lang="en-IN" spc="-5"/>
              <a:t> </a:t>
            </a:r>
            <a:r>
              <a:rPr lang="en-IN" spc="-110"/>
              <a:t>/</a:t>
            </a:r>
            <a:r>
              <a:rPr lang="en-IN" spc="15"/>
              <a:t> </a:t>
            </a:r>
            <a:r>
              <a:rPr lang="en-IN" spc="-25"/>
              <a:t>18</a:t>
            </a:r>
            <a:endParaRPr lang="en-IN" spc="-25" dirty="0"/>
          </a:p>
        </p:txBody>
      </p:sp>
    </p:spTree>
  </p:cSld>
  <p:clrMapOvr>
    <a:masterClrMapping/>
  </p:clrMapOvr>
  <p:transition>
    <p:cut/>
  </p:transition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Naïve</a:t>
            </a:r>
            <a:r>
              <a:rPr spc="35" dirty="0"/>
              <a:t> </a:t>
            </a:r>
            <a:r>
              <a:rPr dirty="0"/>
              <a:t>Bayes</a:t>
            </a:r>
            <a:r>
              <a:rPr spc="40" dirty="0"/>
              <a:t> </a:t>
            </a:r>
            <a:r>
              <a:rPr dirty="0"/>
              <a:t>for</a:t>
            </a:r>
            <a:r>
              <a:rPr spc="40" dirty="0"/>
              <a:t> </a:t>
            </a:r>
            <a:r>
              <a:rPr spc="-25" dirty="0"/>
              <a:t>WSD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597" y="537083"/>
            <a:ext cx="64757" cy="64757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02932" y="444520"/>
            <a:ext cx="3962400" cy="109029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18900"/>
              </a:lnSpc>
              <a:spcBef>
                <a:spcPts val="90"/>
              </a:spcBef>
            </a:pPr>
            <a:r>
              <a:rPr sz="950" spc="90" dirty="0">
                <a:latin typeface="Trebuchet MS"/>
                <a:cs typeface="Trebuchet MS"/>
              </a:rPr>
              <a:t>A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Naïve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spc="50" dirty="0">
                <a:latin typeface="Trebuchet MS"/>
                <a:cs typeface="Trebuchet MS"/>
              </a:rPr>
              <a:t>Bayes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classifier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chooses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most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likely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spc="55" dirty="0">
                <a:latin typeface="Trebuchet MS"/>
                <a:cs typeface="Trebuchet MS"/>
              </a:rPr>
              <a:t>sense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spc="-40" dirty="0">
                <a:latin typeface="Trebuchet MS"/>
                <a:cs typeface="Trebuchet MS"/>
              </a:rPr>
              <a:t>for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word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given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-7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features</a:t>
            </a:r>
            <a:r>
              <a:rPr sz="950" spc="-7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of</a:t>
            </a:r>
            <a:r>
              <a:rPr sz="950" spc="-6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-7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context:</a:t>
            </a:r>
            <a:endParaRPr sz="950">
              <a:latin typeface="Trebuchet MS"/>
              <a:cs typeface="Trebuchet MS"/>
            </a:endParaRPr>
          </a:p>
          <a:p>
            <a:pPr marL="108585" algn="ctr">
              <a:lnSpc>
                <a:spcPts val="1290"/>
              </a:lnSpc>
              <a:spcBef>
                <a:spcPts val="810"/>
              </a:spcBef>
            </a:pPr>
            <a:r>
              <a:rPr sz="1100" spc="-160" dirty="0">
                <a:latin typeface="Arial MT"/>
                <a:cs typeface="Arial MT"/>
              </a:rPr>
              <a:t>ˆ</a:t>
            </a:r>
            <a:r>
              <a:rPr sz="1100" i="1" spc="-160" dirty="0">
                <a:latin typeface="Cambria"/>
                <a:cs typeface="Cambria"/>
              </a:rPr>
              <a:t>s</a:t>
            </a:r>
            <a:r>
              <a:rPr sz="1100" i="1" spc="25" dirty="0">
                <a:latin typeface="Cambria"/>
                <a:cs typeface="Cambria"/>
              </a:rPr>
              <a:t> </a:t>
            </a:r>
            <a:r>
              <a:rPr sz="1100" spc="200" dirty="0">
                <a:latin typeface="Arial MT"/>
                <a:cs typeface="Arial MT"/>
              </a:rPr>
              <a:t>=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spc="-35" dirty="0">
                <a:latin typeface="Cambria"/>
                <a:cs typeface="Cambria"/>
              </a:rPr>
              <a:t>argmax</a:t>
            </a:r>
            <a:r>
              <a:rPr sz="1100" spc="-110" dirty="0">
                <a:latin typeface="Cambria"/>
                <a:cs typeface="Cambria"/>
              </a:rPr>
              <a:t> </a:t>
            </a:r>
            <a:r>
              <a:rPr sz="1100" i="1" spc="-30" dirty="0">
                <a:latin typeface="Cambria"/>
                <a:cs typeface="Cambria"/>
              </a:rPr>
              <a:t>P</a:t>
            </a:r>
            <a:r>
              <a:rPr sz="1100" spc="-30" dirty="0">
                <a:latin typeface="Arial MT"/>
                <a:cs typeface="Arial MT"/>
              </a:rPr>
              <a:t>(</a:t>
            </a:r>
            <a:r>
              <a:rPr sz="1100" i="1" spc="-30" dirty="0">
                <a:latin typeface="Cambria"/>
                <a:cs typeface="Cambria"/>
              </a:rPr>
              <a:t>s</a:t>
            </a:r>
            <a:r>
              <a:rPr sz="1100" spc="-30" dirty="0">
                <a:latin typeface="Lucida Sans Unicode"/>
                <a:cs typeface="Lucida Sans Unicode"/>
              </a:rPr>
              <a:t>|</a:t>
            </a:r>
            <a:r>
              <a:rPr sz="1100" i="1" spc="-30" dirty="0">
                <a:latin typeface="Cambria"/>
                <a:cs typeface="Cambria"/>
              </a:rPr>
              <a:t>f</a:t>
            </a:r>
            <a:r>
              <a:rPr sz="1100" i="1" spc="-65" dirty="0">
                <a:latin typeface="Cambria"/>
                <a:cs typeface="Cambria"/>
              </a:rPr>
              <a:t> </a:t>
            </a:r>
            <a:r>
              <a:rPr sz="1100" spc="5" dirty="0">
                <a:latin typeface="Arial MT"/>
                <a:cs typeface="Arial MT"/>
              </a:rPr>
              <a:t>)</a:t>
            </a:r>
            <a:endParaRPr sz="1100">
              <a:latin typeface="Arial MT"/>
              <a:cs typeface="Arial MT"/>
            </a:endParaRPr>
          </a:p>
          <a:p>
            <a:pPr marR="635" algn="ctr">
              <a:lnSpc>
                <a:spcPts val="930"/>
              </a:lnSpc>
            </a:pPr>
            <a:r>
              <a:rPr sz="800" i="1" spc="-25" dirty="0">
                <a:latin typeface="Cambria"/>
                <a:cs typeface="Cambria"/>
              </a:rPr>
              <a:t>s</a:t>
            </a:r>
            <a:r>
              <a:rPr sz="800" spc="-25" dirty="0">
                <a:latin typeface="Lucida Sans Unicode"/>
                <a:cs typeface="Lucida Sans Unicode"/>
              </a:rPr>
              <a:t>∈</a:t>
            </a:r>
            <a:r>
              <a:rPr sz="800" i="1" spc="-25" dirty="0">
                <a:latin typeface="Cambria"/>
                <a:cs typeface="Cambria"/>
              </a:rPr>
              <a:t>S</a:t>
            </a:r>
            <a:endParaRPr sz="8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565"/>
              </a:spcBef>
            </a:pPr>
            <a:endParaRPr sz="8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sz="950" dirty="0">
                <a:latin typeface="Trebuchet MS"/>
                <a:cs typeface="Trebuchet MS"/>
              </a:rPr>
              <a:t>Using</a:t>
            </a:r>
            <a:r>
              <a:rPr sz="950" spc="8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Bayes’</a:t>
            </a:r>
            <a:r>
              <a:rPr sz="950" spc="90" dirty="0">
                <a:latin typeface="Trebuchet MS"/>
                <a:cs typeface="Trebuchet MS"/>
              </a:rPr>
              <a:t> </a:t>
            </a:r>
            <a:r>
              <a:rPr sz="950" spc="-50" dirty="0">
                <a:latin typeface="Trebuchet MS"/>
                <a:cs typeface="Trebuchet MS"/>
              </a:rPr>
              <a:t>law,</a:t>
            </a:r>
            <a:r>
              <a:rPr sz="950" spc="8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this</a:t>
            </a:r>
            <a:r>
              <a:rPr sz="950" spc="9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can</a:t>
            </a:r>
            <a:r>
              <a:rPr sz="950" spc="8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be</a:t>
            </a:r>
            <a:r>
              <a:rPr sz="950" spc="9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expressed</a:t>
            </a:r>
            <a:r>
              <a:rPr sz="950" spc="85" dirty="0">
                <a:latin typeface="Trebuchet MS"/>
                <a:cs typeface="Trebuchet MS"/>
              </a:rPr>
              <a:t> </a:t>
            </a:r>
            <a:r>
              <a:rPr sz="950" spc="-25" dirty="0">
                <a:latin typeface="Trebuchet MS"/>
                <a:cs typeface="Trebuchet MS"/>
              </a:rPr>
              <a:t>as:</a:t>
            </a:r>
            <a:endParaRPr sz="950">
              <a:latin typeface="Trebuchet MS"/>
              <a:cs typeface="Trebuchet MS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597" y="1429562"/>
            <a:ext cx="64757" cy="64757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783943" y="1681695"/>
            <a:ext cx="685165" cy="3060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ts val="1290"/>
              </a:lnSpc>
              <a:spcBef>
                <a:spcPts val="90"/>
              </a:spcBef>
            </a:pPr>
            <a:r>
              <a:rPr sz="1100" spc="-160" dirty="0">
                <a:latin typeface="Arial MT"/>
                <a:cs typeface="Arial MT"/>
              </a:rPr>
              <a:t>ˆ</a:t>
            </a:r>
            <a:r>
              <a:rPr sz="1100" i="1" spc="-160" dirty="0">
                <a:latin typeface="Cambria"/>
                <a:cs typeface="Cambria"/>
              </a:rPr>
              <a:t>s</a:t>
            </a:r>
            <a:r>
              <a:rPr sz="1100" i="1" spc="5" dirty="0">
                <a:latin typeface="Cambria"/>
                <a:cs typeface="Cambria"/>
              </a:rPr>
              <a:t> </a:t>
            </a:r>
            <a:r>
              <a:rPr sz="1100" spc="200" dirty="0">
                <a:latin typeface="Arial MT"/>
                <a:cs typeface="Arial MT"/>
              </a:rPr>
              <a:t>=</a:t>
            </a:r>
            <a:r>
              <a:rPr sz="1100" spc="-55" dirty="0">
                <a:latin typeface="Arial MT"/>
                <a:cs typeface="Arial MT"/>
              </a:rPr>
              <a:t> </a:t>
            </a:r>
            <a:r>
              <a:rPr sz="1100" spc="-20" dirty="0">
                <a:latin typeface="Cambria"/>
                <a:cs typeface="Cambria"/>
              </a:rPr>
              <a:t>argmax</a:t>
            </a:r>
            <a:endParaRPr sz="1100">
              <a:latin typeface="Cambria"/>
              <a:cs typeface="Cambria"/>
            </a:endParaRPr>
          </a:p>
          <a:p>
            <a:pPr marL="384810">
              <a:lnSpc>
                <a:spcPts val="930"/>
              </a:lnSpc>
            </a:pPr>
            <a:r>
              <a:rPr sz="800" i="1" spc="-25" dirty="0">
                <a:latin typeface="Cambria"/>
                <a:cs typeface="Cambria"/>
              </a:rPr>
              <a:t>s</a:t>
            </a:r>
            <a:r>
              <a:rPr sz="800" spc="-25" dirty="0">
                <a:latin typeface="Lucida Sans Unicode"/>
                <a:cs typeface="Lucida Sans Unicode"/>
              </a:rPr>
              <a:t>∈</a:t>
            </a:r>
            <a:r>
              <a:rPr sz="800" i="1" spc="-25" dirty="0">
                <a:latin typeface="Cambria"/>
                <a:cs typeface="Cambria"/>
              </a:rPr>
              <a:t>S</a:t>
            </a:r>
            <a:endParaRPr sz="800">
              <a:latin typeface="Cambria"/>
              <a:cs typeface="Cambr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473820" y="1584223"/>
            <a:ext cx="60452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i="1" spc="20" dirty="0">
                <a:latin typeface="Cambria"/>
                <a:cs typeface="Cambria"/>
              </a:rPr>
              <a:t>P</a:t>
            </a:r>
            <a:r>
              <a:rPr sz="1100" spc="20" dirty="0">
                <a:latin typeface="Arial MT"/>
                <a:cs typeface="Arial MT"/>
              </a:rPr>
              <a:t>(</a:t>
            </a:r>
            <a:r>
              <a:rPr sz="1100" i="1" spc="20" dirty="0">
                <a:latin typeface="Cambria"/>
                <a:cs typeface="Cambria"/>
              </a:rPr>
              <a:t>s</a:t>
            </a:r>
            <a:r>
              <a:rPr sz="1100" spc="20" dirty="0">
                <a:latin typeface="Arial MT"/>
                <a:cs typeface="Arial MT"/>
              </a:rPr>
              <a:t>)</a:t>
            </a:r>
            <a:r>
              <a:rPr sz="1100" i="1" spc="20" dirty="0">
                <a:latin typeface="Cambria"/>
                <a:cs typeface="Cambria"/>
              </a:rPr>
              <a:t>P</a:t>
            </a:r>
            <a:r>
              <a:rPr sz="1100" spc="20" dirty="0">
                <a:latin typeface="Arial MT"/>
                <a:cs typeface="Arial MT"/>
              </a:rPr>
              <a:t>(</a:t>
            </a:r>
            <a:r>
              <a:rPr sz="1100" i="1" spc="20" dirty="0">
                <a:latin typeface="Cambria"/>
                <a:cs typeface="Cambria"/>
              </a:rPr>
              <a:t>f </a:t>
            </a:r>
            <a:r>
              <a:rPr sz="1100" spc="-25" dirty="0">
                <a:latin typeface="Lucida Sans Unicode"/>
                <a:cs typeface="Lucida Sans Unicode"/>
              </a:rPr>
              <a:t>|</a:t>
            </a:r>
            <a:r>
              <a:rPr sz="1100" i="1" spc="-25" dirty="0">
                <a:latin typeface="Cambria"/>
                <a:cs typeface="Cambria"/>
              </a:rPr>
              <a:t>s</a:t>
            </a:r>
            <a:r>
              <a:rPr sz="1100" spc="-25" dirty="0">
                <a:latin typeface="Arial MT"/>
                <a:cs typeface="Arial MT"/>
              </a:rPr>
              <a:t>)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486520" y="1797266"/>
            <a:ext cx="579120" cy="0"/>
          </a:xfrm>
          <a:custGeom>
            <a:avLst/>
            <a:gdLst/>
            <a:ahLst/>
            <a:cxnLst/>
            <a:rect l="l" t="t" r="r" b="b"/>
            <a:pathLst>
              <a:path w="579119">
                <a:moveTo>
                  <a:pt x="0" y="0"/>
                </a:moveTo>
                <a:lnTo>
                  <a:pt x="578993" y="0"/>
                </a:lnTo>
              </a:path>
            </a:pathLst>
          </a:custGeom>
          <a:ln w="77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2637777" y="1777085"/>
            <a:ext cx="27686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i="1" dirty="0">
                <a:latin typeface="Cambria"/>
                <a:cs typeface="Cambria"/>
              </a:rPr>
              <a:t>P</a:t>
            </a:r>
            <a:r>
              <a:rPr sz="1100" dirty="0">
                <a:latin typeface="Arial MT"/>
                <a:cs typeface="Arial MT"/>
              </a:rPr>
              <a:t>(</a:t>
            </a:r>
            <a:r>
              <a:rPr sz="1100" i="1" dirty="0">
                <a:latin typeface="Cambria"/>
                <a:cs typeface="Cambria"/>
              </a:rPr>
              <a:t>f</a:t>
            </a:r>
            <a:r>
              <a:rPr sz="1100" i="1" spc="-5" dirty="0">
                <a:latin typeface="Cambria"/>
                <a:cs typeface="Cambria"/>
              </a:rPr>
              <a:t> </a:t>
            </a:r>
            <a:r>
              <a:rPr sz="1100" spc="5" dirty="0">
                <a:latin typeface="Arial MT"/>
                <a:cs typeface="Arial MT"/>
              </a:rPr>
              <a:t>)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849120" y="2029333"/>
            <a:ext cx="1186815" cy="3060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ts val="1290"/>
              </a:lnSpc>
              <a:spcBef>
                <a:spcPts val="90"/>
              </a:spcBef>
            </a:pPr>
            <a:r>
              <a:rPr sz="1100" spc="200" dirty="0">
                <a:latin typeface="Arial MT"/>
                <a:cs typeface="Arial MT"/>
              </a:rPr>
              <a:t>=</a:t>
            </a:r>
            <a:r>
              <a:rPr sz="1100" spc="70" dirty="0">
                <a:latin typeface="Arial MT"/>
                <a:cs typeface="Arial MT"/>
              </a:rPr>
              <a:t> </a:t>
            </a:r>
            <a:r>
              <a:rPr sz="1100" spc="-35" dirty="0">
                <a:latin typeface="Cambria"/>
                <a:cs typeface="Cambria"/>
              </a:rPr>
              <a:t>argmax</a:t>
            </a:r>
            <a:r>
              <a:rPr sz="1100" spc="-55" dirty="0">
                <a:latin typeface="Cambria"/>
                <a:cs typeface="Cambria"/>
              </a:rPr>
              <a:t> </a:t>
            </a:r>
            <a:r>
              <a:rPr sz="1100" i="1" dirty="0">
                <a:latin typeface="Cambria"/>
                <a:cs typeface="Cambria"/>
              </a:rPr>
              <a:t>P</a:t>
            </a:r>
            <a:r>
              <a:rPr sz="1100" dirty="0">
                <a:latin typeface="Arial MT"/>
                <a:cs typeface="Arial MT"/>
              </a:rPr>
              <a:t>(</a:t>
            </a:r>
            <a:r>
              <a:rPr sz="1100" i="1" dirty="0">
                <a:latin typeface="Cambria"/>
                <a:cs typeface="Cambria"/>
              </a:rPr>
              <a:t>s</a:t>
            </a:r>
            <a:r>
              <a:rPr sz="1100" dirty="0">
                <a:latin typeface="Arial MT"/>
                <a:cs typeface="Arial MT"/>
              </a:rPr>
              <a:t>)</a:t>
            </a:r>
            <a:r>
              <a:rPr sz="1100" i="1" dirty="0">
                <a:latin typeface="Cambria"/>
                <a:cs typeface="Cambria"/>
              </a:rPr>
              <a:t>P</a:t>
            </a:r>
            <a:r>
              <a:rPr sz="1100" dirty="0">
                <a:latin typeface="Arial MT"/>
                <a:cs typeface="Arial MT"/>
              </a:rPr>
              <a:t>(</a:t>
            </a:r>
            <a:r>
              <a:rPr sz="1100" i="1" dirty="0">
                <a:latin typeface="Cambria"/>
                <a:cs typeface="Cambria"/>
              </a:rPr>
              <a:t>f</a:t>
            </a:r>
            <a:r>
              <a:rPr sz="1100" i="1" spc="5" dirty="0">
                <a:latin typeface="Cambria"/>
                <a:cs typeface="Cambria"/>
              </a:rPr>
              <a:t> </a:t>
            </a:r>
            <a:r>
              <a:rPr sz="1100" spc="-25" dirty="0">
                <a:latin typeface="Lucida Sans Unicode"/>
                <a:cs typeface="Lucida Sans Unicode"/>
              </a:rPr>
              <a:t>|</a:t>
            </a:r>
            <a:r>
              <a:rPr sz="1100" i="1" spc="-25" dirty="0">
                <a:latin typeface="Cambria"/>
                <a:cs typeface="Cambria"/>
              </a:rPr>
              <a:t>s</a:t>
            </a:r>
            <a:r>
              <a:rPr sz="1100" spc="-25" dirty="0">
                <a:latin typeface="Arial MT"/>
                <a:cs typeface="Arial MT"/>
              </a:rPr>
              <a:t>)</a:t>
            </a:r>
            <a:endParaRPr sz="1100">
              <a:latin typeface="Arial MT"/>
              <a:cs typeface="Arial MT"/>
            </a:endParaRPr>
          </a:p>
          <a:p>
            <a:pPr marL="292735">
              <a:lnSpc>
                <a:spcPts val="930"/>
              </a:lnSpc>
            </a:pPr>
            <a:r>
              <a:rPr sz="800" i="1" spc="-25" dirty="0">
                <a:latin typeface="Cambria"/>
                <a:cs typeface="Cambria"/>
              </a:rPr>
              <a:t>s</a:t>
            </a:r>
            <a:r>
              <a:rPr sz="800" spc="-25" dirty="0">
                <a:latin typeface="Lucida Sans Unicode"/>
                <a:cs typeface="Lucida Sans Unicode"/>
              </a:rPr>
              <a:t>∈</a:t>
            </a:r>
            <a:r>
              <a:rPr sz="800" i="1" spc="-25" dirty="0">
                <a:latin typeface="Cambria"/>
                <a:cs typeface="Cambria"/>
              </a:rPr>
              <a:t>S</a:t>
            </a:r>
            <a:endParaRPr sz="800">
              <a:latin typeface="Cambria"/>
              <a:cs typeface="Cambri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817522" y="3339672"/>
            <a:ext cx="97345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  <a:hlinkClick r:id="rId4" action="ppaction://hlinksldjump"/>
              </a:rPr>
              <a:t>Word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  <a:hlinkClick r:id="rId4" action="ppaction://hlinksldjump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4" action="ppaction://hlinksldjump"/>
              </a:rPr>
              <a:t>Sense</a:t>
            </a:r>
            <a:r>
              <a:rPr sz="600" i="1" spc="5" dirty="0">
                <a:solidFill>
                  <a:srgbClr val="FFFFFF"/>
                </a:solidFill>
                <a:latin typeface="Cambria"/>
                <a:cs typeface="Cambria"/>
                <a:hlinkClick r:id="rId4" action="ppaction://hlinksldjump"/>
              </a:rPr>
              <a:t>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  <a:hlinkClick r:id="rId4" action="ppaction://hlinksldjump"/>
              </a:rPr>
              <a:t>Disambiguation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  <a:hlinkClick r:id="rId4" action="ppaction://hlinksldjump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4" action="ppaction://hlinksldjump"/>
              </a:rPr>
              <a:t>-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  <a:hlinkClick r:id="rId4" action="ppaction://hlinksldjump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  <a:hlinkClick r:id="rId4" action="ppaction://hlinksldjump"/>
              </a:rPr>
              <a:t>I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608260" y="3339672"/>
            <a:ext cx="56388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8,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3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317424" y="3339672"/>
            <a:ext cx="236854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11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10" dirty="0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</a:rPr>
              <a:t>15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10E26517-EB32-479E-ADF5-E5EBE62124DA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4292024" y="3339672"/>
            <a:ext cx="262254" cy="116204"/>
          </a:xfrm>
          <a:prstGeom prst="rect">
            <a:avLst/>
          </a:prstGeom>
        </p:spPr>
        <p:txBody>
          <a:bodyPr/>
          <a:lstStyle/>
          <a:p>
            <a:pPr marL="75565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lang="en-IN" smtClean="0"/>
              <a:t>98</a:t>
            </a:fld>
            <a:r>
              <a:rPr lang="en-IN" spc="-5"/>
              <a:t> </a:t>
            </a:r>
            <a:r>
              <a:rPr lang="en-IN" spc="-110"/>
              <a:t>/</a:t>
            </a:r>
            <a:r>
              <a:rPr lang="en-IN" spc="15"/>
              <a:t> </a:t>
            </a:r>
            <a:r>
              <a:rPr lang="en-IN" spc="-25"/>
              <a:t>18</a:t>
            </a:r>
            <a:endParaRPr lang="en-IN" spc="-25" dirty="0"/>
          </a:p>
        </p:txBody>
      </p:sp>
    </p:spTree>
  </p:cSld>
  <p:clrMapOvr>
    <a:masterClrMapping/>
  </p:clrMapOvr>
  <p:transition>
    <p:cut/>
  </p:transition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Naïve</a:t>
            </a:r>
            <a:r>
              <a:rPr spc="35" dirty="0"/>
              <a:t> </a:t>
            </a:r>
            <a:r>
              <a:rPr dirty="0"/>
              <a:t>Bayes</a:t>
            </a:r>
            <a:r>
              <a:rPr spc="40" dirty="0"/>
              <a:t> </a:t>
            </a:r>
            <a:r>
              <a:rPr dirty="0"/>
              <a:t>for</a:t>
            </a:r>
            <a:r>
              <a:rPr spc="40" dirty="0"/>
              <a:t> </a:t>
            </a:r>
            <a:r>
              <a:rPr spc="-25" dirty="0"/>
              <a:t>WSD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597" y="537083"/>
            <a:ext cx="64757" cy="64757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02932" y="444520"/>
            <a:ext cx="3962400" cy="109029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18900"/>
              </a:lnSpc>
              <a:spcBef>
                <a:spcPts val="90"/>
              </a:spcBef>
            </a:pPr>
            <a:r>
              <a:rPr sz="950" spc="90" dirty="0">
                <a:latin typeface="Trebuchet MS"/>
                <a:cs typeface="Trebuchet MS"/>
              </a:rPr>
              <a:t>A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Naïve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spc="50" dirty="0">
                <a:latin typeface="Trebuchet MS"/>
                <a:cs typeface="Trebuchet MS"/>
              </a:rPr>
              <a:t>Bayes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classifier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chooses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most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likely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spc="55" dirty="0">
                <a:latin typeface="Trebuchet MS"/>
                <a:cs typeface="Trebuchet MS"/>
              </a:rPr>
              <a:t>sense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spc="-40" dirty="0">
                <a:latin typeface="Trebuchet MS"/>
                <a:cs typeface="Trebuchet MS"/>
              </a:rPr>
              <a:t>for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word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given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-7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features</a:t>
            </a:r>
            <a:r>
              <a:rPr sz="950" spc="-7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of</a:t>
            </a:r>
            <a:r>
              <a:rPr sz="950" spc="-6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-7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context:</a:t>
            </a:r>
            <a:endParaRPr sz="950">
              <a:latin typeface="Trebuchet MS"/>
              <a:cs typeface="Trebuchet MS"/>
            </a:endParaRPr>
          </a:p>
          <a:p>
            <a:pPr marL="108585" algn="ctr">
              <a:lnSpc>
                <a:spcPts val="1290"/>
              </a:lnSpc>
              <a:spcBef>
                <a:spcPts val="810"/>
              </a:spcBef>
            </a:pPr>
            <a:r>
              <a:rPr sz="1100" spc="-160" dirty="0">
                <a:latin typeface="Arial MT"/>
                <a:cs typeface="Arial MT"/>
              </a:rPr>
              <a:t>ˆ</a:t>
            </a:r>
            <a:r>
              <a:rPr sz="1100" i="1" spc="-160" dirty="0">
                <a:latin typeface="Cambria"/>
                <a:cs typeface="Cambria"/>
              </a:rPr>
              <a:t>s</a:t>
            </a:r>
            <a:r>
              <a:rPr sz="1100" i="1" spc="25" dirty="0">
                <a:latin typeface="Cambria"/>
                <a:cs typeface="Cambria"/>
              </a:rPr>
              <a:t> </a:t>
            </a:r>
            <a:r>
              <a:rPr sz="1100" spc="200" dirty="0">
                <a:latin typeface="Arial MT"/>
                <a:cs typeface="Arial MT"/>
              </a:rPr>
              <a:t>=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spc="-35" dirty="0">
                <a:latin typeface="Cambria"/>
                <a:cs typeface="Cambria"/>
              </a:rPr>
              <a:t>argmax</a:t>
            </a:r>
            <a:r>
              <a:rPr sz="1100" spc="-110" dirty="0">
                <a:latin typeface="Cambria"/>
                <a:cs typeface="Cambria"/>
              </a:rPr>
              <a:t> </a:t>
            </a:r>
            <a:r>
              <a:rPr sz="1100" i="1" spc="-30" dirty="0">
                <a:latin typeface="Cambria"/>
                <a:cs typeface="Cambria"/>
              </a:rPr>
              <a:t>P</a:t>
            </a:r>
            <a:r>
              <a:rPr sz="1100" spc="-30" dirty="0">
                <a:latin typeface="Arial MT"/>
                <a:cs typeface="Arial MT"/>
              </a:rPr>
              <a:t>(</a:t>
            </a:r>
            <a:r>
              <a:rPr sz="1100" i="1" spc="-30" dirty="0">
                <a:latin typeface="Cambria"/>
                <a:cs typeface="Cambria"/>
              </a:rPr>
              <a:t>s</a:t>
            </a:r>
            <a:r>
              <a:rPr sz="1100" spc="-30" dirty="0">
                <a:latin typeface="Lucida Sans Unicode"/>
                <a:cs typeface="Lucida Sans Unicode"/>
              </a:rPr>
              <a:t>|</a:t>
            </a:r>
            <a:r>
              <a:rPr sz="1100" i="1" spc="-30" dirty="0">
                <a:latin typeface="Cambria"/>
                <a:cs typeface="Cambria"/>
              </a:rPr>
              <a:t>f</a:t>
            </a:r>
            <a:r>
              <a:rPr sz="1100" i="1" spc="-65" dirty="0">
                <a:latin typeface="Cambria"/>
                <a:cs typeface="Cambria"/>
              </a:rPr>
              <a:t> </a:t>
            </a:r>
            <a:r>
              <a:rPr sz="1100" spc="5" dirty="0">
                <a:latin typeface="Arial MT"/>
                <a:cs typeface="Arial MT"/>
              </a:rPr>
              <a:t>)</a:t>
            </a:r>
            <a:endParaRPr sz="1100">
              <a:latin typeface="Arial MT"/>
              <a:cs typeface="Arial MT"/>
            </a:endParaRPr>
          </a:p>
          <a:p>
            <a:pPr marR="635" algn="ctr">
              <a:lnSpc>
                <a:spcPts val="930"/>
              </a:lnSpc>
            </a:pPr>
            <a:r>
              <a:rPr sz="800" i="1" spc="-25" dirty="0">
                <a:latin typeface="Cambria"/>
                <a:cs typeface="Cambria"/>
              </a:rPr>
              <a:t>s</a:t>
            </a:r>
            <a:r>
              <a:rPr sz="800" spc="-25" dirty="0">
                <a:latin typeface="Lucida Sans Unicode"/>
                <a:cs typeface="Lucida Sans Unicode"/>
              </a:rPr>
              <a:t>∈</a:t>
            </a:r>
            <a:r>
              <a:rPr sz="800" i="1" spc="-25" dirty="0">
                <a:latin typeface="Cambria"/>
                <a:cs typeface="Cambria"/>
              </a:rPr>
              <a:t>S</a:t>
            </a:r>
            <a:endParaRPr sz="8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565"/>
              </a:spcBef>
            </a:pPr>
            <a:endParaRPr sz="8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sz="950" dirty="0">
                <a:latin typeface="Trebuchet MS"/>
                <a:cs typeface="Trebuchet MS"/>
              </a:rPr>
              <a:t>Using</a:t>
            </a:r>
            <a:r>
              <a:rPr sz="950" spc="8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Bayes’</a:t>
            </a:r>
            <a:r>
              <a:rPr sz="950" spc="90" dirty="0">
                <a:latin typeface="Trebuchet MS"/>
                <a:cs typeface="Trebuchet MS"/>
              </a:rPr>
              <a:t> </a:t>
            </a:r>
            <a:r>
              <a:rPr sz="950" spc="-50" dirty="0">
                <a:latin typeface="Trebuchet MS"/>
                <a:cs typeface="Trebuchet MS"/>
              </a:rPr>
              <a:t>law,</a:t>
            </a:r>
            <a:r>
              <a:rPr sz="950" spc="8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this</a:t>
            </a:r>
            <a:r>
              <a:rPr sz="950" spc="9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can</a:t>
            </a:r>
            <a:r>
              <a:rPr sz="950" spc="8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be</a:t>
            </a:r>
            <a:r>
              <a:rPr sz="950" spc="9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expressed</a:t>
            </a:r>
            <a:r>
              <a:rPr sz="950" spc="85" dirty="0">
                <a:latin typeface="Trebuchet MS"/>
                <a:cs typeface="Trebuchet MS"/>
              </a:rPr>
              <a:t> </a:t>
            </a:r>
            <a:r>
              <a:rPr sz="950" spc="-25" dirty="0">
                <a:latin typeface="Trebuchet MS"/>
                <a:cs typeface="Trebuchet MS"/>
              </a:rPr>
              <a:t>as:</a:t>
            </a:r>
            <a:endParaRPr sz="950">
              <a:latin typeface="Trebuchet MS"/>
              <a:cs typeface="Trebuchet MS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597" y="1429562"/>
            <a:ext cx="64757" cy="64757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783943" y="1681695"/>
            <a:ext cx="685165" cy="3060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ts val="1290"/>
              </a:lnSpc>
              <a:spcBef>
                <a:spcPts val="90"/>
              </a:spcBef>
            </a:pPr>
            <a:r>
              <a:rPr sz="1100" spc="-160" dirty="0">
                <a:latin typeface="Arial MT"/>
                <a:cs typeface="Arial MT"/>
              </a:rPr>
              <a:t>ˆ</a:t>
            </a:r>
            <a:r>
              <a:rPr sz="1100" i="1" spc="-160" dirty="0">
                <a:latin typeface="Cambria"/>
                <a:cs typeface="Cambria"/>
              </a:rPr>
              <a:t>s</a:t>
            </a:r>
            <a:r>
              <a:rPr sz="1100" i="1" spc="5" dirty="0">
                <a:latin typeface="Cambria"/>
                <a:cs typeface="Cambria"/>
              </a:rPr>
              <a:t> </a:t>
            </a:r>
            <a:r>
              <a:rPr sz="1100" spc="200" dirty="0">
                <a:latin typeface="Arial MT"/>
                <a:cs typeface="Arial MT"/>
              </a:rPr>
              <a:t>=</a:t>
            </a:r>
            <a:r>
              <a:rPr sz="1100" spc="-55" dirty="0">
                <a:latin typeface="Arial MT"/>
                <a:cs typeface="Arial MT"/>
              </a:rPr>
              <a:t> </a:t>
            </a:r>
            <a:r>
              <a:rPr sz="1100" spc="-20" dirty="0">
                <a:latin typeface="Cambria"/>
                <a:cs typeface="Cambria"/>
              </a:rPr>
              <a:t>argmax</a:t>
            </a:r>
            <a:endParaRPr sz="1100">
              <a:latin typeface="Cambria"/>
              <a:cs typeface="Cambria"/>
            </a:endParaRPr>
          </a:p>
          <a:p>
            <a:pPr marL="384810">
              <a:lnSpc>
                <a:spcPts val="930"/>
              </a:lnSpc>
            </a:pPr>
            <a:r>
              <a:rPr sz="800" i="1" spc="-25" dirty="0">
                <a:latin typeface="Cambria"/>
                <a:cs typeface="Cambria"/>
              </a:rPr>
              <a:t>s</a:t>
            </a:r>
            <a:r>
              <a:rPr sz="800" spc="-25" dirty="0">
                <a:latin typeface="Lucida Sans Unicode"/>
                <a:cs typeface="Lucida Sans Unicode"/>
              </a:rPr>
              <a:t>∈</a:t>
            </a:r>
            <a:r>
              <a:rPr sz="800" i="1" spc="-25" dirty="0">
                <a:latin typeface="Cambria"/>
                <a:cs typeface="Cambria"/>
              </a:rPr>
              <a:t>S</a:t>
            </a:r>
            <a:endParaRPr sz="800">
              <a:latin typeface="Cambria"/>
              <a:cs typeface="Cambr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473820" y="1584223"/>
            <a:ext cx="60452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i="1" spc="20" dirty="0">
                <a:latin typeface="Cambria"/>
                <a:cs typeface="Cambria"/>
              </a:rPr>
              <a:t>P</a:t>
            </a:r>
            <a:r>
              <a:rPr sz="1100" spc="20" dirty="0">
                <a:latin typeface="Arial MT"/>
                <a:cs typeface="Arial MT"/>
              </a:rPr>
              <a:t>(</a:t>
            </a:r>
            <a:r>
              <a:rPr sz="1100" i="1" spc="20" dirty="0">
                <a:latin typeface="Cambria"/>
                <a:cs typeface="Cambria"/>
              </a:rPr>
              <a:t>s</a:t>
            </a:r>
            <a:r>
              <a:rPr sz="1100" spc="20" dirty="0">
                <a:latin typeface="Arial MT"/>
                <a:cs typeface="Arial MT"/>
              </a:rPr>
              <a:t>)</a:t>
            </a:r>
            <a:r>
              <a:rPr sz="1100" i="1" spc="20" dirty="0">
                <a:latin typeface="Cambria"/>
                <a:cs typeface="Cambria"/>
              </a:rPr>
              <a:t>P</a:t>
            </a:r>
            <a:r>
              <a:rPr sz="1100" spc="20" dirty="0">
                <a:latin typeface="Arial MT"/>
                <a:cs typeface="Arial MT"/>
              </a:rPr>
              <a:t>(</a:t>
            </a:r>
            <a:r>
              <a:rPr sz="1100" i="1" spc="20" dirty="0">
                <a:latin typeface="Cambria"/>
                <a:cs typeface="Cambria"/>
              </a:rPr>
              <a:t>f </a:t>
            </a:r>
            <a:r>
              <a:rPr sz="1100" spc="-25" dirty="0">
                <a:latin typeface="Lucida Sans Unicode"/>
                <a:cs typeface="Lucida Sans Unicode"/>
              </a:rPr>
              <a:t>|</a:t>
            </a:r>
            <a:r>
              <a:rPr sz="1100" i="1" spc="-25" dirty="0">
                <a:latin typeface="Cambria"/>
                <a:cs typeface="Cambria"/>
              </a:rPr>
              <a:t>s</a:t>
            </a:r>
            <a:r>
              <a:rPr sz="1100" spc="-25" dirty="0">
                <a:latin typeface="Arial MT"/>
                <a:cs typeface="Arial MT"/>
              </a:rPr>
              <a:t>)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486520" y="1797266"/>
            <a:ext cx="579120" cy="0"/>
          </a:xfrm>
          <a:custGeom>
            <a:avLst/>
            <a:gdLst/>
            <a:ahLst/>
            <a:cxnLst/>
            <a:rect l="l" t="t" r="r" b="b"/>
            <a:pathLst>
              <a:path w="579119">
                <a:moveTo>
                  <a:pt x="0" y="0"/>
                </a:moveTo>
                <a:lnTo>
                  <a:pt x="578993" y="0"/>
                </a:lnTo>
              </a:path>
            </a:pathLst>
          </a:custGeom>
          <a:ln w="77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2637777" y="1777085"/>
            <a:ext cx="27686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i="1" dirty="0">
                <a:latin typeface="Cambria"/>
                <a:cs typeface="Cambria"/>
              </a:rPr>
              <a:t>P</a:t>
            </a:r>
            <a:r>
              <a:rPr sz="1100" dirty="0">
                <a:latin typeface="Arial MT"/>
                <a:cs typeface="Arial MT"/>
              </a:rPr>
              <a:t>(</a:t>
            </a:r>
            <a:r>
              <a:rPr sz="1100" i="1" dirty="0">
                <a:latin typeface="Cambria"/>
                <a:cs typeface="Cambria"/>
              </a:rPr>
              <a:t>f</a:t>
            </a:r>
            <a:r>
              <a:rPr sz="1100" i="1" spc="-5" dirty="0">
                <a:latin typeface="Cambria"/>
                <a:cs typeface="Cambria"/>
              </a:rPr>
              <a:t> </a:t>
            </a:r>
            <a:r>
              <a:rPr sz="1100" spc="5" dirty="0">
                <a:latin typeface="Arial MT"/>
                <a:cs typeface="Arial MT"/>
              </a:rPr>
              <a:t>)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849120" y="2029333"/>
            <a:ext cx="1186815" cy="3060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ts val="1290"/>
              </a:lnSpc>
              <a:spcBef>
                <a:spcPts val="90"/>
              </a:spcBef>
            </a:pPr>
            <a:r>
              <a:rPr sz="1100" spc="200" dirty="0">
                <a:latin typeface="Arial MT"/>
                <a:cs typeface="Arial MT"/>
              </a:rPr>
              <a:t>=</a:t>
            </a:r>
            <a:r>
              <a:rPr sz="1100" spc="70" dirty="0">
                <a:latin typeface="Arial MT"/>
                <a:cs typeface="Arial MT"/>
              </a:rPr>
              <a:t> </a:t>
            </a:r>
            <a:r>
              <a:rPr sz="1100" spc="-35" dirty="0">
                <a:latin typeface="Cambria"/>
                <a:cs typeface="Cambria"/>
              </a:rPr>
              <a:t>argmax</a:t>
            </a:r>
            <a:r>
              <a:rPr sz="1100" spc="-55" dirty="0">
                <a:latin typeface="Cambria"/>
                <a:cs typeface="Cambria"/>
              </a:rPr>
              <a:t> </a:t>
            </a:r>
            <a:r>
              <a:rPr sz="1100" i="1" dirty="0">
                <a:latin typeface="Cambria"/>
                <a:cs typeface="Cambria"/>
              </a:rPr>
              <a:t>P</a:t>
            </a:r>
            <a:r>
              <a:rPr sz="1100" dirty="0">
                <a:latin typeface="Arial MT"/>
                <a:cs typeface="Arial MT"/>
              </a:rPr>
              <a:t>(</a:t>
            </a:r>
            <a:r>
              <a:rPr sz="1100" i="1" dirty="0">
                <a:latin typeface="Cambria"/>
                <a:cs typeface="Cambria"/>
              </a:rPr>
              <a:t>s</a:t>
            </a:r>
            <a:r>
              <a:rPr sz="1100" dirty="0">
                <a:latin typeface="Arial MT"/>
                <a:cs typeface="Arial MT"/>
              </a:rPr>
              <a:t>)</a:t>
            </a:r>
            <a:r>
              <a:rPr sz="1100" i="1" dirty="0">
                <a:latin typeface="Cambria"/>
                <a:cs typeface="Cambria"/>
              </a:rPr>
              <a:t>P</a:t>
            </a:r>
            <a:r>
              <a:rPr sz="1100" dirty="0">
                <a:latin typeface="Arial MT"/>
                <a:cs typeface="Arial MT"/>
              </a:rPr>
              <a:t>(</a:t>
            </a:r>
            <a:r>
              <a:rPr sz="1100" i="1" dirty="0">
                <a:latin typeface="Cambria"/>
                <a:cs typeface="Cambria"/>
              </a:rPr>
              <a:t>f</a:t>
            </a:r>
            <a:r>
              <a:rPr sz="1100" i="1" spc="5" dirty="0">
                <a:latin typeface="Cambria"/>
                <a:cs typeface="Cambria"/>
              </a:rPr>
              <a:t> </a:t>
            </a:r>
            <a:r>
              <a:rPr sz="1100" spc="-25" dirty="0">
                <a:latin typeface="Lucida Sans Unicode"/>
                <a:cs typeface="Lucida Sans Unicode"/>
              </a:rPr>
              <a:t>|</a:t>
            </a:r>
            <a:r>
              <a:rPr sz="1100" i="1" spc="-25" dirty="0">
                <a:latin typeface="Cambria"/>
                <a:cs typeface="Cambria"/>
              </a:rPr>
              <a:t>s</a:t>
            </a:r>
            <a:r>
              <a:rPr sz="1100" spc="-25" dirty="0">
                <a:latin typeface="Arial MT"/>
                <a:cs typeface="Arial MT"/>
              </a:rPr>
              <a:t>)</a:t>
            </a:r>
            <a:endParaRPr sz="1100">
              <a:latin typeface="Arial MT"/>
              <a:cs typeface="Arial MT"/>
            </a:endParaRPr>
          </a:p>
          <a:p>
            <a:pPr marL="292735">
              <a:lnSpc>
                <a:spcPts val="930"/>
              </a:lnSpc>
            </a:pPr>
            <a:r>
              <a:rPr sz="800" i="1" spc="-25" dirty="0">
                <a:latin typeface="Cambria"/>
                <a:cs typeface="Cambria"/>
              </a:rPr>
              <a:t>s</a:t>
            </a:r>
            <a:r>
              <a:rPr sz="800" spc="-25" dirty="0">
                <a:latin typeface="Lucida Sans Unicode"/>
                <a:cs typeface="Lucida Sans Unicode"/>
              </a:rPr>
              <a:t>∈</a:t>
            </a:r>
            <a:r>
              <a:rPr sz="800" i="1" spc="-25" dirty="0">
                <a:latin typeface="Cambria"/>
                <a:cs typeface="Cambria"/>
              </a:rPr>
              <a:t>S</a:t>
            </a:r>
            <a:endParaRPr sz="800">
              <a:latin typeface="Cambria"/>
              <a:cs typeface="Cambria"/>
            </a:endParaRPr>
          </a:p>
        </p:txBody>
      </p:sp>
      <p:pic>
        <p:nvPicPr>
          <p:cNvPr id="11" name="object 1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597" y="2532786"/>
            <a:ext cx="64757" cy="64757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2055329" y="3047746"/>
            <a:ext cx="17018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-45" dirty="0">
                <a:latin typeface="Cambria"/>
                <a:cs typeface="Cambria"/>
              </a:rPr>
              <a:t>s</a:t>
            </a:r>
            <a:r>
              <a:rPr sz="800" spc="-45" dirty="0">
                <a:latin typeface="Lucida Sans Unicode"/>
                <a:cs typeface="Lucida Sans Unicode"/>
              </a:rPr>
              <a:t>∈</a:t>
            </a:r>
            <a:r>
              <a:rPr sz="800" i="1" spc="-45" dirty="0">
                <a:latin typeface="Cambria"/>
                <a:cs typeface="Cambria"/>
              </a:rPr>
              <a:t>S</a:t>
            </a:r>
            <a:endParaRPr sz="800">
              <a:latin typeface="Cambria"/>
              <a:cs typeface="Cambri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682750" y="2888653"/>
            <a:ext cx="78486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165" dirty="0">
                <a:latin typeface="Arial MT"/>
                <a:cs typeface="Arial MT"/>
              </a:rPr>
              <a:t>ˆ</a:t>
            </a:r>
            <a:r>
              <a:rPr sz="1100" i="1" spc="-165" dirty="0">
                <a:latin typeface="Cambria"/>
                <a:cs typeface="Cambria"/>
              </a:rPr>
              <a:t>s</a:t>
            </a:r>
            <a:r>
              <a:rPr sz="1100" i="1" spc="25" dirty="0">
                <a:latin typeface="Cambria"/>
                <a:cs typeface="Cambria"/>
              </a:rPr>
              <a:t> </a:t>
            </a:r>
            <a:r>
              <a:rPr sz="1100" spc="200" dirty="0">
                <a:latin typeface="Arial MT"/>
                <a:cs typeface="Arial MT"/>
              </a:rPr>
              <a:t>=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spc="-35" dirty="0">
                <a:latin typeface="Cambria"/>
                <a:cs typeface="Cambria"/>
              </a:rPr>
              <a:t>argmax</a:t>
            </a:r>
            <a:r>
              <a:rPr sz="1100" spc="-114" dirty="0">
                <a:latin typeface="Cambria"/>
                <a:cs typeface="Cambria"/>
              </a:rPr>
              <a:t> </a:t>
            </a:r>
            <a:r>
              <a:rPr sz="1100" i="1" spc="-50" dirty="0">
                <a:latin typeface="Cambria"/>
                <a:cs typeface="Cambria"/>
              </a:rPr>
              <a:t>P</a:t>
            </a:r>
            <a:endParaRPr sz="1100">
              <a:latin typeface="Cambria"/>
              <a:cs typeface="Cambri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02932" y="2440236"/>
            <a:ext cx="3908425" cy="4635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18900"/>
              </a:lnSpc>
              <a:spcBef>
                <a:spcPts val="90"/>
              </a:spcBef>
            </a:pP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-1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‘Naïve’</a:t>
            </a:r>
            <a:r>
              <a:rPr sz="950" spc="-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assumption:</a:t>
            </a:r>
            <a:r>
              <a:rPr sz="950" spc="5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all</a:t>
            </a:r>
            <a:r>
              <a:rPr sz="950" spc="-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-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features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are</a:t>
            </a:r>
            <a:r>
              <a:rPr sz="950" spc="-1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conditionally</a:t>
            </a:r>
            <a:r>
              <a:rPr sz="950" spc="-1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independent, </a:t>
            </a:r>
            <a:r>
              <a:rPr sz="950" dirty="0">
                <a:latin typeface="Trebuchet MS"/>
                <a:cs typeface="Trebuchet MS"/>
              </a:rPr>
              <a:t>given</a:t>
            </a:r>
            <a:r>
              <a:rPr sz="950" spc="-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-10" dirty="0">
                <a:latin typeface="Trebuchet MS"/>
                <a:cs typeface="Trebuchet MS"/>
              </a:rPr>
              <a:t> sense’:</a:t>
            </a:r>
            <a:endParaRPr sz="950">
              <a:latin typeface="Trebuchet MS"/>
              <a:cs typeface="Trebuchet MS"/>
            </a:endParaRPr>
          </a:p>
          <a:p>
            <a:pPr marL="737235" algn="ctr">
              <a:lnSpc>
                <a:spcPts val="745"/>
              </a:lnSpc>
            </a:pPr>
            <a:r>
              <a:rPr sz="800" i="1" spc="-50" dirty="0">
                <a:latin typeface="Cambria"/>
                <a:cs typeface="Cambria"/>
              </a:rPr>
              <a:t>n</a:t>
            </a:r>
            <a:endParaRPr sz="800">
              <a:latin typeface="Cambria"/>
              <a:cs typeface="Cambri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619146" y="2746895"/>
            <a:ext cx="21336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1125" dirty="0">
                <a:latin typeface="Arial MT"/>
                <a:cs typeface="Arial MT"/>
              </a:rPr>
              <a:t>.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999308" y="2946768"/>
            <a:ext cx="5397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-50" dirty="0">
                <a:latin typeface="Cambria"/>
                <a:cs typeface="Cambria"/>
              </a:rPr>
              <a:t>j</a:t>
            </a:r>
            <a:endParaRPr sz="800">
              <a:latin typeface="Cambria"/>
              <a:cs typeface="Cambri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442095" y="2842949"/>
            <a:ext cx="752475" cy="392430"/>
          </a:xfrm>
          <a:prstGeom prst="rect">
            <a:avLst/>
          </a:prstGeom>
        </p:spPr>
        <p:txBody>
          <a:bodyPr vert="horz" wrap="square" lIns="0" tIns="571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0"/>
              </a:spcBef>
              <a:tabLst>
                <a:tab pos="392430" algn="l"/>
              </a:tabLst>
            </a:pPr>
            <a:r>
              <a:rPr sz="1100" spc="-25" dirty="0">
                <a:latin typeface="Arial MT"/>
                <a:cs typeface="Arial MT"/>
              </a:rPr>
              <a:t>(</a:t>
            </a:r>
            <a:r>
              <a:rPr sz="1100" i="1" spc="-25" dirty="0">
                <a:latin typeface="Cambria"/>
                <a:cs typeface="Cambria"/>
              </a:rPr>
              <a:t>s</a:t>
            </a:r>
            <a:r>
              <a:rPr sz="1100" spc="-25" dirty="0">
                <a:latin typeface="Arial MT"/>
                <a:cs typeface="Arial MT"/>
              </a:rPr>
              <a:t>)</a:t>
            </a:r>
            <a:r>
              <a:rPr sz="1100" dirty="0">
                <a:latin typeface="Arial MT"/>
                <a:cs typeface="Arial MT"/>
              </a:rPr>
              <a:t>	</a:t>
            </a:r>
            <a:r>
              <a:rPr sz="1100" i="1" dirty="0">
                <a:latin typeface="Cambria"/>
                <a:cs typeface="Cambria"/>
              </a:rPr>
              <a:t>P</a:t>
            </a:r>
            <a:r>
              <a:rPr sz="1100" dirty="0">
                <a:latin typeface="Arial MT"/>
                <a:cs typeface="Arial MT"/>
              </a:rPr>
              <a:t>(</a:t>
            </a:r>
            <a:r>
              <a:rPr sz="1100" i="1" dirty="0">
                <a:latin typeface="Cambria"/>
                <a:cs typeface="Cambria"/>
              </a:rPr>
              <a:t>f</a:t>
            </a:r>
            <a:r>
              <a:rPr sz="1100" i="1" spc="105" dirty="0">
                <a:latin typeface="Cambria"/>
                <a:cs typeface="Cambria"/>
              </a:rPr>
              <a:t> </a:t>
            </a:r>
            <a:r>
              <a:rPr sz="1100" spc="-30" dirty="0">
                <a:latin typeface="Lucida Sans Unicode"/>
                <a:cs typeface="Lucida Sans Unicode"/>
              </a:rPr>
              <a:t>|</a:t>
            </a:r>
            <a:r>
              <a:rPr sz="1100" i="1" spc="-30" dirty="0">
                <a:latin typeface="Cambria"/>
                <a:cs typeface="Cambria"/>
              </a:rPr>
              <a:t>s</a:t>
            </a:r>
            <a:r>
              <a:rPr sz="1100" spc="-30" dirty="0">
                <a:latin typeface="Arial MT"/>
                <a:cs typeface="Arial MT"/>
              </a:rPr>
              <a:t>)</a:t>
            </a:r>
            <a:endParaRPr sz="1100">
              <a:latin typeface="Arial MT"/>
              <a:cs typeface="Arial MT"/>
            </a:endParaRPr>
          </a:p>
          <a:p>
            <a:pPr marL="201930">
              <a:lnSpc>
                <a:spcPct val="100000"/>
              </a:lnSpc>
              <a:spcBef>
                <a:spcPts val="254"/>
              </a:spcBef>
            </a:pPr>
            <a:r>
              <a:rPr sz="800" i="1" spc="-25" dirty="0">
                <a:latin typeface="Cambria"/>
                <a:cs typeface="Cambria"/>
              </a:rPr>
              <a:t>j</a:t>
            </a:r>
            <a:r>
              <a:rPr sz="800" spc="-25" dirty="0">
                <a:latin typeface="Tahoma"/>
                <a:cs typeface="Tahoma"/>
              </a:rPr>
              <a:t>=</a:t>
            </a:r>
            <a:r>
              <a:rPr sz="800" spc="-25" dirty="0">
                <a:latin typeface="Cambria"/>
                <a:cs typeface="Cambria"/>
              </a:rPr>
              <a:t>1</a:t>
            </a:r>
            <a:endParaRPr sz="800">
              <a:latin typeface="Cambria"/>
              <a:cs typeface="Cambri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817522" y="3339672"/>
            <a:ext cx="97345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  <a:hlinkClick r:id="rId5" action="ppaction://hlinksldjump"/>
              </a:rPr>
              <a:t>Word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  <a:hlinkClick r:id="rId5" action="ppaction://hlinksldjump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5" action="ppaction://hlinksldjump"/>
              </a:rPr>
              <a:t>Sense</a:t>
            </a:r>
            <a:r>
              <a:rPr sz="600" i="1" spc="5" dirty="0">
                <a:solidFill>
                  <a:srgbClr val="FFFFFF"/>
                </a:solidFill>
                <a:latin typeface="Cambria"/>
                <a:cs typeface="Cambria"/>
                <a:hlinkClick r:id="rId5" action="ppaction://hlinksldjump"/>
              </a:rPr>
              <a:t>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  <a:hlinkClick r:id="rId5" action="ppaction://hlinksldjump"/>
              </a:rPr>
              <a:t>Disambiguation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  <a:hlinkClick r:id="rId5" action="ppaction://hlinksldjump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5" action="ppaction://hlinksldjump"/>
              </a:rPr>
              <a:t>-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  <a:hlinkClick r:id="rId5" action="ppaction://hlinksldjump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  <a:hlinkClick r:id="rId5" action="ppaction://hlinksldjump"/>
              </a:rPr>
              <a:t>I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608260" y="3339672"/>
            <a:ext cx="56388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8,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3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317424" y="3339672"/>
            <a:ext cx="236854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11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10" dirty="0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</a:rPr>
              <a:t>15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26" name="Slide Number Placeholder 25">
            <a:extLst>
              <a:ext uri="{FF2B5EF4-FFF2-40B4-BE49-F238E27FC236}">
                <a16:creationId xmlns:a16="http://schemas.microsoft.com/office/drawing/2014/main" id="{024A13CD-644E-4AC8-B390-6A16400E65CE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4292024" y="3339672"/>
            <a:ext cx="262254" cy="116204"/>
          </a:xfrm>
          <a:prstGeom prst="rect">
            <a:avLst/>
          </a:prstGeom>
        </p:spPr>
        <p:txBody>
          <a:bodyPr/>
          <a:lstStyle/>
          <a:p>
            <a:pPr marL="75565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lang="en-IN" smtClean="0"/>
              <a:t>99</a:t>
            </a:fld>
            <a:r>
              <a:rPr lang="en-IN" spc="-5"/>
              <a:t> </a:t>
            </a:r>
            <a:r>
              <a:rPr lang="en-IN" spc="-110"/>
              <a:t>/</a:t>
            </a:r>
            <a:r>
              <a:rPr lang="en-IN" spc="15"/>
              <a:t> </a:t>
            </a:r>
            <a:r>
              <a:rPr lang="en-IN" spc="-25"/>
              <a:t>18</a:t>
            </a:r>
            <a:endParaRPr lang="en-IN" spc="-25" dirty="0"/>
          </a:p>
        </p:txBody>
      </p:sp>
    </p:spTree>
  </p:cSld>
  <p:clrMapOvr>
    <a:masterClrMapping/>
  </p:clrMapOvr>
  <p:transition>
    <p:cut/>
  </p:transition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20" dirty="0"/>
              <a:t>Training</a:t>
            </a:r>
            <a:r>
              <a:rPr spc="20" dirty="0"/>
              <a:t> </a:t>
            </a:r>
            <a:r>
              <a:rPr dirty="0"/>
              <a:t>for</a:t>
            </a:r>
            <a:r>
              <a:rPr spc="25" dirty="0"/>
              <a:t> </a:t>
            </a:r>
            <a:r>
              <a:rPr dirty="0"/>
              <a:t>Naïve</a:t>
            </a:r>
            <a:r>
              <a:rPr spc="25" dirty="0"/>
              <a:t> </a:t>
            </a:r>
            <a:r>
              <a:rPr spc="-10" dirty="0"/>
              <a:t>Bayes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597" y="732815"/>
            <a:ext cx="64757" cy="64757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77532" y="623807"/>
            <a:ext cx="4105910" cy="996315"/>
          </a:xfrm>
          <a:prstGeom prst="rect">
            <a:avLst/>
          </a:prstGeom>
        </p:spPr>
        <p:txBody>
          <a:bodyPr vert="horz" wrap="square" lIns="0" tIns="3619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85"/>
              </a:spcBef>
            </a:pPr>
            <a:r>
              <a:rPr sz="950" spc="-85" dirty="0">
                <a:latin typeface="Trebuchet MS"/>
                <a:cs typeface="Trebuchet MS"/>
              </a:rPr>
              <a:t>‘</a:t>
            </a:r>
            <a:r>
              <a:rPr sz="1100" i="1" spc="-85" dirty="0">
                <a:latin typeface="Cambria"/>
                <a:cs typeface="Cambria"/>
              </a:rPr>
              <a:t>f</a:t>
            </a:r>
            <a:r>
              <a:rPr sz="1100" i="1" spc="-70" dirty="0">
                <a:latin typeface="Cambria"/>
                <a:cs typeface="Cambria"/>
              </a:rPr>
              <a:t> </a:t>
            </a:r>
            <a:r>
              <a:rPr sz="950" spc="-145" dirty="0">
                <a:latin typeface="Trebuchet MS"/>
                <a:cs typeface="Trebuchet MS"/>
              </a:rPr>
              <a:t>’</a:t>
            </a:r>
            <a:r>
              <a:rPr sz="950" spc="2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is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</a:t>
            </a:r>
            <a:r>
              <a:rPr sz="950" spc="20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feature</a:t>
            </a:r>
            <a:r>
              <a:rPr sz="950" spc="2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vector</a:t>
            </a:r>
            <a:r>
              <a:rPr sz="950" spc="2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consisting</a:t>
            </a:r>
            <a:r>
              <a:rPr sz="950" spc="20" dirty="0">
                <a:latin typeface="Trebuchet MS"/>
                <a:cs typeface="Trebuchet MS"/>
              </a:rPr>
              <a:t> </a:t>
            </a:r>
            <a:r>
              <a:rPr sz="950" spc="-25" dirty="0">
                <a:latin typeface="Trebuchet MS"/>
                <a:cs typeface="Trebuchet MS"/>
              </a:rPr>
              <a:t>of:</a:t>
            </a:r>
            <a:endParaRPr sz="950">
              <a:latin typeface="Trebuchet MS"/>
              <a:cs typeface="Trebuchet MS"/>
            </a:endParaRPr>
          </a:p>
          <a:p>
            <a:pPr marL="313690" indent="-116205">
              <a:lnSpc>
                <a:spcPts val="1200"/>
              </a:lnSpc>
              <a:spcBef>
                <a:spcPts val="175"/>
              </a:spcBef>
              <a:buClr>
                <a:srgbClr val="3232B2"/>
              </a:buClr>
              <a:buSzPct val="66666"/>
              <a:buFont typeface="Lucida Sans Unicode"/>
              <a:buChar char="►"/>
              <a:tabLst>
                <a:tab pos="313690" algn="l"/>
              </a:tabLst>
            </a:pPr>
            <a:r>
              <a:rPr sz="900" spc="110" dirty="0">
                <a:latin typeface="Trebuchet MS"/>
                <a:cs typeface="Trebuchet MS"/>
              </a:rPr>
              <a:t>POS</a:t>
            </a:r>
            <a:r>
              <a:rPr sz="900" spc="-20" dirty="0">
                <a:latin typeface="Trebuchet MS"/>
                <a:cs typeface="Trebuchet MS"/>
              </a:rPr>
              <a:t> </a:t>
            </a:r>
            <a:r>
              <a:rPr sz="900" spc="-45" dirty="0">
                <a:latin typeface="Trebuchet MS"/>
                <a:cs typeface="Trebuchet MS"/>
              </a:rPr>
              <a:t>of</a:t>
            </a:r>
            <a:r>
              <a:rPr sz="900" spc="-15" dirty="0">
                <a:latin typeface="Trebuchet MS"/>
                <a:cs typeface="Trebuchet MS"/>
              </a:rPr>
              <a:t> </a:t>
            </a:r>
            <a:r>
              <a:rPr sz="1000" i="1" spc="-50" dirty="0">
                <a:latin typeface="Cambria"/>
                <a:cs typeface="Cambria"/>
              </a:rPr>
              <a:t>w</a:t>
            </a:r>
            <a:endParaRPr sz="1000">
              <a:latin typeface="Cambria"/>
              <a:cs typeface="Cambria"/>
            </a:endParaRPr>
          </a:p>
          <a:p>
            <a:pPr marL="313690" indent="-116205">
              <a:lnSpc>
                <a:spcPts val="1195"/>
              </a:lnSpc>
              <a:buClr>
                <a:srgbClr val="3232B2"/>
              </a:buClr>
              <a:buSzPct val="66666"/>
              <a:buFont typeface="Lucida Sans Unicode"/>
              <a:buChar char="►"/>
              <a:tabLst>
                <a:tab pos="313690" algn="l"/>
              </a:tabLst>
            </a:pPr>
            <a:r>
              <a:rPr sz="900" dirty="0">
                <a:latin typeface="Trebuchet MS"/>
                <a:cs typeface="Trebuchet MS"/>
              </a:rPr>
              <a:t>Semantic</a:t>
            </a:r>
            <a:r>
              <a:rPr sz="900" spc="-25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and</a:t>
            </a:r>
            <a:r>
              <a:rPr sz="900" spc="-20" dirty="0">
                <a:latin typeface="Trebuchet MS"/>
                <a:cs typeface="Trebuchet MS"/>
              </a:rPr>
              <a:t> </a:t>
            </a:r>
            <a:r>
              <a:rPr sz="900" spc="-10" dirty="0">
                <a:latin typeface="Trebuchet MS"/>
                <a:cs typeface="Trebuchet MS"/>
              </a:rPr>
              <a:t>Syntactic</a:t>
            </a:r>
            <a:r>
              <a:rPr sz="900" spc="-20" dirty="0">
                <a:latin typeface="Trebuchet MS"/>
                <a:cs typeface="Trebuchet MS"/>
              </a:rPr>
              <a:t> features </a:t>
            </a:r>
            <a:r>
              <a:rPr sz="900" spc="-45" dirty="0">
                <a:latin typeface="Trebuchet MS"/>
                <a:cs typeface="Trebuchet MS"/>
              </a:rPr>
              <a:t>of</a:t>
            </a:r>
            <a:r>
              <a:rPr sz="900" spc="-20" dirty="0">
                <a:latin typeface="Trebuchet MS"/>
                <a:cs typeface="Trebuchet MS"/>
              </a:rPr>
              <a:t> </a:t>
            </a:r>
            <a:r>
              <a:rPr sz="1000" i="1" spc="-50" dirty="0">
                <a:latin typeface="Cambria"/>
                <a:cs typeface="Cambria"/>
              </a:rPr>
              <a:t>w</a:t>
            </a:r>
            <a:endParaRPr sz="1000">
              <a:latin typeface="Cambria"/>
              <a:cs typeface="Cambria"/>
            </a:endParaRPr>
          </a:p>
          <a:p>
            <a:pPr marL="313055" marR="30480" indent="-116205">
              <a:lnSpc>
                <a:spcPts val="1200"/>
              </a:lnSpc>
              <a:spcBef>
                <a:spcPts val="40"/>
              </a:spcBef>
              <a:buClr>
                <a:srgbClr val="3232B2"/>
              </a:buClr>
              <a:buSzPct val="66666"/>
              <a:buFont typeface="Lucida Sans Unicode"/>
              <a:buChar char="►"/>
              <a:tabLst>
                <a:tab pos="314960" algn="l"/>
              </a:tabLst>
            </a:pPr>
            <a:r>
              <a:rPr sz="900" spc="-10" dirty="0">
                <a:latin typeface="Trebuchet MS"/>
                <a:cs typeface="Trebuchet MS"/>
              </a:rPr>
              <a:t>Collocation</a:t>
            </a:r>
            <a:r>
              <a:rPr sz="900" spc="-35" dirty="0">
                <a:latin typeface="Trebuchet MS"/>
                <a:cs typeface="Trebuchet MS"/>
              </a:rPr>
              <a:t> </a:t>
            </a:r>
            <a:r>
              <a:rPr sz="900" spc="-30" dirty="0">
                <a:latin typeface="Trebuchet MS"/>
                <a:cs typeface="Trebuchet MS"/>
              </a:rPr>
              <a:t>vector </a:t>
            </a:r>
            <a:r>
              <a:rPr sz="900" spc="-10" dirty="0">
                <a:latin typeface="Trebuchet MS"/>
                <a:cs typeface="Trebuchet MS"/>
              </a:rPr>
              <a:t>(set</a:t>
            </a:r>
            <a:r>
              <a:rPr sz="900" spc="-30" dirty="0">
                <a:latin typeface="Trebuchet MS"/>
                <a:cs typeface="Trebuchet MS"/>
              </a:rPr>
              <a:t> </a:t>
            </a:r>
            <a:r>
              <a:rPr sz="900" spc="-45" dirty="0">
                <a:latin typeface="Trebuchet MS"/>
                <a:cs typeface="Trebuchet MS"/>
              </a:rPr>
              <a:t>of</a:t>
            </a:r>
            <a:r>
              <a:rPr sz="900" spc="-25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words</a:t>
            </a:r>
            <a:r>
              <a:rPr sz="900" spc="-25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around</a:t>
            </a:r>
            <a:r>
              <a:rPr sz="900" spc="-30" dirty="0">
                <a:latin typeface="Trebuchet MS"/>
                <a:cs typeface="Trebuchet MS"/>
              </a:rPr>
              <a:t> </a:t>
            </a:r>
            <a:r>
              <a:rPr sz="900" spc="-75" dirty="0">
                <a:latin typeface="Trebuchet MS"/>
                <a:cs typeface="Trebuchet MS"/>
              </a:rPr>
              <a:t>it)</a:t>
            </a:r>
            <a:r>
              <a:rPr sz="900" spc="-25" dirty="0">
                <a:latin typeface="Trebuchet MS"/>
                <a:cs typeface="Trebuchet MS"/>
              </a:rPr>
              <a:t> </a:t>
            </a:r>
            <a:r>
              <a:rPr sz="1000" dirty="0">
                <a:latin typeface="Lucida Sans Unicode"/>
                <a:cs typeface="Lucida Sans Unicode"/>
              </a:rPr>
              <a:t>→</a:t>
            </a:r>
            <a:r>
              <a:rPr sz="1000" spc="-70" dirty="0">
                <a:latin typeface="Lucida Sans Unicode"/>
                <a:cs typeface="Lucida Sans Unicode"/>
              </a:rPr>
              <a:t> </a:t>
            </a:r>
            <a:r>
              <a:rPr sz="900" spc="-30" dirty="0">
                <a:latin typeface="Trebuchet MS"/>
                <a:cs typeface="Trebuchet MS"/>
              </a:rPr>
              <a:t>next </a:t>
            </a:r>
            <a:r>
              <a:rPr sz="900" spc="-20" dirty="0">
                <a:latin typeface="Trebuchet MS"/>
                <a:cs typeface="Trebuchet MS"/>
              </a:rPr>
              <a:t>word</a:t>
            </a:r>
            <a:r>
              <a:rPr sz="900" spc="-30" dirty="0">
                <a:latin typeface="Trebuchet MS"/>
                <a:cs typeface="Trebuchet MS"/>
              </a:rPr>
              <a:t> </a:t>
            </a:r>
            <a:r>
              <a:rPr sz="900" spc="-10" dirty="0">
                <a:latin typeface="Trebuchet MS"/>
                <a:cs typeface="Trebuchet MS"/>
              </a:rPr>
              <a:t>(+1),</a:t>
            </a:r>
            <a:r>
              <a:rPr sz="900" spc="-25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+2,</a:t>
            </a:r>
            <a:r>
              <a:rPr sz="900" spc="-30" dirty="0">
                <a:latin typeface="Trebuchet MS"/>
                <a:cs typeface="Trebuchet MS"/>
              </a:rPr>
              <a:t> -</a:t>
            </a:r>
            <a:r>
              <a:rPr sz="900" spc="-20" dirty="0">
                <a:latin typeface="Trebuchet MS"/>
                <a:cs typeface="Trebuchet MS"/>
              </a:rPr>
              <a:t>1,</a:t>
            </a:r>
            <a:r>
              <a:rPr sz="900" spc="-30" dirty="0">
                <a:latin typeface="Trebuchet MS"/>
                <a:cs typeface="Trebuchet MS"/>
              </a:rPr>
              <a:t> </a:t>
            </a:r>
            <a:r>
              <a:rPr sz="900" spc="-10" dirty="0">
                <a:latin typeface="Trebuchet MS"/>
                <a:cs typeface="Trebuchet MS"/>
              </a:rPr>
              <a:t>-</a:t>
            </a:r>
            <a:r>
              <a:rPr sz="900" dirty="0">
                <a:latin typeface="Trebuchet MS"/>
                <a:cs typeface="Trebuchet MS"/>
              </a:rPr>
              <a:t>2</a:t>
            </a:r>
            <a:r>
              <a:rPr sz="900" spc="-25" dirty="0">
                <a:latin typeface="Trebuchet MS"/>
                <a:cs typeface="Trebuchet MS"/>
              </a:rPr>
              <a:t> and 	</a:t>
            </a:r>
            <a:r>
              <a:rPr sz="900" spc="-50" dirty="0">
                <a:latin typeface="Trebuchet MS"/>
                <a:cs typeface="Trebuchet MS"/>
              </a:rPr>
              <a:t>their</a:t>
            </a:r>
            <a:r>
              <a:rPr sz="900" spc="10" dirty="0">
                <a:latin typeface="Trebuchet MS"/>
                <a:cs typeface="Trebuchet MS"/>
              </a:rPr>
              <a:t> </a:t>
            </a:r>
            <a:r>
              <a:rPr sz="900" spc="-10" dirty="0">
                <a:latin typeface="Trebuchet MS"/>
                <a:cs typeface="Trebuchet MS"/>
              </a:rPr>
              <a:t>POS’s</a:t>
            </a:r>
            <a:endParaRPr sz="900">
              <a:latin typeface="Trebuchet MS"/>
              <a:cs typeface="Trebuchet MS"/>
            </a:endParaRPr>
          </a:p>
          <a:p>
            <a:pPr marL="313690" indent="-116205">
              <a:lnSpc>
                <a:spcPct val="100000"/>
              </a:lnSpc>
              <a:spcBef>
                <a:spcPts val="50"/>
              </a:spcBef>
              <a:buClr>
                <a:srgbClr val="3232B2"/>
              </a:buClr>
              <a:buSzPct val="66666"/>
              <a:buFont typeface="Lucida Sans Unicode"/>
              <a:buChar char="►"/>
              <a:tabLst>
                <a:tab pos="313690" algn="l"/>
              </a:tabLst>
            </a:pPr>
            <a:r>
              <a:rPr sz="900" dirty="0">
                <a:latin typeface="Trebuchet MS"/>
                <a:cs typeface="Trebuchet MS"/>
              </a:rPr>
              <a:t>Co-occurrence</a:t>
            </a:r>
            <a:r>
              <a:rPr sz="900" spc="-25" dirty="0">
                <a:latin typeface="Trebuchet MS"/>
                <a:cs typeface="Trebuchet MS"/>
              </a:rPr>
              <a:t> </a:t>
            </a:r>
            <a:r>
              <a:rPr sz="900" spc="-10" dirty="0">
                <a:latin typeface="Trebuchet MS"/>
                <a:cs typeface="Trebuchet MS"/>
              </a:rPr>
              <a:t>vector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817522" y="3339672"/>
            <a:ext cx="97345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Word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Sense</a:t>
            </a:r>
            <a:r>
              <a:rPr sz="600" i="1" spc="5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Disambiguation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-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I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608260" y="3339672"/>
            <a:ext cx="56388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8,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3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317424" y="3339672"/>
            <a:ext cx="236854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12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10" dirty="0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</a:rPr>
              <a:t>15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AB1CDB14-DC76-41CA-87C9-3B6D37D0D4AB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4292024" y="3339672"/>
            <a:ext cx="262254" cy="116204"/>
          </a:xfrm>
          <a:prstGeom prst="rect">
            <a:avLst/>
          </a:prstGeom>
        </p:spPr>
        <p:txBody>
          <a:bodyPr/>
          <a:lstStyle/>
          <a:p>
            <a:pPr marL="75565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lang="en-IN" smtClean="0"/>
              <a:t>100</a:t>
            </a:fld>
            <a:r>
              <a:rPr lang="en-IN" spc="-5"/>
              <a:t> </a:t>
            </a:r>
            <a:r>
              <a:rPr lang="en-IN" spc="-110"/>
              <a:t>/</a:t>
            </a:r>
            <a:r>
              <a:rPr lang="en-IN" spc="15"/>
              <a:t> </a:t>
            </a:r>
            <a:r>
              <a:rPr lang="en-IN" spc="-25"/>
              <a:t>18</a:t>
            </a:r>
            <a:endParaRPr lang="en-IN" spc="-25" dirty="0"/>
          </a:p>
        </p:txBody>
      </p:sp>
    </p:spTree>
  </p:cSld>
  <p:clrMapOvr>
    <a:masterClrMapping/>
  </p:clrMapOvr>
  <p:transition>
    <p:cut/>
  </p:transition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20" dirty="0"/>
              <a:t>Training</a:t>
            </a:r>
            <a:r>
              <a:rPr spc="20" dirty="0"/>
              <a:t> </a:t>
            </a:r>
            <a:r>
              <a:rPr dirty="0"/>
              <a:t>for</a:t>
            </a:r>
            <a:r>
              <a:rPr spc="25" dirty="0"/>
              <a:t> </a:t>
            </a:r>
            <a:r>
              <a:rPr dirty="0"/>
              <a:t>Naïve</a:t>
            </a:r>
            <a:r>
              <a:rPr spc="25" dirty="0"/>
              <a:t> </a:t>
            </a:r>
            <a:r>
              <a:rPr spc="-10" dirty="0"/>
              <a:t>Bayes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597" y="732815"/>
            <a:ext cx="64757" cy="64757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77532" y="623807"/>
            <a:ext cx="4105910" cy="1381125"/>
          </a:xfrm>
          <a:prstGeom prst="rect">
            <a:avLst/>
          </a:prstGeom>
        </p:spPr>
        <p:txBody>
          <a:bodyPr vert="horz" wrap="square" lIns="0" tIns="3619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85"/>
              </a:spcBef>
            </a:pPr>
            <a:r>
              <a:rPr sz="950" spc="-85" dirty="0">
                <a:latin typeface="Trebuchet MS"/>
                <a:cs typeface="Trebuchet MS"/>
              </a:rPr>
              <a:t>‘</a:t>
            </a:r>
            <a:r>
              <a:rPr sz="1100" i="1" spc="-85" dirty="0">
                <a:latin typeface="Cambria"/>
                <a:cs typeface="Cambria"/>
              </a:rPr>
              <a:t>f</a:t>
            </a:r>
            <a:r>
              <a:rPr sz="1100" i="1" spc="-70" dirty="0">
                <a:latin typeface="Cambria"/>
                <a:cs typeface="Cambria"/>
              </a:rPr>
              <a:t> </a:t>
            </a:r>
            <a:r>
              <a:rPr sz="950" spc="-145" dirty="0">
                <a:latin typeface="Trebuchet MS"/>
                <a:cs typeface="Trebuchet MS"/>
              </a:rPr>
              <a:t>’</a:t>
            </a:r>
            <a:r>
              <a:rPr sz="950" spc="2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is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</a:t>
            </a:r>
            <a:r>
              <a:rPr sz="950" spc="20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feature</a:t>
            </a:r>
            <a:r>
              <a:rPr sz="950" spc="2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vector</a:t>
            </a:r>
            <a:r>
              <a:rPr sz="950" spc="2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consisting</a:t>
            </a:r>
            <a:r>
              <a:rPr sz="950" spc="20" dirty="0">
                <a:latin typeface="Trebuchet MS"/>
                <a:cs typeface="Trebuchet MS"/>
              </a:rPr>
              <a:t> </a:t>
            </a:r>
            <a:r>
              <a:rPr sz="950" spc="-25" dirty="0">
                <a:latin typeface="Trebuchet MS"/>
                <a:cs typeface="Trebuchet MS"/>
              </a:rPr>
              <a:t>of:</a:t>
            </a:r>
            <a:endParaRPr sz="950">
              <a:latin typeface="Trebuchet MS"/>
              <a:cs typeface="Trebuchet MS"/>
            </a:endParaRPr>
          </a:p>
          <a:p>
            <a:pPr marL="313690" indent="-116205">
              <a:lnSpc>
                <a:spcPts val="1200"/>
              </a:lnSpc>
              <a:spcBef>
                <a:spcPts val="175"/>
              </a:spcBef>
              <a:buClr>
                <a:srgbClr val="3232B2"/>
              </a:buClr>
              <a:buSzPct val="66666"/>
              <a:buFont typeface="Lucida Sans Unicode"/>
              <a:buChar char="►"/>
              <a:tabLst>
                <a:tab pos="313690" algn="l"/>
              </a:tabLst>
            </a:pPr>
            <a:r>
              <a:rPr sz="900" spc="110" dirty="0">
                <a:latin typeface="Trebuchet MS"/>
                <a:cs typeface="Trebuchet MS"/>
              </a:rPr>
              <a:t>POS</a:t>
            </a:r>
            <a:r>
              <a:rPr sz="900" spc="-20" dirty="0">
                <a:latin typeface="Trebuchet MS"/>
                <a:cs typeface="Trebuchet MS"/>
              </a:rPr>
              <a:t> </a:t>
            </a:r>
            <a:r>
              <a:rPr sz="900" spc="-45" dirty="0">
                <a:latin typeface="Trebuchet MS"/>
                <a:cs typeface="Trebuchet MS"/>
              </a:rPr>
              <a:t>of</a:t>
            </a:r>
            <a:r>
              <a:rPr sz="900" spc="-15" dirty="0">
                <a:latin typeface="Trebuchet MS"/>
                <a:cs typeface="Trebuchet MS"/>
              </a:rPr>
              <a:t> </a:t>
            </a:r>
            <a:r>
              <a:rPr sz="1000" i="1" spc="-50" dirty="0">
                <a:latin typeface="Cambria"/>
                <a:cs typeface="Cambria"/>
              </a:rPr>
              <a:t>w</a:t>
            </a:r>
            <a:endParaRPr sz="1000">
              <a:latin typeface="Cambria"/>
              <a:cs typeface="Cambria"/>
            </a:endParaRPr>
          </a:p>
          <a:p>
            <a:pPr marL="313690" indent="-116205">
              <a:lnSpc>
                <a:spcPts val="1195"/>
              </a:lnSpc>
              <a:buClr>
                <a:srgbClr val="3232B2"/>
              </a:buClr>
              <a:buSzPct val="66666"/>
              <a:buFont typeface="Lucida Sans Unicode"/>
              <a:buChar char="►"/>
              <a:tabLst>
                <a:tab pos="313690" algn="l"/>
              </a:tabLst>
            </a:pPr>
            <a:r>
              <a:rPr sz="900" dirty="0">
                <a:latin typeface="Trebuchet MS"/>
                <a:cs typeface="Trebuchet MS"/>
              </a:rPr>
              <a:t>Semantic</a:t>
            </a:r>
            <a:r>
              <a:rPr sz="900" spc="-25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and</a:t>
            </a:r>
            <a:r>
              <a:rPr sz="900" spc="-20" dirty="0">
                <a:latin typeface="Trebuchet MS"/>
                <a:cs typeface="Trebuchet MS"/>
              </a:rPr>
              <a:t> </a:t>
            </a:r>
            <a:r>
              <a:rPr sz="900" spc="-10" dirty="0">
                <a:latin typeface="Trebuchet MS"/>
                <a:cs typeface="Trebuchet MS"/>
              </a:rPr>
              <a:t>Syntactic</a:t>
            </a:r>
            <a:r>
              <a:rPr sz="900" spc="-20" dirty="0">
                <a:latin typeface="Trebuchet MS"/>
                <a:cs typeface="Trebuchet MS"/>
              </a:rPr>
              <a:t> features </a:t>
            </a:r>
            <a:r>
              <a:rPr sz="900" spc="-45" dirty="0">
                <a:latin typeface="Trebuchet MS"/>
                <a:cs typeface="Trebuchet MS"/>
              </a:rPr>
              <a:t>of</a:t>
            </a:r>
            <a:r>
              <a:rPr sz="900" spc="-20" dirty="0">
                <a:latin typeface="Trebuchet MS"/>
                <a:cs typeface="Trebuchet MS"/>
              </a:rPr>
              <a:t> </a:t>
            </a:r>
            <a:r>
              <a:rPr sz="1000" i="1" spc="-50" dirty="0">
                <a:latin typeface="Cambria"/>
                <a:cs typeface="Cambria"/>
              </a:rPr>
              <a:t>w</a:t>
            </a:r>
            <a:endParaRPr sz="1000">
              <a:latin typeface="Cambria"/>
              <a:cs typeface="Cambria"/>
            </a:endParaRPr>
          </a:p>
          <a:p>
            <a:pPr marL="313055" marR="30480" indent="-116205">
              <a:lnSpc>
                <a:spcPts val="1200"/>
              </a:lnSpc>
              <a:spcBef>
                <a:spcPts val="40"/>
              </a:spcBef>
              <a:buClr>
                <a:srgbClr val="3232B2"/>
              </a:buClr>
              <a:buSzPct val="66666"/>
              <a:buFont typeface="Lucida Sans Unicode"/>
              <a:buChar char="►"/>
              <a:tabLst>
                <a:tab pos="314960" algn="l"/>
              </a:tabLst>
            </a:pPr>
            <a:r>
              <a:rPr sz="900" spc="-10" dirty="0">
                <a:latin typeface="Trebuchet MS"/>
                <a:cs typeface="Trebuchet MS"/>
              </a:rPr>
              <a:t>Collocation</a:t>
            </a:r>
            <a:r>
              <a:rPr sz="900" spc="-35" dirty="0">
                <a:latin typeface="Trebuchet MS"/>
                <a:cs typeface="Trebuchet MS"/>
              </a:rPr>
              <a:t> </a:t>
            </a:r>
            <a:r>
              <a:rPr sz="900" spc="-30" dirty="0">
                <a:latin typeface="Trebuchet MS"/>
                <a:cs typeface="Trebuchet MS"/>
              </a:rPr>
              <a:t>vector </a:t>
            </a:r>
            <a:r>
              <a:rPr sz="900" spc="-10" dirty="0">
                <a:latin typeface="Trebuchet MS"/>
                <a:cs typeface="Trebuchet MS"/>
              </a:rPr>
              <a:t>(set</a:t>
            </a:r>
            <a:r>
              <a:rPr sz="900" spc="-30" dirty="0">
                <a:latin typeface="Trebuchet MS"/>
                <a:cs typeface="Trebuchet MS"/>
              </a:rPr>
              <a:t> </a:t>
            </a:r>
            <a:r>
              <a:rPr sz="900" spc="-45" dirty="0">
                <a:latin typeface="Trebuchet MS"/>
                <a:cs typeface="Trebuchet MS"/>
              </a:rPr>
              <a:t>of</a:t>
            </a:r>
            <a:r>
              <a:rPr sz="900" spc="-25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words</a:t>
            </a:r>
            <a:r>
              <a:rPr sz="900" spc="-25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around</a:t>
            </a:r>
            <a:r>
              <a:rPr sz="900" spc="-30" dirty="0">
                <a:latin typeface="Trebuchet MS"/>
                <a:cs typeface="Trebuchet MS"/>
              </a:rPr>
              <a:t> </a:t>
            </a:r>
            <a:r>
              <a:rPr sz="900" spc="-75" dirty="0">
                <a:latin typeface="Trebuchet MS"/>
                <a:cs typeface="Trebuchet MS"/>
              </a:rPr>
              <a:t>it)</a:t>
            </a:r>
            <a:r>
              <a:rPr sz="900" spc="-25" dirty="0">
                <a:latin typeface="Trebuchet MS"/>
                <a:cs typeface="Trebuchet MS"/>
              </a:rPr>
              <a:t> </a:t>
            </a:r>
            <a:r>
              <a:rPr sz="1000" dirty="0">
                <a:latin typeface="Lucida Sans Unicode"/>
                <a:cs typeface="Lucida Sans Unicode"/>
              </a:rPr>
              <a:t>→</a:t>
            </a:r>
            <a:r>
              <a:rPr sz="1000" spc="-70" dirty="0">
                <a:latin typeface="Lucida Sans Unicode"/>
                <a:cs typeface="Lucida Sans Unicode"/>
              </a:rPr>
              <a:t> </a:t>
            </a:r>
            <a:r>
              <a:rPr sz="900" spc="-30" dirty="0">
                <a:latin typeface="Trebuchet MS"/>
                <a:cs typeface="Trebuchet MS"/>
              </a:rPr>
              <a:t>next </a:t>
            </a:r>
            <a:r>
              <a:rPr sz="900" spc="-20" dirty="0">
                <a:latin typeface="Trebuchet MS"/>
                <a:cs typeface="Trebuchet MS"/>
              </a:rPr>
              <a:t>word</a:t>
            </a:r>
            <a:r>
              <a:rPr sz="900" spc="-30" dirty="0">
                <a:latin typeface="Trebuchet MS"/>
                <a:cs typeface="Trebuchet MS"/>
              </a:rPr>
              <a:t> </a:t>
            </a:r>
            <a:r>
              <a:rPr sz="900" spc="-10" dirty="0">
                <a:latin typeface="Trebuchet MS"/>
                <a:cs typeface="Trebuchet MS"/>
              </a:rPr>
              <a:t>(+1),</a:t>
            </a:r>
            <a:r>
              <a:rPr sz="900" spc="-25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+2,</a:t>
            </a:r>
            <a:r>
              <a:rPr sz="900" spc="-30" dirty="0">
                <a:latin typeface="Trebuchet MS"/>
                <a:cs typeface="Trebuchet MS"/>
              </a:rPr>
              <a:t> -</a:t>
            </a:r>
            <a:r>
              <a:rPr sz="900" spc="-20" dirty="0">
                <a:latin typeface="Trebuchet MS"/>
                <a:cs typeface="Trebuchet MS"/>
              </a:rPr>
              <a:t>1,</a:t>
            </a:r>
            <a:r>
              <a:rPr sz="900" spc="-30" dirty="0">
                <a:latin typeface="Trebuchet MS"/>
                <a:cs typeface="Trebuchet MS"/>
              </a:rPr>
              <a:t> </a:t>
            </a:r>
            <a:r>
              <a:rPr sz="900" spc="-10" dirty="0">
                <a:latin typeface="Trebuchet MS"/>
                <a:cs typeface="Trebuchet MS"/>
              </a:rPr>
              <a:t>-</a:t>
            </a:r>
            <a:r>
              <a:rPr sz="900" dirty="0">
                <a:latin typeface="Trebuchet MS"/>
                <a:cs typeface="Trebuchet MS"/>
              </a:rPr>
              <a:t>2</a:t>
            </a:r>
            <a:r>
              <a:rPr sz="900" spc="-25" dirty="0">
                <a:latin typeface="Trebuchet MS"/>
                <a:cs typeface="Trebuchet MS"/>
              </a:rPr>
              <a:t> and 	</a:t>
            </a:r>
            <a:r>
              <a:rPr sz="900" spc="-50" dirty="0">
                <a:latin typeface="Trebuchet MS"/>
                <a:cs typeface="Trebuchet MS"/>
              </a:rPr>
              <a:t>their</a:t>
            </a:r>
            <a:r>
              <a:rPr sz="900" spc="10" dirty="0">
                <a:latin typeface="Trebuchet MS"/>
                <a:cs typeface="Trebuchet MS"/>
              </a:rPr>
              <a:t> </a:t>
            </a:r>
            <a:r>
              <a:rPr sz="900" spc="-10" dirty="0">
                <a:latin typeface="Trebuchet MS"/>
                <a:cs typeface="Trebuchet MS"/>
              </a:rPr>
              <a:t>POS’s</a:t>
            </a:r>
            <a:endParaRPr sz="900">
              <a:latin typeface="Trebuchet MS"/>
              <a:cs typeface="Trebuchet MS"/>
            </a:endParaRPr>
          </a:p>
          <a:p>
            <a:pPr marL="313690" indent="-116205">
              <a:lnSpc>
                <a:spcPct val="100000"/>
              </a:lnSpc>
              <a:spcBef>
                <a:spcPts val="50"/>
              </a:spcBef>
              <a:buClr>
                <a:srgbClr val="3232B2"/>
              </a:buClr>
              <a:buSzPct val="66666"/>
              <a:buFont typeface="Lucida Sans Unicode"/>
              <a:buChar char="►"/>
              <a:tabLst>
                <a:tab pos="313690" algn="l"/>
              </a:tabLst>
            </a:pPr>
            <a:r>
              <a:rPr sz="900" dirty="0">
                <a:latin typeface="Trebuchet MS"/>
                <a:cs typeface="Trebuchet MS"/>
              </a:rPr>
              <a:t>Co-occurrence</a:t>
            </a:r>
            <a:r>
              <a:rPr sz="900" spc="-25" dirty="0">
                <a:latin typeface="Trebuchet MS"/>
                <a:cs typeface="Trebuchet MS"/>
              </a:rPr>
              <a:t> </a:t>
            </a:r>
            <a:r>
              <a:rPr sz="900" spc="-10" dirty="0">
                <a:latin typeface="Trebuchet MS"/>
                <a:cs typeface="Trebuchet MS"/>
              </a:rPr>
              <a:t>vector</a:t>
            </a:r>
            <a:endParaRPr sz="900">
              <a:latin typeface="Trebuchet MS"/>
              <a:cs typeface="Trebuchet MS"/>
            </a:endParaRPr>
          </a:p>
          <a:p>
            <a:pPr marL="38100" marR="276860">
              <a:lnSpc>
                <a:spcPct val="118900"/>
              </a:lnSpc>
              <a:spcBef>
                <a:spcPts val="310"/>
              </a:spcBef>
            </a:pPr>
            <a:r>
              <a:rPr sz="950" dirty="0">
                <a:latin typeface="Trebuchet MS"/>
                <a:cs typeface="Trebuchet MS"/>
              </a:rPr>
              <a:t>Set</a:t>
            </a:r>
            <a:r>
              <a:rPr sz="950" spc="5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parameters</a:t>
            </a:r>
            <a:r>
              <a:rPr sz="950" spc="5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of</a:t>
            </a:r>
            <a:r>
              <a:rPr sz="950" spc="5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Naïve</a:t>
            </a:r>
            <a:r>
              <a:rPr sz="950" spc="50" dirty="0">
                <a:latin typeface="Trebuchet MS"/>
                <a:cs typeface="Trebuchet MS"/>
              </a:rPr>
              <a:t> Bayes</a:t>
            </a:r>
            <a:r>
              <a:rPr sz="950" spc="5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using</a:t>
            </a:r>
            <a:r>
              <a:rPr sz="950" spc="5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maximum</a:t>
            </a:r>
            <a:r>
              <a:rPr sz="950" spc="5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likelihood</a:t>
            </a:r>
            <a:r>
              <a:rPr sz="950" spc="5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estimation </a:t>
            </a:r>
            <a:r>
              <a:rPr sz="950" spc="60" dirty="0">
                <a:latin typeface="Trebuchet MS"/>
                <a:cs typeface="Trebuchet MS"/>
              </a:rPr>
              <a:t>(MLE)</a:t>
            </a:r>
            <a:r>
              <a:rPr sz="950" spc="-2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from</a:t>
            </a:r>
            <a:r>
              <a:rPr sz="950" spc="-20" dirty="0">
                <a:latin typeface="Trebuchet MS"/>
                <a:cs typeface="Trebuchet MS"/>
              </a:rPr>
              <a:t> training data</a:t>
            </a:r>
            <a:endParaRPr sz="950">
              <a:latin typeface="Trebuchet MS"/>
              <a:cs typeface="Trebuchet MS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597" y="1727314"/>
            <a:ext cx="64757" cy="64757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2040356" y="2266416"/>
            <a:ext cx="5397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-50" dirty="0">
                <a:latin typeface="Cambria"/>
                <a:cs typeface="Cambria"/>
              </a:rPr>
              <a:t>i</a:t>
            </a:r>
            <a:endParaRPr sz="800">
              <a:latin typeface="Cambria"/>
              <a:cs typeface="Cambr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847850" y="2208301"/>
            <a:ext cx="445134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i="1" dirty="0">
                <a:latin typeface="Cambria"/>
                <a:cs typeface="Cambria"/>
              </a:rPr>
              <a:t>P</a:t>
            </a:r>
            <a:r>
              <a:rPr sz="1100" dirty="0">
                <a:latin typeface="Arial MT"/>
                <a:cs typeface="Arial MT"/>
              </a:rPr>
              <a:t>(</a:t>
            </a:r>
            <a:r>
              <a:rPr sz="1100" i="1" dirty="0">
                <a:latin typeface="Cambria"/>
                <a:cs typeface="Cambria"/>
              </a:rPr>
              <a:t>s</a:t>
            </a:r>
            <a:r>
              <a:rPr sz="1100" i="1" spc="85" dirty="0">
                <a:latin typeface="Cambria"/>
                <a:cs typeface="Cambria"/>
              </a:rPr>
              <a:t> </a:t>
            </a:r>
            <a:r>
              <a:rPr sz="1100" spc="55" dirty="0">
                <a:latin typeface="Arial MT"/>
                <a:cs typeface="Arial MT"/>
              </a:rPr>
              <a:t>)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spc="150" dirty="0">
                <a:latin typeface="Arial MT"/>
                <a:cs typeface="Arial MT"/>
              </a:rPr>
              <a:t>=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287816" y="2104059"/>
            <a:ext cx="75946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i="1" u="sng" spc="-10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count</a:t>
            </a:r>
            <a:r>
              <a:rPr sz="1100" u="sng" spc="-10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(</a:t>
            </a:r>
            <a:r>
              <a:rPr sz="1100" i="1" u="sng" spc="-10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s</a:t>
            </a:r>
            <a:r>
              <a:rPr sz="1200" i="1" u="sng" spc="-15" baseline="-10416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i</a:t>
            </a:r>
            <a:r>
              <a:rPr sz="1100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,</a:t>
            </a:r>
            <a:r>
              <a:rPr sz="1100" u="sng" spc="-1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100" i="1" u="sng" spc="-25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w</a:t>
            </a:r>
            <a:r>
              <a:rPr sz="1200" i="1" u="sng" spc="-37" baseline="-10416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j</a:t>
            </a:r>
            <a:r>
              <a:rPr sz="1100" u="sng" spc="-25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)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357005" y="2303767"/>
            <a:ext cx="62166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i="1" spc="-10" dirty="0">
                <a:latin typeface="Cambria"/>
                <a:cs typeface="Cambria"/>
              </a:rPr>
              <a:t>count</a:t>
            </a:r>
            <a:r>
              <a:rPr sz="1100" spc="-10" dirty="0">
                <a:latin typeface="Arial MT"/>
                <a:cs typeface="Arial MT"/>
              </a:rPr>
              <a:t>(</a:t>
            </a:r>
            <a:r>
              <a:rPr sz="1100" i="1" spc="-10" dirty="0">
                <a:latin typeface="Cambria"/>
                <a:cs typeface="Cambria"/>
              </a:rPr>
              <a:t>w</a:t>
            </a:r>
            <a:r>
              <a:rPr sz="1200" i="1" spc="-15" baseline="-10416" dirty="0">
                <a:latin typeface="Cambria"/>
                <a:cs typeface="Cambria"/>
              </a:rPr>
              <a:t>j</a:t>
            </a:r>
            <a:r>
              <a:rPr sz="1100" spc="-10" dirty="0">
                <a:latin typeface="Arial MT"/>
                <a:cs typeface="Arial MT"/>
              </a:rPr>
              <a:t>)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001520" y="2706395"/>
            <a:ext cx="17018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dirty="0">
                <a:latin typeface="Cambria"/>
                <a:cs typeface="Cambria"/>
              </a:rPr>
              <a:t>j</a:t>
            </a:r>
            <a:r>
              <a:rPr sz="800" i="1" spc="170" dirty="0">
                <a:latin typeface="Cambria"/>
                <a:cs typeface="Cambria"/>
              </a:rPr>
              <a:t>  </a:t>
            </a:r>
            <a:r>
              <a:rPr sz="800" i="1" spc="-50" dirty="0">
                <a:latin typeface="Cambria"/>
                <a:cs typeface="Cambria"/>
              </a:rPr>
              <a:t>i</a:t>
            </a:r>
            <a:endParaRPr sz="800">
              <a:latin typeface="Cambria"/>
              <a:cs typeface="Cambri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824545" y="2648293"/>
            <a:ext cx="54546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i="1" dirty="0">
                <a:latin typeface="Cambria"/>
                <a:cs typeface="Cambria"/>
              </a:rPr>
              <a:t>P</a:t>
            </a:r>
            <a:r>
              <a:rPr sz="1100" dirty="0">
                <a:latin typeface="Arial MT"/>
                <a:cs typeface="Arial MT"/>
              </a:rPr>
              <a:t>(</a:t>
            </a:r>
            <a:r>
              <a:rPr sz="1100" i="1" dirty="0">
                <a:latin typeface="Cambria"/>
                <a:cs typeface="Cambria"/>
              </a:rPr>
              <a:t>f</a:t>
            </a:r>
            <a:r>
              <a:rPr sz="1100" i="1" spc="60" dirty="0">
                <a:latin typeface="Cambria"/>
                <a:cs typeface="Cambria"/>
              </a:rPr>
              <a:t> </a:t>
            </a:r>
            <a:r>
              <a:rPr sz="1100" spc="-110" dirty="0">
                <a:latin typeface="Lucida Sans Unicode"/>
                <a:cs typeface="Lucida Sans Unicode"/>
              </a:rPr>
              <a:t>|</a:t>
            </a:r>
            <a:r>
              <a:rPr sz="1100" i="1" spc="-110" dirty="0">
                <a:latin typeface="Cambria"/>
                <a:cs typeface="Cambria"/>
              </a:rPr>
              <a:t>s</a:t>
            </a:r>
            <a:r>
              <a:rPr sz="1100" i="1" spc="60" dirty="0">
                <a:latin typeface="Cambria"/>
                <a:cs typeface="Cambria"/>
              </a:rPr>
              <a:t> </a:t>
            </a:r>
            <a:r>
              <a:rPr sz="1100" spc="55" dirty="0">
                <a:latin typeface="Arial MT"/>
                <a:cs typeface="Arial MT"/>
              </a:rPr>
              <a:t>)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spc="150" dirty="0">
                <a:latin typeface="Arial MT"/>
                <a:cs typeface="Arial MT"/>
              </a:rPr>
              <a:t>=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365108" y="2544051"/>
            <a:ext cx="70612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i="1" u="sng" spc="-10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count</a:t>
            </a:r>
            <a:r>
              <a:rPr sz="1100" u="sng" spc="-10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(</a:t>
            </a:r>
            <a:r>
              <a:rPr sz="1100" i="1" u="sng" spc="-10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f</a:t>
            </a:r>
            <a:r>
              <a:rPr sz="1200" i="1" u="sng" spc="-15" baseline="-10416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j</a:t>
            </a:r>
            <a:r>
              <a:rPr sz="1100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,</a:t>
            </a:r>
            <a:r>
              <a:rPr sz="1100" u="sng" spc="-13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100" i="1" u="sng" spc="-25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s</a:t>
            </a:r>
            <a:r>
              <a:rPr sz="1200" i="1" u="sng" spc="-37" baseline="-10416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i</a:t>
            </a:r>
            <a:r>
              <a:rPr sz="1100" u="sng" spc="-25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)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426614" y="2743746"/>
            <a:ext cx="58293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i="1" spc="-10" dirty="0">
                <a:latin typeface="Cambria"/>
                <a:cs typeface="Cambria"/>
              </a:rPr>
              <a:t>count</a:t>
            </a:r>
            <a:r>
              <a:rPr sz="1100" spc="-10" dirty="0">
                <a:latin typeface="Arial MT"/>
                <a:cs typeface="Arial MT"/>
              </a:rPr>
              <a:t>(</a:t>
            </a:r>
            <a:r>
              <a:rPr sz="1100" i="1" spc="-10" dirty="0">
                <a:latin typeface="Cambria"/>
                <a:cs typeface="Cambria"/>
              </a:rPr>
              <a:t>s</a:t>
            </a:r>
            <a:r>
              <a:rPr sz="1200" i="1" spc="-15" baseline="-10416" dirty="0">
                <a:latin typeface="Cambria"/>
                <a:cs typeface="Cambria"/>
              </a:rPr>
              <a:t>i</a:t>
            </a:r>
            <a:r>
              <a:rPr sz="1100" spc="-10" dirty="0">
                <a:latin typeface="Arial MT"/>
                <a:cs typeface="Arial MT"/>
              </a:rPr>
              <a:t>)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817522" y="3339672"/>
            <a:ext cx="97345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  <a:hlinkClick r:id="rId4" action="ppaction://hlinksldjump"/>
              </a:rPr>
              <a:t>Word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  <a:hlinkClick r:id="rId4" action="ppaction://hlinksldjump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4" action="ppaction://hlinksldjump"/>
              </a:rPr>
              <a:t>Sense</a:t>
            </a:r>
            <a:r>
              <a:rPr sz="600" i="1" spc="5" dirty="0">
                <a:solidFill>
                  <a:srgbClr val="FFFFFF"/>
                </a:solidFill>
                <a:latin typeface="Cambria"/>
                <a:cs typeface="Cambria"/>
                <a:hlinkClick r:id="rId4" action="ppaction://hlinksldjump"/>
              </a:rPr>
              <a:t>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  <a:hlinkClick r:id="rId4" action="ppaction://hlinksldjump"/>
              </a:rPr>
              <a:t>Disambiguation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  <a:hlinkClick r:id="rId4" action="ppaction://hlinksldjump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4" action="ppaction://hlinksldjump"/>
              </a:rPr>
              <a:t>-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  <a:hlinkClick r:id="rId4" action="ppaction://hlinksldjump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  <a:hlinkClick r:id="rId4" action="ppaction://hlinksldjump"/>
              </a:rPr>
              <a:t>I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608260" y="3339672"/>
            <a:ext cx="56388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8,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3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317424" y="3339672"/>
            <a:ext cx="236854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12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10" dirty="0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</a:rPr>
              <a:t>15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22" name="Slide Number Placeholder 21">
            <a:extLst>
              <a:ext uri="{FF2B5EF4-FFF2-40B4-BE49-F238E27FC236}">
                <a16:creationId xmlns:a16="http://schemas.microsoft.com/office/drawing/2014/main" id="{D0889921-FDF4-4782-A590-A55FD65DBDA4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4292024" y="3339672"/>
            <a:ext cx="262254" cy="116204"/>
          </a:xfrm>
          <a:prstGeom prst="rect">
            <a:avLst/>
          </a:prstGeom>
        </p:spPr>
        <p:txBody>
          <a:bodyPr/>
          <a:lstStyle/>
          <a:p>
            <a:pPr marL="75565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lang="en-IN" smtClean="0"/>
              <a:t>101</a:t>
            </a:fld>
            <a:r>
              <a:rPr lang="en-IN" spc="-5"/>
              <a:t> </a:t>
            </a:r>
            <a:r>
              <a:rPr lang="en-IN" spc="-110"/>
              <a:t>/</a:t>
            </a:r>
            <a:r>
              <a:rPr lang="en-IN" spc="15"/>
              <a:t> </a:t>
            </a:r>
            <a:r>
              <a:rPr lang="en-IN" spc="-25"/>
              <a:t>18</a:t>
            </a:r>
            <a:endParaRPr lang="en-IN" spc="-25" dirty="0"/>
          </a:p>
        </p:txBody>
      </p:sp>
    </p:spTree>
  </p:cSld>
  <p:clrMapOvr>
    <a:masterClrMapping/>
  </p:clrMapOvr>
  <p:transition>
    <p:cut/>
  </p:transition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250" y="60502"/>
            <a:ext cx="177673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Decision</a:t>
            </a:r>
            <a:r>
              <a:rPr spc="145" dirty="0"/>
              <a:t> </a:t>
            </a:r>
            <a:r>
              <a:rPr dirty="0"/>
              <a:t>List</a:t>
            </a:r>
            <a:r>
              <a:rPr spc="150" dirty="0"/>
              <a:t> </a:t>
            </a:r>
            <a:r>
              <a:rPr spc="-10" dirty="0"/>
              <a:t>Algorithm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597" y="738936"/>
            <a:ext cx="64757" cy="64757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77532" y="626856"/>
            <a:ext cx="3895725" cy="966469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59"/>
              </a:spcBef>
            </a:pPr>
            <a:r>
              <a:rPr sz="950" spc="60" dirty="0">
                <a:latin typeface="Trebuchet MS"/>
                <a:cs typeface="Trebuchet MS"/>
              </a:rPr>
              <a:t>Based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on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‘One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spc="55" dirty="0">
                <a:latin typeface="Trebuchet MS"/>
                <a:cs typeface="Trebuchet MS"/>
              </a:rPr>
              <a:t>sense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per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spc="-25" dirty="0">
                <a:latin typeface="Trebuchet MS"/>
                <a:cs typeface="Trebuchet MS"/>
              </a:rPr>
              <a:t>collocation’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property</a:t>
            </a:r>
            <a:endParaRPr sz="950">
              <a:latin typeface="Trebuchet MS"/>
              <a:cs typeface="Trebuchet MS"/>
            </a:endParaRPr>
          </a:p>
          <a:p>
            <a:pPr marL="313055" marR="33655" indent="-116205">
              <a:lnSpc>
                <a:spcPct val="110700"/>
              </a:lnSpc>
              <a:spcBef>
                <a:spcPts val="190"/>
              </a:spcBef>
              <a:buClr>
                <a:srgbClr val="3232B2"/>
              </a:buClr>
              <a:buSzPct val="66666"/>
              <a:buFont typeface="Lucida Sans Unicode"/>
              <a:buChar char="►"/>
              <a:tabLst>
                <a:tab pos="314960" algn="l"/>
              </a:tabLst>
            </a:pPr>
            <a:r>
              <a:rPr sz="900" dirty="0">
                <a:latin typeface="Trebuchet MS"/>
                <a:cs typeface="Trebuchet MS"/>
              </a:rPr>
              <a:t>Nearby words </a:t>
            </a:r>
            <a:r>
              <a:rPr sz="900" spc="-20" dirty="0">
                <a:latin typeface="Trebuchet MS"/>
                <a:cs typeface="Trebuchet MS"/>
              </a:rPr>
              <a:t>provide</a:t>
            </a:r>
            <a:r>
              <a:rPr sz="900" dirty="0">
                <a:latin typeface="Trebuchet MS"/>
                <a:cs typeface="Trebuchet MS"/>
              </a:rPr>
              <a:t> strong and </a:t>
            </a:r>
            <a:r>
              <a:rPr sz="900" spc="-10" dirty="0">
                <a:latin typeface="Trebuchet MS"/>
                <a:cs typeface="Trebuchet MS"/>
              </a:rPr>
              <a:t>consistent</a:t>
            </a:r>
            <a:r>
              <a:rPr sz="900" spc="5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clues </a:t>
            </a:r>
            <a:r>
              <a:rPr sz="900" spc="50" dirty="0">
                <a:latin typeface="Trebuchet MS"/>
                <a:cs typeface="Trebuchet MS"/>
              </a:rPr>
              <a:t>as</a:t>
            </a:r>
            <a:r>
              <a:rPr sz="900" dirty="0">
                <a:latin typeface="Trebuchet MS"/>
                <a:cs typeface="Trebuchet MS"/>
              </a:rPr>
              <a:t> </a:t>
            </a:r>
            <a:r>
              <a:rPr sz="900" spc="-65" dirty="0">
                <a:latin typeface="Trebuchet MS"/>
                <a:cs typeface="Trebuchet MS"/>
              </a:rPr>
              <a:t>to</a:t>
            </a:r>
            <a:r>
              <a:rPr sz="900" dirty="0">
                <a:latin typeface="Trebuchet MS"/>
                <a:cs typeface="Trebuchet MS"/>
              </a:rPr>
              <a:t> </a:t>
            </a:r>
            <a:r>
              <a:rPr sz="900" spc="-25" dirty="0">
                <a:latin typeface="Trebuchet MS"/>
                <a:cs typeface="Trebuchet MS"/>
              </a:rPr>
              <a:t>the</a:t>
            </a:r>
            <a:r>
              <a:rPr sz="900" dirty="0">
                <a:latin typeface="Trebuchet MS"/>
                <a:cs typeface="Trebuchet MS"/>
              </a:rPr>
              <a:t> sense</a:t>
            </a:r>
            <a:r>
              <a:rPr sz="900" spc="5" dirty="0">
                <a:latin typeface="Trebuchet MS"/>
                <a:cs typeface="Trebuchet MS"/>
              </a:rPr>
              <a:t> </a:t>
            </a:r>
            <a:r>
              <a:rPr sz="900" spc="-45" dirty="0">
                <a:latin typeface="Trebuchet MS"/>
                <a:cs typeface="Trebuchet MS"/>
              </a:rPr>
              <a:t>of</a:t>
            </a:r>
            <a:r>
              <a:rPr sz="900" dirty="0">
                <a:latin typeface="Trebuchet MS"/>
                <a:cs typeface="Trebuchet MS"/>
              </a:rPr>
              <a:t> </a:t>
            </a:r>
            <a:r>
              <a:rPr sz="900" spc="-50" dirty="0">
                <a:latin typeface="Trebuchet MS"/>
                <a:cs typeface="Trebuchet MS"/>
              </a:rPr>
              <a:t>a 	</a:t>
            </a:r>
            <a:r>
              <a:rPr sz="900" spc="-35" dirty="0">
                <a:latin typeface="Trebuchet MS"/>
                <a:cs typeface="Trebuchet MS"/>
              </a:rPr>
              <a:t>target</a:t>
            </a:r>
            <a:r>
              <a:rPr sz="900" spc="-15" dirty="0">
                <a:latin typeface="Trebuchet MS"/>
                <a:cs typeface="Trebuchet MS"/>
              </a:rPr>
              <a:t> </a:t>
            </a:r>
            <a:r>
              <a:rPr sz="900" spc="-20" dirty="0">
                <a:latin typeface="Trebuchet MS"/>
                <a:cs typeface="Trebuchet MS"/>
              </a:rPr>
              <a:t>word</a:t>
            </a:r>
            <a:endParaRPr sz="900">
              <a:latin typeface="Trebuchet MS"/>
              <a:cs typeface="Trebuchet MS"/>
            </a:endParaRPr>
          </a:p>
          <a:p>
            <a:pPr marL="38100">
              <a:lnSpc>
                <a:spcPct val="100000"/>
              </a:lnSpc>
              <a:spcBef>
                <a:spcPts val="525"/>
              </a:spcBef>
            </a:pPr>
            <a:r>
              <a:rPr sz="950" dirty="0">
                <a:latin typeface="Trebuchet MS"/>
                <a:cs typeface="Trebuchet MS"/>
              </a:rPr>
              <a:t>Collect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large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set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of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collocations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spc="-40" dirty="0">
                <a:latin typeface="Trebuchet MS"/>
                <a:cs typeface="Trebuchet MS"/>
              </a:rPr>
              <a:t>for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ambiguous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word</a:t>
            </a:r>
            <a:endParaRPr sz="950">
              <a:latin typeface="Trebuchet MS"/>
              <a:cs typeface="Trebuchet MS"/>
            </a:endParaRPr>
          </a:p>
          <a:p>
            <a:pPr marL="38100">
              <a:lnSpc>
                <a:spcPct val="100000"/>
              </a:lnSpc>
              <a:spcBef>
                <a:spcPts val="515"/>
              </a:spcBef>
            </a:pPr>
            <a:r>
              <a:rPr sz="950" dirty="0">
                <a:latin typeface="Trebuchet MS"/>
                <a:cs typeface="Trebuchet MS"/>
              </a:rPr>
              <a:t>Calculate</a:t>
            </a:r>
            <a:r>
              <a:rPr sz="950" spc="4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word-sense</a:t>
            </a:r>
            <a:r>
              <a:rPr sz="950" spc="45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probability</a:t>
            </a:r>
            <a:r>
              <a:rPr sz="950" spc="4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distributions</a:t>
            </a:r>
            <a:r>
              <a:rPr sz="950" spc="45" dirty="0">
                <a:latin typeface="Trebuchet MS"/>
                <a:cs typeface="Trebuchet MS"/>
              </a:rPr>
              <a:t> </a:t>
            </a:r>
            <a:r>
              <a:rPr sz="950" spc="-40" dirty="0">
                <a:latin typeface="Trebuchet MS"/>
                <a:cs typeface="Trebuchet MS"/>
              </a:rPr>
              <a:t>for</a:t>
            </a:r>
            <a:r>
              <a:rPr sz="950" spc="5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all</a:t>
            </a:r>
            <a:r>
              <a:rPr sz="950" spc="4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such</a:t>
            </a:r>
            <a:r>
              <a:rPr sz="950" spc="4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collocations</a:t>
            </a:r>
            <a:endParaRPr sz="950">
              <a:latin typeface="Trebuchet MS"/>
              <a:cs typeface="Trebuchet MS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597" y="1277937"/>
            <a:ext cx="64757" cy="64757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597" y="1487970"/>
            <a:ext cx="64757" cy="64757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1817522" y="3339672"/>
            <a:ext cx="97345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  <a:hlinkClick r:id="rId5" action="ppaction://hlinksldjump"/>
              </a:rPr>
              <a:t>Word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  <a:hlinkClick r:id="rId5" action="ppaction://hlinksldjump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5" action="ppaction://hlinksldjump"/>
              </a:rPr>
              <a:t>Sense</a:t>
            </a:r>
            <a:r>
              <a:rPr sz="600" i="1" spc="5" dirty="0">
                <a:solidFill>
                  <a:srgbClr val="FFFFFF"/>
                </a:solidFill>
                <a:latin typeface="Cambria"/>
                <a:cs typeface="Cambria"/>
                <a:hlinkClick r:id="rId5" action="ppaction://hlinksldjump"/>
              </a:rPr>
              <a:t>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  <a:hlinkClick r:id="rId5" action="ppaction://hlinksldjump"/>
              </a:rPr>
              <a:t>Disambiguation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  <a:hlinkClick r:id="rId5" action="ppaction://hlinksldjump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5" action="ppaction://hlinksldjump"/>
              </a:rPr>
              <a:t>-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  <a:hlinkClick r:id="rId5" action="ppaction://hlinksldjump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  <a:hlinkClick r:id="rId5" action="ppaction://hlinksldjump"/>
              </a:rPr>
              <a:t>I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608260" y="3339672"/>
            <a:ext cx="56388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8,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3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317424" y="3339672"/>
            <a:ext cx="236854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13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10" dirty="0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</a:rPr>
              <a:t>15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60AFE2EC-9DB0-47D1-AECE-79A17F4EFC4F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4292024" y="3339672"/>
            <a:ext cx="262254" cy="116204"/>
          </a:xfrm>
          <a:prstGeom prst="rect">
            <a:avLst/>
          </a:prstGeom>
        </p:spPr>
        <p:txBody>
          <a:bodyPr/>
          <a:lstStyle/>
          <a:p>
            <a:pPr marL="75565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lang="en-IN" smtClean="0"/>
              <a:t>102</a:t>
            </a:fld>
            <a:r>
              <a:rPr lang="en-IN" spc="-5"/>
              <a:t> </a:t>
            </a:r>
            <a:r>
              <a:rPr lang="en-IN" spc="-110"/>
              <a:t>/</a:t>
            </a:r>
            <a:r>
              <a:rPr lang="en-IN" spc="15"/>
              <a:t> </a:t>
            </a:r>
            <a:r>
              <a:rPr lang="en-IN" spc="-25"/>
              <a:t>18</a:t>
            </a:r>
            <a:endParaRPr lang="en-IN" spc="-25" dirty="0"/>
          </a:p>
        </p:txBody>
      </p:sp>
    </p:spTree>
  </p:cSld>
  <p:clrMapOvr>
    <a:masterClrMapping/>
  </p:clrMapOvr>
  <p:transition>
    <p:cut/>
  </p:transition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250" y="60502"/>
            <a:ext cx="177673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Decision</a:t>
            </a:r>
            <a:r>
              <a:rPr spc="145" dirty="0"/>
              <a:t> </a:t>
            </a:r>
            <a:r>
              <a:rPr dirty="0"/>
              <a:t>List</a:t>
            </a:r>
            <a:r>
              <a:rPr spc="150" dirty="0"/>
              <a:t> </a:t>
            </a:r>
            <a:r>
              <a:rPr spc="-10" dirty="0"/>
              <a:t>Algorithm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597" y="738936"/>
            <a:ext cx="64757" cy="64757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52132" y="626856"/>
            <a:ext cx="3946525" cy="1931035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63500">
              <a:lnSpc>
                <a:spcPct val="100000"/>
              </a:lnSpc>
              <a:spcBef>
                <a:spcPts val="459"/>
              </a:spcBef>
            </a:pPr>
            <a:r>
              <a:rPr sz="950" spc="60" dirty="0">
                <a:latin typeface="Trebuchet MS"/>
                <a:cs typeface="Trebuchet MS"/>
              </a:rPr>
              <a:t>Based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on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‘One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spc="55" dirty="0">
                <a:latin typeface="Trebuchet MS"/>
                <a:cs typeface="Trebuchet MS"/>
              </a:rPr>
              <a:t>sense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per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spc="-25" dirty="0">
                <a:latin typeface="Trebuchet MS"/>
                <a:cs typeface="Trebuchet MS"/>
              </a:rPr>
              <a:t>collocation’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property</a:t>
            </a:r>
            <a:endParaRPr sz="950">
              <a:latin typeface="Trebuchet MS"/>
              <a:cs typeface="Trebuchet MS"/>
            </a:endParaRPr>
          </a:p>
          <a:p>
            <a:pPr marL="338455" marR="59055" indent="-116205">
              <a:lnSpc>
                <a:spcPct val="110700"/>
              </a:lnSpc>
              <a:spcBef>
                <a:spcPts val="190"/>
              </a:spcBef>
              <a:buClr>
                <a:srgbClr val="3232B2"/>
              </a:buClr>
              <a:buSzPct val="66666"/>
              <a:buFont typeface="Lucida Sans Unicode"/>
              <a:buChar char="►"/>
              <a:tabLst>
                <a:tab pos="340360" algn="l"/>
              </a:tabLst>
            </a:pPr>
            <a:r>
              <a:rPr sz="900" dirty="0">
                <a:latin typeface="Trebuchet MS"/>
                <a:cs typeface="Trebuchet MS"/>
              </a:rPr>
              <a:t>Nearby words </a:t>
            </a:r>
            <a:r>
              <a:rPr sz="900" spc="-20" dirty="0">
                <a:latin typeface="Trebuchet MS"/>
                <a:cs typeface="Trebuchet MS"/>
              </a:rPr>
              <a:t>provide</a:t>
            </a:r>
            <a:r>
              <a:rPr sz="900" dirty="0">
                <a:latin typeface="Trebuchet MS"/>
                <a:cs typeface="Trebuchet MS"/>
              </a:rPr>
              <a:t> strong and </a:t>
            </a:r>
            <a:r>
              <a:rPr sz="900" spc="-10" dirty="0">
                <a:latin typeface="Trebuchet MS"/>
                <a:cs typeface="Trebuchet MS"/>
              </a:rPr>
              <a:t>consistent</a:t>
            </a:r>
            <a:r>
              <a:rPr sz="900" spc="5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clues </a:t>
            </a:r>
            <a:r>
              <a:rPr sz="900" spc="50" dirty="0">
                <a:latin typeface="Trebuchet MS"/>
                <a:cs typeface="Trebuchet MS"/>
              </a:rPr>
              <a:t>as</a:t>
            </a:r>
            <a:r>
              <a:rPr sz="900" dirty="0">
                <a:latin typeface="Trebuchet MS"/>
                <a:cs typeface="Trebuchet MS"/>
              </a:rPr>
              <a:t> </a:t>
            </a:r>
            <a:r>
              <a:rPr sz="900" spc="-65" dirty="0">
                <a:latin typeface="Trebuchet MS"/>
                <a:cs typeface="Trebuchet MS"/>
              </a:rPr>
              <a:t>to</a:t>
            </a:r>
            <a:r>
              <a:rPr sz="900" dirty="0">
                <a:latin typeface="Trebuchet MS"/>
                <a:cs typeface="Trebuchet MS"/>
              </a:rPr>
              <a:t> </a:t>
            </a:r>
            <a:r>
              <a:rPr sz="900" spc="-25" dirty="0">
                <a:latin typeface="Trebuchet MS"/>
                <a:cs typeface="Trebuchet MS"/>
              </a:rPr>
              <a:t>the</a:t>
            </a:r>
            <a:r>
              <a:rPr sz="900" dirty="0">
                <a:latin typeface="Trebuchet MS"/>
                <a:cs typeface="Trebuchet MS"/>
              </a:rPr>
              <a:t> sense</a:t>
            </a:r>
            <a:r>
              <a:rPr sz="900" spc="5" dirty="0">
                <a:latin typeface="Trebuchet MS"/>
                <a:cs typeface="Trebuchet MS"/>
              </a:rPr>
              <a:t> </a:t>
            </a:r>
            <a:r>
              <a:rPr sz="900" spc="-45" dirty="0">
                <a:latin typeface="Trebuchet MS"/>
                <a:cs typeface="Trebuchet MS"/>
              </a:rPr>
              <a:t>of</a:t>
            </a:r>
            <a:r>
              <a:rPr sz="900" dirty="0">
                <a:latin typeface="Trebuchet MS"/>
                <a:cs typeface="Trebuchet MS"/>
              </a:rPr>
              <a:t> </a:t>
            </a:r>
            <a:r>
              <a:rPr sz="900" spc="-50" dirty="0">
                <a:latin typeface="Trebuchet MS"/>
                <a:cs typeface="Trebuchet MS"/>
              </a:rPr>
              <a:t>a 	</a:t>
            </a:r>
            <a:r>
              <a:rPr sz="900" spc="-35" dirty="0">
                <a:latin typeface="Trebuchet MS"/>
                <a:cs typeface="Trebuchet MS"/>
              </a:rPr>
              <a:t>target</a:t>
            </a:r>
            <a:r>
              <a:rPr sz="900" spc="-15" dirty="0">
                <a:latin typeface="Trebuchet MS"/>
                <a:cs typeface="Trebuchet MS"/>
              </a:rPr>
              <a:t> </a:t>
            </a:r>
            <a:r>
              <a:rPr sz="900" spc="-20" dirty="0">
                <a:latin typeface="Trebuchet MS"/>
                <a:cs typeface="Trebuchet MS"/>
              </a:rPr>
              <a:t>word</a:t>
            </a:r>
            <a:endParaRPr sz="900">
              <a:latin typeface="Trebuchet MS"/>
              <a:cs typeface="Trebuchet MS"/>
            </a:endParaRPr>
          </a:p>
          <a:p>
            <a:pPr marL="63500">
              <a:lnSpc>
                <a:spcPct val="100000"/>
              </a:lnSpc>
              <a:spcBef>
                <a:spcPts val="525"/>
              </a:spcBef>
            </a:pPr>
            <a:r>
              <a:rPr sz="950" dirty="0">
                <a:latin typeface="Trebuchet MS"/>
                <a:cs typeface="Trebuchet MS"/>
              </a:rPr>
              <a:t>Collect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large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set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of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collocations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spc="-40" dirty="0">
                <a:latin typeface="Trebuchet MS"/>
                <a:cs typeface="Trebuchet MS"/>
              </a:rPr>
              <a:t>for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ambiguous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word</a:t>
            </a:r>
            <a:endParaRPr sz="950">
              <a:latin typeface="Trebuchet MS"/>
              <a:cs typeface="Trebuchet MS"/>
            </a:endParaRPr>
          </a:p>
          <a:p>
            <a:pPr marL="63500" marR="55880">
              <a:lnSpc>
                <a:spcPct val="145100"/>
              </a:lnSpc>
            </a:pPr>
            <a:r>
              <a:rPr sz="950" dirty="0">
                <a:latin typeface="Trebuchet MS"/>
                <a:cs typeface="Trebuchet MS"/>
              </a:rPr>
              <a:t>Calculate</a:t>
            </a:r>
            <a:r>
              <a:rPr sz="950" spc="4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word-sense</a:t>
            </a:r>
            <a:r>
              <a:rPr sz="950" spc="45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probability</a:t>
            </a:r>
            <a:r>
              <a:rPr sz="950" spc="4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distributions</a:t>
            </a:r>
            <a:r>
              <a:rPr sz="950" spc="45" dirty="0">
                <a:latin typeface="Trebuchet MS"/>
                <a:cs typeface="Trebuchet MS"/>
              </a:rPr>
              <a:t> </a:t>
            </a:r>
            <a:r>
              <a:rPr sz="950" spc="-40" dirty="0">
                <a:latin typeface="Trebuchet MS"/>
                <a:cs typeface="Trebuchet MS"/>
              </a:rPr>
              <a:t>for</a:t>
            </a:r>
            <a:r>
              <a:rPr sz="950" spc="5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all</a:t>
            </a:r>
            <a:r>
              <a:rPr sz="950" spc="4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such</a:t>
            </a:r>
            <a:r>
              <a:rPr sz="950" spc="4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collocations </a:t>
            </a:r>
            <a:r>
              <a:rPr sz="950" dirty="0">
                <a:latin typeface="Trebuchet MS"/>
                <a:cs typeface="Trebuchet MS"/>
              </a:rPr>
              <a:t>Calculate</a:t>
            </a:r>
            <a:r>
              <a:rPr sz="950" spc="-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-15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log-</a:t>
            </a:r>
            <a:r>
              <a:rPr sz="950" dirty="0">
                <a:latin typeface="Trebuchet MS"/>
                <a:cs typeface="Trebuchet MS"/>
              </a:rPr>
              <a:t>likelihood</a:t>
            </a:r>
            <a:r>
              <a:rPr sz="950" spc="-1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ratio</a:t>
            </a:r>
            <a:endParaRPr sz="950">
              <a:latin typeface="Trebuchet MS"/>
              <a:cs typeface="Trebuchet MS"/>
            </a:endParaRPr>
          </a:p>
          <a:p>
            <a:pPr marL="1459865" marR="973455" indent="-245110">
              <a:lnSpc>
                <a:spcPct val="114999"/>
              </a:lnSpc>
              <a:spcBef>
                <a:spcPts val="745"/>
              </a:spcBef>
            </a:pPr>
            <a:r>
              <a:rPr sz="1650" i="1" baseline="-37878" dirty="0">
                <a:latin typeface="Cambria"/>
                <a:cs typeface="Cambria"/>
              </a:rPr>
              <a:t>log</a:t>
            </a:r>
            <a:r>
              <a:rPr sz="1650" baseline="-37878" dirty="0">
                <a:latin typeface="Arial MT"/>
                <a:cs typeface="Arial MT"/>
              </a:rPr>
              <a:t>(</a:t>
            </a:r>
            <a:r>
              <a:rPr sz="1650" spc="-270" baseline="-37878" dirty="0">
                <a:latin typeface="Arial MT"/>
                <a:cs typeface="Arial MT"/>
              </a:rPr>
              <a:t> </a:t>
            </a:r>
            <a:r>
              <a:rPr sz="1100" i="1" u="sng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P</a:t>
            </a:r>
            <a:r>
              <a:rPr sz="1100" u="sng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(</a:t>
            </a:r>
            <a:r>
              <a:rPr sz="1100" i="1" u="sng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Sense</a:t>
            </a:r>
            <a:r>
              <a:rPr sz="1100" i="1" u="sng" spc="-70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 </a:t>
            </a:r>
            <a:r>
              <a:rPr sz="1100" u="sng" spc="-190" dirty="0">
                <a:uFill>
                  <a:solidFill>
                    <a:srgbClr val="000000"/>
                  </a:solidFill>
                </a:uFill>
                <a:latin typeface="Lucida Sans Unicode"/>
                <a:cs typeface="Lucida Sans Unicode"/>
              </a:rPr>
              <a:t>−</a:t>
            </a:r>
            <a:r>
              <a:rPr sz="1100" spc="-180" dirty="0">
                <a:latin typeface="Lucida Sans Unicode"/>
                <a:cs typeface="Lucida Sans Unicode"/>
              </a:rPr>
              <a:t> </a:t>
            </a:r>
            <a:r>
              <a:rPr sz="1100" i="1" u="sng" spc="-10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A</a:t>
            </a:r>
            <a:r>
              <a:rPr sz="1100" u="sng" spc="-10" dirty="0">
                <a:uFill>
                  <a:solidFill>
                    <a:srgbClr val="000000"/>
                  </a:solidFill>
                </a:uFill>
                <a:latin typeface="Lucida Sans Unicode"/>
                <a:cs typeface="Lucida Sans Unicode"/>
              </a:rPr>
              <a:t>|</a:t>
            </a:r>
            <a:r>
              <a:rPr sz="1100" i="1" u="sng" spc="-10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Collocation</a:t>
            </a:r>
            <a:r>
              <a:rPr sz="1200" i="1" u="sng" spc="-15" baseline="-10416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i</a:t>
            </a:r>
            <a:r>
              <a:rPr sz="1100" u="sng" spc="-10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)</a:t>
            </a:r>
            <a:r>
              <a:rPr sz="1650" spc="-15" baseline="-37878" dirty="0">
                <a:latin typeface="Arial MT"/>
                <a:cs typeface="Arial MT"/>
              </a:rPr>
              <a:t>) </a:t>
            </a:r>
            <a:r>
              <a:rPr sz="1100" i="1" dirty="0">
                <a:latin typeface="Cambria"/>
                <a:cs typeface="Cambria"/>
              </a:rPr>
              <a:t>P</a:t>
            </a:r>
            <a:r>
              <a:rPr sz="1100" dirty="0">
                <a:latin typeface="Arial MT"/>
                <a:cs typeface="Arial MT"/>
              </a:rPr>
              <a:t>(</a:t>
            </a:r>
            <a:r>
              <a:rPr sz="1100" i="1" dirty="0">
                <a:latin typeface="Cambria"/>
                <a:cs typeface="Cambria"/>
              </a:rPr>
              <a:t>Sense</a:t>
            </a:r>
            <a:r>
              <a:rPr sz="1100" i="1" spc="-75" dirty="0">
                <a:latin typeface="Cambria"/>
                <a:cs typeface="Cambria"/>
              </a:rPr>
              <a:t> </a:t>
            </a:r>
            <a:r>
              <a:rPr sz="1100" spc="-190" dirty="0">
                <a:latin typeface="Lucida Sans Unicode"/>
                <a:cs typeface="Lucida Sans Unicode"/>
              </a:rPr>
              <a:t>−</a:t>
            </a:r>
            <a:r>
              <a:rPr sz="1100" spc="-180" dirty="0">
                <a:latin typeface="Lucida Sans Unicode"/>
                <a:cs typeface="Lucida Sans Unicode"/>
              </a:rPr>
              <a:t> </a:t>
            </a:r>
            <a:r>
              <a:rPr sz="1100" i="1" spc="-10" dirty="0">
                <a:latin typeface="Cambria"/>
                <a:cs typeface="Cambria"/>
              </a:rPr>
              <a:t>B</a:t>
            </a:r>
            <a:r>
              <a:rPr sz="1100" spc="-10" dirty="0">
                <a:latin typeface="Lucida Sans Unicode"/>
                <a:cs typeface="Lucida Sans Unicode"/>
              </a:rPr>
              <a:t>|</a:t>
            </a:r>
            <a:r>
              <a:rPr sz="1100" i="1" spc="-10" dirty="0">
                <a:latin typeface="Cambria"/>
                <a:cs typeface="Cambria"/>
              </a:rPr>
              <a:t>Collocation</a:t>
            </a:r>
            <a:r>
              <a:rPr sz="1200" i="1" spc="-15" baseline="-10416" dirty="0">
                <a:latin typeface="Cambria"/>
                <a:cs typeface="Cambria"/>
              </a:rPr>
              <a:t>i</a:t>
            </a:r>
            <a:r>
              <a:rPr sz="1100" spc="-10" dirty="0">
                <a:latin typeface="Arial MT"/>
                <a:cs typeface="Arial MT"/>
              </a:rPr>
              <a:t>)</a:t>
            </a:r>
            <a:endParaRPr sz="1100">
              <a:latin typeface="Arial MT"/>
              <a:cs typeface="Arial MT"/>
            </a:endParaRPr>
          </a:p>
          <a:p>
            <a:pPr marL="63500">
              <a:lnSpc>
                <a:spcPct val="100000"/>
              </a:lnSpc>
              <a:spcBef>
                <a:spcPts val="844"/>
              </a:spcBef>
            </a:pPr>
            <a:r>
              <a:rPr sz="950" dirty="0">
                <a:latin typeface="Trebuchet MS"/>
                <a:cs typeface="Trebuchet MS"/>
              </a:rPr>
              <a:t>Higher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log-</a:t>
            </a:r>
            <a:r>
              <a:rPr sz="950" dirty="0">
                <a:latin typeface="Trebuchet MS"/>
                <a:cs typeface="Trebuchet MS"/>
              </a:rPr>
              <a:t>likelihood </a:t>
            </a:r>
            <a:r>
              <a:rPr sz="1100" dirty="0">
                <a:latin typeface="Lucida Sans Unicode"/>
                <a:cs typeface="Lucida Sans Unicode"/>
              </a:rPr>
              <a:t>→</a:t>
            </a:r>
            <a:r>
              <a:rPr sz="1100" spc="-65" dirty="0">
                <a:latin typeface="Lucida Sans Unicode"/>
                <a:cs typeface="Lucida Sans Unicode"/>
              </a:rPr>
              <a:t> </a:t>
            </a:r>
            <a:r>
              <a:rPr sz="950" dirty="0">
                <a:latin typeface="Trebuchet MS"/>
                <a:cs typeface="Trebuchet MS"/>
              </a:rPr>
              <a:t>more </a:t>
            </a:r>
            <a:r>
              <a:rPr sz="950" spc="-10" dirty="0">
                <a:latin typeface="Trebuchet MS"/>
                <a:cs typeface="Trebuchet MS"/>
              </a:rPr>
              <a:t>predictive</a:t>
            </a:r>
            <a:r>
              <a:rPr sz="95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evidence</a:t>
            </a:r>
            <a:endParaRPr sz="950">
              <a:latin typeface="Trebuchet MS"/>
              <a:cs typeface="Trebuchet MS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597" y="1277937"/>
            <a:ext cx="64757" cy="64757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597" y="1487970"/>
            <a:ext cx="64757" cy="64757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1597" y="1698002"/>
            <a:ext cx="64757" cy="64757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81597" y="2449639"/>
            <a:ext cx="64757" cy="64757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1817522" y="3339672"/>
            <a:ext cx="97345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  <a:hlinkClick r:id="rId7" action="ppaction://hlinksldjump"/>
              </a:rPr>
              <a:t>Word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  <a:hlinkClick r:id="rId7" action="ppaction://hlinksldjump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7" action="ppaction://hlinksldjump"/>
              </a:rPr>
              <a:t>Sense</a:t>
            </a:r>
            <a:r>
              <a:rPr sz="600" i="1" spc="5" dirty="0">
                <a:solidFill>
                  <a:srgbClr val="FFFFFF"/>
                </a:solidFill>
                <a:latin typeface="Cambria"/>
                <a:cs typeface="Cambria"/>
                <a:hlinkClick r:id="rId7" action="ppaction://hlinksldjump"/>
              </a:rPr>
              <a:t>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  <a:hlinkClick r:id="rId7" action="ppaction://hlinksldjump"/>
              </a:rPr>
              <a:t>Disambiguation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  <a:hlinkClick r:id="rId7" action="ppaction://hlinksldjump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7" action="ppaction://hlinksldjump"/>
              </a:rPr>
              <a:t>-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  <a:hlinkClick r:id="rId7" action="ppaction://hlinksldjump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  <a:hlinkClick r:id="rId7" action="ppaction://hlinksldjump"/>
              </a:rPr>
              <a:t>I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608260" y="3339672"/>
            <a:ext cx="56388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8,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3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317424" y="3339672"/>
            <a:ext cx="236854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13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10" dirty="0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</a:rPr>
              <a:t>15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5FE3C13E-60FD-4F6D-83AE-CE0466FC23E8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4292024" y="3339672"/>
            <a:ext cx="262254" cy="116204"/>
          </a:xfrm>
          <a:prstGeom prst="rect">
            <a:avLst/>
          </a:prstGeom>
        </p:spPr>
        <p:txBody>
          <a:bodyPr/>
          <a:lstStyle/>
          <a:p>
            <a:pPr marL="75565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lang="en-IN" smtClean="0"/>
              <a:t>103</a:t>
            </a:fld>
            <a:r>
              <a:rPr lang="en-IN" spc="-5"/>
              <a:t> </a:t>
            </a:r>
            <a:r>
              <a:rPr lang="en-IN" spc="-110"/>
              <a:t>/</a:t>
            </a:r>
            <a:r>
              <a:rPr lang="en-IN" spc="15"/>
              <a:t> </a:t>
            </a:r>
            <a:r>
              <a:rPr lang="en-IN" spc="-25"/>
              <a:t>18</a:t>
            </a:r>
            <a:endParaRPr lang="en-IN" spc="-25" dirty="0"/>
          </a:p>
        </p:txBody>
      </p:sp>
    </p:spTree>
  </p:cSld>
  <p:clrMapOvr>
    <a:masterClrMapping/>
  </p:clrMapOvr>
  <p:transition>
    <p:cut/>
  </p:transition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250" y="60502"/>
            <a:ext cx="177673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Decision</a:t>
            </a:r>
            <a:r>
              <a:rPr spc="145" dirty="0"/>
              <a:t> </a:t>
            </a:r>
            <a:r>
              <a:rPr dirty="0"/>
              <a:t>List</a:t>
            </a:r>
            <a:r>
              <a:rPr spc="150" dirty="0"/>
              <a:t> </a:t>
            </a:r>
            <a:r>
              <a:rPr spc="-10" dirty="0"/>
              <a:t>Algorithm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597" y="738936"/>
            <a:ext cx="64757" cy="64757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52132" y="626856"/>
            <a:ext cx="3946525" cy="2310130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63500">
              <a:lnSpc>
                <a:spcPct val="100000"/>
              </a:lnSpc>
              <a:spcBef>
                <a:spcPts val="459"/>
              </a:spcBef>
            </a:pPr>
            <a:r>
              <a:rPr sz="950" spc="60" dirty="0">
                <a:latin typeface="Trebuchet MS"/>
                <a:cs typeface="Trebuchet MS"/>
              </a:rPr>
              <a:t>Based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on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‘One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spc="55" dirty="0">
                <a:latin typeface="Trebuchet MS"/>
                <a:cs typeface="Trebuchet MS"/>
              </a:rPr>
              <a:t>sense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per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spc="-25" dirty="0">
                <a:latin typeface="Trebuchet MS"/>
                <a:cs typeface="Trebuchet MS"/>
              </a:rPr>
              <a:t>collocation’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property</a:t>
            </a:r>
            <a:endParaRPr sz="950">
              <a:latin typeface="Trebuchet MS"/>
              <a:cs typeface="Trebuchet MS"/>
            </a:endParaRPr>
          </a:p>
          <a:p>
            <a:pPr marL="338455" marR="59055" indent="-116205">
              <a:lnSpc>
                <a:spcPct val="110700"/>
              </a:lnSpc>
              <a:spcBef>
                <a:spcPts val="190"/>
              </a:spcBef>
              <a:buClr>
                <a:srgbClr val="3232B2"/>
              </a:buClr>
              <a:buSzPct val="66666"/>
              <a:buFont typeface="Lucida Sans Unicode"/>
              <a:buChar char="►"/>
              <a:tabLst>
                <a:tab pos="340360" algn="l"/>
              </a:tabLst>
            </a:pPr>
            <a:r>
              <a:rPr sz="900" dirty="0">
                <a:latin typeface="Trebuchet MS"/>
                <a:cs typeface="Trebuchet MS"/>
              </a:rPr>
              <a:t>Nearby words </a:t>
            </a:r>
            <a:r>
              <a:rPr sz="900" spc="-20" dirty="0">
                <a:latin typeface="Trebuchet MS"/>
                <a:cs typeface="Trebuchet MS"/>
              </a:rPr>
              <a:t>provide</a:t>
            </a:r>
            <a:r>
              <a:rPr sz="900" dirty="0">
                <a:latin typeface="Trebuchet MS"/>
                <a:cs typeface="Trebuchet MS"/>
              </a:rPr>
              <a:t> strong and </a:t>
            </a:r>
            <a:r>
              <a:rPr sz="900" spc="-10" dirty="0">
                <a:latin typeface="Trebuchet MS"/>
                <a:cs typeface="Trebuchet MS"/>
              </a:rPr>
              <a:t>consistent</a:t>
            </a:r>
            <a:r>
              <a:rPr sz="900" spc="5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clues </a:t>
            </a:r>
            <a:r>
              <a:rPr sz="900" spc="50" dirty="0">
                <a:latin typeface="Trebuchet MS"/>
                <a:cs typeface="Trebuchet MS"/>
              </a:rPr>
              <a:t>as</a:t>
            </a:r>
            <a:r>
              <a:rPr sz="900" dirty="0">
                <a:latin typeface="Trebuchet MS"/>
                <a:cs typeface="Trebuchet MS"/>
              </a:rPr>
              <a:t> </a:t>
            </a:r>
            <a:r>
              <a:rPr sz="900" spc="-65" dirty="0">
                <a:latin typeface="Trebuchet MS"/>
                <a:cs typeface="Trebuchet MS"/>
              </a:rPr>
              <a:t>to</a:t>
            </a:r>
            <a:r>
              <a:rPr sz="900" dirty="0">
                <a:latin typeface="Trebuchet MS"/>
                <a:cs typeface="Trebuchet MS"/>
              </a:rPr>
              <a:t> </a:t>
            </a:r>
            <a:r>
              <a:rPr sz="900" spc="-25" dirty="0">
                <a:latin typeface="Trebuchet MS"/>
                <a:cs typeface="Trebuchet MS"/>
              </a:rPr>
              <a:t>the</a:t>
            </a:r>
            <a:r>
              <a:rPr sz="900" dirty="0">
                <a:latin typeface="Trebuchet MS"/>
                <a:cs typeface="Trebuchet MS"/>
              </a:rPr>
              <a:t> sense</a:t>
            </a:r>
            <a:r>
              <a:rPr sz="900" spc="5" dirty="0">
                <a:latin typeface="Trebuchet MS"/>
                <a:cs typeface="Trebuchet MS"/>
              </a:rPr>
              <a:t> </a:t>
            </a:r>
            <a:r>
              <a:rPr sz="900" spc="-45" dirty="0">
                <a:latin typeface="Trebuchet MS"/>
                <a:cs typeface="Trebuchet MS"/>
              </a:rPr>
              <a:t>of</a:t>
            </a:r>
            <a:r>
              <a:rPr sz="900" dirty="0">
                <a:latin typeface="Trebuchet MS"/>
                <a:cs typeface="Trebuchet MS"/>
              </a:rPr>
              <a:t> </a:t>
            </a:r>
            <a:r>
              <a:rPr sz="900" spc="-50" dirty="0">
                <a:latin typeface="Trebuchet MS"/>
                <a:cs typeface="Trebuchet MS"/>
              </a:rPr>
              <a:t>a 	</a:t>
            </a:r>
            <a:r>
              <a:rPr sz="900" spc="-35" dirty="0">
                <a:latin typeface="Trebuchet MS"/>
                <a:cs typeface="Trebuchet MS"/>
              </a:rPr>
              <a:t>target</a:t>
            </a:r>
            <a:r>
              <a:rPr sz="900" spc="-15" dirty="0">
                <a:latin typeface="Trebuchet MS"/>
                <a:cs typeface="Trebuchet MS"/>
              </a:rPr>
              <a:t> </a:t>
            </a:r>
            <a:r>
              <a:rPr sz="900" spc="-20" dirty="0">
                <a:latin typeface="Trebuchet MS"/>
                <a:cs typeface="Trebuchet MS"/>
              </a:rPr>
              <a:t>word</a:t>
            </a:r>
            <a:endParaRPr sz="900">
              <a:latin typeface="Trebuchet MS"/>
              <a:cs typeface="Trebuchet MS"/>
            </a:endParaRPr>
          </a:p>
          <a:p>
            <a:pPr marL="63500">
              <a:lnSpc>
                <a:spcPct val="100000"/>
              </a:lnSpc>
              <a:spcBef>
                <a:spcPts val="525"/>
              </a:spcBef>
            </a:pPr>
            <a:r>
              <a:rPr sz="950" dirty="0">
                <a:latin typeface="Trebuchet MS"/>
                <a:cs typeface="Trebuchet MS"/>
              </a:rPr>
              <a:t>Collect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large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set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of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collocations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spc="-40" dirty="0">
                <a:latin typeface="Trebuchet MS"/>
                <a:cs typeface="Trebuchet MS"/>
              </a:rPr>
              <a:t>for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ambiguous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word</a:t>
            </a:r>
            <a:endParaRPr sz="950">
              <a:latin typeface="Trebuchet MS"/>
              <a:cs typeface="Trebuchet MS"/>
            </a:endParaRPr>
          </a:p>
          <a:p>
            <a:pPr marL="63500" marR="55880">
              <a:lnSpc>
                <a:spcPct val="145100"/>
              </a:lnSpc>
            </a:pPr>
            <a:r>
              <a:rPr sz="950" dirty="0">
                <a:latin typeface="Trebuchet MS"/>
                <a:cs typeface="Trebuchet MS"/>
              </a:rPr>
              <a:t>Calculate</a:t>
            </a:r>
            <a:r>
              <a:rPr sz="950" spc="4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word-sense</a:t>
            </a:r>
            <a:r>
              <a:rPr sz="950" spc="45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probability</a:t>
            </a:r>
            <a:r>
              <a:rPr sz="950" spc="4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distributions</a:t>
            </a:r>
            <a:r>
              <a:rPr sz="950" spc="45" dirty="0">
                <a:latin typeface="Trebuchet MS"/>
                <a:cs typeface="Trebuchet MS"/>
              </a:rPr>
              <a:t> </a:t>
            </a:r>
            <a:r>
              <a:rPr sz="950" spc="-40" dirty="0">
                <a:latin typeface="Trebuchet MS"/>
                <a:cs typeface="Trebuchet MS"/>
              </a:rPr>
              <a:t>for</a:t>
            </a:r>
            <a:r>
              <a:rPr sz="950" spc="5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all</a:t>
            </a:r>
            <a:r>
              <a:rPr sz="950" spc="4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such</a:t>
            </a:r>
            <a:r>
              <a:rPr sz="950" spc="4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collocations </a:t>
            </a:r>
            <a:r>
              <a:rPr sz="950" dirty="0">
                <a:latin typeface="Trebuchet MS"/>
                <a:cs typeface="Trebuchet MS"/>
              </a:rPr>
              <a:t>Calculate</a:t>
            </a:r>
            <a:r>
              <a:rPr sz="950" spc="-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-15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log-</a:t>
            </a:r>
            <a:r>
              <a:rPr sz="950" dirty="0">
                <a:latin typeface="Trebuchet MS"/>
                <a:cs typeface="Trebuchet MS"/>
              </a:rPr>
              <a:t>likelihood</a:t>
            </a:r>
            <a:r>
              <a:rPr sz="950" spc="-1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ratio</a:t>
            </a:r>
            <a:endParaRPr sz="950">
              <a:latin typeface="Trebuchet MS"/>
              <a:cs typeface="Trebuchet MS"/>
            </a:endParaRPr>
          </a:p>
          <a:p>
            <a:pPr marL="1459865" marR="973455" indent="-245110">
              <a:lnSpc>
                <a:spcPct val="114999"/>
              </a:lnSpc>
              <a:spcBef>
                <a:spcPts val="745"/>
              </a:spcBef>
            </a:pPr>
            <a:r>
              <a:rPr sz="1650" i="1" baseline="-37878" dirty="0">
                <a:latin typeface="Cambria"/>
                <a:cs typeface="Cambria"/>
              </a:rPr>
              <a:t>log</a:t>
            </a:r>
            <a:r>
              <a:rPr sz="1650" baseline="-37878" dirty="0">
                <a:latin typeface="Arial MT"/>
                <a:cs typeface="Arial MT"/>
              </a:rPr>
              <a:t>(</a:t>
            </a:r>
            <a:r>
              <a:rPr sz="1650" spc="-270" baseline="-37878" dirty="0">
                <a:latin typeface="Arial MT"/>
                <a:cs typeface="Arial MT"/>
              </a:rPr>
              <a:t> </a:t>
            </a:r>
            <a:r>
              <a:rPr sz="1100" i="1" u="sng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P</a:t>
            </a:r>
            <a:r>
              <a:rPr sz="1100" u="sng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(</a:t>
            </a:r>
            <a:r>
              <a:rPr sz="1100" i="1" u="sng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Sense</a:t>
            </a:r>
            <a:r>
              <a:rPr sz="1100" i="1" u="sng" spc="-70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 </a:t>
            </a:r>
            <a:r>
              <a:rPr sz="1100" u="sng" spc="-190" dirty="0">
                <a:uFill>
                  <a:solidFill>
                    <a:srgbClr val="000000"/>
                  </a:solidFill>
                </a:uFill>
                <a:latin typeface="Lucida Sans Unicode"/>
                <a:cs typeface="Lucida Sans Unicode"/>
              </a:rPr>
              <a:t>−</a:t>
            </a:r>
            <a:r>
              <a:rPr sz="1100" spc="-180" dirty="0">
                <a:latin typeface="Lucida Sans Unicode"/>
                <a:cs typeface="Lucida Sans Unicode"/>
              </a:rPr>
              <a:t> </a:t>
            </a:r>
            <a:r>
              <a:rPr sz="1100" i="1" u="sng" spc="-10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A</a:t>
            </a:r>
            <a:r>
              <a:rPr sz="1100" u="sng" spc="-10" dirty="0">
                <a:uFill>
                  <a:solidFill>
                    <a:srgbClr val="000000"/>
                  </a:solidFill>
                </a:uFill>
                <a:latin typeface="Lucida Sans Unicode"/>
                <a:cs typeface="Lucida Sans Unicode"/>
              </a:rPr>
              <a:t>|</a:t>
            </a:r>
            <a:r>
              <a:rPr sz="1100" i="1" u="sng" spc="-10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Collocation</a:t>
            </a:r>
            <a:r>
              <a:rPr sz="1200" i="1" u="sng" spc="-15" baseline="-10416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i</a:t>
            </a:r>
            <a:r>
              <a:rPr sz="1100" u="sng" spc="-10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)</a:t>
            </a:r>
            <a:r>
              <a:rPr sz="1650" spc="-15" baseline="-37878" dirty="0">
                <a:latin typeface="Arial MT"/>
                <a:cs typeface="Arial MT"/>
              </a:rPr>
              <a:t>) </a:t>
            </a:r>
            <a:r>
              <a:rPr sz="1100" i="1" dirty="0">
                <a:latin typeface="Cambria"/>
                <a:cs typeface="Cambria"/>
              </a:rPr>
              <a:t>P</a:t>
            </a:r>
            <a:r>
              <a:rPr sz="1100" dirty="0">
                <a:latin typeface="Arial MT"/>
                <a:cs typeface="Arial MT"/>
              </a:rPr>
              <a:t>(</a:t>
            </a:r>
            <a:r>
              <a:rPr sz="1100" i="1" dirty="0">
                <a:latin typeface="Cambria"/>
                <a:cs typeface="Cambria"/>
              </a:rPr>
              <a:t>Sense</a:t>
            </a:r>
            <a:r>
              <a:rPr sz="1100" i="1" spc="-75" dirty="0">
                <a:latin typeface="Cambria"/>
                <a:cs typeface="Cambria"/>
              </a:rPr>
              <a:t> </a:t>
            </a:r>
            <a:r>
              <a:rPr sz="1100" spc="-190" dirty="0">
                <a:latin typeface="Lucida Sans Unicode"/>
                <a:cs typeface="Lucida Sans Unicode"/>
              </a:rPr>
              <a:t>−</a:t>
            </a:r>
            <a:r>
              <a:rPr sz="1100" spc="-180" dirty="0">
                <a:latin typeface="Lucida Sans Unicode"/>
                <a:cs typeface="Lucida Sans Unicode"/>
              </a:rPr>
              <a:t> </a:t>
            </a:r>
            <a:r>
              <a:rPr sz="1100" i="1" spc="-10" dirty="0">
                <a:latin typeface="Cambria"/>
                <a:cs typeface="Cambria"/>
              </a:rPr>
              <a:t>B</a:t>
            </a:r>
            <a:r>
              <a:rPr sz="1100" spc="-10" dirty="0">
                <a:latin typeface="Lucida Sans Unicode"/>
                <a:cs typeface="Lucida Sans Unicode"/>
              </a:rPr>
              <a:t>|</a:t>
            </a:r>
            <a:r>
              <a:rPr sz="1100" i="1" spc="-10" dirty="0">
                <a:latin typeface="Cambria"/>
                <a:cs typeface="Cambria"/>
              </a:rPr>
              <a:t>Collocation</a:t>
            </a:r>
            <a:r>
              <a:rPr sz="1200" i="1" spc="-15" baseline="-10416" dirty="0">
                <a:latin typeface="Cambria"/>
                <a:cs typeface="Cambria"/>
              </a:rPr>
              <a:t>i</a:t>
            </a:r>
            <a:r>
              <a:rPr sz="1100" spc="-10" dirty="0">
                <a:latin typeface="Arial MT"/>
                <a:cs typeface="Arial MT"/>
              </a:rPr>
              <a:t>)</a:t>
            </a:r>
            <a:endParaRPr sz="1100">
              <a:latin typeface="Arial MT"/>
              <a:cs typeface="Arial MT"/>
            </a:endParaRPr>
          </a:p>
          <a:p>
            <a:pPr marL="63500">
              <a:lnSpc>
                <a:spcPct val="100000"/>
              </a:lnSpc>
              <a:spcBef>
                <a:spcPts val="844"/>
              </a:spcBef>
            </a:pPr>
            <a:r>
              <a:rPr sz="950" dirty="0">
                <a:latin typeface="Trebuchet MS"/>
                <a:cs typeface="Trebuchet MS"/>
              </a:rPr>
              <a:t>Higher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log-</a:t>
            </a:r>
            <a:r>
              <a:rPr sz="950" dirty="0">
                <a:latin typeface="Trebuchet MS"/>
                <a:cs typeface="Trebuchet MS"/>
              </a:rPr>
              <a:t>likelihood </a:t>
            </a:r>
            <a:r>
              <a:rPr sz="1100" dirty="0">
                <a:latin typeface="Lucida Sans Unicode"/>
                <a:cs typeface="Lucida Sans Unicode"/>
              </a:rPr>
              <a:t>→</a:t>
            </a:r>
            <a:r>
              <a:rPr sz="1100" spc="-65" dirty="0">
                <a:latin typeface="Lucida Sans Unicode"/>
                <a:cs typeface="Lucida Sans Unicode"/>
              </a:rPr>
              <a:t> </a:t>
            </a:r>
            <a:r>
              <a:rPr sz="950" dirty="0">
                <a:latin typeface="Trebuchet MS"/>
                <a:cs typeface="Trebuchet MS"/>
              </a:rPr>
              <a:t>more </a:t>
            </a:r>
            <a:r>
              <a:rPr sz="950" spc="-10" dirty="0">
                <a:latin typeface="Trebuchet MS"/>
                <a:cs typeface="Trebuchet MS"/>
              </a:rPr>
              <a:t>predictive</a:t>
            </a:r>
            <a:r>
              <a:rPr sz="95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evidence</a:t>
            </a:r>
            <a:endParaRPr sz="950">
              <a:latin typeface="Trebuchet MS"/>
              <a:cs typeface="Trebuchet MS"/>
            </a:endParaRPr>
          </a:p>
          <a:p>
            <a:pPr marL="62865" marR="441325">
              <a:lnSpc>
                <a:spcPct val="118800"/>
              </a:lnSpc>
              <a:spcBef>
                <a:spcPts val="270"/>
              </a:spcBef>
            </a:pPr>
            <a:r>
              <a:rPr sz="950" dirty="0">
                <a:latin typeface="Trebuchet MS"/>
                <a:cs typeface="Trebuchet MS"/>
              </a:rPr>
              <a:t>Collocations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are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ordered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in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decision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spc="-45" dirty="0">
                <a:latin typeface="Trebuchet MS"/>
                <a:cs typeface="Trebuchet MS"/>
              </a:rPr>
              <a:t>list,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spc="-40" dirty="0">
                <a:latin typeface="Trebuchet MS"/>
                <a:cs typeface="Trebuchet MS"/>
              </a:rPr>
              <a:t>with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most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predictive </a:t>
            </a:r>
            <a:r>
              <a:rPr sz="950" dirty="0">
                <a:latin typeface="Trebuchet MS"/>
                <a:cs typeface="Trebuchet MS"/>
              </a:rPr>
              <a:t>collocations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ranked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highest</a:t>
            </a:r>
            <a:endParaRPr sz="950">
              <a:latin typeface="Trebuchet MS"/>
              <a:cs typeface="Trebuchet MS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597" y="1277937"/>
            <a:ext cx="64757" cy="64757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597" y="1487970"/>
            <a:ext cx="64757" cy="64757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1597" y="1698002"/>
            <a:ext cx="64757" cy="64757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81597" y="2449639"/>
            <a:ext cx="64757" cy="64757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81597" y="2659672"/>
            <a:ext cx="64757" cy="64757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1817522" y="3339672"/>
            <a:ext cx="97345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  <a:hlinkClick r:id="rId8" action="ppaction://hlinksldjump"/>
              </a:rPr>
              <a:t>Word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  <a:hlinkClick r:id="rId8" action="ppaction://hlinksldjump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8" action="ppaction://hlinksldjump"/>
              </a:rPr>
              <a:t>Sense</a:t>
            </a:r>
            <a:r>
              <a:rPr sz="600" i="1" spc="5" dirty="0">
                <a:solidFill>
                  <a:srgbClr val="FFFFFF"/>
                </a:solidFill>
                <a:latin typeface="Cambria"/>
                <a:cs typeface="Cambria"/>
                <a:hlinkClick r:id="rId8" action="ppaction://hlinksldjump"/>
              </a:rPr>
              <a:t>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  <a:hlinkClick r:id="rId8" action="ppaction://hlinksldjump"/>
              </a:rPr>
              <a:t>Disambiguation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  <a:hlinkClick r:id="rId8" action="ppaction://hlinksldjump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8" action="ppaction://hlinksldjump"/>
              </a:rPr>
              <a:t>-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  <a:hlinkClick r:id="rId8" action="ppaction://hlinksldjump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  <a:hlinkClick r:id="rId8" action="ppaction://hlinksldjump"/>
              </a:rPr>
              <a:t>I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608260" y="3339672"/>
            <a:ext cx="56388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8,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3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317424" y="3339672"/>
            <a:ext cx="236854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13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10" dirty="0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</a:rPr>
              <a:t>15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EA9BAEAB-A6C5-40A1-9BEF-4ADD37BAA940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4292024" y="3339672"/>
            <a:ext cx="262254" cy="116204"/>
          </a:xfrm>
          <a:prstGeom prst="rect">
            <a:avLst/>
          </a:prstGeom>
        </p:spPr>
        <p:txBody>
          <a:bodyPr/>
          <a:lstStyle/>
          <a:p>
            <a:pPr marL="75565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lang="en-IN" smtClean="0"/>
              <a:t>104</a:t>
            </a:fld>
            <a:r>
              <a:rPr lang="en-IN" spc="-5"/>
              <a:t> </a:t>
            </a:r>
            <a:r>
              <a:rPr lang="en-IN" spc="-110"/>
              <a:t>/</a:t>
            </a:r>
            <a:r>
              <a:rPr lang="en-IN" spc="15"/>
              <a:t> </a:t>
            </a:r>
            <a:r>
              <a:rPr lang="en-IN" spc="-25"/>
              <a:t>18</a:t>
            </a:r>
            <a:endParaRPr lang="en-IN" spc="-25" dirty="0"/>
          </a:p>
        </p:txBody>
      </p:sp>
    </p:spTree>
  </p:cSld>
  <p:clrMapOvr>
    <a:masterClrMapping/>
  </p:clrMapOvr>
  <p:transition>
    <p:cut/>
  </p:transition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38"/>
            <a:ext cx="4608195" cy="351790"/>
          </a:xfrm>
          <a:custGeom>
            <a:avLst/>
            <a:gdLst/>
            <a:ahLst/>
            <a:cxnLst/>
            <a:rect l="l" t="t" r="r" b="b"/>
            <a:pathLst>
              <a:path w="4608195" h="351790">
                <a:moveTo>
                  <a:pt x="4607941" y="0"/>
                </a:moveTo>
                <a:lnTo>
                  <a:pt x="0" y="0"/>
                </a:lnTo>
                <a:lnTo>
                  <a:pt x="0" y="351409"/>
                </a:lnTo>
                <a:lnTo>
                  <a:pt x="4607941" y="351409"/>
                </a:lnTo>
                <a:lnTo>
                  <a:pt x="4607941" y="0"/>
                </a:lnTo>
                <a:close/>
              </a:path>
            </a:pathLst>
          </a:custGeom>
          <a:solidFill>
            <a:srgbClr val="3232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5250" y="60502"/>
            <a:ext cx="177673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i="1" dirty="0">
                <a:solidFill>
                  <a:srgbClr val="FFFFFF"/>
                </a:solidFill>
                <a:latin typeface="Cambria"/>
                <a:cs typeface="Cambria"/>
              </a:rPr>
              <a:t>Decision</a:t>
            </a:r>
            <a:r>
              <a:rPr sz="1400" i="1" spc="14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dirty="0">
                <a:solidFill>
                  <a:srgbClr val="FFFFFF"/>
                </a:solidFill>
                <a:latin typeface="Cambria"/>
                <a:cs typeface="Cambria"/>
              </a:rPr>
              <a:t>List</a:t>
            </a:r>
            <a:r>
              <a:rPr sz="1400" i="1" spc="15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spc="-10" dirty="0">
                <a:solidFill>
                  <a:srgbClr val="FFFFFF"/>
                </a:solidFill>
                <a:latin typeface="Cambria"/>
                <a:cs typeface="Cambria"/>
              </a:rPr>
              <a:t>Algorithm</a:t>
            </a:r>
            <a:endParaRPr sz="1400">
              <a:latin typeface="Cambria"/>
              <a:cs typeface="Cambri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91438" y="789762"/>
            <a:ext cx="2655569" cy="1215390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1817522" y="3339672"/>
            <a:ext cx="97345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Word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Sense</a:t>
            </a:r>
            <a:r>
              <a:rPr sz="600" i="1" spc="5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Disambiguation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-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I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608260" y="3339672"/>
            <a:ext cx="56388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8,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3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317424" y="3339672"/>
            <a:ext cx="236854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14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10" dirty="0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</a:rPr>
              <a:t>15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B3454716-9DF4-469B-84E5-67B599E880AA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4292024" y="3339672"/>
            <a:ext cx="262254" cy="116204"/>
          </a:xfrm>
          <a:prstGeom prst="rect">
            <a:avLst/>
          </a:prstGeom>
        </p:spPr>
        <p:txBody>
          <a:bodyPr/>
          <a:lstStyle/>
          <a:p>
            <a:pPr marL="75565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lang="en-IN" smtClean="0"/>
              <a:t>105</a:t>
            </a:fld>
            <a:r>
              <a:rPr lang="en-IN" spc="-5"/>
              <a:t> </a:t>
            </a:r>
            <a:r>
              <a:rPr lang="en-IN" spc="-110"/>
              <a:t>/</a:t>
            </a:r>
            <a:r>
              <a:rPr lang="en-IN" spc="15"/>
              <a:t> </a:t>
            </a:r>
            <a:r>
              <a:rPr lang="en-IN" spc="-25"/>
              <a:t>18</a:t>
            </a:r>
            <a:endParaRPr lang="en-IN" spc="-25" dirty="0"/>
          </a:p>
        </p:txBody>
      </p:sp>
    </p:spTree>
  </p:cSld>
  <p:clrMapOvr>
    <a:masterClrMapping/>
  </p:clrMapOvr>
  <p:transition>
    <p:cut/>
  </p:transition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250" y="60502"/>
            <a:ext cx="177673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Decision</a:t>
            </a:r>
            <a:r>
              <a:rPr spc="145" dirty="0"/>
              <a:t> </a:t>
            </a:r>
            <a:r>
              <a:rPr dirty="0"/>
              <a:t>List</a:t>
            </a:r>
            <a:r>
              <a:rPr spc="150" dirty="0"/>
              <a:t> </a:t>
            </a:r>
            <a:r>
              <a:rPr spc="-10" dirty="0"/>
              <a:t>Algorithm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91438" y="789762"/>
            <a:ext cx="2655569" cy="121539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25729" y="2230165"/>
            <a:ext cx="4196715" cy="65595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18900"/>
              </a:lnSpc>
              <a:spcBef>
                <a:spcPts val="90"/>
              </a:spcBef>
            </a:pPr>
            <a:r>
              <a:rPr sz="950" dirty="0">
                <a:latin typeface="Trebuchet MS"/>
                <a:cs typeface="Trebuchet MS"/>
              </a:rPr>
              <a:t>Classification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of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test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sentence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is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based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on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highest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ranking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collocation, </a:t>
            </a:r>
            <a:r>
              <a:rPr sz="950" dirty="0">
                <a:latin typeface="Trebuchet MS"/>
                <a:cs typeface="Trebuchet MS"/>
              </a:rPr>
              <a:t>found</a:t>
            </a:r>
            <a:r>
              <a:rPr sz="950" spc="-6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in</a:t>
            </a:r>
            <a:r>
              <a:rPr sz="950" spc="-5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-5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test</a:t>
            </a:r>
            <a:r>
              <a:rPr sz="950" spc="-6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sentences.</a:t>
            </a:r>
            <a:endParaRPr sz="9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950">
              <a:latin typeface="Trebuchet MS"/>
              <a:cs typeface="Trebuchet MS"/>
            </a:endParaRPr>
          </a:p>
          <a:p>
            <a:pPr marL="1165225">
              <a:lnSpc>
                <a:spcPct val="100000"/>
              </a:lnSpc>
            </a:pPr>
            <a:r>
              <a:rPr sz="950" i="1" dirty="0">
                <a:latin typeface="Trebuchet MS"/>
                <a:cs typeface="Trebuchet MS"/>
              </a:rPr>
              <a:t>plucking</a:t>
            </a:r>
            <a:r>
              <a:rPr sz="950" i="1" spc="-15" dirty="0">
                <a:latin typeface="Trebuchet MS"/>
                <a:cs typeface="Trebuchet MS"/>
              </a:rPr>
              <a:t> </a:t>
            </a:r>
            <a:r>
              <a:rPr sz="950" i="1" spc="-20" dirty="0">
                <a:solidFill>
                  <a:srgbClr val="FF0000"/>
                </a:solidFill>
                <a:latin typeface="Trebuchet MS"/>
                <a:cs typeface="Trebuchet MS"/>
              </a:rPr>
              <a:t>flowers</a:t>
            </a:r>
            <a:r>
              <a:rPr sz="950" i="1" spc="-1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950" i="1" spc="-25" dirty="0">
                <a:latin typeface="Trebuchet MS"/>
                <a:cs typeface="Trebuchet MS"/>
              </a:rPr>
              <a:t>affects</a:t>
            </a:r>
            <a:r>
              <a:rPr sz="950" i="1" spc="-15" dirty="0">
                <a:latin typeface="Trebuchet MS"/>
                <a:cs typeface="Trebuchet MS"/>
              </a:rPr>
              <a:t> </a:t>
            </a:r>
            <a:r>
              <a:rPr sz="950" i="1" spc="-25" dirty="0">
                <a:solidFill>
                  <a:srgbClr val="0000FF"/>
                </a:solidFill>
                <a:latin typeface="Trebuchet MS"/>
                <a:cs typeface="Trebuchet MS"/>
              </a:rPr>
              <a:t>plant</a:t>
            </a:r>
            <a:r>
              <a:rPr sz="950" i="1" spc="-15" dirty="0">
                <a:solidFill>
                  <a:srgbClr val="0000FF"/>
                </a:solidFill>
                <a:latin typeface="Trebuchet MS"/>
                <a:cs typeface="Trebuchet MS"/>
              </a:rPr>
              <a:t> </a:t>
            </a:r>
            <a:r>
              <a:rPr sz="950" i="1" spc="-10" dirty="0">
                <a:solidFill>
                  <a:srgbClr val="00FF00"/>
                </a:solidFill>
                <a:latin typeface="Trebuchet MS"/>
                <a:cs typeface="Trebuchet MS"/>
              </a:rPr>
              <a:t>growth</a:t>
            </a:r>
            <a:r>
              <a:rPr sz="950" i="1" spc="-10" dirty="0">
                <a:latin typeface="Trebuchet MS"/>
                <a:cs typeface="Trebuchet MS"/>
              </a:rPr>
              <a:t>.</a:t>
            </a:r>
            <a:endParaRPr sz="950">
              <a:latin typeface="Trebuchet MS"/>
              <a:cs typeface="Trebuchet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817522" y="3339672"/>
            <a:ext cx="97345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Word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Sense</a:t>
            </a:r>
            <a:r>
              <a:rPr sz="600" i="1" spc="5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Disambiguation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-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I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608260" y="3339672"/>
            <a:ext cx="56388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8,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3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317424" y="3339672"/>
            <a:ext cx="236854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14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10" dirty="0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</a:rPr>
              <a:t>15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4DF1144F-3EED-4387-A8D4-F7A1354B18AD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4292024" y="3339672"/>
            <a:ext cx="262254" cy="116204"/>
          </a:xfrm>
          <a:prstGeom prst="rect">
            <a:avLst/>
          </a:prstGeom>
        </p:spPr>
        <p:txBody>
          <a:bodyPr/>
          <a:lstStyle/>
          <a:p>
            <a:pPr marL="75565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lang="en-IN" smtClean="0"/>
              <a:t>106</a:t>
            </a:fld>
            <a:r>
              <a:rPr lang="en-IN" spc="-5"/>
              <a:t> </a:t>
            </a:r>
            <a:r>
              <a:rPr lang="en-IN" spc="-110"/>
              <a:t>/</a:t>
            </a:r>
            <a:r>
              <a:rPr lang="en-IN" spc="15"/>
              <a:t> </a:t>
            </a:r>
            <a:r>
              <a:rPr lang="en-IN" spc="-25"/>
              <a:t>18</a:t>
            </a:r>
            <a:endParaRPr lang="en-IN" spc="-25" dirty="0"/>
          </a:p>
        </p:txBody>
      </p:sp>
    </p:spTree>
  </p:cSld>
  <p:clrMapOvr>
    <a:masterClrMapping/>
  </p:clrMapOvr>
  <p:transition>
    <p:cut/>
  </p:transition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5250" y="60502"/>
            <a:ext cx="174688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i="1" dirty="0">
                <a:solidFill>
                  <a:srgbClr val="FFFFFF"/>
                </a:solidFill>
                <a:latin typeface="Cambria"/>
                <a:cs typeface="Cambria"/>
              </a:rPr>
              <a:t>Decision</a:t>
            </a:r>
            <a:r>
              <a:rPr sz="1400" i="1" spc="19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dirty="0">
                <a:solidFill>
                  <a:srgbClr val="FFFFFF"/>
                </a:solidFill>
                <a:latin typeface="Cambria"/>
                <a:cs typeface="Cambria"/>
              </a:rPr>
              <a:t>List:</a:t>
            </a:r>
            <a:r>
              <a:rPr sz="1400" i="1" spc="3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spc="-10" dirty="0">
                <a:solidFill>
                  <a:srgbClr val="FFFFFF"/>
                </a:solidFill>
                <a:latin typeface="Cambria"/>
                <a:cs typeface="Cambria"/>
              </a:rPr>
              <a:t>Example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25729" y="574764"/>
            <a:ext cx="3484245" cy="1752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Example:</a:t>
            </a:r>
            <a:r>
              <a:rPr sz="950" i="0" spc="9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spc="-10" dirty="0">
                <a:solidFill>
                  <a:srgbClr val="000000"/>
                </a:solidFill>
                <a:latin typeface="Trebuchet MS"/>
                <a:cs typeface="Trebuchet MS"/>
              </a:rPr>
              <a:t>discriminating</a:t>
            </a:r>
            <a:r>
              <a:rPr sz="950" i="0" spc="2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between</a:t>
            </a:r>
            <a:r>
              <a:rPr sz="950" i="0" spc="2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spc="65" dirty="0">
                <a:solidFill>
                  <a:srgbClr val="000000"/>
                </a:solidFill>
                <a:latin typeface="Trebuchet MS"/>
                <a:cs typeface="Trebuchet MS"/>
              </a:rPr>
              <a:t>bass</a:t>
            </a:r>
            <a:r>
              <a:rPr sz="950" i="0" spc="2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spc="-10" dirty="0">
                <a:solidFill>
                  <a:srgbClr val="000000"/>
                </a:solidFill>
                <a:latin typeface="Trebuchet MS"/>
                <a:cs typeface="Trebuchet MS"/>
              </a:rPr>
              <a:t>(fish)</a:t>
            </a:r>
            <a:r>
              <a:rPr sz="950" i="0" spc="2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and</a:t>
            </a:r>
            <a:r>
              <a:rPr sz="950" i="0" spc="2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spc="65" dirty="0">
                <a:solidFill>
                  <a:srgbClr val="000000"/>
                </a:solidFill>
                <a:latin typeface="Trebuchet MS"/>
                <a:cs typeface="Trebuchet MS"/>
              </a:rPr>
              <a:t>bass</a:t>
            </a:r>
            <a:r>
              <a:rPr sz="950" i="0" spc="2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spc="-10" dirty="0">
                <a:solidFill>
                  <a:srgbClr val="000000"/>
                </a:solidFill>
                <a:latin typeface="Trebuchet MS"/>
                <a:cs typeface="Trebuchet MS"/>
              </a:rPr>
              <a:t>(music):</a:t>
            </a:r>
            <a:endParaRPr sz="950">
              <a:latin typeface="Trebuchet MS"/>
              <a:cs typeface="Trebuchet MS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5668" y="976782"/>
            <a:ext cx="3615690" cy="1699260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1817522" y="3339672"/>
            <a:ext cx="97345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Word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Sense</a:t>
            </a:r>
            <a:r>
              <a:rPr sz="600" i="1" spc="5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Disambiguation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-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I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608260" y="3339672"/>
            <a:ext cx="56388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8,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3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317424" y="3339672"/>
            <a:ext cx="236854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15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10" dirty="0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</a:rPr>
              <a:t>15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87ED5F24-5724-44BD-B3FF-0089414C4D5B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4292024" y="3339672"/>
            <a:ext cx="262254" cy="116204"/>
          </a:xfrm>
          <a:prstGeom prst="rect">
            <a:avLst/>
          </a:prstGeom>
        </p:spPr>
        <p:txBody>
          <a:bodyPr/>
          <a:lstStyle/>
          <a:p>
            <a:pPr marL="75565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lang="en-IN" smtClean="0"/>
              <a:t>107</a:t>
            </a:fld>
            <a:r>
              <a:rPr lang="en-IN" spc="-5"/>
              <a:t> </a:t>
            </a:r>
            <a:r>
              <a:rPr lang="en-IN" spc="-110"/>
              <a:t>/</a:t>
            </a:r>
            <a:r>
              <a:rPr lang="en-IN" spc="15"/>
              <a:t> </a:t>
            </a:r>
            <a:r>
              <a:rPr lang="en-IN" spc="-25"/>
              <a:t>18</a:t>
            </a:r>
            <a:endParaRPr lang="en-IN" spc="-25" dirty="0"/>
          </a:p>
        </p:txBody>
      </p:sp>
    </p:spTree>
  </p:cSld>
  <p:clrMapOvr>
    <a:masterClrMapping/>
  </p:clrMapOvr>
  <p:transition>
    <p:cut/>
  </p:transition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7743" y="893356"/>
            <a:ext cx="4432935" cy="82550"/>
          </a:xfrm>
          <a:custGeom>
            <a:avLst/>
            <a:gdLst/>
            <a:ahLst/>
            <a:cxnLst/>
            <a:rect l="l" t="t" r="r" b="b"/>
            <a:pathLst>
              <a:path w="4432935" h="82550">
                <a:moveTo>
                  <a:pt x="4381754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82423"/>
                </a:lnTo>
                <a:lnTo>
                  <a:pt x="4432554" y="82423"/>
                </a:lnTo>
                <a:lnTo>
                  <a:pt x="4432554" y="50800"/>
                </a:lnTo>
                <a:lnTo>
                  <a:pt x="4428545" y="31075"/>
                </a:lnTo>
                <a:lnTo>
                  <a:pt x="4417631" y="14922"/>
                </a:lnTo>
                <a:lnTo>
                  <a:pt x="4401478" y="4008"/>
                </a:lnTo>
                <a:lnTo>
                  <a:pt x="4381754" y="0"/>
                </a:lnTo>
                <a:close/>
              </a:path>
            </a:pathLst>
          </a:custGeom>
          <a:solidFill>
            <a:srgbClr val="3232B2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87743" y="937793"/>
            <a:ext cx="4483735" cy="382270"/>
            <a:chOff x="87743" y="937793"/>
            <a:chExt cx="4483735" cy="38227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8544" y="1218336"/>
              <a:ext cx="101599" cy="1016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9344" y="1205636"/>
              <a:ext cx="4381754" cy="11430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520298" y="943914"/>
              <a:ext cx="50800" cy="274421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87743" y="937793"/>
              <a:ext cx="4432935" cy="331470"/>
            </a:xfrm>
            <a:custGeom>
              <a:avLst/>
              <a:gdLst/>
              <a:ahLst/>
              <a:cxnLst/>
              <a:rect l="l" t="t" r="r" b="b"/>
              <a:pathLst>
                <a:path w="4432935" h="331469">
                  <a:moveTo>
                    <a:pt x="4432554" y="0"/>
                  </a:moveTo>
                  <a:lnTo>
                    <a:pt x="0" y="0"/>
                  </a:lnTo>
                  <a:lnTo>
                    <a:pt x="0" y="280543"/>
                  </a:lnTo>
                  <a:lnTo>
                    <a:pt x="4008" y="300267"/>
                  </a:lnTo>
                  <a:lnTo>
                    <a:pt x="14922" y="316420"/>
                  </a:lnTo>
                  <a:lnTo>
                    <a:pt x="31075" y="327334"/>
                  </a:lnTo>
                  <a:lnTo>
                    <a:pt x="50800" y="331343"/>
                  </a:lnTo>
                  <a:lnTo>
                    <a:pt x="4381754" y="331343"/>
                  </a:lnTo>
                  <a:lnTo>
                    <a:pt x="4401478" y="327334"/>
                  </a:lnTo>
                  <a:lnTo>
                    <a:pt x="4417631" y="316420"/>
                  </a:lnTo>
                  <a:lnTo>
                    <a:pt x="4428545" y="300267"/>
                  </a:lnTo>
                  <a:lnTo>
                    <a:pt x="4432554" y="280543"/>
                  </a:lnTo>
                  <a:lnTo>
                    <a:pt x="4432554" y="0"/>
                  </a:lnTo>
                  <a:close/>
                </a:path>
              </a:pathLst>
            </a:custGeom>
            <a:solidFill>
              <a:srgbClr val="3232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520310" y="981989"/>
              <a:ext cx="0" cy="255904"/>
            </a:xfrm>
            <a:custGeom>
              <a:avLst/>
              <a:gdLst/>
              <a:ahLst/>
              <a:cxnLst/>
              <a:rect l="l" t="t" r="r" b="b"/>
              <a:pathLst>
                <a:path h="255905">
                  <a:moveTo>
                    <a:pt x="0" y="255396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520310" y="969314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520310" y="956614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520310" y="943914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1123950" y="942136"/>
            <a:ext cx="236029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i="1" spc="-60" dirty="0">
                <a:solidFill>
                  <a:srgbClr val="FFFFFF"/>
                </a:solidFill>
                <a:latin typeface="Cambria"/>
                <a:cs typeface="Cambria"/>
              </a:rPr>
              <a:t>Word</a:t>
            </a:r>
            <a:r>
              <a:rPr sz="1400" i="1" spc="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dirty="0">
                <a:solidFill>
                  <a:srgbClr val="FFFFFF"/>
                </a:solidFill>
                <a:latin typeface="Cambria"/>
                <a:cs typeface="Cambria"/>
              </a:rPr>
              <a:t>Sense</a:t>
            </a:r>
            <a:r>
              <a:rPr sz="1400" i="1" spc="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dirty="0">
                <a:solidFill>
                  <a:srgbClr val="FFFFFF"/>
                </a:solidFill>
                <a:latin typeface="Cambria"/>
                <a:cs typeface="Cambria"/>
              </a:rPr>
              <a:t>Disambiguation</a:t>
            </a:r>
            <a:r>
              <a:rPr sz="1400" i="1" spc="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dirty="0">
                <a:solidFill>
                  <a:srgbClr val="FFFFFF"/>
                </a:solidFill>
                <a:latin typeface="Cambria"/>
                <a:cs typeface="Cambria"/>
              </a:rPr>
              <a:t>-</a:t>
            </a:r>
            <a:r>
              <a:rPr sz="1400" i="1" spc="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spc="-25" dirty="0">
                <a:solidFill>
                  <a:srgbClr val="FFFFFF"/>
                </a:solidFill>
                <a:latin typeface="Cambria"/>
                <a:cs typeface="Cambria"/>
              </a:rPr>
              <a:t>II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804885" y="3339672"/>
            <a:ext cx="99885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  <a:hlinkClick r:id="rId5" action="ppaction://hlinksldjump"/>
              </a:rPr>
              <a:t>Word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  <a:hlinkClick r:id="rId5" action="ppaction://hlinksldjump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5" action="ppaction://hlinksldjump"/>
              </a:rPr>
              <a:t>Sense</a:t>
            </a:r>
            <a:r>
              <a:rPr sz="600" i="1" spc="5" dirty="0">
                <a:solidFill>
                  <a:srgbClr val="FFFFFF"/>
                </a:solidFill>
                <a:latin typeface="Cambria"/>
                <a:cs typeface="Cambria"/>
                <a:hlinkClick r:id="rId5" action="ppaction://hlinksldjump"/>
              </a:rPr>
              <a:t>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  <a:hlinkClick r:id="rId5" action="ppaction://hlinksldjump"/>
              </a:rPr>
              <a:t>Disambiguation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  <a:hlinkClick r:id="rId5" action="ppaction://hlinksldjump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5" action="ppaction://hlinksldjump"/>
              </a:rPr>
              <a:t>-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  <a:hlinkClick r:id="rId5" action="ppaction://hlinksldjump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  <a:hlinkClick r:id="rId5" action="ppaction://hlinksldjump"/>
              </a:rPr>
              <a:t>II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646170" y="3339672"/>
            <a:ext cx="56388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8,</a:t>
            </a:r>
            <a:r>
              <a:rPr sz="600" i="1" spc="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4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sldNum" sz="quarter" idx="4294967295"/>
          </p:nvPr>
        </p:nvSpPr>
        <p:spPr>
          <a:xfrm>
            <a:off x="4292024" y="3339672"/>
            <a:ext cx="262254" cy="116204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75565">
              <a:lnSpc>
                <a:spcPct val="100000"/>
              </a:lnSpc>
              <a:spcBef>
                <a:spcPts val="50"/>
              </a:spcBef>
            </a:pPr>
            <a:r>
              <a:rPr dirty="0"/>
              <a:t>1</a:t>
            </a:r>
            <a:r>
              <a:rPr spc="-5" dirty="0"/>
              <a:t> </a:t>
            </a:r>
            <a:r>
              <a:rPr spc="-110" dirty="0"/>
              <a:t>/</a:t>
            </a:r>
            <a:r>
              <a:rPr spc="15" dirty="0"/>
              <a:t> </a:t>
            </a:r>
            <a:r>
              <a:rPr spc="-25" dirty="0"/>
              <a:t>14</a:t>
            </a:r>
          </a:p>
        </p:txBody>
      </p:sp>
    </p:spTree>
  </p:cSld>
  <p:clrMapOvr>
    <a:masterClrMapping/>
  </p:clrMapOvr>
  <p:transition>
    <p:cut/>
  </p:transition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Minimally</a:t>
            </a:r>
            <a:r>
              <a:rPr spc="65" dirty="0"/>
              <a:t> </a:t>
            </a:r>
            <a:r>
              <a:rPr dirty="0"/>
              <a:t>Supervised</a:t>
            </a:r>
            <a:r>
              <a:rPr spc="70" dirty="0"/>
              <a:t> </a:t>
            </a:r>
            <a:r>
              <a:rPr dirty="0"/>
              <a:t>WSD</a:t>
            </a:r>
            <a:r>
              <a:rPr spc="70" dirty="0"/>
              <a:t> </a:t>
            </a:r>
            <a:r>
              <a:rPr dirty="0"/>
              <a:t>-</a:t>
            </a:r>
            <a:r>
              <a:rPr spc="70" dirty="0"/>
              <a:t> </a:t>
            </a:r>
            <a:r>
              <a:rPr spc="-30" dirty="0"/>
              <a:t>Yarowsky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597" y="1053249"/>
            <a:ext cx="64757" cy="64757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77532" y="942982"/>
            <a:ext cx="4062729" cy="10382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 marR="2404110">
              <a:lnSpc>
                <a:spcPct val="131100"/>
              </a:lnSpc>
              <a:spcBef>
                <a:spcPts val="90"/>
              </a:spcBef>
            </a:pPr>
            <a:r>
              <a:rPr sz="950" dirty="0">
                <a:latin typeface="Trebuchet MS"/>
                <a:cs typeface="Trebuchet MS"/>
              </a:rPr>
              <a:t>Annotations</a:t>
            </a:r>
            <a:r>
              <a:rPr sz="950" spc="4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are</a:t>
            </a:r>
            <a:r>
              <a:rPr sz="950" spc="5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expensive! </a:t>
            </a:r>
            <a:r>
              <a:rPr sz="950" spc="-20" dirty="0">
                <a:latin typeface="Trebuchet MS"/>
                <a:cs typeface="Trebuchet MS"/>
              </a:rPr>
              <a:t>“Bootstrapping”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or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spc="-35" dirty="0">
                <a:latin typeface="Trebuchet MS"/>
                <a:cs typeface="Trebuchet MS"/>
              </a:rPr>
              <a:t>co-</a:t>
            </a:r>
            <a:r>
              <a:rPr sz="950" spc="-10" dirty="0">
                <a:latin typeface="Trebuchet MS"/>
                <a:cs typeface="Trebuchet MS"/>
              </a:rPr>
              <a:t>training</a:t>
            </a:r>
            <a:endParaRPr sz="950">
              <a:latin typeface="Trebuchet MS"/>
              <a:cs typeface="Trebuchet MS"/>
            </a:endParaRPr>
          </a:p>
          <a:p>
            <a:pPr marL="313690" indent="-116205">
              <a:lnSpc>
                <a:spcPct val="100000"/>
              </a:lnSpc>
              <a:spcBef>
                <a:spcPts val="305"/>
              </a:spcBef>
              <a:buClr>
                <a:srgbClr val="3232B2"/>
              </a:buClr>
              <a:buSzPct val="66666"/>
              <a:buFont typeface="Lucida Sans Unicode"/>
              <a:buChar char="►"/>
              <a:tabLst>
                <a:tab pos="313690" algn="l"/>
              </a:tabLst>
            </a:pPr>
            <a:r>
              <a:rPr sz="900" spc="-10" dirty="0">
                <a:latin typeface="Trebuchet MS"/>
                <a:cs typeface="Trebuchet MS"/>
              </a:rPr>
              <a:t>Start</a:t>
            </a:r>
            <a:r>
              <a:rPr sz="900" spc="-40" dirty="0">
                <a:latin typeface="Trebuchet MS"/>
                <a:cs typeface="Trebuchet MS"/>
              </a:rPr>
              <a:t> </a:t>
            </a:r>
            <a:r>
              <a:rPr sz="900" spc="-55" dirty="0">
                <a:latin typeface="Trebuchet MS"/>
                <a:cs typeface="Trebuchet MS"/>
              </a:rPr>
              <a:t>with</a:t>
            </a:r>
            <a:r>
              <a:rPr sz="900" spc="-25" dirty="0">
                <a:latin typeface="Trebuchet MS"/>
                <a:cs typeface="Trebuchet MS"/>
              </a:rPr>
              <a:t> </a:t>
            </a:r>
            <a:r>
              <a:rPr sz="900" spc="-10" dirty="0">
                <a:latin typeface="Trebuchet MS"/>
                <a:cs typeface="Trebuchet MS"/>
              </a:rPr>
              <a:t>(small)</a:t>
            </a:r>
            <a:r>
              <a:rPr sz="900" spc="-30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seed,</a:t>
            </a:r>
            <a:r>
              <a:rPr sz="900" spc="-30" dirty="0">
                <a:latin typeface="Trebuchet MS"/>
                <a:cs typeface="Trebuchet MS"/>
              </a:rPr>
              <a:t> </a:t>
            </a:r>
            <a:r>
              <a:rPr sz="900" spc="-10" dirty="0">
                <a:latin typeface="Trebuchet MS"/>
                <a:cs typeface="Trebuchet MS"/>
              </a:rPr>
              <a:t>learn</a:t>
            </a:r>
            <a:r>
              <a:rPr sz="900" spc="-30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decision</a:t>
            </a:r>
            <a:r>
              <a:rPr sz="900" spc="-30" dirty="0">
                <a:latin typeface="Trebuchet MS"/>
                <a:cs typeface="Trebuchet MS"/>
              </a:rPr>
              <a:t> </a:t>
            </a:r>
            <a:r>
              <a:rPr sz="900" spc="-20" dirty="0">
                <a:latin typeface="Trebuchet MS"/>
                <a:cs typeface="Trebuchet MS"/>
              </a:rPr>
              <a:t>list</a:t>
            </a:r>
            <a:endParaRPr sz="900">
              <a:latin typeface="Trebuchet MS"/>
              <a:cs typeface="Trebuchet MS"/>
            </a:endParaRPr>
          </a:p>
          <a:p>
            <a:pPr marL="313690" indent="-116205">
              <a:lnSpc>
                <a:spcPct val="100000"/>
              </a:lnSpc>
              <a:spcBef>
                <a:spcPts val="114"/>
              </a:spcBef>
              <a:buClr>
                <a:srgbClr val="3232B2"/>
              </a:buClr>
              <a:buSzPct val="66666"/>
              <a:buFont typeface="Lucida Sans Unicode"/>
              <a:buChar char="►"/>
              <a:tabLst>
                <a:tab pos="313690" algn="l"/>
              </a:tabLst>
            </a:pPr>
            <a:r>
              <a:rPr sz="900" dirty="0">
                <a:latin typeface="Trebuchet MS"/>
                <a:cs typeface="Trebuchet MS"/>
              </a:rPr>
              <a:t>Use</a:t>
            </a:r>
            <a:r>
              <a:rPr sz="900" spc="-5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decision </a:t>
            </a:r>
            <a:r>
              <a:rPr sz="900" spc="-45" dirty="0">
                <a:latin typeface="Trebuchet MS"/>
                <a:cs typeface="Trebuchet MS"/>
              </a:rPr>
              <a:t>list</a:t>
            </a:r>
            <a:r>
              <a:rPr sz="900" spc="-5" dirty="0">
                <a:latin typeface="Trebuchet MS"/>
                <a:cs typeface="Trebuchet MS"/>
              </a:rPr>
              <a:t> </a:t>
            </a:r>
            <a:r>
              <a:rPr sz="900" spc="-65" dirty="0">
                <a:latin typeface="Trebuchet MS"/>
                <a:cs typeface="Trebuchet MS"/>
              </a:rPr>
              <a:t>to</a:t>
            </a:r>
            <a:r>
              <a:rPr sz="900" dirty="0">
                <a:latin typeface="Trebuchet MS"/>
                <a:cs typeface="Trebuchet MS"/>
              </a:rPr>
              <a:t> </a:t>
            </a:r>
            <a:r>
              <a:rPr sz="900" spc="-20" dirty="0">
                <a:latin typeface="Trebuchet MS"/>
                <a:cs typeface="Trebuchet MS"/>
              </a:rPr>
              <a:t>label</a:t>
            </a:r>
            <a:r>
              <a:rPr sz="900" spc="-5" dirty="0">
                <a:latin typeface="Trebuchet MS"/>
                <a:cs typeface="Trebuchet MS"/>
              </a:rPr>
              <a:t> </a:t>
            </a:r>
            <a:r>
              <a:rPr sz="900" spc="-20" dirty="0">
                <a:latin typeface="Trebuchet MS"/>
                <a:cs typeface="Trebuchet MS"/>
              </a:rPr>
              <a:t>rest</a:t>
            </a:r>
            <a:r>
              <a:rPr sz="900" dirty="0">
                <a:latin typeface="Trebuchet MS"/>
                <a:cs typeface="Trebuchet MS"/>
              </a:rPr>
              <a:t> </a:t>
            </a:r>
            <a:r>
              <a:rPr sz="900" spc="-45" dirty="0">
                <a:latin typeface="Trebuchet MS"/>
                <a:cs typeface="Trebuchet MS"/>
              </a:rPr>
              <a:t>of</a:t>
            </a:r>
            <a:r>
              <a:rPr sz="900" spc="-5" dirty="0">
                <a:latin typeface="Trebuchet MS"/>
                <a:cs typeface="Trebuchet MS"/>
              </a:rPr>
              <a:t> </a:t>
            </a:r>
            <a:r>
              <a:rPr sz="900" spc="-10" dirty="0">
                <a:latin typeface="Trebuchet MS"/>
                <a:cs typeface="Trebuchet MS"/>
              </a:rPr>
              <a:t>corpus</a:t>
            </a:r>
            <a:endParaRPr sz="900">
              <a:latin typeface="Trebuchet MS"/>
              <a:cs typeface="Trebuchet MS"/>
            </a:endParaRPr>
          </a:p>
          <a:p>
            <a:pPr marL="313690" indent="-116205">
              <a:lnSpc>
                <a:spcPct val="100000"/>
              </a:lnSpc>
              <a:spcBef>
                <a:spcPts val="120"/>
              </a:spcBef>
              <a:buClr>
                <a:srgbClr val="3232B2"/>
              </a:buClr>
              <a:buSzPct val="66666"/>
              <a:buFont typeface="Lucida Sans Unicode"/>
              <a:buChar char="►"/>
              <a:tabLst>
                <a:tab pos="313690" algn="l"/>
              </a:tabLst>
            </a:pPr>
            <a:r>
              <a:rPr sz="900" dirty="0">
                <a:latin typeface="Trebuchet MS"/>
                <a:cs typeface="Trebuchet MS"/>
              </a:rPr>
              <a:t>Retain</a:t>
            </a:r>
            <a:r>
              <a:rPr sz="900" spc="-35" dirty="0">
                <a:latin typeface="Trebuchet MS"/>
                <a:cs typeface="Trebuchet MS"/>
              </a:rPr>
              <a:t> </a:t>
            </a:r>
            <a:r>
              <a:rPr sz="900" spc="-50" dirty="0">
                <a:latin typeface="Trebuchet MS"/>
                <a:cs typeface="Trebuchet MS"/>
              </a:rPr>
              <a:t>‘confident’</a:t>
            </a:r>
            <a:r>
              <a:rPr sz="900" spc="-25" dirty="0">
                <a:latin typeface="Trebuchet MS"/>
                <a:cs typeface="Trebuchet MS"/>
              </a:rPr>
              <a:t> </a:t>
            </a:r>
            <a:r>
              <a:rPr sz="900" spc="-20" dirty="0">
                <a:latin typeface="Trebuchet MS"/>
                <a:cs typeface="Trebuchet MS"/>
              </a:rPr>
              <a:t>labels,</a:t>
            </a:r>
            <a:r>
              <a:rPr sz="900" spc="-25" dirty="0">
                <a:latin typeface="Trebuchet MS"/>
                <a:cs typeface="Trebuchet MS"/>
              </a:rPr>
              <a:t> </a:t>
            </a:r>
            <a:r>
              <a:rPr sz="900" spc="-50" dirty="0">
                <a:latin typeface="Trebuchet MS"/>
                <a:cs typeface="Trebuchet MS"/>
              </a:rPr>
              <a:t>treat</a:t>
            </a:r>
            <a:r>
              <a:rPr sz="900" spc="-25" dirty="0">
                <a:latin typeface="Trebuchet MS"/>
                <a:cs typeface="Trebuchet MS"/>
              </a:rPr>
              <a:t> </a:t>
            </a:r>
            <a:r>
              <a:rPr sz="900" spc="50" dirty="0">
                <a:latin typeface="Trebuchet MS"/>
                <a:cs typeface="Trebuchet MS"/>
              </a:rPr>
              <a:t>as</a:t>
            </a:r>
            <a:r>
              <a:rPr sz="900" spc="-25" dirty="0">
                <a:latin typeface="Trebuchet MS"/>
                <a:cs typeface="Trebuchet MS"/>
              </a:rPr>
              <a:t> </a:t>
            </a:r>
            <a:r>
              <a:rPr sz="900" spc="-20" dirty="0">
                <a:latin typeface="Trebuchet MS"/>
                <a:cs typeface="Trebuchet MS"/>
              </a:rPr>
              <a:t>annotated</a:t>
            </a:r>
            <a:r>
              <a:rPr sz="900" spc="-25" dirty="0">
                <a:latin typeface="Trebuchet MS"/>
                <a:cs typeface="Trebuchet MS"/>
              </a:rPr>
              <a:t> </a:t>
            </a:r>
            <a:r>
              <a:rPr sz="900" spc="-10" dirty="0">
                <a:latin typeface="Trebuchet MS"/>
                <a:cs typeface="Trebuchet MS"/>
              </a:rPr>
              <a:t>data</a:t>
            </a:r>
            <a:r>
              <a:rPr sz="900" spc="-30" dirty="0">
                <a:latin typeface="Trebuchet MS"/>
                <a:cs typeface="Trebuchet MS"/>
              </a:rPr>
              <a:t> </a:t>
            </a:r>
            <a:r>
              <a:rPr sz="900" spc="-65" dirty="0">
                <a:latin typeface="Trebuchet MS"/>
                <a:cs typeface="Trebuchet MS"/>
              </a:rPr>
              <a:t>to</a:t>
            </a:r>
            <a:r>
              <a:rPr sz="900" spc="-25" dirty="0">
                <a:latin typeface="Trebuchet MS"/>
                <a:cs typeface="Trebuchet MS"/>
              </a:rPr>
              <a:t> </a:t>
            </a:r>
            <a:r>
              <a:rPr sz="900" spc="-10" dirty="0">
                <a:latin typeface="Trebuchet MS"/>
                <a:cs typeface="Trebuchet MS"/>
              </a:rPr>
              <a:t>learn</a:t>
            </a:r>
            <a:r>
              <a:rPr sz="900" spc="-25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new</a:t>
            </a:r>
            <a:r>
              <a:rPr sz="900" spc="-25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decision</a:t>
            </a:r>
            <a:r>
              <a:rPr sz="900" spc="-25" dirty="0">
                <a:latin typeface="Trebuchet MS"/>
                <a:cs typeface="Trebuchet MS"/>
              </a:rPr>
              <a:t> </a:t>
            </a:r>
            <a:r>
              <a:rPr sz="900" spc="-20" dirty="0">
                <a:latin typeface="Trebuchet MS"/>
                <a:cs typeface="Trebuchet MS"/>
              </a:rPr>
              <a:t>list</a:t>
            </a:r>
            <a:endParaRPr sz="900">
              <a:latin typeface="Trebuchet MS"/>
              <a:cs typeface="Trebuchet MS"/>
            </a:endParaRPr>
          </a:p>
          <a:p>
            <a:pPr marL="313690" indent="-116205">
              <a:lnSpc>
                <a:spcPct val="100000"/>
              </a:lnSpc>
              <a:spcBef>
                <a:spcPts val="15"/>
              </a:spcBef>
              <a:buClr>
                <a:srgbClr val="3232B2"/>
              </a:buClr>
              <a:buSzPct val="66666"/>
              <a:buFont typeface="Lucida Sans Unicode"/>
              <a:buChar char="►"/>
              <a:tabLst>
                <a:tab pos="313690" algn="l"/>
              </a:tabLst>
            </a:pPr>
            <a:r>
              <a:rPr sz="900" dirty="0">
                <a:latin typeface="Trebuchet MS"/>
                <a:cs typeface="Trebuchet MS"/>
              </a:rPr>
              <a:t>Repeat</a:t>
            </a:r>
            <a:r>
              <a:rPr sz="900" spc="-5" dirty="0">
                <a:latin typeface="Trebuchet MS"/>
                <a:cs typeface="Trebuchet MS"/>
              </a:rPr>
              <a:t> </a:t>
            </a:r>
            <a:r>
              <a:rPr sz="1000" spc="-10" dirty="0">
                <a:latin typeface="Calibri"/>
                <a:cs typeface="Calibri"/>
              </a:rPr>
              <a:t>.</a:t>
            </a:r>
            <a:r>
              <a:rPr sz="1000" spc="-110" dirty="0">
                <a:latin typeface="Calibri"/>
                <a:cs typeface="Calibri"/>
              </a:rPr>
              <a:t> </a:t>
            </a:r>
            <a:r>
              <a:rPr sz="1000" spc="-10" dirty="0">
                <a:latin typeface="Calibri"/>
                <a:cs typeface="Calibri"/>
              </a:rPr>
              <a:t>.</a:t>
            </a:r>
            <a:r>
              <a:rPr sz="1000" spc="-110" dirty="0">
                <a:latin typeface="Calibri"/>
                <a:cs typeface="Calibri"/>
              </a:rPr>
              <a:t> </a:t>
            </a:r>
            <a:r>
              <a:rPr sz="1000" spc="-50" dirty="0">
                <a:latin typeface="Calibri"/>
                <a:cs typeface="Calibri"/>
              </a:rPr>
              <a:t>.</a:t>
            </a:r>
            <a:endParaRPr sz="10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597" y="1243037"/>
            <a:ext cx="64757" cy="64757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1804885" y="3339672"/>
            <a:ext cx="99885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  <a:hlinkClick r:id="rId4" action="ppaction://hlinksldjump"/>
              </a:rPr>
              <a:t>Word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  <a:hlinkClick r:id="rId4" action="ppaction://hlinksldjump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4" action="ppaction://hlinksldjump"/>
              </a:rPr>
              <a:t>Sense</a:t>
            </a:r>
            <a:r>
              <a:rPr sz="600" i="1" spc="5" dirty="0">
                <a:solidFill>
                  <a:srgbClr val="FFFFFF"/>
                </a:solidFill>
                <a:latin typeface="Cambria"/>
                <a:cs typeface="Cambria"/>
                <a:hlinkClick r:id="rId4" action="ppaction://hlinksldjump"/>
              </a:rPr>
              <a:t>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  <a:hlinkClick r:id="rId4" action="ppaction://hlinksldjump"/>
              </a:rPr>
              <a:t>Disambiguation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  <a:hlinkClick r:id="rId4" action="ppaction://hlinksldjump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4" action="ppaction://hlinksldjump"/>
              </a:rPr>
              <a:t>-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  <a:hlinkClick r:id="rId4" action="ppaction://hlinksldjump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  <a:hlinkClick r:id="rId4" action="ppaction://hlinksldjump"/>
              </a:rPr>
              <a:t>II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646170" y="3339672"/>
            <a:ext cx="56388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8,</a:t>
            </a:r>
            <a:r>
              <a:rPr sz="600" i="1" spc="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4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355385" y="3339672"/>
            <a:ext cx="19875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2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10" dirty="0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</a:rPr>
              <a:t>14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60F6D08E-DA8F-459C-A924-736328F786C0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4292024" y="3339672"/>
            <a:ext cx="262254" cy="116204"/>
          </a:xfrm>
          <a:prstGeom prst="rect">
            <a:avLst/>
          </a:prstGeom>
        </p:spPr>
        <p:txBody>
          <a:bodyPr/>
          <a:lstStyle/>
          <a:p>
            <a:pPr marL="75565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lang="en-IN" smtClean="0"/>
              <a:t>109</a:t>
            </a:fld>
            <a:r>
              <a:rPr lang="en-IN" spc="-5"/>
              <a:t> </a:t>
            </a:r>
            <a:r>
              <a:rPr lang="en-IN" spc="-110"/>
              <a:t>/</a:t>
            </a:r>
            <a:r>
              <a:rPr lang="en-IN" spc="15"/>
              <a:t> </a:t>
            </a:r>
            <a:r>
              <a:rPr lang="en-IN" spc="-25"/>
              <a:t>18</a:t>
            </a:r>
            <a:endParaRPr lang="en-IN" spc="-25" dirty="0"/>
          </a:p>
        </p:txBody>
      </p:sp>
    </p:spTree>
  </p:cSld>
  <p:clrMapOvr>
    <a:masterClrMapping/>
  </p:clrMapOvr>
  <p:transition>
    <p:cut/>
  </p:transition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Minimally</a:t>
            </a:r>
            <a:r>
              <a:rPr spc="65" dirty="0"/>
              <a:t> </a:t>
            </a:r>
            <a:r>
              <a:rPr dirty="0"/>
              <a:t>Supervised</a:t>
            </a:r>
            <a:r>
              <a:rPr spc="70" dirty="0"/>
              <a:t> </a:t>
            </a:r>
            <a:r>
              <a:rPr dirty="0"/>
              <a:t>WSD</a:t>
            </a:r>
            <a:r>
              <a:rPr spc="70" dirty="0"/>
              <a:t> </a:t>
            </a:r>
            <a:r>
              <a:rPr dirty="0"/>
              <a:t>-</a:t>
            </a:r>
            <a:r>
              <a:rPr spc="70" dirty="0"/>
              <a:t> </a:t>
            </a:r>
            <a:r>
              <a:rPr spc="-30" dirty="0"/>
              <a:t>Yarowsky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597" y="1053249"/>
            <a:ext cx="64757" cy="64757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77532" y="942982"/>
            <a:ext cx="4062729" cy="155448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 marR="2404110">
              <a:lnSpc>
                <a:spcPct val="131100"/>
              </a:lnSpc>
              <a:spcBef>
                <a:spcPts val="90"/>
              </a:spcBef>
            </a:pPr>
            <a:r>
              <a:rPr sz="950" dirty="0">
                <a:latin typeface="Trebuchet MS"/>
                <a:cs typeface="Trebuchet MS"/>
              </a:rPr>
              <a:t>Annotations</a:t>
            </a:r>
            <a:r>
              <a:rPr sz="950" spc="4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are</a:t>
            </a:r>
            <a:r>
              <a:rPr sz="950" spc="5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expensive! </a:t>
            </a:r>
            <a:r>
              <a:rPr sz="950" spc="-20" dirty="0">
                <a:latin typeface="Trebuchet MS"/>
                <a:cs typeface="Trebuchet MS"/>
              </a:rPr>
              <a:t>“Bootstrapping”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or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spc="-35" dirty="0">
                <a:latin typeface="Trebuchet MS"/>
                <a:cs typeface="Trebuchet MS"/>
              </a:rPr>
              <a:t>co-</a:t>
            </a:r>
            <a:r>
              <a:rPr sz="950" spc="-10" dirty="0">
                <a:latin typeface="Trebuchet MS"/>
                <a:cs typeface="Trebuchet MS"/>
              </a:rPr>
              <a:t>training</a:t>
            </a:r>
            <a:endParaRPr sz="950">
              <a:latin typeface="Trebuchet MS"/>
              <a:cs typeface="Trebuchet MS"/>
            </a:endParaRPr>
          </a:p>
          <a:p>
            <a:pPr marL="313690" indent="-116205">
              <a:lnSpc>
                <a:spcPct val="100000"/>
              </a:lnSpc>
              <a:spcBef>
                <a:spcPts val="305"/>
              </a:spcBef>
              <a:buClr>
                <a:srgbClr val="3232B2"/>
              </a:buClr>
              <a:buSzPct val="66666"/>
              <a:buFont typeface="Lucida Sans Unicode"/>
              <a:buChar char="►"/>
              <a:tabLst>
                <a:tab pos="313690" algn="l"/>
              </a:tabLst>
            </a:pPr>
            <a:r>
              <a:rPr sz="900" spc="-10" dirty="0">
                <a:latin typeface="Trebuchet MS"/>
                <a:cs typeface="Trebuchet MS"/>
              </a:rPr>
              <a:t>Start</a:t>
            </a:r>
            <a:r>
              <a:rPr sz="900" spc="-40" dirty="0">
                <a:latin typeface="Trebuchet MS"/>
                <a:cs typeface="Trebuchet MS"/>
              </a:rPr>
              <a:t> </a:t>
            </a:r>
            <a:r>
              <a:rPr sz="900" spc="-55" dirty="0">
                <a:latin typeface="Trebuchet MS"/>
                <a:cs typeface="Trebuchet MS"/>
              </a:rPr>
              <a:t>with</a:t>
            </a:r>
            <a:r>
              <a:rPr sz="900" spc="-25" dirty="0">
                <a:latin typeface="Trebuchet MS"/>
                <a:cs typeface="Trebuchet MS"/>
              </a:rPr>
              <a:t> </a:t>
            </a:r>
            <a:r>
              <a:rPr sz="900" spc="-10" dirty="0">
                <a:latin typeface="Trebuchet MS"/>
                <a:cs typeface="Trebuchet MS"/>
              </a:rPr>
              <a:t>(small)</a:t>
            </a:r>
            <a:r>
              <a:rPr sz="900" spc="-30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seed,</a:t>
            </a:r>
            <a:r>
              <a:rPr sz="900" spc="-30" dirty="0">
                <a:latin typeface="Trebuchet MS"/>
                <a:cs typeface="Trebuchet MS"/>
              </a:rPr>
              <a:t> </a:t>
            </a:r>
            <a:r>
              <a:rPr sz="900" spc="-10" dirty="0">
                <a:latin typeface="Trebuchet MS"/>
                <a:cs typeface="Trebuchet MS"/>
              </a:rPr>
              <a:t>learn</a:t>
            </a:r>
            <a:r>
              <a:rPr sz="900" spc="-30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decision</a:t>
            </a:r>
            <a:r>
              <a:rPr sz="900" spc="-30" dirty="0">
                <a:latin typeface="Trebuchet MS"/>
                <a:cs typeface="Trebuchet MS"/>
              </a:rPr>
              <a:t> </a:t>
            </a:r>
            <a:r>
              <a:rPr sz="900" spc="-20" dirty="0">
                <a:latin typeface="Trebuchet MS"/>
                <a:cs typeface="Trebuchet MS"/>
              </a:rPr>
              <a:t>list</a:t>
            </a:r>
            <a:endParaRPr sz="900">
              <a:latin typeface="Trebuchet MS"/>
              <a:cs typeface="Trebuchet MS"/>
            </a:endParaRPr>
          </a:p>
          <a:p>
            <a:pPr marL="313690" indent="-116205">
              <a:lnSpc>
                <a:spcPct val="100000"/>
              </a:lnSpc>
              <a:spcBef>
                <a:spcPts val="114"/>
              </a:spcBef>
              <a:buClr>
                <a:srgbClr val="3232B2"/>
              </a:buClr>
              <a:buSzPct val="66666"/>
              <a:buFont typeface="Lucida Sans Unicode"/>
              <a:buChar char="►"/>
              <a:tabLst>
                <a:tab pos="313690" algn="l"/>
              </a:tabLst>
            </a:pPr>
            <a:r>
              <a:rPr sz="900" dirty="0">
                <a:latin typeface="Trebuchet MS"/>
                <a:cs typeface="Trebuchet MS"/>
              </a:rPr>
              <a:t>Use</a:t>
            </a:r>
            <a:r>
              <a:rPr sz="900" spc="-5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decision </a:t>
            </a:r>
            <a:r>
              <a:rPr sz="900" spc="-45" dirty="0">
                <a:latin typeface="Trebuchet MS"/>
                <a:cs typeface="Trebuchet MS"/>
              </a:rPr>
              <a:t>list</a:t>
            </a:r>
            <a:r>
              <a:rPr sz="900" spc="-5" dirty="0">
                <a:latin typeface="Trebuchet MS"/>
                <a:cs typeface="Trebuchet MS"/>
              </a:rPr>
              <a:t> </a:t>
            </a:r>
            <a:r>
              <a:rPr sz="900" spc="-65" dirty="0">
                <a:latin typeface="Trebuchet MS"/>
                <a:cs typeface="Trebuchet MS"/>
              </a:rPr>
              <a:t>to</a:t>
            </a:r>
            <a:r>
              <a:rPr sz="900" dirty="0">
                <a:latin typeface="Trebuchet MS"/>
                <a:cs typeface="Trebuchet MS"/>
              </a:rPr>
              <a:t> </a:t>
            </a:r>
            <a:r>
              <a:rPr sz="900" spc="-20" dirty="0">
                <a:latin typeface="Trebuchet MS"/>
                <a:cs typeface="Trebuchet MS"/>
              </a:rPr>
              <a:t>label</a:t>
            </a:r>
            <a:r>
              <a:rPr sz="900" spc="-5" dirty="0">
                <a:latin typeface="Trebuchet MS"/>
                <a:cs typeface="Trebuchet MS"/>
              </a:rPr>
              <a:t> </a:t>
            </a:r>
            <a:r>
              <a:rPr sz="900" spc="-20" dirty="0">
                <a:latin typeface="Trebuchet MS"/>
                <a:cs typeface="Trebuchet MS"/>
              </a:rPr>
              <a:t>rest</a:t>
            </a:r>
            <a:r>
              <a:rPr sz="900" dirty="0">
                <a:latin typeface="Trebuchet MS"/>
                <a:cs typeface="Trebuchet MS"/>
              </a:rPr>
              <a:t> </a:t>
            </a:r>
            <a:r>
              <a:rPr sz="900" spc="-45" dirty="0">
                <a:latin typeface="Trebuchet MS"/>
                <a:cs typeface="Trebuchet MS"/>
              </a:rPr>
              <a:t>of</a:t>
            </a:r>
            <a:r>
              <a:rPr sz="900" spc="-5" dirty="0">
                <a:latin typeface="Trebuchet MS"/>
                <a:cs typeface="Trebuchet MS"/>
              </a:rPr>
              <a:t> </a:t>
            </a:r>
            <a:r>
              <a:rPr sz="900" spc="-10" dirty="0">
                <a:latin typeface="Trebuchet MS"/>
                <a:cs typeface="Trebuchet MS"/>
              </a:rPr>
              <a:t>corpus</a:t>
            </a:r>
            <a:endParaRPr sz="900">
              <a:latin typeface="Trebuchet MS"/>
              <a:cs typeface="Trebuchet MS"/>
            </a:endParaRPr>
          </a:p>
          <a:p>
            <a:pPr marL="313690" indent="-116205">
              <a:lnSpc>
                <a:spcPct val="100000"/>
              </a:lnSpc>
              <a:spcBef>
                <a:spcPts val="120"/>
              </a:spcBef>
              <a:buClr>
                <a:srgbClr val="3232B2"/>
              </a:buClr>
              <a:buSzPct val="66666"/>
              <a:buFont typeface="Lucida Sans Unicode"/>
              <a:buChar char="►"/>
              <a:tabLst>
                <a:tab pos="313690" algn="l"/>
              </a:tabLst>
            </a:pPr>
            <a:r>
              <a:rPr sz="900" dirty="0">
                <a:latin typeface="Trebuchet MS"/>
                <a:cs typeface="Trebuchet MS"/>
              </a:rPr>
              <a:t>Retain</a:t>
            </a:r>
            <a:r>
              <a:rPr sz="900" spc="-35" dirty="0">
                <a:latin typeface="Trebuchet MS"/>
                <a:cs typeface="Trebuchet MS"/>
              </a:rPr>
              <a:t> </a:t>
            </a:r>
            <a:r>
              <a:rPr sz="900" spc="-50" dirty="0">
                <a:latin typeface="Trebuchet MS"/>
                <a:cs typeface="Trebuchet MS"/>
              </a:rPr>
              <a:t>‘confident’</a:t>
            </a:r>
            <a:r>
              <a:rPr sz="900" spc="-25" dirty="0">
                <a:latin typeface="Trebuchet MS"/>
                <a:cs typeface="Trebuchet MS"/>
              </a:rPr>
              <a:t> </a:t>
            </a:r>
            <a:r>
              <a:rPr sz="900" spc="-20" dirty="0">
                <a:latin typeface="Trebuchet MS"/>
                <a:cs typeface="Trebuchet MS"/>
              </a:rPr>
              <a:t>labels,</a:t>
            </a:r>
            <a:r>
              <a:rPr sz="900" spc="-25" dirty="0">
                <a:latin typeface="Trebuchet MS"/>
                <a:cs typeface="Trebuchet MS"/>
              </a:rPr>
              <a:t> </a:t>
            </a:r>
            <a:r>
              <a:rPr sz="900" spc="-50" dirty="0">
                <a:latin typeface="Trebuchet MS"/>
                <a:cs typeface="Trebuchet MS"/>
              </a:rPr>
              <a:t>treat</a:t>
            </a:r>
            <a:r>
              <a:rPr sz="900" spc="-25" dirty="0">
                <a:latin typeface="Trebuchet MS"/>
                <a:cs typeface="Trebuchet MS"/>
              </a:rPr>
              <a:t> </a:t>
            </a:r>
            <a:r>
              <a:rPr sz="900" spc="50" dirty="0">
                <a:latin typeface="Trebuchet MS"/>
                <a:cs typeface="Trebuchet MS"/>
              </a:rPr>
              <a:t>as</a:t>
            </a:r>
            <a:r>
              <a:rPr sz="900" spc="-25" dirty="0">
                <a:latin typeface="Trebuchet MS"/>
                <a:cs typeface="Trebuchet MS"/>
              </a:rPr>
              <a:t> </a:t>
            </a:r>
            <a:r>
              <a:rPr sz="900" spc="-20" dirty="0">
                <a:latin typeface="Trebuchet MS"/>
                <a:cs typeface="Trebuchet MS"/>
              </a:rPr>
              <a:t>annotated</a:t>
            </a:r>
            <a:r>
              <a:rPr sz="900" spc="-25" dirty="0">
                <a:latin typeface="Trebuchet MS"/>
                <a:cs typeface="Trebuchet MS"/>
              </a:rPr>
              <a:t> </a:t>
            </a:r>
            <a:r>
              <a:rPr sz="900" spc="-10" dirty="0">
                <a:latin typeface="Trebuchet MS"/>
                <a:cs typeface="Trebuchet MS"/>
              </a:rPr>
              <a:t>data</a:t>
            </a:r>
            <a:r>
              <a:rPr sz="900" spc="-30" dirty="0">
                <a:latin typeface="Trebuchet MS"/>
                <a:cs typeface="Trebuchet MS"/>
              </a:rPr>
              <a:t> </a:t>
            </a:r>
            <a:r>
              <a:rPr sz="900" spc="-65" dirty="0">
                <a:latin typeface="Trebuchet MS"/>
                <a:cs typeface="Trebuchet MS"/>
              </a:rPr>
              <a:t>to</a:t>
            </a:r>
            <a:r>
              <a:rPr sz="900" spc="-25" dirty="0">
                <a:latin typeface="Trebuchet MS"/>
                <a:cs typeface="Trebuchet MS"/>
              </a:rPr>
              <a:t> </a:t>
            </a:r>
            <a:r>
              <a:rPr sz="900" spc="-10" dirty="0">
                <a:latin typeface="Trebuchet MS"/>
                <a:cs typeface="Trebuchet MS"/>
              </a:rPr>
              <a:t>learn</a:t>
            </a:r>
            <a:r>
              <a:rPr sz="900" spc="-25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new</a:t>
            </a:r>
            <a:r>
              <a:rPr sz="900" spc="-25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decision</a:t>
            </a:r>
            <a:r>
              <a:rPr sz="900" spc="-25" dirty="0">
                <a:latin typeface="Trebuchet MS"/>
                <a:cs typeface="Trebuchet MS"/>
              </a:rPr>
              <a:t> </a:t>
            </a:r>
            <a:r>
              <a:rPr sz="900" spc="-20" dirty="0">
                <a:latin typeface="Trebuchet MS"/>
                <a:cs typeface="Trebuchet MS"/>
              </a:rPr>
              <a:t>list</a:t>
            </a:r>
            <a:endParaRPr sz="900">
              <a:latin typeface="Trebuchet MS"/>
              <a:cs typeface="Trebuchet MS"/>
            </a:endParaRPr>
          </a:p>
          <a:p>
            <a:pPr marL="313690" indent="-116205">
              <a:lnSpc>
                <a:spcPct val="100000"/>
              </a:lnSpc>
              <a:spcBef>
                <a:spcPts val="15"/>
              </a:spcBef>
              <a:buClr>
                <a:srgbClr val="3232B2"/>
              </a:buClr>
              <a:buSzPct val="66666"/>
              <a:buFont typeface="Lucida Sans Unicode"/>
              <a:buChar char="►"/>
              <a:tabLst>
                <a:tab pos="313690" algn="l"/>
              </a:tabLst>
            </a:pPr>
            <a:r>
              <a:rPr sz="900" dirty="0">
                <a:latin typeface="Trebuchet MS"/>
                <a:cs typeface="Trebuchet MS"/>
              </a:rPr>
              <a:t>Repeat</a:t>
            </a:r>
            <a:r>
              <a:rPr sz="900" spc="-5" dirty="0">
                <a:latin typeface="Trebuchet MS"/>
                <a:cs typeface="Trebuchet MS"/>
              </a:rPr>
              <a:t> </a:t>
            </a:r>
            <a:r>
              <a:rPr sz="1000" spc="-10" dirty="0">
                <a:latin typeface="Calibri"/>
                <a:cs typeface="Calibri"/>
              </a:rPr>
              <a:t>.</a:t>
            </a:r>
            <a:r>
              <a:rPr sz="1000" spc="-110" dirty="0">
                <a:latin typeface="Calibri"/>
                <a:cs typeface="Calibri"/>
              </a:rPr>
              <a:t> </a:t>
            </a:r>
            <a:r>
              <a:rPr sz="1000" spc="-10" dirty="0">
                <a:latin typeface="Calibri"/>
                <a:cs typeface="Calibri"/>
              </a:rPr>
              <a:t>.</a:t>
            </a:r>
            <a:r>
              <a:rPr sz="1000" spc="-110" dirty="0">
                <a:latin typeface="Calibri"/>
                <a:cs typeface="Calibri"/>
              </a:rPr>
              <a:t> </a:t>
            </a:r>
            <a:r>
              <a:rPr sz="1000" spc="-50" dirty="0">
                <a:latin typeface="Calibri"/>
                <a:cs typeface="Calibri"/>
              </a:rPr>
              <a:t>.</a:t>
            </a:r>
            <a:endParaRPr sz="1000">
              <a:latin typeface="Calibri"/>
              <a:cs typeface="Calibri"/>
            </a:endParaRPr>
          </a:p>
          <a:p>
            <a:pPr marL="38100">
              <a:lnSpc>
                <a:spcPct val="100000"/>
              </a:lnSpc>
              <a:spcBef>
                <a:spcPts val="345"/>
              </a:spcBef>
            </a:pPr>
            <a:r>
              <a:rPr sz="950" dirty="0">
                <a:latin typeface="Trebuchet MS"/>
                <a:cs typeface="Trebuchet MS"/>
              </a:rPr>
              <a:t>Heuristics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(derived </a:t>
            </a:r>
            <a:r>
              <a:rPr sz="950" spc="-10" dirty="0">
                <a:latin typeface="Trebuchet MS"/>
                <a:cs typeface="Trebuchet MS"/>
              </a:rPr>
              <a:t>from</a:t>
            </a:r>
            <a:r>
              <a:rPr sz="95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observation):</a:t>
            </a:r>
            <a:endParaRPr sz="950">
              <a:latin typeface="Trebuchet MS"/>
              <a:cs typeface="Trebuchet MS"/>
            </a:endParaRPr>
          </a:p>
          <a:p>
            <a:pPr marL="313690" indent="-116205">
              <a:lnSpc>
                <a:spcPct val="100000"/>
              </a:lnSpc>
              <a:spcBef>
                <a:spcPts val="305"/>
              </a:spcBef>
              <a:buClr>
                <a:srgbClr val="3232B2"/>
              </a:buClr>
              <a:buSzPct val="66666"/>
              <a:buFont typeface="Lucida Sans Unicode"/>
              <a:buChar char="►"/>
              <a:tabLst>
                <a:tab pos="313690" algn="l"/>
              </a:tabLst>
            </a:pPr>
            <a:r>
              <a:rPr sz="900" dirty="0">
                <a:latin typeface="Trebuchet MS"/>
                <a:cs typeface="Trebuchet MS"/>
              </a:rPr>
              <a:t>One</a:t>
            </a:r>
            <a:r>
              <a:rPr sz="900" spc="60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sense</a:t>
            </a:r>
            <a:r>
              <a:rPr sz="900" spc="65" dirty="0">
                <a:latin typeface="Trebuchet MS"/>
                <a:cs typeface="Trebuchet MS"/>
              </a:rPr>
              <a:t> </a:t>
            </a:r>
            <a:r>
              <a:rPr sz="900" spc="-10" dirty="0">
                <a:latin typeface="Trebuchet MS"/>
                <a:cs typeface="Trebuchet MS"/>
              </a:rPr>
              <a:t>per</a:t>
            </a:r>
            <a:r>
              <a:rPr sz="900" spc="65" dirty="0">
                <a:latin typeface="Trebuchet MS"/>
                <a:cs typeface="Trebuchet MS"/>
              </a:rPr>
              <a:t> </a:t>
            </a:r>
            <a:r>
              <a:rPr sz="900" spc="-10" dirty="0">
                <a:latin typeface="Trebuchet MS"/>
                <a:cs typeface="Trebuchet MS"/>
              </a:rPr>
              <a:t>discourse</a:t>
            </a:r>
            <a:endParaRPr sz="900">
              <a:latin typeface="Trebuchet MS"/>
              <a:cs typeface="Trebuchet MS"/>
            </a:endParaRPr>
          </a:p>
          <a:p>
            <a:pPr marL="313690" indent="-116205">
              <a:lnSpc>
                <a:spcPct val="100000"/>
              </a:lnSpc>
              <a:spcBef>
                <a:spcPts val="115"/>
              </a:spcBef>
              <a:buClr>
                <a:srgbClr val="3232B2"/>
              </a:buClr>
              <a:buSzPct val="66666"/>
              <a:buFont typeface="Lucida Sans Unicode"/>
              <a:buChar char="►"/>
              <a:tabLst>
                <a:tab pos="313690" algn="l"/>
              </a:tabLst>
            </a:pPr>
            <a:r>
              <a:rPr sz="900" dirty="0">
                <a:latin typeface="Trebuchet MS"/>
                <a:cs typeface="Trebuchet MS"/>
              </a:rPr>
              <a:t>One</a:t>
            </a:r>
            <a:r>
              <a:rPr sz="900" spc="60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sense</a:t>
            </a:r>
            <a:r>
              <a:rPr sz="900" spc="65" dirty="0">
                <a:latin typeface="Trebuchet MS"/>
                <a:cs typeface="Trebuchet MS"/>
              </a:rPr>
              <a:t> </a:t>
            </a:r>
            <a:r>
              <a:rPr sz="900" spc="-10" dirty="0">
                <a:latin typeface="Trebuchet MS"/>
                <a:cs typeface="Trebuchet MS"/>
              </a:rPr>
              <a:t>per</a:t>
            </a:r>
            <a:r>
              <a:rPr sz="900" spc="65" dirty="0">
                <a:latin typeface="Trebuchet MS"/>
                <a:cs typeface="Trebuchet MS"/>
              </a:rPr>
              <a:t> </a:t>
            </a:r>
            <a:r>
              <a:rPr sz="900" spc="-10" dirty="0">
                <a:latin typeface="Trebuchet MS"/>
                <a:cs typeface="Trebuchet MS"/>
              </a:rPr>
              <a:t>collocation</a:t>
            </a:r>
            <a:endParaRPr sz="900">
              <a:latin typeface="Trebuchet MS"/>
              <a:cs typeface="Trebuchet MS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597" y="1243037"/>
            <a:ext cx="64757" cy="64757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597" y="2065451"/>
            <a:ext cx="64757" cy="64757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1804885" y="3339672"/>
            <a:ext cx="99885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  <a:hlinkClick r:id="rId5" action="ppaction://hlinksldjump"/>
              </a:rPr>
              <a:t>Word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  <a:hlinkClick r:id="rId5" action="ppaction://hlinksldjump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5" action="ppaction://hlinksldjump"/>
              </a:rPr>
              <a:t>Sense</a:t>
            </a:r>
            <a:r>
              <a:rPr sz="600" i="1" spc="5" dirty="0">
                <a:solidFill>
                  <a:srgbClr val="FFFFFF"/>
                </a:solidFill>
                <a:latin typeface="Cambria"/>
                <a:cs typeface="Cambria"/>
                <a:hlinkClick r:id="rId5" action="ppaction://hlinksldjump"/>
              </a:rPr>
              <a:t>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  <a:hlinkClick r:id="rId5" action="ppaction://hlinksldjump"/>
              </a:rPr>
              <a:t>Disambiguation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  <a:hlinkClick r:id="rId5" action="ppaction://hlinksldjump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5" action="ppaction://hlinksldjump"/>
              </a:rPr>
              <a:t>-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  <a:hlinkClick r:id="rId5" action="ppaction://hlinksldjump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  <a:hlinkClick r:id="rId5" action="ppaction://hlinksldjump"/>
              </a:rPr>
              <a:t>II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646170" y="3339672"/>
            <a:ext cx="56388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8,</a:t>
            </a:r>
            <a:r>
              <a:rPr sz="600" i="1" spc="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4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355385" y="3339672"/>
            <a:ext cx="19875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2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10" dirty="0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</a:rPr>
              <a:t>14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F836AEA6-E3C1-4487-93C8-80FA15DF87D9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4292024" y="3339672"/>
            <a:ext cx="262254" cy="116204"/>
          </a:xfrm>
          <a:prstGeom prst="rect">
            <a:avLst/>
          </a:prstGeom>
        </p:spPr>
        <p:txBody>
          <a:bodyPr/>
          <a:lstStyle/>
          <a:p>
            <a:pPr marL="75565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lang="en-IN" smtClean="0"/>
              <a:t>110</a:t>
            </a:fld>
            <a:r>
              <a:rPr lang="en-IN" spc="-5"/>
              <a:t> </a:t>
            </a:r>
            <a:r>
              <a:rPr lang="en-IN" spc="-110"/>
              <a:t>/</a:t>
            </a:r>
            <a:r>
              <a:rPr lang="en-IN" spc="15"/>
              <a:t> </a:t>
            </a:r>
            <a:r>
              <a:rPr lang="en-IN" spc="-25"/>
              <a:t>18</a:t>
            </a:r>
            <a:endParaRPr lang="en-IN" spc="-25" dirty="0"/>
          </a:p>
        </p:txBody>
      </p:sp>
    </p:spTree>
  </p:cSld>
  <p:clrMapOvr>
    <a:masterClrMapping/>
  </p:clrMapOvr>
  <p:transition>
    <p:cut/>
  </p:transition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More</a:t>
            </a:r>
            <a:r>
              <a:rPr spc="5" dirty="0"/>
              <a:t> </a:t>
            </a:r>
            <a:r>
              <a:rPr spc="-20" dirty="0"/>
              <a:t>about</a:t>
            </a:r>
            <a:r>
              <a:rPr spc="10" dirty="0"/>
              <a:t> </a:t>
            </a:r>
            <a:r>
              <a:rPr spc="-10" dirty="0"/>
              <a:t>heuristics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7743" y="1025677"/>
            <a:ext cx="4483735" cy="600710"/>
            <a:chOff x="87743" y="1025677"/>
            <a:chExt cx="4483735" cy="600710"/>
          </a:xfrm>
        </p:grpSpPr>
        <p:sp>
          <p:nvSpPr>
            <p:cNvPr id="4" name="object 4"/>
            <p:cNvSpPr/>
            <p:nvPr/>
          </p:nvSpPr>
          <p:spPr>
            <a:xfrm>
              <a:off x="87743" y="1025677"/>
              <a:ext cx="4432935" cy="186055"/>
            </a:xfrm>
            <a:custGeom>
              <a:avLst/>
              <a:gdLst/>
              <a:ahLst/>
              <a:cxnLst/>
              <a:rect l="l" t="t" r="r" b="b"/>
              <a:pathLst>
                <a:path w="4432935" h="186055">
                  <a:moveTo>
                    <a:pt x="4381754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5674"/>
                  </a:lnTo>
                  <a:lnTo>
                    <a:pt x="4432554" y="185674"/>
                  </a:lnTo>
                  <a:lnTo>
                    <a:pt x="4432554" y="50800"/>
                  </a:lnTo>
                  <a:lnTo>
                    <a:pt x="4428545" y="31075"/>
                  </a:lnTo>
                  <a:lnTo>
                    <a:pt x="4417631" y="14922"/>
                  </a:lnTo>
                  <a:lnTo>
                    <a:pt x="4401478" y="4008"/>
                  </a:lnTo>
                  <a:lnTo>
                    <a:pt x="4381754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744" y="1198702"/>
              <a:ext cx="4432554" cy="5060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8544" y="1524266"/>
              <a:ext cx="101599" cy="1016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9344" y="1511566"/>
              <a:ext cx="4381754" cy="1143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20298" y="1069911"/>
              <a:ext cx="50800" cy="454355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87743" y="1242961"/>
              <a:ext cx="4432935" cy="332105"/>
            </a:xfrm>
            <a:custGeom>
              <a:avLst/>
              <a:gdLst/>
              <a:ahLst/>
              <a:cxnLst/>
              <a:rect l="l" t="t" r="r" b="b"/>
              <a:pathLst>
                <a:path w="4432935" h="332105">
                  <a:moveTo>
                    <a:pt x="4432554" y="0"/>
                  </a:moveTo>
                  <a:lnTo>
                    <a:pt x="0" y="0"/>
                  </a:lnTo>
                  <a:lnTo>
                    <a:pt x="0" y="281305"/>
                  </a:lnTo>
                  <a:lnTo>
                    <a:pt x="4008" y="301029"/>
                  </a:lnTo>
                  <a:lnTo>
                    <a:pt x="14922" y="317182"/>
                  </a:lnTo>
                  <a:lnTo>
                    <a:pt x="31075" y="328096"/>
                  </a:lnTo>
                  <a:lnTo>
                    <a:pt x="50800" y="332105"/>
                  </a:lnTo>
                  <a:lnTo>
                    <a:pt x="4381754" y="332105"/>
                  </a:lnTo>
                  <a:lnTo>
                    <a:pt x="4401478" y="328096"/>
                  </a:lnTo>
                  <a:lnTo>
                    <a:pt x="4417631" y="317182"/>
                  </a:lnTo>
                  <a:lnTo>
                    <a:pt x="4428545" y="301029"/>
                  </a:lnTo>
                  <a:lnTo>
                    <a:pt x="4432554" y="281305"/>
                  </a:lnTo>
                  <a:lnTo>
                    <a:pt x="4432554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520310" y="1107960"/>
              <a:ext cx="0" cy="435609"/>
            </a:xfrm>
            <a:custGeom>
              <a:avLst/>
              <a:gdLst/>
              <a:ahLst/>
              <a:cxnLst/>
              <a:rect l="l" t="t" r="r" b="b"/>
              <a:pathLst>
                <a:path h="435609">
                  <a:moveTo>
                    <a:pt x="0" y="435356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520310" y="1095311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520310" y="1082611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520310" y="1069911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81597" y="1289837"/>
              <a:ext cx="64757" cy="64757"/>
            </a:xfrm>
            <a:prstGeom prst="rect">
              <a:avLst/>
            </a:prstGeom>
          </p:spPr>
        </p:pic>
      </p:grpSp>
      <p:sp>
        <p:nvSpPr>
          <p:cNvPr id="15" name="object 15"/>
          <p:cNvSpPr txBox="1"/>
          <p:nvPr/>
        </p:nvSpPr>
        <p:spPr>
          <a:xfrm>
            <a:off x="125729" y="954219"/>
            <a:ext cx="4356735" cy="612775"/>
          </a:xfrm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0"/>
              </a:spcBef>
            </a:pPr>
            <a:r>
              <a:rPr sz="1100" i="1" dirty="0">
                <a:solidFill>
                  <a:srgbClr val="3232B2"/>
                </a:solidFill>
                <a:latin typeface="Cambria"/>
                <a:cs typeface="Cambria"/>
              </a:rPr>
              <a:t>One</a:t>
            </a:r>
            <a:r>
              <a:rPr sz="1100" i="1" spc="-10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100" i="1" dirty="0">
                <a:solidFill>
                  <a:srgbClr val="3232B2"/>
                </a:solidFill>
                <a:latin typeface="Cambria"/>
                <a:cs typeface="Cambria"/>
              </a:rPr>
              <a:t>Sense</a:t>
            </a:r>
            <a:r>
              <a:rPr sz="1100" i="1" spc="-10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100" i="1" dirty="0">
                <a:solidFill>
                  <a:srgbClr val="3232B2"/>
                </a:solidFill>
                <a:latin typeface="Cambria"/>
                <a:cs typeface="Cambria"/>
              </a:rPr>
              <a:t>per</a:t>
            </a:r>
            <a:r>
              <a:rPr sz="1100" i="1" spc="-10" dirty="0">
                <a:solidFill>
                  <a:srgbClr val="3232B2"/>
                </a:solidFill>
                <a:latin typeface="Cambria"/>
                <a:cs typeface="Cambria"/>
              </a:rPr>
              <a:t> Discourse</a:t>
            </a:r>
            <a:endParaRPr sz="1100">
              <a:latin typeface="Cambria"/>
              <a:cs typeface="Cambria"/>
            </a:endParaRPr>
          </a:p>
          <a:p>
            <a:pPr marL="289560" marR="5080">
              <a:lnSpc>
                <a:spcPct val="118900"/>
              </a:lnSpc>
              <a:spcBef>
                <a:spcPts val="185"/>
              </a:spcBef>
            </a:pPr>
            <a:r>
              <a:rPr sz="950" spc="90" dirty="0">
                <a:latin typeface="Trebuchet MS"/>
                <a:cs typeface="Trebuchet MS"/>
              </a:rPr>
              <a:t>A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word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tends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to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preserve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its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meaning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across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all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its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occurrences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in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given discourse</a:t>
            </a:r>
            <a:endParaRPr sz="950">
              <a:latin typeface="Trebuchet MS"/>
              <a:cs typeface="Trebuchet MS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804873" y="3339672"/>
            <a:ext cx="99885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  <a:hlinkClick r:id="rId7" action="ppaction://hlinksldjump"/>
              </a:rPr>
              <a:t>Word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  <a:hlinkClick r:id="rId7" action="ppaction://hlinksldjump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7" action="ppaction://hlinksldjump"/>
              </a:rPr>
              <a:t>Sense</a:t>
            </a:r>
            <a:r>
              <a:rPr sz="600" i="1" spc="5" dirty="0">
                <a:solidFill>
                  <a:srgbClr val="FFFFFF"/>
                </a:solidFill>
                <a:latin typeface="Cambria"/>
                <a:cs typeface="Cambria"/>
                <a:hlinkClick r:id="rId7" action="ppaction://hlinksldjump"/>
              </a:rPr>
              <a:t>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  <a:hlinkClick r:id="rId7" action="ppaction://hlinksldjump"/>
              </a:rPr>
              <a:t>Disambiguation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  <a:hlinkClick r:id="rId7" action="ppaction://hlinksldjump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7" action="ppaction://hlinksldjump"/>
              </a:rPr>
              <a:t>-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  <a:hlinkClick r:id="rId7" action="ppaction://hlinksldjump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  <a:hlinkClick r:id="rId7" action="ppaction://hlinksldjump"/>
              </a:rPr>
              <a:t>II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646170" y="3339672"/>
            <a:ext cx="56388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8,</a:t>
            </a:r>
            <a:r>
              <a:rPr sz="600" i="1" spc="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4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355385" y="3339672"/>
            <a:ext cx="19875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3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10" dirty="0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</a:rPr>
              <a:t>14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24" name="Slide Number Placeholder 23">
            <a:extLst>
              <a:ext uri="{FF2B5EF4-FFF2-40B4-BE49-F238E27FC236}">
                <a16:creationId xmlns:a16="http://schemas.microsoft.com/office/drawing/2014/main" id="{0AC12DF0-EE6C-4710-93B0-76113F1519CF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4292024" y="3339672"/>
            <a:ext cx="262254" cy="116204"/>
          </a:xfrm>
          <a:prstGeom prst="rect">
            <a:avLst/>
          </a:prstGeom>
        </p:spPr>
        <p:txBody>
          <a:bodyPr/>
          <a:lstStyle/>
          <a:p>
            <a:pPr marL="75565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lang="en-IN" smtClean="0"/>
              <a:t>111</a:t>
            </a:fld>
            <a:r>
              <a:rPr lang="en-IN" spc="-5"/>
              <a:t> </a:t>
            </a:r>
            <a:r>
              <a:rPr lang="en-IN" spc="-110"/>
              <a:t>/</a:t>
            </a:r>
            <a:r>
              <a:rPr lang="en-IN" spc="15"/>
              <a:t> </a:t>
            </a:r>
            <a:r>
              <a:rPr lang="en-IN" spc="-25"/>
              <a:t>18</a:t>
            </a:r>
            <a:endParaRPr lang="en-IN" spc="-25" dirty="0"/>
          </a:p>
        </p:txBody>
      </p:sp>
    </p:spTree>
  </p:cSld>
  <p:clrMapOvr>
    <a:masterClrMapping/>
  </p:clrMapOvr>
  <p:transition>
    <p:cut/>
  </p:transition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More</a:t>
            </a:r>
            <a:r>
              <a:rPr spc="5" dirty="0"/>
              <a:t> </a:t>
            </a:r>
            <a:r>
              <a:rPr spc="-20" dirty="0"/>
              <a:t>about</a:t>
            </a:r>
            <a:r>
              <a:rPr spc="10" dirty="0"/>
              <a:t> </a:t>
            </a:r>
            <a:r>
              <a:rPr spc="-10" dirty="0"/>
              <a:t>heuristics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7743" y="1025677"/>
            <a:ext cx="4483735" cy="600710"/>
            <a:chOff x="87743" y="1025677"/>
            <a:chExt cx="4483735" cy="600710"/>
          </a:xfrm>
        </p:grpSpPr>
        <p:sp>
          <p:nvSpPr>
            <p:cNvPr id="4" name="object 4"/>
            <p:cNvSpPr/>
            <p:nvPr/>
          </p:nvSpPr>
          <p:spPr>
            <a:xfrm>
              <a:off x="87743" y="1025677"/>
              <a:ext cx="4432935" cy="186055"/>
            </a:xfrm>
            <a:custGeom>
              <a:avLst/>
              <a:gdLst/>
              <a:ahLst/>
              <a:cxnLst/>
              <a:rect l="l" t="t" r="r" b="b"/>
              <a:pathLst>
                <a:path w="4432935" h="186055">
                  <a:moveTo>
                    <a:pt x="4381754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5674"/>
                  </a:lnTo>
                  <a:lnTo>
                    <a:pt x="4432554" y="185674"/>
                  </a:lnTo>
                  <a:lnTo>
                    <a:pt x="4432554" y="50800"/>
                  </a:lnTo>
                  <a:lnTo>
                    <a:pt x="4428545" y="31075"/>
                  </a:lnTo>
                  <a:lnTo>
                    <a:pt x="4417631" y="14922"/>
                  </a:lnTo>
                  <a:lnTo>
                    <a:pt x="4401478" y="4008"/>
                  </a:lnTo>
                  <a:lnTo>
                    <a:pt x="4381754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744" y="1198702"/>
              <a:ext cx="4432554" cy="5060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8544" y="1524266"/>
              <a:ext cx="101599" cy="1016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9344" y="1511566"/>
              <a:ext cx="4381754" cy="1143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20298" y="1069911"/>
              <a:ext cx="50800" cy="454355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87743" y="1242961"/>
              <a:ext cx="4432935" cy="332105"/>
            </a:xfrm>
            <a:custGeom>
              <a:avLst/>
              <a:gdLst/>
              <a:ahLst/>
              <a:cxnLst/>
              <a:rect l="l" t="t" r="r" b="b"/>
              <a:pathLst>
                <a:path w="4432935" h="332105">
                  <a:moveTo>
                    <a:pt x="4432554" y="0"/>
                  </a:moveTo>
                  <a:lnTo>
                    <a:pt x="0" y="0"/>
                  </a:lnTo>
                  <a:lnTo>
                    <a:pt x="0" y="281305"/>
                  </a:lnTo>
                  <a:lnTo>
                    <a:pt x="4008" y="301029"/>
                  </a:lnTo>
                  <a:lnTo>
                    <a:pt x="14922" y="317182"/>
                  </a:lnTo>
                  <a:lnTo>
                    <a:pt x="31075" y="328096"/>
                  </a:lnTo>
                  <a:lnTo>
                    <a:pt x="50800" y="332105"/>
                  </a:lnTo>
                  <a:lnTo>
                    <a:pt x="4381754" y="332105"/>
                  </a:lnTo>
                  <a:lnTo>
                    <a:pt x="4401478" y="328096"/>
                  </a:lnTo>
                  <a:lnTo>
                    <a:pt x="4417631" y="317182"/>
                  </a:lnTo>
                  <a:lnTo>
                    <a:pt x="4428545" y="301029"/>
                  </a:lnTo>
                  <a:lnTo>
                    <a:pt x="4432554" y="281305"/>
                  </a:lnTo>
                  <a:lnTo>
                    <a:pt x="4432554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520310" y="1107960"/>
              <a:ext cx="0" cy="435609"/>
            </a:xfrm>
            <a:custGeom>
              <a:avLst/>
              <a:gdLst/>
              <a:ahLst/>
              <a:cxnLst/>
              <a:rect l="l" t="t" r="r" b="b"/>
              <a:pathLst>
                <a:path h="435609">
                  <a:moveTo>
                    <a:pt x="0" y="435356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520310" y="1095311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520310" y="1082611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520310" y="1069911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81597" y="1289837"/>
              <a:ext cx="64757" cy="64757"/>
            </a:xfrm>
            <a:prstGeom prst="rect">
              <a:avLst/>
            </a:prstGeom>
          </p:spPr>
        </p:pic>
      </p:grpSp>
      <p:grpSp>
        <p:nvGrpSpPr>
          <p:cNvPr id="15" name="object 15"/>
          <p:cNvGrpSpPr/>
          <p:nvPr/>
        </p:nvGrpSpPr>
        <p:grpSpPr>
          <a:xfrm>
            <a:off x="87743" y="1726984"/>
            <a:ext cx="4483735" cy="757555"/>
            <a:chOff x="87743" y="1726984"/>
            <a:chExt cx="4483735" cy="757555"/>
          </a:xfrm>
        </p:grpSpPr>
        <p:sp>
          <p:nvSpPr>
            <p:cNvPr id="16" name="object 16"/>
            <p:cNvSpPr/>
            <p:nvPr/>
          </p:nvSpPr>
          <p:spPr>
            <a:xfrm>
              <a:off x="87743" y="1726984"/>
              <a:ext cx="4432935" cy="186055"/>
            </a:xfrm>
            <a:custGeom>
              <a:avLst/>
              <a:gdLst/>
              <a:ahLst/>
              <a:cxnLst/>
              <a:rect l="l" t="t" r="r" b="b"/>
              <a:pathLst>
                <a:path w="4432935" h="186055">
                  <a:moveTo>
                    <a:pt x="4381754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5674"/>
                  </a:lnTo>
                  <a:lnTo>
                    <a:pt x="4432554" y="185674"/>
                  </a:lnTo>
                  <a:lnTo>
                    <a:pt x="4432554" y="50800"/>
                  </a:lnTo>
                  <a:lnTo>
                    <a:pt x="4428545" y="31075"/>
                  </a:lnTo>
                  <a:lnTo>
                    <a:pt x="4417631" y="14922"/>
                  </a:lnTo>
                  <a:lnTo>
                    <a:pt x="4401478" y="4008"/>
                  </a:lnTo>
                  <a:lnTo>
                    <a:pt x="4381754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744" y="1900008"/>
              <a:ext cx="4432554" cy="50609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38544" y="2382329"/>
              <a:ext cx="101599" cy="101600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89344" y="2369629"/>
              <a:ext cx="4381754" cy="114300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520298" y="1771218"/>
              <a:ext cx="50800" cy="611111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87743" y="1944306"/>
              <a:ext cx="4432935" cy="488950"/>
            </a:xfrm>
            <a:custGeom>
              <a:avLst/>
              <a:gdLst/>
              <a:ahLst/>
              <a:cxnLst/>
              <a:rect l="l" t="t" r="r" b="b"/>
              <a:pathLst>
                <a:path w="4432935" h="488950">
                  <a:moveTo>
                    <a:pt x="4432554" y="0"/>
                  </a:moveTo>
                  <a:lnTo>
                    <a:pt x="0" y="0"/>
                  </a:lnTo>
                  <a:lnTo>
                    <a:pt x="0" y="438023"/>
                  </a:lnTo>
                  <a:lnTo>
                    <a:pt x="4008" y="457747"/>
                  </a:lnTo>
                  <a:lnTo>
                    <a:pt x="14922" y="473900"/>
                  </a:lnTo>
                  <a:lnTo>
                    <a:pt x="31075" y="484814"/>
                  </a:lnTo>
                  <a:lnTo>
                    <a:pt x="50800" y="488823"/>
                  </a:lnTo>
                  <a:lnTo>
                    <a:pt x="4381754" y="488823"/>
                  </a:lnTo>
                  <a:lnTo>
                    <a:pt x="4401478" y="484814"/>
                  </a:lnTo>
                  <a:lnTo>
                    <a:pt x="4417631" y="473900"/>
                  </a:lnTo>
                  <a:lnTo>
                    <a:pt x="4428545" y="457747"/>
                  </a:lnTo>
                  <a:lnTo>
                    <a:pt x="4432554" y="438023"/>
                  </a:lnTo>
                  <a:lnTo>
                    <a:pt x="4432554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4520309" y="1809305"/>
              <a:ext cx="0" cy="592455"/>
            </a:xfrm>
            <a:custGeom>
              <a:avLst/>
              <a:gdLst/>
              <a:ahLst/>
              <a:cxnLst/>
              <a:rect l="l" t="t" r="r" b="b"/>
              <a:pathLst>
                <a:path h="592455">
                  <a:moveTo>
                    <a:pt x="0" y="592074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4520309" y="1796610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520309" y="1783910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4520309" y="1771210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" name="object 26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81597" y="1991144"/>
              <a:ext cx="64757" cy="64757"/>
            </a:xfrm>
            <a:prstGeom prst="rect">
              <a:avLst/>
            </a:prstGeom>
          </p:spPr>
        </p:pic>
      </p:grpSp>
      <p:sp>
        <p:nvSpPr>
          <p:cNvPr id="27" name="object 27"/>
          <p:cNvSpPr txBox="1"/>
          <p:nvPr/>
        </p:nvSpPr>
        <p:spPr>
          <a:xfrm>
            <a:off x="113029" y="954219"/>
            <a:ext cx="4382135" cy="1468755"/>
          </a:xfrm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500"/>
              </a:spcBef>
            </a:pPr>
            <a:r>
              <a:rPr sz="1100" i="1" dirty="0">
                <a:solidFill>
                  <a:srgbClr val="3232B2"/>
                </a:solidFill>
                <a:latin typeface="Cambria"/>
                <a:cs typeface="Cambria"/>
              </a:rPr>
              <a:t>One</a:t>
            </a:r>
            <a:r>
              <a:rPr sz="1100" i="1" spc="-10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100" i="1" dirty="0">
                <a:solidFill>
                  <a:srgbClr val="3232B2"/>
                </a:solidFill>
                <a:latin typeface="Cambria"/>
                <a:cs typeface="Cambria"/>
              </a:rPr>
              <a:t>Sense</a:t>
            </a:r>
            <a:r>
              <a:rPr sz="1100" i="1" spc="-10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100" i="1" dirty="0">
                <a:solidFill>
                  <a:srgbClr val="3232B2"/>
                </a:solidFill>
                <a:latin typeface="Cambria"/>
                <a:cs typeface="Cambria"/>
              </a:rPr>
              <a:t>per</a:t>
            </a:r>
            <a:r>
              <a:rPr sz="1100" i="1" spc="-10" dirty="0">
                <a:solidFill>
                  <a:srgbClr val="3232B2"/>
                </a:solidFill>
                <a:latin typeface="Cambria"/>
                <a:cs typeface="Cambria"/>
              </a:rPr>
              <a:t> Discourse</a:t>
            </a:r>
            <a:endParaRPr sz="1100">
              <a:latin typeface="Cambria"/>
              <a:cs typeface="Cambria"/>
            </a:endParaRPr>
          </a:p>
          <a:p>
            <a:pPr marL="302260" marR="17780">
              <a:lnSpc>
                <a:spcPct val="118900"/>
              </a:lnSpc>
              <a:spcBef>
                <a:spcPts val="185"/>
              </a:spcBef>
            </a:pPr>
            <a:r>
              <a:rPr sz="950" spc="90" dirty="0">
                <a:latin typeface="Trebuchet MS"/>
                <a:cs typeface="Trebuchet MS"/>
              </a:rPr>
              <a:t>A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word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tends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to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preserve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its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meaning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across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all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its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occurrences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in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given discourse</a:t>
            </a:r>
            <a:endParaRPr sz="9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204"/>
              </a:spcBef>
            </a:pPr>
            <a:endParaRPr sz="950">
              <a:latin typeface="Trebuchet MS"/>
              <a:cs typeface="Trebuchet MS"/>
            </a:endParaRPr>
          </a:p>
          <a:p>
            <a:pPr marL="25400">
              <a:lnSpc>
                <a:spcPct val="100000"/>
              </a:lnSpc>
            </a:pPr>
            <a:r>
              <a:rPr sz="1100" i="1" dirty="0">
                <a:solidFill>
                  <a:srgbClr val="3232B2"/>
                </a:solidFill>
                <a:latin typeface="Cambria"/>
                <a:cs typeface="Cambria"/>
              </a:rPr>
              <a:t>One</a:t>
            </a:r>
            <a:r>
              <a:rPr sz="1100" i="1" spc="-10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100" i="1" dirty="0">
                <a:solidFill>
                  <a:srgbClr val="3232B2"/>
                </a:solidFill>
                <a:latin typeface="Cambria"/>
                <a:cs typeface="Cambria"/>
              </a:rPr>
              <a:t>Sense</a:t>
            </a:r>
            <a:r>
              <a:rPr sz="1100" i="1" spc="-10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100" i="1" dirty="0">
                <a:solidFill>
                  <a:srgbClr val="3232B2"/>
                </a:solidFill>
                <a:latin typeface="Cambria"/>
                <a:cs typeface="Cambria"/>
              </a:rPr>
              <a:t>per</a:t>
            </a:r>
            <a:r>
              <a:rPr sz="1100" i="1" spc="-10" dirty="0">
                <a:solidFill>
                  <a:srgbClr val="3232B2"/>
                </a:solidFill>
                <a:latin typeface="Cambria"/>
                <a:cs typeface="Cambria"/>
              </a:rPr>
              <a:t> Collocation</a:t>
            </a:r>
            <a:endParaRPr sz="1100">
              <a:latin typeface="Cambria"/>
              <a:cs typeface="Cambria"/>
            </a:endParaRPr>
          </a:p>
          <a:p>
            <a:pPr marL="302260">
              <a:lnSpc>
                <a:spcPct val="100000"/>
              </a:lnSpc>
              <a:spcBef>
                <a:spcPts val="400"/>
              </a:spcBef>
            </a:pPr>
            <a:r>
              <a:rPr sz="950" spc="90" dirty="0">
                <a:latin typeface="Trebuchet MS"/>
                <a:cs typeface="Trebuchet MS"/>
              </a:rPr>
              <a:t>A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word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tends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to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preserve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its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meaning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when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used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in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same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collocation</a:t>
            </a:r>
            <a:endParaRPr sz="950">
              <a:latin typeface="Trebuchet MS"/>
              <a:cs typeface="Trebuchet MS"/>
            </a:endParaRPr>
          </a:p>
          <a:p>
            <a:pPr marL="577850" indent="-116205">
              <a:lnSpc>
                <a:spcPct val="100000"/>
              </a:lnSpc>
              <a:spcBef>
                <a:spcPts val="305"/>
              </a:spcBef>
              <a:buClr>
                <a:srgbClr val="D6D6EF"/>
              </a:buClr>
              <a:buSzPct val="66666"/>
              <a:buFont typeface="Lucida Sans Unicode"/>
              <a:buChar char="►"/>
              <a:tabLst>
                <a:tab pos="577850" algn="l"/>
              </a:tabLst>
            </a:pPr>
            <a:r>
              <a:rPr sz="900" dirty="0">
                <a:latin typeface="Trebuchet MS"/>
                <a:cs typeface="Trebuchet MS"/>
              </a:rPr>
              <a:t>Strong</a:t>
            </a:r>
            <a:r>
              <a:rPr sz="900" spc="5" dirty="0">
                <a:latin typeface="Trebuchet MS"/>
                <a:cs typeface="Trebuchet MS"/>
              </a:rPr>
              <a:t> </a:t>
            </a:r>
            <a:r>
              <a:rPr sz="900" spc="-60" dirty="0">
                <a:latin typeface="Trebuchet MS"/>
                <a:cs typeface="Trebuchet MS"/>
              </a:rPr>
              <a:t>for</a:t>
            </a:r>
            <a:r>
              <a:rPr sz="900" spc="5" dirty="0">
                <a:latin typeface="Trebuchet MS"/>
                <a:cs typeface="Trebuchet MS"/>
              </a:rPr>
              <a:t> </a:t>
            </a:r>
            <a:r>
              <a:rPr sz="900" spc="-25" dirty="0">
                <a:latin typeface="Trebuchet MS"/>
                <a:cs typeface="Trebuchet MS"/>
              </a:rPr>
              <a:t>adjacent</a:t>
            </a:r>
            <a:r>
              <a:rPr sz="900" spc="5" dirty="0">
                <a:latin typeface="Trebuchet MS"/>
                <a:cs typeface="Trebuchet MS"/>
              </a:rPr>
              <a:t> </a:t>
            </a:r>
            <a:r>
              <a:rPr sz="900" spc="-10" dirty="0">
                <a:latin typeface="Trebuchet MS"/>
                <a:cs typeface="Trebuchet MS"/>
              </a:rPr>
              <a:t>collocations</a:t>
            </a:r>
            <a:endParaRPr sz="900">
              <a:latin typeface="Trebuchet MS"/>
              <a:cs typeface="Trebuchet MS"/>
            </a:endParaRPr>
          </a:p>
          <a:p>
            <a:pPr marL="577850" indent="-116205">
              <a:lnSpc>
                <a:spcPct val="100000"/>
              </a:lnSpc>
              <a:spcBef>
                <a:spcPts val="114"/>
              </a:spcBef>
              <a:buClr>
                <a:srgbClr val="D6D6EF"/>
              </a:buClr>
              <a:buSzPct val="66666"/>
              <a:buFont typeface="Lucida Sans Unicode"/>
              <a:buChar char="►"/>
              <a:tabLst>
                <a:tab pos="577850" algn="l"/>
              </a:tabLst>
            </a:pPr>
            <a:r>
              <a:rPr sz="900" dirty="0">
                <a:latin typeface="Trebuchet MS"/>
                <a:cs typeface="Trebuchet MS"/>
              </a:rPr>
              <a:t>Weaker</a:t>
            </a:r>
            <a:r>
              <a:rPr sz="900" spc="-25" dirty="0">
                <a:latin typeface="Trebuchet MS"/>
                <a:cs typeface="Trebuchet MS"/>
              </a:rPr>
              <a:t> </a:t>
            </a:r>
            <a:r>
              <a:rPr sz="900" spc="50" dirty="0">
                <a:latin typeface="Trebuchet MS"/>
                <a:cs typeface="Trebuchet MS"/>
              </a:rPr>
              <a:t>as</a:t>
            </a:r>
            <a:r>
              <a:rPr sz="900" spc="-25" dirty="0">
                <a:latin typeface="Trebuchet MS"/>
                <a:cs typeface="Trebuchet MS"/>
              </a:rPr>
              <a:t> the</a:t>
            </a:r>
            <a:r>
              <a:rPr sz="900" spc="-20" dirty="0">
                <a:latin typeface="Trebuchet MS"/>
                <a:cs typeface="Trebuchet MS"/>
              </a:rPr>
              <a:t> </a:t>
            </a:r>
            <a:r>
              <a:rPr sz="900" spc="-10" dirty="0">
                <a:latin typeface="Trebuchet MS"/>
                <a:cs typeface="Trebuchet MS"/>
              </a:rPr>
              <a:t>distance</a:t>
            </a:r>
            <a:r>
              <a:rPr sz="900" spc="-25" dirty="0">
                <a:latin typeface="Trebuchet MS"/>
                <a:cs typeface="Trebuchet MS"/>
              </a:rPr>
              <a:t> </a:t>
            </a:r>
            <a:r>
              <a:rPr sz="900" spc="-20" dirty="0">
                <a:latin typeface="Trebuchet MS"/>
                <a:cs typeface="Trebuchet MS"/>
              </a:rPr>
              <a:t>between</a:t>
            </a:r>
            <a:r>
              <a:rPr sz="900" spc="-25" dirty="0">
                <a:latin typeface="Trebuchet MS"/>
                <a:cs typeface="Trebuchet MS"/>
              </a:rPr>
              <a:t> the</a:t>
            </a:r>
            <a:r>
              <a:rPr sz="900" spc="-20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words</a:t>
            </a:r>
            <a:r>
              <a:rPr sz="900" spc="-25" dirty="0">
                <a:latin typeface="Trebuchet MS"/>
                <a:cs typeface="Trebuchet MS"/>
              </a:rPr>
              <a:t> </a:t>
            </a:r>
            <a:r>
              <a:rPr sz="900" spc="-10" dirty="0">
                <a:latin typeface="Trebuchet MS"/>
                <a:cs typeface="Trebuchet MS"/>
              </a:rPr>
              <a:t>increases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1804873" y="3339672"/>
            <a:ext cx="99885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  <a:hlinkClick r:id="rId11" action="ppaction://hlinksldjump"/>
              </a:rPr>
              <a:t>Word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  <a:hlinkClick r:id="rId11" action="ppaction://hlinksldjump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11" action="ppaction://hlinksldjump"/>
              </a:rPr>
              <a:t>Sense</a:t>
            </a:r>
            <a:r>
              <a:rPr sz="600" i="1" spc="5" dirty="0">
                <a:solidFill>
                  <a:srgbClr val="FFFFFF"/>
                </a:solidFill>
                <a:latin typeface="Cambria"/>
                <a:cs typeface="Cambria"/>
                <a:hlinkClick r:id="rId11" action="ppaction://hlinksldjump"/>
              </a:rPr>
              <a:t>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  <a:hlinkClick r:id="rId11" action="ppaction://hlinksldjump"/>
              </a:rPr>
              <a:t>Disambiguation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  <a:hlinkClick r:id="rId11" action="ppaction://hlinksldjump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11" action="ppaction://hlinksldjump"/>
              </a:rPr>
              <a:t>-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  <a:hlinkClick r:id="rId11" action="ppaction://hlinksldjump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  <a:hlinkClick r:id="rId11" action="ppaction://hlinksldjump"/>
              </a:rPr>
              <a:t>II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3646170" y="3339672"/>
            <a:ext cx="56388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8,</a:t>
            </a:r>
            <a:r>
              <a:rPr sz="600" i="1" spc="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4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4355385" y="3339672"/>
            <a:ext cx="19875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3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10" dirty="0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</a:rPr>
              <a:t>14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36" name="Slide Number Placeholder 35">
            <a:extLst>
              <a:ext uri="{FF2B5EF4-FFF2-40B4-BE49-F238E27FC236}">
                <a16:creationId xmlns:a16="http://schemas.microsoft.com/office/drawing/2014/main" id="{C2C88A0B-EBB4-4DA3-86DA-50E2E20EBF92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4292024" y="3339672"/>
            <a:ext cx="262254" cy="116204"/>
          </a:xfrm>
          <a:prstGeom prst="rect">
            <a:avLst/>
          </a:prstGeom>
        </p:spPr>
        <p:txBody>
          <a:bodyPr/>
          <a:lstStyle/>
          <a:p>
            <a:pPr marL="75565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lang="en-IN" smtClean="0"/>
              <a:t>112</a:t>
            </a:fld>
            <a:r>
              <a:rPr lang="en-IN" spc="-5"/>
              <a:t> </a:t>
            </a:r>
            <a:r>
              <a:rPr lang="en-IN" spc="-110"/>
              <a:t>/</a:t>
            </a:r>
            <a:r>
              <a:rPr lang="en-IN" spc="15"/>
              <a:t> </a:t>
            </a:r>
            <a:r>
              <a:rPr lang="en-IN" spc="-25"/>
              <a:t>18</a:t>
            </a:r>
            <a:endParaRPr lang="en-IN" spc="-25" dirty="0"/>
          </a:p>
        </p:txBody>
      </p:sp>
    </p:spTree>
  </p:cSld>
  <p:clrMapOvr>
    <a:masterClrMapping/>
  </p:clrMapOvr>
  <p:transition>
    <p:cut/>
  </p:transition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20" dirty="0"/>
              <a:t>Yarowsky’s</a:t>
            </a:r>
            <a:r>
              <a:rPr spc="25" dirty="0"/>
              <a:t> </a:t>
            </a:r>
            <a:r>
              <a:rPr spc="-10" dirty="0"/>
              <a:t>Method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7743" y="985431"/>
            <a:ext cx="4483735" cy="1558925"/>
            <a:chOff x="87743" y="985431"/>
            <a:chExt cx="4483735" cy="1558925"/>
          </a:xfrm>
        </p:grpSpPr>
        <p:sp>
          <p:nvSpPr>
            <p:cNvPr id="4" name="object 4"/>
            <p:cNvSpPr/>
            <p:nvPr/>
          </p:nvSpPr>
          <p:spPr>
            <a:xfrm>
              <a:off x="87743" y="985431"/>
              <a:ext cx="4432935" cy="186055"/>
            </a:xfrm>
            <a:custGeom>
              <a:avLst/>
              <a:gdLst/>
              <a:ahLst/>
              <a:cxnLst/>
              <a:rect l="l" t="t" r="r" b="b"/>
              <a:pathLst>
                <a:path w="4432935" h="186055">
                  <a:moveTo>
                    <a:pt x="4381754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5674"/>
                  </a:lnTo>
                  <a:lnTo>
                    <a:pt x="4432554" y="185674"/>
                  </a:lnTo>
                  <a:lnTo>
                    <a:pt x="4432554" y="50800"/>
                  </a:lnTo>
                  <a:lnTo>
                    <a:pt x="4428545" y="31075"/>
                  </a:lnTo>
                  <a:lnTo>
                    <a:pt x="4417631" y="14922"/>
                  </a:lnTo>
                  <a:lnTo>
                    <a:pt x="4401478" y="4008"/>
                  </a:lnTo>
                  <a:lnTo>
                    <a:pt x="4381754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744" y="1158443"/>
              <a:ext cx="4432554" cy="5060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8544" y="2442718"/>
              <a:ext cx="101599" cy="1016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9344" y="2430018"/>
              <a:ext cx="4381754" cy="1143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20298" y="1029665"/>
              <a:ext cx="50800" cy="1413052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87743" y="1202690"/>
              <a:ext cx="4432935" cy="1290955"/>
            </a:xfrm>
            <a:custGeom>
              <a:avLst/>
              <a:gdLst/>
              <a:ahLst/>
              <a:cxnLst/>
              <a:rect l="l" t="t" r="r" b="b"/>
              <a:pathLst>
                <a:path w="4432935" h="1290955">
                  <a:moveTo>
                    <a:pt x="4432554" y="0"/>
                  </a:moveTo>
                  <a:lnTo>
                    <a:pt x="0" y="0"/>
                  </a:lnTo>
                  <a:lnTo>
                    <a:pt x="0" y="1240027"/>
                  </a:lnTo>
                  <a:lnTo>
                    <a:pt x="4008" y="1259752"/>
                  </a:lnTo>
                  <a:lnTo>
                    <a:pt x="14922" y="1275905"/>
                  </a:lnTo>
                  <a:lnTo>
                    <a:pt x="31075" y="1286819"/>
                  </a:lnTo>
                  <a:lnTo>
                    <a:pt x="50800" y="1290827"/>
                  </a:lnTo>
                  <a:lnTo>
                    <a:pt x="4381754" y="1290827"/>
                  </a:lnTo>
                  <a:lnTo>
                    <a:pt x="4401478" y="1286819"/>
                  </a:lnTo>
                  <a:lnTo>
                    <a:pt x="4417631" y="1275905"/>
                  </a:lnTo>
                  <a:lnTo>
                    <a:pt x="4428545" y="1259752"/>
                  </a:lnTo>
                  <a:lnTo>
                    <a:pt x="4432554" y="1240027"/>
                  </a:lnTo>
                  <a:lnTo>
                    <a:pt x="4432554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520309" y="1067816"/>
              <a:ext cx="0" cy="1394460"/>
            </a:xfrm>
            <a:custGeom>
              <a:avLst/>
              <a:gdLst/>
              <a:ahLst/>
              <a:cxnLst/>
              <a:rect l="l" t="t" r="r" b="b"/>
              <a:pathLst>
                <a:path h="1394460">
                  <a:moveTo>
                    <a:pt x="0" y="1393952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520309" y="1055052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520309" y="1042352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520309" y="1029652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81597" y="1252448"/>
              <a:ext cx="64757" cy="64757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81597" y="1442237"/>
              <a:ext cx="64757" cy="64757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81597" y="1981238"/>
              <a:ext cx="64757" cy="64757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81597" y="2191270"/>
              <a:ext cx="64757" cy="64757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113029" y="910657"/>
            <a:ext cx="4083050" cy="1557655"/>
          </a:xfrm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525"/>
              </a:spcBef>
            </a:pPr>
            <a:r>
              <a:rPr sz="1100" i="1" spc="-10" dirty="0">
                <a:solidFill>
                  <a:srgbClr val="3232B2"/>
                </a:solidFill>
                <a:latin typeface="Cambria"/>
                <a:cs typeface="Cambria"/>
              </a:rPr>
              <a:t>Example</a:t>
            </a:r>
            <a:endParaRPr sz="1100">
              <a:latin typeface="Cambria"/>
              <a:cs typeface="Cambria"/>
            </a:endParaRPr>
          </a:p>
          <a:p>
            <a:pPr marL="302260" marR="43180">
              <a:lnSpc>
                <a:spcPct val="131000"/>
              </a:lnSpc>
              <a:spcBef>
                <a:spcPts val="70"/>
              </a:spcBef>
            </a:pPr>
            <a:r>
              <a:rPr sz="950" dirty="0">
                <a:latin typeface="Trebuchet MS"/>
                <a:cs typeface="Trebuchet MS"/>
              </a:rPr>
              <a:t>Disambiguating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plant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(industrial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sense)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vs.</a:t>
            </a:r>
            <a:r>
              <a:rPr sz="950" spc="114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plant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(living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thing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sense) </a:t>
            </a:r>
            <a:r>
              <a:rPr sz="950" dirty="0">
                <a:latin typeface="Trebuchet MS"/>
                <a:cs typeface="Trebuchet MS"/>
              </a:rPr>
              <a:t>Think</a:t>
            </a:r>
            <a:r>
              <a:rPr sz="950" spc="2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of</a:t>
            </a:r>
            <a:r>
              <a:rPr sz="950" spc="2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seed</a:t>
            </a:r>
            <a:r>
              <a:rPr sz="950" spc="2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features</a:t>
            </a:r>
            <a:r>
              <a:rPr sz="950" spc="20" dirty="0">
                <a:latin typeface="Trebuchet MS"/>
                <a:cs typeface="Trebuchet MS"/>
              </a:rPr>
              <a:t> </a:t>
            </a:r>
            <a:r>
              <a:rPr sz="950" spc="-40" dirty="0">
                <a:latin typeface="Trebuchet MS"/>
                <a:cs typeface="Trebuchet MS"/>
              </a:rPr>
              <a:t>for</a:t>
            </a:r>
            <a:r>
              <a:rPr sz="950" spc="2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each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spc="45" dirty="0">
                <a:latin typeface="Trebuchet MS"/>
                <a:cs typeface="Trebuchet MS"/>
              </a:rPr>
              <a:t>sense</a:t>
            </a:r>
            <a:endParaRPr sz="950">
              <a:latin typeface="Trebuchet MS"/>
              <a:cs typeface="Trebuchet MS"/>
            </a:endParaRPr>
          </a:p>
          <a:p>
            <a:pPr marL="577850" indent="-116205">
              <a:lnSpc>
                <a:spcPct val="100000"/>
              </a:lnSpc>
              <a:spcBef>
                <a:spcPts val="305"/>
              </a:spcBef>
              <a:buClr>
                <a:srgbClr val="D6D6EF"/>
              </a:buClr>
              <a:buSzPct val="66666"/>
              <a:buFont typeface="Lucida Sans Unicode"/>
              <a:buChar char="►"/>
              <a:tabLst>
                <a:tab pos="577850" algn="l"/>
              </a:tabLst>
            </a:pPr>
            <a:r>
              <a:rPr sz="900" spc="-20" dirty="0">
                <a:latin typeface="Trebuchet MS"/>
                <a:cs typeface="Trebuchet MS"/>
              </a:rPr>
              <a:t>Industrial</a:t>
            </a:r>
            <a:r>
              <a:rPr sz="900" spc="20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sense:</a:t>
            </a:r>
            <a:r>
              <a:rPr sz="900" spc="90" dirty="0">
                <a:latin typeface="Trebuchet MS"/>
                <a:cs typeface="Trebuchet MS"/>
              </a:rPr>
              <a:t> </a:t>
            </a:r>
            <a:r>
              <a:rPr sz="900" spc="-20" dirty="0">
                <a:latin typeface="Trebuchet MS"/>
                <a:cs typeface="Trebuchet MS"/>
              </a:rPr>
              <a:t>co-</a:t>
            </a:r>
            <a:r>
              <a:rPr sz="900" spc="-10" dirty="0">
                <a:latin typeface="Trebuchet MS"/>
                <a:cs typeface="Trebuchet MS"/>
              </a:rPr>
              <a:t>occurring</a:t>
            </a:r>
            <a:r>
              <a:rPr sz="900" spc="25" dirty="0">
                <a:latin typeface="Trebuchet MS"/>
                <a:cs typeface="Trebuchet MS"/>
              </a:rPr>
              <a:t> </a:t>
            </a:r>
            <a:r>
              <a:rPr sz="900" spc="-55" dirty="0">
                <a:latin typeface="Trebuchet MS"/>
                <a:cs typeface="Trebuchet MS"/>
              </a:rPr>
              <a:t>with</a:t>
            </a:r>
            <a:r>
              <a:rPr sz="900" spc="20" dirty="0">
                <a:latin typeface="Trebuchet MS"/>
                <a:cs typeface="Trebuchet MS"/>
              </a:rPr>
              <a:t> </a:t>
            </a:r>
            <a:r>
              <a:rPr sz="900" spc="-10" dirty="0">
                <a:latin typeface="Trebuchet MS"/>
                <a:cs typeface="Trebuchet MS"/>
              </a:rPr>
              <a:t>‘manufacturing’</a:t>
            </a:r>
            <a:endParaRPr sz="900">
              <a:latin typeface="Trebuchet MS"/>
              <a:cs typeface="Trebuchet MS"/>
            </a:endParaRPr>
          </a:p>
          <a:p>
            <a:pPr marL="577850" indent="-116205">
              <a:lnSpc>
                <a:spcPct val="100000"/>
              </a:lnSpc>
              <a:spcBef>
                <a:spcPts val="114"/>
              </a:spcBef>
              <a:buClr>
                <a:srgbClr val="D6D6EF"/>
              </a:buClr>
              <a:buSzPct val="66666"/>
              <a:buFont typeface="Lucida Sans Unicode"/>
              <a:buChar char="►"/>
              <a:tabLst>
                <a:tab pos="577850" algn="l"/>
              </a:tabLst>
            </a:pPr>
            <a:r>
              <a:rPr sz="900" dirty="0">
                <a:latin typeface="Trebuchet MS"/>
                <a:cs typeface="Trebuchet MS"/>
              </a:rPr>
              <a:t>Living</a:t>
            </a:r>
            <a:r>
              <a:rPr sz="900" spc="5" dirty="0">
                <a:latin typeface="Trebuchet MS"/>
                <a:cs typeface="Trebuchet MS"/>
              </a:rPr>
              <a:t> </a:t>
            </a:r>
            <a:r>
              <a:rPr sz="900" spc="-25" dirty="0">
                <a:latin typeface="Trebuchet MS"/>
                <a:cs typeface="Trebuchet MS"/>
              </a:rPr>
              <a:t>thing</a:t>
            </a:r>
            <a:r>
              <a:rPr sz="900" spc="5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sense:</a:t>
            </a:r>
            <a:r>
              <a:rPr sz="900" spc="70" dirty="0">
                <a:latin typeface="Trebuchet MS"/>
                <a:cs typeface="Trebuchet MS"/>
              </a:rPr>
              <a:t> </a:t>
            </a:r>
            <a:r>
              <a:rPr sz="900" spc="-20" dirty="0">
                <a:latin typeface="Trebuchet MS"/>
                <a:cs typeface="Trebuchet MS"/>
              </a:rPr>
              <a:t>co-</a:t>
            </a:r>
            <a:r>
              <a:rPr sz="900" spc="-10" dirty="0">
                <a:latin typeface="Trebuchet MS"/>
                <a:cs typeface="Trebuchet MS"/>
              </a:rPr>
              <a:t>occurring</a:t>
            </a:r>
            <a:r>
              <a:rPr sz="900" spc="5" dirty="0">
                <a:latin typeface="Trebuchet MS"/>
                <a:cs typeface="Trebuchet MS"/>
              </a:rPr>
              <a:t> </a:t>
            </a:r>
            <a:r>
              <a:rPr sz="900" spc="-55" dirty="0">
                <a:latin typeface="Trebuchet MS"/>
                <a:cs typeface="Trebuchet MS"/>
              </a:rPr>
              <a:t>with</a:t>
            </a:r>
            <a:r>
              <a:rPr sz="900" spc="10" dirty="0">
                <a:latin typeface="Trebuchet MS"/>
                <a:cs typeface="Trebuchet MS"/>
              </a:rPr>
              <a:t> </a:t>
            </a:r>
            <a:r>
              <a:rPr sz="900" spc="-10" dirty="0">
                <a:latin typeface="Trebuchet MS"/>
                <a:cs typeface="Trebuchet MS"/>
              </a:rPr>
              <a:t>‘life’</a:t>
            </a:r>
            <a:endParaRPr sz="900">
              <a:latin typeface="Trebuchet MS"/>
              <a:cs typeface="Trebuchet MS"/>
            </a:endParaRPr>
          </a:p>
          <a:p>
            <a:pPr marL="302260">
              <a:lnSpc>
                <a:spcPct val="100000"/>
              </a:lnSpc>
              <a:spcBef>
                <a:spcPts val="525"/>
              </a:spcBef>
            </a:pPr>
            <a:r>
              <a:rPr sz="950" spc="75" dirty="0">
                <a:latin typeface="Trebuchet MS"/>
                <a:cs typeface="Trebuchet MS"/>
              </a:rPr>
              <a:t>Use</a:t>
            </a:r>
            <a:r>
              <a:rPr sz="950" spc="-10" dirty="0">
                <a:latin typeface="Trebuchet MS"/>
                <a:cs typeface="Trebuchet MS"/>
              </a:rPr>
              <a:t> ‘one </a:t>
            </a:r>
            <a:r>
              <a:rPr sz="950" spc="55" dirty="0">
                <a:latin typeface="Trebuchet MS"/>
                <a:cs typeface="Trebuchet MS"/>
              </a:rPr>
              <a:t>sense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per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950" spc="-25" dirty="0">
                <a:latin typeface="Trebuchet MS"/>
                <a:cs typeface="Trebuchet MS"/>
              </a:rPr>
              <a:t>collocation’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to</a:t>
            </a:r>
            <a:r>
              <a:rPr sz="950" spc="-10" dirty="0">
                <a:latin typeface="Trebuchet MS"/>
                <a:cs typeface="Trebuchet MS"/>
              </a:rPr>
              <a:t> build </a:t>
            </a:r>
            <a:r>
              <a:rPr sz="950" spc="-40" dirty="0">
                <a:latin typeface="Trebuchet MS"/>
                <a:cs typeface="Trebuchet MS"/>
              </a:rPr>
              <a:t>initial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decision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spc="-25" dirty="0">
                <a:latin typeface="Trebuchet MS"/>
                <a:cs typeface="Trebuchet MS"/>
              </a:rPr>
              <a:t>list</a:t>
            </a:r>
            <a:r>
              <a:rPr sz="950" spc="-10" dirty="0">
                <a:latin typeface="Trebuchet MS"/>
                <a:cs typeface="Trebuchet MS"/>
              </a:rPr>
              <a:t> classifier</a:t>
            </a:r>
            <a:endParaRPr sz="950">
              <a:latin typeface="Trebuchet MS"/>
              <a:cs typeface="Trebuchet MS"/>
            </a:endParaRPr>
          </a:p>
          <a:p>
            <a:pPr marL="302260" marR="133985">
              <a:lnSpc>
                <a:spcPct val="118900"/>
              </a:lnSpc>
              <a:spcBef>
                <a:spcPts val="300"/>
              </a:spcBef>
            </a:pPr>
            <a:r>
              <a:rPr sz="950" spc="-25" dirty="0">
                <a:latin typeface="Trebuchet MS"/>
                <a:cs typeface="Trebuchet MS"/>
              </a:rPr>
              <a:t>Treat</a:t>
            </a:r>
            <a:r>
              <a:rPr sz="950" dirty="0">
                <a:latin typeface="Trebuchet MS"/>
                <a:cs typeface="Trebuchet MS"/>
              </a:rPr>
              <a:t> results (having high </a:t>
            </a:r>
            <a:r>
              <a:rPr sz="950" spc="-20" dirty="0">
                <a:latin typeface="Trebuchet MS"/>
                <a:cs typeface="Trebuchet MS"/>
              </a:rPr>
              <a:t>probability)</a:t>
            </a:r>
            <a:r>
              <a:rPr sz="950" dirty="0">
                <a:latin typeface="Trebuchet MS"/>
                <a:cs typeface="Trebuchet MS"/>
              </a:rPr>
              <a:t> </a:t>
            </a:r>
            <a:r>
              <a:rPr sz="950" spc="70" dirty="0">
                <a:latin typeface="Trebuchet MS"/>
                <a:cs typeface="Trebuchet MS"/>
              </a:rPr>
              <a:t>as</a:t>
            </a:r>
            <a:r>
              <a:rPr sz="950" dirty="0">
                <a:latin typeface="Trebuchet MS"/>
                <a:cs typeface="Trebuchet MS"/>
              </a:rPr>
              <a:t> annotated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data,</a:t>
            </a:r>
            <a:r>
              <a:rPr sz="950" dirty="0">
                <a:latin typeface="Trebuchet MS"/>
                <a:cs typeface="Trebuchet MS"/>
              </a:rPr>
              <a:t> </a:t>
            </a:r>
            <a:r>
              <a:rPr sz="950" spc="-30" dirty="0">
                <a:latin typeface="Trebuchet MS"/>
                <a:cs typeface="Trebuchet MS"/>
              </a:rPr>
              <a:t>train</a:t>
            </a:r>
            <a:r>
              <a:rPr sz="950" dirty="0">
                <a:latin typeface="Trebuchet MS"/>
                <a:cs typeface="Trebuchet MS"/>
              </a:rPr>
              <a:t> </a:t>
            </a:r>
            <a:r>
              <a:rPr sz="950" spc="-25" dirty="0">
                <a:latin typeface="Trebuchet MS"/>
                <a:cs typeface="Trebuchet MS"/>
              </a:rPr>
              <a:t>new </a:t>
            </a:r>
            <a:r>
              <a:rPr sz="950" dirty="0">
                <a:latin typeface="Trebuchet MS"/>
                <a:cs typeface="Trebuchet MS"/>
              </a:rPr>
              <a:t>decision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spc="-25" dirty="0">
                <a:latin typeface="Trebuchet MS"/>
                <a:cs typeface="Trebuchet MS"/>
              </a:rPr>
              <a:t>list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classifier,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iterate</a:t>
            </a:r>
            <a:endParaRPr sz="950">
              <a:latin typeface="Trebuchet MS"/>
              <a:cs typeface="Trebuchet MS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804873" y="3339672"/>
            <a:ext cx="99885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  <a:hlinkClick r:id="rId10" action="ppaction://hlinksldjump"/>
              </a:rPr>
              <a:t>Word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  <a:hlinkClick r:id="rId10" action="ppaction://hlinksldjump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10" action="ppaction://hlinksldjump"/>
              </a:rPr>
              <a:t>Sense</a:t>
            </a:r>
            <a:r>
              <a:rPr sz="600" i="1" spc="5" dirty="0">
                <a:solidFill>
                  <a:srgbClr val="FFFFFF"/>
                </a:solidFill>
                <a:latin typeface="Cambria"/>
                <a:cs typeface="Cambria"/>
                <a:hlinkClick r:id="rId10" action="ppaction://hlinksldjump"/>
              </a:rPr>
              <a:t>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  <a:hlinkClick r:id="rId10" action="ppaction://hlinksldjump"/>
              </a:rPr>
              <a:t>Disambiguation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  <a:hlinkClick r:id="rId10" action="ppaction://hlinksldjump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10" action="ppaction://hlinksldjump"/>
              </a:rPr>
              <a:t>-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  <a:hlinkClick r:id="rId10" action="ppaction://hlinksldjump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  <a:hlinkClick r:id="rId10" action="ppaction://hlinksldjump"/>
              </a:rPr>
              <a:t>II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646170" y="3339672"/>
            <a:ext cx="56388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8,</a:t>
            </a:r>
            <a:r>
              <a:rPr sz="600" i="1" spc="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4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26" name="object 26"/>
          <p:cNvSpPr txBox="1">
            <a:spLocks noGrp="1"/>
          </p:cNvSpPr>
          <p:nvPr>
            <p:ph type="sldNum" sz="quarter" idx="4294967295"/>
          </p:nvPr>
        </p:nvSpPr>
        <p:spPr>
          <a:xfrm>
            <a:off x="4292024" y="3339672"/>
            <a:ext cx="262254" cy="116204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75565">
              <a:lnSpc>
                <a:spcPct val="100000"/>
              </a:lnSpc>
              <a:spcBef>
                <a:spcPts val="50"/>
              </a:spcBef>
            </a:pPr>
            <a:r>
              <a:rPr dirty="0"/>
              <a:t>4</a:t>
            </a:r>
            <a:r>
              <a:rPr spc="-5" dirty="0"/>
              <a:t> </a:t>
            </a:r>
            <a:r>
              <a:rPr spc="-110" dirty="0"/>
              <a:t>/</a:t>
            </a:r>
            <a:r>
              <a:rPr spc="15" dirty="0"/>
              <a:t> </a:t>
            </a:r>
            <a:r>
              <a:rPr spc="-25" dirty="0"/>
              <a:t>14</a:t>
            </a:r>
          </a:p>
        </p:txBody>
      </p:sp>
    </p:spTree>
  </p:cSld>
  <p:clrMapOvr>
    <a:masterClrMapping/>
  </p:clrMapOvr>
  <p:transition>
    <p:cut/>
  </p:transition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38"/>
            <a:ext cx="4608195" cy="351790"/>
          </a:xfrm>
          <a:custGeom>
            <a:avLst/>
            <a:gdLst/>
            <a:ahLst/>
            <a:cxnLst/>
            <a:rect l="l" t="t" r="r" b="b"/>
            <a:pathLst>
              <a:path w="4608195" h="351790">
                <a:moveTo>
                  <a:pt x="4607941" y="0"/>
                </a:moveTo>
                <a:lnTo>
                  <a:pt x="0" y="0"/>
                </a:lnTo>
                <a:lnTo>
                  <a:pt x="0" y="351409"/>
                </a:lnTo>
                <a:lnTo>
                  <a:pt x="4607941" y="351409"/>
                </a:lnTo>
                <a:lnTo>
                  <a:pt x="4607941" y="0"/>
                </a:lnTo>
                <a:close/>
              </a:path>
            </a:pathLst>
          </a:custGeom>
          <a:solidFill>
            <a:srgbClr val="3232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5250" y="60502"/>
            <a:ext cx="218884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i="1" spc="-20" dirty="0">
                <a:solidFill>
                  <a:srgbClr val="FFFFFF"/>
                </a:solidFill>
                <a:latin typeface="Cambria"/>
                <a:cs typeface="Cambria"/>
              </a:rPr>
              <a:t>Yarowsky’s</a:t>
            </a:r>
            <a:r>
              <a:rPr sz="1400" i="1" spc="6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dirty="0">
                <a:solidFill>
                  <a:srgbClr val="FFFFFF"/>
                </a:solidFill>
                <a:latin typeface="Cambria"/>
                <a:cs typeface="Cambria"/>
              </a:rPr>
              <a:t>Method:</a:t>
            </a:r>
            <a:r>
              <a:rPr sz="1400" i="1" spc="14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spc="-10" dirty="0">
                <a:solidFill>
                  <a:srgbClr val="FFFFFF"/>
                </a:solidFill>
                <a:latin typeface="Cambria"/>
                <a:cs typeface="Cambria"/>
              </a:rPr>
              <a:t>Example</a:t>
            </a:r>
            <a:endParaRPr sz="1400">
              <a:latin typeface="Cambria"/>
              <a:cs typeface="Cambri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0888" y="615276"/>
            <a:ext cx="3756659" cy="2404110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1804873" y="3339672"/>
            <a:ext cx="99885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Word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Sense</a:t>
            </a:r>
            <a:r>
              <a:rPr sz="600" i="1" spc="5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Disambiguation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-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II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646170" y="3339672"/>
            <a:ext cx="56388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8,</a:t>
            </a:r>
            <a:r>
              <a:rPr sz="600" i="1" spc="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4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4294967295"/>
          </p:nvPr>
        </p:nvSpPr>
        <p:spPr>
          <a:xfrm>
            <a:off x="4292024" y="3339672"/>
            <a:ext cx="262254" cy="116204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75565">
              <a:lnSpc>
                <a:spcPct val="100000"/>
              </a:lnSpc>
              <a:spcBef>
                <a:spcPts val="50"/>
              </a:spcBef>
            </a:pPr>
            <a:r>
              <a:rPr dirty="0"/>
              <a:t>5</a:t>
            </a:r>
            <a:r>
              <a:rPr spc="-5" dirty="0"/>
              <a:t> </a:t>
            </a:r>
            <a:r>
              <a:rPr spc="-110" dirty="0"/>
              <a:t>/</a:t>
            </a:r>
            <a:r>
              <a:rPr spc="15" dirty="0"/>
              <a:t> </a:t>
            </a:r>
            <a:r>
              <a:rPr spc="-25" dirty="0"/>
              <a:t>14</a:t>
            </a:r>
          </a:p>
        </p:txBody>
      </p:sp>
    </p:spTree>
  </p:cSld>
  <p:clrMapOvr>
    <a:masterClrMapping/>
  </p:clrMapOvr>
  <p:transition>
    <p:cut/>
  </p:transition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38"/>
            <a:ext cx="4608195" cy="351790"/>
          </a:xfrm>
          <a:custGeom>
            <a:avLst/>
            <a:gdLst/>
            <a:ahLst/>
            <a:cxnLst/>
            <a:rect l="l" t="t" r="r" b="b"/>
            <a:pathLst>
              <a:path w="4608195" h="351790">
                <a:moveTo>
                  <a:pt x="4607941" y="0"/>
                </a:moveTo>
                <a:lnTo>
                  <a:pt x="0" y="0"/>
                </a:lnTo>
                <a:lnTo>
                  <a:pt x="0" y="351409"/>
                </a:lnTo>
                <a:lnTo>
                  <a:pt x="4607941" y="351409"/>
                </a:lnTo>
                <a:lnTo>
                  <a:pt x="4607941" y="0"/>
                </a:lnTo>
                <a:close/>
              </a:path>
            </a:pathLst>
          </a:custGeom>
          <a:solidFill>
            <a:srgbClr val="3232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5250" y="60502"/>
            <a:ext cx="218884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i="1" spc="-20" dirty="0">
                <a:solidFill>
                  <a:srgbClr val="FFFFFF"/>
                </a:solidFill>
                <a:latin typeface="Cambria"/>
                <a:cs typeface="Cambria"/>
              </a:rPr>
              <a:t>Yarowsky’s</a:t>
            </a:r>
            <a:r>
              <a:rPr sz="1400" i="1" spc="6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dirty="0">
                <a:solidFill>
                  <a:srgbClr val="FFFFFF"/>
                </a:solidFill>
                <a:latin typeface="Cambria"/>
                <a:cs typeface="Cambria"/>
              </a:rPr>
              <a:t>Method:</a:t>
            </a:r>
            <a:r>
              <a:rPr sz="1400" i="1" spc="14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spc="-10" dirty="0">
                <a:solidFill>
                  <a:srgbClr val="FFFFFF"/>
                </a:solidFill>
                <a:latin typeface="Cambria"/>
                <a:cs typeface="Cambria"/>
              </a:rPr>
              <a:t>Example</a:t>
            </a:r>
            <a:endParaRPr sz="1400">
              <a:latin typeface="Cambria"/>
              <a:cs typeface="Cambri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07643" y="562572"/>
            <a:ext cx="2426969" cy="2548890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1804873" y="3339672"/>
            <a:ext cx="99885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Word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Sense</a:t>
            </a:r>
            <a:r>
              <a:rPr sz="600" i="1" spc="5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Disambiguation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-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II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646170" y="3339672"/>
            <a:ext cx="56388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8,</a:t>
            </a:r>
            <a:r>
              <a:rPr sz="600" i="1" spc="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4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4294967295"/>
          </p:nvPr>
        </p:nvSpPr>
        <p:spPr>
          <a:xfrm>
            <a:off x="4292024" y="3339672"/>
            <a:ext cx="262254" cy="116204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75565">
              <a:lnSpc>
                <a:spcPct val="100000"/>
              </a:lnSpc>
              <a:spcBef>
                <a:spcPts val="50"/>
              </a:spcBef>
            </a:pPr>
            <a:r>
              <a:rPr dirty="0"/>
              <a:t>6</a:t>
            </a:r>
            <a:r>
              <a:rPr spc="-5" dirty="0"/>
              <a:t> </a:t>
            </a:r>
            <a:r>
              <a:rPr spc="-110" dirty="0"/>
              <a:t>/</a:t>
            </a:r>
            <a:r>
              <a:rPr spc="15" dirty="0"/>
              <a:t> </a:t>
            </a:r>
            <a:r>
              <a:rPr spc="-25" dirty="0"/>
              <a:t>14</a:t>
            </a:r>
          </a:p>
        </p:txBody>
      </p:sp>
    </p:spTree>
  </p:cSld>
  <p:clrMapOvr>
    <a:masterClrMapping/>
  </p:clrMapOvr>
  <p:transition>
    <p:cut/>
  </p:transition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38"/>
            <a:ext cx="4608195" cy="351790"/>
          </a:xfrm>
          <a:custGeom>
            <a:avLst/>
            <a:gdLst/>
            <a:ahLst/>
            <a:cxnLst/>
            <a:rect l="l" t="t" r="r" b="b"/>
            <a:pathLst>
              <a:path w="4608195" h="351790">
                <a:moveTo>
                  <a:pt x="4607941" y="0"/>
                </a:moveTo>
                <a:lnTo>
                  <a:pt x="0" y="0"/>
                </a:lnTo>
                <a:lnTo>
                  <a:pt x="0" y="351409"/>
                </a:lnTo>
                <a:lnTo>
                  <a:pt x="4607941" y="351409"/>
                </a:lnTo>
                <a:lnTo>
                  <a:pt x="4607941" y="0"/>
                </a:lnTo>
                <a:close/>
              </a:path>
            </a:pathLst>
          </a:custGeom>
          <a:solidFill>
            <a:srgbClr val="3232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5250" y="60502"/>
            <a:ext cx="218884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i="1" spc="-20" dirty="0">
                <a:solidFill>
                  <a:srgbClr val="FFFFFF"/>
                </a:solidFill>
                <a:latin typeface="Cambria"/>
                <a:cs typeface="Cambria"/>
              </a:rPr>
              <a:t>Yarowsky’s</a:t>
            </a:r>
            <a:r>
              <a:rPr sz="1400" i="1" spc="6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dirty="0">
                <a:solidFill>
                  <a:srgbClr val="FFFFFF"/>
                </a:solidFill>
                <a:latin typeface="Cambria"/>
                <a:cs typeface="Cambria"/>
              </a:rPr>
              <a:t>Method:</a:t>
            </a:r>
            <a:r>
              <a:rPr sz="1400" i="1" spc="14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spc="-10" dirty="0">
                <a:solidFill>
                  <a:srgbClr val="FFFFFF"/>
                </a:solidFill>
                <a:latin typeface="Cambria"/>
                <a:cs typeface="Cambria"/>
              </a:rPr>
              <a:t>Example</a:t>
            </a:r>
            <a:endParaRPr sz="1400">
              <a:latin typeface="Cambria"/>
              <a:cs typeface="Cambri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96213" y="554951"/>
            <a:ext cx="2457449" cy="2583180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0" y="3347161"/>
            <a:ext cx="4608195" cy="109220"/>
            <a:chOff x="0" y="3347161"/>
            <a:chExt cx="4608195" cy="109220"/>
          </a:xfrm>
        </p:grpSpPr>
        <p:sp>
          <p:nvSpPr>
            <p:cNvPr id="6" name="object 6"/>
            <p:cNvSpPr/>
            <p:nvPr/>
          </p:nvSpPr>
          <p:spPr>
            <a:xfrm>
              <a:off x="0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5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535976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071952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3232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1804873" y="3339672"/>
            <a:ext cx="99885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Word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Sense</a:t>
            </a:r>
            <a:r>
              <a:rPr sz="600" i="1" spc="5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Disambiguation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-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II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646170" y="3339672"/>
            <a:ext cx="56388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8,</a:t>
            </a:r>
            <a:r>
              <a:rPr sz="600" i="1" spc="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4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4294967295"/>
          </p:nvPr>
        </p:nvSpPr>
        <p:spPr>
          <a:xfrm>
            <a:off x="4292024" y="3339672"/>
            <a:ext cx="262254" cy="116204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75565">
              <a:lnSpc>
                <a:spcPct val="100000"/>
              </a:lnSpc>
              <a:spcBef>
                <a:spcPts val="50"/>
              </a:spcBef>
            </a:pPr>
            <a:r>
              <a:rPr dirty="0"/>
              <a:t>7</a:t>
            </a:r>
            <a:r>
              <a:rPr spc="-5" dirty="0"/>
              <a:t> </a:t>
            </a:r>
            <a:r>
              <a:rPr spc="-110" dirty="0"/>
              <a:t>/</a:t>
            </a:r>
            <a:r>
              <a:rPr spc="15" dirty="0"/>
              <a:t> </a:t>
            </a:r>
            <a:r>
              <a:rPr spc="-25" dirty="0"/>
              <a:t>14</a:t>
            </a:r>
          </a:p>
        </p:txBody>
      </p:sp>
    </p:spTree>
  </p:cSld>
  <p:clrMapOvr>
    <a:masterClrMapping/>
  </p:clrMapOvr>
  <p:transition>
    <p:cut/>
  </p:transition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38"/>
            <a:ext cx="4608195" cy="351790"/>
          </a:xfrm>
          <a:custGeom>
            <a:avLst/>
            <a:gdLst/>
            <a:ahLst/>
            <a:cxnLst/>
            <a:rect l="l" t="t" r="r" b="b"/>
            <a:pathLst>
              <a:path w="4608195" h="351790">
                <a:moveTo>
                  <a:pt x="4607941" y="0"/>
                </a:moveTo>
                <a:lnTo>
                  <a:pt x="0" y="0"/>
                </a:lnTo>
                <a:lnTo>
                  <a:pt x="0" y="351409"/>
                </a:lnTo>
                <a:lnTo>
                  <a:pt x="4607941" y="351409"/>
                </a:lnTo>
                <a:lnTo>
                  <a:pt x="4607941" y="0"/>
                </a:lnTo>
                <a:close/>
              </a:path>
            </a:pathLst>
          </a:custGeom>
          <a:solidFill>
            <a:srgbClr val="3232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5250" y="60502"/>
            <a:ext cx="218884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i="1" spc="-20" dirty="0">
                <a:solidFill>
                  <a:srgbClr val="FFFFFF"/>
                </a:solidFill>
                <a:latin typeface="Cambria"/>
                <a:cs typeface="Cambria"/>
              </a:rPr>
              <a:t>Yarowsky’s</a:t>
            </a:r>
            <a:r>
              <a:rPr sz="1400" i="1" spc="6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dirty="0">
                <a:solidFill>
                  <a:srgbClr val="FFFFFF"/>
                </a:solidFill>
                <a:latin typeface="Cambria"/>
                <a:cs typeface="Cambria"/>
              </a:rPr>
              <a:t>Method:</a:t>
            </a:r>
            <a:r>
              <a:rPr sz="1400" i="1" spc="14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spc="-10" dirty="0">
                <a:solidFill>
                  <a:srgbClr val="FFFFFF"/>
                </a:solidFill>
                <a:latin typeface="Cambria"/>
                <a:cs typeface="Cambria"/>
              </a:rPr>
              <a:t>Example</a:t>
            </a:r>
            <a:endParaRPr sz="1400">
              <a:latin typeface="Cambria"/>
              <a:cs typeface="Cambri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07643" y="554951"/>
            <a:ext cx="2419350" cy="2586990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1804873" y="3339672"/>
            <a:ext cx="99885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Word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Sense</a:t>
            </a:r>
            <a:r>
              <a:rPr sz="600" i="1" spc="5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Disambiguation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-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II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646170" y="3339672"/>
            <a:ext cx="56388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8,</a:t>
            </a:r>
            <a:r>
              <a:rPr sz="600" i="1" spc="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4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4294967295"/>
          </p:nvPr>
        </p:nvSpPr>
        <p:spPr>
          <a:xfrm>
            <a:off x="4292024" y="3339672"/>
            <a:ext cx="262254" cy="116204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75565">
              <a:lnSpc>
                <a:spcPct val="100000"/>
              </a:lnSpc>
              <a:spcBef>
                <a:spcPts val="50"/>
              </a:spcBef>
            </a:pPr>
            <a:r>
              <a:rPr dirty="0"/>
              <a:t>8</a:t>
            </a:r>
            <a:r>
              <a:rPr spc="-5" dirty="0"/>
              <a:t> </a:t>
            </a:r>
            <a:r>
              <a:rPr spc="-110" dirty="0"/>
              <a:t>/</a:t>
            </a:r>
            <a:r>
              <a:rPr spc="15" dirty="0"/>
              <a:t> </a:t>
            </a:r>
            <a:r>
              <a:rPr spc="-25" dirty="0"/>
              <a:t>14</a:t>
            </a:r>
          </a:p>
        </p:txBody>
      </p:sp>
    </p:spTree>
  </p:cSld>
  <p:clrMapOvr>
    <a:masterClrMapping/>
  </p:clrMapOvr>
  <p:transition>
    <p:cut/>
  </p:transition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20" dirty="0"/>
              <a:t>Yarowsky’s</a:t>
            </a:r>
            <a:r>
              <a:rPr spc="25" dirty="0"/>
              <a:t> </a:t>
            </a:r>
            <a:r>
              <a:rPr spc="-10" dirty="0"/>
              <a:t>Method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7743" y="919937"/>
            <a:ext cx="4483735" cy="957580"/>
            <a:chOff x="87743" y="919937"/>
            <a:chExt cx="4483735" cy="957580"/>
          </a:xfrm>
        </p:grpSpPr>
        <p:sp>
          <p:nvSpPr>
            <p:cNvPr id="4" name="object 4"/>
            <p:cNvSpPr/>
            <p:nvPr/>
          </p:nvSpPr>
          <p:spPr>
            <a:xfrm>
              <a:off x="87743" y="919937"/>
              <a:ext cx="4432935" cy="172085"/>
            </a:xfrm>
            <a:custGeom>
              <a:avLst/>
              <a:gdLst/>
              <a:ahLst/>
              <a:cxnLst/>
              <a:rect l="l" t="t" r="r" b="b"/>
              <a:pathLst>
                <a:path w="4432935" h="172084">
                  <a:moveTo>
                    <a:pt x="4381754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71577"/>
                  </a:lnTo>
                  <a:lnTo>
                    <a:pt x="4432554" y="171577"/>
                  </a:lnTo>
                  <a:lnTo>
                    <a:pt x="4432554" y="50800"/>
                  </a:lnTo>
                  <a:lnTo>
                    <a:pt x="4428545" y="31075"/>
                  </a:lnTo>
                  <a:lnTo>
                    <a:pt x="4417631" y="14922"/>
                  </a:lnTo>
                  <a:lnTo>
                    <a:pt x="4401478" y="4008"/>
                  </a:lnTo>
                  <a:lnTo>
                    <a:pt x="4381754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744" y="1078890"/>
              <a:ext cx="4432554" cy="5060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8544" y="1775371"/>
              <a:ext cx="101599" cy="1016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9344" y="1762671"/>
              <a:ext cx="4381754" cy="1143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20298" y="964171"/>
              <a:ext cx="50800" cy="811199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87743" y="1123226"/>
              <a:ext cx="4432935" cy="702945"/>
            </a:xfrm>
            <a:custGeom>
              <a:avLst/>
              <a:gdLst/>
              <a:ahLst/>
              <a:cxnLst/>
              <a:rect l="l" t="t" r="r" b="b"/>
              <a:pathLst>
                <a:path w="4432935" h="702944">
                  <a:moveTo>
                    <a:pt x="4432554" y="0"/>
                  </a:moveTo>
                  <a:lnTo>
                    <a:pt x="0" y="0"/>
                  </a:lnTo>
                  <a:lnTo>
                    <a:pt x="0" y="652144"/>
                  </a:lnTo>
                  <a:lnTo>
                    <a:pt x="4008" y="671869"/>
                  </a:lnTo>
                  <a:lnTo>
                    <a:pt x="14922" y="688022"/>
                  </a:lnTo>
                  <a:lnTo>
                    <a:pt x="31075" y="698936"/>
                  </a:lnTo>
                  <a:lnTo>
                    <a:pt x="50800" y="702944"/>
                  </a:lnTo>
                  <a:lnTo>
                    <a:pt x="4381754" y="702944"/>
                  </a:lnTo>
                  <a:lnTo>
                    <a:pt x="4401478" y="698936"/>
                  </a:lnTo>
                  <a:lnTo>
                    <a:pt x="4417631" y="688022"/>
                  </a:lnTo>
                  <a:lnTo>
                    <a:pt x="4428545" y="671869"/>
                  </a:lnTo>
                  <a:lnTo>
                    <a:pt x="4432554" y="652144"/>
                  </a:lnTo>
                  <a:lnTo>
                    <a:pt x="4432554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520310" y="1002322"/>
              <a:ext cx="0" cy="792480"/>
            </a:xfrm>
            <a:custGeom>
              <a:avLst/>
              <a:gdLst/>
              <a:ahLst/>
              <a:cxnLst/>
              <a:rect l="l" t="t" r="r" b="b"/>
              <a:pathLst>
                <a:path h="792480">
                  <a:moveTo>
                    <a:pt x="0" y="79209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520310" y="989571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520310" y="976871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520310" y="964171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81597" y="1172908"/>
              <a:ext cx="64757" cy="64757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81597" y="1711896"/>
              <a:ext cx="64757" cy="64757"/>
            </a:xfrm>
            <a:prstGeom prst="rect">
              <a:avLst/>
            </a:prstGeom>
          </p:spPr>
        </p:pic>
      </p:grpSp>
      <p:grpSp>
        <p:nvGrpSpPr>
          <p:cNvPr id="16" name="object 16"/>
          <p:cNvGrpSpPr/>
          <p:nvPr/>
        </p:nvGrpSpPr>
        <p:grpSpPr>
          <a:xfrm>
            <a:off x="87743" y="1978101"/>
            <a:ext cx="4483735" cy="664845"/>
            <a:chOff x="87743" y="1978101"/>
            <a:chExt cx="4483735" cy="664845"/>
          </a:xfrm>
        </p:grpSpPr>
        <p:sp>
          <p:nvSpPr>
            <p:cNvPr id="17" name="object 17"/>
            <p:cNvSpPr/>
            <p:nvPr/>
          </p:nvSpPr>
          <p:spPr>
            <a:xfrm>
              <a:off x="87743" y="1978101"/>
              <a:ext cx="4432935" cy="186055"/>
            </a:xfrm>
            <a:custGeom>
              <a:avLst/>
              <a:gdLst/>
              <a:ahLst/>
              <a:cxnLst/>
              <a:rect l="l" t="t" r="r" b="b"/>
              <a:pathLst>
                <a:path w="4432935" h="186055">
                  <a:moveTo>
                    <a:pt x="4381754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5674"/>
                  </a:lnTo>
                  <a:lnTo>
                    <a:pt x="4432554" y="185674"/>
                  </a:lnTo>
                  <a:lnTo>
                    <a:pt x="4432554" y="50800"/>
                  </a:lnTo>
                  <a:lnTo>
                    <a:pt x="4428545" y="31075"/>
                  </a:lnTo>
                  <a:lnTo>
                    <a:pt x="4417631" y="14922"/>
                  </a:lnTo>
                  <a:lnTo>
                    <a:pt x="4401478" y="4008"/>
                  </a:lnTo>
                  <a:lnTo>
                    <a:pt x="4381754" y="0"/>
                  </a:lnTo>
                  <a:close/>
                </a:path>
              </a:pathLst>
            </a:custGeom>
            <a:solidFill>
              <a:srgbClr val="FF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7744" y="2151113"/>
              <a:ext cx="4432554" cy="50609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38544" y="2540939"/>
              <a:ext cx="101599" cy="101600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89344" y="2528239"/>
              <a:ext cx="4381754" cy="114300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520298" y="2022335"/>
              <a:ext cx="50800" cy="518604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87743" y="2195372"/>
              <a:ext cx="4432935" cy="396875"/>
            </a:xfrm>
            <a:custGeom>
              <a:avLst/>
              <a:gdLst/>
              <a:ahLst/>
              <a:cxnLst/>
              <a:rect l="l" t="t" r="r" b="b"/>
              <a:pathLst>
                <a:path w="4432935" h="396875">
                  <a:moveTo>
                    <a:pt x="4432554" y="0"/>
                  </a:moveTo>
                  <a:lnTo>
                    <a:pt x="0" y="0"/>
                  </a:lnTo>
                  <a:lnTo>
                    <a:pt x="0" y="345566"/>
                  </a:lnTo>
                  <a:lnTo>
                    <a:pt x="4008" y="365291"/>
                  </a:lnTo>
                  <a:lnTo>
                    <a:pt x="14922" y="381444"/>
                  </a:lnTo>
                  <a:lnTo>
                    <a:pt x="31075" y="392358"/>
                  </a:lnTo>
                  <a:lnTo>
                    <a:pt x="50800" y="396366"/>
                  </a:lnTo>
                  <a:lnTo>
                    <a:pt x="4381754" y="396366"/>
                  </a:lnTo>
                  <a:lnTo>
                    <a:pt x="4401478" y="392358"/>
                  </a:lnTo>
                  <a:lnTo>
                    <a:pt x="4417631" y="381444"/>
                  </a:lnTo>
                  <a:lnTo>
                    <a:pt x="4428545" y="365291"/>
                  </a:lnTo>
                  <a:lnTo>
                    <a:pt x="4432554" y="345566"/>
                  </a:lnTo>
                  <a:lnTo>
                    <a:pt x="4432554" y="0"/>
                  </a:lnTo>
                  <a:close/>
                </a:path>
              </a:pathLst>
            </a:custGeom>
            <a:solidFill>
              <a:srgbClr val="FFE5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4520309" y="2060371"/>
              <a:ext cx="0" cy="499745"/>
            </a:xfrm>
            <a:custGeom>
              <a:avLst/>
              <a:gdLst/>
              <a:ahLst/>
              <a:cxnLst/>
              <a:rect l="l" t="t" r="r" b="b"/>
              <a:pathLst>
                <a:path h="499744">
                  <a:moveTo>
                    <a:pt x="0" y="499617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520309" y="2047721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4520309" y="2035021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4520309" y="2022321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" name="object 27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81597" y="2242261"/>
              <a:ext cx="64757" cy="64757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281597" y="2452293"/>
              <a:ext cx="64757" cy="64757"/>
            </a:xfrm>
            <a:prstGeom prst="rect">
              <a:avLst/>
            </a:prstGeom>
          </p:spPr>
        </p:pic>
      </p:grpSp>
      <p:sp>
        <p:nvSpPr>
          <p:cNvPr id="29" name="object 29"/>
          <p:cNvSpPr txBox="1"/>
          <p:nvPr/>
        </p:nvSpPr>
        <p:spPr>
          <a:xfrm>
            <a:off x="87630" y="850991"/>
            <a:ext cx="3275965" cy="1706245"/>
          </a:xfrm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445"/>
              </a:spcBef>
            </a:pPr>
            <a:r>
              <a:rPr sz="1100" i="1" spc="-10" dirty="0">
                <a:solidFill>
                  <a:srgbClr val="3232B2"/>
                </a:solidFill>
                <a:latin typeface="Cambria"/>
                <a:cs typeface="Cambria"/>
              </a:rPr>
              <a:t>Termination</a:t>
            </a:r>
            <a:endParaRPr sz="1100">
              <a:latin typeface="Cambria"/>
              <a:cs typeface="Cambria"/>
            </a:endParaRPr>
          </a:p>
          <a:p>
            <a:pPr marL="327660">
              <a:lnSpc>
                <a:spcPct val="100000"/>
              </a:lnSpc>
              <a:spcBef>
                <a:spcPts val="350"/>
              </a:spcBef>
            </a:pPr>
            <a:r>
              <a:rPr sz="950" dirty="0">
                <a:latin typeface="Trebuchet MS"/>
                <a:cs typeface="Trebuchet MS"/>
              </a:rPr>
              <a:t>Stop</a:t>
            </a:r>
            <a:r>
              <a:rPr sz="950" spc="114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when</a:t>
            </a:r>
            <a:endParaRPr sz="950">
              <a:latin typeface="Trebuchet MS"/>
              <a:cs typeface="Trebuchet MS"/>
            </a:endParaRPr>
          </a:p>
          <a:p>
            <a:pPr marL="603250" indent="-116205">
              <a:lnSpc>
                <a:spcPct val="100000"/>
              </a:lnSpc>
              <a:spcBef>
                <a:spcPts val="305"/>
              </a:spcBef>
              <a:buClr>
                <a:srgbClr val="D6D6EF"/>
              </a:buClr>
              <a:buSzPct val="66666"/>
              <a:buFont typeface="Lucida Sans Unicode"/>
              <a:buChar char="►"/>
              <a:tabLst>
                <a:tab pos="603250" algn="l"/>
              </a:tabLst>
            </a:pPr>
            <a:r>
              <a:rPr sz="900" dirty="0">
                <a:latin typeface="Trebuchet MS"/>
                <a:cs typeface="Trebuchet MS"/>
              </a:rPr>
              <a:t>Error</a:t>
            </a:r>
            <a:r>
              <a:rPr sz="900" spc="-15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on</a:t>
            </a:r>
            <a:r>
              <a:rPr sz="900" spc="-15" dirty="0">
                <a:latin typeface="Trebuchet MS"/>
                <a:cs typeface="Trebuchet MS"/>
              </a:rPr>
              <a:t> </a:t>
            </a:r>
            <a:r>
              <a:rPr sz="900" spc="-30" dirty="0">
                <a:latin typeface="Trebuchet MS"/>
                <a:cs typeface="Trebuchet MS"/>
              </a:rPr>
              <a:t>training</a:t>
            </a:r>
            <a:r>
              <a:rPr sz="900" spc="-15" dirty="0">
                <a:latin typeface="Trebuchet MS"/>
                <a:cs typeface="Trebuchet MS"/>
              </a:rPr>
              <a:t> </a:t>
            </a:r>
            <a:r>
              <a:rPr sz="900" spc="-10" dirty="0">
                <a:latin typeface="Trebuchet MS"/>
                <a:cs typeface="Trebuchet MS"/>
              </a:rPr>
              <a:t>data</a:t>
            </a:r>
            <a:r>
              <a:rPr sz="900" spc="-15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is</a:t>
            </a:r>
            <a:r>
              <a:rPr sz="900" spc="-15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less</a:t>
            </a:r>
            <a:r>
              <a:rPr sz="900" spc="-15" dirty="0">
                <a:latin typeface="Trebuchet MS"/>
                <a:cs typeface="Trebuchet MS"/>
              </a:rPr>
              <a:t> </a:t>
            </a:r>
            <a:r>
              <a:rPr sz="900" spc="-10" dirty="0">
                <a:latin typeface="Trebuchet MS"/>
                <a:cs typeface="Trebuchet MS"/>
              </a:rPr>
              <a:t>than</a:t>
            </a:r>
            <a:r>
              <a:rPr sz="900" spc="-15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a</a:t>
            </a:r>
            <a:r>
              <a:rPr sz="900" spc="-15" dirty="0">
                <a:latin typeface="Trebuchet MS"/>
                <a:cs typeface="Trebuchet MS"/>
              </a:rPr>
              <a:t> </a:t>
            </a:r>
            <a:r>
              <a:rPr sz="900" spc="-10" dirty="0">
                <a:latin typeface="Trebuchet MS"/>
                <a:cs typeface="Trebuchet MS"/>
              </a:rPr>
              <a:t>threshold</a:t>
            </a:r>
            <a:endParaRPr sz="900">
              <a:latin typeface="Trebuchet MS"/>
              <a:cs typeface="Trebuchet MS"/>
            </a:endParaRPr>
          </a:p>
          <a:p>
            <a:pPr marL="603250" indent="-116205">
              <a:lnSpc>
                <a:spcPct val="100000"/>
              </a:lnSpc>
              <a:spcBef>
                <a:spcPts val="115"/>
              </a:spcBef>
              <a:buClr>
                <a:srgbClr val="D6D6EF"/>
              </a:buClr>
              <a:buSzPct val="66666"/>
              <a:buFont typeface="Lucida Sans Unicode"/>
              <a:buChar char="►"/>
              <a:tabLst>
                <a:tab pos="603250" algn="l"/>
              </a:tabLst>
            </a:pPr>
            <a:r>
              <a:rPr sz="900" dirty="0">
                <a:latin typeface="Trebuchet MS"/>
                <a:cs typeface="Trebuchet MS"/>
              </a:rPr>
              <a:t>No</a:t>
            </a:r>
            <a:r>
              <a:rPr sz="900" spc="-20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more</a:t>
            </a:r>
            <a:r>
              <a:rPr sz="900" spc="-20" dirty="0">
                <a:latin typeface="Trebuchet MS"/>
                <a:cs typeface="Trebuchet MS"/>
              </a:rPr>
              <a:t> </a:t>
            </a:r>
            <a:r>
              <a:rPr sz="900" spc="-30" dirty="0">
                <a:latin typeface="Trebuchet MS"/>
                <a:cs typeface="Trebuchet MS"/>
              </a:rPr>
              <a:t>training</a:t>
            </a:r>
            <a:r>
              <a:rPr sz="900" spc="-20" dirty="0">
                <a:latin typeface="Trebuchet MS"/>
                <a:cs typeface="Trebuchet MS"/>
              </a:rPr>
              <a:t> </a:t>
            </a:r>
            <a:r>
              <a:rPr sz="900" spc="-10" dirty="0">
                <a:latin typeface="Trebuchet MS"/>
                <a:cs typeface="Trebuchet MS"/>
              </a:rPr>
              <a:t>data</a:t>
            </a:r>
            <a:r>
              <a:rPr sz="900" spc="-20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is</a:t>
            </a:r>
            <a:r>
              <a:rPr sz="900" spc="-20" dirty="0">
                <a:latin typeface="Trebuchet MS"/>
                <a:cs typeface="Trebuchet MS"/>
              </a:rPr>
              <a:t> </a:t>
            </a:r>
            <a:r>
              <a:rPr sz="900" spc="-10" dirty="0">
                <a:latin typeface="Trebuchet MS"/>
                <a:cs typeface="Trebuchet MS"/>
              </a:rPr>
              <a:t>covered</a:t>
            </a:r>
            <a:endParaRPr sz="900">
              <a:latin typeface="Trebuchet MS"/>
              <a:cs typeface="Trebuchet MS"/>
            </a:endParaRPr>
          </a:p>
          <a:p>
            <a:pPr marL="327660">
              <a:lnSpc>
                <a:spcPct val="100000"/>
              </a:lnSpc>
              <a:spcBef>
                <a:spcPts val="520"/>
              </a:spcBef>
            </a:pPr>
            <a:r>
              <a:rPr sz="950" spc="75" dirty="0">
                <a:latin typeface="Trebuchet MS"/>
                <a:cs typeface="Trebuchet MS"/>
              </a:rPr>
              <a:t>Use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spc="-25" dirty="0">
                <a:latin typeface="Trebuchet MS"/>
                <a:cs typeface="Trebuchet MS"/>
              </a:rPr>
              <a:t>final</a:t>
            </a:r>
            <a:r>
              <a:rPr sz="950" dirty="0">
                <a:latin typeface="Trebuchet MS"/>
                <a:cs typeface="Trebuchet MS"/>
              </a:rPr>
              <a:t> decision </a:t>
            </a:r>
            <a:r>
              <a:rPr sz="950" spc="-25" dirty="0">
                <a:latin typeface="Trebuchet MS"/>
                <a:cs typeface="Trebuchet MS"/>
              </a:rPr>
              <a:t>list</a:t>
            </a:r>
            <a:r>
              <a:rPr sz="950" dirty="0">
                <a:latin typeface="Trebuchet MS"/>
                <a:cs typeface="Trebuchet MS"/>
              </a:rPr>
              <a:t> </a:t>
            </a:r>
            <a:r>
              <a:rPr sz="950" spc="-40" dirty="0">
                <a:latin typeface="Trebuchet MS"/>
                <a:cs typeface="Trebuchet MS"/>
              </a:rPr>
              <a:t>for</a:t>
            </a:r>
            <a:r>
              <a:rPr sz="950" dirty="0">
                <a:latin typeface="Trebuchet MS"/>
                <a:cs typeface="Trebuchet MS"/>
              </a:rPr>
              <a:t> </a:t>
            </a:r>
            <a:r>
              <a:rPr sz="950" spc="110" dirty="0">
                <a:latin typeface="Trebuchet MS"/>
                <a:cs typeface="Trebuchet MS"/>
              </a:rPr>
              <a:t>WSD</a:t>
            </a:r>
            <a:endParaRPr sz="9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215"/>
              </a:spcBef>
            </a:pPr>
            <a:endParaRPr sz="950">
              <a:latin typeface="Trebuchet MS"/>
              <a:cs typeface="Trebuchet MS"/>
            </a:endParaRPr>
          </a:p>
          <a:p>
            <a:pPr marL="50800">
              <a:lnSpc>
                <a:spcPct val="100000"/>
              </a:lnSpc>
            </a:pPr>
            <a:r>
              <a:rPr sz="1100" i="1" spc="-10" dirty="0">
                <a:solidFill>
                  <a:srgbClr val="FF0000"/>
                </a:solidFill>
                <a:latin typeface="Cambria"/>
                <a:cs typeface="Cambria"/>
              </a:rPr>
              <a:t>Advantages</a:t>
            </a:r>
            <a:endParaRPr sz="1100">
              <a:latin typeface="Cambria"/>
              <a:cs typeface="Cambria"/>
            </a:endParaRPr>
          </a:p>
          <a:p>
            <a:pPr marL="327660" marR="17780">
              <a:lnSpc>
                <a:spcPts val="1650"/>
              </a:lnSpc>
            </a:pPr>
            <a:r>
              <a:rPr sz="950" dirty="0">
                <a:latin typeface="Trebuchet MS"/>
                <a:cs typeface="Trebuchet MS"/>
              </a:rPr>
              <a:t>Accuracy</a:t>
            </a:r>
            <a:r>
              <a:rPr sz="950" spc="6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is</a:t>
            </a:r>
            <a:r>
              <a:rPr sz="950" spc="6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about</a:t>
            </a:r>
            <a:r>
              <a:rPr sz="950" spc="65" dirty="0">
                <a:latin typeface="Trebuchet MS"/>
                <a:cs typeface="Trebuchet MS"/>
              </a:rPr>
              <a:t> </a:t>
            </a:r>
            <a:r>
              <a:rPr sz="950" spc="70" dirty="0">
                <a:latin typeface="Trebuchet MS"/>
                <a:cs typeface="Trebuchet MS"/>
              </a:rPr>
              <a:t>as </a:t>
            </a:r>
            <a:r>
              <a:rPr sz="950" dirty="0">
                <a:latin typeface="Trebuchet MS"/>
                <a:cs typeface="Trebuchet MS"/>
              </a:rPr>
              <a:t>good</a:t>
            </a:r>
            <a:r>
              <a:rPr sz="950" spc="65" dirty="0">
                <a:latin typeface="Trebuchet MS"/>
                <a:cs typeface="Trebuchet MS"/>
              </a:rPr>
              <a:t> </a:t>
            </a:r>
            <a:r>
              <a:rPr sz="950" spc="70" dirty="0">
                <a:latin typeface="Trebuchet MS"/>
                <a:cs typeface="Trebuchet MS"/>
              </a:rPr>
              <a:t>as</a:t>
            </a:r>
            <a:r>
              <a:rPr sz="950" spc="6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</a:t>
            </a:r>
            <a:r>
              <a:rPr sz="950" spc="7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supervised</a:t>
            </a:r>
            <a:r>
              <a:rPr sz="950" spc="6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algorithm </a:t>
            </a:r>
            <a:r>
              <a:rPr sz="950" dirty="0">
                <a:latin typeface="Trebuchet MS"/>
                <a:cs typeface="Trebuchet MS"/>
              </a:rPr>
              <a:t>Bootstrapping:</a:t>
            </a:r>
            <a:r>
              <a:rPr sz="950" spc="135" dirty="0">
                <a:latin typeface="Trebuchet MS"/>
                <a:cs typeface="Trebuchet MS"/>
              </a:rPr>
              <a:t> </a:t>
            </a:r>
            <a:r>
              <a:rPr sz="950" spc="-40" dirty="0">
                <a:latin typeface="Trebuchet MS"/>
                <a:cs typeface="Trebuchet MS"/>
              </a:rPr>
              <a:t>far</a:t>
            </a:r>
            <a:r>
              <a:rPr sz="950" spc="6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less</a:t>
            </a:r>
            <a:r>
              <a:rPr sz="950" spc="5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manual</a:t>
            </a:r>
            <a:r>
              <a:rPr sz="950" spc="6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effort</a:t>
            </a:r>
            <a:endParaRPr sz="950">
              <a:latin typeface="Trebuchet MS"/>
              <a:cs typeface="Trebuchet MS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1804873" y="3339672"/>
            <a:ext cx="99885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  <a:hlinkClick r:id="rId14" action="ppaction://hlinksldjump"/>
              </a:rPr>
              <a:t>Word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  <a:hlinkClick r:id="rId14" action="ppaction://hlinksldjump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14" action="ppaction://hlinksldjump"/>
              </a:rPr>
              <a:t>Sense</a:t>
            </a:r>
            <a:r>
              <a:rPr sz="600" i="1" spc="5" dirty="0">
                <a:solidFill>
                  <a:srgbClr val="FFFFFF"/>
                </a:solidFill>
                <a:latin typeface="Cambria"/>
                <a:cs typeface="Cambria"/>
                <a:hlinkClick r:id="rId14" action="ppaction://hlinksldjump"/>
              </a:rPr>
              <a:t>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  <a:hlinkClick r:id="rId14" action="ppaction://hlinksldjump"/>
              </a:rPr>
              <a:t>Disambiguation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  <a:hlinkClick r:id="rId14" action="ppaction://hlinksldjump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14" action="ppaction://hlinksldjump"/>
              </a:rPr>
              <a:t>-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  <a:hlinkClick r:id="rId14" action="ppaction://hlinksldjump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  <a:hlinkClick r:id="rId14" action="ppaction://hlinksldjump"/>
              </a:rPr>
              <a:t>II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3646170" y="3339672"/>
            <a:ext cx="56388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8,</a:t>
            </a:r>
            <a:r>
              <a:rPr sz="600" i="1" spc="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4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37" name="object 37"/>
          <p:cNvSpPr txBox="1">
            <a:spLocks noGrp="1"/>
          </p:cNvSpPr>
          <p:nvPr>
            <p:ph type="sldNum" sz="quarter" idx="4294967295"/>
          </p:nvPr>
        </p:nvSpPr>
        <p:spPr>
          <a:xfrm>
            <a:off x="4292024" y="3339672"/>
            <a:ext cx="262254" cy="116204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75565">
              <a:lnSpc>
                <a:spcPct val="100000"/>
              </a:lnSpc>
              <a:spcBef>
                <a:spcPts val="50"/>
              </a:spcBef>
            </a:pPr>
            <a:r>
              <a:rPr dirty="0"/>
              <a:t>9</a:t>
            </a:r>
            <a:r>
              <a:rPr spc="-5" dirty="0"/>
              <a:t> </a:t>
            </a:r>
            <a:r>
              <a:rPr spc="-110" dirty="0"/>
              <a:t>/</a:t>
            </a:r>
            <a:r>
              <a:rPr spc="15" dirty="0"/>
              <a:t> </a:t>
            </a:r>
            <a:r>
              <a:rPr spc="-25" dirty="0"/>
              <a:t>14</a:t>
            </a:r>
          </a:p>
        </p:txBody>
      </p:sp>
    </p:spTree>
  </p:cSld>
  <p:clrMapOvr>
    <a:masterClrMapping/>
  </p:clrMapOvr>
  <p:transition>
    <p:cut/>
  </p:transition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HyperLex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7743" y="560082"/>
            <a:ext cx="4483735" cy="985519"/>
            <a:chOff x="87743" y="560082"/>
            <a:chExt cx="4483735" cy="985519"/>
          </a:xfrm>
        </p:grpSpPr>
        <p:sp>
          <p:nvSpPr>
            <p:cNvPr id="4" name="object 4"/>
            <p:cNvSpPr/>
            <p:nvPr/>
          </p:nvSpPr>
          <p:spPr>
            <a:xfrm>
              <a:off x="87743" y="560082"/>
              <a:ext cx="4432935" cy="186055"/>
            </a:xfrm>
            <a:custGeom>
              <a:avLst/>
              <a:gdLst/>
              <a:ahLst/>
              <a:cxnLst/>
              <a:rect l="l" t="t" r="r" b="b"/>
              <a:pathLst>
                <a:path w="4432935" h="186054">
                  <a:moveTo>
                    <a:pt x="4381754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5674"/>
                  </a:lnTo>
                  <a:lnTo>
                    <a:pt x="4432554" y="185674"/>
                  </a:lnTo>
                  <a:lnTo>
                    <a:pt x="4432554" y="50800"/>
                  </a:lnTo>
                  <a:lnTo>
                    <a:pt x="4428545" y="31075"/>
                  </a:lnTo>
                  <a:lnTo>
                    <a:pt x="4417631" y="14922"/>
                  </a:lnTo>
                  <a:lnTo>
                    <a:pt x="4401478" y="4008"/>
                  </a:lnTo>
                  <a:lnTo>
                    <a:pt x="4381754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744" y="733094"/>
              <a:ext cx="4432554" cy="5060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8544" y="1443634"/>
              <a:ext cx="101599" cy="1016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9344" y="1430934"/>
              <a:ext cx="4381754" cy="1143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20298" y="604316"/>
              <a:ext cx="50800" cy="839317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87743" y="777392"/>
              <a:ext cx="4432935" cy="717550"/>
            </a:xfrm>
            <a:custGeom>
              <a:avLst/>
              <a:gdLst/>
              <a:ahLst/>
              <a:cxnLst/>
              <a:rect l="l" t="t" r="r" b="b"/>
              <a:pathLst>
                <a:path w="4432935" h="717550">
                  <a:moveTo>
                    <a:pt x="4432554" y="0"/>
                  </a:moveTo>
                  <a:lnTo>
                    <a:pt x="0" y="0"/>
                  </a:lnTo>
                  <a:lnTo>
                    <a:pt x="0" y="666242"/>
                  </a:lnTo>
                  <a:lnTo>
                    <a:pt x="4008" y="685966"/>
                  </a:lnTo>
                  <a:lnTo>
                    <a:pt x="14922" y="702119"/>
                  </a:lnTo>
                  <a:lnTo>
                    <a:pt x="31075" y="713033"/>
                  </a:lnTo>
                  <a:lnTo>
                    <a:pt x="50800" y="717042"/>
                  </a:lnTo>
                  <a:lnTo>
                    <a:pt x="4381754" y="717042"/>
                  </a:lnTo>
                  <a:lnTo>
                    <a:pt x="4401478" y="713033"/>
                  </a:lnTo>
                  <a:lnTo>
                    <a:pt x="4417631" y="702119"/>
                  </a:lnTo>
                  <a:lnTo>
                    <a:pt x="4428545" y="685966"/>
                  </a:lnTo>
                  <a:lnTo>
                    <a:pt x="4432554" y="666242"/>
                  </a:lnTo>
                  <a:lnTo>
                    <a:pt x="4432554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520310" y="642391"/>
              <a:ext cx="0" cy="820419"/>
            </a:xfrm>
            <a:custGeom>
              <a:avLst/>
              <a:gdLst/>
              <a:ahLst/>
              <a:cxnLst/>
              <a:rect l="l" t="t" r="r" b="b"/>
              <a:pathLst>
                <a:path h="820419">
                  <a:moveTo>
                    <a:pt x="0" y="820293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520310" y="629704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520310" y="617004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520310" y="604304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81597" y="827112"/>
              <a:ext cx="64757" cy="64757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81597" y="1209217"/>
              <a:ext cx="64757" cy="64757"/>
            </a:xfrm>
            <a:prstGeom prst="rect">
              <a:avLst/>
            </a:prstGeom>
          </p:spPr>
        </p:pic>
      </p:grpSp>
      <p:sp>
        <p:nvSpPr>
          <p:cNvPr id="16" name="object 16"/>
          <p:cNvSpPr txBox="1"/>
          <p:nvPr/>
        </p:nvSpPr>
        <p:spPr>
          <a:xfrm>
            <a:off x="125729" y="485421"/>
            <a:ext cx="4321175" cy="1001394"/>
          </a:xfrm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sz="1100" i="1" dirty="0">
                <a:solidFill>
                  <a:srgbClr val="3232B2"/>
                </a:solidFill>
                <a:latin typeface="Cambria"/>
                <a:cs typeface="Cambria"/>
              </a:rPr>
              <a:t>Key</a:t>
            </a:r>
            <a:r>
              <a:rPr sz="1100" i="1" spc="-25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100" i="1" dirty="0">
                <a:solidFill>
                  <a:srgbClr val="3232B2"/>
                </a:solidFill>
                <a:latin typeface="Cambria"/>
                <a:cs typeface="Cambria"/>
              </a:rPr>
              <a:t>Idea:</a:t>
            </a:r>
            <a:r>
              <a:rPr sz="1100" i="1" spc="50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100" i="1" spc="-75" dirty="0">
                <a:solidFill>
                  <a:srgbClr val="3232B2"/>
                </a:solidFill>
                <a:latin typeface="Cambria"/>
                <a:cs typeface="Cambria"/>
              </a:rPr>
              <a:t>Word</a:t>
            </a:r>
            <a:r>
              <a:rPr sz="1100" i="1" spc="15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100" i="1" dirty="0">
                <a:solidFill>
                  <a:srgbClr val="3232B2"/>
                </a:solidFill>
                <a:latin typeface="Cambria"/>
                <a:cs typeface="Cambria"/>
              </a:rPr>
              <a:t>Sense </a:t>
            </a:r>
            <a:r>
              <a:rPr sz="1100" i="1" spc="-10" dirty="0">
                <a:solidFill>
                  <a:srgbClr val="3232B2"/>
                </a:solidFill>
                <a:latin typeface="Cambria"/>
                <a:cs typeface="Cambria"/>
              </a:rPr>
              <a:t>Induction</a:t>
            </a:r>
            <a:endParaRPr sz="1100">
              <a:latin typeface="Cambria"/>
              <a:cs typeface="Cambria"/>
            </a:endParaRPr>
          </a:p>
          <a:p>
            <a:pPr marL="289560" marR="5080">
              <a:lnSpc>
                <a:spcPct val="118800"/>
              </a:lnSpc>
              <a:spcBef>
                <a:spcPts val="210"/>
              </a:spcBef>
            </a:pPr>
            <a:r>
              <a:rPr sz="950" dirty="0">
                <a:latin typeface="Trebuchet MS"/>
                <a:cs typeface="Trebuchet MS"/>
              </a:rPr>
              <a:t>Instead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of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using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spc="-25" dirty="0">
                <a:latin typeface="Trebuchet MS"/>
                <a:cs typeface="Trebuchet MS"/>
              </a:rPr>
              <a:t>“dictionary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defined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senses”,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spc="-25" dirty="0">
                <a:latin typeface="Trebuchet MS"/>
                <a:cs typeface="Trebuchet MS"/>
              </a:rPr>
              <a:t>extract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“senses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from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spc="-25" dirty="0">
                <a:latin typeface="Trebuchet MS"/>
                <a:cs typeface="Trebuchet MS"/>
              </a:rPr>
              <a:t>the </a:t>
            </a:r>
            <a:r>
              <a:rPr sz="950" dirty="0">
                <a:latin typeface="Trebuchet MS"/>
                <a:cs typeface="Trebuchet MS"/>
              </a:rPr>
              <a:t>corpus”</a:t>
            </a:r>
            <a:r>
              <a:rPr sz="950" spc="-3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itself</a:t>
            </a:r>
            <a:endParaRPr sz="950">
              <a:latin typeface="Trebuchet MS"/>
              <a:cs typeface="Trebuchet MS"/>
            </a:endParaRPr>
          </a:p>
          <a:p>
            <a:pPr marL="289560" marR="429895">
              <a:lnSpc>
                <a:spcPct val="118900"/>
              </a:lnSpc>
              <a:spcBef>
                <a:spcPts val="300"/>
              </a:spcBef>
            </a:pPr>
            <a:r>
              <a:rPr sz="950" dirty="0">
                <a:latin typeface="Trebuchet MS"/>
                <a:cs typeface="Trebuchet MS"/>
              </a:rPr>
              <a:t>These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“corpus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senses”</a:t>
            </a:r>
            <a:r>
              <a:rPr sz="950" spc="4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or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“uses”</a:t>
            </a:r>
            <a:r>
              <a:rPr sz="950" spc="4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correspond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to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clusters</a:t>
            </a:r>
            <a:r>
              <a:rPr sz="950" spc="4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of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similar </a:t>
            </a:r>
            <a:r>
              <a:rPr sz="950" dirty="0">
                <a:latin typeface="Trebuchet MS"/>
                <a:cs typeface="Trebuchet MS"/>
              </a:rPr>
              <a:t>contexts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950" spc="-40" dirty="0">
                <a:latin typeface="Trebuchet MS"/>
                <a:cs typeface="Trebuchet MS"/>
              </a:rPr>
              <a:t>for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</a:t>
            </a:r>
            <a:r>
              <a:rPr sz="950" spc="-10" dirty="0">
                <a:latin typeface="Trebuchet MS"/>
                <a:cs typeface="Trebuchet MS"/>
              </a:rPr>
              <a:t> word.</a:t>
            </a:r>
            <a:endParaRPr sz="950">
              <a:latin typeface="Trebuchet MS"/>
              <a:cs typeface="Trebuchet MS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804873" y="3339672"/>
            <a:ext cx="99885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  <a:hlinkClick r:id="rId8" action="ppaction://hlinksldjump"/>
              </a:rPr>
              <a:t>Word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  <a:hlinkClick r:id="rId8" action="ppaction://hlinksldjump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8" action="ppaction://hlinksldjump"/>
              </a:rPr>
              <a:t>Sense</a:t>
            </a:r>
            <a:r>
              <a:rPr sz="600" i="1" spc="5" dirty="0">
                <a:solidFill>
                  <a:srgbClr val="FFFFFF"/>
                </a:solidFill>
                <a:latin typeface="Cambria"/>
                <a:cs typeface="Cambria"/>
                <a:hlinkClick r:id="rId8" action="ppaction://hlinksldjump"/>
              </a:rPr>
              <a:t>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  <a:hlinkClick r:id="rId8" action="ppaction://hlinksldjump"/>
              </a:rPr>
              <a:t>Disambiguation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  <a:hlinkClick r:id="rId8" action="ppaction://hlinksldjump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8" action="ppaction://hlinksldjump"/>
              </a:rPr>
              <a:t>-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  <a:hlinkClick r:id="rId8" action="ppaction://hlinksldjump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  <a:hlinkClick r:id="rId8" action="ppaction://hlinksldjump"/>
              </a:rPr>
              <a:t>II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608260" y="3339672"/>
            <a:ext cx="56388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8,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4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317424" y="3339672"/>
            <a:ext cx="236854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10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10" dirty="0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</a:rPr>
              <a:t>14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25" name="Slide Number Placeholder 24">
            <a:extLst>
              <a:ext uri="{FF2B5EF4-FFF2-40B4-BE49-F238E27FC236}">
                <a16:creationId xmlns:a16="http://schemas.microsoft.com/office/drawing/2014/main" id="{3398212F-9FC8-4922-8C6E-54C6F2E6314B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4292024" y="3339672"/>
            <a:ext cx="262254" cy="116204"/>
          </a:xfrm>
          <a:prstGeom prst="rect">
            <a:avLst/>
          </a:prstGeom>
        </p:spPr>
        <p:txBody>
          <a:bodyPr/>
          <a:lstStyle/>
          <a:p>
            <a:pPr marL="75565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lang="en-IN" smtClean="0"/>
              <a:t>119</a:t>
            </a:fld>
            <a:r>
              <a:rPr lang="en-IN" spc="-5"/>
              <a:t> </a:t>
            </a:r>
            <a:r>
              <a:rPr lang="en-IN" spc="-110"/>
              <a:t>/</a:t>
            </a:r>
            <a:r>
              <a:rPr lang="en-IN" spc="15"/>
              <a:t> </a:t>
            </a:r>
            <a:r>
              <a:rPr lang="en-IN" spc="-25"/>
              <a:t>18</a:t>
            </a:r>
            <a:endParaRPr lang="en-IN" spc="-25" dirty="0"/>
          </a:p>
        </p:txBody>
      </p:sp>
    </p:spTree>
  </p:cSld>
  <p:clrMapOvr>
    <a:masterClrMapping/>
  </p:clrMapOvr>
  <p:transition>
    <p:cut/>
  </p:transition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HyperLex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7743" y="560082"/>
            <a:ext cx="4483735" cy="985519"/>
            <a:chOff x="87743" y="560082"/>
            <a:chExt cx="4483735" cy="985519"/>
          </a:xfrm>
        </p:grpSpPr>
        <p:sp>
          <p:nvSpPr>
            <p:cNvPr id="4" name="object 4"/>
            <p:cNvSpPr/>
            <p:nvPr/>
          </p:nvSpPr>
          <p:spPr>
            <a:xfrm>
              <a:off x="87743" y="560082"/>
              <a:ext cx="4432935" cy="186055"/>
            </a:xfrm>
            <a:custGeom>
              <a:avLst/>
              <a:gdLst/>
              <a:ahLst/>
              <a:cxnLst/>
              <a:rect l="l" t="t" r="r" b="b"/>
              <a:pathLst>
                <a:path w="4432935" h="186054">
                  <a:moveTo>
                    <a:pt x="4381754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5674"/>
                  </a:lnTo>
                  <a:lnTo>
                    <a:pt x="4432554" y="185674"/>
                  </a:lnTo>
                  <a:lnTo>
                    <a:pt x="4432554" y="50800"/>
                  </a:lnTo>
                  <a:lnTo>
                    <a:pt x="4428545" y="31075"/>
                  </a:lnTo>
                  <a:lnTo>
                    <a:pt x="4417631" y="14922"/>
                  </a:lnTo>
                  <a:lnTo>
                    <a:pt x="4401478" y="4008"/>
                  </a:lnTo>
                  <a:lnTo>
                    <a:pt x="4381754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744" y="733094"/>
              <a:ext cx="4432554" cy="5060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8544" y="1443634"/>
              <a:ext cx="101599" cy="1016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9344" y="1430934"/>
              <a:ext cx="4381754" cy="1143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20298" y="604316"/>
              <a:ext cx="50800" cy="839317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87743" y="777392"/>
              <a:ext cx="4432935" cy="717550"/>
            </a:xfrm>
            <a:custGeom>
              <a:avLst/>
              <a:gdLst/>
              <a:ahLst/>
              <a:cxnLst/>
              <a:rect l="l" t="t" r="r" b="b"/>
              <a:pathLst>
                <a:path w="4432935" h="717550">
                  <a:moveTo>
                    <a:pt x="4432554" y="0"/>
                  </a:moveTo>
                  <a:lnTo>
                    <a:pt x="0" y="0"/>
                  </a:lnTo>
                  <a:lnTo>
                    <a:pt x="0" y="666242"/>
                  </a:lnTo>
                  <a:lnTo>
                    <a:pt x="4008" y="685966"/>
                  </a:lnTo>
                  <a:lnTo>
                    <a:pt x="14922" y="702119"/>
                  </a:lnTo>
                  <a:lnTo>
                    <a:pt x="31075" y="713033"/>
                  </a:lnTo>
                  <a:lnTo>
                    <a:pt x="50800" y="717042"/>
                  </a:lnTo>
                  <a:lnTo>
                    <a:pt x="4381754" y="717042"/>
                  </a:lnTo>
                  <a:lnTo>
                    <a:pt x="4401478" y="713033"/>
                  </a:lnTo>
                  <a:lnTo>
                    <a:pt x="4417631" y="702119"/>
                  </a:lnTo>
                  <a:lnTo>
                    <a:pt x="4428545" y="685966"/>
                  </a:lnTo>
                  <a:lnTo>
                    <a:pt x="4432554" y="666242"/>
                  </a:lnTo>
                  <a:lnTo>
                    <a:pt x="4432554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520310" y="642391"/>
              <a:ext cx="0" cy="820419"/>
            </a:xfrm>
            <a:custGeom>
              <a:avLst/>
              <a:gdLst/>
              <a:ahLst/>
              <a:cxnLst/>
              <a:rect l="l" t="t" r="r" b="b"/>
              <a:pathLst>
                <a:path h="820419">
                  <a:moveTo>
                    <a:pt x="0" y="820293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520310" y="629704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520310" y="617004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520310" y="604304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81597" y="827112"/>
              <a:ext cx="64757" cy="64757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81597" y="1209217"/>
              <a:ext cx="64757" cy="64757"/>
            </a:xfrm>
            <a:prstGeom prst="rect">
              <a:avLst/>
            </a:prstGeom>
          </p:spPr>
        </p:pic>
      </p:grpSp>
      <p:sp>
        <p:nvSpPr>
          <p:cNvPr id="16" name="object 16"/>
          <p:cNvSpPr txBox="1"/>
          <p:nvPr/>
        </p:nvSpPr>
        <p:spPr>
          <a:xfrm>
            <a:off x="125729" y="485421"/>
            <a:ext cx="4321175" cy="1001394"/>
          </a:xfrm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sz="1100" i="1" dirty="0">
                <a:solidFill>
                  <a:srgbClr val="3232B2"/>
                </a:solidFill>
                <a:latin typeface="Cambria"/>
                <a:cs typeface="Cambria"/>
              </a:rPr>
              <a:t>Key</a:t>
            </a:r>
            <a:r>
              <a:rPr sz="1100" i="1" spc="-25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100" i="1" dirty="0">
                <a:solidFill>
                  <a:srgbClr val="3232B2"/>
                </a:solidFill>
                <a:latin typeface="Cambria"/>
                <a:cs typeface="Cambria"/>
              </a:rPr>
              <a:t>Idea:</a:t>
            </a:r>
            <a:r>
              <a:rPr sz="1100" i="1" spc="50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100" i="1" spc="-75" dirty="0">
                <a:solidFill>
                  <a:srgbClr val="3232B2"/>
                </a:solidFill>
                <a:latin typeface="Cambria"/>
                <a:cs typeface="Cambria"/>
              </a:rPr>
              <a:t>Word</a:t>
            </a:r>
            <a:r>
              <a:rPr sz="1100" i="1" spc="15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100" i="1" dirty="0">
                <a:solidFill>
                  <a:srgbClr val="3232B2"/>
                </a:solidFill>
                <a:latin typeface="Cambria"/>
                <a:cs typeface="Cambria"/>
              </a:rPr>
              <a:t>Sense </a:t>
            </a:r>
            <a:r>
              <a:rPr sz="1100" i="1" spc="-10" dirty="0">
                <a:solidFill>
                  <a:srgbClr val="3232B2"/>
                </a:solidFill>
                <a:latin typeface="Cambria"/>
                <a:cs typeface="Cambria"/>
              </a:rPr>
              <a:t>Induction</a:t>
            </a:r>
            <a:endParaRPr sz="1100">
              <a:latin typeface="Cambria"/>
              <a:cs typeface="Cambria"/>
            </a:endParaRPr>
          </a:p>
          <a:p>
            <a:pPr marL="289560" marR="5080">
              <a:lnSpc>
                <a:spcPct val="118800"/>
              </a:lnSpc>
              <a:spcBef>
                <a:spcPts val="210"/>
              </a:spcBef>
            </a:pPr>
            <a:r>
              <a:rPr sz="950" dirty="0">
                <a:latin typeface="Trebuchet MS"/>
                <a:cs typeface="Trebuchet MS"/>
              </a:rPr>
              <a:t>Instead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of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using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spc="-25" dirty="0">
                <a:latin typeface="Trebuchet MS"/>
                <a:cs typeface="Trebuchet MS"/>
              </a:rPr>
              <a:t>“dictionary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defined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senses”,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spc="-25" dirty="0">
                <a:latin typeface="Trebuchet MS"/>
                <a:cs typeface="Trebuchet MS"/>
              </a:rPr>
              <a:t>extract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“senses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from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spc="-25" dirty="0">
                <a:latin typeface="Trebuchet MS"/>
                <a:cs typeface="Trebuchet MS"/>
              </a:rPr>
              <a:t>the </a:t>
            </a:r>
            <a:r>
              <a:rPr sz="950" dirty="0">
                <a:latin typeface="Trebuchet MS"/>
                <a:cs typeface="Trebuchet MS"/>
              </a:rPr>
              <a:t>corpus”</a:t>
            </a:r>
            <a:r>
              <a:rPr sz="950" spc="-3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itself</a:t>
            </a:r>
            <a:endParaRPr sz="950">
              <a:latin typeface="Trebuchet MS"/>
              <a:cs typeface="Trebuchet MS"/>
            </a:endParaRPr>
          </a:p>
          <a:p>
            <a:pPr marL="289560" marR="429895">
              <a:lnSpc>
                <a:spcPct val="118900"/>
              </a:lnSpc>
              <a:spcBef>
                <a:spcPts val="300"/>
              </a:spcBef>
            </a:pPr>
            <a:r>
              <a:rPr sz="950" dirty="0">
                <a:latin typeface="Trebuchet MS"/>
                <a:cs typeface="Trebuchet MS"/>
              </a:rPr>
              <a:t>These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“corpus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senses”</a:t>
            </a:r>
            <a:r>
              <a:rPr sz="950" spc="4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or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“uses”</a:t>
            </a:r>
            <a:r>
              <a:rPr sz="950" spc="4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correspond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to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clusters</a:t>
            </a:r>
            <a:r>
              <a:rPr sz="950" spc="4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of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similar </a:t>
            </a:r>
            <a:r>
              <a:rPr sz="950" dirty="0">
                <a:latin typeface="Trebuchet MS"/>
                <a:cs typeface="Trebuchet MS"/>
              </a:rPr>
              <a:t>contexts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950" spc="-40" dirty="0">
                <a:latin typeface="Trebuchet MS"/>
                <a:cs typeface="Trebuchet MS"/>
              </a:rPr>
              <a:t>for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</a:t>
            </a:r>
            <a:r>
              <a:rPr sz="950" spc="-10" dirty="0">
                <a:latin typeface="Trebuchet MS"/>
                <a:cs typeface="Trebuchet MS"/>
              </a:rPr>
              <a:t> word.</a:t>
            </a:r>
            <a:endParaRPr sz="950">
              <a:latin typeface="Trebuchet MS"/>
              <a:cs typeface="Trebuchet MS"/>
            </a:endParaRPr>
          </a:p>
        </p:txBody>
      </p:sp>
      <p:pic>
        <p:nvPicPr>
          <p:cNvPr id="17" name="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843521" y="1709559"/>
            <a:ext cx="2921000" cy="1320799"/>
          </a:xfrm>
          <a:prstGeom prst="rect">
            <a:avLst/>
          </a:prstGeom>
        </p:spPr>
      </p:pic>
      <p:sp>
        <p:nvSpPr>
          <p:cNvPr id="23" name="object 23"/>
          <p:cNvSpPr txBox="1"/>
          <p:nvPr/>
        </p:nvSpPr>
        <p:spPr>
          <a:xfrm>
            <a:off x="1804873" y="3339672"/>
            <a:ext cx="99885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  <a:hlinkClick r:id="rId9" action="ppaction://hlinksldjump"/>
              </a:rPr>
              <a:t>Word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  <a:hlinkClick r:id="rId9" action="ppaction://hlinksldjump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9" action="ppaction://hlinksldjump"/>
              </a:rPr>
              <a:t>Sense</a:t>
            </a:r>
            <a:r>
              <a:rPr sz="600" i="1" spc="5" dirty="0">
                <a:solidFill>
                  <a:srgbClr val="FFFFFF"/>
                </a:solidFill>
                <a:latin typeface="Cambria"/>
                <a:cs typeface="Cambria"/>
                <a:hlinkClick r:id="rId9" action="ppaction://hlinksldjump"/>
              </a:rPr>
              <a:t>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  <a:hlinkClick r:id="rId9" action="ppaction://hlinksldjump"/>
              </a:rPr>
              <a:t>Disambiguation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  <a:hlinkClick r:id="rId9" action="ppaction://hlinksldjump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9" action="ppaction://hlinksldjump"/>
              </a:rPr>
              <a:t>-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  <a:hlinkClick r:id="rId9" action="ppaction://hlinksldjump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  <a:hlinkClick r:id="rId9" action="ppaction://hlinksldjump"/>
              </a:rPr>
              <a:t>II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608260" y="3339672"/>
            <a:ext cx="56388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8,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4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317424" y="3339672"/>
            <a:ext cx="236854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10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10" dirty="0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</a:rPr>
              <a:t>14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26" name="Slide Number Placeholder 25">
            <a:extLst>
              <a:ext uri="{FF2B5EF4-FFF2-40B4-BE49-F238E27FC236}">
                <a16:creationId xmlns:a16="http://schemas.microsoft.com/office/drawing/2014/main" id="{DD4AAA12-1F25-42F9-932C-6EE700847004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4292024" y="3339672"/>
            <a:ext cx="262254" cy="116204"/>
          </a:xfrm>
          <a:prstGeom prst="rect">
            <a:avLst/>
          </a:prstGeom>
        </p:spPr>
        <p:txBody>
          <a:bodyPr/>
          <a:lstStyle/>
          <a:p>
            <a:pPr marL="75565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lang="en-IN" smtClean="0"/>
              <a:t>120</a:t>
            </a:fld>
            <a:r>
              <a:rPr lang="en-IN" spc="-5"/>
              <a:t> </a:t>
            </a:r>
            <a:r>
              <a:rPr lang="en-IN" spc="-110"/>
              <a:t>/</a:t>
            </a:r>
            <a:r>
              <a:rPr lang="en-IN" spc="15"/>
              <a:t> </a:t>
            </a:r>
            <a:r>
              <a:rPr lang="en-IN" spc="-25"/>
              <a:t>18</a:t>
            </a:r>
            <a:endParaRPr lang="en-IN" spc="-25" dirty="0"/>
          </a:p>
        </p:txBody>
      </p:sp>
    </p:spTree>
  </p:cSld>
  <p:clrMapOvr>
    <a:masterClrMapping/>
  </p:clrMapOvr>
  <p:transition>
    <p:cut/>
  </p:transition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HyperLex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7743" y="647268"/>
            <a:ext cx="4483735" cy="2404745"/>
            <a:chOff x="87743" y="647268"/>
            <a:chExt cx="4483735" cy="2404745"/>
          </a:xfrm>
        </p:grpSpPr>
        <p:sp>
          <p:nvSpPr>
            <p:cNvPr id="4" name="object 4"/>
            <p:cNvSpPr/>
            <p:nvPr/>
          </p:nvSpPr>
          <p:spPr>
            <a:xfrm>
              <a:off x="87743" y="647268"/>
              <a:ext cx="4432935" cy="186055"/>
            </a:xfrm>
            <a:custGeom>
              <a:avLst/>
              <a:gdLst/>
              <a:ahLst/>
              <a:cxnLst/>
              <a:rect l="l" t="t" r="r" b="b"/>
              <a:pathLst>
                <a:path w="4432935" h="186055">
                  <a:moveTo>
                    <a:pt x="4381754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5674"/>
                  </a:lnTo>
                  <a:lnTo>
                    <a:pt x="4432554" y="185674"/>
                  </a:lnTo>
                  <a:lnTo>
                    <a:pt x="4432554" y="50800"/>
                  </a:lnTo>
                  <a:lnTo>
                    <a:pt x="4428545" y="31075"/>
                  </a:lnTo>
                  <a:lnTo>
                    <a:pt x="4417631" y="14922"/>
                  </a:lnTo>
                  <a:lnTo>
                    <a:pt x="4401478" y="4008"/>
                  </a:lnTo>
                  <a:lnTo>
                    <a:pt x="4381754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744" y="820293"/>
              <a:ext cx="4432554" cy="5060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8544" y="2949956"/>
              <a:ext cx="101599" cy="1016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9344" y="2937256"/>
              <a:ext cx="4381754" cy="1143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20298" y="691502"/>
              <a:ext cx="50800" cy="2258453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87743" y="864616"/>
              <a:ext cx="4432935" cy="2136140"/>
            </a:xfrm>
            <a:custGeom>
              <a:avLst/>
              <a:gdLst/>
              <a:ahLst/>
              <a:cxnLst/>
              <a:rect l="l" t="t" r="r" b="b"/>
              <a:pathLst>
                <a:path w="4432935" h="2136140">
                  <a:moveTo>
                    <a:pt x="4432554" y="0"/>
                  </a:moveTo>
                  <a:lnTo>
                    <a:pt x="0" y="0"/>
                  </a:lnTo>
                  <a:lnTo>
                    <a:pt x="0" y="2085339"/>
                  </a:lnTo>
                  <a:lnTo>
                    <a:pt x="4008" y="2105064"/>
                  </a:lnTo>
                  <a:lnTo>
                    <a:pt x="14922" y="2121217"/>
                  </a:lnTo>
                  <a:lnTo>
                    <a:pt x="31075" y="2132131"/>
                  </a:lnTo>
                  <a:lnTo>
                    <a:pt x="50800" y="2136140"/>
                  </a:lnTo>
                  <a:lnTo>
                    <a:pt x="4381754" y="2136140"/>
                  </a:lnTo>
                  <a:lnTo>
                    <a:pt x="4401478" y="2132131"/>
                  </a:lnTo>
                  <a:lnTo>
                    <a:pt x="4417631" y="2121217"/>
                  </a:lnTo>
                  <a:lnTo>
                    <a:pt x="4428545" y="2105064"/>
                  </a:lnTo>
                  <a:lnTo>
                    <a:pt x="4432554" y="2085339"/>
                  </a:lnTo>
                  <a:lnTo>
                    <a:pt x="4432554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520309" y="729615"/>
              <a:ext cx="0" cy="2239645"/>
            </a:xfrm>
            <a:custGeom>
              <a:avLst/>
              <a:gdLst/>
              <a:ahLst/>
              <a:cxnLst/>
              <a:rect l="l" t="t" r="r" b="b"/>
              <a:pathLst>
                <a:path h="2239645">
                  <a:moveTo>
                    <a:pt x="0" y="2239391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520309" y="716876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520309" y="704176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520309" y="691476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81597" y="914298"/>
              <a:ext cx="64757" cy="64757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81597" y="1296403"/>
              <a:ext cx="64757" cy="64757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81597" y="1678508"/>
              <a:ext cx="64757" cy="64757"/>
            </a:xfrm>
            <a:prstGeom prst="rect">
              <a:avLst/>
            </a:prstGeom>
          </p:spPr>
        </p:pic>
      </p:grpSp>
      <p:sp>
        <p:nvSpPr>
          <p:cNvPr id="17" name="object 17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pPr marL="50165">
              <a:lnSpc>
                <a:spcPct val="100000"/>
              </a:lnSpc>
              <a:spcBef>
                <a:spcPts val="525"/>
              </a:spcBef>
            </a:pPr>
            <a:r>
              <a:rPr spc="-20" dirty="0"/>
              <a:t>Detecting</a:t>
            </a:r>
            <a:r>
              <a:rPr spc="-5" dirty="0"/>
              <a:t> </a:t>
            </a:r>
            <a:r>
              <a:rPr spc="-10" dirty="0"/>
              <a:t>Root</a:t>
            </a:r>
            <a:r>
              <a:rPr dirty="0"/>
              <a:t> </a:t>
            </a:r>
            <a:r>
              <a:rPr spc="-20" dirty="0"/>
              <a:t>Hubs</a:t>
            </a:r>
          </a:p>
          <a:p>
            <a:pPr marL="327025" marR="5080">
              <a:lnSpc>
                <a:spcPct val="118900"/>
              </a:lnSpc>
              <a:spcBef>
                <a:spcPts val="209"/>
              </a:spcBef>
            </a:pPr>
            <a:r>
              <a:rPr sz="950" i="0" spc="-25" dirty="0">
                <a:solidFill>
                  <a:srgbClr val="000000"/>
                </a:solidFill>
                <a:latin typeface="Trebuchet MS"/>
                <a:cs typeface="Trebuchet MS"/>
              </a:rPr>
              <a:t>Different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spc="60" dirty="0">
                <a:solidFill>
                  <a:srgbClr val="000000"/>
                </a:solidFill>
                <a:latin typeface="Trebuchet MS"/>
                <a:cs typeface="Trebuchet MS"/>
              </a:rPr>
              <a:t>uses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 of</a:t>
            </a:r>
            <a:r>
              <a:rPr sz="950" i="0" spc="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a </a:t>
            </a:r>
            <a:r>
              <a:rPr sz="950" i="0" spc="-10" dirty="0">
                <a:solidFill>
                  <a:srgbClr val="000000"/>
                </a:solidFill>
                <a:latin typeface="Trebuchet MS"/>
                <a:cs typeface="Trebuchet MS"/>
              </a:rPr>
              <a:t>target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 word</a:t>
            </a:r>
            <a:r>
              <a:rPr sz="950" i="0" spc="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spc="-10" dirty="0">
                <a:solidFill>
                  <a:srgbClr val="000000"/>
                </a:solidFill>
                <a:latin typeface="Trebuchet MS"/>
                <a:cs typeface="Trebuchet MS"/>
              </a:rPr>
              <a:t>form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 highly </a:t>
            </a:r>
            <a:r>
              <a:rPr sz="950" i="0" spc="-10" dirty="0">
                <a:solidFill>
                  <a:srgbClr val="000000"/>
                </a:solidFill>
                <a:latin typeface="Trebuchet MS"/>
                <a:cs typeface="Trebuchet MS"/>
              </a:rPr>
              <a:t>interconnected</a:t>
            </a:r>
            <a:r>
              <a:rPr sz="950" i="0" spc="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bundles </a:t>
            </a:r>
            <a:r>
              <a:rPr sz="950" i="0" spc="-25" dirty="0">
                <a:solidFill>
                  <a:srgbClr val="000000"/>
                </a:solidFill>
                <a:latin typeface="Trebuchet MS"/>
                <a:cs typeface="Trebuchet MS"/>
              </a:rPr>
              <a:t>(or 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high</a:t>
            </a:r>
            <a:r>
              <a:rPr sz="950" i="0" spc="2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density</a:t>
            </a:r>
            <a:r>
              <a:rPr sz="950" i="0" spc="2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spc="-10" dirty="0">
                <a:solidFill>
                  <a:srgbClr val="000000"/>
                </a:solidFill>
                <a:latin typeface="Trebuchet MS"/>
                <a:cs typeface="Trebuchet MS"/>
              </a:rPr>
              <a:t>components)</a:t>
            </a:r>
            <a:endParaRPr sz="950">
              <a:latin typeface="Trebuchet MS"/>
              <a:cs typeface="Trebuchet MS"/>
            </a:endParaRPr>
          </a:p>
          <a:p>
            <a:pPr marL="327025" marR="51435">
              <a:lnSpc>
                <a:spcPct val="118900"/>
              </a:lnSpc>
              <a:spcBef>
                <a:spcPts val="295"/>
              </a:spcBef>
            </a:pP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In</a:t>
            </a:r>
            <a:r>
              <a:rPr sz="950" i="0" spc="2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each</a:t>
            </a:r>
            <a:r>
              <a:rPr sz="950" i="0" spc="3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high</a:t>
            </a:r>
            <a:r>
              <a:rPr sz="950" i="0" spc="2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density</a:t>
            </a:r>
            <a:r>
              <a:rPr sz="950" i="0" spc="3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component</a:t>
            </a:r>
            <a:r>
              <a:rPr sz="950" i="0" spc="3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one</a:t>
            </a:r>
            <a:r>
              <a:rPr sz="950" i="0" spc="2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of</a:t>
            </a:r>
            <a:r>
              <a:rPr sz="950" i="0" spc="3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the</a:t>
            </a:r>
            <a:r>
              <a:rPr sz="950" i="0" spc="3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nodes</a:t>
            </a:r>
            <a:r>
              <a:rPr sz="950" i="0" spc="2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(hub)</a:t>
            </a:r>
            <a:r>
              <a:rPr sz="950" i="0" spc="3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spc="55" dirty="0">
                <a:solidFill>
                  <a:srgbClr val="000000"/>
                </a:solidFill>
                <a:latin typeface="Trebuchet MS"/>
                <a:cs typeface="Trebuchet MS"/>
              </a:rPr>
              <a:t>has</a:t>
            </a:r>
            <a:r>
              <a:rPr sz="950" i="0" spc="3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a</a:t>
            </a:r>
            <a:r>
              <a:rPr sz="950" i="0" spc="2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spc="-10" dirty="0">
                <a:solidFill>
                  <a:srgbClr val="000000"/>
                </a:solidFill>
                <a:latin typeface="Trebuchet MS"/>
                <a:cs typeface="Trebuchet MS"/>
              </a:rPr>
              <a:t>higher 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degree than the </a:t>
            </a:r>
            <a:r>
              <a:rPr sz="950" i="0" spc="-10" dirty="0">
                <a:solidFill>
                  <a:srgbClr val="000000"/>
                </a:solidFill>
                <a:latin typeface="Trebuchet MS"/>
                <a:cs typeface="Trebuchet MS"/>
              </a:rPr>
              <a:t>others.</a:t>
            </a:r>
            <a:endParaRPr sz="950">
              <a:latin typeface="Trebuchet MS"/>
              <a:cs typeface="Trebuchet MS"/>
            </a:endParaRPr>
          </a:p>
          <a:p>
            <a:pPr marL="327025">
              <a:lnSpc>
                <a:spcPct val="100000"/>
              </a:lnSpc>
              <a:spcBef>
                <a:spcPts val="365"/>
              </a:spcBef>
            </a:pPr>
            <a:r>
              <a:rPr sz="950" b="1" i="0" dirty="0">
                <a:solidFill>
                  <a:srgbClr val="000000"/>
                </a:solidFill>
                <a:latin typeface="Trebuchet MS"/>
                <a:cs typeface="Trebuchet MS"/>
              </a:rPr>
              <a:t>Step</a:t>
            </a:r>
            <a:r>
              <a:rPr sz="950" b="1" i="0" spc="3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b="1" i="0" dirty="0">
                <a:solidFill>
                  <a:srgbClr val="000000"/>
                </a:solidFill>
                <a:latin typeface="Trebuchet MS"/>
                <a:cs typeface="Trebuchet MS"/>
              </a:rPr>
              <a:t>1:</a:t>
            </a:r>
            <a:r>
              <a:rPr sz="950" b="1" i="0" spc="11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Construct</a:t>
            </a:r>
            <a:r>
              <a:rPr sz="950" i="0" spc="3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co-occurrence</a:t>
            </a:r>
            <a:r>
              <a:rPr sz="950" i="0" spc="3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graph,</a:t>
            </a:r>
            <a:r>
              <a:rPr sz="950" i="0" spc="3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pc="-25" dirty="0">
                <a:solidFill>
                  <a:srgbClr val="000000"/>
                </a:solidFill>
              </a:rPr>
              <a:t>G</a:t>
            </a:r>
            <a:r>
              <a:rPr sz="950" i="0" spc="-25" dirty="0">
                <a:solidFill>
                  <a:srgbClr val="000000"/>
                </a:solidFill>
                <a:latin typeface="Trebuchet MS"/>
                <a:cs typeface="Trebuchet MS"/>
              </a:rPr>
              <a:t>.</a:t>
            </a:r>
            <a:endParaRPr sz="950">
              <a:latin typeface="Trebuchet MS"/>
              <a:cs typeface="Trebuchet MS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804885" y="3339672"/>
            <a:ext cx="99885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  <a:hlinkClick r:id="rId9" action="ppaction://hlinksldjump"/>
              </a:rPr>
              <a:t>Word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  <a:hlinkClick r:id="rId9" action="ppaction://hlinksldjump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9" action="ppaction://hlinksldjump"/>
              </a:rPr>
              <a:t>Sense</a:t>
            </a:r>
            <a:r>
              <a:rPr sz="600" i="1" spc="5" dirty="0">
                <a:solidFill>
                  <a:srgbClr val="FFFFFF"/>
                </a:solidFill>
                <a:latin typeface="Cambria"/>
                <a:cs typeface="Cambria"/>
                <a:hlinkClick r:id="rId9" action="ppaction://hlinksldjump"/>
              </a:rPr>
              <a:t>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  <a:hlinkClick r:id="rId9" action="ppaction://hlinksldjump"/>
              </a:rPr>
              <a:t>Disambiguation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  <a:hlinkClick r:id="rId9" action="ppaction://hlinksldjump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9" action="ppaction://hlinksldjump"/>
              </a:rPr>
              <a:t>-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  <a:hlinkClick r:id="rId9" action="ppaction://hlinksldjump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  <a:hlinkClick r:id="rId9" action="ppaction://hlinksldjump"/>
              </a:rPr>
              <a:t>II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608260" y="3339672"/>
            <a:ext cx="56388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8,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4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317424" y="3339672"/>
            <a:ext cx="236854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11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10" dirty="0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</a:rPr>
              <a:t>14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26" name="Slide Number Placeholder 25">
            <a:extLst>
              <a:ext uri="{FF2B5EF4-FFF2-40B4-BE49-F238E27FC236}">
                <a16:creationId xmlns:a16="http://schemas.microsoft.com/office/drawing/2014/main" id="{87F7787F-1A2B-4973-8BFE-0496107F3EBA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4292024" y="3339672"/>
            <a:ext cx="262254" cy="116204"/>
          </a:xfrm>
          <a:prstGeom prst="rect">
            <a:avLst/>
          </a:prstGeom>
        </p:spPr>
        <p:txBody>
          <a:bodyPr/>
          <a:lstStyle/>
          <a:p>
            <a:pPr marL="75565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lang="en-IN" smtClean="0"/>
              <a:t>121</a:t>
            </a:fld>
            <a:r>
              <a:rPr lang="en-IN" spc="-5"/>
              <a:t> </a:t>
            </a:r>
            <a:r>
              <a:rPr lang="en-IN" spc="-110"/>
              <a:t>/</a:t>
            </a:r>
            <a:r>
              <a:rPr lang="en-IN" spc="15"/>
              <a:t> </a:t>
            </a:r>
            <a:r>
              <a:rPr lang="en-IN" spc="-25"/>
              <a:t>18</a:t>
            </a:r>
            <a:endParaRPr lang="en-IN" spc="-25" dirty="0"/>
          </a:p>
        </p:txBody>
      </p:sp>
    </p:spTree>
  </p:cSld>
  <p:clrMapOvr>
    <a:masterClrMapping/>
  </p:clrMapOvr>
  <p:transition>
    <p:cut/>
  </p:transition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HyperLex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7743" y="647268"/>
            <a:ext cx="4483735" cy="2404745"/>
            <a:chOff x="87743" y="647268"/>
            <a:chExt cx="4483735" cy="2404745"/>
          </a:xfrm>
        </p:grpSpPr>
        <p:sp>
          <p:nvSpPr>
            <p:cNvPr id="4" name="object 4"/>
            <p:cNvSpPr/>
            <p:nvPr/>
          </p:nvSpPr>
          <p:spPr>
            <a:xfrm>
              <a:off x="87743" y="647268"/>
              <a:ext cx="4432935" cy="186055"/>
            </a:xfrm>
            <a:custGeom>
              <a:avLst/>
              <a:gdLst/>
              <a:ahLst/>
              <a:cxnLst/>
              <a:rect l="l" t="t" r="r" b="b"/>
              <a:pathLst>
                <a:path w="4432935" h="186055">
                  <a:moveTo>
                    <a:pt x="4381754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5674"/>
                  </a:lnTo>
                  <a:lnTo>
                    <a:pt x="4432554" y="185674"/>
                  </a:lnTo>
                  <a:lnTo>
                    <a:pt x="4432554" y="50800"/>
                  </a:lnTo>
                  <a:lnTo>
                    <a:pt x="4428545" y="31075"/>
                  </a:lnTo>
                  <a:lnTo>
                    <a:pt x="4417631" y="14922"/>
                  </a:lnTo>
                  <a:lnTo>
                    <a:pt x="4401478" y="4008"/>
                  </a:lnTo>
                  <a:lnTo>
                    <a:pt x="4381754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744" y="820293"/>
              <a:ext cx="4432554" cy="5060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8544" y="2949956"/>
              <a:ext cx="101599" cy="1016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9344" y="2937256"/>
              <a:ext cx="4381754" cy="1143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20298" y="691502"/>
              <a:ext cx="50800" cy="2258453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87743" y="864616"/>
              <a:ext cx="4432935" cy="2136140"/>
            </a:xfrm>
            <a:custGeom>
              <a:avLst/>
              <a:gdLst/>
              <a:ahLst/>
              <a:cxnLst/>
              <a:rect l="l" t="t" r="r" b="b"/>
              <a:pathLst>
                <a:path w="4432935" h="2136140">
                  <a:moveTo>
                    <a:pt x="4432554" y="0"/>
                  </a:moveTo>
                  <a:lnTo>
                    <a:pt x="0" y="0"/>
                  </a:lnTo>
                  <a:lnTo>
                    <a:pt x="0" y="2085339"/>
                  </a:lnTo>
                  <a:lnTo>
                    <a:pt x="4008" y="2105064"/>
                  </a:lnTo>
                  <a:lnTo>
                    <a:pt x="14922" y="2121217"/>
                  </a:lnTo>
                  <a:lnTo>
                    <a:pt x="31075" y="2132131"/>
                  </a:lnTo>
                  <a:lnTo>
                    <a:pt x="50800" y="2136140"/>
                  </a:lnTo>
                  <a:lnTo>
                    <a:pt x="4381754" y="2136140"/>
                  </a:lnTo>
                  <a:lnTo>
                    <a:pt x="4401478" y="2132131"/>
                  </a:lnTo>
                  <a:lnTo>
                    <a:pt x="4417631" y="2121217"/>
                  </a:lnTo>
                  <a:lnTo>
                    <a:pt x="4428545" y="2105064"/>
                  </a:lnTo>
                  <a:lnTo>
                    <a:pt x="4432554" y="2085339"/>
                  </a:lnTo>
                  <a:lnTo>
                    <a:pt x="4432554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520309" y="729615"/>
              <a:ext cx="0" cy="2239645"/>
            </a:xfrm>
            <a:custGeom>
              <a:avLst/>
              <a:gdLst/>
              <a:ahLst/>
              <a:cxnLst/>
              <a:rect l="l" t="t" r="r" b="b"/>
              <a:pathLst>
                <a:path h="2239645">
                  <a:moveTo>
                    <a:pt x="0" y="2239391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520309" y="716876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520309" y="704176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520309" y="691476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81597" y="914298"/>
              <a:ext cx="64757" cy="64757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81597" y="1296403"/>
              <a:ext cx="64757" cy="64757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81597" y="1678508"/>
              <a:ext cx="64757" cy="64757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81597" y="1888540"/>
              <a:ext cx="64757" cy="64757"/>
            </a:xfrm>
            <a:prstGeom prst="rect">
              <a:avLst/>
            </a:prstGeom>
          </p:spPr>
        </p:pic>
      </p:grpSp>
      <p:sp>
        <p:nvSpPr>
          <p:cNvPr id="18" name="object 18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pPr marL="50165">
              <a:lnSpc>
                <a:spcPct val="100000"/>
              </a:lnSpc>
              <a:spcBef>
                <a:spcPts val="525"/>
              </a:spcBef>
            </a:pPr>
            <a:r>
              <a:rPr spc="-20" dirty="0"/>
              <a:t>Detecting</a:t>
            </a:r>
            <a:r>
              <a:rPr spc="-5" dirty="0"/>
              <a:t> </a:t>
            </a:r>
            <a:r>
              <a:rPr spc="-10" dirty="0"/>
              <a:t>Root</a:t>
            </a:r>
            <a:r>
              <a:rPr dirty="0"/>
              <a:t> </a:t>
            </a:r>
            <a:r>
              <a:rPr spc="-20" dirty="0"/>
              <a:t>Hubs</a:t>
            </a:r>
          </a:p>
          <a:p>
            <a:pPr marL="327025" marR="5080">
              <a:lnSpc>
                <a:spcPct val="118900"/>
              </a:lnSpc>
              <a:spcBef>
                <a:spcPts val="209"/>
              </a:spcBef>
            </a:pPr>
            <a:r>
              <a:rPr sz="950" i="0" spc="-25" dirty="0">
                <a:solidFill>
                  <a:srgbClr val="000000"/>
                </a:solidFill>
                <a:latin typeface="Trebuchet MS"/>
                <a:cs typeface="Trebuchet MS"/>
              </a:rPr>
              <a:t>Different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spc="60" dirty="0">
                <a:solidFill>
                  <a:srgbClr val="000000"/>
                </a:solidFill>
                <a:latin typeface="Trebuchet MS"/>
                <a:cs typeface="Trebuchet MS"/>
              </a:rPr>
              <a:t>uses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 of</a:t>
            </a:r>
            <a:r>
              <a:rPr sz="950" i="0" spc="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a </a:t>
            </a:r>
            <a:r>
              <a:rPr sz="950" i="0" spc="-10" dirty="0">
                <a:solidFill>
                  <a:srgbClr val="000000"/>
                </a:solidFill>
                <a:latin typeface="Trebuchet MS"/>
                <a:cs typeface="Trebuchet MS"/>
              </a:rPr>
              <a:t>target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 word</a:t>
            </a:r>
            <a:r>
              <a:rPr sz="950" i="0" spc="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spc="-10" dirty="0">
                <a:solidFill>
                  <a:srgbClr val="000000"/>
                </a:solidFill>
                <a:latin typeface="Trebuchet MS"/>
                <a:cs typeface="Trebuchet MS"/>
              </a:rPr>
              <a:t>form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 highly </a:t>
            </a:r>
            <a:r>
              <a:rPr sz="950" i="0" spc="-10" dirty="0">
                <a:solidFill>
                  <a:srgbClr val="000000"/>
                </a:solidFill>
                <a:latin typeface="Trebuchet MS"/>
                <a:cs typeface="Trebuchet MS"/>
              </a:rPr>
              <a:t>interconnected</a:t>
            </a:r>
            <a:r>
              <a:rPr sz="950" i="0" spc="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bundles </a:t>
            </a:r>
            <a:r>
              <a:rPr sz="950" i="0" spc="-25" dirty="0">
                <a:solidFill>
                  <a:srgbClr val="000000"/>
                </a:solidFill>
                <a:latin typeface="Trebuchet MS"/>
                <a:cs typeface="Trebuchet MS"/>
              </a:rPr>
              <a:t>(or 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high</a:t>
            </a:r>
            <a:r>
              <a:rPr sz="950" i="0" spc="2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density</a:t>
            </a:r>
            <a:r>
              <a:rPr sz="950" i="0" spc="2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spc="-10" dirty="0">
                <a:solidFill>
                  <a:srgbClr val="000000"/>
                </a:solidFill>
                <a:latin typeface="Trebuchet MS"/>
                <a:cs typeface="Trebuchet MS"/>
              </a:rPr>
              <a:t>components)</a:t>
            </a:r>
            <a:endParaRPr sz="950">
              <a:latin typeface="Trebuchet MS"/>
              <a:cs typeface="Trebuchet MS"/>
            </a:endParaRPr>
          </a:p>
          <a:p>
            <a:pPr marL="327025" marR="51435">
              <a:lnSpc>
                <a:spcPct val="118900"/>
              </a:lnSpc>
              <a:spcBef>
                <a:spcPts val="295"/>
              </a:spcBef>
            </a:pP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In</a:t>
            </a:r>
            <a:r>
              <a:rPr sz="950" i="0" spc="2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each</a:t>
            </a:r>
            <a:r>
              <a:rPr sz="950" i="0" spc="3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high</a:t>
            </a:r>
            <a:r>
              <a:rPr sz="950" i="0" spc="2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density</a:t>
            </a:r>
            <a:r>
              <a:rPr sz="950" i="0" spc="3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component</a:t>
            </a:r>
            <a:r>
              <a:rPr sz="950" i="0" spc="3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one</a:t>
            </a:r>
            <a:r>
              <a:rPr sz="950" i="0" spc="2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of</a:t>
            </a:r>
            <a:r>
              <a:rPr sz="950" i="0" spc="3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the</a:t>
            </a:r>
            <a:r>
              <a:rPr sz="950" i="0" spc="3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nodes</a:t>
            </a:r>
            <a:r>
              <a:rPr sz="950" i="0" spc="2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(hub)</a:t>
            </a:r>
            <a:r>
              <a:rPr sz="950" i="0" spc="3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spc="55" dirty="0">
                <a:solidFill>
                  <a:srgbClr val="000000"/>
                </a:solidFill>
                <a:latin typeface="Trebuchet MS"/>
                <a:cs typeface="Trebuchet MS"/>
              </a:rPr>
              <a:t>has</a:t>
            </a:r>
            <a:r>
              <a:rPr sz="950" i="0" spc="3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a</a:t>
            </a:r>
            <a:r>
              <a:rPr sz="950" i="0" spc="2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spc="-10" dirty="0">
                <a:solidFill>
                  <a:srgbClr val="000000"/>
                </a:solidFill>
                <a:latin typeface="Trebuchet MS"/>
                <a:cs typeface="Trebuchet MS"/>
              </a:rPr>
              <a:t>higher 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degree than the </a:t>
            </a:r>
            <a:r>
              <a:rPr sz="950" i="0" spc="-10" dirty="0">
                <a:solidFill>
                  <a:srgbClr val="000000"/>
                </a:solidFill>
                <a:latin typeface="Trebuchet MS"/>
                <a:cs typeface="Trebuchet MS"/>
              </a:rPr>
              <a:t>others.</a:t>
            </a:r>
            <a:endParaRPr sz="950">
              <a:latin typeface="Trebuchet MS"/>
              <a:cs typeface="Trebuchet MS"/>
            </a:endParaRPr>
          </a:p>
          <a:p>
            <a:pPr marL="327025">
              <a:lnSpc>
                <a:spcPct val="100000"/>
              </a:lnSpc>
              <a:spcBef>
                <a:spcPts val="365"/>
              </a:spcBef>
            </a:pPr>
            <a:r>
              <a:rPr sz="950" b="1" i="0" dirty="0">
                <a:solidFill>
                  <a:srgbClr val="000000"/>
                </a:solidFill>
                <a:latin typeface="Trebuchet MS"/>
                <a:cs typeface="Trebuchet MS"/>
              </a:rPr>
              <a:t>Step</a:t>
            </a:r>
            <a:r>
              <a:rPr sz="950" b="1" i="0" spc="3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b="1" i="0" dirty="0">
                <a:solidFill>
                  <a:srgbClr val="000000"/>
                </a:solidFill>
                <a:latin typeface="Trebuchet MS"/>
                <a:cs typeface="Trebuchet MS"/>
              </a:rPr>
              <a:t>1:</a:t>
            </a:r>
            <a:r>
              <a:rPr sz="950" b="1" i="0" spc="11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Construct</a:t>
            </a:r>
            <a:r>
              <a:rPr sz="950" i="0" spc="3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co-occurrence</a:t>
            </a:r>
            <a:r>
              <a:rPr sz="950" i="0" spc="3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graph,</a:t>
            </a:r>
            <a:r>
              <a:rPr sz="950" i="0" spc="3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pc="-25" dirty="0">
                <a:solidFill>
                  <a:srgbClr val="000000"/>
                </a:solidFill>
              </a:rPr>
              <a:t>G</a:t>
            </a:r>
            <a:r>
              <a:rPr sz="950" i="0" spc="-25" dirty="0">
                <a:solidFill>
                  <a:srgbClr val="000000"/>
                </a:solidFill>
                <a:latin typeface="Trebuchet MS"/>
                <a:cs typeface="Trebuchet MS"/>
              </a:rPr>
              <a:t>.</a:t>
            </a:r>
            <a:endParaRPr sz="950">
              <a:latin typeface="Trebuchet MS"/>
              <a:cs typeface="Trebuchet MS"/>
            </a:endParaRPr>
          </a:p>
          <a:p>
            <a:pPr marL="327025">
              <a:lnSpc>
                <a:spcPct val="100000"/>
              </a:lnSpc>
              <a:spcBef>
                <a:spcPts val="335"/>
              </a:spcBef>
            </a:pPr>
            <a:r>
              <a:rPr sz="950" b="1" i="0" dirty="0">
                <a:solidFill>
                  <a:srgbClr val="000000"/>
                </a:solidFill>
                <a:latin typeface="Trebuchet MS"/>
                <a:cs typeface="Trebuchet MS"/>
              </a:rPr>
              <a:t>Step</a:t>
            </a:r>
            <a:r>
              <a:rPr sz="950" b="1" i="0" spc="3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b="1" i="0" dirty="0">
                <a:solidFill>
                  <a:srgbClr val="000000"/>
                </a:solidFill>
                <a:latin typeface="Trebuchet MS"/>
                <a:cs typeface="Trebuchet MS"/>
              </a:rPr>
              <a:t>2:</a:t>
            </a:r>
            <a:r>
              <a:rPr sz="950" b="1" i="0" spc="11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Arrange</a:t>
            </a:r>
            <a:r>
              <a:rPr sz="950" i="0" spc="4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nodes</a:t>
            </a:r>
            <a:r>
              <a:rPr sz="950" i="0" spc="3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in</a:t>
            </a:r>
            <a:r>
              <a:rPr sz="950" i="0" spc="3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pc="145" dirty="0">
                <a:solidFill>
                  <a:srgbClr val="000000"/>
                </a:solidFill>
              </a:rPr>
              <a:t>G</a:t>
            </a:r>
            <a:r>
              <a:rPr spc="80" dirty="0">
                <a:solidFill>
                  <a:srgbClr val="000000"/>
                </a:solidFill>
              </a:rPr>
              <a:t> 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in</a:t>
            </a:r>
            <a:r>
              <a:rPr sz="950" i="0" spc="3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decreasing</a:t>
            </a:r>
            <a:r>
              <a:rPr sz="950" i="0" spc="3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order</a:t>
            </a:r>
            <a:r>
              <a:rPr sz="950" i="0" spc="4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of</a:t>
            </a:r>
            <a:r>
              <a:rPr sz="950" i="0" spc="3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spc="-10" dirty="0">
                <a:solidFill>
                  <a:srgbClr val="000000"/>
                </a:solidFill>
                <a:latin typeface="Trebuchet MS"/>
                <a:cs typeface="Trebuchet MS"/>
              </a:rPr>
              <a:t>degree.</a:t>
            </a:r>
            <a:endParaRPr sz="950">
              <a:latin typeface="Trebuchet MS"/>
              <a:cs typeface="Trebuchet MS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804885" y="3339672"/>
            <a:ext cx="99885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  <a:hlinkClick r:id="rId10" action="ppaction://hlinksldjump"/>
              </a:rPr>
              <a:t>Word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  <a:hlinkClick r:id="rId10" action="ppaction://hlinksldjump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10" action="ppaction://hlinksldjump"/>
              </a:rPr>
              <a:t>Sense</a:t>
            </a:r>
            <a:r>
              <a:rPr sz="600" i="1" spc="5" dirty="0">
                <a:solidFill>
                  <a:srgbClr val="FFFFFF"/>
                </a:solidFill>
                <a:latin typeface="Cambria"/>
                <a:cs typeface="Cambria"/>
                <a:hlinkClick r:id="rId10" action="ppaction://hlinksldjump"/>
              </a:rPr>
              <a:t>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  <a:hlinkClick r:id="rId10" action="ppaction://hlinksldjump"/>
              </a:rPr>
              <a:t>Disambiguation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  <a:hlinkClick r:id="rId10" action="ppaction://hlinksldjump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10" action="ppaction://hlinksldjump"/>
              </a:rPr>
              <a:t>-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  <a:hlinkClick r:id="rId10" action="ppaction://hlinksldjump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  <a:hlinkClick r:id="rId10" action="ppaction://hlinksldjump"/>
              </a:rPr>
              <a:t>II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608260" y="3339672"/>
            <a:ext cx="56388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8,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4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317424" y="3339672"/>
            <a:ext cx="236854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11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10" dirty="0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</a:rPr>
              <a:t>14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27" name="Slide Number Placeholder 26">
            <a:extLst>
              <a:ext uri="{FF2B5EF4-FFF2-40B4-BE49-F238E27FC236}">
                <a16:creationId xmlns:a16="http://schemas.microsoft.com/office/drawing/2014/main" id="{779DEBA2-58C2-4FA9-A523-0DA62BAC9A8B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4292024" y="3339672"/>
            <a:ext cx="262254" cy="116204"/>
          </a:xfrm>
          <a:prstGeom prst="rect">
            <a:avLst/>
          </a:prstGeom>
        </p:spPr>
        <p:txBody>
          <a:bodyPr/>
          <a:lstStyle/>
          <a:p>
            <a:pPr marL="75565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lang="en-IN" smtClean="0"/>
              <a:t>122</a:t>
            </a:fld>
            <a:r>
              <a:rPr lang="en-IN" spc="-5"/>
              <a:t> </a:t>
            </a:r>
            <a:r>
              <a:rPr lang="en-IN" spc="-110"/>
              <a:t>/</a:t>
            </a:r>
            <a:r>
              <a:rPr lang="en-IN" spc="15"/>
              <a:t> </a:t>
            </a:r>
            <a:r>
              <a:rPr lang="en-IN" spc="-25"/>
              <a:t>18</a:t>
            </a:r>
            <a:endParaRPr lang="en-IN" spc="-25" dirty="0"/>
          </a:p>
        </p:txBody>
      </p:sp>
    </p:spTree>
  </p:cSld>
  <p:clrMapOvr>
    <a:masterClrMapping/>
  </p:clrMapOvr>
  <p:transition>
    <p:cut/>
  </p:transition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HyperLex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7743" y="647268"/>
            <a:ext cx="4483735" cy="2404745"/>
            <a:chOff x="87743" y="647268"/>
            <a:chExt cx="4483735" cy="2404745"/>
          </a:xfrm>
        </p:grpSpPr>
        <p:sp>
          <p:nvSpPr>
            <p:cNvPr id="4" name="object 4"/>
            <p:cNvSpPr/>
            <p:nvPr/>
          </p:nvSpPr>
          <p:spPr>
            <a:xfrm>
              <a:off x="87743" y="647268"/>
              <a:ext cx="4432935" cy="186055"/>
            </a:xfrm>
            <a:custGeom>
              <a:avLst/>
              <a:gdLst/>
              <a:ahLst/>
              <a:cxnLst/>
              <a:rect l="l" t="t" r="r" b="b"/>
              <a:pathLst>
                <a:path w="4432935" h="186055">
                  <a:moveTo>
                    <a:pt x="4381754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5674"/>
                  </a:lnTo>
                  <a:lnTo>
                    <a:pt x="4432554" y="185674"/>
                  </a:lnTo>
                  <a:lnTo>
                    <a:pt x="4432554" y="50800"/>
                  </a:lnTo>
                  <a:lnTo>
                    <a:pt x="4428545" y="31075"/>
                  </a:lnTo>
                  <a:lnTo>
                    <a:pt x="4417631" y="14922"/>
                  </a:lnTo>
                  <a:lnTo>
                    <a:pt x="4401478" y="4008"/>
                  </a:lnTo>
                  <a:lnTo>
                    <a:pt x="4381754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744" y="820293"/>
              <a:ext cx="4432554" cy="5060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8544" y="2949956"/>
              <a:ext cx="101599" cy="1016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9344" y="2937256"/>
              <a:ext cx="4381754" cy="1143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20298" y="691502"/>
              <a:ext cx="50800" cy="2258453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87743" y="864616"/>
              <a:ext cx="4432935" cy="2136140"/>
            </a:xfrm>
            <a:custGeom>
              <a:avLst/>
              <a:gdLst/>
              <a:ahLst/>
              <a:cxnLst/>
              <a:rect l="l" t="t" r="r" b="b"/>
              <a:pathLst>
                <a:path w="4432935" h="2136140">
                  <a:moveTo>
                    <a:pt x="4432554" y="0"/>
                  </a:moveTo>
                  <a:lnTo>
                    <a:pt x="0" y="0"/>
                  </a:lnTo>
                  <a:lnTo>
                    <a:pt x="0" y="2085339"/>
                  </a:lnTo>
                  <a:lnTo>
                    <a:pt x="4008" y="2105064"/>
                  </a:lnTo>
                  <a:lnTo>
                    <a:pt x="14922" y="2121217"/>
                  </a:lnTo>
                  <a:lnTo>
                    <a:pt x="31075" y="2132131"/>
                  </a:lnTo>
                  <a:lnTo>
                    <a:pt x="50800" y="2136140"/>
                  </a:lnTo>
                  <a:lnTo>
                    <a:pt x="4381754" y="2136140"/>
                  </a:lnTo>
                  <a:lnTo>
                    <a:pt x="4401478" y="2132131"/>
                  </a:lnTo>
                  <a:lnTo>
                    <a:pt x="4417631" y="2121217"/>
                  </a:lnTo>
                  <a:lnTo>
                    <a:pt x="4428545" y="2105064"/>
                  </a:lnTo>
                  <a:lnTo>
                    <a:pt x="4432554" y="2085339"/>
                  </a:lnTo>
                  <a:lnTo>
                    <a:pt x="4432554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520309" y="729615"/>
              <a:ext cx="0" cy="2239645"/>
            </a:xfrm>
            <a:custGeom>
              <a:avLst/>
              <a:gdLst/>
              <a:ahLst/>
              <a:cxnLst/>
              <a:rect l="l" t="t" r="r" b="b"/>
              <a:pathLst>
                <a:path h="2239645">
                  <a:moveTo>
                    <a:pt x="0" y="2239391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520309" y="716876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520309" y="704176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520309" y="691476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81597" y="914298"/>
              <a:ext cx="64757" cy="64757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81597" y="1296403"/>
              <a:ext cx="64757" cy="64757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81597" y="1678508"/>
              <a:ext cx="64757" cy="64757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81597" y="1888540"/>
              <a:ext cx="64757" cy="64757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81597" y="2098573"/>
              <a:ext cx="64757" cy="64757"/>
            </a:xfrm>
            <a:prstGeom prst="rect">
              <a:avLst/>
            </a:prstGeom>
          </p:spPr>
        </p:pic>
      </p:grpSp>
      <p:sp>
        <p:nvSpPr>
          <p:cNvPr id="19" name="object 19"/>
          <p:cNvSpPr txBox="1"/>
          <p:nvPr/>
        </p:nvSpPr>
        <p:spPr>
          <a:xfrm>
            <a:off x="125729" y="572620"/>
            <a:ext cx="4324985" cy="1803400"/>
          </a:xfrm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sz="1100" i="1" spc="-20" dirty="0">
                <a:solidFill>
                  <a:srgbClr val="3232B2"/>
                </a:solidFill>
                <a:latin typeface="Cambria"/>
                <a:cs typeface="Cambria"/>
              </a:rPr>
              <a:t>Detecting</a:t>
            </a:r>
            <a:r>
              <a:rPr sz="1100" i="1" spc="-5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100" i="1" spc="-10" dirty="0">
                <a:solidFill>
                  <a:srgbClr val="3232B2"/>
                </a:solidFill>
                <a:latin typeface="Cambria"/>
                <a:cs typeface="Cambria"/>
              </a:rPr>
              <a:t>Root</a:t>
            </a:r>
            <a:r>
              <a:rPr sz="1100" i="1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100" i="1" spc="-20" dirty="0">
                <a:solidFill>
                  <a:srgbClr val="3232B2"/>
                </a:solidFill>
                <a:latin typeface="Cambria"/>
                <a:cs typeface="Cambria"/>
              </a:rPr>
              <a:t>Hubs</a:t>
            </a:r>
            <a:endParaRPr sz="1100">
              <a:latin typeface="Cambria"/>
              <a:cs typeface="Cambria"/>
            </a:endParaRPr>
          </a:p>
          <a:p>
            <a:pPr marL="289560" marR="209550">
              <a:lnSpc>
                <a:spcPct val="118900"/>
              </a:lnSpc>
              <a:spcBef>
                <a:spcPts val="209"/>
              </a:spcBef>
            </a:pPr>
            <a:r>
              <a:rPr sz="950" spc="-25" dirty="0">
                <a:latin typeface="Trebuchet MS"/>
                <a:cs typeface="Trebuchet MS"/>
              </a:rPr>
              <a:t>Different</a:t>
            </a:r>
            <a:r>
              <a:rPr sz="950" dirty="0">
                <a:latin typeface="Trebuchet MS"/>
                <a:cs typeface="Trebuchet MS"/>
              </a:rPr>
              <a:t> </a:t>
            </a:r>
            <a:r>
              <a:rPr sz="950" spc="60" dirty="0">
                <a:latin typeface="Trebuchet MS"/>
                <a:cs typeface="Trebuchet MS"/>
              </a:rPr>
              <a:t>uses</a:t>
            </a:r>
            <a:r>
              <a:rPr sz="950" dirty="0">
                <a:latin typeface="Trebuchet MS"/>
                <a:cs typeface="Trebuchet MS"/>
              </a:rPr>
              <a:t> of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 </a:t>
            </a:r>
            <a:r>
              <a:rPr sz="950" spc="-10" dirty="0">
                <a:latin typeface="Trebuchet MS"/>
                <a:cs typeface="Trebuchet MS"/>
              </a:rPr>
              <a:t>target</a:t>
            </a:r>
            <a:r>
              <a:rPr sz="950" dirty="0">
                <a:latin typeface="Trebuchet MS"/>
                <a:cs typeface="Trebuchet MS"/>
              </a:rPr>
              <a:t> word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form</a:t>
            </a:r>
            <a:r>
              <a:rPr sz="950" dirty="0">
                <a:latin typeface="Trebuchet MS"/>
                <a:cs typeface="Trebuchet MS"/>
              </a:rPr>
              <a:t> highly </a:t>
            </a:r>
            <a:r>
              <a:rPr sz="950" spc="-10" dirty="0">
                <a:latin typeface="Trebuchet MS"/>
                <a:cs typeface="Trebuchet MS"/>
              </a:rPr>
              <a:t>interconnected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bundles </a:t>
            </a:r>
            <a:r>
              <a:rPr sz="950" spc="-25" dirty="0">
                <a:latin typeface="Trebuchet MS"/>
                <a:cs typeface="Trebuchet MS"/>
              </a:rPr>
              <a:t>(or </a:t>
            </a:r>
            <a:r>
              <a:rPr sz="950" dirty="0">
                <a:latin typeface="Trebuchet MS"/>
                <a:cs typeface="Trebuchet MS"/>
              </a:rPr>
              <a:t>high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density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components)</a:t>
            </a:r>
            <a:endParaRPr sz="950">
              <a:latin typeface="Trebuchet MS"/>
              <a:cs typeface="Trebuchet MS"/>
            </a:endParaRPr>
          </a:p>
          <a:p>
            <a:pPr marL="289560" marR="256540">
              <a:lnSpc>
                <a:spcPct val="118900"/>
              </a:lnSpc>
              <a:spcBef>
                <a:spcPts val="295"/>
              </a:spcBef>
            </a:pPr>
            <a:r>
              <a:rPr sz="950" dirty="0">
                <a:latin typeface="Trebuchet MS"/>
                <a:cs typeface="Trebuchet MS"/>
              </a:rPr>
              <a:t>In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each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high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density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component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one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of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nodes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(hub)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spc="55" dirty="0">
                <a:latin typeface="Trebuchet MS"/>
                <a:cs typeface="Trebuchet MS"/>
              </a:rPr>
              <a:t>has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higher </a:t>
            </a:r>
            <a:r>
              <a:rPr sz="950" dirty="0">
                <a:latin typeface="Trebuchet MS"/>
                <a:cs typeface="Trebuchet MS"/>
              </a:rPr>
              <a:t>degree than the </a:t>
            </a:r>
            <a:r>
              <a:rPr sz="950" spc="-10" dirty="0">
                <a:latin typeface="Trebuchet MS"/>
                <a:cs typeface="Trebuchet MS"/>
              </a:rPr>
              <a:t>others.</a:t>
            </a:r>
            <a:endParaRPr sz="950">
              <a:latin typeface="Trebuchet MS"/>
              <a:cs typeface="Trebuchet MS"/>
            </a:endParaRPr>
          </a:p>
          <a:p>
            <a:pPr marL="289560">
              <a:lnSpc>
                <a:spcPct val="100000"/>
              </a:lnSpc>
              <a:spcBef>
                <a:spcPts val="365"/>
              </a:spcBef>
            </a:pPr>
            <a:r>
              <a:rPr sz="950" b="1" dirty="0">
                <a:latin typeface="Trebuchet MS"/>
                <a:cs typeface="Trebuchet MS"/>
              </a:rPr>
              <a:t>Step</a:t>
            </a:r>
            <a:r>
              <a:rPr sz="950" b="1" spc="30" dirty="0">
                <a:latin typeface="Trebuchet MS"/>
                <a:cs typeface="Trebuchet MS"/>
              </a:rPr>
              <a:t> </a:t>
            </a:r>
            <a:r>
              <a:rPr sz="950" b="1" dirty="0">
                <a:latin typeface="Trebuchet MS"/>
                <a:cs typeface="Trebuchet MS"/>
              </a:rPr>
              <a:t>1:</a:t>
            </a:r>
            <a:r>
              <a:rPr sz="950" b="1" spc="1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Construct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co-occurrence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graph,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1100" i="1" spc="-25" dirty="0">
                <a:latin typeface="Cambria"/>
                <a:cs typeface="Cambria"/>
              </a:rPr>
              <a:t>G</a:t>
            </a:r>
            <a:r>
              <a:rPr sz="950" spc="-25" dirty="0">
                <a:latin typeface="Trebuchet MS"/>
                <a:cs typeface="Trebuchet MS"/>
              </a:rPr>
              <a:t>.</a:t>
            </a:r>
            <a:endParaRPr sz="950">
              <a:latin typeface="Trebuchet MS"/>
              <a:cs typeface="Trebuchet MS"/>
            </a:endParaRPr>
          </a:p>
          <a:p>
            <a:pPr marL="289560">
              <a:lnSpc>
                <a:spcPct val="100000"/>
              </a:lnSpc>
              <a:spcBef>
                <a:spcPts val="335"/>
              </a:spcBef>
            </a:pPr>
            <a:r>
              <a:rPr sz="950" b="1" dirty="0">
                <a:latin typeface="Trebuchet MS"/>
                <a:cs typeface="Trebuchet MS"/>
              </a:rPr>
              <a:t>Step</a:t>
            </a:r>
            <a:r>
              <a:rPr sz="950" b="1" spc="35" dirty="0">
                <a:latin typeface="Trebuchet MS"/>
                <a:cs typeface="Trebuchet MS"/>
              </a:rPr>
              <a:t> </a:t>
            </a:r>
            <a:r>
              <a:rPr sz="950" b="1" dirty="0">
                <a:latin typeface="Trebuchet MS"/>
                <a:cs typeface="Trebuchet MS"/>
              </a:rPr>
              <a:t>2:</a:t>
            </a:r>
            <a:r>
              <a:rPr sz="950" b="1" spc="1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Arrange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nodes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in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1100" i="1" spc="145" dirty="0">
                <a:latin typeface="Cambria"/>
                <a:cs typeface="Cambria"/>
              </a:rPr>
              <a:t>G</a:t>
            </a:r>
            <a:r>
              <a:rPr sz="1100" i="1" spc="80" dirty="0">
                <a:latin typeface="Cambria"/>
                <a:cs typeface="Cambria"/>
              </a:rPr>
              <a:t> </a:t>
            </a:r>
            <a:r>
              <a:rPr sz="950" dirty="0">
                <a:latin typeface="Trebuchet MS"/>
                <a:cs typeface="Trebuchet MS"/>
              </a:rPr>
              <a:t>in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decreasing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order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of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degree.</a:t>
            </a:r>
            <a:endParaRPr sz="950">
              <a:latin typeface="Trebuchet MS"/>
              <a:cs typeface="Trebuchet MS"/>
            </a:endParaRPr>
          </a:p>
          <a:p>
            <a:pPr marL="289560" marR="5080">
              <a:lnSpc>
                <a:spcPct val="113999"/>
              </a:lnSpc>
              <a:spcBef>
                <a:spcPts val="150"/>
              </a:spcBef>
            </a:pPr>
            <a:r>
              <a:rPr sz="950" b="1" dirty="0">
                <a:latin typeface="Trebuchet MS"/>
                <a:cs typeface="Trebuchet MS"/>
              </a:rPr>
              <a:t>Step</a:t>
            </a:r>
            <a:r>
              <a:rPr sz="950" b="1" spc="10" dirty="0">
                <a:latin typeface="Trebuchet MS"/>
                <a:cs typeface="Trebuchet MS"/>
              </a:rPr>
              <a:t> </a:t>
            </a:r>
            <a:r>
              <a:rPr sz="950" b="1" dirty="0">
                <a:latin typeface="Trebuchet MS"/>
                <a:cs typeface="Trebuchet MS"/>
              </a:rPr>
              <a:t>3:</a:t>
            </a:r>
            <a:r>
              <a:rPr sz="950" b="1" spc="8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Select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node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from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1100" i="1" spc="145" dirty="0">
                <a:latin typeface="Cambria"/>
                <a:cs typeface="Cambria"/>
              </a:rPr>
              <a:t>G</a:t>
            </a:r>
            <a:r>
              <a:rPr sz="1100" i="1" spc="55" dirty="0">
                <a:latin typeface="Cambria"/>
                <a:cs typeface="Cambria"/>
              </a:rPr>
              <a:t> </a:t>
            </a:r>
            <a:r>
              <a:rPr sz="950" dirty="0">
                <a:latin typeface="Trebuchet MS"/>
                <a:cs typeface="Trebuchet MS"/>
              </a:rPr>
              <a:t>which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spc="55" dirty="0">
                <a:latin typeface="Trebuchet MS"/>
                <a:cs typeface="Trebuchet MS"/>
              </a:rPr>
              <a:t>has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highest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degree.</a:t>
            </a:r>
            <a:r>
              <a:rPr sz="950" spc="8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This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node </a:t>
            </a:r>
            <a:r>
              <a:rPr sz="950" spc="-50" dirty="0">
                <a:latin typeface="Trebuchet MS"/>
                <a:cs typeface="Trebuchet MS"/>
              </a:rPr>
              <a:t>will</a:t>
            </a:r>
            <a:r>
              <a:rPr sz="950" spc="-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be</a:t>
            </a:r>
            <a:r>
              <a:rPr sz="950" spc="-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hub</a:t>
            </a:r>
            <a:r>
              <a:rPr sz="950" spc="-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of</a:t>
            </a:r>
            <a:r>
              <a:rPr sz="950" spc="-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950" spc="-35" dirty="0">
                <a:latin typeface="Trebuchet MS"/>
                <a:cs typeface="Trebuchet MS"/>
              </a:rPr>
              <a:t>first</a:t>
            </a:r>
            <a:r>
              <a:rPr sz="950" spc="-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high</a:t>
            </a:r>
            <a:r>
              <a:rPr sz="950" spc="-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density</a:t>
            </a:r>
            <a:r>
              <a:rPr sz="950" spc="-10" dirty="0">
                <a:latin typeface="Trebuchet MS"/>
                <a:cs typeface="Trebuchet MS"/>
              </a:rPr>
              <a:t> component.</a:t>
            </a:r>
            <a:endParaRPr sz="950">
              <a:latin typeface="Trebuchet MS"/>
              <a:cs typeface="Trebuchet MS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804885" y="3339672"/>
            <a:ext cx="99885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  <a:hlinkClick r:id="rId10" action="ppaction://hlinksldjump"/>
              </a:rPr>
              <a:t>Word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  <a:hlinkClick r:id="rId10" action="ppaction://hlinksldjump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10" action="ppaction://hlinksldjump"/>
              </a:rPr>
              <a:t>Sense</a:t>
            </a:r>
            <a:r>
              <a:rPr sz="600" i="1" spc="5" dirty="0">
                <a:solidFill>
                  <a:srgbClr val="FFFFFF"/>
                </a:solidFill>
                <a:latin typeface="Cambria"/>
                <a:cs typeface="Cambria"/>
                <a:hlinkClick r:id="rId10" action="ppaction://hlinksldjump"/>
              </a:rPr>
              <a:t>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  <a:hlinkClick r:id="rId10" action="ppaction://hlinksldjump"/>
              </a:rPr>
              <a:t>Disambiguation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  <a:hlinkClick r:id="rId10" action="ppaction://hlinksldjump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10" action="ppaction://hlinksldjump"/>
              </a:rPr>
              <a:t>-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  <a:hlinkClick r:id="rId10" action="ppaction://hlinksldjump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  <a:hlinkClick r:id="rId10" action="ppaction://hlinksldjump"/>
              </a:rPr>
              <a:t>II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3608260" y="3339672"/>
            <a:ext cx="56388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8,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4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317424" y="3339672"/>
            <a:ext cx="236854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11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10" dirty="0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</a:rPr>
              <a:t>14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28" name="Slide Number Placeholder 27">
            <a:extLst>
              <a:ext uri="{FF2B5EF4-FFF2-40B4-BE49-F238E27FC236}">
                <a16:creationId xmlns:a16="http://schemas.microsoft.com/office/drawing/2014/main" id="{B408B4EF-6B71-4925-82FA-E41368DF15FA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4292024" y="3339672"/>
            <a:ext cx="262254" cy="116204"/>
          </a:xfrm>
          <a:prstGeom prst="rect">
            <a:avLst/>
          </a:prstGeom>
        </p:spPr>
        <p:txBody>
          <a:bodyPr/>
          <a:lstStyle/>
          <a:p>
            <a:pPr marL="75565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lang="en-IN" smtClean="0"/>
              <a:t>123</a:t>
            </a:fld>
            <a:r>
              <a:rPr lang="en-IN" spc="-5"/>
              <a:t> </a:t>
            </a:r>
            <a:r>
              <a:rPr lang="en-IN" spc="-110"/>
              <a:t>/</a:t>
            </a:r>
            <a:r>
              <a:rPr lang="en-IN" spc="15"/>
              <a:t> </a:t>
            </a:r>
            <a:r>
              <a:rPr lang="en-IN" spc="-25"/>
              <a:t>18</a:t>
            </a:r>
            <a:endParaRPr lang="en-IN" spc="-25" dirty="0"/>
          </a:p>
        </p:txBody>
      </p:sp>
    </p:spTree>
  </p:cSld>
  <p:clrMapOvr>
    <a:masterClrMapping/>
  </p:clrMapOvr>
  <p:transition>
    <p:cut/>
  </p:transition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HyperLex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7743" y="647268"/>
            <a:ext cx="4483735" cy="2404745"/>
            <a:chOff x="87743" y="647268"/>
            <a:chExt cx="4483735" cy="2404745"/>
          </a:xfrm>
        </p:grpSpPr>
        <p:sp>
          <p:nvSpPr>
            <p:cNvPr id="4" name="object 4"/>
            <p:cNvSpPr/>
            <p:nvPr/>
          </p:nvSpPr>
          <p:spPr>
            <a:xfrm>
              <a:off x="87743" y="647268"/>
              <a:ext cx="4432935" cy="186055"/>
            </a:xfrm>
            <a:custGeom>
              <a:avLst/>
              <a:gdLst/>
              <a:ahLst/>
              <a:cxnLst/>
              <a:rect l="l" t="t" r="r" b="b"/>
              <a:pathLst>
                <a:path w="4432935" h="186055">
                  <a:moveTo>
                    <a:pt x="4381754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5674"/>
                  </a:lnTo>
                  <a:lnTo>
                    <a:pt x="4432554" y="185674"/>
                  </a:lnTo>
                  <a:lnTo>
                    <a:pt x="4432554" y="50800"/>
                  </a:lnTo>
                  <a:lnTo>
                    <a:pt x="4428545" y="31075"/>
                  </a:lnTo>
                  <a:lnTo>
                    <a:pt x="4417631" y="14922"/>
                  </a:lnTo>
                  <a:lnTo>
                    <a:pt x="4401478" y="4008"/>
                  </a:lnTo>
                  <a:lnTo>
                    <a:pt x="4381754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744" y="820293"/>
              <a:ext cx="4432554" cy="5060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8544" y="2949956"/>
              <a:ext cx="101599" cy="1016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9344" y="2937256"/>
              <a:ext cx="4381754" cy="1143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20298" y="691502"/>
              <a:ext cx="50800" cy="2258453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87743" y="864616"/>
              <a:ext cx="4432935" cy="2136140"/>
            </a:xfrm>
            <a:custGeom>
              <a:avLst/>
              <a:gdLst/>
              <a:ahLst/>
              <a:cxnLst/>
              <a:rect l="l" t="t" r="r" b="b"/>
              <a:pathLst>
                <a:path w="4432935" h="2136140">
                  <a:moveTo>
                    <a:pt x="4432554" y="0"/>
                  </a:moveTo>
                  <a:lnTo>
                    <a:pt x="0" y="0"/>
                  </a:lnTo>
                  <a:lnTo>
                    <a:pt x="0" y="2085339"/>
                  </a:lnTo>
                  <a:lnTo>
                    <a:pt x="4008" y="2105064"/>
                  </a:lnTo>
                  <a:lnTo>
                    <a:pt x="14922" y="2121217"/>
                  </a:lnTo>
                  <a:lnTo>
                    <a:pt x="31075" y="2132131"/>
                  </a:lnTo>
                  <a:lnTo>
                    <a:pt x="50800" y="2136140"/>
                  </a:lnTo>
                  <a:lnTo>
                    <a:pt x="4381754" y="2136140"/>
                  </a:lnTo>
                  <a:lnTo>
                    <a:pt x="4401478" y="2132131"/>
                  </a:lnTo>
                  <a:lnTo>
                    <a:pt x="4417631" y="2121217"/>
                  </a:lnTo>
                  <a:lnTo>
                    <a:pt x="4428545" y="2105064"/>
                  </a:lnTo>
                  <a:lnTo>
                    <a:pt x="4432554" y="2085339"/>
                  </a:lnTo>
                  <a:lnTo>
                    <a:pt x="4432554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520309" y="729615"/>
              <a:ext cx="0" cy="2239645"/>
            </a:xfrm>
            <a:custGeom>
              <a:avLst/>
              <a:gdLst/>
              <a:ahLst/>
              <a:cxnLst/>
              <a:rect l="l" t="t" r="r" b="b"/>
              <a:pathLst>
                <a:path h="2239645">
                  <a:moveTo>
                    <a:pt x="0" y="2239391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520309" y="716876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520309" y="704176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520309" y="691476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81597" y="914298"/>
              <a:ext cx="64757" cy="64757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81597" y="1296403"/>
              <a:ext cx="64757" cy="64757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81597" y="1678508"/>
              <a:ext cx="64757" cy="64757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81597" y="1888540"/>
              <a:ext cx="64757" cy="64757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81597" y="2098573"/>
              <a:ext cx="64757" cy="64757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81597" y="2480678"/>
              <a:ext cx="64757" cy="64757"/>
            </a:xfrm>
            <a:prstGeom prst="rect">
              <a:avLst/>
            </a:prstGeom>
          </p:spPr>
        </p:pic>
      </p:grpSp>
      <p:sp>
        <p:nvSpPr>
          <p:cNvPr id="20" name="object 20"/>
          <p:cNvSpPr txBox="1"/>
          <p:nvPr/>
        </p:nvSpPr>
        <p:spPr>
          <a:xfrm>
            <a:off x="125729" y="572620"/>
            <a:ext cx="4324985" cy="2016125"/>
          </a:xfrm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sz="1100" i="1" spc="-20" dirty="0">
                <a:solidFill>
                  <a:srgbClr val="3232B2"/>
                </a:solidFill>
                <a:latin typeface="Cambria"/>
                <a:cs typeface="Cambria"/>
              </a:rPr>
              <a:t>Detecting</a:t>
            </a:r>
            <a:r>
              <a:rPr sz="1100" i="1" spc="-5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100" i="1" spc="-10" dirty="0">
                <a:solidFill>
                  <a:srgbClr val="3232B2"/>
                </a:solidFill>
                <a:latin typeface="Cambria"/>
                <a:cs typeface="Cambria"/>
              </a:rPr>
              <a:t>Root</a:t>
            </a:r>
            <a:r>
              <a:rPr sz="1100" i="1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100" i="1" spc="-20" dirty="0">
                <a:solidFill>
                  <a:srgbClr val="3232B2"/>
                </a:solidFill>
                <a:latin typeface="Cambria"/>
                <a:cs typeface="Cambria"/>
              </a:rPr>
              <a:t>Hubs</a:t>
            </a:r>
            <a:endParaRPr sz="1100">
              <a:latin typeface="Cambria"/>
              <a:cs typeface="Cambria"/>
            </a:endParaRPr>
          </a:p>
          <a:p>
            <a:pPr marL="289560" marR="209550">
              <a:lnSpc>
                <a:spcPct val="118900"/>
              </a:lnSpc>
              <a:spcBef>
                <a:spcPts val="209"/>
              </a:spcBef>
            </a:pPr>
            <a:r>
              <a:rPr sz="950" spc="-25" dirty="0">
                <a:latin typeface="Trebuchet MS"/>
                <a:cs typeface="Trebuchet MS"/>
              </a:rPr>
              <a:t>Different</a:t>
            </a:r>
            <a:r>
              <a:rPr sz="950" dirty="0">
                <a:latin typeface="Trebuchet MS"/>
                <a:cs typeface="Trebuchet MS"/>
              </a:rPr>
              <a:t> </a:t>
            </a:r>
            <a:r>
              <a:rPr sz="950" spc="60" dirty="0">
                <a:latin typeface="Trebuchet MS"/>
                <a:cs typeface="Trebuchet MS"/>
              </a:rPr>
              <a:t>uses</a:t>
            </a:r>
            <a:r>
              <a:rPr sz="950" dirty="0">
                <a:latin typeface="Trebuchet MS"/>
                <a:cs typeface="Trebuchet MS"/>
              </a:rPr>
              <a:t> of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 </a:t>
            </a:r>
            <a:r>
              <a:rPr sz="950" spc="-10" dirty="0">
                <a:latin typeface="Trebuchet MS"/>
                <a:cs typeface="Trebuchet MS"/>
              </a:rPr>
              <a:t>target</a:t>
            </a:r>
            <a:r>
              <a:rPr sz="950" dirty="0">
                <a:latin typeface="Trebuchet MS"/>
                <a:cs typeface="Trebuchet MS"/>
              </a:rPr>
              <a:t> word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form</a:t>
            </a:r>
            <a:r>
              <a:rPr sz="950" dirty="0">
                <a:latin typeface="Trebuchet MS"/>
                <a:cs typeface="Trebuchet MS"/>
              </a:rPr>
              <a:t> highly </a:t>
            </a:r>
            <a:r>
              <a:rPr sz="950" spc="-10" dirty="0">
                <a:latin typeface="Trebuchet MS"/>
                <a:cs typeface="Trebuchet MS"/>
              </a:rPr>
              <a:t>interconnected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bundles </a:t>
            </a:r>
            <a:r>
              <a:rPr sz="950" spc="-25" dirty="0">
                <a:latin typeface="Trebuchet MS"/>
                <a:cs typeface="Trebuchet MS"/>
              </a:rPr>
              <a:t>(or </a:t>
            </a:r>
            <a:r>
              <a:rPr sz="950" dirty="0">
                <a:latin typeface="Trebuchet MS"/>
                <a:cs typeface="Trebuchet MS"/>
              </a:rPr>
              <a:t>high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density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components)</a:t>
            </a:r>
            <a:endParaRPr sz="950">
              <a:latin typeface="Trebuchet MS"/>
              <a:cs typeface="Trebuchet MS"/>
            </a:endParaRPr>
          </a:p>
          <a:p>
            <a:pPr marL="289560" marR="256540">
              <a:lnSpc>
                <a:spcPct val="118900"/>
              </a:lnSpc>
              <a:spcBef>
                <a:spcPts val="295"/>
              </a:spcBef>
            </a:pPr>
            <a:r>
              <a:rPr sz="950" dirty="0">
                <a:latin typeface="Trebuchet MS"/>
                <a:cs typeface="Trebuchet MS"/>
              </a:rPr>
              <a:t>In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each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high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density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component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one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of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nodes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(hub)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spc="55" dirty="0">
                <a:latin typeface="Trebuchet MS"/>
                <a:cs typeface="Trebuchet MS"/>
              </a:rPr>
              <a:t>has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higher </a:t>
            </a:r>
            <a:r>
              <a:rPr sz="950" dirty="0">
                <a:latin typeface="Trebuchet MS"/>
                <a:cs typeface="Trebuchet MS"/>
              </a:rPr>
              <a:t>degree than the </a:t>
            </a:r>
            <a:r>
              <a:rPr sz="950" spc="-10" dirty="0">
                <a:latin typeface="Trebuchet MS"/>
                <a:cs typeface="Trebuchet MS"/>
              </a:rPr>
              <a:t>others.</a:t>
            </a:r>
            <a:endParaRPr sz="950">
              <a:latin typeface="Trebuchet MS"/>
              <a:cs typeface="Trebuchet MS"/>
            </a:endParaRPr>
          </a:p>
          <a:p>
            <a:pPr marL="289560">
              <a:lnSpc>
                <a:spcPct val="100000"/>
              </a:lnSpc>
              <a:spcBef>
                <a:spcPts val="365"/>
              </a:spcBef>
            </a:pPr>
            <a:r>
              <a:rPr sz="950" b="1" dirty="0">
                <a:latin typeface="Trebuchet MS"/>
                <a:cs typeface="Trebuchet MS"/>
              </a:rPr>
              <a:t>Step</a:t>
            </a:r>
            <a:r>
              <a:rPr sz="950" b="1" spc="30" dirty="0">
                <a:latin typeface="Trebuchet MS"/>
                <a:cs typeface="Trebuchet MS"/>
              </a:rPr>
              <a:t> </a:t>
            </a:r>
            <a:r>
              <a:rPr sz="950" b="1" dirty="0">
                <a:latin typeface="Trebuchet MS"/>
                <a:cs typeface="Trebuchet MS"/>
              </a:rPr>
              <a:t>1:</a:t>
            </a:r>
            <a:r>
              <a:rPr sz="950" b="1" spc="1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Construct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co-occurrence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graph,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1100" i="1" spc="-25" dirty="0">
                <a:latin typeface="Cambria"/>
                <a:cs typeface="Cambria"/>
              </a:rPr>
              <a:t>G</a:t>
            </a:r>
            <a:r>
              <a:rPr sz="950" spc="-25" dirty="0">
                <a:latin typeface="Trebuchet MS"/>
                <a:cs typeface="Trebuchet MS"/>
              </a:rPr>
              <a:t>.</a:t>
            </a:r>
            <a:endParaRPr sz="950">
              <a:latin typeface="Trebuchet MS"/>
              <a:cs typeface="Trebuchet MS"/>
            </a:endParaRPr>
          </a:p>
          <a:p>
            <a:pPr marL="289560">
              <a:lnSpc>
                <a:spcPct val="100000"/>
              </a:lnSpc>
              <a:spcBef>
                <a:spcPts val="335"/>
              </a:spcBef>
            </a:pPr>
            <a:r>
              <a:rPr sz="950" b="1" dirty="0">
                <a:latin typeface="Trebuchet MS"/>
                <a:cs typeface="Trebuchet MS"/>
              </a:rPr>
              <a:t>Step</a:t>
            </a:r>
            <a:r>
              <a:rPr sz="950" b="1" spc="35" dirty="0">
                <a:latin typeface="Trebuchet MS"/>
                <a:cs typeface="Trebuchet MS"/>
              </a:rPr>
              <a:t> </a:t>
            </a:r>
            <a:r>
              <a:rPr sz="950" b="1" dirty="0">
                <a:latin typeface="Trebuchet MS"/>
                <a:cs typeface="Trebuchet MS"/>
              </a:rPr>
              <a:t>2:</a:t>
            </a:r>
            <a:r>
              <a:rPr sz="950" b="1" spc="1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Arrange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nodes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in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1100" i="1" spc="145" dirty="0">
                <a:latin typeface="Cambria"/>
                <a:cs typeface="Cambria"/>
              </a:rPr>
              <a:t>G</a:t>
            </a:r>
            <a:r>
              <a:rPr sz="1100" i="1" spc="80" dirty="0">
                <a:latin typeface="Cambria"/>
                <a:cs typeface="Cambria"/>
              </a:rPr>
              <a:t> </a:t>
            </a:r>
            <a:r>
              <a:rPr sz="950" dirty="0">
                <a:latin typeface="Trebuchet MS"/>
                <a:cs typeface="Trebuchet MS"/>
              </a:rPr>
              <a:t>in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decreasing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order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of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degree.</a:t>
            </a:r>
            <a:endParaRPr sz="950">
              <a:latin typeface="Trebuchet MS"/>
              <a:cs typeface="Trebuchet MS"/>
            </a:endParaRPr>
          </a:p>
          <a:p>
            <a:pPr marL="289560" marR="5080">
              <a:lnSpc>
                <a:spcPct val="113999"/>
              </a:lnSpc>
              <a:spcBef>
                <a:spcPts val="150"/>
              </a:spcBef>
            </a:pPr>
            <a:r>
              <a:rPr sz="950" b="1" dirty="0">
                <a:latin typeface="Trebuchet MS"/>
                <a:cs typeface="Trebuchet MS"/>
              </a:rPr>
              <a:t>Step</a:t>
            </a:r>
            <a:r>
              <a:rPr sz="950" b="1" spc="10" dirty="0">
                <a:latin typeface="Trebuchet MS"/>
                <a:cs typeface="Trebuchet MS"/>
              </a:rPr>
              <a:t> </a:t>
            </a:r>
            <a:r>
              <a:rPr sz="950" b="1" dirty="0">
                <a:latin typeface="Trebuchet MS"/>
                <a:cs typeface="Trebuchet MS"/>
              </a:rPr>
              <a:t>3:</a:t>
            </a:r>
            <a:r>
              <a:rPr sz="950" b="1" spc="8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Select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node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from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1100" i="1" spc="145" dirty="0">
                <a:latin typeface="Cambria"/>
                <a:cs typeface="Cambria"/>
              </a:rPr>
              <a:t>G</a:t>
            </a:r>
            <a:r>
              <a:rPr sz="1100" i="1" spc="55" dirty="0">
                <a:latin typeface="Cambria"/>
                <a:cs typeface="Cambria"/>
              </a:rPr>
              <a:t> </a:t>
            </a:r>
            <a:r>
              <a:rPr sz="950" dirty="0">
                <a:latin typeface="Trebuchet MS"/>
                <a:cs typeface="Trebuchet MS"/>
              </a:rPr>
              <a:t>which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spc="55" dirty="0">
                <a:latin typeface="Trebuchet MS"/>
                <a:cs typeface="Trebuchet MS"/>
              </a:rPr>
              <a:t>has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highest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degree.</a:t>
            </a:r>
            <a:r>
              <a:rPr sz="950" spc="8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This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node </a:t>
            </a:r>
            <a:r>
              <a:rPr sz="950" spc="-50" dirty="0">
                <a:latin typeface="Trebuchet MS"/>
                <a:cs typeface="Trebuchet MS"/>
              </a:rPr>
              <a:t>will</a:t>
            </a:r>
            <a:r>
              <a:rPr sz="950" spc="-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be</a:t>
            </a:r>
            <a:r>
              <a:rPr sz="950" spc="-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hub</a:t>
            </a:r>
            <a:r>
              <a:rPr sz="950" spc="-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of</a:t>
            </a:r>
            <a:r>
              <a:rPr sz="950" spc="-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950" spc="-35" dirty="0">
                <a:latin typeface="Trebuchet MS"/>
                <a:cs typeface="Trebuchet MS"/>
              </a:rPr>
              <a:t>first</a:t>
            </a:r>
            <a:r>
              <a:rPr sz="950" spc="-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high</a:t>
            </a:r>
            <a:r>
              <a:rPr sz="950" spc="-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density</a:t>
            </a:r>
            <a:r>
              <a:rPr sz="950" spc="-10" dirty="0">
                <a:latin typeface="Trebuchet MS"/>
                <a:cs typeface="Trebuchet MS"/>
              </a:rPr>
              <a:t> component.</a:t>
            </a:r>
            <a:endParaRPr sz="950">
              <a:latin typeface="Trebuchet MS"/>
              <a:cs typeface="Trebuchet MS"/>
            </a:endParaRPr>
          </a:p>
          <a:p>
            <a:pPr marL="289560">
              <a:lnSpc>
                <a:spcPct val="100000"/>
              </a:lnSpc>
              <a:spcBef>
                <a:spcPts val="360"/>
              </a:spcBef>
            </a:pPr>
            <a:r>
              <a:rPr sz="950" b="1" dirty="0">
                <a:latin typeface="Trebuchet MS"/>
                <a:cs typeface="Trebuchet MS"/>
              </a:rPr>
              <a:t>Step</a:t>
            </a:r>
            <a:r>
              <a:rPr sz="950" b="1" spc="10" dirty="0">
                <a:latin typeface="Trebuchet MS"/>
                <a:cs typeface="Trebuchet MS"/>
              </a:rPr>
              <a:t> </a:t>
            </a:r>
            <a:r>
              <a:rPr sz="950" b="1" dirty="0">
                <a:latin typeface="Trebuchet MS"/>
                <a:cs typeface="Trebuchet MS"/>
              </a:rPr>
              <a:t>4:</a:t>
            </a:r>
            <a:r>
              <a:rPr sz="950" b="1" spc="8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Delete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this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hub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and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all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its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neighbors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from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1100" i="1" spc="-25" dirty="0">
                <a:latin typeface="Cambria"/>
                <a:cs typeface="Cambria"/>
              </a:rPr>
              <a:t>G</a:t>
            </a:r>
            <a:r>
              <a:rPr sz="950" spc="-25" dirty="0">
                <a:latin typeface="Trebuchet MS"/>
                <a:cs typeface="Trebuchet MS"/>
              </a:rPr>
              <a:t>.</a:t>
            </a:r>
            <a:endParaRPr sz="950">
              <a:latin typeface="Trebuchet MS"/>
              <a:cs typeface="Trebuchet MS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804885" y="3339672"/>
            <a:ext cx="99885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  <a:hlinkClick r:id="rId11" action="ppaction://hlinksldjump"/>
              </a:rPr>
              <a:t>Word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  <a:hlinkClick r:id="rId11" action="ppaction://hlinksldjump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11" action="ppaction://hlinksldjump"/>
              </a:rPr>
              <a:t>Sense</a:t>
            </a:r>
            <a:r>
              <a:rPr sz="600" i="1" spc="5" dirty="0">
                <a:solidFill>
                  <a:srgbClr val="FFFFFF"/>
                </a:solidFill>
                <a:latin typeface="Cambria"/>
                <a:cs typeface="Cambria"/>
                <a:hlinkClick r:id="rId11" action="ppaction://hlinksldjump"/>
              </a:rPr>
              <a:t>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  <a:hlinkClick r:id="rId11" action="ppaction://hlinksldjump"/>
              </a:rPr>
              <a:t>Disambiguation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  <a:hlinkClick r:id="rId11" action="ppaction://hlinksldjump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11" action="ppaction://hlinksldjump"/>
              </a:rPr>
              <a:t>-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  <a:hlinkClick r:id="rId11" action="ppaction://hlinksldjump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  <a:hlinkClick r:id="rId11" action="ppaction://hlinksldjump"/>
              </a:rPr>
              <a:t>II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3608260" y="3339672"/>
            <a:ext cx="56388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8,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4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4317424" y="3339672"/>
            <a:ext cx="236854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11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10" dirty="0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</a:rPr>
              <a:t>14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29" name="Slide Number Placeholder 28">
            <a:extLst>
              <a:ext uri="{FF2B5EF4-FFF2-40B4-BE49-F238E27FC236}">
                <a16:creationId xmlns:a16="http://schemas.microsoft.com/office/drawing/2014/main" id="{FE3F2F25-5CDF-48FB-85C7-FBB38DF2AFEC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4292024" y="3339672"/>
            <a:ext cx="262254" cy="116204"/>
          </a:xfrm>
          <a:prstGeom prst="rect">
            <a:avLst/>
          </a:prstGeom>
        </p:spPr>
        <p:txBody>
          <a:bodyPr/>
          <a:lstStyle/>
          <a:p>
            <a:pPr marL="75565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lang="en-IN" smtClean="0"/>
              <a:t>124</a:t>
            </a:fld>
            <a:r>
              <a:rPr lang="en-IN" spc="-5"/>
              <a:t> </a:t>
            </a:r>
            <a:r>
              <a:rPr lang="en-IN" spc="-110"/>
              <a:t>/</a:t>
            </a:r>
            <a:r>
              <a:rPr lang="en-IN" spc="15"/>
              <a:t> </a:t>
            </a:r>
            <a:r>
              <a:rPr lang="en-IN" spc="-25"/>
              <a:t>18</a:t>
            </a:r>
            <a:endParaRPr lang="en-IN" spc="-25" dirty="0"/>
          </a:p>
        </p:txBody>
      </p:sp>
    </p:spTree>
  </p:cSld>
  <p:clrMapOvr>
    <a:masterClrMapping/>
  </p:clrMapOvr>
  <p:transition>
    <p:cut/>
  </p:transition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HyperLex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7743" y="647268"/>
            <a:ext cx="4483735" cy="2404745"/>
            <a:chOff x="87743" y="647268"/>
            <a:chExt cx="4483735" cy="2404745"/>
          </a:xfrm>
        </p:grpSpPr>
        <p:sp>
          <p:nvSpPr>
            <p:cNvPr id="4" name="object 4"/>
            <p:cNvSpPr/>
            <p:nvPr/>
          </p:nvSpPr>
          <p:spPr>
            <a:xfrm>
              <a:off x="87743" y="647268"/>
              <a:ext cx="4432935" cy="186055"/>
            </a:xfrm>
            <a:custGeom>
              <a:avLst/>
              <a:gdLst/>
              <a:ahLst/>
              <a:cxnLst/>
              <a:rect l="l" t="t" r="r" b="b"/>
              <a:pathLst>
                <a:path w="4432935" h="186055">
                  <a:moveTo>
                    <a:pt x="4381754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5674"/>
                  </a:lnTo>
                  <a:lnTo>
                    <a:pt x="4432554" y="185674"/>
                  </a:lnTo>
                  <a:lnTo>
                    <a:pt x="4432554" y="50800"/>
                  </a:lnTo>
                  <a:lnTo>
                    <a:pt x="4428545" y="31075"/>
                  </a:lnTo>
                  <a:lnTo>
                    <a:pt x="4417631" y="14922"/>
                  </a:lnTo>
                  <a:lnTo>
                    <a:pt x="4401478" y="4008"/>
                  </a:lnTo>
                  <a:lnTo>
                    <a:pt x="4381754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744" y="820293"/>
              <a:ext cx="4432554" cy="5060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8544" y="2949956"/>
              <a:ext cx="101599" cy="1016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9344" y="2937256"/>
              <a:ext cx="4381754" cy="1143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20298" y="691502"/>
              <a:ext cx="50800" cy="2258453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87743" y="864616"/>
              <a:ext cx="4432935" cy="2136140"/>
            </a:xfrm>
            <a:custGeom>
              <a:avLst/>
              <a:gdLst/>
              <a:ahLst/>
              <a:cxnLst/>
              <a:rect l="l" t="t" r="r" b="b"/>
              <a:pathLst>
                <a:path w="4432935" h="2136140">
                  <a:moveTo>
                    <a:pt x="4432554" y="0"/>
                  </a:moveTo>
                  <a:lnTo>
                    <a:pt x="0" y="0"/>
                  </a:lnTo>
                  <a:lnTo>
                    <a:pt x="0" y="2085339"/>
                  </a:lnTo>
                  <a:lnTo>
                    <a:pt x="4008" y="2105064"/>
                  </a:lnTo>
                  <a:lnTo>
                    <a:pt x="14922" y="2121217"/>
                  </a:lnTo>
                  <a:lnTo>
                    <a:pt x="31075" y="2132131"/>
                  </a:lnTo>
                  <a:lnTo>
                    <a:pt x="50800" y="2136140"/>
                  </a:lnTo>
                  <a:lnTo>
                    <a:pt x="4381754" y="2136140"/>
                  </a:lnTo>
                  <a:lnTo>
                    <a:pt x="4401478" y="2132131"/>
                  </a:lnTo>
                  <a:lnTo>
                    <a:pt x="4417631" y="2121217"/>
                  </a:lnTo>
                  <a:lnTo>
                    <a:pt x="4428545" y="2105064"/>
                  </a:lnTo>
                  <a:lnTo>
                    <a:pt x="4432554" y="2085339"/>
                  </a:lnTo>
                  <a:lnTo>
                    <a:pt x="4432554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520309" y="729615"/>
              <a:ext cx="0" cy="2239645"/>
            </a:xfrm>
            <a:custGeom>
              <a:avLst/>
              <a:gdLst/>
              <a:ahLst/>
              <a:cxnLst/>
              <a:rect l="l" t="t" r="r" b="b"/>
              <a:pathLst>
                <a:path h="2239645">
                  <a:moveTo>
                    <a:pt x="0" y="2239391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520309" y="716876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520309" y="704176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520309" y="691476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81597" y="914298"/>
              <a:ext cx="64757" cy="64757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81597" y="1296403"/>
              <a:ext cx="64757" cy="64757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81597" y="1678508"/>
              <a:ext cx="64757" cy="64757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81597" y="1888540"/>
              <a:ext cx="64757" cy="64757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81597" y="2098573"/>
              <a:ext cx="64757" cy="64757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81597" y="2480678"/>
              <a:ext cx="64757" cy="64757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81597" y="2690711"/>
              <a:ext cx="64757" cy="64757"/>
            </a:xfrm>
            <a:prstGeom prst="rect">
              <a:avLst/>
            </a:prstGeom>
          </p:spPr>
        </p:pic>
      </p:grpSp>
      <p:sp>
        <p:nvSpPr>
          <p:cNvPr id="21" name="object 21"/>
          <p:cNvSpPr txBox="1"/>
          <p:nvPr/>
        </p:nvSpPr>
        <p:spPr>
          <a:xfrm>
            <a:off x="125729" y="572620"/>
            <a:ext cx="4324985" cy="2395220"/>
          </a:xfrm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sz="1100" i="1" spc="-20" dirty="0">
                <a:solidFill>
                  <a:srgbClr val="3232B2"/>
                </a:solidFill>
                <a:latin typeface="Cambria"/>
                <a:cs typeface="Cambria"/>
              </a:rPr>
              <a:t>Detecting</a:t>
            </a:r>
            <a:r>
              <a:rPr sz="1100" i="1" spc="-5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100" i="1" spc="-10" dirty="0">
                <a:solidFill>
                  <a:srgbClr val="3232B2"/>
                </a:solidFill>
                <a:latin typeface="Cambria"/>
                <a:cs typeface="Cambria"/>
              </a:rPr>
              <a:t>Root</a:t>
            </a:r>
            <a:r>
              <a:rPr sz="1100" i="1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100" i="1" spc="-20" dirty="0">
                <a:solidFill>
                  <a:srgbClr val="3232B2"/>
                </a:solidFill>
                <a:latin typeface="Cambria"/>
                <a:cs typeface="Cambria"/>
              </a:rPr>
              <a:t>Hubs</a:t>
            </a:r>
            <a:endParaRPr sz="1100">
              <a:latin typeface="Cambria"/>
              <a:cs typeface="Cambria"/>
            </a:endParaRPr>
          </a:p>
          <a:p>
            <a:pPr marL="289560" marR="209550">
              <a:lnSpc>
                <a:spcPct val="118900"/>
              </a:lnSpc>
              <a:spcBef>
                <a:spcPts val="209"/>
              </a:spcBef>
            </a:pPr>
            <a:r>
              <a:rPr sz="950" spc="-25" dirty="0">
                <a:latin typeface="Trebuchet MS"/>
                <a:cs typeface="Trebuchet MS"/>
              </a:rPr>
              <a:t>Different</a:t>
            </a:r>
            <a:r>
              <a:rPr sz="950" dirty="0">
                <a:latin typeface="Trebuchet MS"/>
                <a:cs typeface="Trebuchet MS"/>
              </a:rPr>
              <a:t> </a:t>
            </a:r>
            <a:r>
              <a:rPr sz="950" spc="60" dirty="0">
                <a:latin typeface="Trebuchet MS"/>
                <a:cs typeface="Trebuchet MS"/>
              </a:rPr>
              <a:t>uses</a:t>
            </a:r>
            <a:r>
              <a:rPr sz="950" dirty="0">
                <a:latin typeface="Trebuchet MS"/>
                <a:cs typeface="Trebuchet MS"/>
              </a:rPr>
              <a:t> of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 </a:t>
            </a:r>
            <a:r>
              <a:rPr sz="950" spc="-10" dirty="0">
                <a:latin typeface="Trebuchet MS"/>
                <a:cs typeface="Trebuchet MS"/>
              </a:rPr>
              <a:t>target</a:t>
            </a:r>
            <a:r>
              <a:rPr sz="950" dirty="0">
                <a:latin typeface="Trebuchet MS"/>
                <a:cs typeface="Trebuchet MS"/>
              </a:rPr>
              <a:t> word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form</a:t>
            </a:r>
            <a:r>
              <a:rPr sz="950" dirty="0">
                <a:latin typeface="Trebuchet MS"/>
                <a:cs typeface="Trebuchet MS"/>
              </a:rPr>
              <a:t> highly </a:t>
            </a:r>
            <a:r>
              <a:rPr sz="950" spc="-10" dirty="0">
                <a:latin typeface="Trebuchet MS"/>
                <a:cs typeface="Trebuchet MS"/>
              </a:rPr>
              <a:t>interconnected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bundles </a:t>
            </a:r>
            <a:r>
              <a:rPr sz="950" spc="-25" dirty="0">
                <a:latin typeface="Trebuchet MS"/>
                <a:cs typeface="Trebuchet MS"/>
              </a:rPr>
              <a:t>(or </a:t>
            </a:r>
            <a:r>
              <a:rPr sz="950" dirty="0">
                <a:latin typeface="Trebuchet MS"/>
                <a:cs typeface="Trebuchet MS"/>
              </a:rPr>
              <a:t>high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density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components)</a:t>
            </a:r>
            <a:endParaRPr sz="950">
              <a:latin typeface="Trebuchet MS"/>
              <a:cs typeface="Trebuchet MS"/>
            </a:endParaRPr>
          </a:p>
          <a:p>
            <a:pPr marL="289560" marR="256540">
              <a:lnSpc>
                <a:spcPct val="118900"/>
              </a:lnSpc>
              <a:spcBef>
                <a:spcPts val="295"/>
              </a:spcBef>
            </a:pPr>
            <a:r>
              <a:rPr sz="950" dirty="0">
                <a:latin typeface="Trebuchet MS"/>
                <a:cs typeface="Trebuchet MS"/>
              </a:rPr>
              <a:t>In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each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high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density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component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one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of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nodes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(hub)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spc="55" dirty="0">
                <a:latin typeface="Trebuchet MS"/>
                <a:cs typeface="Trebuchet MS"/>
              </a:rPr>
              <a:t>has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higher </a:t>
            </a:r>
            <a:r>
              <a:rPr sz="950" dirty="0">
                <a:latin typeface="Trebuchet MS"/>
                <a:cs typeface="Trebuchet MS"/>
              </a:rPr>
              <a:t>degree than the </a:t>
            </a:r>
            <a:r>
              <a:rPr sz="950" spc="-10" dirty="0">
                <a:latin typeface="Trebuchet MS"/>
                <a:cs typeface="Trebuchet MS"/>
              </a:rPr>
              <a:t>others.</a:t>
            </a:r>
            <a:endParaRPr sz="950">
              <a:latin typeface="Trebuchet MS"/>
              <a:cs typeface="Trebuchet MS"/>
            </a:endParaRPr>
          </a:p>
          <a:p>
            <a:pPr marL="289560">
              <a:lnSpc>
                <a:spcPct val="100000"/>
              </a:lnSpc>
              <a:spcBef>
                <a:spcPts val="365"/>
              </a:spcBef>
            </a:pPr>
            <a:r>
              <a:rPr sz="950" b="1" dirty="0">
                <a:latin typeface="Trebuchet MS"/>
                <a:cs typeface="Trebuchet MS"/>
              </a:rPr>
              <a:t>Step</a:t>
            </a:r>
            <a:r>
              <a:rPr sz="950" b="1" spc="30" dirty="0">
                <a:latin typeface="Trebuchet MS"/>
                <a:cs typeface="Trebuchet MS"/>
              </a:rPr>
              <a:t> </a:t>
            </a:r>
            <a:r>
              <a:rPr sz="950" b="1" dirty="0">
                <a:latin typeface="Trebuchet MS"/>
                <a:cs typeface="Trebuchet MS"/>
              </a:rPr>
              <a:t>1:</a:t>
            </a:r>
            <a:r>
              <a:rPr sz="950" b="1" spc="1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Construct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co-occurrence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graph,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1100" i="1" spc="-25" dirty="0">
                <a:latin typeface="Cambria"/>
                <a:cs typeface="Cambria"/>
              </a:rPr>
              <a:t>G</a:t>
            </a:r>
            <a:r>
              <a:rPr sz="950" spc="-25" dirty="0">
                <a:latin typeface="Trebuchet MS"/>
                <a:cs typeface="Trebuchet MS"/>
              </a:rPr>
              <a:t>.</a:t>
            </a:r>
            <a:endParaRPr sz="950">
              <a:latin typeface="Trebuchet MS"/>
              <a:cs typeface="Trebuchet MS"/>
            </a:endParaRPr>
          </a:p>
          <a:p>
            <a:pPr marL="289560">
              <a:lnSpc>
                <a:spcPct val="100000"/>
              </a:lnSpc>
              <a:spcBef>
                <a:spcPts val="335"/>
              </a:spcBef>
            </a:pPr>
            <a:r>
              <a:rPr sz="950" b="1" dirty="0">
                <a:latin typeface="Trebuchet MS"/>
                <a:cs typeface="Trebuchet MS"/>
              </a:rPr>
              <a:t>Step</a:t>
            </a:r>
            <a:r>
              <a:rPr sz="950" b="1" spc="35" dirty="0">
                <a:latin typeface="Trebuchet MS"/>
                <a:cs typeface="Trebuchet MS"/>
              </a:rPr>
              <a:t> </a:t>
            </a:r>
            <a:r>
              <a:rPr sz="950" b="1" dirty="0">
                <a:latin typeface="Trebuchet MS"/>
                <a:cs typeface="Trebuchet MS"/>
              </a:rPr>
              <a:t>2:</a:t>
            </a:r>
            <a:r>
              <a:rPr sz="950" b="1" spc="1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Arrange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nodes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in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1100" i="1" spc="145" dirty="0">
                <a:latin typeface="Cambria"/>
                <a:cs typeface="Cambria"/>
              </a:rPr>
              <a:t>G</a:t>
            </a:r>
            <a:r>
              <a:rPr sz="1100" i="1" spc="80" dirty="0">
                <a:latin typeface="Cambria"/>
                <a:cs typeface="Cambria"/>
              </a:rPr>
              <a:t> </a:t>
            </a:r>
            <a:r>
              <a:rPr sz="950" dirty="0">
                <a:latin typeface="Trebuchet MS"/>
                <a:cs typeface="Trebuchet MS"/>
              </a:rPr>
              <a:t>in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decreasing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order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of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degree.</a:t>
            </a:r>
            <a:endParaRPr sz="950">
              <a:latin typeface="Trebuchet MS"/>
              <a:cs typeface="Trebuchet MS"/>
            </a:endParaRPr>
          </a:p>
          <a:p>
            <a:pPr marL="289560" marR="5080">
              <a:lnSpc>
                <a:spcPct val="113999"/>
              </a:lnSpc>
              <a:spcBef>
                <a:spcPts val="150"/>
              </a:spcBef>
            </a:pPr>
            <a:r>
              <a:rPr sz="950" b="1" dirty="0">
                <a:latin typeface="Trebuchet MS"/>
                <a:cs typeface="Trebuchet MS"/>
              </a:rPr>
              <a:t>Step</a:t>
            </a:r>
            <a:r>
              <a:rPr sz="950" b="1" spc="10" dirty="0">
                <a:latin typeface="Trebuchet MS"/>
                <a:cs typeface="Trebuchet MS"/>
              </a:rPr>
              <a:t> </a:t>
            </a:r>
            <a:r>
              <a:rPr sz="950" b="1" dirty="0">
                <a:latin typeface="Trebuchet MS"/>
                <a:cs typeface="Trebuchet MS"/>
              </a:rPr>
              <a:t>3:</a:t>
            </a:r>
            <a:r>
              <a:rPr sz="950" b="1" spc="8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Select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node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from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1100" i="1" spc="145" dirty="0">
                <a:latin typeface="Cambria"/>
                <a:cs typeface="Cambria"/>
              </a:rPr>
              <a:t>G</a:t>
            </a:r>
            <a:r>
              <a:rPr sz="1100" i="1" spc="55" dirty="0">
                <a:latin typeface="Cambria"/>
                <a:cs typeface="Cambria"/>
              </a:rPr>
              <a:t> </a:t>
            </a:r>
            <a:r>
              <a:rPr sz="950" dirty="0">
                <a:latin typeface="Trebuchet MS"/>
                <a:cs typeface="Trebuchet MS"/>
              </a:rPr>
              <a:t>which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spc="55" dirty="0">
                <a:latin typeface="Trebuchet MS"/>
                <a:cs typeface="Trebuchet MS"/>
              </a:rPr>
              <a:t>has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highest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degree.</a:t>
            </a:r>
            <a:r>
              <a:rPr sz="950" spc="8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This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node </a:t>
            </a:r>
            <a:r>
              <a:rPr sz="950" spc="-50" dirty="0">
                <a:latin typeface="Trebuchet MS"/>
                <a:cs typeface="Trebuchet MS"/>
              </a:rPr>
              <a:t>will</a:t>
            </a:r>
            <a:r>
              <a:rPr sz="950" spc="-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be</a:t>
            </a:r>
            <a:r>
              <a:rPr sz="950" spc="-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hub</a:t>
            </a:r>
            <a:r>
              <a:rPr sz="950" spc="-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of</a:t>
            </a:r>
            <a:r>
              <a:rPr sz="950" spc="-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950" spc="-35" dirty="0">
                <a:latin typeface="Trebuchet MS"/>
                <a:cs typeface="Trebuchet MS"/>
              </a:rPr>
              <a:t>first</a:t>
            </a:r>
            <a:r>
              <a:rPr sz="950" spc="-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high</a:t>
            </a:r>
            <a:r>
              <a:rPr sz="950" spc="-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density</a:t>
            </a:r>
            <a:r>
              <a:rPr sz="950" spc="-10" dirty="0">
                <a:latin typeface="Trebuchet MS"/>
                <a:cs typeface="Trebuchet MS"/>
              </a:rPr>
              <a:t> component.</a:t>
            </a:r>
            <a:endParaRPr sz="950">
              <a:latin typeface="Trebuchet MS"/>
              <a:cs typeface="Trebuchet MS"/>
            </a:endParaRPr>
          </a:p>
          <a:p>
            <a:pPr marL="289560">
              <a:lnSpc>
                <a:spcPct val="100000"/>
              </a:lnSpc>
              <a:spcBef>
                <a:spcPts val="360"/>
              </a:spcBef>
            </a:pPr>
            <a:r>
              <a:rPr sz="950" b="1" dirty="0">
                <a:latin typeface="Trebuchet MS"/>
                <a:cs typeface="Trebuchet MS"/>
              </a:rPr>
              <a:t>Step</a:t>
            </a:r>
            <a:r>
              <a:rPr sz="950" b="1" spc="10" dirty="0">
                <a:latin typeface="Trebuchet MS"/>
                <a:cs typeface="Trebuchet MS"/>
              </a:rPr>
              <a:t> </a:t>
            </a:r>
            <a:r>
              <a:rPr sz="950" b="1" dirty="0">
                <a:latin typeface="Trebuchet MS"/>
                <a:cs typeface="Trebuchet MS"/>
              </a:rPr>
              <a:t>4:</a:t>
            </a:r>
            <a:r>
              <a:rPr sz="950" b="1" spc="8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Delete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this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hub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and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all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its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neighbors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from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1100" i="1" spc="-25" dirty="0">
                <a:latin typeface="Cambria"/>
                <a:cs typeface="Cambria"/>
              </a:rPr>
              <a:t>G</a:t>
            </a:r>
            <a:r>
              <a:rPr sz="950" spc="-25" dirty="0">
                <a:latin typeface="Trebuchet MS"/>
                <a:cs typeface="Trebuchet MS"/>
              </a:rPr>
              <a:t>.</a:t>
            </a:r>
            <a:endParaRPr sz="950">
              <a:latin typeface="Trebuchet MS"/>
              <a:cs typeface="Trebuchet MS"/>
            </a:endParaRPr>
          </a:p>
          <a:p>
            <a:pPr marL="289560" marR="241300">
              <a:lnSpc>
                <a:spcPct val="118900"/>
              </a:lnSpc>
              <a:spcBef>
                <a:spcPts val="270"/>
              </a:spcBef>
            </a:pPr>
            <a:r>
              <a:rPr sz="950" b="1" dirty="0">
                <a:latin typeface="Trebuchet MS"/>
                <a:cs typeface="Trebuchet MS"/>
              </a:rPr>
              <a:t>Step</a:t>
            </a:r>
            <a:r>
              <a:rPr sz="950" b="1" spc="30" dirty="0">
                <a:latin typeface="Trebuchet MS"/>
                <a:cs typeface="Trebuchet MS"/>
              </a:rPr>
              <a:t> </a:t>
            </a:r>
            <a:r>
              <a:rPr sz="950" b="1" dirty="0">
                <a:latin typeface="Trebuchet MS"/>
                <a:cs typeface="Trebuchet MS"/>
              </a:rPr>
              <a:t>5:</a:t>
            </a:r>
            <a:r>
              <a:rPr sz="950" b="1" spc="10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Repeat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Step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3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and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4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to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detect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hubs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of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other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high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density components</a:t>
            </a:r>
            <a:endParaRPr sz="950">
              <a:latin typeface="Trebuchet MS"/>
              <a:cs typeface="Trebuchet MS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804885" y="3339672"/>
            <a:ext cx="99885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  <a:hlinkClick r:id="rId12" action="ppaction://hlinksldjump"/>
              </a:rPr>
              <a:t>Word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  <a:hlinkClick r:id="rId12" action="ppaction://hlinksldjump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12" action="ppaction://hlinksldjump"/>
              </a:rPr>
              <a:t>Sense</a:t>
            </a:r>
            <a:r>
              <a:rPr sz="600" i="1" spc="5" dirty="0">
                <a:solidFill>
                  <a:srgbClr val="FFFFFF"/>
                </a:solidFill>
                <a:latin typeface="Cambria"/>
                <a:cs typeface="Cambria"/>
                <a:hlinkClick r:id="rId12" action="ppaction://hlinksldjump"/>
              </a:rPr>
              <a:t>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  <a:hlinkClick r:id="rId12" action="ppaction://hlinksldjump"/>
              </a:rPr>
              <a:t>Disambiguation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  <a:hlinkClick r:id="rId12" action="ppaction://hlinksldjump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12" action="ppaction://hlinksldjump"/>
              </a:rPr>
              <a:t>-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  <a:hlinkClick r:id="rId12" action="ppaction://hlinksldjump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  <a:hlinkClick r:id="rId12" action="ppaction://hlinksldjump"/>
              </a:rPr>
              <a:t>II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3608260" y="3339672"/>
            <a:ext cx="56388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8,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4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4317424" y="3339672"/>
            <a:ext cx="236854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11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10" dirty="0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</a:rPr>
              <a:t>14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30" name="Slide Number Placeholder 29">
            <a:extLst>
              <a:ext uri="{FF2B5EF4-FFF2-40B4-BE49-F238E27FC236}">
                <a16:creationId xmlns:a16="http://schemas.microsoft.com/office/drawing/2014/main" id="{8EF63CDA-E368-4935-8A6D-B360C525B59C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4292024" y="3339672"/>
            <a:ext cx="262254" cy="116204"/>
          </a:xfrm>
          <a:prstGeom prst="rect">
            <a:avLst/>
          </a:prstGeom>
        </p:spPr>
        <p:txBody>
          <a:bodyPr/>
          <a:lstStyle/>
          <a:p>
            <a:pPr marL="75565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lang="en-IN" smtClean="0"/>
              <a:t>125</a:t>
            </a:fld>
            <a:r>
              <a:rPr lang="en-IN" spc="-5"/>
              <a:t> </a:t>
            </a:r>
            <a:r>
              <a:rPr lang="en-IN" spc="-110"/>
              <a:t>/</a:t>
            </a:r>
            <a:r>
              <a:rPr lang="en-IN" spc="15"/>
              <a:t> </a:t>
            </a:r>
            <a:r>
              <a:rPr lang="en-IN" spc="-25"/>
              <a:t>18</a:t>
            </a:r>
            <a:endParaRPr lang="en-IN" spc="-25" dirty="0"/>
          </a:p>
        </p:txBody>
      </p:sp>
    </p:spTree>
  </p:cSld>
  <p:clrMapOvr>
    <a:masterClrMapping/>
  </p:clrMapOvr>
  <p:transition>
    <p:cut/>
  </p:transition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38"/>
            <a:ext cx="4608195" cy="351790"/>
          </a:xfrm>
          <a:custGeom>
            <a:avLst/>
            <a:gdLst/>
            <a:ahLst/>
            <a:cxnLst/>
            <a:rect l="l" t="t" r="r" b="b"/>
            <a:pathLst>
              <a:path w="4608195" h="351790">
                <a:moveTo>
                  <a:pt x="4607941" y="0"/>
                </a:moveTo>
                <a:lnTo>
                  <a:pt x="0" y="0"/>
                </a:lnTo>
                <a:lnTo>
                  <a:pt x="0" y="351409"/>
                </a:lnTo>
                <a:lnTo>
                  <a:pt x="4607941" y="351409"/>
                </a:lnTo>
                <a:lnTo>
                  <a:pt x="4607941" y="0"/>
                </a:lnTo>
                <a:close/>
              </a:path>
            </a:pathLst>
          </a:custGeom>
          <a:solidFill>
            <a:srgbClr val="3232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5250" y="60502"/>
            <a:ext cx="238569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i="1" dirty="0">
                <a:solidFill>
                  <a:srgbClr val="FFFFFF"/>
                </a:solidFill>
                <a:latin typeface="Cambria"/>
                <a:cs typeface="Cambria"/>
              </a:rPr>
              <a:t>HyperLex:</a:t>
            </a:r>
            <a:r>
              <a:rPr sz="1400" i="1" spc="16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dirty="0">
                <a:solidFill>
                  <a:srgbClr val="FFFFFF"/>
                </a:solidFill>
                <a:latin typeface="Cambria"/>
                <a:cs typeface="Cambria"/>
              </a:rPr>
              <a:t>Detecting</a:t>
            </a:r>
            <a:r>
              <a:rPr sz="1400" i="1" spc="7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dirty="0">
                <a:solidFill>
                  <a:srgbClr val="FFFFFF"/>
                </a:solidFill>
                <a:latin typeface="Cambria"/>
                <a:cs typeface="Cambria"/>
              </a:rPr>
              <a:t>Root</a:t>
            </a:r>
            <a:r>
              <a:rPr sz="1400" i="1" spc="7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spc="-20" dirty="0">
                <a:solidFill>
                  <a:srgbClr val="FFFFFF"/>
                </a:solidFill>
                <a:latin typeface="Cambria"/>
                <a:cs typeface="Cambria"/>
              </a:rPr>
              <a:t>Hubs</a:t>
            </a:r>
            <a:endParaRPr sz="1400">
              <a:latin typeface="Cambria"/>
              <a:cs typeface="Cambri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0596" y="1079385"/>
            <a:ext cx="3800475" cy="1282699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1804885" y="3339672"/>
            <a:ext cx="99885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Word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Sense</a:t>
            </a:r>
            <a:r>
              <a:rPr sz="600" i="1" spc="5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Disambiguation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-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II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608260" y="3339672"/>
            <a:ext cx="56388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8,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4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4294967295"/>
          </p:nvPr>
        </p:nvSpPr>
        <p:spPr>
          <a:xfrm>
            <a:off x="4292024" y="3339672"/>
            <a:ext cx="262254" cy="116204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0"/>
              </a:spcBef>
            </a:pPr>
            <a:r>
              <a:rPr dirty="0"/>
              <a:t>12</a:t>
            </a:r>
            <a:r>
              <a:rPr spc="-20" dirty="0"/>
              <a:t> </a:t>
            </a:r>
            <a:r>
              <a:rPr spc="-110" dirty="0"/>
              <a:t>/</a:t>
            </a:r>
            <a:r>
              <a:rPr spc="15" dirty="0"/>
              <a:t> </a:t>
            </a:r>
            <a:r>
              <a:rPr spc="-25" dirty="0"/>
              <a:t>14</a:t>
            </a:r>
          </a:p>
        </p:txBody>
      </p:sp>
    </p:spTree>
  </p:cSld>
  <p:clrMapOvr>
    <a:masterClrMapping/>
  </p:clrMapOvr>
  <p:transition>
    <p:cut/>
  </p:transition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Delineating</a:t>
            </a:r>
            <a:r>
              <a:rPr spc="50" dirty="0"/>
              <a:t> </a:t>
            </a:r>
            <a:r>
              <a:rPr spc="-10" dirty="0"/>
              <a:t>Components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597" y="1041108"/>
            <a:ext cx="64757" cy="64757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02932" y="910597"/>
            <a:ext cx="3834765" cy="617855"/>
          </a:xfrm>
          <a:prstGeom prst="rect">
            <a:avLst/>
          </a:prstGeom>
        </p:spPr>
        <p:txBody>
          <a:bodyPr vert="horz" wrap="square" lIns="0" tIns="768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5"/>
              </a:spcBef>
            </a:pPr>
            <a:r>
              <a:rPr sz="950" dirty="0">
                <a:latin typeface="Trebuchet MS"/>
                <a:cs typeface="Trebuchet MS"/>
              </a:rPr>
              <a:t>Attach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each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node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to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root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hub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closest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to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spc="-25" dirty="0">
                <a:latin typeface="Trebuchet MS"/>
                <a:cs typeface="Trebuchet MS"/>
              </a:rPr>
              <a:t>it.</a:t>
            </a:r>
            <a:endParaRPr sz="950">
              <a:latin typeface="Trebuchet MS"/>
              <a:cs typeface="Trebuchet MS"/>
            </a:endParaRPr>
          </a:p>
          <a:p>
            <a:pPr marL="12700" marR="5080">
              <a:lnSpc>
                <a:spcPct val="118900"/>
              </a:lnSpc>
              <a:spcBef>
                <a:spcPts val="300"/>
              </a:spcBef>
            </a:pP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distance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between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two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nodes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is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measured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spc="70" dirty="0">
                <a:latin typeface="Trebuchet MS"/>
                <a:cs typeface="Trebuchet MS"/>
              </a:rPr>
              <a:t>as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smallest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spc="50" dirty="0">
                <a:latin typeface="Trebuchet MS"/>
                <a:cs typeface="Trebuchet MS"/>
              </a:rPr>
              <a:t>sum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spc="-25" dirty="0">
                <a:latin typeface="Trebuchet MS"/>
                <a:cs typeface="Trebuchet MS"/>
              </a:rPr>
              <a:t>of </a:t>
            </a:r>
            <a:r>
              <a:rPr sz="950" dirty="0">
                <a:latin typeface="Trebuchet MS"/>
                <a:cs typeface="Trebuchet MS"/>
              </a:rPr>
              <a:t>weights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of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edges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on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paths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linking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them.</a:t>
            </a:r>
            <a:endParaRPr sz="950">
              <a:latin typeface="Trebuchet MS"/>
              <a:cs typeface="Trebuchet MS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597" y="1251140"/>
            <a:ext cx="64757" cy="64757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1804873" y="3339672"/>
            <a:ext cx="99885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  <a:hlinkClick r:id="rId4" action="ppaction://hlinksldjump"/>
              </a:rPr>
              <a:t>Word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  <a:hlinkClick r:id="rId4" action="ppaction://hlinksldjump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4" action="ppaction://hlinksldjump"/>
              </a:rPr>
              <a:t>Sense</a:t>
            </a:r>
            <a:r>
              <a:rPr sz="600" i="1" spc="5" dirty="0">
                <a:solidFill>
                  <a:srgbClr val="FFFFFF"/>
                </a:solidFill>
                <a:latin typeface="Cambria"/>
                <a:cs typeface="Cambria"/>
                <a:hlinkClick r:id="rId4" action="ppaction://hlinksldjump"/>
              </a:rPr>
              <a:t>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  <a:hlinkClick r:id="rId4" action="ppaction://hlinksldjump"/>
              </a:rPr>
              <a:t>Disambiguation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  <a:hlinkClick r:id="rId4" action="ppaction://hlinksldjump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4" action="ppaction://hlinksldjump"/>
              </a:rPr>
              <a:t>-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  <a:hlinkClick r:id="rId4" action="ppaction://hlinksldjump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  <a:hlinkClick r:id="rId4" action="ppaction://hlinksldjump"/>
              </a:rPr>
              <a:t>II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608260" y="3339672"/>
            <a:ext cx="56388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8,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4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317424" y="3339672"/>
            <a:ext cx="236854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13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10" dirty="0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</a:rPr>
              <a:t>14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3A5411C2-3D5C-4645-A7C4-1D72A85F7C25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4292024" y="3339672"/>
            <a:ext cx="262254" cy="116204"/>
          </a:xfrm>
          <a:prstGeom prst="rect">
            <a:avLst/>
          </a:prstGeom>
        </p:spPr>
        <p:txBody>
          <a:bodyPr/>
          <a:lstStyle/>
          <a:p>
            <a:pPr marL="75565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lang="en-IN" smtClean="0"/>
              <a:t>127</a:t>
            </a:fld>
            <a:r>
              <a:rPr lang="en-IN" spc="-5"/>
              <a:t> </a:t>
            </a:r>
            <a:r>
              <a:rPr lang="en-IN" spc="-110"/>
              <a:t>/</a:t>
            </a:r>
            <a:r>
              <a:rPr lang="en-IN" spc="15"/>
              <a:t> </a:t>
            </a:r>
            <a:r>
              <a:rPr lang="en-IN" spc="-25"/>
              <a:t>18</a:t>
            </a:r>
            <a:endParaRPr lang="en-IN" spc="-25" dirty="0"/>
          </a:p>
        </p:txBody>
      </p:sp>
    </p:spTree>
  </p:cSld>
  <p:clrMapOvr>
    <a:masterClrMapping/>
  </p:clrMapOvr>
  <p:transition>
    <p:cut/>
  </p:transition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Delineating</a:t>
            </a:r>
            <a:r>
              <a:rPr spc="50" dirty="0"/>
              <a:t> </a:t>
            </a:r>
            <a:r>
              <a:rPr spc="-10" dirty="0"/>
              <a:t>Components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597" y="1041108"/>
            <a:ext cx="64757" cy="64757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597" y="1251140"/>
            <a:ext cx="64757" cy="64757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87743" y="1695424"/>
            <a:ext cx="4483735" cy="884555"/>
            <a:chOff x="87743" y="1695424"/>
            <a:chExt cx="4483735" cy="884555"/>
          </a:xfrm>
        </p:grpSpPr>
        <p:sp>
          <p:nvSpPr>
            <p:cNvPr id="6" name="object 6"/>
            <p:cNvSpPr/>
            <p:nvPr/>
          </p:nvSpPr>
          <p:spPr>
            <a:xfrm>
              <a:off x="87743" y="1695424"/>
              <a:ext cx="4432935" cy="198755"/>
            </a:xfrm>
            <a:custGeom>
              <a:avLst/>
              <a:gdLst/>
              <a:ahLst/>
              <a:cxnLst/>
              <a:rect l="l" t="t" r="r" b="b"/>
              <a:pathLst>
                <a:path w="4432935" h="198755">
                  <a:moveTo>
                    <a:pt x="4381754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98755"/>
                  </a:lnTo>
                  <a:lnTo>
                    <a:pt x="4432554" y="198755"/>
                  </a:lnTo>
                  <a:lnTo>
                    <a:pt x="4432554" y="50800"/>
                  </a:lnTo>
                  <a:lnTo>
                    <a:pt x="4428545" y="31075"/>
                  </a:lnTo>
                  <a:lnTo>
                    <a:pt x="4417631" y="14922"/>
                  </a:lnTo>
                  <a:lnTo>
                    <a:pt x="4401478" y="4008"/>
                  </a:lnTo>
                  <a:lnTo>
                    <a:pt x="4381754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7744" y="1881593"/>
              <a:ext cx="4432554" cy="50609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38544" y="2478341"/>
              <a:ext cx="101599" cy="10160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89344" y="2465641"/>
              <a:ext cx="4381754" cy="114300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520298" y="1739671"/>
              <a:ext cx="50800" cy="738670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87743" y="1925891"/>
              <a:ext cx="4432935" cy="603250"/>
            </a:xfrm>
            <a:custGeom>
              <a:avLst/>
              <a:gdLst/>
              <a:ahLst/>
              <a:cxnLst/>
              <a:rect l="l" t="t" r="r" b="b"/>
              <a:pathLst>
                <a:path w="4432935" h="603250">
                  <a:moveTo>
                    <a:pt x="4432554" y="0"/>
                  </a:moveTo>
                  <a:lnTo>
                    <a:pt x="0" y="0"/>
                  </a:lnTo>
                  <a:lnTo>
                    <a:pt x="0" y="552450"/>
                  </a:lnTo>
                  <a:lnTo>
                    <a:pt x="4008" y="572174"/>
                  </a:lnTo>
                  <a:lnTo>
                    <a:pt x="14922" y="588327"/>
                  </a:lnTo>
                  <a:lnTo>
                    <a:pt x="31075" y="599241"/>
                  </a:lnTo>
                  <a:lnTo>
                    <a:pt x="50800" y="603250"/>
                  </a:lnTo>
                  <a:lnTo>
                    <a:pt x="4381754" y="603250"/>
                  </a:lnTo>
                  <a:lnTo>
                    <a:pt x="4401478" y="599241"/>
                  </a:lnTo>
                  <a:lnTo>
                    <a:pt x="4417631" y="588327"/>
                  </a:lnTo>
                  <a:lnTo>
                    <a:pt x="4428545" y="572174"/>
                  </a:lnTo>
                  <a:lnTo>
                    <a:pt x="4432554" y="552450"/>
                  </a:lnTo>
                  <a:lnTo>
                    <a:pt x="4432554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520309" y="1777809"/>
              <a:ext cx="0" cy="720090"/>
            </a:xfrm>
            <a:custGeom>
              <a:avLst/>
              <a:gdLst/>
              <a:ahLst/>
              <a:cxnLst/>
              <a:rect l="l" t="t" r="r" b="b"/>
              <a:pathLst>
                <a:path h="720089">
                  <a:moveTo>
                    <a:pt x="0" y="719582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520309" y="1765054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520309" y="1752354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520309" y="1739654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74930" y="910597"/>
            <a:ext cx="4188460" cy="1253490"/>
          </a:xfrm>
          <a:prstGeom prst="rect">
            <a:avLst/>
          </a:prstGeom>
        </p:spPr>
        <p:txBody>
          <a:bodyPr vert="horz" wrap="square" lIns="0" tIns="76835" rIns="0" bIns="0" rtlCol="0">
            <a:spAutoFit/>
          </a:bodyPr>
          <a:lstStyle/>
          <a:p>
            <a:pPr marL="340360">
              <a:lnSpc>
                <a:spcPct val="100000"/>
              </a:lnSpc>
              <a:spcBef>
                <a:spcPts val="605"/>
              </a:spcBef>
            </a:pPr>
            <a:r>
              <a:rPr sz="950" dirty="0">
                <a:latin typeface="Trebuchet MS"/>
                <a:cs typeface="Trebuchet MS"/>
              </a:rPr>
              <a:t>Attach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each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node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to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root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hub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closest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to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spc="-25" dirty="0">
                <a:latin typeface="Trebuchet MS"/>
                <a:cs typeface="Trebuchet MS"/>
              </a:rPr>
              <a:t>it.</a:t>
            </a:r>
            <a:endParaRPr sz="950">
              <a:latin typeface="Trebuchet MS"/>
              <a:cs typeface="Trebuchet MS"/>
            </a:endParaRPr>
          </a:p>
          <a:p>
            <a:pPr marL="340360" marR="30480">
              <a:lnSpc>
                <a:spcPct val="118900"/>
              </a:lnSpc>
              <a:spcBef>
                <a:spcPts val="300"/>
              </a:spcBef>
            </a:pP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distance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between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two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nodes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is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measured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spc="70" dirty="0">
                <a:latin typeface="Trebuchet MS"/>
                <a:cs typeface="Trebuchet MS"/>
              </a:rPr>
              <a:t>as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smallest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spc="50" dirty="0">
                <a:latin typeface="Trebuchet MS"/>
                <a:cs typeface="Trebuchet MS"/>
              </a:rPr>
              <a:t>sum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spc="-25" dirty="0">
                <a:latin typeface="Trebuchet MS"/>
                <a:cs typeface="Trebuchet MS"/>
              </a:rPr>
              <a:t>of </a:t>
            </a:r>
            <a:r>
              <a:rPr sz="950" dirty="0">
                <a:latin typeface="Trebuchet MS"/>
                <a:cs typeface="Trebuchet MS"/>
              </a:rPr>
              <a:t>weights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of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edges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on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paths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linking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them.</a:t>
            </a:r>
            <a:endParaRPr sz="9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260"/>
              </a:spcBef>
            </a:pPr>
            <a:endParaRPr sz="950">
              <a:latin typeface="Trebuchet MS"/>
              <a:cs typeface="Trebuchet MS"/>
            </a:endParaRPr>
          </a:p>
          <a:p>
            <a:pPr marL="63500">
              <a:lnSpc>
                <a:spcPct val="100000"/>
              </a:lnSpc>
            </a:pPr>
            <a:r>
              <a:rPr sz="1100" i="1" spc="-20" dirty="0">
                <a:solidFill>
                  <a:srgbClr val="3232B2"/>
                </a:solidFill>
                <a:latin typeface="Cambria"/>
                <a:cs typeface="Cambria"/>
              </a:rPr>
              <a:t>Computing</a:t>
            </a:r>
            <a:r>
              <a:rPr sz="1100" i="1" spc="-15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100" i="1" spc="-20" dirty="0">
                <a:solidFill>
                  <a:srgbClr val="3232B2"/>
                </a:solidFill>
                <a:latin typeface="Cambria"/>
                <a:cs typeface="Cambria"/>
              </a:rPr>
              <a:t>distance</a:t>
            </a:r>
            <a:r>
              <a:rPr sz="1100" i="1" spc="-15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100" i="1" spc="-35" dirty="0">
                <a:solidFill>
                  <a:srgbClr val="3232B2"/>
                </a:solidFill>
                <a:latin typeface="Cambria"/>
                <a:cs typeface="Cambria"/>
              </a:rPr>
              <a:t>between</a:t>
            </a:r>
            <a:r>
              <a:rPr sz="1100" i="1" spc="-15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100" i="1" spc="-45" dirty="0">
                <a:solidFill>
                  <a:srgbClr val="3232B2"/>
                </a:solidFill>
                <a:latin typeface="Cambria"/>
                <a:cs typeface="Cambria"/>
              </a:rPr>
              <a:t>two</a:t>
            </a:r>
            <a:r>
              <a:rPr sz="1100" i="1" spc="-15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100" i="1" spc="-10" dirty="0">
                <a:solidFill>
                  <a:srgbClr val="3232B2"/>
                </a:solidFill>
                <a:latin typeface="Cambria"/>
                <a:cs typeface="Cambria"/>
              </a:rPr>
              <a:t>nodes</a:t>
            </a:r>
            <a:r>
              <a:rPr sz="1100" i="1" spc="-15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100" i="1" dirty="0">
                <a:solidFill>
                  <a:srgbClr val="3232B2"/>
                </a:solidFill>
                <a:latin typeface="Cambria"/>
                <a:cs typeface="Cambria"/>
              </a:rPr>
              <a:t>w</a:t>
            </a:r>
            <a:r>
              <a:rPr sz="1200" i="1" baseline="-10416" dirty="0">
                <a:solidFill>
                  <a:srgbClr val="3232B2"/>
                </a:solidFill>
                <a:latin typeface="Cambria"/>
                <a:cs typeface="Cambria"/>
              </a:rPr>
              <a:t>i</a:t>
            </a:r>
            <a:r>
              <a:rPr sz="1200" i="1" spc="135" baseline="-10416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100" i="1" spc="-10" dirty="0">
                <a:solidFill>
                  <a:srgbClr val="3232B2"/>
                </a:solidFill>
                <a:latin typeface="Cambria"/>
                <a:cs typeface="Cambria"/>
              </a:rPr>
              <a:t>and</a:t>
            </a:r>
            <a:r>
              <a:rPr sz="1100" i="1" spc="-15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100" i="1" spc="-25" dirty="0">
                <a:solidFill>
                  <a:srgbClr val="3232B2"/>
                </a:solidFill>
                <a:latin typeface="Cambria"/>
                <a:cs typeface="Cambria"/>
              </a:rPr>
              <a:t>w</a:t>
            </a:r>
            <a:r>
              <a:rPr sz="1200" i="1" spc="-37" baseline="-10416" dirty="0">
                <a:solidFill>
                  <a:srgbClr val="3232B2"/>
                </a:solidFill>
                <a:latin typeface="Cambria"/>
                <a:cs typeface="Cambria"/>
              </a:rPr>
              <a:t>j</a:t>
            </a:r>
            <a:endParaRPr sz="1200" baseline="-10416">
              <a:latin typeface="Cambria"/>
              <a:cs typeface="Cambria"/>
            </a:endParaRPr>
          </a:p>
          <a:p>
            <a:pPr marL="269875" algn="ctr">
              <a:lnSpc>
                <a:spcPct val="100000"/>
              </a:lnSpc>
              <a:spcBef>
                <a:spcPts val="1010"/>
              </a:spcBef>
            </a:pPr>
            <a:r>
              <a:rPr sz="1100" i="1" dirty="0">
                <a:latin typeface="Cambria"/>
                <a:cs typeface="Cambria"/>
              </a:rPr>
              <a:t>w</a:t>
            </a:r>
            <a:r>
              <a:rPr sz="1200" i="1" baseline="-10416" dirty="0">
                <a:latin typeface="Cambria"/>
                <a:cs typeface="Cambria"/>
              </a:rPr>
              <a:t>ij</a:t>
            </a:r>
            <a:r>
              <a:rPr sz="1200" i="1" spc="179" baseline="-10416" dirty="0">
                <a:latin typeface="Cambria"/>
                <a:cs typeface="Cambria"/>
              </a:rPr>
              <a:t> </a:t>
            </a:r>
            <a:r>
              <a:rPr sz="1100" spc="200" dirty="0">
                <a:latin typeface="Arial MT"/>
                <a:cs typeface="Arial MT"/>
              </a:rPr>
              <a:t>=</a:t>
            </a:r>
            <a:r>
              <a:rPr sz="1100" spc="-50" dirty="0">
                <a:latin typeface="Arial MT"/>
                <a:cs typeface="Arial MT"/>
              </a:rPr>
              <a:t> </a:t>
            </a:r>
            <a:r>
              <a:rPr sz="1100" spc="-75" dirty="0">
                <a:latin typeface="Cambria"/>
                <a:cs typeface="Cambria"/>
              </a:rPr>
              <a:t>1</a:t>
            </a:r>
            <a:r>
              <a:rPr sz="1100" spc="-90" dirty="0">
                <a:latin typeface="Cambria"/>
                <a:cs typeface="Cambria"/>
              </a:rPr>
              <a:t> </a:t>
            </a:r>
            <a:r>
              <a:rPr sz="1100" spc="-190" dirty="0">
                <a:latin typeface="Lucida Sans Unicode"/>
                <a:cs typeface="Lucida Sans Unicode"/>
              </a:rPr>
              <a:t>− </a:t>
            </a:r>
            <a:r>
              <a:rPr sz="1100" i="1" spc="-25" dirty="0">
                <a:latin typeface="Cambria"/>
                <a:cs typeface="Cambria"/>
              </a:rPr>
              <a:t>max</a:t>
            </a:r>
            <a:r>
              <a:rPr sz="1100" spc="-25" dirty="0">
                <a:latin typeface="Lucida Sans Unicode"/>
                <a:cs typeface="Lucida Sans Unicode"/>
              </a:rPr>
              <a:t>{</a:t>
            </a:r>
            <a:r>
              <a:rPr sz="1100" i="1" spc="-25" dirty="0">
                <a:latin typeface="Cambria"/>
                <a:cs typeface="Cambria"/>
              </a:rPr>
              <a:t>P</a:t>
            </a:r>
            <a:r>
              <a:rPr sz="1100" spc="-25" dirty="0">
                <a:latin typeface="Arial MT"/>
                <a:cs typeface="Arial MT"/>
              </a:rPr>
              <a:t>(</a:t>
            </a:r>
            <a:r>
              <a:rPr sz="1100" i="1" spc="-25" dirty="0">
                <a:latin typeface="Cambria"/>
                <a:cs typeface="Cambria"/>
              </a:rPr>
              <a:t>w</a:t>
            </a:r>
            <a:r>
              <a:rPr sz="1200" i="1" spc="-37" baseline="-10416" dirty="0">
                <a:latin typeface="Cambria"/>
                <a:cs typeface="Cambria"/>
              </a:rPr>
              <a:t>i</a:t>
            </a:r>
            <a:r>
              <a:rPr sz="1100" spc="-25" dirty="0">
                <a:latin typeface="Lucida Sans Unicode"/>
                <a:cs typeface="Lucida Sans Unicode"/>
              </a:rPr>
              <a:t>|</a:t>
            </a:r>
            <a:r>
              <a:rPr sz="1100" i="1" spc="-25" dirty="0">
                <a:latin typeface="Cambria"/>
                <a:cs typeface="Cambria"/>
              </a:rPr>
              <a:t>w</a:t>
            </a:r>
            <a:r>
              <a:rPr sz="1200" i="1" spc="-37" baseline="-10416" dirty="0">
                <a:latin typeface="Cambria"/>
                <a:cs typeface="Cambria"/>
              </a:rPr>
              <a:t>j</a:t>
            </a:r>
            <a:r>
              <a:rPr sz="1100" spc="-25" dirty="0">
                <a:latin typeface="Arial MT"/>
                <a:cs typeface="Arial MT"/>
              </a:rPr>
              <a:t>)</a:t>
            </a:r>
            <a:r>
              <a:rPr sz="1100" spc="-25" dirty="0">
                <a:latin typeface="Calibri"/>
                <a:cs typeface="Calibri"/>
              </a:rPr>
              <a:t>,</a:t>
            </a:r>
            <a:r>
              <a:rPr sz="1100" spc="-125" dirty="0">
                <a:latin typeface="Calibri"/>
                <a:cs typeface="Calibri"/>
              </a:rPr>
              <a:t> </a:t>
            </a:r>
            <a:r>
              <a:rPr sz="1100" i="1" spc="-10" dirty="0">
                <a:latin typeface="Cambria"/>
                <a:cs typeface="Cambria"/>
              </a:rPr>
              <a:t>P</a:t>
            </a:r>
            <a:r>
              <a:rPr sz="1100" spc="-10" dirty="0">
                <a:latin typeface="Arial MT"/>
                <a:cs typeface="Arial MT"/>
              </a:rPr>
              <a:t>(</a:t>
            </a:r>
            <a:r>
              <a:rPr sz="1100" i="1" spc="-10" dirty="0">
                <a:latin typeface="Cambria"/>
                <a:cs typeface="Cambria"/>
              </a:rPr>
              <a:t>w</a:t>
            </a:r>
            <a:r>
              <a:rPr sz="1200" i="1" spc="-15" baseline="-10416" dirty="0">
                <a:latin typeface="Cambria"/>
                <a:cs typeface="Cambria"/>
              </a:rPr>
              <a:t>j</a:t>
            </a:r>
            <a:r>
              <a:rPr sz="1100" spc="-10" dirty="0">
                <a:latin typeface="Lucida Sans Unicode"/>
                <a:cs typeface="Lucida Sans Unicode"/>
              </a:rPr>
              <a:t>|</a:t>
            </a:r>
            <a:r>
              <a:rPr sz="1100" i="1" spc="-10" dirty="0">
                <a:latin typeface="Cambria"/>
                <a:cs typeface="Cambria"/>
              </a:rPr>
              <a:t>w</a:t>
            </a:r>
            <a:r>
              <a:rPr sz="1200" i="1" spc="-15" baseline="-10416" dirty="0">
                <a:latin typeface="Cambria"/>
                <a:cs typeface="Cambria"/>
              </a:rPr>
              <a:t>i</a:t>
            </a:r>
            <a:r>
              <a:rPr sz="1100" spc="-10" dirty="0">
                <a:latin typeface="Arial MT"/>
                <a:cs typeface="Arial MT"/>
              </a:rPr>
              <a:t>)</a:t>
            </a:r>
            <a:r>
              <a:rPr sz="1100" spc="-10" dirty="0">
                <a:latin typeface="Lucida Sans Unicode"/>
                <a:cs typeface="Lucida Sans Unicode"/>
              </a:rPr>
              <a:t>}</a:t>
            </a:r>
            <a:endParaRPr sz="1100">
              <a:latin typeface="Lucida Sans Unicode"/>
              <a:cs typeface="Lucida Sans Unicode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00330" y="2254961"/>
            <a:ext cx="131064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950" dirty="0">
                <a:latin typeface="Trebuchet MS"/>
                <a:cs typeface="Trebuchet MS"/>
              </a:rPr>
              <a:t>where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1100" i="1" spc="-20" dirty="0">
                <a:latin typeface="Cambria"/>
                <a:cs typeface="Cambria"/>
              </a:rPr>
              <a:t>P</a:t>
            </a:r>
            <a:r>
              <a:rPr sz="1100" spc="-20" dirty="0">
                <a:latin typeface="Arial MT"/>
                <a:cs typeface="Arial MT"/>
              </a:rPr>
              <a:t>(</a:t>
            </a:r>
            <a:r>
              <a:rPr sz="1100" i="1" spc="-20" dirty="0">
                <a:latin typeface="Cambria"/>
                <a:cs typeface="Cambria"/>
              </a:rPr>
              <a:t>w</a:t>
            </a:r>
            <a:r>
              <a:rPr sz="1200" i="1" spc="-30" baseline="-10416" dirty="0">
                <a:latin typeface="Cambria"/>
                <a:cs typeface="Cambria"/>
              </a:rPr>
              <a:t>i</a:t>
            </a:r>
            <a:r>
              <a:rPr sz="1100" spc="-20" dirty="0">
                <a:latin typeface="Lucida Sans Unicode"/>
                <a:cs typeface="Lucida Sans Unicode"/>
              </a:rPr>
              <a:t>|</a:t>
            </a:r>
            <a:r>
              <a:rPr sz="1100" i="1" spc="-20" dirty="0">
                <a:latin typeface="Cambria"/>
                <a:cs typeface="Cambria"/>
              </a:rPr>
              <a:t>w</a:t>
            </a:r>
            <a:r>
              <a:rPr sz="1200" i="1" spc="-30" baseline="-10416" dirty="0">
                <a:latin typeface="Cambria"/>
                <a:cs typeface="Cambria"/>
              </a:rPr>
              <a:t>j</a:t>
            </a:r>
            <a:r>
              <a:rPr sz="1100" spc="-20" dirty="0">
                <a:latin typeface="Arial MT"/>
                <a:cs typeface="Arial MT"/>
              </a:rPr>
              <a:t>)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spc="200" dirty="0">
                <a:latin typeface="Arial MT"/>
                <a:cs typeface="Arial MT"/>
              </a:rPr>
              <a:t>=</a:t>
            </a:r>
            <a:r>
              <a:rPr sz="1100" spc="95" dirty="0">
                <a:latin typeface="Arial MT"/>
                <a:cs typeface="Arial MT"/>
              </a:rPr>
              <a:t> </a:t>
            </a:r>
            <a:r>
              <a:rPr sz="1200" i="1" u="sng" spc="-15" baseline="41666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freq</a:t>
            </a:r>
            <a:r>
              <a:rPr sz="900" i="1" u="sng" spc="-15" baseline="46296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ij</a:t>
            </a:r>
            <a:endParaRPr sz="900" baseline="46296">
              <a:latin typeface="Cambria"/>
              <a:cs typeface="Cambri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143571" y="2340089"/>
            <a:ext cx="25717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800" i="1" spc="-10" dirty="0">
                <a:latin typeface="Cambria"/>
                <a:cs typeface="Cambria"/>
              </a:rPr>
              <a:t>freq</a:t>
            </a:r>
            <a:r>
              <a:rPr sz="900" i="1" spc="-15" baseline="-9259" dirty="0">
                <a:latin typeface="Cambria"/>
                <a:cs typeface="Cambria"/>
              </a:rPr>
              <a:t>j</a:t>
            </a:r>
            <a:endParaRPr sz="900" baseline="-9259">
              <a:latin typeface="Cambria"/>
              <a:cs typeface="Cambri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804873" y="3339672"/>
            <a:ext cx="99885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  <a:hlinkClick r:id="rId8" action="ppaction://hlinksldjump"/>
              </a:rPr>
              <a:t>Word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  <a:hlinkClick r:id="rId8" action="ppaction://hlinksldjump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8" action="ppaction://hlinksldjump"/>
              </a:rPr>
              <a:t>Sense</a:t>
            </a:r>
            <a:r>
              <a:rPr sz="600" i="1" spc="5" dirty="0">
                <a:solidFill>
                  <a:srgbClr val="FFFFFF"/>
                </a:solidFill>
                <a:latin typeface="Cambria"/>
                <a:cs typeface="Cambria"/>
                <a:hlinkClick r:id="rId8" action="ppaction://hlinksldjump"/>
              </a:rPr>
              <a:t>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  <a:hlinkClick r:id="rId8" action="ppaction://hlinksldjump"/>
              </a:rPr>
              <a:t>Disambiguation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  <a:hlinkClick r:id="rId8" action="ppaction://hlinksldjump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8" action="ppaction://hlinksldjump"/>
              </a:rPr>
              <a:t>-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  <a:hlinkClick r:id="rId8" action="ppaction://hlinksldjump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  <a:hlinkClick r:id="rId8" action="ppaction://hlinksldjump"/>
              </a:rPr>
              <a:t>II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608260" y="3339672"/>
            <a:ext cx="56388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8,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4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317424" y="3339672"/>
            <a:ext cx="236854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13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10" dirty="0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</a:rPr>
              <a:t>14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27" name="Slide Number Placeholder 26">
            <a:extLst>
              <a:ext uri="{FF2B5EF4-FFF2-40B4-BE49-F238E27FC236}">
                <a16:creationId xmlns:a16="http://schemas.microsoft.com/office/drawing/2014/main" id="{82EA7172-D3FD-469B-BB42-32A28E94571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4292024" y="3339672"/>
            <a:ext cx="262254" cy="116204"/>
          </a:xfrm>
          <a:prstGeom prst="rect">
            <a:avLst/>
          </a:prstGeom>
        </p:spPr>
        <p:txBody>
          <a:bodyPr/>
          <a:lstStyle/>
          <a:p>
            <a:pPr marL="75565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lang="en-IN" smtClean="0"/>
              <a:t>128</a:t>
            </a:fld>
            <a:r>
              <a:rPr lang="en-IN" spc="-5"/>
              <a:t> </a:t>
            </a:r>
            <a:r>
              <a:rPr lang="en-IN" spc="-110"/>
              <a:t>/</a:t>
            </a:r>
            <a:r>
              <a:rPr lang="en-IN" spc="15"/>
              <a:t> </a:t>
            </a:r>
            <a:r>
              <a:rPr lang="en-IN" spc="-25"/>
              <a:t>18</a:t>
            </a:r>
            <a:endParaRPr lang="en-IN" spc="-25" dirty="0"/>
          </a:p>
        </p:txBody>
      </p:sp>
    </p:spTree>
  </p:cSld>
  <p:clrMapOvr>
    <a:masterClrMapping/>
  </p:clrMapOvr>
  <p:transition>
    <p:cut/>
  </p:transition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Disambiguation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597" y="746861"/>
            <a:ext cx="64757" cy="64757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77532" y="641040"/>
            <a:ext cx="4104640" cy="59563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38100" marR="30480">
              <a:lnSpc>
                <a:spcPct val="113999"/>
              </a:lnSpc>
              <a:spcBef>
                <a:spcPts val="75"/>
              </a:spcBef>
            </a:pPr>
            <a:r>
              <a:rPr sz="950" dirty="0">
                <a:latin typeface="Trebuchet MS"/>
                <a:cs typeface="Trebuchet MS"/>
              </a:rPr>
              <a:t>Let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1100" i="1" dirty="0">
                <a:latin typeface="Cambria"/>
                <a:cs typeface="Cambria"/>
              </a:rPr>
              <a:t>W</a:t>
            </a:r>
            <a:r>
              <a:rPr sz="1100" i="1" spc="90" dirty="0">
                <a:latin typeface="Cambria"/>
                <a:cs typeface="Cambria"/>
              </a:rPr>
              <a:t> </a:t>
            </a:r>
            <a:r>
              <a:rPr sz="1100" spc="200" dirty="0">
                <a:latin typeface="Arial MT"/>
                <a:cs typeface="Arial MT"/>
              </a:rPr>
              <a:t>=</a:t>
            </a:r>
            <a:r>
              <a:rPr sz="1100" spc="-6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(</a:t>
            </a:r>
            <a:r>
              <a:rPr sz="1100" i="1" spc="-10" dirty="0">
                <a:latin typeface="Cambria"/>
                <a:cs typeface="Cambria"/>
              </a:rPr>
              <a:t>w</a:t>
            </a:r>
            <a:r>
              <a:rPr sz="1200" spc="-15" baseline="-10416" dirty="0">
                <a:latin typeface="Cambria"/>
                <a:cs typeface="Cambria"/>
              </a:rPr>
              <a:t>1</a:t>
            </a:r>
            <a:r>
              <a:rPr sz="1100" spc="-10" dirty="0">
                <a:latin typeface="Calibri"/>
                <a:cs typeface="Calibri"/>
              </a:rPr>
              <a:t>,</a:t>
            </a:r>
            <a:r>
              <a:rPr sz="1100" spc="-125" dirty="0">
                <a:latin typeface="Calibri"/>
                <a:cs typeface="Calibri"/>
              </a:rPr>
              <a:t> </a:t>
            </a:r>
            <a:r>
              <a:rPr sz="1100" i="1" spc="55" dirty="0">
                <a:latin typeface="Cambria"/>
                <a:cs typeface="Cambria"/>
              </a:rPr>
              <a:t>w</a:t>
            </a:r>
            <a:r>
              <a:rPr sz="1200" spc="82" baseline="-10416" dirty="0">
                <a:latin typeface="Cambria"/>
                <a:cs typeface="Cambria"/>
              </a:rPr>
              <a:t>2</a:t>
            </a:r>
            <a:r>
              <a:rPr sz="1100" spc="55" dirty="0">
                <a:latin typeface="Calibri"/>
                <a:cs typeface="Calibri"/>
              </a:rPr>
              <a:t>,...,</a:t>
            </a:r>
            <a:r>
              <a:rPr sz="1100" spc="-130" dirty="0">
                <a:latin typeface="Calibri"/>
                <a:cs typeface="Calibri"/>
              </a:rPr>
              <a:t> </a:t>
            </a:r>
            <a:r>
              <a:rPr sz="1100" i="1" spc="-10" dirty="0">
                <a:latin typeface="Cambria"/>
                <a:cs typeface="Cambria"/>
              </a:rPr>
              <a:t>w</a:t>
            </a:r>
            <a:r>
              <a:rPr sz="1200" i="1" spc="-15" baseline="-10416" dirty="0">
                <a:latin typeface="Cambria"/>
                <a:cs typeface="Cambria"/>
              </a:rPr>
              <a:t>i</a:t>
            </a:r>
            <a:r>
              <a:rPr sz="1100" spc="-10" dirty="0">
                <a:latin typeface="Calibri"/>
                <a:cs typeface="Calibri"/>
              </a:rPr>
              <a:t>,</a:t>
            </a:r>
            <a:r>
              <a:rPr sz="1100" spc="-12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.</a:t>
            </a:r>
            <a:r>
              <a:rPr sz="1100" spc="-12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.</a:t>
            </a:r>
            <a:r>
              <a:rPr sz="1100" spc="-13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.</a:t>
            </a:r>
            <a:r>
              <a:rPr sz="1100" spc="-12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,</a:t>
            </a:r>
            <a:r>
              <a:rPr sz="1100" spc="-125" dirty="0">
                <a:latin typeface="Calibri"/>
                <a:cs typeface="Calibri"/>
              </a:rPr>
              <a:t> </a:t>
            </a:r>
            <a:r>
              <a:rPr sz="1100" i="1" dirty="0">
                <a:latin typeface="Cambria"/>
                <a:cs typeface="Cambria"/>
              </a:rPr>
              <a:t>w</a:t>
            </a:r>
            <a:r>
              <a:rPr sz="1200" i="1" baseline="-10416" dirty="0">
                <a:latin typeface="Cambria"/>
                <a:cs typeface="Cambria"/>
              </a:rPr>
              <a:t>n</a:t>
            </a:r>
            <a:r>
              <a:rPr sz="1100" dirty="0">
                <a:latin typeface="Arial MT"/>
                <a:cs typeface="Arial MT"/>
              </a:rPr>
              <a:t>)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950" dirty="0">
                <a:latin typeface="Trebuchet MS"/>
                <a:cs typeface="Trebuchet MS"/>
              </a:rPr>
              <a:t>be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context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in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which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1100" i="1" dirty="0">
                <a:latin typeface="Cambria"/>
                <a:cs typeface="Cambria"/>
              </a:rPr>
              <a:t>w</a:t>
            </a:r>
            <a:r>
              <a:rPr sz="1200" i="1" baseline="-10416" dirty="0">
                <a:latin typeface="Cambria"/>
                <a:cs typeface="Cambria"/>
              </a:rPr>
              <a:t>i</a:t>
            </a:r>
            <a:r>
              <a:rPr sz="1200" i="1" spc="232" baseline="-10416" dirty="0">
                <a:latin typeface="Cambria"/>
                <a:cs typeface="Cambria"/>
              </a:rPr>
              <a:t> </a:t>
            </a:r>
            <a:r>
              <a:rPr sz="950" dirty="0">
                <a:latin typeface="Trebuchet MS"/>
                <a:cs typeface="Trebuchet MS"/>
              </a:rPr>
              <a:t>is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an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instance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spc="-25" dirty="0">
                <a:latin typeface="Trebuchet MS"/>
                <a:cs typeface="Trebuchet MS"/>
              </a:rPr>
              <a:t>of </a:t>
            </a:r>
            <a:r>
              <a:rPr sz="950" dirty="0">
                <a:latin typeface="Trebuchet MS"/>
                <a:cs typeface="Trebuchet MS"/>
              </a:rPr>
              <a:t>our</a:t>
            </a:r>
            <a:r>
              <a:rPr sz="950" spc="-4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target</a:t>
            </a:r>
            <a:r>
              <a:rPr sz="950" spc="-3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word.</a:t>
            </a:r>
            <a:endParaRPr sz="950">
              <a:latin typeface="Trebuchet MS"/>
              <a:cs typeface="Trebuchet MS"/>
            </a:endParaRPr>
          </a:p>
          <a:p>
            <a:pPr marL="38100">
              <a:lnSpc>
                <a:spcPct val="100000"/>
              </a:lnSpc>
              <a:spcBef>
                <a:spcPts val="365"/>
              </a:spcBef>
            </a:pPr>
            <a:r>
              <a:rPr sz="950" dirty="0">
                <a:latin typeface="Trebuchet MS"/>
                <a:cs typeface="Trebuchet MS"/>
              </a:rPr>
              <a:t>Let </a:t>
            </a:r>
            <a:r>
              <a:rPr sz="1100" i="1" dirty="0">
                <a:latin typeface="Cambria"/>
                <a:cs typeface="Cambria"/>
              </a:rPr>
              <a:t>w</a:t>
            </a:r>
            <a:r>
              <a:rPr sz="1200" i="1" baseline="-10416" dirty="0">
                <a:latin typeface="Cambria"/>
                <a:cs typeface="Cambria"/>
              </a:rPr>
              <a:t>i</a:t>
            </a:r>
            <a:r>
              <a:rPr sz="1200" i="1" spc="247" baseline="-10416" dirty="0">
                <a:latin typeface="Cambria"/>
                <a:cs typeface="Cambria"/>
              </a:rPr>
              <a:t> </a:t>
            </a:r>
            <a:r>
              <a:rPr sz="950" spc="55" dirty="0">
                <a:latin typeface="Trebuchet MS"/>
                <a:cs typeface="Trebuchet MS"/>
              </a:rPr>
              <a:t>has</a:t>
            </a:r>
            <a:r>
              <a:rPr sz="950" dirty="0">
                <a:latin typeface="Trebuchet MS"/>
                <a:cs typeface="Trebuchet MS"/>
              </a:rPr>
              <a:t> </a:t>
            </a:r>
            <a:r>
              <a:rPr sz="1100" i="1" dirty="0">
                <a:latin typeface="Cambria"/>
                <a:cs typeface="Cambria"/>
              </a:rPr>
              <a:t>k</a:t>
            </a:r>
            <a:r>
              <a:rPr sz="1100" i="1" spc="60" dirty="0">
                <a:latin typeface="Cambria"/>
                <a:cs typeface="Cambria"/>
              </a:rPr>
              <a:t> </a:t>
            </a:r>
            <a:r>
              <a:rPr sz="950" dirty="0">
                <a:latin typeface="Trebuchet MS"/>
                <a:cs typeface="Trebuchet MS"/>
              </a:rPr>
              <a:t>hubs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in </a:t>
            </a:r>
            <a:r>
              <a:rPr sz="950" spc="-10" dirty="0">
                <a:latin typeface="Trebuchet MS"/>
                <a:cs typeface="Trebuchet MS"/>
              </a:rPr>
              <a:t>its</a:t>
            </a:r>
            <a:r>
              <a:rPr sz="950" dirty="0">
                <a:latin typeface="Trebuchet MS"/>
                <a:cs typeface="Trebuchet MS"/>
              </a:rPr>
              <a:t> minimum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spanning </a:t>
            </a:r>
            <a:r>
              <a:rPr sz="950" spc="-20" dirty="0">
                <a:latin typeface="Trebuchet MS"/>
                <a:cs typeface="Trebuchet MS"/>
              </a:rPr>
              <a:t>tree</a:t>
            </a:r>
            <a:endParaRPr sz="950">
              <a:latin typeface="Trebuchet MS"/>
              <a:cs typeface="Trebuchet MS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597" y="1128966"/>
            <a:ext cx="64757" cy="64757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1804885" y="3339672"/>
            <a:ext cx="99885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  <a:hlinkClick r:id="rId4" action="ppaction://hlinksldjump"/>
              </a:rPr>
              <a:t>Word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  <a:hlinkClick r:id="rId4" action="ppaction://hlinksldjump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4" action="ppaction://hlinksldjump"/>
              </a:rPr>
              <a:t>Sense</a:t>
            </a:r>
            <a:r>
              <a:rPr sz="600" i="1" spc="5" dirty="0">
                <a:solidFill>
                  <a:srgbClr val="FFFFFF"/>
                </a:solidFill>
                <a:latin typeface="Cambria"/>
                <a:cs typeface="Cambria"/>
                <a:hlinkClick r:id="rId4" action="ppaction://hlinksldjump"/>
              </a:rPr>
              <a:t>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  <a:hlinkClick r:id="rId4" action="ppaction://hlinksldjump"/>
              </a:rPr>
              <a:t>Disambiguation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  <a:hlinkClick r:id="rId4" action="ppaction://hlinksldjump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4" action="ppaction://hlinksldjump"/>
              </a:rPr>
              <a:t>-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  <a:hlinkClick r:id="rId4" action="ppaction://hlinksldjump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  <a:hlinkClick r:id="rId4" action="ppaction://hlinksldjump"/>
              </a:rPr>
              <a:t>II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608260" y="3339672"/>
            <a:ext cx="56388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8,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4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317424" y="3339672"/>
            <a:ext cx="236854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14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10" dirty="0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</a:rPr>
              <a:t>14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4D6E9B93-5D51-4272-B2BB-A9178F9C35EE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4292024" y="3339672"/>
            <a:ext cx="262254" cy="116204"/>
          </a:xfrm>
          <a:prstGeom prst="rect">
            <a:avLst/>
          </a:prstGeom>
        </p:spPr>
        <p:txBody>
          <a:bodyPr/>
          <a:lstStyle/>
          <a:p>
            <a:pPr marL="75565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lang="en-IN" smtClean="0"/>
              <a:t>129</a:t>
            </a:fld>
            <a:r>
              <a:rPr lang="en-IN" spc="-5"/>
              <a:t> </a:t>
            </a:r>
            <a:r>
              <a:rPr lang="en-IN" spc="-110"/>
              <a:t>/</a:t>
            </a:r>
            <a:r>
              <a:rPr lang="en-IN" spc="15"/>
              <a:t> </a:t>
            </a:r>
            <a:r>
              <a:rPr lang="en-IN" spc="-25"/>
              <a:t>18</a:t>
            </a:r>
            <a:endParaRPr lang="en-IN" spc="-25" dirty="0"/>
          </a:p>
        </p:txBody>
      </p:sp>
    </p:spTree>
  </p:cSld>
  <p:clrMapOvr>
    <a:masterClrMapping/>
  </p:clrMapOvr>
  <p:transition>
    <p:cut/>
  </p:transition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Disambiguation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597" y="746861"/>
            <a:ext cx="64757" cy="64757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77532" y="641040"/>
            <a:ext cx="4104640" cy="97790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38100" marR="30480">
              <a:lnSpc>
                <a:spcPct val="113999"/>
              </a:lnSpc>
              <a:spcBef>
                <a:spcPts val="75"/>
              </a:spcBef>
            </a:pPr>
            <a:r>
              <a:rPr sz="950" dirty="0">
                <a:latin typeface="Trebuchet MS"/>
                <a:cs typeface="Trebuchet MS"/>
              </a:rPr>
              <a:t>Let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1100" i="1" dirty="0">
                <a:latin typeface="Cambria"/>
                <a:cs typeface="Cambria"/>
              </a:rPr>
              <a:t>W</a:t>
            </a:r>
            <a:r>
              <a:rPr sz="1100" i="1" spc="90" dirty="0">
                <a:latin typeface="Cambria"/>
                <a:cs typeface="Cambria"/>
              </a:rPr>
              <a:t> </a:t>
            </a:r>
            <a:r>
              <a:rPr sz="1100" spc="200" dirty="0">
                <a:latin typeface="Arial MT"/>
                <a:cs typeface="Arial MT"/>
              </a:rPr>
              <a:t>=</a:t>
            </a:r>
            <a:r>
              <a:rPr sz="1100" spc="-6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(</a:t>
            </a:r>
            <a:r>
              <a:rPr sz="1100" i="1" spc="-10" dirty="0">
                <a:latin typeface="Cambria"/>
                <a:cs typeface="Cambria"/>
              </a:rPr>
              <a:t>w</a:t>
            </a:r>
            <a:r>
              <a:rPr sz="1200" spc="-15" baseline="-10416" dirty="0">
                <a:latin typeface="Cambria"/>
                <a:cs typeface="Cambria"/>
              </a:rPr>
              <a:t>1</a:t>
            </a:r>
            <a:r>
              <a:rPr sz="1100" spc="-10" dirty="0">
                <a:latin typeface="Calibri"/>
                <a:cs typeface="Calibri"/>
              </a:rPr>
              <a:t>,</a:t>
            </a:r>
            <a:r>
              <a:rPr sz="1100" spc="-125" dirty="0">
                <a:latin typeface="Calibri"/>
                <a:cs typeface="Calibri"/>
              </a:rPr>
              <a:t> </a:t>
            </a:r>
            <a:r>
              <a:rPr sz="1100" i="1" spc="55" dirty="0">
                <a:latin typeface="Cambria"/>
                <a:cs typeface="Cambria"/>
              </a:rPr>
              <a:t>w</a:t>
            </a:r>
            <a:r>
              <a:rPr sz="1200" spc="82" baseline="-10416" dirty="0">
                <a:latin typeface="Cambria"/>
                <a:cs typeface="Cambria"/>
              </a:rPr>
              <a:t>2</a:t>
            </a:r>
            <a:r>
              <a:rPr sz="1100" spc="55" dirty="0">
                <a:latin typeface="Calibri"/>
                <a:cs typeface="Calibri"/>
              </a:rPr>
              <a:t>,...,</a:t>
            </a:r>
            <a:r>
              <a:rPr sz="1100" spc="-130" dirty="0">
                <a:latin typeface="Calibri"/>
                <a:cs typeface="Calibri"/>
              </a:rPr>
              <a:t> </a:t>
            </a:r>
            <a:r>
              <a:rPr sz="1100" i="1" spc="-10" dirty="0">
                <a:latin typeface="Cambria"/>
                <a:cs typeface="Cambria"/>
              </a:rPr>
              <a:t>w</a:t>
            </a:r>
            <a:r>
              <a:rPr sz="1200" i="1" spc="-15" baseline="-10416" dirty="0">
                <a:latin typeface="Cambria"/>
                <a:cs typeface="Cambria"/>
              </a:rPr>
              <a:t>i</a:t>
            </a:r>
            <a:r>
              <a:rPr sz="1100" spc="-10" dirty="0">
                <a:latin typeface="Calibri"/>
                <a:cs typeface="Calibri"/>
              </a:rPr>
              <a:t>,</a:t>
            </a:r>
            <a:r>
              <a:rPr sz="1100" spc="-12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.</a:t>
            </a:r>
            <a:r>
              <a:rPr sz="1100" spc="-12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.</a:t>
            </a:r>
            <a:r>
              <a:rPr sz="1100" spc="-13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.</a:t>
            </a:r>
            <a:r>
              <a:rPr sz="1100" spc="-12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,</a:t>
            </a:r>
            <a:r>
              <a:rPr sz="1100" spc="-125" dirty="0">
                <a:latin typeface="Calibri"/>
                <a:cs typeface="Calibri"/>
              </a:rPr>
              <a:t> </a:t>
            </a:r>
            <a:r>
              <a:rPr sz="1100" i="1" dirty="0">
                <a:latin typeface="Cambria"/>
                <a:cs typeface="Cambria"/>
              </a:rPr>
              <a:t>w</a:t>
            </a:r>
            <a:r>
              <a:rPr sz="1200" i="1" baseline="-10416" dirty="0">
                <a:latin typeface="Cambria"/>
                <a:cs typeface="Cambria"/>
              </a:rPr>
              <a:t>n</a:t>
            </a:r>
            <a:r>
              <a:rPr sz="1100" dirty="0">
                <a:latin typeface="Arial MT"/>
                <a:cs typeface="Arial MT"/>
              </a:rPr>
              <a:t>)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950" dirty="0">
                <a:latin typeface="Trebuchet MS"/>
                <a:cs typeface="Trebuchet MS"/>
              </a:rPr>
              <a:t>be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context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in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which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1100" i="1" dirty="0">
                <a:latin typeface="Cambria"/>
                <a:cs typeface="Cambria"/>
              </a:rPr>
              <a:t>w</a:t>
            </a:r>
            <a:r>
              <a:rPr sz="1200" i="1" baseline="-10416" dirty="0">
                <a:latin typeface="Cambria"/>
                <a:cs typeface="Cambria"/>
              </a:rPr>
              <a:t>i</a:t>
            </a:r>
            <a:r>
              <a:rPr sz="1200" i="1" spc="232" baseline="-10416" dirty="0">
                <a:latin typeface="Cambria"/>
                <a:cs typeface="Cambria"/>
              </a:rPr>
              <a:t> </a:t>
            </a:r>
            <a:r>
              <a:rPr sz="950" dirty="0">
                <a:latin typeface="Trebuchet MS"/>
                <a:cs typeface="Trebuchet MS"/>
              </a:rPr>
              <a:t>is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an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instance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spc="-25" dirty="0">
                <a:latin typeface="Trebuchet MS"/>
                <a:cs typeface="Trebuchet MS"/>
              </a:rPr>
              <a:t>of </a:t>
            </a:r>
            <a:r>
              <a:rPr sz="950" dirty="0">
                <a:latin typeface="Trebuchet MS"/>
                <a:cs typeface="Trebuchet MS"/>
              </a:rPr>
              <a:t>our</a:t>
            </a:r>
            <a:r>
              <a:rPr sz="950" spc="-4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target</a:t>
            </a:r>
            <a:r>
              <a:rPr sz="950" spc="-3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word.</a:t>
            </a:r>
            <a:endParaRPr sz="950">
              <a:latin typeface="Trebuchet MS"/>
              <a:cs typeface="Trebuchet MS"/>
            </a:endParaRPr>
          </a:p>
          <a:p>
            <a:pPr marL="38100">
              <a:lnSpc>
                <a:spcPct val="100000"/>
              </a:lnSpc>
              <a:spcBef>
                <a:spcPts val="365"/>
              </a:spcBef>
            </a:pPr>
            <a:r>
              <a:rPr sz="950" dirty="0">
                <a:latin typeface="Trebuchet MS"/>
                <a:cs typeface="Trebuchet MS"/>
              </a:rPr>
              <a:t>Let </a:t>
            </a:r>
            <a:r>
              <a:rPr sz="1100" i="1" dirty="0">
                <a:latin typeface="Cambria"/>
                <a:cs typeface="Cambria"/>
              </a:rPr>
              <a:t>w</a:t>
            </a:r>
            <a:r>
              <a:rPr sz="1200" i="1" baseline="-10416" dirty="0">
                <a:latin typeface="Cambria"/>
                <a:cs typeface="Cambria"/>
              </a:rPr>
              <a:t>i</a:t>
            </a:r>
            <a:r>
              <a:rPr sz="1200" i="1" spc="247" baseline="-10416" dirty="0">
                <a:latin typeface="Cambria"/>
                <a:cs typeface="Cambria"/>
              </a:rPr>
              <a:t> </a:t>
            </a:r>
            <a:r>
              <a:rPr sz="950" spc="55" dirty="0">
                <a:latin typeface="Trebuchet MS"/>
                <a:cs typeface="Trebuchet MS"/>
              </a:rPr>
              <a:t>has</a:t>
            </a:r>
            <a:r>
              <a:rPr sz="950" dirty="0">
                <a:latin typeface="Trebuchet MS"/>
                <a:cs typeface="Trebuchet MS"/>
              </a:rPr>
              <a:t> </a:t>
            </a:r>
            <a:r>
              <a:rPr sz="1100" i="1" dirty="0">
                <a:latin typeface="Cambria"/>
                <a:cs typeface="Cambria"/>
              </a:rPr>
              <a:t>k</a:t>
            </a:r>
            <a:r>
              <a:rPr sz="1100" i="1" spc="60" dirty="0">
                <a:latin typeface="Cambria"/>
                <a:cs typeface="Cambria"/>
              </a:rPr>
              <a:t> </a:t>
            </a:r>
            <a:r>
              <a:rPr sz="950" dirty="0">
                <a:latin typeface="Trebuchet MS"/>
                <a:cs typeface="Trebuchet MS"/>
              </a:rPr>
              <a:t>hubs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in </a:t>
            </a:r>
            <a:r>
              <a:rPr sz="950" spc="-10" dirty="0">
                <a:latin typeface="Trebuchet MS"/>
                <a:cs typeface="Trebuchet MS"/>
              </a:rPr>
              <a:t>its</a:t>
            </a:r>
            <a:r>
              <a:rPr sz="950" dirty="0">
                <a:latin typeface="Trebuchet MS"/>
                <a:cs typeface="Trebuchet MS"/>
              </a:rPr>
              <a:t> minimum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spanning </a:t>
            </a:r>
            <a:r>
              <a:rPr sz="950" spc="-20" dirty="0">
                <a:latin typeface="Trebuchet MS"/>
                <a:cs typeface="Trebuchet MS"/>
              </a:rPr>
              <a:t>tree</a:t>
            </a:r>
            <a:endParaRPr sz="950">
              <a:latin typeface="Trebuchet MS"/>
              <a:cs typeface="Trebuchet MS"/>
            </a:endParaRPr>
          </a:p>
          <a:p>
            <a:pPr marL="38100" marR="393065">
              <a:lnSpc>
                <a:spcPct val="102699"/>
              </a:lnSpc>
              <a:spcBef>
                <a:spcPts val="300"/>
              </a:spcBef>
            </a:pPr>
            <a:r>
              <a:rPr sz="950" spc="90" dirty="0">
                <a:latin typeface="Trebuchet MS"/>
                <a:cs typeface="Trebuchet MS"/>
              </a:rPr>
              <a:t>A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score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vector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1100" i="1" dirty="0">
                <a:latin typeface="Cambria"/>
                <a:cs typeface="Cambria"/>
              </a:rPr>
              <a:t>s</a:t>
            </a:r>
            <a:r>
              <a:rPr sz="1100" i="1" spc="75" dirty="0">
                <a:latin typeface="Cambria"/>
                <a:cs typeface="Cambria"/>
              </a:rPr>
              <a:t> </a:t>
            </a:r>
            <a:r>
              <a:rPr sz="950" dirty="0">
                <a:latin typeface="Trebuchet MS"/>
                <a:cs typeface="Trebuchet MS"/>
              </a:rPr>
              <a:t>is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associated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spc="-40" dirty="0">
                <a:latin typeface="Trebuchet MS"/>
                <a:cs typeface="Trebuchet MS"/>
              </a:rPr>
              <a:t>with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each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1100" i="1" dirty="0">
                <a:latin typeface="Cambria"/>
                <a:cs typeface="Cambria"/>
              </a:rPr>
              <a:t>w</a:t>
            </a:r>
            <a:r>
              <a:rPr sz="1200" i="1" baseline="-10416" dirty="0">
                <a:latin typeface="Cambria"/>
                <a:cs typeface="Cambria"/>
              </a:rPr>
              <a:t>j</a:t>
            </a:r>
            <a:r>
              <a:rPr sz="1200" i="1" spc="232" baseline="-10416" dirty="0">
                <a:latin typeface="Cambria"/>
                <a:cs typeface="Cambria"/>
              </a:rPr>
              <a:t> </a:t>
            </a:r>
            <a:r>
              <a:rPr sz="1100" spc="-300" dirty="0">
                <a:latin typeface="Lucida Sans Unicode"/>
                <a:cs typeface="Lucida Sans Unicode"/>
              </a:rPr>
              <a:t>∈</a:t>
            </a:r>
            <a:r>
              <a:rPr sz="1100" spc="-75" dirty="0">
                <a:latin typeface="Lucida Sans Unicode"/>
                <a:cs typeface="Lucida Sans Unicode"/>
              </a:rPr>
              <a:t> </a:t>
            </a:r>
            <a:r>
              <a:rPr sz="1100" i="1" dirty="0">
                <a:latin typeface="Cambria"/>
                <a:cs typeface="Cambria"/>
              </a:rPr>
              <a:t>W</a:t>
            </a:r>
            <a:r>
              <a:rPr sz="1100" dirty="0">
                <a:latin typeface="Arial MT"/>
                <a:cs typeface="Arial MT"/>
              </a:rPr>
              <a:t>(</a:t>
            </a:r>
            <a:r>
              <a:rPr sz="1100" i="1" dirty="0">
                <a:latin typeface="Cambria"/>
                <a:cs typeface="Cambria"/>
              </a:rPr>
              <a:t>j</a:t>
            </a:r>
            <a:r>
              <a:rPr sz="1100" i="1" spc="35" dirty="0">
                <a:latin typeface="Cambria"/>
                <a:cs typeface="Cambria"/>
              </a:rPr>
              <a:t> </a:t>
            </a:r>
            <a:r>
              <a:rPr sz="1100" spc="90" dirty="0">
                <a:latin typeface="Arial MT"/>
                <a:cs typeface="Arial MT"/>
              </a:rPr>
              <a:t>≠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i="1" dirty="0">
                <a:latin typeface="Cambria"/>
                <a:cs typeface="Cambria"/>
              </a:rPr>
              <a:t>i</a:t>
            </a:r>
            <a:r>
              <a:rPr sz="1100" dirty="0">
                <a:latin typeface="Arial MT"/>
                <a:cs typeface="Arial MT"/>
              </a:rPr>
              <a:t>)</a:t>
            </a:r>
            <a:r>
              <a:rPr sz="950" dirty="0">
                <a:latin typeface="Trebuchet MS"/>
                <a:cs typeface="Trebuchet MS"/>
              </a:rPr>
              <a:t>,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such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spc="-30" dirty="0">
                <a:latin typeface="Trebuchet MS"/>
                <a:cs typeface="Trebuchet MS"/>
              </a:rPr>
              <a:t>that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1100" i="1" spc="-25" dirty="0">
                <a:latin typeface="Cambria"/>
                <a:cs typeface="Cambria"/>
              </a:rPr>
              <a:t>s</a:t>
            </a:r>
            <a:r>
              <a:rPr sz="1200" i="1" spc="-37" baseline="-10416" dirty="0">
                <a:latin typeface="Cambria"/>
                <a:cs typeface="Cambria"/>
              </a:rPr>
              <a:t>k</a:t>
            </a:r>
            <a:r>
              <a:rPr sz="1200" i="1" spc="750" baseline="-10416" dirty="0">
                <a:latin typeface="Cambria"/>
                <a:cs typeface="Cambria"/>
              </a:rPr>
              <a:t> </a:t>
            </a:r>
            <a:r>
              <a:rPr sz="950" dirty="0">
                <a:latin typeface="Trebuchet MS"/>
                <a:cs typeface="Trebuchet MS"/>
              </a:rPr>
              <a:t>represents</a:t>
            </a:r>
            <a:r>
              <a:rPr sz="950" spc="-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contribution</a:t>
            </a:r>
            <a:r>
              <a:rPr sz="950" spc="-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of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1100" i="1" spc="-45" dirty="0">
                <a:latin typeface="Cambria"/>
                <a:cs typeface="Cambria"/>
              </a:rPr>
              <a:t>k</a:t>
            </a:r>
            <a:r>
              <a:rPr sz="950" spc="-45" dirty="0">
                <a:latin typeface="Trebuchet MS"/>
                <a:cs typeface="Trebuchet MS"/>
              </a:rPr>
              <a:t>th</a:t>
            </a:r>
            <a:r>
              <a:rPr sz="950" spc="-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hub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950" spc="-25" dirty="0">
                <a:latin typeface="Trebuchet MS"/>
                <a:cs typeface="Trebuchet MS"/>
              </a:rPr>
              <a:t>as:</a:t>
            </a:r>
            <a:endParaRPr sz="950">
              <a:latin typeface="Trebuchet MS"/>
              <a:cs typeface="Trebuchet MS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597" y="1128966"/>
            <a:ext cx="64757" cy="64757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597" y="1338999"/>
            <a:ext cx="64757" cy="64757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1129842" y="1792922"/>
            <a:ext cx="2619375" cy="47370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90"/>
              </a:spcBef>
              <a:tabLst>
                <a:tab pos="283845" algn="l"/>
                <a:tab pos="533400" algn="l"/>
                <a:tab pos="846455" algn="l"/>
                <a:tab pos="1228725" algn="l"/>
              </a:tabLst>
            </a:pPr>
            <a:r>
              <a:rPr sz="1100" i="1" spc="-25" dirty="0">
                <a:latin typeface="Cambria"/>
                <a:cs typeface="Cambria"/>
              </a:rPr>
              <a:t>s</a:t>
            </a:r>
            <a:r>
              <a:rPr sz="1200" i="1" spc="-37" baseline="-10416" dirty="0">
                <a:latin typeface="Cambria"/>
                <a:cs typeface="Cambria"/>
              </a:rPr>
              <a:t>k</a:t>
            </a:r>
            <a:r>
              <a:rPr sz="1200" i="1" baseline="-10416" dirty="0">
                <a:latin typeface="Cambria"/>
                <a:cs typeface="Cambria"/>
              </a:rPr>
              <a:t>	</a:t>
            </a:r>
            <a:r>
              <a:rPr sz="1100" spc="150" dirty="0">
                <a:latin typeface="Arial MT"/>
                <a:cs typeface="Arial MT"/>
              </a:rPr>
              <a:t>=</a:t>
            </a:r>
            <a:r>
              <a:rPr sz="1100" dirty="0">
                <a:latin typeface="Arial MT"/>
                <a:cs typeface="Arial MT"/>
              </a:rPr>
              <a:t>	</a:t>
            </a:r>
            <a:r>
              <a:rPr sz="1650" u="sng" baseline="37878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sz="1650" u="sng" spc="-75" baseline="37878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1</a:t>
            </a:r>
            <a:r>
              <a:rPr sz="1650" u="sng" baseline="37878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	</a:t>
            </a:r>
            <a:r>
              <a:rPr sz="1650" spc="-187" baseline="37878" dirty="0">
                <a:latin typeface="Cambria"/>
                <a:cs typeface="Cambria"/>
              </a:rPr>
              <a:t> </a:t>
            </a:r>
            <a:r>
              <a:rPr sz="950" spc="-70" dirty="0">
                <a:latin typeface="Trebuchet MS"/>
                <a:cs typeface="Trebuchet MS"/>
              </a:rPr>
              <a:t>if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1100" i="1" dirty="0">
                <a:latin typeface="Cambria"/>
                <a:cs typeface="Cambria"/>
              </a:rPr>
              <a:t>h</a:t>
            </a:r>
            <a:r>
              <a:rPr sz="1200" i="1" baseline="-10416" dirty="0">
                <a:latin typeface="Cambria"/>
                <a:cs typeface="Cambria"/>
              </a:rPr>
              <a:t>k</a:t>
            </a:r>
            <a:r>
              <a:rPr sz="1200" i="1" spc="240" baseline="-10416" dirty="0">
                <a:latin typeface="Cambria"/>
                <a:cs typeface="Cambria"/>
              </a:rPr>
              <a:t> </a:t>
            </a:r>
            <a:r>
              <a:rPr sz="950" dirty="0">
                <a:latin typeface="Trebuchet MS"/>
                <a:cs typeface="Trebuchet MS"/>
              </a:rPr>
              <a:t>is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an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ancestor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of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1100" i="1" dirty="0">
                <a:latin typeface="Cambria"/>
                <a:cs typeface="Cambria"/>
              </a:rPr>
              <a:t>w</a:t>
            </a:r>
            <a:r>
              <a:rPr sz="1200" i="1" baseline="-10416" dirty="0">
                <a:latin typeface="Cambria"/>
                <a:cs typeface="Cambria"/>
              </a:rPr>
              <a:t>j</a:t>
            </a:r>
            <a:endParaRPr sz="1200" baseline="-10416">
              <a:latin typeface="Cambria"/>
              <a:cs typeface="Cambria"/>
            </a:endParaRPr>
          </a:p>
          <a:p>
            <a:pPr marL="69215">
              <a:lnSpc>
                <a:spcPct val="100000"/>
              </a:lnSpc>
              <a:spcBef>
                <a:spcPts val="894"/>
              </a:spcBef>
            </a:pPr>
            <a:r>
              <a:rPr sz="1100" i="1" spc="-25" dirty="0">
                <a:latin typeface="Cambria"/>
                <a:cs typeface="Cambria"/>
              </a:rPr>
              <a:t>s</a:t>
            </a:r>
            <a:r>
              <a:rPr sz="1200" i="1" spc="-37" baseline="-10416" dirty="0">
                <a:latin typeface="Cambria"/>
                <a:cs typeface="Cambria"/>
              </a:rPr>
              <a:t>i</a:t>
            </a:r>
            <a:endParaRPr sz="1200" baseline="-10416">
              <a:latin typeface="Cambria"/>
              <a:cs typeface="Cambr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75956" y="1868599"/>
            <a:ext cx="1021080" cy="397510"/>
          </a:xfrm>
          <a:prstGeom prst="rect">
            <a:avLst/>
          </a:prstGeom>
        </p:spPr>
        <p:txBody>
          <a:bodyPr vert="horz" wrap="square" lIns="0" tIns="31115" rIns="0" bIns="0" rtlCol="0">
            <a:spAutoFit/>
          </a:bodyPr>
          <a:lstStyle/>
          <a:p>
            <a:pPr marL="287020">
              <a:lnSpc>
                <a:spcPct val="100000"/>
              </a:lnSpc>
              <a:spcBef>
                <a:spcPts val="245"/>
              </a:spcBef>
            </a:pPr>
            <a:r>
              <a:rPr sz="1100" spc="-75" dirty="0">
                <a:latin typeface="Cambria"/>
                <a:cs typeface="Cambria"/>
              </a:rPr>
              <a:t>1</a:t>
            </a:r>
            <a:r>
              <a:rPr sz="1100" spc="-90" dirty="0">
                <a:latin typeface="Cambria"/>
                <a:cs typeface="Cambria"/>
              </a:rPr>
              <a:t> </a:t>
            </a:r>
            <a:r>
              <a:rPr sz="1100" spc="200" dirty="0">
                <a:latin typeface="Arial MT"/>
                <a:cs typeface="Arial MT"/>
              </a:rPr>
              <a:t>+</a:t>
            </a:r>
            <a:r>
              <a:rPr sz="1100" spc="-145" dirty="0">
                <a:latin typeface="Arial MT"/>
                <a:cs typeface="Arial MT"/>
              </a:rPr>
              <a:t> </a:t>
            </a:r>
            <a:r>
              <a:rPr sz="1100" i="1" dirty="0">
                <a:latin typeface="Cambria"/>
                <a:cs typeface="Cambria"/>
              </a:rPr>
              <a:t>d</a:t>
            </a:r>
            <a:r>
              <a:rPr sz="1100" dirty="0">
                <a:latin typeface="Arial MT"/>
                <a:cs typeface="Arial MT"/>
              </a:rPr>
              <a:t>(</a:t>
            </a:r>
            <a:r>
              <a:rPr sz="1100" i="1" dirty="0">
                <a:latin typeface="Cambria"/>
                <a:cs typeface="Cambria"/>
              </a:rPr>
              <a:t>h</a:t>
            </a:r>
            <a:r>
              <a:rPr sz="1200" i="1" baseline="-10416" dirty="0">
                <a:latin typeface="Cambria"/>
                <a:cs typeface="Cambria"/>
              </a:rPr>
              <a:t>k</a:t>
            </a:r>
            <a:r>
              <a:rPr sz="1100" dirty="0">
                <a:latin typeface="Calibri"/>
                <a:cs typeface="Calibri"/>
              </a:rPr>
              <a:t>,</a:t>
            </a:r>
            <a:r>
              <a:rPr sz="1100" spc="-125" dirty="0">
                <a:latin typeface="Calibri"/>
                <a:cs typeface="Calibri"/>
              </a:rPr>
              <a:t> </a:t>
            </a:r>
            <a:r>
              <a:rPr sz="1100" i="1" spc="-25" dirty="0">
                <a:latin typeface="Cambria"/>
                <a:cs typeface="Cambria"/>
              </a:rPr>
              <a:t>w</a:t>
            </a:r>
            <a:r>
              <a:rPr sz="1200" i="1" spc="-37" baseline="-10416" dirty="0">
                <a:latin typeface="Cambria"/>
                <a:cs typeface="Cambria"/>
              </a:rPr>
              <a:t>j</a:t>
            </a:r>
            <a:r>
              <a:rPr sz="1100" spc="-25" dirty="0">
                <a:latin typeface="Arial MT"/>
                <a:cs typeface="Arial MT"/>
              </a:rPr>
              <a:t>)</a:t>
            </a:r>
            <a:endParaRPr sz="1100">
              <a:latin typeface="Arial MT"/>
              <a:cs typeface="Arial MT"/>
            </a:endParaRPr>
          </a:p>
          <a:p>
            <a:pPr marL="38100">
              <a:lnSpc>
                <a:spcPct val="100000"/>
              </a:lnSpc>
              <a:spcBef>
                <a:spcPts val="145"/>
              </a:spcBef>
            </a:pPr>
            <a:r>
              <a:rPr sz="1100" spc="200" dirty="0">
                <a:latin typeface="Arial MT"/>
                <a:cs typeface="Arial MT"/>
              </a:rPr>
              <a:t>=</a:t>
            </a:r>
            <a:r>
              <a:rPr sz="1100" spc="165" dirty="0">
                <a:latin typeface="Arial MT"/>
                <a:cs typeface="Arial MT"/>
              </a:rPr>
              <a:t>  </a:t>
            </a:r>
            <a:r>
              <a:rPr sz="1100" dirty="0">
                <a:latin typeface="Cambria"/>
                <a:cs typeface="Cambria"/>
              </a:rPr>
              <a:t>0</a:t>
            </a:r>
            <a:r>
              <a:rPr sz="1100" spc="15" dirty="0">
                <a:latin typeface="Cambria"/>
                <a:cs typeface="Cambria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otherwise.</a:t>
            </a:r>
            <a:endParaRPr sz="950">
              <a:latin typeface="Trebuchet MS"/>
              <a:cs typeface="Trebuchet MS"/>
            </a:endParaRPr>
          </a:p>
        </p:txBody>
      </p:sp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1597" y="2469616"/>
            <a:ext cx="64757" cy="64757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377532" y="2321617"/>
            <a:ext cx="3744595" cy="635635"/>
          </a:xfrm>
          <a:prstGeom prst="rect">
            <a:avLst/>
          </a:prstGeom>
        </p:spPr>
        <p:txBody>
          <a:bodyPr vert="horz" wrap="square" lIns="0" tIns="28575" rIns="0" bIns="0" rtlCol="0">
            <a:spAutoFit/>
          </a:bodyPr>
          <a:lstStyle/>
          <a:p>
            <a:pPr marL="38100" marR="30480">
              <a:lnSpc>
                <a:spcPct val="127800"/>
              </a:lnSpc>
              <a:spcBef>
                <a:spcPts val="225"/>
              </a:spcBef>
            </a:pPr>
            <a:r>
              <a:rPr sz="950" dirty="0">
                <a:latin typeface="Trebuchet MS"/>
                <a:cs typeface="Trebuchet MS"/>
              </a:rPr>
              <a:t>All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score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vectors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associated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spc="-40" dirty="0">
                <a:latin typeface="Trebuchet MS"/>
                <a:cs typeface="Trebuchet MS"/>
              </a:rPr>
              <a:t>with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all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1100" i="1" dirty="0">
                <a:latin typeface="Cambria"/>
                <a:cs typeface="Cambria"/>
              </a:rPr>
              <a:t>w</a:t>
            </a:r>
            <a:r>
              <a:rPr sz="1200" i="1" baseline="-10416" dirty="0">
                <a:latin typeface="Cambria"/>
                <a:cs typeface="Cambria"/>
              </a:rPr>
              <a:t>j</a:t>
            </a:r>
            <a:r>
              <a:rPr sz="1200" i="1" spc="240" baseline="-10416" dirty="0">
                <a:latin typeface="Cambria"/>
                <a:cs typeface="Cambria"/>
              </a:rPr>
              <a:t> </a:t>
            </a:r>
            <a:r>
              <a:rPr sz="1100" spc="-300" dirty="0">
                <a:latin typeface="Lucida Sans Unicode"/>
                <a:cs typeface="Lucida Sans Unicode"/>
              </a:rPr>
              <a:t>∈</a:t>
            </a:r>
            <a:r>
              <a:rPr sz="1100" spc="-65" dirty="0">
                <a:latin typeface="Lucida Sans Unicode"/>
                <a:cs typeface="Lucida Sans Unicode"/>
              </a:rPr>
              <a:t> </a:t>
            </a:r>
            <a:r>
              <a:rPr sz="1100" i="1" dirty="0">
                <a:latin typeface="Cambria"/>
                <a:cs typeface="Cambria"/>
              </a:rPr>
              <a:t>W</a:t>
            </a:r>
            <a:r>
              <a:rPr sz="1100" dirty="0">
                <a:latin typeface="Arial MT"/>
                <a:cs typeface="Arial MT"/>
              </a:rPr>
              <a:t>(</a:t>
            </a:r>
            <a:r>
              <a:rPr sz="1100" i="1" dirty="0">
                <a:latin typeface="Cambria"/>
                <a:cs typeface="Cambria"/>
              </a:rPr>
              <a:t>j</a:t>
            </a:r>
            <a:r>
              <a:rPr sz="1100" i="1" spc="45" dirty="0">
                <a:latin typeface="Cambria"/>
                <a:cs typeface="Cambria"/>
              </a:rPr>
              <a:t> </a:t>
            </a:r>
            <a:r>
              <a:rPr sz="1100" spc="90" dirty="0">
                <a:latin typeface="Arial MT"/>
                <a:cs typeface="Arial MT"/>
              </a:rPr>
              <a:t>≠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i="1" dirty="0">
                <a:latin typeface="Cambria"/>
                <a:cs typeface="Cambria"/>
              </a:rPr>
              <a:t>i</a:t>
            </a:r>
            <a:r>
              <a:rPr sz="1100" dirty="0">
                <a:latin typeface="Arial MT"/>
                <a:cs typeface="Arial MT"/>
              </a:rPr>
              <a:t>)</a:t>
            </a:r>
            <a:r>
              <a:rPr sz="1100" spc="10" dirty="0">
                <a:latin typeface="Arial MT"/>
                <a:cs typeface="Arial MT"/>
              </a:rPr>
              <a:t> </a:t>
            </a:r>
            <a:r>
              <a:rPr sz="950" dirty="0">
                <a:latin typeface="Trebuchet MS"/>
                <a:cs typeface="Trebuchet MS"/>
              </a:rPr>
              <a:t>are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summed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spc="-25" dirty="0">
                <a:latin typeface="Trebuchet MS"/>
                <a:cs typeface="Trebuchet MS"/>
              </a:rPr>
              <a:t>up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hub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which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receives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maximum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score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is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chosen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spc="70" dirty="0">
                <a:latin typeface="Trebuchet MS"/>
                <a:cs typeface="Trebuchet MS"/>
              </a:rPr>
              <a:t>as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most </a:t>
            </a:r>
            <a:r>
              <a:rPr sz="950" dirty="0">
                <a:latin typeface="Trebuchet MS"/>
                <a:cs typeface="Trebuchet MS"/>
              </a:rPr>
              <a:t>appropriate</a:t>
            </a:r>
            <a:r>
              <a:rPr sz="950" spc="-55" dirty="0">
                <a:latin typeface="Trebuchet MS"/>
                <a:cs typeface="Trebuchet MS"/>
              </a:rPr>
              <a:t> </a:t>
            </a:r>
            <a:r>
              <a:rPr sz="950" spc="45" dirty="0">
                <a:latin typeface="Trebuchet MS"/>
                <a:cs typeface="Trebuchet MS"/>
              </a:rPr>
              <a:t>sense</a:t>
            </a:r>
            <a:endParaRPr sz="950">
              <a:latin typeface="Trebuchet MS"/>
              <a:cs typeface="Trebuchet MS"/>
            </a:endParaRPr>
          </a:p>
        </p:txBody>
      </p:sp>
      <p:pic>
        <p:nvPicPr>
          <p:cNvPr id="11" name="object 1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81597" y="2679649"/>
            <a:ext cx="64757" cy="64757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1804885" y="3339672"/>
            <a:ext cx="99885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  <a:hlinkClick r:id="rId7" action="ppaction://hlinksldjump"/>
              </a:rPr>
              <a:t>Word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  <a:hlinkClick r:id="rId7" action="ppaction://hlinksldjump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7" action="ppaction://hlinksldjump"/>
              </a:rPr>
              <a:t>Sense</a:t>
            </a:r>
            <a:r>
              <a:rPr sz="600" i="1" spc="5" dirty="0">
                <a:solidFill>
                  <a:srgbClr val="FFFFFF"/>
                </a:solidFill>
                <a:latin typeface="Cambria"/>
                <a:cs typeface="Cambria"/>
                <a:hlinkClick r:id="rId7" action="ppaction://hlinksldjump"/>
              </a:rPr>
              <a:t>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  <a:hlinkClick r:id="rId7" action="ppaction://hlinksldjump"/>
              </a:rPr>
              <a:t>Disambiguation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  <a:hlinkClick r:id="rId7" action="ppaction://hlinksldjump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7" action="ppaction://hlinksldjump"/>
              </a:rPr>
              <a:t>-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  <a:hlinkClick r:id="rId7" action="ppaction://hlinksldjump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  <a:hlinkClick r:id="rId7" action="ppaction://hlinksldjump"/>
              </a:rPr>
              <a:t>II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608260" y="3339672"/>
            <a:ext cx="56388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8,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4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317424" y="3339672"/>
            <a:ext cx="236854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14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10" dirty="0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</a:rPr>
              <a:t>14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34A250E6-C3BE-4E8C-8A68-6C8E4BA70AF2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4292024" y="3339672"/>
            <a:ext cx="262254" cy="116204"/>
          </a:xfrm>
          <a:prstGeom prst="rect">
            <a:avLst/>
          </a:prstGeom>
        </p:spPr>
        <p:txBody>
          <a:bodyPr/>
          <a:lstStyle/>
          <a:p>
            <a:pPr marL="75565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lang="en-IN" smtClean="0"/>
              <a:t>130</a:t>
            </a:fld>
            <a:r>
              <a:rPr lang="en-IN" spc="-5"/>
              <a:t> </a:t>
            </a:r>
            <a:r>
              <a:rPr lang="en-IN" spc="-110"/>
              <a:t>/</a:t>
            </a:r>
            <a:r>
              <a:rPr lang="en-IN" spc="15"/>
              <a:t> </a:t>
            </a:r>
            <a:r>
              <a:rPr lang="en-IN" spc="-25"/>
              <a:t>18</a:t>
            </a:r>
            <a:endParaRPr lang="en-IN" spc="-25" dirty="0"/>
          </a:p>
        </p:txBody>
      </p:sp>
    </p:spTree>
  </p:cSld>
  <p:clrMapOvr>
    <a:masterClrMapping/>
  </p:clrMapOvr>
  <p:transition>
    <p:cut/>
  </p:transition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7743" y="908939"/>
            <a:ext cx="4432935" cy="82550"/>
          </a:xfrm>
          <a:custGeom>
            <a:avLst/>
            <a:gdLst/>
            <a:ahLst/>
            <a:cxnLst/>
            <a:rect l="l" t="t" r="r" b="b"/>
            <a:pathLst>
              <a:path w="4432935" h="82550">
                <a:moveTo>
                  <a:pt x="4381754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82423"/>
                </a:lnTo>
                <a:lnTo>
                  <a:pt x="4432554" y="82423"/>
                </a:lnTo>
                <a:lnTo>
                  <a:pt x="4432554" y="50800"/>
                </a:lnTo>
                <a:lnTo>
                  <a:pt x="4428545" y="31075"/>
                </a:lnTo>
                <a:lnTo>
                  <a:pt x="4417631" y="14922"/>
                </a:lnTo>
                <a:lnTo>
                  <a:pt x="4401478" y="4008"/>
                </a:lnTo>
                <a:lnTo>
                  <a:pt x="4381754" y="0"/>
                </a:lnTo>
                <a:close/>
              </a:path>
            </a:pathLst>
          </a:custGeom>
          <a:solidFill>
            <a:srgbClr val="3232B2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87743" y="953363"/>
            <a:ext cx="4483735" cy="347345"/>
            <a:chOff x="87743" y="953363"/>
            <a:chExt cx="4483735" cy="34734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8544" y="1198854"/>
              <a:ext cx="101599" cy="1016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9344" y="1186154"/>
              <a:ext cx="4381754" cy="11430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520298" y="959510"/>
              <a:ext cx="50800" cy="239344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87743" y="953363"/>
              <a:ext cx="4432935" cy="296545"/>
            </a:xfrm>
            <a:custGeom>
              <a:avLst/>
              <a:gdLst/>
              <a:ahLst/>
              <a:cxnLst/>
              <a:rect l="l" t="t" r="r" b="b"/>
              <a:pathLst>
                <a:path w="4432935" h="296544">
                  <a:moveTo>
                    <a:pt x="4432554" y="0"/>
                  </a:moveTo>
                  <a:lnTo>
                    <a:pt x="0" y="0"/>
                  </a:lnTo>
                  <a:lnTo>
                    <a:pt x="0" y="245490"/>
                  </a:lnTo>
                  <a:lnTo>
                    <a:pt x="4008" y="265215"/>
                  </a:lnTo>
                  <a:lnTo>
                    <a:pt x="14922" y="281368"/>
                  </a:lnTo>
                  <a:lnTo>
                    <a:pt x="31075" y="292282"/>
                  </a:lnTo>
                  <a:lnTo>
                    <a:pt x="50800" y="296290"/>
                  </a:lnTo>
                  <a:lnTo>
                    <a:pt x="4381754" y="296290"/>
                  </a:lnTo>
                  <a:lnTo>
                    <a:pt x="4401478" y="292282"/>
                  </a:lnTo>
                  <a:lnTo>
                    <a:pt x="4417631" y="281368"/>
                  </a:lnTo>
                  <a:lnTo>
                    <a:pt x="4428545" y="265215"/>
                  </a:lnTo>
                  <a:lnTo>
                    <a:pt x="4432554" y="245490"/>
                  </a:lnTo>
                  <a:lnTo>
                    <a:pt x="4432554" y="0"/>
                  </a:lnTo>
                  <a:close/>
                </a:path>
              </a:pathLst>
            </a:custGeom>
            <a:solidFill>
              <a:srgbClr val="3232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520310" y="997559"/>
              <a:ext cx="0" cy="220345"/>
            </a:xfrm>
            <a:custGeom>
              <a:avLst/>
              <a:gdLst/>
              <a:ahLst/>
              <a:cxnLst/>
              <a:rect l="l" t="t" r="r" b="b"/>
              <a:pathLst>
                <a:path h="220344">
                  <a:moveTo>
                    <a:pt x="0" y="220344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520310" y="984910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520310" y="972210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520310" y="959510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1259077" y="957732"/>
            <a:ext cx="209042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i="1" dirty="0">
                <a:solidFill>
                  <a:srgbClr val="FFFFFF"/>
                </a:solidFill>
                <a:latin typeface="Cambria"/>
                <a:cs typeface="Cambria"/>
              </a:rPr>
              <a:t>Novel</a:t>
            </a:r>
            <a:r>
              <a:rPr sz="14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spc="-60" dirty="0">
                <a:solidFill>
                  <a:srgbClr val="FFFFFF"/>
                </a:solidFill>
                <a:latin typeface="Cambria"/>
                <a:cs typeface="Cambria"/>
              </a:rPr>
              <a:t>Word</a:t>
            </a:r>
            <a:r>
              <a:rPr sz="1400" i="1" spc="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dirty="0">
                <a:solidFill>
                  <a:srgbClr val="FFFFFF"/>
                </a:solidFill>
                <a:latin typeface="Cambria"/>
                <a:cs typeface="Cambria"/>
              </a:rPr>
              <a:t>Sense</a:t>
            </a:r>
            <a:r>
              <a:rPr sz="14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spc="-10" dirty="0">
                <a:solidFill>
                  <a:srgbClr val="FFFFFF"/>
                </a:solidFill>
                <a:latin typeface="Cambria"/>
                <a:cs typeface="Cambria"/>
              </a:rPr>
              <a:t>Detection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861172" y="3339672"/>
            <a:ext cx="88582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5" action="ppaction://hlinksldjump"/>
              </a:rPr>
              <a:t>Novel</a:t>
            </a:r>
            <a:r>
              <a:rPr sz="600" i="1" spc="-15" dirty="0">
                <a:solidFill>
                  <a:srgbClr val="FFFFFF"/>
                </a:solidFill>
                <a:latin typeface="Cambria"/>
                <a:cs typeface="Cambria"/>
                <a:hlinkClick r:id="rId5" action="ppaction://hlinksldjump"/>
              </a:rPr>
              <a:t> </a:t>
            </a: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  <a:hlinkClick r:id="rId5" action="ppaction://hlinksldjump"/>
              </a:rPr>
              <a:t>Word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  <a:hlinkClick r:id="rId5" action="ppaction://hlinksldjump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5" action="ppaction://hlinksldjump"/>
              </a:rPr>
              <a:t>Sense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  <a:hlinkClick r:id="rId5" action="ppaction://hlinksldjump"/>
              </a:rPr>
              <a:t>Detection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684180" y="3339672"/>
            <a:ext cx="56388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8,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5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sldNum" sz="quarter" idx="4294967295"/>
          </p:nvPr>
        </p:nvSpPr>
        <p:spPr>
          <a:xfrm>
            <a:off x="4292024" y="3339672"/>
            <a:ext cx="262254" cy="116204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13664">
              <a:lnSpc>
                <a:spcPct val="100000"/>
              </a:lnSpc>
              <a:spcBef>
                <a:spcPts val="50"/>
              </a:spcBef>
            </a:pPr>
            <a:r>
              <a:rPr dirty="0"/>
              <a:t>1</a:t>
            </a:r>
            <a:r>
              <a:rPr spc="-5" dirty="0"/>
              <a:t> </a:t>
            </a:r>
            <a:r>
              <a:rPr spc="-110" dirty="0"/>
              <a:t>/</a:t>
            </a:r>
            <a:r>
              <a:rPr spc="15" dirty="0"/>
              <a:t> </a:t>
            </a:r>
            <a:r>
              <a:rPr spc="-50" dirty="0"/>
              <a:t>5</a:t>
            </a:r>
          </a:p>
        </p:txBody>
      </p:sp>
    </p:spTree>
  </p:cSld>
  <p:clrMapOvr>
    <a:masterClrMapping/>
  </p:clrMapOvr>
  <p:transition>
    <p:cut/>
  </p:transition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38"/>
            <a:ext cx="4608195" cy="351790"/>
          </a:xfrm>
          <a:custGeom>
            <a:avLst/>
            <a:gdLst/>
            <a:ahLst/>
            <a:cxnLst/>
            <a:rect l="l" t="t" r="r" b="b"/>
            <a:pathLst>
              <a:path w="4608195" h="351790">
                <a:moveTo>
                  <a:pt x="4607941" y="0"/>
                </a:moveTo>
                <a:lnTo>
                  <a:pt x="0" y="0"/>
                </a:lnTo>
                <a:lnTo>
                  <a:pt x="0" y="351409"/>
                </a:lnTo>
                <a:lnTo>
                  <a:pt x="4607941" y="351409"/>
                </a:lnTo>
                <a:lnTo>
                  <a:pt x="4607941" y="0"/>
                </a:lnTo>
                <a:close/>
              </a:path>
            </a:pathLst>
          </a:custGeom>
          <a:solidFill>
            <a:srgbClr val="3232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87743" y="470293"/>
            <a:ext cx="4432935" cy="176530"/>
          </a:xfrm>
          <a:custGeom>
            <a:avLst/>
            <a:gdLst/>
            <a:ahLst/>
            <a:cxnLst/>
            <a:rect l="l" t="t" r="r" b="b"/>
            <a:pathLst>
              <a:path w="4432935" h="176529">
                <a:moveTo>
                  <a:pt x="4381754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76276"/>
                </a:lnTo>
                <a:lnTo>
                  <a:pt x="4432554" y="176276"/>
                </a:lnTo>
                <a:lnTo>
                  <a:pt x="4432554" y="50800"/>
                </a:lnTo>
                <a:lnTo>
                  <a:pt x="4428545" y="31075"/>
                </a:lnTo>
                <a:lnTo>
                  <a:pt x="4417631" y="14922"/>
                </a:lnTo>
                <a:lnTo>
                  <a:pt x="4401478" y="4008"/>
                </a:lnTo>
                <a:lnTo>
                  <a:pt x="4381754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95250" y="60502"/>
            <a:ext cx="1809114" cy="5822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i="1" spc="-25" dirty="0">
                <a:solidFill>
                  <a:srgbClr val="FFFFFF"/>
                </a:solidFill>
                <a:latin typeface="Cambria"/>
                <a:cs typeface="Cambria"/>
              </a:rPr>
              <a:t>Tracking</a:t>
            </a:r>
            <a:r>
              <a:rPr sz="14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dirty="0">
                <a:solidFill>
                  <a:srgbClr val="FFFFFF"/>
                </a:solidFill>
                <a:latin typeface="Cambria"/>
                <a:cs typeface="Cambria"/>
              </a:rPr>
              <a:t>Sense</a:t>
            </a:r>
            <a:r>
              <a:rPr sz="1400" i="1" spc="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spc="-10" dirty="0">
                <a:solidFill>
                  <a:srgbClr val="FFFFFF"/>
                </a:solidFill>
                <a:latin typeface="Cambria"/>
                <a:cs typeface="Cambria"/>
              </a:rPr>
              <a:t>Changes</a:t>
            </a:r>
            <a:endParaRPr sz="1400">
              <a:latin typeface="Cambria"/>
              <a:cs typeface="Cambria"/>
            </a:endParaRPr>
          </a:p>
          <a:p>
            <a:pPr marL="43180">
              <a:lnSpc>
                <a:spcPct val="100000"/>
              </a:lnSpc>
              <a:spcBef>
                <a:spcPts val="1350"/>
              </a:spcBef>
            </a:pPr>
            <a:r>
              <a:rPr sz="1100" i="1" dirty="0">
                <a:solidFill>
                  <a:srgbClr val="3232B2"/>
                </a:solidFill>
                <a:latin typeface="Cambria"/>
                <a:cs typeface="Cambria"/>
              </a:rPr>
              <a:t>Classical</a:t>
            </a:r>
            <a:r>
              <a:rPr sz="1100" i="1" spc="145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100" i="1" spc="-20" dirty="0">
                <a:solidFill>
                  <a:srgbClr val="3232B2"/>
                </a:solidFill>
                <a:latin typeface="Cambria"/>
                <a:cs typeface="Cambria"/>
              </a:rPr>
              <a:t>sense</a:t>
            </a:r>
            <a:endParaRPr sz="1100">
              <a:latin typeface="Cambria"/>
              <a:cs typeface="Cambri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87743" y="514540"/>
            <a:ext cx="4483735" cy="1246505"/>
            <a:chOff x="87743" y="514540"/>
            <a:chExt cx="4483735" cy="1246505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744" y="633958"/>
              <a:ext cx="4483354" cy="16482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20298" y="514540"/>
              <a:ext cx="50800" cy="182638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87743" y="678256"/>
              <a:ext cx="4432935" cy="69850"/>
            </a:xfrm>
            <a:custGeom>
              <a:avLst/>
              <a:gdLst/>
              <a:ahLst/>
              <a:cxnLst/>
              <a:rect l="l" t="t" r="r" b="b"/>
              <a:pathLst>
                <a:path w="4432935" h="69850">
                  <a:moveTo>
                    <a:pt x="4432554" y="0"/>
                  </a:moveTo>
                  <a:lnTo>
                    <a:pt x="0" y="0"/>
                  </a:lnTo>
                  <a:lnTo>
                    <a:pt x="0" y="18923"/>
                  </a:lnTo>
                  <a:lnTo>
                    <a:pt x="4008" y="38647"/>
                  </a:lnTo>
                  <a:lnTo>
                    <a:pt x="14922" y="54800"/>
                  </a:lnTo>
                  <a:lnTo>
                    <a:pt x="31075" y="65714"/>
                  </a:lnTo>
                  <a:lnTo>
                    <a:pt x="50800" y="69723"/>
                  </a:lnTo>
                  <a:lnTo>
                    <a:pt x="4381754" y="69723"/>
                  </a:lnTo>
                  <a:lnTo>
                    <a:pt x="4401478" y="65714"/>
                  </a:lnTo>
                  <a:lnTo>
                    <a:pt x="4417631" y="54800"/>
                  </a:lnTo>
                  <a:lnTo>
                    <a:pt x="4428545" y="38647"/>
                  </a:lnTo>
                  <a:lnTo>
                    <a:pt x="4432554" y="18923"/>
                  </a:lnTo>
                  <a:lnTo>
                    <a:pt x="4432554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520310" y="552653"/>
              <a:ext cx="0" cy="163830"/>
            </a:xfrm>
            <a:custGeom>
              <a:avLst/>
              <a:gdLst/>
              <a:ahLst/>
              <a:cxnLst/>
              <a:rect l="l" t="t" r="r" b="b"/>
              <a:pathLst>
                <a:path h="163829">
                  <a:moveTo>
                    <a:pt x="0" y="163575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520310" y="539940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520310" y="527240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520310" y="514540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25512" y="804523"/>
              <a:ext cx="2700020" cy="955988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3612806" y="1606423"/>
            <a:ext cx="76200" cy="13525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700" spc="-50" dirty="0">
                <a:latin typeface="Trebuchet MS"/>
                <a:cs typeface="Trebuchet MS"/>
              </a:rPr>
              <a:t>1</a:t>
            </a:r>
            <a:endParaRPr sz="700">
              <a:latin typeface="Trebuchet MS"/>
              <a:cs typeface="Trebuchet MS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138544" y="3163036"/>
            <a:ext cx="1828800" cy="0"/>
          </a:xfrm>
          <a:custGeom>
            <a:avLst/>
            <a:gdLst/>
            <a:ahLst/>
            <a:cxnLst/>
            <a:rect l="l" t="t" r="r" b="b"/>
            <a:pathLst>
              <a:path w="1828800">
                <a:moveTo>
                  <a:pt x="0" y="0"/>
                </a:moveTo>
                <a:lnTo>
                  <a:pt x="1828800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259676" y="3166681"/>
            <a:ext cx="1882775" cy="17018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900" spc="-120" baseline="27777" dirty="0">
                <a:latin typeface="Trebuchet MS"/>
                <a:cs typeface="Trebuchet MS"/>
              </a:rPr>
              <a:t>1</a:t>
            </a:r>
            <a:r>
              <a:rPr sz="900" spc="-80" dirty="0">
                <a:latin typeface="Courier New"/>
                <a:cs typeface="Courier New"/>
                <a:hlinkClick r:id="rId5"/>
              </a:rPr>
              <a:t>http://www.merriam-</a:t>
            </a:r>
            <a:r>
              <a:rPr sz="900" spc="-75" dirty="0">
                <a:latin typeface="Courier New"/>
                <a:cs typeface="Courier New"/>
                <a:hlinkClick r:id="rId5"/>
              </a:rPr>
              <a:t>webster.com/</a:t>
            </a:r>
            <a:endParaRPr sz="900">
              <a:latin typeface="Courier New"/>
              <a:cs typeface="Courier New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861172" y="3339672"/>
            <a:ext cx="88582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6" action="ppaction://hlinksldjump"/>
              </a:rPr>
              <a:t>Novel</a:t>
            </a:r>
            <a:r>
              <a:rPr sz="600" i="1" spc="-15" dirty="0">
                <a:solidFill>
                  <a:srgbClr val="FFFFFF"/>
                </a:solidFill>
                <a:latin typeface="Cambria"/>
                <a:cs typeface="Cambria"/>
                <a:hlinkClick r:id="rId6" action="ppaction://hlinksldjump"/>
              </a:rPr>
              <a:t> </a:t>
            </a: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  <a:hlinkClick r:id="rId6" action="ppaction://hlinksldjump"/>
              </a:rPr>
              <a:t>Word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  <a:hlinkClick r:id="rId6" action="ppaction://hlinksldjump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6" action="ppaction://hlinksldjump"/>
              </a:rPr>
              <a:t>Sense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  <a:hlinkClick r:id="rId6" action="ppaction://hlinksldjump"/>
              </a:rPr>
              <a:t>Detection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684180" y="3339672"/>
            <a:ext cx="56388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8,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5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393345" y="3339672"/>
            <a:ext cx="16065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2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10" dirty="0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5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25" name="Slide Number Placeholder 24">
            <a:extLst>
              <a:ext uri="{FF2B5EF4-FFF2-40B4-BE49-F238E27FC236}">
                <a16:creationId xmlns:a16="http://schemas.microsoft.com/office/drawing/2014/main" id="{0F1D285D-6B57-4D05-A46F-FE41B05BBA73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4292024" y="3339672"/>
            <a:ext cx="262254" cy="116204"/>
          </a:xfrm>
          <a:prstGeom prst="rect">
            <a:avLst/>
          </a:prstGeom>
        </p:spPr>
        <p:txBody>
          <a:bodyPr/>
          <a:lstStyle/>
          <a:p>
            <a:pPr marL="75565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lang="en-IN" smtClean="0"/>
              <a:t>132</a:t>
            </a:fld>
            <a:r>
              <a:rPr lang="en-IN" spc="-5"/>
              <a:t> </a:t>
            </a:r>
            <a:r>
              <a:rPr lang="en-IN" spc="-110"/>
              <a:t>/</a:t>
            </a:r>
            <a:r>
              <a:rPr lang="en-IN" spc="15"/>
              <a:t> </a:t>
            </a:r>
            <a:r>
              <a:rPr lang="en-IN" spc="-25"/>
              <a:t>18</a:t>
            </a:r>
            <a:endParaRPr lang="en-IN" spc="-25" dirty="0"/>
          </a:p>
        </p:txBody>
      </p:sp>
    </p:spTree>
  </p:cSld>
  <p:clrMapOvr>
    <a:masterClrMapping/>
  </p:clrMapOvr>
  <p:transition>
    <p:cut/>
  </p:transition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38"/>
            <a:ext cx="4608195" cy="351790"/>
          </a:xfrm>
          <a:custGeom>
            <a:avLst/>
            <a:gdLst/>
            <a:ahLst/>
            <a:cxnLst/>
            <a:rect l="l" t="t" r="r" b="b"/>
            <a:pathLst>
              <a:path w="4608195" h="351790">
                <a:moveTo>
                  <a:pt x="4607941" y="0"/>
                </a:moveTo>
                <a:lnTo>
                  <a:pt x="0" y="0"/>
                </a:lnTo>
                <a:lnTo>
                  <a:pt x="0" y="351409"/>
                </a:lnTo>
                <a:lnTo>
                  <a:pt x="4607941" y="351409"/>
                </a:lnTo>
                <a:lnTo>
                  <a:pt x="4607941" y="0"/>
                </a:lnTo>
                <a:close/>
              </a:path>
            </a:pathLst>
          </a:custGeom>
          <a:solidFill>
            <a:srgbClr val="3232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87743" y="470293"/>
            <a:ext cx="4432935" cy="176530"/>
          </a:xfrm>
          <a:custGeom>
            <a:avLst/>
            <a:gdLst/>
            <a:ahLst/>
            <a:cxnLst/>
            <a:rect l="l" t="t" r="r" b="b"/>
            <a:pathLst>
              <a:path w="4432935" h="176529">
                <a:moveTo>
                  <a:pt x="4381754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76276"/>
                </a:lnTo>
                <a:lnTo>
                  <a:pt x="4432554" y="176276"/>
                </a:lnTo>
                <a:lnTo>
                  <a:pt x="4432554" y="50800"/>
                </a:lnTo>
                <a:lnTo>
                  <a:pt x="4428545" y="31075"/>
                </a:lnTo>
                <a:lnTo>
                  <a:pt x="4417631" y="14922"/>
                </a:lnTo>
                <a:lnTo>
                  <a:pt x="4401478" y="4008"/>
                </a:lnTo>
                <a:lnTo>
                  <a:pt x="4381754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95250" y="60502"/>
            <a:ext cx="1809114" cy="5822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i="1" spc="-25" dirty="0">
                <a:solidFill>
                  <a:srgbClr val="FFFFFF"/>
                </a:solidFill>
                <a:latin typeface="Cambria"/>
                <a:cs typeface="Cambria"/>
              </a:rPr>
              <a:t>Tracking</a:t>
            </a:r>
            <a:r>
              <a:rPr sz="14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dirty="0">
                <a:solidFill>
                  <a:srgbClr val="FFFFFF"/>
                </a:solidFill>
                <a:latin typeface="Cambria"/>
                <a:cs typeface="Cambria"/>
              </a:rPr>
              <a:t>Sense</a:t>
            </a:r>
            <a:r>
              <a:rPr sz="1400" i="1" spc="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spc="-10" dirty="0">
                <a:solidFill>
                  <a:srgbClr val="FFFFFF"/>
                </a:solidFill>
                <a:latin typeface="Cambria"/>
                <a:cs typeface="Cambria"/>
              </a:rPr>
              <a:t>Changes</a:t>
            </a:r>
            <a:endParaRPr sz="1400">
              <a:latin typeface="Cambria"/>
              <a:cs typeface="Cambria"/>
            </a:endParaRPr>
          </a:p>
          <a:p>
            <a:pPr marL="43180">
              <a:lnSpc>
                <a:spcPct val="100000"/>
              </a:lnSpc>
              <a:spcBef>
                <a:spcPts val="1350"/>
              </a:spcBef>
            </a:pPr>
            <a:r>
              <a:rPr sz="1100" i="1" dirty="0">
                <a:solidFill>
                  <a:srgbClr val="3232B2"/>
                </a:solidFill>
                <a:latin typeface="Cambria"/>
                <a:cs typeface="Cambria"/>
              </a:rPr>
              <a:t>Classical</a:t>
            </a:r>
            <a:r>
              <a:rPr sz="1100" i="1" spc="145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100" i="1" spc="-20" dirty="0">
                <a:solidFill>
                  <a:srgbClr val="3232B2"/>
                </a:solidFill>
                <a:latin typeface="Cambria"/>
                <a:cs typeface="Cambria"/>
              </a:rPr>
              <a:t>sense</a:t>
            </a:r>
            <a:endParaRPr sz="1100">
              <a:latin typeface="Cambria"/>
              <a:cs typeface="Cambri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87743" y="514540"/>
            <a:ext cx="4483735" cy="1246505"/>
            <a:chOff x="87743" y="514540"/>
            <a:chExt cx="4483735" cy="1246505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744" y="633958"/>
              <a:ext cx="4483354" cy="16482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20298" y="514540"/>
              <a:ext cx="50800" cy="182638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87743" y="678256"/>
              <a:ext cx="4432935" cy="69850"/>
            </a:xfrm>
            <a:custGeom>
              <a:avLst/>
              <a:gdLst/>
              <a:ahLst/>
              <a:cxnLst/>
              <a:rect l="l" t="t" r="r" b="b"/>
              <a:pathLst>
                <a:path w="4432935" h="69850">
                  <a:moveTo>
                    <a:pt x="4432554" y="0"/>
                  </a:moveTo>
                  <a:lnTo>
                    <a:pt x="0" y="0"/>
                  </a:lnTo>
                  <a:lnTo>
                    <a:pt x="0" y="18923"/>
                  </a:lnTo>
                  <a:lnTo>
                    <a:pt x="4008" y="38647"/>
                  </a:lnTo>
                  <a:lnTo>
                    <a:pt x="14922" y="54800"/>
                  </a:lnTo>
                  <a:lnTo>
                    <a:pt x="31075" y="65714"/>
                  </a:lnTo>
                  <a:lnTo>
                    <a:pt x="50800" y="69723"/>
                  </a:lnTo>
                  <a:lnTo>
                    <a:pt x="4381754" y="69723"/>
                  </a:lnTo>
                  <a:lnTo>
                    <a:pt x="4401478" y="65714"/>
                  </a:lnTo>
                  <a:lnTo>
                    <a:pt x="4417631" y="54800"/>
                  </a:lnTo>
                  <a:lnTo>
                    <a:pt x="4428545" y="38647"/>
                  </a:lnTo>
                  <a:lnTo>
                    <a:pt x="4432554" y="18923"/>
                  </a:lnTo>
                  <a:lnTo>
                    <a:pt x="4432554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520310" y="552653"/>
              <a:ext cx="0" cy="163830"/>
            </a:xfrm>
            <a:custGeom>
              <a:avLst/>
              <a:gdLst/>
              <a:ahLst/>
              <a:cxnLst/>
              <a:rect l="l" t="t" r="r" b="b"/>
              <a:pathLst>
                <a:path h="163829">
                  <a:moveTo>
                    <a:pt x="0" y="163575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520310" y="539940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520310" y="527240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520310" y="514540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25512" y="804523"/>
              <a:ext cx="2700020" cy="955988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3612806" y="1606423"/>
            <a:ext cx="76200" cy="13525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700" spc="-50" dirty="0">
                <a:latin typeface="Trebuchet MS"/>
                <a:cs typeface="Trebuchet MS"/>
              </a:rPr>
              <a:t>1</a:t>
            </a:r>
            <a:endParaRPr sz="700">
              <a:latin typeface="Trebuchet MS"/>
              <a:cs typeface="Trebuchet MS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87743" y="1848256"/>
            <a:ext cx="4432935" cy="176530"/>
          </a:xfrm>
          <a:custGeom>
            <a:avLst/>
            <a:gdLst/>
            <a:ahLst/>
            <a:cxnLst/>
            <a:rect l="l" t="t" r="r" b="b"/>
            <a:pathLst>
              <a:path w="4432935" h="176530">
                <a:moveTo>
                  <a:pt x="4381754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76276"/>
                </a:lnTo>
                <a:lnTo>
                  <a:pt x="4432554" y="176276"/>
                </a:lnTo>
                <a:lnTo>
                  <a:pt x="4432554" y="50800"/>
                </a:lnTo>
                <a:lnTo>
                  <a:pt x="4428545" y="31075"/>
                </a:lnTo>
                <a:lnTo>
                  <a:pt x="4417631" y="14922"/>
                </a:lnTo>
                <a:lnTo>
                  <a:pt x="4401478" y="4008"/>
                </a:lnTo>
                <a:lnTo>
                  <a:pt x="4381754" y="0"/>
                </a:lnTo>
                <a:close/>
              </a:path>
            </a:pathLst>
          </a:custGeom>
          <a:solidFill>
            <a:srgbClr val="FF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125729" y="1829041"/>
            <a:ext cx="68262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i="1" dirty="0">
                <a:solidFill>
                  <a:srgbClr val="FF0000"/>
                </a:solidFill>
                <a:latin typeface="Cambria"/>
                <a:cs typeface="Cambria"/>
              </a:rPr>
              <a:t>Novel</a:t>
            </a:r>
            <a:r>
              <a:rPr sz="1100" i="1" spc="-4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100" i="1" spc="-10" dirty="0">
                <a:solidFill>
                  <a:srgbClr val="FF0000"/>
                </a:solidFill>
                <a:latin typeface="Cambria"/>
                <a:cs typeface="Cambria"/>
              </a:rPr>
              <a:t>sense</a:t>
            </a:r>
            <a:endParaRPr sz="1100">
              <a:latin typeface="Cambria"/>
              <a:cs typeface="Cambria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87743" y="1892490"/>
            <a:ext cx="4483735" cy="284480"/>
            <a:chOff x="87743" y="1892490"/>
            <a:chExt cx="4483735" cy="284480"/>
          </a:xfrm>
        </p:grpSpPr>
        <p:pic>
          <p:nvPicPr>
            <p:cNvPr id="18" name="object 1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7744" y="2011921"/>
              <a:ext cx="4483354" cy="164820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520298" y="1892490"/>
              <a:ext cx="50800" cy="182651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87743" y="2056218"/>
              <a:ext cx="4432935" cy="69850"/>
            </a:xfrm>
            <a:custGeom>
              <a:avLst/>
              <a:gdLst/>
              <a:ahLst/>
              <a:cxnLst/>
              <a:rect l="l" t="t" r="r" b="b"/>
              <a:pathLst>
                <a:path w="4432935" h="69850">
                  <a:moveTo>
                    <a:pt x="4432554" y="0"/>
                  </a:moveTo>
                  <a:lnTo>
                    <a:pt x="0" y="0"/>
                  </a:lnTo>
                  <a:lnTo>
                    <a:pt x="0" y="18922"/>
                  </a:lnTo>
                  <a:lnTo>
                    <a:pt x="4008" y="38647"/>
                  </a:lnTo>
                  <a:lnTo>
                    <a:pt x="14922" y="54800"/>
                  </a:lnTo>
                  <a:lnTo>
                    <a:pt x="31075" y="65714"/>
                  </a:lnTo>
                  <a:lnTo>
                    <a:pt x="50800" y="69722"/>
                  </a:lnTo>
                  <a:lnTo>
                    <a:pt x="4381754" y="69722"/>
                  </a:lnTo>
                  <a:lnTo>
                    <a:pt x="4401478" y="65714"/>
                  </a:lnTo>
                  <a:lnTo>
                    <a:pt x="4417631" y="54800"/>
                  </a:lnTo>
                  <a:lnTo>
                    <a:pt x="4428545" y="38647"/>
                  </a:lnTo>
                  <a:lnTo>
                    <a:pt x="4432554" y="18922"/>
                  </a:lnTo>
                  <a:lnTo>
                    <a:pt x="4432554" y="0"/>
                  </a:lnTo>
                  <a:close/>
                </a:path>
              </a:pathLst>
            </a:custGeom>
            <a:solidFill>
              <a:srgbClr val="FFE5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4520309" y="1930615"/>
              <a:ext cx="0" cy="163830"/>
            </a:xfrm>
            <a:custGeom>
              <a:avLst/>
              <a:gdLst/>
              <a:ahLst/>
              <a:cxnLst/>
              <a:rect l="l" t="t" r="r" b="b"/>
              <a:pathLst>
                <a:path h="163830">
                  <a:moveTo>
                    <a:pt x="0" y="163575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4520309" y="1917898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4520309" y="1905198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520309" y="1892498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5" name="object 25"/>
          <p:cNvGrpSpPr/>
          <p:nvPr/>
        </p:nvGrpSpPr>
        <p:grpSpPr>
          <a:xfrm>
            <a:off x="138544" y="2238237"/>
            <a:ext cx="3736340" cy="927735"/>
            <a:chOff x="138544" y="2238237"/>
            <a:chExt cx="3736340" cy="927735"/>
          </a:xfrm>
        </p:grpSpPr>
        <p:pic>
          <p:nvPicPr>
            <p:cNvPr id="26" name="object 2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33556" y="2238237"/>
              <a:ext cx="3140841" cy="898270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138544" y="3163036"/>
              <a:ext cx="1828800" cy="0"/>
            </a:xfrm>
            <a:custGeom>
              <a:avLst/>
              <a:gdLst/>
              <a:ahLst/>
              <a:cxnLst/>
              <a:rect l="l" t="t" r="r" b="b"/>
              <a:pathLst>
                <a:path w="1828800">
                  <a:moveTo>
                    <a:pt x="0" y="0"/>
                  </a:moveTo>
                  <a:lnTo>
                    <a:pt x="182880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259676" y="3166681"/>
            <a:ext cx="1882775" cy="17018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900" spc="-120" baseline="27777" dirty="0">
                <a:latin typeface="Trebuchet MS"/>
                <a:cs typeface="Trebuchet MS"/>
              </a:rPr>
              <a:t>1</a:t>
            </a:r>
            <a:r>
              <a:rPr sz="900" spc="-80" dirty="0">
                <a:latin typeface="Courier New"/>
                <a:cs typeface="Courier New"/>
                <a:hlinkClick r:id="rId8"/>
              </a:rPr>
              <a:t>http://www.merriam-</a:t>
            </a:r>
            <a:r>
              <a:rPr sz="900" spc="-75" dirty="0">
                <a:latin typeface="Courier New"/>
                <a:cs typeface="Courier New"/>
                <a:hlinkClick r:id="rId8"/>
              </a:rPr>
              <a:t>webster.com/</a:t>
            </a:r>
            <a:endParaRPr sz="900">
              <a:latin typeface="Courier New"/>
              <a:cs typeface="Courier New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1861172" y="3339672"/>
            <a:ext cx="88582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9" action="ppaction://hlinksldjump"/>
              </a:rPr>
              <a:t>Novel</a:t>
            </a:r>
            <a:r>
              <a:rPr sz="600" i="1" spc="-15" dirty="0">
                <a:solidFill>
                  <a:srgbClr val="FFFFFF"/>
                </a:solidFill>
                <a:latin typeface="Cambria"/>
                <a:cs typeface="Cambria"/>
                <a:hlinkClick r:id="rId9" action="ppaction://hlinksldjump"/>
              </a:rPr>
              <a:t> </a:t>
            </a: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  <a:hlinkClick r:id="rId9" action="ppaction://hlinksldjump"/>
              </a:rPr>
              <a:t>Word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  <a:hlinkClick r:id="rId9" action="ppaction://hlinksldjump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9" action="ppaction://hlinksldjump"/>
              </a:rPr>
              <a:t>Sense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  <a:hlinkClick r:id="rId9" action="ppaction://hlinksldjump"/>
              </a:rPr>
              <a:t>Detection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3684180" y="3339672"/>
            <a:ext cx="56388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8,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5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4393345" y="3339672"/>
            <a:ext cx="16065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2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10" dirty="0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5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37" name="Slide Number Placeholder 36">
            <a:extLst>
              <a:ext uri="{FF2B5EF4-FFF2-40B4-BE49-F238E27FC236}">
                <a16:creationId xmlns:a16="http://schemas.microsoft.com/office/drawing/2014/main" id="{6D82F616-8464-49D6-8BC3-8049D3F6BDB2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4292024" y="3339672"/>
            <a:ext cx="262254" cy="116204"/>
          </a:xfrm>
          <a:prstGeom prst="rect">
            <a:avLst/>
          </a:prstGeom>
        </p:spPr>
        <p:txBody>
          <a:bodyPr/>
          <a:lstStyle/>
          <a:p>
            <a:pPr marL="75565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lang="en-IN" smtClean="0"/>
              <a:t>133</a:t>
            </a:fld>
            <a:r>
              <a:rPr lang="en-IN" spc="-5"/>
              <a:t> </a:t>
            </a:r>
            <a:r>
              <a:rPr lang="en-IN" spc="-110"/>
              <a:t>/</a:t>
            </a:r>
            <a:r>
              <a:rPr lang="en-IN" spc="15"/>
              <a:t> </a:t>
            </a:r>
            <a:r>
              <a:rPr lang="en-IN" spc="-25"/>
              <a:t>18</a:t>
            </a:r>
            <a:endParaRPr lang="en-IN" spc="-25" dirty="0"/>
          </a:p>
        </p:txBody>
      </p:sp>
    </p:spTree>
  </p:cSld>
  <p:clrMapOvr>
    <a:masterClrMapping/>
  </p:clrMapOvr>
  <p:transition>
    <p:cut/>
  </p:transition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Comparing</a:t>
            </a:r>
            <a:r>
              <a:rPr spc="50" dirty="0"/>
              <a:t> </a:t>
            </a:r>
            <a:r>
              <a:rPr dirty="0"/>
              <a:t>sense</a:t>
            </a:r>
            <a:r>
              <a:rPr spc="50" dirty="0"/>
              <a:t> </a:t>
            </a:r>
            <a:r>
              <a:rPr spc="-10" dirty="0"/>
              <a:t>clusters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597" y="756285"/>
            <a:ext cx="64757" cy="64757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02932" y="663747"/>
            <a:ext cx="3903345" cy="3695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18900"/>
              </a:lnSpc>
              <a:spcBef>
                <a:spcPts val="90"/>
              </a:spcBef>
            </a:pPr>
            <a:r>
              <a:rPr sz="950" spc="-20" dirty="0">
                <a:latin typeface="Trebuchet MS"/>
                <a:cs typeface="Trebuchet MS"/>
              </a:rPr>
              <a:t>If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word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undergoes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spc="55" dirty="0">
                <a:latin typeface="Trebuchet MS"/>
                <a:cs typeface="Trebuchet MS"/>
              </a:rPr>
              <a:t>sense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change,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this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can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be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detected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by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comparing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-25" dirty="0">
                <a:latin typeface="Trebuchet MS"/>
                <a:cs typeface="Trebuchet MS"/>
              </a:rPr>
              <a:t> </a:t>
            </a:r>
            <a:r>
              <a:rPr sz="950" spc="55" dirty="0">
                <a:latin typeface="Trebuchet MS"/>
                <a:cs typeface="Trebuchet MS"/>
              </a:rPr>
              <a:t>sense</a:t>
            </a:r>
            <a:r>
              <a:rPr sz="950" spc="-2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clusters</a:t>
            </a:r>
            <a:r>
              <a:rPr sz="950" spc="-2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obtained</a:t>
            </a:r>
            <a:r>
              <a:rPr sz="950" spc="-2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from</a:t>
            </a:r>
            <a:r>
              <a:rPr sz="950" spc="-20" dirty="0">
                <a:latin typeface="Trebuchet MS"/>
                <a:cs typeface="Trebuchet MS"/>
              </a:rPr>
              <a:t> two </a:t>
            </a:r>
            <a:r>
              <a:rPr sz="950" spc="-35" dirty="0">
                <a:latin typeface="Trebuchet MS"/>
                <a:cs typeface="Trebuchet MS"/>
              </a:rPr>
              <a:t>different</a:t>
            </a:r>
            <a:r>
              <a:rPr sz="950" spc="-25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time </a:t>
            </a:r>
            <a:r>
              <a:rPr sz="950" spc="-10" dirty="0">
                <a:latin typeface="Trebuchet MS"/>
                <a:cs typeface="Trebuchet MS"/>
              </a:rPr>
              <a:t>periods</a:t>
            </a:r>
            <a:endParaRPr sz="950">
              <a:latin typeface="Trebuchet MS"/>
              <a:cs typeface="Trebuchet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861172" y="3339672"/>
            <a:ext cx="88582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Novel</a:t>
            </a:r>
            <a:r>
              <a:rPr sz="600" i="1" spc="-15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 </a:t>
            </a: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Word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Sense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Detection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684180" y="3339672"/>
            <a:ext cx="56388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8,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5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393345" y="3339672"/>
            <a:ext cx="16065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3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10" dirty="0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5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A34E008E-52DF-4DAA-ABCD-4BE9D214C44B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4292024" y="3339672"/>
            <a:ext cx="262254" cy="116204"/>
          </a:xfrm>
          <a:prstGeom prst="rect">
            <a:avLst/>
          </a:prstGeom>
        </p:spPr>
        <p:txBody>
          <a:bodyPr/>
          <a:lstStyle/>
          <a:p>
            <a:pPr marL="75565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lang="en-IN" smtClean="0"/>
              <a:t>134</a:t>
            </a:fld>
            <a:r>
              <a:rPr lang="en-IN" spc="-5"/>
              <a:t> </a:t>
            </a:r>
            <a:r>
              <a:rPr lang="en-IN" spc="-110"/>
              <a:t>/</a:t>
            </a:r>
            <a:r>
              <a:rPr lang="en-IN" spc="15"/>
              <a:t> </a:t>
            </a:r>
            <a:r>
              <a:rPr lang="en-IN" spc="-25"/>
              <a:t>18</a:t>
            </a:r>
            <a:endParaRPr lang="en-IN" spc="-25" dirty="0"/>
          </a:p>
        </p:txBody>
      </p:sp>
    </p:spTree>
  </p:cSld>
  <p:clrMapOvr>
    <a:masterClrMapping/>
  </p:clrMapOvr>
  <p:transition>
    <p:cut/>
  </p:transition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Comparing</a:t>
            </a:r>
            <a:r>
              <a:rPr spc="50" dirty="0"/>
              <a:t> </a:t>
            </a:r>
            <a:r>
              <a:rPr dirty="0"/>
              <a:t>sense</a:t>
            </a:r>
            <a:r>
              <a:rPr spc="50" dirty="0"/>
              <a:t> </a:t>
            </a:r>
            <a:r>
              <a:rPr spc="-10" dirty="0"/>
              <a:t>clusters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597" y="756285"/>
            <a:ext cx="64757" cy="64757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02932" y="663747"/>
            <a:ext cx="3903345" cy="3695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18900"/>
              </a:lnSpc>
              <a:spcBef>
                <a:spcPts val="90"/>
              </a:spcBef>
            </a:pPr>
            <a:r>
              <a:rPr sz="950" spc="-20" dirty="0">
                <a:latin typeface="Trebuchet MS"/>
                <a:cs typeface="Trebuchet MS"/>
              </a:rPr>
              <a:t>If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word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undergoes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spc="55" dirty="0">
                <a:latin typeface="Trebuchet MS"/>
                <a:cs typeface="Trebuchet MS"/>
              </a:rPr>
              <a:t>sense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change,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this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can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be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detected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by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comparing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-25" dirty="0">
                <a:latin typeface="Trebuchet MS"/>
                <a:cs typeface="Trebuchet MS"/>
              </a:rPr>
              <a:t> </a:t>
            </a:r>
            <a:r>
              <a:rPr sz="950" spc="55" dirty="0">
                <a:latin typeface="Trebuchet MS"/>
                <a:cs typeface="Trebuchet MS"/>
              </a:rPr>
              <a:t>sense</a:t>
            </a:r>
            <a:r>
              <a:rPr sz="950" spc="-2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clusters</a:t>
            </a:r>
            <a:r>
              <a:rPr sz="950" spc="-2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obtained</a:t>
            </a:r>
            <a:r>
              <a:rPr sz="950" spc="-2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from</a:t>
            </a:r>
            <a:r>
              <a:rPr sz="950" spc="-20" dirty="0">
                <a:latin typeface="Trebuchet MS"/>
                <a:cs typeface="Trebuchet MS"/>
              </a:rPr>
              <a:t> two </a:t>
            </a:r>
            <a:r>
              <a:rPr sz="950" spc="-35" dirty="0">
                <a:latin typeface="Trebuchet MS"/>
                <a:cs typeface="Trebuchet MS"/>
              </a:rPr>
              <a:t>different</a:t>
            </a:r>
            <a:r>
              <a:rPr sz="950" spc="-25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time </a:t>
            </a:r>
            <a:r>
              <a:rPr sz="950" spc="-10" dirty="0">
                <a:latin typeface="Trebuchet MS"/>
                <a:cs typeface="Trebuchet MS"/>
              </a:rPr>
              <a:t>periods</a:t>
            </a:r>
            <a:endParaRPr sz="950">
              <a:latin typeface="Trebuchet MS"/>
              <a:cs typeface="Trebuchet MS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08270" y="1266561"/>
            <a:ext cx="3591515" cy="1580098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1861172" y="3339672"/>
            <a:ext cx="88582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4" action="ppaction://hlinksldjump"/>
              </a:rPr>
              <a:t>Novel</a:t>
            </a:r>
            <a:r>
              <a:rPr sz="600" i="1" spc="-15" dirty="0">
                <a:solidFill>
                  <a:srgbClr val="FFFFFF"/>
                </a:solidFill>
                <a:latin typeface="Cambria"/>
                <a:cs typeface="Cambria"/>
                <a:hlinkClick r:id="rId4" action="ppaction://hlinksldjump"/>
              </a:rPr>
              <a:t> </a:t>
            </a: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  <a:hlinkClick r:id="rId4" action="ppaction://hlinksldjump"/>
              </a:rPr>
              <a:t>Word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  <a:hlinkClick r:id="rId4" action="ppaction://hlinksldjump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4" action="ppaction://hlinksldjump"/>
              </a:rPr>
              <a:t>Sense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  <a:hlinkClick r:id="rId4" action="ppaction://hlinksldjump"/>
              </a:rPr>
              <a:t>Detection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684180" y="3339672"/>
            <a:ext cx="56388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8,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5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393345" y="3339672"/>
            <a:ext cx="16065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3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10" dirty="0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5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66276571-185D-44F5-9F05-30B72FFB57A9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4292024" y="3339672"/>
            <a:ext cx="262254" cy="116204"/>
          </a:xfrm>
          <a:prstGeom prst="rect">
            <a:avLst/>
          </a:prstGeom>
        </p:spPr>
        <p:txBody>
          <a:bodyPr/>
          <a:lstStyle/>
          <a:p>
            <a:pPr marL="75565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lang="en-IN" smtClean="0"/>
              <a:t>135</a:t>
            </a:fld>
            <a:r>
              <a:rPr lang="en-IN" spc="-5"/>
              <a:t> </a:t>
            </a:r>
            <a:r>
              <a:rPr lang="en-IN" spc="-110"/>
              <a:t>/</a:t>
            </a:r>
            <a:r>
              <a:rPr lang="en-IN" spc="15"/>
              <a:t> </a:t>
            </a:r>
            <a:r>
              <a:rPr lang="en-IN" spc="-25"/>
              <a:t>18</a:t>
            </a:r>
            <a:endParaRPr lang="en-IN" spc="-25" dirty="0"/>
          </a:p>
        </p:txBody>
      </p:sp>
    </p:spTree>
  </p:cSld>
  <p:clrMapOvr>
    <a:masterClrMapping/>
  </p:clrMapOvr>
  <p:transition>
    <p:cut/>
  </p:transition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38"/>
            <a:ext cx="4608195" cy="351790"/>
          </a:xfrm>
          <a:custGeom>
            <a:avLst/>
            <a:gdLst/>
            <a:ahLst/>
            <a:cxnLst/>
            <a:rect l="l" t="t" r="r" b="b"/>
            <a:pathLst>
              <a:path w="4608195" h="351790">
                <a:moveTo>
                  <a:pt x="4607941" y="0"/>
                </a:moveTo>
                <a:lnTo>
                  <a:pt x="0" y="0"/>
                </a:lnTo>
                <a:lnTo>
                  <a:pt x="0" y="351409"/>
                </a:lnTo>
                <a:lnTo>
                  <a:pt x="4607941" y="351409"/>
                </a:lnTo>
                <a:lnTo>
                  <a:pt x="4607941" y="0"/>
                </a:lnTo>
                <a:close/>
              </a:path>
            </a:pathLst>
          </a:custGeom>
          <a:solidFill>
            <a:srgbClr val="3232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5250" y="60502"/>
            <a:ext cx="194945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i="1" dirty="0">
                <a:solidFill>
                  <a:srgbClr val="FFFFFF"/>
                </a:solidFill>
                <a:latin typeface="Cambria"/>
                <a:cs typeface="Cambria"/>
              </a:rPr>
              <a:t>Split,</a:t>
            </a:r>
            <a:r>
              <a:rPr sz="1400" i="1" spc="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dirty="0">
                <a:solidFill>
                  <a:srgbClr val="FFFFFF"/>
                </a:solidFill>
                <a:latin typeface="Cambria"/>
                <a:cs typeface="Cambria"/>
              </a:rPr>
              <a:t>join,</a:t>
            </a:r>
            <a:r>
              <a:rPr sz="1400" i="1" spc="4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dirty="0">
                <a:solidFill>
                  <a:srgbClr val="FFFFFF"/>
                </a:solidFill>
                <a:latin typeface="Cambria"/>
                <a:cs typeface="Cambria"/>
              </a:rPr>
              <a:t>birth</a:t>
            </a:r>
            <a:r>
              <a:rPr sz="1400" i="1" spc="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dirty="0">
                <a:solidFill>
                  <a:srgbClr val="FFFFFF"/>
                </a:solidFill>
                <a:latin typeface="Cambria"/>
                <a:cs typeface="Cambria"/>
              </a:rPr>
              <a:t>and</a:t>
            </a:r>
            <a:r>
              <a:rPr sz="1400" i="1" spc="4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spc="-25" dirty="0">
                <a:solidFill>
                  <a:srgbClr val="FFFFFF"/>
                </a:solidFill>
                <a:latin typeface="Cambria"/>
                <a:cs typeface="Cambria"/>
              </a:rPr>
              <a:t>death</a:t>
            </a:r>
            <a:endParaRPr sz="1400">
              <a:latin typeface="Cambria"/>
              <a:cs typeface="Cambri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02654" y="521184"/>
            <a:ext cx="3190473" cy="2643188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1861172" y="3339672"/>
            <a:ext cx="88582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Novel</a:t>
            </a:r>
            <a:r>
              <a:rPr sz="600" i="1" spc="-15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 </a:t>
            </a: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Word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Sense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Detection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684180" y="3339672"/>
            <a:ext cx="56388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8,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5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4294967295"/>
          </p:nvPr>
        </p:nvSpPr>
        <p:spPr>
          <a:xfrm>
            <a:off x="4292024" y="3339672"/>
            <a:ext cx="262254" cy="116204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13664">
              <a:lnSpc>
                <a:spcPct val="100000"/>
              </a:lnSpc>
              <a:spcBef>
                <a:spcPts val="50"/>
              </a:spcBef>
            </a:pPr>
            <a:r>
              <a:rPr dirty="0"/>
              <a:t>4</a:t>
            </a:r>
            <a:r>
              <a:rPr spc="-5" dirty="0"/>
              <a:t> </a:t>
            </a:r>
            <a:r>
              <a:rPr spc="-110" dirty="0"/>
              <a:t>/</a:t>
            </a:r>
            <a:r>
              <a:rPr spc="15" dirty="0"/>
              <a:t> </a:t>
            </a:r>
            <a:r>
              <a:rPr spc="-50" dirty="0"/>
              <a:t>5</a:t>
            </a:r>
          </a:p>
        </p:txBody>
      </p:sp>
    </p:spTree>
  </p:cSld>
  <p:clrMapOvr>
    <a:masterClrMapping/>
  </p:clrMapOvr>
  <p:transition>
    <p:cut/>
  </p:transition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38"/>
            <a:ext cx="4608195" cy="351790"/>
          </a:xfrm>
          <a:custGeom>
            <a:avLst/>
            <a:gdLst/>
            <a:ahLst/>
            <a:cxnLst/>
            <a:rect l="l" t="t" r="r" b="b"/>
            <a:pathLst>
              <a:path w="4608195" h="351790">
                <a:moveTo>
                  <a:pt x="4607941" y="0"/>
                </a:moveTo>
                <a:lnTo>
                  <a:pt x="0" y="0"/>
                </a:lnTo>
                <a:lnTo>
                  <a:pt x="0" y="351409"/>
                </a:lnTo>
                <a:lnTo>
                  <a:pt x="4607941" y="351409"/>
                </a:lnTo>
                <a:lnTo>
                  <a:pt x="4607941" y="0"/>
                </a:lnTo>
                <a:close/>
              </a:path>
            </a:pathLst>
          </a:custGeom>
          <a:solidFill>
            <a:srgbClr val="3232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5250" y="60502"/>
            <a:ext cx="170561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i="1" dirty="0">
                <a:solidFill>
                  <a:srgbClr val="FFFFFF"/>
                </a:solidFill>
                <a:latin typeface="Cambria"/>
                <a:cs typeface="Cambria"/>
              </a:rPr>
              <a:t>A</a:t>
            </a:r>
            <a:r>
              <a:rPr sz="1400" i="1" spc="1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dirty="0">
                <a:solidFill>
                  <a:srgbClr val="FFFFFF"/>
                </a:solidFill>
                <a:latin typeface="Cambria"/>
                <a:cs typeface="Cambria"/>
              </a:rPr>
              <a:t>real</a:t>
            </a:r>
            <a:r>
              <a:rPr sz="1400" i="1" spc="1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dirty="0">
                <a:solidFill>
                  <a:srgbClr val="FFFFFF"/>
                </a:solidFill>
                <a:latin typeface="Cambria"/>
                <a:cs typeface="Cambria"/>
              </a:rPr>
              <a:t>example</a:t>
            </a:r>
            <a:r>
              <a:rPr sz="1400" i="1" spc="1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dirty="0">
                <a:solidFill>
                  <a:srgbClr val="FFFFFF"/>
                </a:solidFill>
                <a:latin typeface="Cambria"/>
                <a:cs typeface="Cambria"/>
              </a:rPr>
              <a:t>of</a:t>
            </a:r>
            <a:r>
              <a:rPr sz="14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spc="-20" dirty="0">
                <a:solidFill>
                  <a:srgbClr val="FFFFFF"/>
                </a:solidFill>
                <a:latin typeface="Cambria"/>
                <a:cs typeface="Cambria"/>
              </a:rPr>
              <a:t>birth</a:t>
            </a:r>
            <a:endParaRPr sz="1400">
              <a:latin typeface="Cambria"/>
              <a:cs typeface="Cambri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4450" y="888295"/>
            <a:ext cx="3252548" cy="1851737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1861172" y="3339672"/>
            <a:ext cx="88582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Novel</a:t>
            </a:r>
            <a:r>
              <a:rPr sz="600" i="1" spc="-15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 </a:t>
            </a: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Word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Sense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Detection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684180" y="3339672"/>
            <a:ext cx="56388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8,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5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4294967295"/>
          </p:nvPr>
        </p:nvSpPr>
        <p:spPr>
          <a:xfrm>
            <a:off x="4292024" y="3339672"/>
            <a:ext cx="262254" cy="116204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13664">
              <a:lnSpc>
                <a:spcPct val="100000"/>
              </a:lnSpc>
              <a:spcBef>
                <a:spcPts val="50"/>
              </a:spcBef>
            </a:pPr>
            <a:r>
              <a:rPr dirty="0"/>
              <a:t>5</a:t>
            </a:r>
            <a:r>
              <a:rPr spc="-5" dirty="0"/>
              <a:t> </a:t>
            </a:r>
            <a:r>
              <a:rPr spc="-110" dirty="0"/>
              <a:t>/</a:t>
            </a:r>
            <a:r>
              <a:rPr spc="15" dirty="0"/>
              <a:t> </a:t>
            </a:r>
            <a:r>
              <a:rPr spc="-50" dirty="0"/>
              <a:t>5</a:t>
            </a:r>
          </a:p>
        </p:txBody>
      </p:sp>
    </p:spTree>
  </p:cSld>
  <p:clrMapOvr>
    <a:masterClrMapping/>
  </p:clrMapOvr>
  <p:transition>
    <p:cut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95</TotalTime>
  <Words>7901</Words>
  <Application>Microsoft Office PowerPoint</Application>
  <PresentationFormat>Custom</PresentationFormat>
  <Paragraphs>1218</Paragraphs>
  <Slides>137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137</vt:i4>
      </vt:variant>
    </vt:vector>
  </HeadingPairs>
  <TitlesOfParts>
    <vt:vector size="147" baseType="lpstr">
      <vt:lpstr>Arial</vt:lpstr>
      <vt:lpstr>Arial MT</vt:lpstr>
      <vt:lpstr>Calibri</vt:lpstr>
      <vt:lpstr>Cambria</vt:lpstr>
      <vt:lpstr>Courier New</vt:lpstr>
      <vt:lpstr>Lucida Sans Unicode</vt:lpstr>
      <vt:lpstr>Tahoma</vt:lpstr>
      <vt:lpstr>Times New Roman</vt:lpstr>
      <vt:lpstr>Trebuchet MS</vt:lpstr>
      <vt:lpstr>Office Theme</vt:lpstr>
      <vt:lpstr>PowerPoint Presentation</vt:lpstr>
      <vt:lpstr>Lexical Semantics</vt:lpstr>
      <vt:lpstr>Lexical Semantics</vt:lpstr>
      <vt:lpstr>Lexical Semantics</vt:lpstr>
      <vt:lpstr>PowerPoint Presentation</vt:lpstr>
      <vt:lpstr>Example: meaning related facts?</vt:lpstr>
      <vt:lpstr>Example: meaning related facts?</vt:lpstr>
      <vt:lpstr>Relations between word meanings</vt:lpstr>
      <vt:lpstr>PowerPoint Presentation</vt:lpstr>
      <vt:lpstr>Homonymy</vt:lpstr>
      <vt:lpstr>Homonymy</vt:lpstr>
      <vt:lpstr>Problems for NLP applications</vt:lpstr>
      <vt:lpstr>Problems for NLP applications</vt:lpstr>
      <vt:lpstr>Problems for NLP applications</vt:lpstr>
      <vt:lpstr>Polysemy</vt:lpstr>
      <vt:lpstr>Polysemy</vt:lpstr>
      <vt:lpstr>Polysemy: multiple related meanings</vt:lpstr>
      <vt:lpstr>Polysemy: multiple related meanings</vt:lpstr>
      <vt:lpstr>Polysemy: multiple related meanings</vt:lpstr>
      <vt:lpstr>Polysemy: multiple related meanings</vt:lpstr>
      <vt:lpstr>Polysemy: multiple related meanings</vt:lpstr>
      <vt:lpstr>Synonymy</vt:lpstr>
      <vt:lpstr>Synonymy: A relation between senses</vt:lpstr>
      <vt:lpstr>Synonymy: A relation between senses</vt:lpstr>
      <vt:lpstr>Synonymy: A relation between senses</vt:lpstr>
      <vt:lpstr>PowerPoint Presentation</vt:lpstr>
      <vt:lpstr>Synonyms</vt:lpstr>
      <vt:lpstr>Antonyms</vt:lpstr>
      <vt:lpstr>Antonyms</vt:lpstr>
      <vt:lpstr>Hyponymy and Hypernymy</vt:lpstr>
      <vt:lpstr>Hyponymy and Hypernymy</vt:lpstr>
      <vt:lpstr>Hyponymy more formally</vt:lpstr>
      <vt:lpstr>Meronyms and holonyms</vt:lpstr>
      <vt:lpstr>PowerPoint Presentation</vt:lpstr>
      <vt:lpstr>WordNet</vt:lpstr>
      <vt:lpstr>Synsets in WordNet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Word Similarity</vt:lpstr>
      <vt:lpstr>Word Similarity</vt:lpstr>
      <vt:lpstr>Word Similarity</vt:lpstr>
      <vt:lpstr>Word Similarity</vt:lpstr>
      <vt:lpstr>Two classes of algorithms</vt:lpstr>
      <vt:lpstr>Thesaurus-based Word Similarity</vt:lpstr>
      <vt:lpstr>Thesaurus-based Word Similarity</vt:lpstr>
      <vt:lpstr>Thesaurus-based Word Similarity</vt:lpstr>
      <vt:lpstr>PowerPoint Presentation</vt:lpstr>
      <vt:lpstr>Path-based similarity</vt:lpstr>
      <vt:lpstr>Path-based similarity</vt:lpstr>
      <vt:lpstr>Path-based similarity</vt:lpstr>
      <vt:lpstr>PowerPoint Presentation</vt:lpstr>
      <vt:lpstr>Leacock-Chodorow (L-C) Similarity</vt:lpstr>
      <vt:lpstr>Leacock-Chodorow (L-C) Similarity</vt:lpstr>
      <vt:lpstr>Leacock-Chodorow (L-C) Similarity</vt:lpstr>
      <vt:lpstr>Concept probability models</vt:lpstr>
      <vt:lpstr>Concept probability models</vt:lpstr>
      <vt:lpstr>Concept probability models</vt:lpstr>
      <vt:lpstr>PowerPoint Presentation</vt:lpstr>
      <vt:lpstr>PowerPoint Presentation</vt:lpstr>
      <vt:lpstr>Information content</vt:lpstr>
      <vt:lpstr>PowerPoint Presentation</vt:lpstr>
      <vt:lpstr>Resnik Similarity</vt:lpstr>
      <vt:lpstr>PowerPoint Presentation</vt:lpstr>
      <vt:lpstr>Lin similarity</vt:lpstr>
      <vt:lpstr>PowerPoint Presentation</vt:lpstr>
      <vt:lpstr>Jiang-Conrath distance</vt:lpstr>
      <vt:lpstr>PowerPoint Presentation</vt:lpstr>
      <vt:lpstr>The (extended) Lesk Algorithm</vt:lpstr>
      <vt:lpstr>The (extended) Lesk Algorithm</vt:lpstr>
      <vt:lpstr>The (extended) Lesk Algorithm</vt:lpstr>
      <vt:lpstr>Problem in mapping words to wordnet senses</vt:lpstr>
      <vt:lpstr>PowerPoint Presentation</vt:lpstr>
      <vt:lpstr>PowerPoint Presentation</vt:lpstr>
      <vt:lpstr>Word Sense Disambiguation (WSD)</vt:lpstr>
      <vt:lpstr>Word Sense Disambiguation (WSD)</vt:lpstr>
      <vt:lpstr>Word Sense Disambiguation (WSD)</vt:lpstr>
      <vt:lpstr>Algorithms</vt:lpstr>
      <vt:lpstr>Knowledge Based Approaches</vt:lpstr>
      <vt:lpstr>Lesk’s Algorithm</vt:lpstr>
      <vt:lpstr>Lesk’s Algorithm</vt:lpstr>
      <vt:lpstr>Lesk’s Algorithm</vt:lpstr>
      <vt:lpstr>Lesk’s Algorithm</vt:lpstr>
      <vt:lpstr>PowerPoint Presentation</vt:lpstr>
      <vt:lpstr>Walker’s Algorithm</vt:lpstr>
      <vt:lpstr>Walker’s Algorithm</vt:lpstr>
      <vt:lpstr>Walker’s Algorithm</vt:lpstr>
      <vt:lpstr>Walker’s Algorithm</vt:lpstr>
      <vt:lpstr>Walker’s Algorithm</vt:lpstr>
      <vt:lpstr>Walker’s Algorithm</vt:lpstr>
      <vt:lpstr>PowerPoint Presentation</vt:lpstr>
      <vt:lpstr>PowerPoint Presentation</vt:lpstr>
      <vt:lpstr>PowerPoint Presentation</vt:lpstr>
      <vt:lpstr>PowerPoint Presentation</vt:lpstr>
      <vt:lpstr>Naïve Bayes for WSD</vt:lpstr>
      <vt:lpstr>Naïve Bayes for WSD</vt:lpstr>
      <vt:lpstr>Naïve Bayes for WSD</vt:lpstr>
      <vt:lpstr>Training for Naïve Bayes</vt:lpstr>
      <vt:lpstr>Training for Naïve Bayes</vt:lpstr>
      <vt:lpstr>Decision List Algorithm</vt:lpstr>
      <vt:lpstr>Decision List Algorithm</vt:lpstr>
      <vt:lpstr>Decision List Algorithm</vt:lpstr>
      <vt:lpstr>PowerPoint Presentation</vt:lpstr>
      <vt:lpstr>Decision List Algorithm</vt:lpstr>
      <vt:lpstr>Example: discriminating between bass (fish) and bass (music):</vt:lpstr>
      <vt:lpstr>PowerPoint Presentation</vt:lpstr>
      <vt:lpstr>Minimally Supervised WSD - Yarowsky</vt:lpstr>
      <vt:lpstr>Minimally Supervised WSD - Yarowsky</vt:lpstr>
      <vt:lpstr>More about heuristics</vt:lpstr>
      <vt:lpstr>More about heuristics</vt:lpstr>
      <vt:lpstr>Yarowsky’s Method</vt:lpstr>
      <vt:lpstr>PowerPoint Presentation</vt:lpstr>
      <vt:lpstr>PowerPoint Presentation</vt:lpstr>
      <vt:lpstr>PowerPoint Presentation</vt:lpstr>
      <vt:lpstr>PowerPoint Presentation</vt:lpstr>
      <vt:lpstr>Yarowsky’s Method</vt:lpstr>
      <vt:lpstr>HyperLex</vt:lpstr>
      <vt:lpstr>HyperLex</vt:lpstr>
      <vt:lpstr>HyperLex</vt:lpstr>
      <vt:lpstr>HyperLex</vt:lpstr>
      <vt:lpstr>HyperLex</vt:lpstr>
      <vt:lpstr>HyperLex</vt:lpstr>
      <vt:lpstr>HyperLex</vt:lpstr>
      <vt:lpstr>PowerPoint Presentation</vt:lpstr>
      <vt:lpstr>Delineating Components</vt:lpstr>
      <vt:lpstr>Delineating Components</vt:lpstr>
      <vt:lpstr>Disambiguation</vt:lpstr>
      <vt:lpstr>Disambiguation</vt:lpstr>
      <vt:lpstr>PowerPoint Presentation</vt:lpstr>
      <vt:lpstr>PowerPoint Presentation</vt:lpstr>
      <vt:lpstr>PowerPoint Presentation</vt:lpstr>
      <vt:lpstr>Comparing sense clusters</vt:lpstr>
      <vt:lpstr>Comparing sense clusters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Karnam Akhil</dc:creator>
  <cp:lastModifiedBy>Karnam Akhil</cp:lastModifiedBy>
  <cp:revision>8</cp:revision>
  <cp:lastPrinted>2025-03-24T15:13:56Z</cp:lastPrinted>
  <dcterms:created xsi:type="dcterms:W3CDTF">2025-03-24T15:02:43Z</dcterms:created>
  <dcterms:modified xsi:type="dcterms:W3CDTF">2025-05-30T11:10:06Z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2025-03-24T00:00:00Z</vt:filetime>
  </property>
  <property fmtid="{D5CDD505-2E9C-101B-9397-08002B2CF9AE}" pid="3" name="LastSaved">
    <vt:filetime>2025-03-24T00:00:00Z</vt:filetime>
  </property>
  <property fmtid="{D5CDD505-2E9C-101B-9397-08002B2CF9AE}" pid="4" name="Producer">
    <vt:lpwstr>Pdftools SDK</vt:lpwstr>
  </property>
</Properties>
</file>