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1" r:id="rId3"/>
    <p:sldId id="257" r:id="rId4"/>
    <p:sldId id="263" r:id="rId5"/>
    <p:sldId id="262" r:id="rId6"/>
    <p:sldId id="264" r:id="rId7"/>
    <p:sldId id="265" r:id="rId8"/>
    <p:sldId id="266" r:id="rId9"/>
    <p:sldId id="269"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geeksforgeeks.or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457200"/>
            <a:ext cx="8229600" cy="5668963"/>
          </a:xfrm>
        </p:spPr>
        <p:txBody>
          <a:bodyPr>
            <a:normAutofit/>
          </a:bodyPr>
          <a:lstStyle/>
          <a:p>
            <a:pPr marL="0" indent="0">
              <a:buNone/>
            </a:pPr>
            <a:r>
              <a:rPr lang="en-US" sz="2000" b="1" dirty="0">
                <a:latin typeface="Times New Roman" pitchFamily="18" charset="0"/>
                <a:cs typeface="Times New Roman" pitchFamily="18" charset="0"/>
              </a:rPr>
              <a:t>UNIT – V:  </a:t>
            </a:r>
            <a:r>
              <a:rPr lang="en-US" sz="2000" dirty="0">
                <a:latin typeface="Times New Roman" pitchFamily="18" charset="0"/>
                <a:cs typeface="Times New Roman" pitchFamily="18" charset="0"/>
              </a:rPr>
              <a:t>Application Layer</a:t>
            </a:r>
          </a:p>
          <a:p>
            <a:pPr marL="0" indent="0">
              <a:buNone/>
            </a:pPr>
            <a:endParaRPr lang="en-US" sz="2000" b="1" dirty="0">
              <a:latin typeface="Times New Roman" pitchFamily="18" charset="0"/>
              <a:cs typeface="Times New Roman" pitchFamily="18" charset="0"/>
            </a:endParaRPr>
          </a:p>
          <a:p>
            <a:pPr marL="0" indent="0">
              <a:buNone/>
            </a:pPr>
            <a:r>
              <a:rPr lang="en-US" sz="2000" dirty="0">
                <a:latin typeface="Times New Roman" pitchFamily="18" charset="0"/>
                <a:cs typeface="Times New Roman" pitchFamily="18" charset="0"/>
              </a:rPr>
              <a:t>Domain Name Space (DNS)</a:t>
            </a:r>
          </a:p>
          <a:p>
            <a:pPr marL="0" indent="0">
              <a:buNone/>
            </a:pPr>
            <a:r>
              <a:rPr lang="en-US" sz="2000" dirty="0">
                <a:latin typeface="Times New Roman" pitchFamily="18" charset="0"/>
                <a:cs typeface="Times New Roman" pitchFamily="18" charset="0"/>
              </a:rPr>
              <a:t>DDNS</a:t>
            </a:r>
          </a:p>
          <a:p>
            <a:pPr marL="0" indent="0">
              <a:buNone/>
            </a:pPr>
            <a:r>
              <a:rPr lang="en-US" sz="2000" dirty="0">
                <a:latin typeface="Times New Roman" pitchFamily="18" charset="0"/>
                <a:cs typeface="Times New Roman" pitchFamily="18" charset="0"/>
              </a:rPr>
              <a:t>TELNET</a:t>
            </a:r>
          </a:p>
          <a:p>
            <a:pPr marL="0" indent="0">
              <a:buNone/>
            </a:pPr>
            <a:r>
              <a:rPr lang="en-US" sz="2000" dirty="0">
                <a:latin typeface="Times New Roman" pitchFamily="18" charset="0"/>
                <a:cs typeface="Times New Roman" pitchFamily="18" charset="0"/>
              </a:rPr>
              <a:t> EMAIL</a:t>
            </a:r>
          </a:p>
          <a:p>
            <a:pPr marL="0" indent="0">
              <a:buNone/>
            </a:pPr>
            <a:r>
              <a:rPr lang="en-US" sz="2000" dirty="0">
                <a:latin typeface="Times New Roman" pitchFamily="18" charset="0"/>
                <a:cs typeface="Times New Roman" pitchFamily="18" charset="0"/>
              </a:rPr>
              <a:t>File Transfer Protocol (FTP)</a:t>
            </a:r>
          </a:p>
          <a:p>
            <a:pPr marL="0" indent="0">
              <a:buNone/>
            </a:pPr>
            <a:r>
              <a:rPr lang="en-US" sz="2000" dirty="0">
                <a:latin typeface="Times New Roman" pitchFamily="18" charset="0"/>
                <a:cs typeface="Times New Roman" pitchFamily="18" charset="0"/>
              </a:rPr>
              <a:t>WWW</a:t>
            </a:r>
          </a:p>
          <a:p>
            <a:pPr marL="0" indent="0">
              <a:buNone/>
            </a:pPr>
            <a:r>
              <a:rPr lang="en-US" sz="2000" dirty="0">
                <a:latin typeface="Times New Roman" pitchFamily="18" charset="0"/>
                <a:cs typeface="Times New Roman" pitchFamily="18" charset="0"/>
              </a:rPr>
              <a:t>HTTP</a:t>
            </a:r>
          </a:p>
          <a:p>
            <a:pPr marL="0" indent="0">
              <a:buNone/>
            </a:pPr>
            <a:r>
              <a:rPr lang="en-US" sz="2000" dirty="0">
                <a:latin typeface="Times New Roman" pitchFamily="18" charset="0"/>
                <a:cs typeface="Times New Roman" pitchFamily="18" charset="0"/>
              </a:rPr>
              <a:t>SNMP</a:t>
            </a:r>
          </a:p>
          <a:p>
            <a:pPr marL="0" indent="0">
              <a:buNone/>
            </a:pPr>
            <a:r>
              <a:rPr lang="en-US" sz="2000" dirty="0">
                <a:latin typeface="Times New Roman" pitchFamily="18" charset="0"/>
                <a:cs typeface="Times New Roman" pitchFamily="18" charset="0"/>
              </a:rPr>
              <a:t>Firewalls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572317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533400"/>
            <a:ext cx="8458200" cy="6096000"/>
          </a:xfrm>
        </p:spPr>
        <p:txBody>
          <a:bodyPr>
            <a:normAutofit/>
          </a:bodyPr>
          <a:lstStyle/>
          <a:p>
            <a:pPr algn="just"/>
            <a:r>
              <a:rPr lang="en-US" sz="2000" b="1" dirty="0">
                <a:solidFill>
                  <a:schemeClr val="tx1"/>
                </a:solidFill>
                <a:latin typeface="Times New Roman" pitchFamily="18" charset="0"/>
                <a:cs typeface="Times New Roman" pitchFamily="18" charset="0"/>
              </a:rPr>
              <a:t>Domain Name Space or Domain Name System </a:t>
            </a:r>
          </a:p>
          <a:p>
            <a:pPr algn="just"/>
            <a:r>
              <a:rPr lang="en-US" sz="2000" dirty="0">
                <a:solidFill>
                  <a:schemeClr val="tx1"/>
                </a:solidFill>
                <a:latin typeface="Times New Roman" pitchFamily="18" charset="0"/>
                <a:cs typeface="Times New Roman" pitchFamily="18" charset="0"/>
              </a:rPr>
              <a:t>In Application Layer DNS is a host name to IP address translation service. DNS is a distributed database implemented in a hierarchy of name servers. It is an application layer protocol for message exchange between clients and servers.</a:t>
            </a:r>
          </a:p>
          <a:p>
            <a:pPr algn="just"/>
            <a:endParaRPr lang="en-US" sz="2000" dirty="0">
              <a:solidFill>
                <a:schemeClr val="tx1"/>
              </a:solidFill>
              <a:latin typeface="Times New Roman" pitchFamily="18" charset="0"/>
              <a:cs typeface="Times New Roman" pitchFamily="18" charset="0"/>
            </a:endParaRPr>
          </a:p>
          <a:p>
            <a:pPr algn="just"/>
            <a:r>
              <a:rPr lang="en-US" sz="2000" b="1" dirty="0">
                <a:solidFill>
                  <a:schemeClr val="tx1"/>
                </a:solidFill>
                <a:latin typeface="Times New Roman" pitchFamily="18" charset="0"/>
                <a:cs typeface="Times New Roman" pitchFamily="18" charset="0"/>
              </a:rPr>
              <a:t>Requirement </a:t>
            </a:r>
          </a:p>
          <a:p>
            <a:pPr algn="just"/>
            <a:r>
              <a:rPr lang="en-US" sz="2000" dirty="0">
                <a:solidFill>
                  <a:schemeClr val="tx1"/>
                </a:solidFill>
                <a:latin typeface="Times New Roman" pitchFamily="18" charset="0"/>
                <a:cs typeface="Times New Roman" pitchFamily="18" charset="0"/>
              </a:rPr>
              <a:t>Every host is identified by the IP address but remembering numbers is very difficult for the people and also the IP addresses are not static therefore a mapping is required to change the domain name to IP address. So DNS is used to convert the domain name of the websites to their numerical IP address.</a:t>
            </a:r>
            <a:endParaRPr lang="en-I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91198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buNone/>
            </a:pPr>
            <a:r>
              <a:rPr lang="en-US" sz="2000" dirty="0">
                <a:latin typeface="Times New Roman" pitchFamily="18" charset="0"/>
                <a:cs typeface="Times New Roman" pitchFamily="18" charset="0"/>
              </a:rPr>
              <a:t>Domain : There are various kinds of DOMAIN : </a:t>
            </a:r>
          </a:p>
          <a:p>
            <a:pPr marL="514350" indent="-514350" algn="just">
              <a:buAutoNum type="arabicPeriod"/>
            </a:pPr>
            <a:r>
              <a:rPr lang="en-US" sz="2000" b="1" dirty="0">
                <a:latin typeface="Times New Roman" pitchFamily="18" charset="0"/>
                <a:cs typeface="Times New Roman" pitchFamily="18" charset="0"/>
              </a:rPr>
              <a:t>Generic domain :</a:t>
            </a:r>
            <a:r>
              <a:rPr lang="en-US" sz="2000" dirty="0">
                <a:latin typeface="Times New Roman" pitchFamily="18" charset="0"/>
                <a:cs typeface="Times New Roman" pitchFamily="18" charset="0"/>
              </a:rPr>
              <a:t>The generic domains define registered hosts according to their generic behavior. Each node in the tree defines a domain, which is an index to the domain name space database.</a:t>
            </a:r>
            <a:endParaRPr lang="en-US" sz="2000" b="1" dirty="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	Example: </a:t>
            </a:r>
            <a:r>
              <a:rPr lang="en-US" sz="2000" dirty="0">
                <a:latin typeface="Times New Roman" pitchFamily="18" charset="0"/>
                <a:cs typeface="Times New Roman" pitchFamily="18" charset="0"/>
              </a:rPr>
              <a:t>.com(commercial) .</a:t>
            </a:r>
            <a:r>
              <a:rPr lang="en-US" sz="2000" dirty="0" err="1">
                <a:latin typeface="Times New Roman" pitchFamily="18" charset="0"/>
                <a:cs typeface="Times New Roman" pitchFamily="18" charset="0"/>
              </a:rPr>
              <a:t>edu</a:t>
            </a:r>
            <a:r>
              <a:rPr lang="en-US" sz="2000" dirty="0">
                <a:latin typeface="Times New Roman" pitchFamily="18" charset="0"/>
                <a:cs typeface="Times New Roman" pitchFamily="18" charset="0"/>
              </a:rPr>
              <a:t>(educational) .mil(military) .org(non profit organization) </a:t>
            </a:r>
            <a:r>
              <a:rPr lang="en-US" sz="2000" dirty="0" err="1">
                <a:latin typeface="Times New Roman" pitchFamily="18" charset="0"/>
                <a:cs typeface="Times New Roman" pitchFamily="18" charset="0"/>
              </a:rPr>
              <a:t>.net</a:t>
            </a:r>
            <a:r>
              <a:rPr lang="en-US" sz="2000" dirty="0">
                <a:latin typeface="Times New Roman" pitchFamily="18" charset="0"/>
                <a:cs typeface="Times New Roman" pitchFamily="18" charset="0"/>
              </a:rPr>
              <a:t>(similar to commercial) all these are generic domain. </a:t>
            </a:r>
          </a:p>
          <a:p>
            <a:pPr marL="0" indent="0">
              <a:buNone/>
            </a:pPr>
            <a:endParaRPr lang="en-US" sz="2000" dirty="0">
              <a:latin typeface="Times New Roman" pitchFamily="18" charset="0"/>
              <a:cs typeface="Times New Roman" pitchFamily="18" charset="0"/>
            </a:endParaRPr>
          </a:p>
          <a:p>
            <a:pPr marL="457200" indent="-457200" algn="just">
              <a:buAutoNum type="arabicPeriod" startAt="2"/>
            </a:pPr>
            <a:r>
              <a:rPr lang="en-US" sz="2000" b="1" dirty="0">
                <a:latin typeface="Times New Roman" pitchFamily="18" charset="0"/>
                <a:cs typeface="Times New Roman" pitchFamily="18" charset="0"/>
              </a:rPr>
              <a:t>Country domain: </a:t>
            </a:r>
            <a:r>
              <a:rPr lang="en-US" sz="2000" dirty="0">
                <a:latin typeface="Times New Roman" pitchFamily="18" charset="0"/>
                <a:cs typeface="Times New Roman" pitchFamily="18" charset="0"/>
              </a:rPr>
              <a:t>The country domains section uses two-character country abbreviations </a:t>
            </a:r>
          </a:p>
          <a:p>
            <a:pPr marL="0" indent="0" algn="just">
              <a:buNone/>
            </a:pPr>
            <a:r>
              <a:rPr lang="en-US" sz="2000" dirty="0">
                <a:latin typeface="Times New Roman" pitchFamily="18" charset="0"/>
                <a:cs typeface="Times New Roman" pitchFamily="18" charset="0"/>
              </a:rPr>
              <a:t>      example : .us (United States), .in(India)</a:t>
            </a:r>
          </a:p>
          <a:p>
            <a:pPr marL="457200" indent="-457200" algn="just">
              <a:buAutoNum type="arabicPeriod" startAt="2"/>
            </a:pPr>
            <a:endParaRPr lang="en-US" sz="2000" b="1" dirty="0">
              <a:latin typeface="Times New Roman" pitchFamily="18" charset="0"/>
              <a:cs typeface="Times New Roman" pitchFamily="18" charset="0"/>
            </a:endParaRPr>
          </a:p>
          <a:p>
            <a:pPr marL="0" indent="0" algn="just">
              <a:buNone/>
            </a:pPr>
            <a:endParaRPr lang="en-US" sz="2000" b="1" dirty="0">
              <a:latin typeface="Times New Roman" pitchFamily="18" charset="0"/>
              <a:cs typeface="Times New Roman" pitchFamily="18" charset="0"/>
            </a:endParaRPr>
          </a:p>
          <a:p>
            <a:pPr marL="457200" indent="-457200" algn="just">
              <a:buAutoNum type="arabicPeriod" startAt="2"/>
            </a:pPr>
            <a:r>
              <a:rPr lang="en-US" sz="2000" b="1" dirty="0">
                <a:latin typeface="Times New Roman" pitchFamily="18" charset="0"/>
                <a:cs typeface="Times New Roman" pitchFamily="18" charset="0"/>
              </a:rPr>
              <a:t>Inverse domain:  </a:t>
            </a:r>
            <a:r>
              <a:rPr lang="en-US" sz="2000" dirty="0">
                <a:latin typeface="Times New Roman" pitchFamily="18" charset="0"/>
                <a:cs typeface="Times New Roman" pitchFamily="18" charset="0"/>
              </a:rPr>
              <a:t>if we want to know what is the domain name of the website. we have to type </a:t>
            </a:r>
            <a:r>
              <a:rPr lang="en-US" sz="2000" dirty="0" err="1">
                <a:latin typeface="Times New Roman" pitchFamily="18" charset="0"/>
                <a:cs typeface="Times New Roman" pitchFamily="18" charset="0"/>
              </a:rPr>
              <a:t>nslookup</a:t>
            </a:r>
            <a:r>
              <a:rPr lang="en-US" sz="2000" dirty="0">
                <a:latin typeface="Times New Roman" pitchFamily="18" charset="0"/>
                <a:cs typeface="Times New Roman" pitchFamily="18" charset="0"/>
              </a:rPr>
              <a:t> </a:t>
            </a:r>
            <a:r>
              <a:rPr lang="en-US" sz="2000" dirty="0">
                <a:latin typeface="Times New Roman" pitchFamily="18" charset="0"/>
                <a:cs typeface="Times New Roman" pitchFamily="18" charset="0"/>
                <a:hlinkClick r:id="rId2"/>
              </a:rPr>
              <a:t>www.geeksforgeeks.org</a:t>
            </a:r>
            <a:r>
              <a:rPr lang="en-US" sz="2000" dirty="0">
                <a:latin typeface="Times New Roman" pitchFamily="18" charset="0"/>
                <a:cs typeface="Times New Roman" pitchFamily="18" charset="0"/>
              </a:rPr>
              <a:t>.</a:t>
            </a:r>
          </a:p>
          <a:p>
            <a:pPr marL="514350" indent="-514350">
              <a:buAutoNum type="arabicPeriod"/>
            </a:pPr>
            <a:endParaRPr lang="en-US" sz="2000" dirty="0">
              <a:latin typeface="Times New Roman" pitchFamily="18" charset="0"/>
              <a:cs typeface="Times New Roman" pitchFamily="18" charset="0"/>
            </a:endParaRPr>
          </a:p>
          <a:p>
            <a:pPr marL="514350" indent="-514350">
              <a:buAutoNum type="arabicPeriod"/>
            </a:pPr>
            <a:endParaRPr lang="en-US" sz="2000" dirty="0">
              <a:latin typeface="Times New Roman" pitchFamily="18" charset="0"/>
              <a:cs typeface="Times New Roman" pitchFamily="18" charset="0"/>
            </a:endParaRPr>
          </a:p>
          <a:p>
            <a:pPr marL="0" indent="0">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556679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2000" b="1" dirty="0">
                <a:latin typeface="Times New Roman" pitchFamily="18" charset="0"/>
                <a:cs typeface="Times New Roman" pitchFamily="18" charset="0"/>
              </a:rPr>
              <a:t>Hierarchy of Name Servers </a:t>
            </a:r>
            <a:br>
              <a:rPr lang="en-US" sz="2000" b="1" dirty="0">
                <a:latin typeface="Times New Roman" pitchFamily="18" charset="0"/>
                <a:cs typeface="Times New Roman" pitchFamily="18" charset="0"/>
              </a:rPr>
            </a:br>
            <a:endParaRPr lang="en-IN" sz="2000"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52587" y="2596356"/>
            <a:ext cx="5838825"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092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10600" cy="6019800"/>
          </a:xfrm>
        </p:spPr>
        <p:txBody>
          <a:bodyPr>
            <a:normAutofit/>
          </a:bodyPr>
          <a:lstStyle/>
          <a:p>
            <a:pPr marL="0" indent="0" algn="just">
              <a:buNone/>
            </a:pPr>
            <a:r>
              <a:rPr lang="en-US" sz="2000" b="1" dirty="0">
                <a:latin typeface="Times New Roman" pitchFamily="18" charset="0"/>
                <a:cs typeface="Times New Roman" pitchFamily="18" charset="0"/>
              </a:rPr>
              <a:t>Root name servers – </a:t>
            </a:r>
            <a:r>
              <a:rPr lang="en-US" sz="2000" dirty="0">
                <a:latin typeface="Times New Roman" pitchFamily="18" charset="0"/>
                <a:cs typeface="Times New Roman" pitchFamily="18" charset="0"/>
              </a:rPr>
              <a:t>It is contacted by name servers that can not resolve the name. It contacts authoritative name server if name mapping is not known. It then gets the mapping and return the IP address to the host.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Top level server – </a:t>
            </a:r>
            <a:r>
              <a:rPr lang="en-US" sz="2000" dirty="0">
                <a:latin typeface="Times New Roman" pitchFamily="18" charset="0"/>
                <a:cs typeface="Times New Roman" pitchFamily="18" charset="0"/>
              </a:rPr>
              <a:t>It is responsible for com, org, </a:t>
            </a:r>
            <a:r>
              <a:rPr lang="en-US" sz="2000" dirty="0" err="1">
                <a:latin typeface="Times New Roman" pitchFamily="18" charset="0"/>
                <a:cs typeface="Times New Roman" pitchFamily="18" charset="0"/>
              </a:rPr>
              <a:t>edu</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etc</a:t>
            </a:r>
            <a:r>
              <a:rPr lang="en-US" sz="2000" dirty="0">
                <a:latin typeface="Times New Roman" pitchFamily="18" charset="0"/>
                <a:cs typeface="Times New Roman" pitchFamily="18" charset="0"/>
              </a:rPr>
              <a:t> and all top level country domains like </a:t>
            </a:r>
            <a:r>
              <a:rPr lang="en-US" sz="2000" dirty="0" err="1">
                <a:latin typeface="Times New Roman" pitchFamily="18" charset="0"/>
                <a:cs typeface="Times New Roman" pitchFamily="18" charset="0"/>
              </a:rPr>
              <a:t>uk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ca</a:t>
            </a:r>
            <a:r>
              <a:rPr lang="en-US" sz="2000" dirty="0">
                <a:latin typeface="Times New Roman" pitchFamily="18" charset="0"/>
                <a:cs typeface="Times New Roman" pitchFamily="18" charset="0"/>
              </a:rPr>
              <a:t>, in etc. They have info about authoritative domain servers and know names and IP addresses of each authoritative name server for the second level domains.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Authoritative name servers </a:t>
            </a:r>
            <a:r>
              <a:rPr lang="en-US" sz="2000" dirty="0">
                <a:latin typeface="Times New Roman" pitchFamily="18" charset="0"/>
                <a:cs typeface="Times New Roman" pitchFamily="18" charset="0"/>
              </a:rPr>
              <a:t>This is organization’s DNS server, providing authoritative </a:t>
            </a:r>
            <a:r>
              <a:rPr lang="en-US" sz="2000" dirty="0" err="1">
                <a:latin typeface="Times New Roman" pitchFamily="18" charset="0"/>
                <a:cs typeface="Times New Roman" pitchFamily="18" charset="0"/>
              </a:rPr>
              <a:t>hostName</a:t>
            </a:r>
            <a:r>
              <a:rPr lang="en-US" sz="2000" dirty="0">
                <a:latin typeface="Times New Roman" pitchFamily="18" charset="0"/>
                <a:cs typeface="Times New Roman" pitchFamily="18" charset="0"/>
              </a:rPr>
              <a:t> to IP mapping for organization servers. It can be maintained by organization or service provider. In order to reach cse.dtu.in we have to ask the root DNS server, then it will point out to the top level domain server and then to authoritative domain name server which actually contains the IP address. So the authoritative domain server will return the associative </a:t>
            </a:r>
            <a:r>
              <a:rPr lang="en-US" sz="2000" dirty="0" err="1">
                <a:latin typeface="Times New Roman" pitchFamily="18" charset="0"/>
                <a:cs typeface="Times New Roman" pitchFamily="18" charset="0"/>
              </a:rPr>
              <a:t>ip</a:t>
            </a:r>
            <a:r>
              <a:rPr lang="en-US" sz="2000" dirty="0">
                <a:latin typeface="Times New Roman" pitchFamily="18" charset="0"/>
                <a:cs typeface="Times New Roman" pitchFamily="18" charset="0"/>
              </a:rPr>
              <a:t> address.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399841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533400"/>
            <a:ext cx="8077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5317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dirty="0">
                <a:latin typeface="Times New Roman" pitchFamily="18" charset="0"/>
                <a:cs typeface="Times New Roman" pitchFamily="18" charset="0"/>
              </a:rPr>
              <a:t>The client machine sends a request to the local name server, which , if root does not find the address in its database, sends a request to the root name server , which in turn, will route the query to an intermediate or authoritative name server. The root name server can also contain some </a:t>
            </a:r>
            <a:r>
              <a:rPr lang="en-US" sz="2000" dirty="0" err="1">
                <a:latin typeface="Times New Roman" pitchFamily="18" charset="0"/>
                <a:cs typeface="Times New Roman" pitchFamily="18" charset="0"/>
              </a:rPr>
              <a:t>hostName</a:t>
            </a:r>
            <a:r>
              <a:rPr lang="en-US" sz="2000" dirty="0">
                <a:latin typeface="Times New Roman" pitchFamily="18" charset="0"/>
                <a:cs typeface="Times New Roman" pitchFamily="18" charset="0"/>
              </a:rPr>
              <a:t> to IP address mappings . The intermediate name server always knows who the authoritative name server is. So finally the IP address is returned to the local name server which in turn returns the IP address to the host.</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647069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Dynamic Domain Name Space or System (DDNS) </a:t>
            </a:r>
          </a:p>
          <a:p>
            <a:pPr marL="0" indent="0" algn="just">
              <a:buNone/>
            </a:pPr>
            <a:r>
              <a:rPr lang="en-US" sz="2000" dirty="0">
                <a:latin typeface="Times New Roman" pitchFamily="18" charset="0"/>
                <a:cs typeface="Times New Roman" pitchFamily="18" charset="0"/>
              </a:rPr>
              <a:t>When DNS (Domain Name System) was designed, nobody expected that there would be so many address changes such as adding a new host, removing a host, or changing an IP address. When there is a change, the change must be made to the DNS master file which needs a lot of manual updating and it must be updated dynamically. </a:t>
            </a:r>
          </a:p>
          <a:p>
            <a:pPr marL="0" indent="0" algn="just">
              <a:buNone/>
            </a:pPr>
            <a:r>
              <a:rPr lang="en-US" sz="2000" dirty="0">
                <a:latin typeface="Times New Roman" pitchFamily="18" charset="0"/>
                <a:cs typeface="Times New Roman" pitchFamily="18" charset="0"/>
              </a:rPr>
              <a:t>DDNS automatically updates the name server in the Domain Name Server (DNS), often in real-time, with the active DDNS configuration of its configured hostnames, addresses, or other information. In DDNS, when a binding between a name and an address is determined, the information is sent, usually by DHCP (Dynamic Host Configuration Protocol) to a primary DNS server. </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71459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marL="0" indent="0" algn="just">
              <a:buNone/>
            </a:pPr>
            <a:r>
              <a:rPr lang="en-US" sz="2000" b="1" dirty="0">
                <a:latin typeface="Times New Roman" pitchFamily="18" charset="0"/>
                <a:cs typeface="Times New Roman" pitchFamily="18" charset="0"/>
              </a:rPr>
              <a:t>TELNET:</a:t>
            </a:r>
          </a:p>
          <a:p>
            <a:pPr marL="0" indent="0" algn="just">
              <a:buNone/>
            </a:pPr>
            <a:r>
              <a:rPr lang="en-US" sz="2000" dirty="0">
                <a:latin typeface="Times New Roman" pitchFamily="18" charset="0"/>
                <a:cs typeface="Times New Roman" pitchFamily="18" charset="0"/>
              </a:rPr>
              <a:t>TELNET stands for </a:t>
            </a:r>
            <a:r>
              <a:rPr lang="en-US" sz="2000" dirty="0" err="1">
                <a:latin typeface="Times New Roman" pitchFamily="18" charset="0"/>
                <a:cs typeface="Times New Roman" pitchFamily="18" charset="0"/>
              </a:rPr>
              <a:t>TErminaL</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NETwork</a:t>
            </a:r>
            <a:r>
              <a:rPr lang="en-US" sz="2000" dirty="0">
                <a:latin typeface="Times New Roman" pitchFamily="18" charset="0"/>
                <a:cs typeface="Times New Roman" pitchFamily="18" charset="0"/>
              </a:rPr>
              <a:t>. It is a type of protocol that enables one computer to connect to local computer. It is a used as a standard TCP/IP protocol for virtual terminal service which is given by ISO.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Computer which starts connection known as the local computer. Computer which is being connected to i.e. which accepts the connection known as remote computer.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When the connection is established between local and remote computer.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During telnet operation whatever that is performing on the remote computer will be displayed by local computer.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Telnet operates on client/server principle. Local computer uses telnet client program and the remote computers uses telnet server program. </a:t>
            </a:r>
          </a:p>
          <a:p>
            <a:pPr marL="0" indent="0" algn="just">
              <a:buNone/>
            </a:pP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811705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Electronic Mail (Email) </a:t>
            </a:r>
          </a:p>
          <a:p>
            <a:pPr algn="just"/>
            <a:r>
              <a:rPr lang="en-US" sz="2000" dirty="0">
                <a:latin typeface="Times New Roman" pitchFamily="18" charset="0"/>
                <a:cs typeface="Times New Roman" pitchFamily="18" charset="0"/>
              </a:rPr>
              <a:t> Electronic Mail (e-mail) is one of most widely used services of Internet. </a:t>
            </a:r>
          </a:p>
          <a:p>
            <a:pPr algn="just"/>
            <a:r>
              <a:rPr lang="en-US" sz="2000" dirty="0">
                <a:latin typeface="Times New Roman" pitchFamily="18" charset="0"/>
                <a:cs typeface="Times New Roman" pitchFamily="18" charset="0"/>
              </a:rPr>
              <a:t>This service allows an Internet user to send a message in formatted manner (mail) to the other Internet user in any part of world. </a:t>
            </a:r>
          </a:p>
          <a:p>
            <a:pPr algn="just"/>
            <a:r>
              <a:rPr lang="en-US" sz="2000" dirty="0">
                <a:latin typeface="Times New Roman" pitchFamily="18" charset="0"/>
                <a:cs typeface="Times New Roman" pitchFamily="18" charset="0"/>
              </a:rPr>
              <a:t>Message in mail not only contain text, but it also contains images, audio and videos data. </a:t>
            </a:r>
          </a:p>
          <a:p>
            <a:pPr algn="just"/>
            <a:r>
              <a:rPr lang="en-US" sz="2000" dirty="0">
                <a:latin typeface="Times New Roman" pitchFamily="18" charset="0"/>
                <a:cs typeface="Times New Roman" pitchFamily="18" charset="0"/>
              </a:rPr>
              <a:t>The person who is sending mail is called sender and person who receives mail is called recipient. It is just like postal mail service.</a:t>
            </a:r>
          </a:p>
          <a:p>
            <a:pPr algn="just"/>
            <a:endParaRPr lang="en-US" sz="2000" dirty="0">
              <a:latin typeface="Times New Roman" pitchFamily="18" charset="0"/>
              <a:cs typeface="Times New Roman" pitchFamily="18" charset="0"/>
            </a:endParaRPr>
          </a:p>
          <a:p>
            <a:pPr marL="0" indent="0">
              <a:lnSpc>
                <a:spcPct val="150000"/>
              </a:lnSpc>
              <a:buNone/>
            </a:pPr>
            <a:r>
              <a:rPr lang="en-US" sz="2000" b="1" dirty="0">
                <a:latin typeface="Times New Roman" pitchFamily="18" charset="0"/>
                <a:cs typeface="Times New Roman" pitchFamily="18" charset="0"/>
              </a:rPr>
              <a:t>Components of E-Mail System:</a:t>
            </a:r>
          </a:p>
          <a:p>
            <a:pPr>
              <a:lnSpc>
                <a:spcPct val="150000"/>
              </a:lnSpc>
            </a:pPr>
            <a:r>
              <a:rPr lang="en-US" sz="2000" dirty="0">
                <a:latin typeface="Times New Roman" pitchFamily="18" charset="0"/>
                <a:cs typeface="Times New Roman" pitchFamily="18" charset="0"/>
              </a:rPr>
              <a:t> User Agent (UA)</a:t>
            </a:r>
          </a:p>
          <a:p>
            <a:pPr marL="0" indent="0">
              <a:lnSpc>
                <a:spcPct val="150000"/>
              </a:lnSpc>
              <a:buNone/>
            </a:pPr>
            <a:r>
              <a:rPr lang="en-US" sz="2000" dirty="0">
                <a:latin typeface="Times New Roman" pitchFamily="18" charset="0"/>
                <a:cs typeface="Times New Roman" pitchFamily="18" charset="0"/>
              </a:rPr>
              <a:t>The UA is normally a program which is used to send and receive mail. Sometimes, it is called as mail reader.</a:t>
            </a:r>
          </a:p>
        </p:txBody>
      </p:sp>
    </p:spTree>
    <p:extLst>
      <p:ext uri="{BB962C8B-B14F-4D97-AF65-F5344CB8AC3E}">
        <p14:creationId xmlns:p14="http://schemas.microsoft.com/office/powerpoint/2010/main" val="2936609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marL="0" indent="0">
              <a:lnSpc>
                <a:spcPct val="150000"/>
              </a:lnSpc>
              <a:buNone/>
            </a:pPr>
            <a:r>
              <a:rPr lang="en-US" sz="2000" b="1" dirty="0">
                <a:latin typeface="Times New Roman" pitchFamily="18" charset="0"/>
                <a:cs typeface="Times New Roman" pitchFamily="18" charset="0"/>
              </a:rPr>
              <a:t>Message Transfer Agent (MTA) :</a:t>
            </a:r>
            <a:r>
              <a:rPr lang="en-US" sz="2000" dirty="0">
                <a:latin typeface="Times New Roman" pitchFamily="18" charset="0"/>
                <a:cs typeface="Times New Roman" pitchFamily="18" charset="0"/>
              </a:rPr>
              <a:t>MTA is actually responsible for transfer of mail from one system to another. To send a mail, a system must have client MTA and system MTA. It transfer mail to mailboxes of recipients if they are connected in the same machine</a:t>
            </a:r>
          </a:p>
          <a:p>
            <a:pPr marL="0" indent="0">
              <a:lnSpc>
                <a:spcPct val="150000"/>
              </a:lnSpc>
              <a:buNone/>
            </a:pPr>
            <a:endParaRPr lang="en-US" sz="2000" dirty="0">
              <a:latin typeface="Times New Roman" pitchFamily="18" charset="0"/>
              <a:cs typeface="Times New Roman" pitchFamily="18" charset="0"/>
            </a:endParaRPr>
          </a:p>
          <a:p>
            <a:pPr marL="0" indent="0" algn="just">
              <a:lnSpc>
                <a:spcPct val="150000"/>
              </a:lnSpc>
              <a:buNone/>
            </a:pPr>
            <a:r>
              <a:rPr lang="en-US" sz="2000" b="1" dirty="0">
                <a:latin typeface="Times New Roman" pitchFamily="18" charset="0"/>
                <a:cs typeface="Times New Roman" pitchFamily="18" charset="0"/>
              </a:rPr>
              <a:t>Mail Box:</a:t>
            </a:r>
            <a:r>
              <a:rPr lang="en-US" sz="2000" dirty="0">
                <a:latin typeface="Times New Roman" pitchFamily="18" charset="0"/>
                <a:cs typeface="Times New Roman" pitchFamily="18" charset="0"/>
              </a:rPr>
              <a:t> It is a file on local hard drive to collect mails. Delivered mails are present in this file. The user can read it delete it according to his/her requirement. To use e-mail system each user must have a mailbox . Access to mailbox is only to owner of mailbox. </a:t>
            </a:r>
          </a:p>
          <a:p>
            <a:pPr marL="0" indent="0" algn="just">
              <a:lnSpc>
                <a:spcPct val="150000"/>
              </a:lnSpc>
              <a:buNone/>
            </a:pPr>
            <a:endParaRPr lang="en-US" sz="2000" dirty="0">
              <a:latin typeface="Times New Roman" pitchFamily="18" charset="0"/>
              <a:cs typeface="Times New Roman" pitchFamily="18" charset="0"/>
            </a:endParaRPr>
          </a:p>
          <a:p>
            <a:pPr marL="0" indent="0" algn="just">
              <a:lnSpc>
                <a:spcPct val="150000"/>
              </a:lnSpc>
              <a:buNone/>
            </a:pPr>
            <a:r>
              <a:rPr lang="en-US" sz="2000" b="1" dirty="0">
                <a:latin typeface="Times New Roman" pitchFamily="18" charset="0"/>
                <a:cs typeface="Times New Roman" pitchFamily="18" charset="0"/>
              </a:rPr>
              <a:t>Spool</a:t>
            </a:r>
            <a:r>
              <a:rPr lang="en-US"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file</a:t>
            </a:r>
            <a:r>
              <a:rPr lang="en-US" sz="2000" dirty="0">
                <a:latin typeface="Times New Roman" pitchFamily="18" charset="0"/>
                <a:cs typeface="Times New Roman" pitchFamily="18" charset="0"/>
              </a:rPr>
              <a:t>:This file contains mails that are to be sent. User agent appends outgoing mails in this file using SMTP</a:t>
            </a:r>
          </a:p>
          <a:p>
            <a:pPr marL="0" indent="0">
              <a:buNone/>
            </a:pPr>
            <a:endParaRPr lang="en-IN" sz="2000" dirty="0"/>
          </a:p>
        </p:txBody>
      </p:sp>
    </p:spTree>
    <p:extLst>
      <p:ext uri="{BB962C8B-B14F-4D97-AF65-F5344CB8AC3E}">
        <p14:creationId xmlns:p14="http://schemas.microsoft.com/office/powerpoint/2010/main" val="1862167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Services provided by E-mail system : </a:t>
            </a:r>
          </a:p>
          <a:p>
            <a:pPr marL="0" indent="0" algn="just">
              <a:buNone/>
            </a:pPr>
            <a:r>
              <a:rPr lang="en-US" sz="2000" b="1" dirty="0">
                <a:latin typeface="Times New Roman" pitchFamily="18" charset="0"/>
                <a:cs typeface="Times New Roman" pitchFamily="18" charset="0"/>
              </a:rPr>
              <a:t>Composition </a:t>
            </a:r>
            <a:r>
              <a:rPr lang="en-US" sz="2000" dirty="0">
                <a:latin typeface="Times New Roman" pitchFamily="18" charset="0"/>
                <a:cs typeface="Times New Roman" pitchFamily="18" charset="0"/>
              </a:rPr>
              <a:t>– A user agent helps the user compose the e-mail message to be sent out.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Reading Messages </a:t>
            </a:r>
            <a:r>
              <a:rPr lang="en-US" sz="2000" dirty="0">
                <a:latin typeface="Times New Roman" pitchFamily="18" charset="0"/>
                <a:cs typeface="Times New Roman" pitchFamily="18" charset="0"/>
              </a:rPr>
              <a:t>– The second duty of the user agent is to read the incoming messages.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Replying to Messages – </a:t>
            </a:r>
            <a:r>
              <a:rPr lang="en-US" sz="2000" dirty="0">
                <a:latin typeface="Times New Roman" pitchFamily="18" charset="0"/>
                <a:cs typeface="Times New Roman" pitchFamily="18" charset="0"/>
              </a:rPr>
              <a:t>After reading a message, a user can use the user agent to reply to a message.</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Forwarding Messages – </a:t>
            </a:r>
            <a:r>
              <a:rPr lang="en-US" sz="2000" dirty="0">
                <a:latin typeface="Times New Roman" pitchFamily="18" charset="0"/>
                <a:cs typeface="Times New Roman" pitchFamily="18" charset="0"/>
              </a:rPr>
              <a:t>Replying is defined as sending a message to the sender or recipients of the copy.</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Handling Mailboxes </a:t>
            </a:r>
            <a:r>
              <a:rPr lang="en-US" sz="2000" dirty="0">
                <a:latin typeface="Times New Roman" pitchFamily="18" charset="0"/>
                <a:cs typeface="Times New Roman" pitchFamily="18" charset="0"/>
              </a:rPr>
              <a:t>– A user agent normally creates two mailboxes: an inbox and an outbox.</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097957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US" sz="2000" b="1" dirty="0">
                <a:latin typeface="Times New Roman" pitchFamily="18" charset="0"/>
                <a:cs typeface="Times New Roman" pitchFamily="18" charset="0"/>
              </a:rPr>
              <a:t>Transfer – </a:t>
            </a:r>
            <a:r>
              <a:rPr lang="en-US" sz="2000" dirty="0">
                <a:latin typeface="Times New Roman" pitchFamily="18" charset="0"/>
                <a:cs typeface="Times New Roman" pitchFamily="18" charset="0"/>
              </a:rPr>
              <a:t>Transfer means sending procedure of mail i.e. from the sender to recipient.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Reporting – </a:t>
            </a:r>
            <a:r>
              <a:rPr lang="en-US" sz="2000" dirty="0">
                <a:latin typeface="Times New Roman" pitchFamily="18" charset="0"/>
                <a:cs typeface="Times New Roman" pitchFamily="18" charset="0"/>
              </a:rPr>
              <a:t>Reporting refers to confirmation for delivery of mail. It help user to check whether their mail is delivered, lost or rejected.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Disposition – </a:t>
            </a:r>
            <a:r>
              <a:rPr lang="en-US" sz="2000" dirty="0">
                <a:latin typeface="Times New Roman" pitchFamily="18" charset="0"/>
                <a:cs typeface="Times New Roman" pitchFamily="18" charset="0"/>
              </a:rPr>
              <a:t>This step concern with recipient that what will recipient do after receiving mail </a:t>
            </a:r>
            <a:r>
              <a:rPr lang="en-US" sz="2000" dirty="0" err="1">
                <a:latin typeface="Times New Roman" pitchFamily="18" charset="0"/>
                <a:cs typeface="Times New Roman" pitchFamily="18" charset="0"/>
              </a:rPr>
              <a:t>i.e</a:t>
            </a:r>
            <a:r>
              <a:rPr lang="en-US" sz="2000" dirty="0">
                <a:latin typeface="Times New Roman" pitchFamily="18" charset="0"/>
                <a:cs typeface="Times New Roman" pitchFamily="18" charset="0"/>
              </a:rPr>
              <a:t> save mail, delete before reading or delete after reading.</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3785561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a:bodyPr>
          <a:lstStyle/>
          <a:p>
            <a:pPr marL="0" indent="0" algn="just">
              <a:buNone/>
            </a:pPr>
            <a:r>
              <a:rPr lang="en-US" sz="2000" b="1" dirty="0">
                <a:latin typeface="Times New Roman" pitchFamily="18" charset="0"/>
                <a:cs typeface="Times New Roman" pitchFamily="18" charset="0"/>
              </a:rPr>
              <a:t>Multipurpose Internet Mail Extension (MIME) Protocol </a:t>
            </a:r>
          </a:p>
          <a:p>
            <a:pPr marL="0" indent="0" algn="just">
              <a:buNone/>
            </a:pPr>
            <a:r>
              <a:rPr lang="en-US" sz="2000" dirty="0">
                <a:latin typeface="Times New Roman" pitchFamily="18" charset="0"/>
                <a:cs typeface="Times New Roman" pitchFamily="18" charset="0"/>
              </a:rPr>
              <a:t>Multipurpose Internet Mail Extension (MIME) is a standard which was proposed by Bell Communications in 1991 in order to expand limited capabilities of email. </a:t>
            </a:r>
          </a:p>
          <a:p>
            <a:pPr marL="0" indent="0" algn="just">
              <a:buNone/>
            </a:pPr>
            <a:r>
              <a:rPr lang="en-US" sz="2000" dirty="0">
                <a:latin typeface="Times New Roman" pitchFamily="18" charset="0"/>
                <a:cs typeface="Times New Roman" pitchFamily="18" charset="0"/>
              </a:rPr>
              <a:t>MIME is a kind of add on or a supplementary protocol which allows non-ASCII data to be sent through SMTP. </a:t>
            </a:r>
          </a:p>
          <a:p>
            <a:pPr marL="0" indent="0" algn="just">
              <a:buNone/>
            </a:pPr>
            <a:r>
              <a:rPr lang="en-US" sz="2000" dirty="0">
                <a:latin typeface="Times New Roman" pitchFamily="18" charset="0"/>
                <a:cs typeface="Times New Roman" pitchFamily="18" charset="0"/>
              </a:rPr>
              <a:t>It allows the users to exchange different kinds of data files on the Internet: audio, video, images, application programs as well.</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Features of MIME </a:t>
            </a:r>
          </a:p>
          <a:p>
            <a:pPr marL="457200" indent="-457200" algn="just">
              <a:buAutoNum type="arabicPeriod"/>
            </a:pPr>
            <a:r>
              <a:rPr lang="en-US" sz="2000" dirty="0">
                <a:latin typeface="Times New Roman" pitchFamily="18" charset="0"/>
                <a:cs typeface="Times New Roman" pitchFamily="18" charset="0"/>
              </a:rPr>
              <a:t>It is able to send multiple attachments with a single message. </a:t>
            </a:r>
          </a:p>
          <a:p>
            <a:pPr marL="457200" indent="-457200" algn="just">
              <a:buAutoNum type="arabicPeriod"/>
            </a:pPr>
            <a:r>
              <a:rPr lang="en-US" sz="2000" dirty="0">
                <a:latin typeface="Times New Roman" pitchFamily="18" charset="0"/>
                <a:cs typeface="Times New Roman" pitchFamily="18" charset="0"/>
              </a:rPr>
              <a:t>Unlimited message length. </a:t>
            </a:r>
          </a:p>
          <a:p>
            <a:pPr marL="457200" indent="-457200" algn="just">
              <a:buAutoNum type="arabicPeriod"/>
            </a:pPr>
            <a:r>
              <a:rPr lang="en-US" sz="2000" dirty="0">
                <a:latin typeface="Times New Roman" pitchFamily="18" charset="0"/>
                <a:cs typeface="Times New Roman" pitchFamily="18" charset="0"/>
              </a:rPr>
              <a:t>Binary attachments (</a:t>
            </a:r>
            <a:r>
              <a:rPr lang="en-US" sz="2000" dirty="0" err="1">
                <a:latin typeface="Times New Roman" pitchFamily="18" charset="0"/>
                <a:cs typeface="Times New Roman" pitchFamily="18" charset="0"/>
              </a:rPr>
              <a:t>executables</a:t>
            </a:r>
            <a:r>
              <a:rPr lang="en-US" sz="2000" dirty="0">
                <a:latin typeface="Times New Roman" pitchFamily="18" charset="0"/>
                <a:cs typeface="Times New Roman" pitchFamily="18" charset="0"/>
              </a:rPr>
              <a:t>, images, audio, or video files) which may be divided if needed. </a:t>
            </a:r>
          </a:p>
          <a:p>
            <a:pPr marL="457200" indent="-457200" algn="just">
              <a:buAutoNum type="arabicPeriod"/>
            </a:pPr>
            <a:r>
              <a:rPr lang="en-US" sz="2000" dirty="0">
                <a:latin typeface="Times New Roman" pitchFamily="18" charset="0"/>
                <a:cs typeface="Times New Roman" pitchFamily="18" charset="0"/>
              </a:rPr>
              <a:t>MIME provided support for varying content types and multi-part messages.</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173785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marL="0" indent="0" algn="just">
              <a:buNone/>
            </a:pPr>
            <a:r>
              <a:rPr lang="en-US" sz="2000" b="1" dirty="0">
                <a:latin typeface="Times New Roman" pitchFamily="18" charset="0"/>
                <a:cs typeface="Times New Roman" pitchFamily="18" charset="0"/>
              </a:rPr>
              <a:t>MIME Header: </a:t>
            </a:r>
          </a:p>
          <a:p>
            <a:pPr marL="0" indent="0" algn="just">
              <a:buNone/>
            </a:pPr>
            <a:r>
              <a:rPr lang="en-US" sz="2000" dirty="0">
                <a:latin typeface="Times New Roman" pitchFamily="18" charset="0"/>
                <a:cs typeface="Times New Roman" pitchFamily="18" charset="0"/>
              </a:rPr>
              <a:t>It is added to the original e-mail header section to define transformation. There are five headers which we add to the original header:</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 1. MIME Version – Defines version of MIME protocol. It must have the parameter Value 1.0, which indicates that message is formatted using MIME.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2. Content Type – Type of data used in the body of message. They are of different types like text data (plain, HTML), audio content or video content.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3. Content Type Encoding – It defines the method used for encoding the message. Like 7-bit encoding, 8-bit encoding, etc.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4. Content Id – It is used for uniquely identifying the message. </a:t>
            </a:r>
          </a:p>
          <a:p>
            <a:pPr marL="0" indent="0" algn="just">
              <a:buNone/>
            </a:pPr>
            <a:endParaRPr lang="en-US" sz="2000" dirty="0">
              <a:latin typeface="Times New Roman" pitchFamily="18" charset="0"/>
              <a:cs typeface="Times New Roman" pitchFamily="18" charset="0"/>
            </a:endParaRPr>
          </a:p>
          <a:p>
            <a:pPr marL="0" indent="0" algn="just">
              <a:buNone/>
            </a:pPr>
            <a:r>
              <a:rPr lang="en-US" sz="2000" dirty="0">
                <a:latin typeface="Times New Roman" pitchFamily="18" charset="0"/>
                <a:cs typeface="Times New Roman" pitchFamily="18" charset="0"/>
              </a:rPr>
              <a:t>5. Content description – It defines whether the body is actually image, video or audio</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523829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US" sz="2000" b="1" dirty="0">
                <a:latin typeface="Times New Roman" pitchFamily="18" charset="0"/>
                <a:cs typeface="Times New Roman" pitchFamily="18" charset="0"/>
              </a:rPr>
              <a:t>File Transfer Protocol (FTP)</a:t>
            </a:r>
          </a:p>
          <a:p>
            <a:pPr marL="0" indent="0" algn="just">
              <a:buNone/>
            </a:pPr>
            <a:r>
              <a:rPr lang="en-US" sz="2000" dirty="0">
                <a:latin typeface="Times New Roman" pitchFamily="18" charset="0"/>
                <a:cs typeface="Times New Roman" pitchFamily="18" charset="0"/>
              </a:rPr>
              <a:t> File Transfer Protocol(FTP) is an application layer protocol which moves files between local and remote file systems. It runs on the top of TCP, like HTTP. To transfer a file, 2 TCP connections are used by FTP in parallel: control connection and data connection.</a:t>
            </a:r>
          </a:p>
          <a:p>
            <a:pPr marL="0" indent="0" algn="just">
              <a:buNone/>
            </a:pPr>
            <a:endParaRPr lang="en-US" sz="2000" dirty="0">
              <a:latin typeface="Times New Roman" pitchFamily="18" charset="0"/>
              <a:cs typeface="Times New Roman" pitchFamily="18" charset="0"/>
            </a:endParaRPr>
          </a:p>
          <a:p>
            <a:pPr marL="0" indent="0" algn="just">
              <a:buNone/>
            </a:pPr>
            <a:endParaRPr lang="en-IN" sz="2000" dirty="0">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438400"/>
            <a:ext cx="784860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6957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477000"/>
          </a:xfrm>
        </p:spPr>
        <p:txBody>
          <a:bodyPr>
            <a:normAutofit/>
          </a:bodyPr>
          <a:lstStyle/>
          <a:p>
            <a:pPr marL="0" indent="0" algn="just">
              <a:buNone/>
            </a:pPr>
            <a:r>
              <a:rPr lang="en-US" sz="2000" b="1" dirty="0">
                <a:latin typeface="Times New Roman" pitchFamily="18" charset="0"/>
                <a:cs typeface="Times New Roman" pitchFamily="18" charset="0"/>
              </a:rPr>
              <a:t>Control Connection</a:t>
            </a:r>
          </a:p>
          <a:p>
            <a:pPr marL="0" indent="0" algn="just">
              <a:buNone/>
            </a:pPr>
            <a:r>
              <a:rPr lang="en-US" sz="2000" dirty="0">
                <a:latin typeface="Times New Roman" pitchFamily="18" charset="0"/>
                <a:cs typeface="Times New Roman" pitchFamily="18" charset="0"/>
              </a:rPr>
              <a:t>For sending control information like user identification, password, commands to change the remote directory, commands to retrieve and store files, etc.</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Data Connection</a:t>
            </a:r>
          </a:p>
          <a:p>
            <a:pPr marL="0" indent="0" algn="just">
              <a:buNone/>
            </a:pPr>
            <a:r>
              <a:rPr lang="en-US" sz="2000" dirty="0">
                <a:latin typeface="Times New Roman" pitchFamily="18" charset="0"/>
                <a:cs typeface="Times New Roman" pitchFamily="18" charset="0"/>
              </a:rPr>
              <a:t> For sending the actual file, FTP makes use of data connection.</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FTP Session </a:t>
            </a:r>
          </a:p>
          <a:p>
            <a:pPr marL="0" indent="0" algn="just">
              <a:buNone/>
            </a:pPr>
            <a:r>
              <a:rPr lang="en-US" sz="2000" dirty="0">
                <a:latin typeface="Times New Roman" pitchFamily="18" charset="0"/>
                <a:cs typeface="Times New Roman" pitchFamily="18" charset="0"/>
              </a:rPr>
              <a:t>When a FTP session is started between a client and a server, the client initiates a control TCP connection with the server side. The client sends control information over this. When the server receives this, it initiates a data connection to the client side. Only one file can be sent over one data connection. But the control connection remains active throughout the user session.</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4139581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324600"/>
          </a:xfrm>
        </p:spPr>
        <p:txBody>
          <a:bodyPr>
            <a:normAutofit/>
          </a:bodyPr>
          <a:lstStyle/>
          <a:p>
            <a:pPr marL="0" indent="0" algn="just">
              <a:buNone/>
            </a:pPr>
            <a:r>
              <a:rPr lang="en-US" sz="2000" b="1" dirty="0">
                <a:latin typeface="Times New Roman" pitchFamily="18" charset="0"/>
                <a:cs typeface="Times New Roman" pitchFamily="18" charset="0"/>
              </a:rPr>
              <a:t>World Wide Web (WWW) </a:t>
            </a:r>
          </a:p>
          <a:p>
            <a:pPr marL="0" indent="0" algn="just">
              <a:buNone/>
            </a:pPr>
            <a:r>
              <a:rPr lang="en-US" sz="2000" dirty="0">
                <a:latin typeface="Times New Roman" pitchFamily="18" charset="0"/>
                <a:cs typeface="Times New Roman" pitchFamily="18" charset="0"/>
              </a:rPr>
              <a:t>The World Wide Web abbreviated as WWW and commonly known as the web. The WWW was initiated by CERN (European library for Nuclear Research) in 1989. </a:t>
            </a:r>
          </a:p>
          <a:p>
            <a:pPr marL="0" indent="0" algn="just">
              <a:buNone/>
            </a:pPr>
            <a:endParaRPr lang="en-US" sz="2000" dirty="0">
              <a:latin typeface="Times New Roman" pitchFamily="18" charset="0"/>
              <a:cs typeface="Times New Roman" pitchFamily="18" charset="0"/>
            </a:endParaRPr>
          </a:p>
          <a:p>
            <a:pPr marL="0" indent="0" algn="just">
              <a:buNone/>
            </a:pPr>
            <a:r>
              <a:rPr lang="en-US" sz="2000" b="1" dirty="0">
                <a:latin typeface="Times New Roman" pitchFamily="18" charset="0"/>
                <a:cs typeface="Times New Roman" pitchFamily="18" charset="0"/>
              </a:rPr>
              <a:t>System Architecture: </a:t>
            </a:r>
          </a:p>
          <a:p>
            <a:pPr marL="0" indent="0" algn="just">
              <a:buNone/>
            </a:pPr>
            <a:r>
              <a:rPr lang="en-US" sz="2000" dirty="0">
                <a:latin typeface="Times New Roman" pitchFamily="18" charset="0"/>
                <a:cs typeface="Times New Roman" pitchFamily="18" charset="0"/>
              </a:rPr>
              <a:t>From user’s point of view, the web consists of a vast, worldwide connection of documents or web pages. Each page may contain links to other pages anywhere in the world. The pages can be retrieved and viewed by using browsers of which internet explorer, Netscape Navigator, Google, Chrome, </a:t>
            </a:r>
            <a:r>
              <a:rPr lang="en-US" sz="2000" dirty="0" err="1">
                <a:latin typeface="Times New Roman" pitchFamily="18" charset="0"/>
                <a:cs typeface="Times New Roman" pitchFamily="18" charset="0"/>
              </a:rPr>
              <a:t>etc</a:t>
            </a:r>
            <a:r>
              <a:rPr lang="en-US" sz="2000" dirty="0">
                <a:latin typeface="Times New Roman" pitchFamily="18" charset="0"/>
                <a:cs typeface="Times New Roman" pitchFamily="18" charset="0"/>
              </a:rPr>
              <a:t> are the popular ones. The browser fetches the page requested interprets the text and formatting commands on it, and displays the page, properly formatted, on the screen. The basic model of how the web works is shown in figure below. Here the browser is displaying a web page on the client machine. When the user clicks on a line of text that is linked to a page on the abd.com server, the browser follows the hyperlink by sending a message to the abd.com server asking it for the page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60138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 y="533400"/>
            <a:ext cx="7391400"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066800" y="4973782"/>
            <a:ext cx="7315200" cy="1323439"/>
          </a:xfrm>
          <a:prstGeom prst="rect">
            <a:avLst/>
          </a:prstGeom>
        </p:spPr>
        <p:txBody>
          <a:bodyPr wrap="square">
            <a:spAutoFit/>
          </a:bodyPr>
          <a:lstStyle/>
          <a:p>
            <a:pPr algn="just"/>
            <a:r>
              <a:rPr lang="en-US" sz="2000" dirty="0">
                <a:latin typeface="Times New Roman" pitchFamily="18" charset="0"/>
                <a:cs typeface="Times New Roman" pitchFamily="18" charset="0"/>
              </a:rPr>
              <a:t>Here the browser displaying web page on the client machine when the user clicks on a line of text that is linked to a page on abd.com, the browser follows the hyperlink by sending a message to abd.com server asking it for the page.</a:t>
            </a: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2989473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pPr marL="0" indent="0" algn="just">
              <a:buNone/>
            </a:pPr>
            <a:r>
              <a:rPr lang="en-IN" sz="2000" b="1" dirty="0">
                <a:latin typeface="Times New Roman" pitchFamily="18" charset="0"/>
                <a:cs typeface="Times New Roman" pitchFamily="18" charset="0"/>
              </a:rPr>
              <a:t>Features of WWW: </a:t>
            </a:r>
          </a:p>
          <a:p>
            <a:pPr marL="0" indent="0" algn="just">
              <a:lnSpc>
                <a:spcPct val="150000"/>
              </a:lnSpc>
              <a:buNone/>
            </a:pPr>
            <a:r>
              <a:rPr lang="en-IN" sz="2000" dirty="0">
                <a:latin typeface="Times New Roman" pitchFamily="18" charset="0"/>
                <a:cs typeface="Times New Roman" pitchFamily="18" charset="0"/>
              </a:rPr>
              <a:t> </a:t>
            </a:r>
            <a:r>
              <a:rPr lang="en-IN" sz="2000" dirty="0" err="1">
                <a:latin typeface="Times New Roman" pitchFamily="18" charset="0"/>
                <a:cs typeface="Times New Roman" pitchFamily="18" charset="0"/>
              </a:rPr>
              <a:t>HyperText</a:t>
            </a:r>
            <a:r>
              <a:rPr lang="en-IN" sz="2000" dirty="0">
                <a:latin typeface="Times New Roman" pitchFamily="18" charset="0"/>
                <a:cs typeface="Times New Roman" pitchFamily="18" charset="0"/>
              </a:rPr>
              <a:t> Information System </a:t>
            </a:r>
          </a:p>
          <a:p>
            <a:pPr marL="0" indent="0" algn="just">
              <a:lnSpc>
                <a:spcPct val="150000"/>
              </a:lnSpc>
              <a:buNone/>
            </a:pPr>
            <a:r>
              <a:rPr lang="en-IN" sz="2000" dirty="0">
                <a:latin typeface="Times New Roman" pitchFamily="18" charset="0"/>
                <a:cs typeface="Times New Roman" pitchFamily="18" charset="0"/>
              </a:rPr>
              <a:t> Cross-Platform </a:t>
            </a:r>
          </a:p>
          <a:p>
            <a:pPr marL="0" indent="0" algn="just">
              <a:lnSpc>
                <a:spcPct val="150000"/>
              </a:lnSpc>
              <a:buNone/>
            </a:pPr>
            <a:r>
              <a:rPr lang="en-IN" sz="2000" dirty="0">
                <a:latin typeface="Times New Roman" pitchFamily="18" charset="0"/>
                <a:cs typeface="Times New Roman" pitchFamily="18" charset="0"/>
              </a:rPr>
              <a:t> Distributed </a:t>
            </a:r>
          </a:p>
          <a:p>
            <a:pPr marL="0" indent="0" algn="just">
              <a:lnSpc>
                <a:spcPct val="150000"/>
              </a:lnSpc>
              <a:buNone/>
            </a:pPr>
            <a:r>
              <a:rPr lang="en-IN" sz="2000" dirty="0">
                <a:latin typeface="Times New Roman" pitchFamily="18" charset="0"/>
                <a:cs typeface="Times New Roman" pitchFamily="18" charset="0"/>
              </a:rPr>
              <a:t> Open Standards and Open Source </a:t>
            </a:r>
          </a:p>
          <a:p>
            <a:pPr marL="0" indent="0" algn="just">
              <a:lnSpc>
                <a:spcPct val="150000"/>
              </a:lnSpc>
              <a:buNone/>
            </a:pPr>
            <a:r>
              <a:rPr lang="en-IN" sz="2000" dirty="0">
                <a:latin typeface="Times New Roman" pitchFamily="18" charset="0"/>
                <a:cs typeface="Times New Roman" pitchFamily="18" charset="0"/>
              </a:rPr>
              <a:t> Uses Web Browsers to provide a single interface for many services </a:t>
            </a:r>
          </a:p>
          <a:p>
            <a:pPr marL="0" indent="0" algn="just">
              <a:lnSpc>
                <a:spcPct val="150000"/>
              </a:lnSpc>
              <a:buNone/>
            </a:pPr>
            <a:r>
              <a:rPr lang="en-IN" sz="2000" dirty="0">
                <a:latin typeface="Times New Roman" pitchFamily="18" charset="0"/>
                <a:cs typeface="Times New Roman" pitchFamily="18" charset="0"/>
              </a:rPr>
              <a:t> Dynamic, Interactive and Evolving.</a:t>
            </a:r>
          </a:p>
          <a:p>
            <a:pPr marL="0" indent="0" algn="just">
              <a:lnSpc>
                <a:spcPct val="150000"/>
              </a:lnSpc>
              <a:buNone/>
            </a:pPr>
            <a:r>
              <a:rPr lang="en-IN" sz="2000" dirty="0">
                <a:latin typeface="Times New Roman" pitchFamily="18" charset="0"/>
                <a:cs typeface="Times New Roman" pitchFamily="18" charset="0"/>
              </a:rPr>
              <a:t>  “Web 2.0” </a:t>
            </a:r>
          </a:p>
        </p:txBody>
      </p:sp>
    </p:spTree>
    <p:extLst>
      <p:ext uri="{BB962C8B-B14F-4D97-AF65-F5344CB8AC3E}">
        <p14:creationId xmlns:p14="http://schemas.microsoft.com/office/powerpoint/2010/main" val="2306653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pPr marL="0" indent="0" algn="just">
              <a:buNone/>
            </a:pPr>
            <a:r>
              <a:rPr lang="en-IN" sz="2000" dirty="0">
                <a:latin typeface="Times New Roman" pitchFamily="18" charset="0"/>
                <a:cs typeface="Times New Roman" pitchFamily="18" charset="0"/>
              </a:rPr>
              <a:t>Components of Web There are 3 components of web: </a:t>
            </a:r>
          </a:p>
          <a:p>
            <a:pPr marL="514350" indent="-514350" algn="just">
              <a:buAutoNum type="arabicPeriod"/>
            </a:pPr>
            <a:r>
              <a:rPr lang="en-IN" sz="2000" dirty="0">
                <a:latin typeface="Times New Roman" pitchFamily="18" charset="0"/>
                <a:cs typeface="Times New Roman" pitchFamily="18" charset="0"/>
              </a:rPr>
              <a:t>Uniform Resource Locator (URL): serves as system for resources on web. </a:t>
            </a:r>
          </a:p>
          <a:p>
            <a:pPr marL="514350" indent="-514350" algn="just">
              <a:buAutoNum type="arabicPeriod"/>
            </a:pPr>
            <a:r>
              <a:rPr lang="en-IN" sz="2000" dirty="0" err="1">
                <a:latin typeface="Times New Roman" pitchFamily="18" charset="0"/>
                <a:cs typeface="Times New Roman" pitchFamily="18" charset="0"/>
              </a:rPr>
              <a:t>HyperText</a:t>
            </a:r>
            <a:r>
              <a:rPr lang="en-IN" sz="2000" dirty="0">
                <a:latin typeface="Times New Roman" pitchFamily="18" charset="0"/>
                <a:cs typeface="Times New Roman" pitchFamily="18" charset="0"/>
              </a:rPr>
              <a:t> Transfer Protocol (HTTP): specifies communication of browser and server. </a:t>
            </a:r>
          </a:p>
          <a:p>
            <a:pPr marL="514350" indent="-514350" algn="just">
              <a:buAutoNum type="arabicPeriod"/>
            </a:pPr>
            <a:r>
              <a:rPr lang="en-IN" sz="2000" dirty="0">
                <a:latin typeface="Times New Roman" pitchFamily="18" charset="0"/>
                <a:cs typeface="Times New Roman" pitchFamily="18" charset="0"/>
              </a:rPr>
              <a:t>Hyper Text </a:t>
            </a:r>
            <a:r>
              <a:rPr lang="en-IN" sz="2000" dirty="0" err="1">
                <a:latin typeface="Times New Roman" pitchFamily="18" charset="0"/>
                <a:cs typeface="Times New Roman" pitchFamily="18" charset="0"/>
              </a:rPr>
              <a:t>Markup</a:t>
            </a:r>
            <a:r>
              <a:rPr lang="en-IN" sz="2000" dirty="0">
                <a:latin typeface="Times New Roman" pitchFamily="18" charset="0"/>
                <a:cs typeface="Times New Roman" pitchFamily="18" charset="0"/>
              </a:rPr>
              <a:t> Language (HTML): defines structure, organisation and content of webpage.</a:t>
            </a:r>
          </a:p>
          <a:p>
            <a:pPr marL="0" indent="0" algn="just">
              <a:buNone/>
            </a:pPr>
            <a:endParaRPr lang="en-IN" sz="2000" dirty="0">
              <a:latin typeface="Times New Roman" pitchFamily="18" charset="0"/>
              <a:cs typeface="Times New Roman" pitchFamily="18" charset="0"/>
            </a:endParaRPr>
          </a:p>
        </p:txBody>
      </p:sp>
    </p:spTree>
    <p:extLst>
      <p:ext uri="{BB962C8B-B14F-4D97-AF65-F5344CB8AC3E}">
        <p14:creationId xmlns:p14="http://schemas.microsoft.com/office/powerpoint/2010/main" val="692450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419121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577</TotalTime>
  <Words>2054</Words>
  <Application>Microsoft Office PowerPoint</Application>
  <PresentationFormat>On-screen Show (4:3)</PresentationFormat>
  <Paragraphs>125</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Times New Roman</vt:lpstr>
      <vt:lpstr>Office Theme</vt:lpstr>
      <vt:lpstr>PowerPoint Presentation</vt:lpstr>
      <vt:lpstr>PowerPoint Presentation</vt:lpstr>
      <vt:lpstr>PowerPoint Presentation</vt:lpstr>
      <vt:lpstr>Hierarchy of Name Servers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patha</dc:creator>
  <cp:lastModifiedBy>Sayeeda pathan</cp:lastModifiedBy>
  <cp:revision>34</cp:revision>
  <dcterms:created xsi:type="dcterms:W3CDTF">2006-08-16T00:00:00Z</dcterms:created>
  <dcterms:modified xsi:type="dcterms:W3CDTF">2024-11-21T05:04:58Z</dcterms:modified>
</cp:coreProperties>
</file>