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70" r:id="rId13"/>
    <p:sldId id="271" r:id="rId14"/>
    <p:sldId id="267" r:id="rId15"/>
    <p:sldId id="268" r:id="rId16"/>
    <p:sldId id="269" r:id="rId17"/>
    <p:sldId id="272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CED181B-67CC-457A-A0E4-0DAC1F8A5F9A}">
  <a:tblStyle styleId="{9CED181B-67CC-457A-A0E4-0DAC1F8A5F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78ac0bfe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78ac0bfe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78ac0bfe1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78ac0bfe1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4dfb4227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4dfb4227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78ac0bfe1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78ac0bfe1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4dfb42277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4dfb42277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78cf3f75b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78cf3f75b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78cf3f75b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78cf3f75b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78cf3f7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78cf3f7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78cf3f75b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78cf3f75b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78cf3f75b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78cf3f75b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78cf3f75b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78cf3f75b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78cf3f75b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78cf3f75b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3" Type="http://schemas.openxmlformats.org/officeDocument/2006/relationships/image" Target="../media/image23.png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system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468414" y="3223074"/>
            <a:ext cx="5363886" cy="1485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I Ravindra </a:t>
            </a:r>
            <a:r>
              <a:rPr lang="en" b="1" dirty="0" smtClean="0">
                <a:solidFill>
                  <a:srgbClr val="FF0000"/>
                </a:solidFill>
              </a:rPr>
              <a:t>kumar, B.Tech, M.Tech,(Ph.D.)</a:t>
            </a:r>
            <a:endParaRPr b="1"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Assistant professor, </a:t>
            </a:r>
            <a:endParaRPr lang="en" dirty="0" smtClean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Dept </a:t>
            </a:r>
            <a:r>
              <a:rPr lang="en" dirty="0"/>
              <a:t>of CSE, VNR VJIET</a:t>
            </a:r>
            <a:endParaRPr/>
          </a:p>
        </p:txBody>
      </p:sp>
      <p:pic>
        <p:nvPicPr>
          <p:cNvPr id="4" name="Picture 3" descr="slid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5"/>
            <a:ext cx="9144000" cy="5140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22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Interprocess Communication- 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695425"/>
            <a:ext cx="8520600" cy="44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T</a:t>
            </a:r>
            <a:r>
              <a:rPr lang="en" sz="1500" dirty="0" smtClean="0">
                <a:solidFill>
                  <a:schemeClr val="dk1"/>
                </a:solidFill>
              </a:rPr>
              <a:t>he </a:t>
            </a:r>
            <a:r>
              <a:rPr lang="en" sz="1500" dirty="0">
                <a:solidFill>
                  <a:schemeClr val="dk1"/>
                </a:solidFill>
              </a:rPr>
              <a:t>transfer of data among different </a:t>
            </a:r>
            <a:r>
              <a:rPr lang="en" sz="1500" dirty="0" smtClean="0">
                <a:solidFill>
                  <a:schemeClr val="dk1"/>
                </a:solidFill>
              </a:rPr>
              <a:t>processes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There are </a:t>
            </a:r>
            <a:r>
              <a:rPr lang="en" sz="1500" dirty="0">
                <a:solidFill>
                  <a:srgbClr val="FF0000"/>
                </a:solidFill>
              </a:rPr>
              <a:t>two fundamentally </a:t>
            </a:r>
            <a:r>
              <a:rPr lang="en" sz="1500" dirty="0">
                <a:solidFill>
                  <a:schemeClr val="dk1"/>
                </a:solidFill>
              </a:rPr>
              <a:t>different </a:t>
            </a:r>
            <a:r>
              <a:rPr lang="en" sz="1500" dirty="0">
                <a:solidFill>
                  <a:srgbClr val="FF0000"/>
                </a:solidFill>
              </a:rPr>
              <a:t>approaches</a:t>
            </a:r>
            <a:r>
              <a:rPr lang="en" sz="1500" dirty="0">
                <a:solidFill>
                  <a:schemeClr val="dk1"/>
                </a:solidFill>
              </a:rPr>
              <a:t> in IPC: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 dirty="0">
                <a:solidFill>
                  <a:schemeClr val="dk1"/>
                </a:solidFill>
              </a:rPr>
              <a:t>processes are residing on </a:t>
            </a:r>
            <a:r>
              <a:rPr lang="en" sz="1500" dirty="0">
                <a:solidFill>
                  <a:srgbClr val="FF0000"/>
                </a:solidFill>
              </a:rPr>
              <a:t>the same computer</a:t>
            </a:r>
            <a:endParaRPr sz="1500">
              <a:solidFill>
                <a:srgbClr val="FF0000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 dirty="0">
                <a:solidFill>
                  <a:schemeClr val="dk1"/>
                </a:solidFill>
              </a:rPr>
              <a:t>processes are residing on </a:t>
            </a:r>
            <a:r>
              <a:rPr lang="en" sz="1500" dirty="0">
                <a:solidFill>
                  <a:srgbClr val="FF0000"/>
                </a:solidFill>
              </a:rPr>
              <a:t>different computers</a:t>
            </a:r>
            <a:endParaRPr sz="1500">
              <a:solidFill>
                <a:srgbClr val="FF0000"/>
              </a:solidFill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this chapter is focused on </a:t>
            </a:r>
            <a:r>
              <a:rPr lang="en" sz="1500" dirty="0">
                <a:solidFill>
                  <a:srgbClr val="FF0000"/>
                </a:solidFill>
              </a:rPr>
              <a:t>IPC on a single computer system</a:t>
            </a:r>
            <a:r>
              <a:rPr lang="en" sz="1500" dirty="0">
                <a:solidFill>
                  <a:schemeClr val="dk1"/>
                </a:solidFill>
              </a:rPr>
              <a:t>, including four general approaches: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 dirty="0">
                <a:solidFill>
                  <a:srgbClr val="FF0000"/>
                </a:solidFill>
              </a:rPr>
              <a:t>Pipes</a:t>
            </a:r>
            <a:endParaRPr sz="1500">
              <a:solidFill>
                <a:srgbClr val="FF0000"/>
              </a:solidFill>
            </a:endParaRPr>
          </a:p>
          <a:p>
            <a:pPr marL="137160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 dirty="0">
                <a:solidFill>
                  <a:schemeClr val="dk1"/>
                </a:solidFill>
              </a:rPr>
              <a:t>A pipe is a </a:t>
            </a:r>
            <a:r>
              <a:rPr lang="en" sz="1500" dirty="0">
                <a:solidFill>
                  <a:srgbClr val="FF0000"/>
                </a:solidFill>
              </a:rPr>
              <a:t>serial communication device </a:t>
            </a:r>
            <a:r>
              <a:rPr lang="en" sz="1500" dirty="0">
                <a:solidFill>
                  <a:schemeClr val="dk1"/>
                </a:solidFill>
              </a:rPr>
              <a:t>(i.e., the data is read in the order in which it was written),which allows a </a:t>
            </a:r>
            <a:r>
              <a:rPr lang="en" sz="1500" dirty="0">
                <a:solidFill>
                  <a:srgbClr val="FF0000"/>
                </a:solidFill>
              </a:rPr>
              <a:t>unidirectional communication</a:t>
            </a:r>
            <a:r>
              <a:rPr lang="en" sz="1500" dirty="0" smtClean="0">
                <a:solidFill>
                  <a:srgbClr val="FF0000"/>
                </a:solidFill>
              </a:rPr>
              <a:t>.</a:t>
            </a:r>
          </a:p>
          <a:p>
            <a:pPr marL="137160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 dirty="0" smtClean="0">
                <a:solidFill>
                  <a:schemeClr val="dk1"/>
                </a:solidFill>
              </a:rPr>
              <a:t> </a:t>
            </a:r>
            <a:r>
              <a:rPr lang="en" sz="1500" dirty="0">
                <a:solidFill>
                  <a:schemeClr val="dk1"/>
                </a:solidFill>
              </a:rPr>
              <a:t>The data </a:t>
            </a:r>
            <a:r>
              <a:rPr lang="en" sz="1500" dirty="0">
                <a:solidFill>
                  <a:srgbClr val="FF0000"/>
                </a:solidFill>
              </a:rPr>
              <a:t>written to end is read back </a:t>
            </a:r>
            <a:r>
              <a:rPr lang="en" sz="1500" dirty="0">
                <a:solidFill>
                  <a:schemeClr val="dk1"/>
                </a:solidFill>
              </a:rPr>
              <a:t>from the </a:t>
            </a:r>
            <a:r>
              <a:rPr lang="en" sz="1500" dirty="0">
                <a:solidFill>
                  <a:srgbClr val="FF0000"/>
                </a:solidFill>
              </a:rPr>
              <a:t>other end.</a:t>
            </a:r>
            <a:endParaRPr sz="1500">
              <a:solidFill>
                <a:srgbClr val="FF0000"/>
              </a:solidFill>
            </a:endParaRPr>
          </a:p>
          <a:p>
            <a:pPr marL="137160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 dirty="0">
                <a:solidFill>
                  <a:schemeClr val="dk1"/>
                </a:solidFill>
              </a:rPr>
              <a:t>two types of pipe</a:t>
            </a:r>
            <a:endParaRPr sz="1500">
              <a:solidFill>
                <a:schemeClr val="dk1"/>
              </a:solidFill>
            </a:endParaRPr>
          </a:p>
          <a:p>
            <a:pPr marL="18288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dirty="0">
                <a:solidFill>
                  <a:srgbClr val="FF0000"/>
                </a:solidFill>
              </a:rPr>
              <a:t>Named pipes(FIFOs</a:t>
            </a:r>
            <a:r>
              <a:rPr lang="en" sz="1500" dirty="0">
                <a:solidFill>
                  <a:schemeClr val="dk1"/>
                </a:solidFill>
              </a:rPr>
              <a:t>).: allows for communication </a:t>
            </a:r>
            <a:r>
              <a:rPr lang="en" sz="1500" dirty="0">
                <a:solidFill>
                  <a:srgbClr val="FF0000"/>
                </a:solidFill>
              </a:rPr>
              <a:t>between unrelated processes</a:t>
            </a:r>
            <a:endParaRPr sz="1500">
              <a:solidFill>
                <a:srgbClr val="FF0000"/>
              </a:solidFill>
            </a:endParaRPr>
          </a:p>
          <a:p>
            <a:pPr marL="18288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 </a:t>
            </a:r>
            <a:r>
              <a:rPr lang="en" sz="1500" dirty="0">
                <a:solidFill>
                  <a:srgbClr val="FF0000"/>
                </a:solidFill>
              </a:rPr>
              <a:t>Unnamed pipes (</a:t>
            </a:r>
            <a:r>
              <a:rPr lang="en" sz="1500" dirty="0">
                <a:solidFill>
                  <a:schemeClr val="dk1"/>
                </a:solidFill>
              </a:rPr>
              <a:t>Anonymous pipes):used only between </a:t>
            </a:r>
            <a:r>
              <a:rPr lang="en" sz="1500" dirty="0">
                <a:solidFill>
                  <a:srgbClr val="FF0000"/>
                </a:solidFill>
              </a:rPr>
              <a:t>related processes </a:t>
            </a:r>
            <a:r>
              <a:rPr lang="en" sz="1500" dirty="0">
                <a:solidFill>
                  <a:schemeClr val="dk1"/>
                </a:solidFill>
              </a:rPr>
              <a:t>which can inherit the file handles (file descriptors)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 dirty="0">
                <a:solidFill>
                  <a:srgbClr val="FF0000"/>
                </a:solidFill>
              </a:rPr>
              <a:t>Shared memory</a:t>
            </a:r>
            <a:endParaRPr sz="1500">
              <a:solidFill>
                <a:srgbClr val="FF0000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 dirty="0">
                <a:solidFill>
                  <a:srgbClr val="FF0000"/>
                </a:solidFill>
              </a:rPr>
              <a:t>Messages</a:t>
            </a:r>
            <a:endParaRPr sz="1500">
              <a:solidFill>
                <a:srgbClr val="FF0000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 dirty="0">
                <a:solidFill>
                  <a:srgbClr val="FF0000"/>
                </a:solidFill>
              </a:rPr>
              <a:t>Sockets</a:t>
            </a:r>
            <a:endParaRPr sz="15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74575"/>
            <a:ext cx="8520600" cy="48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Named pipe:</a:t>
            </a:r>
            <a:endParaRPr b="1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FIFO creation: </a:t>
            </a:r>
            <a:r>
              <a:rPr lang="en" sz="1600" dirty="0">
                <a:solidFill>
                  <a:schemeClr val="dk1"/>
                </a:solidFill>
              </a:rPr>
              <a:t> we can use either </a:t>
            </a:r>
            <a:r>
              <a:rPr lang="en" sz="1600" i="1" dirty="0">
                <a:solidFill>
                  <a:schemeClr val="dk1"/>
                </a:solidFill>
              </a:rPr>
              <a:t>mknod</a:t>
            </a:r>
            <a:r>
              <a:rPr lang="en" sz="1600" dirty="0">
                <a:solidFill>
                  <a:schemeClr val="dk1"/>
                </a:solidFill>
              </a:rPr>
              <a:t> or </a:t>
            </a:r>
            <a:r>
              <a:rPr lang="en" sz="1600" i="1" dirty="0">
                <a:solidFill>
                  <a:schemeClr val="dk1"/>
                </a:solidFill>
              </a:rPr>
              <a:t>mkfifo</a:t>
            </a:r>
            <a:r>
              <a:rPr lang="en" sz="1600" dirty="0">
                <a:solidFill>
                  <a:schemeClr val="dk1"/>
                </a:solidFill>
              </a:rPr>
              <a:t> commands. 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600"/>
              <a:buChar char="○"/>
            </a:pPr>
            <a:r>
              <a:rPr lang="en" sz="1600" b="1" dirty="0">
                <a:solidFill>
                  <a:srgbClr val="073763"/>
                </a:solidFill>
              </a:rPr>
              <a:t>int mkfifo ( const char *pathname, mode_t mode );</a:t>
            </a:r>
            <a:endParaRPr sz="1600" b="1">
              <a:solidFill>
                <a:srgbClr val="073763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600"/>
              <a:buChar char="○"/>
            </a:pPr>
            <a:r>
              <a:rPr lang="en" sz="1600" b="1" dirty="0">
                <a:solidFill>
                  <a:srgbClr val="073763"/>
                </a:solidFill>
              </a:rPr>
              <a:t>int mknod(const char *filename, mode_t mode|S_IFIFO,(dev_t) 0);</a:t>
            </a:r>
            <a:endParaRPr sz="1600" b="1">
              <a:solidFill>
                <a:srgbClr val="073763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Accessing FIFO:using low-level I/O functions or C library I/O functions.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1561" y="1696436"/>
            <a:ext cx="2533650" cy="3447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45979" y="1779370"/>
            <a:ext cx="3200400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74943" y="1807945"/>
            <a:ext cx="3038475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120875"/>
            <a:ext cx="8520600" cy="50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Unnamed pipe:</a:t>
            </a:r>
            <a:endParaRPr b="1"/>
          </a:p>
          <a:p>
            <a:pPr marL="914400" lvl="0" indent="-3619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"pipe" two programs: standard output from one program is redirected to the pipe input (write handle), 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the standard input of the second program is redirected to from the pipe output (read handle).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pipes: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#include&lt;unistd.h&gt;</a:t>
            </a:r>
            <a:endParaRPr sz="2100"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pipe(int file_descriptor[2]);</a:t>
            </a:r>
            <a:endParaRPr sz="2100"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619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 call is to open a new file descriptor, which will refer to the same file as an existing file descriptor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dup2(int file_descriptor_1, int file_descriptor_2);</a:t>
            </a:r>
            <a:endParaRPr sz="2100"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6385" y="470010"/>
            <a:ext cx="3324225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95068" y="308249"/>
            <a:ext cx="45910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11618" y="2857500"/>
            <a:ext cx="4191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43255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Shared Memory:</a:t>
            </a:r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311700" y="483375"/>
            <a:ext cx="8520600" cy="46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allows two </a:t>
            </a:r>
            <a:r>
              <a:rPr lang="en" sz="1500" dirty="0">
                <a:solidFill>
                  <a:srgbClr val="FF0000"/>
                </a:solidFill>
              </a:rPr>
              <a:t>unrelated processes </a:t>
            </a:r>
            <a:r>
              <a:rPr lang="en" sz="1500" dirty="0">
                <a:solidFill>
                  <a:schemeClr val="tx1"/>
                </a:solidFill>
              </a:rPr>
              <a:t>to access the </a:t>
            </a:r>
            <a:r>
              <a:rPr lang="en" sz="1500" dirty="0">
                <a:solidFill>
                  <a:srgbClr val="FF0000"/>
                </a:solidFill>
              </a:rPr>
              <a:t>same logical memory. </a:t>
            </a:r>
            <a:endParaRPr sz="1500">
              <a:solidFill>
                <a:srgbClr val="FF0000"/>
              </a:solidFill>
            </a:endParaRPr>
          </a:p>
          <a:p>
            <a:pPr lvl="0" indent="-323850">
              <a:buSzPts val="1500"/>
            </a:pPr>
            <a:r>
              <a:rPr lang="en" sz="1500" dirty="0">
                <a:solidFill>
                  <a:schemeClr val="tx1"/>
                </a:solidFill>
              </a:rPr>
              <a:t>It is </a:t>
            </a:r>
            <a:r>
              <a:rPr lang="en" sz="1500" dirty="0" smtClean="0">
                <a:solidFill>
                  <a:schemeClr val="tx1"/>
                </a:solidFill>
              </a:rPr>
              <a:t>the</a:t>
            </a:r>
            <a:r>
              <a:rPr lang="en" sz="1500" dirty="0" smtClean="0">
                <a:solidFill>
                  <a:srgbClr val="FF0000"/>
                </a:solidFill>
              </a:rPr>
              <a:t>fastest form of IPC </a:t>
            </a:r>
            <a:r>
              <a:rPr lang="en" sz="1500" dirty="0" smtClean="0">
                <a:solidFill>
                  <a:schemeClr val="tx1"/>
                </a:solidFill>
              </a:rPr>
              <a:t> because </a:t>
            </a:r>
            <a:r>
              <a:rPr lang="en" sz="1500" dirty="0">
                <a:solidFill>
                  <a:schemeClr val="tx1"/>
                </a:solidFill>
              </a:rPr>
              <a:t>all processes share the same piece of memory. </a:t>
            </a:r>
            <a:endParaRPr sz="1500">
              <a:solidFill>
                <a:schemeClr val="tx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It also avoids </a:t>
            </a:r>
            <a:r>
              <a:rPr lang="en" sz="1500" dirty="0">
                <a:solidFill>
                  <a:srgbClr val="FF0000"/>
                </a:solidFill>
              </a:rPr>
              <a:t>copying data unnecessarily</a:t>
            </a:r>
            <a:r>
              <a:rPr lang="en" sz="1500" dirty="0">
                <a:solidFill>
                  <a:schemeClr val="tx1"/>
                </a:solidFill>
              </a:rPr>
              <a:t>.</a:t>
            </a:r>
            <a:endParaRPr sz="1500">
              <a:solidFill>
                <a:schemeClr val="tx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To use the shared memory, </a:t>
            </a:r>
            <a:endParaRPr sz="1500">
              <a:solidFill>
                <a:schemeClr val="tx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>
                <a:solidFill>
                  <a:schemeClr val="tx1"/>
                </a:solidFill>
              </a:rPr>
              <a:t>first of all </a:t>
            </a:r>
            <a:r>
              <a:rPr lang="en" sz="1500" dirty="0">
                <a:solidFill>
                  <a:srgbClr val="FF0000"/>
                </a:solidFill>
              </a:rPr>
              <a:t>one process should allocate the segment</a:t>
            </a:r>
            <a:r>
              <a:rPr lang="en" sz="1500" dirty="0">
                <a:solidFill>
                  <a:schemeClr val="tx1"/>
                </a:solidFill>
              </a:rPr>
              <a:t>, </a:t>
            </a:r>
            <a:endParaRPr sz="1500">
              <a:solidFill>
                <a:schemeClr val="tx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>
                <a:solidFill>
                  <a:schemeClr val="tx1"/>
                </a:solidFill>
              </a:rPr>
              <a:t>and then each process </a:t>
            </a:r>
            <a:r>
              <a:rPr lang="en" sz="1500" dirty="0">
                <a:solidFill>
                  <a:srgbClr val="FF0000"/>
                </a:solidFill>
              </a:rPr>
              <a:t>desiring to access </a:t>
            </a:r>
            <a:r>
              <a:rPr lang="en" sz="1500" dirty="0">
                <a:solidFill>
                  <a:schemeClr val="tx1"/>
                </a:solidFill>
              </a:rPr>
              <a:t>the segment should </a:t>
            </a:r>
            <a:r>
              <a:rPr lang="en" sz="1500" dirty="0">
                <a:solidFill>
                  <a:srgbClr val="FF0000"/>
                </a:solidFill>
              </a:rPr>
              <a:t>attach</a:t>
            </a:r>
            <a:r>
              <a:rPr lang="en" sz="1500" dirty="0">
                <a:solidFill>
                  <a:schemeClr val="tx1"/>
                </a:solidFill>
              </a:rPr>
              <a:t> the segment. </a:t>
            </a:r>
            <a:endParaRPr sz="1500">
              <a:solidFill>
                <a:schemeClr val="tx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>
                <a:solidFill>
                  <a:schemeClr val="tx1"/>
                </a:solidFill>
              </a:rPr>
              <a:t>After accessing the segment, each process </a:t>
            </a:r>
            <a:r>
              <a:rPr lang="en" sz="1500" dirty="0">
                <a:solidFill>
                  <a:srgbClr val="FF0000"/>
                </a:solidFill>
              </a:rPr>
              <a:t>should detach it.</a:t>
            </a:r>
            <a:endParaRPr sz="1500">
              <a:solidFill>
                <a:srgbClr val="FF0000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>
                <a:solidFill>
                  <a:schemeClr val="tx1"/>
                </a:solidFill>
              </a:rPr>
              <a:t> It is also necessary </a:t>
            </a:r>
            <a:r>
              <a:rPr lang="en" sz="1500" dirty="0">
                <a:solidFill>
                  <a:srgbClr val="FF0000"/>
                </a:solidFill>
              </a:rPr>
              <a:t>to deallocate </a:t>
            </a:r>
            <a:r>
              <a:rPr lang="en" sz="1500" dirty="0" smtClean="0">
                <a:solidFill>
                  <a:srgbClr val="FF0000"/>
                </a:solidFill>
              </a:rPr>
              <a:t>the segment without fail</a:t>
            </a:r>
            <a:r>
              <a:rPr lang="en" sz="1500" dirty="0">
                <a:solidFill>
                  <a:srgbClr val="FF0000"/>
                </a:solidFill>
              </a:rPr>
              <a:t>.</a:t>
            </a:r>
            <a:endParaRPr sz="1500">
              <a:solidFill>
                <a:srgbClr val="FF0000"/>
              </a:solidFill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Shmget</a:t>
            </a:r>
            <a:r>
              <a:rPr lang="en" sz="1500" dirty="0"/>
              <a:t> :</a:t>
            </a:r>
            <a:r>
              <a:rPr lang="en" sz="1500" dirty="0">
                <a:solidFill>
                  <a:schemeClr val="tx1"/>
                </a:solidFill>
              </a:rPr>
              <a:t>Open and create a shared memory.</a:t>
            </a:r>
            <a:endParaRPr sz="1500">
              <a:solidFill>
                <a:schemeClr val="tx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</a:rPr>
              <a:t>#include&lt;sys/types.h&gt; #include&lt;sys/ipc.h&gt; #include&lt;sys/shm.h&gt;</a:t>
            </a:r>
            <a:endParaRPr sz="1500">
              <a:solidFill>
                <a:srgbClr val="FF0000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</a:rPr>
              <a:t>int shmget ( key_t key, int size, int flag );</a:t>
            </a:r>
            <a:endParaRPr sz="1500">
              <a:solidFill>
                <a:srgbClr val="FF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b="1" dirty="0">
                <a:solidFill>
                  <a:schemeClr val="tx1"/>
                </a:solidFill>
              </a:rPr>
              <a:t>Shmat   :  </a:t>
            </a:r>
            <a:r>
              <a:rPr lang="en" sz="1500" dirty="0">
                <a:solidFill>
                  <a:schemeClr val="tx1"/>
                </a:solidFill>
              </a:rPr>
              <a:t>Attach a shared  memory to a process virtual address space</a:t>
            </a:r>
            <a:endParaRPr sz="1500">
              <a:solidFill>
                <a:schemeClr val="tx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</a:rPr>
              <a:t>void * shmat ( int shmid, void *addr, int flag );</a:t>
            </a:r>
            <a:endParaRPr sz="1500">
              <a:solidFill>
                <a:srgbClr val="FF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b="1" dirty="0">
                <a:solidFill>
                  <a:schemeClr val="tx1"/>
                </a:solidFill>
              </a:rPr>
              <a:t>Shmdt  : </a:t>
            </a:r>
            <a:r>
              <a:rPr lang="en" sz="1500" dirty="0">
                <a:solidFill>
                  <a:schemeClr val="tx1"/>
                </a:solidFill>
              </a:rPr>
              <a:t>Detach a shared memory from the process virtual address space.</a:t>
            </a:r>
            <a:endParaRPr sz="1500">
              <a:solidFill>
                <a:schemeClr val="tx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</a:rPr>
              <a:t>shmdt ( void *addr );</a:t>
            </a:r>
            <a:endParaRPr sz="1500">
              <a:solidFill>
                <a:srgbClr val="FF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b="1" dirty="0">
                <a:solidFill>
                  <a:schemeClr val="tx1"/>
                </a:solidFill>
              </a:rPr>
              <a:t>Shmctl:    </a:t>
            </a:r>
            <a:r>
              <a:rPr lang="en" sz="1500" dirty="0">
                <a:solidFill>
                  <a:schemeClr val="tx1"/>
                </a:solidFill>
              </a:rPr>
              <a:t>Query or change control data of a shared memory or delete the memory.</a:t>
            </a:r>
            <a:endParaRPr sz="1500">
              <a:solidFill>
                <a:schemeClr val="tx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FF0000"/>
                </a:solidFill>
              </a:rPr>
              <a:t>int shmctl ( int shmid, int cmd, struct shmid_ds *buf );</a:t>
            </a:r>
            <a:endParaRPr sz="15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9134" y="0"/>
            <a:ext cx="216217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7310" y="1641913"/>
            <a:ext cx="3762375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025463"/>
            <a:ext cx="3324225" cy="111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197897" y="0"/>
            <a:ext cx="211455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84749" y="1171904"/>
            <a:ext cx="216217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101499" y="2819400"/>
            <a:ext cx="2790825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324600" y="1086672"/>
            <a:ext cx="2819400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227450" y="54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Message queue</a:t>
            </a:r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311700" y="557725"/>
            <a:ext cx="8520600" cy="43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Char char="●"/>
            </a:pPr>
            <a:r>
              <a:rPr lang="en" sz="1360" dirty="0">
                <a:solidFill>
                  <a:schemeClr val="dk1"/>
                </a:solidFill>
              </a:rPr>
              <a:t>e</a:t>
            </a:r>
            <a:r>
              <a:rPr lang="en" sz="1500" dirty="0">
                <a:solidFill>
                  <a:schemeClr val="dk1"/>
                </a:solidFill>
              </a:rPr>
              <a:t>asy way of passing </a:t>
            </a:r>
            <a:r>
              <a:rPr lang="en" sz="1500" dirty="0">
                <a:solidFill>
                  <a:srgbClr val="FF0000"/>
                </a:solidFill>
              </a:rPr>
              <a:t>message between two process. </a:t>
            </a:r>
            <a:endParaRPr sz="1500">
              <a:solidFill>
                <a:srgbClr val="FF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provides a way </a:t>
            </a:r>
            <a:r>
              <a:rPr lang="en" sz="1500" dirty="0">
                <a:solidFill>
                  <a:srgbClr val="FF0000"/>
                </a:solidFill>
              </a:rPr>
              <a:t>of sending a block of data </a:t>
            </a:r>
            <a:r>
              <a:rPr lang="en" sz="1500" dirty="0">
                <a:solidFill>
                  <a:schemeClr val="dk1"/>
                </a:solidFill>
              </a:rPr>
              <a:t>from one process to another.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 Advantage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 dirty="0">
                <a:solidFill>
                  <a:schemeClr val="dk1"/>
                </a:solidFill>
              </a:rPr>
              <a:t> each block of data is considered to </a:t>
            </a:r>
            <a:r>
              <a:rPr lang="en" sz="1500" dirty="0">
                <a:solidFill>
                  <a:srgbClr val="FF0000"/>
                </a:solidFill>
              </a:rPr>
              <a:t>have a type, </a:t>
            </a:r>
            <a:endParaRPr sz="1500">
              <a:solidFill>
                <a:srgbClr val="FF0000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 dirty="0">
                <a:solidFill>
                  <a:schemeClr val="dk1"/>
                </a:solidFill>
              </a:rPr>
              <a:t>and a receiving process </a:t>
            </a:r>
            <a:r>
              <a:rPr lang="en" sz="1500" dirty="0">
                <a:solidFill>
                  <a:srgbClr val="FF0000"/>
                </a:solidFill>
              </a:rPr>
              <a:t>receives the blocks of data </a:t>
            </a:r>
            <a:r>
              <a:rPr lang="en" sz="1500" dirty="0">
                <a:solidFill>
                  <a:schemeClr val="dk1"/>
                </a:solidFill>
              </a:rPr>
              <a:t>having different </a:t>
            </a:r>
            <a:r>
              <a:rPr lang="en" sz="1500" dirty="0">
                <a:solidFill>
                  <a:srgbClr val="FF0000"/>
                </a:solidFill>
              </a:rPr>
              <a:t>type values independently</a:t>
            </a:r>
            <a:endParaRPr sz="1500">
              <a:solidFill>
                <a:srgbClr val="FF0000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You can create and access a message queue using the msgget() function. </a:t>
            </a:r>
            <a:r>
              <a:rPr lang="en" sz="1500" dirty="0">
                <a:solidFill>
                  <a:srgbClr val="FF0000"/>
                </a:solidFill>
              </a:rPr>
              <a:t>#include&lt;sys/msg.h&gt;</a:t>
            </a:r>
            <a:endParaRPr sz="1500">
              <a:solidFill>
                <a:srgbClr val="FF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500" dirty="0">
                <a:solidFill>
                  <a:srgbClr val="FF0000"/>
                </a:solidFill>
              </a:rPr>
              <a:t>int msgget(key_t key,int msgflg);</a:t>
            </a:r>
            <a:endParaRPr sz="1500">
              <a:solidFill>
                <a:srgbClr val="FF0000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The msgsnd() function allows to add a message to a message queue.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None/>
            </a:pPr>
            <a:r>
              <a:rPr lang="en" sz="1500" dirty="0" smtClean="0">
                <a:solidFill>
                  <a:srgbClr val="FF0000"/>
                </a:solidFill>
              </a:rPr>
              <a:t>	 </a:t>
            </a:r>
            <a:r>
              <a:rPr lang="en" sz="1500" dirty="0">
                <a:solidFill>
                  <a:srgbClr val="FF0000"/>
                </a:solidFill>
              </a:rPr>
              <a:t>#include&lt;sys/msg.h&gt;</a:t>
            </a:r>
            <a:endParaRPr sz="1500">
              <a:solidFill>
                <a:srgbClr val="FF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500" dirty="0">
                <a:solidFill>
                  <a:srgbClr val="FF0000"/>
                </a:solidFill>
              </a:rPr>
              <a:t>int msgsnd(int msqid,const void *msg_ptr ,size_t msg_sz,int msgflg);</a:t>
            </a:r>
            <a:endParaRPr sz="1500">
              <a:solidFill>
                <a:srgbClr val="FF0000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control function of shared memory.</a:t>
            </a:r>
            <a:endParaRPr sz="1500">
              <a:solidFill>
                <a:schemeClr val="dk1"/>
              </a:solidFill>
            </a:endParaRPr>
          </a:p>
          <a:p>
            <a:pPr marL="457200" marR="2442301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</a:rPr>
              <a:t>int msgctl(int msgid,int command, struct msqid_ds *buf);</a:t>
            </a:r>
            <a:endParaRPr sz="1500">
              <a:solidFill>
                <a:srgbClr val="FF0000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The msgrcv() function allows to remove a message from a message queue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</a:rPr>
              <a:t>int msgrcv(int msgid, const void *msgp, size_t msgsz, long msgtype, int msgflg)</a:t>
            </a:r>
            <a:endParaRPr sz="1500">
              <a:solidFill>
                <a:srgbClr val="FF0000"/>
              </a:solidFill>
            </a:endParaRPr>
          </a:p>
          <a:p>
            <a:pPr marL="457200" marR="2442301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endParaRPr sz="150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endParaRPr sz="1400"/>
          </a:p>
        </p:txBody>
      </p:sp>
      <p:sp>
        <p:nvSpPr>
          <p:cNvPr id="95" name="Google Shape;95;p20"/>
          <p:cNvSpPr txBox="1"/>
          <p:nvPr/>
        </p:nvSpPr>
        <p:spPr>
          <a:xfrm>
            <a:off x="7337225" y="396600"/>
            <a:ext cx="1834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9900"/>
                </a:solidFill>
                <a:highlight>
                  <a:srgbClr val="EEEEEE"/>
                </a:highlight>
              </a:rPr>
              <a:t>struct msgbuf {</a:t>
            </a:r>
            <a:endParaRPr b="1">
              <a:solidFill>
                <a:srgbClr val="FF9900"/>
              </a:solidFill>
              <a:highlight>
                <a:srgbClr val="EEEEEE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9900"/>
                </a:solidFill>
                <a:highlight>
                  <a:srgbClr val="EEEEEE"/>
                </a:highlight>
              </a:rPr>
              <a:t>   long mtype;</a:t>
            </a:r>
            <a:endParaRPr b="1">
              <a:solidFill>
                <a:srgbClr val="FF9900"/>
              </a:solidFill>
              <a:highlight>
                <a:srgbClr val="EEEEEE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9900"/>
                </a:solidFill>
                <a:highlight>
                  <a:srgbClr val="EEEEEE"/>
                </a:highlight>
              </a:rPr>
              <a:t>   char mtext[1];</a:t>
            </a:r>
            <a:endParaRPr b="1">
              <a:solidFill>
                <a:srgbClr val="FF9900"/>
              </a:solidFill>
              <a:highlight>
                <a:srgbClr val="EEEEEE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9900"/>
                </a:solidFill>
                <a:highlight>
                  <a:srgbClr val="EEEEEE"/>
                </a:highlight>
              </a:rPr>
              <a:t>};</a:t>
            </a:r>
            <a:endParaRPr b="1">
              <a:solidFill>
                <a:srgbClr val="FF99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2107" y="213491"/>
            <a:ext cx="1905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8330" y="1373079"/>
            <a:ext cx="13239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6688" y="2438071"/>
            <a:ext cx="2105025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188357" y="0"/>
            <a:ext cx="249555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298247" y="1635275"/>
            <a:ext cx="2762250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64825" y="0"/>
            <a:ext cx="1905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44757" y="1198908"/>
            <a:ext cx="13239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949740" y="2230023"/>
            <a:ext cx="275272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938478" y="3294900"/>
            <a:ext cx="27527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954642" y="4527682"/>
            <a:ext cx="27241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6655911" y="728335"/>
            <a:ext cx="2488089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Google Shape;111;p23"/>
          <p:cNvGraphicFramePr/>
          <p:nvPr/>
        </p:nvGraphicFramePr>
        <p:xfrm>
          <a:off x="0" y="0"/>
          <a:ext cx="9144000" cy="5143500"/>
        </p:xfrm>
        <a:graphic>
          <a:graphicData uri="http://schemas.openxmlformats.org/drawingml/2006/table">
            <a:tbl>
              <a:tblPr>
                <a:noFill/>
                <a:tableStyleId>{9CED181B-67CC-457A-A0E4-0DAC1F8A5F9A}</a:tableStyleId>
              </a:tblPr>
              <a:tblGrid>
                <a:gridCol w="4572000"/>
                <a:gridCol w="4572000"/>
              </a:tblGrid>
              <a:tr h="5143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14" name="Google Shape;114;p23"/>
          <p:cNvSpPr txBox="1"/>
          <p:nvPr/>
        </p:nvSpPr>
        <p:spPr>
          <a:xfrm>
            <a:off x="805600" y="123950"/>
            <a:ext cx="713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Connection oriented                                                                 Connection less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53435"/>
            <a:ext cx="8096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95006" y="614527"/>
            <a:ext cx="71437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6453" y="995854"/>
            <a:ext cx="81915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305504" y="1095211"/>
            <a:ext cx="91440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35814" y="1457490"/>
            <a:ext cx="6953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32378" y="1942772"/>
            <a:ext cx="7334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250161" y="2203560"/>
            <a:ext cx="9620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01995" y="2596220"/>
            <a:ext cx="8572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359158" y="3014334"/>
            <a:ext cx="35909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3435405" y="3890141"/>
            <a:ext cx="8858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148952" y="3945321"/>
            <a:ext cx="542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3" name="Picture 13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686129" y="3856805"/>
            <a:ext cx="279279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4" name="Picture 14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0" y="4278696"/>
            <a:ext cx="1066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5" name="Picture 15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147144" y="4529959"/>
            <a:ext cx="4151587" cy="61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6" name="Picture 16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4816695" y="526667"/>
            <a:ext cx="6667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7" name="Picture 17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7754828" y="535208"/>
            <a:ext cx="67627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8" name="Picture 18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4804049" y="942318"/>
            <a:ext cx="11334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9" name="Picture 19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7673373" y="963338"/>
            <a:ext cx="11334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40" name="Picture 20"/>
          <p:cNvPicPr>
            <a:picLocks noChangeAspect="1" noChangeArrowheads="1"/>
          </p:cNvPicPr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4674476" y="1410521"/>
            <a:ext cx="259080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41" name="Picture 21"/>
          <p:cNvPicPr>
            <a:picLocks noChangeAspect="1" noChangeArrowheads="1"/>
          </p:cNvPicPr>
          <p:nvPr/>
        </p:nvPicPr>
        <p:blipFill>
          <a:blip r:embed="rId21"/>
          <a:srcRect/>
          <a:stretch>
            <a:fillRect/>
          </a:stretch>
        </p:blipFill>
        <p:spPr bwMode="auto">
          <a:xfrm>
            <a:off x="7566956" y="1352221"/>
            <a:ext cx="9048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42" name="Picture 22"/>
          <p:cNvPicPr>
            <a:picLocks noChangeAspect="1" noChangeArrowheads="1"/>
          </p:cNvPicPr>
          <p:nvPr/>
        </p:nvPicPr>
        <p:blipFill>
          <a:blip r:embed="rId22"/>
          <a:srcRect/>
          <a:stretch>
            <a:fillRect/>
          </a:stretch>
        </p:blipFill>
        <p:spPr bwMode="auto">
          <a:xfrm>
            <a:off x="4832952" y="1878561"/>
            <a:ext cx="189547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43" name="Picture 23"/>
          <p:cNvPicPr>
            <a:picLocks noChangeAspect="1" noChangeArrowheads="1"/>
          </p:cNvPicPr>
          <p:nvPr/>
        </p:nvPicPr>
        <p:blipFill>
          <a:blip r:embed="rId23"/>
          <a:srcRect/>
          <a:stretch>
            <a:fillRect/>
          </a:stretch>
        </p:blipFill>
        <p:spPr bwMode="auto">
          <a:xfrm>
            <a:off x="7916917" y="2288793"/>
            <a:ext cx="10668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44" name="Picture 24"/>
          <p:cNvPicPr>
            <a:picLocks noChangeAspect="1" noChangeArrowheads="1"/>
          </p:cNvPicPr>
          <p:nvPr/>
        </p:nvPicPr>
        <p:blipFill>
          <a:blip r:embed="rId24"/>
          <a:srcRect/>
          <a:stretch>
            <a:fillRect/>
          </a:stretch>
        </p:blipFill>
        <p:spPr bwMode="auto">
          <a:xfrm>
            <a:off x="4649350" y="2312769"/>
            <a:ext cx="11906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45" name="Picture 25"/>
          <p:cNvPicPr>
            <a:picLocks noChangeAspect="1" noChangeArrowheads="1"/>
          </p:cNvPicPr>
          <p:nvPr/>
        </p:nvPicPr>
        <p:blipFill>
          <a:blip r:embed="rId25"/>
          <a:srcRect/>
          <a:stretch>
            <a:fillRect/>
          </a:stretch>
        </p:blipFill>
        <p:spPr bwMode="auto">
          <a:xfrm>
            <a:off x="5612524" y="2107653"/>
            <a:ext cx="2175641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46" name="Picture 26"/>
          <p:cNvPicPr>
            <a:picLocks noChangeAspect="1" noChangeArrowheads="1"/>
          </p:cNvPicPr>
          <p:nvPr/>
        </p:nvPicPr>
        <p:blipFill>
          <a:blip r:embed="rId26"/>
          <a:srcRect/>
          <a:stretch>
            <a:fillRect/>
          </a:stretch>
        </p:blipFill>
        <p:spPr bwMode="auto">
          <a:xfrm>
            <a:off x="4877129" y="2873266"/>
            <a:ext cx="8191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47" name="Picture 27"/>
          <p:cNvPicPr>
            <a:picLocks noChangeAspect="1" noChangeArrowheads="1"/>
          </p:cNvPicPr>
          <p:nvPr/>
        </p:nvPicPr>
        <p:blipFill>
          <a:blip r:embed="rId27"/>
          <a:srcRect/>
          <a:stretch>
            <a:fillRect/>
          </a:stretch>
        </p:blipFill>
        <p:spPr bwMode="auto">
          <a:xfrm>
            <a:off x="4610428" y="3410279"/>
            <a:ext cx="440055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5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body" idx="1"/>
          </p:nvPr>
        </p:nvSpPr>
        <p:spPr>
          <a:xfrm>
            <a:off x="126124" y="0"/>
            <a:ext cx="9017876" cy="49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" b="1" dirty="0" smtClean="0">
                <a:solidFill>
                  <a:srgbClr val="FF0000"/>
                </a:solidFill>
              </a:rPr>
              <a:t>Sockets:</a:t>
            </a:r>
          </a:p>
          <a:p>
            <a:pPr marL="0" indent="0"/>
            <a:r>
              <a:rPr lang="en-US" dirty="0" smtClean="0">
                <a:solidFill>
                  <a:schemeClr val="tx1"/>
                </a:solidFill>
              </a:rPr>
              <a:t>A socket is </a:t>
            </a:r>
            <a:r>
              <a:rPr lang="en-US" dirty="0" smtClean="0">
                <a:solidFill>
                  <a:srgbClr val="FF0000"/>
                </a:solidFill>
              </a:rPr>
              <a:t>a communication mechanism</a:t>
            </a:r>
            <a:r>
              <a:rPr lang="en-US" dirty="0" smtClean="0">
                <a:solidFill>
                  <a:schemeClr val="tx1"/>
                </a:solidFill>
              </a:rPr>
              <a:t> that allows client/server systems to be </a:t>
            </a:r>
            <a:r>
              <a:rPr lang="en-US" dirty="0" smtClean="0">
                <a:solidFill>
                  <a:srgbClr val="FF0000"/>
                </a:solidFill>
              </a:rPr>
              <a:t>developed either locally, on a single machine, or across networks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0" indent="0"/>
            <a:r>
              <a:rPr lang="en-US" dirty="0" smtClean="0">
                <a:solidFill>
                  <a:schemeClr val="tx1"/>
                </a:solidFill>
              </a:rPr>
              <a:t>The socket mechanism can </a:t>
            </a:r>
            <a:r>
              <a:rPr lang="en-US" dirty="0" smtClean="0">
                <a:solidFill>
                  <a:srgbClr val="FF0000"/>
                </a:solidFill>
              </a:rPr>
              <a:t>implement multiple clients </a:t>
            </a:r>
            <a:r>
              <a:rPr lang="en-US" dirty="0" smtClean="0">
                <a:solidFill>
                  <a:schemeClr val="tx1"/>
                </a:solidFill>
              </a:rPr>
              <a:t>attached </a:t>
            </a:r>
            <a:r>
              <a:rPr lang="en-US" dirty="0" smtClean="0">
                <a:solidFill>
                  <a:srgbClr val="FF0000"/>
                </a:solidFill>
              </a:rPr>
              <a:t>to a single server</a:t>
            </a:r>
          </a:p>
          <a:p>
            <a:pPr marL="0" indent="0"/>
            <a:r>
              <a:rPr lang="en-US" dirty="0" smtClean="0">
                <a:solidFill>
                  <a:schemeClr val="tx1"/>
                </a:solidFill>
              </a:rPr>
              <a:t>Sockets are </a:t>
            </a:r>
            <a:r>
              <a:rPr lang="en-US" dirty="0" smtClean="0">
                <a:solidFill>
                  <a:srgbClr val="FF0000"/>
                </a:solidFill>
              </a:rPr>
              <a:t>characterized by three attributes: domain, type, and protocols</a:t>
            </a:r>
          </a:p>
          <a:p>
            <a:pPr marL="0" indent="0"/>
            <a:r>
              <a:rPr lang="en-US" dirty="0" smtClean="0">
                <a:solidFill>
                  <a:schemeClr val="tx1"/>
                </a:solidFill>
              </a:rPr>
              <a:t>The formats of the addresses vary </a:t>
            </a:r>
            <a:r>
              <a:rPr lang="en-US" dirty="0" smtClean="0">
                <a:solidFill>
                  <a:srgbClr val="FF0000"/>
                </a:solidFill>
              </a:rPr>
              <a:t>depending on the domain</a:t>
            </a:r>
            <a:r>
              <a:rPr lang="en-US" dirty="0" smtClean="0">
                <a:solidFill>
                  <a:schemeClr val="tx1"/>
                </a:solidFill>
              </a:rPr>
              <a:t>, also known as the </a:t>
            </a:r>
            <a:r>
              <a:rPr lang="en-US" dirty="0" smtClean="0">
                <a:solidFill>
                  <a:srgbClr val="FF0000"/>
                </a:solidFill>
              </a:rPr>
              <a:t>protocol family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Creating a Socket: 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socket(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domain, 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type, 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protocol);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#include&lt;sys/types/h&gt;    #include&lt;sys/</a:t>
            </a:r>
            <a:r>
              <a:rPr lang="en-US" dirty="0" err="1" smtClean="0">
                <a:solidFill>
                  <a:schemeClr val="tx1"/>
                </a:solidFill>
              </a:rPr>
              <a:t>socket.h</a:t>
            </a:r>
            <a:r>
              <a:rPr lang="en-US" dirty="0" smtClean="0">
                <a:solidFill>
                  <a:schemeClr val="tx1"/>
                </a:solidFill>
              </a:rPr>
              <a:t>&gt;</a:t>
            </a:r>
          </a:p>
          <a:p>
            <a:pPr marL="0" lvl="0" indent="0">
              <a:buNone/>
            </a:pPr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5021" y="2910892"/>
            <a:ext cx="6585386" cy="223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0"/>
            <a:ext cx="8975834" cy="500292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The socket </a:t>
            </a:r>
            <a:r>
              <a:rPr lang="en-US" dirty="0" smtClean="0">
                <a:solidFill>
                  <a:srgbClr val="FF0000"/>
                </a:solidFill>
              </a:rPr>
              <a:t>parameter type </a:t>
            </a:r>
            <a:r>
              <a:rPr lang="en-US" dirty="0" smtClean="0">
                <a:solidFill>
                  <a:schemeClr val="tx1"/>
                </a:solidFill>
              </a:rPr>
              <a:t>specifies the </a:t>
            </a:r>
            <a:r>
              <a:rPr lang="en-US" dirty="0" smtClean="0">
                <a:solidFill>
                  <a:srgbClr val="FF0000"/>
                </a:solidFill>
              </a:rPr>
              <a:t>communication characteristics </a:t>
            </a:r>
            <a:r>
              <a:rPr lang="en-US" dirty="0" smtClean="0">
                <a:solidFill>
                  <a:schemeClr val="tx1"/>
                </a:solidFill>
              </a:rPr>
              <a:t>to be used for the new socket.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SOCK_STREAM </a:t>
            </a:r>
            <a:r>
              <a:rPr lang="en-US" dirty="0" smtClean="0">
                <a:solidFill>
                  <a:schemeClr val="tx1"/>
                </a:solidFill>
              </a:rPr>
              <a:t>is a sequenced, reliable, </a:t>
            </a:r>
            <a:r>
              <a:rPr lang="en-US" dirty="0" smtClean="0">
                <a:solidFill>
                  <a:srgbClr val="FF0000"/>
                </a:solidFill>
              </a:rPr>
              <a:t>connection-based two-way </a:t>
            </a:r>
            <a:r>
              <a:rPr lang="en-US" dirty="0" smtClean="0">
                <a:solidFill>
                  <a:schemeClr val="tx1"/>
                </a:solidFill>
              </a:rPr>
              <a:t>byte stream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SOCK_DGRAM</a:t>
            </a:r>
            <a:r>
              <a:rPr lang="en-US" dirty="0" smtClean="0">
                <a:solidFill>
                  <a:schemeClr val="tx1"/>
                </a:solidFill>
              </a:rPr>
              <a:t> is a </a:t>
            </a:r>
            <a:r>
              <a:rPr lang="en-US" dirty="0" smtClean="0">
                <a:solidFill>
                  <a:srgbClr val="FF0000"/>
                </a:solidFill>
              </a:rPr>
              <a:t>datagram service</a:t>
            </a:r>
            <a:r>
              <a:rPr lang="en-US" dirty="0" smtClean="0">
                <a:solidFill>
                  <a:schemeClr val="tx1"/>
                </a:solidFill>
              </a:rPr>
              <a:t>, this type of communication is provided by UDP </a:t>
            </a:r>
            <a:r>
              <a:rPr lang="en-US" dirty="0" err="1" smtClean="0">
                <a:solidFill>
                  <a:schemeClr val="tx1"/>
                </a:solidFill>
              </a:rPr>
              <a:t>datagrams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Socket Addresses: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Each </a:t>
            </a:r>
            <a:r>
              <a:rPr lang="en-US" dirty="0" smtClean="0">
                <a:solidFill>
                  <a:srgbClr val="FF0000"/>
                </a:solidFill>
              </a:rPr>
              <a:t>socket domain</a:t>
            </a:r>
            <a:r>
              <a:rPr lang="en-US" dirty="0" smtClean="0">
                <a:solidFill>
                  <a:schemeClr val="tx1"/>
                </a:solidFill>
              </a:rPr>
              <a:t> requires </a:t>
            </a:r>
            <a:r>
              <a:rPr lang="en-US" dirty="0" smtClean="0">
                <a:solidFill>
                  <a:srgbClr val="FF0000"/>
                </a:solidFill>
              </a:rPr>
              <a:t>its own address format</a:t>
            </a:r>
            <a:r>
              <a:rPr lang="en-US" dirty="0" smtClean="0">
                <a:solidFill>
                  <a:schemeClr val="tx1"/>
                </a:solidFill>
              </a:rPr>
              <a:t>.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For an </a:t>
            </a:r>
            <a:r>
              <a:rPr lang="en-US" dirty="0" smtClean="0">
                <a:solidFill>
                  <a:srgbClr val="FF0000"/>
                </a:solidFill>
              </a:rPr>
              <a:t>AF_UNIX socket</a:t>
            </a:r>
            <a:r>
              <a:rPr lang="en-US" dirty="0" smtClean="0">
                <a:solidFill>
                  <a:schemeClr val="tx1"/>
                </a:solidFill>
              </a:rPr>
              <a:t>, the address is described by a structure, </a:t>
            </a:r>
            <a:r>
              <a:rPr lang="en-US" dirty="0" err="1" smtClean="0">
                <a:solidFill>
                  <a:schemeClr val="tx1"/>
                </a:solidFill>
              </a:rPr>
              <a:t>sockaddr_un</a:t>
            </a:r>
            <a:r>
              <a:rPr lang="en-US" dirty="0" smtClean="0">
                <a:solidFill>
                  <a:schemeClr val="tx1"/>
                </a:solidFill>
              </a:rPr>
              <a:t>, defined in the sys/</a:t>
            </a:r>
            <a:r>
              <a:rPr lang="en-US" dirty="0" err="1" smtClean="0">
                <a:solidFill>
                  <a:schemeClr val="tx1"/>
                </a:solidFill>
              </a:rPr>
              <a:t>un.h</a:t>
            </a:r>
            <a:r>
              <a:rPr lang="en-US" dirty="0" smtClean="0">
                <a:solidFill>
                  <a:schemeClr val="tx1"/>
                </a:solidFill>
              </a:rPr>
              <a:t> include file. </a:t>
            </a:r>
          </a:p>
          <a:p>
            <a:pPr lvl="1"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struct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sockaddr_un</a:t>
            </a:r>
            <a:r>
              <a:rPr lang="en-US" dirty="0" smtClean="0">
                <a:solidFill>
                  <a:schemeClr val="tx1"/>
                </a:solidFill>
              </a:rPr>
              <a:t>  {</a:t>
            </a:r>
          </a:p>
          <a:p>
            <a:pPr lvl="1">
              <a:buNone/>
            </a:pPr>
            <a:r>
              <a:rPr lang="en-US" dirty="0" smtClean="0">
                <a:solidFill>
                  <a:schemeClr val="tx1"/>
                </a:solidFill>
              </a:rPr>
              <a:t>			 </a:t>
            </a:r>
            <a:r>
              <a:rPr lang="en-US" dirty="0" err="1" smtClean="0">
                <a:solidFill>
                  <a:srgbClr val="FF0000"/>
                </a:solidFill>
              </a:rPr>
              <a:t>sa_family_t</a:t>
            </a:r>
            <a:r>
              <a:rPr lang="en-US" dirty="0" smtClean="0">
                <a:solidFill>
                  <a:schemeClr val="tx1"/>
                </a:solidFill>
              </a:rPr>
              <a:t>  </a:t>
            </a:r>
            <a:r>
              <a:rPr lang="en-US" dirty="0" err="1" smtClean="0">
                <a:solidFill>
                  <a:schemeClr val="tx1"/>
                </a:solidFill>
              </a:rPr>
              <a:t>sun_family</a:t>
            </a:r>
            <a:r>
              <a:rPr lang="en-US" dirty="0" smtClean="0">
                <a:solidFill>
                  <a:schemeClr val="tx1"/>
                </a:solidFill>
              </a:rPr>
              <a:t>; /* AF_UNIX */ </a:t>
            </a:r>
          </a:p>
          <a:p>
            <a:pPr lvl="1">
              <a:buNone/>
            </a:pPr>
            <a:r>
              <a:rPr lang="en-US" dirty="0" smtClean="0">
                <a:solidFill>
                  <a:schemeClr val="tx1"/>
                </a:solidFill>
              </a:rPr>
              <a:t>			</a:t>
            </a:r>
            <a:r>
              <a:rPr lang="en-US" dirty="0" smtClean="0">
                <a:solidFill>
                  <a:srgbClr val="FF0000"/>
                </a:solidFill>
              </a:rPr>
              <a:t>char </a:t>
            </a:r>
            <a:r>
              <a:rPr lang="en-US" dirty="0" err="1" smtClean="0">
                <a:solidFill>
                  <a:srgbClr val="FF0000"/>
                </a:solidFill>
              </a:rPr>
              <a:t>sun_path</a:t>
            </a:r>
            <a:r>
              <a:rPr lang="en-US" dirty="0" smtClean="0">
                <a:solidFill>
                  <a:srgbClr val="FF0000"/>
                </a:solidFill>
              </a:rPr>
              <a:t>[]; </a:t>
            </a:r>
            <a:r>
              <a:rPr lang="en-US" dirty="0" smtClean="0">
                <a:solidFill>
                  <a:schemeClr val="tx1"/>
                </a:solidFill>
              </a:rPr>
              <a:t>/* pathname */ </a:t>
            </a:r>
          </a:p>
          <a:p>
            <a:pPr lvl="1">
              <a:buNone/>
            </a:pPr>
            <a:r>
              <a:rPr lang="en-US" dirty="0" smtClean="0">
                <a:solidFill>
                  <a:schemeClr val="tx1"/>
                </a:solidFill>
              </a:rPr>
              <a:t>	};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In the </a:t>
            </a:r>
            <a:r>
              <a:rPr lang="en-US" dirty="0" smtClean="0">
                <a:solidFill>
                  <a:srgbClr val="FF0000"/>
                </a:solidFill>
              </a:rPr>
              <a:t>AF_INET domain</a:t>
            </a:r>
            <a:r>
              <a:rPr lang="en-US" dirty="0" smtClean="0">
                <a:solidFill>
                  <a:schemeClr val="tx1"/>
                </a:solidFill>
              </a:rPr>
              <a:t>, the address is specified using a structure called </a:t>
            </a:r>
            <a:r>
              <a:rPr lang="en-US" dirty="0" err="1" smtClean="0">
                <a:solidFill>
                  <a:schemeClr val="tx1"/>
                </a:solidFill>
              </a:rPr>
              <a:t>sockaddr_in</a:t>
            </a:r>
            <a:r>
              <a:rPr lang="en-US" dirty="0" smtClean="0">
                <a:solidFill>
                  <a:schemeClr val="tx1"/>
                </a:solidFill>
              </a:rPr>
              <a:t>, defined in </a:t>
            </a:r>
            <a:r>
              <a:rPr lang="en-US" dirty="0" err="1" smtClean="0">
                <a:solidFill>
                  <a:schemeClr val="tx1"/>
                </a:solidFill>
              </a:rPr>
              <a:t>netinet</a:t>
            </a:r>
            <a:r>
              <a:rPr lang="en-US" dirty="0" smtClean="0">
                <a:solidFill>
                  <a:schemeClr val="tx1"/>
                </a:solidFill>
              </a:rPr>
              <a:t>/</a:t>
            </a:r>
            <a:r>
              <a:rPr lang="en-US" dirty="0" err="1" smtClean="0">
                <a:solidFill>
                  <a:schemeClr val="tx1"/>
                </a:solidFill>
              </a:rPr>
              <a:t>in.h</a:t>
            </a:r>
            <a:r>
              <a:rPr lang="en-US" dirty="0" smtClean="0">
                <a:solidFill>
                  <a:schemeClr val="tx1"/>
                </a:solidFill>
              </a:rPr>
              <a:t>,  which contains at least these members: </a:t>
            </a:r>
          </a:p>
          <a:p>
            <a:pPr lvl="1">
              <a:buNone/>
            </a:pPr>
            <a:r>
              <a:rPr lang="en-US" dirty="0" smtClean="0">
                <a:solidFill>
                  <a:schemeClr val="tx1"/>
                </a:solidFill>
              </a:rPr>
              <a:t>		</a:t>
            </a:r>
            <a:r>
              <a:rPr lang="en-US" dirty="0" err="1" smtClean="0">
                <a:solidFill>
                  <a:schemeClr val="tx1"/>
                </a:solidFill>
              </a:rPr>
              <a:t>struct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sockaddr_in</a:t>
            </a:r>
            <a:r>
              <a:rPr lang="en-US" dirty="0" smtClean="0">
                <a:solidFill>
                  <a:schemeClr val="tx1"/>
                </a:solidFill>
              </a:rPr>
              <a:t> {</a:t>
            </a:r>
          </a:p>
          <a:p>
            <a:pPr lvl="1">
              <a:buNone/>
            </a:pPr>
            <a:r>
              <a:rPr lang="en-US" dirty="0" smtClean="0">
                <a:solidFill>
                  <a:schemeClr val="tx1"/>
                </a:solidFill>
              </a:rPr>
              <a:t>				</a:t>
            </a:r>
            <a:r>
              <a:rPr lang="en-US" dirty="0" smtClean="0">
                <a:solidFill>
                  <a:srgbClr val="FF0000"/>
                </a:solidFill>
              </a:rPr>
              <a:t> short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sin_family</a:t>
            </a:r>
            <a:r>
              <a:rPr lang="en-US" dirty="0" smtClean="0">
                <a:solidFill>
                  <a:schemeClr val="tx1"/>
                </a:solidFill>
              </a:rPr>
              <a:t>; /* AF_INET */ </a:t>
            </a:r>
          </a:p>
          <a:p>
            <a:pPr lvl="1">
              <a:buNone/>
            </a:pPr>
            <a:r>
              <a:rPr lang="en-US" dirty="0" smtClean="0">
                <a:solidFill>
                  <a:schemeClr val="tx1"/>
                </a:solidFill>
              </a:rPr>
              <a:t>				</a:t>
            </a:r>
            <a:r>
              <a:rPr lang="en-US" dirty="0" smtClean="0">
                <a:solidFill>
                  <a:srgbClr val="FF0000"/>
                </a:solidFill>
              </a:rPr>
              <a:t>unsigned short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sin_port</a:t>
            </a:r>
            <a:r>
              <a:rPr lang="en-US" dirty="0" smtClean="0">
                <a:solidFill>
                  <a:schemeClr val="tx1"/>
                </a:solidFill>
              </a:rPr>
              <a:t>; /* Port number */</a:t>
            </a:r>
          </a:p>
          <a:p>
            <a:pPr lvl="1">
              <a:buNone/>
            </a:pPr>
            <a:r>
              <a:rPr lang="en-US" dirty="0" smtClean="0">
                <a:solidFill>
                  <a:schemeClr val="tx1"/>
                </a:solidFill>
              </a:rPr>
              <a:t>				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struct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in_addr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sin_addr</a:t>
            </a:r>
            <a:r>
              <a:rPr lang="en-US" dirty="0" smtClean="0">
                <a:solidFill>
                  <a:schemeClr val="tx1"/>
                </a:solidFill>
              </a:rPr>
              <a:t>; /* Internet address */</a:t>
            </a:r>
          </a:p>
          <a:p>
            <a:pPr lvl="1">
              <a:buNone/>
            </a:pPr>
            <a:r>
              <a:rPr lang="en-US" dirty="0" smtClean="0">
                <a:solidFill>
                  <a:schemeClr val="tx1"/>
                </a:solidFill>
              </a:rPr>
              <a:t>		 }; 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	The IP address structure, </a:t>
            </a:r>
            <a:r>
              <a:rPr lang="en-US" dirty="0" err="1" smtClean="0">
                <a:solidFill>
                  <a:schemeClr val="tx1"/>
                </a:solidFill>
              </a:rPr>
              <a:t>in_addr</a:t>
            </a:r>
            <a:r>
              <a:rPr lang="en-US" dirty="0" smtClean="0">
                <a:solidFill>
                  <a:schemeClr val="tx1"/>
                </a:solidFill>
              </a:rPr>
              <a:t>, is defined as follows: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		 </a:t>
            </a:r>
            <a:r>
              <a:rPr lang="en-US" dirty="0" err="1" smtClean="0">
                <a:solidFill>
                  <a:schemeClr val="tx1"/>
                </a:solidFill>
              </a:rPr>
              <a:t>struct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in_addr</a:t>
            </a:r>
            <a:r>
              <a:rPr lang="en-US" dirty="0" smtClean="0">
                <a:solidFill>
                  <a:schemeClr val="tx1"/>
                </a:solidFill>
              </a:rPr>
              <a:t> { unsigned long </a:t>
            </a:r>
            <a:r>
              <a:rPr lang="en-US" dirty="0" err="1" smtClean="0">
                <a:solidFill>
                  <a:schemeClr val="tx1"/>
                </a:solidFill>
              </a:rPr>
              <a:t>int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s_addr</a:t>
            </a:r>
            <a:r>
              <a:rPr lang="en-US" dirty="0" smtClean="0">
                <a:solidFill>
                  <a:schemeClr val="tx1"/>
                </a:solidFill>
              </a:rPr>
              <a:t>; };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210206"/>
            <a:ext cx="8975834" cy="4792717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Naming a Socket: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To make a socket (as created by a call to socket) </a:t>
            </a:r>
            <a:r>
              <a:rPr lang="en-US" dirty="0" smtClean="0">
                <a:solidFill>
                  <a:srgbClr val="FF0000"/>
                </a:solidFill>
              </a:rPr>
              <a:t>available for use by other processes</a:t>
            </a:r>
            <a:r>
              <a:rPr lang="en-US" dirty="0" smtClean="0">
                <a:solidFill>
                  <a:schemeClr val="tx1"/>
                </a:solidFill>
              </a:rPr>
              <a:t>, a server program needs to give </a:t>
            </a:r>
            <a:r>
              <a:rPr lang="en-US" dirty="0" smtClean="0">
                <a:solidFill>
                  <a:srgbClr val="FF0000"/>
                </a:solidFill>
              </a:rPr>
              <a:t>the socket a name.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bind(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socket, const </a:t>
            </a:r>
            <a:r>
              <a:rPr lang="en-US" b="1" dirty="0" err="1" smtClean="0">
                <a:solidFill>
                  <a:srgbClr val="FF0000"/>
                </a:solidFill>
              </a:rPr>
              <a:t>struct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sockaddr</a:t>
            </a:r>
            <a:r>
              <a:rPr lang="en-US" b="1" dirty="0" smtClean="0">
                <a:solidFill>
                  <a:srgbClr val="FF0000"/>
                </a:solidFill>
              </a:rPr>
              <a:t> *address, </a:t>
            </a:r>
            <a:r>
              <a:rPr lang="en-US" b="1" dirty="0" err="1" smtClean="0">
                <a:solidFill>
                  <a:srgbClr val="FF0000"/>
                </a:solidFill>
              </a:rPr>
              <a:t>size_t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address_len</a:t>
            </a:r>
            <a:r>
              <a:rPr lang="en-US" b="1" dirty="0" smtClean="0">
                <a:solidFill>
                  <a:srgbClr val="FF0000"/>
                </a:solidFill>
              </a:rPr>
              <a:t>);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Creating a Socket Queue: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To accept incoming connections </a:t>
            </a:r>
            <a:r>
              <a:rPr lang="en-US" dirty="0" smtClean="0">
                <a:solidFill>
                  <a:schemeClr val="tx1"/>
                </a:solidFill>
              </a:rPr>
              <a:t>on a socket, a server program must </a:t>
            </a:r>
            <a:r>
              <a:rPr lang="en-US" dirty="0" smtClean="0">
                <a:solidFill>
                  <a:srgbClr val="FF0000"/>
                </a:solidFill>
              </a:rPr>
              <a:t>create a queue to store pending requests</a:t>
            </a:r>
            <a:r>
              <a:rPr lang="en-US" dirty="0" smtClean="0">
                <a:solidFill>
                  <a:schemeClr val="tx1"/>
                </a:solidFill>
              </a:rPr>
              <a:t>. It does this using the listen system call. 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			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listen(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socket, 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backlog);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Accepting Connections: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Once a server program has created and named a socket, it can </a:t>
            </a:r>
            <a:r>
              <a:rPr lang="en-US" dirty="0" smtClean="0">
                <a:solidFill>
                  <a:srgbClr val="FF0000"/>
                </a:solidFill>
              </a:rPr>
              <a:t>wait for connections to be made to the socket </a:t>
            </a:r>
            <a:r>
              <a:rPr lang="en-US" dirty="0" smtClean="0">
                <a:solidFill>
                  <a:schemeClr val="tx1"/>
                </a:solidFill>
              </a:rPr>
              <a:t>by using the accept system call. 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accept(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socket, </a:t>
            </a:r>
            <a:r>
              <a:rPr lang="en-US" b="1" dirty="0" err="1" smtClean="0">
                <a:solidFill>
                  <a:srgbClr val="FF0000"/>
                </a:solidFill>
              </a:rPr>
              <a:t>struct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sockaddr</a:t>
            </a:r>
            <a:r>
              <a:rPr lang="en-US" b="1" dirty="0" smtClean="0">
                <a:solidFill>
                  <a:srgbClr val="FF0000"/>
                </a:solidFill>
              </a:rPr>
              <a:t> *address, </a:t>
            </a:r>
            <a:r>
              <a:rPr lang="en-US" b="1" dirty="0" err="1" smtClean="0">
                <a:solidFill>
                  <a:srgbClr val="FF0000"/>
                </a:solidFill>
              </a:rPr>
              <a:t>size_t</a:t>
            </a:r>
            <a:r>
              <a:rPr lang="en-US" b="1" dirty="0" smtClean="0">
                <a:solidFill>
                  <a:srgbClr val="FF0000"/>
                </a:solidFill>
              </a:rPr>
              <a:t> *</a:t>
            </a:r>
            <a:r>
              <a:rPr lang="en-US" b="1" dirty="0" err="1" smtClean="0">
                <a:solidFill>
                  <a:srgbClr val="FF0000"/>
                </a:solidFill>
              </a:rPr>
              <a:t>address_len</a:t>
            </a:r>
            <a:r>
              <a:rPr lang="en-US" b="1" dirty="0" smtClean="0">
                <a:solidFill>
                  <a:srgbClr val="FF0000"/>
                </a:solidFill>
              </a:rPr>
              <a:t>);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Requesting Connections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chemeClr val="tx1"/>
                </a:solidFill>
              </a:rPr>
              <a:t>Client programs connect to servers by </a:t>
            </a:r>
            <a:r>
              <a:rPr lang="en-US" dirty="0" smtClean="0">
                <a:solidFill>
                  <a:srgbClr val="FF0000"/>
                </a:solidFill>
              </a:rPr>
              <a:t>establishing a connection</a:t>
            </a:r>
            <a:r>
              <a:rPr lang="en-US" dirty="0" smtClean="0">
                <a:solidFill>
                  <a:schemeClr val="tx1"/>
                </a:solidFill>
              </a:rPr>
              <a:t> between an unnamed socket and the server listen socket. They do this by calling connect. 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connect(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socket, const </a:t>
            </a:r>
            <a:r>
              <a:rPr lang="en-US" b="1" dirty="0" err="1" smtClean="0">
                <a:solidFill>
                  <a:srgbClr val="FF0000"/>
                </a:solidFill>
              </a:rPr>
              <a:t>struct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sockaddr</a:t>
            </a:r>
            <a:r>
              <a:rPr lang="en-US" b="1" dirty="0" smtClean="0">
                <a:solidFill>
                  <a:srgbClr val="FF0000"/>
                </a:solidFill>
              </a:rPr>
              <a:t> *address, </a:t>
            </a:r>
            <a:r>
              <a:rPr lang="en-US" b="1" dirty="0" err="1" smtClean="0">
                <a:solidFill>
                  <a:srgbClr val="FF0000"/>
                </a:solidFill>
              </a:rPr>
              <a:t>size_t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address_len</a:t>
            </a:r>
            <a:r>
              <a:rPr lang="en-US" b="1" dirty="0" smtClean="0">
                <a:solidFill>
                  <a:srgbClr val="FF0000"/>
                </a:solidFill>
              </a:rPr>
              <a:t>);</a:t>
            </a:r>
          </a:p>
          <a:p>
            <a:pP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Closing a Socket </a:t>
            </a:r>
            <a:r>
              <a:rPr lang="en-US" dirty="0" smtClean="0">
                <a:solidFill>
                  <a:schemeClr val="tx1"/>
                </a:solidFill>
              </a:rPr>
              <a:t>You can terminate a socket connection at the server and client by calling close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289" y="0"/>
            <a:ext cx="1933575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3056" y="2022092"/>
            <a:ext cx="194310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8259" y="3661049"/>
            <a:ext cx="197167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096157" y="0"/>
            <a:ext cx="2324100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111922" y="1520880"/>
            <a:ext cx="323850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130480" y="3444437"/>
            <a:ext cx="3495675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673780" y="0"/>
            <a:ext cx="250507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690860" y="1127235"/>
            <a:ext cx="30384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696443" y="2469274"/>
            <a:ext cx="294322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5729780" y="4200525"/>
            <a:ext cx="2876550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3039" y="157492"/>
            <a:ext cx="2257425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3474" y="2263666"/>
            <a:ext cx="2409825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668642" y="191979"/>
            <a:ext cx="24193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664866" y="368190"/>
            <a:ext cx="24479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659282" y="874494"/>
            <a:ext cx="2543175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677839" y="1889071"/>
            <a:ext cx="28003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757160" y="4097885"/>
            <a:ext cx="220027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767552" y="131379"/>
            <a:ext cx="259080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851635" y="1320690"/>
            <a:ext cx="259080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5863295" y="3017126"/>
            <a:ext cx="210502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68166"/>
            <a:ext cx="8520600" cy="481373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FF0000"/>
                </a:solidFill>
              </a:rPr>
              <a:t>#include &lt;sys/</a:t>
            </a:r>
            <a:r>
              <a:rPr lang="en-US" sz="2000" b="1" dirty="0" err="1" smtClean="0">
                <a:solidFill>
                  <a:srgbClr val="FF0000"/>
                </a:solidFill>
              </a:rPr>
              <a:t>socket.h</a:t>
            </a:r>
            <a:r>
              <a:rPr lang="en-US" sz="2000" b="1" dirty="0" smtClean="0">
                <a:solidFill>
                  <a:srgbClr val="FF0000"/>
                </a:solidFill>
              </a:rPr>
              <a:t>&gt;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US" sz="2000" b="1" dirty="0" err="1" smtClean="0">
                <a:solidFill>
                  <a:srgbClr val="FF0000"/>
                </a:solidFill>
              </a:rPr>
              <a:t>int</a:t>
            </a:r>
            <a:r>
              <a:rPr lang="en-US" sz="2000" b="1" dirty="0" smtClean="0">
                <a:solidFill>
                  <a:srgbClr val="FF0000"/>
                </a:solidFill>
              </a:rPr>
              <a:t> socket(</a:t>
            </a:r>
            <a:r>
              <a:rPr lang="en-US" sz="2000" b="1" dirty="0" err="1" smtClean="0">
                <a:solidFill>
                  <a:srgbClr val="FF0000"/>
                </a:solidFill>
              </a:rPr>
              <a:t>int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smtClean="0">
                <a:solidFill>
                  <a:srgbClr val="FF0000"/>
                </a:solidFill>
              </a:rPr>
              <a:t>domain</a:t>
            </a:r>
            <a:r>
              <a:rPr lang="en-US" sz="2000" b="1" dirty="0" smtClean="0">
                <a:solidFill>
                  <a:srgbClr val="FF0000"/>
                </a:solidFill>
              </a:rPr>
              <a:t>, </a:t>
            </a:r>
            <a:r>
              <a:rPr lang="en-US" sz="2000" b="1" dirty="0" err="1" smtClean="0">
                <a:solidFill>
                  <a:srgbClr val="FF0000"/>
                </a:solidFill>
              </a:rPr>
              <a:t>int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smtClean="0">
                <a:solidFill>
                  <a:srgbClr val="FF0000"/>
                </a:solidFill>
              </a:rPr>
              <a:t>type</a:t>
            </a:r>
            <a:r>
              <a:rPr lang="en-US" sz="2000" b="1" dirty="0" smtClean="0">
                <a:solidFill>
                  <a:srgbClr val="FF0000"/>
                </a:solidFill>
              </a:rPr>
              <a:t>, </a:t>
            </a:r>
            <a:r>
              <a:rPr lang="en-US" sz="2000" b="1" dirty="0" err="1" smtClean="0">
                <a:solidFill>
                  <a:srgbClr val="FF0000"/>
                </a:solidFill>
              </a:rPr>
              <a:t>int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smtClean="0">
                <a:solidFill>
                  <a:srgbClr val="FF0000"/>
                </a:solidFill>
              </a:rPr>
              <a:t>protocol</a:t>
            </a:r>
            <a:r>
              <a:rPr lang="en-US" sz="2000" b="1" dirty="0" smtClean="0">
                <a:solidFill>
                  <a:srgbClr val="FF0000"/>
                </a:solidFill>
              </a:rPr>
              <a:t>);</a:t>
            </a:r>
          </a:p>
          <a:p>
            <a:pPr>
              <a:buNone/>
            </a:pPr>
            <a:r>
              <a:rPr lang="en-US" sz="2000" b="1" dirty="0" err="1" smtClean="0">
                <a:solidFill>
                  <a:srgbClr val="FF0000"/>
                </a:solidFill>
              </a:rPr>
              <a:t>int</a:t>
            </a:r>
            <a:r>
              <a:rPr lang="en-US" sz="2000" b="1" dirty="0" smtClean="0">
                <a:solidFill>
                  <a:srgbClr val="FF0000"/>
                </a:solidFill>
              </a:rPr>
              <a:t> bind(</a:t>
            </a:r>
            <a:r>
              <a:rPr lang="en-US" sz="2000" b="1" dirty="0" err="1" smtClean="0">
                <a:solidFill>
                  <a:srgbClr val="FF0000"/>
                </a:solidFill>
              </a:rPr>
              <a:t>int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</a:rPr>
              <a:t>sockfd</a:t>
            </a:r>
            <a:r>
              <a:rPr lang="en-US" sz="2000" b="1" dirty="0" smtClean="0">
                <a:solidFill>
                  <a:srgbClr val="FF0000"/>
                </a:solidFill>
              </a:rPr>
              <a:t>, const </a:t>
            </a:r>
            <a:r>
              <a:rPr lang="en-US" sz="2000" b="1" dirty="0" err="1" smtClean="0">
                <a:solidFill>
                  <a:srgbClr val="FF0000"/>
                </a:solidFill>
              </a:rPr>
              <a:t>struct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</a:rPr>
              <a:t>sockaddr</a:t>
            </a:r>
            <a:r>
              <a:rPr lang="en-US" sz="2000" b="1" dirty="0" smtClean="0">
                <a:solidFill>
                  <a:srgbClr val="FF0000"/>
                </a:solidFill>
              </a:rPr>
              <a:t> *</a:t>
            </a:r>
            <a:r>
              <a:rPr lang="en-US" sz="2000" i="1" dirty="0" err="1" smtClean="0">
                <a:solidFill>
                  <a:srgbClr val="FF0000"/>
                </a:solidFill>
              </a:rPr>
              <a:t>addr</a:t>
            </a:r>
            <a:r>
              <a:rPr lang="en-US" sz="2000" b="1" dirty="0" smtClean="0">
                <a:solidFill>
                  <a:srgbClr val="FF0000"/>
                </a:solidFill>
              </a:rPr>
              <a:t>,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</a:rPr>
              <a:t>socklen_t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</a:rPr>
              <a:t>addrlen</a:t>
            </a:r>
            <a:r>
              <a:rPr lang="en-US" sz="2000" b="1" dirty="0" smtClean="0">
                <a:solidFill>
                  <a:srgbClr val="FF0000"/>
                </a:solidFill>
              </a:rPr>
              <a:t>);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struct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sockaddr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 { 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sa_family_t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sa_family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; char 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sa_data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[14]; }</a:t>
            </a:r>
          </a:p>
          <a:p>
            <a:pPr>
              <a:buNone/>
            </a:pPr>
            <a:endParaRPr lang="en-US" sz="20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None/>
            </a:pPr>
            <a:r>
              <a:rPr lang="sv-SE" sz="2000" b="1" dirty="0" smtClean="0">
                <a:solidFill>
                  <a:srgbClr val="FF0000"/>
                </a:solidFill>
              </a:rPr>
              <a:t>int listen(int </a:t>
            </a:r>
            <a:r>
              <a:rPr lang="sv-SE" sz="2000" i="1" dirty="0" smtClean="0">
                <a:solidFill>
                  <a:srgbClr val="FF0000"/>
                </a:solidFill>
              </a:rPr>
              <a:t>sockfd</a:t>
            </a:r>
            <a:r>
              <a:rPr lang="sv-SE" sz="2000" b="1" dirty="0" smtClean="0">
                <a:solidFill>
                  <a:srgbClr val="FF0000"/>
                </a:solidFill>
              </a:rPr>
              <a:t>, int </a:t>
            </a:r>
            <a:r>
              <a:rPr lang="sv-SE" sz="2000" i="1" dirty="0" smtClean="0">
                <a:solidFill>
                  <a:srgbClr val="FF0000"/>
                </a:solidFill>
              </a:rPr>
              <a:t>backlog</a:t>
            </a:r>
            <a:r>
              <a:rPr lang="sv-SE" sz="2000" b="1" dirty="0" smtClean="0">
                <a:solidFill>
                  <a:srgbClr val="FF0000"/>
                </a:solidFill>
              </a:rPr>
              <a:t>);</a:t>
            </a:r>
          </a:p>
          <a:p>
            <a:pPr>
              <a:buNone/>
            </a:pPr>
            <a:r>
              <a:rPr lang="en-US" sz="2000" b="1" dirty="0" err="1" smtClean="0">
                <a:solidFill>
                  <a:srgbClr val="FF0000"/>
                </a:solidFill>
              </a:rPr>
              <a:t>int</a:t>
            </a:r>
            <a:r>
              <a:rPr lang="en-US" sz="2000" b="1" dirty="0" smtClean="0">
                <a:solidFill>
                  <a:srgbClr val="FF0000"/>
                </a:solidFill>
              </a:rPr>
              <a:t> connect(</a:t>
            </a:r>
            <a:r>
              <a:rPr lang="en-US" sz="2000" b="1" dirty="0" err="1" smtClean="0">
                <a:solidFill>
                  <a:srgbClr val="FF0000"/>
                </a:solidFill>
              </a:rPr>
              <a:t>int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</a:rPr>
              <a:t>sockfd</a:t>
            </a:r>
            <a:r>
              <a:rPr lang="en-US" sz="2000" b="1" dirty="0" smtClean="0">
                <a:solidFill>
                  <a:srgbClr val="FF0000"/>
                </a:solidFill>
              </a:rPr>
              <a:t>, const </a:t>
            </a:r>
            <a:r>
              <a:rPr lang="en-US" sz="2000" b="1" dirty="0" err="1" smtClean="0">
                <a:solidFill>
                  <a:srgbClr val="FF0000"/>
                </a:solidFill>
              </a:rPr>
              <a:t>struct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</a:rPr>
              <a:t>sockaddr</a:t>
            </a:r>
            <a:r>
              <a:rPr lang="en-US" sz="2000" b="1" dirty="0" smtClean="0">
                <a:solidFill>
                  <a:srgbClr val="FF0000"/>
                </a:solidFill>
              </a:rPr>
              <a:t> *</a:t>
            </a:r>
            <a:r>
              <a:rPr lang="en-US" sz="2000" i="1" dirty="0" err="1" smtClean="0">
                <a:solidFill>
                  <a:srgbClr val="FF0000"/>
                </a:solidFill>
              </a:rPr>
              <a:t>addr</a:t>
            </a:r>
            <a:r>
              <a:rPr lang="en-US" sz="2000" b="1" dirty="0" smtClean="0">
                <a:solidFill>
                  <a:srgbClr val="FF0000"/>
                </a:solidFill>
              </a:rPr>
              <a:t>,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</a:rPr>
              <a:t>socklen_t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</a:rPr>
              <a:t>addrlen</a:t>
            </a:r>
            <a:r>
              <a:rPr lang="en-US" sz="2000" b="1" dirty="0" smtClean="0">
                <a:solidFill>
                  <a:srgbClr val="FF0000"/>
                </a:solidFill>
              </a:rPr>
              <a:t>);</a:t>
            </a:r>
          </a:p>
          <a:p>
            <a:pPr>
              <a:buNone/>
            </a:pPr>
            <a:r>
              <a:rPr lang="en-US" sz="2000" b="1" dirty="0" err="1" smtClean="0">
                <a:solidFill>
                  <a:srgbClr val="FF0000"/>
                </a:solidFill>
              </a:rPr>
              <a:t>int</a:t>
            </a:r>
            <a:r>
              <a:rPr lang="en-US" sz="2000" b="1" dirty="0" smtClean="0">
                <a:solidFill>
                  <a:srgbClr val="FF0000"/>
                </a:solidFill>
              </a:rPr>
              <a:t> accept(</a:t>
            </a:r>
            <a:r>
              <a:rPr lang="en-US" sz="2000" b="1" dirty="0" err="1" smtClean="0">
                <a:solidFill>
                  <a:srgbClr val="FF0000"/>
                </a:solidFill>
              </a:rPr>
              <a:t>int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</a:rPr>
              <a:t>sockfd</a:t>
            </a:r>
            <a:r>
              <a:rPr lang="en-US" sz="2000" b="1" dirty="0" smtClean="0">
                <a:solidFill>
                  <a:srgbClr val="FF0000"/>
                </a:solidFill>
              </a:rPr>
              <a:t>, </a:t>
            </a:r>
            <a:r>
              <a:rPr lang="en-US" sz="2000" b="1" dirty="0" err="1" smtClean="0">
                <a:solidFill>
                  <a:srgbClr val="FF0000"/>
                </a:solidFill>
              </a:rPr>
              <a:t>struct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</a:rPr>
              <a:t>sockaddr</a:t>
            </a:r>
            <a:r>
              <a:rPr lang="en-US" sz="2000" b="1" dirty="0" smtClean="0">
                <a:solidFill>
                  <a:srgbClr val="FF0000"/>
                </a:solidFill>
              </a:rPr>
              <a:t> *_</a:t>
            </a:r>
            <a:r>
              <a:rPr lang="en-US" sz="2000" b="1" dirty="0" err="1" smtClean="0">
                <a:solidFill>
                  <a:srgbClr val="FF0000"/>
                </a:solidFill>
              </a:rPr>
              <a:t>Nullable</a:t>
            </a:r>
            <a:r>
              <a:rPr lang="en-US" sz="2000" b="1" dirty="0" smtClean="0">
                <a:solidFill>
                  <a:srgbClr val="FF0000"/>
                </a:solidFill>
              </a:rPr>
              <a:t> restrict </a:t>
            </a:r>
            <a:r>
              <a:rPr lang="en-US" sz="2000" i="1" dirty="0" err="1" smtClean="0">
                <a:solidFill>
                  <a:srgbClr val="FF0000"/>
                </a:solidFill>
              </a:rPr>
              <a:t>addr</a:t>
            </a:r>
            <a:r>
              <a:rPr lang="en-US" sz="2000" b="1" dirty="0" smtClean="0">
                <a:solidFill>
                  <a:srgbClr val="FF0000"/>
                </a:solidFill>
              </a:rPr>
              <a:t>,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</a:rPr>
              <a:t>socklen_t</a:t>
            </a:r>
            <a:r>
              <a:rPr lang="en-US" sz="2000" b="1" dirty="0" smtClean="0">
                <a:solidFill>
                  <a:srgbClr val="FF0000"/>
                </a:solidFill>
              </a:rPr>
              <a:t> *_</a:t>
            </a:r>
            <a:r>
              <a:rPr lang="en-US" sz="2000" b="1" dirty="0" err="1" smtClean="0">
                <a:solidFill>
                  <a:srgbClr val="FF0000"/>
                </a:solidFill>
              </a:rPr>
              <a:t>Nullable</a:t>
            </a:r>
            <a:r>
              <a:rPr lang="en-US" sz="2000" b="1" dirty="0" smtClean="0">
                <a:solidFill>
                  <a:srgbClr val="FF0000"/>
                </a:solidFill>
              </a:rPr>
              <a:t> restrict </a:t>
            </a:r>
            <a:r>
              <a:rPr lang="en-US" sz="2000" i="1" dirty="0" err="1" smtClean="0">
                <a:solidFill>
                  <a:srgbClr val="FF0000"/>
                </a:solidFill>
              </a:rPr>
              <a:t>addrlen</a:t>
            </a:r>
            <a:r>
              <a:rPr lang="en-US" sz="2000" b="1" dirty="0" smtClean="0">
                <a:solidFill>
                  <a:srgbClr val="FF0000"/>
                </a:solidFill>
              </a:rPr>
              <a:t>);</a:t>
            </a:r>
          </a:p>
          <a:p>
            <a:pPr>
              <a:buNone/>
            </a:pPr>
            <a:r>
              <a:rPr lang="en-US" sz="2000" b="1" dirty="0" err="1" smtClean="0">
                <a:solidFill>
                  <a:srgbClr val="FF0000"/>
                </a:solidFill>
              </a:rPr>
              <a:t>ssize_t</a:t>
            </a:r>
            <a:r>
              <a:rPr lang="en-US" sz="2000" b="1" dirty="0" smtClean="0">
                <a:solidFill>
                  <a:srgbClr val="FF0000"/>
                </a:solidFill>
              </a:rPr>
              <a:t> read(</a:t>
            </a:r>
            <a:r>
              <a:rPr lang="en-US" sz="2000" b="1" dirty="0" err="1" smtClean="0">
                <a:solidFill>
                  <a:srgbClr val="FF0000"/>
                </a:solidFill>
              </a:rPr>
              <a:t>int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</a:rPr>
              <a:t>fd</a:t>
            </a:r>
            <a:r>
              <a:rPr lang="en-US" sz="2000" b="1" dirty="0" smtClean="0">
                <a:solidFill>
                  <a:srgbClr val="FF0000"/>
                </a:solidFill>
              </a:rPr>
              <a:t>, void </a:t>
            </a:r>
            <a:r>
              <a:rPr lang="en-US" sz="2000" i="1" dirty="0" err="1" smtClean="0">
                <a:solidFill>
                  <a:srgbClr val="FF0000"/>
                </a:solidFill>
              </a:rPr>
              <a:t>buf</a:t>
            </a:r>
            <a:r>
              <a:rPr lang="en-US" sz="2000" b="1" dirty="0" smtClean="0">
                <a:solidFill>
                  <a:srgbClr val="FF0000"/>
                </a:solidFill>
              </a:rPr>
              <a:t>[.</a:t>
            </a:r>
            <a:r>
              <a:rPr lang="en-US" sz="2000" i="1" dirty="0" smtClean="0">
                <a:solidFill>
                  <a:srgbClr val="FF0000"/>
                </a:solidFill>
              </a:rPr>
              <a:t>count</a:t>
            </a:r>
            <a:r>
              <a:rPr lang="en-US" sz="2000" b="1" dirty="0" smtClean="0">
                <a:solidFill>
                  <a:srgbClr val="FF0000"/>
                </a:solidFill>
              </a:rPr>
              <a:t>], </a:t>
            </a:r>
            <a:r>
              <a:rPr lang="en-US" sz="2000" b="1" dirty="0" err="1" smtClean="0">
                <a:solidFill>
                  <a:srgbClr val="FF0000"/>
                </a:solidFill>
              </a:rPr>
              <a:t>size_t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smtClean="0">
                <a:solidFill>
                  <a:srgbClr val="FF0000"/>
                </a:solidFill>
              </a:rPr>
              <a:t>count</a:t>
            </a:r>
            <a:r>
              <a:rPr lang="en-US" sz="2000" b="1" dirty="0" smtClean="0">
                <a:solidFill>
                  <a:srgbClr val="FF0000"/>
                </a:solidFill>
              </a:rPr>
              <a:t>);</a:t>
            </a:r>
          </a:p>
          <a:p>
            <a:pPr>
              <a:buNone/>
            </a:pPr>
            <a:r>
              <a:rPr lang="en-US" sz="2000" b="1" dirty="0" err="1" smtClean="0">
                <a:solidFill>
                  <a:srgbClr val="FF0000"/>
                </a:solidFill>
              </a:rPr>
              <a:t>ssize_t</a:t>
            </a:r>
            <a:r>
              <a:rPr lang="en-US" sz="2000" b="1" dirty="0" smtClean="0">
                <a:solidFill>
                  <a:srgbClr val="FF0000"/>
                </a:solidFill>
              </a:rPr>
              <a:t> write(</a:t>
            </a:r>
            <a:r>
              <a:rPr lang="en-US" sz="2000" b="1" dirty="0" err="1" smtClean="0">
                <a:solidFill>
                  <a:srgbClr val="FF0000"/>
                </a:solidFill>
              </a:rPr>
              <a:t>int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</a:rPr>
              <a:t>fd</a:t>
            </a:r>
            <a:r>
              <a:rPr lang="en-US" sz="2000" b="1" dirty="0" smtClean="0">
                <a:solidFill>
                  <a:srgbClr val="FF0000"/>
                </a:solidFill>
              </a:rPr>
              <a:t>, const void </a:t>
            </a:r>
            <a:r>
              <a:rPr lang="en-US" sz="2000" i="1" dirty="0" err="1" smtClean="0">
                <a:solidFill>
                  <a:srgbClr val="FF0000"/>
                </a:solidFill>
              </a:rPr>
              <a:t>buf</a:t>
            </a:r>
            <a:r>
              <a:rPr lang="en-US" sz="2000" b="1" dirty="0" smtClean="0">
                <a:solidFill>
                  <a:srgbClr val="FF0000"/>
                </a:solidFill>
              </a:rPr>
              <a:t>[.</a:t>
            </a:r>
            <a:r>
              <a:rPr lang="en-US" sz="2000" i="1" dirty="0" smtClean="0">
                <a:solidFill>
                  <a:srgbClr val="FF0000"/>
                </a:solidFill>
              </a:rPr>
              <a:t>count</a:t>
            </a:r>
            <a:r>
              <a:rPr lang="en-US" sz="2000" b="1" dirty="0" smtClean="0">
                <a:solidFill>
                  <a:srgbClr val="FF0000"/>
                </a:solidFill>
              </a:rPr>
              <a:t>], </a:t>
            </a:r>
            <a:r>
              <a:rPr lang="en-US" sz="2000" b="1" dirty="0" err="1" smtClean="0">
                <a:solidFill>
                  <a:srgbClr val="FF0000"/>
                </a:solidFill>
              </a:rPr>
              <a:t>size_t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smtClean="0">
                <a:solidFill>
                  <a:srgbClr val="FF0000"/>
                </a:solidFill>
              </a:rPr>
              <a:t>count</a:t>
            </a:r>
            <a:r>
              <a:rPr lang="en-US" sz="2000" b="1" dirty="0" smtClean="0">
                <a:solidFill>
                  <a:srgbClr val="FF0000"/>
                </a:solidFill>
              </a:rPr>
              <a:t>);</a:t>
            </a:r>
          </a:p>
          <a:p>
            <a:pPr>
              <a:buNone/>
            </a:pPr>
            <a:r>
              <a:rPr lang="en-US" sz="2000" b="1" dirty="0" err="1" smtClean="0">
                <a:solidFill>
                  <a:srgbClr val="FF0000"/>
                </a:solidFill>
              </a:rPr>
              <a:t>int</a:t>
            </a:r>
            <a:r>
              <a:rPr lang="en-US" sz="2000" b="1" dirty="0" smtClean="0">
                <a:solidFill>
                  <a:srgbClr val="FF0000"/>
                </a:solidFill>
              </a:rPr>
              <a:t> close(</a:t>
            </a:r>
            <a:r>
              <a:rPr lang="en-US" sz="2000" b="1" dirty="0" err="1" smtClean="0">
                <a:solidFill>
                  <a:srgbClr val="FF0000"/>
                </a:solidFill>
              </a:rPr>
              <a:t>int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</a:rPr>
              <a:t>fd</a:t>
            </a:r>
            <a:r>
              <a:rPr lang="en-US" sz="2000" b="1" dirty="0" smtClean="0">
                <a:solidFill>
                  <a:srgbClr val="FF0000"/>
                </a:solidFill>
              </a:rPr>
              <a:t>);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1450"/>
            <a:ext cx="8686800" cy="485775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122" name="Picture 2" descr="Create Linux Operating System desktop background in Photoshop C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8127" y="0"/>
            <a:ext cx="5856341" cy="4156843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4886778" y="4220170"/>
            <a:ext cx="39164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8000">
                  <a:solidFill>
                    <a:srgbClr val="FF0000"/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Thank YOU</a:t>
            </a:r>
            <a:endParaRPr lang="en-US" sz="5400" b="1" cap="none" spc="0" dirty="0">
              <a:ln w="18000">
                <a:solidFill>
                  <a:srgbClr val="FF0000"/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896</Words>
  <PresentationFormat>On-screen Show (16:9)</PresentationFormat>
  <Paragraphs>131</Paragraphs>
  <Slides>17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Simple Light</vt:lpstr>
      <vt:lpstr>Operating system</vt:lpstr>
      <vt:lpstr>Interprocess Communication- </vt:lpstr>
      <vt:lpstr>Slide 3</vt:lpstr>
      <vt:lpstr>Slide 4</vt:lpstr>
      <vt:lpstr>Slide 5</vt:lpstr>
      <vt:lpstr>Shared Memory:</vt:lpstr>
      <vt:lpstr>Slide 7</vt:lpstr>
      <vt:lpstr>Message queue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IPC in Linux</dc:title>
  <cp:lastModifiedBy>Rajendra</cp:lastModifiedBy>
  <cp:revision>29</cp:revision>
  <dcterms:modified xsi:type="dcterms:W3CDTF">2024-03-22T04:35:38Z</dcterms:modified>
</cp:coreProperties>
</file>