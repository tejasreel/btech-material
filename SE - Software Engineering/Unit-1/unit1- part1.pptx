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76" r:id="rId3"/>
    <p:sldId id="277" r:id="rId4"/>
    <p:sldId id="278" r:id="rId5"/>
    <p:sldId id="279" r:id="rId6"/>
    <p:sldId id="280" r:id="rId7"/>
    <p:sldId id="263" r:id="rId8"/>
    <p:sldId id="257" r:id="rId9"/>
    <p:sldId id="260" r:id="rId10"/>
    <p:sldId id="281" r:id="rId11"/>
    <p:sldId id="259" r:id="rId12"/>
    <p:sldId id="264" r:id="rId13"/>
    <p:sldId id="265" r:id="rId14"/>
    <p:sldId id="266" r:id="rId15"/>
    <p:sldId id="267" r:id="rId16"/>
    <p:sldId id="268" r:id="rId17"/>
    <p:sldId id="269" r:id="rId18"/>
    <p:sldId id="270" r:id="rId19"/>
    <p:sldId id="271" r:id="rId20"/>
    <p:sldId id="304" r:id="rId21"/>
    <p:sldId id="282" r:id="rId22"/>
    <p:sldId id="302" r:id="rId23"/>
    <p:sldId id="283" r:id="rId24"/>
    <p:sldId id="284" r:id="rId25"/>
    <p:sldId id="285" r:id="rId26"/>
    <p:sldId id="286" r:id="rId27"/>
    <p:sldId id="287" r:id="rId28"/>
    <p:sldId id="288" r:id="rId29"/>
    <p:sldId id="305" r:id="rId30"/>
    <p:sldId id="309" r:id="rId31"/>
    <p:sldId id="306" r:id="rId32"/>
    <p:sldId id="307" r:id="rId33"/>
    <p:sldId id="308" r:id="rId34"/>
    <p:sldId id="289" r:id="rId35"/>
    <p:sldId id="27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0" d="100"/>
          <a:sy n="60" d="100"/>
        </p:scale>
        <p:origin x="840"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F6DF58-07C1-47E2-908D-248519BFEFFD}" type="datetimeFigureOut">
              <a:rPr lang="en-US" smtClean="0"/>
              <a:pPr/>
              <a:t>10/27/2023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6AA95D-ED09-4B86-B597-C5363A340CB1}" type="slidenum">
              <a:rPr lang="en-US" smtClean="0"/>
              <a:pPr/>
              <a:t>‹#›</a:t>
            </a:fld>
            <a:endParaRPr lang="en-US"/>
          </a:p>
        </p:txBody>
      </p:sp>
    </p:spTree>
    <p:extLst>
      <p:ext uri="{BB962C8B-B14F-4D97-AF65-F5344CB8AC3E}">
        <p14:creationId xmlns:p14="http://schemas.microsoft.com/office/powerpoint/2010/main" val="1243359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6AA95D-ED09-4B86-B597-C5363A340CB1}" type="slidenum">
              <a:rPr lang="en-US" smtClean="0"/>
              <a:pPr/>
              <a:t>16</a:t>
            </a:fld>
            <a:endParaRPr lang="en-US"/>
          </a:p>
        </p:txBody>
      </p:sp>
    </p:spTree>
    <p:extLst>
      <p:ext uri="{BB962C8B-B14F-4D97-AF65-F5344CB8AC3E}">
        <p14:creationId xmlns:p14="http://schemas.microsoft.com/office/powerpoint/2010/main" val="175873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7885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433BA38-15BC-4575-80FA-ACD3DF9359C3}" type="datetime1">
              <a:rPr lang="en-US" smtClean="0"/>
              <a:pPr/>
              <a:t>10/27/2023</a:t>
            </a:fld>
            <a:endParaRPr lang="en-US"/>
          </a:p>
        </p:txBody>
      </p:sp>
      <p:sp>
        <p:nvSpPr>
          <p:cNvPr id="5" name="Footer Placeholder 4"/>
          <p:cNvSpPr>
            <a:spLocks noGrp="1"/>
          </p:cNvSpPr>
          <p:nvPr>
            <p:ph type="ftr" sz="quarter" idx="11"/>
          </p:nvPr>
        </p:nvSpPr>
        <p:spPr/>
        <p:txBody>
          <a:bodyPr/>
          <a:lstStyle/>
          <a:p>
            <a:r>
              <a:rPr lang="en-US"/>
              <a:t>Introduction to Software                                                                              Software Engineering                                     Daniel / CSBS</a:t>
            </a:r>
          </a:p>
        </p:txBody>
      </p:sp>
      <p:sp>
        <p:nvSpPr>
          <p:cNvPr id="6" name="Slide Number Placeholder 5"/>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1439303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93F6CC-6E25-4BD2-A8CE-99DCC95A6D4C}" type="datetime1">
              <a:rPr lang="en-US" smtClean="0"/>
              <a:pPr/>
              <a:t>10/27/2023</a:t>
            </a:fld>
            <a:endParaRPr lang="en-US"/>
          </a:p>
        </p:txBody>
      </p:sp>
      <p:sp>
        <p:nvSpPr>
          <p:cNvPr id="5" name="Footer Placeholder 4"/>
          <p:cNvSpPr>
            <a:spLocks noGrp="1"/>
          </p:cNvSpPr>
          <p:nvPr>
            <p:ph type="ftr" sz="quarter" idx="11"/>
          </p:nvPr>
        </p:nvSpPr>
        <p:spPr/>
        <p:txBody>
          <a:bodyPr/>
          <a:lstStyle/>
          <a:p>
            <a:r>
              <a:rPr lang="en-US"/>
              <a:t>Introduction to Software                                                                              Software Engineering                                     Daniel / CSBS</a:t>
            </a:r>
          </a:p>
        </p:txBody>
      </p:sp>
      <p:sp>
        <p:nvSpPr>
          <p:cNvPr id="6" name="Slide Number Placeholder 5"/>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1924927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3962A80-1927-44D8-973E-3466E259C4A2}" type="datetime1">
              <a:rPr lang="en-US" smtClean="0"/>
              <a:pPr/>
              <a:t>10/27/2023</a:t>
            </a:fld>
            <a:endParaRPr lang="en-US"/>
          </a:p>
        </p:txBody>
      </p:sp>
      <p:sp>
        <p:nvSpPr>
          <p:cNvPr id="5" name="Footer Placeholder 4"/>
          <p:cNvSpPr>
            <a:spLocks noGrp="1"/>
          </p:cNvSpPr>
          <p:nvPr>
            <p:ph type="ftr" sz="quarter" idx="11"/>
          </p:nvPr>
        </p:nvSpPr>
        <p:spPr/>
        <p:txBody>
          <a:bodyPr/>
          <a:lstStyle/>
          <a:p>
            <a:r>
              <a:rPr lang="en-US"/>
              <a:t>Introduction to Software                                                                              Software Engineering                                     Daniel / CSBS</a:t>
            </a:r>
          </a:p>
        </p:txBody>
      </p:sp>
      <p:sp>
        <p:nvSpPr>
          <p:cNvPr id="6" name="Slide Number Placeholder 5"/>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1264240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BE699C0-64C6-4187-8B83-EBE27AB39704}" type="datetime1">
              <a:rPr lang="en-US" smtClean="0"/>
              <a:pPr/>
              <a:t>10/27/2023</a:t>
            </a:fld>
            <a:endParaRPr lang="en-US"/>
          </a:p>
        </p:txBody>
      </p:sp>
      <p:sp>
        <p:nvSpPr>
          <p:cNvPr id="6" name="Footer Placeholder 5"/>
          <p:cNvSpPr>
            <a:spLocks noGrp="1"/>
          </p:cNvSpPr>
          <p:nvPr>
            <p:ph type="ftr" sz="quarter" idx="11"/>
          </p:nvPr>
        </p:nvSpPr>
        <p:spPr/>
        <p:txBody>
          <a:bodyPr/>
          <a:lstStyle/>
          <a:p>
            <a:r>
              <a:rPr lang="en-US"/>
              <a:t>Introduction to Software                                                                              Software Engineering                                     Daniel / CSBS</a:t>
            </a:r>
          </a:p>
        </p:txBody>
      </p:sp>
      <p:sp>
        <p:nvSpPr>
          <p:cNvPr id="7" name="Slide Number Placeholder 6"/>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1482582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B4E66E-91F9-4FE5-B7CD-B485E56D7CE2}" type="datetime1">
              <a:rPr lang="en-US" smtClean="0"/>
              <a:pPr/>
              <a:t>10/27/2023</a:t>
            </a:fld>
            <a:endParaRPr lang="en-US"/>
          </a:p>
        </p:txBody>
      </p:sp>
      <p:sp>
        <p:nvSpPr>
          <p:cNvPr id="8" name="Footer Placeholder 7"/>
          <p:cNvSpPr>
            <a:spLocks noGrp="1"/>
          </p:cNvSpPr>
          <p:nvPr>
            <p:ph type="ftr" sz="quarter" idx="11"/>
          </p:nvPr>
        </p:nvSpPr>
        <p:spPr/>
        <p:txBody>
          <a:bodyPr/>
          <a:lstStyle/>
          <a:p>
            <a:r>
              <a:rPr lang="en-US"/>
              <a:t>Introduction to Software                                                                              Software Engineering                                     Daniel / CSBS</a:t>
            </a:r>
          </a:p>
        </p:txBody>
      </p:sp>
      <p:sp>
        <p:nvSpPr>
          <p:cNvPr id="9" name="Slide Number Placeholder 8"/>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736871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C03ED5-08B2-4839-A9FB-E571B402E7C7}" type="datetime1">
              <a:rPr lang="en-US" smtClean="0"/>
              <a:pPr/>
              <a:t>10/27/2023</a:t>
            </a:fld>
            <a:endParaRPr lang="en-US"/>
          </a:p>
        </p:txBody>
      </p:sp>
      <p:sp>
        <p:nvSpPr>
          <p:cNvPr id="4" name="Footer Placeholder 3"/>
          <p:cNvSpPr>
            <a:spLocks noGrp="1"/>
          </p:cNvSpPr>
          <p:nvPr>
            <p:ph type="ftr" sz="quarter" idx="11"/>
          </p:nvPr>
        </p:nvSpPr>
        <p:spPr/>
        <p:txBody>
          <a:bodyPr/>
          <a:lstStyle/>
          <a:p>
            <a:r>
              <a:rPr lang="en-US"/>
              <a:t>Introduction to Software                                                                              Software Engineering                                     Daniel / CSBS</a:t>
            </a:r>
          </a:p>
        </p:txBody>
      </p:sp>
      <p:sp>
        <p:nvSpPr>
          <p:cNvPr id="5" name="Slide Number Placeholder 4"/>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574729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AED17B-C3F1-4305-9D41-3E4D71ADD9A0}" type="datetime1">
              <a:rPr lang="en-US" smtClean="0"/>
              <a:pPr/>
              <a:t>10/27/2023</a:t>
            </a:fld>
            <a:endParaRPr lang="en-US"/>
          </a:p>
        </p:txBody>
      </p:sp>
      <p:sp>
        <p:nvSpPr>
          <p:cNvPr id="3" name="Footer Placeholder 2"/>
          <p:cNvSpPr>
            <a:spLocks noGrp="1"/>
          </p:cNvSpPr>
          <p:nvPr>
            <p:ph type="ftr" sz="quarter" idx="11"/>
          </p:nvPr>
        </p:nvSpPr>
        <p:spPr/>
        <p:txBody>
          <a:bodyPr/>
          <a:lstStyle/>
          <a:p>
            <a:r>
              <a:rPr lang="en-US"/>
              <a:t>Introduction to Software                                                                              Software Engineering                                     Daniel / CSBS</a:t>
            </a:r>
          </a:p>
        </p:txBody>
      </p:sp>
      <p:sp>
        <p:nvSpPr>
          <p:cNvPr id="4" name="Slide Number Placeholder 3"/>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119164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8EE4394-F809-4AFA-B411-49870DEEAE52}" type="datetime1">
              <a:rPr lang="en-US" smtClean="0"/>
              <a:pPr/>
              <a:t>10/27/2023</a:t>
            </a:fld>
            <a:endParaRPr lang="en-US"/>
          </a:p>
        </p:txBody>
      </p:sp>
      <p:sp>
        <p:nvSpPr>
          <p:cNvPr id="6" name="Footer Placeholder 5"/>
          <p:cNvSpPr>
            <a:spLocks noGrp="1"/>
          </p:cNvSpPr>
          <p:nvPr>
            <p:ph type="ftr" sz="quarter" idx="11"/>
          </p:nvPr>
        </p:nvSpPr>
        <p:spPr/>
        <p:txBody>
          <a:bodyPr/>
          <a:lstStyle/>
          <a:p>
            <a:r>
              <a:rPr lang="en-US"/>
              <a:t>Introduction to Software                                                                              Software Engineering                                     Daniel / CSBS</a:t>
            </a:r>
          </a:p>
        </p:txBody>
      </p:sp>
      <p:sp>
        <p:nvSpPr>
          <p:cNvPr id="7" name="Slide Number Placeholder 6"/>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2350782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8ECCF3B-3139-4E57-B7A0-FBB02A7E6C3F}" type="datetime1">
              <a:rPr lang="en-US" smtClean="0"/>
              <a:pPr/>
              <a:t>10/27/2023</a:t>
            </a:fld>
            <a:endParaRPr lang="en-US"/>
          </a:p>
        </p:txBody>
      </p:sp>
      <p:sp>
        <p:nvSpPr>
          <p:cNvPr id="6" name="Footer Placeholder 5"/>
          <p:cNvSpPr>
            <a:spLocks noGrp="1"/>
          </p:cNvSpPr>
          <p:nvPr>
            <p:ph type="ftr" sz="quarter" idx="11"/>
          </p:nvPr>
        </p:nvSpPr>
        <p:spPr/>
        <p:txBody>
          <a:bodyPr/>
          <a:lstStyle/>
          <a:p>
            <a:r>
              <a:rPr lang="en-US"/>
              <a:t>Introduction to Software                                                                              Software Engineering                                     Daniel / CSBS</a:t>
            </a:r>
          </a:p>
        </p:txBody>
      </p:sp>
      <p:sp>
        <p:nvSpPr>
          <p:cNvPr id="7" name="Slide Number Placeholder 6"/>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3382168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67FEEE-C4D2-4B51-BC72-9ACEB5AD425B}" type="datetime1">
              <a:rPr lang="en-US" smtClean="0"/>
              <a:pPr/>
              <a:t>10/27/2023</a:t>
            </a:fld>
            <a:endParaRPr lang="en-US"/>
          </a:p>
        </p:txBody>
      </p:sp>
      <p:sp>
        <p:nvSpPr>
          <p:cNvPr id="5" name="Footer Placeholder 4"/>
          <p:cNvSpPr>
            <a:spLocks noGrp="1"/>
          </p:cNvSpPr>
          <p:nvPr>
            <p:ph type="ftr" sz="quarter" idx="11"/>
          </p:nvPr>
        </p:nvSpPr>
        <p:spPr/>
        <p:txBody>
          <a:bodyPr/>
          <a:lstStyle/>
          <a:p>
            <a:r>
              <a:rPr lang="en-US"/>
              <a:t>Introduction to Software                                                                              Software Engineering                                     Daniel / CSBS</a:t>
            </a:r>
          </a:p>
        </p:txBody>
      </p:sp>
      <p:sp>
        <p:nvSpPr>
          <p:cNvPr id="6" name="Slide Number Placeholder 5"/>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435042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5CD8A1-FBDE-41DE-AB81-829D0CE0EAC6}" type="datetime1">
              <a:rPr lang="en-US" smtClean="0"/>
              <a:pPr/>
              <a:t>10/27/2023</a:t>
            </a:fld>
            <a:endParaRPr lang="en-US"/>
          </a:p>
        </p:txBody>
      </p:sp>
      <p:sp>
        <p:nvSpPr>
          <p:cNvPr id="5" name="Footer Placeholder 4"/>
          <p:cNvSpPr>
            <a:spLocks noGrp="1"/>
          </p:cNvSpPr>
          <p:nvPr>
            <p:ph type="ftr" sz="quarter" idx="11"/>
          </p:nvPr>
        </p:nvSpPr>
        <p:spPr/>
        <p:txBody>
          <a:bodyPr/>
          <a:lstStyle/>
          <a:p>
            <a:r>
              <a:rPr lang="en-US"/>
              <a:t>Introduction to Software                                                                              Software Engineering                                     Daniel / CSBS</a:t>
            </a:r>
          </a:p>
        </p:txBody>
      </p:sp>
      <p:sp>
        <p:nvSpPr>
          <p:cNvPr id="6" name="Slide Number Placeholder 5"/>
          <p:cNvSpPr>
            <a:spLocks noGrp="1"/>
          </p:cNvSpPr>
          <p:nvPr>
            <p:ph type="sldNum" sz="quarter" idx="12"/>
          </p:nvPr>
        </p:nvSpPr>
        <p:spPr/>
        <p:txBody>
          <a:bodyPr/>
          <a:lstStyle/>
          <a:p>
            <a:fld id="{F67369A8-1CF3-445E-B5C9-71161F746877}" type="slidenum">
              <a:rPr lang="en-US" smtClean="0"/>
              <a:pPr/>
              <a:t>‹#›</a:t>
            </a:fld>
            <a:endParaRPr lang="en-US"/>
          </a:p>
        </p:txBody>
      </p:sp>
    </p:spTree>
    <p:extLst>
      <p:ext uri="{BB962C8B-B14F-4D97-AF65-F5344CB8AC3E}">
        <p14:creationId xmlns:p14="http://schemas.microsoft.com/office/powerpoint/2010/main" val="282527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D5F47F-CD09-4CCA-9494-46DC2BAC890D}" type="datetime1">
              <a:rPr lang="en-US" smtClean="0"/>
              <a:pPr/>
              <a:t>10/27/2023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Introduction to Software                                                                              Software Engineering                                     Daniel / CSBS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7369A8-1CF3-445E-B5C9-71161F746877}" type="slidenum">
              <a:rPr lang="en-US" smtClean="0"/>
              <a:pPr/>
              <a:t>‹#›</a:t>
            </a:fld>
            <a:endParaRPr lang="en-US"/>
          </a:p>
        </p:txBody>
      </p:sp>
    </p:spTree>
    <p:extLst>
      <p:ext uri="{BB962C8B-B14F-4D97-AF65-F5344CB8AC3E}">
        <p14:creationId xmlns:p14="http://schemas.microsoft.com/office/powerpoint/2010/main" val="3911439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Computer_programming" TargetMode="External"/><Relationship Id="rId2" Type="http://schemas.openxmlformats.org/officeDocument/2006/relationships/hyperlink" Target="https://en.wikipedia.org/wiki/Software_developmen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n.wikipedia.org/wiki/Modularity_(programm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Abstraction_(computer_scienc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solidFill>
                  <a:srgbClr val="FFC000"/>
                </a:solidFill>
                <a:latin typeface="Arial" panose="020B0604020202020204" pitchFamily="34" charset="0"/>
                <a:cs typeface="Arial" panose="020B0604020202020204" pitchFamily="34" charset="0"/>
              </a:rPr>
              <a:t>T</a:t>
            </a:r>
            <a:br>
              <a:rPr lang="en-US" sz="4000" b="1" dirty="0">
                <a:solidFill>
                  <a:srgbClr val="FFC000"/>
                </a:solidFill>
                <a:latin typeface="Arial" panose="020B0604020202020204" pitchFamily="34" charset="0"/>
                <a:cs typeface="Arial" panose="020B0604020202020204" pitchFamily="34" charset="0"/>
              </a:rPr>
            </a:br>
            <a:br>
              <a:rPr lang="en-US" sz="4000" b="1" dirty="0">
                <a:solidFill>
                  <a:srgbClr val="FFC000"/>
                </a:solidFill>
                <a:latin typeface="Arial" panose="020B0604020202020204" pitchFamily="34" charset="0"/>
                <a:cs typeface="Arial" panose="020B0604020202020204" pitchFamily="34" charset="0"/>
              </a:rPr>
            </a:br>
            <a:br>
              <a:rPr lang="en-US" sz="4000" b="1" dirty="0">
                <a:solidFill>
                  <a:srgbClr val="FFC000"/>
                </a:solidFill>
                <a:latin typeface="Arial" panose="020B0604020202020204" pitchFamily="34" charset="0"/>
                <a:cs typeface="Arial" panose="020B0604020202020204" pitchFamily="34" charset="0"/>
              </a:rPr>
            </a:br>
            <a:br>
              <a:rPr lang="en-US" sz="4000" b="1" dirty="0">
                <a:solidFill>
                  <a:srgbClr val="FFC000"/>
                </a:solidFill>
                <a:latin typeface="Arial" panose="020B0604020202020204" pitchFamily="34" charset="0"/>
                <a:cs typeface="Arial" panose="020B0604020202020204" pitchFamily="34" charset="0"/>
              </a:rPr>
            </a:br>
            <a:endParaRPr lang="en-US" sz="4000" b="1" dirty="0">
              <a:solidFill>
                <a:srgbClr val="FFC000"/>
              </a:solidFill>
              <a:latin typeface="Arial" panose="020B0604020202020204" pitchFamily="34" charset="0"/>
              <a:cs typeface="Arial" panose="020B0604020202020204" pitchFamily="34" charset="0"/>
            </a:endParaRPr>
          </a:p>
        </p:txBody>
      </p:sp>
      <p:sp>
        <p:nvSpPr>
          <p:cNvPr id="3" name="Subtitle 2"/>
          <p:cNvSpPr>
            <a:spLocks noGrp="1"/>
          </p:cNvSpPr>
          <p:nvPr>
            <p:ph idx="1"/>
          </p:nvPr>
        </p:nvSpPr>
        <p:spPr>
          <a:xfrm>
            <a:off x="733698" y="1847850"/>
            <a:ext cx="10515600" cy="4351338"/>
          </a:xfrm>
        </p:spPr>
        <p:txBody>
          <a:bodyPr>
            <a:normAutofit/>
          </a:bodyPr>
          <a:lstStyle/>
          <a:p>
            <a:pPr marL="0" indent="0" algn="ctr">
              <a:buNone/>
            </a:pPr>
            <a:r>
              <a:rPr lang="en-US" sz="3600" b="1" dirty="0">
                <a:solidFill>
                  <a:schemeClr val="accent1">
                    <a:lumMod val="50000"/>
                  </a:schemeClr>
                </a:solidFill>
                <a:latin typeface="Arial"/>
                <a:cs typeface="Arial"/>
              </a:rPr>
              <a:t>22PC1CB201</a:t>
            </a:r>
          </a:p>
          <a:p>
            <a:pPr marL="0" indent="0" algn="ctr">
              <a:buNone/>
            </a:pPr>
            <a:r>
              <a:rPr lang="en-US" sz="3600" b="1" dirty="0">
                <a:solidFill>
                  <a:schemeClr val="accent1">
                    <a:lumMod val="50000"/>
                  </a:schemeClr>
                </a:solidFill>
                <a:latin typeface="Arial"/>
                <a:ea typeface="Arial"/>
                <a:cs typeface="Arial"/>
                <a:sym typeface="Arial"/>
              </a:rPr>
              <a:t>SOFTWARE ENGINEERING</a:t>
            </a:r>
            <a:endParaRPr lang="en-US" sz="3600" b="1" dirty="0">
              <a:solidFill>
                <a:srgbClr val="002060"/>
              </a:solidFill>
              <a:latin typeface="Arial" panose="020B0604020202020204" pitchFamily="34" charset="0"/>
              <a:cs typeface="Arial" panose="020B0604020202020204" pitchFamily="34" charset="0"/>
            </a:endParaRPr>
          </a:p>
          <a:p>
            <a:pPr marL="0" indent="0" algn="ctr">
              <a:buNone/>
            </a:pPr>
            <a:r>
              <a:rPr lang="en-US" sz="4000" b="1" dirty="0">
                <a:solidFill>
                  <a:srgbClr val="FFC000"/>
                </a:solidFill>
                <a:latin typeface="Arial" panose="020B0604020202020204" pitchFamily="34" charset="0"/>
                <a:cs typeface="Arial" panose="020B0604020202020204" pitchFamily="34" charset="0"/>
              </a:rPr>
              <a:t>Topic – 1.1</a:t>
            </a:r>
          </a:p>
          <a:p>
            <a:pPr marL="0" indent="0" algn="ctr">
              <a:buNone/>
            </a:pPr>
            <a:r>
              <a:rPr lang="en-US" sz="3600" b="1" dirty="0">
                <a:solidFill>
                  <a:srgbClr val="002060"/>
                </a:solidFill>
                <a:latin typeface="Arial" panose="020B0604020202020204" pitchFamily="34" charset="0"/>
                <a:cs typeface="Arial" panose="020B0604020202020204" pitchFamily="34" charset="0"/>
              </a:rPr>
              <a:t>Introduction to Software :</a:t>
            </a:r>
          </a:p>
          <a:p>
            <a:pPr marL="0" indent="0" algn="ctr">
              <a:buNone/>
            </a:pPr>
            <a:r>
              <a:rPr lang="en-US" sz="3600" b="1" dirty="0">
                <a:solidFill>
                  <a:srgbClr val="002060"/>
                </a:solidFill>
                <a:latin typeface="Arial" panose="020B0604020202020204" pitchFamily="34" charset="0"/>
                <a:cs typeface="Arial" panose="020B0604020202020204" pitchFamily="34" charset="0"/>
              </a:rPr>
              <a:t>Programming in Large vs Small</a:t>
            </a:r>
          </a:p>
        </p:txBody>
      </p:sp>
    </p:spTree>
    <p:extLst>
      <p:ext uri="{BB962C8B-B14F-4D97-AF65-F5344CB8AC3E}">
        <p14:creationId xmlns:p14="http://schemas.microsoft.com/office/powerpoint/2010/main" val="2684839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r>
              <a:rPr lang="en-US" dirty="0"/>
              <a:t>Scenario of “ vasa “</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1487" y="1306286"/>
            <a:ext cx="10087428" cy="4870678"/>
          </a:xfrm>
        </p:spPr>
      </p:pic>
    </p:spTree>
    <p:extLst>
      <p:ext uri="{BB962C8B-B14F-4D97-AF65-F5344CB8AC3E}">
        <p14:creationId xmlns:p14="http://schemas.microsoft.com/office/powerpoint/2010/main" val="3785458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03086"/>
            <a:ext cx="10515600" cy="5073877"/>
          </a:xfrm>
        </p:spPr>
        <p:txBody>
          <a:bodyPr>
            <a:noAutofit/>
          </a:bodyPr>
          <a:lstStyle/>
          <a:p>
            <a:pPr algn="just" fontAlgn="base"/>
            <a:r>
              <a:rPr lang="en-IN" sz="1600" dirty="0"/>
              <a:t>It was the 16th of January in the year of 1625 that King Gustav II Adolph of Sweden sign a contract with the shipbuilders (Hendrik and </a:t>
            </a:r>
            <a:r>
              <a:rPr lang="en-IN" sz="1600" dirty="0" err="1"/>
              <a:t>Arend</a:t>
            </a:r>
            <a:r>
              <a:rPr lang="en-IN" sz="1600" dirty="0"/>
              <a:t> </a:t>
            </a:r>
            <a:r>
              <a:rPr lang="en-IN" sz="1600" dirty="0" err="1"/>
              <a:t>Hybertsson</a:t>
            </a:r>
            <a:r>
              <a:rPr lang="en-IN" sz="1600" dirty="0"/>
              <a:t>) to build four ships. Two smaller ships (108-ft keel length) and two bigger ships (135-ft keel length) were to be built over the course of four years. In the months  that followed, King Gustav changed his orders several times, leading to total chaos and confusion for the builders.</a:t>
            </a:r>
          </a:p>
          <a:p>
            <a:pPr algn="just" fontAlgn="base"/>
            <a:r>
              <a:rPr lang="en-IN" sz="1600" dirty="0"/>
              <a:t>The Swedish Navy lost ten ships on 10th of September 1625, which lead the king to order that the two smaller ships be built on an accelerated schedule to compensate for those they had lost. One can’t blame him, as those were the days when various parts of the world were colonized, and naval forces meant strength. These were meant to be two small ships (111-ft and 135-ft ships). Please note that the dimensions stated relate to the keel length unless explicitly specified otherwise.</a:t>
            </a:r>
          </a:p>
          <a:p>
            <a:pPr algn="just" fontAlgn="base"/>
            <a:r>
              <a:rPr lang="en-IN" sz="1600" dirty="0"/>
              <a:t>On one front, the construction of the 111-ft ship with a single gun-deck began. Simultaneously, on the other, the king received news that the Danish were building a ship with two gun-decks. How did the king react to this one-upmanship? Yes, if you know anything about the egos of kings and dictators, you will have guessed it right. He immediately ordered Admiral Fleming to build a 135-ft ship with two gun-decks. Until then, no one in Sweden had ever built a ship with two decks. This development from one- to two-deck warships marked a significant change in Naval architecture between 1600–1700.</a:t>
            </a:r>
          </a:p>
          <a:p>
            <a:pPr algn="just"/>
            <a:r>
              <a:rPr lang="en-IN" sz="1600" dirty="0"/>
              <a:t>While the original Vasa was a traditional architecture that was commonly used in shipbuilding, it is believed that it is likely that no specifications, crude designs or plans were made. </a:t>
            </a:r>
            <a:r>
              <a:rPr lang="en-IN" sz="1600" dirty="0" err="1"/>
              <a:t>Hybertsson</a:t>
            </a:r>
            <a:r>
              <a:rPr lang="en-IN" sz="1600" dirty="0"/>
              <a:t> was an experienced shipbuilder . However, once the circumstances changed, no modified plans were found for the larger, more complex version of the Vasa. Under time pressure, it is believed that Henrik </a:t>
            </a:r>
            <a:r>
              <a:rPr lang="en-IN" sz="1600" dirty="0" err="1"/>
              <a:t>Hybertsson</a:t>
            </a:r>
            <a:r>
              <a:rPr lang="en-IN" sz="1600" dirty="0"/>
              <a:t> just “scaled-up” the dimensions of the original 108-ft ship to meet the length and breadth of the new 135-ft Vasa. Since this was totally unplanned, the width of the upper parts of the ship was wider than originally planned by one-foot and five-inches. </a:t>
            </a:r>
          </a:p>
        </p:txBody>
      </p:sp>
    </p:spTree>
    <p:extLst>
      <p:ext uri="{BB962C8B-B14F-4D97-AF65-F5344CB8AC3E}">
        <p14:creationId xmlns:p14="http://schemas.microsoft.com/office/powerpoint/2010/main" val="205288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4743"/>
            <a:ext cx="10515600" cy="5422220"/>
          </a:xfrm>
        </p:spPr>
        <p:txBody>
          <a:bodyPr>
            <a:normAutofit fontScale="92500" lnSpcReduction="20000"/>
          </a:bodyPr>
          <a:lstStyle/>
          <a:p>
            <a:r>
              <a:rPr lang="en-IN" sz="2600" dirty="0"/>
              <a:t>King Gustav changed his orders several times, leading to total chaos and confusion for the builders.</a:t>
            </a:r>
          </a:p>
          <a:p>
            <a:r>
              <a:rPr lang="en-IN" sz="2600" dirty="0"/>
              <a:t>This development from one- to two-deck warships marked a significant change in Naval architecture between 1600–1700.</a:t>
            </a:r>
          </a:p>
          <a:p>
            <a:r>
              <a:rPr lang="en-IN" sz="2600" dirty="0"/>
              <a:t>it is believed that it is likely that no specifications, crude designs or plans were made</a:t>
            </a:r>
          </a:p>
          <a:p>
            <a:r>
              <a:rPr lang="en-IN" sz="2600" dirty="0"/>
              <a:t>However, once the circumstances changed, no modified plans were found for the larger, more complex version of the Vasa. </a:t>
            </a:r>
          </a:p>
          <a:p>
            <a:r>
              <a:rPr lang="en-IN" sz="2600" dirty="0"/>
              <a:t>Under time pressure, it is believed that Henrik </a:t>
            </a:r>
            <a:r>
              <a:rPr lang="en-IN" sz="2600" dirty="0" err="1"/>
              <a:t>Hybertsson</a:t>
            </a:r>
            <a:r>
              <a:rPr lang="en-IN" sz="2600" dirty="0"/>
              <a:t> just “scaled-up” the dimensions of the original 108-ft ship to meet the length and breadth of the new 135-ft Vasa. </a:t>
            </a:r>
          </a:p>
          <a:p>
            <a:pPr fontAlgn="base"/>
            <a:r>
              <a:rPr lang="en-IN" sz="2600" dirty="0"/>
              <a:t>the primary designer, Henrik </a:t>
            </a:r>
            <a:r>
              <a:rPr lang="en-IN" sz="2600" dirty="0" err="1"/>
              <a:t>Hybertsson</a:t>
            </a:r>
            <a:r>
              <a:rPr lang="en-IN" sz="2600" dirty="0"/>
              <a:t>, fell ill and died in 1627, almost one year before the Vasa was completed.</a:t>
            </a:r>
          </a:p>
          <a:p>
            <a:r>
              <a:rPr lang="en-IN" sz="2600" dirty="0"/>
              <a:t>The plans were undocumented, there were no detailed specifications, and five different teams were working on the hull without any intercommunication</a:t>
            </a:r>
          </a:p>
          <a:p>
            <a:r>
              <a:rPr lang="en-IN" sz="2400" b="1" dirty="0"/>
              <a:t>Was the Vasa Ship Tested?</a:t>
            </a:r>
            <a:endParaRPr lang="en-IN" sz="2400" dirty="0"/>
          </a:p>
          <a:p>
            <a:endParaRPr lang="en-IN" sz="2600" dirty="0"/>
          </a:p>
          <a:p>
            <a:endParaRPr lang="en-IN" dirty="0"/>
          </a:p>
        </p:txBody>
      </p:sp>
    </p:spTree>
    <p:extLst>
      <p:ext uri="{BB962C8B-B14F-4D97-AF65-F5344CB8AC3E}">
        <p14:creationId xmlns:p14="http://schemas.microsoft.com/office/powerpoint/2010/main" val="2085400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1. Unreasonable time pressure</a:t>
            </a:r>
            <a:br>
              <a:rPr lang="en-IN" dirty="0"/>
            </a:br>
            <a:r>
              <a:rPr lang="en-IN" dirty="0"/>
              <a:t>2. Changing specifications and lack of documentation or project plan</a:t>
            </a:r>
            <a:br>
              <a:rPr lang="en-IN" dirty="0"/>
            </a:br>
            <a:r>
              <a:rPr lang="en-IN" dirty="0"/>
              <a:t>3. Over innovation</a:t>
            </a:r>
            <a:br>
              <a:rPr lang="en-IN" dirty="0"/>
            </a:br>
            <a:r>
              <a:rPr lang="en-IN" dirty="0"/>
              <a:t>4. Lack of scientific methods and reasoning</a:t>
            </a:r>
          </a:p>
          <a:p>
            <a:endParaRPr lang="en-IN" dirty="0"/>
          </a:p>
        </p:txBody>
      </p:sp>
    </p:spTree>
    <p:extLst>
      <p:ext uri="{BB962C8B-B14F-4D97-AF65-F5344CB8AC3E}">
        <p14:creationId xmlns:p14="http://schemas.microsoft.com/office/powerpoint/2010/main" val="1081498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fontScale="90000"/>
          </a:bodyPr>
          <a:lstStyle/>
          <a:p>
            <a:r>
              <a:rPr lang="en-IN" dirty="0"/>
              <a:t>Emergence of software engineering as a discipline</a:t>
            </a:r>
          </a:p>
        </p:txBody>
      </p:sp>
      <p:sp>
        <p:nvSpPr>
          <p:cNvPr id="3" name="Content Placeholder 2"/>
          <p:cNvSpPr>
            <a:spLocks noGrp="1"/>
          </p:cNvSpPr>
          <p:nvPr>
            <p:ph idx="1"/>
          </p:nvPr>
        </p:nvSpPr>
        <p:spPr>
          <a:xfrm>
            <a:off x="657896" y="1244033"/>
            <a:ext cx="10381343" cy="5335134"/>
          </a:xfrm>
        </p:spPr>
        <p:txBody>
          <a:bodyPr/>
          <a:lstStyle/>
          <a:p>
            <a:pPr marL="0" indent="0">
              <a:buNone/>
            </a:pPr>
            <a:r>
              <a:rPr lang="en-US" b="1" dirty="0"/>
              <a:t> </a:t>
            </a:r>
            <a:r>
              <a:rPr lang="en-US" b="1" dirty="0">
                <a:solidFill>
                  <a:schemeClr val="accent1">
                    <a:lumMod val="75000"/>
                  </a:schemeClr>
                </a:solidFill>
              </a:rPr>
              <a:t>Engineering :</a:t>
            </a:r>
          </a:p>
          <a:p>
            <a:pPr marL="0" indent="0">
              <a:buNone/>
            </a:pPr>
            <a:endParaRPr lang="en-US" b="1" dirty="0"/>
          </a:p>
          <a:p>
            <a:pPr marL="0" indent="0">
              <a:buNone/>
            </a:pPr>
            <a:r>
              <a:rPr lang="en-US" b="1" dirty="0"/>
              <a:t>Art and profession of</a:t>
            </a:r>
          </a:p>
        </p:txBody>
      </p:sp>
      <p:cxnSp>
        <p:nvCxnSpPr>
          <p:cNvPr id="10" name="Straight Arrow Connector 9"/>
          <p:cNvCxnSpPr/>
          <p:nvPr/>
        </p:nvCxnSpPr>
        <p:spPr>
          <a:xfrm>
            <a:off x="8534399" y="3911600"/>
            <a:ext cx="972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2810631400"/>
              </p:ext>
            </p:extLst>
          </p:nvPr>
        </p:nvGraphicFramePr>
        <p:xfrm>
          <a:off x="3860801" y="3199594"/>
          <a:ext cx="2588444" cy="3015265"/>
        </p:xfrm>
        <a:graphic>
          <a:graphicData uri="http://schemas.openxmlformats.org/drawingml/2006/table">
            <a:tbl>
              <a:tblPr firstRow="1" bandRow="1">
                <a:tableStyleId>{5C22544A-7EE6-4342-B048-85BDC9FD1C3A}</a:tableStyleId>
              </a:tblPr>
              <a:tblGrid>
                <a:gridCol w="2588444">
                  <a:extLst>
                    <a:ext uri="{9D8B030D-6E8A-4147-A177-3AD203B41FA5}">
                      <a16:colId xmlns:a16="http://schemas.microsoft.com/office/drawing/2014/main" val="20000"/>
                    </a:ext>
                  </a:extLst>
                </a:gridCol>
              </a:tblGrid>
              <a:tr h="391349">
                <a:tc>
                  <a:txBody>
                    <a:bodyPr/>
                    <a:lstStyle/>
                    <a:p>
                      <a:r>
                        <a:rPr lang="en-US" sz="2400" dirty="0"/>
                        <a:t>technical</a:t>
                      </a:r>
                      <a:endParaRPr lang="en-IN" sz="2400" dirty="0"/>
                    </a:p>
                  </a:txBody>
                  <a:tcPr/>
                </a:tc>
                <a:extLst>
                  <a:ext uri="{0D108BD9-81ED-4DB2-BD59-A6C34878D82A}">
                    <a16:rowId xmlns:a16="http://schemas.microsoft.com/office/drawing/2014/main" val="10000"/>
                  </a:ext>
                </a:extLst>
              </a:tr>
              <a:tr h="391349">
                <a:tc>
                  <a:txBody>
                    <a:bodyPr/>
                    <a:lstStyle/>
                    <a:p>
                      <a:r>
                        <a:rPr lang="en-US" sz="2400" dirty="0"/>
                        <a:t>Scientific </a:t>
                      </a:r>
                      <a:endParaRPr lang="en-IN" sz="2400" dirty="0"/>
                    </a:p>
                  </a:txBody>
                  <a:tcPr/>
                </a:tc>
                <a:extLst>
                  <a:ext uri="{0D108BD9-81ED-4DB2-BD59-A6C34878D82A}">
                    <a16:rowId xmlns:a16="http://schemas.microsoft.com/office/drawing/2014/main" val="10001"/>
                  </a:ext>
                </a:extLst>
              </a:tr>
              <a:tr h="391349">
                <a:tc>
                  <a:txBody>
                    <a:bodyPr/>
                    <a:lstStyle/>
                    <a:p>
                      <a:r>
                        <a:rPr lang="en-US" sz="2400" dirty="0"/>
                        <a:t>Mathematical </a:t>
                      </a:r>
                      <a:endParaRPr lang="en-IN" sz="2400" dirty="0"/>
                    </a:p>
                  </a:txBody>
                  <a:tcPr/>
                </a:tc>
                <a:extLst>
                  <a:ext uri="{0D108BD9-81ED-4DB2-BD59-A6C34878D82A}">
                    <a16:rowId xmlns:a16="http://schemas.microsoft.com/office/drawing/2014/main" val="10002"/>
                  </a:ext>
                </a:extLst>
              </a:tr>
              <a:tr h="16436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FF0000"/>
                          </a:solidFill>
                        </a:rPr>
                        <a:t>knowledge to </a:t>
                      </a:r>
                      <a:endParaRPr lang="en-IN" sz="2400" dirty="0">
                        <a:solidFill>
                          <a:srgbClr val="FF0000"/>
                        </a:solidFill>
                      </a:endParaRPr>
                    </a:p>
                    <a:p>
                      <a:endParaRPr lang="en-IN" sz="2400" dirty="0"/>
                    </a:p>
                  </a:txBody>
                  <a:tcPr/>
                </a:tc>
                <a:extLst>
                  <a:ext uri="{0D108BD9-81ED-4DB2-BD59-A6C34878D82A}">
                    <a16:rowId xmlns:a16="http://schemas.microsoft.com/office/drawing/2014/main" val="10003"/>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3383139814"/>
              </p:ext>
            </p:extLst>
          </p:nvPr>
        </p:nvGraphicFramePr>
        <p:xfrm>
          <a:off x="7859484" y="3077028"/>
          <a:ext cx="2735945" cy="3148558"/>
        </p:xfrm>
        <a:graphic>
          <a:graphicData uri="http://schemas.openxmlformats.org/drawingml/2006/table">
            <a:tbl>
              <a:tblPr firstRow="1" bandRow="1">
                <a:tableStyleId>{5C22544A-7EE6-4342-B048-85BDC9FD1C3A}</a:tableStyleId>
              </a:tblPr>
              <a:tblGrid>
                <a:gridCol w="2735945">
                  <a:extLst>
                    <a:ext uri="{9D8B030D-6E8A-4147-A177-3AD203B41FA5}">
                      <a16:colId xmlns:a16="http://schemas.microsoft.com/office/drawing/2014/main" val="20000"/>
                    </a:ext>
                  </a:extLst>
                </a:gridCol>
              </a:tblGrid>
              <a:tr h="121147">
                <a:tc>
                  <a:txBody>
                    <a:bodyPr/>
                    <a:lstStyle/>
                    <a:p>
                      <a:r>
                        <a:rPr lang="en-US" sz="2000" dirty="0"/>
                        <a:t>Design </a:t>
                      </a:r>
                      <a:endParaRPr lang="en-IN" sz="2000" dirty="0"/>
                    </a:p>
                  </a:txBody>
                  <a:tcPr/>
                </a:tc>
                <a:extLst>
                  <a:ext uri="{0D108BD9-81ED-4DB2-BD59-A6C34878D82A}">
                    <a16:rowId xmlns:a16="http://schemas.microsoft.com/office/drawing/2014/main" val="10000"/>
                  </a:ext>
                </a:extLst>
              </a:tr>
              <a:tr h="392702">
                <a:tc>
                  <a:txBody>
                    <a:bodyPr/>
                    <a:lstStyle/>
                    <a:p>
                      <a:r>
                        <a:rPr lang="en-US" sz="2000" dirty="0"/>
                        <a:t>Implementation materials </a:t>
                      </a:r>
                      <a:endParaRPr lang="en-IN" sz="2000" dirty="0"/>
                    </a:p>
                  </a:txBody>
                  <a:tcPr/>
                </a:tc>
                <a:extLst>
                  <a:ext uri="{0D108BD9-81ED-4DB2-BD59-A6C34878D82A}">
                    <a16:rowId xmlns:a16="http://schemas.microsoft.com/office/drawing/2014/main" val="10001"/>
                  </a:ext>
                </a:extLst>
              </a:tr>
              <a:tr h="392702">
                <a:tc>
                  <a:txBody>
                    <a:bodyPr/>
                    <a:lstStyle/>
                    <a:p>
                      <a:r>
                        <a:rPr lang="en-US" sz="2000" dirty="0"/>
                        <a:t>Structures </a:t>
                      </a:r>
                      <a:endParaRPr lang="en-IN" sz="2000" dirty="0"/>
                    </a:p>
                  </a:txBody>
                  <a:tcPr/>
                </a:tc>
                <a:extLst>
                  <a:ext uri="{0D108BD9-81ED-4DB2-BD59-A6C34878D82A}">
                    <a16:rowId xmlns:a16="http://schemas.microsoft.com/office/drawing/2014/main" val="10002"/>
                  </a:ext>
                </a:extLst>
              </a:tr>
              <a:tr h="392702">
                <a:tc>
                  <a:txBody>
                    <a:bodyPr/>
                    <a:lstStyle/>
                    <a:p>
                      <a:r>
                        <a:rPr lang="en-US" sz="2000" dirty="0"/>
                        <a:t>Machines </a:t>
                      </a:r>
                      <a:endParaRPr lang="en-IN" sz="2000" dirty="0"/>
                    </a:p>
                  </a:txBody>
                  <a:tcPr/>
                </a:tc>
                <a:extLst>
                  <a:ext uri="{0D108BD9-81ED-4DB2-BD59-A6C34878D82A}">
                    <a16:rowId xmlns:a16="http://schemas.microsoft.com/office/drawing/2014/main" val="10003"/>
                  </a:ext>
                </a:extLst>
              </a:tr>
              <a:tr h="1258798">
                <a:tc>
                  <a:txBody>
                    <a:bodyPr/>
                    <a:lstStyle/>
                    <a:p>
                      <a:r>
                        <a:rPr lang="en-US" sz="2000" dirty="0"/>
                        <a:t>Processes </a:t>
                      </a:r>
                    </a:p>
                    <a:p>
                      <a:endParaRPr lang="en-US" sz="2000" dirty="0"/>
                    </a:p>
                    <a:p>
                      <a:r>
                        <a:rPr lang="en-US" sz="2000" dirty="0"/>
                        <a:t> </a:t>
                      </a:r>
                      <a:r>
                        <a:rPr lang="en-US" sz="2000" b="1" dirty="0">
                          <a:solidFill>
                            <a:srgbClr val="FF0000"/>
                          </a:solidFill>
                        </a:rPr>
                        <a:t>for desired</a:t>
                      </a:r>
                      <a:r>
                        <a:rPr lang="en-US" sz="2000" b="1" baseline="0" dirty="0">
                          <a:solidFill>
                            <a:srgbClr val="FF0000"/>
                          </a:solidFill>
                        </a:rPr>
                        <a:t>  objectives </a:t>
                      </a:r>
                      <a:endParaRPr lang="en-IN" sz="2000" b="1" dirty="0">
                        <a:solidFill>
                          <a:srgbClr val="FF0000"/>
                        </a:solidFill>
                      </a:endParaRPr>
                    </a:p>
                  </a:txBody>
                  <a:tcPr/>
                </a:tc>
                <a:extLst>
                  <a:ext uri="{0D108BD9-81ED-4DB2-BD59-A6C34878D82A}">
                    <a16:rowId xmlns:a16="http://schemas.microsoft.com/office/drawing/2014/main" val="10004"/>
                  </a:ext>
                </a:extLst>
              </a:tr>
            </a:tbl>
          </a:graphicData>
        </a:graphic>
      </p:graphicFrame>
      <p:sp>
        <p:nvSpPr>
          <p:cNvPr id="17" name="Right Arrow 16"/>
          <p:cNvSpPr/>
          <p:nvPr/>
        </p:nvSpPr>
        <p:spPr>
          <a:xfrm>
            <a:off x="6855397" y="4080720"/>
            <a:ext cx="634346"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4415142" y="1919732"/>
            <a:ext cx="3562194" cy="523220"/>
          </a:xfrm>
          <a:prstGeom prst="rect">
            <a:avLst/>
          </a:prstGeom>
        </p:spPr>
        <p:txBody>
          <a:bodyPr wrap="none">
            <a:spAutoFit/>
          </a:bodyPr>
          <a:lstStyle/>
          <a:p>
            <a:r>
              <a:rPr lang="en-US" sz="2800" b="1" dirty="0">
                <a:solidFill>
                  <a:srgbClr val="FF0000"/>
                </a:solidFill>
              </a:rPr>
              <a:t>acquiring and applying</a:t>
            </a:r>
            <a:endParaRPr lang="en-IN" sz="2800" dirty="0">
              <a:solidFill>
                <a:srgbClr val="FF0000"/>
              </a:solidFill>
            </a:endParaRPr>
          </a:p>
        </p:txBody>
      </p:sp>
      <p:sp>
        <p:nvSpPr>
          <p:cNvPr id="19" name="Down Arrow 18"/>
          <p:cNvSpPr/>
          <p:nvPr/>
        </p:nvSpPr>
        <p:spPr>
          <a:xfrm>
            <a:off x="4918785" y="2436125"/>
            <a:ext cx="484632" cy="6763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30357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IEEE Definition of Software Engineering</a:t>
            </a:r>
          </a:p>
        </p:txBody>
      </p:sp>
      <p:sp>
        <p:nvSpPr>
          <p:cNvPr id="3" name="Text Placeholder 2"/>
          <p:cNvSpPr>
            <a:spLocks noGrp="1"/>
          </p:cNvSpPr>
          <p:nvPr>
            <p:ph type="body" idx="1"/>
          </p:nvPr>
        </p:nvSpPr>
        <p:spPr>
          <a:xfrm>
            <a:off x="1944396" y="1760538"/>
            <a:ext cx="8229600" cy="4525963"/>
          </a:xfrm>
        </p:spPr>
        <p:txBody>
          <a:bodyPr/>
          <a:lstStyle/>
          <a:p>
            <a:pPr marL="114300" indent="0" algn="just">
              <a:buNone/>
            </a:pPr>
            <a:endParaRPr lang="en-US" sz="2400" b="1" dirty="0">
              <a:solidFill>
                <a:srgbClr val="002060"/>
              </a:solidFill>
              <a:latin typeface="Arial" panose="020B0604020202020204" pitchFamily="34" charset="0"/>
              <a:cs typeface="Arial" panose="020B0604020202020204" pitchFamily="34" charset="0"/>
            </a:endParaRPr>
          </a:p>
          <a:p>
            <a:pPr marL="114300" indent="0" algn="just">
              <a:buNone/>
            </a:pPr>
            <a:r>
              <a:rPr lang="en-US" sz="2400" b="1" dirty="0">
                <a:solidFill>
                  <a:srgbClr val="002060"/>
                </a:solidFill>
                <a:latin typeface="Arial" panose="020B0604020202020204" pitchFamily="34" charset="0"/>
                <a:cs typeface="Arial" panose="020B0604020202020204" pitchFamily="34" charset="0"/>
              </a:rPr>
              <a:t>The application of engineering to software.</a:t>
            </a:r>
          </a:p>
          <a:p>
            <a:pPr marL="114300" indent="0" algn="just">
              <a:buNone/>
            </a:pPr>
            <a:r>
              <a:rPr lang="en-US" sz="2400" b="1" dirty="0">
                <a:solidFill>
                  <a:srgbClr val="002060"/>
                </a:solidFill>
                <a:latin typeface="Arial" panose="020B0604020202020204" pitchFamily="34" charset="0"/>
                <a:cs typeface="Arial" panose="020B0604020202020204" pitchFamily="34" charset="0"/>
              </a:rPr>
              <a:t>Software engineering is the application of a systematic, disciplined, quantifiable approach to the design, development, operation, and maintenance of software, and the study of these approaches.</a:t>
            </a:r>
          </a:p>
          <a:p>
            <a:pPr marL="114300" indent="0" algn="just">
              <a:buNone/>
            </a:pPr>
            <a:endParaRPr lang="en-US" sz="2400" b="1" dirty="0">
              <a:solidFill>
                <a:srgbClr val="002060"/>
              </a:solidFill>
              <a:latin typeface="Arial" panose="020B0604020202020204" pitchFamily="34" charset="0"/>
              <a:cs typeface="Arial" panose="020B0604020202020204" pitchFamily="34" charset="0"/>
            </a:endParaRPr>
          </a:p>
          <a:p>
            <a:pPr marL="114300" indent="0" algn="just">
              <a:buNone/>
            </a:pPr>
            <a:endParaRPr lang="en-US" sz="2400" b="1" dirty="0">
              <a:solidFill>
                <a:srgbClr val="002060"/>
              </a:solidFill>
              <a:latin typeface="+mj-lt"/>
            </a:endParaRPr>
          </a:p>
        </p:txBody>
      </p:sp>
      <p:pic>
        <p:nvPicPr>
          <p:cNvPr id="1026" name="Picture 2" descr="Meaning IEEE logo and symbol | history and evol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8883" y="4806043"/>
            <a:ext cx="2815113" cy="126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8534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Software</a:t>
            </a:r>
          </a:p>
        </p:txBody>
      </p:sp>
      <p:sp>
        <p:nvSpPr>
          <p:cNvPr id="3" name="Content Placeholder 2"/>
          <p:cNvSpPr>
            <a:spLocks noGrp="1"/>
          </p:cNvSpPr>
          <p:nvPr>
            <p:ph idx="1"/>
          </p:nvPr>
        </p:nvSpPr>
        <p:spPr>
          <a:xfrm>
            <a:off x="981891" y="1551305"/>
            <a:ext cx="10515600" cy="4351338"/>
          </a:xfrm>
        </p:spPr>
        <p:txBody>
          <a:bodyPr>
            <a:normAutofit/>
          </a:bodyPr>
          <a:lstStyle/>
          <a:p>
            <a:pPr marL="355600" marR="5080" indent="-342900" algn="just">
              <a:spcBef>
                <a:spcPts val="1010"/>
              </a:spcBef>
            </a:pPr>
            <a:r>
              <a:rPr lang="en-US" sz="2400" spc="-5" dirty="0">
                <a:solidFill>
                  <a:srgbClr val="002060"/>
                </a:solidFill>
                <a:latin typeface="Arial" panose="020B0604020202020204" pitchFamily="34" charset="0"/>
                <a:cs typeface="Arial" panose="020B0604020202020204" pitchFamily="34" charset="0"/>
              </a:rPr>
              <a:t>A </a:t>
            </a:r>
            <a:r>
              <a:rPr lang="en-US" sz="2400" spc="-10" dirty="0">
                <a:solidFill>
                  <a:srgbClr val="002060"/>
                </a:solidFill>
                <a:latin typeface="Arial" panose="020B0604020202020204" pitchFamily="34" charset="0"/>
                <a:cs typeface="Arial" panose="020B0604020202020204" pitchFamily="34" charset="0"/>
              </a:rPr>
              <a:t>information </a:t>
            </a:r>
            <a:r>
              <a:rPr lang="en-US" sz="2400" spc="-5" dirty="0">
                <a:solidFill>
                  <a:srgbClr val="002060"/>
                </a:solidFill>
                <a:latin typeface="Arial" panose="020B0604020202020204" pitchFamily="34" charset="0"/>
                <a:cs typeface="Arial" panose="020B0604020202020204" pitchFamily="34" charset="0"/>
              </a:rPr>
              <a:t>transformer – </a:t>
            </a:r>
            <a:r>
              <a:rPr lang="en-US" sz="2400" spc="-20" dirty="0">
                <a:solidFill>
                  <a:srgbClr val="002060"/>
                </a:solidFill>
                <a:latin typeface="Arial" panose="020B0604020202020204" pitchFamily="34" charset="0"/>
                <a:cs typeface="Arial" panose="020B0604020202020204" pitchFamily="34" charset="0"/>
              </a:rPr>
              <a:t>Producing,</a:t>
            </a:r>
            <a:r>
              <a:rPr lang="en-US" sz="2400" spc="-320" dirty="0">
                <a:solidFill>
                  <a:srgbClr val="002060"/>
                </a:solidFill>
                <a:latin typeface="Arial" panose="020B0604020202020204" pitchFamily="34" charset="0"/>
                <a:cs typeface="Arial" panose="020B0604020202020204" pitchFamily="34" charset="0"/>
              </a:rPr>
              <a:t> </a:t>
            </a:r>
            <a:r>
              <a:rPr lang="en-US" sz="2400" spc="-80" dirty="0">
                <a:solidFill>
                  <a:srgbClr val="002060"/>
                </a:solidFill>
                <a:latin typeface="Arial" panose="020B0604020202020204" pitchFamily="34" charset="0"/>
                <a:cs typeface="Arial" panose="020B0604020202020204" pitchFamily="34" charset="0"/>
              </a:rPr>
              <a:t>managing,  </a:t>
            </a:r>
            <a:r>
              <a:rPr lang="en-US" sz="2400" spc="-10" dirty="0">
                <a:solidFill>
                  <a:srgbClr val="002060"/>
                </a:solidFill>
                <a:latin typeface="Arial" panose="020B0604020202020204" pitchFamily="34" charset="0"/>
                <a:cs typeface="Arial" panose="020B0604020202020204" pitchFamily="34" charset="0"/>
              </a:rPr>
              <a:t>acquiring, Modifying, displaying </a:t>
            </a:r>
            <a:r>
              <a:rPr lang="en-US" sz="2400" spc="-5" dirty="0">
                <a:solidFill>
                  <a:srgbClr val="002060"/>
                </a:solidFill>
                <a:latin typeface="Arial" panose="020B0604020202020204" pitchFamily="34" charset="0"/>
                <a:cs typeface="Arial" panose="020B0604020202020204" pitchFamily="34" charset="0"/>
              </a:rPr>
              <a:t>or </a:t>
            </a:r>
            <a:r>
              <a:rPr lang="en-US" sz="2400" spc="-10" dirty="0">
                <a:solidFill>
                  <a:srgbClr val="002060"/>
                </a:solidFill>
                <a:latin typeface="Arial" panose="020B0604020202020204" pitchFamily="34" charset="0"/>
                <a:cs typeface="Arial" panose="020B0604020202020204" pitchFamily="34" charset="0"/>
              </a:rPr>
              <a:t>transmitting  information that </a:t>
            </a:r>
            <a:r>
              <a:rPr lang="en-US" sz="2400" spc="-5" dirty="0">
                <a:solidFill>
                  <a:srgbClr val="002060"/>
                </a:solidFill>
                <a:latin typeface="Arial" panose="020B0604020202020204" pitchFamily="34" charset="0"/>
                <a:cs typeface="Arial" panose="020B0604020202020204" pitchFamily="34" charset="0"/>
              </a:rPr>
              <a:t>is </a:t>
            </a:r>
            <a:r>
              <a:rPr lang="en-US" sz="2400" spc="-10" dirty="0">
                <a:solidFill>
                  <a:srgbClr val="002060"/>
                </a:solidFill>
                <a:latin typeface="Arial" panose="020B0604020202020204" pitchFamily="34" charset="0"/>
                <a:cs typeface="Arial" panose="020B0604020202020204" pitchFamily="34" charset="0"/>
              </a:rPr>
              <a:t>simple/ complex which   </a:t>
            </a:r>
            <a:r>
              <a:rPr lang="en-US" sz="2400" spc="-5" dirty="0">
                <a:solidFill>
                  <a:srgbClr val="002060"/>
                </a:solidFill>
                <a:latin typeface="Arial" panose="020B0604020202020204" pitchFamily="34" charset="0"/>
                <a:cs typeface="Arial" panose="020B0604020202020204" pitchFamily="34" charset="0"/>
              </a:rPr>
              <a:t>satisfies </a:t>
            </a:r>
            <a:r>
              <a:rPr lang="en-US" sz="2400" spc="-10" dirty="0">
                <a:solidFill>
                  <a:srgbClr val="002060"/>
                </a:solidFill>
                <a:latin typeface="Arial" panose="020B0604020202020204" pitchFamily="34" charset="0"/>
                <a:cs typeface="Arial" panose="020B0604020202020204" pitchFamily="34" charset="0"/>
              </a:rPr>
              <a:t>the </a:t>
            </a:r>
            <a:r>
              <a:rPr lang="en-US" sz="2400" spc="-5" dirty="0">
                <a:solidFill>
                  <a:srgbClr val="002060"/>
                </a:solidFill>
                <a:latin typeface="Arial" panose="020B0604020202020204" pitchFamily="34" charset="0"/>
                <a:cs typeface="Arial" panose="020B0604020202020204" pitchFamily="34" charset="0"/>
              </a:rPr>
              <a:t>users </a:t>
            </a:r>
            <a:r>
              <a:rPr lang="en-US" sz="2400" spc="-10" dirty="0">
                <a:solidFill>
                  <a:srgbClr val="002060"/>
                </a:solidFill>
                <a:latin typeface="Arial" panose="020B0604020202020204" pitchFamily="34" charset="0"/>
                <a:cs typeface="Arial" panose="020B0604020202020204" pitchFamily="34" charset="0"/>
              </a:rPr>
              <a:t>needs </a:t>
            </a:r>
            <a:r>
              <a:rPr lang="en-US" sz="2400" spc="-5" dirty="0">
                <a:solidFill>
                  <a:srgbClr val="002060"/>
                </a:solidFill>
                <a:latin typeface="Arial" panose="020B0604020202020204" pitchFamily="34" charset="0"/>
                <a:cs typeface="Arial" panose="020B0604020202020204" pitchFamily="34" charset="0"/>
              </a:rPr>
              <a:t>&amp; </a:t>
            </a:r>
            <a:r>
              <a:rPr lang="en-US" sz="2400" spc="-10" dirty="0">
                <a:solidFill>
                  <a:srgbClr val="002060"/>
                </a:solidFill>
                <a:latin typeface="Arial" panose="020B0604020202020204" pitchFamily="34" charset="0"/>
                <a:cs typeface="Arial" panose="020B0604020202020204" pitchFamily="34" charset="0"/>
              </a:rPr>
              <a:t>makes the user world  </a:t>
            </a:r>
            <a:r>
              <a:rPr lang="en-US" sz="2400" spc="-60" dirty="0">
                <a:solidFill>
                  <a:srgbClr val="002060"/>
                </a:solidFill>
                <a:latin typeface="Arial" panose="020B0604020202020204" pitchFamily="34" charset="0"/>
                <a:cs typeface="Arial" panose="020B0604020202020204" pitchFamily="34" charset="0"/>
              </a:rPr>
              <a:t>better.</a:t>
            </a:r>
            <a:endParaRPr lang="en-US" sz="2400" dirty="0">
              <a:solidFill>
                <a:srgbClr val="002060"/>
              </a:solidFill>
              <a:latin typeface="Arial" panose="020B0604020202020204" pitchFamily="34" charset="0"/>
              <a:cs typeface="Arial" panose="020B0604020202020204" pitchFamily="34" charset="0"/>
            </a:endParaRPr>
          </a:p>
          <a:p>
            <a:pPr marL="355600" marR="546735" indent="-342900" algn="just">
              <a:lnSpc>
                <a:spcPts val="3020"/>
              </a:lnSpc>
              <a:spcBef>
                <a:spcPts val="1040"/>
              </a:spcBef>
            </a:pPr>
            <a:r>
              <a:rPr lang="en-US" sz="2400" spc="-5" dirty="0">
                <a:solidFill>
                  <a:srgbClr val="002060"/>
                </a:solidFill>
                <a:latin typeface="Arial" panose="020B0604020202020204" pitchFamily="34" charset="0"/>
                <a:cs typeface="Arial" panose="020B0604020202020204" pitchFamily="34" charset="0"/>
              </a:rPr>
              <a:t>A </a:t>
            </a:r>
            <a:r>
              <a:rPr lang="en-US" sz="2400" spc="-10" dirty="0">
                <a:solidFill>
                  <a:srgbClr val="002060"/>
                </a:solidFill>
                <a:latin typeface="Arial" panose="020B0604020202020204" pitchFamily="34" charset="0"/>
                <a:cs typeface="Arial" panose="020B0604020202020204" pitchFamily="34" charset="0"/>
              </a:rPr>
              <a:t>software </a:t>
            </a:r>
            <a:r>
              <a:rPr lang="en-US" sz="2400" spc="-5" dirty="0">
                <a:solidFill>
                  <a:srgbClr val="002060"/>
                </a:solidFill>
                <a:latin typeface="Arial" panose="020B0604020202020204" pitchFamily="34" charset="0"/>
                <a:cs typeface="Arial" panose="020B0604020202020204" pitchFamily="34" charset="0"/>
              </a:rPr>
              <a:t>is </a:t>
            </a:r>
            <a:r>
              <a:rPr lang="en-US" sz="2400" spc="-10" dirty="0">
                <a:solidFill>
                  <a:srgbClr val="002060"/>
                </a:solidFill>
                <a:latin typeface="Arial" panose="020B0604020202020204" pitchFamily="34" charset="0"/>
                <a:cs typeface="Arial" panose="020B0604020202020204" pitchFamily="34" charset="0"/>
              </a:rPr>
              <a:t>either </a:t>
            </a:r>
            <a:r>
              <a:rPr lang="en-US" sz="2400" spc="-5" dirty="0">
                <a:solidFill>
                  <a:srgbClr val="002060"/>
                </a:solidFill>
                <a:latin typeface="Arial" panose="020B0604020202020204" pitchFamily="34" charset="0"/>
                <a:cs typeface="Arial" panose="020B0604020202020204" pitchFamily="34" charset="0"/>
              </a:rPr>
              <a:t>a </a:t>
            </a:r>
            <a:r>
              <a:rPr lang="en-US" sz="2400" spc="-10" dirty="0">
                <a:solidFill>
                  <a:srgbClr val="002060"/>
                </a:solidFill>
                <a:latin typeface="Arial" panose="020B0604020202020204" pitchFamily="34" charset="0"/>
                <a:cs typeface="Arial" panose="020B0604020202020204" pitchFamily="34" charset="0"/>
              </a:rPr>
              <a:t>collection </a:t>
            </a:r>
            <a:r>
              <a:rPr lang="en-US" sz="2400" spc="-5" dirty="0">
                <a:solidFill>
                  <a:srgbClr val="002060"/>
                </a:solidFill>
                <a:latin typeface="Arial" panose="020B0604020202020204" pitchFamily="34" charset="0"/>
                <a:cs typeface="Arial" panose="020B0604020202020204" pitchFamily="34" charset="0"/>
              </a:rPr>
              <a:t>of </a:t>
            </a:r>
            <a:r>
              <a:rPr lang="en-US" sz="2400" spc="-10" dirty="0">
                <a:solidFill>
                  <a:srgbClr val="002060"/>
                </a:solidFill>
                <a:latin typeface="Arial" panose="020B0604020202020204" pitchFamily="34" charset="0"/>
                <a:cs typeface="Arial" panose="020B0604020202020204" pitchFamily="34" charset="0"/>
              </a:rPr>
              <a:t>programs  which will transfer the data </a:t>
            </a:r>
            <a:r>
              <a:rPr lang="en-US" sz="2400" spc="-5" dirty="0">
                <a:solidFill>
                  <a:srgbClr val="002060"/>
                </a:solidFill>
                <a:latin typeface="Arial" panose="020B0604020202020204" pitchFamily="34" charset="0"/>
                <a:cs typeface="Arial" panose="020B0604020202020204" pitchFamily="34" charset="0"/>
              </a:rPr>
              <a:t>from one </a:t>
            </a:r>
            <a:r>
              <a:rPr lang="en-US" sz="2400" spc="-10" dirty="0">
                <a:solidFill>
                  <a:srgbClr val="002060"/>
                </a:solidFill>
                <a:latin typeface="Arial" panose="020B0604020202020204" pitchFamily="34" charset="0"/>
                <a:cs typeface="Arial" panose="020B0604020202020204" pitchFamily="34" charset="0"/>
              </a:rPr>
              <a:t>place to  another and </a:t>
            </a:r>
            <a:r>
              <a:rPr lang="en-US" sz="2400" spc="-5" dirty="0">
                <a:solidFill>
                  <a:srgbClr val="002060"/>
                </a:solidFill>
                <a:latin typeface="Arial" panose="020B0604020202020204" pitchFamily="34" charset="0"/>
                <a:cs typeface="Arial" panose="020B0604020202020204" pitchFamily="34" charset="0"/>
              </a:rPr>
              <a:t>satisfies </a:t>
            </a:r>
            <a:r>
              <a:rPr lang="en-US" sz="2400" spc="-10" dirty="0">
                <a:solidFill>
                  <a:srgbClr val="002060"/>
                </a:solidFill>
                <a:latin typeface="Arial" panose="020B0604020202020204" pitchFamily="34" charset="0"/>
                <a:cs typeface="Arial" panose="020B0604020202020204" pitchFamily="34" charset="0"/>
              </a:rPr>
              <a:t>the </a:t>
            </a:r>
            <a:r>
              <a:rPr lang="en-US" sz="2400" spc="-5" dirty="0">
                <a:solidFill>
                  <a:srgbClr val="002060"/>
                </a:solidFill>
                <a:latin typeface="Arial" panose="020B0604020202020204" pitchFamily="34" charset="0"/>
                <a:cs typeface="Arial" panose="020B0604020202020204" pitchFamily="34" charset="0"/>
              </a:rPr>
              <a:t>user’s </a:t>
            </a:r>
            <a:r>
              <a:rPr lang="en-US" sz="2400" spc="-10" dirty="0">
                <a:solidFill>
                  <a:srgbClr val="002060"/>
                </a:solidFill>
                <a:latin typeface="Arial" panose="020B0604020202020204" pitchFamily="34" charset="0"/>
                <a:cs typeface="Arial" panose="020B0604020202020204" pitchFamily="34" charset="0"/>
              </a:rPr>
              <a:t>needs .</a:t>
            </a:r>
          </a:p>
          <a:p>
            <a:pPr marL="12700" marR="546735" indent="0" algn="just">
              <a:lnSpc>
                <a:spcPts val="3020"/>
              </a:lnSpc>
              <a:spcBef>
                <a:spcPts val="1040"/>
              </a:spcBef>
              <a:buNone/>
            </a:pPr>
            <a:endParaRPr lang="en-US" sz="2400" dirty="0">
              <a:solidFill>
                <a:srgbClr val="002060"/>
              </a:solidFill>
              <a:latin typeface="Arial" panose="020B0604020202020204" pitchFamily="34" charset="0"/>
              <a:cs typeface="Arial" panose="020B0604020202020204" pitchFamily="34" charset="0"/>
            </a:endParaRPr>
          </a:p>
        </p:txBody>
      </p:sp>
      <p:pic>
        <p:nvPicPr>
          <p:cNvPr id="1026" name="Picture 2" descr="Software Installations Services UK | PC Repair Squ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5253" y="3514315"/>
            <a:ext cx="4422049" cy="2541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07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Software</a:t>
            </a:r>
            <a:r>
              <a:rPr lang="en-US" sz="3200" b="1" spc="-60" dirty="0">
                <a:solidFill>
                  <a:srgbClr val="002060"/>
                </a:solidFill>
                <a:latin typeface="Arial" panose="020B0604020202020204" pitchFamily="34" charset="0"/>
                <a:cs typeface="Arial" panose="020B0604020202020204" pitchFamily="34" charset="0"/>
              </a:rPr>
              <a:t> </a:t>
            </a:r>
            <a:r>
              <a:rPr lang="en-US" sz="3200" b="1" spc="-5" dirty="0">
                <a:solidFill>
                  <a:srgbClr val="002060"/>
                </a:solidFill>
                <a:latin typeface="Arial" panose="020B0604020202020204" pitchFamily="34" charset="0"/>
                <a:cs typeface="Arial" panose="020B0604020202020204" pitchFamily="34" charset="0"/>
              </a:rPr>
              <a:t>characteristics</a:t>
            </a:r>
            <a:endParaRPr lang="en-US" sz="3200" b="1" dirty="0">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355600" marR="1374775" indent="-342900" algn="just">
              <a:lnSpc>
                <a:spcPct val="100000"/>
              </a:lnSpc>
              <a:spcBef>
                <a:spcPts val="100"/>
              </a:spcBef>
              <a:tabLst>
                <a:tab pos="354965" algn="l"/>
              </a:tabLst>
            </a:pPr>
            <a:r>
              <a:rPr lang="en-US" sz="2400" spc="-5" dirty="0">
                <a:solidFill>
                  <a:srgbClr val="404040"/>
                </a:solidFill>
                <a:latin typeface="Arial" panose="020B0604020202020204" pitchFamily="34" charset="0"/>
                <a:cs typeface="Arial" panose="020B0604020202020204" pitchFamily="34" charset="0"/>
              </a:rPr>
              <a:t>Software is </a:t>
            </a:r>
            <a:r>
              <a:rPr lang="en-US" sz="2400" b="1" spc="-5" dirty="0">
                <a:solidFill>
                  <a:srgbClr val="FFC000"/>
                </a:solidFill>
                <a:latin typeface="Arial" panose="020B0604020202020204" pitchFamily="34" charset="0"/>
                <a:cs typeface="Arial" panose="020B0604020202020204" pitchFamily="34" charset="0"/>
              </a:rPr>
              <a:t>developed </a:t>
            </a:r>
            <a:r>
              <a:rPr lang="en-US" sz="2400" b="1" dirty="0">
                <a:solidFill>
                  <a:srgbClr val="FFC000"/>
                </a:solidFill>
                <a:latin typeface="Arial" panose="020B0604020202020204" pitchFamily="34" charset="0"/>
                <a:cs typeface="Arial" panose="020B0604020202020204" pitchFamily="34" charset="0"/>
              </a:rPr>
              <a:t>or </a:t>
            </a:r>
            <a:r>
              <a:rPr lang="en-US" sz="2400" b="1" spc="-5" dirty="0">
                <a:solidFill>
                  <a:srgbClr val="FFC000"/>
                </a:solidFill>
                <a:latin typeface="Arial" panose="020B0604020202020204" pitchFamily="34" charset="0"/>
                <a:cs typeface="Arial" panose="020B0604020202020204" pitchFamily="34" charset="0"/>
              </a:rPr>
              <a:t>engineered</a:t>
            </a:r>
            <a:r>
              <a:rPr lang="en-US" sz="2400" spc="-5" dirty="0">
                <a:solidFill>
                  <a:srgbClr val="404040"/>
                </a:solidFill>
                <a:latin typeface="Arial" panose="020B0604020202020204" pitchFamily="34" charset="0"/>
                <a:cs typeface="Arial" panose="020B0604020202020204" pitchFamily="34" charset="0"/>
              </a:rPr>
              <a:t>, it </a:t>
            </a:r>
            <a:r>
              <a:rPr lang="en-US" sz="2400" dirty="0">
                <a:solidFill>
                  <a:srgbClr val="404040"/>
                </a:solidFill>
                <a:latin typeface="Arial" panose="020B0604020202020204" pitchFamily="34" charset="0"/>
                <a:cs typeface="Arial" panose="020B0604020202020204" pitchFamily="34" charset="0"/>
              </a:rPr>
              <a:t>is </a:t>
            </a:r>
            <a:r>
              <a:rPr lang="en-US" sz="2400" spc="-5" dirty="0">
                <a:solidFill>
                  <a:srgbClr val="404040"/>
                </a:solidFill>
                <a:latin typeface="Arial" panose="020B0604020202020204" pitchFamily="34" charset="0"/>
                <a:cs typeface="Arial" panose="020B0604020202020204" pitchFamily="34" charset="0"/>
              </a:rPr>
              <a:t>not manufactured .</a:t>
            </a:r>
            <a:endParaRPr lang="en-US" sz="2400" dirty="0">
              <a:latin typeface="Arial" panose="020B0604020202020204" pitchFamily="34" charset="0"/>
              <a:cs typeface="Arial" panose="020B0604020202020204" pitchFamily="34" charset="0"/>
            </a:endParaRPr>
          </a:p>
          <a:p>
            <a:pPr marL="355600" marR="628015" indent="-342900" algn="just">
              <a:lnSpc>
                <a:spcPct val="100000"/>
              </a:lnSpc>
              <a:spcBef>
                <a:spcPts val="994"/>
              </a:spcBef>
              <a:tabLst>
                <a:tab pos="354965" algn="l"/>
              </a:tabLst>
            </a:pPr>
            <a:r>
              <a:rPr lang="en-US" sz="2400" spc="-5" dirty="0">
                <a:solidFill>
                  <a:srgbClr val="404040"/>
                </a:solidFill>
                <a:latin typeface="Arial" panose="020B0604020202020204" pitchFamily="34" charset="0"/>
                <a:cs typeface="Arial" panose="020B0604020202020204" pitchFamily="34" charset="0"/>
              </a:rPr>
              <a:t>Software does not </a:t>
            </a:r>
            <a:r>
              <a:rPr lang="en-US" sz="2400" b="1" spc="-5" dirty="0">
                <a:solidFill>
                  <a:srgbClr val="FFC000"/>
                </a:solidFill>
                <a:latin typeface="Arial" panose="020B0604020202020204" pitchFamily="34" charset="0"/>
                <a:cs typeface="Arial" panose="020B0604020202020204" pitchFamily="34" charset="0"/>
              </a:rPr>
              <a:t>wear out</a:t>
            </a:r>
            <a:r>
              <a:rPr lang="en-US" sz="2400" spc="-5" dirty="0">
                <a:solidFill>
                  <a:srgbClr val="404040"/>
                </a:solidFill>
                <a:latin typeface="Arial" panose="020B0604020202020204" pitchFamily="34" charset="0"/>
                <a:cs typeface="Arial" panose="020B0604020202020204" pitchFamily="34" charset="0"/>
              </a:rPr>
              <a:t>. </a:t>
            </a:r>
          </a:p>
          <a:p>
            <a:pPr marL="355600" marR="5080" indent="-342900" algn="just">
              <a:lnSpc>
                <a:spcPct val="100000"/>
              </a:lnSpc>
              <a:spcBef>
                <a:spcPts val="1010"/>
              </a:spcBef>
              <a:tabLst>
                <a:tab pos="354965" algn="l"/>
              </a:tabLst>
            </a:pPr>
            <a:r>
              <a:rPr lang="en-US" sz="2400" spc="-5" dirty="0">
                <a:solidFill>
                  <a:srgbClr val="404040"/>
                </a:solidFill>
                <a:latin typeface="Arial" panose="020B0604020202020204" pitchFamily="34" charset="0"/>
                <a:cs typeface="Arial" panose="020B0604020202020204" pitchFamily="34" charset="0"/>
              </a:rPr>
              <a:t>Although industry is moving towards component based  assembling most software </a:t>
            </a:r>
            <a:r>
              <a:rPr lang="en-US" sz="2400" spc="-10" dirty="0">
                <a:solidFill>
                  <a:srgbClr val="404040"/>
                </a:solidFill>
                <a:latin typeface="Arial" panose="020B0604020202020204" pitchFamily="34" charset="0"/>
                <a:cs typeface="Arial" panose="020B0604020202020204" pitchFamily="34" charset="0"/>
              </a:rPr>
              <a:t>continues </a:t>
            </a:r>
            <a:r>
              <a:rPr lang="en-US" sz="2400" spc="-5" dirty="0">
                <a:solidFill>
                  <a:srgbClr val="404040"/>
                </a:solidFill>
                <a:latin typeface="Arial" panose="020B0604020202020204" pitchFamily="34" charset="0"/>
                <a:cs typeface="Arial" panose="020B0604020202020204" pitchFamily="34" charset="0"/>
              </a:rPr>
              <a:t>to be </a:t>
            </a:r>
            <a:r>
              <a:rPr lang="en-US" sz="2400" b="1" spc="-5" dirty="0">
                <a:solidFill>
                  <a:srgbClr val="FFC000"/>
                </a:solidFill>
                <a:latin typeface="Arial" panose="020B0604020202020204" pitchFamily="34" charset="0"/>
                <a:cs typeface="Arial" panose="020B0604020202020204" pitchFamily="34" charset="0"/>
              </a:rPr>
              <a:t>custom</a:t>
            </a:r>
            <a:r>
              <a:rPr lang="en-US" sz="2400" b="1" spc="65" dirty="0">
                <a:solidFill>
                  <a:srgbClr val="FFC000"/>
                </a:solidFill>
                <a:latin typeface="Arial" panose="020B0604020202020204" pitchFamily="34" charset="0"/>
                <a:cs typeface="Arial" panose="020B0604020202020204" pitchFamily="34" charset="0"/>
              </a:rPr>
              <a:t> </a:t>
            </a:r>
            <a:r>
              <a:rPr lang="en-US" sz="2400" b="1" spc="-5" dirty="0">
                <a:solidFill>
                  <a:srgbClr val="FFC000"/>
                </a:solidFill>
                <a:latin typeface="Arial" panose="020B0604020202020204" pitchFamily="34" charset="0"/>
                <a:cs typeface="Arial" panose="020B0604020202020204" pitchFamily="34" charset="0"/>
              </a:rPr>
              <a:t>built.</a:t>
            </a:r>
            <a:endParaRPr lang="en-US" sz="2400" b="1" dirty="0">
              <a:solidFill>
                <a:srgbClr val="FFC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5870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798955"/>
          </a:xfrm>
        </p:spPr>
        <p:txBody>
          <a:bodyPr>
            <a:normAutofit/>
          </a:bodyPr>
          <a:lstStyle/>
          <a:p>
            <a:br>
              <a:rPr lang="en-US" sz="2400" b="1" dirty="0"/>
            </a:br>
            <a:endParaRPr lang="en-IN" sz="24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56085" y="1059542"/>
            <a:ext cx="5297715" cy="3909423"/>
          </a:xfr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8630" y="1059542"/>
            <a:ext cx="5007428" cy="4468948"/>
          </a:xfrm>
          <a:prstGeom prst="rect">
            <a:avLst/>
          </a:prstGeom>
        </p:spPr>
      </p:pic>
      <p:sp>
        <p:nvSpPr>
          <p:cNvPr id="10" name="TextBox 9"/>
          <p:cNvSpPr txBox="1"/>
          <p:nvPr/>
        </p:nvSpPr>
        <p:spPr>
          <a:xfrm>
            <a:off x="6970485" y="5133701"/>
            <a:ext cx="4383315" cy="369332"/>
          </a:xfrm>
          <a:prstGeom prst="rect">
            <a:avLst/>
          </a:prstGeom>
          <a:noFill/>
        </p:spPr>
        <p:txBody>
          <a:bodyPr wrap="square" rtlCol="0">
            <a:spAutoFit/>
          </a:bodyPr>
          <a:lstStyle/>
          <a:p>
            <a:r>
              <a:rPr lang="en-US" dirty="0">
                <a:ln w="0"/>
                <a:effectLst>
                  <a:outerShdw blurRad="38100" dist="19050" dir="2700000" algn="tl" rotWithShape="0">
                    <a:schemeClr val="dk1">
                      <a:alpha val="40000"/>
                    </a:schemeClr>
                  </a:outerShdw>
                </a:effectLst>
              </a:rPr>
              <a:t>FAILURE  CURVE FOR  SOFTWARE </a:t>
            </a:r>
            <a:endParaRPr lang="en-IN"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80799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686" y="365126"/>
            <a:ext cx="7953829" cy="694418"/>
          </a:xfrm>
        </p:spPr>
        <p:txBody>
          <a:bodyPr>
            <a:normAutofit fontScale="90000"/>
          </a:bodyPr>
          <a:lstStyle/>
          <a:p>
            <a:pPr algn="ctr"/>
            <a:r>
              <a:rPr lang="en-US" sz="3200" b="1" dirty="0">
                <a:solidFill>
                  <a:srgbClr val="002060"/>
                </a:solidFill>
                <a:latin typeface="Arial" panose="020B0604020202020204" pitchFamily="34" charset="0"/>
                <a:cs typeface="Arial" panose="020B0604020202020204" pitchFamily="34" charset="0"/>
              </a:rPr>
              <a:t>Software Engineering</a:t>
            </a:r>
            <a:r>
              <a:rPr lang="en-US" sz="3200" b="1" spc="-100" dirty="0">
                <a:solidFill>
                  <a:srgbClr val="002060"/>
                </a:solidFill>
                <a:latin typeface="Arial" panose="020B0604020202020204" pitchFamily="34" charset="0"/>
                <a:cs typeface="Arial" panose="020B0604020202020204" pitchFamily="34" charset="0"/>
              </a:rPr>
              <a:t> a </a:t>
            </a:r>
            <a:r>
              <a:rPr lang="en-US" sz="3200" b="1" spc="-5" dirty="0">
                <a:solidFill>
                  <a:srgbClr val="002060"/>
                </a:solidFill>
                <a:latin typeface="Arial" panose="020B0604020202020204" pitchFamily="34" charset="0"/>
                <a:cs typeface="Arial" panose="020B0604020202020204" pitchFamily="34" charset="0"/>
              </a:rPr>
              <a:t>Layered architecture</a:t>
            </a:r>
            <a:endParaRPr lang="en-US" sz="3200" b="1" dirty="0">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3846285"/>
            <a:ext cx="10515600" cy="2330677"/>
          </a:xfrm>
        </p:spPr>
        <p:txBody>
          <a:bodyPr>
            <a:normAutofit fontScale="92500" lnSpcReduction="20000"/>
          </a:bodyPr>
          <a:lstStyle/>
          <a:p>
            <a:pPr lvl="0"/>
            <a:r>
              <a:rPr lang="en-US" sz="2200" b="1" dirty="0">
                <a:solidFill>
                  <a:srgbClr val="FFC000"/>
                </a:solidFill>
              </a:rPr>
              <a:t>Focus on quality </a:t>
            </a:r>
            <a:r>
              <a:rPr lang="en-US" sz="2200" dirty="0"/>
              <a:t>: </a:t>
            </a:r>
            <a:r>
              <a:rPr lang="en-US" sz="2200" dirty="0">
                <a:solidFill>
                  <a:srgbClr val="0070C0"/>
                </a:solidFill>
              </a:rPr>
              <a:t>must rest on an organizational commitment to quality.</a:t>
            </a:r>
          </a:p>
          <a:p>
            <a:pPr marL="0" indent="0">
              <a:buNone/>
            </a:pPr>
            <a:r>
              <a:rPr lang="en-IN" sz="2200" dirty="0"/>
              <a:t>  </a:t>
            </a:r>
            <a:r>
              <a:rPr lang="en-US" sz="2200" b="1" dirty="0">
                <a:solidFill>
                  <a:srgbClr val="FFC000"/>
                </a:solidFill>
                <a:latin typeface="Arial" panose="020B0604020202020204" pitchFamily="34" charset="0"/>
                <a:cs typeface="Arial" panose="020B0604020202020204" pitchFamily="34" charset="0"/>
              </a:rPr>
              <a:t>Process layer </a:t>
            </a:r>
            <a:r>
              <a:rPr lang="en-US" sz="2200" dirty="0">
                <a:solidFill>
                  <a:srgbClr val="002060"/>
                </a:solidFill>
                <a:latin typeface="Arial" panose="020B0604020202020204" pitchFamily="34" charset="0"/>
                <a:cs typeface="Arial" panose="020B0604020202020204" pitchFamily="34" charset="0"/>
              </a:rPr>
              <a:t>: It is the foundation that defines framework with activities for effective   </a:t>
            </a:r>
          </a:p>
          <a:p>
            <a:pPr marL="0" indent="0">
              <a:buNone/>
            </a:pPr>
            <a:r>
              <a:rPr lang="en-US" sz="2200" dirty="0">
                <a:solidFill>
                  <a:srgbClr val="002060"/>
                </a:solidFill>
                <a:latin typeface="Arial" panose="020B0604020202020204" pitchFamily="34" charset="0"/>
                <a:cs typeface="Arial" panose="020B0604020202020204" pitchFamily="34" charset="0"/>
              </a:rPr>
              <a:t>  delivery of software. It is glue that holds the technology layers  together and enables  </a:t>
            </a:r>
          </a:p>
          <a:p>
            <a:pPr marL="0" indent="0">
              <a:buNone/>
            </a:pPr>
            <a:r>
              <a:rPr lang="en-US" sz="2200" dirty="0">
                <a:solidFill>
                  <a:srgbClr val="002060"/>
                </a:solidFill>
                <a:latin typeface="Arial" panose="020B0604020202020204" pitchFamily="34" charset="0"/>
                <a:cs typeface="Arial" panose="020B0604020202020204" pitchFamily="34" charset="0"/>
              </a:rPr>
              <a:t>  timely.</a:t>
            </a:r>
          </a:p>
          <a:p>
            <a:pPr algn="just"/>
            <a:r>
              <a:rPr lang="en-US" sz="2200" b="1" spc="-5" dirty="0">
                <a:solidFill>
                  <a:srgbClr val="FFC000"/>
                </a:solidFill>
                <a:latin typeface="Arial" panose="020B0604020202020204" pitchFamily="34" charset="0"/>
                <a:cs typeface="Arial" panose="020B0604020202020204" pitchFamily="34" charset="0"/>
              </a:rPr>
              <a:t>Methods</a:t>
            </a:r>
            <a:r>
              <a:rPr lang="en-US" sz="2200" spc="-5" dirty="0">
                <a:solidFill>
                  <a:srgbClr val="002060"/>
                </a:solidFill>
                <a:latin typeface="Arial" panose="020B0604020202020204" pitchFamily="34" charset="0"/>
                <a:cs typeface="Arial" panose="020B0604020202020204" pitchFamily="34" charset="0"/>
              </a:rPr>
              <a:t> </a:t>
            </a:r>
            <a:r>
              <a:rPr lang="en-US" sz="2200" dirty="0">
                <a:solidFill>
                  <a:srgbClr val="002060"/>
                </a:solidFill>
                <a:latin typeface="Arial" panose="020B0604020202020204" pitchFamily="34" charset="0"/>
                <a:cs typeface="Arial" panose="020B0604020202020204" pitchFamily="34" charset="0"/>
              </a:rPr>
              <a:t>: </a:t>
            </a:r>
            <a:r>
              <a:rPr lang="en-US" sz="2200" spc="-15" dirty="0">
                <a:solidFill>
                  <a:srgbClr val="002060"/>
                </a:solidFill>
                <a:latin typeface="Arial" panose="020B0604020202020204" pitchFamily="34" charset="0"/>
                <a:cs typeface="Arial" panose="020B0604020202020204" pitchFamily="34" charset="0"/>
              </a:rPr>
              <a:t>Provides </a:t>
            </a:r>
            <a:r>
              <a:rPr lang="en-US" sz="2200" spc="-5" dirty="0">
                <a:solidFill>
                  <a:srgbClr val="002060"/>
                </a:solidFill>
                <a:latin typeface="Arial" panose="020B0604020202020204" pitchFamily="34" charset="0"/>
                <a:cs typeface="Arial" panose="020B0604020202020204" pitchFamily="34" charset="0"/>
              </a:rPr>
              <a:t>the technical (which platform) </a:t>
            </a:r>
            <a:r>
              <a:rPr lang="en-US" sz="2200" spc="5" dirty="0">
                <a:solidFill>
                  <a:srgbClr val="002060"/>
                </a:solidFill>
                <a:latin typeface="Arial" panose="020B0604020202020204" pitchFamily="34" charset="0"/>
                <a:cs typeface="Arial" panose="020B0604020202020204" pitchFamily="34" charset="0"/>
              </a:rPr>
              <a:t>how-  </a:t>
            </a:r>
            <a:r>
              <a:rPr lang="en-US" sz="2200" spc="-50" dirty="0" err="1">
                <a:solidFill>
                  <a:srgbClr val="002060"/>
                </a:solidFill>
                <a:latin typeface="Arial" panose="020B0604020202020204" pitchFamily="34" charset="0"/>
                <a:cs typeface="Arial" panose="020B0604020202020204" pitchFamily="34" charset="0"/>
              </a:rPr>
              <a:t>to’s</a:t>
            </a:r>
            <a:r>
              <a:rPr lang="en-US" sz="2200" spc="-50" dirty="0">
                <a:solidFill>
                  <a:srgbClr val="002060"/>
                </a:solidFill>
                <a:latin typeface="Arial" panose="020B0604020202020204" pitchFamily="34" charset="0"/>
                <a:cs typeface="Arial" panose="020B0604020202020204" pitchFamily="34" charset="0"/>
              </a:rPr>
              <a:t> </a:t>
            </a:r>
            <a:r>
              <a:rPr lang="en-US" sz="2200" dirty="0">
                <a:solidFill>
                  <a:srgbClr val="002060"/>
                </a:solidFill>
                <a:latin typeface="Arial" panose="020B0604020202020204" pitchFamily="34" charset="0"/>
                <a:cs typeface="Arial" panose="020B0604020202020204" pitchFamily="34" charset="0"/>
              </a:rPr>
              <a:t>for </a:t>
            </a:r>
            <a:r>
              <a:rPr lang="en-US" sz="2200" spc="-5" dirty="0">
                <a:solidFill>
                  <a:srgbClr val="002060"/>
                </a:solidFill>
                <a:latin typeface="Arial" panose="020B0604020202020204" pitchFamily="34" charset="0"/>
                <a:cs typeface="Arial" panose="020B0604020202020204" pitchFamily="34" charset="0"/>
              </a:rPr>
              <a:t>building software. </a:t>
            </a:r>
            <a:endParaRPr lang="en-US" sz="2200" dirty="0">
              <a:solidFill>
                <a:srgbClr val="002060"/>
              </a:solidFill>
              <a:latin typeface="Arial" panose="020B0604020202020204" pitchFamily="34" charset="0"/>
              <a:cs typeface="Arial" panose="020B0604020202020204" pitchFamily="34" charset="0"/>
            </a:endParaRPr>
          </a:p>
          <a:p>
            <a:pPr algn="just"/>
            <a:r>
              <a:rPr lang="en-US" sz="2200" b="1" spc="-55" dirty="0">
                <a:solidFill>
                  <a:srgbClr val="FFC000"/>
                </a:solidFill>
                <a:latin typeface="Arial" panose="020B0604020202020204" pitchFamily="34" charset="0"/>
                <a:cs typeface="Arial" panose="020B0604020202020204" pitchFamily="34" charset="0"/>
              </a:rPr>
              <a:t>Tools</a:t>
            </a:r>
            <a:r>
              <a:rPr lang="en-US" sz="2200" spc="-55" dirty="0">
                <a:solidFill>
                  <a:srgbClr val="002060"/>
                </a:solidFill>
                <a:latin typeface="Arial" panose="020B0604020202020204" pitchFamily="34" charset="0"/>
                <a:cs typeface="Arial" panose="020B0604020202020204" pitchFamily="34" charset="0"/>
              </a:rPr>
              <a:t>: </a:t>
            </a:r>
            <a:r>
              <a:rPr lang="en-US" sz="2200" spc="-15" dirty="0">
                <a:solidFill>
                  <a:srgbClr val="002060"/>
                </a:solidFill>
                <a:latin typeface="Arial" panose="020B0604020202020204" pitchFamily="34" charset="0"/>
                <a:cs typeface="Arial" panose="020B0604020202020204" pitchFamily="34" charset="0"/>
              </a:rPr>
              <a:t>Provides </a:t>
            </a:r>
            <a:r>
              <a:rPr lang="en-US" sz="2200" spc="-10" dirty="0">
                <a:solidFill>
                  <a:srgbClr val="002060"/>
                </a:solidFill>
                <a:latin typeface="Arial" panose="020B0604020202020204" pitchFamily="34" charset="0"/>
                <a:cs typeface="Arial" panose="020B0604020202020204" pitchFamily="34" charset="0"/>
              </a:rPr>
              <a:t>automated </a:t>
            </a:r>
            <a:r>
              <a:rPr lang="en-US" sz="2200" spc="-5" dirty="0">
                <a:solidFill>
                  <a:srgbClr val="002060"/>
                </a:solidFill>
                <a:latin typeface="Arial" panose="020B0604020202020204" pitchFamily="34" charset="0"/>
                <a:cs typeface="Arial" panose="020B0604020202020204" pitchFamily="34" charset="0"/>
              </a:rPr>
              <a:t>and </a:t>
            </a:r>
            <a:r>
              <a:rPr lang="en-US" sz="2200" dirty="0">
                <a:solidFill>
                  <a:srgbClr val="002060"/>
                </a:solidFill>
                <a:latin typeface="Arial" panose="020B0604020202020204" pitchFamily="34" charset="0"/>
                <a:cs typeface="Arial" panose="020B0604020202020204" pitchFamily="34" charset="0"/>
              </a:rPr>
              <a:t>semi </a:t>
            </a:r>
            <a:r>
              <a:rPr lang="en-US" sz="2200" spc="-10" dirty="0">
                <a:solidFill>
                  <a:srgbClr val="002060"/>
                </a:solidFill>
                <a:latin typeface="Arial" panose="020B0604020202020204" pitchFamily="34" charset="0"/>
                <a:cs typeface="Arial" panose="020B0604020202020204" pitchFamily="34" charset="0"/>
              </a:rPr>
              <a:t>automated </a:t>
            </a:r>
            <a:r>
              <a:rPr lang="en-US" sz="2200" spc="-5" dirty="0">
                <a:solidFill>
                  <a:srgbClr val="002060"/>
                </a:solidFill>
                <a:latin typeface="Arial" panose="020B0604020202020204" pitchFamily="34" charset="0"/>
                <a:cs typeface="Arial" panose="020B0604020202020204" pitchFamily="34" charset="0"/>
              </a:rPr>
              <a:t>support  </a:t>
            </a:r>
            <a:r>
              <a:rPr lang="en-US" sz="2200" dirty="0">
                <a:solidFill>
                  <a:srgbClr val="002060"/>
                </a:solidFill>
                <a:latin typeface="Arial" panose="020B0604020202020204" pitchFamily="34" charset="0"/>
                <a:cs typeface="Arial" panose="020B0604020202020204" pitchFamily="34" charset="0"/>
              </a:rPr>
              <a:t>for </a:t>
            </a:r>
            <a:r>
              <a:rPr lang="en-US" sz="2200" spc="-5" dirty="0">
                <a:solidFill>
                  <a:srgbClr val="002060"/>
                </a:solidFill>
                <a:latin typeface="Arial" panose="020B0604020202020204" pitchFamily="34" charset="0"/>
                <a:cs typeface="Arial" panose="020B0604020202020204" pitchFamily="34" charset="0"/>
              </a:rPr>
              <a:t>process and method </a:t>
            </a:r>
            <a:r>
              <a:rPr lang="en-US" sz="2200" spc="-5" dirty="0" err="1">
                <a:solidFill>
                  <a:srgbClr val="002060"/>
                </a:solidFill>
                <a:latin typeface="Arial" panose="020B0604020202020204" pitchFamily="34" charset="0"/>
                <a:cs typeface="Arial" panose="020B0604020202020204" pitchFamily="34" charset="0"/>
              </a:rPr>
              <a:t>e.g</a:t>
            </a:r>
            <a:r>
              <a:rPr lang="en-US" sz="2200" spc="-5" dirty="0">
                <a:solidFill>
                  <a:srgbClr val="002060"/>
                </a:solidFill>
                <a:latin typeface="Arial" panose="020B0604020202020204" pitchFamily="34" charset="0"/>
                <a:cs typeface="Arial" panose="020B0604020202020204" pitchFamily="34" charset="0"/>
              </a:rPr>
              <a:t> MS excel tool is used to  applying </a:t>
            </a:r>
            <a:r>
              <a:rPr lang="en-US" sz="2200" dirty="0">
                <a:solidFill>
                  <a:srgbClr val="002060"/>
                </a:solidFill>
                <a:latin typeface="Arial" panose="020B0604020202020204" pitchFamily="34" charset="0"/>
                <a:cs typeface="Arial" panose="020B0604020202020204" pitchFamily="34" charset="0"/>
              </a:rPr>
              <a:t>some</a:t>
            </a:r>
            <a:r>
              <a:rPr lang="en-US" sz="2200" spc="25" dirty="0">
                <a:solidFill>
                  <a:srgbClr val="002060"/>
                </a:solidFill>
                <a:latin typeface="Arial" panose="020B0604020202020204" pitchFamily="34" charset="0"/>
                <a:cs typeface="Arial" panose="020B0604020202020204" pitchFamily="34" charset="0"/>
              </a:rPr>
              <a:t> </a:t>
            </a:r>
            <a:r>
              <a:rPr lang="en-US" sz="2200" spc="-20" dirty="0">
                <a:solidFill>
                  <a:srgbClr val="002060"/>
                </a:solidFill>
                <a:latin typeface="Arial" panose="020B0604020202020204" pitchFamily="34" charset="0"/>
                <a:cs typeface="Arial" panose="020B0604020202020204" pitchFamily="34" charset="0"/>
              </a:rPr>
              <a:t>formula’s.</a:t>
            </a:r>
          </a:p>
          <a:p>
            <a:pPr marL="0" indent="0" algn="just">
              <a:buNone/>
            </a:pPr>
            <a:endParaRPr lang="en-US" sz="2200" dirty="0">
              <a:solidFill>
                <a:srgbClr val="002060"/>
              </a:solidFill>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372" y="1190171"/>
            <a:ext cx="5384799" cy="230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6146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t>THE CHANGING NATURE OF SOFTWARE</a:t>
            </a:r>
            <a:endParaRPr lang="en-US" sz="3200" b="1" dirty="0">
              <a:solidFill>
                <a:srgbClr val="002060"/>
              </a:solidFill>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838200" y="1690688"/>
            <a:ext cx="10515600" cy="4355038"/>
          </a:xfrm>
          <a:prstGeom prst="rect">
            <a:avLst/>
          </a:prstGeom>
        </p:spPr>
        <p:txBody>
          <a:bodyPr wrap="square">
            <a:spAutoFit/>
          </a:bodyPr>
          <a:lstStyle/>
          <a:p>
            <a:pPr algn="just">
              <a:lnSpc>
                <a:spcPct val="150000"/>
              </a:lnSpc>
            </a:pPr>
            <a:r>
              <a:rPr lang="en-US" altLang="en-US" sz="2400" b="1" dirty="0">
                <a:solidFill>
                  <a:srgbClr val="FFC000"/>
                </a:solidFill>
                <a:latin typeface="Arial" panose="020B0604020202020204" pitchFamily="34" charset="0"/>
                <a:cs typeface="Arial" panose="020B0604020202020204" pitchFamily="34" charset="0"/>
              </a:rPr>
              <a:t>System software:</a:t>
            </a:r>
            <a:r>
              <a:rPr lang="en-US" altLang="en-US" sz="2400" dirty="0">
                <a:solidFill>
                  <a:srgbClr val="FFC000"/>
                </a:solidFill>
                <a:latin typeface="Arial" panose="020B0604020202020204" pitchFamily="34" charset="0"/>
                <a:cs typeface="Arial" panose="020B0604020202020204" pitchFamily="34" charset="0"/>
              </a:rPr>
              <a:t> </a:t>
            </a:r>
            <a:r>
              <a:rPr lang="en-US" altLang="en-US" sz="2400" dirty="0">
                <a:solidFill>
                  <a:srgbClr val="002060"/>
                </a:solidFill>
                <a:latin typeface="Arial" panose="020B0604020202020204" pitchFamily="34" charset="0"/>
                <a:cs typeface="Arial" panose="020B0604020202020204" pitchFamily="34" charset="0"/>
              </a:rPr>
              <a:t>such as compilers, editors, file management utilities</a:t>
            </a:r>
          </a:p>
          <a:p>
            <a:pPr algn="just">
              <a:lnSpc>
                <a:spcPct val="150000"/>
              </a:lnSpc>
            </a:pPr>
            <a:r>
              <a:rPr lang="en-US" altLang="en-US" sz="2400" b="1" dirty="0">
                <a:solidFill>
                  <a:srgbClr val="FFC000"/>
                </a:solidFill>
                <a:latin typeface="Arial" panose="020B0604020202020204" pitchFamily="34" charset="0"/>
                <a:cs typeface="Arial" panose="020B0604020202020204" pitchFamily="34" charset="0"/>
              </a:rPr>
              <a:t>Application software: </a:t>
            </a:r>
            <a:r>
              <a:rPr lang="en-US" altLang="en-US" sz="2400" dirty="0">
                <a:solidFill>
                  <a:srgbClr val="002060"/>
                </a:solidFill>
                <a:latin typeface="Arial" panose="020B0604020202020204" pitchFamily="34" charset="0"/>
                <a:cs typeface="Arial" panose="020B0604020202020204" pitchFamily="34" charset="0"/>
              </a:rPr>
              <a:t>stand-alone programs for specific needs.  </a:t>
            </a:r>
          </a:p>
          <a:p>
            <a:pPr algn="just">
              <a:lnSpc>
                <a:spcPct val="150000"/>
              </a:lnSpc>
            </a:pPr>
            <a:r>
              <a:rPr lang="en-US" altLang="en-US" sz="2400" b="1" dirty="0">
                <a:solidFill>
                  <a:srgbClr val="FFC000"/>
                </a:solidFill>
                <a:latin typeface="Arial" panose="020B0604020202020204" pitchFamily="34" charset="0"/>
                <a:cs typeface="Arial" panose="020B0604020202020204" pitchFamily="34" charset="0"/>
              </a:rPr>
              <a:t>Engineering/scientific software: </a:t>
            </a:r>
            <a:r>
              <a:rPr lang="en-US" altLang="en-US" sz="2400" dirty="0">
                <a:solidFill>
                  <a:srgbClr val="002060"/>
                </a:solidFill>
                <a:latin typeface="Arial" panose="020B0604020202020204" pitchFamily="34" charset="0"/>
                <a:cs typeface="Arial" panose="020B0604020202020204" pitchFamily="34" charset="0"/>
              </a:rPr>
              <a:t>Characterized by </a:t>
            </a:r>
            <a:r>
              <a:rPr lang="ja-JP" altLang="en-US" sz="2400" dirty="0">
                <a:solidFill>
                  <a:srgbClr val="002060"/>
                </a:solidFill>
                <a:latin typeface="Arial" panose="020B0604020202020204" pitchFamily="34" charset="0"/>
                <a:cs typeface="Arial" panose="020B0604020202020204" pitchFamily="34" charset="0"/>
              </a:rPr>
              <a:t>“</a:t>
            </a:r>
            <a:r>
              <a:rPr lang="en-US" altLang="ja-JP" sz="2400" dirty="0">
                <a:solidFill>
                  <a:srgbClr val="002060"/>
                </a:solidFill>
                <a:latin typeface="Arial" panose="020B0604020202020204" pitchFamily="34" charset="0"/>
                <a:cs typeface="Arial" panose="020B0604020202020204" pitchFamily="34" charset="0"/>
              </a:rPr>
              <a:t>number crunching</a:t>
            </a:r>
            <a:r>
              <a:rPr lang="ja-JP" altLang="en-US" sz="2400" dirty="0">
                <a:solidFill>
                  <a:srgbClr val="002060"/>
                </a:solidFill>
                <a:latin typeface="Arial" panose="020B0604020202020204" pitchFamily="34" charset="0"/>
                <a:cs typeface="Arial" panose="020B0604020202020204" pitchFamily="34" charset="0"/>
              </a:rPr>
              <a:t>”</a:t>
            </a:r>
            <a:r>
              <a:rPr lang="en-US" altLang="ja-JP" sz="2400" dirty="0">
                <a:solidFill>
                  <a:srgbClr val="002060"/>
                </a:solidFill>
                <a:latin typeface="Arial" panose="020B0604020202020204" pitchFamily="34" charset="0"/>
                <a:cs typeface="Arial" panose="020B0604020202020204" pitchFamily="34" charset="0"/>
              </a:rPr>
              <a:t>algorithms. such as automotive stress analysis, molecular biology, orbital dynamics </a:t>
            </a:r>
            <a:r>
              <a:rPr lang="en-US" altLang="ja-JP" sz="2400" dirty="0" err="1">
                <a:solidFill>
                  <a:srgbClr val="002060"/>
                </a:solidFill>
                <a:latin typeface="Arial" panose="020B0604020202020204" pitchFamily="34" charset="0"/>
                <a:cs typeface="Arial" panose="020B0604020202020204" pitchFamily="34" charset="0"/>
              </a:rPr>
              <a:t>etc</a:t>
            </a:r>
            <a:r>
              <a:rPr lang="en-US" altLang="ja-JP" sz="2400" dirty="0">
                <a:solidFill>
                  <a:srgbClr val="002060"/>
                </a:solidFill>
                <a:latin typeface="Arial" panose="020B0604020202020204" pitchFamily="34" charset="0"/>
                <a:cs typeface="Arial" panose="020B0604020202020204" pitchFamily="34" charset="0"/>
              </a:rPr>
              <a:t> .</a:t>
            </a:r>
          </a:p>
          <a:p>
            <a:pPr algn="just">
              <a:lnSpc>
                <a:spcPct val="150000"/>
              </a:lnSpc>
            </a:pPr>
            <a:r>
              <a:rPr lang="en-US" altLang="en-US" sz="2400" b="1" dirty="0">
                <a:solidFill>
                  <a:srgbClr val="FFC000"/>
                </a:solidFill>
                <a:latin typeface="Arial" panose="020B0604020202020204" pitchFamily="34" charset="0"/>
                <a:cs typeface="Arial" panose="020B0604020202020204" pitchFamily="34" charset="0"/>
              </a:rPr>
              <a:t>Embedded software</a:t>
            </a:r>
            <a:r>
              <a:rPr lang="en-US" altLang="en-US" sz="2400" dirty="0">
                <a:solidFill>
                  <a:srgbClr val="002060"/>
                </a:solidFill>
                <a:latin typeface="Arial" panose="020B0604020202020204" pitchFamily="34" charset="0"/>
                <a:cs typeface="Arial" panose="020B0604020202020204" pitchFamily="34" charset="0"/>
              </a:rPr>
              <a:t> resides within a product or system. (key pad control of a microwave oven, digital function of dashboard display in a car)</a:t>
            </a:r>
          </a:p>
        </p:txBody>
      </p:sp>
    </p:spTree>
    <p:extLst>
      <p:ext uri="{BB962C8B-B14F-4D97-AF65-F5344CB8AC3E}">
        <p14:creationId xmlns:p14="http://schemas.microsoft.com/office/powerpoint/2010/main" val="1902566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862149" y="270453"/>
            <a:ext cx="10463348" cy="5686425"/>
          </a:xfrm>
        </p:spPr>
        <p:txBody>
          <a:bodyPr>
            <a:normAutofit/>
          </a:bodyPr>
          <a:lstStyle/>
          <a:p>
            <a:pPr marL="457200" indent="-342900" algn="just">
              <a:lnSpc>
                <a:spcPct val="150000"/>
              </a:lnSpc>
            </a:pPr>
            <a:r>
              <a:rPr lang="en-US" altLang="en-US" sz="2400" b="1" dirty="0">
                <a:solidFill>
                  <a:srgbClr val="FFC000"/>
                </a:solidFill>
                <a:latin typeface="Arial" panose="020B0604020202020204" pitchFamily="34" charset="0"/>
                <a:cs typeface="Arial" panose="020B0604020202020204" pitchFamily="34" charset="0"/>
              </a:rPr>
              <a:t>Product-line software </a:t>
            </a:r>
            <a:r>
              <a:rPr lang="en-US" altLang="en-US" sz="2400" dirty="0">
                <a:solidFill>
                  <a:srgbClr val="002060"/>
                </a:solidFill>
                <a:latin typeface="Arial" panose="020B0604020202020204" pitchFamily="34" charset="0"/>
                <a:cs typeface="Arial" panose="020B0604020202020204" pitchFamily="34" charset="0"/>
              </a:rPr>
              <a:t>focus on a limited marketplace to address mass consumer market. (word processing, graphics, database management)</a:t>
            </a:r>
          </a:p>
          <a:p>
            <a:pPr marL="457200" indent="-342900" algn="just">
              <a:lnSpc>
                <a:spcPct val="150000"/>
              </a:lnSpc>
            </a:pPr>
            <a:r>
              <a:rPr lang="en-US" altLang="en-US" sz="2400" b="1" dirty="0" err="1">
                <a:solidFill>
                  <a:srgbClr val="FFC000"/>
                </a:solidFill>
                <a:latin typeface="Arial" panose="020B0604020202020204" pitchFamily="34" charset="0"/>
                <a:cs typeface="Arial" panose="020B0604020202020204" pitchFamily="34" charset="0"/>
              </a:rPr>
              <a:t>WebApps</a:t>
            </a:r>
            <a:r>
              <a:rPr lang="en-US" altLang="en-US" sz="2400" dirty="0">
                <a:solidFill>
                  <a:srgbClr val="002060"/>
                </a:solidFill>
                <a:latin typeface="Arial" panose="020B0604020202020204" pitchFamily="34" charset="0"/>
                <a:cs typeface="Arial" panose="020B0604020202020204" pitchFamily="34" charset="0"/>
              </a:rPr>
              <a:t> (Web applications) network centric software. As web 2.0 emerges, more sophisticated computing environments is supported integrated with remote database and business applications. </a:t>
            </a:r>
          </a:p>
          <a:p>
            <a:pPr marL="457200" indent="-342900" algn="just">
              <a:lnSpc>
                <a:spcPct val="150000"/>
              </a:lnSpc>
            </a:pPr>
            <a:r>
              <a:rPr lang="en-US" altLang="en-US" sz="2400" b="1" dirty="0">
                <a:solidFill>
                  <a:srgbClr val="FFC000"/>
                </a:solidFill>
                <a:latin typeface="Arial" panose="020B0604020202020204" pitchFamily="34" charset="0"/>
                <a:cs typeface="Arial" panose="020B0604020202020204" pitchFamily="34" charset="0"/>
              </a:rPr>
              <a:t>AI software </a:t>
            </a:r>
            <a:r>
              <a:rPr lang="en-US" altLang="en-US" sz="2400" dirty="0">
                <a:solidFill>
                  <a:srgbClr val="002060"/>
                </a:solidFill>
                <a:latin typeface="Arial" panose="020B0604020202020204" pitchFamily="34" charset="0"/>
                <a:cs typeface="Arial" panose="020B0604020202020204" pitchFamily="34" charset="0"/>
              </a:rPr>
              <a:t>uses non-numerical algorithm to solve complex problem. Robotics, expert system, pattern recognition game playing.</a:t>
            </a:r>
          </a:p>
          <a:p>
            <a:endParaRPr lang="en-US" dirty="0"/>
          </a:p>
        </p:txBody>
      </p:sp>
    </p:spTree>
    <p:extLst>
      <p:ext uri="{BB962C8B-B14F-4D97-AF65-F5344CB8AC3E}">
        <p14:creationId xmlns:p14="http://schemas.microsoft.com/office/powerpoint/2010/main" val="975092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Programming in Large Environment</a:t>
            </a:r>
          </a:p>
        </p:txBody>
      </p:sp>
      <p:sp>
        <p:nvSpPr>
          <p:cNvPr id="5" name="Text Placeholder 4"/>
          <p:cNvSpPr>
            <a:spLocks noGrp="1"/>
          </p:cNvSpPr>
          <p:nvPr>
            <p:ph idx="1"/>
          </p:nvPr>
        </p:nvSpPr>
        <p:spPr/>
        <p:txBody>
          <a:bodyPr>
            <a:normAutofit/>
          </a:bodyPr>
          <a:lstStyle/>
          <a:p>
            <a:pPr marL="0" indent="0" algn="just">
              <a:buNone/>
            </a:pPr>
            <a:endParaRPr lang="en-US" sz="2400" dirty="0">
              <a:solidFill>
                <a:srgbClr val="002060"/>
              </a:solidFill>
              <a:latin typeface="+mj-lt"/>
            </a:endParaRPr>
          </a:p>
          <a:p>
            <a:pPr marL="342900" algn="just"/>
            <a:r>
              <a:rPr lang="en-US" sz="2400" dirty="0">
                <a:solidFill>
                  <a:srgbClr val="002060"/>
                </a:solidFill>
                <a:latin typeface="Arial" panose="020B0604020202020204" pitchFamily="34" charset="0"/>
                <a:cs typeface="Arial" panose="020B0604020202020204" pitchFamily="34" charset="0"/>
              </a:rPr>
              <a:t>In </a:t>
            </a:r>
            <a:r>
              <a:rPr lang="en-US" sz="2400" dirty="0">
                <a:solidFill>
                  <a:srgbClr val="002060"/>
                </a:solidFill>
                <a:latin typeface="Arial" panose="020B0604020202020204" pitchFamily="34" charset="0"/>
                <a:cs typeface="Arial" panose="020B0604020202020204" pitchFamily="34" charset="0"/>
                <a:hlinkClick r:id="rId2" tooltip="Software development"/>
              </a:rPr>
              <a:t>software development</a:t>
            </a:r>
            <a:r>
              <a:rPr lang="en-US" sz="2400" dirty="0">
                <a:solidFill>
                  <a:srgbClr val="002060"/>
                </a:solidFill>
                <a:latin typeface="Arial" panose="020B0604020202020204" pitchFamily="34" charset="0"/>
                <a:cs typeface="Arial" panose="020B0604020202020204" pitchFamily="34" charset="0"/>
              </a:rPr>
              <a:t>, programming in the large can involve </a:t>
            </a:r>
            <a:r>
              <a:rPr lang="en-US" sz="2400" dirty="0">
                <a:solidFill>
                  <a:srgbClr val="002060"/>
                </a:solidFill>
                <a:latin typeface="Arial" panose="020B0604020202020204" pitchFamily="34" charset="0"/>
                <a:cs typeface="Arial" panose="020B0604020202020204" pitchFamily="34" charset="0"/>
                <a:hlinkClick r:id="rId3" tooltip="Computer programming"/>
              </a:rPr>
              <a:t>programming</a:t>
            </a:r>
            <a:r>
              <a:rPr lang="en-US" sz="2400" dirty="0">
                <a:solidFill>
                  <a:srgbClr val="002060"/>
                </a:solidFill>
                <a:latin typeface="Arial" panose="020B0604020202020204" pitchFamily="34" charset="0"/>
                <a:cs typeface="Arial" panose="020B0604020202020204" pitchFamily="34" charset="0"/>
              </a:rPr>
              <a:t> by larger groups of people or by smaller groups over longer time periods.</a:t>
            </a:r>
          </a:p>
          <a:p>
            <a:pPr marL="342900" algn="just"/>
            <a:endParaRPr lang="en-US" sz="2400" b="1" dirty="0">
              <a:solidFill>
                <a:srgbClr val="002060"/>
              </a:solidFill>
              <a:latin typeface="Arial" panose="020B0604020202020204" pitchFamily="34" charset="0"/>
              <a:cs typeface="Arial" panose="020B0604020202020204" pitchFamily="34" charset="0"/>
            </a:endParaRPr>
          </a:p>
          <a:p>
            <a:pPr marL="342900" algn="just"/>
            <a:r>
              <a:rPr lang="en-US" sz="2400" dirty="0">
                <a:solidFill>
                  <a:srgbClr val="002060"/>
                </a:solidFill>
                <a:latin typeface="Arial" panose="020B0604020202020204" pitchFamily="34" charset="0"/>
                <a:cs typeface="Arial" panose="020B0604020202020204" pitchFamily="34" charset="0"/>
              </a:rPr>
              <a:t>Either of these conditions will result in large, and hence complicated, programs that can be challenging for maintainers to understand.</a:t>
            </a:r>
          </a:p>
          <a:p>
            <a:pPr marL="342900" algn="just"/>
            <a:endParaRPr lang="en-US" sz="2400" b="1" dirty="0">
              <a:solidFill>
                <a:srgbClr val="002060"/>
              </a:solidFill>
              <a:latin typeface="+mj-lt"/>
            </a:endParaRPr>
          </a:p>
        </p:txBody>
      </p:sp>
      <p:sp>
        <p:nvSpPr>
          <p:cNvPr id="2" name="AutoShape 2" descr="Importance of Code Quality and Coding Standard in Software Developmen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7295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200" y="233075"/>
            <a:ext cx="8229600" cy="1143000"/>
          </a:xfrm>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Programming in Large Environment</a:t>
            </a:r>
            <a:endParaRPr lang="en-US" sz="3200" dirty="0">
              <a:solidFill>
                <a:srgbClr val="002060"/>
              </a:solidFill>
              <a:latin typeface="Arial" panose="020B0604020202020204" pitchFamily="34" charset="0"/>
              <a:cs typeface="Arial" panose="020B0604020202020204" pitchFamily="34" charset="0"/>
            </a:endParaRPr>
          </a:p>
        </p:txBody>
      </p:sp>
      <p:sp>
        <p:nvSpPr>
          <p:cNvPr id="5" name="Text Placeholder 4"/>
          <p:cNvSpPr>
            <a:spLocks noGrp="1"/>
          </p:cNvSpPr>
          <p:nvPr>
            <p:ph idx="1"/>
          </p:nvPr>
        </p:nvSpPr>
        <p:spPr/>
        <p:txBody>
          <a:bodyPr>
            <a:normAutofit/>
          </a:bodyPr>
          <a:lstStyle/>
          <a:p>
            <a:pPr marL="0" indent="0" algn="ctr">
              <a:buNone/>
            </a:pPr>
            <a:endParaRPr lang="en-US" sz="4000" b="1" dirty="0">
              <a:solidFill>
                <a:srgbClr val="002060"/>
              </a:solidFill>
              <a:latin typeface="Arial" panose="020B0604020202020204" pitchFamily="34" charset="0"/>
              <a:cs typeface="Arial" panose="020B0604020202020204" pitchFamily="34" charset="0"/>
            </a:endParaRPr>
          </a:p>
          <a:p>
            <a:pPr indent="-457200" algn="just">
              <a:buFont typeface="Wingdings" panose="05000000000000000000" pitchFamily="2" charset="2"/>
              <a:buChar char="§"/>
            </a:pPr>
            <a:r>
              <a:rPr lang="en-US" sz="2400" dirty="0">
                <a:solidFill>
                  <a:srgbClr val="002060"/>
                </a:solidFill>
                <a:latin typeface="Arial" panose="020B0604020202020204" pitchFamily="34" charset="0"/>
                <a:cs typeface="Arial" panose="020B0604020202020204" pitchFamily="34" charset="0"/>
              </a:rPr>
              <a:t>Coding managers place emphasis on partitioning work into </a:t>
            </a:r>
            <a:r>
              <a:rPr lang="en-US" sz="2400" dirty="0">
                <a:solidFill>
                  <a:srgbClr val="002060"/>
                </a:solidFill>
                <a:latin typeface="Arial" panose="020B0604020202020204" pitchFamily="34" charset="0"/>
                <a:cs typeface="Arial" panose="020B0604020202020204" pitchFamily="34" charset="0"/>
                <a:hlinkClick r:id="rId2" tooltip="Modularity (programming)"/>
              </a:rPr>
              <a:t>modules</a:t>
            </a:r>
            <a:r>
              <a:rPr lang="en-US" sz="2400" dirty="0">
                <a:solidFill>
                  <a:srgbClr val="002060"/>
                </a:solidFill>
                <a:latin typeface="Arial" panose="020B0604020202020204" pitchFamily="34" charset="0"/>
                <a:cs typeface="Arial" panose="020B0604020202020204" pitchFamily="34" charset="0"/>
              </a:rPr>
              <a:t> with precisely-specified interactions. This requires careful planning and careful documentation</a:t>
            </a:r>
            <a:r>
              <a:rPr lang="en-US" dirty="0">
                <a:solidFill>
                  <a:srgbClr val="002060"/>
                </a:solidFill>
                <a:latin typeface="Arial" panose="020B0604020202020204" pitchFamily="34" charset="0"/>
                <a:cs typeface="Arial" panose="020B0604020202020204" pitchFamily="34" charset="0"/>
              </a:rPr>
              <a:t>.</a:t>
            </a:r>
            <a:endParaRPr lang="en-US" sz="4000" b="1" dirty="0">
              <a:solidFill>
                <a:srgbClr val="002060"/>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7591635" y="3737882"/>
            <a:ext cx="2328874" cy="1737511"/>
          </a:xfrm>
          <a:prstGeom prst="rect">
            <a:avLst/>
          </a:prstGeom>
        </p:spPr>
      </p:pic>
    </p:spTree>
    <p:extLst>
      <p:ext uri="{BB962C8B-B14F-4D97-AF65-F5344CB8AC3E}">
        <p14:creationId xmlns:p14="http://schemas.microsoft.com/office/powerpoint/2010/main" val="2909713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solidFill>
                  <a:srgbClr val="002060"/>
                </a:solidFill>
                <a:latin typeface="Arial" panose="020B0604020202020204" pitchFamily="34" charset="0"/>
                <a:cs typeface="Arial" panose="020B0604020202020204" pitchFamily="34" charset="0"/>
              </a:rPr>
              <a:t>Programming in Large Environment</a:t>
            </a:r>
            <a:endParaRPr lang="en-US" sz="3200" dirty="0"/>
          </a:p>
        </p:txBody>
      </p:sp>
      <p:sp>
        <p:nvSpPr>
          <p:cNvPr id="5" name="Text Placeholder 4"/>
          <p:cNvSpPr>
            <a:spLocks noGrp="1"/>
          </p:cNvSpPr>
          <p:nvPr>
            <p:ph type="body" idx="1"/>
          </p:nvPr>
        </p:nvSpPr>
        <p:spPr/>
        <p:txBody>
          <a:bodyPr>
            <a:normAutofit/>
          </a:bodyPr>
          <a:lstStyle/>
          <a:p>
            <a:pPr algn="just"/>
            <a:r>
              <a:rPr lang="en-US" sz="2400" dirty="0">
                <a:solidFill>
                  <a:schemeClr val="accent1">
                    <a:lumMod val="50000"/>
                  </a:schemeClr>
                </a:solidFill>
                <a:latin typeface="Arial" panose="020B0604020202020204" pitchFamily="34" charset="0"/>
                <a:cs typeface="Arial" panose="020B0604020202020204" pitchFamily="34" charset="0"/>
              </a:rPr>
              <a:t>Program changes can become difficult. </a:t>
            </a:r>
          </a:p>
          <a:p>
            <a:pPr algn="just"/>
            <a:endParaRPr lang="en-US" sz="2400" dirty="0">
              <a:solidFill>
                <a:schemeClr val="accent1">
                  <a:lumMod val="50000"/>
                </a:schemeClr>
              </a:solidFill>
              <a:latin typeface="Arial" panose="020B0604020202020204" pitchFamily="34" charset="0"/>
              <a:cs typeface="Arial" panose="020B0604020202020204" pitchFamily="34" charset="0"/>
            </a:endParaRPr>
          </a:p>
          <a:p>
            <a:pPr algn="just"/>
            <a:r>
              <a:rPr lang="en-US" sz="2400" dirty="0">
                <a:solidFill>
                  <a:schemeClr val="accent1">
                    <a:lumMod val="50000"/>
                  </a:schemeClr>
                </a:solidFill>
                <a:latin typeface="Arial" panose="020B0604020202020204" pitchFamily="34" charset="0"/>
                <a:cs typeface="Arial" panose="020B0604020202020204" pitchFamily="34" charset="0"/>
              </a:rPr>
              <a:t>If a change operates across module boundaries, the work of many people may need re-doing.</a:t>
            </a:r>
          </a:p>
          <a:p>
            <a:pPr algn="just"/>
            <a:endParaRPr lang="en-US" sz="2400" dirty="0">
              <a:solidFill>
                <a:schemeClr val="accent1">
                  <a:lumMod val="50000"/>
                </a:schemeClr>
              </a:solidFill>
              <a:latin typeface="Arial" panose="020B0604020202020204" pitchFamily="34" charset="0"/>
              <a:cs typeface="Arial" panose="020B0604020202020204" pitchFamily="34" charset="0"/>
            </a:endParaRPr>
          </a:p>
          <a:p>
            <a:pPr algn="just"/>
            <a:r>
              <a:rPr lang="en-US" sz="2400" dirty="0">
                <a:solidFill>
                  <a:schemeClr val="accent1">
                    <a:lumMod val="50000"/>
                  </a:schemeClr>
                </a:solidFill>
                <a:latin typeface="Arial" panose="020B0604020202020204" pitchFamily="34" charset="0"/>
                <a:cs typeface="Arial" panose="020B0604020202020204" pitchFamily="34" charset="0"/>
              </a:rPr>
              <a:t>Programming in the large requires abstraction creating skills until a module becomes implemented it remains an </a:t>
            </a:r>
            <a:r>
              <a:rPr lang="en-US" sz="2400" dirty="0">
                <a:solidFill>
                  <a:schemeClr val="accent1">
                    <a:lumMod val="50000"/>
                  </a:schemeClr>
                </a:solidFill>
                <a:latin typeface="Arial" panose="020B0604020202020204" pitchFamily="34" charset="0"/>
                <a:cs typeface="Arial" panose="020B0604020202020204" pitchFamily="34" charset="0"/>
                <a:hlinkClick r:id="rId3" tooltip="Abstraction (computer science)"/>
              </a:rPr>
              <a:t>abstraction</a:t>
            </a:r>
            <a:r>
              <a:rPr lang="en-US" sz="2400" dirty="0">
                <a:latin typeface="Arial" panose="020B0604020202020204" pitchFamily="34" charset="0"/>
                <a:cs typeface="Arial" panose="020B0604020202020204" pitchFamily="34" charset="0"/>
              </a:rPr>
              <a:t>.</a:t>
            </a:r>
            <a:endParaRPr lang="en-US" sz="2400" b="1" dirty="0">
              <a:solidFill>
                <a:srgbClr val="002060"/>
              </a:solidFill>
              <a:latin typeface="Arial" panose="020B0604020202020204" pitchFamily="34" charset="0"/>
              <a:cs typeface="Arial" panose="020B0604020202020204" pitchFamily="34" charset="0"/>
            </a:endParaRPr>
          </a:p>
          <a:p>
            <a:pPr algn="just"/>
            <a:endParaRPr lang="en-US" sz="2400" b="1" dirty="0">
              <a:solidFill>
                <a:schemeClr val="accent1">
                  <a:lumMod val="50000"/>
                </a:schemeClr>
              </a:solidFill>
              <a:latin typeface="+mj-lt"/>
            </a:endParaRPr>
          </a:p>
        </p:txBody>
      </p:sp>
    </p:spTree>
    <p:extLst>
      <p:ext uri="{BB962C8B-B14F-4D97-AF65-F5344CB8AC3E}">
        <p14:creationId xmlns:p14="http://schemas.microsoft.com/office/powerpoint/2010/main" val="780575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Programming in Small Environment</a:t>
            </a:r>
            <a:endParaRPr lang="en-US" sz="3200" b="1" dirty="0">
              <a:solidFill>
                <a:srgbClr val="002060"/>
              </a:solidFill>
            </a:endParaRPr>
          </a:p>
        </p:txBody>
      </p:sp>
      <p:sp>
        <p:nvSpPr>
          <p:cNvPr id="5" name="Text Placeholder 4"/>
          <p:cNvSpPr>
            <a:spLocks noGrp="1"/>
          </p:cNvSpPr>
          <p:nvPr>
            <p:ph type="body" idx="1"/>
          </p:nvPr>
        </p:nvSpPr>
        <p:spPr/>
        <p:txBody>
          <a:bodyPr>
            <a:normAutofit/>
          </a:bodyPr>
          <a:lstStyle/>
          <a:p>
            <a:pPr marL="0" indent="0" algn="just">
              <a:buNone/>
            </a:pPr>
            <a:r>
              <a:rPr lang="en-US" sz="2400" dirty="0">
                <a:solidFill>
                  <a:srgbClr val="002060"/>
                </a:solidFill>
                <a:latin typeface="Arial" panose="020B0604020202020204" pitchFamily="34" charset="0"/>
                <a:cs typeface="Arial" panose="020B0604020202020204" pitchFamily="34" charset="0"/>
              </a:rPr>
              <a:t>Programming in the small describes the activity of writing a small program. </a:t>
            </a:r>
          </a:p>
          <a:p>
            <a:pPr marL="0" indent="0" algn="just">
              <a:buNone/>
            </a:pPr>
            <a:r>
              <a:rPr lang="en-US" sz="2400" dirty="0">
                <a:solidFill>
                  <a:schemeClr val="accent1">
                    <a:lumMod val="50000"/>
                  </a:schemeClr>
                </a:solidFill>
                <a:latin typeface="Arial" panose="020B0604020202020204" pitchFamily="34" charset="0"/>
                <a:cs typeface="Arial" panose="020B0604020202020204" pitchFamily="34" charset="0"/>
              </a:rPr>
              <a:t>Small programs are typified by being small in terms of their</a:t>
            </a:r>
          </a:p>
          <a:p>
            <a:pPr marL="0" indent="0" algn="just">
              <a:buNone/>
            </a:pPr>
            <a:endParaRPr lang="en-US" sz="2400" dirty="0">
              <a:solidFill>
                <a:schemeClr val="accent1">
                  <a:lumMod val="50000"/>
                </a:schemeClr>
              </a:solidFill>
              <a:latin typeface="Arial" panose="020B0604020202020204" pitchFamily="34" charset="0"/>
              <a:cs typeface="Arial" panose="020B0604020202020204" pitchFamily="34" charset="0"/>
            </a:endParaRPr>
          </a:p>
          <a:p>
            <a:pPr lvl="1" indent="-457200" algn="just">
              <a:buFont typeface="Wingdings" panose="05000000000000000000" pitchFamily="2" charset="2"/>
              <a:buChar char="§"/>
            </a:pPr>
            <a:r>
              <a:rPr lang="en-US" b="1" dirty="0">
                <a:solidFill>
                  <a:srgbClr val="FFC000"/>
                </a:solidFill>
                <a:latin typeface="Arial" panose="020B0604020202020204" pitchFamily="34" charset="0"/>
                <a:cs typeface="Arial" panose="020B0604020202020204" pitchFamily="34" charset="0"/>
              </a:rPr>
              <a:t>Source code size	</a:t>
            </a:r>
          </a:p>
          <a:p>
            <a:pPr lvl="1" indent="-457200" algn="just">
              <a:buFont typeface="Wingdings" panose="05000000000000000000" pitchFamily="2" charset="2"/>
              <a:buChar char="§"/>
            </a:pPr>
            <a:r>
              <a:rPr lang="en-US" b="1" dirty="0">
                <a:solidFill>
                  <a:srgbClr val="FFC000"/>
                </a:solidFill>
                <a:latin typeface="Arial" panose="020B0604020202020204" pitchFamily="34" charset="0"/>
                <a:cs typeface="Arial" panose="020B0604020202020204" pitchFamily="34" charset="0"/>
              </a:rPr>
              <a:t>Easy to specify</a:t>
            </a:r>
          </a:p>
          <a:p>
            <a:pPr lvl="1" indent="-457200" algn="just">
              <a:buFont typeface="Wingdings" panose="05000000000000000000" pitchFamily="2" charset="2"/>
              <a:buChar char="§"/>
            </a:pPr>
            <a:r>
              <a:rPr lang="en-US" b="1" dirty="0">
                <a:solidFill>
                  <a:srgbClr val="FFC000"/>
                </a:solidFill>
                <a:latin typeface="Arial" panose="020B0604020202020204" pitchFamily="34" charset="0"/>
                <a:cs typeface="Arial" panose="020B0604020202020204" pitchFamily="34" charset="0"/>
              </a:rPr>
              <a:t>Quick to code</a:t>
            </a:r>
            <a:r>
              <a:rPr lang="en-US" b="1" dirty="0">
                <a:solidFill>
                  <a:schemeClr val="accent1">
                    <a:lumMod val="50000"/>
                  </a:schemeClr>
                </a:solidFill>
                <a:latin typeface="Arial" panose="020B0604020202020204" pitchFamily="34" charset="0"/>
                <a:cs typeface="Arial" panose="020B0604020202020204" pitchFamily="34" charset="0"/>
              </a:rPr>
              <a:t>	</a:t>
            </a:r>
          </a:p>
          <a:p>
            <a:pPr marL="0" indent="0" algn="ctr">
              <a:buNone/>
            </a:pPr>
            <a:endParaRPr lang="en-US" sz="4000" b="1" dirty="0">
              <a:solidFill>
                <a:srgbClr val="002060"/>
              </a:solidFill>
            </a:endParaRPr>
          </a:p>
          <a:p>
            <a:pPr marL="0" indent="0" algn="ctr">
              <a:buNone/>
            </a:pPr>
            <a:endParaRPr lang="en-US" sz="4000" b="1" dirty="0">
              <a:solidFill>
                <a:srgbClr val="002060"/>
              </a:solidFill>
            </a:endParaRPr>
          </a:p>
        </p:txBody>
      </p:sp>
    </p:spTree>
    <p:extLst>
      <p:ext uri="{BB962C8B-B14F-4D97-AF65-F5344CB8AC3E}">
        <p14:creationId xmlns:p14="http://schemas.microsoft.com/office/powerpoint/2010/main" val="853022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solidFill>
                  <a:srgbClr val="002060"/>
                </a:solidFill>
                <a:latin typeface="Arial" panose="020B0604020202020204" pitchFamily="34" charset="0"/>
                <a:cs typeface="Arial" panose="020B0604020202020204" pitchFamily="34" charset="0"/>
              </a:rPr>
              <a:t>Programming in Small Environment</a:t>
            </a:r>
            <a:br>
              <a:rPr lang="en-US" sz="2800" b="1" dirty="0">
                <a:solidFill>
                  <a:srgbClr val="002060"/>
                </a:solidFill>
                <a:latin typeface="Arial" panose="020B0604020202020204" pitchFamily="34" charset="0"/>
                <a:cs typeface="Arial" panose="020B0604020202020204" pitchFamily="34" charset="0"/>
              </a:rPr>
            </a:br>
            <a:endParaRPr lang="en-US" sz="2800" dirty="0"/>
          </a:p>
        </p:txBody>
      </p:sp>
      <p:sp>
        <p:nvSpPr>
          <p:cNvPr id="5" name="Text Placeholder 4"/>
          <p:cNvSpPr>
            <a:spLocks noGrp="1"/>
          </p:cNvSpPr>
          <p:nvPr>
            <p:ph type="body" idx="1"/>
          </p:nvPr>
        </p:nvSpPr>
        <p:spPr/>
        <p:txBody>
          <a:bodyPr>
            <a:normAutofit/>
          </a:bodyPr>
          <a:lstStyle/>
          <a:p>
            <a:pPr indent="-457200" algn="just">
              <a:buFont typeface="Wingdings" panose="05000000000000000000" pitchFamily="2" charset="2"/>
              <a:buChar char="§"/>
            </a:pPr>
            <a:r>
              <a:rPr lang="en-US" sz="2400" dirty="0">
                <a:solidFill>
                  <a:schemeClr val="accent1">
                    <a:lumMod val="50000"/>
                  </a:schemeClr>
                </a:solidFill>
                <a:latin typeface="Arial" panose="020B0604020202020204" pitchFamily="34" charset="0"/>
                <a:cs typeface="Arial" panose="020B0604020202020204" pitchFamily="34" charset="0"/>
              </a:rPr>
              <a:t>Programming in the small can involve programming by individuals or small groups.</a:t>
            </a:r>
          </a:p>
          <a:p>
            <a:pPr indent="-457200" algn="just">
              <a:buFont typeface="Wingdings" panose="05000000000000000000" pitchFamily="2" charset="2"/>
              <a:buChar char="§"/>
            </a:pPr>
            <a:r>
              <a:rPr lang="en-US" sz="2400" dirty="0">
                <a:solidFill>
                  <a:schemeClr val="accent1">
                    <a:lumMod val="50000"/>
                  </a:schemeClr>
                </a:solidFill>
                <a:latin typeface="Arial" panose="020B0604020202020204" pitchFamily="34" charset="0"/>
                <a:cs typeface="Arial" panose="020B0604020202020204" pitchFamily="34" charset="0"/>
              </a:rPr>
              <a:t>short time periods and may involve less formal practices.  </a:t>
            </a:r>
            <a:endParaRPr lang="en-US" sz="2400" b="1" dirty="0">
              <a:solidFill>
                <a:schemeClr val="accent1">
                  <a:lumMod val="50000"/>
                </a:schemeClr>
              </a:solidFill>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stretch>
            <a:fillRect/>
          </a:stretch>
        </p:blipFill>
        <p:spPr>
          <a:xfrm>
            <a:off x="5943600" y="3239727"/>
            <a:ext cx="3732502" cy="2163586"/>
          </a:xfrm>
          <a:prstGeom prst="rect">
            <a:avLst/>
          </a:prstGeom>
        </p:spPr>
      </p:pic>
    </p:spTree>
    <p:extLst>
      <p:ext uri="{BB962C8B-B14F-4D97-AF65-F5344CB8AC3E}">
        <p14:creationId xmlns:p14="http://schemas.microsoft.com/office/powerpoint/2010/main" val="3845219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a:spLocks/>
          </p:cNvSpPr>
          <p:nvPr/>
        </p:nvSpPr>
        <p:spPr>
          <a:xfrm>
            <a:off x="1125583" y="1646238"/>
            <a:ext cx="8229600" cy="452596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ctr">
              <a:buNone/>
            </a:pPr>
            <a:endParaRPr lang="en-US" sz="4000" b="1" dirty="0">
              <a:solidFill>
                <a:srgbClr val="002060"/>
              </a:solidFill>
            </a:endParaRPr>
          </a:p>
          <a:p>
            <a:pPr marL="0" indent="0" algn="ctr">
              <a:buNone/>
            </a:pPr>
            <a:endParaRPr lang="en-US" sz="4000" b="1" dirty="0">
              <a:solidFill>
                <a:schemeClr val="accent1">
                  <a:lumMod val="50000"/>
                </a:schemeClr>
              </a:solidFill>
              <a:latin typeface="Arial" panose="020B0604020202020204" pitchFamily="34" charset="0"/>
              <a:cs typeface="Arial" panose="020B0604020202020204" pitchFamily="34" charset="0"/>
            </a:endParaRPr>
          </a:p>
          <a:p>
            <a:pPr marL="0" indent="0" algn="just">
              <a:buNone/>
            </a:pPr>
            <a:r>
              <a:rPr lang="en-US" sz="2800" dirty="0">
                <a:solidFill>
                  <a:schemeClr val="accent1">
                    <a:lumMod val="50000"/>
                  </a:schemeClr>
                </a:solidFill>
                <a:latin typeface="Arial" panose="020B0604020202020204" pitchFamily="34" charset="0"/>
                <a:cs typeface="Arial" panose="020B0604020202020204" pitchFamily="34" charset="0"/>
              </a:rPr>
              <a:t>Programming in the small can also describe an approach to making a prototype software.</a:t>
            </a:r>
          </a:p>
          <a:p>
            <a:pPr marL="0" indent="0" algn="just">
              <a:buNone/>
            </a:pPr>
            <a:endParaRPr lang="en-US" sz="4000" b="1" dirty="0">
              <a:solidFill>
                <a:srgbClr val="002060"/>
              </a:solidFill>
            </a:endParaRPr>
          </a:p>
        </p:txBody>
      </p:sp>
      <p:sp>
        <p:nvSpPr>
          <p:cNvPr id="3" name="Title 2"/>
          <p:cNvSpPr>
            <a:spLocks noGrp="1"/>
          </p:cNvSpPr>
          <p:nvPr>
            <p:ph type="title"/>
          </p:nvPr>
        </p:nvSpPr>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Programming in Small Environment</a:t>
            </a:r>
            <a:endParaRPr lang="en-US" sz="3200" dirty="0">
              <a:latin typeface="Arial" panose="020B0604020202020204" pitchFamily="34" charset="0"/>
              <a:cs typeface="Arial" panose="020B0604020202020204" pitchFamily="34" charset="0"/>
            </a:endParaRPr>
          </a:p>
        </p:txBody>
      </p:sp>
      <p:sp>
        <p:nvSpPr>
          <p:cNvPr id="9" name="Text Placeholder 8"/>
          <p:cNvSpPr>
            <a:spLocks noGrp="1"/>
          </p:cNvSpPr>
          <p:nvPr>
            <p:ph idx="1"/>
          </p:nvPr>
        </p:nvSpPr>
        <p:spPr>
          <a:xfrm>
            <a:off x="838200" y="1462089"/>
            <a:ext cx="10515600" cy="4351338"/>
          </a:xfrm>
        </p:spPr>
        <p:txBody>
          <a:bodyPr/>
          <a:lstStyle/>
          <a:p>
            <a:pPr marL="114300" indent="0" algn="ctr">
              <a:buNone/>
            </a:pPr>
            <a:r>
              <a:rPr lang="en-US" dirty="0"/>
              <a:t>   </a:t>
            </a:r>
          </a:p>
        </p:txBody>
      </p:sp>
      <p:pic>
        <p:nvPicPr>
          <p:cNvPr id="10" name="Picture 2" descr="Texavi - Prototyp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1817" y="3794513"/>
            <a:ext cx="2417906" cy="1909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293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q"/>
            </a:pPr>
            <a:r>
              <a:rPr lang="en-US" b="1" spc="-5" dirty="0">
                <a:solidFill>
                  <a:srgbClr val="7030A0"/>
                </a:solidFill>
                <a:cs typeface="Arial" panose="020B0604020202020204" pitchFamily="34" charset="0"/>
              </a:rPr>
              <a:t>    </a:t>
            </a:r>
            <a:r>
              <a:rPr lang="en-US" b="1" spc="-5" dirty="0">
                <a:solidFill>
                  <a:srgbClr val="00B050"/>
                </a:solidFill>
                <a:cs typeface="Arial" panose="020B0604020202020204" pitchFamily="34" charset="0"/>
              </a:rPr>
              <a:t>Custom</a:t>
            </a:r>
            <a:r>
              <a:rPr lang="en-US" b="1" spc="65" dirty="0">
                <a:solidFill>
                  <a:srgbClr val="00B050"/>
                </a:solidFill>
                <a:cs typeface="Arial" panose="020B0604020202020204" pitchFamily="34" charset="0"/>
              </a:rPr>
              <a:t> </a:t>
            </a:r>
            <a:r>
              <a:rPr lang="en-US" b="1" spc="-5" dirty="0">
                <a:solidFill>
                  <a:srgbClr val="00B050"/>
                </a:solidFill>
                <a:cs typeface="Arial" panose="020B0604020202020204" pitchFamily="34" charset="0"/>
              </a:rPr>
              <a:t>built</a:t>
            </a:r>
          </a:p>
          <a:p>
            <a:pPr>
              <a:buFont typeface="Wingdings" panose="05000000000000000000" pitchFamily="2" charset="2"/>
              <a:buChar char="q"/>
            </a:pPr>
            <a:r>
              <a:rPr lang="en-US" b="1" dirty="0">
                <a:solidFill>
                  <a:srgbClr val="00B050"/>
                </a:solidFill>
                <a:cs typeface="Arial" panose="020B0604020202020204" pitchFamily="34" charset="0"/>
              </a:rPr>
              <a:t>   Software engineering</a:t>
            </a:r>
            <a:r>
              <a:rPr lang="en-US" b="1" spc="-100" dirty="0">
                <a:solidFill>
                  <a:srgbClr val="00B050"/>
                </a:solidFill>
                <a:cs typeface="Arial" panose="020B0604020202020204" pitchFamily="34" charset="0"/>
              </a:rPr>
              <a:t> a </a:t>
            </a:r>
            <a:r>
              <a:rPr lang="en-US" b="1" spc="-5" dirty="0">
                <a:solidFill>
                  <a:srgbClr val="00B050"/>
                </a:solidFill>
                <a:cs typeface="Arial" panose="020B0604020202020204" pitchFamily="34" charset="0"/>
              </a:rPr>
              <a:t>layered architecture</a:t>
            </a:r>
          </a:p>
          <a:p>
            <a:pPr>
              <a:buFont typeface="Wingdings" panose="05000000000000000000" pitchFamily="2" charset="2"/>
              <a:buChar char="q"/>
            </a:pPr>
            <a:r>
              <a:rPr lang="en-US" b="1" dirty="0">
                <a:solidFill>
                  <a:srgbClr val="00B050"/>
                </a:solidFill>
              </a:rPr>
              <a:t>    The changing nature of software</a:t>
            </a:r>
          </a:p>
          <a:p>
            <a:pPr>
              <a:buFont typeface="Wingdings" panose="05000000000000000000" pitchFamily="2" charset="2"/>
              <a:buChar char="q"/>
            </a:pPr>
            <a:r>
              <a:rPr lang="en-US" b="1" dirty="0">
                <a:solidFill>
                  <a:srgbClr val="00B050"/>
                </a:solidFill>
                <a:cs typeface="Arial" panose="020B0604020202020204" pitchFamily="34" charset="0"/>
              </a:rPr>
              <a:t>   Programming in large vs small</a:t>
            </a:r>
          </a:p>
          <a:p>
            <a:pPr>
              <a:buFont typeface="Wingdings" panose="05000000000000000000" pitchFamily="2" charset="2"/>
              <a:buChar char="q"/>
            </a:pPr>
            <a:r>
              <a:rPr lang="en-US" b="1" dirty="0">
                <a:solidFill>
                  <a:srgbClr val="7030A0"/>
                </a:solidFill>
                <a:cs typeface="Arial" panose="020B0604020202020204" pitchFamily="34" charset="0"/>
              </a:rPr>
              <a:t>   </a:t>
            </a:r>
            <a:r>
              <a:rPr lang="en-US" b="1" dirty="0">
                <a:solidFill>
                  <a:srgbClr val="7030A0"/>
                </a:solidFill>
                <a:ea typeface="Arial"/>
                <a:cs typeface="Arial"/>
                <a:sym typeface="Arial"/>
              </a:rPr>
              <a:t>Software failures</a:t>
            </a:r>
            <a:endParaRPr lang="en-US" dirty="0">
              <a:solidFill>
                <a:srgbClr val="7030A0"/>
              </a:solidFill>
              <a:ea typeface="Arial"/>
              <a:cs typeface="Arial"/>
              <a:sym typeface="Arial"/>
            </a:endParaRPr>
          </a:p>
          <a:p>
            <a:pPr marL="0" indent="0">
              <a:buNone/>
            </a:pPr>
            <a:endParaRPr lang="en-IN" dirty="0"/>
          </a:p>
          <a:p>
            <a:endParaRPr lang="en-IN" dirty="0"/>
          </a:p>
        </p:txBody>
      </p:sp>
    </p:spTree>
    <p:extLst>
      <p:ext uri="{BB962C8B-B14F-4D97-AF65-F5344CB8AC3E}">
        <p14:creationId xmlns:p14="http://schemas.microsoft.com/office/powerpoint/2010/main" val="828864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ctrTitle"/>
          </p:nvPr>
        </p:nvSpPr>
        <p:spPr>
          <a:xfrm>
            <a:off x="2303318" y="1645517"/>
            <a:ext cx="7772400" cy="1470025"/>
          </a:xfrm>
          <a:prstGeom prst="rect">
            <a:avLst/>
          </a:prstGeom>
          <a:noFill/>
          <a:ln>
            <a:noFill/>
          </a:ln>
        </p:spPr>
        <p:txBody>
          <a:bodyPr spcFirstLastPara="1" vert="horz" wrap="square" lIns="91425" tIns="45700" rIns="91425" bIns="45700" rtlCol="0" anchor="ctr" anchorCtr="0">
            <a:noAutofit/>
          </a:bodyPr>
          <a:lstStyle/>
          <a:p>
            <a:pPr>
              <a:spcBef>
                <a:spcPts val="0"/>
              </a:spcBef>
              <a:buClr>
                <a:schemeClr val="dk1"/>
              </a:buClr>
              <a:buSzPts val="4400"/>
            </a:pPr>
            <a:r>
              <a:rPr lang="en-US" sz="4000" b="1" dirty="0">
                <a:solidFill>
                  <a:srgbClr val="FFC000"/>
                </a:solidFill>
                <a:latin typeface="Arial"/>
                <a:ea typeface="Arial"/>
                <a:cs typeface="Arial"/>
                <a:sym typeface="Arial"/>
              </a:rPr>
              <a:t>Topic -1.2</a:t>
            </a:r>
            <a:endParaRPr sz="4000" b="1" dirty="0">
              <a:solidFill>
                <a:srgbClr val="FFC000"/>
              </a:solidFill>
              <a:latin typeface="Arial"/>
              <a:ea typeface="Arial"/>
              <a:cs typeface="Arial"/>
              <a:sym typeface="Arial"/>
            </a:endParaRPr>
          </a:p>
        </p:txBody>
      </p:sp>
      <p:sp>
        <p:nvSpPr>
          <p:cNvPr id="91" name="Google Shape;91;p14"/>
          <p:cNvSpPr txBox="1">
            <a:spLocks noGrp="1"/>
          </p:cNvSpPr>
          <p:nvPr>
            <p:ph type="subTitle" idx="1"/>
          </p:nvPr>
        </p:nvSpPr>
        <p:spPr>
          <a:xfrm>
            <a:off x="757646" y="3276600"/>
            <a:ext cx="10280468" cy="1752600"/>
          </a:xfrm>
          <a:prstGeom prst="rect">
            <a:avLst/>
          </a:prstGeom>
          <a:noFill/>
          <a:ln>
            <a:noFill/>
          </a:ln>
        </p:spPr>
        <p:txBody>
          <a:bodyPr spcFirstLastPara="1" vert="horz" wrap="square" lIns="91425" tIns="45700" rIns="91425" bIns="45700" rtlCol="0" anchor="t" anchorCtr="0">
            <a:noAutofit/>
          </a:bodyPr>
          <a:lstStyle/>
          <a:p>
            <a:pPr>
              <a:spcBef>
                <a:spcPts val="0"/>
              </a:spcBef>
              <a:buClr>
                <a:schemeClr val="dk1"/>
              </a:buClr>
              <a:buSzPts val="3200"/>
            </a:pPr>
            <a:r>
              <a:rPr lang="en-US" sz="3600" b="1" dirty="0">
                <a:solidFill>
                  <a:schemeClr val="accent1">
                    <a:lumMod val="50000"/>
                  </a:schemeClr>
                </a:solidFill>
                <a:latin typeface="Arial"/>
                <a:ea typeface="Arial"/>
                <a:cs typeface="Arial"/>
                <a:sym typeface="Arial"/>
              </a:rPr>
              <a:t>Software Engineering – Software Failures</a:t>
            </a:r>
            <a:endParaRPr sz="3600" dirty="0">
              <a:solidFill>
                <a:schemeClr val="accent1">
                  <a:lumMod val="50000"/>
                </a:schemeClr>
              </a:solidFill>
              <a:latin typeface="Arial"/>
              <a:ea typeface="Arial"/>
              <a:cs typeface="Arial"/>
              <a:sym typeface="Arial"/>
            </a:endParaRPr>
          </a:p>
        </p:txBody>
      </p:sp>
      <p:sp>
        <p:nvSpPr>
          <p:cNvPr id="2" name="Footer Placeholder 1"/>
          <p:cNvSpPr>
            <a:spLocks noGrp="1"/>
          </p:cNvSpPr>
          <p:nvPr>
            <p:ph type="ftr" sz="quarter" idx="11"/>
          </p:nvPr>
        </p:nvSpPr>
        <p:spPr>
          <a:xfrm>
            <a:off x="862149" y="6356350"/>
            <a:ext cx="10998925" cy="365125"/>
          </a:xfrm>
        </p:spPr>
        <p:txBody>
          <a:bodyPr/>
          <a:lstStyle/>
          <a:p>
            <a:r>
              <a:rPr lang="en-IN"/>
              <a:t>Software Project Failures                                  Software Engineering                              vasavi / CSBS</a:t>
            </a:r>
            <a:endParaRPr lang="en-US" dirty="0"/>
          </a:p>
        </p:txBody>
      </p:sp>
    </p:spTree>
    <p:extLst>
      <p:ext uri="{BB962C8B-B14F-4D97-AF65-F5344CB8AC3E}">
        <p14:creationId xmlns:p14="http://schemas.microsoft.com/office/powerpoint/2010/main" val="4288754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8914"/>
            <a:ext cx="10515600" cy="5248049"/>
          </a:xfrm>
        </p:spPr>
        <p:txBody>
          <a:bodyPr/>
          <a:lstStyle/>
          <a:p>
            <a:r>
              <a:rPr lang="en-US" sz="3200" b="1" spc="-15" dirty="0">
                <a:solidFill>
                  <a:srgbClr val="002060"/>
                </a:solidFill>
                <a:latin typeface="Arial" panose="020B0604020202020204" pitchFamily="34" charset="0"/>
                <a:cs typeface="Arial" panose="020B0604020202020204" pitchFamily="34" charset="0"/>
              </a:rPr>
              <a:t>Poor </a:t>
            </a:r>
            <a:r>
              <a:rPr lang="en-US" sz="3200" b="1" dirty="0">
                <a:solidFill>
                  <a:srgbClr val="002060"/>
                </a:solidFill>
                <a:latin typeface="Arial" panose="020B0604020202020204" pitchFamily="34" charset="0"/>
                <a:cs typeface="Arial" panose="020B0604020202020204" pitchFamily="34" charset="0"/>
              </a:rPr>
              <a:t>planning </a:t>
            </a:r>
            <a:r>
              <a:rPr lang="en-US" sz="3200" b="1" spc="-15" dirty="0">
                <a:solidFill>
                  <a:srgbClr val="002060"/>
                </a:solidFill>
                <a:latin typeface="Arial" panose="020B0604020202020204" pitchFamily="34" charset="0"/>
                <a:cs typeface="Arial" panose="020B0604020202020204" pitchFamily="34" charset="0"/>
              </a:rPr>
              <a:t>and/or </a:t>
            </a:r>
            <a:r>
              <a:rPr lang="en-US" sz="3200" b="1" spc="-10" dirty="0">
                <a:solidFill>
                  <a:srgbClr val="002060"/>
                </a:solidFill>
                <a:latin typeface="Arial" panose="020B0604020202020204" pitchFamily="34" charset="0"/>
                <a:cs typeface="Arial" panose="020B0604020202020204" pitchFamily="34" charset="0"/>
              </a:rPr>
              <a:t>inadequate</a:t>
            </a:r>
            <a:r>
              <a:rPr lang="en-US" sz="3200" b="1" spc="-90" dirty="0">
                <a:solidFill>
                  <a:srgbClr val="002060"/>
                </a:solidFill>
                <a:latin typeface="Arial" panose="020B0604020202020204" pitchFamily="34" charset="0"/>
                <a:cs typeface="Arial" panose="020B0604020202020204" pitchFamily="34" charset="0"/>
              </a:rPr>
              <a:t> </a:t>
            </a:r>
            <a:r>
              <a:rPr lang="en-US" sz="3200" b="1" spc="-5" dirty="0">
                <a:solidFill>
                  <a:srgbClr val="002060"/>
                </a:solidFill>
                <a:latin typeface="Arial" panose="020B0604020202020204" pitchFamily="34" charset="0"/>
                <a:cs typeface="Arial" panose="020B0604020202020204" pitchFamily="34" charset="0"/>
              </a:rPr>
              <a:t>process</a:t>
            </a:r>
          </a:p>
          <a:p>
            <a:r>
              <a:rPr lang="en-US" sz="3200" b="1" spc="-10" dirty="0">
                <a:solidFill>
                  <a:srgbClr val="002060"/>
                </a:solidFill>
                <a:latin typeface="Arial" panose="020B0604020202020204" pitchFamily="34" charset="0"/>
                <a:cs typeface="Arial" panose="020B0604020202020204" pitchFamily="34" charset="0"/>
              </a:rPr>
              <a:t>Inefficient </a:t>
            </a:r>
            <a:r>
              <a:rPr lang="en-US" sz="3200" b="1" spc="-35" dirty="0">
                <a:solidFill>
                  <a:srgbClr val="002060"/>
                </a:solidFill>
                <a:latin typeface="Arial" panose="020B0604020202020204" pitchFamily="34" charset="0"/>
                <a:cs typeface="Arial" panose="020B0604020202020204" pitchFamily="34" charset="0"/>
              </a:rPr>
              <a:t>way </a:t>
            </a:r>
            <a:r>
              <a:rPr lang="en-US" sz="3200" b="1" spc="-10" dirty="0">
                <a:solidFill>
                  <a:srgbClr val="002060"/>
                </a:solidFill>
                <a:latin typeface="Arial" panose="020B0604020202020204" pitchFamily="34" charset="0"/>
                <a:cs typeface="Arial" panose="020B0604020202020204" pitchFamily="34" charset="0"/>
              </a:rPr>
              <a:t>to document </a:t>
            </a:r>
            <a:r>
              <a:rPr lang="en-US" sz="3200" b="1" dirty="0">
                <a:solidFill>
                  <a:srgbClr val="002060"/>
                </a:solidFill>
                <a:latin typeface="Arial" panose="020B0604020202020204" pitchFamily="34" charset="0"/>
                <a:cs typeface="Arial" panose="020B0604020202020204" pitchFamily="34" charset="0"/>
              </a:rPr>
              <a:t>and </a:t>
            </a:r>
            <a:r>
              <a:rPr lang="en-US" sz="3200" b="1" spc="-15" dirty="0">
                <a:solidFill>
                  <a:srgbClr val="002060"/>
                </a:solidFill>
                <a:latin typeface="Arial" panose="020B0604020202020204" pitchFamily="34" charset="0"/>
                <a:cs typeface="Arial" panose="020B0604020202020204" pitchFamily="34" charset="0"/>
              </a:rPr>
              <a:t>track</a:t>
            </a:r>
            <a:r>
              <a:rPr lang="en-US" sz="3200" b="1" spc="15" dirty="0">
                <a:solidFill>
                  <a:srgbClr val="002060"/>
                </a:solidFill>
                <a:latin typeface="Arial" panose="020B0604020202020204" pitchFamily="34" charset="0"/>
                <a:cs typeface="Arial" panose="020B0604020202020204" pitchFamily="34" charset="0"/>
              </a:rPr>
              <a:t> </a:t>
            </a:r>
            <a:r>
              <a:rPr lang="en-US" sz="3200" b="1" spc="-15" dirty="0">
                <a:solidFill>
                  <a:srgbClr val="002060"/>
                </a:solidFill>
                <a:latin typeface="Arial" panose="020B0604020202020204" pitchFamily="34" charset="0"/>
                <a:cs typeface="Arial" panose="020B0604020202020204" pitchFamily="34" charset="0"/>
              </a:rPr>
              <a:t>progress</a:t>
            </a:r>
          </a:p>
          <a:p>
            <a:r>
              <a:rPr lang="en-US" sz="3200" b="1" spc="-15" dirty="0">
                <a:solidFill>
                  <a:srgbClr val="002060"/>
                </a:solidFill>
                <a:latin typeface="Arial" panose="020B0604020202020204" pitchFamily="34" charset="0"/>
                <a:cs typeface="Arial" panose="020B0604020202020204" pitchFamily="34" charset="0"/>
              </a:rPr>
              <a:t>Poor </a:t>
            </a:r>
            <a:r>
              <a:rPr lang="en-US" sz="3200" b="1" spc="-5" dirty="0">
                <a:solidFill>
                  <a:srgbClr val="002060"/>
                </a:solidFill>
                <a:latin typeface="Arial" panose="020B0604020202020204" pitchFamily="34" charset="0"/>
                <a:cs typeface="Arial" panose="020B0604020202020204" pitchFamily="34" charset="0"/>
              </a:rPr>
              <a:t>leadership </a:t>
            </a:r>
            <a:r>
              <a:rPr lang="en-US" sz="3200" b="1" spc="-15" dirty="0">
                <a:solidFill>
                  <a:srgbClr val="002060"/>
                </a:solidFill>
                <a:latin typeface="Arial" panose="020B0604020202020204" pitchFamily="34" charset="0"/>
                <a:cs typeface="Arial" panose="020B0604020202020204" pitchFamily="34" charset="0"/>
              </a:rPr>
              <a:t>at </a:t>
            </a:r>
            <a:r>
              <a:rPr lang="en-US" sz="3200" b="1" spc="-20" dirty="0">
                <a:solidFill>
                  <a:srgbClr val="002060"/>
                </a:solidFill>
                <a:latin typeface="Arial" panose="020B0604020202020204" pitchFamily="34" charset="0"/>
                <a:cs typeface="Arial" panose="020B0604020202020204" pitchFamily="34" charset="0"/>
              </a:rPr>
              <a:t>any</a:t>
            </a:r>
            <a:r>
              <a:rPr lang="en-US" sz="3200" b="1" spc="-85" dirty="0">
                <a:solidFill>
                  <a:srgbClr val="002060"/>
                </a:solidFill>
                <a:latin typeface="Arial" panose="020B0604020202020204" pitchFamily="34" charset="0"/>
                <a:cs typeface="Arial" panose="020B0604020202020204" pitchFamily="34" charset="0"/>
              </a:rPr>
              <a:t> </a:t>
            </a:r>
            <a:r>
              <a:rPr lang="en-US" sz="3200" b="1" spc="-10" dirty="0">
                <a:solidFill>
                  <a:srgbClr val="002060"/>
                </a:solidFill>
                <a:latin typeface="Arial" panose="020B0604020202020204" pitchFamily="34" charset="0"/>
                <a:cs typeface="Arial" panose="020B0604020202020204" pitchFamily="34" charset="0"/>
              </a:rPr>
              <a:t>level</a:t>
            </a:r>
          </a:p>
          <a:p>
            <a:r>
              <a:rPr lang="en-US" sz="3200" b="1" spc="-25" dirty="0">
                <a:solidFill>
                  <a:srgbClr val="002060"/>
                </a:solidFill>
                <a:latin typeface="Arial" panose="020B0604020202020204" pitchFamily="34" charset="0"/>
                <a:cs typeface="Arial" panose="020B0604020202020204" pitchFamily="34" charset="0"/>
              </a:rPr>
              <a:t>Failure to </a:t>
            </a:r>
            <a:r>
              <a:rPr lang="en-US" sz="3200" b="1" spc="-10" dirty="0">
                <a:solidFill>
                  <a:srgbClr val="002060"/>
                </a:solidFill>
                <a:latin typeface="Arial" panose="020B0604020202020204" pitchFamily="34" charset="0"/>
                <a:cs typeface="Arial" panose="020B0604020202020204" pitchFamily="34" charset="0"/>
              </a:rPr>
              <a:t>set </a:t>
            </a:r>
            <a:r>
              <a:rPr lang="en-US" sz="3200" b="1" spc="-15" dirty="0">
                <a:solidFill>
                  <a:srgbClr val="002060"/>
                </a:solidFill>
                <a:latin typeface="Arial" panose="020B0604020202020204" pitchFamily="34" charset="0"/>
                <a:cs typeface="Arial" panose="020B0604020202020204" pitchFamily="34" charset="0"/>
              </a:rPr>
              <a:t>expectations </a:t>
            </a:r>
            <a:r>
              <a:rPr lang="en-US" sz="3200" b="1" spc="-10" dirty="0">
                <a:solidFill>
                  <a:srgbClr val="002060"/>
                </a:solidFill>
                <a:latin typeface="Arial" panose="020B0604020202020204" pitchFamily="34" charset="0"/>
                <a:cs typeface="Arial" panose="020B0604020202020204" pitchFamily="34" charset="0"/>
              </a:rPr>
              <a:t>and </a:t>
            </a:r>
            <a:r>
              <a:rPr lang="en-US" sz="3200" b="1" spc="-15" dirty="0">
                <a:solidFill>
                  <a:srgbClr val="002060"/>
                </a:solidFill>
                <a:latin typeface="Arial" panose="020B0604020202020204" pitchFamily="34" charset="0"/>
                <a:cs typeface="Arial" panose="020B0604020202020204" pitchFamily="34" charset="0"/>
              </a:rPr>
              <a:t>manage</a:t>
            </a:r>
            <a:r>
              <a:rPr lang="en-US" sz="3200" b="1" spc="114" dirty="0">
                <a:solidFill>
                  <a:srgbClr val="002060"/>
                </a:solidFill>
                <a:latin typeface="Arial" panose="020B0604020202020204" pitchFamily="34" charset="0"/>
                <a:cs typeface="Arial" panose="020B0604020202020204" pitchFamily="34" charset="0"/>
              </a:rPr>
              <a:t> </a:t>
            </a:r>
            <a:r>
              <a:rPr lang="en-US" sz="3200" b="1" spc="-10" dirty="0">
                <a:solidFill>
                  <a:srgbClr val="002060"/>
                </a:solidFill>
                <a:latin typeface="Arial" panose="020B0604020202020204" pitchFamily="34" charset="0"/>
                <a:cs typeface="Arial" panose="020B0604020202020204" pitchFamily="34" charset="0"/>
              </a:rPr>
              <a:t>them</a:t>
            </a:r>
          </a:p>
          <a:p>
            <a:pPr marL="228600" lvl="1">
              <a:spcBef>
                <a:spcPts val="1000"/>
              </a:spcBef>
            </a:pPr>
            <a:r>
              <a:rPr lang="en-US" sz="3200" b="1" spc="-15" dirty="0">
                <a:solidFill>
                  <a:srgbClr val="002060"/>
                </a:solidFill>
                <a:latin typeface="Arial" panose="020B0604020202020204" pitchFamily="34" charset="0"/>
                <a:cs typeface="Arial" panose="020B0604020202020204" pitchFamily="34" charset="0"/>
              </a:rPr>
              <a:t>Inaccurate </a:t>
            </a:r>
            <a:r>
              <a:rPr lang="en-US" sz="3200" b="1" spc="-10" dirty="0">
                <a:solidFill>
                  <a:srgbClr val="002060"/>
                </a:solidFill>
                <a:latin typeface="Arial" panose="020B0604020202020204" pitchFamily="34" charset="0"/>
                <a:cs typeface="Arial" panose="020B0604020202020204" pitchFamily="34" charset="0"/>
              </a:rPr>
              <a:t>cost</a:t>
            </a:r>
            <a:r>
              <a:rPr lang="en-US" sz="3200" b="1" spc="-100" dirty="0">
                <a:solidFill>
                  <a:srgbClr val="002060"/>
                </a:solidFill>
                <a:latin typeface="Arial" panose="020B0604020202020204" pitchFamily="34" charset="0"/>
                <a:cs typeface="Arial" panose="020B0604020202020204" pitchFamily="34" charset="0"/>
              </a:rPr>
              <a:t> </a:t>
            </a:r>
            <a:r>
              <a:rPr lang="en-US" sz="3200" b="1" spc="-5" dirty="0">
                <a:solidFill>
                  <a:srgbClr val="002060"/>
                </a:solidFill>
                <a:latin typeface="Arial" panose="020B0604020202020204" pitchFamily="34" charset="0"/>
                <a:cs typeface="Arial" panose="020B0604020202020204" pitchFamily="34" charset="0"/>
              </a:rPr>
              <a:t>estimation</a:t>
            </a:r>
          </a:p>
          <a:p>
            <a:pPr marL="228600" lvl="1">
              <a:spcBef>
                <a:spcPts val="1000"/>
              </a:spcBef>
            </a:pPr>
            <a:r>
              <a:rPr lang="en-US" sz="3200" b="1" dirty="0">
                <a:solidFill>
                  <a:srgbClr val="002060"/>
                </a:solidFill>
                <a:latin typeface="Arial" panose="020B0604020202020204" pitchFamily="34" charset="0"/>
                <a:cs typeface="Arial" panose="020B0604020202020204" pitchFamily="34" charset="0"/>
              </a:rPr>
              <a:t>Lack of </a:t>
            </a:r>
            <a:r>
              <a:rPr lang="en-US" sz="3200" b="1" spc="-10" dirty="0">
                <a:solidFill>
                  <a:srgbClr val="002060"/>
                </a:solidFill>
                <a:latin typeface="Arial" panose="020B0604020202020204" pitchFamily="34" charset="0"/>
                <a:cs typeface="Arial" panose="020B0604020202020204" pitchFamily="34" charset="0"/>
              </a:rPr>
              <a:t>communication </a:t>
            </a:r>
            <a:r>
              <a:rPr lang="en-US" sz="3200" b="1" spc="-15" dirty="0">
                <a:solidFill>
                  <a:srgbClr val="002060"/>
                </a:solidFill>
                <a:latin typeface="Arial" panose="020B0604020202020204" pitchFamily="34" charset="0"/>
                <a:cs typeface="Arial" panose="020B0604020202020204" pitchFamily="34" charset="0"/>
              </a:rPr>
              <a:t>at </a:t>
            </a:r>
            <a:r>
              <a:rPr lang="en-US" sz="3200" b="1" spc="-20" dirty="0">
                <a:solidFill>
                  <a:srgbClr val="002060"/>
                </a:solidFill>
                <a:latin typeface="Arial" panose="020B0604020202020204" pitchFamily="34" charset="0"/>
                <a:cs typeface="Arial" panose="020B0604020202020204" pitchFamily="34" charset="0"/>
              </a:rPr>
              <a:t>any</a:t>
            </a:r>
            <a:r>
              <a:rPr lang="en-US" sz="3200" b="1" spc="-75" dirty="0">
                <a:solidFill>
                  <a:srgbClr val="002060"/>
                </a:solidFill>
                <a:latin typeface="Arial" panose="020B0604020202020204" pitchFamily="34" charset="0"/>
                <a:cs typeface="Arial" panose="020B0604020202020204" pitchFamily="34" charset="0"/>
              </a:rPr>
              <a:t> </a:t>
            </a:r>
            <a:r>
              <a:rPr lang="en-US" sz="3200" b="1" spc="-15" dirty="0">
                <a:solidFill>
                  <a:srgbClr val="002060"/>
                </a:solidFill>
                <a:latin typeface="Arial" panose="020B0604020202020204" pitchFamily="34" charset="0"/>
                <a:cs typeface="Arial" panose="020B0604020202020204" pitchFamily="34" charset="0"/>
              </a:rPr>
              <a:t>level</a:t>
            </a:r>
          </a:p>
          <a:p>
            <a:pPr marL="228600" lvl="1">
              <a:spcBef>
                <a:spcPts val="1000"/>
              </a:spcBef>
            </a:pPr>
            <a:r>
              <a:rPr lang="en-US" sz="3200" b="1" spc="-5" dirty="0">
                <a:solidFill>
                  <a:srgbClr val="002060"/>
                </a:solidFill>
                <a:latin typeface="Arial" panose="020B0604020202020204" pitchFamily="34" charset="0"/>
                <a:cs typeface="Arial" panose="020B0604020202020204" pitchFamily="34" charset="0"/>
              </a:rPr>
              <a:t>Competing</a:t>
            </a:r>
            <a:r>
              <a:rPr lang="en-US" sz="3200" b="1" spc="-55" dirty="0">
                <a:solidFill>
                  <a:srgbClr val="002060"/>
                </a:solidFill>
                <a:latin typeface="Arial" panose="020B0604020202020204" pitchFamily="34" charset="0"/>
                <a:cs typeface="Arial" panose="020B0604020202020204" pitchFamily="34" charset="0"/>
              </a:rPr>
              <a:t> </a:t>
            </a:r>
            <a:r>
              <a:rPr lang="en-US" sz="3200" b="1" spc="-5" dirty="0">
                <a:solidFill>
                  <a:srgbClr val="002060"/>
                </a:solidFill>
                <a:latin typeface="Arial" panose="020B0604020202020204" pitchFamily="34" charset="0"/>
                <a:cs typeface="Arial" panose="020B0604020202020204" pitchFamily="34" charset="0"/>
              </a:rPr>
              <a:t>resources </a:t>
            </a:r>
          </a:p>
          <a:p>
            <a:pPr marL="228600" lvl="1">
              <a:spcBef>
                <a:spcPts val="1000"/>
              </a:spcBef>
            </a:pPr>
            <a:endParaRPr lang="en-US" b="1" spc="-15" dirty="0">
              <a:solidFill>
                <a:srgbClr val="FFC000"/>
              </a:solidFill>
              <a:latin typeface="Arial" panose="020B0604020202020204" pitchFamily="34" charset="0"/>
              <a:cs typeface="Arial" panose="020B0604020202020204" pitchFamily="34" charset="0"/>
            </a:endParaRPr>
          </a:p>
          <a:p>
            <a:pPr marL="228600" lvl="1">
              <a:spcBef>
                <a:spcPts val="1000"/>
              </a:spcBef>
            </a:pPr>
            <a:endParaRPr lang="en-US" b="1" spc="-5" dirty="0">
              <a:solidFill>
                <a:srgbClr val="FFC000"/>
              </a:solidFill>
              <a:latin typeface="Arial" panose="020B0604020202020204" pitchFamily="34" charset="0"/>
              <a:cs typeface="Arial" panose="020B0604020202020204" pitchFamily="34" charset="0"/>
            </a:endParaRPr>
          </a:p>
          <a:p>
            <a:endParaRPr lang="en-US" b="1" spc="-15" dirty="0">
              <a:solidFill>
                <a:srgbClr val="FFC000"/>
              </a:solidFill>
            </a:endParaRPr>
          </a:p>
          <a:p>
            <a:endParaRPr lang="en-US" b="1" spc="-10" dirty="0">
              <a:solidFill>
                <a:srgbClr val="FFC000"/>
              </a:solidFill>
              <a:latin typeface="Arial" panose="020B0604020202020204" pitchFamily="34" charset="0"/>
              <a:cs typeface="Arial" panose="020B0604020202020204" pitchFamily="34" charset="0"/>
            </a:endParaRPr>
          </a:p>
          <a:p>
            <a:endParaRPr lang="en-US" b="1" spc="-10" dirty="0">
              <a:solidFill>
                <a:srgbClr val="FFC000"/>
              </a:solidFill>
              <a:latin typeface="Arial" panose="020B0604020202020204" pitchFamily="34" charset="0"/>
              <a:cs typeface="Arial" panose="020B0604020202020204" pitchFamily="34" charset="0"/>
            </a:endParaRPr>
          </a:p>
          <a:p>
            <a:endParaRPr lang="en-US" b="1" spc="-15" dirty="0">
              <a:solidFill>
                <a:srgbClr val="FFC000"/>
              </a:solidFill>
              <a:latin typeface="Arial" panose="020B0604020202020204" pitchFamily="34" charset="0"/>
              <a:cs typeface="Arial" panose="020B0604020202020204" pitchFamily="34" charset="0"/>
            </a:endParaRPr>
          </a:p>
          <a:p>
            <a:endParaRPr lang="en-US" sz="3200" spc="-15" dirty="0">
              <a:solidFill>
                <a:schemeClr val="accent1">
                  <a:lumMod val="50000"/>
                </a:schemeClr>
              </a:solidFill>
              <a:latin typeface="Arial" panose="020B0604020202020204" pitchFamily="34" charset="0"/>
              <a:cs typeface="Arial" panose="020B0604020202020204" pitchFamily="34" charset="0"/>
            </a:endParaRPr>
          </a:p>
          <a:p>
            <a:endParaRPr lang="en-US" b="1" spc="-5" dirty="0">
              <a:solidFill>
                <a:srgbClr val="FFC000"/>
              </a:solidFill>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171194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chemeClr val="accent1">
                    <a:lumMod val="50000"/>
                  </a:schemeClr>
                </a:solidFill>
                <a:latin typeface="Arial" panose="020B0604020202020204" pitchFamily="34" charset="0"/>
                <a:cs typeface="Arial" panose="020B0604020202020204" pitchFamily="34" charset="0"/>
              </a:rPr>
              <a:t>Software Failures Reasons</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2400" b="1" spc="-15" dirty="0">
                <a:solidFill>
                  <a:srgbClr val="FFC000"/>
                </a:solidFill>
                <a:latin typeface="Arial" panose="020B0604020202020204" pitchFamily="34" charset="0"/>
                <a:cs typeface="Arial" panose="020B0604020202020204" pitchFamily="34" charset="0"/>
              </a:rPr>
              <a:t>Poor </a:t>
            </a:r>
            <a:r>
              <a:rPr lang="en-US" sz="2400" b="1" dirty="0">
                <a:solidFill>
                  <a:srgbClr val="FFC000"/>
                </a:solidFill>
                <a:latin typeface="Arial" panose="020B0604020202020204" pitchFamily="34" charset="0"/>
                <a:cs typeface="Arial" panose="020B0604020202020204" pitchFamily="34" charset="0"/>
              </a:rPr>
              <a:t>planning </a:t>
            </a:r>
            <a:r>
              <a:rPr lang="en-US" sz="2400" b="1" spc="-15" dirty="0">
                <a:solidFill>
                  <a:srgbClr val="FFC000"/>
                </a:solidFill>
                <a:latin typeface="Arial" panose="020B0604020202020204" pitchFamily="34" charset="0"/>
                <a:cs typeface="Arial" panose="020B0604020202020204" pitchFamily="34" charset="0"/>
              </a:rPr>
              <a:t>and/or </a:t>
            </a:r>
            <a:r>
              <a:rPr lang="en-US" sz="2400" b="1" spc="-10" dirty="0">
                <a:solidFill>
                  <a:srgbClr val="FFC000"/>
                </a:solidFill>
                <a:latin typeface="Arial" panose="020B0604020202020204" pitchFamily="34" charset="0"/>
                <a:cs typeface="Arial" panose="020B0604020202020204" pitchFamily="34" charset="0"/>
              </a:rPr>
              <a:t>inadequate</a:t>
            </a:r>
            <a:r>
              <a:rPr lang="en-US" sz="2400" b="1" spc="-90" dirty="0">
                <a:solidFill>
                  <a:srgbClr val="FFC000"/>
                </a:solidFill>
                <a:latin typeface="Arial" panose="020B0604020202020204" pitchFamily="34" charset="0"/>
                <a:cs typeface="Arial" panose="020B0604020202020204" pitchFamily="34" charset="0"/>
              </a:rPr>
              <a:t> </a:t>
            </a:r>
            <a:r>
              <a:rPr lang="en-US" sz="2400" b="1" spc="-5" dirty="0">
                <a:solidFill>
                  <a:srgbClr val="FFC000"/>
                </a:solidFill>
                <a:latin typeface="Arial" panose="020B0604020202020204" pitchFamily="34" charset="0"/>
                <a:cs typeface="Arial" panose="020B0604020202020204" pitchFamily="34" charset="0"/>
              </a:rPr>
              <a:t>process</a:t>
            </a:r>
          </a:p>
          <a:p>
            <a:pPr lvl="1">
              <a:buFont typeface="Wingdings" panose="05000000000000000000" pitchFamily="2" charset="2"/>
              <a:buChar char="§"/>
            </a:pPr>
            <a:r>
              <a:rPr lang="en-US" spc="-15" dirty="0">
                <a:solidFill>
                  <a:schemeClr val="accent1">
                    <a:lumMod val="50000"/>
                  </a:schemeClr>
                </a:solidFill>
                <a:latin typeface="Arial" panose="020B0604020202020204" pitchFamily="34" charset="0"/>
                <a:cs typeface="Arial" panose="020B0604020202020204" pitchFamily="34" charset="0"/>
              </a:rPr>
              <a:t>Define </a:t>
            </a:r>
            <a:r>
              <a:rPr lang="en-US" spc="-20" dirty="0">
                <a:solidFill>
                  <a:schemeClr val="accent1">
                    <a:lumMod val="50000"/>
                  </a:schemeClr>
                </a:solidFill>
                <a:latin typeface="Arial" panose="020B0604020202020204" pitchFamily="34" charset="0"/>
                <a:cs typeface="Arial" panose="020B0604020202020204" pitchFamily="34" charset="0"/>
              </a:rPr>
              <a:t>what constitutes </a:t>
            </a:r>
            <a:r>
              <a:rPr lang="en-US" spc="-25" dirty="0">
                <a:solidFill>
                  <a:schemeClr val="accent1">
                    <a:lumMod val="50000"/>
                  </a:schemeClr>
                </a:solidFill>
                <a:latin typeface="Arial" panose="020B0604020202020204" pitchFamily="34" charset="0"/>
                <a:cs typeface="Arial" panose="020B0604020202020204" pitchFamily="34" charset="0"/>
              </a:rPr>
              <a:t>project  </a:t>
            </a:r>
            <a:r>
              <a:rPr lang="en-US" spc="-45" dirty="0">
                <a:solidFill>
                  <a:schemeClr val="accent1">
                    <a:lumMod val="50000"/>
                  </a:schemeClr>
                </a:solidFill>
                <a:latin typeface="Arial" panose="020B0604020202020204" pitchFamily="34" charset="0"/>
                <a:cs typeface="Arial" panose="020B0604020202020204" pitchFamily="34" charset="0"/>
              </a:rPr>
              <a:t>success</a:t>
            </a:r>
            <a:r>
              <a:rPr lang="en-US" spc="-120" dirty="0">
                <a:solidFill>
                  <a:schemeClr val="accent1">
                    <a:lumMod val="50000"/>
                  </a:schemeClr>
                </a:solidFill>
                <a:latin typeface="Arial" panose="020B0604020202020204" pitchFamily="34" charset="0"/>
                <a:cs typeface="Arial" panose="020B0604020202020204" pitchFamily="34" charset="0"/>
              </a:rPr>
              <a:t> </a:t>
            </a:r>
            <a:r>
              <a:rPr lang="en-US" spc="-35" dirty="0">
                <a:solidFill>
                  <a:schemeClr val="accent1">
                    <a:lumMod val="50000"/>
                  </a:schemeClr>
                </a:solidFill>
                <a:latin typeface="Arial" panose="020B0604020202020204" pitchFamily="34" charset="0"/>
                <a:cs typeface="Arial" panose="020B0604020202020204" pitchFamily="34" charset="0"/>
              </a:rPr>
              <a:t>or</a:t>
            </a:r>
            <a:r>
              <a:rPr lang="en-US" spc="-90" dirty="0">
                <a:solidFill>
                  <a:schemeClr val="accent1">
                    <a:lumMod val="50000"/>
                  </a:schemeClr>
                </a:solidFill>
                <a:latin typeface="Arial" panose="020B0604020202020204" pitchFamily="34" charset="0"/>
                <a:cs typeface="Arial" panose="020B0604020202020204" pitchFamily="34" charset="0"/>
              </a:rPr>
              <a:t> </a:t>
            </a:r>
            <a:r>
              <a:rPr lang="en-US" spc="-40" dirty="0">
                <a:solidFill>
                  <a:schemeClr val="accent1">
                    <a:lumMod val="50000"/>
                  </a:schemeClr>
                </a:solidFill>
                <a:latin typeface="Arial" panose="020B0604020202020204" pitchFamily="34" charset="0"/>
                <a:cs typeface="Arial" panose="020B0604020202020204" pitchFamily="34" charset="0"/>
              </a:rPr>
              <a:t>failure</a:t>
            </a:r>
            <a:r>
              <a:rPr lang="en-US" spc="-114" dirty="0">
                <a:solidFill>
                  <a:schemeClr val="accent1">
                    <a:lumMod val="50000"/>
                  </a:schemeClr>
                </a:solidFill>
                <a:latin typeface="Arial" panose="020B0604020202020204" pitchFamily="34" charset="0"/>
                <a:cs typeface="Arial" panose="020B0604020202020204" pitchFamily="34" charset="0"/>
              </a:rPr>
              <a:t> </a:t>
            </a:r>
            <a:r>
              <a:rPr lang="en-US" spc="-20" dirty="0">
                <a:solidFill>
                  <a:schemeClr val="accent1">
                    <a:lumMod val="50000"/>
                  </a:schemeClr>
                </a:solidFill>
                <a:latin typeface="Arial" panose="020B0604020202020204" pitchFamily="34" charset="0"/>
                <a:cs typeface="Arial" panose="020B0604020202020204" pitchFamily="34" charset="0"/>
              </a:rPr>
              <a:t>at</a:t>
            </a:r>
            <a:r>
              <a:rPr lang="en-US" spc="-70" dirty="0">
                <a:solidFill>
                  <a:schemeClr val="accent1">
                    <a:lumMod val="50000"/>
                  </a:schemeClr>
                </a:solidFill>
                <a:latin typeface="Arial" panose="020B0604020202020204" pitchFamily="34" charset="0"/>
                <a:cs typeface="Arial" panose="020B0604020202020204" pitchFamily="34" charset="0"/>
              </a:rPr>
              <a:t> </a:t>
            </a:r>
            <a:r>
              <a:rPr lang="en-US" spc="-5" dirty="0">
                <a:solidFill>
                  <a:schemeClr val="accent1">
                    <a:lumMod val="50000"/>
                  </a:schemeClr>
                </a:solidFill>
                <a:latin typeface="Arial" panose="020B0604020202020204" pitchFamily="34" charset="0"/>
                <a:cs typeface="Arial" panose="020B0604020202020204" pitchFamily="34" charset="0"/>
              </a:rPr>
              <a:t>the</a:t>
            </a:r>
            <a:r>
              <a:rPr lang="en-US" spc="-105" dirty="0">
                <a:solidFill>
                  <a:schemeClr val="accent1">
                    <a:lumMod val="50000"/>
                  </a:schemeClr>
                </a:solidFill>
                <a:latin typeface="Arial" panose="020B0604020202020204" pitchFamily="34" charset="0"/>
                <a:cs typeface="Arial" panose="020B0604020202020204" pitchFamily="34" charset="0"/>
              </a:rPr>
              <a:t> </a:t>
            </a:r>
            <a:r>
              <a:rPr lang="en-US" spc="-35" dirty="0">
                <a:solidFill>
                  <a:schemeClr val="accent1">
                    <a:lumMod val="50000"/>
                  </a:schemeClr>
                </a:solidFill>
                <a:latin typeface="Arial" panose="020B0604020202020204" pitchFamily="34" charset="0"/>
                <a:cs typeface="Arial" panose="020B0604020202020204" pitchFamily="34" charset="0"/>
              </a:rPr>
              <a:t>earliest</a:t>
            </a:r>
            <a:r>
              <a:rPr lang="en-US" spc="-95" dirty="0">
                <a:solidFill>
                  <a:schemeClr val="accent1">
                    <a:lumMod val="50000"/>
                  </a:schemeClr>
                </a:solidFill>
                <a:latin typeface="Arial" panose="020B0604020202020204" pitchFamily="34" charset="0"/>
                <a:cs typeface="Arial" panose="020B0604020202020204" pitchFamily="34" charset="0"/>
              </a:rPr>
              <a:t> </a:t>
            </a:r>
            <a:r>
              <a:rPr lang="en-US" spc="-40" dirty="0">
                <a:solidFill>
                  <a:schemeClr val="accent1">
                    <a:lumMod val="50000"/>
                  </a:schemeClr>
                </a:solidFill>
                <a:latin typeface="Arial" panose="020B0604020202020204" pitchFamily="34" charset="0"/>
                <a:cs typeface="Arial" panose="020B0604020202020204" pitchFamily="34" charset="0"/>
              </a:rPr>
              <a:t>stage.</a:t>
            </a:r>
          </a:p>
          <a:p>
            <a:pPr lvl="1">
              <a:buFont typeface="Wingdings" panose="05000000000000000000" pitchFamily="2" charset="2"/>
              <a:buChar char="§"/>
            </a:pPr>
            <a:r>
              <a:rPr lang="en-US" spc="-30" dirty="0">
                <a:solidFill>
                  <a:schemeClr val="accent1">
                    <a:lumMod val="50000"/>
                  </a:schemeClr>
                </a:solidFill>
                <a:latin typeface="Arial" panose="020B0604020202020204" pitchFamily="34" charset="0"/>
                <a:cs typeface="Arial" panose="020B0604020202020204" pitchFamily="34" charset="0"/>
              </a:rPr>
              <a:t>Lack </a:t>
            </a:r>
            <a:r>
              <a:rPr lang="en-US" spc="-20" dirty="0">
                <a:solidFill>
                  <a:schemeClr val="accent1">
                    <a:lumMod val="50000"/>
                  </a:schemeClr>
                </a:solidFill>
                <a:latin typeface="Arial" panose="020B0604020202020204" pitchFamily="34" charset="0"/>
                <a:cs typeface="Arial" panose="020B0604020202020204" pitchFamily="34" charset="0"/>
              </a:rPr>
              <a:t>of </a:t>
            </a:r>
            <a:r>
              <a:rPr lang="en-US" spc="-25" dirty="0">
                <a:solidFill>
                  <a:schemeClr val="accent1">
                    <a:lumMod val="50000"/>
                  </a:schemeClr>
                </a:solidFill>
                <a:latin typeface="Arial" panose="020B0604020202020204" pitchFamily="34" charset="0"/>
                <a:cs typeface="Arial" panose="020B0604020202020204" pitchFamily="34" charset="0"/>
              </a:rPr>
              <a:t>planning </a:t>
            </a:r>
            <a:r>
              <a:rPr lang="en-US" spc="-35" dirty="0">
                <a:solidFill>
                  <a:schemeClr val="accent1">
                    <a:lumMod val="50000"/>
                  </a:schemeClr>
                </a:solidFill>
                <a:latin typeface="Arial" panose="020B0604020202020204" pitchFamily="34" charset="0"/>
                <a:cs typeface="Arial" panose="020B0604020202020204" pitchFamily="34" charset="0"/>
              </a:rPr>
              <a:t>leads </a:t>
            </a:r>
            <a:r>
              <a:rPr lang="en-US" spc="-5" dirty="0">
                <a:solidFill>
                  <a:schemeClr val="accent1">
                    <a:lumMod val="50000"/>
                  </a:schemeClr>
                </a:solidFill>
                <a:latin typeface="Arial" panose="020B0604020202020204" pitchFamily="34" charset="0"/>
                <a:cs typeface="Arial" panose="020B0604020202020204" pitchFamily="34" charset="0"/>
              </a:rPr>
              <a:t>to </a:t>
            </a:r>
            <a:r>
              <a:rPr lang="en-US" spc="-30" dirty="0">
                <a:solidFill>
                  <a:schemeClr val="accent1">
                    <a:lumMod val="50000"/>
                  </a:schemeClr>
                </a:solidFill>
                <a:latin typeface="Arial" panose="020B0604020202020204" pitchFamily="34" charset="0"/>
                <a:cs typeface="Arial" panose="020B0604020202020204" pitchFamily="34" charset="0"/>
              </a:rPr>
              <a:t>inadequate </a:t>
            </a:r>
            <a:r>
              <a:rPr lang="en-US" spc="-40" dirty="0">
                <a:solidFill>
                  <a:schemeClr val="accent1">
                    <a:lumMod val="50000"/>
                  </a:schemeClr>
                </a:solidFill>
                <a:latin typeface="Arial" panose="020B0604020202020204" pitchFamily="34" charset="0"/>
                <a:cs typeface="Arial" panose="020B0604020202020204" pitchFamily="34" charset="0"/>
              </a:rPr>
              <a:t>preparation,  </a:t>
            </a:r>
            <a:r>
              <a:rPr lang="en-US" spc="-25" dirty="0">
                <a:solidFill>
                  <a:schemeClr val="accent1">
                    <a:lumMod val="50000"/>
                  </a:schemeClr>
                </a:solidFill>
                <a:latin typeface="Arial" panose="020B0604020202020204" pitchFamily="34" charset="0"/>
                <a:cs typeface="Arial" panose="020B0604020202020204" pitchFamily="34" charset="0"/>
              </a:rPr>
              <a:t>unexpected </a:t>
            </a:r>
            <a:r>
              <a:rPr lang="en-US" spc="-40" dirty="0">
                <a:solidFill>
                  <a:schemeClr val="accent1">
                    <a:lumMod val="50000"/>
                  </a:schemeClr>
                </a:solidFill>
                <a:latin typeface="Arial" panose="020B0604020202020204" pitchFamily="34" charset="0"/>
                <a:cs typeface="Arial" panose="020B0604020202020204" pitchFamily="34" charset="0"/>
              </a:rPr>
              <a:t>problems, </a:t>
            </a:r>
            <a:r>
              <a:rPr lang="en-US" spc="-35" dirty="0">
                <a:solidFill>
                  <a:schemeClr val="accent1">
                    <a:lumMod val="50000"/>
                  </a:schemeClr>
                </a:solidFill>
                <a:latin typeface="Arial" panose="020B0604020202020204" pitchFamily="34" charset="0"/>
                <a:cs typeface="Arial" panose="020B0604020202020204" pitchFamily="34" charset="0"/>
              </a:rPr>
              <a:t>and </a:t>
            </a:r>
            <a:r>
              <a:rPr lang="en-US" spc="-25" dirty="0">
                <a:solidFill>
                  <a:schemeClr val="accent1">
                    <a:lumMod val="50000"/>
                  </a:schemeClr>
                </a:solidFill>
                <a:latin typeface="Arial" panose="020B0604020202020204" pitchFamily="34" charset="0"/>
                <a:cs typeface="Arial" panose="020B0604020202020204" pitchFamily="34" charset="0"/>
              </a:rPr>
              <a:t>poor</a:t>
            </a:r>
            <a:r>
              <a:rPr lang="en-US" spc="-185" dirty="0">
                <a:solidFill>
                  <a:schemeClr val="accent1">
                    <a:lumMod val="50000"/>
                  </a:schemeClr>
                </a:solidFill>
                <a:latin typeface="Arial" panose="020B0604020202020204" pitchFamily="34" charset="0"/>
                <a:cs typeface="Arial" panose="020B0604020202020204" pitchFamily="34" charset="0"/>
              </a:rPr>
              <a:t> </a:t>
            </a:r>
            <a:r>
              <a:rPr lang="en-US" spc="-20" dirty="0">
                <a:solidFill>
                  <a:schemeClr val="accent1">
                    <a:lumMod val="50000"/>
                  </a:schemeClr>
                </a:solidFill>
                <a:latin typeface="Arial" panose="020B0604020202020204" pitchFamily="34" charset="0"/>
                <a:cs typeface="Arial" panose="020B0604020202020204" pitchFamily="34" charset="0"/>
              </a:rPr>
              <a:t>execution.</a:t>
            </a:r>
          </a:p>
          <a:p>
            <a:pPr lvl="1">
              <a:buFont typeface="Wingdings" panose="05000000000000000000" pitchFamily="2" charset="2"/>
              <a:buChar char="§"/>
            </a:pPr>
            <a:endParaRPr lang="en-US" spc="-20" dirty="0">
              <a:latin typeface="Georgia"/>
              <a:cs typeface="Georgia"/>
            </a:endParaRPr>
          </a:p>
          <a:p>
            <a:pPr lvl="1" algn="r">
              <a:buFont typeface="Wingdings" panose="05000000000000000000" pitchFamily="2" charset="2"/>
              <a:buChar char="§"/>
            </a:pPr>
            <a:endParaRPr lang="en-US" dirty="0"/>
          </a:p>
        </p:txBody>
      </p:sp>
      <p:sp>
        <p:nvSpPr>
          <p:cNvPr id="4" name="AutoShape 2" descr="5 Major Reasons Behind a Software Project Failure - Kovair Blo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stretch>
            <a:fillRect/>
          </a:stretch>
        </p:blipFill>
        <p:spPr>
          <a:xfrm>
            <a:off x="9037048" y="3182846"/>
            <a:ext cx="2190750" cy="2085975"/>
          </a:xfrm>
          <a:prstGeom prst="rect">
            <a:avLst/>
          </a:prstGeom>
        </p:spPr>
      </p:pic>
      <p:sp>
        <p:nvSpPr>
          <p:cNvPr id="6" name="Footer Placeholder 5"/>
          <p:cNvSpPr>
            <a:spLocks noGrp="1"/>
          </p:cNvSpPr>
          <p:nvPr>
            <p:ph type="ftr" sz="quarter" idx="11"/>
          </p:nvPr>
        </p:nvSpPr>
        <p:spPr>
          <a:xfrm>
            <a:off x="838200" y="6356350"/>
            <a:ext cx="10515600" cy="365125"/>
          </a:xfrm>
        </p:spPr>
        <p:txBody>
          <a:bodyPr/>
          <a:lstStyle/>
          <a:p>
            <a:r>
              <a:rPr lang="en-IN"/>
              <a:t>Software Project Failures                                  Software Engineering                              vasavi / CSBS</a:t>
            </a:r>
            <a:endParaRPr lang="en-US" dirty="0"/>
          </a:p>
        </p:txBody>
      </p:sp>
    </p:spTree>
    <p:extLst>
      <p:ext uri="{BB962C8B-B14F-4D97-AF65-F5344CB8AC3E}">
        <p14:creationId xmlns:p14="http://schemas.microsoft.com/office/powerpoint/2010/main" val="2189528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0 Reasons Why Software Projects Succe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123" y="780369"/>
            <a:ext cx="7865019" cy="569455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p:cNvSpPr>
            <a:spLocks noGrp="1"/>
          </p:cNvSpPr>
          <p:nvPr>
            <p:ph type="ftr" sz="quarter" idx="11"/>
          </p:nvPr>
        </p:nvSpPr>
        <p:spPr>
          <a:xfrm>
            <a:off x="705395" y="6356350"/>
            <a:ext cx="10959736" cy="365125"/>
          </a:xfrm>
        </p:spPr>
        <p:txBody>
          <a:bodyPr/>
          <a:lstStyle/>
          <a:p>
            <a:r>
              <a:rPr lang="en-IN"/>
              <a:t>Software Project Failures                                  Software Engineering                              vasavi / CSBS</a:t>
            </a:r>
            <a:endParaRPr lang="en-US" dirty="0"/>
          </a:p>
        </p:txBody>
      </p:sp>
    </p:spTree>
    <p:extLst>
      <p:ext uri="{BB962C8B-B14F-4D97-AF65-F5344CB8AC3E}">
        <p14:creationId xmlns:p14="http://schemas.microsoft.com/office/powerpoint/2010/main" val="208828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chemeClr val="accent1">
                    <a:lumMod val="50000"/>
                  </a:schemeClr>
                </a:solidFill>
                <a:latin typeface="Arial" panose="020B0604020202020204" pitchFamily="34" charset="0"/>
                <a:cs typeface="Arial" panose="020B0604020202020204" pitchFamily="34" charset="0"/>
              </a:rPr>
              <a:t>Software Failures Reasons</a:t>
            </a:r>
            <a:endParaRPr lang="en-US" sz="2800" dirty="0">
              <a:solidFill>
                <a:schemeClr val="accent1">
                  <a:lumMod val="50000"/>
                </a:schemeClr>
              </a:solidFill>
            </a:endParaRPr>
          </a:p>
        </p:txBody>
      </p:sp>
      <p:sp>
        <p:nvSpPr>
          <p:cNvPr id="3" name="Content Placeholder 2"/>
          <p:cNvSpPr>
            <a:spLocks noGrp="1"/>
          </p:cNvSpPr>
          <p:nvPr>
            <p:ph idx="1"/>
          </p:nvPr>
        </p:nvSpPr>
        <p:spPr/>
        <p:txBody>
          <a:bodyPr>
            <a:normAutofit/>
          </a:bodyPr>
          <a:lstStyle/>
          <a:p>
            <a:pPr marL="0" indent="0">
              <a:buNone/>
            </a:pPr>
            <a:r>
              <a:rPr lang="en-US" sz="2400" b="1" spc="-10" dirty="0">
                <a:solidFill>
                  <a:srgbClr val="FFC000"/>
                </a:solidFill>
                <a:latin typeface="Arial" panose="020B0604020202020204" pitchFamily="34" charset="0"/>
                <a:cs typeface="Arial" panose="020B0604020202020204" pitchFamily="34" charset="0"/>
              </a:rPr>
              <a:t>Inefficient </a:t>
            </a:r>
            <a:r>
              <a:rPr lang="en-US" sz="2400" b="1" spc="-35" dirty="0">
                <a:solidFill>
                  <a:srgbClr val="FFC000"/>
                </a:solidFill>
                <a:latin typeface="Arial" panose="020B0604020202020204" pitchFamily="34" charset="0"/>
                <a:cs typeface="Arial" panose="020B0604020202020204" pitchFamily="34" charset="0"/>
              </a:rPr>
              <a:t>way </a:t>
            </a:r>
            <a:r>
              <a:rPr lang="en-US" sz="2400" b="1" spc="-10" dirty="0">
                <a:solidFill>
                  <a:srgbClr val="FFC000"/>
                </a:solidFill>
                <a:latin typeface="Arial" panose="020B0604020202020204" pitchFamily="34" charset="0"/>
                <a:cs typeface="Arial" panose="020B0604020202020204" pitchFamily="34" charset="0"/>
              </a:rPr>
              <a:t>to document </a:t>
            </a:r>
            <a:r>
              <a:rPr lang="en-US" sz="2400" b="1" dirty="0">
                <a:solidFill>
                  <a:srgbClr val="FFC000"/>
                </a:solidFill>
                <a:latin typeface="Arial" panose="020B0604020202020204" pitchFamily="34" charset="0"/>
                <a:cs typeface="Arial" panose="020B0604020202020204" pitchFamily="34" charset="0"/>
              </a:rPr>
              <a:t>and </a:t>
            </a:r>
            <a:r>
              <a:rPr lang="en-US" sz="2400" b="1" spc="-15" dirty="0">
                <a:solidFill>
                  <a:srgbClr val="FFC000"/>
                </a:solidFill>
                <a:latin typeface="Arial" panose="020B0604020202020204" pitchFamily="34" charset="0"/>
                <a:cs typeface="Arial" panose="020B0604020202020204" pitchFamily="34" charset="0"/>
              </a:rPr>
              <a:t>track</a:t>
            </a:r>
            <a:r>
              <a:rPr lang="en-US" sz="2400" b="1" spc="15" dirty="0">
                <a:solidFill>
                  <a:srgbClr val="FFC000"/>
                </a:solidFill>
                <a:latin typeface="Arial" panose="020B0604020202020204" pitchFamily="34" charset="0"/>
                <a:cs typeface="Arial" panose="020B0604020202020204" pitchFamily="34" charset="0"/>
              </a:rPr>
              <a:t> </a:t>
            </a:r>
            <a:r>
              <a:rPr lang="en-US" sz="2400" b="1" spc="-15" dirty="0">
                <a:solidFill>
                  <a:srgbClr val="FFC000"/>
                </a:solidFill>
                <a:latin typeface="Arial" panose="020B0604020202020204" pitchFamily="34" charset="0"/>
                <a:cs typeface="Arial" panose="020B0604020202020204" pitchFamily="34" charset="0"/>
              </a:rPr>
              <a:t>progress</a:t>
            </a:r>
            <a:endParaRPr lang="en-US" sz="2600" spc="-15" dirty="0">
              <a:solidFill>
                <a:schemeClr val="accent1">
                  <a:lumMod val="50000"/>
                </a:schemeClr>
              </a:solidFill>
              <a:latin typeface="Arial" panose="020B0604020202020204" pitchFamily="34" charset="0"/>
              <a:cs typeface="Arial" panose="020B0604020202020204" pitchFamily="34" charset="0"/>
            </a:endParaRPr>
          </a:p>
          <a:p>
            <a:pPr lvl="1">
              <a:buFont typeface="Wingdings" panose="05000000000000000000" pitchFamily="2" charset="2"/>
              <a:buChar char="§"/>
            </a:pPr>
            <a:r>
              <a:rPr lang="en-US" spc="-50" dirty="0">
                <a:solidFill>
                  <a:schemeClr val="accent1">
                    <a:lumMod val="50000"/>
                  </a:schemeClr>
                </a:solidFill>
                <a:latin typeface="Arial" panose="020B0604020202020204" pitchFamily="34" charset="0"/>
                <a:cs typeface="Arial" panose="020B0604020202020204" pitchFamily="34" charset="0"/>
              </a:rPr>
              <a:t>Tracking </a:t>
            </a:r>
            <a:r>
              <a:rPr lang="en-US" spc="-30" dirty="0">
                <a:solidFill>
                  <a:schemeClr val="accent1">
                    <a:lumMod val="50000"/>
                  </a:schemeClr>
                </a:solidFill>
                <a:latin typeface="Arial" panose="020B0604020202020204" pitchFamily="34" charset="0"/>
                <a:cs typeface="Arial" panose="020B0604020202020204" pitchFamily="34" charset="0"/>
              </a:rPr>
              <a:t>milestones.</a:t>
            </a:r>
          </a:p>
          <a:p>
            <a:pPr lvl="1" algn="just">
              <a:buFont typeface="Wingdings" panose="05000000000000000000" pitchFamily="2" charset="2"/>
              <a:buChar char="§"/>
            </a:pPr>
            <a:r>
              <a:rPr lang="en-US" spc="-15" dirty="0">
                <a:solidFill>
                  <a:schemeClr val="accent1">
                    <a:lumMod val="50000"/>
                  </a:schemeClr>
                </a:solidFill>
                <a:latin typeface="Arial" panose="020B0604020202020204" pitchFamily="34" charset="0"/>
                <a:cs typeface="Arial" panose="020B0604020202020204" pitchFamily="34" charset="0"/>
              </a:rPr>
              <a:t>Documentation </a:t>
            </a:r>
            <a:r>
              <a:rPr lang="en-US" spc="-35" dirty="0">
                <a:solidFill>
                  <a:schemeClr val="accent1">
                    <a:lumMod val="50000"/>
                  </a:schemeClr>
                </a:solidFill>
                <a:latin typeface="Arial" panose="020B0604020202020204" pitchFamily="34" charset="0"/>
                <a:cs typeface="Arial" panose="020B0604020202020204" pitchFamily="34" charset="0"/>
              </a:rPr>
              <a:t>and  </a:t>
            </a:r>
            <a:r>
              <a:rPr lang="en-US" spc="-25" dirty="0">
                <a:solidFill>
                  <a:schemeClr val="accent1">
                    <a:lumMod val="50000"/>
                  </a:schemeClr>
                </a:solidFill>
                <a:latin typeface="Arial" panose="020B0604020202020204" pitchFamily="34" charset="0"/>
                <a:cs typeface="Arial" panose="020B0604020202020204" pitchFamily="34" charset="0"/>
              </a:rPr>
              <a:t>tracking </a:t>
            </a:r>
            <a:r>
              <a:rPr lang="en-US" spc="-35" dirty="0">
                <a:solidFill>
                  <a:schemeClr val="accent1">
                    <a:lumMod val="50000"/>
                  </a:schemeClr>
                </a:solidFill>
                <a:latin typeface="Arial" panose="020B0604020202020204" pitchFamily="34" charset="0"/>
                <a:cs typeface="Arial" panose="020B0604020202020204" pitchFamily="34" charset="0"/>
              </a:rPr>
              <a:t>also </a:t>
            </a:r>
            <a:r>
              <a:rPr lang="en-US" spc="-20" dirty="0">
                <a:solidFill>
                  <a:schemeClr val="accent1">
                    <a:lumMod val="50000"/>
                  </a:schemeClr>
                </a:solidFill>
                <a:latin typeface="Arial" panose="020B0604020202020204" pitchFamily="34" charset="0"/>
                <a:cs typeface="Arial" panose="020B0604020202020204" pitchFamily="34" charset="0"/>
              </a:rPr>
              <a:t>lets </a:t>
            </a:r>
            <a:r>
              <a:rPr lang="en-US" spc="-5" dirty="0">
                <a:solidFill>
                  <a:schemeClr val="accent1">
                    <a:lumMod val="50000"/>
                  </a:schemeClr>
                </a:solidFill>
                <a:latin typeface="Arial" panose="020B0604020202020204" pitchFamily="34" charset="0"/>
                <a:cs typeface="Arial" panose="020B0604020202020204" pitchFamily="34" charset="0"/>
              </a:rPr>
              <a:t>the </a:t>
            </a:r>
            <a:r>
              <a:rPr lang="en-US" spc="-50" dirty="0">
                <a:solidFill>
                  <a:schemeClr val="accent1">
                    <a:lumMod val="50000"/>
                  </a:schemeClr>
                </a:solidFill>
                <a:latin typeface="Arial" panose="020B0604020202020204" pitchFamily="34" charset="0"/>
                <a:cs typeface="Arial" panose="020B0604020202020204" pitchFamily="34" charset="0"/>
              </a:rPr>
              <a:t>manager </a:t>
            </a:r>
            <a:r>
              <a:rPr lang="en-US" spc="-15" dirty="0">
                <a:solidFill>
                  <a:schemeClr val="accent1">
                    <a:lumMod val="50000"/>
                  </a:schemeClr>
                </a:solidFill>
                <a:latin typeface="Arial" panose="020B0604020202020204" pitchFamily="34" charset="0"/>
                <a:cs typeface="Arial" panose="020B0604020202020204" pitchFamily="34" charset="0"/>
              </a:rPr>
              <a:t>identify </a:t>
            </a:r>
            <a:r>
              <a:rPr lang="en-US" spc="-10" dirty="0">
                <a:solidFill>
                  <a:schemeClr val="accent1">
                    <a:lumMod val="50000"/>
                  </a:schemeClr>
                </a:solidFill>
                <a:latin typeface="Arial" panose="020B0604020202020204" pitchFamily="34" charset="0"/>
                <a:cs typeface="Arial" panose="020B0604020202020204" pitchFamily="34" charset="0"/>
              </a:rPr>
              <a:t>which</a:t>
            </a:r>
            <a:r>
              <a:rPr lang="en-US" spc="-355" dirty="0">
                <a:solidFill>
                  <a:schemeClr val="accent1">
                    <a:lumMod val="50000"/>
                  </a:schemeClr>
                </a:solidFill>
                <a:latin typeface="Arial" panose="020B0604020202020204" pitchFamily="34" charset="0"/>
                <a:cs typeface="Arial" panose="020B0604020202020204" pitchFamily="34" charset="0"/>
              </a:rPr>
              <a:t> </a:t>
            </a:r>
            <a:r>
              <a:rPr lang="en-US" spc="-65" dirty="0">
                <a:solidFill>
                  <a:schemeClr val="accent1">
                    <a:lumMod val="50000"/>
                  </a:schemeClr>
                </a:solidFill>
                <a:latin typeface="Arial" panose="020B0604020202020204" pitchFamily="34" charset="0"/>
                <a:cs typeface="Arial" panose="020B0604020202020204" pitchFamily="34" charset="0"/>
              </a:rPr>
              <a:t>areas  </a:t>
            </a:r>
            <a:r>
              <a:rPr lang="en-US" spc="-45" dirty="0">
                <a:solidFill>
                  <a:schemeClr val="accent1">
                    <a:lumMod val="50000"/>
                  </a:schemeClr>
                </a:solidFill>
                <a:latin typeface="Arial" panose="020B0604020202020204" pitchFamily="34" charset="0"/>
                <a:cs typeface="Arial" panose="020B0604020202020204" pitchFamily="34" charset="0"/>
              </a:rPr>
              <a:t>require </a:t>
            </a:r>
            <a:r>
              <a:rPr lang="en-US" spc="-40" dirty="0">
                <a:solidFill>
                  <a:schemeClr val="accent1">
                    <a:lumMod val="50000"/>
                  </a:schemeClr>
                </a:solidFill>
                <a:latin typeface="Arial" panose="020B0604020202020204" pitchFamily="34" charset="0"/>
                <a:cs typeface="Arial" panose="020B0604020202020204" pitchFamily="34" charset="0"/>
              </a:rPr>
              <a:t>more </a:t>
            </a:r>
            <a:r>
              <a:rPr lang="en-US" spc="-50" dirty="0">
                <a:solidFill>
                  <a:schemeClr val="accent1">
                    <a:lumMod val="50000"/>
                  </a:schemeClr>
                </a:solidFill>
                <a:latin typeface="Arial" panose="020B0604020202020204" pitchFamily="34" charset="0"/>
                <a:cs typeface="Arial" panose="020B0604020202020204" pitchFamily="34" charset="0"/>
              </a:rPr>
              <a:t>resources </a:t>
            </a:r>
            <a:r>
              <a:rPr lang="en-US" spc="-5" dirty="0">
                <a:solidFill>
                  <a:schemeClr val="accent1">
                    <a:lumMod val="50000"/>
                  </a:schemeClr>
                </a:solidFill>
                <a:latin typeface="Arial" panose="020B0604020202020204" pitchFamily="34" charset="0"/>
                <a:cs typeface="Arial" panose="020B0604020202020204" pitchFamily="34" charset="0"/>
              </a:rPr>
              <a:t>to </a:t>
            </a:r>
            <a:r>
              <a:rPr lang="en-US" spc="-10" dirty="0">
                <a:solidFill>
                  <a:schemeClr val="accent1">
                    <a:lumMod val="50000"/>
                  </a:schemeClr>
                </a:solidFill>
                <a:latin typeface="Arial" panose="020B0604020202020204" pitchFamily="34" charset="0"/>
                <a:cs typeface="Arial" panose="020B0604020202020204" pitchFamily="34" charset="0"/>
              </a:rPr>
              <a:t>be </a:t>
            </a:r>
            <a:r>
              <a:rPr lang="en-US" spc="-20" dirty="0">
                <a:solidFill>
                  <a:schemeClr val="accent1">
                    <a:lumMod val="50000"/>
                  </a:schemeClr>
                </a:solidFill>
                <a:latin typeface="Arial" panose="020B0604020202020204" pitchFamily="34" charset="0"/>
                <a:cs typeface="Arial" panose="020B0604020202020204" pitchFamily="34" charset="0"/>
              </a:rPr>
              <a:t>completed </a:t>
            </a:r>
            <a:r>
              <a:rPr lang="en-US" spc="-10" dirty="0">
                <a:solidFill>
                  <a:schemeClr val="accent1">
                    <a:lumMod val="50000"/>
                  </a:schemeClr>
                </a:solidFill>
                <a:latin typeface="Arial" panose="020B0604020202020204" pitchFamily="34" charset="0"/>
                <a:cs typeface="Arial" panose="020B0604020202020204" pitchFamily="34" charset="0"/>
              </a:rPr>
              <a:t>on</a:t>
            </a:r>
            <a:r>
              <a:rPr lang="en-US" spc="-335" dirty="0">
                <a:solidFill>
                  <a:schemeClr val="accent1">
                    <a:lumMod val="50000"/>
                  </a:schemeClr>
                </a:solidFill>
                <a:latin typeface="Arial" panose="020B0604020202020204" pitchFamily="34" charset="0"/>
                <a:cs typeface="Arial" panose="020B0604020202020204" pitchFamily="34" charset="0"/>
              </a:rPr>
              <a:t> </a:t>
            </a:r>
            <a:r>
              <a:rPr lang="en-US" spc="-25" dirty="0">
                <a:solidFill>
                  <a:schemeClr val="accent1">
                    <a:lumMod val="50000"/>
                  </a:schemeClr>
                </a:solidFill>
                <a:latin typeface="Arial" panose="020B0604020202020204" pitchFamily="34" charset="0"/>
                <a:cs typeface="Arial" panose="020B0604020202020204" pitchFamily="34" charset="0"/>
              </a:rPr>
              <a:t>time</a:t>
            </a:r>
            <a:r>
              <a:rPr lang="en-US" sz="2200" spc="-25" dirty="0">
                <a:solidFill>
                  <a:schemeClr val="accent1">
                    <a:lumMod val="50000"/>
                  </a:schemeClr>
                </a:solidFill>
                <a:latin typeface="Arial" panose="020B0604020202020204" pitchFamily="34" charset="0"/>
                <a:cs typeface="Arial" panose="020B0604020202020204" pitchFamily="34" charset="0"/>
              </a:rPr>
              <a:t>.</a:t>
            </a:r>
          </a:p>
          <a:p>
            <a:pPr marL="0" indent="0" algn="just">
              <a:buNone/>
            </a:pPr>
            <a:r>
              <a:rPr lang="en-US" sz="2400" b="1" spc="-15" dirty="0">
                <a:solidFill>
                  <a:srgbClr val="FFC000"/>
                </a:solidFill>
                <a:latin typeface="Arial" panose="020B0604020202020204" pitchFamily="34" charset="0"/>
                <a:cs typeface="Arial" panose="020B0604020202020204" pitchFamily="34" charset="0"/>
              </a:rPr>
              <a:t>Poor </a:t>
            </a:r>
            <a:r>
              <a:rPr lang="en-US" sz="2400" b="1" spc="-5" dirty="0">
                <a:solidFill>
                  <a:srgbClr val="FFC000"/>
                </a:solidFill>
                <a:latin typeface="Arial" panose="020B0604020202020204" pitchFamily="34" charset="0"/>
                <a:cs typeface="Arial" panose="020B0604020202020204" pitchFamily="34" charset="0"/>
              </a:rPr>
              <a:t>leadership </a:t>
            </a:r>
            <a:r>
              <a:rPr lang="en-US" sz="2400" b="1" spc="-15" dirty="0">
                <a:solidFill>
                  <a:srgbClr val="FFC000"/>
                </a:solidFill>
                <a:latin typeface="Arial" panose="020B0604020202020204" pitchFamily="34" charset="0"/>
                <a:cs typeface="Arial" panose="020B0604020202020204" pitchFamily="34" charset="0"/>
              </a:rPr>
              <a:t>at </a:t>
            </a:r>
            <a:r>
              <a:rPr lang="en-US" sz="2400" b="1" spc="-20" dirty="0">
                <a:solidFill>
                  <a:srgbClr val="FFC000"/>
                </a:solidFill>
                <a:latin typeface="Arial" panose="020B0604020202020204" pitchFamily="34" charset="0"/>
                <a:cs typeface="Arial" panose="020B0604020202020204" pitchFamily="34" charset="0"/>
              </a:rPr>
              <a:t>any</a:t>
            </a:r>
            <a:r>
              <a:rPr lang="en-US" sz="2400" b="1" spc="-85" dirty="0">
                <a:solidFill>
                  <a:srgbClr val="FFC000"/>
                </a:solidFill>
                <a:latin typeface="Arial" panose="020B0604020202020204" pitchFamily="34" charset="0"/>
                <a:cs typeface="Arial" panose="020B0604020202020204" pitchFamily="34" charset="0"/>
              </a:rPr>
              <a:t> </a:t>
            </a:r>
            <a:r>
              <a:rPr lang="en-US" sz="2400" b="1" spc="-10" dirty="0">
                <a:solidFill>
                  <a:srgbClr val="FFC000"/>
                </a:solidFill>
                <a:latin typeface="Arial" panose="020B0604020202020204" pitchFamily="34" charset="0"/>
                <a:cs typeface="Arial" panose="020B0604020202020204" pitchFamily="34" charset="0"/>
              </a:rPr>
              <a:t>level </a:t>
            </a:r>
            <a:r>
              <a:rPr lang="en-US" sz="2400" spc="-10" dirty="0">
                <a:solidFill>
                  <a:schemeClr val="accent1">
                    <a:lumMod val="50000"/>
                  </a:schemeClr>
                </a:solidFill>
                <a:latin typeface="Arial" panose="020B0604020202020204" pitchFamily="34" charset="0"/>
                <a:cs typeface="Arial" panose="020B0604020202020204" pitchFamily="34" charset="0"/>
              </a:rPr>
              <a:t>	 	</a:t>
            </a:r>
          </a:p>
          <a:p>
            <a:pPr lvl="1" algn="just">
              <a:buFont typeface="Wingdings" panose="05000000000000000000" pitchFamily="2" charset="2"/>
              <a:buChar char="§"/>
            </a:pPr>
            <a:r>
              <a:rPr lang="en-US" spc="-10" dirty="0">
                <a:solidFill>
                  <a:schemeClr val="accent1">
                    <a:lumMod val="50000"/>
                  </a:schemeClr>
                </a:solidFill>
                <a:latin typeface="Arial" panose="020B0604020202020204" pitchFamily="34" charset="0"/>
                <a:cs typeface="Arial" panose="020B0604020202020204" pitchFamily="34" charset="0"/>
              </a:rPr>
              <a:t>The </a:t>
            </a:r>
            <a:r>
              <a:rPr lang="en-US" spc="-35" dirty="0">
                <a:solidFill>
                  <a:schemeClr val="accent1">
                    <a:lumMod val="50000"/>
                  </a:schemeClr>
                </a:solidFill>
                <a:latin typeface="Arial" panose="020B0604020202020204" pitchFamily="34" charset="0"/>
                <a:cs typeface="Arial" panose="020B0604020202020204" pitchFamily="34" charset="0"/>
              </a:rPr>
              <a:t>management-level </a:t>
            </a:r>
            <a:r>
              <a:rPr lang="en-US" spc="-30" dirty="0">
                <a:solidFill>
                  <a:schemeClr val="accent1">
                    <a:lumMod val="50000"/>
                  </a:schemeClr>
                </a:solidFill>
                <a:latin typeface="Arial" panose="020B0604020202020204" pitchFamily="34" charset="0"/>
                <a:cs typeface="Arial" panose="020B0604020202020204" pitchFamily="34" charset="0"/>
              </a:rPr>
              <a:t>executive </a:t>
            </a:r>
            <a:r>
              <a:rPr lang="en-US" spc="-35" dirty="0">
                <a:solidFill>
                  <a:schemeClr val="accent1">
                    <a:lumMod val="50000"/>
                  </a:schemeClr>
                </a:solidFill>
                <a:latin typeface="Arial" panose="020B0604020202020204" pitchFamily="34" charset="0"/>
                <a:cs typeface="Arial" panose="020B0604020202020204" pitchFamily="34" charset="0"/>
              </a:rPr>
              <a:t>also </a:t>
            </a:r>
            <a:r>
              <a:rPr lang="en-US" spc="-45" dirty="0">
                <a:solidFill>
                  <a:schemeClr val="accent1">
                    <a:lumMod val="50000"/>
                  </a:schemeClr>
                </a:solidFill>
                <a:latin typeface="Arial" panose="020B0604020202020204" pitchFamily="34" charset="0"/>
                <a:cs typeface="Arial" panose="020B0604020202020204" pitchFamily="34" charset="0"/>
              </a:rPr>
              <a:t>has </a:t>
            </a:r>
            <a:r>
              <a:rPr lang="en-US" spc="-65" dirty="0">
                <a:solidFill>
                  <a:schemeClr val="accent1">
                    <a:lumMod val="50000"/>
                  </a:schemeClr>
                </a:solidFill>
                <a:latin typeface="Arial" panose="020B0604020202020204" pitchFamily="34" charset="0"/>
                <a:cs typeface="Arial" panose="020B0604020202020204" pitchFamily="34" charset="0"/>
              </a:rPr>
              <a:t>a  </a:t>
            </a:r>
            <a:r>
              <a:rPr lang="en-US" spc="-35" dirty="0">
                <a:solidFill>
                  <a:schemeClr val="accent1">
                    <a:lumMod val="50000"/>
                  </a:schemeClr>
                </a:solidFill>
                <a:latin typeface="Arial" panose="020B0604020202020204" pitchFamily="34" charset="0"/>
                <a:cs typeface="Arial" panose="020B0604020202020204" pitchFamily="34" charset="0"/>
              </a:rPr>
              <a:t>responsibility </a:t>
            </a:r>
            <a:r>
              <a:rPr lang="en-US" spc="-20" dirty="0">
                <a:solidFill>
                  <a:schemeClr val="accent1">
                    <a:lumMod val="50000"/>
                  </a:schemeClr>
                </a:solidFill>
                <a:latin typeface="Arial" panose="020B0604020202020204" pitchFamily="34" charset="0"/>
                <a:cs typeface="Arial" panose="020B0604020202020204" pitchFamily="34" charset="0"/>
              </a:rPr>
              <a:t>of </a:t>
            </a:r>
            <a:r>
              <a:rPr lang="en-US" spc="-30" dirty="0">
                <a:solidFill>
                  <a:schemeClr val="accent1">
                    <a:lumMod val="50000"/>
                  </a:schemeClr>
                </a:solidFill>
                <a:latin typeface="Arial" panose="020B0604020202020204" pitchFamily="34" charset="0"/>
                <a:cs typeface="Arial" panose="020B0604020202020204" pitchFamily="34" charset="0"/>
              </a:rPr>
              <a:t>ensuring </a:t>
            </a:r>
            <a:r>
              <a:rPr lang="en-US" spc="-5" dirty="0">
                <a:solidFill>
                  <a:schemeClr val="accent1">
                    <a:lumMod val="50000"/>
                  </a:schemeClr>
                </a:solidFill>
                <a:latin typeface="Arial" panose="020B0604020202020204" pitchFamily="34" charset="0"/>
                <a:cs typeface="Arial" panose="020B0604020202020204" pitchFamily="34" charset="0"/>
              </a:rPr>
              <a:t>the </a:t>
            </a:r>
            <a:r>
              <a:rPr lang="en-US" spc="-45" dirty="0">
                <a:solidFill>
                  <a:schemeClr val="accent1">
                    <a:lumMod val="50000"/>
                  </a:schemeClr>
                </a:solidFill>
                <a:latin typeface="Arial" panose="020B0604020202020204" pitchFamily="34" charset="0"/>
                <a:cs typeface="Arial" panose="020B0604020202020204" pitchFamily="34" charset="0"/>
              </a:rPr>
              <a:t>project’s success.</a:t>
            </a:r>
            <a:r>
              <a:rPr lang="en-US" spc="-165" dirty="0">
                <a:solidFill>
                  <a:schemeClr val="accent1">
                    <a:lumMod val="50000"/>
                  </a:schemeClr>
                </a:solidFill>
                <a:latin typeface="Arial" panose="020B0604020202020204" pitchFamily="34" charset="0"/>
                <a:cs typeface="Arial" panose="020B0604020202020204" pitchFamily="34" charset="0"/>
              </a:rPr>
              <a:t> </a:t>
            </a:r>
          </a:p>
          <a:p>
            <a:pPr lvl="1" algn="just">
              <a:buFont typeface="Wingdings" panose="05000000000000000000" pitchFamily="2" charset="2"/>
              <a:buChar char="§"/>
            </a:pPr>
            <a:r>
              <a:rPr lang="en-US" spc="-45" dirty="0">
                <a:solidFill>
                  <a:schemeClr val="tx2">
                    <a:lumMod val="75000"/>
                  </a:schemeClr>
                </a:solidFill>
                <a:latin typeface="Georgia"/>
                <a:cs typeface="Georgia"/>
              </a:rPr>
              <a:t>Assign </a:t>
            </a:r>
            <a:r>
              <a:rPr lang="en-US" spc="-35" dirty="0">
                <a:solidFill>
                  <a:schemeClr val="tx2">
                    <a:lumMod val="75000"/>
                  </a:schemeClr>
                </a:solidFill>
                <a:latin typeface="Georgia"/>
                <a:cs typeface="Georgia"/>
              </a:rPr>
              <a:t>management </a:t>
            </a:r>
            <a:r>
              <a:rPr lang="en-US" spc="-40" dirty="0">
                <a:solidFill>
                  <a:schemeClr val="tx2">
                    <a:lumMod val="75000"/>
                  </a:schemeClr>
                </a:solidFill>
                <a:latin typeface="Georgia"/>
                <a:cs typeface="Georgia"/>
              </a:rPr>
              <a:t>roles </a:t>
            </a:r>
            <a:r>
              <a:rPr lang="en-US" spc="-25" dirty="0">
                <a:solidFill>
                  <a:schemeClr val="tx2">
                    <a:lumMod val="75000"/>
                  </a:schemeClr>
                </a:solidFill>
                <a:latin typeface="Georgia"/>
                <a:cs typeface="Georgia"/>
              </a:rPr>
              <a:t>only </a:t>
            </a:r>
            <a:r>
              <a:rPr lang="en-US" spc="-5" dirty="0">
                <a:solidFill>
                  <a:schemeClr val="tx2">
                    <a:lumMod val="75000"/>
                  </a:schemeClr>
                </a:solidFill>
                <a:latin typeface="Georgia"/>
                <a:cs typeface="Georgia"/>
              </a:rPr>
              <a:t>to  </a:t>
            </a:r>
            <a:r>
              <a:rPr lang="en-US" spc="-35" dirty="0">
                <a:solidFill>
                  <a:schemeClr val="tx2">
                    <a:lumMod val="75000"/>
                  </a:schemeClr>
                </a:solidFill>
                <a:latin typeface="Georgia"/>
                <a:cs typeface="Georgia"/>
              </a:rPr>
              <a:t>individuals </a:t>
            </a:r>
            <a:r>
              <a:rPr lang="en-US" spc="-15" dirty="0">
                <a:solidFill>
                  <a:schemeClr val="tx2">
                    <a:lumMod val="75000"/>
                  </a:schemeClr>
                </a:solidFill>
                <a:latin typeface="Georgia"/>
                <a:cs typeface="Georgia"/>
              </a:rPr>
              <a:t>who </a:t>
            </a:r>
            <a:r>
              <a:rPr lang="en-US" spc="-60" dirty="0">
                <a:solidFill>
                  <a:schemeClr val="tx2">
                    <a:lumMod val="75000"/>
                  </a:schemeClr>
                </a:solidFill>
                <a:latin typeface="Georgia"/>
                <a:cs typeface="Georgia"/>
              </a:rPr>
              <a:t>have </a:t>
            </a:r>
            <a:r>
              <a:rPr lang="en-US" spc="-5" dirty="0">
                <a:solidFill>
                  <a:schemeClr val="tx2">
                    <a:lumMod val="75000"/>
                  </a:schemeClr>
                </a:solidFill>
                <a:latin typeface="Georgia"/>
                <a:cs typeface="Georgia"/>
              </a:rPr>
              <a:t>the </a:t>
            </a:r>
            <a:r>
              <a:rPr lang="en-US" spc="-30" dirty="0">
                <a:solidFill>
                  <a:schemeClr val="tx2">
                    <a:lumMod val="75000"/>
                  </a:schemeClr>
                </a:solidFill>
                <a:latin typeface="Georgia"/>
                <a:cs typeface="Georgia"/>
              </a:rPr>
              <a:t>capabilities </a:t>
            </a:r>
            <a:r>
              <a:rPr lang="en-US" spc="-5" dirty="0">
                <a:solidFill>
                  <a:schemeClr val="tx2">
                    <a:lumMod val="75000"/>
                  </a:schemeClr>
                </a:solidFill>
                <a:latin typeface="Georgia"/>
                <a:cs typeface="Georgia"/>
              </a:rPr>
              <a:t>to </a:t>
            </a:r>
            <a:r>
              <a:rPr lang="en-US" spc="-15" dirty="0">
                <a:solidFill>
                  <a:schemeClr val="tx2">
                    <a:lumMod val="75000"/>
                  </a:schemeClr>
                </a:solidFill>
                <a:latin typeface="Georgia"/>
                <a:cs typeface="Georgia"/>
              </a:rPr>
              <a:t>meet  </a:t>
            </a:r>
            <a:r>
              <a:rPr lang="en-US" spc="-40" dirty="0">
                <a:solidFill>
                  <a:schemeClr val="tx2">
                    <a:lumMod val="75000"/>
                  </a:schemeClr>
                </a:solidFill>
                <a:latin typeface="Georgia"/>
                <a:cs typeface="Georgia"/>
              </a:rPr>
              <a:t>requirements</a:t>
            </a:r>
            <a:endParaRPr lang="en-US" spc="-65" dirty="0">
              <a:solidFill>
                <a:schemeClr val="accent1">
                  <a:lumMod val="50000"/>
                </a:schemeClr>
              </a:solidFill>
              <a:latin typeface="Arial" panose="020B0604020202020204" pitchFamily="34" charset="0"/>
              <a:cs typeface="Arial" panose="020B0604020202020204" pitchFamily="34" charset="0"/>
            </a:endParaRPr>
          </a:p>
          <a:p>
            <a:pPr lvl="1" algn="just">
              <a:buFont typeface="Wingdings" panose="05000000000000000000" pitchFamily="2" charset="2"/>
              <a:buChar char="§"/>
            </a:pPr>
            <a:r>
              <a:rPr lang="en-US" spc="-20" dirty="0">
                <a:solidFill>
                  <a:schemeClr val="accent1">
                    <a:lumMod val="50000"/>
                  </a:schemeClr>
                </a:solidFill>
                <a:latin typeface="Arial" panose="020B0604020202020204" pitchFamily="34" charset="0"/>
                <a:cs typeface="Arial" panose="020B0604020202020204" pitchFamily="34" charset="0"/>
              </a:rPr>
              <a:t>should </a:t>
            </a:r>
            <a:r>
              <a:rPr lang="en-US" spc="-40" dirty="0">
                <a:solidFill>
                  <a:schemeClr val="accent1">
                    <a:lumMod val="50000"/>
                  </a:schemeClr>
                </a:solidFill>
                <a:latin typeface="Arial" panose="020B0604020202020204" pitchFamily="34" charset="0"/>
                <a:cs typeface="Arial" panose="020B0604020202020204" pitchFamily="34" charset="0"/>
              </a:rPr>
              <a:t>work </a:t>
            </a:r>
            <a:r>
              <a:rPr lang="en-US" spc="-20" dirty="0">
                <a:solidFill>
                  <a:schemeClr val="accent1">
                    <a:lumMod val="50000"/>
                  </a:schemeClr>
                </a:solidFill>
                <a:latin typeface="Arial" panose="020B0604020202020204" pitchFamily="34" charset="0"/>
                <a:cs typeface="Arial" panose="020B0604020202020204" pitchFamily="34" charset="0"/>
              </a:rPr>
              <a:t>together </a:t>
            </a:r>
            <a:r>
              <a:rPr lang="en-US" spc="-5" dirty="0">
                <a:solidFill>
                  <a:schemeClr val="accent1">
                    <a:lumMod val="50000"/>
                  </a:schemeClr>
                </a:solidFill>
                <a:latin typeface="Arial" panose="020B0604020202020204" pitchFamily="34" charset="0"/>
                <a:cs typeface="Arial" panose="020B0604020202020204" pitchFamily="34" charset="0"/>
              </a:rPr>
              <a:t>with the </a:t>
            </a:r>
            <a:r>
              <a:rPr lang="en-US" spc="-50" dirty="0">
                <a:solidFill>
                  <a:schemeClr val="accent1">
                    <a:lumMod val="50000"/>
                  </a:schemeClr>
                </a:solidFill>
                <a:latin typeface="Arial" panose="020B0604020202020204" pitchFamily="34" charset="0"/>
                <a:cs typeface="Arial" panose="020B0604020202020204" pitchFamily="34" charset="0"/>
              </a:rPr>
              <a:t>manager </a:t>
            </a:r>
            <a:r>
              <a:rPr lang="en-US" spc="-5" dirty="0">
                <a:solidFill>
                  <a:schemeClr val="accent1">
                    <a:lumMod val="50000"/>
                  </a:schemeClr>
                </a:solidFill>
                <a:latin typeface="Arial" panose="020B0604020202020204" pitchFamily="34" charset="0"/>
                <a:cs typeface="Arial" panose="020B0604020202020204" pitchFamily="34" charset="0"/>
              </a:rPr>
              <a:t>to </a:t>
            </a:r>
            <a:r>
              <a:rPr lang="en-US" spc="-40" dirty="0">
                <a:solidFill>
                  <a:schemeClr val="accent1">
                    <a:lumMod val="50000"/>
                  </a:schemeClr>
                </a:solidFill>
                <a:latin typeface="Arial" panose="020B0604020202020204" pitchFamily="34" charset="0"/>
                <a:cs typeface="Arial" panose="020B0604020202020204" pitchFamily="34" charset="0"/>
              </a:rPr>
              <a:t>ensure </a:t>
            </a:r>
            <a:r>
              <a:rPr lang="en-US" spc="-15" dirty="0">
                <a:solidFill>
                  <a:schemeClr val="accent1">
                    <a:lumMod val="50000"/>
                  </a:schemeClr>
                </a:solidFill>
                <a:latin typeface="Arial" panose="020B0604020202020204" pitchFamily="34" charset="0"/>
                <a:cs typeface="Arial" panose="020B0604020202020204" pitchFamily="34" charset="0"/>
              </a:rPr>
              <a:t>that  </a:t>
            </a:r>
            <a:r>
              <a:rPr lang="en-US" spc="-5" dirty="0">
                <a:solidFill>
                  <a:schemeClr val="accent1">
                    <a:lumMod val="50000"/>
                  </a:schemeClr>
                </a:solidFill>
                <a:latin typeface="Arial" panose="020B0604020202020204" pitchFamily="34" charset="0"/>
                <a:cs typeface="Arial" panose="020B0604020202020204" pitchFamily="34" charset="0"/>
              </a:rPr>
              <a:t>the </a:t>
            </a:r>
            <a:r>
              <a:rPr lang="en-US" spc="-50" dirty="0">
                <a:solidFill>
                  <a:schemeClr val="accent1">
                    <a:lumMod val="50000"/>
                  </a:schemeClr>
                </a:solidFill>
                <a:latin typeface="Arial" panose="020B0604020202020204" pitchFamily="34" charset="0"/>
                <a:cs typeface="Arial" panose="020B0604020202020204" pitchFamily="34" charset="0"/>
              </a:rPr>
              <a:t>company’s </a:t>
            </a:r>
            <a:r>
              <a:rPr lang="en-US" spc="-25" dirty="0">
                <a:solidFill>
                  <a:schemeClr val="accent1">
                    <a:lumMod val="50000"/>
                  </a:schemeClr>
                </a:solidFill>
                <a:latin typeface="Arial" panose="020B0604020202020204" pitchFamily="34" charset="0"/>
                <a:cs typeface="Arial" panose="020B0604020202020204" pitchFamily="34" charset="0"/>
              </a:rPr>
              <a:t>exact </a:t>
            </a:r>
            <a:r>
              <a:rPr lang="en-US" spc="-35" dirty="0">
                <a:solidFill>
                  <a:schemeClr val="accent1">
                    <a:lumMod val="50000"/>
                  </a:schemeClr>
                </a:solidFill>
                <a:latin typeface="Arial" panose="020B0604020202020204" pitchFamily="34" charset="0"/>
                <a:cs typeface="Arial" panose="020B0604020202020204" pitchFamily="34" charset="0"/>
              </a:rPr>
              <a:t>requirements </a:t>
            </a:r>
            <a:r>
              <a:rPr lang="en-US" spc="-60" dirty="0">
                <a:solidFill>
                  <a:schemeClr val="accent1">
                    <a:lumMod val="50000"/>
                  </a:schemeClr>
                </a:solidFill>
                <a:latin typeface="Arial" panose="020B0604020202020204" pitchFamily="34" charset="0"/>
                <a:cs typeface="Arial" panose="020B0604020202020204" pitchFamily="34" charset="0"/>
              </a:rPr>
              <a:t>are</a:t>
            </a:r>
            <a:r>
              <a:rPr lang="en-US" spc="-375" dirty="0">
                <a:solidFill>
                  <a:schemeClr val="accent1">
                    <a:lumMod val="50000"/>
                  </a:schemeClr>
                </a:solidFill>
                <a:latin typeface="Arial" panose="020B0604020202020204" pitchFamily="34" charset="0"/>
                <a:cs typeface="Arial" panose="020B0604020202020204" pitchFamily="34" charset="0"/>
              </a:rPr>
              <a:t> </a:t>
            </a:r>
            <a:r>
              <a:rPr lang="en-US" spc="-30" dirty="0">
                <a:solidFill>
                  <a:schemeClr val="accent1">
                    <a:lumMod val="50000"/>
                  </a:schemeClr>
                </a:solidFill>
                <a:latin typeface="Arial" panose="020B0604020202020204" pitchFamily="34" charset="0"/>
                <a:cs typeface="Arial" panose="020B0604020202020204" pitchFamily="34" charset="0"/>
              </a:rPr>
              <a:t>understood.</a:t>
            </a:r>
          </a:p>
          <a:p>
            <a:pPr lvl="1" algn="just">
              <a:buFont typeface="Wingdings" panose="05000000000000000000" pitchFamily="2" charset="2"/>
              <a:buChar char="§"/>
            </a:pPr>
            <a:endParaRPr lang="en-US" sz="2600" b="1" spc="-25" dirty="0">
              <a:solidFill>
                <a:schemeClr val="tx2">
                  <a:lumMod val="60000"/>
                  <a:lumOff val="40000"/>
                </a:schemeClr>
              </a:solidFill>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a:xfrm>
            <a:off x="574766" y="6356350"/>
            <a:ext cx="10946674" cy="365125"/>
          </a:xfrm>
        </p:spPr>
        <p:txBody>
          <a:bodyPr/>
          <a:lstStyle/>
          <a:p>
            <a:r>
              <a:rPr lang="en-IN"/>
              <a:t>Software Project Failures                                  Software Engineering                              vasavi / CSBS</a:t>
            </a:r>
            <a:endParaRPr lang="en-US" dirty="0"/>
          </a:p>
        </p:txBody>
      </p:sp>
    </p:spTree>
    <p:extLst>
      <p:ext uri="{BB962C8B-B14F-4D97-AF65-F5344CB8AC3E}">
        <p14:creationId xmlns:p14="http://schemas.microsoft.com/office/powerpoint/2010/main" val="2877658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chemeClr val="accent1">
                    <a:lumMod val="50000"/>
                  </a:schemeClr>
                </a:solidFill>
                <a:latin typeface="Arial" panose="020B0604020202020204" pitchFamily="34" charset="0"/>
                <a:cs typeface="Arial" panose="020B0604020202020204" pitchFamily="34" charset="0"/>
              </a:rPr>
              <a:t>Software Failures Reasons</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sz="2400" b="1" spc="-25" dirty="0">
                <a:solidFill>
                  <a:srgbClr val="FFC000"/>
                </a:solidFill>
                <a:latin typeface="Arial" panose="020B0604020202020204" pitchFamily="34" charset="0"/>
                <a:cs typeface="Arial" panose="020B0604020202020204" pitchFamily="34" charset="0"/>
              </a:rPr>
              <a:t>Failure to </a:t>
            </a:r>
            <a:r>
              <a:rPr lang="en-US" sz="2400" b="1" spc="-10" dirty="0">
                <a:solidFill>
                  <a:srgbClr val="FFC000"/>
                </a:solidFill>
                <a:latin typeface="Arial" panose="020B0604020202020204" pitchFamily="34" charset="0"/>
                <a:cs typeface="Arial" panose="020B0604020202020204" pitchFamily="34" charset="0"/>
              </a:rPr>
              <a:t>set </a:t>
            </a:r>
            <a:r>
              <a:rPr lang="en-US" sz="2400" b="1" spc="-15" dirty="0">
                <a:solidFill>
                  <a:srgbClr val="FFC000"/>
                </a:solidFill>
                <a:latin typeface="Arial" panose="020B0604020202020204" pitchFamily="34" charset="0"/>
                <a:cs typeface="Arial" panose="020B0604020202020204" pitchFamily="34" charset="0"/>
              </a:rPr>
              <a:t>expectations </a:t>
            </a:r>
            <a:r>
              <a:rPr lang="en-US" sz="2400" b="1" spc="-10" dirty="0">
                <a:solidFill>
                  <a:srgbClr val="FFC000"/>
                </a:solidFill>
                <a:latin typeface="Arial" panose="020B0604020202020204" pitchFamily="34" charset="0"/>
                <a:cs typeface="Arial" panose="020B0604020202020204" pitchFamily="34" charset="0"/>
              </a:rPr>
              <a:t>and </a:t>
            </a:r>
            <a:r>
              <a:rPr lang="en-US" sz="2400" b="1" spc="-15" dirty="0">
                <a:solidFill>
                  <a:srgbClr val="FFC000"/>
                </a:solidFill>
                <a:latin typeface="Arial" panose="020B0604020202020204" pitchFamily="34" charset="0"/>
                <a:cs typeface="Arial" panose="020B0604020202020204" pitchFamily="34" charset="0"/>
              </a:rPr>
              <a:t>manage</a:t>
            </a:r>
            <a:r>
              <a:rPr lang="en-US" sz="2400" b="1" spc="114" dirty="0">
                <a:solidFill>
                  <a:srgbClr val="FFC000"/>
                </a:solidFill>
                <a:latin typeface="Arial" panose="020B0604020202020204" pitchFamily="34" charset="0"/>
                <a:cs typeface="Arial" panose="020B0604020202020204" pitchFamily="34" charset="0"/>
              </a:rPr>
              <a:t> </a:t>
            </a:r>
            <a:r>
              <a:rPr lang="en-US" sz="2400" b="1" spc="-10" dirty="0">
                <a:solidFill>
                  <a:srgbClr val="FFC000"/>
                </a:solidFill>
                <a:latin typeface="Arial" panose="020B0604020202020204" pitchFamily="34" charset="0"/>
                <a:cs typeface="Arial" panose="020B0604020202020204" pitchFamily="34" charset="0"/>
              </a:rPr>
              <a:t>them</a:t>
            </a:r>
          </a:p>
          <a:p>
            <a:pPr marL="0" indent="0" algn="just">
              <a:buNone/>
            </a:pPr>
            <a:r>
              <a:rPr lang="en-US" sz="2400" spc="-10" dirty="0">
                <a:solidFill>
                  <a:schemeClr val="tx2">
                    <a:lumMod val="75000"/>
                  </a:schemeClr>
                </a:solidFill>
                <a:latin typeface="Arial" panose="020B0604020202020204" pitchFamily="34" charset="0"/>
                <a:cs typeface="Arial" panose="020B0604020202020204" pitchFamily="34" charset="0"/>
              </a:rPr>
              <a:t>	</a:t>
            </a:r>
            <a:r>
              <a:rPr lang="en-US" sz="2400" spc="-85" dirty="0">
                <a:solidFill>
                  <a:schemeClr val="tx2">
                    <a:lumMod val="75000"/>
                  </a:schemeClr>
                </a:solidFill>
                <a:latin typeface="Arial" panose="020B0604020202020204" pitchFamily="34" charset="0"/>
                <a:cs typeface="Arial" panose="020B0604020202020204" pitchFamily="34" charset="0"/>
              </a:rPr>
              <a:t> If </a:t>
            </a:r>
            <a:r>
              <a:rPr lang="en-US" sz="2400" spc="-35" dirty="0">
                <a:solidFill>
                  <a:schemeClr val="tx2">
                    <a:lumMod val="75000"/>
                  </a:schemeClr>
                </a:solidFill>
                <a:latin typeface="Arial" panose="020B0604020202020204" pitchFamily="34" charset="0"/>
                <a:cs typeface="Arial" panose="020B0604020202020204" pitchFamily="34" charset="0"/>
              </a:rPr>
              <a:t>and </a:t>
            </a:r>
            <a:r>
              <a:rPr lang="en-US" sz="2400" spc="-20" dirty="0">
                <a:solidFill>
                  <a:schemeClr val="tx2">
                    <a:lumMod val="75000"/>
                  </a:schemeClr>
                </a:solidFill>
                <a:latin typeface="Arial" panose="020B0604020202020204" pitchFamily="34" charset="0"/>
                <a:cs typeface="Arial" panose="020B0604020202020204" pitchFamily="34" charset="0"/>
              </a:rPr>
              <a:t>when </a:t>
            </a:r>
            <a:r>
              <a:rPr lang="en-US" sz="2400" spc="-25" dirty="0">
                <a:solidFill>
                  <a:schemeClr val="tx2">
                    <a:lumMod val="75000"/>
                  </a:schemeClr>
                </a:solidFill>
                <a:latin typeface="Arial" panose="020B0604020202020204" pitchFamily="34" charset="0"/>
                <a:cs typeface="Arial" panose="020B0604020202020204" pitchFamily="34" charset="0"/>
              </a:rPr>
              <a:t>expectations </a:t>
            </a:r>
            <a:r>
              <a:rPr lang="en-US" sz="2400" spc="-60" dirty="0">
                <a:solidFill>
                  <a:schemeClr val="tx2">
                    <a:lumMod val="75000"/>
                  </a:schemeClr>
                </a:solidFill>
                <a:latin typeface="Arial" panose="020B0604020202020204" pitchFamily="34" charset="0"/>
                <a:cs typeface="Arial" panose="020B0604020202020204" pitchFamily="34" charset="0"/>
              </a:rPr>
              <a:t>are </a:t>
            </a:r>
            <a:r>
              <a:rPr lang="en-US" sz="2400" spc="-5" dirty="0">
                <a:solidFill>
                  <a:schemeClr val="tx2">
                    <a:lumMod val="75000"/>
                  </a:schemeClr>
                </a:solidFill>
                <a:latin typeface="Arial" panose="020B0604020202020204" pitchFamily="34" charset="0"/>
                <a:cs typeface="Arial" panose="020B0604020202020204" pitchFamily="34" charset="0"/>
              </a:rPr>
              <a:t>not </a:t>
            </a:r>
            <a:r>
              <a:rPr lang="en-US" sz="2400" spc="-20" dirty="0">
                <a:solidFill>
                  <a:schemeClr val="tx2">
                    <a:lumMod val="75000"/>
                  </a:schemeClr>
                </a:solidFill>
                <a:latin typeface="Arial" panose="020B0604020202020204" pitchFamily="34" charset="0"/>
                <a:cs typeface="Arial" panose="020B0604020202020204" pitchFamily="34" charset="0"/>
              </a:rPr>
              <a:t>met, </a:t>
            </a:r>
            <a:r>
              <a:rPr lang="en-US" sz="2400" spc="-25" dirty="0">
                <a:solidFill>
                  <a:schemeClr val="tx2">
                    <a:lumMod val="75000"/>
                  </a:schemeClr>
                </a:solidFill>
                <a:latin typeface="Arial" panose="020B0604020202020204" pitchFamily="34" charset="0"/>
                <a:cs typeface="Arial" panose="020B0604020202020204" pitchFamily="34" charset="0"/>
              </a:rPr>
              <a:t>there </a:t>
            </a:r>
            <a:r>
              <a:rPr lang="en-US" sz="2400" spc="-20" dirty="0">
                <a:solidFill>
                  <a:schemeClr val="tx2">
                    <a:lumMod val="75000"/>
                  </a:schemeClr>
                </a:solidFill>
                <a:latin typeface="Arial" panose="020B0604020202020204" pitchFamily="34" charset="0"/>
                <a:cs typeface="Arial" panose="020B0604020202020204" pitchFamily="34" charset="0"/>
              </a:rPr>
              <a:t>should </a:t>
            </a:r>
            <a:r>
              <a:rPr lang="en-US" sz="2400" spc="-15" dirty="0">
                <a:solidFill>
                  <a:schemeClr val="tx2">
                    <a:lumMod val="75000"/>
                  </a:schemeClr>
                </a:solidFill>
                <a:latin typeface="Arial" panose="020B0604020202020204" pitchFamily="34" charset="0"/>
                <a:cs typeface="Arial" panose="020B0604020202020204" pitchFamily="34" charset="0"/>
              </a:rPr>
              <a:t>be  </a:t>
            </a:r>
            <a:r>
              <a:rPr lang="en-US" sz="2400" spc="-30" dirty="0">
                <a:solidFill>
                  <a:schemeClr val="tx2">
                    <a:lumMod val="75000"/>
                  </a:schemeClr>
                </a:solidFill>
                <a:latin typeface="Arial" panose="020B0604020202020204" pitchFamily="34" charset="0"/>
                <a:cs typeface="Arial" panose="020B0604020202020204" pitchFamily="34" charset="0"/>
              </a:rPr>
              <a:t>clearly-defined consequences.</a:t>
            </a:r>
          </a:p>
          <a:p>
            <a:pPr marL="0" indent="0" algn="just">
              <a:buNone/>
            </a:pPr>
            <a:r>
              <a:rPr lang="en-US" sz="2400" spc="-30" dirty="0">
                <a:solidFill>
                  <a:schemeClr val="tx2">
                    <a:lumMod val="75000"/>
                  </a:schemeClr>
                </a:solidFill>
                <a:latin typeface="Arial" panose="020B0604020202020204" pitchFamily="34" charset="0"/>
                <a:cs typeface="Arial" panose="020B0604020202020204" pitchFamily="34" charset="0"/>
              </a:rPr>
              <a:t>	</a:t>
            </a:r>
            <a:r>
              <a:rPr lang="en-US" sz="2400" spc="-15" dirty="0">
                <a:solidFill>
                  <a:schemeClr val="tx2">
                    <a:lumMod val="75000"/>
                  </a:schemeClr>
                </a:solidFill>
                <a:latin typeface="Arial" panose="020B0604020202020204" pitchFamily="34" charset="0"/>
                <a:cs typeface="Arial" panose="020B0604020202020204" pitchFamily="34" charset="0"/>
              </a:rPr>
              <a:t>The </a:t>
            </a:r>
            <a:r>
              <a:rPr lang="en-US" sz="2400" spc="-35" dirty="0">
                <a:solidFill>
                  <a:schemeClr val="tx2">
                    <a:lumMod val="75000"/>
                  </a:schemeClr>
                </a:solidFill>
                <a:latin typeface="Arial" panose="020B0604020202020204" pitchFamily="34" charset="0"/>
                <a:cs typeface="Arial" panose="020B0604020202020204" pitchFamily="34" charset="0"/>
              </a:rPr>
              <a:t>task </a:t>
            </a:r>
            <a:r>
              <a:rPr lang="en-US" sz="2400" spc="-20" dirty="0">
                <a:solidFill>
                  <a:schemeClr val="tx2">
                    <a:lumMod val="75000"/>
                  </a:schemeClr>
                </a:solidFill>
                <a:latin typeface="Arial" panose="020B0604020202020204" pitchFamily="34" charset="0"/>
                <a:cs typeface="Arial" panose="020B0604020202020204" pitchFamily="34" charset="0"/>
              </a:rPr>
              <a:t>should </a:t>
            </a:r>
            <a:r>
              <a:rPr lang="en-US" sz="2400" spc="-10" dirty="0">
                <a:solidFill>
                  <a:schemeClr val="tx2">
                    <a:lumMod val="75000"/>
                  </a:schemeClr>
                </a:solidFill>
                <a:latin typeface="Arial" panose="020B0604020202020204" pitchFamily="34" charset="0"/>
                <a:cs typeface="Arial" panose="020B0604020202020204" pitchFamily="34" charset="0"/>
              </a:rPr>
              <a:t>then </a:t>
            </a:r>
            <a:r>
              <a:rPr lang="en-US" sz="2400" spc="-15" dirty="0">
                <a:solidFill>
                  <a:schemeClr val="tx2">
                    <a:lumMod val="75000"/>
                  </a:schemeClr>
                </a:solidFill>
                <a:latin typeface="Arial" panose="020B0604020202020204" pitchFamily="34" charset="0"/>
                <a:cs typeface="Arial" panose="020B0604020202020204" pitchFamily="34" charset="0"/>
              </a:rPr>
              <a:t>be  </a:t>
            </a:r>
            <a:r>
              <a:rPr lang="en-US" sz="2400" spc="-20" dirty="0">
                <a:solidFill>
                  <a:schemeClr val="tx2">
                    <a:lumMod val="75000"/>
                  </a:schemeClr>
                </a:solidFill>
                <a:latin typeface="Arial" panose="020B0604020202020204" pitchFamily="34" charset="0"/>
                <a:cs typeface="Arial" panose="020B0604020202020204" pitchFamily="34" charset="0"/>
              </a:rPr>
              <a:t>prioritized </a:t>
            </a:r>
            <a:r>
              <a:rPr lang="en-US" sz="2400" spc="-35" dirty="0">
                <a:solidFill>
                  <a:schemeClr val="tx2">
                    <a:lumMod val="75000"/>
                  </a:schemeClr>
                </a:solidFill>
                <a:latin typeface="Arial" panose="020B0604020202020204" pitchFamily="34" charset="0"/>
                <a:cs typeface="Arial" panose="020B0604020202020204" pitchFamily="34" charset="0"/>
              </a:rPr>
              <a:t>and possibly </a:t>
            </a:r>
            <a:r>
              <a:rPr lang="en-US" sz="2400" spc="-45" dirty="0">
                <a:solidFill>
                  <a:schemeClr val="tx2">
                    <a:lumMod val="75000"/>
                  </a:schemeClr>
                </a:solidFill>
                <a:latin typeface="Arial" panose="020B0604020202020204" pitchFamily="34" charset="0"/>
                <a:cs typeface="Arial" panose="020B0604020202020204" pitchFamily="34" charset="0"/>
              </a:rPr>
              <a:t>reassigned </a:t>
            </a:r>
            <a:r>
              <a:rPr lang="en-US" sz="2400" spc="-5" dirty="0">
                <a:solidFill>
                  <a:schemeClr val="tx2">
                    <a:lumMod val="75000"/>
                  </a:schemeClr>
                </a:solidFill>
                <a:latin typeface="Arial" panose="020B0604020202020204" pitchFamily="34" charset="0"/>
                <a:cs typeface="Arial" panose="020B0604020202020204" pitchFamily="34" charset="0"/>
              </a:rPr>
              <a:t>to </a:t>
            </a:r>
            <a:r>
              <a:rPr lang="en-US" sz="2400" spc="-65" dirty="0">
                <a:solidFill>
                  <a:schemeClr val="tx2">
                    <a:lumMod val="75000"/>
                  </a:schemeClr>
                </a:solidFill>
                <a:latin typeface="Arial" panose="020B0604020202020204" pitchFamily="34" charset="0"/>
                <a:cs typeface="Arial" panose="020B0604020202020204" pitchFamily="34" charset="0"/>
              </a:rPr>
              <a:t>a </a:t>
            </a:r>
            <a:r>
              <a:rPr lang="en-US" sz="2400" spc="-40" dirty="0">
                <a:solidFill>
                  <a:schemeClr val="tx2">
                    <a:lumMod val="75000"/>
                  </a:schemeClr>
                </a:solidFill>
                <a:latin typeface="Arial" panose="020B0604020202020204" pitchFamily="34" charset="0"/>
                <a:cs typeface="Arial" panose="020B0604020202020204" pitchFamily="34" charset="0"/>
              </a:rPr>
              <a:t>more  </a:t>
            </a:r>
            <a:r>
              <a:rPr lang="en-US" sz="2400" spc="-15" dirty="0">
                <a:solidFill>
                  <a:schemeClr val="tx2">
                    <a:lumMod val="75000"/>
                  </a:schemeClr>
                </a:solidFill>
                <a:latin typeface="Arial" panose="020B0604020202020204" pitchFamily="34" charset="0"/>
                <a:cs typeface="Arial" panose="020B0604020202020204" pitchFamily="34" charset="0"/>
              </a:rPr>
              <a:t>competent</a:t>
            </a:r>
            <a:r>
              <a:rPr lang="en-US" sz="2400" spc="-80" dirty="0">
                <a:solidFill>
                  <a:schemeClr val="tx2">
                    <a:lumMod val="75000"/>
                  </a:schemeClr>
                </a:solidFill>
                <a:latin typeface="Arial" panose="020B0604020202020204" pitchFamily="34" charset="0"/>
                <a:cs typeface="Arial" panose="020B0604020202020204" pitchFamily="34" charset="0"/>
              </a:rPr>
              <a:t> </a:t>
            </a:r>
            <a:r>
              <a:rPr lang="en-US" sz="2400" spc="-30" dirty="0">
                <a:solidFill>
                  <a:schemeClr val="tx2">
                    <a:lumMod val="75000"/>
                  </a:schemeClr>
                </a:solidFill>
                <a:latin typeface="Arial" panose="020B0604020202020204" pitchFamily="34" charset="0"/>
                <a:cs typeface="Arial" panose="020B0604020202020204" pitchFamily="34" charset="0"/>
              </a:rPr>
              <a:t>individual.</a:t>
            </a:r>
            <a:endParaRPr lang="en-US" sz="2400" dirty="0">
              <a:solidFill>
                <a:schemeClr val="tx2">
                  <a:lumMod val="75000"/>
                </a:schemeClr>
              </a:solidFill>
              <a:latin typeface="Arial" panose="020B0604020202020204" pitchFamily="34" charset="0"/>
              <a:cs typeface="Arial" panose="020B0604020202020204" pitchFamily="34" charset="0"/>
            </a:endParaRPr>
          </a:p>
          <a:p>
            <a:pPr marL="0" indent="0" algn="just">
              <a:buNone/>
            </a:pPr>
            <a:endParaRPr lang="en-US" sz="2400" dirty="0">
              <a:solidFill>
                <a:schemeClr val="tx2">
                  <a:lumMod val="60000"/>
                  <a:lumOff val="40000"/>
                </a:schemeClr>
              </a:solidFill>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a:xfrm>
            <a:off x="966651" y="6356350"/>
            <a:ext cx="10387149" cy="365125"/>
          </a:xfrm>
        </p:spPr>
        <p:txBody>
          <a:bodyPr/>
          <a:lstStyle/>
          <a:p>
            <a:r>
              <a:rPr lang="en-IN"/>
              <a:t>Software Project Failures                                  Software Engineering                              vasavi / CSBS</a:t>
            </a:r>
            <a:endParaRPr lang="en-US" dirty="0"/>
          </a:p>
        </p:txBody>
      </p:sp>
    </p:spTree>
    <p:extLst>
      <p:ext uri="{BB962C8B-B14F-4D97-AF65-F5344CB8AC3E}">
        <p14:creationId xmlns:p14="http://schemas.microsoft.com/office/powerpoint/2010/main" val="1223698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chemeClr val="accent1">
                    <a:lumMod val="50000"/>
                  </a:schemeClr>
                </a:solidFill>
                <a:latin typeface="Arial" panose="020B0604020202020204" pitchFamily="34" charset="0"/>
                <a:cs typeface="Arial" panose="020B0604020202020204" pitchFamily="34" charset="0"/>
              </a:rPr>
              <a:t>Software Failures Reasons</a:t>
            </a:r>
            <a:endParaRPr lang="en-US" sz="2800" dirty="0">
              <a:solidFill>
                <a:schemeClr val="accent1">
                  <a:lumMod val="50000"/>
                </a:schemeClr>
              </a:solidFill>
            </a:endParaRPr>
          </a:p>
        </p:txBody>
      </p:sp>
      <p:sp>
        <p:nvSpPr>
          <p:cNvPr id="3" name="Content Placeholder 2"/>
          <p:cNvSpPr>
            <a:spLocks noGrp="1"/>
          </p:cNvSpPr>
          <p:nvPr>
            <p:ph idx="1"/>
          </p:nvPr>
        </p:nvSpPr>
        <p:spPr/>
        <p:txBody>
          <a:bodyPr/>
          <a:lstStyle/>
          <a:p>
            <a:pPr marL="457200" lvl="1" indent="0">
              <a:buNone/>
            </a:pPr>
            <a:r>
              <a:rPr lang="en-US" b="1" spc="-15" dirty="0">
                <a:solidFill>
                  <a:srgbClr val="FFC000"/>
                </a:solidFill>
                <a:latin typeface="Arial" panose="020B0604020202020204" pitchFamily="34" charset="0"/>
                <a:cs typeface="Arial" panose="020B0604020202020204" pitchFamily="34" charset="0"/>
              </a:rPr>
              <a:t>Inaccurate </a:t>
            </a:r>
            <a:r>
              <a:rPr lang="en-US" b="1" spc="-10" dirty="0">
                <a:solidFill>
                  <a:srgbClr val="FFC000"/>
                </a:solidFill>
                <a:latin typeface="Arial" panose="020B0604020202020204" pitchFamily="34" charset="0"/>
                <a:cs typeface="Arial" panose="020B0604020202020204" pitchFamily="34" charset="0"/>
              </a:rPr>
              <a:t>cost</a:t>
            </a:r>
            <a:r>
              <a:rPr lang="en-US" b="1" spc="-100" dirty="0">
                <a:solidFill>
                  <a:srgbClr val="FFC000"/>
                </a:solidFill>
                <a:latin typeface="Arial" panose="020B0604020202020204" pitchFamily="34" charset="0"/>
                <a:cs typeface="Arial" panose="020B0604020202020204" pitchFamily="34" charset="0"/>
              </a:rPr>
              <a:t> </a:t>
            </a:r>
            <a:r>
              <a:rPr lang="en-US" b="1" spc="-5" dirty="0">
                <a:solidFill>
                  <a:srgbClr val="FFC000"/>
                </a:solidFill>
                <a:latin typeface="Arial" panose="020B0604020202020204" pitchFamily="34" charset="0"/>
                <a:cs typeface="Arial" panose="020B0604020202020204" pitchFamily="34" charset="0"/>
              </a:rPr>
              <a:t>estimation</a:t>
            </a:r>
          </a:p>
          <a:p>
            <a:pPr lvl="1">
              <a:buFont typeface="Wingdings" panose="05000000000000000000" pitchFamily="2" charset="2"/>
              <a:buChar char="§"/>
            </a:pPr>
            <a:r>
              <a:rPr lang="en-US" spc="20" dirty="0">
                <a:solidFill>
                  <a:srgbClr val="002060"/>
                </a:solidFill>
                <a:latin typeface="Georgia"/>
                <a:cs typeface="Georgia"/>
              </a:rPr>
              <a:t>When </a:t>
            </a:r>
            <a:r>
              <a:rPr lang="en-US" spc="-5" dirty="0">
                <a:solidFill>
                  <a:srgbClr val="002060"/>
                </a:solidFill>
                <a:latin typeface="Georgia"/>
                <a:cs typeface="Georgia"/>
              </a:rPr>
              <a:t>it </a:t>
            </a:r>
            <a:r>
              <a:rPr lang="en-US" spc="-50" dirty="0">
                <a:solidFill>
                  <a:srgbClr val="002060"/>
                </a:solidFill>
                <a:latin typeface="Georgia"/>
                <a:cs typeface="Georgia"/>
              </a:rPr>
              <a:t>runs </a:t>
            </a:r>
            <a:r>
              <a:rPr lang="en-US" dirty="0">
                <a:solidFill>
                  <a:srgbClr val="002060"/>
                </a:solidFill>
                <a:latin typeface="Georgia"/>
                <a:cs typeface="Georgia"/>
              </a:rPr>
              <a:t>out </a:t>
            </a:r>
            <a:r>
              <a:rPr lang="en-US" spc="-20" dirty="0">
                <a:solidFill>
                  <a:srgbClr val="002060"/>
                </a:solidFill>
                <a:latin typeface="Georgia"/>
                <a:cs typeface="Georgia"/>
              </a:rPr>
              <a:t>of </a:t>
            </a:r>
            <a:r>
              <a:rPr lang="en-US" spc="-50" dirty="0">
                <a:solidFill>
                  <a:srgbClr val="002060"/>
                </a:solidFill>
                <a:latin typeface="Georgia"/>
                <a:cs typeface="Georgia"/>
              </a:rPr>
              <a:t>resources, </a:t>
            </a:r>
            <a:r>
              <a:rPr lang="en-US" spc="-5" dirty="0">
                <a:solidFill>
                  <a:srgbClr val="002060"/>
                </a:solidFill>
                <a:latin typeface="Georgia"/>
                <a:cs typeface="Georgia"/>
              </a:rPr>
              <a:t>the </a:t>
            </a:r>
            <a:r>
              <a:rPr lang="en-US" spc="-25" dirty="0">
                <a:solidFill>
                  <a:srgbClr val="002060"/>
                </a:solidFill>
                <a:latin typeface="Georgia"/>
                <a:cs typeface="Georgia"/>
              </a:rPr>
              <a:t>project</a:t>
            </a:r>
            <a:r>
              <a:rPr lang="en-US" spc="-470" dirty="0">
                <a:solidFill>
                  <a:srgbClr val="002060"/>
                </a:solidFill>
                <a:latin typeface="Georgia"/>
                <a:cs typeface="Georgia"/>
              </a:rPr>
              <a:t> </a:t>
            </a:r>
            <a:r>
              <a:rPr lang="en-US" spc="-15" dirty="0">
                <a:solidFill>
                  <a:srgbClr val="002060"/>
                </a:solidFill>
                <a:latin typeface="Georgia"/>
                <a:cs typeface="Georgia"/>
              </a:rPr>
              <a:t>cannot </a:t>
            </a:r>
            <a:r>
              <a:rPr lang="en-US" spc="-210" dirty="0">
                <a:solidFill>
                  <a:srgbClr val="002060"/>
                </a:solidFill>
                <a:latin typeface="Georgia"/>
                <a:cs typeface="Georgia"/>
              </a:rPr>
              <a:t>be  </a:t>
            </a:r>
            <a:r>
              <a:rPr lang="en-US" spc="-20" dirty="0">
                <a:solidFill>
                  <a:srgbClr val="002060"/>
                </a:solidFill>
                <a:latin typeface="Georgia"/>
                <a:cs typeface="Georgia"/>
              </a:rPr>
              <a:t>completed.</a:t>
            </a:r>
          </a:p>
          <a:p>
            <a:pPr marL="457200" lvl="1" indent="0">
              <a:buNone/>
            </a:pPr>
            <a:endParaRPr lang="en-US" dirty="0">
              <a:latin typeface="Arial" panose="020B0604020202020204" pitchFamily="34" charset="0"/>
              <a:cs typeface="Arial" panose="020B0604020202020204" pitchFamily="34" charset="0"/>
            </a:endParaRPr>
          </a:p>
          <a:p>
            <a:pPr marL="457200" lvl="1" indent="0">
              <a:buNone/>
            </a:pPr>
            <a:endParaRPr lang="en-US" spc="-40" dirty="0">
              <a:solidFill>
                <a:schemeClr val="tx2">
                  <a:lumMod val="75000"/>
                </a:schemeClr>
              </a:solidFill>
              <a:latin typeface="Georgia"/>
              <a:cs typeface="Georgia"/>
            </a:endParaRPr>
          </a:p>
        </p:txBody>
      </p:sp>
      <p:sp>
        <p:nvSpPr>
          <p:cNvPr id="4" name="Footer Placeholder 3"/>
          <p:cNvSpPr>
            <a:spLocks noGrp="1"/>
          </p:cNvSpPr>
          <p:nvPr>
            <p:ph type="ftr" sz="quarter" idx="11"/>
          </p:nvPr>
        </p:nvSpPr>
        <p:spPr>
          <a:xfrm>
            <a:off x="838200" y="6356350"/>
            <a:ext cx="10957560" cy="365125"/>
          </a:xfrm>
        </p:spPr>
        <p:txBody>
          <a:bodyPr/>
          <a:lstStyle/>
          <a:p>
            <a:r>
              <a:rPr lang="en-IN"/>
              <a:t>Software Project Failures                                  Software Engineering                              vasavi / CSBS</a:t>
            </a:r>
            <a:endParaRPr lang="en-US" dirty="0"/>
          </a:p>
        </p:txBody>
      </p:sp>
    </p:spTree>
    <p:extLst>
      <p:ext uri="{BB962C8B-B14F-4D97-AF65-F5344CB8AC3E}">
        <p14:creationId xmlns:p14="http://schemas.microsoft.com/office/powerpoint/2010/main" val="2089615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2800" b="1" dirty="0">
                <a:solidFill>
                  <a:schemeClr val="accent1">
                    <a:lumMod val="50000"/>
                  </a:schemeClr>
                </a:solidFill>
                <a:latin typeface="Arial" panose="020B0604020202020204" pitchFamily="34" charset="0"/>
                <a:cs typeface="Arial" panose="020B0604020202020204" pitchFamily="34" charset="0"/>
              </a:rPr>
              <a:t>Software Project Failures</a:t>
            </a:r>
          </a:p>
        </p:txBody>
      </p:sp>
      <p:sp>
        <p:nvSpPr>
          <p:cNvPr id="5" name="Content Placeholder 4"/>
          <p:cNvSpPr>
            <a:spLocks noGrp="1"/>
          </p:cNvSpPr>
          <p:nvPr>
            <p:ph idx="1"/>
          </p:nvPr>
        </p:nvSpPr>
        <p:spPr>
          <a:xfrm>
            <a:off x="838200" y="1343308"/>
            <a:ext cx="10515600" cy="4351338"/>
          </a:xfrm>
        </p:spPr>
        <p:txBody>
          <a:bodyPr/>
          <a:lstStyle/>
          <a:p>
            <a:pPr marL="0" indent="0">
              <a:buNone/>
            </a:pPr>
            <a:r>
              <a:rPr lang="en-US" dirty="0">
                <a:solidFill>
                  <a:schemeClr val="accent1">
                    <a:lumMod val="50000"/>
                  </a:schemeClr>
                </a:solidFill>
              </a:rPr>
              <a:t>      </a:t>
            </a:r>
            <a:r>
              <a:rPr lang="en-US" sz="2400" b="1" dirty="0">
                <a:solidFill>
                  <a:srgbClr val="FFC000"/>
                </a:solidFill>
                <a:latin typeface="Arial" panose="020B0604020202020204" pitchFamily="34" charset="0"/>
                <a:cs typeface="Arial" panose="020B0604020202020204" pitchFamily="34" charset="0"/>
              </a:rPr>
              <a:t>Lack of </a:t>
            </a:r>
            <a:r>
              <a:rPr lang="en-US" sz="2400" b="1" spc="-10" dirty="0">
                <a:solidFill>
                  <a:srgbClr val="FFC000"/>
                </a:solidFill>
                <a:latin typeface="Arial" panose="020B0604020202020204" pitchFamily="34" charset="0"/>
                <a:cs typeface="Arial" panose="020B0604020202020204" pitchFamily="34" charset="0"/>
              </a:rPr>
              <a:t>communication </a:t>
            </a:r>
            <a:r>
              <a:rPr lang="en-US" sz="2400" b="1" spc="-15" dirty="0">
                <a:solidFill>
                  <a:srgbClr val="FFC000"/>
                </a:solidFill>
                <a:latin typeface="Arial" panose="020B0604020202020204" pitchFamily="34" charset="0"/>
                <a:cs typeface="Arial" panose="020B0604020202020204" pitchFamily="34" charset="0"/>
              </a:rPr>
              <a:t>at </a:t>
            </a:r>
            <a:r>
              <a:rPr lang="en-US" sz="2400" b="1" spc="-20" dirty="0">
                <a:solidFill>
                  <a:srgbClr val="FFC000"/>
                </a:solidFill>
                <a:latin typeface="Arial" panose="020B0604020202020204" pitchFamily="34" charset="0"/>
                <a:cs typeface="Arial" panose="020B0604020202020204" pitchFamily="34" charset="0"/>
              </a:rPr>
              <a:t>any</a:t>
            </a:r>
            <a:r>
              <a:rPr lang="en-US" sz="2400" b="1" spc="-75" dirty="0">
                <a:solidFill>
                  <a:srgbClr val="FFC000"/>
                </a:solidFill>
                <a:latin typeface="Arial" panose="020B0604020202020204" pitchFamily="34" charset="0"/>
                <a:cs typeface="Arial" panose="020B0604020202020204" pitchFamily="34" charset="0"/>
              </a:rPr>
              <a:t> </a:t>
            </a:r>
            <a:r>
              <a:rPr lang="en-US" sz="2400" b="1" spc="-15" dirty="0">
                <a:solidFill>
                  <a:srgbClr val="FFC000"/>
                </a:solidFill>
                <a:latin typeface="Arial" panose="020B0604020202020204" pitchFamily="34" charset="0"/>
                <a:cs typeface="Arial" panose="020B0604020202020204" pitchFamily="34" charset="0"/>
              </a:rPr>
              <a:t>level</a:t>
            </a:r>
          </a:p>
          <a:p>
            <a:pPr lvl="1">
              <a:buFont typeface="Wingdings" panose="05000000000000000000" pitchFamily="2" charset="2"/>
              <a:buChar char="§"/>
            </a:pPr>
            <a:r>
              <a:rPr lang="en-US" spc="-15" dirty="0">
                <a:solidFill>
                  <a:schemeClr val="accent1">
                    <a:lumMod val="50000"/>
                  </a:schemeClr>
                </a:solidFill>
                <a:latin typeface="Arial" panose="020B0604020202020204" pitchFamily="34" charset="0"/>
                <a:cs typeface="Arial" panose="020B0604020202020204" pitchFamily="34" charset="0"/>
              </a:rPr>
              <a:t>Communication between </a:t>
            </a:r>
            <a:r>
              <a:rPr lang="en-US" spc="-5" dirty="0">
                <a:solidFill>
                  <a:schemeClr val="accent1">
                    <a:lumMod val="50000"/>
                  </a:schemeClr>
                </a:solidFill>
                <a:latin typeface="Arial" panose="020B0604020202020204" pitchFamily="34" charset="0"/>
                <a:cs typeface="Arial" panose="020B0604020202020204" pitchFamily="34" charset="0"/>
              </a:rPr>
              <a:t>the </a:t>
            </a:r>
            <a:r>
              <a:rPr lang="en-US" spc="-35" dirty="0">
                <a:solidFill>
                  <a:schemeClr val="accent1">
                    <a:lumMod val="50000"/>
                  </a:schemeClr>
                </a:solidFill>
                <a:latin typeface="Arial" panose="020B0604020202020204" pitchFamily="34" charset="0"/>
                <a:cs typeface="Arial" panose="020B0604020202020204" pitchFamily="34" charset="0"/>
              </a:rPr>
              <a:t>management</a:t>
            </a:r>
            <a:r>
              <a:rPr lang="en-US" spc="-215" dirty="0">
                <a:solidFill>
                  <a:schemeClr val="accent1">
                    <a:lumMod val="50000"/>
                  </a:schemeClr>
                </a:solidFill>
                <a:latin typeface="Arial" panose="020B0604020202020204" pitchFamily="34" charset="0"/>
                <a:cs typeface="Arial" panose="020B0604020202020204" pitchFamily="34" charset="0"/>
              </a:rPr>
              <a:t> </a:t>
            </a:r>
            <a:r>
              <a:rPr lang="en-US" spc="-75" dirty="0">
                <a:solidFill>
                  <a:schemeClr val="accent1">
                    <a:lumMod val="50000"/>
                  </a:schemeClr>
                </a:solidFill>
                <a:latin typeface="Arial" panose="020B0604020202020204" pitchFamily="34" charset="0"/>
                <a:cs typeface="Arial" panose="020B0604020202020204" pitchFamily="34" charset="0"/>
              </a:rPr>
              <a:t>executive client  </a:t>
            </a:r>
            <a:r>
              <a:rPr lang="en-US" spc="-35" dirty="0">
                <a:solidFill>
                  <a:schemeClr val="accent1">
                    <a:lumMod val="50000"/>
                  </a:schemeClr>
                </a:solidFill>
                <a:latin typeface="Arial" panose="020B0604020202020204" pitchFamily="34" charset="0"/>
                <a:cs typeface="Arial" panose="020B0604020202020204" pitchFamily="34" charset="0"/>
              </a:rPr>
              <a:t>and </a:t>
            </a:r>
            <a:r>
              <a:rPr lang="en-US" spc="-5" dirty="0">
                <a:solidFill>
                  <a:schemeClr val="accent1">
                    <a:lumMod val="50000"/>
                  </a:schemeClr>
                </a:solidFill>
                <a:latin typeface="Arial" panose="020B0604020202020204" pitchFamily="34" charset="0"/>
                <a:cs typeface="Arial" panose="020B0604020202020204" pitchFamily="34" charset="0"/>
              </a:rPr>
              <a:t>the </a:t>
            </a:r>
            <a:r>
              <a:rPr lang="en-US" spc="-25" dirty="0">
                <a:solidFill>
                  <a:schemeClr val="accent1">
                    <a:lumMod val="50000"/>
                  </a:schemeClr>
                </a:solidFill>
                <a:latin typeface="Arial" panose="020B0604020202020204" pitchFamily="34" charset="0"/>
                <a:cs typeface="Arial" panose="020B0604020202020204" pitchFamily="34" charset="0"/>
              </a:rPr>
              <a:t>project </a:t>
            </a:r>
            <a:r>
              <a:rPr lang="en-US" spc="-75" dirty="0">
                <a:solidFill>
                  <a:schemeClr val="accent1">
                    <a:lumMod val="50000"/>
                  </a:schemeClr>
                </a:solidFill>
                <a:latin typeface="Arial" panose="020B0604020202020204" pitchFamily="34" charset="0"/>
                <a:cs typeface="Arial" panose="020B0604020202020204" pitchFamily="34" charset="0"/>
              </a:rPr>
              <a:t>manager.</a:t>
            </a:r>
          </a:p>
          <a:p>
            <a:pPr lvl="1">
              <a:buFont typeface="Wingdings" panose="05000000000000000000" pitchFamily="2" charset="2"/>
              <a:buChar char="§"/>
            </a:pPr>
            <a:r>
              <a:rPr lang="en-US" spc="-20" dirty="0">
                <a:solidFill>
                  <a:schemeClr val="accent1">
                    <a:lumMod val="50000"/>
                  </a:schemeClr>
                </a:solidFill>
                <a:latin typeface="Arial" panose="020B0604020202020204" pitchFamily="34" charset="0"/>
                <a:cs typeface="Arial" panose="020B0604020202020204" pitchFamily="34" charset="0"/>
              </a:rPr>
              <a:t>between </a:t>
            </a:r>
            <a:r>
              <a:rPr lang="en-US" spc="-5" dirty="0">
                <a:solidFill>
                  <a:schemeClr val="accent1">
                    <a:lumMod val="50000"/>
                  </a:schemeClr>
                </a:solidFill>
                <a:latin typeface="Arial" panose="020B0604020202020204" pitchFamily="34" charset="0"/>
                <a:cs typeface="Arial" panose="020B0604020202020204" pitchFamily="34" charset="0"/>
              </a:rPr>
              <a:t>the </a:t>
            </a:r>
            <a:r>
              <a:rPr lang="en-US" spc="-30" dirty="0">
                <a:solidFill>
                  <a:schemeClr val="accent1">
                    <a:lumMod val="50000"/>
                  </a:schemeClr>
                </a:solidFill>
                <a:latin typeface="Arial" panose="020B0604020202020204" pitchFamily="34" charset="0"/>
                <a:cs typeface="Arial" panose="020B0604020202020204" pitchFamily="34" charset="0"/>
              </a:rPr>
              <a:t>team  </a:t>
            </a:r>
            <a:r>
              <a:rPr lang="en-US" spc="-35" dirty="0">
                <a:solidFill>
                  <a:schemeClr val="accent1">
                    <a:lumMod val="50000"/>
                  </a:schemeClr>
                </a:solidFill>
                <a:latin typeface="Arial" panose="020B0604020202020204" pitchFamily="34" charset="0"/>
                <a:cs typeface="Arial" panose="020B0604020202020204" pitchFamily="34" charset="0"/>
              </a:rPr>
              <a:t>members </a:t>
            </a:r>
            <a:r>
              <a:rPr lang="en-US" spc="-60" dirty="0">
                <a:solidFill>
                  <a:schemeClr val="accent1">
                    <a:lumMod val="50000"/>
                  </a:schemeClr>
                </a:solidFill>
                <a:latin typeface="Arial" panose="020B0604020202020204" pitchFamily="34" charset="0"/>
                <a:cs typeface="Arial" panose="020B0604020202020204" pitchFamily="34" charset="0"/>
              </a:rPr>
              <a:t>are </a:t>
            </a:r>
            <a:r>
              <a:rPr lang="en-US" spc="-65" dirty="0">
                <a:solidFill>
                  <a:schemeClr val="accent1">
                    <a:lumMod val="50000"/>
                  </a:schemeClr>
                </a:solidFill>
                <a:latin typeface="Arial" panose="020B0604020202020204" pitchFamily="34" charset="0"/>
                <a:cs typeface="Arial" panose="020B0604020202020204" pitchFamily="34" charset="0"/>
              </a:rPr>
              <a:t>always </a:t>
            </a:r>
            <a:r>
              <a:rPr lang="en-US" spc="-25" dirty="0">
                <a:solidFill>
                  <a:schemeClr val="accent1">
                    <a:lumMod val="50000"/>
                  </a:schemeClr>
                </a:solidFill>
                <a:latin typeface="Arial" panose="020B0604020202020204" pitchFamily="34" charset="0"/>
                <a:cs typeface="Arial" panose="020B0604020202020204" pitchFamily="34" charset="0"/>
              </a:rPr>
              <a:t>important.</a:t>
            </a:r>
          </a:p>
          <a:p>
            <a:pPr marL="457200" lvl="1" indent="0">
              <a:buNone/>
            </a:pPr>
            <a:r>
              <a:rPr lang="en-US" b="1" spc="-5" dirty="0">
                <a:solidFill>
                  <a:srgbClr val="FFC000"/>
                </a:solidFill>
                <a:latin typeface="Arial" panose="020B0604020202020204" pitchFamily="34" charset="0"/>
                <a:cs typeface="Arial" panose="020B0604020202020204" pitchFamily="34" charset="0"/>
              </a:rPr>
              <a:t>Competing</a:t>
            </a:r>
            <a:r>
              <a:rPr lang="en-US" b="1" spc="-55" dirty="0">
                <a:solidFill>
                  <a:srgbClr val="FFC000"/>
                </a:solidFill>
                <a:latin typeface="Arial" panose="020B0604020202020204" pitchFamily="34" charset="0"/>
                <a:cs typeface="Arial" panose="020B0604020202020204" pitchFamily="34" charset="0"/>
              </a:rPr>
              <a:t> </a:t>
            </a:r>
            <a:r>
              <a:rPr lang="en-US" b="1" spc="-5" dirty="0">
                <a:solidFill>
                  <a:srgbClr val="FFC000"/>
                </a:solidFill>
                <a:latin typeface="Arial" panose="020B0604020202020204" pitchFamily="34" charset="0"/>
                <a:cs typeface="Arial" panose="020B0604020202020204" pitchFamily="34" charset="0"/>
              </a:rPr>
              <a:t>resources </a:t>
            </a:r>
          </a:p>
          <a:p>
            <a:pPr marL="457200" lvl="1" indent="0">
              <a:buNone/>
            </a:pPr>
            <a:r>
              <a:rPr lang="en-US" spc="-25" dirty="0">
                <a:solidFill>
                  <a:schemeClr val="accent1">
                    <a:lumMod val="50000"/>
                  </a:schemeClr>
                </a:solidFill>
                <a:latin typeface="Arial" panose="020B0604020202020204" pitchFamily="34" charset="0"/>
                <a:cs typeface="Arial" panose="020B0604020202020204" pitchFamily="34" charset="0"/>
              </a:rPr>
              <a:t>there </a:t>
            </a:r>
            <a:r>
              <a:rPr lang="en-US" spc="-20" dirty="0">
                <a:solidFill>
                  <a:schemeClr val="accent1">
                    <a:lumMod val="50000"/>
                  </a:schemeClr>
                </a:solidFill>
                <a:latin typeface="Arial" panose="020B0604020202020204" pitchFamily="34" charset="0"/>
                <a:cs typeface="Arial" panose="020B0604020202020204" pitchFamily="34" charset="0"/>
              </a:rPr>
              <a:t>will  </a:t>
            </a:r>
            <a:r>
              <a:rPr lang="en-US" spc="-10" dirty="0">
                <a:solidFill>
                  <a:schemeClr val="accent1">
                    <a:lumMod val="50000"/>
                  </a:schemeClr>
                </a:solidFill>
                <a:latin typeface="Arial" panose="020B0604020202020204" pitchFamily="34" charset="0"/>
                <a:cs typeface="Arial" panose="020B0604020202020204" pitchFamily="34" charset="0"/>
              </a:rPr>
              <a:t>be </a:t>
            </a:r>
            <a:r>
              <a:rPr lang="en-US" spc="-15" dirty="0">
                <a:solidFill>
                  <a:schemeClr val="accent1">
                    <a:lumMod val="50000"/>
                  </a:schemeClr>
                </a:solidFill>
                <a:latin typeface="Arial" panose="020B0604020202020204" pitchFamily="34" charset="0"/>
                <a:cs typeface="Arial" panose="020B0604020202020204" pitchFamily="34" charset="0"/>
              </a:rPr>
              <a:t>competing </a:t>
            </a:r>
            <a:r>
              <a:rPr lang="en-US" spc="-35" dirty="0">
                <a:solidFill>
                  <a:schemeClr val="accent1">
                    <a:lumMod val="50000"/>
                  </a:schemeClr>
                </a:solidFill>
                <a:latin typeface="Arial" panose="020B0604020202020204" pitchFamily="34" charset="0"/>
                <a:cs typeface="Arial" panose="020B0604020202020204" pitchFamily="34" charset="0"/>
              </a:rPr>
              <a:t>priorities </a:t>
            </a:r>
            <a:r>
              <a:rPr lang="en-US" spc="-25" dirty="0">
                <a:solidFill>
                  <a:schemeClr val="accent1">
                    <a:lumMod val="50000"/>
                  </a:schemeClr>
                </a:solidFill>
                <a:latin typeface="Arial" panose="020B0604020202020204" pitchFamily="34" charset="0"/>
                <a:cs typeface="Arial" panose="020B0604020202020204" pitchFamily="34" charset="0"/>
              </a:rPr>
              <a:t>in </a:t>
            </a:r>
            <a:r>
              <a:rPr lang="en-US" spc="-40" dirty="0">
                <a:solidFill>
                  <a:schemeClr val="accent1">
                    <a:lumMod val="50000"/>
                  </a:schemeClr>
                </a:solidFill>
                <a:latin typeface="Arial" panose="020B0604020202020204" pitchFamily="34" charset="0"/>
                <a:cs typeface="Arial" panose="020B0604020202020204" pitchFamily="34" charset="0"/>
              </a:rPr>
              <a:t>terms </a:t>
            </a:r>
            <a:r>
              <a:rPr lang="en-US" spc="-20" dirty="0">
                <a:solidFill>
                  <a:schemeClr val="accent1">
                    <a:lumMod val="50000"/>
                  </a:schemeClr>
                </a:solidFill>
                <a:latin typeface="Arial" panose="020B0604020202020204" pitchFamily="34" charset="0"/>
                <a:cs typeface="Arial" panose="020B0604020202020204" pitchFamily="34" charset="0"/>
              </a:rPr>
              <a:t>of </a:t>
            </a:r>
            <a:r>
              <a:rPr lang="en-US" spc="-50" dirty="0">
                <a:solidFill>
                  <a:schemeClr val="accent1">
                    <a:lumMod val="50000"/>
                  </a:schemeClr>
                </a:solidFill>
                <a:latin typeface="Arial" panose="020B0604020202020204" pitchFamily="34" charset="0"/>
                <a:cs typeface="Arial" panose="020B0604020202020204" pitchFamily="34" charset="0"/>
              </a:rPr>
              <a:t>manpower </a:t>
            </a:r>
            <a:r>
              <a:rPr lang="en-US" spc="-35" dirty="0">
                <a:solidFill>
                  <a:schemeClr val="accent1">
                    <a:lumMod val="50000"/>
                  </a:schemeClr>
                </a:solidFill>
                <a:latin typeface="Arial" panose="020B0604020202020204" pitchFamily="34" charset="0"/>
                <a:cs typeface="Arial" panose="020B0604020202020204" pitchFamily="34" charset="0"/>
              </a:rPr>
              <a:t>and  </a:t>
            </a:r>
            <a:r>
              <a:rPr lang="en-US" spc="-30" dirty="0">
                <a:solidFill>
                  <a:schemeClr val="accent1">
                    <a:lumMod val="50000"/>
                  </a:schemeClr>
                </a:solidFill>
                <a:latin typeface="Arial" panose="020B0604020202020204" pitchFamily="34" charset="0"/>
                <a:cs typeface="Arial" panose="020B0604020202020204" pitchFamily="34" charset="0"/>
              </a:rPr>
              <a:t>financing. </a:t>
            </a:r>
            <a:r>
              <a:rPr lang="en-US" spc="-50" dirty="0">
                <a:solidFill>
                  <a:schemeClr val="accent1">
                    <a:lumMod val="50000"/>
                  </a:schemeClr>
                </a:solidFill>
                <a:latin typeface="Arial" panose="020B0604020202020204" pitchFamily="34" charset="0"/>
                <a:cs typeface="Arial" panose="020B0604020202020204" pitchFamily="34" charset="0"/>
              </a:rPr>
              <a:t>Having </a:t>
            </a:r>
            <a:r>
              <a:rPr lang="en-US" spc="-25" dirty="0">
                <a:solidFill>
                  <a:schemeClr val="accent1">
                    <a:lumMod val="50000"/>
                  </a:schemeClr>
                </a:solidFill>
                <a:latin typeface="Arial" panose="020B0604020202020204" pitchFamily="34" charset="0"/>
                <a:cs typeface="Arial" panose="020B0604020202020204" pitchFamily="34" charset="0"/>
              </a:rPr>
              <a:t>good </a:t>
            </a:r>
            <a:r>
              <a:rPr lang="en-US" spc="-20" dirty="0">
                <a:solidFill>
                  <a:schemeClr val="accent1">
                    <a:lumMod val="50000"/>
                  </a:schemeClr>
                </a:solidFill>
                <a:latin typeface="Arial" panose="020B0604020202020204" pitchFamily="34" charset="0"/>
                <a:cs typeface="Arial" panose="020B0604020202020204" pitchFamily="34" charset="0"/>
              </a:rPr>
              <a:t>cost </a:t>
            </a:r>
            <a:r>
              <a:rPr lang="en-US" spc="-25" dirty="0">
                <a:solidFill>
                  <a:schemeClr val="accent1">
                    <a:lumMod val="50000"/>
                  </a:schemeClr>
                </a:solidFill>
                <a:latin typeface="Arial" panose="020B0604020202020204" pitchFamily="34" charset="0"/>
                <a:cs typeface="Arial" panose="020B0604020202020204" pitchFamily="34" charset="0"/>
              </a:rPr>
              <a:t>estimation </a:t>
            </a:r>
            <a:r>
              <a:rPr lang="en-US" spc="-20" dirty="0">
                <a:solidFill>
                  <a:schemeClr val="accent1">
                    <a:lumMod val="50000"/>
                  </a:schemeClr>
                </a:solidFill>
                <a:latin typeface="Arial" panose="020B0604020202020204" pitchFamily="34" charset="0"/>
                <a:cs typeface="Arial" panose="020B0604020202020204" pitchFamily="34" charset="0"/>
              </a:rPr>
              <a:t>at </a:t>
            </a:r>
            <a:r>
              <a:rPr lang="en-US" spc="-5" dirty="0">
                <a:solidFill>
                  <a:schemeClr val="accent1">
                    <a:lumMod val="50000"/>
                  </a:schemeClr>
                </a:solidFill>
                <a:latin typeface="Arial" panose="020B0604020202020204" pitchFamily="34" charset="0"/>
                <a:cs typeface="Arial" panose="020B0604020202020204" pitchFamily="34" charset="0"/>
              </a:rPr>
              <a:t>the </a:t>
            </a:r>
            <a:r>
              <a:rPr lang="en-US" spc="-35" dirty="0">
                <a:solidFill>
                  <a:schemeClr val="accent1">
                    <a:lumMod val="50000"/>
                  </a:schemeClr>
                </a:solidFill>
                <a:latin typeface="Arial" panose="020B0604020202020204" pitchFamily="34" charset="0"/>
                <a:cs typeface="Arial" panose="020B0604020202020204" pitchFamily="34" charset="0"/>
              </a:rPr>
              <a:t>start</a:t>
            </a:r>
            <a:r>
              <a:rPr lang="en-US" spc="-365" dirty="0">
                <a:solidFill>
                  <a:schemeClr val="accent1">
                    <a:lumMod val="50000"/>
                  </a:schemeClr>
                </a:solidFill>
                <a:latin typeface="Arial" panose="020B0604020202020204" pitchFamily="34" charset="0"/>
                <a:cs typeface="Arial" panose="020B0604020202020204" pitchFamily="34" charset="0"/>
              </a:rPr>
              <a:t> </a:t>
            </a:r>
            <a:r>
              <a:rPr lang="en-US" spc="-20" dirty="0">
                <a:solidFill>
                  <a:schemeClr val="accent1">
                    <a:lumMod val="50000"/>
                  </a:schemeClr>
                </a:solidFill>
                <a:latin typeface="Arial" panose="020B0604020202020204" pitchFamily="34" charset="0"/>
                <a:cs typeface="Arial" panose="020B0604020202020204" pitchFamily="34" charset="0"/>
              </a:rPr>
              <a:t>will  </a:t>
            </a:r>
            <a:r>
              <a:rPr lang="en-US" spc="-25" dirty="0">
                <a:solidFill>
                  <a:schemeClr val="accent1">
                    <a:lumMod val="50000"/>
                  </a:schemeClr>
                </a:solidFill>
                <a:latin typeface="Arial" panose="020B0604020202020204" pitchFamily="34" charset="0"/>
                <a:cs typeface="Arial" panose="020B0604020202020204" pitchFamily="34" charset="0"/>
              </a:rPr>
              <a:t>eliminate this</a:t>
            </a:r>
            <a:r>
              <a:rPr lang="en-US" spc="-135" dirty="0">
                <a:solidFill>
                  <a:schemeClr val="accent1">
                    <a:lumMod val="50000"/>
                  </a:schemeClr>
                </a:solidFill>
                <a:latin typeface="Arial" panose="020B0604020202020204" pitchFamily="34" charset="0"/>
                <a:cs typeface="Arial" panose="020B0604020202020204" pitchFamily="34" charset="0"/>
              </a:rPr>
              <a:t> </a:t>
            </a:r>
            <a:r>
              <a:rPr lang="en-US" spc="-30" dirty="0">
                <a:solidFill>
                  <a:schemeClr val="accent1">
                    <a:lumMod val="50000"/>
                  </a:schemeClr>
                </a:solidFill>
                <a:latin typeface="Arial" panose="020B0604020202020204" pitchFamily="34" charset="0"/>
                <a:cs typeface="Arial" panose="020B0604020202020204" pitchFamily="34" charset="0"/>
              </a:rPr>
              <a:t>problem.</a:t>
            </a:r>
          </a:p>
        </p:txBody>
      </p:sp>
      <p:pic>
        <p:nvPicPr>
          <p:cNvPr id="7" name="Picture 6"/>
          <p:cNvPicPr>
            <a:picLocks noChangeAspect="1"/>
          </p:cNvPicPr>
          <p:nvPr/>
        </p:nvPicPr>
        <p:blipFill>
          <a:blip r:embed="rId2"/>
          <a:stretch>
            <a:fillRect/>
          </a:stretch>
        </p:blipFill>
        <p:spPr>
          <a:xfrm>
            <a:off x="9383151" y="5113406"/>
            <a:ext cx="1850906" cy="1242944"/>
          </a:xfrm>
          <a:prstGeom prst="rect">
            <a:avLst/>
          </a:prstGeom>
        </p:spPr>
      </p:pic>
      <p:sp>
        <p:nvSpPr>
          <p:cNvPr id="2" name="Footer Placeholder 1"/>
          <p:cNvSpPr>
            <a:spLocks noGrp="1"/>
          </p:cNvSpPr>
          <p:nvPr>
            <p:ph type="ftr" sz="quarter" idx="11"/>
          </p:nvPr>
        </p:nvSpPr>
        <p:spPr>
          <a:xfrm>
            <a:off x="1384663" y="6356350"/>
            <a:ext cx="7641771" cy="365125"/>
          </a:xfrm>
        </p:spPr>
        <p:txBody>
          <a:bodyPr/>
          <a:lstStyle/>
          <a:p>
            <a:r>
              <a:rPr lang="en-IN"/>
              <a:t>Software Project Failures                                  Software Engineering                              vasavi / CSBS</a:t>
            </a:r>
            <a:endParaRPr lang="en-US"/>
          </a:p>
        </p:txBody>
      </p:sp>
    </p:spTree>
    <p:extLst>
      <p:ext uri="{BB962C8B-B14F-4D97-AF65-F5344CB8AC3E}">
        <p14:creationId xmlns:p14="http://schemas.microsoft.com/office/powerpoint/2010/main" val="2884169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9544"/>
            <a:ext cx="10515600" cy="5117419"/>
          </a:xfrm>
        </p:spPr>
        <p:txBody>
          <a:bodyPr/>
          <a:lstStyle/>
          <a:p>
            <a:pPr>
              <a:buFont typeface="Wingdings" panose="05000000000000000000" pitchFamily="2" charset="2"/>
              <a:buChar char="q"/>
            </a:pPr>
            <a:r>
              <a:rPr lang="en-US" b="1" spc="-5" dirty="0">
                <a:solidFill>
                  <a:srgbClr val="00B050"/>
                </a:solidFill>
                <a:cs typeface="Arial" panose="020B0604020202020204" pitchFamily="34" charset="0"/>
              </a:rPr>
              <a:t>Custom</a:t>
            </a:r>
            <a:r>
              <a:rPr lang="en-US" b="1" spc="65" dirty="0">
                <a:solidFill>
                  <a:srgbClr val="00B050"/>
                </a:solidFill>
                <a:cs typeface="Arial" panose="020B0604020202020204" pitchFamily="34" charset="0"/>
              </a:rPr>
              <a:t> </a:t>
            </a:r>
            <a:r>
              <a:rPr lang="en-US" b="1" spc="-5" dirty="0">
                <a:solidFill>
                  <a:srgbClr val="00B050"/>
                </a:solidFill>
                <a:cs typeface="Arial" panose="020B0604020202020204" pitchFamily="34" charset="0"/>
              </a:rPr>
              <a:t>built</a:t>
            </a:r>
          </a:p>
          <a:p>
            <a:pPr>
              <a:buFont typeface="Wingdings" panose="05000000000000000000" pitchFamily="2" charset="2"/>
              <a:buChar char="q"/>
            </a:pPr>
            <a:r>
              <a:rPr lang="en-US" b="1" dirty="0">
                <a:solidFill>
                  <a:srgbClr val="00B050"/>
                </a:solidFill>
                <a:cs typeface="Arial" panose="020B0604020202020204" pitchFamily="34" charset="0"/>
              </a:rPr>
              <a:t>   Software engineering</a:t>
            </a:r>
            <a:r>
              <a:rPr lang="en-US" b="1" spc="-100" dirty="0">
                <a:solidFill>
                  <a:srgbClr val="00B050"/>
                </a:solidFill>
                <a:cs typeface="Arial" panose="020B0604020202020204" pitchFamily="34" charset="0"/>
              </a:rPr>
              <a:t> a </a:t>
            </a:r>
            <a:r>
              <a:rPr lang="en-US" b="1" spc="-5" dirty="0">
                <a:solidFill>
                  <a:srgbClr val="00B050"/>
                </a:solidFill>
                <a:cs typeface="Arial" panose="020B0604020202020204" pitchFamily="34" charset="0"/>
              </a:rPr>
              <a:t>layered architecture</a:t>
            </a:r>
          </a:p>
          <a:p>
            <a:pPr>
              <a:buFont typeface="Wingdings" panose="05000000000000000000" pitchFamily="2" charset="2"/>
              <a:buChar char="q"/>
            </a:pPr>
            <a:r>
              <a:rPr lang="en-US" b="1" dirty="0">
                <a:solidFill>
                  <a:srgbClr val="00B050"/>
                </a:solidFill>
              </a:rPr>
              <a:t>    The changing nature of software</a:t>
            </a:r>
          </a:p>
          <a:p>
            <a:pPr>
              <a:buFont typeface="Wingdings" panose="05000000000000000000" pitchFamily="2" charset="2"/>
              <a:buChar char="q"/>
            </a:pPr>
            <a:r>
              <a:rPr lang="en-US" b="1" dirty="0">
                <a:solidFill>
                  <a:srgbClr val="00B050"/>
                </a:solidFill>
                <a:cs typeface="Arial" panose="020B0604020202020204" pitchFamily="34" charset="0"/>
              </a:rPr>
              <a:t>   Programming in large vs small</a:t>
            </a:r>
          </a:p>
          <a:p>
            <a:pPr>
              <a:buFont typeface="Wingdings" panose="05000000000000000000" pitchFamily="2" charset="2"/>
              <a:buChar char="q"/>
            </a:pPr>
            <a:r>
              <a:rPr lang="en-US" b="1" dirty="0">
                <a:solidFill>
                  <a:srgbClr val="7030A0"/>
                </a:solidFill>
                <a:cs typeface="Arial" panose="020B0604020202020204" pitchFamily="34" charset="0"/>
              </a:rPr>
              <a:t>   </a:t>
            </a:r>
            <a:r>
              <a:rPr lang="en-US" b="1" dirty="0">
                <a:solidFill>
                  <a:srgbClr val="00B050"/>
                </a:solidFill>
                <a:ea typeface="Arial"/>
                <a:cs typeface="Arial"/>
                <a:sym typeface="Arial"/>
              </a:rPr>
              <a:t>Software failures</a:t>
            </a:r>
            <a:endParaRPr lang="en-US" dirty="0">
              <a:solidFill>
                <a:srgbClr val="00B050"/>
              </a:solidFill>
              <a:ea typeface="Arial"/>
              <a:cs typeface="Arial"/>
              <a:sym typeface="Arial"/>
            </a:endParaRPr>
          </a:p>
          <a:p>
            <a:r>
              <a:rPr lang="en-US" dirty="0" err="1"/>
              <a:t>Def</a:t>
            </a:r>
            <a:r>
              <a:rPr lang="en-US" dirty="0"/>
              <a:t> of process models</a:t>
            </a:r>
          </a:p>
          <a:p>
            <a:r>
              <a:rPr lang="en-US" dirty="0"/>
              <a:t>How a project starts</a:t>
            </a:r>
          </a:p>
          <a:p>
            <a:r>
              <a:rPr lang="en-US" dirty="0"/>
              <a:t>SDLC Phases</a:t>
            </a:r>
          </a:p>
          <a:p>
            <a:r>
              <a:rPr lang="en-US" dirty="0"/>
              <a:t>Software myths </a:t>
            </a:r>
          </a:p>
          <a:p>
            <a:endParaRPr lang="en-US" dirty="0"/>
          </a:p>
          <a:p>
            <a:endParaRPr lang="en-IN" dirty="0"/>
          </a:p>
        </p:txBody>
      </p:sp>
    </p:spTree>
    <p:extLst>
      <p:ext uri="{BB962C8B-B14F-4D97-AF65-F5344CB8AC3E}">
        <p14:creationId xmlns:p14="http://schemas.microsoft.com/office/powerpoint/2010/main" val="684326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Management myths</a:t>
            </a:r>
          </a:p>
          <a:p>
            <a:r>
              <a:rPr lang="en-US" dirty="0"/>
              <a:t>Customer myths</a:t>
            </a:r>
          </a:p>
          <a:p>
            <a:r>
              <a:rPr lang="en-US" dirty="0"/>
              <a:t>Practitioner’s myths</a:t>
            </a:r>
            <a:endParaRPr lang="en-IN" dirty="0"/>
          </a:p>
        </p:txBody>
      </p:sp>
      <p:sp>
        <p:nvSpPr>
          <p:cNvPr id="4" name="TextBox 3">
            <a:extLst>
              <a:ext uri="{FF2B5EF4-FFF2-40B4-BE49-F238E27FC236}">
                <a16:creationId xmlns:a16="http://schemas.microsoft.com/office/drawing/2014/main" id="{9FCC2A3F-C9A1-5D61-64F3-2694CE754918}"/>
              </a:ext>
            </a:extLst>
          </p:cNvPr>
          <p:cNvSpPr txBox="1"/>
          <p:nvPr/>
        </p:nvSpPr>
        <p:spPr>
          <a:xfrm>
            <a:off x="2137144" y="648586"/>
            <a:ext cx="5029200" cy="1077218"/>
          </a:xfrm>
          <a:prstGeom prst="rect">
            <a:avLst/>
          </a:prstGeom>
          <a:noFill/>
        </p:spPr>
        <p:txBody>
          <a:bodyPr wrap="square" rtlCol="0">
            <a:spAutoFit/>
          </a:bodyPr>
          <a:lstStyle/>
          <a:p>
            <a:pPr algn="ctr"/>
            <a:r>
              <a:rPr lang="en-US" sz="3200" b="1" dirty="0">
                <a:solidFill>
                  <a:srgbClr val="FF0000"/>
                </a:solidFill>
              </a:rPr>
              <a:t>SOFTWARE MYTHS</a:t>
            </a:r>
          </a:p>
          <a:p>
            <a:pPr algn="ctr"/>
            <a:endParaRPr lang="en-IN" sz="3200" b="1" dirty="0">
              <a:solidFill>
                <a:srgbClr val="FF0000"/>
              </a:solidFill>
            </a:endParaRPr>
          </a:p>
        </p:txBody>
      </p:sp>
    </p:spTree>
    <p:extLst>
      <p:ext uri="{BB962C8B-B14F-4D97-AF65-F5344CB8AC3E}">
        <p14:creationId xmlns:p14="http://schemas.microsoft.com/office/powerpoint/2010/main" val="1855371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i="1" u="sng" dirty="0"/>
              <a:t>Prescriptive process models </a:t>
            </a:r>
            <a:r>
              <a:rPr lang="en-US" dirty="0"/>
              <a:t>define a distinct set of activities , </a:t>
            </a:r>
            <a:r>
              <a:rPr lang="en-US" dirty="0" err="1"/>
              <a:t>actions,tasks,milestones</a:t>
            </a:r>
            <a:r>
              <a:rPr lang="en-US" dirty="0"/>
              <a:t> and work products that are required to engineer </a:t>
            </a:r>
            <a:r>
              <a:rPr lang="en-US" u="sng" dirty="0"/>
              <a:t>high quality software</a:t>
            </a:r>
            <a:r>
              <a:rPr lang="en-US" dirty="0"/>
              <a:t>.</a:t>
            </a:r>
            <a:endParaRPr lang="en-IN" dirty="0"/>
          </a:p>
        </p:txBody>
      </p:sp>
    </p:spTree>
    <p:extLst>
      <p:ext uri="{BB962C8B-B14F-4D97-AF65-F5344CB8AC3E}">
        <p14:creationId xmlns:p14="http://schemas.microsoft.com/office/powerpoint/2010/main" val="488478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1828"/>
            <a:ext cx="10515600" cy="638629"/>
          </a:xfrm>
        </p:spPr>
        <p:txBody>
          <a:bodyPr>
            <a:normAutofit fontScale="90000"/>
          </a:bodyPr>
          <a:lstStyle/>
          <a:p>
            <a:br>
              <a:rPr lang="en-US" dirty="0">
                <a:solidFill>
                  <a:srgbClr val="002060"/>
                </a:solidFill>
              </a:rPr>
            </a:br>
            <a:r>
              <a:rPr lang="en-US" dirty="0">
                <a:solidFill>
                  <a:srgbClr val="002060"/>
                </a:solidFill>
              </a:rPr>
              <a:t>SDLC Phases</a:t>
            </a:r>
            <a:br>
              <a:rPr lang="en-US" dirty="0"/>
            </a:br>
            <a:endParaRPr lang="en-IN" dirty="0"/>
          </a:p>
        </p:txBody>
      </p:sp>
      <p:sp>
        <p:nvSpPr>
          <p:cNvPr id="3" name="Content Placeholder 2"/>
          <p:cNvSpPr>
            <a:spLocks noGrp="1"/>
          </p:cNvSpPr>
          <p:nvPr>
            <p:ph idx="1"/>
          </p:nvPr>
        </p:nvSpPr>
        <p:spPr/>
        <p:txBody>
          <a:bodyPr/>
          <a:lstStyle/>
          <a:p>
            <a:r>
              <a:rPr lang="en-US" dirty="0"/>
              <a:t>1.INITIAL </a:t>
            </a:r>
          </a:p>
          <a:p>
            <a:r>
              <a:rPr lang="en-US" dirty="0"/>
              <a:t>2.ANALYSIS</a:t>
            </a:r>
          </a:p>
          <a:p>
            <a:r>
              <a:rPr lang="en-US" dirty="0"/>
              <a:t>3.DESIGN</a:t>
            </a:r>
          </a:p>
          <a:p>
            <a:r>
              <a:rPr lang="en-US" dirty="0"/>
              <a:t>4.CODING</a:t>
            </a:r>
          </a:p>
          <a:p>
            <a:r>
              <a:rPr lang="en-US" dirty="0"/>
              <a:t>5.TESTING</a:t>
            </a:r>
          </a:p>
          <a:p>
            <a:r>
              <a:rPr lang="en-US" dirty="0"/>
              <a:t>6.DELIVERY AND MAINTENANCE</a:t>
            </a:r>
          </a:p>
          <a:p>
            <a:endParaRPr lang="en-IN" dirty="0"/>
          </a:p>
        </p:txBody>
      </p:sp>
    </p:spTree>
    <p:extLst>
      <p:ext uri="{BB962C8B-B14F-4D97-AF65-F5344CB8AC3E}">
        <p14:creationId xmlns:p14="http://schemas.microsoft.com/office/powerpoint/2010/main" val="1752081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 B = 5</a:t>
            </a:r>
          </a:p>
          <a:p>
            <a:pPr marL="0" indent="0">
              <a:buNone/>
            </a:pPr>
            <a:r>
              <a:rPr lang="en-US" dirty="0"/>
              <a:t>                    </a:t>
            </a:r>
          </a:p>
          <a:p>
            <a:pPr marL="1828800" lvl="4" indent="0">
              <a:buNone/>
            </a:pPr>
            <a:r>
              <a:rPr lang="en-US" sz="4800" dirty="0"/>
              <a:t>+ 		=  5</a:t>
            </a:r>
          </a:p>
          <a:p>
            <a:pPr marL="1828800" lvl="4" indent="0">
              <a:buNone/>
            </a:pPr>
            <a:endParaRPr lang="en-US" sz="4800" dirty="0"/>
          </a:p>
          <a:p>
            <a:pPr marL="1828800" lvl="4" indent="0">
              <a:buNone/>
            </a:pPr>
            <a:endParaRPr lang="en-US" sz="4800" dirty="0"/>
          </a:p>
          <a:p>
            <a:pPr marL="1828800" lvl="4" indent="0">
              <a:buNone/>
            </a:pPr>
            <a:endParaRPr lang="en-US" sz="4800" dirty="0"/>
          </a:p>
          <a:p>
            <a:pPr marL="1828800" lvl="4" indent="0">
              <a:buNone/>
            </a:pPr>
            <a:endParaRPr lang="en-IN" sz="4800" dirty="0"/>
          </a:p>
        </p:txBody>
      </p:sp>
      <p:sp>
        <p:nvSpPr>
          <p:cNvPr id="4" name="Rectangle 3"/>
          <p:cNvSpPr/>
          <p:nvPr/>
        </p:nvSpPr>
        <p:spPr>
          <a:xfrm>
            <a:off x="1730828" y="2767579"/>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3367313" y="2795645"/>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able 5"/>
          <p:cNvGraphicFramePr>
            <a:graphicFrameLocks noGrp="1"/>
          </p:cNvGraphicFramePr>
          <p:nvPr>
            <p:extLst>
              <p:ext uri="{D42A27DB-BD31-4B8C-83A1-F6EECF244321}">
                <p14:modId xmlns:p14="http://schemas.microsoft.com/office/powerpoint/2010/main" val="836275281"/>
              </p:ext>
            </p:extLst>
          </p:nvPr>
        </p:nvGraphicFramePr>
        <p:xfrm>
          <a:off x="1730828" y="4270586"/>
          <a:ext cx="8128000" cy="22199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0">
                <a:tc>
                  <a:txBody>
                    <a:bodyPr/>
                    <a:lstStyle/>
                    <a:p>
                      <a:r>
                        <a:rPr lang="en-US" dirty="0">
                          <a:solidFill>
                            <a:schemeClr val="tx1"/>
                          </a:solidFill>
                        </a:rPr>
                        <a:t>1.CASE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dirty="0">
                          <a:solidFill>
                            <a:schemeClr val="tx1"/>
                          </a:solidFill>
                        </a:rPr>
                        <a:t> 5</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a:t>A 12 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07722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chemeClr val="accent1">
                    <a:lumMod val="50000"/>
                  </a:schemeClr>
                </a:solidFill>
                <a:latin typeface="Arial" panose="020B0604020202020204" pitchFamily="34" charset="0"/>
                <a:cs typeface="Arial" panose="020B0604020202020204" pitchFamily="34" charset="0"/>
              </a:rPr>
              <a:t>Case Studies</a:t>
            </a: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sz="2400" dirty="0">
                <a:solidFill>
                  <a:srgbClr val="002060"/>
                </a:solidFill>
                <a:latin typeface="Arial" panose="020B0604020202020204" pitchFamily="34" charset="0"/>
                <a:cs typeface="Arial" panose="020B0604020202020204" pitchFamily="34" charset="0"/>
              </a:rPr>
              <a:t>Suppose you write a computer program to add two integers. Assume that each integer and their sum will fit in the standard memory unit the computer uses for integers. How likely do you think it is that the sum will be correct? (If you run the program a million times on different pairs of integers, how many times do you think it would give the correct answer?)</a:t>
            </a:r>
          </a:p>
          <a:p>
            <a:pPr algn="just">
              <a:buFont typeface="Wingdings" panose="05000000000000000000" pitchFamily="2" charset="2"/>
              <a:buChar char="§"/>
            </a:pPr>
            <a:r>
              <a:rPr lang="en-US" sz="2400" dirty="0">
                <a:solidFill>
                  <a:srgbClr val="002060"/>
                </a:solidFill>
                <a:latin typeface="Arial" panose="020B0604020202020204" pitchFamily="34" charset="0"/>
                <a:cs typeface="Arial" panose="020B0604020202020204" pitchFamily="34" charset="0"/>
              </a:rPr>
              <a:t>Draft an assignment on Y2K problem and the solution developed.</a:t>
            </a:r>
          </a:p>
          <a:p>
            <a:pPr marL="0" indent="0">
              <a:buNone/>
            </a:pPr>
            <a:endParaRPr lang="en-US" dirty="0"/>
          </a:p>
        </p:txBody>
      </p:sp>
      <p:sp>
        <p:nvSpPr>
          <p:cNvPr id="4" name="Footer Placeholder 3"/>
          <p:cNvSpPr>
            <a:spLocks noGrp="1"/>
          </p:cNvSpPr>
          <p:nvPr>
            <p:ph type="ftr" sz="quarter" idx="11"/>
          </p:nvPr>
        </p:nvSpPr>
        <p:spPr>
          <a:xfrm>
            <a:off x="979714" y="6356350"/>
            <a:ext cx="10374086" cy="365125"/>
          </a:xfrm>
        </p:spPr>
        <p:txBody>
          <a:bodyPr/>
          <a:lstStyle/>
          <a:p>
            <a:r>
              <a:rPr lang="en-IN"/>
              <a:t>Software Project Failures                                  Software Engineering                              vasavi / CSBS</a:t>
            </a:r>
            <a:endParaRPr lang="en-US" dirty="0"/>
          </a:p>
        </p:txBody>
      </p:sp>
    </p:spTree>
    <p:extLst>
      <p:ext uri="{BB962C8B-B14F-4D97-AF65-F5344CB8AC3E}">
        <p14:creationId xmlns:p14="http://schemas.microsoft.com/office/powerpoint/2010/main" val="2743292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200" y="302347"/>
            <a:ext cx="8229600" cy="1143000"/>
          </a:xfrm>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REFERENCES</a:t>
            </a:r>
            <a:br>
              <a:rPr lang="en-US" sz="2800" b="1" dirty="0">
                <a:solidFill>
                  <a:srgbClr val="002060"/>
                </a:solidFill>
              </a:rPr>
            </a:br>
            <a:endParaRPr lang="en-US" sz="2800" dirty="0"/>
          </a:p>
        </p:txBody>
      </p:sp>
      <p:sp>
        <p:nvSpPr>
          <p:cNvPr id="5" name="Text Placeholder 4"/>
          <p:cNvSpPr>
            <a:spLocks noGrp="1"/>
          </p:cNvSpPr>
          <p:nvPr>
            <p:ph idx="1"/>
          </p:nvPr>
        </p:nvSpPr>
        <p:spPr/>
        <p:txBody>
          <a:bodyPr>
            <a:normAutofit/>
          </a:bodyPr>
          <a:lstStyle/>
          <a:p>
            <a:pPr marL="0" indent="0" algn="ctr">
              <a:buNone/>
            </a:pPr>
            <a:endParaRPr lang="en-US" b="1" dirty="0">
              <a:solidFill>
                <a:srgbClr val="002060"/>
              </a:solidFill>
              <a:latin typeface="+mj-lt"/>
            </a:endParaRPr>
          </a:p>
          <a:p>
            <a:pPr marL="457200" indent="-457200" algn="just">
              <a:buFont typeface="+mj-lt"/>
              <a:buAutoNum type="arabicPeriod"/>
            </a:pPr>
            <a:r>
              <a:rPr lang="en-US" sz="2400" dirty="0">
                <a:solidFill>
                  <a:srgbClr val="002060"/>
                </a:solidFill>
                <a:latin typeface="Arial" panose="020B0604020202020204" pitchFamily="34" charset="0"/>
                <a:cs typeface="Arial" panose="020B0604020202020204" pitchFamily="34" charset="0"/>
              </a:rPr>
              <a:t>Ian </a:t>
            </a:r>
            <a:r>
              <a:rPr lang="en-US" sz="2400" dirty="0" err="1">
                <a:solidFill>
                  <a:srgbClr val="002060"/>
                </a:solidFill>
                <a:latin typeface="Arial" panose="020B0604020202020204" pitchFamily="34" charset="0"/>
                <a:cs typeface="Arial" panose="020B0604020202020204" pitchFamily="34" charset="0"/>
              </a:rPr>
              <a:t>Sommerville</a:t>
            </a:r>
            <a:r>
              <a:rPr lang="en-US" sz="2400" dirty="0">
                <a:solidFill>
                  <a:srgbClr val="002060"/>
                </a:solidFill>
                <a:latin typeface="Arial" panose="020B0604020202020204" pitchFamily="34" charset="0"/>
                <a:cs typeface="Arial" panose="020B0604020202020204" pitchFamily="34" charset="0"/>
              </a:rPr>
              <a:t>, "Software Engineering", Addison-Wesley, 2011. </a:t>
            </a:r>
          </a:p>
          <a:p>
            <a:pPr marL="457200" indent="-457200" algn="just">
              <a:buFont typeface="+mj-lt"/>
              <a:buAutoNum type="arabicPeriod"/>
            </a:pPr>
            <a:r>
              <a:rPr lang="en-US" sz="2400" dirty="0">
                <a:solidFill>
                  <a:srgbClr val="002060"/>
                </a:solidFill>
                <a:latin typeface="Arial" panose="020B0604020202020204" pitchFamily="34" charset="0"/>
                <a:cs typeface="Arial" panose="020B0604020202020204" pitchFamily="34" charset="0"/>
              </a:rPr>
              <a:t>Fundamentals of Software Engineering, Carlo </a:t>
            </a:r>
            <a:r>
              <a:rPr lang="en-US" sz="2400" dirty="0" err="1">
                <a:solidFill>
                  <a:srgbClr val="002060"/>
                </a:solidFill>
                <a:latin typeface="Arial" panose="020B0604020202020204" pitchFamily="34" charset="0"/>
                <a:cs typeface="Arial" panose="020B0604020202020204" pitchFamily="34" charset="0"/>
              </a:rPr>
              <a:t>Ghezzi</a:t>
            </a:r>
            <a:r>
              <a:rPr lang="en-US" sz="2400" dirty="0">
                <a:solidFill>
                  <a:srgbClr val="002060"/>
                </a:solidFill>
                <a:latin typeface="Arial" panose="020B0604020202020204" pitchFamily="34" charset="0"/>
                <a:cs typeface="Arial" panose="020B0604020202020204" pitchFamily="34" charset="0"/>
              </a:rPr>
              <a:t>, </a:t>
            </a:r>
            <a:r>
              <a:rPr lang="en-US" sz="2400" dirty="0" err="1">
                <a:solidFill>
                  <a:srgbClr val="002060"/>
                </a:solidFill>
                <a:latin typeface="Arial" panose="020B0604020202020204" pitchFamily="34" charset="0"/>
                <a:cs typeface="Arial" panose="020B0604020202020204" pitchFamily="34" charset="0"/>
              </a:rPr>
              <a:t>Jazayeri</a:t>
            </a:r>
            <a:r>
              <a:rPr lang="en-US" sz="2400" dirty="0">
                <a:solidFill>
                  <a:srgbClr val="002060"/>
                </a:solidFill>
                <a:latin typeface="Arial" panose="020B0604020202020204" pitchFamily="34" charset="0"/>
                <a:cs typeface="Arial" panose="020B0604020202020204" pitchFamily="34" charset="0"/>
              </a:rPr>
              <a:t> Mehdi, </a:t>
            </a:r>
            <a:r>
              <a:rPr lang="en-US" sz="2400" dirty="0" err="1">
                <a:solidFill>
                  <a:srgbClr val="002060"/>
                </a:solidFill>
                <a:latin typeface="Arial" panose="020B0604020202020204" pitchFamily="34" charset="0"/>
                <a:cs typeface="Arial" panose="020B0604020202020204" pitchFamily="34" charset="0"/>
              </a:rPr>
              <a:t>Mandrioli</a:t>
            </a:r>
            <a:r>
              <a:rPr lang="en-US" sz="2400" dirty="0">
                <a:solidFill>
                  <a:srgbClr val="002060"/>
                </a:solidFill>
                <a:latin typeface="Arial" panose="020B0604020202020204" pitchFamily="34" charset="0"/>
                <a:cs typeface="Arial" panose="020B0604020202020204" pitchFamily="34" charset="0"/>
              </a:rPr>
              <a:t> Dino</a:t>
            </a:r>
          </a:p>
          <a:p>
            <a:pPr marL="457200" indent="-457200" algn="just">
              <a:buFont typeface="+mj-lt"/>
              <a:buAutoNum type="arabicPeriod"/>
            </a:pPr>
            <a:r>
              <a:rPr lang="en-US" sz="2400" dirty="0">
                <a:solidFill>
                  <a:srgbClr val="002060"/>
                </a:solidFill>
                <a:latin typeface="Arial" panose="020B0604020202020204" pitchFamily="34" charset="0"/>
                <a:cs typeface="Arial" panose="020B0604020202020204" pitchFamily="34" charset="0"/>
              </a:rPr>
              <a:t>https://www.tutorialspoint.com/software_engineering/index.htm</a:t>
            </a:r>
          </a:p>
          <a:p>
            <a:pPr marL="0" indent="0" algn="just">
              <a:buNone/>
            </a:pPr>
            <a:r>
              <a:rPr lang="en-US" sz="2400" dirty="0"/>
              <a:t>   </a:t>
            </a:r>
            <a:endParaRPr lang="en-US" sz="2400" b="1" dirty="0">
              <a:solidFill>
                <a:srgbClr val="002060"/>
              </a:solidFill>
            </a:endParaRPr>
          </a:p>
        </p:txBody>
      </p:sp>
      <p:pic>
        <p:nvPicPr>
          <p:cNvPr id="3" name="Picture 2"/>
          <p:cNvPicPr>
            <a:picLocks noChangeAspect="1"/>
          </p:cNvPicPr>
          <p:nvPr/>
        </p:nvPicPr>
        <p:blipFill>
          <a:blip r:embed="rId2"/>
          <a:stretch>
            <a:fillRect/>
          </a:stretch>
        </p:blipFill>
        <p:spPr>
          <a:xfrm>
            <a:off x="9034462" y="4233863"/>
            <a:ext cx="2352675" cy="1943100"/>
          </a:xfrm>
          <a:prstGeom prst="rect">
            <a:avLst/>
          </a:prstGeom>
        </p:spPr>
      </p:pic>
    </p:spTree>
    <p:extLst>
      <p:ext uri="{BB962C8B-B14F-4D97-AF65-F5344CB8AC3E}">
        <p14:creationId xmlns:p14="http://schemas.microsoft.com/office/powerpoint/2010/main" val="575989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1348</TotalTime>
  <Words>1864</Words>
  <Application>Microsoft Office PowerPoint</Application>
  <PresentationFormat>Widescreen</PresentationFormat>
  <Paragraphs>188</Paragraphs>
  <Slides>35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Georgia</vt:lpstr>
      <vt:lpstr>Wingdings</vt:lpstr>
      <vt:lpstr>Office Theme</vt:lpstr>
      <vt:lpstr>T    </vt:lpstr>
      <vt:lpstr>Scenario of “ vasa “</vt:lpstr>
      <vt:lpstr>PowerPoint Presentation</vt:lpstr>
      <vt:lpstr>PowerPoint Presentation</vt:lpstr>
      <vt:lpstr>PowerPoint Presentation</vt:lpstr>
      <vt:lpstr>Emergence of software engineering as a discipline</vt:lpstr>
      <vt:lpstr>IEEE Definition of Software Engineering</vt:lpstr>
      <vt:lpstr>Software</vt:lpstr>
      <vt:lpstr>Software characteristics</vt:lpstr>
      <vt:lpstr> </vt:lpstr>
      <vt:lpstr>Software Engineering a Layered architecture</vt:lpstr>
      <vt:lpstr>THE CHANGING NATURE OF SOFTWARE</vt:lpstr>
      <vt:lpstr>PowerPoint Presentation</vt:lpstr>
      <vt:lpstr>Programming in Large Environment</vt:lpstr>
      <vt:lpstr>Programming in Large Environment</vt:lpstr>
      <vt:lpstr>Programming in Large Environment</vt:lpstr>
      <vt:lpstr>Programming in Small Environment</vt:lpstr>
      <vt:lpstr>Programming in Small Environment </vt:lpstr>
      <vt:lpstr>Programming in Small Environment</vt:lpstr>
      <vt:lpstr>PowerPoint Presentation</vt:lpstr>
      <vt:lpstr>Topic -1.2</vt:lpstr>
      <vt:lpstr>PowerPoint Presentation</vt:lpstr>
      <vt:lpstr>Software Failures Reasons</vt:lpstr>
      <vt:lpstr>PowerPoint Presentation</vt:lpstr>
      <vt:lpstr>Software Failures Reasons</vt:lpstr>
      <vt:lpstr>Software Failures Reasons</vt:lpstr>
      <vt:lpstr>Software Failures Reasons</vt:lpstr>
      <vt:lpstr>Software Project Failures</vt:lpstr>
      <vt:lpstr>PowerPoint Presentation</vt:lpstr>
      <vt:lpstr>PowerPoint Presentation</vt:lpstr>
      <vt:lpstr>PowerPoint Presentation</vt:lpstr>
      <vt:lpstr> SDLC Phases </vt:lpstr>
      <vt:lpstr>PowerPoint Presentation</vt:lpstr>
      <vt:lpstr>Case Studies</vt:lpstr>
      <vt:lpstr>REFERENCES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 1.4</dc:title>
  <dc:creator>daniel j</dc:creator>
  <cp:lastModifiedBy>Mr Peddarapu Ramakrishna Chowdary</cp:lastModifiedBy>
  <cp:revision>81</cp:revision>
  <dcterms:created xsi:type="dcterms:W3CDTF">2020-05-31T12:01:38Z</dcterms:created>
  <dcterms:modified xsi:type="dcterms:W3CDTF">2023-10-27T06:52:50Z</dcterms:modified>
</cp:coreProperties>
</file>